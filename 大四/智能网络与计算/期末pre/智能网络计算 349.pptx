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93" r:id="rId2"/>
    <p:sldId id="318" r:id="rId3"/>
    <p:sldId id="303" r:id="rId4"/>
    <p:sldId id="316" r:id="rId5"/>
    <p:sldId id="302" r:id="rId6"/>
    <p:sldId id="301" r:id="rId7"/>
    <p:sldId id="304" r:id="rId8"/>
    <p:sldId id="308" r:id="rId9"/>
    <p:sldId id="319" r:id="rId10"/>
    <p:sldId id="307" r:id="rId11"/>
    <p:sldId id="317" r:id="rId12"/>
    <p:sldId id="306" r:id="rId13"/>
    <p:sldId id="305" r:id="rId14"/>
    <p:sldId id="311" r:id="rId15"/>
    <p:sldId id="314" r:id="rId16"/>
    <p:sldId id="310" r:id="rId17"/>
    <p:sldId id="315" r:id="rId18"/>
    <p:sldId id="30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0041"/>
    <a:srgbClr val="940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79231" autoAdjust="0"/>
  </p:normalViewPr>
  <p:slideViewPr>
    <p:cSldViewPr snapToGrid="0" showGuides="1">
      <p:cViewPr varScale="1">
        <p:scale>
          <a:sx n="76" d="100"/>
          <a:sy n="76" d="100"/>
        </p:scale>
        <p:origin x="3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D33EF8-1E86-44E7-926C-7BCF3EEDF5C7}" type="datetimeFigureOut">
              <a:rPr lang="zh-CN" altLang="en-US" smtClean="0"/>
              <a:t>2025/12/11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BA91BF-EF0B-499B-9B34-9284B3E9F957}" type="slidenum">
              <a:rPr lang="zh-CN" altLang="en-US" smtClean="0"/>
              <a:t>‹#›</a:t>
            </a:fld>
            <a:endParaRPr lang="zh-CN" altLang="en-US"/>
          </a:p>
        </p:txBody>
      </p:sp>
    </p:spTree>
    <p:extLst>
      <p:ext uri="{BB962C8B-B14F-4D97-AF65-F5344CB8AC3E}">
        <p14:creationId xmlns:p14="http://schemas.microsoft.com/office/powerpoint/2010/main" val="324921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Ring-a-Pose</a:t>
            </a:r>
            <a:r>
              <a:rPr lang="zh-CN" altLang="en-US" dirty="0"/>
              <a:t>采用</a:t>
            </a:r>
            <a:r>
              <a:rPr lang="zh-CN" altLang="en-US" b="1" dirty="0"/>
              <a:t>主动声学传感技术</a:t>
            </a:r>
            <a:r>
              <a:rPr lang="zh-CN" altLang="en-US" dirty="0"/>
              <a:t>追踪连续手部姿态。</a:t>
            </a:r>
            <a:r>
              <a:rPr lang="zh-CN" altLang="en-US" b="1" dirty="0"/>
              <a:t>戒指发射人耳听不到的声波，经周围手指和手掌反射、折射后，形成独特模式被麦克风接收。</a:t>
            </a:r>
            <a:r>
              <a:rPr lang="zh-CN" altLang="en-US" dirty="0"/>
              <a:t>不同的手部几何形状会产生</a:t>
            </a:r>
            <a:r>
              <a:rPr lang="zh-CN" altLang="en-US" b="1" dirty="0"/>
              <a:t>不同的反射信号（即回声）</a:t>
            </a:r>
            <a:r>
              <a:rPr lang="zh-CN" altLang="en-US" dirty="0"/>
              <a:t>，后续通过处理这些信号重建手部姿态。</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4</a:t>
            </a:fld>
            <a:endParaRPr lang="zh-CN" altLang="en-US"/>
          </a:p>
        </p:txBody>
      </p:sp>
    </p:spTree>
    <p:extLst>
      <p:ext uri="{BB962C8B-B14F-4D97-AF65-F5344CB8AC3E}">
        <p14:creationId xmlns:p14="http://schemas.microsoft.com/office/powerpoint/2010/main" val="950010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类似的传感方法已应用于耳部可穿戴设备的面部运动追踪和腕带的手部姿态追踪，但将该技术应用于戒指的手部姿态追踪时，面临额外挑战：一是物理空间有限，电子元件数量减少，导致传感信息不足；二是运动的手指可能部分遮挡传感器，阻碍视线。研究团队通过测试不同尺寸的麦克风和扬声器，以最大限度减少遮挡影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尽管仅有两组输入信息，但它们能高效互补：原始回声轮廓编码与姿态相关的手指位置信息，差分回声轮廓放大手部几何形状的运动变化。每个手指的位置及其运动分别影响原始回声轮廓和差分回声轮廓，两者结合，使得仅通过单个传感点就能实现</a:t>
            </a:r>
            <a:r>
              <a:rPr lang="en-US" altLang="zh-CN" dirty="0"/>
              <a:t>3D</a:t>
            </a:r>
            <a:r>
              <a:rPr lang="zh-CN" altLang="en-US" dirty="0"/>
              <a:t>手部姿态追踪。借助全向扬声器，可将回声帧抽象为以戒指为中心、不同半径的半球体，球体颜色代表该半径传播路径长度的反射强度总和。需要注意的是，回声帧仅包含不同距离的反射强度信息，而非精确的点信息。</a:t>
            </a:r>
          </a:p>
          <a:p>
            <a:r>
              <a:rPr lang="zh-CN" altLang="en-US" dirty="0"/>
              <a:t>对于“</a:t>
            </a:r>
            <a:r>
              <a:rPr lang="en-US" altLang="zh-CN" dirty="0"/>
              <a:t>ASL5”</a:t>
            </a:r>
            <a:r>
              <a:rPr lang="zh-CN" altLang="en-US" dirty="0"/>
              <a:t>姿态（手掌平放），除内部球体外几乎没有反射；“</a:t>
            </a:r>
            <a:r>
              <a:rPr lang="en-US" altLang="zh-CN" dirty="0"/>
              <a:t>ASL8”</a:t>
            </a:r>
            <a:r>
              <a:rPr lang="zh-CN" altLang="en-US" dirty="0"/>
              <a:t>和“</a:t>
            </a:r>
            <a:r>
              <a:rPr lang="en-US" altLang="zh-CN" dirty="0" err="1"/>
              <a:t>MBent</a:t>
            </a:r>
            <a:r>
              <a:rPr lang="en-US" altLang="zh-CN" dirty="0"/>
              <a:t>”</a:t>
            </a:r>
            <a:r>
              <a:rPr lang="zh-CN" altLang="en-US" dirty="0"/>
              <a:t>是两种相似的手部姿态，仅拇指姿态不同，因此它们的回声帧在视觉上相似，但深度学习模型能够区分。</a:t>
            </a:r>
          </a:p>
          <a:p>
            <a:r>
              <a:rPr lang="zh-CN" altLang="en-US" dirty="0"/>
              <a:t>需要视线的传感器普遍面临遮挡问题，主动声学传感方法也不例外，但研究团队发现戒指的独特佩戴位置可将手部几何遮挡（手指完全或部分遮挡戒指）转化为有用且可重复的信息。“</a:t>
            </a:r>
            <a:r>
              <a:rPr lang="en-US" altLang="zh-CN" dirty="0" err="1"/>
              <a:t>Shaka</a:t>
            </a:r>
            <a:r>
              <a:rPr lang="en-US" altLang="zh-CN" dirty="0"/>
              <a:t>”</a:t>
            </a:r>
            <a:r>
              <a:rPr lang="zh-CN" altLang="en-US" dirty="0"/>
              <a:t>和“</a:t>
            </a:r>
            <a:r>
              <a:rPr lang="en-US" altLang="zh-CN" dirty="0"/>
              <a:t>Fist”</a:t>
            </a:r>
            <a:r>
              <a:rPr lang="zh-CN" altLang="en-US" dirty="0"/>
              <a:t>两种手部姿态中，戒指大多被遮挡，因此都有很强的反射，但拇指和小指位置的细微差异导致回声帧不同：“</a:t>
            </a:r>
            <a:r>
              <a:rPr lang="en-US" altLang="zh-CN" dirty="0"/>
              <a:t>Fist”</a:t>
            </a:r>
            <a:r>
              <a:rPr lang="zh-CN" altLang="en-US" dirty="0"/>
              <a:t>的反射比“</a:t>
            </a:r>
            <a:r>
              <a:rPr lang="en-US" altLang="zh-CN" dirty="0" err="1"/>
              <a:t>Shaka</a:t>
            </a:r>
            <a:r>
              <a:rPr lang="en-US" altLang="zh-CN" dirty="0"/>
              <a:t>”</a:t>
            </a:r>
            <a:r>
              <a:rPr lang="zh-CN" altLang="en-US" dirty="0"/>
              <a:t>更强。后续评估中将定量研究传感器遮挡的影响。</a:t>
            </a:r>
          </a:p>
          <a:p>
            <a:r>
              <a:rPr lang="zh-CN" altLang="en-US" dirty="0"/>
              <a:t>与许多此前的数据驱动手部姿态追踪系统不同，该系统的一个显著优势是相对用户无关，这是因为传感系统依赖于手部反射的多路径回声，而这些回声在很大程度上由手部的解剖结构决定。由于人类手部解剖结构相似，仅在尺寸和形状上存在微小差异，因此不同用户做出相同手部姿态时，会产生相似的回声轮廓。</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8</a:t>
            </a:fld>
            <a:endParaRPr lang="zh-CN" altLang="en-US"/>
          </a:p>
        </p:txBody>
      </p:sp>
    </p:spTree>
    <p:extLst>
      <p:ext uri="{BB962C8B-B14F-4D97-AF65-F5344CB8AC3E}">
        <p14:creationId xmlns:p14="http://schemas.microsoft.com/office/powerpoint/2010/main" val="3842247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类似的传感方法已应用于耳部可穿戴设备的面部运动追踪和腕带的手部姿态追踪，但将该技术应用于戒指的手部姿态追踪时，面临额外挑战：一是物理空间有限，电子元件数量减少，导致传感信息不足；二是运动的手指可能部分遮挡传感器，阻碍视线。研究团队通过测试不同尺寸的麦克风和扬声器，以最大限度减少遮挡影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尽管仅有两组输入信息，但它们能高效互补：原始回声轮廓编码与姿态相关的手指位置信息，差分回声轮廓放大手部几何形状的运动变化。每个手指的位置及其运动分别影响原始回声轮廓和差分回声轮廓，两者结合，使得仅通过单个传感点就能实现</a:t>
            </a:r>
            <a:r>
              <a:rPr lang="en-US" altLang="zh-CN" dirty="0"/>
              <a:t>3D</a:t>
            </a:r>
            <a:r>
              <a:rPr lang="zh-CN" altLang="en-US" dirty="0"/>
              <a:t>手部姿态追踪。借助全向扬声器，可将回声帧抽象为以戒指为中心、不同半径的半球体，球体颜色代表该半径传播路径长度的反射强度总和。需要注意的是，回声帧仅包含不同距离的反射强度信息，而非精确的点信息。</a:t>
            </a:r>
          </a:p>
          <a:p>
            <a:r>
              <a:rPr lang="zh-CN" altLang="en-US" dirty="0"/>
              <a:t>对于“</a:t>
            </a:r>
            <a:r>
              <a:rPr lang="en-US" altLang="zh-CN" dirty="0"/>
              <a:t>ASL5”</a:t>
            </a:r>
            <a:r>
              <a:rPr lang="zh-CN" altLang="en-US" dirty="0"/>
              <a:t>姿态（手掌平放），除内部球体外几乎没有反射；“</a:t>
            </a:r>
            <a:r>
              <a:rPr lang="en-US" altLang="zh-CN" dirty="0"/>
              <a:t>ASL8”</a:t>
            </a:r>
            <a:r>
              <a:rPr lang="zh-CN" altLang="en-US" dirty="0"/>
              <a:t>和“</a:t>
            </a:r>
            <a:r>
              <a:rPr lang="en-US" altLang="zh-CN" dirty="0" err="1"/>
              <a:t>MBent</a:t>
            </a:r>
            <a:r>
              <a:rPr lang="en-US" altLang="zh-CN" dirty="0"/>
              <a:t>”</a:t>
            </a:r>
            <a:r>
              <a:rPr lang="zh-CN" altLang="en-US" dirty="0"/>
              <a:t>是两种相似的手部姿态，仅拇指姿态不同，因此它们的回声帧在视觉上相似，但深度学习模型能够区分。</a:t>
            </a:r>
          </a:p>
          <a:p>
            <a:r>
              <a:rPr lang="zh-CN" altLang="en-US" dirty="0"/>
              <a:t>需要视线的传感器普遍面临遮挡问题，主动声学传感方法也不例外，但研究团队发现戒指的独特佩戴位置可将手部几何遮挡（手指完全或部分遮挡戒指）转化为有用且可重复的信息。“</a:t>
            </a:r>
            <a:r>
              <a:rPr lang="en-US" altLang="zh-CN" dirty="0" err="1"/>
              <a:t>Shaka</a:t>
            </a:r>
            <a:r>
              <a:rPr lang="en-US" altLang="zh-CN" dirty="0"/>
              <a:t>”</a:t>
            </a:r>
            <a:r>
              <a:rPr lang="zh-CN" altLang="en-US" dirty="0"/>
              <a:t>和“</a:t>
            </a:r>
            <a:r>
              <a:rPr lang="en-US" altLang="zh-CN" dirty="0"/>
              <a:t>Fist”</a:t>
            </a:r>
            <a:r>
              <a:rPr lang="zh-CN" altLang="en-US" dirty="0"/>
              <a:t>两种手部姿态中，戒指大多被遮挡，因此都有很强的反射，但拇指和小指位置的细微差异导致回声帧不同：“</a:t>
            </a:r>
            <a:r>
              <a:rPr lang="en-US" altLang="zh-CN" dirty="0"/>
              <a:t>Fist”</a:t>
            </a:r>
            <a:r>
              <a:rPr lang="zh-CN" altLang="en-US" dirty="0"/>
              <a:t>的反射比“</a:t>
            </a:r>
            <a:r>
              <a:rPr lang="en-US" altLang="zh-CN" dirty="0" err="1"/>
              <a:t>Shaka</a:t>
            </a:r>
            <a:r>
              <a:rPr lang="en-US" altLang="zh-CN" dirty="0"/>
              <a:t>”</a:t>
            </a:r>
            <a:r>
              <a:rPr lang="zh-CN" altLang="en-US" dirty="0"/>
              <a:t>更强。后续评估中将定量研究传感器遮挡的影响。</a:t>
            </a:r>
          </a:p>
          <a:p>
            <a:r>
              <a:rPr lang="zh-CN" altLang="en-US" dirty="0"/>
              <a:t>与许多此前的数据驱动手部姿态追踪系统不同，该系统的一个显著优势是相对用户无关，这是因为传感系统依赖于手部反射的多路径回声，而这些回声在很大程度上由手部的解剖结构决定。由于人类手部解剖结构相似，仅在尺寸和形状上存在微小差异，因此不同用户做出相同手部姿态时，会产生相似的回声轮廓。</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9</a:t>
            </a:fld>
            <a:endParaRPr lang="zh-CN" altLang="en-US"/>
          </a:p>
        </p:txBody>
      </p:sp>
    </p:spTree>
    <p:extLst>
      <p:ext uri="{BB962C8B-B14F-4D97-AF65-F5344CB8AC3E}">
        <p14:creationId xmlns:p14="http://schemas.microsoft.com/office/powerpoint/2010/main" val="315683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000000"/>
                </a:solidFill>
                <a:effectLst/>
                <a:latin typeface="Inter"/>
              </a:rPr>
              <a:t>方向归一化</a:t>
            </a:r>
            <a:r>
              <a:rPr lang="zh-CN" altLang="en-US" b="0" i="0" dirty="0">
                <a:solidFill>
                  <a:srgbClr val="000000"/>
                </a:solidFill>
                <a:effectLst/>
                <a:latin typeface="Inter"/>
              </a:rPr>
              <a:t>：</a:t>
            </a:r>
          </a:p>
          <a:p>
            <a:pPr algn="l"/>
            <a:r>
              <a:rPr lang="zh-CN" altLang="en-US" b="0" i="0" dirty="0">
                <a:solidFill>
                  <a:srgbClr val="000000"/>
                </a:solidFill>
                <a:effectLst/>
                <a:latin typeface="Inter"/>
              </a:rPr>
              <a:t>找到 “手腕→食指掌指关节（</a:t>
            </a:r>
            <a:r>
              <a:rPr lang="en-US" altLang="zh-CN" b="0" i="0" dirty="0">
                <a:solidFill>
                  <a:srgbClr val="000000"/>
                </a:solidFill>
                <a:effectLst/>
                <a:latin typeface="Inter"/>
              </a:rPr>
              <a:t>MCP</a:t>
            </a:r>
            <a:r>
              <a:rPr lang="zh-CN" altLang="en-US" b="0" i="0" dirty="0">
                <a:solidFill>
                  <a:srgbClr val="000000"/>
                </a:solidFill>
                <a:effectLst/>
                <a:latin typeface="Inter"/>
              </a:rPr>
              <a:t>）”“手腕→小指掌指关节（</a:t>
            </a:r>
            <a:r>
              <a:rPr lang="en-US" altLang="zh-CN" b="0" i="0" dirty="0">
                <a:solidFill>
                  <a:srgbClr val="000000"/>
                </a:solidFill>
                <a:effectLst/>
                <a:latin typeface="Inter"/>
              </a:rPr>
              <a:t>MCP</a:t>
            </a:r>
            <a:r>
              <a:rPr lang="zh-CN" altLang="en-US" b="0" i="0" dirty="0">
                <a:solidFill>
                  <a:srgbClr val="000000"/>
                </a:solidFill>
                <a:effectLst/>
                <a:latin typeface="Inter"/>
              </a:rPr>
              <a:t>）” 的向量平面，旋转手掌平面与参考图像对齐。</a:t>
            </a:r>
          </a:p>
          <a:p>
            <a:pPr algn="l"/>
            <a:r>
              <a:rPr lang="zh-CN" altLang="en-US" b="1" i="0" dirty="0">
                <a:solidFill>
                  <a:srgbClr val="000000"/>
                </a:solidFill>
                <a:effectLst/>
                <a:latin typeface="Inter"/>
              </a:rPr>
              <a:t>尺寸归一化</a:t>
            </a:r>
            <a:r>
              <a:rPr lang="zh-CN" altLang="en-US" b="0" i="0" dirty="0">
                <a:solidFill>
                  <a:srgbClr val="000000"/>
                </a:solidFill>
                <a:effectLst/>
                <a:latin typeface="Inter"/>
              </a:rPr>
              <a:t>：</a:t>
            </a:r>
          </a:p>
          <a:p>
            <a:pPr algn="l"/>
            <a:r>
              <a:rPr lang="zh-CN" altLang="en-US" b="0" i="0" dirty="0">
                <a:solidFill>
                  <a:srgbClr val="000000"/>
                </a:solidFill>
                <a:effectLst/>
                <a:latin typeface="Inter"/>
              </a:rPr>
              <a:t>基于 “手腕→小指掌指关节（</a:t>
            </a:r>
            <a:r>
              <a:rPr lang="en-US" altLang="zh-CN" b="0" i="0" dirty="0">
                <a:solidFill>
                  <a:srgbClr val="000000"/>
                </a:solidFill>
                <a:effectLst/>
                <a:latin typeface="Inter"/>
              </a:rPr>
              <a:t>MCP</a:t>
            </a:r>
            <a:r>
              <a:rPr lang="zh-CN" altLang="en-US" b="0" i="0" dirty="0">
                <a:solidFill>
                  <a:srgbClr val="000000"/>
                </a:solidFill>
                <a:effectLst/>
                <a:latin typeface="Inter"/>
              </a:rPr>
              <a:t>）” 的实际长度，统一单手掌尺寸。</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Inter"/>
              </a:rPr>
              <a:t>基于时间戳对齐真值与传感器信号；为减少实时推理延迟，选择滑动窗口中最后一个传感器读数对应的手部坐标，作为回声轮廓窗口的真值。</a:t>
            </a:r>
            <a:endParaRPr lang="en-US" altLang="zh-CN"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err="1">
                <a:solidFill>
                  <a:srgbClr val="000000"/>
                </a:solidFill>
                <a:effectLst/>
                <a:latin typeface="Inter"/>
              </a:rPr>
              <a:t>MediaPipe</a:t>
            </a:r>
            <a:r>
              <a:rPr lang="en-US" altLang="zh-CN" b="0" i="0" dirty="0">
                <a:solidFill>
                  <a:srgbClr val="000000"/>
                </a:solidFill>
                <a:effectLst/>
                <a:latin typeface="Inter"/>
              </a:rPr>
              <a:t> </a:t>
            </a:r>
            <a:r>
              <a:rPr lang="zh-CN" altLang="en-US" b="0" i="0" dirty="0">
                <a:solidFill>
                  <a:srgbClr val="000000"/>
                </a:solidFill>
                <a:effectLst/>
                <a:latin typeface="Inter"/>
              </a:rPr>
              <a:t>所用相机（</a:t>
            </a:r>
            <a:r>
              <a:rPr lang="en-US" altLang="zh-CN" b="0" i="0" dirty="0">
                <a:solidFill>
                  <a:srgbClr val="000000"/>
                </a:solidFill>
                <a:effectLst/>
                <a:latin typeface="Inter"/>
              </a:rPr>
              <a:t>Apple </a:t>
            </a:r>
            <a:r>
              <a:rPr lang="en-US" altLang="zh-CN" b="0" i="0" dirty="0" err="1">
                <a:solidFill>
                  <a:srgbClr val="000000"/>
                </a:solidFill>
                <a:effectLst/>
                <a:latin typeface="Inter"/>
              </a:rPr>
              <a:t>Macbook</a:t>
            </a:r>
            <a:r>
              <a:rPr lang="en-US" altLang="zh-CN" b="0" i="0" dirty="0">
                <a:solidFill>
                  <a:srgbClr val="000000"/>
                </a:solidFill>
                <a:effectLst/>
                <a:latin typeface="Inter"/>
              </a:rPr>
              <a:t> Air 2022 </a:t>
            </a:r>
            <a:r>
              <a:rPr lang="zh-CN" altLang="en-US" b="0" i="0" dirty="0">
                <a:solidFill>
                  <a:srgbClr val="000000"/>
                </a:solidFill>
                <a:effectLst/>
                <a:latin typeface="Inter"/>
              </a:rPr>
              <a:t>内置相机）采样率 </a:t>
            </a:r>
            <a:r>
              <a:rPr lang="en-US" altLang="zh-CN" b="0" i="0" dirty="0">
                <a:solidFill>
                  <a:srgbClr val="000000"/>
                </a:solidFill>
                <a:effectLst/>
                <a:latin typeface="Inter"/>
              </a:rPr>
              <a:t>30 </a:t>
            </a:r>
            <a:r>
              <a:rPr lang="zh-CN" altLang="en-US" b="0" i="0" dirty="0">
                <a:solidFill>
                  <a:srgbClr val="000000"/>
                </a:solidFill>
                <a:effectLst/>
                <a:latin typeface="Inter"/>
              </a:rPr>
              <a:t>帧 </a:t>
            </a:r>
            <a:r>
              <a:rPr lang="en-US" altLang="zh-CN" b="0" i="0" dirty="0">
                <a:solidFill>
                  <a:srgbClr val="000000"/>
                </a:solidFill>
                <a:effectLst/>
                <a:latin typeface="Inter"/>
              </a:rPr>
              <a:t>/ </a:t>
            </a:r>
            <a:r>
              <a:rPr lang="zh-CN" altLang="en-US" b="0" i="0" dirty="0">
                <a:solidFill>
                  <a:srgbClr val="000000"/>
                </a:solidFill>
                <a:effectLst/>
                <a:latin typeface="Inter"/>
              </a:rPr>
              <a:t>秒，戒指采样率 </a:t>
            </a:r>
            <a:r>
              <a:rPr lang="en-US" altLang="zh-CN" b="0" i="0" dirty="0">
                <a:solidFill>
                  <a:srgbClr val="000000"/>
                </a:solidFill>
                <a:effectLst/>
                <a:latin typeface="Inter"/>
              </a:rPr>
              <a:t>83 </a:t>
            </a:r>
            <a:r>
              <a:rPr lang="zh-CN" altLang="en-US" b="0" i="0" dirty="0">
                <a:solidFill>
                  <a:srgbClr val="000000"/>
                </a:solidFill>
                <a:effectLst/>
                <a:latin typeface="Inter"/>
              </a:rPr>
              <a:t>帧 </a:t>
            </a:r>
            <a:r>
              <a:rPr lang="en-US" altLang="zh-CN" b="0" i="0" dirty="0">
                <a:solidFill>
                  <a:srgbClr val="000000"/>
                </a:solidFill>
                <a:effectLst/>
                <a:latin typeface="Inter"/>
              </a:rPr>
              <a:t>/ </a:t>
            </a:r>
            <a:r>
              <a:rPr lang="zh-CN" altLang="en-US" b="0" i="0" dirty="0">
                <a:solidFill>
                  <a:srgbClr val="000000"/>
                </a:solidFill>
                <a:effectLst/>
                <a:latin typeface="Inter"/>
              </a:rPr>
              <a:t>秒（更高采样率捕捉细微手部运动）。</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000000"/>
              </a:solidFill>
              <a:effectLst/>
              <a:latin typeface="Inter"/>
            </a:endParaRP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11</a:t>
            </a:fld>
            <a:endParaRPr lang="zh-CN" altLang="en-US"/>
          </a:p>
        </p:txBody>
      </p:sp>
    </p:spTree>
    <p:extLst>
      <p:ext uri="{BB962C8B-B14F-4D97-AF65-F5344CB8AC3E}">
        <p14:creationId xmlns:p14="http://schemas.microsoft.com/office/powerpoint/2010/main" val="1783013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手部姿态追踪研究的数据收集中，每个姿态持续</a:t>
            </a:r>
            <a:r>
              <a:rPr lang="en-US" altLang="zh-CN" dirty="0"/>
              <a:t>2</a:t>
            </a:r>
            <a:r>
              <a:rPr lang="zh-CN" altLang="en-US" dirty="0"/>
              <a:t>秒，因此部分输入实例捕捉姿态转换过程，其他输入实例捕捉无运动的静态姿态，这使得姿态追踪模型能够同时学习静态姿态和动态转换。手部手势分类数据收集中，每个手势在</a:t>
            </a:r>
            <a:r>
              <a:rPr lang="en-US" altLang="zh-CN" dirty="0"/>
              <a:t>2</a:t>
            </a:r>
            <a:r>
              <a:rPr lang="zh-CN" altLang="en-US" dirty="0"/>
              <a:t>秒窗口内完成，略长于训练实例，每个收集到的手势都有其独特的输入实例。为解决信号幅度不一致的问题，对每个通道的输入回声轮廓进行归一化处理。</a:t>
            </a:r>
          </a:p>
          <a:p>
            <a:r>
              <a:rPr lang="zh-CN" altLang="en-US" dirty="0"/>
              <a:t>编码器</a:t>
            </a:r>
            <a:r>
              <a:rPr lang="en-US" altLang="zh-CN" dirty="0"/>
              <a:t>-</a:t>
            </a:r>
            <a:r>
              <a:rPr lang="zh-CN" altLang="en-US" dirty="0"/>
              <a:t>解码器架构中，采用</a:t>
            </a:r>
            <a:r>
              <a:rPr lang="en-US" altLang="zh-CN" dirty="0"/>
              <a:t>ResNet18</a:t>
            </a:r>
            <a:r>
              <a:rPr lang="zh-CN" altLang="en-US" dirty="0"/>
              <a:t>作为编码器骨干网络，输出尺寸为</a:t>
            </a:r>
            <a:r>
              <a:rPr lang="en-US" altLang="zh-CN" dirty="0"/>
              <a:t>[512×4×10]</a:t>
            </a:r>
            <a:r>
              <a:rPr lang="zh-CN" altLang="en-US" dirty="0"/>
              <a:t>的特征向量。解码器包括平均池化层（池化大小</a:t>
            </a:r>
            <a:r>
              <a:rPr lang="en-US" altLang="zh-CN" dirty="0"/>
              <a:t>=[1,1]</a:t>
            </a:r>
            <a:r>
              <a:rPr lang="zh-CN" altLang="en-US" dirty="0"/>
              <a:t>）、 </a:t>
            </a:r>
            <a:r>
              <a:rPr lang="en-US" altLang="zh-CN" dirty="0"/>
              <a:t>dropout</a:t>
            </a:r>
            <a:r>
              <a:rPr lang="zh-CN" altLang="en-US" dirty="0"/>
              <a:t>层（</a:t>
            </a:r>
            <a:r>
              <a:rPr lang="en-US" altLang="zh-CN" dirty="0"/>
              <a:t>p=0.8</a:t>
            </a:r>
            <a:r>
              <a:rPr lang="zh-CN" altLang="en-US" dirty="0"/>
              <a:t>）和全连接层。全连接层对于手部姿态追踪模型，输出</a:t>
            </a:r>
            <a:r>
              <a:rPr lang="en-US" altLang="zh-CN" dirty="0"/>
              <a:t>20</a:t>
            </a:r>
            <a:r>
              <a:rPr lang="zh-CN" altLang="en-US" dirty="0"/>
              <a:t>个关节</a:t>
            </a:r>
            <a:r>
              <a:rPr lang="en-US" altLang="zh-CN" dirty="0"/>
              <a:t>×3</a:t>
            </a:r>
            <a:r>
              <a:rPr lang="zh-CN" altLang="en-US" dirty="0"/>
              <a:t>个坐标</a:t>
            </a:r>
            <a:r>
              <a:rPr lang="en-US" altLang="zh-CN" dirty="0"/>
              <a:t>=60</a:t>
            </a:r>
            <a:r>
              <a:rPr lang="zh-CN" altLang="en-US" dirty="0"/>
              <a:t>个坐标；对于手势分类模型，输出预测标签</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12</a:t>
            </a:fld>
            <a:endParaRPr lang="zh-CN" altLang="en-US"/>
          </a:p>
        </p:txBody>
      </p:sp>
    </p:spTree>
    <p:extLst>
      <p:ext uri="{BB962C8B-B14F-4D97-AF65-F5344CB8AC3E}">
        <p14:creationId xmlns:p14="http://schemas.microsoft.com/office/powerpoint/2010/main" val="2090597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FF0000"/>
                </a:solidFill>
                <a:effectLst/>
                <a:latin typeface="Google Sans Flex"/>
              </a:rPr>
              <a:t>为提高模型对佩戴位置、戒指方向和手部尺寸变化的鲁棒性，采用以下原位数据增强技术：</a:t>
            </a:r>
          </a:p>
          <a:p>
            <a:pPr algn="l"/>
            <a:r>
              <a:rPr lang="zh-CN" altLang="en-US" b="0" i="0" dirty="0">
                <a:solidFill>
                  <a:srgbClr val="FF0000"/>
                </a:solidFill>
                <a:effectLst/>
                <a:latin typeface="Google Sans Flex"/>
              </a:rPr>
              <a:t>随机性：在姿态追踪和分类模型中均应用，以</a:t>
            </a:r>
            <a:r>
              <a:rPr lang="en-US" altLang="zh-CN" b="0" i="0" dirty="0">
                <a:solidFill>
                  <a:srgbClr val="FF0000"/>
                </a:solidFill>
                <a:effectLst/>
                <a:latin typeface="Google Sans Flex"/>
              </a:rPr>
              <a:t>80%</a:t>
            </a:r>
            <a:r>
              <a:rPr lang="zh-CN" altLang="en-US" b="0" i="0" dirty="0">
                <a:solidFill>
                  <a:srgbClr val="FF0000"/>
                </a:solidFill>
                <a:effectLst/>
                <a:latin typeface="Google Sans Flex"/>
              </a:rPr>
              <a:t>的概率对回声轮廓的每个像素随机增加</a:t>
            </a:r>
            <a:r>
              <a:rPr lang="en-US" altLang="zh-CN" b="0" i="0" dirty="0">
                <a:solidFill>
                  <a:srgbClr val="FF0000"/>
                </a:solidFill>
                <a:effectLst/>
                <a:latin typeface="Google Sans Flex"/>
              </a:rPr>
              <a:t>[-5%</a:t>
            </a:r>
            <a:r>
              <a:rPr lang="zh-CN" altLang="en-US" b="0" i="0" dirty="0">
                <a:solidFill>
                  <a:srgbClr val="FF0000"/>
                </a:solidFill>
                <a:effectLst/>
                <a:latin typeface="Google Sans Flex"/>
              </a:rPr>
              <a:t>，</a:t>
            </a:r>
            <a:r>
              <a:rPr lang="en-US" altLang="zh-CN" b="0" i="0" dirty="0">
                <a:solidFill>
                  <a:srgbClr val="FF0000"/>
                </a:solidFill>
                <a:effectLst/>
                <a:latin typeface="Google Sans Flex"/>
              </a:rPr>
              <a:t>5%]</a:t>
            </a:r>
            <a:r>
              <a:rPr lang="zh-CN" altLang="en-US" b="0" i="0" dirty="0">
                <a:solidFill>
                  <a:srgbClr val="FF0000"/>
                </a:solidFill>
                <a:effectLst/>
                <a:latin typeface="Google Sans Flex"/>
              </a:rPr>
              <a:t>的噪声，模拟手部几何形状的微小变化。</a:t>
            </a:r>
          </a:p>
          <a:p>
            <a:pPr algn="l"/>
            <a:r>
              <a:rPr lang="zh-CN" altLang="en-US" b="0" i="0" dirty="0">
                <a:solidFill>
                  <a:srgbClr val="FF0000"/>
                </a:solidFill>
                <a:effectLst/>
                <a:latin typeface="Google Sans Flex"/>
              </a:rPr>
              <a:t>垂直偏移：在姿态追踪和分类模型中均应用，以适应戒指相对于手部的不同位置，所有输入回声轮廓随机垂直偏移</a:t>
            </a:r>
            <a:r>
              <a:rPr lang="en-US" altLang="zh-CN" b="0" i="0" dirty="0">
                <a:solidFill>
                  <a:srgbClr val="FF0000"/>
                </a:solidFill>
                <a:effectLst/>
                <a:latin typeface="Google Sans Flex"/>
              </a:rPr>
              <a:t>±3</a:t>
            </a:r>
            <a:r>
              <a:rPr lang="zh-CN" altLang="en-US" b="0" i="0" dirty="0">
                <a:solidFill>
                  <a:srgbClr val="FF0000"/>
                </a:solidFill>
                <a:effectLst/>
                <a:latin typeface="Google Sans Flex"/>
              </a:rPr>
              <a:t>像素，对应</a:t>
            </a:r>
            <a:r>
              <a:rPr lang="en-US" altLang="zh-CN" b="0" i="0" dirty="0">
                <a:solidFill>
                  <a:srgbClr val="FF0000"/>
                </a:solidFill>
                <a:effectLst/>
                <a:latin typeface="Google Sans Flex"/>
              </a:rPr>
              <a:t>±10.02</a:t>
            </a:r>
            <a:r>
              <a:rPr lang="zh-CN" altLang="en-US" b="0" i="0" dirty="0">
                <a:solidFill>
                  <a:srgbClr val="FF0000"/>
                </a:solidFill>
                <a:effectLst/>
                <a:latin typeface="Google Sans Flex"/>
              </a:rPr>
              <a:t>毫米。</a:t>
            </a:r>
          </a:p>
          <a:p>
            <a:pPr algn="l"/>
            <a:r>
              <a:rPr lang="zh-CN" altLang="en-US" b="0" i="0" dirty="0">
                <a:solidFill>
                  <a:srgbClr val="FF0000"/>
                </a:solidFill>
                <a:effectLst/>
                <a:latin typeface="Google Sans Flex"/>
              </a:rPr>
              <a:t>水平偏移：仅应用于分类模型，以应对参与者接到手势指令后开始执行的反应时间不一致问题，输入回声轮廓以</a:t>
            </a:r>
            <a:r>
              <a:rPr lang="en-US" altLang="zh-CN" b="0" i="0" dirty="0">
                <a:solidFill>
                  <a:srgbClr val="FF0000"/>
                </a:solidFill>
                <a:effectLst/>
                <a:latin typeface="Google Sans Flex"/>
              </a:rPr>
              <a:t>80%</a:t>
            </a:r>
            <a:r>
              <a:rPr lang="zh-CN" altLang="en-US" b="0" i="0" dirty="0">
                <a:solidFill>
                  <a:srgbClr val="FF0000"/>
                </a:solidFill>
                <a:effectLst/>
                <a:latin typeface="Google Sans Flex"/>
              </a:rPr>
              <a:t>的概率随机水平偏移</a:t>
            </a:r>
            <a:r>
              <a:rPr lang="en-US" altLang="zh-CN" b="0" i="0" dirty="0">
                <a:solidFill>
                  <a:srgbClr val="FF0000"/>
                </a:solidFill>
                <a:effectLst/>
                <a:latin typeface="Google Sans Flex"/>
              </a:rPr>
              <a:t>[-13%</a:t>
            </a:r>
            <a:r>
              <a:rPr lang="zh-CN" altLang="en-US" b="0" i="0" dirty="0">
                <a:solidFill>
                  <a:srgbClr val="FF0000"/>
                </a:solidFill>
                <a:effectLst/>
                <a:latin typeface="Google Sans Flex"/>
              </a:rPr>
              <a:t>，</a:t>
            </a:r>
            <a:r>
              <a:rPr lang="en-US" altLang="zh-CN" b="0" i="0" dirty="0">
                <a:solidFill>
                  <a:srgbClr val="FF0000"/>
                </a:solidFill>
                <a:effectLst/>
                <a:latin typeface="Google Sans Flex"/>
              </a:rPr>
              <a:t>13%]</a:t>
            </a:r>
            <a:r>
              <a:rPr lang="zh-CN" altLang="en-US" b="0" i="0" dirty="0">
                <a:solidFill>
                  <a:srgbClr val="FF0000"/>
                </a:solidFill>
                <a:effectLst/>
                <a:latin typeface="Google Sans Flex"/>
              </a:rPr>
              <a:t>像素，对应</a:t>
            </a:r>
            <a:r>
              <a:rPr lang="en-US" altLang="zh-CN" b="0" i="0" dirty="0">
                <a:solidFill>
                  <a:srgbClr val="FF0000"/>
                </a:solidFill>
                <a:effectLst/>
                <a:latin typeface="Google Sans Flex"/>
              </a:rPr>
              <a:t>±0.15</a:t>
            </a:r>
            <a:r>
              <a:rPr lang="zh-CN" altLang="en-US" b="0" i="0" dirty="0">
                <a:solidFill>
                  <a:srgbClr val="FF0000"/>
                </a:solidFill>
                <a:effectLst/>
                <a:latin typeface="Google Sans Flex"/>
              </a:rPr>
              <a:t>秒。手部姿态追踪无需水平偏移，因为运动是连续的</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14</a:t>
            </a:fld>
            <a:endParaRPr lang="zh-CN" altLang="en-US"/>
          </a:p>
        </p:txBody>
      </p:sp>
    </p:spTree>
    <p:extLst>
      <p:ext uri="{BB962C8B-B14F-4D97-AF65-F5344CB8AC3E}">
        <p14:creationId xmlns:p14="http://schemas.microsoft.com/office/powerpoint/2010/main" val="322032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effectLst/>
              </a:rPr>
              <a:t>三项研究共涉及</a:t>
            </a:r>
            <a:r>
              <a:rPr lang="en-US" altLang="zh-CN" dirty="0">
                <a:effectLst/>
              </a:rPr>
              <a:t>36</a:t>
            </a:r>
            <a:r>
              <a:rPr lang="zh-CN" altLang="en-US" dirty="0">
                <a:effectLst/>
              </a:rPr>
              <a:t>名不同参与者（</a:t>
            </a:r>
            <a:r>
              <a:rPr lang="en-US" altLang="zh-CN" dirty="0">
                <a:effectLst/>
              </a:rPr>
              <a:t>19</a:t>
            </a:r>
            <a:r>
              <a:rPr lang="zh-CN" altLang="en-US" dirty="0">
                <a:effectLst/>
              </a:rPr>
              <a:t>名男性</a:t>
            </a:r>
            <a:r>
              <a:rPr lang="en-US" altLang="zh-CN" dirty="0">
                <a:effectLst/>
              </a:rPr>
              <a:t>,17</a:t>
            </a:r>
            <a:r>
              <a:rPr lang="zh-CN" altLang="en-US" dirty="0">
                <a:effectLst/>
              </a:rPr>
              <a:t>名女性</a:t>
            </a:r>
            <a:r>
              <a:rPr lang="en-US" altLang="zh-CN" dirty="0">
                <a:effectLst/>
              </a:rPr>
              <a:t>,</a:t>
            </a:r>
            <a:r>
              <a:rPr lang="zh-CN" altLang="en-US" dirty="0">
                <a:effectLst/>
              </a:rPr>
              <a:t>平均年龄</a:t>
            </a:r>
            <a:r>
              <a:rPr lang="en-US" altLang="zh-CN" dirty="0">
                <a:effectLst/>
              </a:rPr>
              <a:t>23.5</a:t>
            </a:r>
            <a:r>
              <a:rPr lang="zh-CN" altLang="en-US" dirty="0">
                <a:effectLst/>
              </a:rPr>
              <a:t>岁</a:t>
            </a:r>
            <a:r>
              <a:rPr lang="en-US" altLang="zh-CN" dirty="0">
                <a:effectLst/>
              </a:rPr>
              <a:t>,</a:t>
            </a:r>
            <a:r>
              <a:rPr lang="zh-CN" altLang="en-US" dirty="0">
                <a:effectLst/>
              </a:rPr>
              <a:t>标准差</a:t>
            </a:r>
            <a:r>
              <a:rPr lang="en-US" altLang="zh-CN" dirty="0">
                <a:effectLst/>
              </a:rPr>
              <a:t>3.6</a:t>
            </a:r>
            <a:r>
              <a:rPr lang="zh-CN" altLang="en-US" dirty="0">
                <a:effectLst/>
              </a:rPr>
              <a:t>岁）</a:t>
            </a:r>
            <a:r>
              <a:rPr lang="en-US" altLang="zh-CN" dirty="0">
                <a:effectLst/>
              </a:rPr>
              <a:t>,</a:t>
            </a:r>
            <a:r>
              <a:rPr lang="zh-CN" altLang="en-US" dirty="0">
                <a:effectLst/>
              </a:rPr>
              <a:t>手部尺寸各异。有</a:t>
            </a:r>
            <a:r>
              <a:rPr lang="en-US" altLang="zh-CN" dirty="0">
                <a:effectLst/>
              </a:rPr>
              <a:t>2</a:t>
            </a:r>
            <a:r>
              <a:rPr lang="zh-CN" altLang="en-US" dirty="0">
                <a:effectLst/>
              </a:rPr>
              <a:t>名参与者同时参与了第三项研究和前两项研究中的一项。手部长度定义为中指指尖到手腕中心的距离。</a:t>
            </a:r>
          </a:p>
          <a:p>
            <a:pPr algn="l"/>
            <a:r>
              <a:rPr lang="zh-CN" altLang="en-US" dirty="0">
                <a:effectLst/>
              </a:rPr>
              <a:t>总体而言</a:t>
            </a:r>
            <a:r>
              <a:rPr lang="en-US" altLang="zh-CN" dirty="0">
                <a:effectLst/>
              </a:rPr>
              <a:t>,</a:t>
            </a:r>
            <a:r>
              <a:rPr lang="zh-CN" altLang="en-US" dirty="0">
                <a:effectLst/>
              </a:rPr>
              <a:t>所有参与者对佩戴戒指的舒适度评价较高（</a:t>
            </a:r>
            <a:r>
              <a:rPr lang="en-US" altLang="zh-CN" dirty="0">
                <a:effectLst/>
              </a:rPr>
              <a:t>5</a:t>
            </a:r>
            <a:r>
              <a:rPr lang="zh-CN" altLang="en-US" dirty="0">
                <a:effectLst/>
              </a:rPr>
              <a:t>分制李克特量表中位数为</a:t>
            </a:r>
            <a:r>
              <a:rPr lang="en-US" altLang="zh-CN" dirty="0">
                <a:effectLst/>
              </a:rPr>
              <a:t>4</a:t>
            </a:r>
            <a:r>
              <a:rPr lang="zh-CN" altLang="en-US" dirty="0">
                <a:effectLst/>
              </a:rPr>
              <a:t>分；</a:t>
            </a:r>
            <a:r>
              <a:rPr lang="en-US" altLang="zh-CN" dirty="0">
                <a:effectLst/>
              </a:rPr>
              <a:t>1</a:t>
            </a:r>
            <a:r>
              <a:rPr lang="zh-CN" altLang="en-US" dirty="0">
                <a:effectLst/>
              </a:rPr>
              <a:t>分</a:t>
            </a:r>
            <a:r>
              <a:rPr lang="en-US" altLang="zh-CN" dirty="0">
                <a:effectLst/>
              </a:rPr>
              <a:t>=</a:t>
            </a:r>
            <a:r>
              <a:rPr lang="zh-CN" altLang="en-US" dirty="0">
                <a:effectLst/>
              </a:rPr>
              <a:t>非常不舒适</a:t>
            </a:r>
            <a:r>
              <a:rPr lang="en-US" altLang="zh-CN" dirty="0">
                <a:effectLst/>
              </a:rPr>
              <a:t>,5</a:t>
            </a:r>
            <a:r>
              <a:rPr lang="zh-CN" altLang="en-US" dirty="0">
                <a:effectLst/>
              </a:rPr>
              <a:t>分</a:t>
            </a:r>
            <a:r>
              <a:rPr lang="en-US" altLang="zh-CN" dirty="0">
                <a:effectLst/>
              </a:rPr>
              <a:t>=</a:t>
            </a:r>
            <a:r>
              <a:rPr lang="zh-CN" altLang="en-US" dirty="0">
                <a:effectLst/>
              </a:rPr>
              <a:t>非常舒适）。</a:t>
            </a:r>
            <a:r>
              <a:rPr lang="en-US" altLang="zh-CN" dirty="0">
                <a:effectLst/>
              </a:rPr>
              <a:t>46%</a:t>
            </a:r>
            <a:r>
              <a:rPr lang="zh-CN" altLang="en-US" dirty="0">
                <a:effectLst/>
              </a:rPr>
              <a:t>的参与者在做手势时能听到声音（主要是手部接近握拳姿态时）</a:t>
            </a:r>
            <a:r>
              <a:rPr lang="en-US" altLang="zh-CN" dirty="0">
                <a:effectLst/>
              </a:rPr>
              <a:t>,</a:t>
            </a:r>
            <a:r>
              <a:rPr lang="zh-CN" altLang="en-US" dirty="0">
                <a:effectLst/>
              </a:rPr>
              <a:t>但这些声音并未给他们带来困扰（</a:t>
            </a:r>
            <a:r>
              <a:rPr lang="en-US" altLang="zh-CN" dirty="0">
                <a:effectLst/>
              </a:rPr>
              <a:t>5</a:t>
            </a:r>
            <a:r>
              <a:rPr lang="zh-CN" altLang="en-US" dirty="0">
                <a:effectLst/>
              </a:rPr>
              <a:t>分制李克特量表中位数为</a:t>
            </a:r>
            <a:r>
              <a:rPr lang="en-US" altLang="zh-CN" dirty="0">
                <a:effectLst/>
              </a:rPr>
              <a:t>4</a:t>
            </a:r>
            <a:r>
              <a:rPr lang="zh-CN" altLang="en-US" dirty="0">
                <a:effectLst/>
              </a:rPr>
              <a:t>分）。</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16</a:t>
            </a:fld>
            <a:endParaRPr lang="zh-CN" altLang="en-US"/>
          </a:p>
        </p:txBody>
      </p:sp>
    </p:spTree>
    <p:extLst>
      <p:ext uri="{BB962C8B-B14F-4D97-AF65-F5344CB8AC3E}">
        <p14:creationId xmlns:p14="http://schemas.microsoft.com/office/powerpoint/2010/main" val="3891642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0D25FF6-7AC4-49C7-9C4D-F7CD10F7C8E3}"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25FF6-7AC4-49C7-9C4D-F7CD10F7C8E3}" type="datetimeFigureOut">
              <a:rPr lang="zh-CN" altLang="en-US" smtClean="0"/>
              <a:t>2025/12/11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jpe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4547346" y="2859364"/>
            <a:ext cx="6729757" cy="1015663"/>
          </a:xfrm>
          <a:prstGeom prst="rect">
            <a:avLst/>
          </a:prstGeom>
          <a:noFill/>
        </p:spPr>
        <p:txBody>
          <a:bodyPr wrap="square" rtlCol="0">
            <a:spAutoFit/>
          </a:bodyPr>
          <a:lstStyle/>
          <a:p>
            <a:pPr algn="dist"/>
            <a:r>
              <a:rPr lang="en-US" altLang="zh-CN" sz="6000" b="1" dirty="0">
                <a:solidFill>
                  <a:schemeClr val="accent1"/>
                </a:solidFill>
                <a:latin typeface="宋体" panose="02010600030101010101" pitchFamily="2" charset="-122"/>
                <a:ea typeface="宋体" panose="02010600030101010101" pitchFamily="2" charset="-122"/>
              </a:rPr>
              <a:t>Ring-a-Pose</a:t>
            </a:r>
            <a:r>
              <a:rPr lang="zh-CN" altLang="en-US" sz="6000" b="1" dirty="0">
                <a:solidFill>
                  <a:schemeClr val="accent1"/>
                </a:solidFill>
                <a:latin typeface="宋体" panose="02010600030101010101" pitchFamily="2" charset="-122"/>
                <a:ea typeface="宋体" panose="02010600030101010101" pitchFamily="2" charset="-122"/>
              </a:rPr>
              <a:t>的实现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叁</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Tree>
    <p:extLst>
      <p:ext uri="{BB962C8B-B14F-4D97-AF65-F5344CB8AC3E}">
        <p14:creationId xmlns:p14="http://schemas.microsoft.com/office/powerpoint/2010/main" val="225785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3665"/>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4763"/>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08857"/>
            <a:ext cx="2604671" cy="593131"/>
            <a:chOff x="1019925" y="1507764"/>
            <a:chExt cx="260467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924291"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形态设计</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46757"/>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08856"/>
            <a:ext cx="1789487" cy="524257"/>
          </a:xfrm>
          <a:prstGeom prst="rect">
            <a:avLst/>
          </a:prstGeom>
        </p:spPr>
      </p:pic>
      <p:sp>
        <p:nvSpPr>
          <p:cNvPr id="14" name="文本框 13">
            <a:extLst>
              <a:ext uri="{FF2B5EF4-FFF2-40B4-BE49-F238E27FC236}">
                <a16:creationId xmlns:a16="http://schemas.microsoft.com/office/drawing/2014/main" id="{3AACDE22-714F-47D0-B31D-99E218CE58E7}"/>
              </a:ext>
            </a:extLst>
          </p:cNvPr>
          <p:cNvSpPr txBox="1"/>
          <p:nvPr/>
        </p:nvSpPr>
        <p:spPr>
          <a:xfrm>
            <a:off x="4740223" y="4664464"/>
            <a:ext cx="4104896" cy="584775"/>
          </a:xfrm>
          <a:prstGeom prst="rect">
            <a:avLst/>
          </a:prstGeom>
          <a:noFill/>
        </p:spPr>
        <p:txBody>
          <a:bodyPr wrap="square">
            <a:spAutoFit/>
          </a:bodyPr>
          <a:lstStyle/>
          <a:p>
            <a:pPr algn="l"/>
            <a:r>
              <a:rPr lang="zh-CN" altLang="en-US" sz="1600" b="1" i="0" dirty="0">
                <a:solidFill>
                  <a:srgbClr val="000000"/>
                </a:solidFill>
                <a:effectLst/>
                <a:latin typeface="+mj-ea"/>
                <a:ea typeface="+mj-ea"/>
              </a:rPr>
              <a:t>仅用 </a:t>
            </a:r>
            <a:r>
              <a:rPr lang="en-US" altLang="zh-CN" sz="1600" b="1" i="0" dirty="0">
                <a:solidFill>
                  <a:srgbClr val="000000"/>
                </a:solidFill>
                <a:effectLst/>
                <a:latin typeface="+mj-ea"/>
                <a:ea typeface="+mj-ea"/>
              </a:rPr>
              <a:t>1 </a:t>
            </a:r>
            <a:r>
              <a:rPr lang="zh-CN" altLang="en-US" sz="1600" b="1" i="0" dirty="0">
                <a:solidFill>
                  <a:srgbClr val="000000"/>
                </a:solidFill>
                <a:effectLst/>
                <a:latin typeface="+mj-ea"/>
                <a:ea typeface="+mj-ea"/>
              </a:rPr>
              <a:t>组扬声器 </a:t>
            </a:r>
            <a:r>
              <a:rPr lang="en-US" altLang="zh-CN" sz="1600" b="1" i="0" dirty="0">
                <a:solidFill>
                  <a:srgbClr val="000000"/>
                </a:solidFill>
                <a:effectLst/>
                <a:latin typeface="+mj-ea"/>
                <a:ea typeface="+mj-ea"/>
              </a:rPr>
              <a:t>+ </a:t>
            </a:r>
            <a:r>
              <a:rPr lang="zh-CN" altLang="en-US" sz="1600" b="1" i="0" dirty="0">
                <a:solidFill>
                  <a:srgbClr val="000000"/>
                </a:solidFill>
                <a:effectLst/>
                <a:latin typeface="+mj-ea"/>
                <a:ea typeface="+mj-ea"/>
              </a:rPr>
              <a:t>麦克风（空间受限下完成 </a:t>
            </a:r>
            <a:r>
              <a:rPr lang="en-US" altLang="zh-CN" sz="1600" b="1" i="0" dirty="0">
                <a:solidFill>
                  <a:srgbClr val="000000"/>
                </a:solidFill>
                <a:effectLst/>
                <a:latin typeface="+mj-ea"/>
                <a:ea typeface="+mj-ea"/>
              </a:rPr>
              <a:t>20 </a:t>
            </a:r>
            <a:r>
              <a:rPr lang="zh-CN" altLang="en-US" sz="1600" b="1" i="0" dirty="0">
                <a:solidFill>
                  <a:srgbClr val="000000"/>
                </a:solidFill>
                <a:effectLst/>
                <a:latin typeface="+mj-ea"/>
                <a:ea typeface="+mj-ea"/>
              </a:rPr>
              <a:t>个手部关节 </a:t>
            </a:r>
            <a:r>
              <a:rPr lang="en-US" altLang="zh-CN" sz="1600" b="1" i="0" dirty="0">
                <a:solidFill>
                  <a:srgbClr val="000000"/>
                </a:solidFill>
                <a:effectLst/>
                <a:latin typeface="+mj-ea"/>
                <a:ea typeface="+mj-ea"/>
              </a:rPr>
              <a:t>3D </a:t>
            </a:r>
            <a:r>
              <a:rPr lang="zh-CN" altLang="en-US" sz="1600" b="1" i="0" dirty="0">
                <a:solidFill>
                  <a:srgbClr val="000000"/>
                </a:solidFill>
                <a:effectLst/>
                <a:latin typeface="+mj-ea"/>
                <a:ea typeface="+mj-ea"/>
              </a:rPr>
              <a:t>坐标检测）</a:t>
            </a:r>
          </a:p>
        </p:txBody>
      </p:sp>
      <p:graphicFrame>
        <p:nvGraphicFramePr>
          <p:cNvPr id="7" name="表格 6">
            <a:extLst>
              <a:ext uri="{FF2B5EF4-FFF2-40B4-BE49-F238E27FC236}">
                <a16:creationId xmlns:a16="http://schemas.microsoft.com/office/drawing/2014/main" id="{04830201-5EE1-4542-A403-1CA83C4E1799}"/>
              </a:ext>
            </a:extLst>
          </p:cNvPr>
          <p:cNvGraphicFramePr>
            <a:graphicFrameLocks noGrp="1"/>
          </p:cNvGraphicFramePr>
          <p:nvPr>
            <p:extLst>
              <p:ext uri="{D42A27DB-BD31-4B8C-83A1-F6EECF244321}">
                <p14:modId xmlns:p14="http://schemas.microsoft.com/office/powerpoint/2010/main" val="3251509917"/>
              </p:ext>
            </p:extLst>
          </p:nvPr>
        </p:nvGraphicFramePr>
        <p:xfrm>
          <a:off x="585639" y="2407004"/>
          <a:ext cx="6891383" cy="1850655"/>
        </p:xfrm>
        <a:graphic>
          <a:graphicData uri="http://schemas.openxmlformats.org/drawingml/2006/table">
            <a:tbl>
              <a:tblPr/>
              <a:tblGrid>
                <a:gridCol w="1418779">
                  <a:extLst>
                    <a:ext uri="{9D8B030D-6E8A-4147-A177-3AD203B41FA5}">
                      <a16:colId xmlns:a16="http://schemas.microsoft.com/office/drawing/2014/main" val="1090395236"/>
                    </a:ext>
                  </a:extLst>
                </a:gridCol>
                <a:gridCol w="5472604">
                  <a:extLst>
                    <a:ext uri="{9D8B030D-6E8A-4147-A177-3AD203B41FA5}">
                      <a16:colId xmlns:a16="http://schemas.microsoft.com/office/drawing/2014/main" val="283163700"/>
                    </a:ext>
                  </a:extLst>
                </a:gridCol>
              </a:tblGrid>
              <a:tr h="370131">
                <a:tc>
                  <a:txBody>
                    <a:bodyPr/>
                    <a:lstStyle/>
                    <a:p>
                      <a:pPr algn="ctr"/>
                      <a:r>
                        <a:rPr lang="zh-CN" altLang="en-US" sz="1400" b="1" dirty="0">
                          <a:solidFill>
                            <a:srgbClr val="000000"/>
                          </a:solidFill>
                          <a:effectLst/>
                          <a:latin typeface="+mj-ea"/>
                          <a:ea typeface="+mj-ea"/>
                        </a:rPr>
                        <a:t>维度</a:t>
                      </a:r>
                    </a:p>
                  </a:txBody>
                  <a:tcPr marL="114300" marR="114300" marT="76200" marB="76200" anchor="ctr">
                    <a:lnL w="3848" cap="flat" cmpd="sng" algn="ctr">
                      <a:solidFill>
                        <a:srgbClr val="E0DF2F"/>
                      </a:solidFill>
                      <a:prstDash val="solid"/>
                      <a:round/>
                      <a:headEnd type="none" w="med" len="med"/>
                      <a:tailEnd type="none" w="med" len="med"/>
                    </a:lnL>
                    <a:lnR w="3848" cap="flat" cmpd="sng" algn="ctr">
                      <a:solidFill>
                        <a:srgbClr val="E0DE2F"/>
                      </a:solidFill>
                      <a:prstDash val="solid"/>
                      <a:round/>
                      <a:headEnd type="none" w="med" len="med"/>
                      <a:tailEnd type="none" w="med" len="med"/>
                    </a:lnR>
                    <a:lnT w="3848" cap="flat" cmpd="sng" algn="ctr">
                      <a:solidFill>
                        <a:srgbClr val="80DF2F"/>
                      </a:solidFill>
                      <a:prstDash val="solid"/>
                      <a:round/>
                      <a:headEnd type="none" w="med" len="med"/>
                      <a:tailEnd type="none" w="med" len="med"/>
                    </a:lnT>
                    <a:lnB w="3848" cap="flat" cmpd="sng" algn="ctr">
                      <a:solidFill>
                        <a:srgbClr val="80E92F"/>
                      </a:solidFill>
                      <a:prstDash val="solid"/>
                      <a:round/>
                      <a:headEnd type="none" w="med" len="med"/>
                      <a:tailEnd type="none" w="med" len="med"/>
                    </a:lnB>
                    <a:solidFill>
                      <a:srgbClr val="F2F2F2"/>
                    </a:solidFill>
                  </a:tcPr>
                </a:tc>
                <a:tc>
                  <a:txBody>
                    <a:bodyPr/>
                    <a:lstStyle/>
                    <a:p>
                      <a:pPr algn="ctr"/>
                      <a:r>
                        <a:rPr lang="zh-CN" altLang="en-US" sz="1400" b="1" dirty="0">
                          <a:solidFill>
                            <a:srgbClr val="000000"/>
                          </a:solidFill>
                          <a:effectLst/>
                          <a:latin typeface="+mj-ea"/>
                          <a:ea typeface="+mj-ea"/>
                        </a:rPr>
                        <a:t>具体信息</a:t>
                      </a:r>
                    </a:p>
                  </a:txBody>
                  <a:tcPr marL="114300" marR="114300" marT="76200" marB="76200" anchor="ctr">
                    <a:lnL w="3848" cap="flat" cmpd="sng" algn="ctr">
                      <a:solidFill>
                        <a:srgbClr val="E0DE2F"/>
                      </a:solidFill>
                      <a:prstDash val="solid"/>
                      <a:round/>
                      <a:headEnd type="none" w="med" len="med"/>
                      <a:tailEnd type="none" w="med" len="med"/>
                    </a:lnL>
                    <a:lnR w="3848" cap="flat" cmpd="sng" algn="ctr">
                      <a:solidFill>
                        <a:srgbClr val="E0DE2F"/>
                      </a:solidFill>
                      <a:prstDash val="solid"/>
                      <a:round/>
                      <a:headEnd type="none" w="med" len="med"/>
                      <a:tailEnd type="none" w="med" len="med"/>
                    </a:lnR>
                    <a:lnT w="3848" cap="flat" cmpd="sng" algn="ctr">
                      <a:solidFill>
                        <a:srgbClr val="E0DE2F"/>
                      </a:solidFill>
                      <a:prstDash val="solid"/>
                      <a:round/>
                      <a:headEnd type="none" w="med" len="med"/>
                      <a:tailEnd type="none" w="med" len="med"/>
                    </a:lnT>
                    <a:lnB w="3848" cap="flat" cmpd="sng" algn="ctr">
                      <a:solidFill>
                        <a:srgbClr val="008F51"/>
                      </a:solidFill>
                      <a:prstDash val="solid"/>
                      <a:round/>
                      <a:headEnd type="none" w="med" len="med"/>
                      <a:tailEnd type="none" w="med" len="med"/>
                    </a:lnB>
                    <a:solidFill>
                      <a:srgbClr val="F2F2F2"/>
                    </a:solidFill>
                  </a:tcPr>
                </a:tc>
                <a:extLst>
                  <a:ext uri="{0D108BD9-81ED-4DB2-BD59-A6C34878D82A}">
                    <a16:rowId xmlns:a16="http://schemas.microsoft.com/office/drawing/2014/main" val="87432998"/>
                  </a:ext>
                </a:extLst>
              </a:tr>
              <a:tr h="370131">
                <a:tc>
                  <a:txBody>
                    <a:bodyPr/>
                    <a:lstStyle/>
                    <a:p>
                      <a:pPr algn="ctr"/>
                      <a:r>
                        <a:rPr lang="zh-CN" altLang="en-US" sz="1400" b="0">
                          <a:effectLst/>
                        </a:rPr>
                        <a:t>核心组件间距</a:t>
                      </a:r>
                    </a:p>
                  </a:txBody>
                  <a:tcPr marL="114300" marR="114300" marT="76200" marB="76200" anchor="ctr">
                    <a:lnL w="3848" cap="flat" cmpd="sng" algn="ctr">
                      <a:solidFill>
                        <a:srgbClr val="40EB2F"/>
                      </a:solidFill>
                      <a:prstDash val="solid"/>
                      <a:round/>
                      <a:headEnd type="none" w="med" len="med"/>
                      <a:tailEnd type="none" w="med" len="med"/>
                    </a:lnL>
                    <a:lnR w="3848" cap="flat" cmpd="sng" algn="ctr">
                      <a:solidFill>
                        <a:srgbClr val="E0DD2F"/>
                      </a:solidFill>
                      <a:prstDash val="solid"/>
                      <a:round/>
                      <a:headEnd type="none" w="med" len="med"/>
                      <a:tailEnd type="none" w="med" len="med"/>
                    </a:lnR>
                    <a:lnT w="3848" cap="flat" cmpd="sng" algn="ctr">
                      <a:solidFill>
                        <a:srgbClr val="80E92F"/>
                      </a:solidFill>
                      <a:prstDash val="solid"/>
                      <a:round/>
                      <a:headEnd type="none" w="med" len="med"/>
                      <a:tailEnd type="none" w="med" len="med"/>
                    </a:lnT>
                    <a:lnB w="3848" cap="flat" cmpd="sng" algn="ctr">
                      <a:solidFill>
                        <a:srgbClr val="E0F92F"/>
                      </a:solidFill>
                      <a:prstDash val="solid"/>
                      <a:round/>
                      <a:headEnd type="none" w="med" len="med"/>
                      <a:tailEnd type="none" w="med" len="med"/>
                    </a:lnB>
                    <a:solidFill>
                      <a:srgbClr val="FFFFFF"/>
                    </a:solidFill>
                  </a:tcPr>
                </a:tc>
                <a:tc>
                  <a:txBody>
                    <a:bodyPr/>
                    <a:lstStyle/>
                    <a:p>
                      <a:pPr algn="ctr"/>
                      <a:r>
                        <a:rPr lang="zh-CN" altLang="en-US" sz="1400" b="0">
                          <a:effectLst/>
                        </a:rPr>
                        <a:t>扬声器 </a:t>
                      </a:r>
                      <a:r>
                        <a:rPr lang="en-US" altLang="zh-CN" sz="1400" b="0">
                          <a:effectLst/>
                        </a:rPr>
                        <a:t>/ </a:t>
                      </a:r>
                      <a:r>
                        <a:rPr lang="zh-CN" altLang="en-US" sz="1400" b="0">
                          <a:effectLst/>
                        </a:rPr>
                        <a:t>麦克风间距 </a:t>
                      </a:r>
                      <a:r>
                        <a:rPr lang="en-US" altLang="zh-CN" sz="1400" b="0">
                          <a:effectLst/>
                        </a:rPr>
                        <a:t>5.4 </a:t>
                      </a:r>
                      <a:r>
                        <a:rPr lang="zh-CN" altLang="en-US" sz="1400" b="0">
                          <a:effectLst/>
                        </a:rPr>
                        <a:t>毫米（平衡传播时间）</a:t>
                      </a:r>
                    </a:p>
                  </a:txBody>
                  <a:tcPr marL="114300" marR="114300" marT="76200" marB="76200" anchor="ctr">
                    <a:lnL w="3848" cap="flat" cmpd="sng" algn="ctr">
                      <a:solidFill>
                        <a:srgbClr val="E0DD2F"/>
                      </a:solidFill>
                      <a:prstDash val="solid"/>
                      <a:round/>
                      <a:headEnd type="none" w="med" len="med"/>
                      <a:tailEnd type="none" w="med" len="med"/>
                    </a:lnL>
                    <a:lnR w="3848" cap="flat" cmpd="sng" algn="ctr">
                      <a:solidFill>
                        <a:srgbClr val="20E52F"/>
                      </a:solidFill>
                      <a:prstDash val="solid"/>
                      <a:round/>
                      <a:headEnd type="none" w="med" len="med"/>
                      <a:tailEnd type="none" w="med" len="med"/>
                    </a:lnR>
                    <a:lnT w="3848" cap="flat" cmpd="sng" algn="ctr">
                      <a:solidFill>
                        <a:srgbClr val="008F51"/>
                      </a:solidFill>
                      <a:prstDash val="solid"/>
                      <a:round/>
                      <a:headEnd type="none" w="med" len="med"/>
                      <a:tailEnd type="none" w="med" len="med"/>
                    </a:lnT>
                    <a:lnB w="3848" cap="flat" cmpd="sng" algn="ctr">
                      <a:solidFill>
                        <a:srgbClr val="80AE51"/>
                      </a:solidFill>
                      <a:prstDash val="solid"/>
                      <a:round/>
                      <a:headEnd type="none" w="med" len="med"/>
                      <a:tailEnd type="none" w="med" len="med"/>
                    </a:lnB>
                    <a:solidFill>
                      <a:srgbClr val="FFFFFF"/>
                    </a:solidFill>
                  </a:tcPr>
                </a:tc>
                <a:extLst>
                  <a:ext uri="{0D108BD9-81ED-4DB2-BD59-A6C34878D82A}">
                    <a16:rowId xmlns:a16="http://schemas.microsoft.com/office/drawing/2014/main" val="2840000724"/>
                  </a:ext>
                </a:extLst>
              </a:tr>
              <a:tr h="370131">
                <a:tc>
                  <a:txBody>
                    <a:bodyPr/>
                    <a:lstStyle/>
                    <a:p>
                      <a:pPr algn="ctr"/>
                      <a:r>
                        <a:rPr lang="zh-CN" altLang="en-US" sz="1400" b="0" dirty="0">
                          <a:effectLst/>
                        </a:rPr>
                        <a:t>尺寸</a:t>
                      </a:r>
                    </a:p>
                  </a:txBody>
                  <a:tcPr marL="114300" marR="114300" marT="76200" marB="76200" anchor="ctr">
                    <a:lnL w="3848" cap="flat" cmpd="sng" algn="ctr">
                      <a:solidFill>
                        <a:srgbClr val="E0FA2F"/>
                      </a:solidFill>
                      <a:prstDash val="solid"/>
                      <a:round/>
                      <a:headEnd type="none" w="med" len="med"/>
                      <a:tailEnd type="none" w="med" len="med"/>
                    </a:lnL>
                    <a:lnR w="3848" cap="flat" cmpd="sng" algn="ctr">
                      <a:solidFill>
                        <a:srgbClr val="20E22F"/>
                      </a:solidFill>
                      <a:prstDash val="solid"/>
                      <a:round/>
                      <a:headEnd type="none" w="med" len="med"/>
                      <a:tailEnd type="none" w="med" len="med"/>
                    </a:lnR>
                    <a:lnT w="3848" cap="flat" cmpd="sng" algn="ctr">
                      <a:solidFill>
                        <a:srgbClr val="E0F92F"/>
                      </a:solidFill>
                      <a:prstDash val="solid"/>
                      <a:round/>
                      <a:headEnd type="none" w="med" len="med"/>
                      <a:tailEnd type="none" w="med" len="med"/>
                    </a:lnT>
                    <a:lnB w="3848" cap="flat" cmpd="sng" algn="ctr">
                      <a:solidFill>
                        <a:srgbClr val="A0F52F"/>
                      </a:solidFill>
                      <a:prstDash val="solid"/>
                      <a:round/>
                      <a:headEnd type="none" w="med" len="med"/>
                      <a:tailEnd type="none" w="med" len="med"/>
                    </a:lnB>
                    <a:solidFill>
                      <a:srgbClr val="FFFFFF"/>
                    </a:solidFill>
                  </a:tcPr>
                </a:tc>
                <a:tc>
                  <a:txBody>
                    <a:bodyPr/>
                    <a:lstStyle/>
                    <a:p>
                      <a:pPr algn="ctr"/>
                      <a:r>
                        <a:rPr lang="zh-CN" altLang="en-US" sz="1400" b="0" dirty="0">
                          <a:effectLst/>
                        </a:rPr>
                        <a:t>宽度 </a:t>
                      </a:r>
                      <a:r>
                        <a:rPr lang="en-US" altLang="zh-CN" sz="1400" b="0" dirty="0">
                          <a:effectLst/>
                        </a:rPr>
                        <a:t>11mm</a:t>
                      </a:r>
                      <a:r>
                        <a:rPr lang="zh-CN" altLang="en-US" sz="1400" b="0" dirty="0">
                          <a:effectLst/>
                        </a:rPr>
                        <a:t>；最厚处 </a:t>
                      </a:r>
                      <a:r>
                        <a:rPr lang="en-US" altLang="zh-CN" sz="1400" b="0" dirty="0">
                          <a:effectLst/>
                        </a:rPr>
                        <a:t>3.58mm</a:t>
                      </a:r>
                      <a:r>
                        <a:rPr lang="zh-CN" altLang="en-US" sz="1400" b="0" dirty="0">
                          <a:effectLst/>
                        </a:rPr>
                        <a:t>（含扬声器 </a:t>
                      </a:r>
                      <a:r>
                        <a:rPr lang="en-US" altLang="zh-CN" sz="1400" b="0" dirty="0">
                          <a:effectLst/>
                        </a:rPr>
                        <a:t>/ </a:t>
                      </a:r>
                      <a:r>
                        <a:rPr lang="zh-CN" altLang="en-US" sz="1400" b="0" dirty="0">
                          <a:effectLst/>
                        </a:rPr>
                        <a:t>麦克风），其余 </a:t>
                      </a:r>
                      <a:r>
                        <a:rPr lang="en-US" altLang="zh-CN" sz="1400" b="0" dirty="0">
                          <a:effectLst/>
                        </a:rPr>
                        <a:t>2mm</a:t>
                      </a:r>
                    </a:p>
                  </a:txBody>
                  <a:tcPr marL="114300" marR="114300" marT="76200" marB="76200" anchor="ctr">
                    <a:lnL w="3848" cap="flat" cmpd="sng" algn="ctr">
                      <a:solidFill>
                        <a:srgbClr val="20E22F"/>
                      </a:solidFill>
                      <a:prstDash val="solid"/>
                      <a:round/>
                      <a:headEnd type="none" w="med" len="med"/>
                      <a:tailEnd type="none" w="med" len="med"/>
                    </a:lnL>
                    <a:lnR w="3848" cap="flat" cmpd="sng" algn="ctr">
                      <a:solidFill>
                        <a:srgbClr val="E0DD2F"/>
                      </a:solidFill>
                      <a:prstDash val="solid"/>
                      <a:round/>
                      <a:headEnd type="none" w="med" len="med"/>
                      <a:tailEnd type="none" w="med" len="med"/>
                    </a:lnR>
                    <a:lnT w="3848" cap="flat" cmpd="sng" algn="ctr">
                      <a:solidFill>
                        <a:srgbClr val="80AE51"/>
                      </a:solidFill>
                      <a:prstDash val="solid"/>
                      <a:round/>
                      <a:headEnd type="none" w="med" len="med"/>
                      <a:tailEnd type="none" w="med" len="med"/>
                    </a:lnT>
                    <a:lnB w="3848" cap="flat" cmpd="sng" algn="ctr">
                      <a:solidFill>
                        <a:srgbClr val="F0BF51"/>
                      </a:solidFill>
                      <a:prstDash val="solid"/>
                      <a:round/>
                      <a:headEnd type="none" w="med" len="med"/>
                      <a:tailEnd type="none" w="med" len="med"/>
                    </a:lnB>
                    <a:solidFill>
                      <a:srgbClr val="FFFFFF"/>
                    </a:solidFill>
                  </a:tcPr>
                </a:tc>
                <a:extLst>
                  <a:ext uri="{0D108BD9-81ED-4DB2-BD59-A6C34878D82A}">
                    <a16:rowId xmlns:a16="http://schemas.microsoft.com/office/drawing/2014/main" val="2973098022"/>
                  </a:ext>
                </a:extLst>
              </a:tr>
              <a:tr h="370131">
                <a:tc>
                  <a:txBody>
                    <a:bodyPr/>
                    <a:lstStyle/>
                    <a:p>
                      <a:pPr algn="ctr"/>
                      <a:r>
                        <a:rPr lang="zh-CN" altLang="en-US" sz="1400" b="0">
                          <a:effectLst/>
                        </a:rPr>
                        <a:t>重量</a:t>
                      </a:r>
                    </a:p>
                  </a:txBody>
                  <a:tcPr marL="114300" marR="114300" marT="76200" marB="76200" anchor="ctr">
                    <a:lnL w="3848" cap="flat" cmpd="sng" algn="ctr">
                      <a:solidFill>
                        <a:srgbClr val="60FC2F"/>
                      </a:solidFill>
                      <a:prstDash val="solid"/>
                      <a:round/>
                      <a:headEnd type="none" w="med" len="med"/>
                      <a:tailEnd type="none" w="med" len="med"/>
                    </a:lnL>
                    <a:lnR w="3848" cap="flat" cmpd="sng" algn="ctr">
                      <a:solidFill>
                        <a:srgbClr val="C0F12F"/>
                      </a:solidFill>
                      <a:prstDash val="solid"/>
                      <a:round/>
                      <a:headEnd type="none" w="med" len="med"/>
                      <a:tailEnd type="none" w="med" len="med"/>
                    </a:lnR>
                    <a:lnT w="3848" cap="flat" cmpd="sng" algn="ctr">
                      <a:solidFill>
                        <a:srgbClr val="A0F52F"/>
                      </a:solidFill>
                      <a:prstDash val="solid"/>
                      <a:round/>
                      <a:headEnd type="none" w="med" len="med"/>
                      <a:tailEnd type="none" w="med" len="med"/>
                    </a:lnT>
                    <a:lnB w="3848" cap="flat" cmpd="sng" algn="ctr">
                      <a:solidFill>
                        <a:srgbClr val="C00230"/>
                      </a:solidFill>
                      <a:prstDash val="solid"/>
                      <a:round/>
                      <a:headEnd type="none" w="med" len="med"/>
                      <a:tailEnd type="none" w="med" len="med"/>
                    </a:lnB>
                    <a:solidFill>
                      <a:srgbClr val="FFFFFF"/>
                    </a:solidFill>
                  </a:tcPr>
                </a:tc>
                <a:tc>
                  <a:txBody>
                    <a:bodyPr/>
                    <a:lstStyle/>
                    <a:p>
                      <a:pPr algn="ctr"/>
                      <a:r>
                        <a:rPr lang="zh-CN" altLang="en-US" sz="1400" b="0">
                          <a:effectLst/>
                        </a:rPr>
                        <a:t>含电池仅 </a:t>
                      </a:r>
                      <a:r>
                        <a:rPr lang="en-US" altLang="zh-CN" sz="1400" b="0">
                          <a:effectLst/>
                        </a:rPr>
                        <a:t>4.3 </a:t>
                      </a:r>
                      <a:r>
                        <a:rPr lang="zh-CN" altLang="en-US" sz="1400" b="0">
                          <a:effectLst/>
                        </a:rPr>
                        <a:t>克（电池 </a:t>
                      </a:r>
                      <a:r>
                        <a:rPr lang="en-US" altLang="zh-CN" sz="1400" b="0">
                          <a:effectLst/>
                        </a:rPr>
                        <a:t>1.8 </a:t>
                      </a:r>
                      <a:r>
                        <a:rPr lang="zh-CN" altLang="en-US" sz="1400" b="0">
                          <a:effectLst/>
                        </a:rPr>
                        <a:t>克）</a:t>
                      </a:r>
                    </a:p>
                  </a:txBody>
                  <a:tcPr marL="114300" marR="114300" marT="76200" marB="76200" anchor="ctr">
                    <a:lnL w="3848" cap="flat" cmpd="sng" algn="ctr">
                      <a:solidFill>
                        <a:srgbClr val="C0F12F"/>
                      </a:solidFill>
                      <a:prstDash val="solid"/>
                      <a:round/>
                      <a:headEnd type="none" w="med" len="med"/>
                      <a:tailEnd type="none" w="med" len="med"/>
                    </a:lnL>
                    <a:lnR w="3848" cap="flat" cmpd="sng" algn="ctr">
                      <a:solidFill>
                        <a:srgbClr val="40E12F"/>
                      </a:solidFill>
                      <a:prstDash val="solid"/>
                      <a:round/>
                      <a:headEnd type="none" w="med" len="med"/>
                      <a:tailEnd type="none" w="med" len="med"/>
                    </a:lnR>
                    <a:lnT w="3848" cap="flat" cmpd="sng" algn="ctr">
                      <a:solidFill>
                        <a:srgbClr val="F0BF51"/>
                      </a:solidFill>
                      <a:prstDash val="solid"/>
                      <a:round/>
                      <a:headEnd type="none" w="med" len="med"/>
                      <a:tailEnd type="none" w="med" len="med"/>
                    </a:lnT>
                    <a:lnB w="3848" cap="flat" cmpd="sng" algn="ctr">
                      <a:solidFill>
                        <a:srgbClr val="50CF51"/>
                      </a:solidFill>
                      <a:prstDash val="solid"/>
                      <a:round/>
                      <a:headEnd type="none" w="med" len="med"/>
                      <a:tailEnd type="none" w="med" len="med"/>
                    </a:lnB>
                    <a:solidFill>
                      <a:srgbClr val="FFFFFF"/>
                    </a:solidFill>
                  </a:tcPr>
                </a:tc>
                <a:extLst>
                  <a:ext uri="{0D108BD9-81ED-4DB2-BD59-A6C34878D82A}">
                    <a16:rowId xmlns:a16="http://schemas.microsoft.com/office/drawing/2014/main" val="3503498273"/>
                  </a:ext>
                </a:extLst>
              </a:tr>
              <a:tr h="370131">
                <a:tc>
                  <a:txBody>
                    <a:bodyPr/>
                    <a:lstStyle/>
                    <a:p>
                      <a:pPr algn="ctr"/>
                      <a:r>
                        <a:rPr lang="zh-CN" altLang="en-US" sz="1400" b="0">
                          <a:effectLst/>
                        </a:rPr>
                        <a:t>尺寸适配</a:t>
                      </a:r>
                    </a:p>
                  </a:txBody>
                  <a:tcPr marL="114300" marR="114300" marT="76200" marB="76200" anchor="ctr">
                    <a:lnL w="3848" cap="flat" cmpd="sng" algn="ctr">
                      <a:solidFill>
                        <a:srgbClr val="A0FE2F"/>
                      </a:solidFill>
                      <a:prstDash val="solid"/>
                      <a:round/>
                      <a:headEnd type="none" w="med" len="med"/>
                      <a:tailEnd type="none" w="med" len="med"/>
                    </a:lnL>
                    <a:lnR w="3848" cap="flat" cmpd="sng" algn="ctr">
                      <a:solidFill>
                        <a:srgbClr val="C0F12F"/>
                      </a:solidFill>
                      <a:prstDash val="solid"/>
                      <a:round/>
                      <a:headEnd type="none" w="med" len="med"/>
                      <a:tailEnd type="none" w="med" len="med"/>
                    </a:lnR>
                    <a:lnT w="3848" cap="flat" cmpd="sng" algn="ctr">
                      <a:solidFill>
                        <a:srgbClr val="C00230"/>
                      </a:solidFill>
                      <a:prstDash val="solid"/>
                      <a:round/>
                      <a:headEnd type="none" w="med" len="med"/>
                      <a:tailEnd type="none" w="med" len="med"/>
                    </a:lnT>
                    <a:lnB w="3848" cap="flat" cmpd="sng" algn="ctr">
                      <a:solidFill>
                        <a:srgbClr val="000030"/>
                      </a:solidFill>
                      <a:prstDash val="solid"/>
                      <a:round/>
                      <a:headEnd type="none" w="med" len="med"/>
                      <a:tailEnd type="none" w="med" len="med"/>
                    </a:lnB>
                    <a:solidFill>
                      <a:srgbClr val="FFFFFF"/>
                    </a:solidFill>
                  </a:tcPr>
                </a:tc>
                <a:tc>
                  <a:txBody>
                    <a:bodyPr/>
                    <a:lstStyle/>
                    <a:p>
                      <a:pPr algn="ctr"/>
                      <a:r>
                        <a:rPr lang="en-US" altLang="zh-CN" sz="1400" b="0" dirty="0">
                          <a:effectLst/>
                        </a:rPr>
                        <a:t>3/4 </a:t>
                      </a:r>
                      <a:r>
                        <a:rPr lang="zh-CN" altLang="en-US" sz="1400" b="0" dirty="0">
                          <a:effectLst/>
                        </a:rPr>
                        <a:t>环形设计，通过带滑动结的纱线调节尺寸</a:t>
                      </a:r>
                    </a:p>
                  </a:txBody>
                  <a:tcPr marL="114300" marR="114300" marT="76200" marB="76200" anchor="ctr">
                    <a:lnL w="3848" cap="flat" cmpd="sng" algn="ctr">
                      <a:solidFill>
                        <a:srgbClr val="C0F12F"/>
                      </a:solidFill>
                      <a:prstDash val="solid"/>
                      <a:round/>
                      <a:headEnd type="none" w="med" len="med"/>
                      <a:tailEnd type="none" w="med" len="med"/>
                    </a:lnL>
                    <a:lnR w="3848" cap="flat" cmpd="sng" algn="ctr">
                      <a:solidFill>
                        <a:srgbClr val="20E22F"/>
                      </a:solidFill>
                      <a:prstDash val="solid"/>
                      <a:round/>
                      <a:headEnd type="none" w="med" len="med"/>
                      <a:tailEnd type="none" w="med" len="med"/>
                    </a:lnR>
                    <a:lnT w="3848" cap="flat" cmpd="sng" algn="ctr">
                      <a:solidFill>
                        <a:srgbClr val="50CF51"/>
                      </a:solidFill>
                      <a:prstDash val="solid"/>
                      <a:round/>
                      <a:headEnd type="none" w="med" len="med"/>
                      <a:tailEnd type="none" w="med" len="med"/>
                    </a:lnT>
                    <a:lnB w="3848" cap="flat" cmpd="sng" algn="ctr">
                      <a:solidFill>
                        <a:srgbClr val="40E12F"/>
                      </a:solidFill>
                      <a:prstDash val="solid"/>
                      <a:round/>
                      <a:headEnd type="none" w="med" len="med"/>
                      <a:tailEnd type="none" w="med" len="med"/>
                    </a:lnB>
                    <a:solidFill>
                      <a:srgbClr val="FFFFFF"/>
                    </a:solidFill>
                  </a:tcPr>
                </a:tc>
                <a:extLst>
                  <a:ext uri="{0D108BD9-81ED-4DB2-BD59-A6C34878D82A}">
                    <a16:rowId xmlns:a16="http://schemas.microsoft.com/office/drawing/2014/main" val="779478369"/>
                  </a:ext>
                </a:extLst>
              </a:tr>
            </a:tbl>
          </a:graphicData>
        </a:graphic>
      </p:graphicFrame>
      <p:sp>
        <p:nvSpPr>
          <p:cNvPr id="18" name="文本框 17">
            <a:extLst>
              <a:ext uri="{FF2B5EF4-FFF2-40B4-BE49-F238E27FC236}">
                <a16:creationId xmlns:a16="http://schemas.microsoft.com/office/drawing/2014/main" id="{627FEF15-D91D-40F2-8ECC-E94A44C533DA}"/>
              </a:ext>
            </a:extLst>
          </p:cNvPr>
          <p:cNvSpPr txBox="1"/>
          <p:nvPr/>
        </p:nvSpPr>
        <p:spPr>
          <a:xfrm>
            <a:off x="863480" y="1230046"/>
            <a:ext cx="11197963" cy="369332"/>
          </a:xfrm>
          <a:prstGeom prst="rect">
            <a:avLst/>
          </a:prstGeom>
          <a:noFill/>
        </p:spPr>
        <p:txBody>
          <a:bodyPr wrap="square">
            <a:spAutoFit/>
          </a:bodyPr>
          <a:lstStyle/>
          <a:p>
            <a:r>
              <a:rPr lang="zh-CN" altLang="en-US" b="1" dirty="0"/>
              <a:t>由刚性</a:t>
            </a:r>
            <a:r>
              <a:rPr lang="en-US" altLang="zh-CN" b="1" dirty="0"/>
              <a:t>PCB</a:t>
            </a:r>
            <a:r>
              <a:rPr lang="zh-CN" altLang="en-US" b="1" dirty="0"/>
              <a:t>岛转向柔性印刷电路板（</a:t>
            </a:r>
            <a:r>
              <a:rPr lang="en-US" altLang="zh-CN" b="1" dirty="0"/>
              <a:t>FPCB</a:t>
            </a:r>
            <a:r>
              <a:rPr lang="zh-CN" altLang="en-US" b="1" dirty="0"/>
              <a:t>），实现更轻薄的戒身和更好的弯曲贴合度</a:t>
            </a:r>
            <a:endParaRPr lang="zh-CN" altLang="en-US" dirty="0"/>
          </a:p>
        </p:txBody>
      </p:sp>
      <p:sp>
        <p:nvSpPr>
          <p:cNvPr id="19" name="文本框 18">
            <a:extLst>
              <a:ext uri="{FF2B5EF4-FFF2-40B4-BE49-F238E27FC236}">
                <a16:creationId xmlns:a16="http://schemas.microsoft.com/office/drawing/2014/main" id="{D637BD93-8499-4A2E-A62F-1B2C4708A5E6}"/>
              </a:ext>
            </a:extLst>
          </p:cNvPr>
          <p:cNvSpPr txBox="1"/>
          <p:nvPr/>
        </p:nvSpPr>
        <p:spPr>
          <a:xfrm>
            <a:off x="8457334" y="4286597"/>
            <a:ext cx="1761933" cy="276999"/>
          </a:xfrm>
          <a:prstGeom prst="rect">
            <a:avLst/>
          </a:prstGeom>
          <a:noFill/>
        </p:spPr>
        <p:txBody>
          <a:bodyPr wrap="square">
            <a:spAutoFit/>
          </a:bodyPr>
          <a:lstStyle/>
          <a:p>
            <a:r>
              <a:rPr lang="en-US" altLang="zh-CN" sz="1200" b="1" dirty="0"/>
              <a:t>Ring-a-Pose</a:t>
            </a:r>
            <a:r>
              <a:rPr lang="zh-CN" altLang="en-US" sz="1200" b="1" dirty="0"/>
              <a:t>成品</a:t>
            </a:r>
          </a:p>
        </p:txBody>
      </p:sp>
      <p:pic>
        <p:nvPicPr>
          <p:cNvPr id="16" name="图片 15">
            <a:extLst>
              <a:ext uri="{FF2B5EF4-FFF2-40B4-BE49-F238E27FC236}">
                <a16:creationId xmlns:a16="http://schemas.microsoft.com/office/drawing/2014/main" id="{F7B5B289-B211-47AD-B977-C817A00EBD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9252" y="1979766"/>
            <a:ext cx="2266950" cy="2247900"/>
          </a:xfrm>
          <a:prstGeom prst="rect">
            <a:avLst/>
          </a:prstGeom>
        </p:spPr>
      </p:pic>
      <p:sp>
        <p:nvSpPr>
          <p:cNvPr id="22" name="文本框 21">
            <a:extLst>
              <a:ext uri="{FF2B5EF4-FFF2-40B4-BE49-F238E27FC236}">
                <a16:creationId xmlns:a16="http://schemas.microsoft.com/office/drawing/2014/main" id="{E793A08E-1461-481A-A34E-49AC2EFA2B75}"/>
              </a:ext>
            </a:extLst>
          </p:cNvPr>
          <p:cNvSpPr txBox="1"/>
          <p:nvPr/>
        </p:nvSpPr>
        <p:spPr>
          <a:xfrm>
            <a:off x="3207509" y="2109293"/>
            <a:ext cx="6094854" cy="276999"/>
          </a:xfrm>
          <a:prstGeom prst="rect">
            <a:avLst/>
          </a:prstGeom>
          <a:noFill/>
        </p:spPr>
        <p:txBody>
          <a:bodyPr wrap="square">
            <a:spAutoFit/>
          </a:bodyPr>
          <a:lstStyle/>
          <a:p>
            <a:r>
              <a:rPr lang="zh-CN" altLang="en-US" sz="1200" b="1" dirty="0"/>
              <a:t>柔性</a:t>
            </a:r>
            <a:r>
              <a:rPr lang="en-US" altLang="zh-CN" sz="1200" b="1" dirty="0"/>
              <a:t>PCB</a:t>
            </a:r>
            <a:r>
              <a:rPr lang="zh-CN" altLang="en-US" sz="1200" b="1" dirty="0"/>
              <a:t>详细信息</a:t>
            </a:r>
            <a:endParaRPr lang="zh-CN" altLang="en-US" sz="1200" dirty="0"/>
          </a:p>
        </p:txBody>
      </p:sp>
      <p:sp>
        <p:nvSpPr>
          <p:cNvPr id="24" name="文本框 23">
            <a:extLst>
              <a:ext uri="{FF2B5EF4-FFF2-40B4-BE49-F238E27FC236}">
                <a16:creationId xmlns:a16="http://schemas.microsoft.com/office/drawing/2014/main" id="{EB197ED1-F95D-463D-B80F-E7F59AF14511}"/>
              </a:ext>
            </a:extLst>
          </p:cNvPr>
          <p:cNvSpPr txBox="1"/>
          <p:nvPr/>
        </p:nvSpPr>
        <p:spPr>
          <a:xfrm>
            <a:off x="10672662" y="3002574"/>
            <a:ext cx="1157952" cy="830997"/>
          </a:xfrm>
          <a:prstGeom prst="rect">
            <a:avLst/>
          </a:prstGeom>
          <a:noFill/>
        </p:spPr>
        <p:txBody>
          <a:bodyPr wrap="square">
            <a:spAutoFit/>
          </a:bodyPr>
          <a:lstStyle/>
          <a:p>
            <a:r>
              <a:rPr lang="zh-CN" altLang="en-US" sz="1600" b="0" i="0" dirty="0">
                <a:solidFill>
                  <a:srgbClr val="000000"/>
                </a:solidFill>
                <a:effectLst/>
                <a:latin typeface="+mj-ea"/>
                <a:ea typeface="+mj-ea"/>
              </a:rPr>
              <a:t>扬声器 </a:t>
            </a:r>
            <a:r>
              <a:rPr lang="en-US" altLang="zh-CN" sz="1600" b="0" i="0" dirty="0">
                <a:solidFill>
                  <a:srgbClr val="000000"/>
                </a:solidFill>
                <a:effectLst/>
                <a:latin typeface="+mj-ea"/>
                <a:ea typeface="+mj-ea"/>
              </a:rPr>
              <a:t>/ </a:t>
            </a:r>
            <a:r>
              <a:rPr lang="zh-CN" altLang="en-US" sz="1600" b="0" i="0" dirty="0">
                <a:solidFill>
                  <a:srgbClr val="000000"/>
                </a:solidFill>
                <a:effectLst/>
                <a:latin typeface="+mj-ea"/>
                <a:ea typeface="+mj-ea"/>
              </a:rPr>
              <a:t>麦克风</a:t>
            </a:r>
            <a:r>
              <a:rPr lang="zh-CN" altLang="en-US" sz="1600" b="1" i="0" dirty="0">
                <a:solidFill>
                  <a:srgbClr val="000000"/>
                </a:solidFill>
                <a:effectLst/>
                <a:latin typeface="+mj-ea"/>
                <a:ea typeface="+mj-ea"/>
              </a:rPr>
              <a:t>水平并排</a:t>
            </a:r>
            <a:endParaRPr lang="zh-CN" altLang="en-US" sz="1600" dirty="0">
              <a:latin typeface="+mj-ea"/>
              <a:ea typeface="+mj-ea"/>
            </a:endParaRPr>
          </a:p>
        </p:txBody>
      </p:sp>
      <p:sp>
        <p:nvSpPr>
          <p:cNvPr id="26" name="文本框 25">
            <a:extLst>
              <a:ext uri="{FF2B5EF4-FFF2-40B4-BE49-F238E27FC236}">
                <a16:creationId xmlns:a16="http://schemas.microsoft.com/office/drawing/2014/main" id="{29BFAA34-7FD2-4D45-9B65-DC5AD5A1CA27}"/>
              </a:ext>
            </a:extLst>
          </p:cNvPr>
          <p:cNvSpPr txBox="1"/>
          <p:nvPr/>
        </p:nvSpPr>
        <p:spPr>
          <a:xfrm>
            <a:off x="2235805" y="5814339"/>
            <a:ext cx="7514166" cy="400110"/>
          </a:xfrm>
          <a:prstGeom prst="rect">
            <a:avLst/>
          </a:prstGeom>
          <a:noFill/>
        </p:spPr>
        <p:txBody>
          <a:bodyPr wrap="square">
            <a:spAutoFit/>
          </a:bodyPr>
          <a:lstStyle/>
          <a:p>
            <a:pPr algn="l"/>
            <a:r>
              <a:rPr lang="zh-CN" altLang="en-US" sz="2000" b="1" i="0" dirty="0">
                <a:solidFill>
                  <a:srgbClr val="FF0000"/>
                </a:solidFill>
                <a:effectLst/>
                <a:latin typeface="+mj-ea"/>
                <a:ea typeface="+mj-ea"/>
              </a:rPr>
              <a:t>在轻薄舒适（适配长时间佩戴）的基础上，实现良好传感性能</a:t>
            </a:r>
          </a:p>
        </p:txBody>
      </p:sp>
      <p:cxnSp>
        <p:nvCxnSpPr>
          <p:cNvPr id="25" name="直接箭头连接符 24">
            <a:extLst>
              <a:ext uri="{FF2B5EF4-FFF2-40B4-BE49-F238E27FC236}">
                <a16:creationId xmlns:a16="http://schemas.microsoft.com/office/drawing/2014/main" id="{B570FD84-188A-4F6B-8BDD-7D79A2FC9D8E}"/>
              </a:ext>
            </a:extLst>
          </p:cNvPr>
          <p:cNvCxnSpPr>
            <a:cxnSpLocks/>
          </p:cNvCxnSpPr>
          <p:nvPr/>
        </p:nvCxnSpPr>
        <p:spPr>
          <a:xfrm>
            <a:off x="10284668" y="3582540"/>
            <a:ext cx="387994" cy="13432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8DC79CBD-FD3F-4D9B-95BA-B87A78EAFDC8}"/>
              </a:ext>
            </a:extLst>
          </p:cNvPr>
          <p:cNvCxnSpPr>
            <a:cxnSpLocks/>
          </p:cNvCxnSpPr>
          <p:nvPr/>
        </p:nvCxnSpPr>
        <p:spPr>
          <a:xfrm flipH="1">
            <a:off x="7967179" y="4163515"/>
            <a:ext cx="321688" cy="46485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193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4" name="文本框 23">
            <a:extLst>
              <a:ext uri="{FF2B5EF4-FFF2-40B4-BE49-F238E27FC236}">
                <a16:creationId xmlns:a16="http://schemas.microsoft.com/office/drawing/2014/main" id="{3B4236F3-5C64-421A-894A-FDC8D821939E}"/>
              </a:ext>
            </a:extLst>
          </p:cNvPr>
          <p:cNvSpPr txBox="1"/>
          <p:nvPr/>
        </p:nvSpPr>
        <p:spPr>
          <a:xfrm>
            <a:off x="7872832" y="3390792"/>
            <a:ext cx="3864812" cy="2348083"/>
          </a:xfrm>
          <a:prstGeom prst="rect">
            <a:avLst/>
          </a:prstGeom>
          <a:noFill/>
          <a:ln w="28575">
            <a:solidFill>
              <a:srgbClr val="00B0F0"/>
            </a:solidFill>
            <a:prstDash val="dash"/>
          </a:ln>
        </p:spPr>
        <p:txBody>
          <a:bodyPr wrap="square" rtlCol="0">
            <a:spAutoFit/>
          </a:bodyPr>
          <a:lstStyle/>
          <a:p>
            <a:endParaRPr lang="zh-CN" altLang="en-US" dirty="0"/>
          </a:p>
        </p:txBody>
      </p:sp>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2708843" cy="593132"/>
            <a:chOff x="1019925" y="1507763"/>
            <a:chExt cx="2708843"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3"/>
              <a:ext cx="2028463"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硬件实现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B2B257F5-B3C7-4456-82A1-6BDFFBC12DF9}"/>
              </a:ext>
            </a:extLst>
          </p:cNvPr>
          <p:cNvSpPr txBox="1"/>
          <p:nvPr/>
        </p:nvSpPr>
        <p:spPr>
          <a:xfrm>
            <a:off x="4345582" y="6088317"/>
            <a:ext cx="6022201" cy="400110"/>
          </a:xfrm>
          <a:prstGeom prst="rect">
            <a:avLst/>
          </a:prstGeom>
          <a:noFill/>
        </p:spPr>
        <p:txBody>
          <a:bodyPr wrap="square">
            <a:spAutoFit/>
          </a:bodyPr>
          <a:lstStyle/>
          <a:p>
            <a:r>
              <a:rPr lang="zh-CN" altLang="en-US" sz="2000" b="1" i="0" dirty="0">
                <a:solidFill>
                  <a:srgbClr val="FF0000"/>
                </a:solidFill>
                <a:effectLst/>
                <a:latin typeface="+mj-ea"/>
                <a:ea typeface="+mj-ea"/>
              </a:rPr>
              <a:t>成本仅</a:t>
            </a:r>
            <a:r>
              <a:rPr lang="en-US" altLang="zh-CN" sz="2000" b="1" i="0" dirty="0">
                <a:solidFill>
                  <a:srgbClr val="FF0000"/>
                </a:solidFill>
                <a:effectLst/>
                <a:latin typeface="+mj-ea"/>
                <a:ea typeface="+mj-ea"/>
              </a:rPr>
              <a:t>30$</a:t>
            </a:r>
            <a:r>
              <a:rPr lang="zh-CN" altLang="en-US" sz="2000" b="1" i="0" dirty="0">
                <a:solidFill>
                  <a:srgbClr val="FF0000"/>
                </a:solidFill>
                <a:effectLst/>
                <a:latin typeface="+mj-ea"/>
                <a:ea typeface="+mj-ea"/>
              </a:rPr>
              <a:t>，</a:t>
            </a:r>
            <a:r>
              <a:rPr lang="zh-CN" altLang="en-US" sz="2000" b="1" dirty="0">
                <a:solidFill>
                  <a:srgbClr val="FF0000"/>
                </a:solidFill>
                <a:latin typeface="+mj-ea"/>
                <a:ea typeface="+mj-ea"/>
              </a:rPr>
              <a:t>功耗</a:t>
            </a:r>
            <a:r>
              <a:rPr lang="en-US" altLang="zh-CN" sz="2000" b="1" i="0" dirty="0">
                <a:solidFill>
                  <a:srgbClr val="FF0000"/>
                </a:solidFill>
                <a:effectLst/>
                <a:latin typeface="+mj-ea"/>
                <a:ea typeface="+mj-ea"/>
              </a:rPr>
              <a:t>148mW</a:t>
            </a:r>
            <a:endParaRPr lang="zh-CN" altLang="en-US" sz="2000" b="1" dirty="0">
              <a:solidFill>
                <a:srgbClr val="FF0000"/>
              </a:solidFill>
              <a:latin typeface="+mj-ea"/>
              <a:ea typeface="+mj-ea"/>
            </a:endParaRPr>
          </a:p>
        </p:txBody>
      </p:sp>
      <p:grpSp>
        <p:nvGrpSpPr>
          <p:cNvPr id="6" name="组合 5">
            <a:extLst>
              <a:ext uri="{FF2B5EF4-FFF2-40B4-BE49-F238E27FC236}">
                <a16:creationId xmlns:a16="http://schemas.microsoft.com/office/drawing/2014/main" id="{26070BCC-BF64-4D1C-BB49-212678BE14D5}"/>
              </a:ext>
            </a:extLst>
          </p:cNvPr>
          <p:cNvGrpSpPr/>
          <p:nvPr/>
        </p:nvGrpSpPr>
        <p:grpSpPr>
          <a:xfrm>
            <a:off x="0" y="2003586"/>
            <a:ext cx="8229600" cy="4088020"/>
            <a:chOff x="149191" y="2137927"/>
            <a:chExt cx="8229600" cy="4088020"/>
          </a:xfrm>
        </p:grpSpPr>
        <p:pic>
          <p:nvPicPr>
            <p:cNvPr id="1028" name="Picture 4">
              <a:extLst>
                <a:ext uri="{FF2B5EF4-FFF2-40B4-BE49-F238E27FC236}">
                  <a16:creationId xmlns:a16="http://schemas.microsoft.com/office/drawing/2014/main" id="{C93A28AB-C6BF-499C-A768-9CD3EBF7FA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453"/>
            <a:stretch/>
          </p:blipFill>
          <p:spPr bwMode="auto">
            <a:xfrm>
              <a:off x="149191" y="2137927"/>
              <a:ext cx="8229600" cy="4088020"/>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39C3C55-C60B-4301-BA7A-6DFD60A75C69}"/>
                </a:ext>
              </a:extLst>
            </p:cNvPr>
            <p:cNvSpPr txBox="1"/>
            <p:nvPr/>
          </p:nvSpPr>
          <p:spPr>
            <a:xfrm>
              <a:off x="3840480" y="4475385"/>
              <a:ext cx="847023" cy="338554"/>
            </a:xfrm>
            <a:prstGeom prst="rect">
              <a:avLst/>
            </a:prstGeom>
            <a:noFill/>
          </p:spPr>
          <p:txBody>
            <a:bodyPr wrap="square">
              <a:spAutoFit/>
            </a:bodyPr>
            <a:lstStyle/>
            <a:p>
              <a:r>
                <a:rPr lang="en-US" altLang="zh-CN" sz="1600" b="1" i="0" dirty="0">
                  <a:solidFill>
                    <a:srgbClr val="FF0000"/>
                  </a:solidFill>
                  <a:effectLst/>
                  <a:latin typeface="Inter"/>
                </a:rPr>
                <a:t>24mW</a:t>
              </a:r>
              <a:endParaRPr lang="zh-CN" altLang="en-US" sz="1600" b="1" dirty="0">
                <a:solidFill>
                  <a:srgbClr val="FF0000"/>
                </a:solidFill>
              </a:endParaRPr>
            </a:p>
          </p:txBody>
        </p:sp>
        <p:sp>
          <p:nvSpPr>
            <p:cNvPr id="21" name="文本框 20">
              <a:extLst>
                <a:ext uri="{FF2B5EF4-FFF2-40B4-BE49-F238E27FC236}">
                  <a16:creationId xmlns:a16="http://schemas.microsoft.com/office/drawing/2014/main" id="{B147DE18-F9F3-45A2-9C07-F48BA6ACE39E}"/>
                </a:ext>
              </a:extLst>
            </p:cNvPr>
            <p:cNvSpPr txBox="1"/>
            <p:nvPr/>
          </p:nvSpPr>
          <p:spPr>
            <a:xfrm>
              <a:off x="2204222" y="5773128"/>
              <a:ext cx="1047582" cy="338554"/>
            </a:xfrm>
            <a:prstGeom prst="rect">
              <a:avLst/>
            </a:prstGeom>
            <a:noFill/>
          </p:spPr>
          <p:txBody>
            <a:bodyPr wrap="square">
              <a:spAutoFit/>
            </a:bodyPr>
            <a:lstStyle/>
            <a:p>
              <a:r>
                <a:rPr lang="en-US" altLang="zh-CN" sz="1600" b="1" dirty="0">
                  <a:solidFill>
                    <a:srgbClr val="FF0000"/>
                  </a:solidFill>
                  <a:latin typeface="Inter"/>
                </a:rPr>
                <a:t>120mW</a:t>
              </a:r>
              <a:endParaRPr lang="zh-CN" altLang="en-US" sz="1600" b="1" dirty="0">
                <a:solidFill>
                  <a:srgbClr val="FF0000"/>
                </a:solidFill>
                <a:latin typeface="Inter"/>
              </a:endParaRPr>
            </a:p>
          </p:txBody>
        </p:sp>
        <p:sp>
          <p:nvSpPr>
            <p:cNvPr id="23" name="文本框 22">
              <a:extLst>
                <a:ext uri="{FF2B5EF4-FFF2-40B4-BE49-F238E27FC236}">
                  <a16:creationId xmlns:a16="http://schemas.microsoft.com/office/drawing/2014/main" id="{CA57203C-B8E3-4587-B413-2F9DC60C49EF}"/>
                </a:ext>
              </a:extLst>
            </p:cNvPr>
            <p:cNvSpPr txBox="1"/>
            <p:nvPr/>
          </p:nvSpPr>
          <p:spPr>
            <a:xfrm>
              <a:off x="5452781" y="4475385"/>
              <a:ext cx="847023" cy="338554"/>
            </a:xfrm>
            <a:prstGeom prst="rect">
              <a:avLst/>
            </a:prstGeom>
            <a:noFill/>
          </p:spPr>
          <p:txBody>
            <a:bodyPr wrap="square">
              <a:spAutoFit/>
            </a:bodyPr>
            <a:lstStyle/>
            <a:p>
              <a:r>
                <a:rPr lang="en-US" altLang="zh-CN" sz="1600" b="1" dirty="0">
                  <a:solidFill>
                    <a:srgbClr val="FF0000"/>
                  </a:solidFill>
                  <a:latin typeface="Inter"/>
                </a:rPr>
                <a:t>4mW</a:t>
              </a:r>
              <a:endParaRPr lang="zh-CN" altLang="en-US" sz="1600" b="1" dirty="0">
                <a:solidFill>
                  <a:srgbClr val="FF0000"/>
                </a:solidFill>
                <a:latin typeface="Inter"/>
              </a:endParaRPr>
            </a:p>
          </p:txBody>
        </p:sp>
      </p:grpSp>
      <p:sp>
        <p:nvSpPr>
          <p:cNvPr id="25" name="文本框 24">
            <a:extLst>
              <a:ext uri="{FF2B5EF4-FFF2-40B4-BE49-F238E27FC236}">
                <a16:creationId xmlns:a16="http://schemas.microsoft.com/office/drawing/2014/main" id="{5A226861-DEAE-4C69-A8A5-8F0D0D5F7A41}"/>
              </a:ext>
            </a:extLst>
          </p:cNvPr>
          <p:cNvSpPr txBox="1"/>
          <p:nvPr/>
        </p:nvSpPr>
        <p:spPr>
          <a:xfrm>
            <a:off x="7482334" y="4005303"/>
            <a:ext cx="4287253" cy="1754326"/>
          </a:xfrm>
          <a:prstGeom prst="rect">
            <a:avLst/>
          </a:prstGeom>
          <a:noFill/>
        </p:spPr>
        <p:txBody>
          <a:bodyPr wrap="square">
            <a:spAutoFit/>
          </a:bodyPr>
          <a:lstStyle/>
          <a:p>
            <a:pPr lvl="1" algn="l"/>
            <a:r>
              <a:rPr lang="zh-CN" altLang="en-US" b="1" dirty="0">
                <a:latin typeface="+mj-ea"/>
                <a:ea typeface="+mj-ea"/>
              </a:rPr>
              <a:t>扬声器：</a:t>
            </a:r>
            <a:r>
              <a:rPr lang="zh-CN" altLang="en-US" b="0" i="0" dirty="0">
                <a:solidFill>
                  <a:srgbClr val="000000"/>
                </a:solidFill>
                <a:effectLst/>
                <a:latin typeface="Inter"/>
              </a:rPr>
              <a:t>发射 </a:t>
            </a:r>
            <a:r>
              <a:rPr lang="en-US" altLang="zh-CN" b="0" i="0" dirty="0">
                <a:solidFill>
                  <a:srgbClr val="000000"/>
                </a:solidFill>
                <a:effectLst/>
                <a:latin typeface="Inter"/>
              </a:rPr>
              <a:t>20-24KHzFMCW </a:t>
            </a:r>
            <a:r>
              <a:rPr lang="zh-CN" altLang="en-US" b="0" i="0" dirty="0">
                <a:solidFill>
                  <a:srgbClr val="000000"/>
                </a:solidFill>
                <a:effectLst/>
                <a:latin typeface="Inter"/>
              </a:rPr>
              <a:t>信号，每周期 </a:t>
            </a:r>
            <a:r>
              <a:rPr lang="en-US" altLang="zh-CN" b="0" i="0" dirty="0">
                <a:solidFill>
                  <a:srgbClr val="000000"/>
                </a:solidFill>
                <a:effectLst/>
                <a:latin typeface="Inter"/>
              </a:rPr>
              <a:t>600</a:t>
            </a:r>
            <a:r>
              <a:rPr lang="zh-CN" altLang="en-US" b="0" i="0" dirty="0">
                <a:solidFill>
                  <a:srgbClr val="000000"/>
                </a:solidFill>
                <a:effectLst/>
                <a:latin typeface="Inter"/>
              </a:rPr>
              <a:t>个</a:t>
            </a:r>
            <a:r>
              <a:rPr lang="en-US" altLang="zh-CN" b="0" i="0" dirty="0">
                <a:solidFill>
                  <a:srgbClr val="000000"/>
                </a:solidFill>
                <a:effectLst/>
                <a:latin typeface="Inter"/>
              </a:rPr>
              <a:t> </a:t>
            </a:r>
            <a:r>
              <a:rPr lang="zh-CN" altLang="en-US" b="0" i="0" dirty="0">
                <a:solidFill>
                  <a:srgbClr val="000000"/>
                </a:solidFill>
                <a:effectLst/>
                <a:latin typeface="Inter"/>
              </a:rPr>
              <a:t>样本</a:t>
            </a:r>
            <a:endParaRPr lang="en-US" altLang="zh-CN" b="0" i="0" dirty="0">
              <a:solidFill>
                <a:srgbClr val="000000"/>
              </a:solidFill>
              <a:effectLst/>
              <a:latin typeface="Inter"/>
            </a:endParaRPr>
          </a:p>
          <a:p>
            <a:pPr lvl="1" algn="l"/>
            <a:endParaRPr lang="zh-CN" altLang="en-US" b="0" i="0" dirty="0">
              <a:solidFill>
                <a:srgbClr val="000000"/>
              </a:solidFill>
              <a:effectLst/>
              <a:latin typeface="Inter"/>
            </a:endParaRPr>
          </a:p>
          <a:p>
            <a:pPr lvl="1" algn="l"/>
            <a:r>
              <a:rPr lang="zh-CN" altLang="en-US" b="1" dirty="0">
                <a:latin typeface="+mj-ea"/>
                <a:ea typeface="+mj-ea"/>
              </a:rPr>
              <a:t>麦克风：</a:t>
            </a:r>
            <a:r>
              <a:rPr lang="en-US" altLang="zh-CN" b="0" i="0" dirty="0">
                <a:solidFill>
                  <a:srgbClr val="000000"/>
                </a:solidFill>
                <a:effectLst/>
                <a:latin typeface="Inter"/>
              </a:rPr>
              <a:t>50KHz </a:t>
            </a:r>
            <a:r>
              <a:rPr lang="zh-CN" altLang="en-US" dirty="0">
                <a:solidFill>
                  <a:srgbClr val="000000"/>
                </a:solidFill>
                <a:latin typeface="Inter"/>
              </a:rPr>
              <a:t> 采样</a:t>
            </a:r>
            <a:r>
              <a:rPr lang="en-US" altLang="zh-CN" dirty="0"/>
              <a:t>16</a:t>
            </a:r>
            <a:r>
              <a:rPr lang="zh-CN" altLang="en-US" dirty="0"/>
              <a:t>位信号</a:t>
            </a:r>
            <a:endParaRPr lang="en-US" altLang="zh-CN" b="0" i="0" dirty="0">
              <a:solidFill>
                <a:srgbClr val="000000"/>
              </a:solidFill>
              <a:effectLst/>
              <a:latin typeface="Inter"/>
            </a:endParaRPr>
          </a:p>
          <a:p>
            <a:pPr lvl="1" algn="l"/>
            <a:endParaRPr lang="en-US" altLang="zh-CN" dirty="0">
              <a:solidFill>
                <a:srgbClr val="000000"/>
              </a:solidFill>
              <a:latin typeface="Inter"/>
            </a:endParaRPr>
          </a:p>
          <a:p>
            <a:pPr lvl="1" algn="l"/>
            <a:r>
              <a:rPr lang="en-US" altLang="zh-CN" b="1" dirty="0">
                <a:latin typeface="+mj-ea"/>
                <a:ea typeface="+mj-ea"/>
              </a:rPr>
              <a:t>BLE UART</a:t>
            </a:r>
            <a:r>
              <a:rPr lang="zh-CN" altLang="en-US" b="1" dirty="0">
                <a:latin typeface="+mj-ea"/>
                <a:ea typeface="+mj-ea"/>
              </a:rPr>
              <a:t>：</a:t>
            </a:r>
            <a:r>
              <a:rPr lang="en-US" altLang="zh-CN" dirty="0"/>
              <a:t>800Kbps</a:t>
            </a:r>
            <a:r>
              <a:rPr lang="zh-CN" altLang="en-US" dirty="0"/>
              <a:t>速率传输信号</a:t>
            </a:r>
            <a:endParaRPr lang="en-US" altLang="zh-CN" dirty="0">
              <a:solidFill>
                <a:srgbClr val="000000"/>
              </a:solidFill>
              <a:latin typeface="Inter"/>
            </a:endParaRPr>
          </a:p>
        </p:txBody>
      </p:sp>
      <p:pic>
        <p:nvPicPr>
          <p:cNvPr id="20" name="图片 19">
            <a:extLst>
              <a:ext uri="{FF2B5EF4-FFF2-40B4-BE49-F238E27FC236}">
                <a16:creationId xmlns:a16="http://schemas.microsoft.com/office/drawing/2014/main" id="{FBCCCFA7-453B-46B3-A914-B10C05D5DA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0646" y="934152"/>
            <a:ext cx="9591675" cy="2143125"/>
          </a:xfrm>
          <a:prstGeom prst="rect">
            <a:avLst/>
          </a:prstGeom>
        </p:spPr>
      </p:pic>
      <p:sp>
        <p:nvSpPr>
          <p:cNvPr id="30" name="文本框 29">
            <a:extLst>
              <a:ext uri="{FF2B5EF4-FFF2-40B4-BE49-F238E27FC236}">
                <a16:creationId xmlns:a16="http://schemas.microsoft.com/office/drawing/2014/main" id="{BF28CB35-6221-42B9-BD3A-09FD82EFC8F1}"/>
              </a:ext>
            </a:extLst>
          </p:cNvPr>
          <p:cNvSpPr txBox="1"/>
          <p:nvPr/>
        </p:nvSpPr>
        <p:spPr>
          <a:xfrm>
            <a:off x="7919813" y="3518242"/>
            <a:ext cx="3849774" cy="371523"/>
          </a:xfrm>
          <a:prstGeom prst="rect">
            <a:avLst/>
          </a:prstGeom>
          <a:noFill/>
        </p:spPr>
        <p:txBody>
          <a:bodyPr wrap="square">
            <a:spAutoFit/>
          </a:bodyPr>
          <a:lstStyle/>
          <a:p>
            <a:r>
              <a:rPr lang="en-US" altLang="zh-CN" b="1" dirty="0">
                <a:latin typeface="+mj-ea"/>
                <a:ea typeface="+mj-ea"/>
              </a:rPr>
              <a:t>Details</a:t>
            </a:r>
            <a:endParaRPr lang="zh-CN" altLang="en-US" b="1" dirty="0">
              <a:latin typeface="+mj-ea"/>
              <a:ea typeface="+mj-ea"/>
            </a:endParaRPr>
          </a:p>
        </p:txBody>
      </p:sp>
    </p:spTree>
    <p:extLst>
      <p:ext uri="{BB962C8B-B14F-4D97-AF65-F5344CB8AC3E}">
        <p14:creationId xmlns:p14="http://schemas.microsoft.com/office/powerpoint/2010/main" val="783419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2674119" cy="593131"/>
            <a:chOff x="1019925" y="1507764"/>
            <a:chExt cx="2674119"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64AEE94C-C246-42DD-9A32-650FF191FB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682" y="1720499"/>
            <a:ext cx="3305175" cy="885825"/>
          </a:xfrm>
          <a:prstGeom prst="rect">
            <a:avLst/>
          </a:prstGeom>
        </p:spPr>
      </p:pic>
      <p:sp>
        <p:nvSpPr>
          <p:cNvPr id="15" name="文本框 14">
            <a:extLst>
              <a:ext uri="{FF2B5EF4-FFF2-40B4-BE49-F238E27FC236}">
                <a16:creationId xmlns:a16="http://schemas.microsoft.com/office/drawing/2014/main" id="{73AD3625-25C6-491B-9648-5C7FE21BBD03}"/>
              </a:ext>
            </a:extLst>
          </p:cNvPr>
          <p:cNvSpPr txBox="1"/>
          <p:nvPr/>
        </p:nvSpPr>
        <p:spPr>
          <a:xfrm>
            <a:off x="138529" y="918247"/>
            <a:ext cx="6096000" cy="461665"/>
          </a:xfrm>
          <a:prstGeom prst="rect">
            <a:avLst/>
          </a:prstGeom>
          <a:noFill/>
        </p:spPr>
        <p:txBody>
          <a:bodyPr wrap="square">
            <a:spAutoFit/>
          </a:bodyPr>
          <a:lstStyle/>
          <a:p>
            <a:r>
              <a:rPr lang="zh-CN" altLang="en-US" sz="2400" b="1" dirty="0">
                <a:latin typeface="+mj-ea"/>
                <a:ea typeface="+mj-ea"/>
              </a:rPr>
              <a:t>基于</a:t>
            </a:r>
            <a:r>
              <a:rPr lang="en-US" altLang="zh-CN" sz="2400" b="1" dirty="0">
                <a:latin typeface="+mj-ea"/>
                <a:ea typeface="+mj-ea"/>
              </a:rPr>
              <a:t>C-FMCW</a:t>
            </a:r>
            <a:r>
              <a:rPr lang="zh-CN" altLang="en-US" sz="2400" b="1" dirty="0">
                <a:latin typeface="+mj-ea"/>
                <a:ea typeface="+mj-ea"/>
              </a:rPr>
              <a:t>计算回声轮廓</a:t>
            </a:r>
          </a:p>
        </p:txBody>
      </p:sp>
      <p:sp>
        <p:nvSpPr>
          <p:cNvPr id="17" name="文本框 16">
            <a:extLst>
              <a:ext uri="{FF2B5EF4-FFF2-40B4-BE49-F238E27FC236}">
                <a16:creationId xmlns:a16="http://schemas.microsoft.com/office/drawing/2014/main" id="{322DA191-36AE-4B48-AE6B-B29A5E718D55}"/>
              </a:ext>
            </a:extLst>
          </p:cNvPr>
          <p:cNvSpPr txBox="1"/>
          <p:nvPr/>
        </p:nvSpPr>
        <p:spPr>
          <a:xfrm>
            <a:off x="241919" y="1433617"/>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dirty="0"/>
              <a:t>对于</a:t>
            </a:r>
            <a:r>
              <a:rPr lang="en-US" altLang="zh-CN" dirty="0"/>
              <a:t>C-FMCW</a:t>
            </a:r>
            <a:r>
              <a:rPr lang="zh-CN" altLang="en-US" dirty="0"/>
              <a:t>方法，</a:t>
            </a:r>
            <a:r>
              <a:rPr lang="zh-CN" altLang="en-US" b="1" dirty="0"/>
              <a:t>理论测距分辨率</a:t>
            </a:r>
            <a:r>
              <a:rPr lang="zh-CN" altLang="en-US" dirty="0"/>
              <a:t>相关公式如下：</a:t>
            </a:r>
          </a:p>
        </p:txBody>
      </p:sp>
      <p:sp>
        <p:nvSpPr>
          <p:cNvPr id="19" name="文本框 18">
            <a:extLst>
              <a:ext uri="{FF2B5EF4-FFF2-40B4-BE49-F238E27FC236}">
                <a16:creationId xmlns:a16="http://schemas.microsoft.com/office/drawing/2014/main" id="{B7095DAC-F3C6-4D85-9CA9-C4CF2976A983}"/>
              </a:ext>
            </a:extLst>
          </p:cNvPr>
          <p:cNvSpPr txBox="1"/>
          <p:nvPr/>
        </p:nvSpPr>
        <p:spPr>
          <a:xfrm>
            <a:off x="336654" y="2504533"/>
            <a:ext cx="5592112" cy="738664"/>
          </a:xfrm>
          <a:prstGeom prst="rect">
            <a:avLst/>
          </a:prstGeom>
          <a:noFill/>
        </p:spPr>
        <p:txBody>
          <a:bodyPr wrap="square">
            <a:spAutoFit/>
          </a:bodyPr>
          <a:lstStyle/>
          <a:p>
            <a:r>
              <a:rPr lang="zh-CN" altLang="en-US" sz="1400" i="1" dirty="0"/>
              <a:t>其中，</a:t>
            </a:r>
            <a:r>
              <a:rPr lang="en-US" altLang="zh-CN" sz="1400" i="1" dirty="0"/>
              <a:t>C</a:t>
            </a:r>
            <a:r>
              <a:rPr lang="zh-CN" altLang="en-US" sz="1400" i="1" dirty="0"/>
              <a:t>为声速，</a:t>
            </a:r>
            <a:r>
              <a:rPr lang="en-US" altLang="zh-CN" sz="1400" i="1" dirty="0"/>
              <a:t>Lag</a:t>
            </a:r>
            <a:r>
              <a:rPr lang="zh-CN" altLang="en-US" sz="1400" i="1" dirty="0"/>
              <a:t>为发射信号和接收信号之间的样本偏移数（</a:t>
            </a:r>
            <a:r>
              <a:rPr lang="en-US" altLang="zh-CN" sz="1400" i="1" dirty="0"/>
              <a:t>0≤Lag≤600</a:t>
            </a:r>
            <a:r>
              <a:rPr lang="zh-CN" altLang="en-US" sz="1400" i="1" dirty="0"/>
              <a:t>），</a:t>
            </a:r>
            <a:r>
              <a:rPr lang="en-US" altLang="zh-CN" sz="1400" i="1" dirty="0"/>
              <a:t>Fs</a:t>
            </a:r>
            <a:r>
              <a:rPr lang="zh-CN" altLang="en-US" sz="1400" i="1" dirty="0"/>
              <a:t>为采样频率（固定为</a:t>
            </a:r>
            <a:r>
              <a:rPr lang="en-US" altLang="zh-CN" sz="1400" i="1" dirty="0"/>
              <a:t>50000Hz</a:t>
            </a:r>
            <a:r>
              <a:rPr lang="zh-CN" altLang="en-US" sz="1400" i="1" dirty="0"/>
              <a:t>），</a:t>
            </a:r>
            <a:r>
              <a:rPr lang="en-US" altLang="zh-CN" sz="1400" i="1" dirty="0"/>
              <a:t>v</a:t>
            </a:r>
            <a:r>
              <a:rPr lang="zh-CN" altLang="en-US" sz="1400" i="1" dirty="0"/>
              <a:t>为被测物体的速度，</a:t>
            </a:r>
            <a:r>
              <a:rPr lang="en-US" altLang="zh-CN" sz="1400" i="1" dirty="0"/>
              <a:t>t</a:t>
            </a:r>
            <a:r>
              <a:rPr lang="zh-CN" altLang="en-US" sz="1400" i="1" dirty="0"/>
              <a:t>为调制周期开始后的时间（</a:t>
            </a:r>
            <a:r>
              <a:rPr lang="en-US" altLang="zh-CN" sz="1400" i="1" dirty="0"/>
              <a:t>0≤t≤600/50000=0.012</a:t>
            </a:r>
            <a:r>
              <a:rPr lang="zh-CN" altLang="en-US" sz="1400" i="1" dirty="0"/>
              <a:t>秒）</a:t>
            </a:r>
          </a:p>
        </p:txBody>
      </p:sp>
      <p:sp>
        <p:nvSpPr>
          <p:cNvPr id="21" name="文本框 20">
            <a:extLst>
              <a:ext uri="{FF2B5EF4-FFF2-40B4-BE49-F238E27FC236}">
                <a16:creationId xmlns:a16="http://schemas.microsoft.com/office/drawing/2014/main" id="{762207BB-D1D2-4FE6-AD64-7210BCEC81F4}"/>
              </a:ext>
            </a:extLst>
          </p:cNvPr>
          <p:cNvSpPr txBox="1"/>
          <p:nvPr/>
        </p:nvSpPr>
        <p:spPr>
          <a:xfrm>
            <a:off x="225351" y="3532330"/>
            <a:ext cx="5592112" cy="646331"/>
          </a:xfrm>
          <a:prstGeom prst="rect">
            <a:avLst/>
          </a:prstGeom>
          <a:noFill/>
        </p:spPr>
        <p:txBody>
          <a:bodyPr wrap="square">
            <a:spAutoFit/>
          </a:bodyPr>
          <a:lstStyle/>
          <a:p>
            <a:pPr marL="285750" indent="-285750">
              <a:buFont typeface="Wingdings" panose="05000000000000000000" pitchFamily="2" charset="2"/>
              <a:buChar char="l"/>
            </a:pPr>
            <a:r>
              <a:rPr lang="zh-CN" altLang="en-US" dirty="0"/>
              <a:t>当测距目标</a:t>
            </a:r>
            <a:r>
              <a:rPr lang="zh-CN" altLang="en-US" b="1" dirty="0"/>
              <a:t>静止或慢速移动</a:t>
            </a:r>
            <a:r>
              <a:rPr lang="zh-CN" altLang="en-US" dirty="0"/>
              <a:t>时，</a:t>
            </a:r>
            <a:r>
              <a:rPr lang="en-US" altLang="zh-CN" dirty="0"/>
              <a:t>C-FMCW</a:t>
            </a:r>
            <a:r>
              <a:rPr lang="zh-CN" altLang="en-US" dirty="0"/>
              <a:t>的</a:t>
            </a:r>
            <a:r>
              <a:rPr lang="zh-CN" altLang="en-US" b="1" dirty="0"/>
              <a:t>测距分辨率及理论分辨率</a:t>
            </a:r>
            <a:r>
              <a:rPr lang="zh-CN" altLang="en-US" dirty="0"/>
              <a:t>上限为</a:t>
            </a:r>
          </a:p>
        </p:txBody>
      </p:sp>
      <p:pic>
        <p:nvPicPr>
          <p:cNvPr id="20" name="图片 19">
            <a:extLst>
              <a:ext uri="{FF2B5EF4-FFF2-40B4-BE49-F238E27FC236}">
                <a16:creationId xmlns:a16="http://schemas.microsoft.com/office/drawing/2014/main" id="{BB4C2050-68E7-4DDC-9A73-C7F58A73FC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9604" y="4283353"/>
            <a:ext cx="4020945" cy="1184082"/>
          </a:xfrm>
          <a:prstGeom prst="rect">
            <a:avLst/>
          </a:prstGeom>
        </p:spPr>
      </p:pic>
      <p:sp>
        <p:nvSpPr>
          <p:cNvPr id="25" name="文本框 24">
            <a:extLst>
              <a:ext uri="{FF2B5EF4-FFF2-40B4-BE49-F238E27FC236}">
                <a16:creationId xmlns:a16="http://schemas.microsoft.com/office/drawing/2014/main" id="{4167586E-DF9E-4095-A622-DF0716CC81A9}"/>
              </a:ext>
            </a:extLst>
          </p:cNvPr>
          <p:cNvSpPr txBox="1"/>
          <p:nvPr/>
        </p:nvSpPr>
        <p:spPr>
          <a:xfrm>
            <a:off x="6096000" y="1400564"/>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dirty="0"/>
              <a:t>考虑被测物体的速度（</a:t>
            </a:r>
            <a:r>
              <a:rPr lang="en-US" altLang="zh-CN" dirty="0"/>
              <a:t>v</a:t>
            </a:r>
            <a:r>
              <a:rPr lang="zh-CN" altLang="en-US" dirty="0"/>
              <a:t>），</a:t>
            </a:r>
            <a:r>
              <a:rPr lang="en-US" altLang="zh-CN" dirty="0"/>
              <a:t>C-FMCW</a:t>
            </a:r>
            <a:r>
              <a:rPr lang="zh-CN" altLang="en-US" dirty="0"/>
              <a:t>的测距分辨率：</a:t>
            </a:r>
          </a:p>
        </p:txBody>
      </p:sp>
      <p:pic>
        <p:nvPicPr>
          <p:cNvPr id="24" name="图片 23">
            <a:extLst>
              <a:ext uri="{FF2B5EF4-FFF2-40B4-BE49-F238E27FC236}">
                <a16:creationId xmlns:a16="http://schemas.microsoft.com/office/drawing/2014/main" id="{EFC73BC1-AF71-485B-AD78-BBC4A18C871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879" y="1754123"/>
            <a:ext cx="3869481" cy="892957"/>
          </a:xfrm>
          <a:prstGeom prst="rect">
            <a:avLst/>
          </a:prstGeom>
        </p:spPr>
      </p:pic>
      <p:cxnSp>
        <p:nvCxnSpPr>
          <p:cNvPr id="7" name="直接连接符 6">
            <a:extLst>
              <a:ext uri="{FF2B5EF4-FFF2-40B4-BE49-F238E27FC236}">
                <a16:creationId xmlns:a16="http://schemas.microsoft.com/office/drawing/2014/main" id="{52BD5C64-F15E-40CB-A5F7-F31EB4E10E48}"/>
              </a:ext>
            </a:extLst>
          </p:cNvPr>
          <p:cNvCxnSpPr>
            <a:cxnSpLocks/>
          </p:cNvCxnSpPr>
          <p:nvPr/>
        </p:nvCxnSpPr>
        <p:spPr>
          <a:xfrm flipV="1">
            <a:off x="5928766" y="1433617"/>
            <a:ext cx="0" cy="4547795"/>
          </a:xfrm>
          <a:prstGeom prst="line">
            <a:avLst/>
          </a:prstGeom>
          <a:ln w="571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309428F-C7C4-46FF-B650-C883098D3C29}"/>
              </a:ext>
            </a:extLst>
          </p:cNvPr>
          <p:cNvSpPr txBox="1"/>
          <p:nvPr/>
        </p:nvSpPr>
        <p:spPr>
          <a:xfrm>
            <a:off x="450872" y="4480141"/>
            <a:ext cx="1444910" cy="338554"/>
          </a:xfrm>
          <a:prstGeom prst="rect">
            <a:avLst/>
          </a:prstGeom>
          <a:noFill/>
        </p:spPr>
        <p:txBody>
          <a:bodyPr wrap="square">
            <a:spAutoFit/>
          </a:bodyPr>
          <a:lstStyle/>
          <a:p>
            <a:r>
              <a:rPr lang="zh-CN" altLang="en-US" sz="1600" b="1" dirty="0">
                <a:latin typeface="+mj-ea"/>
                <a:ea typeface="+mj-ea"/>
              </a:rPr>
              <a:t>测距分辨率</a:t>
            </a:r>
            <a:endParaRPr lang="zh-CN" altLang="en-US" sz="1600" dirty="0">
              <a:latin typeface="+mj-ea"/>
              <a:ea typeface="+mj-ea"/>
            </a:endParaRPr>
          </a:p>
        </p:txBody>
      </p:sp>
      <p:sp>
        <p:nvSpPr>
          <p:cNvPr id="27" name="文本框 26">
            <a:extLst>
              <a:ext uri="{FF2B5EF4-FFF2-40B4-BE49-F238E27FC236}">
                <a16:creationId xmlns:a16="http://schemas.microsoft.com/office/drawing/2014/main" id="{B23BCB83-F0E2-4FC9-8551-70817A14EB96}"/>
              </a:ext>
            </a:extLst>
          </p:cNvPr>
          <p:cNvSpPr txBox="1"/>
          <p:nvPr/>
        </p:nvSpPr>
        <p:spPr>
          <a:xfrm>
            <a:off x="450872" y="5038456"/>
            <a:ext cx="1444910" cy="338554"/>
          </a:xfrm>
          <a:prstGeom prst="rect">
            <a:avLst/>
          </a:prstGeom>
          <a:noFill/>
        </p:spPr>
        <p:txBody>
          <a:bodyPr wrap="square">
            <a:spAutoFit/>
          </a:bodyPr>
          <a:lstStyle/>
          <a:p>
            <a:r>
              <a:rPr lang="zh-CN" altLang="en-US" sz="1600" b="1" dirty="0">
                <a:latin typeface="+mj-ea"/>
                <a:ea typeface="+mj-ea"/>
              </a:rPr>
              <a:t>理论分辨率</a:t>
            </a:r>
            <a:endParaRPr lang="zh-CN" altLang="en-US" sz="1600" dirty="0">
              <a:latin typeface="+mj-ea"/>
              <a:ea typeface="+mj-ea"/>
            </a:endParaRPr>
          </a:p>
        </p:txBody>
      </p:sp>
      <p:sp>
        <p:nvSpPr>
          <p:cNvPr id="34" name="文本框 33">
            <a:extLst>
              <a:ext uri="{FF2B5EF4-FFF2-40B4-BE49-F238E27FC236}">
                <a16:creationId xmlns:a16="http://schemas.microsoft.com/office/drawing/2014/main" id="{32CF6394-08D7-42B1-B330-A0D091C0B4DB}"/>
              </a:ext>
            </a:extLst>
          </p:cNvPr>
          <p:cNvSpPr txBox="1"/>
          <p:nvPr/>
        </p:nvSpPr>
        <p:spPr>
          <a:xfrm>
            <a:off x="7522751" y="2510984"/>
            <a:ext cx="5592112" cy="307777"/>
          </a:xfrm>
          <a:prstGeom prst="rect">
            <a:avLst/>
          </a:prstGeom>
          <a:noFill/>
        </p:spPr>
        <p:txBody>
          <a:bodyPr wrap="square">
            <a:spAutoFit/>
          </a:bodyPr>
          <a:lstStyle/>
          <a:p>
            <a:r>
              <a:rPr lang="zh-CN" altLang="en-US" sz="1400" i="1" dirty="0"/>
              <a:t>其中，</a:t>
            </a:r>
            <a:r>
              <a:rPr lang="en-US" altLang="zh-CN" sz="1400" i="1" dirty="0"/>
              <a:t>Lag</a:t>
            </a:r>
            <a:r>
              <a:rPr lang="zh-CN" altLang="en-US" sz="1400" i="1" dirty="0"/>
              <a:t>取</a:t>
            </a:r>
            <a:r>
              <a:rPr lang="en-US" altLang="zh-CN" sz="1400" i="1" dirty="0"/>
              <a:t>600</a:t>
            </a:r>
            <a:r>
              <a:rPr lang="zh-CN" altLang="en-US" sz="1400" i="1" dirty="0"/>
              <a:t>，</a:t>
            </a:r>
            <a:r>
              <a:rPr lang="en-US" altLang="zh-CN" sz="1400" i="1" dirty="0"/>
              <a:t>0≤t≤600/ Fs </a:t>
            </a:r>
            <a:endParaRPr lang="zh-CN" altLang="en-US" sz="1400" i="1" dirty="0"/>
          </a:p>
        </p:txBody>
      </p:sp>
      <p:grpSp>
        <p:nvGrpSpPr>
          <p:cNvPr id="40" name="组合 39">
            <a:extLst>
              <a:ext uri="{FF2B5EF4-FFF2-40B4-BE49-F238E27FC236}">
                <a16:creationId xmlns:a16="http://schemas.microsoft.com/office/drawing/2014/main" id="{100F2950-3E26-4F3A-944B-0AFDEBB98021}"/>
              </a:ext>
            </a:extLst>
          </p:cNvPr>
          <p:cNvGrpSpPr/>
          <p:nvPr/>
        </p:nvGrpSpPr>
        <p:grpSpPr>
          <a:xfrm>
            <a:off x="6280069" y="3835458"/>
            <a:ext cx="5798786" cy="1947352"/>
            <a:chOff x="6213503" y="3769634"/>
            <a:chExt cx="6105424" cy="2312541"/>
          </a:xfrm>
        </p:grpSpPr>
        <p:pic>
          <p:nvPicPr>
            <p:cNvPr id="30" name="图片 29">
              <a:extLst>
                <a:ext uri="{FF2B5EF4-FFF2-40B4-BE49-F238E27FC236}">
                  <a16:creationId xmlns:a16="http://schemas.microsoft.com/office/drawing/2014/main" id="{5B120F64-FEDD-41F3-B5C7-973205D62CB3}"/>
                </a:ext>
              </a:extLst>
            </p:cNvPr>
            <p:cNvPicPr>
              <a:picLocks noChangeAspect="1"/>
            </p:cNvPicPr>
            <p:nvPr/>
          </p:nvPicPr>
          <p:blipFill rotWithShape="1">
            <a:blip r:embed="rId9">
              <a:extLst>
                <a:ext uri="{28A0092B-C50C-407E-A947-70E740481C1C}">
                  <a14:useLocalDpi xmlns:a14="http://schemas.microsoft.com/office/drawing/2010/main" val="0"/>
                </a:ext>
              </a:extLst>
            </a:blip>
            <a:srcRect b="22768"/>
            <a:stretch/>
          </p:blipFill>
          <p:spPr>
            <a:xfrm>
              <a:off x="6442374" y="3769634"/>
              <a:ext cx="5462220" cy="1789193"/>
            </a:xfrm>
            <a:prstGeom prst="rect">
              <a:avLst/>
            </a:prstGeom>
          </p:spPr>
        </p:pic>
        <p:sp>
          <p:nvSpPr>
            <p:cNvPr id="14" name="文本框 13">
              <a:extLst>
                <a:ext uri="{FF2B5EF4-FFF2-40B4-BE49-F238E27FC236}">
                  <a16:creationId xmlns:a16="http://schemas.microsoft.com/office/drawing/2014/main" id="{00039034-4900-41B3-9C90-096204BF376F}"/>
                </a:ext>
              </a:extLst>
            </p:cNvPr>
            <p:cNvSpPr txBox="1"/>
            <p:nvPr/>
          </p:nvSpPr>
          <p:spPr>
            <a:xfrm>
              <a:off x="7456889" y="4731080"/>
              <a:ext cx="895683" cy="618291"/>
            </a:xfrm>
            <a:prstGeom prst="rect">
              <a:avLst/>
            </a:prstGeom>
            <a:noFill/>
            <a:ln w="28575">
              <a:solidFill>
                <a:srgbClr val="FF0000"/>
              </a:solidFill>
              <a:prstDash val="lgDash"/>
            </a:ln>
          </p:spPr>
          <p:txBody>
            <a:bodyPr wrap="square" rtlCol="0">
              <a:spAutoFit/>
            </a:bodyPr>
            <a:lstStyle/>
            <a:p>
              <a:endParaRPr lang="zh-CN" altLang="en-US" dirty="0"/>
            </a:p>
          </p:txBody>
        </p:sp>
        <p:cxnSp>
          <p:nvCxnSpPr>
            <p:cNvPr id="35" name="直接箭头连接符 34">
              <a:extLst>
                <a:ext uri="{FF2B5EF4-FFF2-40B4-BE49-F238E27FC236}">
                  <a16:creationId xmlns:a16="http://schemas.microsoft.com/office/drawing/2014/main" id="{5248F476-B9D7-4D23-9D3A-5A24CF5D8ABB}"/>
                </a:ext>
              </a:extLst>
            </p:cNvPr>
            <p:cNvCxnSpPr>
              <a:cxnSpLocks/>
            </p:cNvCxnSpPr>
            <p:nvPr/>
          </p:nvCxnSpPr>
          <p:spPr>
            <a:xfrm flipH="1">
              <a:off x="7740314" y="5538135"/>
              <a:ext cx="164416" cy="28912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96354D-FA4E-4B7A-8C57-58050730BC18}"/>
                </a:ext>
              </a:extLst>
            </p:cNvPr>
            <p:cNvSpPr txBox="1"/>
            <p:nvPr/>
          </p:nvSpPr>
          <p:spPr>
            <a:xfrm>
              <a:off x="6213503" y="5753230"/>
              <a:ext cx="6105424" cy="328945"/>
            </a:xfrm>
            <a:prstGeom prst="rect">
              <a:avLst/>
            </a:prstGeom>
            <a:noFill/>
          </p:spPr>
          <p:txBody>
            <a:bodyPr wrap="square">
              <a:spAutoFit/>
            </a:bodyPr>
            <a:lstStyle/>
            <a:p>
              <a:r>
                <a:rPr lang="zh-CN" altLang="en-US" sz="1200" b="1" i="0" dirty="0">
                  <a:solidFill>
                    <a:srgbClr val="FF0000"/>
                  </a:solidFill>
                  <a:effectLst/>
                  <a:latin typeface="Inter"/>
                </a:rPr>
                <a:t>轮廓是无明显 “模糊 </a:t>
              </a:r>
              <a:r>
                <a:rPr lang="en-US" altLang="zh-CN" sz="1200" b="1" i="0" dirty="0">
                  <a:solidFill>
                    <a:srgbClr val="FF0000"/>
                  </a:solidFill>
                  <a:effectLst/>
                  <a:latin typeface="Inter"/>
                </a:rPr>
                <a:t>/ </a:t>
              </a:r>
              <a:r>
                <a:rPr lang="zh-CN" altLang="en-US" sz="1200" b="1" i="0" dirty="0">
                  <a:solidFill>
                    <a:srgbClr val="FF0000"/>
                  </a:solidFill>
                  <a:effectLst/>
                  <a:latin typeface="Inter"/>
                </a:rPr>
                <a:t>断裂” 的，“变化区域”（彩色纹理）只出现在手势切换的瞬间</a:t>
              </a:r>
              <a:endParaRPr lang="zh-CN" altLang="en-US" sz="1200" b="1" dirty="0">
                <a:solidFill>
                  <a:srgbClr val="FF0000"/>
                </a:solidFill>
              </a:endParaRPr>
            </a:p>
          </p:txBody>
        </p:sp>
      </p:grpSp>
      <p:sp>
        <p:nvSpPr>
          <p:cNvPr id="38" name="文本框 37">
            <a:extLst>
              <a:ext uri="{FF2B5EF4-FFF2-40B4-BE49-F238E27FC236}">
                <a16:creationId xmlns:a16="http://schemas.microsoft.com/office/drawing/2014/main" id="{BF55E3A2-9BBF-40BF-8004-B704C9CC2A74}"/>
              </a:ext>
            </a:extLst>
          </p:cNvPr>
          <p:cNvSpPr txBox="1"/>
          <p:nvPr/>
        </p:nvSpPr>
        <p:spPr>
          <a:xfrm>
            <a:off x="6068694" y="2967335"/>
            <a:ext cx="5972503" cy="923330"/>
          </a:xfrm>
          <a:prstGeom prst="rect">
            <a:avLst/>
          </a:prstGeom>
          <a:noFill/>
        </p:spPr>
        <p:txBody>
          <a:bodyPr wrap="square">
            <a:spAutoFit/>
          </a:bodyPr>
          <a:lstStyle/>
          <a:p>
            <a:pPr marL="285750" indent="-285750">
              <a:buFont typeface="Wingdings" panose="05000000000000000000" pitchFamily="2" charset="2"/>
              <a:buChar char="l"/>
            </a:pPr>
            <a:r>
              <a:rPr lang="zh-CN" altLang="en-US" b="0" i="0" dirty="0">
                <a:effectLst/>
                <a:latin typeface="Inter"/>
              </a:rPr>
              <a:t>手部关节运动速度（中位＜</a:t>
            </a:r>
            <a:r>
              <a:rPr lang="en-US" altLang="zh-CN" b="0" i="0" dirty="0">
                <a:effectLst/>
                <a:latin typeface="Inter"/>
              </a:rPr>
              <a:t>10°/s</a:t>
            </a:r>
            <a:r>
              <a:rPr lang="zh-CN" altLang="en-US" b="0" i="0" dirty="0">
                <a:effectLst/>
                <a:latin typeface="Inter"/>
              </a:rPr>
              <a:t>、最大＜</a:t>
            </a:r>
            <a:r>
              <a:rPr lang="en-US" altLang="zh-CN" b="0" i="0" dirty="0">
                <a:effectLst/>
                <a:latin typeface="Inter"/>
              </a:rPr>
              <a:t>320°/s</a:t>
            </a:r>
            <a:r>
              <a:rPr lang="zh-CN" altLang="en-US" b="0" i="0" dirty="0">
                <a:effectLst/>
                <a:latin typeface="Inter"/>
              </a:rPr>
              <a:t>），结合中指平均长度 </a:t>
            </a:r>
            <a:r>
              <a:rPr lang="en-US" altLang="zh-CN" b="0" i="0" dirty="0">
                <a:effectLst/>
                <a:latin typeface="Inter"/>
              </a:rPr>
              <a:t>10.6cm</a:t>
            </a:r>
            <a:r>
              <a:rPr lang="zh-CN" altLang="en-US" b="0" i="0" dirty="0">
                <a:effectLst/>
                <a:latin typeface="Inter"/>
              </a:rPr>
              <a:t>，换算出速度仅 </a:t>
            </a:r>
            <a:r>
              <a:rPr lang="en-US" altLang="zh-CN" b="0" i="0" dirty="0">
                <a:effectLst/>
                <a:latin typeface="Inter"/>
              </a:rPr>
              <a:t>0.018-0.59m/s</a:t>
            </a:r>
            <a:r>
              <a:rPr lang="zh-CN" altLang="en-US" b="0" i="0" dirty="0">
                <a:effectLst/>
                <a:latin typeface="Inter"/>
              </a:rPr>
              <a:t>，远低于声速。</a:t>
            </a:r>
            <a:endParaRPr lang="zh-CN" altLang="en-US" dirty="0"/>
          </a:p>
        </p:txBody>
      </p:sp>
      <p:sp>
        <p:nvSpPr>
          <p:cNvPr id="44" name="文本框 43">
            <a:extLst>
              <a:ext uri="{FF2B5EF4-FFF2-40B4-BE49-F238E27FC236}">
                <a16:creationId xmlns:a16="http://schemas.microsoft.com/office/drawing/2014/main" id="{77888977-4AC3-4891-8B6B-E31C703426EC}"/>
              </a:ext>
            </a:extLst>
          </p:cNvPr>
          <p:cNvSpPr txBox="1"/>
          <p:nvPr/>
        </p:nvSpPr>
        <p:spPr>
          <a:xfrm>
            <a:off x="370769" y="6100601"/>
            <a:ext cx="12680955" cy="369332"/>
          </a:xfrm>
          <a:prstGeom prst="rect">
            <a:avLst/>
          </a:prstGeom>
          <a:noFill/>
        </p:spPr>
        <p:txBody>
          <a:bodyPr wrap="square">
            <a:spAutoFit/>
          </a:bodyPr>
          <a:lstStyle/>
          <a:p>
            <a:r>
              <a:rPr lang="en-US" altLang="zh-CN" b="1" dirty="0">
                <a:latin typeface="+mj-ea"/>
                <a:ea typeface="+mj-ea"/>
              </a:rPr>
              <a:t>C-FMCW</a:t>
            </a:r>
            <a:r>
              <a:rPr lang="zh-CN" altLang="en-US" b="1" dirty="0">
                <a:latin typeface="+mj-ea"/>
                <a:ea typeface="+mj-ea"/>
              </a:rPr>
              <a:t>的空间分辨率高，且手指运动对传感分辨率的影响极小，为</a:t>
            </a:r>
            <a:r>
              <a:rPr lang="en-US" altLang="zh-CN" b="1" dirty="0">
                <a:latin typeface="+mj-ea"/>
                <a:ea typeface="+mj-ea"/>
              </a:rPr>
              <a:t>Ring-a-Pose</a:t>
            </a:r>
            <a:r>
              <a:rPr lang="zh-CN" altLang="en-US" b="1" dirty="0">
                <a:latin typeface="+mj-ea"/>
                <a:ea typeface="+mj-ea"/>
              </a:rPr>
              <a:t>捕捉几何形状提供了支持</a:t>
            </a:r>
          </a:p>
        </p:txBody>
      </p:sp>
      <p:sp>
        <p:nvSpPr>
          <p:cNvPr id="46" name="文本框 45">
            <a:extLst>
              <a:ext uri="{FF2B5EF4-FFF2-40B4-BE49-F238E27FC236}">
                <a16:creationId xmlns:a16="http://schemas.microsoft.com/office/drawing/2014/main" id="{9768086D-966D-474B-B3A1-E24A8AB4E06E}"/>
              </a:ext>
            </a:extLst>
          </p:cNvPr>
          <p:cNvSpPr txBox="1"/>
          <p:nvPr/>
        </p:nvSpPr>
        <p:spPr>
          <a:xfrm>
            <a:off x="4071446" y="946637"/>
            <a:ext cx="7964904" cy="369332"/>
          </a:xfrm>
          <a:prstGeom prst="rect">
            <a:avLst/>
          </a:prstGeom>
          <a:noFill/>
        </p:spPr>
        <p:txBody>
          <a:bodyPr wrap="square">
            <a:spAutoFit/>
          </a:bodyPr>
          <a:lstStyle/>
          <a:p>
            <a:r>
              <a:rPr lang="en-US" altLang="zh-CN" dirty="0"/>
              <a:t>---- </a:t>
            </a:r>
            <a:r>
              <a:rPr lang="zh-CN" altLang="en-US" dirty="0">
                <a:latin typeface="+mj-ea"/>
                <a:ea typeface="+mj-ea"/>
              </a:rPr>
              <a:t>采用</a:t>
            </a:r>
            <a:r>
              <a:rPr lang="zh-CN" altLang="en-US" b="1" dirty="0">
                <a:latin typeface="+mj-ea"/>
                <a:ea typeface="+mj-ea"/>
              </a:rPr>
              <a:t>主动声学传感技术</a:t>
            </a:r>
            <a:r>
              <a:rPr lang="zh-CN" altLang="en-US" dirty="0">
                <a:latin typeface="+mj-ea"/>
                <a:ea typeface="+mj-ea"/>
              </a:rPr>
              <a:t>追踪连续手部姿态</a:t>
            </a:r>
          </a:p>
        </p:txBody>
      </p:sp>
    </p:spTree>
    <p:extLst>
      <p:ext uri="{BB962C8B-B14F-4D97-AF65-F5344CB8AC3E}">
        <p14:creationId xmlns:p14="http://schemas.microsoft.com/office/powerpoint/2010/main" val="227231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2674119" cy="593131"/>
            <a:chOff x="1019925" y="1507764"/>
            <a:chExt cx="2674119"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32" name="图片 31">
            <a:extLst>
              <a:ext uri="{FF2B5EF4-FFF2-40B4-BE49-F238E27FC236}">
                <a16:creationId xmlns:a16="http://schemas.microsoft.com/office/drawing/2014/main" id="{34A4A842-180D-4A11-ADC8-80F45CCD37F9}"/>
              </a:ext>
            </a:extLst>
          </p:cNvPr>
          <p:cNvPicPr>
            <a:picLocks noChangeAspect="1"/>
          </p:cNvPicPr>
          <p:nvPr/>
        </p:nvPicPr>
        <p:blipFill rotWithShape="1">
          <a:blip r:embed="rId5">
            <a:extLst>
              <a:ext uri="{28A0092B-C50C-407E-A947-70E740481C1C}">
                <a14:useLocalDpi xmlns:a14="http://schemas.microsoft.com/office/drawing/2010/main" val="0"/>
              </a:ext>
            </a:extLst>
          </a:blip>
          <a:srcRect b="40644"/>
          <a:stretch/>
        </p:blipFill>
        <p:spPr>
          <a:xfrm>
            <a:off x="647396" y="1508334"/>
            <a:ext cx="10569963" cy="2327274"/>
          </a:xfrm>
          <a:prstGeom prst="rect">
            <a:avLst/>
          </a:prstGeom>
        </p:spPr>
      </p:pic>
      <p:sp>
        <p:nvSpPr>
          <p:cNvPr id="26" name="文本框 25">
            <a:extLst>
              <a:ext uri="{FF2B5EF4-FFF2-40B4-BE49-F238E27FC236}">
                <a16:creationId xmlns:a16="http://schemas.microsoft.com/office/drawing/2014/main" id="{A03496CD-6B15-4812-8A28-B5AB5E89D389}"/>
              </a:ext>
            </a:extLst>
          </p:cNvPr>
          <p:cNvSpPr txBox="1"/>
          <p:nvPr/>
        </p:nvSpPr>
        <p:spPr>
          <a:xfrm>
            <a:off x="138529" y="905435"/>
            <a:ext cx="6096000" cy="461665"/>
          </a:xfrm>
          <a:prstGeom prst="rect">
            <a:avLst/>
          </a:prstGeom>
          <a:noFill/>
        </p:spPr>
        <p:txBody>
          <a:bodyPr wrap="square">
            <a:spAutoFit/>
          </a:bodyPr>
          <a:lstStyle/>
          <a:p>
            <a:r>
              <a:rPr lang="zh-CN" altLang="en-US" sz="2400" b="1" dirty="0">
                <a:latin typeface="+mj-ea"/>
                <a:ea typeface="+mj-ea"/>
              </a:rPr>
              <a:t>基于</a:t>
            </a:r>
            <a:r>
              <a:rPr lang="en-US" altLang="zh-CN" sz="2400" b="1" dirty="0">
                <a:latin typeface="+mj-ea"/>
                <a:ea typeface="+mj-ea"/>
              </a:rPr>
              <a:t>C-FMCW</a:t>
            </a:r>
            <a:r>
              <a:rPr lang="zh-CN" altLang="en-US" sz="2400" b="1" dirty="0">
                <a:latin typeface="+mj-ea"/>
                <a:ea typeface="+mj-ea"/>
              </a:rPr>
              <a:t>计算回声轮廓</a:t>
            </a:r>
          </a:p>
        </p:txBody>
      </p:sp>
      <p:sp>
        <p:nvSpPr>
          <p:cNvPr id="17" name="文本框 16">
            <a:extLst>
              <a:ext uri="{FF2B5EF4-FFF2-40B4-BE49-F238E27FC236}">
                <a16:creationId xmlns:a16="http://schemas.microsoft.com/office/drawing/2014/main" id="{FED0053E-0A6B-4780-BE63-9E9987A205CA}"/>
              </a:ext>
            </a:extLst>
          </p:cNvPr>
          <p:cNvSpPr txBox="1"/>
          <p:nvPr/>
        </p:nvSpPr>
        <p:spPr>
          <a:xfrm>
            <a:off x="501004" y="5552455"/>
            <a:ext cx="12736225" cy="400110"/>
          </a:xfrm>
          <a:prstGeom prst="rect">
            <a:avLst/>
          </a:prstGeom>
          <a:noFill/>
        </p:spPr>
        <p:txBody>
          <a:bodyPr wrap="square">
            <a:spAutoFit/>
          </a:bodyPr>
          <a:lstStyle/>
          <a:p>
            <a:r>
              <a:rPr lang="zh-CN" altLang="en-US" sz="2000" dirty="0">
                <a:solidFill>
                  <a:srgbClr val="000000"/>
                </a:solidFill>
                <a:latin typeface="Inter"/>
              </a:rPr>
              <a:t>使</a:t>
            </a:r>
            <a:r>
              <a:rPr lang="zh-CN" altLang="en-US" sz="2000" b="0" i="0" dirty="0">
                <a:solidFill>
                  <a:srgbClr val="000000"/>
                </a:solidFill>
                <a:effectLst/>
                <a:latin typeface="Inter"/>
              </a:rPr>
              <a:t>用 </a:t>
            </a:r>
            <a:r>
              <a:rPr lang="en-US" altLang="zh-CN" sz="2000" b="0" i="0" dirty="0">
                <a:solidFill>
                  <a:srgbClr val="000000"/>
                </a:solidFill>
                <a:effectLst/>
                <a:latin typeface="Inter"/>
              </a:rPr>
              <a:t>C-FMCW </a:t>
            </a:r>
            <a:r>
              <a:rPr lang="zh-CN" altLang="en-US" sz="2000" b="0" i="0" dirty="0">
                <a:solidFill>
                  <a:srgbClr val="000000"/>
                </a:solidFill>
                <a:effectLst/>
                <a:latin typeface="Inter"/>
              </a:rPr>
              <a:t>生成回声轮廓</a:t>
            </a:r>
            <a:r>
              <a:rPr lang="zh-CN" altLang="en-US" sz="2000" dirty="0">
                <a:solidFill>
                  <a:srgbClr val="000000"/>
                </a:solidFill>
                <a:latin typeface="Inter"/>
              </a:rPr>
              <a:t>，</a:t>
            </a:r>
            <a:r>
              <a:rPr lang="zh-CN" altLang="en-US" sz="2000" b="0" i="0" dirty="0">
                <a:solidFill>
                  <a:srgbClr val="000000"/>
                </a:solidFill>
                <a:effectLst/>
                <a:latin typeface="Inter"/>
              </a:rPr>
              <a:t>用</a:t>
            </a:r>
            <a:r>
              <a:rPr lang="zh-CN" altLang="en-US" sz="2000" b="1" i="0" dirty="0">
                <a:solidFill>
                  <a:srgbClr val="000000"/>
                </a:solidFill>
                <a:effectLst/>
                <a:latin typeface="Inter"/>
              </a:rPr>
              <a:t>相关性捕捉多路径反射强度</a:t>
            </a:r>
            <a:r>
              <a:rPr lang="zh-CN" altLang="en-US" sz="2000" b="0" i="0" dirty="0">
                <a:solidFill>
                  <a:srgbClr val="000000"/>
                </a:solidFill>
                <a:effectLst/>
                <a:latin typeface="Inter"/>
              </a:rPr>
              <a:t>，生成包含连续时空反射强度的回声轮廓</a:t>
            </a:r>
            <a:endParaRPr lang="zh-CN" altLang="en-US" sz="2000" dirty="0"/>
          </a:p>
        </p:txBody>
      </p:sp>
      <p:sp>
        <p:nvSpPr>
          <p:cNvPr id="19" name="文本框 18">
            <a:extLst>
              <a:ext uri="{FF2B5EF4-FFF2-40B4-BE49-F238E27FC236}">
                <a16:creationId xmlns:a16="http://schemas.microsoft.com/office/drawing/2014/main" id="{1A8779F7-8219-49C8-8235-F5A18FAA175C}"/>
              </a:ext>
            </a:extLst>
          </p:cNvPr>
          <p:cNvSpPr txBox="1"/>
          <p:nvPr/>
        </p:nvSpPr>
        <p:spPr>
          <a:xfrm>
            <a:off x="5517790" y="3825152"/>
            <a:ext cx="2585886" cy="1200329"/>
          </a:xfrm>
          <a:prstGeom prst="rect">
            <a:avLst/>
          </a:prstGeom>
          <a:noFill/>
        </p:spPr>
        <p:txBody>
          <a:bodyPr wrap="square">
            <a:spAutoFit/>
          </a:bodyPr>
          <a:lstStyle/>
          <a:p>
            <a:r>
              <a:rPr lang="zh-CN" altLang="en-US" b="0" i="0" dirty="0">
                <a:solidFill>
                  <a:srgbClr val="000000"/>
                </a:solidFill>
                <a:effectLst/>
                <a:latin typeface="Inter"/>
              </a:rPr>
              <a:t>计算两者的互相关（橙色线），将 “时间域” 映射为 “距离域”，得到</a:t>
            </a:r>
            <a:r>
              <a:rPr lang="zh-CN" altLang="en-US" b="1" i="0" dirty="0">
                <a:solidFill>
                  <a:srgbClr val="000000"/>
                </a:solidFill>
                <a:effectLst/>
                <a:latin typeface="Inter"/>
              </a:rPr>
              <a:t>回声帧</a:t>
            </a:r>
            <a:endParaRPr lang="zh-CN" altLang="en-US" dirty="0"/>
          </a:p>
        </p:txBody>
      </p:sp>
      <p:sp>
        <p:nvSpPr>
          <p:cNvPr id="21" name="文本框 20">
            <a:extLst>
              <a:ext uri="{FF2B5EF4-FFF2-40B4-BE49-F238E27FC236}">
                <a16:creationId xmlns:a16="http://schemas.microsoft.com/office/drawing/2014/main" id="{C5B89729-6C35-47FB-9306-D6A7792824B5}"/>
              </a:ext>
            </a:extLst>
          </p:cNvPr>
          <p:cNvSpPr txBox="1"/>
          <p:nvPr/>
        </p:nvSpPr>
        <p:spPr>
          <a:xfrm>
            <a:off x="8657662" y="3797934"/>
            <a:ext cx="2559697" cy="1200329"/>
          </a:xfrm>
          <a:prstGeom prst="rect">
            <a:avLst/>
          </a:prstGeom>
          <a:noFill/>
        </p:spPr>
        <p:txBody>
          <a:bodyPr wrap="square">
            <a:spAutoFit/>
          </a:bodyPr>
          <a:lstStyle/>
          <a:p>
            <a:pPr algn="l"/>
            <a:r>
              <a:rPr lang="en-US" altLang="zh-CN" b="0" i="0" dirty="0">
                <a:solidFill>
                  <a:srgbClr val="000000"/>
                </a:solidFill>
                <a:effectLst/>
                <a:latin typeface="Inter"/>
              </a:rPr>
              <a:t>Ring-a-Pose </a:t>
            </a:r>
            <a:r>
              <a:rPr lang="zh-CN" altLang="en-US" b="0" i="0" dirty="0">
                <a:solidFill>
                  <a:srgbClr val="000000"/>
                </a:solidFill>
                <a:effectLst/>
                <a:latin typeface="Inter"/>
              </a:rPr>
              <a:t>截取回声帧中 </a:t>
            </a:r>
            <a:r>
              <a:rPr lang="en-US" altLang="zh-CN" b="0" i="0" dirty="0">
                <a:solidFill>
                  <a:srgbClr val="000000"/>
                </a:solidFill>
                <a:effectLst/>
                <a:latin typeface="Inter"/>
              </a:rPr>
              <a:t>54 </a:t>
            </a:r>
            <a:r>
              <a:rPr lang="zh-CN" altLang="en-US" b="0" i="0" dirty="0">
                <a:solidFill>
                  <a:srgbClr val="000000"/>
                </a:solidFill>
                <a:effectLst/>
                <a:latin typeface="Inter"/>
              </a:rPr>
              <a:t>像素（对应 </a:t>
            </a:r>
            <a:r>
              <a:rPr lang="en-US" altLang="zh-CN" b="0" i="0" dirty="0">
                <a:solidFill>
                  <a:srgbClr val="000000"/>
                </a:solidFill>
                <a:effectLst/>
                <a:latin typeface="Inter"/>
              </a:rPr>
              <a:t>18.52cm</a:t>
            </a:r>
            <a:r>
              <a:rPr lang="zh-CN" altLang="en-US" b="0" i="0" dirty="0">
                <a:solidFill>
                  <a:srgbClr val="000000"/>
                </a:solidFill>
                <a:effectLst/>
                <a:latin typeface="Inter"/>
              </a:rPr>
              <a:t>）的区域，用于手部姿态分析。</a:t>
            </a:r>
          </a:p>
        </p:txBody>
      </p:sp>
      <p:sp>
        <p:nvSpPr>
          <p:cNvPr id="23" name="文本框 22">
            <a:extLst>
              <a:ext uri="{FF2B5EF4-FFF2-40B4-BE49-F238E27FC236}">
                <a16:creationId xmlns:a16="http://schemas.microsoft.com/office/drawing/2014/main" id="{0DF11153-1121-4726-B653-26F939DB02D0}"/>
              </a:ext>
            </a:extLst>
          </p:cNvPr>
          <p:cNvSpPr txBox="1"/>
          <p:nvPr/>
        </p:nvSpPr>
        <p:spPr>
          <a:xfrm>
            <a:off x="1559299" y="3833827"/>
            <a:ext cx="3254459" cy="1200329"/>
          </a:xfrm>
          <a:prstGeom prst="rect">
            <a:avLst/>
          </a:prstGeom>
          <a:noFill/>
        </p:spPr>
        <p:txBody>
          <a:bodyPr wrap="square">
            <a:spAutoFit/>
          </a:bodyPr>
          <a:lstStyle/>
          <a:p>
            <a:pPr algn="l"/>
            <a:r>
              <a:rPr lang="zh-CN" altLang="en-US" b="1" i="0" dirty="0">
                <a:solidFill>
                  <a:srgbClr val="000000"/>
                </a:solidFill>
                <a:effectLst/>
                <a:latin typeface="Inter"/>
              </a:rPr>
              <a:t>原始回声轮廓：</a:t>
            </a:r>
            <a:r>
              <a:rPr lang="zh-CN" altLang="en-US" b="0" i="0" dirty="0">
                <a:solidFill>
                  <a:srgbClr val="000000"/>
                </a:solidFill>
                <a:effectLst/>
                <a:latin typeface="Inter"/>
              </a:rPr>
              <a:t>捕捉</a:t>
            </a:r>
            <a:r>
              <a:rPr lang="zh-CN" altLang="en-US" b="1" i="0" dirty="0">
                <a:solidFill>
                  <a:srgbClr val="000000"/>
                </a:solidFill>
                <a:effectLst/>
                <a:latin typeface="Inter"/>
              </a:rPr>
              <a:t>静态手部几何形状</a:t>
            </a:r>
            <a:r>
              <a:rPr lang="zh-CN" altLang="en-US" b="0" i="0" dirty="0">
                <a:solidFill>
                  <a:srgbClr val="000000"/>
                </a:solidFill>
                <a:effectLst/>
                <a:latin typeface="Inter"/>
              </a:rPr>
              <a:t>；</a:t>
            </a:r>
          </a:p>
          <a:p>
            <a:pPr algn="l"/>
            <a:r>
              <a:rPr lang="zh-CN" altLang="en-US" b="1" i="0" dirty="0">
                <a:solidFill>
                  <a:srgbClr val="000000"/>
                </a:solidFill>
                <a:effectLst/>
                <a:latin typeface="Inter"/>
              </a:rPr>
              <a:t>差分回声轮廓：</a:t>
            </a:r>
            <a:r>
              <a:rPr lang="zh-CN" altLang="en-US" b="0" i="0" dirty="0">
                <a:solidFill>
                  <a:srgbClr val="000000"/>
                </a:solidFill>
                <a:effectLst/>
                <a:latin typeface="Inter"/>
              </a:rPr>
              <a:t>放大</a:t>
            </a:r>
            <a:r>
              <a:rPr lang="zh-CN" altLang="en-US" b="1" i="0" dirty="0">
                <a:solidFill>
                  <a:srgbClr val="000000"/>
                </a:solidFill>
                <a:effectLst/>
                <a:latin typeface="Inter"/>
              </a:rPr>
              <a:t>手部几何形状的运动变化</a:t>
            </a:r>
            <a:r>
              <a:rPr lang="zh-CN" altLang="en-US" b="0" i="0" dirty="0">
                <a:solidFill>
                  <a:srgbClr val="000000"/>
                </a:solidFill>
                <a:effectLst/>
                <a:latin typeface="Inter"/>
              </a:rPr>
              <a:t>；</a:t>
            </a:r>
          </a:p>
        </p:txBody>
      </p:sp>
      <p:cxnSp>
        <p:nvCxnSpPr>
          <p:cNvPr id="24" name="直接箭头连接符 23">
            <a:extLst>
              <a:ext uri="{FF2B5EF4-FFF2-40B4-BE49-F238E27FC236}">
                <a16:creationId xmlns:a16="http://schemas.microsoft.com/office/drawing/2014/main" id="{3BA37CAE-5067-4681-B516-8AC8C5FF888D}"/>
              </a:ext>
            </a:extLst>
          </p:cNvPr>
          <p:cNvCxnSpPr>
            <a:cxnSpLocks/>
          </p:cNvCxnSpPr>
          <p:nvPr/>
        </p:nvCxnSpPr>
        <p:spPr>
          <a:xfrm>
            <a:off x="4936067" y="4318000"/>
            <a:ext cx="581723"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4D146E75-3FD8-449C-A4C2-9B2DCC56DC56}"/>
              </a:ext>
            </a:extLst>
          </p:cNvPr>
          <p:cNvCxnSpPr>
            <a:cxnSpLocks/>
          </p:cNvCxnSpPr>
          <p:nvPr/>
        </p:nvCxnSpPr>
        <p:spPr>
          <a:xfrm>
            <a:off x="8075939" y="4318000"/>
            <a:ext cx="581723"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39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B2445134-0845-4029-ADF1-BA54C1E0A46F}"/>
              </a:ext>
            </a:extLst>
          </p:cNvPr>
          <p:cNvSpPr txBox="1"/>
          <p:nvPr/>
        </p:nvSpPr>
        <p:spPr>
          <a:xfrm>
            <a:off x="210030" y="985631"/>
            <a:ext cx="6094070" cy="461665"/>
          </a:xfrm>
          <a:prstGeom prst="rect">
            <a:avLst/>
          </a:prstGeom>
          <a:noFill/>
        </p:spPr>
        <p:txBody>
          <a:bodyPr wrap="square">
            <a:spAutoFit/>
          </a:bodyPr>
          <a:lstStyle/>
          <a:p>
            <a:r>
              <a:rPr lang="zh-CN" altLang="en-US" sz="2400" b="1" dirty="0">
                <a:latin typeface="+mj-ea"/>
                <a:ea typeface="+mj-ea"/>
              </a:rPr>
              <a:t>回声帧计算</a:t>
            </a:r>
          </a:p>
        </p:txBody>
      </p:sp>
      <p:pic>
        <p:nvPicPr>
          <p:cNvPr id="8" name="图片 7">
            <a:extLst>
              <a:ext uri="{FF2B5EF4-FFF2-40B4-BE49-F238E27FC236}">
                <a16:creationId xmlns:a16="http://schemas.microsoft.com/office/drawing/2014/main" id="{43076151-E974-49B6-920E-DDC0D0B1DBF2}"/>
              </a:ext>
            </a:extLst>
          </p:cNvPr>
          <p:cNvPicPr>
            <a:picLocks noChangeAspect="1"/>
          </p:cNvPicPr>
          <p:nvPr/>
        </p:nvPicPr>
        <p:blipFill rotWithShape="1">
          <a:blip r:embed="rId2">
            <a:extLst>
              <a:ext uri="{28A0092B-C50C-407E-A947-70E740481C1C}">
                <a14:useLocalDpi xmlns:a14="http://schemas.microsoft.com/office/drawing/2010/main" val="0"/>
              </a:ext>
            </a:extLst>
          </a:blip>
          <a:srcRect b="44532"/>
          <a:stretch/>
        </p:blipFill>
        <p:spPr>
          <a:xfrm>
            <a:off x="642187" y="1501547"/>
            <a:ext cx="10651117" cy="2191538"/>
          </a:xfrm>
          <a:prstGeom prst="rect">
            <a:avLst/>
          </a:prstGeom>
        </p:spPr>
      </p:pic>
      <p:pic>
        <p:nvPicPr>
          <p:cNvPr id="19" name="图片 18">
            <a:extLst>
              <a:ext uri="{FF2B5EF4-FFF2-40B4-BE49-F238E27FC236}">
                <a16:creationId xmlns:a16="http://schemas.microsoft.com/office/drawing/2014/main" id="{EF47264A-3A1E-435E-A0E7-CF1832466B0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18428"/>
            <a:ext cx="12192000" cy="814672"/>
          </a:xfrm>
          <a:prstGeom prst="rect">
            <a:avLst/>
          </a:prstGeom>
        </p:spPr>
      </p:pic>
      <p:sp>
        <p:nvSpPr>
          <p:cNvPr id="20" name="矩形 19">
            <a:extLst>
              <a:ext uri="{FF2B5EF4-FFF2-40B4-BE49-F238E27FC236}">
                <a16:creationId xmlns:a16="http://schemas.microsoft.com/office/drawing/2014/main" id="{B90F2844-69CD-4C7A-9B2C-0193939A4FB4}"/>
              </a:ext>
            </a:extLst>
          </p:cNvPr>
          <p:cNvSpPr/>
          <p:nvPr/>
        </p:nvSpPr>
        <p:spPr>
          <a:xfrm>
            <a:off x="0" y="0"/>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F2352DD1-9264-4AE2-B9FE-80C080007DAE}"/>
              </a:ext>
            </a:extLst>
          </p:cNvPr>
          <p:cNvGrpSpPr/>
          <p:nvPr/>
        </p:nvGrpSpPr>
        <p:grpSpPr>
          <a:xfrm>
            <a:off x="138529" y="123620"/>
            <a:ext cx="2674119" cy="593131"/>
            <a:chOff x="1019925" y="1507764"/>
            <a:chExt cx="2674119" cy="593131"/>
          </a:xfrm>
        </p:grpSpPr>
        <p:sp>
          <p:nvSpPr>
            <p:cNvPr id="22" name="文本框 21">
              <a:extLst>
                <a:ext uri="{FF2B5EF4-FFF2-40B4-BE49-F238E27FC236}">
                  <a16:creationId xmlns:a16="http://schemas.microsoft.com/office/drawing/2014/main" id="{3E10A3DF-4B03-4B9B-8B26-85C7DA8423E1}"/>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23" name="图片 22">
              <a:extLst>
                <a:ext uri="{FF2B5EF4-FFF2-40B4-BE49-F238E27FC236}">
                  <a16:creationId xmlns:a16="http://schemas.microsoft.com/office/drawing/2014/main" id="{BB4D22AB-700B-4778-8680-74A244C20EF2}"/>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243C237E-5762-4795-8538-64639B983205}"/>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23619"/>
            <a:ext cx="1789487" cy="524257"/>
          </a:xfrm>
          <a:prstGeom prst="rect">
            <a:avLst/>
          </a:prstGeom>
        </p:spPr>
      </p:pic>
      <p:sp>
        <p:nvSpPr>
          <p:cNvPr id="15" name="文本框 14">
            <a:extLst>
              <a:ext uri="{FF2B5EF4-FFF2-40B4-BE49-F238E27FC236}">
                <a16:creationId xmlns:a16="http://schemas.microsoft.com/office/drawing/2014/main" id="{B768C9C5-DA5E-403E-B90E-2F32B86A57C7}"/>
              </a:ext>
            </a:extLst>
          </p:cNvPr>
          <p:cNvSpPr txBox="1"/>
          <p:nvPr/>
        </p:nvSpPr>
        <p:spPr>
          <a:xfrm>
            <a:off x="2655931" y="2101186"/>
            <a:ext cx="1374201" cy="307777"/>
          </a:xfrm>
          <a:prstGeom prst="rect">
            <a:avLst/>
          </a:prstGeom>
          <a:noFill/>
        </p:spPr>
        <p:txBody>
          <a:bodyPr wrap="square">
            <a:spAutoFit/>
          </a:bodyPr>
          <a:lstStyle/>
          <a:p>
            <a:r>
              <a:rPr lang="en-US" altLang="zh-CN" sz="1400" b="1" i="1" dirty="0">
                <a:solidFill>
                  <a:srgbClr val="FF0000"/>
                </a:solidFill>
                <a:effectLst/>
                <a:latin typeface="+mj-ea"/>
                <a:ea typeface="+mj-ea"/>
              </a:rPr>
              <a:t>FMCW</a:t>
            </a:r>
            <a:r>
              <a:rPr lang="zh-CN" altLang="en-US" sz="1400" b="1" i="1" dirty="0">
                <a:solidFill>
                  <a:srgbClr val="FF0000"/>
                </a:solidFill>
                <a:effectLst/>
                <a:latin typeface="+mj-ea"/>
                <a:ea typeface="+mj-ea"/>
              </a:rPr>
              <a:t>信号</a:t>
            </a:r>
            <a:endParaRPr lang="zh-CN" altLang="en-US" sz="1400" b="1" dirty="0">
              <a:latin typeface="+mj-ea"/>
              <a:ea typeface="+mj-ea"/>
            </a:endParaRPr>
          </a:p>
        </p:txBody>
      </p:sp>
      <p:sp>
        <p:nvSpPr>
          <p:cNvPr id="17" name="文本框 16">
            <a:extLst>
              <a:ext uri="{FF2B5EF4-FFF2-40B4-BE49-F238E27FC236}">
                <a16:creationId xmlns:a16="http://schemas.microsoft.com/office/drawing/2014/main" id="{66D3D898-C4D3-498A-A5DF-EDC3C9F83355}"/>
              </a:ext>
            </a:extLst>
          </p:cNvPr>
          <p:cNvSpPr txBox="1"/>
          <p:nvPr/>
        </p:nvSpPr>
        <p:spPr>
          <a:xfrm>
            <a:off x="1808941" y="3558983"/>
            <a:ext cx="3014909" cy="523220"/>
          </a:xfrm>
          <a:prstGeom prst="rect">
            <a:avLst/>
          </a:prstGeom>
          <a:noFill/>
        </p:spPr>
        <p:txBody>
          <a:bodyPr wrap="square">
            <a:spAutoFit/>
          </a:bodyPr>
          <a:lstStyle/>
          <a:p>
            <a:r>
              <a:rPr lang="zh-CN" altLang="en-US" sz="1400" b="1" i="1" dirty="0">
                <a:solidFill>
                  <a:srgbClr val="FF0000"/>
                </a:solidFill>
                <a:effectLst/>
                <a:latin typeface="Segoe UI" panose="020B0502040204020203" pitchFamily="34" charset="0"/>
              </a:rPr>
              <a:t>接收信号：经 </a:t>
            </a:r>
            <a:r>
              <a:rPr lang="en-US" altLang="zh-CN" sz="1400" b="1" i="1" dirty="0">
                <a:solidFill>
                  <a:srgbClr val="FF0000"/>
                </a:solidFill>
                <a:effectLst/>
                <a:latin typeface="Segoe UI" panose="020B0502040204020203" pitchFamily="34" charset="0"/>
              </a:rPr>
              <a:t>5</a:t>
            </a:r>
            <a:r>
              <a:rPr lang="zh-CN" altLang="en-US" sz="1400" b="1" i="1" dirty="0">
                <a:solidFill>
                  <a:srgbClr val="FF0000"/>
                </a:solidFill>
                <a:effectLst/>
                <a:latin typeface="Segoe UI" panose="020B0502040204020203" pitchFamily="34" charset="0"/>
              </a:rPr>
              <a:t>阶巴特沃斯带通滤波（</a:t>
            </a:r>
            <a:r>
              <a:rPr lang="en-US" altLang="zh-CN" sz="1400" b="1" i="1" dirty="0">
                <a:solidFill>
                  <a:srgbClr val="FF0000"/>
                </a:solidFill>
                <a:effectLst/>
                <a:latin typeface="Segoe UI" panose="020B0502040204020203" pitchFamily="34" charset="0"/>
              </a:rPr>
              <a:t>20-24KHz</a:t>
            </a:r>
            <a:r>
              <a:rPr lang="zh-CN" altLang="en-US" sz="1400" b="1" i="1" dirty="0">
                <a:solidFill>
                  <a:srgbClr val="FF0000"/>
                </a:solidFill>
                <a:effectLst/>
                <a:latin typeface="Segoe UI" panose="020B0502040204020203" pitchFamily="34" charset="0"/>
              </a:rPr>
              <a:t>，与发射信号频率一致）</a:t>
            </a:r>
            <a:endParaRPr lang="zh-CN" altLang="en-US" sz="1400" b="1" dirty="0"/>
          </a:p>
        </p:txBody>
      </p:sp>
      <p:sp>
        <p:nvSpPr>
          <p:cNvPr id="18" name="文本框 17">
            <a:extLst>
              <a:ext uri="{FF2B5EF4-FFF2-40B4-BE49-F238E27FC236}">
                <a16:creationId xmlns:a16="http://schemas.microsoft.com/office/drawing/2014/main" id="{BE11B5BB-4754-4EBF-B2D6-9136B67C9A7C}"/>
              </a:ext>
            </a:extLst>
          </p:cNvPr>
          <p:cNvSpPr txBox="1"/>
          <p:nvPr/>
        </p:nvSpPr>
        <p:spPr>
          <a:xfrm>
            <a:off x="209103" y="4799424"/>
            <a:ext cx="1889211" cy="1200329"/>
          </a:xfrm>
          <a:prstGeom prst="rect">
            <a:avLst/>
          </a:prstGeom>
          <a:noFill/>
        </p:spPr>
        <p:txBody>
          <a:bodyPr wrap="square">
            <a:spAutoFit/>
          </a:bodyPr>
          <a:lstStyle/>
          <a:p>
            <a:r>
              <a:rPr lang="zh-CN" altLang="en-US" b="1" dirty="0"/>
              <a:t>戒指发射调频连续波（</a:t>
            </a:r>
            <a:r>
              <a:rPr lang="en-US" altLang="zh-CN" b="1" dirty="0"/>
              <a:t>FMCW</a:t>
            </a:r>
            <a:r>
              <a:rPr lang="zh-CN" altLang="en-US" b="1" dirty="0"/>
              <a:t>）信号，</a:t>
            </a:r>
            <a:r>
              <a:rPr lang="zh-CN" altLang="en-US" dirty="0"/>
              <a:t>麦克风接收反射信号</a:t>
            </a:r>
          </a:p>
        </p:txBody>
      </p:sp>
      <p:sp>
        <p:nvSpPr>
          <p:cNvPr id="29" name="文本框 28">
            <a:extLst>
              <a:ext uri="{FF2B5EF4-FFF2-40B4-BE49-F238E27FC236}">
                <a16:creationId xmlns:a16="http://schemas.microsoft.com/office/drawing/2014/main" id="{2D2AF314-3801-4BA7-B3E0-A11E8B02231F}"/>
              </a:ext>
            </a:extLst>
          </p:cNvPr>
          <p:cNvSpPr txBox="1"/>
          <p:nvPr/>
        </p:nvSpPr>
        <p:spPr>
          <a:xfrm>
            <a:off x="2541303" y="4729975"/>
            <a:ext cx="1626437" cy="923330"/>
          </a:xfrm>
          <a:prstGeom prst="rect">
            <a:avLst/>
          </a:prstGeom>
          <a:noFill/>
        </p:spPr>
        <p:txBody>
          <a:bodyPr wrap="square">
            <a:spAutoFit/>
          </a:bodyPr>
          <a:lstStyle/>
          <a:p>
            <a:r>
              <a:rPr lang="zh-CN" altLang="en-US" b="0" i="0" dirty="0">
                <a:solidFill>
                  <a:srgbClr val="000000"/>
                </a:solidFill>
                <a:effectLst/>
                <a:latin typeface="Inter"/>
              </a:rPr>
              <a:t>接收信号经 </a:t>
            </a:r>
            <a:r>
              <a:rPr lang="en-US" altLang="zh-CN" b="0" i="0" dirty="0">
                <a:solidFill>
                  <a:srgbClr val="000000"/>
                </a:solidFill>
                <a:effectLst/>
                <a:latin typeface="Inter"/>
              </a:rPr>
              <a:t>5 </a:t>
            </a:r>
            <a:r>
              <a:rPr lang="zh-CN" altLang="en-US" b="0" i="0" dirty="0">
                <a:solidFill>
                  <a:srgbClr val="000000"/>
                </a:solidFill>
                <a:effectLst/>
                <a:latin typeface="Inter"/>
              </a:rPr>
              <a:t>阶巴特沃斯带通滤波</a:t>
            </a:r>
            <a:endParaRPr lang="zh-CN" altLang="en-US" dirty="0"/>
          </a:p>
        </p:txBody>
      </p:sp>
      <p:sp>
        <p:nvSpPr>
          <p:cNvPr id="30" name="文本框 29">
            <a:extLst>
              <a:ext uri="{FF2B5EF4-FFF2-40B4-BE49-F238E27FC236}">
                <a16:creationId xmlns:a16="http://schemas.microsoft.com/office/drawing/2014/main" id="{519EEF5A-7544-49CD-8FB6-2A1F3A930849}"/>
              </a:ext>
            </a:extLst>
          </p:cNvPr>
          <p:cNvSpPr txBox="1"/>
          <p:nvPr/>
        </p:nvSpPr>
        <p:spPr>
          <a:xfrm>
            <a:off x="4724757" y="4703930"/>
            <a:ext cx="1889210" cy="1477328"/>
          </a:xfrm>
          <a:prstGeom prst="rect">
            <a:avLst/>
          </a:prstGeom>
          <a:noFill/>
        </p:spPr>
        <p:txBody>
          <a:bodyPr wrap="square">
            <a:spAutoFit/>
          </a:bodyPr>
          <a:lstStyle/>
          <a:p>
            <a:r>
              <a:rPr lang="zh-CN" altLang="en-US" b="0" i="0" dirty="0">
                <a:solidFill>
                  <a:srgbClr val="000000"/>
                </a:solidFill>
                <a:effectLst/>
                <a:latin typeface="Inter"/>
              </a:rPr>
              <a:t>对 “发射信号” 和 “接收信号” 做</a:t>
            </a:r>
            <a:r>
              <a:rPr lang="zh-CN" altLang="en-US" b="1" i="0" dirty="0">
                <a:solidFill>
                  <a:srgbClr val="000000"/>
                </a:solidFill>
                <a:effectLst/>
                <a:latin typeface="Inter"/>
              </a:rPr>
              <a:t>互相关</a:t>
            </a:r>
            <a:r>
              <a:rPr lang="zh-CN" altLang="en-US" b="0" i="0" dirty="0">
                <a:solidFill>
                  <a:srgbClr val="000000"/>
                </a:solidFill>
                <a:effectLst/>
                <a:latin typeface="Inter"/>
              </a:rPr>
              <a:t>运算，得到不同反射时间的信号强度</a:t>
            </a:r>
            <a:endParaRPr lang="zh-CN" altLang="en-US" dirty="0"/>
          </a:p>
        </p:txBody>
      </p:sp>
      <p:sp>
        <p:nvSpPr>
          <p:cNvPr id="31" name="文本框 30">
            <a:extLst>
              <a:ext uri="{FF2B5EF4-FFF2-40B4-BE49-F238E27FC236}">
                <a16:creationId xmlns:a16="http://schemas.microsoft.com/office/drawing/2014/main" id="{F53E5188-B1D6-466C-AFAB-13763A38586F}"/>
              </a:ext>
            </a:extLst>
          </p:cNvPr>
          <p:cNvSpPr txBox="1"/>
          <p:nvPr/>
        </p:nvSpPr>
        <p:spPr>
          <a:xfrm>
            <a:off x="7078898" y="4729975"/>
            <a:ext cx="1889210" cy="1200329"/>
          </a:xfrm>
          <a:prstGeom prst="rect">
            <a:avLst/>
          </a:prstGeom>
          <a:noFill/>
        </p:spPr>
        <p:txBody>
          <a:bodyPr wrap="square">
            <a:spAutoFit/>
          </a:bodyPr>
          <a:lstStyle/>
          <a:p>
            <a:r>
              <a:rPr lang="zh-CN" altLang="en-US" b="0" i="0" dirty="0">
                <a:solidFill>
                  <a:srgbClr val="000000"/>
                </a:solidFill>
                <a:effectLst/>
                <a:latin typeface="Inter"/>
              </a:rPr>
              <a:t>以 </a:t>
            </a:r>
            <a:r>
              <a:rPr lang="en-US" altLang="zh-CN" b="0" i="0" dirty="0">
                <a:solidFill>
                  <a:srgbClr val="000000"/>
                </a:solidFill>
                <a:effectLst/>
                <a:latin typeface="Inter"/>
              </a:rPr>
              <a:t>t0 </a:t>
            </a:r>
            <a:r>
              <a:rPr lang="zh-CN" altLang="en-US" b="0" i="0" dirty="0">
                <a:solidFill>
                  <a:srgbClr val="000000"/>
                </a:solidFill>
                <a:effectLst/>
                <a:latin typeface="Inter"/>
              </a:rPr>
              <a:t>处的最强相关性为基准，结合声速将</a:t>
            </a:r>
            <a:r>
              <a:rPr lang="zh-CN" altLang="en-US" b="1" i="0" dirty="0">
                <a:solidFill>
                  <a:srgbClr val="000000"/>
                </a:solidFill>
                <a:effectLst/>
                <a:latin typeface="Inter"/>
              </a:rPr>
              <a:t>时间域映射为距离域</a:t>
            </a:r>
            <a:endParaRPr lang="zh-CN" altLang="en-US" dirty="0"/>
          </a:p>
        </p:txBody>
      </p:sp>
      <p:sp>
        <p:nvSpPr>
          <p:cNvPr id="32" name="文本框 31">
            <a:extLst>
              <a:ext uri="{FF2B5EF4-FFF2-40B4-BE49-F238E27FC236}">
                <a16:creationId xmlns:a16="http://schemas.microsoft.com/office/drawing/2014/main" id="{A4D12C32-97E7-4691-B2C2-B5841D96B697}"/>
              </a:ext>
            </a:extLst>
          </p:cNvPr>
          <p:cNvSpPr txBox="1"/>
          <p:nvPr/>
        </p:nvSpPr>
        <p:spPr>
          <a:xfrm>
            <a:off x="9365663" y="4729974"/>
            <a:ext cx="2273918" cy="1200329"/>
          </a:xfrm>
          <a:prstGeom prst="rect">
            <a:avLst/>
          </a:prstGeom>
          <a:noFill/>
        </p:spPr>
        <p:txBody>
          <a:bodyPr wrap="square">
            <a:spAutoFit/>
          </a:bodyPr>
          <a:lstStyle/>
          <a:p>
            <a:pPr algn="l"/>
            <a:r>
              <a:rPr lang="zh-CN" altLang="en-US" b="0" i="0" dirty="0">
                <a:solidFill>
                  <a:srgbClr val="000000"/>
                </a:solidFill>
                <a:effectLst/>
                <a:latin typeface="Inter"/>
              </a:rPr>
              <a:t>截取回声帧中完整手部运动范围区域（排除环境反射干扰，</a:t>
            </a:r>
            <a:r>
              <a:rPr lang="zh-CN" altLang="en-US" b="1" i="0" dirty="0">
                <a:solidFill>
                  <a:srgbClr val="000000"/>
                </a:solidFill>
                <a:effectLst/>
                <a:latin typeface="Inter"/>
              </a:rPr>
              <a:t>专注手部传感</a:t>
            </a:r>
          </a:p>
        </p:txBody>
      </p:sp>
      <p:sp>
        <p:nvSpPr>
          <p:cNvPr id="33" name="文本框 32">
            <a:extLst>
              <a:ext uri="{FF2B5EF4-FFF2-40B4-BE49-F238E27FC236}">
                <a16:creationId xmlns:a16="http://schemas.microsoft.com/office/drawing/2014/main" id="{87884571-CCD2-43AB-A353-C3437D402464}"/>
              </a:ext>
            </a:extLst>
          </p:cNvPr>
          <p:cNvSpPr txBox="1"/>
          <p:nvPr/>
        </p:nvSpPr>
        <p:spPr>
          <a:xfrm>
            <a:off x="416522" y="4348806"/>
            <a:ext cx="2658532" cy="369332"/>
          </a:xfrm>
          <a:prstGeom prst="rect">
            <a:avLst/>
          </a:prstGeom>
          <a:noFill/>
        </p:spPr>
        <p:txBody>
          <a:bodyPr wrap="square">
            <a:spAutoFit/>
          </a:bodyPr>
          <a:lstStyle/>
          <a:p>
            <a:r>
              <a:rPr lang="zh-CN" altLang="en-US" b="1" i="0" dirty="0">
                <a:solidFill>
                  <a:srgbClr val="000000"/>
                </a:solidFill>
                <a:effectLst/>
                <a:latin typeface="+mj-ea"/>
                <a:ea typeface="+mj-ea"/>
              </a:rPr>
              <a:t>信号收发</a:t>
            </a:r>
            <a:endParaRPr lang="zh-CN" altLang="en-US" dirty="0">
              <a:latin typeface="+mj-ea"/>
              <a:ea typeface="+mj-ea"/>
            </a:endParaRPr>
          </a:p>
        </p:txBody>
      </p:sp>
      <p:sp>
        <p:nvSpPr>
          <p:cNvPr id="34" name="文本框 33">
            <a:extLst>
              <a:ext uri="{FF2B5EF4-FFF2-40B4-BE49-F238E27FC236}">
                <a16:creationId xmlns:a16="http://schemas.microsoft.com/office/drawing/2014/main" id="{D299A9D2-650D-47F1-B94C-DF155FD1A60E}"/>
              </a:ext>
            </a:extLst>
          </p:cNvPr>
          <p:cNvSpPr txBox="1"/>
          <p:nvPr/>
        </p:nvSpPr>
        <p:spPr>
          <a:xfrm>
            <a:off x="4929857" y="4348806"/>
            <a:ext cx="1782852" cy="369332"/>
          </a:xfrm>
          <a:prstGeom prst="rect">
            <a:avLst/>
          </a:prstGeom>
          <a:noFill/>
        </p:spPr>
        <p:txBody>
          <a:bodyPr wrap="square">
            <a:spAutoFit/>
          </a:bodyPr>
          <a:lstStyle/>
          <a:p>
            <a:pPr algn="l"/>
            <a:r>
              <a:rPr lang="zh-CN" altLang="en-US" b="1" i="0" dirty="0">
                <a:solidFill>
                  <a:srgbClr val="000000"/>
                </a:solidFill>
                <a:effectLst/>
                <a:latin typeface="+mj-ea"/>
                <a:ea typeface="+mj-ea"/>
              </a:rPr>
              <a:t>互相关运算</a:t>
            </a:r>
          </a:p>
        </p:txBody>
      </p:sp>
      <p:sp>
        <p:nvSpPr>
          <p:cNvPr id="36" name="文本框 35">
            <a:extLst>
              <a:ext uri="{FF2B5EF4-FFF2-40B4-BE49-F238E27FC236}">
                <a16:creationId xmlns:a16="http://schemas.microsoft.com/office/drawing/2014/main" id="{C83E86B4-ADC9-48B8-9C2C-6FEBECF50FFD}"/>
              </a:ext>
            </a:extLst>
          </p:cNvPr>
          <p:cNvSpPr txBox="1"/>
          <p:nvPr/>
        </p:nvSpPr>
        <p:spPr>
          <a:xfrm>
            <a:off x="9781245" y="4362820"/>
            <a:ext cx="13277850" cy="369332"/>
          </a:xfrm>
          <a:prstGeom prst="rect">
            <a:avLst/>
          </a:prstGeom>
          <a:noFill/>
        </p:spPr>
        <p:txBody>
          <a:bodyPr wrap="square">
            <a:spAutoFit/>
          </a:bodyPr>
          <a:lstStyle/>
          <a:p>
            <a:pPr algn="l"/>
            <a:r>
              <a:rPr lang="zh-CN" altLang="en-US" b="1" i="0" dirty="0">
                <a:solidFill>
                  <a:srgbClr val="000000"/>
                </a:solidFill>
                <a:effectLst/>
                <a:latin typeface="+mj-ea"/>
                <a:ea typeface="+mj-ea"/>
              </a:rPr>
              <a:t>回声帧截取</a:t>
            </a:r>
          </a:p>
        </p:txBody>
      </p:sp>
      <p:sp>
        <p:nvSpPr>
          <p:cNvPr id="38" name="文本框 37">
            <a:extLst>
              <a:ext uri="{FF2B5EF4-FFF2-40B4-BE49-F238E27FC236}">
                <a16:creationId xmlns:a16="http://schemas.microsoft.com/office/drawing/2014/main" id="{5E8DE786-A88F-4B1F-827D-E8FCCFC58040}"/>
              </a:ext>
            </a:extLst>
          </p:cNvPr>
          <p:cNvSpPr txBox="1"/>
          <p:nvPr/>
        </p:nvSpPr>
        <p:spPr>
          <a:xfrm>
            <a:off x="2924707" y="4348806"/>
            <a:ext cx="1889211" cy="369332"/>
          </a:xfrm>
          <a:prstGeom prst="rect">
            <a:avLst/>
          </a:prstGeom>
          <a:noFill/>
        </p:spPr>
        <p:txBody>
          <a:bodyPr wrap="square">
            <a:spAutoFit/>
          </a:bodyPr>
          <a:lstStyle/>
          <a:p>
            <a:r>
              <a:rPr lang="zh-CN" altLang="en-US" b="1" i="0" dirty="0">
                <a:solidFill>
                  <a:srgbClr val="000000"/>
                </a:solidFill>
                <a:effectLst/>
                <a:latin typeface="+mj-ea"/>
                <a:ea typeface="+mj-ea"/>
              </a:rPr>
              <a:t>预处理</a:t>
            </a:r>
            <a:endParaRPr lang="zh-CN" altLang="en-US" dirty="0">
              <a:latin typeface="+mj-ea"/>
              <a:ea typeface="+mj-ea"/>
            </a:endParaRPr>
          </a:p>
        </p:txBody>
      </p:sp>
      <p:sp>
        <p:nvSpPr>
          <p:cNvPr id="40" name="文本框 39">
            <a:extLst>
              <a:ext uri="{FF2B5EF4-FFF2-40B4-BE49-F238E27FC236}">
                <a16:creationId xmlns:a16="http://schemas.microsoft.com/office/drawing/2014/main" id="{77908BCB-A059-4090-8096-2BFA096EF4B1}"/>
              </a:ext>
            </a:extLst>
          </p:cNvPr>
          <p:cNvSpPr txBox="1"/>
          <p:nvPr/>
        </p:nvSpPr>
        <p:spPr>
          <a:xfrm>
            <a:off x="7525846" y="4360642"/>
            <a:ext cx="1417806" cy="369332"/>
          </a:xfrm>
          <a:prstGeom prst="rect">
            <a:avLst/>
          </a:prstGeom>
          <a:noFill/>
        </p:spPr>
        <p:txBody>
          <a:bodyPr wrap="square">
            <a:spAutoFit/>
          </a:bodyPr>
          <a:lstStyle/>
          <a:p>
            <a:r>
              <a:rPr lang="zh-CN" altLang="en-US" b="1" i="0" dirty="0">
                <a:solidFill>
                  <a:srgbClr val="000000"/>
                </a:solidFill>
                <a:effectLst/>
                <a:latin typeface="+mj-ea"/>
                <a:ea typeface="+mj-ea"/>
              </a:rPr>
              <a:t>域映射</a:t>
            </a:r>
            <a:endParaRPr lang="zh-CN" altLang="en-US" dirty="0">
              <a:latin typeface="+mj-ea"/>
              <a:ea typeface="+mj-ea"/>
            </a:endParaRPr>
          </a:p>
        </p:txBody>
      </p:sp>
      <p:sp>
        <p:nvSpPr>
          <p:cNvPr id="42" name="文本框 41">
            <a:extLst>
              <a:ext uri="{FF2B5EF4-FFF2-40B4-BE49-F238E27FC236}">
                <a16:creationId xmlns:a16="http://schemas.microsoft.com/office/drawing/2014/main" id="{39ACBDC0-964D-4086-B6A0-0B4DABA5E8EC}"/>
              </a:ext>
            </a:extLst>
          </p:cNvPr>
          <p:cNvSpPr txBox="1"/>
          <p:nvPr/>
        </p:nvSpPr>
        <p:spPr>
          <a:xfrm>
            <a:off x="5228241" y="3497725"/>
            <a:ext cx="3230034" cy="523220"/>
          </a:xfrm>
          <a:prstGeom prst="rect">
            <a:avLst/>
          </a:prstGeom>
          <a:noFill/>
        </p:spPr>
        <p:txBody>
          <a:bodyPr wrap="square">
            <a:spAutoFit/>
          </a:bodyPr>
          <a:lstStyle/>
          <a:p>
            <a:r>
              <a:rPr lang="en-US" altLang="zh-CN" sz="1400" b="1" i="1" dirty="0">
                <a:solidFill>
                  <a:srgbClr val="FF0000"/>
                </a:solidFill>
                <a:latin typeface="Segoe UI" panose="020B0502040204020203" pitchFamily="34" charset="0"/>
              </a:rPr>
              <a:t>t0 </a:t>
            </a:r>
            <a:r>
              <a:rPr lang="zh-CN" altLang="en-US" sz="1400" b="1" i="1" dirty="0">
                <a:solidFill>
                  <a:srgbClr val="FF0000"/>
                </a:solidFill>
                <a:latin typeface="Segoe UI" panose="020B0502040204020203" pitchFamily="34" charset="0"/>
              </a:rPr>
              <a:t>处的最强相关性代表扬声器 </a:t>
            </a:r>
            <a:r>
              <a:rPr lang="en-US" altLang="zh-CN" sz="1400" b="1" i="1" dirty="0">
                <a:solidFill>
                  <a:srgbClr val="FF0000"/>
                </a:solidFill>
                <a:latin typeface="Segoe UI" panose="020B0502040204020203" pitchFamily="34" charset="0"/>
              </a:rPr>
              <a:t>- </a:t>
            </a:r>
            <a:r>
              <a:rPr lang="zh-CN" altLang="en-US" sz="1400" b="1" i="1" dirty="0">
                <a:solidFill>
                  <a:srgbClr val="FF0000"/>
                </a:solidFill>
                <a:latin typeface="Segoe UI" panose="020B0502040204020203" pitchFamily="34" charset="0"/>
              </a:rPr>
              <a:t>麦克风直接路径，居中于 </a:t>
            </a:r>
            <a:r>
              <a:rPr lang="en-US" altLang="zh-CN" sz="1400" b="1" i="1" dirty="0">
                <a:solidFill>
                  <a:srgbClr val="FF0000"/>
                </a:solidFill>
                <a:latin typeface="Segoe UI" panose="020B0502040204020203" pitchFamily="34" charset="0"/>
              </a:rPr>
              <a:t>6 </a:t>
            </a:r>
            <a:r>
              <a:rPr lang="zh-CN" altLang="en-US" sz="1400" b="1" i="1" dirty="0">
                <a:solidFill>
                  <a:srgbClr val="FF0000"/>
                </a:solidFill>
                <a:latin typeface="Segoe UI" panose="020B0502040204020203" pitchFamily="34" charset="0"/>
              </a:rPr>
              <a:t>毫秒</a:t>
            </a:r>
          </a:p>
        </p:txBody>
      </p:sp>
      <p:sp>
        <p:nvSpPr>
          <p:cNvPr id="44" name="文本框 43">
            <a:extLst>
              <a:ext uri="{FF2B5EF4-FFF2-40B4-BE49-F238E27FC236}">
                <a16:creationId xmlns:a16="http://schemas.microsoft.com/office/drawing/2014/main" id="{87AC4374-6466-47B9-8091-1C176C388BC0}"/>
              </a:ext>
            </a:extLst>
          </p:cNvPr>
          <p:cNvSpPr txBox="1"/>
          <p:nvPr/>
        </p:nvSpPr>
        <p:spPr>
          <a:xfrm>
            <a:off x="8479566" y="3532626"/>
            <a:ext cx="2951252" cy="523220"/>
          </a:xfrm>
          <a:prstGeom prst="rect">
            <a:avLst/>
          </a:prstGeom>
          <a:noFill/>
        </p:spPr>
        <p:txBody>
          <a:bodyPr wrap="square">
            <a:spAutoFit/>
          </a:bodyPr>
          <a:lstStyle/>
          <a:p>
            <a:r>
              <a:rPr lang="en-US" altLang="zh-CN" sz="1400" b="1" i="1" dirty="0">
                <a:solidFill>
                  <a:srgbClr val="FF0000"/>
                </a:solidFill>
                <a:latin typeface="Segoe UI" panose="020B0502040204020203" pitchFamily="34" charset="0"/>
              </a:rPr>
              <a:t>54 </a:t>
            </a:r>
            <a:r>
              <a:rPr lang="zh-CN" altLang="en-US" sz="1400" b="1" i="1" dirty="0">
                <a:solidFill>
                  <a:srgbClr val="FF0000"/>
                </a:solidFill>
                <a:latin typeface="Segoe UI" panose="020B0502040204020203" pitchFamily="34" charset="0"/>
              </a:rPr>
              <a:t>像素（对应半径 </a:t>
            </a:r>
            <a:r>
              <a:rPr lang="en-US" altLang="zh-CN" sz="1400" b="1" i="1" dirty="0">
                <a:solidFill>
                  <a:srgbClr val="FF0000"/>
                </a:solidFill>
                <a:latin typeface="Segoe UI" panose="020B0502040204020203" pitchFamily="34" charset="0"/>
              </a:rPr>
              <a:t>18.52 </a:t>
            </a:r>
            <a:r>
              <a:rPr lang="zh-CN" altLang="en-US" sz="1400" b="1" i="1" dirty="0">
                <a:solidFill>
                  <a:srgbClr val="FF0000"/>
                </a:solidFill>
                <a:latin typeface="Segoe UI" panose="020B0502040204020203" pitchFamily="34" charset="0"/>
              </a:rPr>
              <a:t>厘米）的区域（覆盖完整手部运动范围）</a:t>
            </a:r>
          </a:p>
        </p:txBody>
      </p:sp>
      <p:cxnSp>
        <p:nvCxnSpPr>
          <p:cNvPr id="45" name="直接箭头连接符 44">
            <a:extLst>
              <a:ext uri="{FF2B5EF4-FFF2-40B4-BE49-F238E27FC236}">
                <a16:creationId xmlns:a16="http://schemas.microsoft.com/office/drawing/2014/main" id="{E647F47F-43B2-43FF-A1AA-CBA132B337D7}"/>
              </a:ext>
            </a:extLst>
          </p:cNvPr>
          <p:cNvCxnSpPr>
            <a:cxnSpLocks/>
          </p:cNvCxnSpPr>
          <p:nvPr/>
        </p:nvCxnSpPr>
        <p:spPr>
          <a:xfrm>
            <a:off x="2046206" y="5290152"/>
            <a:ext cx="437112"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154378C4-E0BA-4899-B2DA-5C4311E75E89}"/>
              </a:ext>
            </a:extLst>
          </p:cNvPr>
          <p:cNvCxnSpPr>
            <a:cxnSpLocks/>
          </p:cNvCxnSpPr>
          <p:nvPr/>
        </p:nvCxnSpPr>
        <p:spPr>
          <a:xfrm>
            <a:off x="4232195" y="5290152"/>
            <a:ext cx="455308"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FA042BAC-4259-44EE-A73C-D11E22BBEC1D}"/>
              </a:ext>
            </a:extLst>
          </p:cNvPr>
          <p:cNvCxnSpPr>
            <a:cxnSpLocks/>
          </p:cNvCxnSpPr>
          <p:nvPr/>
        </p:nvCxnSpPr>
        <p:spPr>
          <a:xfrm>
            <a:off x="6603131" y="5290152"/>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B33AE77-A6B0-4EC2-8F96-E4CD915C4CB8}"/>
              </a:ext>
            </a:extLst>
          </p:cNvPr>
          <p:cNvCxnSpPr>
            <a:cxnSpLocks/>
          </p:cNvCxnSpPr>
          <p:nvPr/>
        </p:nvCxnSpPr>
        <p:spPr>
          <a:xfrm>
            <a:off x="8968108" y="5290152"/>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06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36B273A3-C846-4D15-AC97-E20A7DD9B7B2}"/>
              </a:ext>
            </a:extLst>
          </p:cNvPr>
          <p:cNvSpPr txBox="1"/>
          <p:nvPr/>
        </p:nvSpPr>
        <p:spPr>
          <a:xfrm>
            <a:off x="359533" y="1000100"/>
            <a:ext cx="6094070" cy="461665"/>
          </a:xfrm>
          <a:prstGeom prst="rect">
            <a:avLst/>
          </a:prstGeom>
          <a:noFill/>
        </p:spPr>
        <p:txBody>
          <a:bodyPr wrap="square">
            <a:spAutoFit/>
          </a:bodyPr>
          <a:lstStyle/>
          <a:p>
            <a:r>
              <a:rPr lang="zh-CN" altLang="en-US" sz="2400" b="1" dirty="0">
                <a:latin typeface="+mj-ea"/>
                <a:ea typeface="+mj-ea"/>
              </a:rPr>
              <a:t>原始和差分回声轮廓计算</a:t>
            </a:r>
          </a:p>
        </p:txBody>
      </p:sp>
      <p:pic>
        <p:nvPicPr>
          <p:cNvPr id="18" name="图片 17">
            <a:extLst>
              <a:ext uri="{FF2B5EF4-FFF2-40B4-BE49-F238E27FC236}">
                <a16:creationId xmlns:a16="http://schemas.microsoft.com/office/drawing/2014/main" id="{58F44151-7F0A-4619-9831-E32E1D6AE6B4}"/>
              </a:ext>
            </a:extLst>
          </p:cNvPr>
          <p:cNvPicPr>
            <a:picLocks noChangeAspect="1"/>
          </p:cNvPicPr>
          <p:nvPr/>
        </p:nvPicPr>
        <p:blipFill rotWithShape="1">
          <a:blip r:embed="rId2">
            <a:extLst>
              <a:ext uri="{28A0092B-C50C-407E-A947-70E740481C1C}">
                <a14:useLocalDpi xmlns:a14="http://schemas.microsoft.com/office/drawing/2010/main" val="0"/>
              </a:ext>
            </a:extLst>
          </a:blip>
          <a:srcRect b="21012"/>
          <a:stretch/>
        </p:blipFill>
        <p:spPr>
          <a:xfrm>
            <a:off x="1132780" y="1461765"/>
            <a:ext cx="9926440" cy="3325433"/>
          </a:xfrm>
          <a:prstGeom prst="rect">
            <a:avLst/>
          </a:prstGeom>
        </p:spPr>
      </p:pic>
      <p:pic>
        <p:nvPicPr>
          <p:cNvPr id="19" name="图片 18">
            <a:extLst>
              <a:ext uri="{FF2B5EF4-FFF2-40B4-BE49-F238E27FC236}">
                <a16:creationId xmlns:a16="http://schemas.microsoft.com/office/drawing/2014/main" id="{64BD24B3-E01D-4A91-BF5B-B36D71968112}"/>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0" name="矩形 19">
            <a:extLst>
              <a:ext uri="{FF2B5EF4-FFF2-40B4-BE49-F238E27FC236}">
                <a16:creationId xmlns:a16="http://schemas.microsoft.com/office/drawing/2014/main" id="{188A2030-8DDF-42C0-A763-62BDC3793C3A}"/>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026E1668-EBFC-4A64-A267-31BEF5B688DD}"/>
              </a:ext>
            </a:extLst>
          </p:cNvPr>
          <p:cNvGrpSpPr/>
          <p:nvPr/>
        </p:nvGrpSpPr>
        <p:grpSpPr>
          <a:xfrm>
            <a:off x="138529" y="112812"/>
            <a:ext cx="2674119" cy="593131"/>
            <a:chOff x="1019925" y="1507764"/>
            <a:chExt cx="2674119" cy="593131"/>
          </a:xfrm>
        </p:grpSpPr>
        <p:sp>
          <p:nvSpPr>
            <p:cNvPr id="22" name="文本框 21">
              <a:extLst>
                <a:ext uri="{FF2B5EF4-FFF2-40B4-BE49-F238E27FC236}">
                  <a16:creationId xmlns:a16="http://schemas.microsoft.com/office/drawing/2014/main" id="{7D5DA9FE-7620-458D-9D77-08B5C049A8C4}"/>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23" name="图片 22">
              <a:extLst>
                <a:ext uri="{FF2B5EF4-FFF2-40B4-BE49-F238E27FC236}">
                  <a16:creationId xmlns:a16="http://schemas.microsoft.com/office/drawing/2014/main" id="{F2585D6D-F485-4E0C-9184-6197ACAC3EA4}"/>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8F7C37C7-2BE3-48C1-9910-AA92B76FA49C}"/>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2" name="表格 1">
            <a:extLst>
              <a:ext uri="{FF2B5EF4-FFF2-40B4-BE49-F238E27FC236}">
                <a16:creationId xmlns:a16="http://schemas.microsoft.com/office/drawing/2014/main" id="{6230DFC4-20B1-4E04-A569-1D9F6F8A1D8E}"/>
              </a:ext>
            </a:extLst>
          </p:cNvPr>
          <p:cNvGraphicFramePr>
            <a:graphicFrameLocks noGrp="1"/>
          </p:cNvGraphicFramePr>
          <p:nvPr>
            <p:extLst>
              <p:ext uri="{D42A27DB-BD31-4B8C-83A1-F6EECF244321}">
                <p14:modId xmlns:p14="http://schemas.microsoft.com/office/powerpoint/2010/main" val="4146501727"/>
              </p:ext>
            </p:extLst>
          </p:nvPr>
        </p:nvGraphicFramePr>
        <p:xfrm>
          <a:off x="969150" y="4787198"/>
          <a:ext cx="10253699" cy="1792988"/>
        </p:xfrm>
        <a:graphic>
          <a:graphicData uri="http://schemas.openxmlformats.org/drawingml/2006/table">
            <a:tbl>
              <a:tblPr/>
              <a:tblGrid>
                <a:gridCol w="2064696">
                  <a:extLst>
                    <a:ext uri="{9D8B030D-6E8A-4147-A177-3AD203B41FA5}">
                      <a16:colId xmlns:a16="http://schemas.microsoft.com/office/drawing/2014/main" val="1065724679"/>
                    </a:ext>
                  </a:extLst>
                </a:gridCol>
                <a:gridCol w="4066185">
                  <a:extLst>
                    <a:ext uri="{9D8B030D-6E8A-4147-A177-3AD203B41FA5}">
                      <a16:colId xmlns:a16="http://schemas.microsoft.com/office/drawing/2014/main" val="4192955943"/>
                    </a:ext>
                  </a:extLst>
                </a:gridCol>
                <a:gridCol w="4122818">
                  <a:extLst>
                    <a:ext uri="{9D8B030D-6E8A-4147-A177-3AD203B41FA5}">
                      <a16:colId xmlns:a16="http://schemas.microsoft.com/office/drawing/2014/main" val="1079933042"/>
                    </a:ext>
                  </a:extLst>
                </a:gridCol>
              </a:tblGrid>
              <a:tr h="404922">
                <a:tc>
                  <a:txBody>
                    <a:bodyPr/>
                    <a:lstStyle/>
                    <a:p>
                      <a:pPr algn="ctr"/>
                      <a:r>
                        <a:rPr lang="zh-CN" altLang="en-US" b="1" dirty="0">
                          <a:solidFill>
                            <a:srgbClr val="000000"/>
                          </a:solidFill>
                          <a:effectLst/>
                        </a:rPr>
                        <a:t>类型</a:t>
                      </a:r>
                    </a:p>
                  </a:txBody>
                  <a:tcPr marL="114300" marR="114300" marT="76200" marB="76200" anchor="ctr">
                    <a:lnL w="3848" cap="flat" cmpd="sng" algn="ctr">
                      <a:solidFill>
                        <a:srgbClr val="C00570"/>
                      </a:solidFill>
                      <a:prstDash val="solid"/>
                      <a:round/>
                      <a:headEnd type="none" w="med" len="med"/>
                      <a:tailEnd type="none" w="med" len="med"/>
                    </a:lnL>
                    <a:lnR w="3848" cap="flat" cmpd="sng" algn="ctr">
                      <a:solidFill>
                        <a:srgbClr val="E00170"/>
                      </a:solidFill>
                      <a:prstDash val="solid"/>
                      <a:round/>
                      <a:headEnd type="none" w="med" len="med"/>
                      <a:tailEnd type="none" w="med" len="med"/>
                    </a:lnR>
                    <a:lnT w="3848" cap="flat" cmpd="sng" algn="ctr">
                      <a:solidFill>
                        <a:srgbClr val="2005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计算方式</a:t>
                      </a:r>
                    </a:p>
                  </a:txBody>
                  <a:tcPr marL="114300" marR="114300" marT="76200" marB="76200" anchor="ctr">
                    <a:lnL w="3848" cap="flat" cmpd="sng" algn="ctr">
                      <a:solidFill>
                        <a:srgbClr val="E00170"/>
                      </a:solidFill>
                      <a:prstDash val="solid"/>
                      <a:round/>
                      <a:headEnd type="none" w="med" len="med"/>
                      <a:tailEnd type="none" w="med" len="med"/>
                    </a:lnL>
                    <a:lnR w="3848" cap="flat" cmpd="sng" algn="ctr">
                      <a:solidFill>
                        <a:srgbClr val="400370"/>
                      </a:solidFill>
                      <a:prstDash val="solid"/>
                      <a:round/>
                      <a:headEnd type="none" w="med" len="med"/>
                      <a:tailEnd type="none" w="med" len="med"/>
                    </a:lnR>
                    <a:lnT w="3848" cap="flat" cmpd="sng" algn="ctr">
                      <a:solidFill>
                        <a:srgbClr val="2003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tc>
                  <a:txBody>
                    <a:bodyPr/>
                    <a:lstStyle/>
                    <a:p>
                      <a:pPr algn="ctr"/>
                      <a:r>
                        <a:rPr lang="zh-CN" altLang="en-US" b="1" dirty="0">
                          <a:solidFill>
                            <a:srgbClr val="000000"/>
                          </a:solidFill>
                          <a:effectLst/>
                        </a:rPr>
                        <a:t>作用</a:t>
                      </a:r>
                    </a:p>
                  </a:txBody>
                  <a:tcPr marL="114300" marR="114300" marT="76200" marB="76200" anchor="ctr">
                    <a:lnL w="3848" cap="flat" cmpd="sng" algn="ctr">
                      <a:solidFill>
                        <a:srgbClr val="400370"/>
                      </a:solidFill>
                      <a:prstDash val="solid"/>
                      <a:round/>
                      <a:headEnd type="none" w="med" len="med"/>
                      <a:tailEnd type="none" w="med" len="med"/>
                    </a:lnL>
                    <a:lnR w="3848" cap="flat" cmpd="sng" algn="ctr">
                      <a:solidFill>
                        <a:srgbClr val="400370"/>
                      </a:solidFill>
                      <a:prstDash val="solid"/>
                      <a:round/>
                      <a:headEnd type="none" w="med" len="med"/>
                      <a:tailEnd type="none" w="med" len="med"/>
                    </a:lnR>
                    <a:lnT w="3848" cap="flat" cmpd="sng" algn="ctr">
                      <a:solidFill>
                        <a:srgbClr val="400370"/>
                      </a:solidFill>
                      <a:prstDash val="solid"/>
                      <a:round/>
                      <a:headEnd type="none" w="med" len="med"/>
                      <a:tailEnd type="none" w="med" len="med"/>
                    </a:lnT>
                    <a:lnB w="3848" cap="flat" cmpd="sng" algn="ctr">
                      <a:solidFill>
                        <a:srgbClr val="D0182D"/>
                      </a:solidFill>
                      <a:prstDash val="solid"/>
                      <a:round/>
                      <a:headEnd type="none" w="med" len="med"/>
                      <a:tailEnd type="none" w="med" len="med"/>
                    </a:lnB>
                    <a:solidFill>
                      <a:srgbClr val="F2F2F2"/>
                    </a:solidFill>
                  </a:tcPr>
                </a:tc>
                <a:extLst>
                  <a:ext uri="{0D108BD9-81ED-4DB2-BD59-A6C34878D82A}">
                    <a16:rowId xmlns:a16="http://schemas.microsoft.com/office/drawing/2014/main" val="530813309"/>
                  </a:ext>
                </a:extLst>
              </a:tr>
              <a:tr h="665228">
                <a:tc>
                  <a:txBody>
                    <a:bodyPr/>
                    <a:lstStyle/>
                    <a:p>
                      <a:pPr algn="ctr"/>
                      <a:r>
                        <a:rPr lang="zh-CN" altLang="en-US" b="0">
                          <a:effectLst/>
                        </a:rPr>
                        <a:t>原始回声轮廓</a:t>
                      </a:r>
                    </a:p>
                  </a:txBody>
                  <a:tcPr marL="114300" marR="114300" marT="76200" marB="76200" anchor="ctr">
                    <a:lnL w="3848" cap="flat" cmpd="sng" algn="ctr">
                      <a:solidFill>
                        <a:srgbClr val="402A70"/>
                      </a:solidFill>
                      <a:prstDash val="solid"/>
                      <a:round/>
                      <a:headEnd type="none" w="med" len="med"/>
                      <a:tailEnd type="none" w="med" len="med"/>
                    </a:lnL>
                    <a:lnR w="3848" cap="flat" cmpd="sng" algn="ctr">
                      <a:solidFill>
                        <a:srgbClr val="6039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803E70"/>
                      </a:solidFill>
                      <a:prstDash val="solid"/>
                      <a:round/>
                      <a:headEnd type="none" w="med" len="med"/>
                      <a:tailEnd type="none" w="med" len="med"/>
                    </a:lnB>
                    <a:solidFill>
                      <a:srgbClr val="FFFFFF"/>
                    </a:solidFill>
                  </a:tcPr>
                </a:tc>
                <a:tc>
                  <a:txBody>
                    <a:bodyPr/>
                    <a:lstStyle/>
                    <a:p>
                      <a:pPr algn="ctr"/>
                      <a:r>
                        <a:rPr lang="zh-CN" altLang="en-US" b="0" dirty="0">
                          <a:effectLst/>
                        </a:rPr>
                        <a:t>回声帧沿时间轴（</a:t>
                      </a:r>
                      <a:r>
                        <a:rPr lang="en-US" altLang="zh-CN" b="0" dirty="0">
                          <a:effectLst/>
                        </a:rPr>
                        <a:t>x </a:t>
                      </a:r>
                      <a:r>
                        <a:rPr lang="zh-CN" altLang="en-US" b="0" dirty="0">
                          <a:effectLst/>
                        </a:rPr>
                        <a:t>轴）堆叠</a:t>
                      </a:r>
                    </a:p>
                  </a:txBody>
                  <a:tcPr marL="114300" marR="114300" marT="76200" marB="76200" anchor="ctr">
                    <a:lnL w="3848" cap="flat" cmpd="sng" algn="ctr">
                      <a:solidFill>
                        <a:srgbClr val="603970"/>
                      </a:solidFill>
                      <a:prstDash val="solid"/>
                      <a:round/>
                      <a:headEnd type="none" w="med" len="med"/>
                      <a:tailEnd type="none" w="med" len="med"/>
                    </a:lnL>
                    <a:lnR w="3848" cap="flat" cmpd="sng" algn="ctr">
                      <a:solidFill>
                        <a:srgbClr val="E003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E03F70"/>
                      </a:solidFill>
                      <a:prstDash val="solid"/>
                      <a:round/>
                      <a:headEnd type="none" w="med" len="med"/>
                      <a:tailEnd type="none" w="med" len="med"/>
                    </a:lnB>
                    <a:solidFill>
                      <a:srgbClr val="FFFFFF"/>
                    </a:solidFill>
                  </a:tcPr>
                </a:tc>
                <a:tc>
                  <a:txBody>
                    <a:bodyPr/>
                    <a:lstStyle/>
                    <a:p>
                      <a:pPr algn="ctr"/>
                      <a:r>
                        <a:rPr lang="zh-CN" altLang="en-US" b="0" dirty="0">
                          <a:effectLst/>
                        </a:rPr>
                        <a:t>捕捉不同距离的连续反射强度（静态手部姿态）</a:t>
                      </a:r>
                    </a:p>
                  </a:txBody>
                  <a:tcPr marL="114300" marR="114300" marT="76200" marB="76200" anchor="ctr">
                    <a:lnL w="3848" cap="flat" cmpd="sng" algn="ctr">
                      <a:solidFill>
                        <a:srgbClr val="E00370"/>
                      </a:solidFill>
                      <a:prstDash val="solid"/>
                      <a:round/>
                      <a:headEnd type="none" w="med" len="med"/>
                      <a:tailEnd type="none" w="med" len="med"/>
                    </a:lnL>
                    <a:lnR w="3848" cap="flat" cmpd="sng" algn="ctr">
                      <a:solidFill>
                        <a:srgbClr val="800170"/>
                      </a:solidFill>
                      <a:prstDash val="solid"/>
                      <a:round/>
                      <a:headEnd type="none" w="med" len="med"/>
                      <a:tailEnd type="none" w="med" len="med"/>
                    </a:lnR>
                    <a:lnT w="3848" cap="flat" cmpd="sng" algn="ctr">
                      <a:solidFill>
                        <a:srgbClr val="D0182D"/>
                      </a:solidFill>
                      <a:prstDash val="solid"/>
                      <a:round/>
                      <a:headEnd type="none" w="med" len="med"/>
                      <a:tailEnd type="none" w="med" len="med"/>
                    </a:lnT>
                    <a:lnB w="3848" cap="flat" cmpd="sng" algn="ctr">
                      <a:solidFill>
                        <a:srgbClr val="E0262D"/>
                      </a:solidFill>
                      <a:prstDash val="solid"/>
                      <a:round/>
                      <a:headEnd type="none" w="med" len="med"/>
                      <a:tailEnd type="none" w="med" len="med"/>
                    </a:lnB>
                    <a:solidFill>
                      <a:srgbClr val="FFFFFF"/>
                    </a:solidFill>
                  </a:tcPr>
                </a:tc>
                <a:extLst>
                  <a:ext uri="{0D108BD9-81ED-4DB2-BD59-A6C34878D82A}">
                    <a16:rowId xmlns:a16="http://schemas.microsoft.com/office/drawing/2014/main" val="1666750886"/>
                  </a:ext>
                </a:extLst>
              </a:tr>
              <a:tr h="665228">
                <a:tc>
                  <a:txBody>
                    <a:bodyPr/>
                    <a:lstStyle/>
                    <a:p>
                      <a:pPr algn="ctr"/>
                      <a:r>
                        <a:rPr lang="zh-CN" altLang="en-US" b="0">
                          <a:effectLst/>
                        </a:rPr>
                        <a:t>差分回声轮廓</a:t>
                      </a:r>
                    </a:p>
                  </a:txBody>
                  <a:tcPr marL="114300" marR="114300" marT="76200" marB="76200" anchor="ctr">
                    <a:lnL w="3848" cap="flat" cmpd="sng" algn="ctr">
                      <a:solidFill>
                        <a:srgbClr val="203E70"/>
                      </a:solidFill>
                      <a:prstDash val="solid"/>
                      <a:round/>
                      <a:headEnd type="none" w="med" len="med"/>
                      <a:tailEnd type="none" w="med" len="med"/>
                    </a:lnL>
                    <a:lnR w="3848" cap="flat" cmpd="sng" algn="ctr">
                      <a:solidFill>
                        <a:srgbClr val="005670"/>
                      </a:solidFill>
                      <a:prstDash val="solid"/>
                      <a:round/>
                      <a:headEnd type="none" w="med" len="med"/>
                      <a:tailEnd type="none" w="med" len="med"/>
                    </a:lnR>
                    <a:lnT w="3848" cap="flat" cmpd="sng" algn="ctr">
                      <a:solidFill>
                        <a:srgbClr val="803E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tc>
                  <a:txBody>
                    <a:bodyPr/>
                    <a:lstStyle/>
                    <a:p>
                      <a:pPr algn="ctr"/>
                      <a:r>
                        <a:rPr lang="zh-CN" altLang="en-US" b="0">
                          <a:effectLst/>
                        </a:rPr>
                        <a:t>当前回声帧 </a:t>
                      </a:r>
                      <a:r>
                        <a:rPr lang="en-US" altLang="zh-CN" b="0">
                          <a:effectLst/>
                        </a:rPr>
                        <a:t>- </a:t>
                      </a:r>
                      <a:r>
                        <a:rPr lang="zh-CN" altLang="en-US" b="0">
                          <a:effectLst/>
                        </a:rPr>
                        <a:t>前一个回声帧</a:t>
                      </a:r>
                    </a:p>
                  </a:txBody>
                  <a:tcPr marL="114300" marR="114300" marT="76200" marB="76200" anchor="ctr">
                    <a:lnL w="3848" cap="flat" cmpd="sng" algn="ctr">
                      <a:solidFill>
                        <a:srgbClr val="005670"/>
                      </a:solidFill>
                      <a:prstDash val="solid"/>
                      <a:round/>
                      <a:headEnd type="none" w="med" len="med"/>
                      <a:tailEnd type="none" w="med" len="med"/>
                    </a:lnL>
                    <a:lnR w="3848" cap="flat" cmpd="sng" algn="ctr">
                      <a:solidFill>
                        <a:srgbClr val="602B70"/>
                      </a:solidFill>
                      <a:prstDash val="solid"/>
                      <a:round/>
                      <a:headEnd type="none" w="med" len="med"/>
                      <a:tailEnd type="none" w="med" len="med"/>
                    </a:lnR>
                    <a:lnT w="3848" cap="flat" cmpd="sng" algn="ctr">
                      <a:solidFill>
                        <a:srgbClr val="E03F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tc>
                  <a:txBody>
                    <a:bodyPr/>
                    <a:lstStyle/>
                    <a:p>
                      <a:pPr algn="ctr"/>
                      <a:r>
                        <a:rPr lang="zh-CN" altLang="en-US" b="0" dirty="0">
                          <a:effectLst/>
                        </a:rPr>
                        <a:t>放大回声帧间的变化（手部姿态动态）</a:t>
                      </a:r>
                    </a:p>
                  </a:txBody>
                  <a:tcPr marL="114300" marR="114300" marT="76200" marB="76200" anchor="ctr">
                    <a:lnL w="3848" cap="flat" cmpd="sng" algn="ctr">
                      <a:solidFill>
                        <a:srgbClr val="602B70"/>
                      </a:solidFill>
                      <a:prstDash val="solid"/>
                      <a:round/>
                      <a:headEnd type="none" w="med" len="med"/>
                      <a:tailEnd type="none" w="med" len="med"/>
                    </a:lnL>
                    <a:lnR w="3848" cap="flat" cmpd="sng" algn="ctr">
                      <a:solidFill>
                        <a:srgbClr val="200170"/>
                      </a:solidFill>
                      <a:prstDash val="solid"/>
                      <a:round/>
                      <a:headEnd type="none" w="med" len="med"/>
                      <a:tailEnd type="none" w="med" len="med"/>
                    </a:lnR>
                    <a:lnT w="3848" cap="flat" cmpd="sng" algn="ctr">
                      <a:solidFill>
                        <a:srgbClr val="E0262D"/>
                      </a:solidFill>
                      <a:prstDash val="solid"/>
                      <a:round/>
                      <a:headEnd type="none" w="med" len="med"/>
                      <a:tailEnd type="none" w="med" len="med"/>
                    </a:lnT>
                    <a:lnB w="3848" cap="flat" cmpd="sng" algn="ctr">
                      <a:solidFill>
                        <a:srgbClr val="800170"/>
                      </a:solidFill>
                      <a:prstDash val="solid"/>
                      <a:round/>
                      <a:headEnd type="none" w="med" len="med"/>
                      <a:tailEnd type="none" w="med" len="med"/>
                    </a:lnB>
                    <a:solidFill>
                      <a:srgbClr val="FFFFFF"/>
                    </a:solidFill>
                  </a:tcPr>
                </a:tc>
                <a:extLst>
                  <a:ext uri="{0D108BD9-81ED-4DB2-BD59-A6C34878D82A}">
                    <a16:rowId xmlns:a16="http://schemas.microsoft.com/office/drawing/2014/main" val="4271623581"/>
                  </a:ext>
                </a:extLst>
              </a:tr>
            </a:tbl>
          </a:graphicData>
        </a:graphic>
      </p:graphicFrame>
    </p:spTree>
    <p:extLst>
      <p:ext uri="{BB962C8B-B14F-4D97-AF65-F5344CB8AC3E}">
        <p14:creationId xmlns:p14="http://schemas.microsoft.com/office/powerpoint/2010/main" val="4043156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5F48D7B-0E1E-4E19-B744-568EE78A8CAF}"/>
              </a:ext>
            </a:extLst>
          </p:cNvPr>
          <p:cNvSpPr txBox="1"/>
          <p:nvPr/>
        </p:nvSpPr>
        <p:spPr>
          <a:xfrm>
            <a:off x="138529" y="923765"/>
            <a:ext cx="6094070" cy="461665"/>
          </a:xfrm>
          <a:prstGeom prst="rect">
            <a:avLst/>
          </a:prstGeom>
          <a:noFill/>
        </p:spPr>
        <p:txBody>
          <a:bodyPr wrap="square">
            <a:spAutoFit/>
          </a:bodyPr>
          <a:lstStyle/>
          <a:p>
            <a:r>
              <a:rPr lang="en-US" altLang="zh-CN" sz="2400" b="1" dirty="0">
                <a:latin typeface="+mj-ea"/>
                <a:ea typeface="+mj-ea"/>
              </a:rPr>
              <a:t>Ring-a-Pose</a:t>
            </a:r>
            <a:r>
              <a:rPr lang="zh-CN" altLang="en-US" sz="2400" b="1" dirty="0">
                <a:latin typeface="+mj-ea"/>
                <a:ea typeface="+mj-ea"/>
              </a:rPr>
              <a:t>的回声轮廓</a:t>
            </a:r>
          </a:p>
        </p:txBody>
      </p:sp>
      <p:sp>
        <p:nvSpPr>
          <p:cNvPr id="14" name="文本框 13">
            <a:extLst>
              <a:ext uri="{FF2B5EF4-FFF2-40B4-BE49-F238E27FC236}">
                <a16:creationId xmlns:a16="http://schemas.microsoft.com/office/drawing/2014/main" id="{CD92F116-ACAF-4007-AFE4-0ADF6B86E866}"/>
              </a:ext>
            </a:extLst>
          </p:cNvPr>
          <p:cNvSpPr txBox="1"/>
          <p:nvPr/>
        </p:nvSpPr>
        <p:spPr>
          <a:xfrm>
            <a:off x="6952687" y="1116956"/>
            <a:ext cx="11953754" cy="369332"/>
          </a:xfrm>
          <a:prstGeom prst="rect">
            <a:avLst/>
          </a:prstGeom>
          <a:noFill/>
        </p:spPr>
        <p:txBody>
          <a:bodyPr wrap="square">
            <a:spAutoFit/>
          </a:bodyPr>
          <a:lstStyle/>
          <a:p>
            <a:endParaRPr lang="zh-CN" altLang="en-US" dirty="0"/>
          </a:p>
        </p:txBody>
      </p:sp>
      <p:pic>
        <p:nvPicPr>
          <p:cNvPr id="16" name="图片 15">
            <a:extLst>
              <a:ext uri="{FF2B5EF4-FFF2-40B4-BE49-F238E27FC236}">
                <a16:creationId xmlns:a16="http://schemas.microsoft.com/office/drawing/2014/main" id="{286B82EE-C1C9-4D63-8766-1E1DCED4B346}"/>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A025F402-BE58-427D-9C9F-154E29284F6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组合 17">
            <a:extLst>
              <a:ext uri="{FF2B5EF4-FFF2-40B4-BE49-F238E27FC236}">
                <a16:creationId xmlns:a16="http://schemas.microsoft.com/office/drawing/2014/main" id="{AF60FDFA-650E-40A4-8FC2-C70CA691DCA7}"/>
              </a:ext>
            </a:extLst>
          </p:cNvPr>
          <p:cNvGrpSpPr/>
          <p:nvPr/>
        </p:nvGrpSpPr>
        <p:grpSpPr>
          <a:xfrm>
            <a:off x="138529" y="112812"/>
            <a:ext cx="2674119" cy="593131"/>
            <a:chOff x="1019925" y="1507764"/>
            <a:chExt cx="2674119" cy="593131"/>
          </a:xfrm>
        </p:grpSpPr>
        <p:sp>
          <p:nvSpPr>
            <p:cNvPr id="19" name="文本框 18">
              <a:extLst>
                <a:ext uri="{FF2B5EF4-FFF2-40B4-BE49-F238E27FC236}">
                  <a16:creationId xmlns:a16="http://schemas.microsoft.com/office/drawing/2014/main" id="{43015BB9-34FB-41DF-8B5C-16979777D938}"/>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20" name="图片 19">
              <a:extLst>
                <a:ext uri="{FF2B5EF4-FFF2-40B4-BE49-F238E27FC236}">
                  <a16:creationId xmlns:a16="http://schemas.microsoft.com/office/drawing/2014/main" id="{BD7390C9-4560-4847-B3F1-56300D7E67E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1" name="图片 20">
            <a:extLst>
              <a:ext uri="{FF2B5EF4-FFF2-40B4-BE49-F238E27FC236}">
                <a16:creationId xmlns:a16="http://schemas.microsoft.com/office/drawing/2014/main" id="{7D2D0F4F-74EF-4E2E-BA75-D43CD62D4EDA}"/>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3" name="文本框 22">
            <a:extLst>
              <a:ext uri="{FF2B5EF4-FFF2-40B4-BE49-F238E27FC236}">
                <a16:creationId xmlns:a16="http://schemas.microsoft.com/office/drawing/2014/main" id="{9C04505D-E5BE-4277-850E-6FDC488F36AB}"/>
              </a:ext>
            </a:extLst>
          </p:cNvPr>
          <p:cNvSpPr txBox="1"/>
          <p:nvPr/>
        </p:nvSpPr>
        <p:spPr>
          <a:xfrm>
            <a:off x="1059208" y="1729760"/>
            <a:ext cx="4635622" cy="400110"/>
          </a:xfrm>
          <a:prstGeom prst="rect">
            <a:avLst/>
          </a:prstGeom>
          <a:noFill/>
        </p:spPr>
        <p:txBody>
          <a:bodyPr wrap="square">
            <a:spAutoFit/>
          </a:bodyPr>
          <a:lstStyle/>
          <a:p>
            <a:pPr algn="l"/>
            <a:r>
              <a:rPr lang="zh-CN" altLang="en-US" sz="2000" b="1" i="0" dirty="0">
                <a:solidFill>
                  <a:srgbClr val="000000"/>
                </a:solidFill>
                <a:effectLst/>
                <a:latin typeface="+mj-ea"/>
                <a:ea typeface="+mj-ea"/>
              </a:rPr>
              <a:t>戒指形态的传感挑战</a:t>
            </a:r>
          </a:p>
        </p:txBody>
      </p:sp>
      <p:sp>
        <p:nvSpPr>
          <p:cNvPr id="24" name="文本框 23">
            <a:extLst>
              <a:ext uri="{FF2B5EF4-FFF2-40B4-BE49-F238E27FC236}">
                <a16:creationId xmlns:a16="http://schemas.microsoft.com/office/drawing/2014/main" id="{F9A7175D-B516-46DE-81BA-F0719EB044B4}"/>
              </a:ext>
            </a:extLst>
          </p:cNvPr>
          <p:cNvSpPr txBox="1"/>
          <p:nvPr/>
        </p:nvSpPr>
        <p:spPr>
          <a:xfrm>
            <a:off x="7023529" y="1729760"/>
            <a:ext cx="12884150" cy="400110"/>
          </a:xfrm>
          <a:prstGeom prst="rect">
            <a:avLst/>
          </a:prstGeom>
          <a:noFill/>
        </p:spPr>
        <p:txBody>
          <a:bodyPr wrap="square">
            <a:spAutoFit/>
          </a:bodyPr>
          <a:lstStyle/>
          <a:p>
            <a:pPr algn="l"/>
            <a:r>
              <a:rPr lang="zh-CN" altLang="en-US" sz="2000" b="1" dirty="0">
                <a:solidFill>
                  <a:srgbClr val="000000"/>
                </a:solidFill>
                <a:latin typeface="+mj-ea"/>
                <a:ea typeface="+mj-ea"/>
              </a:rPr>
              <a:t>回声轮廓的解决方案</a:t>
            </a:r>
          </a:p>
        </p:txBody>
      </p:sp>
      <p:sp>
        <p:nvSpPr>
          <p:cNvPr id="26" name="文本框 25">
            <a:extLst>
              <a:ext uri="{FF2B5EF4-FFF2-40B4-BE49-F238E27FC236}">
                <a16:creationId xmlns:a16="http://schemas.microsoft.com/office/drawing/2014/main" id="{55AE3781-934E-42D8-AFF3-F5244D3FF72D}"/>
              </a:ext>
            </a:extLst>
          </p:cNvPr>
          <p:cNvSpPr txBox="1"/>
          <p:nvPr/>
        </p:nvSpPr>
        <p:spPr>
          <a:xfrm>
            <a:off x="331013" y="2441292"/>
            <a:ext cx="5501895" cy="1294970"/>
          </a:xfrm>
          <a:prstGeom prst="rect">
            <a:avLst/>
          </a:prstGeom>
          <a:noFill/>
        </p:spPr>
        <p:txBody>
          <a:bodyPr wrap="square">
            <a:spAutoFit/>
          </a:bodyPr>
          <a:lstStyle/>
          <a:p>
            <a:pPr algn="l">
              <a:lnSpc>
                <a:spcPct val="150000"/>
              </a:lnSpc>
            </a:pPr>
            <a:r>
              <a:rPr lang="zh-CN" altLang="en-US" b="0" i="0" dirty="0">
                <a:solidFill>
                  <a:srgbClr val="000000"/>
                </a:solidFill>
                <a:effectLst/>
                <a:latin typeface="Inter"/>
              </a:rPr>
              <a:t>戒指面临 </a:t>
            </a:r>
            <a:r>
              <a:rPr lang="en-US" altLang="zh-CN" b="0" i="0" dirty="0">
                <a:solidFill>
                  <a:srgbClr val="000000"/>
                </a:solidFill>
                <a:effectLst/>
                <a:latin typeface="Inter"/>
              </a:rPr>
              <a:t>2 </a:t>
            </a:r>
            <a:r>
              <a:rPr lang="zh-CN" altLang="en-US" b="0" i="0" dirty="0">
                <a:solidFill>
                  <a:srgbClr val="000000"/>
                </a:solidFill>
                <a:effectLst/>
                <a:latin typeface="Inter"/>
              </a:rPr>
              <a:t>个</a:t>
            </a:r>
            <a:r>
              <a:rPr lang="zh-CN" altLang="en-US" b="1" i="0" dirty="0">
                <a:solidFill>
                  <a:srgbClr val="000000"/>
                </a:solidFill>
                <a:effectLst/>
                <a:latin typeface="Inter"/>
              </a:rPr>
              <a:t>核心难题</a:t>
            </a:r>
            <a:r>
              <a:rPr lang="zh-CN" altLang="en-US" b="0" i="0" dirty="0">
                <a:solidFill>
                  <a:srgbClr val="000000"/>
                </a:solidFill>
                <a:effectLst/>
                <a:latin typeface="Inter"/>
              </a:rPr>
              <a:t>：</a:t>
            </a:r>
          </a:p>
          <a:p>
            <a:pPr marL="285750" indent="-285750" algn="l">
              <a:lnSpc>
                <a:spcPct val="150000"/>
              </a:lnSpc>
              <a:buFont typeface="Arial" panose="020B0604020202020204" pitchFamily="34" charset="0"/>
              <a:buChar char="•"/>
            </a:pPr>
            <a:r>
              <a:rPr lang="zh-CN" altLang="en-US" b="0" i="0" dirty="0">
                <a:solidFill>
                  <a:srgbClr val="000000"/>
                </a:solidFill>
                <a:effectLst/>
                <a:latin typeface="Inter"/>
              </a:rPr>
              <a:t>物理空间有限 → 电子元件少，传感信息不足；</a:t>
            </a:r>
            <a:endParaRPr lang="en-US" altLang="zh-CN" b="0" i="0" dirty="0">
              <a:solidFill>
                <a:srgbClr val="000000"/>
              </a:solidFill>
              <a:effectLst/>
              <a:latin typeface="Inter"/>
            </a:endParaRPr>
          </a:p>
          <a:p>
            <a:pPr marL="285750" indent="-285750" algn="l">
              <a:lnSpc>
                <a:spcPct val="150000"/>
              </a:lnSpc>
              <a:buFont typeface="Arial" panose="020B0604020202020204" pitchFamily="34" charset="0"/>
              <a:buChar char="•"/>
            </a:pPr>
            <a:r>
              <a:rPr lang="zh-CN" altLang="en-US" b="0" i="0" dirty="0">
                <a:solidFill>
                  <a:srgbClr val="000000"/>
                </a:solidFill>
                <a:effectLst/>
                <a:latin typeface="Inter"/>
              </a:rPr>
              <a:t>手指运动易遮挡传感器 → 阻碍信号接收。</a:t>
            </a:r>
          </a:p>
        </p:txBody>
      </p:sp>
      <p:sp>
        <p:nvSpPr>
          <p:cNvPr id="27" name="文本框 26">
            <a:extLst>
              <a:ext uri="{FF2B5EF4-FFF2-40B4-BE49-F238E27FC236}">
                <a16:creationId xmlns:a16="http://schemas.microsoft.com/office/drawing/2014/main" id="{A9986DC2-97ED-40B1-A3C2-2BA34E9317C8}"/>
              </a:ext>
            </a:extLst>
          </p:cNvPr>
          <p:cNvSpPr txBox="1"/>
          <p:nvPr/>
        </p:nvSpPr>
        <p:spPr>
          <a:xfrm>
            <a:off x="6232599" y="2441292"/>
            <a:ext cx="5818230" cy="1710468"/>
          </a:xfrm>
          <a:prstGeom prst="rect">
            <a:avLst/>
          </a:prstGeom>
          <a:noFill/>
        </p:spPr>
        <p:txBody>
          <a:bodyPr wrap="square">
            <a:spAutoFit/>
          </a:bodyPr>
          <a:lstStyle/>
          <a:p>
            <a:pPr algn="l">
              <a:lnSpc>
                <a:spcPct val="150000"/>
              </a:lnSpc>
            </a:pPr>
            <a:r>
              <a:rPr lang="zh-CN" altLang="en-US" b="0" i="0" dirty="0">
                <a:solidFill>
                  <a:srgbClr val="000000"/>
                </a:solidFill>
                <a:effectLst/>
                <a:latin typeface="Inter"/>
              </a:rPr>
              <a:t>通过 “原始 </a:t>
            </a:r>
            <a:r>
              <a:rPr lang="en-US" altLang="zh-CN" b="0" i="0" dirty="0">
                <a:solidFill>
                  <a:srgbClr val="000000"/>
                </a:solidFill>
                <a:effectLst/>
                <a:latin typeface="Inter"/>
              </a:rPr>
              <a:t>+ </a:t>
            </a:r>
            <a:r>
              <a:rPr lang="zh-CN" altLang="en-US" b="0" i="0" dirty="0">
                <a:solidFill>
                  <a:srgbClr val="000000"/>
                </a:solidFill>
                <a:effectLst/>
                <a:latin typeface="Inter"/>
              </a:rPr>
              <a:t>差分” 回声轮廓</a:t>
            </a:r>
            <a:r>
              <a:rPr lang="zh-CN" altLang="en-US" b="1" i="0" dirty="0">
                <a:solidFill>
                  <a:srgbClr val="000000"/>
                </a:solidFill>
                <a:effectLst/>
                <a:latin typeface="Inter"/>
              </a:rPr>
              <a:t>高效互</a:t>
            </a:r>
            <a:r>
              <a:rPr lang="zh-CN" altLang="en-US" b="0" i="0" dirty="0">
                <a:solidFill>
                  <a:srgbClr val="000000"/>
                </a:solidFill>
                <a:effectLst/>
                <a:latin typeface="Inter"/>
              </a:rPr>
              <a:t>补：</a:t>
            </a:r>
          </a:p>
          <a:p>
            <a:pPr marL="285750" indent="-285750" algn="l">
              <a:lnSpc>
                <a:spcPct val="150000"/>
              </a:lnSpc>
              <a:buFont typeface="Arial" panose="020B0604020202020204" pitchFamily="34" charset="0"/>
              <a:buChar char="•"/>
            </a:pPr>
            <a:r>
              <a:rPr lang="zh-CN" altLang="en-US" b="0" i="0" dirty="0">
                <a:solidFill>
                  <a:srgbClr val="000000"/>
                </a:solidFill>
                <a:effectLst/>
                <a:latin typeface="Inter"/>
              </a:rPr>
              <a:t>原始轮廓：编码手指位置信息（静态姿态）；</a:t>
            </a:r>
          </a:p>
          <a:p>
            <a:pPr marL="285750" indent="-285750" algn="l">
              <a:lnSpc>
                <a:spcPct val="150000"/>
              </a:lnSpc>
              <a:buFont typeface="Arial" panose="020B0604020202020204" pitchFamily="34" charset="0"/>
              <a:buChar char="•"/>
            </a:pPr>
            <a:r>
              <a:rPr lang="zh-CN" altLang="en-US" b="0" i="0" dirty="0">
                <a:solidFill>
                  <a:srgbClr val="000000"/>
                </a:solidFill>
                <a:effectLst/>
                <a:latin typeface="Inter"/>
              </a:rPr>
              <a:t>差分轮廓：放大手部形状的运动变化（动态姿态）；</a:t>
            </a:r>
          </a:p>
          <a:p>
            <a:pPr algn="l">
              <a:lnSpc>
                <a:spcPct val="150000"/>
              </a:lnSpc>
            </a:pPr>
            <a:r>
              <a:rPr lang="zh-CN" altLang="en-US" b="0" i="0" dirty="0">
                <a:solidFill>
                  <a:srgbClr val="000000"/>
                </a:solidFill>
                <a:effectLst/>
                <a:latin typeface="Inter"/>
              </a:rPr>
              <a:t>两者结合，</a:t>
            </a:r>
            <a:r>
              <a:rPr lang="zh-CN" altLang="en-US" b="1" i="0" dirty="0">
                <a:solidFill>
                  <a:srgbClr val="000000"/>
                </a:solidFill>
                <a:effectLst/>
                <a:latin typeface="Inter"/>
              </a:rPr>
              <a:t>仅用单个传感点即可实现 </a:t>
            </a:r>
            <a:r>
              <a:rPr lang="en-US" altLang="zh-CN" b="1" i="0" dirty="0">
                <a:solidFill>
                  <a:srgbClr val="000000"/>
                </a:solidFill>
                <a:effectLst/>
                <a:latin typeface="Inter"/>
              </a:rPr>
              <a:t>3D </a:t>
            </a:r>
            <a:r>
              <a:rPr lang="zh-CN" altLang="en-US" b="1" i="0" dirty="0">
                <a:solidFill>
                  <a:srgbClr val="000000"/>
                </a:solidFill>
                <a:effectLst/>
                <a:latin typeface="Inter"/>
              </a:rPr>
              <a:t>手部姿态追踪</a:t>
            </a:r>
            <a:r>
              <a:rPr lang="zh-CN" altLang="en-US" b="0" i="0" dirty="0">
                <a:solidFill>
                  <a:srgbClr val="000000"/>
                </a:solidFill>
                <a:effectLst/>
                <a:latin typeface="Inter"/>
              </a:rPr>
              <a:t>。</a:t>
            </a:r>
          </a:p>
        </p:txBody>
      </p:sp>
      <p:pic>
        <p:nvPicPr>
          <p:cNvPr id="29" name="图片 28">
            <a:extLst>
              <a:ext uri="{FF2B5EF4-FFF2-40B4-BE49-F238E27FC236}">
                <a16:creationId xmlns:a16="http://schemas.microsoft.com/office/drawing/2014/main" id="{211EEF89-1252-4474-AD22-17C6AB933DC4}"/>
              </a:ext>
            </a:extLst>
          </p:cNvPr>
          <p:cNvPicPr>
            <a:picLocks noChangeAspect="1"/>
          </p:cNvPicPr>
          <p:nvPr/>
        </p:nvPicPr>
        <p:blipFill rotWithShape="1">
          <a:blip r:embed="rId6">
            <a:extLst>
              <a:ext uri="{28A0092B-C50C-407E-A947-70E740481C1C}">
                <a14:useLocalDpi xmlns:a14="http://schemas.microsoft.com/office/drawing/2010/main" val="0"/>
              </a:ext>
            </a:extLst>
          </a:blip>
          <a:srcRect r="87172" b="44532"/>
          <a:stretch/>
        </p:blipFill>
        <p:spPr>
          <a:xfrm>
            <a:off x="1715593" y="3854038"/>
            <a:ext cx="1366367" cy="2191538"/>
          </a:xfrm>
          <a:prstGeom prst="rect">
            <a:avLst/>
          </a:prstGeom>
        </p:spPr>
      </p:pic>
      <p:pic>
        <p:nvPicPr>
          <p:cNvPr id="30" name="图片 29">
            <a:extLst>
              <a:ext uri="{FF2B5EF4-FFF2-40B4-BE49-F238E27FC236}">
                <a16:creationId xmlns:a16="http://schemas.microsoft.com/office/drawing/2014/main" id="{31B27735-EC6C-48C9-900F-09A37DCDD809}"/>
              </a:ext>
            </a:extLst>
          </p:cNvPr>
          <p:cNvPicPr>
            <a:picLocks noChangeAspect="1"/>
          </p:cNvPicPr>
          <p:nvPr/>
        </p:nvPicPr>
        <p:blipFill rotWithShape="1">
          <a:blip r:embed="rId6">
            <a:extLst>
              <a:ext uri="{28A0092B-C50C-407E-A947-70E740481C1C}">
                <a14:useLocalDpi xmlns:a14="http://schemas.microsoft.com/office/drawing/2010/main" val="0"/>
              </a:ext>
            </a:extLst>
          </a:blip>
          <a:srcRect l="13799" r="62976" b="44350"/>
          <a:stretch/>
        </p:blipFill>
        <p:spPr>
          <a:xfrm>
            <a:off x="7567434" y="4151760"/>
            <a:ext cx="2473693" cy="2198707"/>
          </a:xfrm>
          <a:prstGeom prst="rect">
            <a:avLst/>
          </a:prstGeom>
        </p:spPr>
      </p:pic>
    </p:spTree>
    <p:extLst>
      <p:ext uri="{BB962C8B-B14F-4D97-AF65-F5344CB8AC3E}">
        <p14:creationId xmlns:p14="http://schemas.microsoft.com/office/powerpoint/2010/main" val="18946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5F48D7B-0E1E-4E19-B744-568EE78A8CAF}"/>
              </a:ext>
            </a:extLst>
          </p:cNvPr>
          <p:cNvSpPr txBox="1"/>
          <p:nvPr/>
        </p:nvSpPr>
        <p:spPr>
          <a:xfrm>
            <a:off x="138529" y="923765"/>
            <a:ext cx="6094070" cy="461665"/>
          </a:xfrm>
          <a:prstGeom prst="rect">
            <a:avLst/>
          </a:prstGeom>
          <a:noFill/>
        </p:spPr>
        <p:txBody>
          <a:bodyPr wrap="square">
            <a:spAutoFit/>
          </a:bodyPr>
          <a:lstStyle/>
          <a:p>
            <a:r>
              <a:rPr lang="en-US" altLang="zh-CN" sz="2400" b="1" dirty="0">
                <a:latin typeface="+mj-ea"/>
                <a:ea typeface="+mj-ea"/>
              </a:rPr>
              <a:t>Ring-a-Pose</a:t>
            </a:r>
            <a:r>
              <a:rPr lang="zh-CN" altLang="en-US" sz="2400" b="1" dirty="0">
                <a:latin typeface="+mj-ea"/>
                <a:ea typeface="+mj-ea"/>
              </a:rPr>
              <a:t>的回声轮廓</a:t>
            </a:r>
          </a:p>
        </p:txBody>
      </p:sp>
      <p:sp>
        <p:nvSpPr>
          <p:cNvPr id="14" name="文本框 13">
            <a:extLst>
              <a:ext uri="{FF2B5EF4-FFF2-40B4-BE49-F238E27FC236}">
                <a16:creationId xmlns:a16="http://schemas.microsoft.com/office/drawing/2014/main" id="{CD92F116-ACAF-4007-AFE4-0ADF6B86E866}"/>
              </a:ext>
            </a:extLst>
          </p:cNvPr>
          <p:cNvSpPr txBox="1"/>
          <p:nvPr/>
        </p:nvSpPr>
        <p:spPr>
          <a:xfrm>
            <a:off x="6952687" y="1116956"/>
            <a:ext cx="11953754" cy="369332"/>
          </a:xfrm>
          <a:prstGeom prst="rect">
            <a:avLst/>
          </a:prstGeom>
          <a:noFill/>
        </p:spPr>
        <p:txBody>
          <a:bodyPr wrap="square">
            <a:spAutoFit/>
          </a:bodyPr>
          <a:lstStyle/>
          <a:p>
            <a:endParaRPr lang="zh-CN" altLang="en-US" dirty="0"/>
          </a:p>
        </p:txBody>
      </p:sp>
      <p:pic>
        <p:nvPicPr>
          <p:cNvPr id="15" name="图片 14">
            <a:extLst>
              <a:ext uri="{FF2B5EF4-FFF2-40B4-BE49-F238E27FC236}">
                <a16:creationId xmlns:a16="http://schemas.microsoft.com/office/drawing/2014/main" id="{E2318645-23C9-4353-8B66-78DB2009E700}"/>
              </a:ext>
            </a:extLst>
          </p:cNvPr>
          <p:cNvPicPr>
            <a:picLocks noChangeAspect="1"/>
          </p:cNvPicPr>
          <p:nvPr/>
        </p:nvPicPr>
        <p:blipFill rotWithShape="1">
          <a:blip r:embed="rId3">
            <a:extLst>
              <a:ext uri="{28A0092B-C50C-407E-A947-70E740481C1C}">
                <a14:useLocalDpi xmlns:a14="http://schemas.microsoft.com/office/drawing/2010/main" val="0"/>
              </a:ext>
            </a:extLst>
          </a:blip>
          <a:srcRect b="23608"/>
          <a:stretch/>
        </p:blipFill>
        <p:spPr>
          <a:xfrm>
            <a:off x="818909" y="1857240"/>
            <a:ext cx="10183029" cy="3299264"/>
          </a:xfrm>
          <a:prstGeom prst="rect">
            <a:avLst/>
          </a:prstGeom>
        </p:spPr>
      </p:pic>
      <p:pic>
        <p:nvPicPr>
          <p:cNvPr id="16" name="图片 15">
            <a:extLst>
              <a:ext uri="{FF2B5EF4-FFF2-40B4-BE49-F238E27FC236}">
                <a16:creationId xmlns:a16="http://schemas.microsoft.com/office/drawing/2014/main" id="{286B82EE-C1C9-4D63-8766-1E1DCED4B34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A025F402-BE58-427D-9C9F-154E29284F6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组合 17">
            <a:extLst>
              <a:ext uri="{FF2B5EF4-FFF2-40B4-BE49-F238E27FC236}">
                <a16:creationId xmlns:a16="http://schemas.microsoft.com/office/drawing/2014/main" id="{AF60FDFA-650E-40A4-8FC2-C70CA691DCA7}"/>
              </a:ext>
            </a:extLst>
          </p:cNvPr>
          <p:cNvGrpSpPr/>
          <p:nvPr/>
        </p:nvGrpSpPr>
        <p:grpSpPr>
          <a:xfrm>
            <a:off x="138529" y="112812"/>
            <a:ext cx="2674119" cy="593131"/>
            <a:chOff x="1019925" y="1507764"/>
            <a:chExt cx="2674119" cy="593131"/>
          </a:xfrm>
        </p:grpSpPr>
        <p:sp>
          <p:nvSpPr>
            <p:cNvPr id="19" name="文本框 18">
              <a:extLst>
                <a:ext uri="{FF2B5EF4-FFF2-40B4-BE49-F238E27FC236}">
                  <a16:creationId xmlns:a16="http://schemas.microsoft.com/office/drawing/2014/main" id="{43015BB9-34FB-41DF-8B5C-16979777D938}"/>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传感原理</a:t>
              </a:r>
            </a:p>
          </p:txBody>
        </p:sp>
        <p:pic>
          <p:nvPicPr>
            <p:cNvPr id="20" name="图片 19">
              <a:extLst>
                <a:ext uri="{FF2B5EF4-FFF2-40B4-BE49-F238E27FC236}">
                  <a16:creationId xmlns:a16="http://schemas.microsoft.com/office/drawing/2014/main" id="{BD7390C9-4560-4847-B3F1-56300D7E67EC}"/>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1" name="图片 20">
            <a:extLst>
              <a:ext uri="{FF2B5EF4-FFF2-40B4-BE49-F238E27FC236}">
                <a16:creationId xmlns:a16="http://schemas.microsoft.com/office/drawing/2014/main" id="{7D2D0F4F-74EF-4E2E-BA75-D43CD62D4EDA}"/>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2" name="文本框 21">
            <a:extLst>
              <a:ext uri="{FF2B5EF4-FFF2-40B4-BE49-F238E27FC236}">
                <a16:creationId xmlns:a16="http://schemas.microsoft.com/office/drawing/2014/main" id="{FE70036D-CC8C-4EA4-BE95-B13F3D2968B4}"/>
              </a:ext>
            </a:extLst>
          </p:cNvPr>
          <p:cNvSpPr txBox="1"/>
          <p:nvPr/>
        </p:nvSpPr>
        <p:spPr>
          <a:xfrm>
            <a:off x="530024" y="5578422"/>
            <a:ext cx="6483752" cy="369332"/>
          </a:xfrm>
          <a:prstGeom prst="rect">
            <a:avLst/>
          </a:prstGeom>
          <a:noFill/>
        </p:spPr>
        <p:txBody>
          <a:bodyPr wrap="square">
            <a:spAutoFit/>
          </a:bodyPr>
          <a:lstStyle/>
          <a:p>
            <a:pPr algn="l"/>
            <a:r>
              <a:rPr lang="zh-CN" altLang="en-US" b="1" i="0" dirty="0">
                <a:solidFill>
                  <a:srgbClr val="000000"/>
                </a:solidFill>
                <a:effectLst/>
                <a:latin typeface="+mj-ea"/>
                <a:ea typeface="+mj-ea"/>
              </a:rPr>
              <a:t>关键优势</a:t>
            </a:r>
          </a:p>
        </p:txBody>
      </p:sp>
      <p:sp>
        <p:nvSpPr>
          <p:cNvPr id="27" name="文本框 26">
            <a:extLst>
              <a:ext uri="{FF2B5EF4-FFF2-40B4-BE49-F238E27FC236}">
                <a16:creationId xmlns:a16="http://schemas.microsoft.com/office/drawing/2014/main" id="{4DF78DA3-10B8-460A-A6F8-FD9DBCE78E30}"/>
              </a:ext>
            </a:extLst>
          </p:cNvPr>
          <p:cNvSpPr txBox="1"/>
          <p:nvPr/>
        </p:nvSpPr>
        <p:spPr>
          <a:xfrm>
            <a:off x="1991049" y="1595630"/>
            <a:ext cx="1413219" cy="523220"/>
          </a:xfrm>
          <a:prstGeom prst="rect">
            <a:avLst/>
          </a:prstGeom>
          <a:noFill/>
        </p:spPr>
        <p:txBody>
          <a:bodyPr wrap="square">
            <a:spAutoFit/>
          </a:bodyPr>
          <a:lstStyle/>
          <a:p>
            <a:r>
              <a:rPr lang="zh-CN" altLang="en-US" sz="1400" b="1" i="1" dirty="0">
                <a:solidFill>
                  <a:srgbClr val="FF0000"/>
                </a:solidFill>
              </a:rPr>
              <a:t>除内部球体外几乎没有反射</a:t>
            </a:r>
          </a:p>
        </p:txBody>
      </p:sp>
      <p:sp>
        <p:nvSpPr>
          <p:cNvPr id="28" name="文本框 27">
            <a:extLst>
              <a:ext uri="{FF2B5EF4-FFF2-40B4-BE49-F238E27FC236}">
                <a16:creationId xmlns:a16="http://schemas.microsoft.com/office/drawing/2014/main" id="{A6281054-CCC6-4C8B-937A-2D0364607F83}"/>
              </a:ext>
            </a:extLst>
          </p:cNvPr>
          <p:cNvSpPr txBox="1"/>
          <p:nvPr/>
        </p:nvSpPr>
        <p:spPr>
          <a:xfrm>
            <a:off x="4760091" y="1233162"/>
            <a:ext cx="4886024" cy="523220"/>
          </a:xfrm>
          <a:prstGeom prst="rect">
            <a:avLst/>
          </a:prstGeom>
          <a:noFill/>
        </p:spPr>
        <p:txBody>
          <a:bodyPr wrap="square">
            <a:spAutoFit/>
          </a:bodyPr>
          <a:lstStyle/>
          <a:p>
            <a:r>
              <a:rPr lang="zh-CN" altLang="en-US" sz="1400" b="1" i="1" dirty="0">
                <a:solidFill>
                  <a:srgbClr val="FF0000"/>
                </a:solidFill>
              </a:rPr>
              <a:t>两种相似的手部姿态，仅拇指姿态不同，因此它们的回声帧在视觉上相似，但深度学习模型能够区分。</a:t>
            </a:r>
          </a:p>
        </p:txBody>
      </p:sp>
      <p:sp>
        <p:nvSpPr>
          <p:cNvPr id="29" name="文本框 28">
            <a:extLst>
              <a:ext uri="{FF2B5EF4-FFF2-40B4-BE49-F238E27FC236}">
                <a16:creationId xmlns:a16="http://schemas.microsoft.com/office/drawing/2014/main" id="{464A9CD5-9CC2-4745-B6ED-CD9E97F1364A}"/>
              </a:ext>
            </a:extLst>
          </p:cNvPr>
          <p:cNvSpPr txBox="1"/>
          <p:nvPr/>
        </p:nvSpPr>
        <p:spPr>
          <a:xfrm>
            <a:off x="3771900" y="5207031"/>
            <a:ext cx="7614214" cy="307777"/>
          </a:xfrm>
          <a:prstGeom prst="rect">
            <a:avLst/>
          </a:prstGeom>
          <a:noFill/>
        </p:spPr>
        <p:txBody>
          <a:bodyPr wrap="square">
            <a:spAutoFit/>
          </a:bodyPr>
          <a:lstStyle/>
          <a:p>
            <a:r>
              <a:rPr lang="zh-CN" altLang="en-US" sz="1400" b="1" i="1" dirty="0">
                <a:solidFill>
                  <a:srgbClr val="FF0000"/>
                </a:solidFill>
              </a:rPr>
              <a:t>戒指大多被遮挡，都有很强的反射，但拇指和小指位置的细微差异导致回声帧不同</a:t>
            </a:r>
          </a:p>
        </p:txBody>
      </p:sp>
      <p:cxnSp>
        <p:nvCxnSpPr>
          <p:cNvPr id="30" name="直接箭头连接符 29">
            <a:extLst>
              <a:ext uri="{FF2B5EF4-FFF2-40B4-BE49-F238E27FC236}">
                <a16:creationId xmlns:a16="http://schemas.microsoft.com/office/drawing/2014/main" id="{D61FF956-42B1-4B82-A9CC-CA68C432FE46}"/>
              </a:ext>
            </a:extLst>
          </p:cNvPr>
          <p:cNvCxnSpPr>
            <a:cxnSpLocks/>
          </p:cNvCxnSpPr>
          <p:nvPr/>
        </p:nvCxnSpPr>
        <p:spPr>
          <a:xfrm>
            <a:off x="4826000" y="4876800"/>
            <a:ext cx="88900" cy="39222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D91BDDE-F060-477A-B284-ED501F0C437B}"/>
              </a:ext>
            </a:extLst>
          </p:cNvPr>
          <p:cNvCxnSpPr>
            <a:cxnSpLocks/>
          </p:cNvCxnSpPr>
          <p:nvPr/>
        </p:nvCxnSpPr>
        <p:spPr>
          <a:xfrm flipH="1" flipV="1">
            <a:off x="7729820" y="1701496"/>
            <a:ext cx="309280" cy="25540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2199A63-DE70-433C-9E47-F4EC210D2775}"/>
              </a:ext>
            </a:extLst>
          </p:cNvPr>
          <p:cNvCxnSpPr>
            <a:cxnSpLocks/>
          </p:cNvCxnSpPr>
          <p:nvPr/>
        </p:nvCxnSpPr>
        <p:spPr>
          <a:xfrm flipV="1">
            <a:off x="5623042" y="1702598"/>
            <a:ext cx="287381" cy="33974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9A895FE-0A93-4190-B957-0982E546AC86}"/>
              </a:ext>
            </a:extLst>
          </p:cNvPr>
          <p:cNvCxnSpPr>
            <a:cxnSpLocks/>
          </p:cNvCxnSpPr>
          <p:nvPr/>
        </p:nvCxnSpPr>
        <p:spPr>
          <a:xfrm flipH="1">
            <a:off x="8921991" y="4864838"/>
            <a:ext cx="704609" cy="40418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BD7AC074-B7C1-4057-9CC5-28E135E9642A}"/>
              </a:ext>
            </a:extLst>
          </p:cNvPr>
          <p:cNvSpPr txBox="1"/>
          <p:nvPr/>
        </p:nvSpPr>
        <p:spPr>
          <a:xfrm>
            <a:off x="912144" y="6000593"/>
            <a:ext cx="12725400" cy="646331"/>
          </a:xfrm>
          <a:prstGeom prst="rect">
            <a:avLst/>
          </a:prstGeom>
          <a:noFill/>
        </p:spPr>
        <p:txBody>
          <a:bodyPr wrap="square">
            <a:spAutoFit/>
          </a:bodyPr>
          <a:lstStyle/>
          <a:p>
            <a:r>
              <a:rPr lang="zh-CN" altLang="en-US" b="1" i="0" dirty="0">
                <a:solidFill>
                  <a:srgbClr val="000000"/>
                </a:solidFill>
                <a:effectLst/>
                <a:latin typeface="Inter"/>
              </a:rPr>
              <a:t>抗遮挡</a:t>
            </a:r>
            <a:r>
              <a:rPr lang="zh-CN" altLang="en-US" b="0" i="0" dirty="0">
                <a:solidFill>
                  <a:srgbClr val="000000"/>
                </a:solidFill>
                <a:effectLst/>
                <a:latin typeface="Inter"/>
              </a:rPr>
              <a:t>：</a:t>
            </a:r>
            <a:r>
              <a:rPr lang="zh-CN" altLang="en-US" sz="1800" dirty="0"/>
              <a:t>戒指的独特佩戴位置可将手部几何遮挡转化为有用且可重复的信息</a:t>
            </a:r>
            <a:endParaRPr lang="zh-CN" altLang="en-US" dirty="0"/>
          </a:p>
          <a:p>
            <a:pPr algn="l"/>
            <a:r>
              <a:rPr lang="zh-CN" altLang="en-US" b="1" i="0" dirty="0">
                <a:solidFill>
                  <a:srgbClr val="000000"/>
                </a:solidFill>
                <a:effectLst/>
                <a:latin typeface="Inter"/>
              </a:rPr>
              <a:t>用户无关性</a:t>
            </a:r>
            <a:r>
              <a:rPr lang="zh-CN" altLang="en-US" b="0" i="0" dirty="0">
                <a:solidFill>
                  <a:srgbClr val="000000"/>
                </a:solidFill>
                <a:effectLst/>
                <a:latin typeface="Inter"/>
              </a:rPr>
              <a:t>：依赖手部解剖结构的回声，不同用户相同姿态的回声轮廓相似，无需大量个性化训练。</a:t>
            </a:r>
          </a:p>
        </p:txBody>
      </p:sp>
    </p:spTree>
    <p:extLst>
      <p:ext uri="{BB962C8B-B14F-4D97-AF65-F5344CB8AC3E}">
        <p14:creationId xmlns:p14="http://schemas.microsoft.com/office/powerpoint/2010/main" val="4070879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21" name="图形 20">
            <a:extLst>
              <a:ext uri="{FF2B5EF4-FFF2-40B4-BE49-F238E27FC236}">
                <a16:creationId xmlns:a16="http://schemas.microsoft.com/office/drawing/2014/main" id="{D2FC081A-BC31-4B89-8DC3-78C0C3C9DD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34115" y="1691123"/>
            <a:ext cx="8203913" cy="5563798"/>
          </a:xfrm>
          <a:prstGeom prst="rect">
            <a:avLst/>
          </a:prstGeom>
        </p:spPr>
      </p:pic>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4" name="文本框 13">
            <a:extLst>
              <a:ext uri="{FF2B5EF4-FFF2-40B4-BE49-F238E27FC236}">
                <a16:creationId xmlns:a16="http://schemas.microsoft.com/office/drawing/2014/main" id="{77A5B489-D872-4F5D-A293-4D64850B2435}"/>
              </a:ext>
            </a:extLst>
          </p:cNvPr>
          <p:cNvSpPr txBox="1"/>
          <p:nvPr/>
        </p:nvSpPr>
        <p:spPr>
          <a:xfrm>
            <a:off x="138529" y="1329966"/>
            <a:ext cx="6094070" cy="461665"/>
          </a:xfrm>
          <a:prstGeom prst="rect">
            <a:avLst/>
          </a:prstGeom>
          <a:noFill/>
        </p:spPr>
        <p:txBody>
          <a:bodyPr wrap="square">
            <a:spAutoFit/>
          </a:bodyPr>
          <a:lstStyle/>
          <a:p>
            <a:r>
              <a:rPr lang="zh-CN" altLang="en-US" sz="2400" b="1" dirty="0">
                <a:latin typeface="+mj-ea"/>
                <a:ea typeface="+mj-ea"/>
              </a:rPr>
              <a:t>手部姿态真值获取</a:t>
            </a:r>
          </a:p>
        </p:txBody>
      </p:sp>
      <p:pic>
        <p:nvPicPr>
          <p:cNvPr id="17" name="图片 16">
            <a:extLst>
              <a:ext uri="{FF2B5EF4-FFF2-40B4-BE49-F238E27FC236}">
                <a16:creationId xmlns:a16="http://schemas.microsoft.com/office/drawing/2014/main" id="{FE4774F8-08EA-4A5C-8918-3AC1A40B3D54}"/>
              </a:ext>
            </a:extLst>
          </p:cNvPr>
          <p:cNvPicPr>
            <a:picLocks noChangeAspect="1"/>
          </p:cNvPicPr>
          <p:nvPr/>
        </p:nvPicPr>
        <p:blipFill rotWithShape="1">
          <a:blip r:embed="rId7">
            <a:extLst>
              <a:ext uri="{28A0092B-C50C-407E-A947-70E740481C1C}">
                <a14:useLocalDpi xmlns:a14="http://schemas.microsoft.com/office/drawing/2010/main" val="0"/>
              </a:ext>
            </a:extLst>
          </a:blip>
          <a:srcRect l="77612" r="2537" b="20086"/>
          <a:stretch/>
        </p:blipFill>
        <p:spPr>
          <a:xfrm>
            <a:off x="679070" y="3040869"/>
            <a:ext cx="2405825" cy="3236637"/>
          </a:xfrm>
          <a:prstGeom prst="rect">
            <a:avLst/>
          </a:prstGeom>
        </p:spPr>
      </p:pic>
      <p:sp>
        <p:nvSpPr>
          <p:cNvPr id="15" name="文本框 14">
            <a:extLst>
              <a:ext uri="{FF2B5EF4-FFF2-40B4-BE49-F238E27FC236}">
                <a16:creationId xmlns:a16="http://schemas.microsoft.com/office/drawing/2014/main" id="{83A217CF-6AB6-47E0-9932-C106F37325CA}"/>
              </a:ext>
            </a:extLst>
          </p:cNvPr>
          <p:cNvSpPr txBox="1"/>
          <p:nvPr/>
        </p:nvSpPr>
        <p:spPr>
          <a:xfrm>
            <a:off x="679070" y="878913"/>
            <a:ext cx="12451315" cy="369332"/>
          </a:xfrm>
          <a:prstGeom prst="rect">
            <a:avLst/>
          </a:prstGeom>
          <a:noFill/>
        </p:spPr>
        <p:txBody>
          <a:bodyPr wrap="square">
            <a:spAutoFit/>
          </a:bodyPr>
          <a:lstStyle/>
          <a:p>
            <a:pPr algn="l"/>
            <a:r>
              <a:rPr lang="zh-CN" altLang="en-US" b="0" i="0" dirty="0">
                <a:solidFill>
                  <a:srgbClr val="000000"/>
                </a:solidFill>
                <a:effectLst/>
                <a:latin typeface="Inter"/>
              </a:rPr>
              <a:t>以回声轮廓（编码反射 </a:t>
            </a:r>
            <a:r>
              <a:rPr lang="en-US" altLang="zh-CN" b="0" i="0" dirty="0">
                <a:solidFill>
                  <a:srgbClr val="000000"/>
                </a:solidFill>
                <a:effectLst/>
                <a:latin typeface="Inter"/>
              </a:rPr>
              <a:t>/ </a:t>
            </a:r>
            <a:r>
              <a:rPr lang="zh-CN" altLang="en-US" b="0" i="0" dirty="0">
                <a:solidFill>
                  <a:srgbClr val="000000"/>
                </a:solidFill>
                <a:effectLst/>
                <a:latin typeface="Inter"/>
              </a:rPr>
              <a:t>衍射强度的时空信息）为输入，结合数据增强技术，实现手部姿态 </a:t>
            </a:r>
            <a:r>
              <a:rPr lang="en-US" altLang="zh-CN" b="0" i="0" dirty="0">
                <a:solidFill>
                  <a:srgbClr val="000000"/>
                </a:solidFill>
                <a:effectLst/>
                <a:latin typeface="Inter"/>
              </a:rPr>
              <a:t>/ </a:t>
            </a:r>
            <a:r>
              <a:rPr lang="zh-CN" altLang="en-US" b="0" i="0" dirty="0">
                <a:solidFill>
                  <a:srgbClr val="000000"/>
                </a:solidFill>
                <a:effectLst/>
                <a:latin typeface="Inter"/>
              </a:rPr>
              <a:t>手势的预测。</a:t>
            </a:r>
          </a:p>
        </p:txBody>
      </p:sp>
      <p:sp>
        <p:nvSpPr>
          <p:cNvPr id="19" name="文本框 18">
            <a:extLst>
              <a:ext uri="{FF2B5EF4-FFF2-40B4-BE49-F238E27FC236}">
                <a16:creationId xmlns:a16="http://schemas.microsoft.com/office/drawing/2014/main" id="{AF558407-8953-4AF3-B2FF-A65068032197}"/>
              </a:ext>
            </a:extLst>
          </p:cNvPr>
          <p:cNvSpPr txBox="1"/>
          <p:nvPr/>
        </p:nvSpPr>
        <p:spPr>
          <a:xfrm>
            <a:off x="1683999" y="1892140"/>
            <a:ext cx="10612890" cy="707886"/>
          </a:xfrm>
          <a:prstGeom prst="rect">
            <a:avLst/>
          </a:prstGeom>
          <a:noFill/>
        </p:spPr>
        <p:txBody>
          <a:bodyPr wrap="square">
            <a:spAutoFit/>
          </a:bodyPr>
          <a:lstStyle/>
          <a:p>
            <a:pPr algn="l"/>
            <a:r>
              <a:rPr lang="zh-CN" altLang="en-US" sz="2000" b="0" i="0" dirty="0">
                <a:solidFill>
                  <a:srgbClr val="000000"/>
                </a:solidFill>
                <a:effectLst/>
                <a:latin typeface="Inter"/>
              </a:rPr>
              <a:t>采用 </a:t>
            </a:r>
            <a:r>
              <a:rPr lang="en-US" altLang="zh-CN" sz="2000" b="0" i="0" dirty="0" err="1">
                <a:solidFill>
                  <a:srgbClr val="000000"/>
                </a:solidFill>
                <a:effectLst/>
                <a:latin typeface="Inter"/>
              </a:rPr>
              <a:t>MediaPipe</a:t>
            </a:r>
            <a:r>
              <a:rPr lang="en-US" altLang="zh-CN" sz="2000" b="0" i="0" dirty="0">
                <a:solidFill>
                  <a:srgbClr val="000000"/>
                </a:solidFill>
                <a:effectLst/>
                <a:latin typeface="Inter"/>
              </a:rPr>
              <a:t> Hands </a:t>
            </a:r>
            <a:r>
              <a:rPr lang="zh-CN" altLang="en-US" sz="2000" b="0" i="0" dirty="0">
                <a:solidFill>
                  <a:srgbClr val="000000"/>
                </a:solidFill>
                <a:effectLst/>
                <a:latin typeface="Inter"/>
              </a:rPr>
              <a:t>获取手部关键点的 </a:t>
            </a:r>
            <a:r>
              <a:rPr lang="en-US" altLang="zh-CN" sz="2000" b="1" i="0" dirty="0">
                <a:solidFill>
                  <a:srgbClr val="000000"/>
                </a:solidFill>
                <a:effectLst/>
                <a:latin typeface="Inter"/>
              </a:rPr>
              <a:t>3D </a:t>
            </a:r>
            <a:r>
              <a:rPr lang="zh-CN" altLang="en-US" sz="2000" b="1" i="0" dirty="0">
                <a:solidFill>
                  <a:srgbClr val="000000"/>
                </a:solidFill>
                <a:effectLst/>
                <a:latin typeface="Inter"/>
              </a:rPr>
              <a:t>笛卡尔坐标</a:t>
            </a:r>
            <a:r>
              <a:rPr lang="en-US" altLang="zh-CN" sz="2000" b="1" i="0" dirty="0">
                <a:solidFill>
                  <a:srgbClr val="000000"/>
                </a:solidFill>
                <a:effectLst/>
                <a:latin typeface="Inter"/>
              </a:rPr>
              <a:t>;</a:t>
            </a:r>
          </a:p>
          <a:p>
            <a:pPr algn="l"/>
            <a:r>
              <a:rPr lang="zh-CN" altLang="en-US" sz="2000" b="0" i="0" dirty="0">
                <a:solidFill>
                  <a:srgbClr val="000000"/>
                </a:solidFill>
                <a:effectLst/>
                <a:latin typeface="Inter"/>
              </a:rPr>
              <a:t>将其余 </a:t>
            </a:r>
            <a:r>
              <a:rPr lang="en-US" altLang="zh-CN" sz="2000" b="0" i="0" dirty="0">
                <a:solidFill>
                  <a:srgbClr val="000000"/>
                </a:solidFill>
                <a:effectLst/>
                <a:latin typeface="Inter"/>
              </a:rPr>
              <a:t>20 </a:t>
            </a:r>
            <a:r>
              <a:rPr lang="zh-CN" altLang="en-US" sz="2000" b="0" i="0" dirty="0">
                <a:solidFill>
                  <a:srgbClr val="000000"/>
                </a:solidFill>
                <a:effectLst/>
                <a:latin typeface="Inter"/>
              </a:rPr>
              <a:t>个关键点减去</a:t>
            </a:r>
            <a:r>
              <a:rPr lang="zh-CN" altLang="en-US" sz="2000" b="1" i="0" dirty="0">
                <a:solidFill>
                  <a:srgbClr val="000000"/>
                </a:solidFill>
                <a:effectLst/>
                <a:latin typeface="Inter"/>
              </a:rPr>
              <a:t>手腕关键点</a:t>
            </a:r>
            <a:r>
              <a:rPr lang="zh-CN" altLang="en-US" sz="2000" b="0" i="0" dirty="0">
                <a:solidFill>
                  <a:srgbClr val="000000"/>
                </a:solidFill>
                <a:effectLst/>
                <a:latin typeface="Inter"/>
              </a:rPr>
              <a:t>，得到 “相对于手腕的</a:t>
            </a:r>
            <a:r>
              <a:rPr lang="zh-CN" altLang="en-US" sz="2000" b="1" i="0" dirty="0">
                <a:solidFill>
                  <a:srgbClr val="000000"/>
                </a:solidFill>
                <a:effectLst/>
                <a:latin typeface="Inter"/>
              </a:rPr>
              <a:t>关节位置真值</a:t>
            </a:r>
            <a:r>
              <a:rPr lang="zh-CN" altLang="en-US" sz="2000" b="0" i="0" dirty="0">
                <a:solidFill>
                  <a:srgbClr val="000000"/>
                </a:solidFill>
                <a:effectLst/>
                <a:latin typeface="Inter"/>
              </a:rPr>
              <a:t>”。</a:t>
            </a:r>
          </a:p>
        </p:txBody>
      </p:sp>
      <p:cxnSp>
        <p:nvCxnSpPr>
          <p:cNvPr id="24" name="直接箭头连接符 23">
            <a:extLst>
              <a:ext uri="{FF2B5EF4-FFF2-40B4-BE49-F238E27FC236}">
                <a16:creationId xmlns:a16="http://schemas.microsoft.com/office/drawing/2014/main" id="{024E14C6-0727-4641-85A8-A183B359A9D2}"/>
              </a:ext>
            </a:extLst>
          </p:cNvPr>
          <p:cNvCxnSpPr/>
          <p:nvPr/>
        </p:nvCxnSpPr>
        <p:spPr>
          <a:xfrm>
            <a:off x="2136808" y="5332396"/>
            <a:ext cx="500514" cy="327259"/>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CFB45F71-C2BF-4773-8282-6D9B3627A4D2}"/>
              </a:ext>
            </a:extLst>
          </p:cNvPr>
          <p:cNvSpPr txBox="1"/>
          <p:nvPr/>
        </p:nvSpPr>
        <p:spPr>
          <a:xfrm>
            <a:off x="2542679" y="5599248"/>
            <a:ext cx="6564428" cy="369332"/>
          </a:xfrm>
          <a:prstGeom prst="rect">
            <a:avLst/>
          </a:prstGeom>
          <a:noFill/>
        </p:spPr>
        <p:txBody>
          <a:bodyPr wrap="square">
            <a:spAutoFit/>
          </a:bodyPr>
          <a:lstStyle/>
          <a:p>
            <a:r>
              <a:rPr lang="zh-CN" altLang="en-US" sz="1800" b="1" i="0" dirty="0">
                <a:solidFill>
                  <a:srgbClr val="00B0F0"/>
                </a:solidFill>
                <a:effectLst/>
                <a:latin typeface="+mj-ea"/>
                <a:ea typeface="+mj-ea"/>
              </a:rPr>
              <a:t>手腕关键点</a:t>
            </a:r>
            <a:endParaRPr lang="zh-CN" altLang="en-US" dirty="0">
              <a:solidFill>
                <a:srgbClr val="00B0F0"/>
              </a:solidFill>
              <a:latin typeface="+mj-ea"/>
              <a:ea typeface="+mj-ea"/>
            </a:endParaRPr>
          </a:p>
        </p:txBody>
      </p:sp>
    </p:spTree>
    <p:extLst>
      <p:ext uri="{BB962C8B-B14F-4D97-AF65-F5344CB8AC3E}">
        <p14:creationId xmlns:p14="http://schemas.microsoft.com/office/powerpoint/2010/main" val="3032140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050" name="Picture 2">
            <a:extLst>
              <a:ext uri="{FF2B5EF4-FFF2-40B4-BE49-F238E27FC236}">
                <a16:creationId xmlns:a16="http://schemas.microsoft.com/office/drawing/2014/main" id="{0663B89B-7A54-498B-92E7-676FEE6994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3835" y="-188719"/>
            <a:ext cx="15019669" cy="7235437"/>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6FB8560D-0BD7-47B6-BE25-75435AFC211F}"/>
              </a:ext>
            </a:extLst>
          </p:cNvPr>
          <p:cNvSpPr txBox="1"/>
          <p:nvPr/>
        </p:nvSpPr>
        <p:spPr>
          <a:xfrm>
            <a:off x="138529" y="996484"/>
            <a:ext cx="6094070" cy="461665"/>
          </a:xfrm>
          <a:prstGeom prst="rect">
            <a:avLst/>
          </a:prstGeom>
          <a:noFill/>
        </p:spPr>
        <p:txBody>
          <a:bodyPr wrap="square">
            <a:spAutoFit/>
          </a:bodyPr>
          <a:lstStyle/>
          <a:p>
            <a:r>
              <a:rPr lang="zh-CN" altLang="en-US" sz="2400" b="1" dirty="0">
                <a:latin typeface="+mj-ea"/>
                <a:ea typeface="+mj-ea"/>
              </a:rPr>
              <a:t>手部姿态和尺寸归一化</a:t>
            </a:r>
          </a:p>
        </p:txBody>
      </p:sp>
    </p:spTree>
    <p:extLst>
      <p:ext uri="{BB962C8B-B14F-4D97-AF65-F5344CB8AC3E}">
        <p14:creationId xmlns:p14="http://schemas.microsoft.com/office/powerpoint/2010/main" val="3282888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615A59F0-BC3E-4320-9CE5-6414533EE32E}"/>
              </a:ext>
            </a:extLst>
          </p:cNvPr>
          <p:cNvSpPr txBox="1"/>
          <p:nvPr/>
        </p:nvSpPr>
        <p:spPr>
          <a:xfrm>
            <a:off x="138529" y="946198"/>
            <a:ext cx="6094070" cy="461665"/>
          </a:xfrm>
          <a:prstGeom prst="rect">
            <a:avLst/>
          </a:prstGeom>
          <a:noFill/>
        </p:spPr>
        <p:txBody>
          <a:bodyPr wrap="square">
            <a:spAutoFit/>
          </a:bodyPr>
          <a:lstStyle/>
          <a:p>
            <a:r>
              <a:rPr lang="zh-CN" altLang="en-US" sz="2400" b="1" dirty="0">
                <a:latin typeface="+mj-ea"/>
                <a:ea typeface="+mj-ea"/>
              </a:rPr>
              <a:t>模型架构</a:t>
            </a:r>
          </a:p>
        </p:txBody>
      </p:sp>
      <p:pic>
        <p:nvPicPr>
          <p:cNvPr id="11" name="图片 10">
            <a:extLst>
              <a:ext uri="{FF2B5EF4-FFF2-40B4-BE49-F238E27FC236}">
                <a16:creationId xmlns:a16="http://schemas.microsoft.com/office/drawing/2014/main" id="{BA98E139-7E28-4A2C-B65C-0D765E14084A}"/>
              </a:ext>
            </a:extLst>
          </p:cNvPr>
          <p:cNvPicPr>
            <a:picLocks noChangeAspect="1"/>
          </p:cNvPicPr>
          <p:nvPr/>
        </p:nvPicPr>
        <p:blipFill rotWithShape="1">
          <a:blip r:embed="rId3">
            <a:extLst>
              <a:ext uri="{28A0092B-C50C-407E-A947-70E740481C1C}">
                <a14:useLocalDpi xmlns:a14="http://schemas.microsoft.com/office/drawing/2010/main" val="0"/>
              </a:ext>
            </a:extLst>
          </a:blip>
          <a:srcRect b="20014"/>
          <a:stretch/>
        </p:blipFill>
        <p:spPr>
          <a:xfrm>
            <a:off x="802490" y="1837762"/>
            <a:ext cx="9997258" cy="2326624"/>
          </a:xfrm>
          <a:prstGeom prst="rect">
            <a:avLst/>
          </a:prstGeom>
        </p:spPr>
      </p:pic>
      <p:pic>
        <p:nvPicPr>
          <p:cNvPr id="15" name="图片 14">
            <a:extLst>
              <a:ext uri="{FF2B5EF4-FFF2-40B4-BE49-F238E27FC236}">
                <a16:creationId xmlns:a16="http://schemas.microsoft.com/office/drawing/2014/main" id="{3538B467-EEB8-4191-9125-B1026D4E0B8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6" name="矩形 15">
            <a:extLst>
              <a:ext uri="{FF2B5EF4-FFF2-40B4-BE49-F238E27FC236}">
                <a16:creationId xmlns:a16="http://schemas.microsoft.com/office/drawing/2014/main" id="{4362F29E-5326-47D5-8B77-34D6B1F01FD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a:extLst>
              <a:ext uri="{FF2B5EF4-FFF2-40B4-BE49-F238E27FC236}">
                <a16:creationId xmlns:a16="http://schemas.microsoft.com/office/drawing/2014/main" id="{DA5BE96B-6C70-4AF0-944C-4A57E1C722EF}"/>
              </a:ext>
            </a:extLst>
          </p:cNvPr>
          <p:cNvGrpSpPr/>
          <p:nvPr/>
        </p:nvGrpSpPr>
        <p:grpSpPr>
          <a:xfrm>
            <a:off x="138529" y="112812"/>
            <a:ext cx="3488591" cy="593131"/>
            <a:chOff x="1019925" y="1507764"/>
            <a:chExt cx="3488591" cy="593131"/>
          </a:xfrm>
        </p:grpSpPr>
        <p:sp>
          <p:nvSpPr>
            <p:cNvPr id="18" name="文本框 17">
              <a:extLst>
                <a:ext uri="{FF2B5EF4-FFF2-40B4-BE49-F238E27FC236}">
                  <a16:creationId xmlns:a16="http://schemas.microsoft.com/office/drawing/2014/main" id="{86907824-4929-4DA2-AC43-820C88E33C2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深度学习流程</a:t>
              </a:r>
            </a:p>
          </p:txBody>
        </p:sp>
        <p:pic>
          <p:nvPicPr>
            <p:cNvPr id="19" name="图片 18">
              <a:extLst>
                <a:ext uri="{FF2B5EF4-FFF2-40B4-BE49-F238E27FC236}">
                  <a16:creationId xmlns:a16="http://schemas.microsoft.com/office/drawing/2014/main" id="{A26B2CEB-E4D7-4DBE-BD2F-5707960CBEE5}"/>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0" name="图片 19">
            <a:extLst>
              <a:ext uri="{FF2B5EF4-FFF2-40B4-BE49-F238E27FC236}">
                <a16:creationId xmlns:a16="http://schemas.microsoft.com/office/drawing/2014/main" id="{180B0920-6DDB-4733-B197-1CA8E03E8645}"/>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 name="文本框 1">
            <a:extLst>
              <a:ext uri="{FF2B5EF4-FFF2-40B4-BE49-F238E27FC236}">
                <a16:creationId xmlns:a16="http://schemas.microsoft.com/office/drawing/2014/main" id="{AD56A5F6-2FFC-4049-8B93-712B82C4DDA5}"/>
              </a:ext>
            </a:extLst>
          </p:cNvPr>
          <p:cNvSpPr txBox="1"/>
          <p:nvPr/>
        </p:nvSpPr>
        <p:spPr>
          <a:xfrm>
            <a:off x="632158" y="1903933"/>
            <a:ext cx="3568820" cy="2112114"/>
          </a:xfrm>
          <a:prstGeom prst="rect">
            <a:avLst/>
          </a:prstGeom>
          <a:noFill/>
          <a:ln w="38100">
            <a:solidFill>
              <a:srgbClr val="FF0000"/>
            </a:solidFill>
            <a:prstDash val="lgDash"/>
          </a:ln>
        </p:spPr>
        <p:txBody>
          <a:bodyPr wrap="square" rtlCol="0">
            <a:spAutoFit/>
          </a:bodyPr>
          <a:lstStyle/>
          <a:p>
            <a:endParaRPr lang="zh-CN" altLang="en-US" dirty="0"/>
          </a:p>
        </p:txBody>
      </p:sp>
      <p:sp>
        <p:nvSpPr>
          <p:cNvPr id="14" name="文本框 13">
            <a:extLst>
              <a:ext uri="{FF2B5EF4-FFF2-40B4-BE49-F238E27FC236}">
                <a16:creationId xmlns:a16="http://schemas.microsoft.com/office/drawing/2014/main" id="{FDC5DBD9-9692-4C44-8FD9-DC018E6D092E}"/>
              </a:ext>
            </a:extLst>
          </p:cNvPr>
          <p:cNvSpPr txBox="1"/>
          <p:nvPr/>
        </p:nvSpPr>
        <p:spPr>
          <a:xfrm>
            <a:off x="863480" y="4230557"/>
            <a:ext cx="2396067" cy="1477328"/>
          </a:xfrm>
          <a:prstGeom prst="rect">
            <a:avLst/>
          </a:prstGeom>
          <a:noFill/>
        </p:spPr>
        <p:txBody>
          <a:bodyPr wrap="square">
            <a:spAutoFit/>
          </a:bodyPr>
          <a:lstStyle/>
          <a:p>
            <a:r>
              <a:rPr lang="zh-CN" altLang="en-US" b="1" dirty="0"/>
              <a:t>差分回声轮廓</a:t>
            </a:r>
            <a:r>
              <a:rPr lang="zh-CN" altLang="en-US" dirty="0"/>
              <a:t>（放大手部运动）和</a:t>
            </a:r>
            <a:r>
              <a:rPr lang="zh-CN" altLang="en-US" b="1" dirty="0"/>
              <a:t>原始回声轮廓</a:t>
            </a:r>
            <a:r>
              <a:rPr lang="zh-CN" altLang="en-US" dirty="0"/>
              <a:t>（捕捉静态手部姿态）堆叠为</a:t>
            </a:r>
            <a:r>
              <a:rPr lang="en-US" altLang="zh-CN" dirty="0"/>
              <a:t>2</a:t>
            </a:r>
            <a:r>
              <a:rPr lang="zh-CN" altLang="en-US" dirty="0"/>
              <a:t>通道输入</a:t>
            </a:r>
          </a:p>
        </p:txBody>
      </p:sp>
      <p:sp>
        <p:nvSpPr>
          <p:cNvPr id="23" name="文本框 22">
            <a:extLst>
              <a:ext uri="{FF2B5EF4-FFF2-40B4-BE49-F238E27FC236}">
                <a16:creationId xmlns:a16="http://schemas.microsoft.com/office/drawing/2014/main" id="{65C8B39A-C16D-4E34-9ADF-682F34519D2B}"/>
              </a:ext>
            </a:extLst>
          </p:cNvPr>
          <p:cNvSpPr txBox="1"/>
          <p:nvPr/>
        </p:nvSpPr>
        <p:spPr>
          <a:xfrm>
            <a:off x="818909" y="1376097"/>
            <a:ext cx="13553663" cy="369332"/>
          </a:xfrm>
          <a:prstGeom prst="rect">
            <a:avLst/>
          </a:prstGeom>
          <a:noFill/>
        </p:spPr>
        <p:txBody>
          <a:bodyPr wrap="square">
            <a:spAutoFit/>
          </a:bodyPr>
          <a:lstStyle/>
          <a:p>
            <a:r>
              <a:rPr lang="zh-CN" altLang="en-US" dirty="0"/>
              <a:t>训练后的深度学习模型以回声轮廓为输入，根据传感任务输出</a:t>
            </a:r>
            <a:r>
              <a:rPr lang="en-US" altLang="zh-CN" dirty="0"/>
              <a:t>3D</a:t>
            </a:r>
            <a:r>
              <a:rPr lang="zh-CN" altLang="en-US" dirty="0"/>
              <a:t>手部关节坐标（回归）或分类标签（分类）</a:t>
            </a:r>
          </a:p>
        </p:txBody>
      </p:sp>
      <p:cxnSp>
        <p:nvCxnSpPr>
          <p:cNvPr id="6" name="直接连接符 5">
            <a:extLst>
              <a:ext uri="{FF2B5EF4-FFF2-40B4-BE49-F238E27FC236}">
                <a16:creationId xmlns:a16="http://schemas.microsoft.com/office/drawing/2014/main" id="{52BD96D8-2EF0-41CE-9C30-C58D2EEEFCA8}"/>
              </a:ext>
            </a:extLst>
          </p:cNvPr>
          <p:cNvCxnSpPr/>
          <p:nvPr/>
        </p:nvCxnSpPr>
        <p:spPr>
          <a:xfrm>
            <a:off x="4535410" y="2987665"/>
            <a:ext cx="6045200" cy="0"/>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2DD36B7-821D-4FC7-9168-7DCFFB5C583A}"/>
              </a:ext>
            </a:extLst>
          </p:cNvPr>
          <p:cNvSpPr txBox="1"/>
          <p:nvPr/>
        </p:nvSpPr>
        <p:spPr>
          <a:xfrm>
            <a:off x="10704547" y="2162381"/>
            <a:ext cx="1126067" cy="646331"/>
          </a:xfrm>
          <a:prstGeom prst="rect">
            <a:avLst/>
          </a:prstGeom>
          <a:noFill/>
        </p:spPr>
        <p:txBody>
          <a:bodyPr wrap="square">
            <a:spAutoFit/>
          </a:bodyPr>
          <a:lstStyle/>
          <a:p>
            <a:r>
              <a:rPr lang="en-US" altLang="zh-CN" dirty="0"/>
              <a:t>3D</a:t>
            </a:r>
            <a:r>
              <a:rPr lang="zh-CN" altLang="en-US" dirty="0"/>
              <a:t>手部关节坐标</a:t>
            </a:r>
          </a:p>
        </p:txBody>
      </p:sp>
      <p:sp>
        <p:nvSpPr>
          <p:cNvPr id="25" name="文本框 24">
            <a:extLst>
              <a:ext uri="{FF2B5EF4-FFF2-40B4-BE49-F238E27FC236}">
                <a16:creationId xmlns:a16="http://schemas.microsoft.com/office/drawing/2014/main" id="{5C0EFE57-C07E-40C2-9052-BFDD8A983764}"/>
              </a:ext>
            </a:extLst>
          </p:cNvPr>
          <p:cNvSpPr txBox="1"/>
          <p:nvPr/>
        </p:nvSpPr>
        <p:spPr>
          <a:xfrm>
            <a:off x="10799748" y="3047437"/>
            <a:ext cx="906274" cy="646331"/>
          </a:xfrm>
          <a:prstGeom prst="rect">
            <a:avLst/>
          </a:prstGeom>
          <a:noFill/>
        </p:spPr>
        <p:txBody>
          <a:bodyPr wrap="square">
            <a:spAutoFit/>
          </a:bodyPr>
          <a:lstStyle/>
          <a:p>
            <a:r>
              <a:rPr lang="zh-CN" altLang="en-US" dirty="0"/>
              <a:t>微姿态回归</a:t>
            </a:r>
          </a:p>
        </p:txBody>
      </p:sp>
      <p:graphicFrame>
        <p:nvGraphicFramePr>
          <p:cNvPr id="13" name="表格 12">
            <a:extLst>
              <a:ext uri="{FF2B5EF4-FFF2-40B4-BE49-F238E27FC236}">
                <a16:creationId xmlns:a16="http://schemas.microsoft.com/office/drawing/2014/main" id="{936D5373-7171-4352-AE45-6A40D08B25DA}"/>
              </a:ext>
            </a:extLst>
          </p:cNvPr>
          <p:cNvGraphicFramePr>
            <a:graphicFrameLocks noGrp="1"/>
          </p:cNvGraphicFramePr>
          <p:nvPr>
            <p:extLst>
              <p:ext uri="{D42A27DB-BD31-4B8C-83A1-F6EECF244321}">
                <p14:modId xmlns:p14="http://schemas.microsoft.com/office/powerpoint/2010/main" val="1981453601"/>
              </p:ext>
            </p:extLst>
          </p:nvPr>
        </p:nvGraphicFramePr>
        <p:xfrm>
          <a:off x="3833095" y="4227578"/>
          <a:ext cx="8142836" cy="1828800"/>
        </p:xfrm>
        <a:graphic>
          <a:graphicData uri="http://schemas.openxmlformats.org/drawingml/2006/table">
            <a:tbl>
              <a:tblPr/>
              <a:tblGrid>
                <a:gridCol w="1678536">
                  <a:extLst>
                    <a:ext uri="{9D8B030D-6E8A-4147-A177-3AD203B41FA5}">
                      <a16:colId xmlns:a16="http://schemas.microsoft.com/office/drawing/2014/main" val="3382881709"/>
                    </a:ext>
                  </a:extLst>
                </a:gridCol>
                <a:gridCol w="1498600">
                  <a:extLst>
                    <a:ext uri="{9D8B030D-6E8A-4147-A177-3AD203B41FA5}">
                      <a16:colId xmlns:a16="http://schemas.microsoft.com/office/drawing/2014/main" val="1777571827"/>
                    </a:ext>
                  </a:extLst>
                </a:gridCol>
                <a:gridCol w="1663700">
                  <a:extLst>
                    <a:ext uri="{9D8B030D-6E8A-4147-A177-3AD203B41FA5}">
                      <a16:colId xmlns:a16="http://schemas.microsoft.com/office/drawing/2014/main" val="1630109092"/>
                    </a:ext>
                  </a:extLst>
                </a:gridCol>
                <a:gridCol w="3302000">
                  <a:extLst>
                    <a:ext uri="{9D8B030D-6E8A-4147-A177-3AD203B41FA5}">
                      <a16:colId xmlns:a16="http://schemas.microsoft.com/office/drawing/2014/main" val="597324716"/>
                    </a:ext>
                  </a:extLst>
                </a:gridCol>
              </a:tblGrid>
              <a:tr h="390633">
                <a:tc>
                  <a:txBody>
                    <a:bodyPr/>
                    <a:lstStyle/>
                    <a:p>
                      <a:pPr algn="ctr"/>
                      <a:r>
                        <a:rPr lang="zh-CN" altLang="en-US" b="1" dirty="0">
                          <a:solidFill>
                            <a:srgbClr val="000000"/>
                          </a:solidFill>
                          <a:effectLst/>
                        </a:rPr>
                        <a:t>任务类型</a:t>
                      </a:r>
                    </a:p>
                  </a:txBody>
                  <a:tcPr marL="114300" marR="114300" marT="76200" marB="76200" anchor="ctr">
                    <a:lnL w="3848" cap="flat" cmpd="sng" algn="ctr">
                      <a:solidFill>
                        <a:srgbClr val="006970"/>
                      </a:solidFill>
                      <a:prstDash val="solid"/>
                      <a:round/>
                      <a:headEnd type="none" w="med" len="med"/>
                      <a:tailEnd type="none" w="med" len="med"/>
                    </a:lnL>
                    <a:lnR w="3848" cap="flat" cmpd="sng" algn="ctr">
                      <a:solidFill>
                        <a:srgbClr val="E06D70"/>
                      </a:solidFill>
                      <a:prstDash val="solid"/>
                      <a:round/>
                      <a:headEnd type="none" w="med" len="med"/>
                      <a:tailEnd type="none" w="med" len="med"/>
                    </a:lnR>
                    <a:lnT w="3848" cap="flat" cmpd="sng" algn="ctr">
                      <a:solidFill>
                        <a:srgbClr val="006D70"/>
                      </a:solidFill>
                      <a:prstDash val="solid"/>
                      <a:round/>
                      <a:headEnd type="none" w="med" len="med"/>
                      <a:tailEnd type="none" w="med" len="med"/>
                    </a:lnT>
                    <a:lnB w="3848" cap="flat" cmpd="sng" algn="ctr">
                      <a:solidFill>
                        <a:srgbClr val="A040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输入维度</a:t>
                      </a:r>
                    </a:p>
                  </a:txBody>
                  <a:tcPr marL="114300" marR="114300" marT="76200" marB="76200" anchor="ctr">
                    <a:lnL w="3848" cap="flat" cmpd="sng" algn="ctr">
                      <a:solidFill>
                        <a:srgbClr val="E06D70"/>
                      </a:solidFill>
                      <a:prstDash val="solid"/>
                      <a:round/>
                      <a:headEnd type="none" w="med" len="med"/>
                      <a:tailEnd type="none" w="med" len="med"/>
                    </a:lnL>
                    <a:lnR w="3848" cap="flat" cmpd="sng" algn="ctr">
                      <a:solidFill>
                        <a:srgbClr val="406E70"/>
                      </a:solidFill>
                      <a:prstDash val="solid"/>
                      <a:round/>
                      <a:headEnd type="none" w="med" len="med"/>
                      <a:tailEnd type="none" w="med" len="med"/>
                    </a:lnR>
                    <a:lnT w="3848" cap="flat" cmpd="sng" algn="ctr">
                      <a:solidFill>
                        <a:srgbClr val="606D70"/>
                      </a:solidFill>
                      <a:prstDash val="solid"/>
                      <a:round/>
                      <a:headEnd type="none" w="med" len="med"/>
                      <a:tailEnd type="none" w="med" len="med"/>
                    </a:lnT>
                    <a:lnB w="3848" cap="flat" cmpd="sng" algn="ctr">
                      <a:solidFill>
                        <a:srgbClr val="C048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对应窗口时长</a:t>
                      </a:r>
                    </a:p>
                  </a:txBody>
                  <a:tcPr marL="114300" marR="114300" marT="76200" marB="76200" anchor="ctr">
                    <a:lnL w="3848" cap="flat" cmpd="sng" algn="ctr">
                      <a:solidFill>
                        <a:srgbClr val="406E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F70"/>
                      </a:solidFill>
                      <a:prstDash val="solid"/>
                      <a:round/>
                      <a:headEnd type="none" w="med" len="med"/>
                      <a:tailEnd type="none" w="med" len="med"/>
                    </a:lnT>
                    <a:lnB w="3848" cap="flat" cmpd="sng" algn="ctr">
                      <a:solidFill>
                        <a:srgbClr val="20C0BB"/>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数据特点</a:t>
                      </a:r>
                    </a:p>
                  </a:txBody>
                  <a:tcPr marL="114300" marR="114300" marT="76200" marB="76200" anchor="ctr">
                    <a:lnL w="3848" cap="flat" cmpd="sng" algn="ctr">
                      <a:solidFill>
                        <a:srgbClr val="206B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B70"/>
                      </a:solidFill>
                      <a:prstDash val="solid"/>
                      <a:round/>
                      <a:headEnd type="none" w="med" len="med"/>
                      <a:tailEnd type="none" w="med" len="med"/>
                    </a:lnT>
                    <a:lnB w="3848" cap="flat" cmpd="sng" algn="ctr">
                      <a:solidFill>
                        <a:srgbClr val="B0879E"/>
                      </a:solidFill>
                      <a:prstDash val="solid"/>
                      <a:round/>
                      <a:headEnd type="none" w="med" len="med"/>
                      <a:tailEnd type="none" w="med" len="med"/>
                    </a:lnB>
                    <a:solidFill>
                      <a:srgbClr val="F2F2F2"/>
                    </a:solidFill>
                  </a:tcPr>
                </a:tc>
                <a:extLst>
                  <a:ext uri="{0D108BD9-81ED-4DB2-BD59-A6C34878D82A}">
                    <a16:rowId xmlns:a16="http://schemas.microsoft.com/office/drawing/2014/main" val="2659538227"/>
                  </a:ext>
                </a:extLst>
              </a:tr>
              <a:tr h="641754">
                <a:tc>
                  <a:txBody>
                    <a:bodyPr/>
                    <a:lstStyle/>
                    <a:p>
                      <a:pPr algn="ctr"/>
                      <a:r>
                        <a:rPr lang="zh-CN" altLang="en-US" b="0">
                          <a:effectLst/>
                        </a:rPr>
                        <a:t>手部姿态追踪</a:t>
                      </a:r>
                    </a:p>
                  </a:txBody>
                  <a:tcPr marL="114300" marR="114300" marT="76200" marB="76200" anchor="ctr">
                    <a:lnL w="3848" cap="flat" cmpd="sng" algn="ctr">
                      <a:solidFill>
                        <a:srgbClr val="604870"/>
                      </a:solidFill>
                      <a:prstDash val="solid"/>
                      <a:round/>
                      <a:headEnd type="none" w="med" len="med"/>
                      <a:tailEnd type="none" w="med" len="med"/>
                    </a:lnL>
                    <a:lnR w="3848" cap="flat" cmpd="sng" algn="ctr">
                      <a:solidFill>
                        <a:srgbClr val="805170"/>
                      </a:solidFill>
                      <a:prstDash val="solid"/>
                      <a:round/>
                      <a:headEnd type="none" w="med" len="med"/>
                      <a:tailEnd type="none" w="med" len="med"/>
                    </a:lnR>
                    <a:lnT w="3848" cap="flat" cmpd="sng" algn="ctr">
                      <a:solidFill>
                        <a:srgbClr val="A04070"/>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tc>
                  <a:txBody>
                    <a:bodyPr/>
                    <a:lstStyle/>
                    <a:p>
                      <a:pPr algn="ctr"/>
                      <a:r>
                        <a:rPr lang="en-US" altLang="zh-CN" b="0" dirty="0">
                          <a:effectLst/>
                        </a:rPr>
                        <a:t>[2×54×100]</a:t>
                      </a:r>
                    </a:p>
                  </a:txBody>
                  <a:tcPr marL="114300" marR="114300" marT="76200" marB="76200" anchor="ctr">
                    <a:lnL w="3848" cap="flat" cmpd="sng" algn="ctr">
                      <a:solidFill>
                        <a:srgbClr val="805170"/>
                      </a:solidFill>
                      <a:prstDash val="solid"/>
                      <a:round/>
                      <a:headEnd type="none" w="med" len="med"/>
                      <a:tailEnd type="none" w="med" len="med"/>
                    </a:lnL>
                    <a:lnR w="3848" cap="flat" cmpd="sng" algn="ctr">
                      <a:solidFill>
                        <a:srgbClr val="40BCBB"/>
                      </a:solidFill>
                      <a:prstDash val="solid"/>
                      <a:round/>
                      <a:headEnd type="none" w="med" len="med"/>
                      <a:tailEnd type="none" w="med" len="med"/>
                    </a:lnR>
                    <a:lnT w="3848" cap="flat" cmpd="sng" algn="ctr">
                      <a:solidFill>
                        <a:srgbClr val="C04870"/>
                      </a:solidFill>
                      <a:prstDash val="solid"/>
                      <a:round/>
                      <a:headEnd type="none" w="med" len="med"/>
                      <a:tailEnd type="none" w="med" len="med"/>
                    </a:lnT>
                    <a:lnB w="3848" cap="flat" cmpd="sng" algn="ctr">
                      <a:solidFill>
                        <a:srgbClr val="E0BDBB"/>
                      </a:solidFill>
                      <a:prstDash val="solid"/>
                      <a:round/>
                      <a:headEnd type="none" w="med" len="med"/>
                      <a:tailEnd type="none" w="med" len="med"/>
                    </a:lnB>
                    <a:solidFill>
                      <a:srgbClr val="FFFFFF"/>
                    </a:solidFill>
                  </a:tcPr>
                </a:tc>
                <a:tc>
                  <a:txBody>
                    <a:bodyPr/>
                    <a:lstStyle/>
                    <a:p>
                      <a:pPr algn="ctr"/>
                      <a:r>
                        <a:rPr lang="en-US" altLang="zh-CN" b="0">
                          <a:effectLst/>
                        </a:rPr>
                        <a:t>1.2 </a:t>
                      </a:r>
                      <a:r>
                        <a:rPr lang="zh-CN" altLang="en-US" b="0">
                          <a:effectLst/>
                        </a:rPr>
                        <a:t>秒</a:t>
                      </a:r>
                    </a:p>
                  </a:txBody>
                  <a:tcPr marL="114300" marR="114300" marT="76200" marB="76200" anchor="ctr">
                    <a:lnL w="3848" cap="flat" cmpd="sng" algn="ctr">
                      <a:solidFill>
                        <a:srgbClr val="40BCBB"/>
                      </a:solidFill>
                      <a:prstDash val="solid"/>
                      <a:round/>
                      <a:headEnd type="none" w="med" len="med"/>
                      <a:tailEnd type="none" w="med" len="med"/>
                    </a:lnL>
                    <a:lnR w="3848" cap="flat" cmpd="sng" algn="ctr">
                      <a:solidFill>
                        <a:srgbClr val="206F70"/>
                      </a:solidFill>
                      <a:prstDash val="solid"/>
                      <a:round/>
                      <a:headEnd type="none" w="med" len="med"/>
                      <a:tailEnd type="none" w="med" len="med"/>
                    </a:lnR>
                    <a:lnT w="3848" cap="flat" cmpd="sng" algn="ctr">
                      <a:solidFill>
                        <a:srgbClr val="20C0BB"/>
                      </a:solidFill>
                      <a:prstDash val="solid"/>
                      <a:round/>
                      <a:headEnd type="none" w="med" len="med"/>
                      <a:tailEnd type="none" w="med" len="med"/>
                    </a:lnT>
                    <a:lnB w="3848" cap="flat" cmpd="sng" algn="ctr">
                      <a:solidFill>
                        <a:srgbClr val="60C8BB"/>
                      </a:solidFill>
                      <a:prstDash val="solid"/>
                      <a:round/>
                      <a:headEnd type="none" w="med" len="med"/>
                      <a:tailEnd type="none" w="med" len="med"/>
                    </a:lnB>
                    <a:solidFill>
                      <a:srgbClr val="FFFFFF"/>
                    </a:solidFill>
                  </a:tcPr>
                </a:tc>
                <a:tc>
                  <a:txBody>
                    <a:bodyPr/>
                    <a:lstStyle/>
                    <a:p>
                      <a:pPr algn="ctr"/>
                      <a:r>
                        <a:rPr lang="zh-CN" altLang="en-US" b="0">
                          <a:effectLst/>
                        </a:rPr>
                        <a:t>覆盖姿态转换 </a:t>
                      </a:r>
                      <a:r>
                        <a:rPr lang="en-US" altLang="zh-CN" b="0">
                          <a:effectLst/>
                        </a:rPr>
                        <a:t>+ </a:t>
                      </a:r>
                      <a:r>
                        <a:rPr lang="zh-CN" altLang="en-US" b="0">
                          <a:effectLst/>
                        </a:rPr>
                        <a:t>静态姿态，学动态 </a:t>
                      </a:r>
                      <a:r>
                        <a:rPr lang="en-US" altLang="zh-CN" b="0">
                          <a:effectLst/>
                        </a:rPr>
                        <a:t>/ </a:t>
                      </a:r>
                      <a:r>
                        <a:rPr lang="zh-CN" altLang="en-US" b="0">
                          <a:effectLst/>
                        </a:rPr>
                        <a:t>静态</a:t>
                      </a:r>
                    </a:p>
                  </a:txBody>
                  <a:tcPr marL="114300" marR="114300" marT="76200" marB="76200" anchor="ctr">
                    <a:lnL w="3848" cap="flat" cmpd="sng" algn="ctr">
                      <a:solidFill>
                        <a:srgbClr val="206F70"/>
                      </a:solidFill>
                      <a:prstDash val="solid"/>
                      <a:round/>
                      <a:headEnd type="none" w="med" len="med"/>
                      <a:tailEnd type="none" w="med" len="med"/>
                    </a:lnL>
                    <a:lnR w="3848" cap="flat" cmpd="sng" algn="ctr">
                      <a:solidFill>
                        <a:srgbClr val="A06B70"/>
                      </a:solidFill>
                      <a:prstDash val="solid"/>
                      <a:round/>
                      <a:headEnd type="none" w="med" len="med"/>
                      <a:tailEnd type="none" w="med" len="med"/>
                    </a:lnR>
                    <a:lnT w="3848" cap="flat" cmpd="sng" algn="ctr">
                      <a:solidFill>
                        <a:srgbClr val="B0879E"/>
                      </a:solidFill>
                      <a:prstDash val="solid"/>
                      <a:round/>
                      <a:headEnd type="none" w="med" len="med"/>
                      <a:tailEnd type="none" w="med" len="med"/>
                    </a:lnT>
                    <a:lnB w="3848" cap="flat" cmpd="sng" algn="ctr">
                      <a:solidFill>
                        <a:srgbClr val="808D9E"/>
                      </a:solidFill>
                      <a:prstDash val="solid"/>
                      <a:round/>
                      <a:headEnd type="none" w="med" len="med"/>
                      <a:tailEnd type="none" w="med" len="med"/>
                    </a:lnB>
                    <a:solidFill>
                      <a:srgbClr val="FFFFFF"/>
                    </a:solidFill>
                  </a:tcPr>
                </a:tc>
                <a:extLst>
                  <a:ext uri="{0D108BD9-81ED-4DB2-BD59-A6C34878D82A}">
                    <a16:rowId xmlns:a16="http://schemas.microsoft.com/office/drawing/2014/main" val="1899979166"/>
                  </a:ext>
                </a:extLst>
              </a:tr>
              <a:tr h="641754">
                <a:tc>
                  <a:txBody>
                    <a:bodyPr/>
                    <a:lstStyle/>
                    <a:p>
                      <a:pPr algn="ctr"/>
                      <a:r>
                        <a:rPr lang="zh-CN" altLang="en-US" b="0">
                          <a:effectLst/>
                        </a:rPr>
                        <a:t>手势分类</a:t>
                      </a:r>
                    </a:p>
                  </a:txBody>
                  <a:tcPr marL="114300" marR="114300" marT="76200" marB="76200" anchor="ctr">
                    <a:lnL w="3848" cap="flat" cmpd="sng" algn="ctr">
                      <a:solidFill>
                        <a:srgbClr val="40C5BB"/>
                      </a:solidFill>
                      <a:prstDash val="solid"/>
                      <a:round/>
                      <a:headEnd type="none" w="med" len="med"/>
                      <a:tailEnd type="none" w="med" len="med"/>
                    </a:lnL>
                    <a:lnR w="3848" cap="flat" cmpd="sng" algn="ctr">
                      <a:solidFill>
                        <a:srgbClr val="60C9BB"/>
                      </a:solidFill>
                      <a:prstDash val="solid"/>
                      <a:round/>
                      <a:headEnd type="none" w="med" len="med"/>
                      <a:tailEnd type="none" w="med" len="med"/>
                    </a:lnR>
                    <a:lnT w="3848" cap="flat" cmpd="sng" algn="ctr">
                      <a:solidFill>
                        <a:srgbClr val="00C1BB"/>
                      </a:solidFill>
                      <a:prstDash val="solid"/>
                      <a:round/>
                      <a:headEnd type="none" w="med" len="med"/>
                      <a:tailEnd type="none" w="med" len="med"/>
                    </a:lnT>
                    <a:lnB w="3848" cap="flat" cmpd="sng" algn="ctr">
                      <a:solidFill>
                        <a:srgbClr val="60BBBB"/>
                      </a:solidFill>
                      <a:prstDash val="solid"/>
                      <a:round/>
                      <a:headEnd type="none" w="med" len="med"/>
                      <a:tailEnd type="none" w="med" len="med"/>
                    </a:lnB>
                    <a:solidFill>
                      <a:srgbClr val="FFFFFF"/>
                    </a:solidFill>
                  </a:tcPr>
                </a:tc>
                <a:tc>
                  <a:txBody>
                    <a:bodyPr/>
                    <a:lstStyle/>
                    <a:p>
                      <a:pPr algn="ctr"/>
                      <a:r>
                        <a:rPr lang="en-US" altLang="zh-CN" b="0" dirty="0">
                          <a:effectLst/>
                        </a:rPr>
                        <a:t>[2×54×160]</a:t>
                      </a:r>
                    </a:p>
                  </a:txBody>
                  <a:tcPr marL="114300" marR="114300" marT="76200" marB="76200" anchor="ctr">
                    <a:lnL w="3848" cap="flat" cmpd="sng" algn="ctr">
                      <a:solidFill>
                        <a:srgbClr val="60C9BB"/>
                      </a:solidFill>
                      <a:prstDash val="solid"/>
                      <a:round/>
                      <a:headEnd type="none" w="med" len="med"/>
                      <a:tailEnd type="none" w="med" len="med"/>
                    </a:lnL>
                    <a:lnR w="3848" cap="flat" cmpd="sng" algn="ctr">
                      <a:solidFill>
                        <a:srgbClr val="60CBBB"/>
                      </a:solidFill>
                      <a:prstDash val="solid"/>
                      <a:round/>
                      <a:headEnd type="none" w="med" len="med"/>
                      <a:tailEnd type="none" w="med" len="med"/>
                    </a:lnR>
                    <a:lnT w="3848" cap="flat" cmpd="sng" algn="ctr">
                      <a:solidFill>
                        <a:srgbClr val="E0BDBB"/>
                      </a:solidFill>
                      <a:prstDash val="solid"/>
                      <a:round/>
                      <a:headEnd type="none" w="med" len="med"/>
                      <a:tailEnd type="none" w="med" len="med"/>
                    </a:lnT>
                    <a:lnB w="3848" cap="flat" cmpd="sng" algn="ctr">
                      <a:solidFill>
                        <a:srgbClr val="C0C3BB"/>
                      </a:solidFill>
                      <a:prstDash val="solid"/>
                      <a:round/>
                      <a:headEnd type="none" w="med" len="med"/>
                      <a:tailEnd type="none" w="med" len="med"/>
                    </a:lnB>
                    <a:solidFill>
                      <a:srgbClr val="FFFFFF"/>
                    </a:solidFill>
                  </a:tcPr>
                </a:tc>
                <a:tc>
                  <a:txBody>
                    <a:bodyPr/>
                    <a:lstStyle/>
                    <a:p>
                      <a:pPr algn="ctr"/>
                      <a:r>
                        <a:rPr lang="en-US" altLang="zh-CN" b="0" dirty="0">
                          <a:effectLst/>
                        </a:rPr>
                        <a:t>1.92 </a:t>
                      </a:r>
                      <a:r>
                        <a:rPr lang="zh-CN" altLang="en-US" b="0" dirty="0">
                          <a:effectLst/>
                        </a:rPr>
                        <a:t>秒</a:t>
                      </a:r>
                    </a:p>
                  </a:txBody>
                  <a:tcPr marL="114300" marR="114300" marT="76200" marB="76200" anchor="ctr">
                    <a:lnL w="3848" cap="flat" cmpd="sng" algn="ctr">
                      <a:solidFill>
                        <a:srgbClr val="60CBBB"/>
                      </a:solidFill>
                      <a:prstDash val="solid"/>
                      <a:round/>
                      <a:headEnd type="none" w="med" len="med"/>
                      <a:tailEnd type="none" w="med" len="med"/>
                    </a:lnL>
                    <a:lnR w="3848" cap="flat" cmpd="sng" algn="ctr">
                      <a:solidFill>
                        <a:srgbClr val="80C2BB"/>
                      </a:solidFill>
                      <a:prstDash val="solid"/>
                      <a:round/>
                      <a:headEnd type="none" w="med" len="med"/>
                      <a:tailEnd type="none" w="med" len="med"/>
                    </a:lnR>
                    <a:lnT w="3848" cap="flat" cmpd="sng" algn="ctr">
                      <a:solidFill>
                        <a:srgbClr val="60C8BB"/>
                      </a:solidFill>
                      <a:prstDash val="solid"/>
                      <a:round/>
                      <a:headEnd type="none" w="med" len="med"/>
                      <a:tailEnd type="none" w="med" len="med"/>
                    </a:lnT>
                    <a:lnB w="3848" cap="flat" cmpd="sng" algn="ctr">
                      <a:solidFill>
                        <a:srgbClr val="80C6BB"/>
                      </a:solidFill>
                      <a:prstDash val="solid"/>
                      <a:round/>
                      <a:headEnd type="none" w="med" len="med"/>
                      <a:tailEnd type="none" w="med" len="med"/>
                    </a:lnB>
                    <a:solidFill>
                      <a:srgbClr val="FFFFFF"/>
                    </a:solidFill>
                  </a:tcPr>
                </a:tc>
                <a:tc>
                  <a:txBody>
                    <a:bodyPr/>
                    <a:lstStyle/>
                    <a:p>
                      <a:pPr algn="ctr"/>
                      <a:r>
                        <a:rPr lang="zh-CN" altLang="en-US" b="0" dirty="0">
                          <a:effectLst/>
                        </a:rPr>
                        <a:t>覆盖 </a:t>
                      </a:r>
                      <a:r>
                        <a:rPr lang="en-US" altLang="zh-CN" b="0" dirty="0">
                          <a:effectLst/>
                        </a:rPr>
                        <a:t>2 </a:t>
                      </a:r>
                      <a:r>
                        <a:rPr lang="zh-CN" altLang="en-US" b="0" dirty="0">
                          <a:effectLst/>
                        </a:rPr>
                        <a:t>秒内完整手势，每个手势对应独立实例</a:t>
                      </a:r>
                    </a:p>
                  </a:txBody>
                  <a:tcPr marL="114300" marR="114300" marT="76200" marB="76200" anchor="ctr">
                    <a:lnL w="3848" cap="flat" cmpd="sng" algn="ctr">
                      <a:solidFill>
                        <a:srgbClr val="80C2BB"/>
                      </a:solidFill>
                      <a:prstDash val="solid"/>
                      <a:round/>
                      <a:headEnd type="none" w="med" len="med"/>
                      <a:tailEnd type="none" w="med" len="med"/>
                    </a:lnL>
                    <a:lnR w="3848" cap="flat" cmpd="sng" algn="ctr">
                      <a:solidFill>
                        <a:srgbClr val="20C0BB"/>
                      </a:solidFill>
                      <a:prstDash val="solid"/>
                      <a:round/>
                      <a:headEnd type="none" w="med" len="med"/>
                      <a:tailEnd type="none" w="med" len="med"/>
                    </a:lnR>
                    <a:lnT w="3848" cap="flat" cmpd="sng" algn="ctr">
                      <a:solidFill>
                        <a:srgbClr val="808D9E"/>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extLst>
                  <a:ext uri="{0D108BD9-81ED-4DB2-BD59-A6C34878D82A}">
                    <a16:rowId xmlns:a16="http://schemas.microsoft.com/office/drawing/2014/main" val="1031022796"/>
                  </a:ext>
                </a:extLst>
              </a:tr>
            </a:tbl>
          </a:graphicData>
        </a:graphic>
      </p:graphicFrame>
      <p:sp>
        <p:nvSpPr>
          <p:cNvPr id="30" name="文本框 29">
            <a:extLst>
              <a:ext uri="{FF2B5EF4-FFF2-40B4-BE49-F238E27FC236}">
                <a16:creationId xmlns:a16="http://schemas.microsoft.com/office/drawing/2014/main" id="{4BAA0396-2CB0-4664-B43B-BBCBE71FD0B4}"/>
              </a:ext>
            </a:extLst>
          </p:cNvPr>
          <p:cNvSpPr txBox="1"/>
          <p:nvPr/>
        </p:nvSpPr>
        <p:spPr>
          <a:xfrm>
            <a:off x="2161024" y="6313530"/>
            <a:ext cx="8153400" cy="369332"/>
          </a:xfrm>
          <a:prstGeom prst="rect">
            <a:avLst/>
          </a:prstGeom>
          <a:noFill/>
        </p:spPr>
        <p:txBody>
          <a:bodyPr wrap="square">
            <a:spAutoFit/>
          </a:bodyPr>
          <a:lstStyle/>
          <a:p>
            <a:r>
              <a:rPr lang="zh-CN" altLang="en-US" dirty="0"/>
              <a:t>为解决</a:t>
            </a:r>
            <a:r>
              <a:rPr lang="zh-CN" altLang="en-US" b="1" dirty="0"/>
              <a:t>信号幅度不一致</a:t>
            </a:r>
            <a:r>
              <a:rPr lang="zh-CN" altLang="en-US" dirty="0"/>
              <a:t>的问题，对每个通道的输入回声轮廓进行</a:t>
            </a:r>
            <a:r>
              <a:rPr lang="zh-CN" altLang="en-US" b="1" dirty="0"/>
              <a:t>归一化处理</a:t>
            </a:r>
          </a:p>
        </p:txBody>
      </p:sp>
      <p:cxnSp>
        <p:nvCxnSpPr>
          <p:cNvPr id="31" name="直接箭头连接符 30">
            <a:extLst>
              <a:ext uri="{FF2B5EF4-FFF2-40B4-BE49-F238E27FC236}">
                <a16:creationId xmlns:a16="http://schemas.microsoft.com/office/drawing/2014/main" id="{F47CF9B7-64E8-406D-8AE9-304E75FE94FE}"/>
              </a:ext>
            </a:extLst>
          </p:cNvPr>
          <p:cNvCxnSpPr>
            <a:cxnSpLocks/>
          </p:cNvCxnSpPr>
          <p:nvPr/>
        </p:nvCxnSpPr>
        <p:spPr>
          <a:xfrm>
            <a:off x="802490" y="4164386"/>
            <a:ext cx="16419" cy="42989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734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F571D919-CCE9-46B1-BE77-B6DFD547C70E}"/>
              </a:ext>
            </a:extLst>
          </p:cNvPr>
          <p:cNvSpPr txBox="1"/>
          <p:nvPr/>
        </p:nvSpPr>
        <p:spPr>
          <a:xfrm>
            <a:off x="269969" y="931202"/>
            <a:ext cx="6094070" cy="461665"/>
          </a:xfrm>
          <a:prstGeom prst="rect">
            <a:avLst/>
          </a:prstGeom>
          <a:noFill/>
        </p:spPr>
        <p:txBody>
          <a:bodyPr wrap="square">
            <a:spAutoFit/>
          </a:bodyPr>
          <a:lstStyle/>
          <a:p>
            <a:r>
              <a:rPr lang="zh-CN" altLang="en-US" sz="2400" b="1" dirty="0">
                <a:latin typeface="+mj-ea"/>
                <a:ea typeface="+mj-ea"/>
              </a:rPr>
              <a:t>训练方案</a:t>
            </a:r>
          </a:p>
        </p:txBody>
      </p:sp>
      <p:pic>
        <p:nvPicPr>
          <p:cNvPr id="13" name="图片 12">
            <a:extLst>
              <a:ext uri="{FF2B5EF4-FFF2-40B4-BE49-F238E27FC236}">
                <a16:creationId xmlns:a16="http://schemas.microsoft.com/office/drawing/2014/main" id="{FE760BA4-2629-4046-AA61-5E211692FAD3}"/>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2E4F7423-9297-401C-B939-CD36A1B5487D}"/>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8DCB89B2-74F3-482F-9CB6-DF21644D800B}"/>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103C2082-B5C0-4E2D-8C10-CB531DF4B528}"/>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深度学习流程</a:t>
              </a:r>
            </a:p>
          </p:txBody>
        </p:sp>
        <p:pic>
          <p:nvPicPr>
            <p:cNvPr id="17" name="图片 16">
              <a:extLst>
                <a:ext uri="{FF2B5EF4-FFF2-40B4-BE49-F238E27FC236}">
                  <a16:creationId xmlns:a16="http://schemas.microsoft.com/office/drawing/2014/main" id="{999EC109-01A8-4373-9E67-F7313C4695C8}"/>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0B7F8E8-6396-425E-8A84-FD3EFC540788}"/>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4" name="图形 3">
            <a:extLst>
              <a:ext uri="{FF2B5EF4-FFF2-40B4-BE49-F238E27FC236}">
                <a16:creationId xmlns:a16="http://schemas.microsoft.com/office/drawing/2014/main" id="{4FB6F7FA-4B9F-4D39-841A-4F6ECDD75DA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94" b="7159"/>
          <a:stretch/>
        </p:blipFill>
        <p:spPr>
          <a:xfrm>
            <a:off x="1346198" y="1392866"/>
            <a:ext cx="9694334" cy="4703133"/>
          </a:xfrm>
          <a:prstGeom prst="rect">
            <a:avLst/>
          </a:prstGeom>
        </p:spPr>
      </p:pic>
      <p:sp>
        <p:nvSpPr>
          <p:cNvPr id="20" name="文本框 19">
            <a:extLst>
              <a:ext uri="{FF2B5EF4-FFF2-40B4-BE49-F238E27FC236}">
                <a16:creationId xmlns:a16="http://schemas.microsoft.com/office/drawing/2014/main" id="{6A7EC984-C580-4B07-93F0-B6D6F831814C}"/>
              </a:ext>
            </a:extLst>
          </p:cNvPr>
          <p:cNvSpPr txBox="1"/>
          <p:nvPr/>
        </p:nvSpPr>
        <p:spPr>
          <a:xfrm>
            <a:off x="4072465" y="6170241"/>
            <a:ext cx="6094070" cy="369332"/>
          </a:xfrm>
          <a:prstGeom prst="rect">
            <a:avLst/>
          </a:prstGeom>
          <a:noFill/>
        </p:spPr>
        <p:txBody>
          <a:bodyPr wrap="square">
            <a:spAutoFit/>
          </a:bodyPr>
          <a:lstStyle/>
          <a:p>
            <a:r>
              <a:rPr lang="zh-CN" altLang="en-US" b="1" dirty="0">
                <a:latin typeface="+mj-ea"/>
                <a:ea typeface="+mj-ea"/>
              </a:rPr>
              <a:t>针对回归和分为模型采取不同的训练方案</a:t>
            </a:r>
          </a:p>
        </p:txBody>
      </p:sp>
    </p:spTree>
    <p:extLst>
      <p:ext uri="{BB962C8B-B14F-4D97-AF65-F5344CB8AC3E}">
        <p14:creationId xmlns:p14="http://schemas.microsoft.com/office/powerpoint/2010/main" val="2477633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77A9490-7930-4F83-8FF3-56B6F9D93D80}"/>
              </a:ext>
            </a:extLst>
          </p:cNvPr>
          <p:cNvSpPr txBox="1"/>
          <p:nvPr/>
        </p:nvSpPr>
        <p:spPr>
          <a:xfrm>
            <a:off x="203093" y="923765"/>
            <a:ext cx="6094070" cy="461665"/>
          </a:xfrm>
          <a:prstGeom prst="rect">
            <a:avLst/>
          </a:prstGeom>
          <a:noFill/>
        </p:spPr>
        <p:txBody>
          <a:bodyPr wrap="square">
            <a:spAutoFit/>
          </a:bodyPr>
          <a:lstStyle/>
          <a:p>
            <a:r>
              <a:rPr lang="zh-CN" altLang="en-US" sz="2400" b="1" dirty="0">
                <a:latin typeface="+mj-ea"/>
                <a:ea typeface="+mj-ea"/>
              </a:rPr>
              <a:t>数据增强</a:t>
            </a:r>
          </a:p>
        </p:txBody>
      </p:sp>
      <p:pic>
        <p:nvPicPr>
          <p:cNvPr id="13" name="图片 12">
            <a:extLst>
              <a:ext uri="{FF2B5EF4-FFF2-40B4-BE49-F238E27FC236}">
                <a16:creationId xmlns:a16="http://schemas.microsoft.com/office/drawing/2014/main" id="{60F0F99B-7240-4D77-BE82-1AE8F66DDCA9}"/>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AAFC843B-7161-4DB6-96F3-8C4B6F0D6E7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EB53D5FB-12A2-433D-AF52-93AFE8DFB4CD}"/>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5CA6F9B0-75DE-4122-89E5-B59AFF2B25F3}"/>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深度学习流程</a:t>
              </a:r>
            </a:p>
          </p:txBody>
        </p:sp>
        <p:pic>
          <p:nvPicPr>
            <p:cNvPr id="17" name="图片 16">
              <a:extLst>
                <a:ext uri="{FF2B5EF4-FFF2-40B4-BE49-F238E27FC236}">
                  <a16:creationId xmlns:a16="http://schemas.microsoft.com/office/drawing/2014/main" id="{A1332996-7F06-45FE-B606-0112307B23C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F4FED9F-7074-49BC-B1DB-60FED4E2209A}"/>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5" name="图形 4">
            <a:extLst>
              <a:ext uri="{FF2B5EF4-FFF2-40B4-BE49-F238E27FC236}">
                <a16:creationId xmlns:a16="http://schemas.microsoft.com/office/drawing/2014/main" id="{E69D7FBB-C0D0-4E14-8FAF-37AA4BF0B2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5833" t="12963" r="2014" b="17721"/>
          <a:stretch/>
        </p:blipFill>
        <p:spPr>
          <a:xfrm>
            <a:off x="840923" y="1891397"/>
            <a:ext cx="10094947" cy="4271242"/>
          </a:xfrm>
          <a:prstGeom prst="rect">
            <a:avLst/>
          </a:prstGeom>
        </p:spPr>
      </p:pic>
      <p:sp>
        <p:nvSpPr>
          <p:cNvPr id="20" name="文本框 19">
            <a:extLst>
              <a:ext uri="{FF2B5EF4-FFF2-40B4-BE49-F238E27FC236}">
                <a16:creationId xmlns:a16="http://schemas.microsoft.com/office/drawing/2014/main" id="{91398DA3-9E4B-4167-A4BA-328797614C24}"/>
              </a:ext>
            </a:extLst>
          </p:cNvPr>
          <p:cNvSpPr txBox="1"/>
          <p:nvPr/>
        </p:nvSpPr>
        <p:spPr>
          <a:xfrm>
            <a:off x="818909" y="1453747"/>
            <a:ext cx="12192000" cy="369333"/>
          </a:xfrm>
          <a:prstGeom prst="rect">
            <a:avLst/>
          </a:prstGeom>
          <a:noFill/>
        </p:spPr>
        <p:txBody>
          <a:bodyPr wrap="square">
            <a:spAutoFit/>
          </a:bodyPr>
          <a:lstStyle/>
          <a:p>
            <a:r>
              <a:rPr lang="zh-CN" altLang="en-US" b="1" i="0" dirty="0">
                <a:effectLst/>
                <a:latin typeface="Google Sans Flex"/>
              </a:rPr>
              <a:t>为提高模型对佩戴位置、戒指方向和手部尺寸变化的鲁棒性，采用以下原位数据增强技术</a:t>
            </a:r>
            <a:endParaRPr lang="zh-CN" altLang="en-US" b="1" dirty="0"/>
          </a:p>
        </p:txBody>
      </p:sp>
    </p:spTree>
    <p:extLst>
      <p:ext uri="{BB962C8B-B14F-4D97-AF65-F5344CB8AC3E}">
        <p14:creationId xmlns:p14="http://schemas.microsoft.com/office/powerpoint/2010/main" val="1293105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宋体" panose="02010600030101010101" pitchFamily="2" charset="-122"/>
                <a:ea typeface="宋体" panose="02010600030101010101" pitchFamily="2" charset="-122"/>
              </a:rPr>
              <a:t>评估概述</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肆</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Tree>
    <p:extLst>
      <p:ext uri="{BB962C8B-B14F-4D97-AF65-F5344CB8AC3E}">
        <p14:creationId xmlns:p14="http://schemas.microsoft.com/office/powerpoint/2010/main" val="2393115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3"/>
            <a:ext cx="2940337" cy="954107"/>
            <a:chOff x="1019925" y="1507765"/>
            <a:chExt cx="2940337" cy="954107"/>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5"/>
              <a:ext cx="2259957" cy="954107"/>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评估概述</a:t>
              </a:r>
            </a:p>
            <a:p>
              <a:pPr algn="dist"/>
              <a:endParaRPr lang="zh-CN" altLang="en-US" sz="2800" b="1" dirty="0">
                <a:solidFill>
                  <a:schemeClr val="bg1"/>
                </a:solidFill>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3074" name="Picture 2">
            <a:extLst>
              <a:ext uri="{FF2B5EF4-FFF2-40B4-BE49-F238E27FC236}">
                <a16:creationId xmlns:a16="http://schemas.microsoft.com/office/drawing/2014/main" id="{8FE798EF-B084-4685-A82C-0AE1601020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933" y="287867"/>
            <a:ext cx="12954000" cy="7295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896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宋体" panose="02010600030101010101" pitchFamily="2" charset="-122"/>
                <a:ea typeface="宋体" panose="02010600030101010101" pitchFamily="2" charset="-122"/>
              </a:rPr>
              <a:t>结论</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玖</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Tree>
    <p:extLst>
      <p:ext uri="{BB962C8B-B14F-4D97-AF65-F5344CB8AC3E}">
        <p14:creationId xmlns:p14="http://schemas.microsoft.com/office/powerpoint/2010/main" val="3490046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1863891" cy="593131"/>
            <a:chOff x="1019925" y="1507764"/>
            <a:chExt cx="18638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183511" cy="524256"/>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结论</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1" name="文本框 10">
            <a:extLst>
              <a:ext uri="{FF2B5EF4-FFF2-40B4-BE49-F238E27FC236}">
                <a16:creationId xmlns:a16="http://schemas.microsoft.com/office/drawing/2014/main" id="{0178F4E4-548E-4C4F-8523-3E5B516E220F}"/>
              </a:ext>
            </a:extLst>
          </p:cNvPr>
          <p:cNvSpPr txBox="1"/>
          <p:nvPr/>
        </p:nvSpPr>
        <p:spPr>
          <a:xfrm>
            <a:off x="1620840" y="1995703"/>
            <a:ext cx="11521663" cy="369332"/>
          </a:xfrm>
          <a:prstGeom prst="rect">
            <a:avLst/>
          </a:prstGeom>
          <a:noFill/>
        </p:spPr>
        <p:txBody>
          <a:bodyPr wrap="square">
            <a:spAutoFit/>
          </a:bodyPr>
          <a:lstStyle/>
          <a:p>
            <a:r>
              <a:rPr lang="zh-CN" altLang="en-US" b="1" i="0" dirty="0">
                <a:solidFill>
                  <a:srgbClr val="000000"/>
                </a:solidFill>
                <a:effectLst/>
                <a:latin typeface="+mj-ea"/>
                <a:ea typeface="+mj-ea"/>
              </a:rPr>
              <a:t>首款智能戒指</a:t>
            </a:r>
            <a:r>
              <a:rPr lang="zh-CN" altLang="en-US" b="0" i="0" dirty="0">
                <a:effectLst/>
                <a:latin typeface="+mj-ea"/>
                <a:ea typeface="+mj-ea"/>
              </a:rPr>
              <a:t>：采用</a:t>
            </a:r>
            <a:r>
              <a:rPr lang="zh-CN" altLang="en-US" b="1" i="0" dirty="0">
                <a:solidFill>
                  <a:srgbClr val="000000"/>
                </a:solidFill>
                <a:effectLst/>
                <a:latin typeface="+mj-ea"/>
                <a:ea typeface="+mj-ea"/>
              </a:rPr>
              <a:t>人耳不可闻的主动声学传感技术</a:t>
            </a:r>
            <a:r>
              <a:rPr lang="zh-CN" altLang="en-US" b="0" i="0" dirty="0">
                <a:effectLst/>
                <a:latin typeface="+mj-ea"/>
                <a:ea typeface="+mj-ea"/>
              </a:rPr>
              <a:t>，实现</a:t>
            </a:r>
            <a:r>
              <a:rPr lang="zh-CN" altLang="en-US" b="1" i="0" dirty="0">
                <a:solidFill>
                  <a:srgbClr val="000000"/>
                </a:solidFill>
                <a:effectLst/>
                <a:latin typeface="+mj-ea"/>
                <a:ea typeface="+mj-ea"/>
              </a:rPr>
              <a:t>连续手部姿态追踪 </a:t>
            </a:r>
            <a:r>
              <a:rPr lang="en-US" altLang="zh-CN" b="1" i="0" dirty="0">
                <a:solidFill>
                  <a:srgbClr val="000000"/>
                </a:solidFill>
                <a:effectLst/>
                <a:latin typeface="+mj-ea"/>
                <a:ea typeface="+mj-ea"/>
              </a:rPr>
              <a:t>+ </a:t>
            </a:r>
            <a:r>
              <a:rPr lang="zh-CN" altLang="en-US" b="1" i="0" dirty="0">
                <a:solidFill>
                  <a:srgbClr val="000000"/>
                </a:solidFill>
                <a:effectLst/>
                <a:latin typeface="+mj-ea"/>
                <a:ea typeface="+mj-ea"/>
              </a:rPr>
              <a:t>手势识别</a:t>
            </a:r>
            <a:endParaRPr lang="zh-CN" altLang="en-US" dirty="0">
              <a:latin typeface="+mj-ea"/>
              <a:ea typeface="+mj-ea"/>
            </a:endParaRPr>
          </a:p>
        </p:txBody>
      </p:sp>
      <p:sp>
        <p:nvSpPr>
          <p:cNvPr id="13" name="文本框 12">
            <a:extLst>
              <a:ext uri="{FF2B5EF4-FFF2-40B4-BE49-F238E27FC236}">
                <a16:creationId xmlns:a16="http://schemas.microsoft.com/office/drawing/2014/main" id="{C466295E-58A2-4EEA-A2D0-5E4EF22A135F}"/>
              </a:ext>
            </a:extLst>
          </p:cNvPr>
          <p:cNvSpPr txBox="1"/>
          <p:nvPr/>
        </p:nvSpPr>
        <p:spPr>
          <a:xfrm>
            <a:off x="1620840" y="4948028"/>
            <a:ext cx="7095066" cy="369332"/>
          </a:xfrm>
          <a:prstGeom prst="rect">
            <a:avLst/>
          </a:prstGeom>
          <a:noFill/>
        </p:spPr>
        <p:txBody>
          <a:bodyPr wrap="square">
            <a:spAutoFit/>
          </a:bodyPr>
          <a:lstStyle/>
          <a:p>
            <a:pPr algn="l"/>
            <a:r>
              <a:rPr lang="zh-CN" altLang="en-US" b="0" i="0" dirty="0">
                <a:solidFill>
                  <a:srgbClr val="000000"/>
                </a:solidFill>
                <a:effectLst/>
                <a:latin typeface="+mj-ea"/>
                <a:ea typeface="+mj-ea"/>
              </a:rPr>
              <a:t>为</a:t>
            </a:r>
            <a:r>
              <a:rPr lang="zh-CN" altLang="en-US" b="1" i="0" dirty="0">
                <a:solidFill>
                  <a:srgbClr val="000000"/>
                </a:solidFill>
                <a:effectLst/>
                <a:latin typeface="+mj-ea"/>
                <a:ea typeface="+mj-ea"/>
              </a:rPr>
              <a:t>基于戒指的手部姿态传感系统</a:t>
            </a:r>
            <a:r>
              <a:rPr lang="zh-CN" altLang="en-US" b="0" i="0" dirty="0">
                <a:solidFill>
                  <a:srgbClr val="000000"/>
                </a:solidFill>
                <a:effectLst/>
                <a:latin typeface="+mj-ea"/>
                <a:ea typeface="+mj-ea"/>
              </a:rPr>
              <a:t>发展奠定技术基础。</a:t>
            </a:r>
          </a:p>
        </p:txBody>
      </p:sp>
      <p:sp>
        <p:nvSpPr>
          <p:cNvPr id="15" name="文本框 14">
            <a:extLst>
              <a:ext uri="{FF2B5EF4-FFF2-40B4-BE49-F238E27FC236}">
                <a16:creationId xmlns:a16="http://schemas.microsoft.com/office/drawing/2014/main" id="{3A5A9648-A734-42C2-A3C7-F48B56C423D3}"/>
              </a:ext>
            </a:extLst>
          </p:cNvPr>
          <p:cNvSpPr txBox="1"/>
          <p:nvPr/>
        </p:nvSpPr>
        <p:spPr>
          <a:xfrm>
            <a:off x="863480" y="1334756"/>
            <a:ext cx="6311900" cy="400110"/>
          </a:xfrm>
          <a:prstGeom prst="rect">
            <a:avLst/>
          </a:prstGeom>
          <a:noFill/>
        </p:spPr>
        <p:txBody>
          <a:bodyPr wrap="square">
            <a:spAutoFit/>
          </a:bodyPr>
          <a:lstStyle/>
          <a:p>
            <a:pPr algn="l"/>
            <a:r>
              <a:rPr lang="zh-CN" altLang="en-US" sz="2000" b="1" i="0" dirty="0">
                <a:solidFill>
                  <a:srgbClr val="000000"/>
                </a:solidFill>
                <a:effectLst/>
                <a:latin typeface="+mj-ea"/>
                <a:ea typeface="+mj-ea"/>
              </a:rPr>
              <a:t>产品定位</a:t>
            </a:r>
          </a:p>
        </p:txBody>
      </p:sp>
      <p:sp>
        <p:nvSpPr>
          <p:cNvPr id="17" name="文本框 16">
            <a:extLst>
              <a:ext uri="{FF2B5EF4-FFF2-40B4-BE49-F238E27FC236}">
                <a16:creationId xmlns:a16="http://schemas.microsoft.com/office/drawing/2014/main" id="{F31CEEAA-DFEA-4644-98B5-C4A40E26CC68}"/>
              </a:ext>
            </a:extLst>
          </p:cNvPr>
          <p:cNvSpPr txBox="1"/>
          <p:nvPr/>
        </p:nvSpPr>
        <p:spPr>
          <a:xfrm>
            <a:off x="1620840" y="3266281"/>
            <a:ext cx="9057863" cy="646331"/>
          </a:xfrm>
          <a:prstGeom prst="rect">
            <a:avLst/>
          </a:prstGeom>
          <a:noFill/>
        </p:spPr>
        <p:txBody>
          <a:bodyPr wrap="square">
            <a:spAutoFit/>
          </a:bodyPr>
          <a:lstStyle/>
          <a:p>
            <a:pPr algn="l"/>
            <a:r>
              <a:rPr lang="zh-CN" altLang="en-US" b="0" i="0" dirty="0">
                <a:solidFill>
                  <a:srgbClr val="000000"/>
                </a:solidFill>
                <a:effectLst/>
                <a:latin typeface="+mj-ea"/>
                <a:ea typeface="+mj-ea"/>
              </a:rPr>
              <a:t>无新用户训练数据：</a:t>
            </a:r>
            <a:r>
              <a:rPr lang="en-US" altLang="zh-CN" b="0" i="0" dirty="0">
                <a:solidFill>
                  <a:srgbClr val="000000"/>
                </a:solidFill>
                <a:effectLst/>
                <a:latin typeface="+mj-ea"/>
                <a:ea typeface="+mj-ea"/>
              </a:rPr>
              <a:t>20 </a:t>
            </a:r>
            <a:r>
              <a:rPr lang="zh-CN" altLang="en-US" b="0" i="0" dirty="0">
                <a:solidFill>
                  <a:srgbClr val="000000"/>
                </a:solidFill>
                <a:effectLst/>
                <a:latin typeface="+mj-ea"/>
                <a:ea typeface="+mj-ea"/>
              </a:rPr>
              <a:t>个手指关节相对手腕位置的推断精度为 </a:t>
            </a:r>
            <a:r>
              <a:rPr lang="en-US" altLang="zh-CN" b="1" i="0" dirty="0">
                <a:solidFill>
                  <a:srgbClr val="000000"/>
                </a:solidFill>
                <a:effectLst/>
                <a:latin typeface="+mj-ea"/>
                <a:ea typeface="+mj-ea"/>
              </a:rPr>
              <a:t>14.1 </a:t>
            </a:r>
            <a:r>
              <a:rPr lang="zh-CN" altLang="en-US" b="1" i="0" dirty="0">
                <a:solidFill>
                  <a:srgbClr val="000000"/>
                </a:solidFill>
                <a:effectLst/>
                <a:latin typeface="+mj-ea"/>
                <a:ea typeface="+mj-ea"/>
              </a:rPr>
              <a:t>毫米</a:t>
            </a:r>
            <a:r>
              <a:rPr lang="zh-CN" altLang="en-US" b="0" i="0" dirty="0">
                <a:solidFill>
                  <a:srgbClr val="000000"/>
                </a:solidFill>
                <a:effectLst/>
                <a:latin typeface="+mj-ea"/>
                <a:ea typeface="+mj-ea"/>
              </a:rPr>
              <a:t>；</a:t>
            </a:r>
          </a:p>
          <a:p>
            <a:pPr algn="l"/>
            <a:r>
              <a:rPr lang="zh-CN" altLang="en-US" b="0" i="0" dirty="0">
                <a:solidFill>
                  <a:srgbClr val="000000"/>
                </a:solidFill>
                <a:effectLst/>
                <a:latin typeface="+mj-ea"/>
                <a:ea typeface="+mj-ea"/>
              </a:rPr>
              <a:t>加用户校准数据：关节误差可降至 </a:t>
            </a:r>
            <a:r>
              <a:rPr lang="en-US" altLang="zh-CN" b="1" i="0" dirty="0">
                <a:solidFill>
                  <a:srgbClr val="000000"/>
                </a:solidFill>
                <a:effectLst/>
                <a:latin typeface="+mj-ea"/>
                <a:ea typeface="+mj-ea"/>
              </a:rPr>
              <a:t>10.3 </a:t>
            </a:r>
            <a:r>
              <a:rPr lang="zh-CN" altLang="en-US" b="1" i="0" dirty="0">
                <a:solidFill>
                  <a:srgbClr val="000000"/>
                </a:solidFill>
                <a:effectLst/>
                <a:latin typeface="+mj-ea"/>
                <a:ea typeface="+mj-ea"/>
              </a:rPr>
              <a:t>毫米</a:t>
            </a:r>
            <a:r>
              <a:rPr lang="zh-CN" altLang="en-US" b="0" i="0" dirty="0">
                <a:solidFill>
                  <a:srgbClr val="000000"/>
                </a:solidFill>
                <a:effectLst/>
                <a:latin typeface="+mj-ea"/>
                <a:ea typeface="+mj-ea"/>
              </a:rPr>
              <a:t>。</a:t>
            </a:r>
          </a:p>
        </p:txBody>
      </p:sp>
      <p:sp>
        <p:nvSpPr>
          <p:cNvPr id="19" name="文本框 18">
            <a:extLst>
              <a:ext uri="{FF2B5EF4-FFF2-40B4-BE49-F238E27FC236}">
                <a16:creationId xmlns:a16="http://schemas.microsoft.com/office/drawing/2014/main" id="{66828D41-7F05-47EF-91B6-8EC23B2AE97D}"/>
              </a:ext>
            </a:extLst>
          </p:cNvPr>
          <p:cNvSpPr txBox="1"/>
          <p:nvPr/>
        </p:nvSpPr>
        <p:spPr>
          <a:xfrm>
            <a:off x="863480" y="4278653"/>
            <a:ext cx="6311900" cy="400110"/>
          </a:xfrm>
          <a:prstGeom prst="rect">
            <a:avLst/>
          </a:prstGeom>
          <a:noFill/>
        </p:spPr>
        <p:txBody>
          <a:bodyPr wrap="square">
            <a:spAutoFit/>
          </a:bodyPr>
          <a:lstStyle/>
          <a:p>
            <a:pPr algn="l"/>
            <a:r>
              <a:rPr lang="zh-CN" altLang="en-US" sz="2000" b="1" i="0" dirty="0">
                <a:solidFill>
                  <a:srgbClr val="000000"/>
                </a:solidFill>
                <a:effectLst/>
                <a:latin typeface="+mj-ea"/>
                <a:ea typeface="+mj-ea"/>
              </a:rPr>
              <a:t>核心价值</a:t>
            </a:r>
          </a:p>
        </p:txBody>
      </p:sp>
      <p:sp>
        <p:nvSpPr>
          <p:cNvPr id="21" name="文本框 20">
            <a:extLst>
              <a:ext uri="{FF2B5EF4-FFF2-40B4-BE49-F238E27FC236}">
                <a16:creationId xmlns:a16="http://schemas.microsoft.com/office/drawing/2014/main" id="{4FCF8010-36F1-43A2-8882-C43AC4D23721}"/>
              </a:ext>
            </a:extLst>
          </p:cNvPr>
          <p:cNvSpPr txBox="1"/>
          <p:nvPr/>
        </p:nvSpPr>
        <p:spPr>
          <a:xfrm>
            <a:off x="863480" y="2636112"/>
            <a:ext cx="6311900" cy="400110"/>
          </a:xfrm>
          <a:prstGeom prst="rect">
            <a:avLst/>
          </a:prstGeom>
          <a:noFill/>
        </p:spPr>
        <p:txBody>
          <a:bodyPr wrap="square">
            <a:spAutoFit/>
          </a:bodyPr>
          <a:lstStyle/>
          <a:p>
            <a:pPr algn="l"/>
            <a:r>
              <a:rPr lang="zh-CN" altLang="en-US" sz="2000" b="1" i="0" dirty="0">
                <a:solidFill>
                  <a:srgbClr val="000000"/>
                </a:solidFill>
                <a:effectLst/>
                <a:latin typeface="+mj-ea"/>
                <a:ea typeface="+mj-ea"/>
              </a:rPr>
              <a:t>用户研究结果</a:t>
            </a:r>
          </a:p>
        </p:txBody>
      </p:sp>
    </p:spTree>
    <p:extLst>
      <p:ext uri="{BB962C8B-B14F-4D97-AF65-F5344CB8AC3E}">
        <p14:creationId xmlns:p14="http://schemas.microsoft.com/office/powerpoint/2010/main" val="451114550"/>
      </p:ext>
    </p:extLst>
  </p:cSld>
  <p:clrMapOvr>
    <a:masterClrMapping/>
  </p:clrMapOvr>
</p:sld>
</file>

<file path=ppt/theme/theme1.xml><?xml version="1.0" encoding="utf-8"?>
<a:theme xmlns:a="http://schemas.openxmlformats.org/drawingml/2006/main" name="Office 主题​​">
  <a:themeElements>
    <a:clrScheme name="自定义 10">
      <a:dk1>
        <a:sysClr val="windowText" lastClr="000000"/>
      </a:dk1>
      <a:lt1>
        <a:sysClr val="window" lastClr="FFFFFF"/>
      </a:lt1>
      <a:dk2>
        <a:srgbClr val="44546A"/>
      </a:dk2>
      <a:lt2>
        <a:srgbClr val="E7E6E6"/>
      </a:lt2>
      <a:accent1>
        <a:srgbClr val="950041"/>
      </a:accent1>
      <a:accent2>
        <a:srgbClr val="4A2739"/>
      </a:accent2>
      <a:accent3>
        <a:srgbClr val="81156C"/>
      </a:accent3>
      <a:accent4>
        <a:srgbClr val="500022"/>
      </a:accent4>
      <a:accent5>
        <a:srgbClr val="C490AA"/>
      </a:accent5>
      <a:accent6>
        <a:srgbClr val="70AD47"/>
      </a:accent6>
      <a:hlink>
        <a:srgbClr val="0563C1"/>
      </a:hlink>
      <a:folHlink>
        <a:srgbClr val="954F72"/>
      </a:folHlink>
    </a:clrScheme>
    <a:fontScheme name="常用模板">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2098</TotalTime>
  <Words>2865</Words>
  <Application>Microsoft Office PowerPoint</Application>
  <PresentationFormat>宽屏</PresentationFormat>
  <Paragraphs>178</Paragraphs>
  <Slides>18</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Google Sans Flex</vt:lpstr>
      <vt:lpstr>Inter</vt:lpstr>
      <vt:lpstr>等线</vt:lpstr>
      <vt:lpstr>宋体</vt:lpstr>
      <vt:lpstr>微软雅黑</vt:lpstr>
      <vt:lpstr>Arial</vt:lpstr>
      <vt:lpstr>Arial Black</vt:lpstr>
      <vt:lpstr>Segoe UI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suxia</dc:creator>
  <cp:lastModifiedBy>王锦鸿</cp:lastModifiedBy>
  <cp:revision>298</cp:revision>
  <dcterms:created xsi:type="dcterms:W3CDTF">2020-06-03T03:11:00Z</dcterms:created>
  <dcterms:modified xsi:type="dcterms:W3CDTF">2025-12-11T12:33:35Z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