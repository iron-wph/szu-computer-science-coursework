
<file path=[Content_Types].xml><?xml version="1.0" encoding="utf-8"?>
<Types xmlns="http://schemas.openxmlformats.org/package/2006/content-types">
  <Default Extension="docx" ContentType="application/vnd.openxmlformats-officedocument.wordprocessingml.documen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heme/theme2.xml" ContentType="application/vnd.openxmlformats-officedocument.them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1.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notesSlides/notesSlide2.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notesSlides/notesSlide3.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notesSlides/notesSlide4.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5.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notesSlides/notesSlide6.xml" ContentType="application/vnd.openxmlformats-officedocument.presentationml.notesSlide+xml"/>
  <Override PartName="/ppt/tags/tag94.xml" ContentType="application/vnd.openxmlformats-officedocument.presentationml.tags+xml"/>
  <Override PartName="/ppt/notesSlides/notesSlide7.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notesSlides/notesSlide8.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notesSlides/notesSlide9.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notesSlides/notesSlide10.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notesSlides/notesSlide11.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notesSlides/notesSlide12.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notesSlides/notesSlide13.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notesSlides/notesSlide14.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notesSlides/notesSlide15.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notesSlides/notesSlide16.xml" ContentType="application/vnd.openxmlformats-officedocument.presentationml.notesSlide+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17.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notesSlides/notesSlide18.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notesSlides/notesSlide19.xml" ContentType="application/vnd.openxmlformats-officedocument.presentationml.notesSlide+xml"/>
  <Override PartName="/ppt/tags/tag120.xml" ContentType="application/vnd.openxmlformats-officedocument.presentationml.tags+xml"/>
  <Override PartName="/ppt/tags/tag121.xml" ContentType="application/vnd.openxmlformats-officedocument.presentationml.tags+xml"/>
  <Override PartName="/ppt/notesSlides/notesSlide20.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notesSlides/notesSlide21.xml" ContentType="application/vnd.openxmlformats-officedocument.presentationml.notesSlide+xml"/>
  <Override PartName="/ppt/tags/tag124.xml" ContentType="application/vnd.openxmlformats-officedocument.presentationml.tags+xml"/>
  <Override PartName="/ppt/notesSlides/notesSlide22.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notesSlides/notesSlide23.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notesSlides/notesSlide24.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notesSlides/notesSlide25.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notesSlides/notesSlide26.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notesSlides/notesSlide27.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notesSlides/notesSlide28.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notesSlides/notesSlide29.xml" ContentType="application/vnd.openxmlformats-officedocument.presentationml.notesSlide+xml"/>
  <Override PartName="/ppt/tags/tag139.xml" ContentType="application/vnd.openxmlformats-officedocument.presentationml.tags+xml"/>
  <Override PartName="/ppt/notesSlides/notesSlide30.xml" ContentType="application/vnd.openxmlformats-officedocument.presentationml.notesSlide+xml"/>
  <Override PartName="/ppt/tags/tag140.xml" ContentType="application/vnd.openxmlformats-officedocument.presentationml.tags+xml"/>
  <Override PartName="/ppt/tags/tag141.xml" ContentType="application/vnd.openxmlformats-officedocument.presentationml.tags+xml"/>
  <Override PartName="/ppt/notesSlides/notesSlide31.xml" ContentType="application/vnd.openxmlformats-officedocument.presentationml.notesSlide+xml"/>
  <Override PartName="/ppt/tags/tag142.xml" ContentType="application/vnd.openxmlformats-officedocument.presentationml.tags+xml"/>
  <Override PartName="/ppt/tags/tag143.xml" ContentType="application/vnd.openxmlformats-officedocument.presentationml.tags+xml"/>
  <Override PartName="/ppt/notesSlides/notesSlide32.xml" ContentType="application/vnd.openxmlformats-officedocument.presentationml.notesSlide+xml"/>
  <Override PartName="/ppt/tags/tag144.xml" ContentType="application/vnd.openxmlformats-officedocument.presentationml.tags+xml"/>
  <Override PartName="/ppt/notesSlides/notesSlide33.xml" ContentType="application/vnd.openxmlformats-officedocument.presentationml.notesSlide+xml"/>
  <Override PartName="/ppt/tags/tag145.xml" ContentType="application/vnd.openxmlformats-officedocument.presentationml.tags+xml"/>
  <Override PartName="/ppt/tags/tag146.xml" ContentType="application/vnd.openxmlformats-officedocument.presentationml.tags+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8" r:id="rId2"/>
    <p:sldId id="286" r:id="rId3"/>
    <p:sldId id="264" r:id="rId4"/>
    <p:sldId id="293" r:id="rId5"/>
    <p:sldId id="294" r:id="rId6"/>
    <p:sldId id="295" r:id="rId7"/>
    <p:sldId id="299" r:id="rId8"/>
    <p:sldId id="338" r:id="rId9"/>
    <p:sldId id="339" r:id="rId10"/>
    <p:sldId id="341" r:id="rId11"/>
    <p:sldId id="300" r:id="rId12"/>
    <p:sldId id="303" r:id="rId13"/>
    <p:sldId id="306" r:id="rId14"/>
    <p:sldId id="310" r:id="rId15"/>
    <p:sldId id="312" r:id="rId16"/>
    <p:sldId id="319" r:id="rId17"/>
    <p:sldId id="322" r:id="rId18"/>
    <p:sldId id="325" r:id="rId19"/>
    <p:sldId id="327" r:id="rId20"/>
    <p:sldId id="362" r:id="rId21"/>
    <p:sldId id="343" r:id="rId22"/>
    <p:sldId id="344" r:id="rId23"/>
    <p:sldId id="345" r:id="rId24"/>
    <p:sldId id="346" r:id="rId25"/>
    <p:sldId id="349" r:id="rId26"/>
    <p:sldId id="347" r:id="rId27"/>
    <p:sldId id="342" r:id="rId28"/>
    <p:sldId id="354" r:id="rId29"/>
    <p:sldId id="355" r:id="rId30"/>
    <p:sldId id="357" r:id="rId31"/>
    <p:sldId id="356" r:id="rId32"/>
    <p:sldId id="358" r:id="rId33"/>
    <p:sldId id="359" r:id="rId34"/>
    <p:sldId id="360" r:id="rId35"/>
    <p:sldId id="350" r:id="rId36"/>
    <p:sldId id="352" r:id="rId37"/>
    <p:sldId id="361" r:id="rId38"/>
    <p:sldId id="351" r:id="rId39"/>
    <p:sldId id="353" r:id="rId40"/>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6">
          <p15:clr>
            <a:srgbClr val="A4A3A4"/>
          </p15:clr>
        </p15:guide>
        <p15:guide id="2" pos="357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锦鸿" initials="王锦鸿" lastIdx="1" clrIdx="0">
    <p:extLst>
      <p:ext uri="{19B8F6BF-5375-455C-9EA6-DF929625EA0E}">
        <p15:presenceInfo xmlns:p15="http://schemas.microsoft.com/office/powerpoint/2012/main" userId="王锦鸿"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94B71"/>
    <a:srgbClr val="8F6C8F"/>
    <a:srgbClr val="955BA5"/>
    <a:srgbClr val="CC64AA"/>
    <a:srgbClr val="C993B7"/>
    <a:srgbClr val="7C5886"/>
    <a:srgbClr val="DCBBE3"/>
    <a:srgbClr val="C54B48"/>
    <a:srgbClr val="D4CFF3"/>
    <a:srgbClr val="C0B4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A0E2CC-B4EF-4B63-9D23-2CE5F0807826}" v="111" dt="2025-10-16T15:12:05.590"/>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68" autoAdjust="0"/>
    <p:restoredTop sz="72461" autoAdjust="0"/>
  </p:normalViewPr>
  <p:slideViewPr>
    <p:cSldViewPr snapToGrid="0">
      <p:cViewPr varScale="1">
        <p:scale>
          <a:sx n="71" d="100"/>
          <a:sy n="71" d="100"/>
        </p:scale>
        <p:origin x="1576" y="56"/>
      </p:cViewPr>
      <p:guideLst>
        <p:guide orient="horz" pos="2216"/>
        <p:guide pos="3574"/>
      </p:guideLst>
    </p:cSldViewPr>
  </p:slideViewPr>
  <p:outlineViewPr>
    <p:cViewPr>
      <p:scale>
        <a:sx n="33" d="100"/>
        <a:sy n="33" d="100"/>
      </p:scale>
      <p:origin x="0" y="-2848"/>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2025/10/17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陀螺仪：</a:t>
            </a:r>
            <a:r>
              <a:rPr lang="en-US" altLang="zh-CN" dirty="0"/>
              <a:t> 该研究通过优化算法来提高跌倒检测的准确性。具体来说，研究人员利用加速度计和陀螺仪的数据，结合机器学习技术，开发了一种能够区分跌倒和其他日常活动的算法。这种算法通过分析传感器数据中的特征，如加速度的变化率和陀螺仪的旋转角度，来判断是否发生了跌倒</a:t>
            </a:r>
          </a:p>
          <a:p>
            <a:r>
              <a:rPr lang="zh-CN" altLang="en-US" dirty="0"/>
              <a:t>气压传感器：</a:t>
            </a:r>
          </a:p>
          <a:p>
            <a:r>
              <a:rPr lang="zh-CN" altLang="en-US" dirty="0"/>
              <a:t>气压传感器：该研究提出了一种结合气压计和三轴加速度计的跌倒检测算法。气压计可以检测到跌倒过程中气压的快速变化，而三轴加速度计则可以捕捉到加速度的变化。通过结合这两种传感器的数据，算法能够更准确地识别跌倒事件。</a:t>
            </a:r>
          </a:p>
          <a:p>
            <a:r>
              <a:rPr lang="en-US" altLang="zh-CN" dirty="0"/>
              <a:t>RFID</a:t>
            </a:r>
            <a:r>
              <a:rPr lang="zh-CN" altLang="en-US" dirty="0"/>
              <a:t>：该研究提出了一种基于室内 RFID 的步态监测系统，用于检测跌倒事件。系统通过在室内环境中部署 RFID 标签和读取器，实时监测人体的运动轨迹和步态特征。具体来说，RFID 标签被放置在受试者的衣物上，而读取器则安装在室内环境中，用于捕捉标签的信号。通过分析这些信号的变化，系统能够识别出跌倒事件。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音频噪声：</a:t>
            </a:r>
            <a:r>
              <a:rPr lang="en-US" altLang="zh-CN" dirty="0"/>
              <a:t> 该研究提出了一种基于麦克风阵列的跌倒检测系统，利用多个麦克风捕捉声音信号，并通过信号处理和模式识别技术来检测跌倒事件。具体来说，该系统通过分析声音信号的特征，如声音的强度、频率和持续时间，来区分跌倒和其他日常活动</a:t>
            </a:r>
          </a:p>
          <a:p>
            <a:r>
              <a:rPr lang="zh-CN" altLang="en-US" dirty="0"/>
              <a:t>地板振动：该研究提出了一种基于地板振动的被动跌倒检测系统。系统通过在地板上安装传感器，捕捉人体跌倒时产生的振动信号。这些传感器能够检测到跌倒事件的振动特征，并通过信号处理和模式识别技术来区分跌倒和其他日常活动。</a:t>
            </a:r>
          </a:p>
          <a:p>
            <a:r>
              <a:rPr lang="zh-CN" altLang="en-US" dirty="0"/>
              <a:t>红外数据：该研究提出了一种基于红外天花板传感器网络的跌倒检测系统。系统通过在天花板上安装多个红外传感器，实时监测人体的运动轨迹和行为模式。这些传感器能够捕捉到人体的热辐射信号，并通过信号处理和模式识别技术来区分跌倒和其他日常活动</a:t>
            </a:r>
          </a:p>
          <a:p>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b="0" i="0" dirty="0" err="1">
                <a:effectLst/>
                <a:latin typeface="Inter"/>
              </a:rPr>
              <a:t>WiFi</a:t>
            </a:r>
            <a:r>
              <a:rPr lang="en-US" altLang="zh-CN" b="0" i="0" dirty="0">
                <a:effectLst/>
                <a:latin typeface="Inter"/>
              </a:rPr>
              <a:t> </a:t>
            </a:r>
            <a:r>
              <a:rPr lang="zh-CN" altLang="en-US" b="0" i="0" dirty="0">
                <a:effectLst/>
                <a:latin typeface="Inter"/>
              </a:rPr>
              <a:t>信号在室内传播时，会经天花板、地面等多条路径传播。当有人员存在，人体散射会引入额外路径，接收信号就带着人员和环境的信息。</a:t>
            </a:r>
            <a:r>
              <a:rPr lang="zh-CN" altLang="en-US" b="0" i="0" dirty="0">
                <a:solidFill>
                  <a:srgbClr val="333333"/>
                </a:solidFill>
                <a:effectLst/>
                <a:latin typeface="Helvetica Neue"/>
              </a:rPr>
              <a:t>将物理空间（包括环境中的物体和人员）视为一个无线信道，</a:t>
            </a:r>
            <a:r>
              <a:rPr lang="zh-CN" altLang="en-US" b="1" i="0" dirty="0">
                <a:solidFill>
                  <a:srgbClr val="FF0000"/>
                </a:solidFill>
                <a:effectLst/>
                <a:latin typeface="Helvetica Neue"/>
              </a:rPr>
              <a:t>信道状态信息（</a:t>
            </a:r>
            <a:r>
              <a:rPr lang="en-US" altLang="zh-CN" b="1" i="0" dirty="0">
                <a:solidFill>
                  <a:srgbClr val="FF0000"/>
                </a:solidFill>
                <a:effectLst/>
                <a:latin typeface="Helvetica Neue"/>
              </a:rPr>
              <a:t>CSI</a:t>
            </a:r>
            <a:r>
              <a:rPr lang="zh-CN" altLang="en-US" b="1" i="0" dirty="0">
                <a:solidFill>
                  <a:srgbClr val="FF0000"/>
                </a:solidFill>
                <a:effectLst/>
                <a:latin typeface="Helvetica Neue"/>
              </a:rPr>
              <a:t>）</a:t>
            </a:r>
            <a:r>
              <a:rPr lang="zh-CN" altLang="en-US" b="1" i="0" dirty="0">
                <a:solidFill>
                  <a:srgbClr val="333333"/>
                </a:solidFill>
                <a:effectLst/>
                <a:latin typeface="Helvetica Neue"/>
              </a:rPr>
              <a:t>就描述了无线信号通过该信道时所受到的影响</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a:p>
            <a:endParaRPr lang="en-US" altLang="zh-CN" b="0" i="0">
              <a:solidFill>
                <a:srgbClr val="333333"/>
              </a:solidFill>
              <a:effectLst/>
              <a:latin typeface="Helvetica Neue"/>
            </a:endParaRPr>
          </a:p>
          <a:p>
            <a:endParaRPr lang="en-US" altLang="zh-CN" dirty="0"/>
          </a:p>
        </p:txBody>
      </p:sp>
    </p:spTree>
    <p:extLst>
      <p:ext uri="{BB962C8B-B14F-4D97-AF65-F5344CB8AC3E}">
        <p14:creationId xmlns:p14="http://schemas.microsoft.com/office/powerpoint/2010/main" val="18067251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3941925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E65C8-10DE-A7AC-1615-6A9DA10352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422139-2308-F6A4-9684-E5CF6992E34F}"/>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13ECB83C-883F-173B-193C-559CEF787FCA}"/>
              </a:ext>
            </a:extLst>
          </p:cNvPr>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40425267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04961-829F-8BA0-F260-4A7E05ED7AB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6D14E9-DCEB-66E4-8C9D-66B9A0B2ABA1}"/>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82F34C5-01C3-4891-7D33-586ECCF989E1}"/>
              </a:ext>
            </a:extLst>
          </p:cNvPr>
          <p:cNvSpPr>
            <a:spLocks noGrp="1"/>
          </p:cNvSpPr>
          <p:nvPr>
            <p:ph type="body" idx="3"/>
          </p:nvPr>
        </p:nvSpPr>
        <p:spPr/>
        <p:txBody>
          <a:bodyPr/>
          <a:lstStyle/>
          <a:p>
            <a:r>
              <a:rPr lang="zh-CN" altLang="zh-CN" sz="1200" kern="1200" dirty="0">
                <a:solidFill>
                  <a:schemeClr val="tx1"/>
                </a:solidFill>
                <a:effectLst/>
                <a:latin typeface="+mn-lt"/>
                <a:ea typeface="+mn-ea"/>
                <a:cs typeface="+mn-cs"/>
              </a:rPr>
              <a:t>运动引起的</a:t>
            </a:r>
            <a:r>
              <a:rPr lang="zh-CN" altLang="zh-CN" sz="1200" b="1" kern="1200" dirty="0">
                <a:solidFill>
                  <a:schemeClr val="tx1"/>
                </a:solidFill>
                <a:effectLst/>
                <a:latin typeface="+mn-lt"/>
                <a:ea typeface="+mn-ea"/>
                <a:cs typeface="+mn-cs"/>
              </a:rPr>
              <a:t>振幅变化幅度在从</a:t>
            </a:r>
            <a:r>
              <a:rPr lang="en-US" altLang="zh-CN" sz="1200" b="1" kern="1200" dirty="0">
                <a:solidFill>
                  <a:schemeClr val="tx1"/>
                </a:solidFill>
                <a:effectLst/>
                <a:latin typeface="+mn-lt"/>
                <a:ea typeface="+mn-ea"/>
                <a:cs typeface="+mn-cs"/>
              </a:rPr>
              <a:t> LOS </a:t>
            </a:r>
            <a:r>
              <a:rPr lang="zh-CN" altLang="zh-CN" sz="1200" b="1" kern="1200" dirty="0">
                <a:solidFill>
                  <a:schemeClr val="tx1"/>
                </a:solidFill>
                <a:effectLst/>
                <a:latin typeface="+mn-lt"/>
                <a:ea typeface="+mn-ea"/>
                <a:cs typeface="+mn-cs"/>
              </a:rPr>
              <a:t>到</a:t>
            </a:r>
            <a:r>
              <a:rPr lang="en-US" altLang="zh-CN" sz="1200" b="1" kern="1200" dirty="0">
                <a:solidFill>
                  <a:schemeClr val="tx1"/>
                </a:solidFill>
                <a:effectLst/>
                <a:latin typeface="+mn-lt"/>
                <a:ea typeface="+mn-ea"/>
                <a:cs typeface="+mn-cs"/>
              </a:rPr>
              <a:t> NLOS </a:t>
            </a:r>
            <a:r>
              <a:rPr lang="zh-CN" altLang="zh-CN" sz="1200" b="1" kern="1200" dirty="0">
                <a:solidFill>
                  <a:schemeClr val="tx1"/>
                </a:solidFill>
                <a:effectLst/>
                <a:latin typeface="+mn-lt"/>
                <a:ea typeface="+mn-ea"/>
                <a:cs typeface="+mn-cs"/>
              </a:rPr>
              <a:t>的条件下变小</a:t>
            </a:r>
            <a:r>
              <a:rPr lang="zh-CN" altLang="zh-CN" sz="1200" kern="1200" dirty="0">
                <a:solidFill>
                  <a:schemeClr val="tx1"/>
                </a:solidFill>
                <a:effectLst/>
                <a:latin typeface="+mn-lt"/>
                <a:ea typeface="+mn-ea"/>
                <a:cs typeface="+mn-cs"/>
              </a:rPr>
              <a:t>。这是意料之中的，因为信号传播会受到路径损耗的影响。</a:t>
            </a:r>
            <a:r>
              <a:rPr lang="zh-CN" altLang="zh-CN" dirty="0">
                <a:effectLst/>
              </a:rPr>
              <a:t> </a:t>
            </a:r>
            <a:endParaRPr lang="en-US" altLang="zh-CN" dirty="0"/>
          </a:p>
        </p:txBody>
      </p:sp>
    </p:spTree>
    <p:extLst>
      <p:ext uri="{BB962C8B-B14F-4D97-AF65-F5344CB8AC3E}">
        <p14:creationId xmlns:p14="http://schemas.microsoft.com/office/powerpoint/2010/main" val="1194123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A6524-5C0A-6B30-197F-926F2349F7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248D77-3150-CE9B-C428-A27FF03C0751}"/>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E5B57DE2-6CEF-EF28-49F1-152EBE7835EB}"/>
              </a:ext>
            </a:extLst>
          </p:cNvPr>
          <p:cNvSpPr>
            <a:spLocks noGrp="1"/>
          </p:cNvSpPr>
          <p:nvPr>
            <p:ph type="body" idx="3"/>
          </p:nvPr>
        </p:nvSpPr>
        <p:spPr/>
        <p:txBody>
          <a:bodyPr/>
          <a:lstStyle/>
          <a:p>
            <a:r>
              <a:rPr lang="zh-CN" altLang="zh-CN" sz="1200" kern="1200" dirty="0">
                <a:solidFill>
                  <a:schemeClr val="tx1"/>
                </a:solidFill>
                <a:effectLst/>
                <a:latin typeface="+mn-lt"/>
                <a:ea typeface="+mn-ea"/>
                <a:cs typeface="+mn-cs"/>
              </a:rPr>
              <a:t>在所有跌落中，</a:t>
            </a:r>
            <a:r>
              <a:rPr lang="zh-CN" altLang="zh-CN" sz="1200" b="1" kern="1200" dirty="0">
                <a:solidFill>
                  <a:schemeClr val="tx1"/>
                </a:solidFill>
                <a:effectLst/>
                <a:latin typeface="+mn-lt"/>
                <a:ea typeface="+mn-ea"/>
                <a:cs typeface="+mn-cs"/>
              </a:rPr>
              <a:t>振幅变化幅度都显示出从波动状态到稳定状态的明显转变。</a:t>
            </a:r>
            <a:r>
              <a:rPr lang="zh-CN" altLang="zh-CN" sz="1200" kern="1200" dirty="0">
                <a:solidFill>
                  <a:schemeClr val="tx1"/>
                </a:solidFill>
                <a:effectLst/>
                <a:latin typeface="+mn-lt"/>
                <a:ea typeface="+mn-ea"/>
                <a:cs typeface="+mn-cs"/>
              </a:rPr>
              <a:t>这是意料之中的，因为跌倒通常最终会以一动不动的姿势（例如，躺在地板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沙发上）结束，从而导致相对稳定的信号变化模式。看来我们可以</a:t>
            </a:r>
            <a:r>
              <a:rPr lang="zh-CN" altLang="zh-CN" sz="1200" b="1" kern="1200" dirty="0">
                <a:solidFill>
                  <a:schemeClr val="tx1"/>
                </a:solidFill>
                <a:effectLst/>
                <a:latin typeface="+mn-lt"/>
                <a:ea typeface="+mn-ea"/>
                <a:cs typeface="+mn-cs"/>
              </a:rPr>
              <a:t>将过渡用作实时活动分割的功能</a:t>
            </a:r>
            <a:r>
              <a:rPr lang="zh-CN" altLang="zh-CN" sz="1200" kern="1200" dirty="0">
                <a:solidFill>
                  <a:schemeClr val="tx1"/>
                </a:solidFill>
                <a:effectLst/>
                <a:latin typeface="+mn-lt"/>
                <a:ea typeface="+mn-ea"/>
                <a:cs typeface="+mn-cs"/>
              </a:rPr>
              <a:t>。不幸的是，由于许多人类日常活动最终都可能导致某种不动的活动，从所有这些活动组合中挑出真正的跌倒是非常困难的，甚至是不可能的。</a:t>
            </a:r>
            <a:r>
              <a:rPr lang="zh-CN" altLang="zh-CN" dirty="0">
                <a:effectLst/>
              </a:rPr>
              <a:t> </a:t>
            </a:r>
            <a:endParaRPr lang="en-US" altLang="zh-CN" dirty="0"/>
          </a:p>
        </p:txBody>
      </p:sp>
    </p:spTree>
    <p:extLst>
      <p:ext uri="{BB962C8B-B14F-4D97-AF65-F5344CB8AC3E}">
        <p14:creationId xmlns:p14="http://schemas.microsoft.com/office/powerpoint/2010/main" val="19330081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91E4C-8412-CC89-2A04-BAB43C26CD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7B592E-BC7F-1487-2742-1646E3E22626}"/>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D499B89-0102-41FB-CE07-FC40CEE0BE07}"/>
              </a:ext>
            </a:extLst>
          </p:cNvPr>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dirty="0">
                <a:solidFill>
                  <a:srgbClr val="775480"/>
                </a:solidFill>
                <a:latin typeface="微软雅黑 Light" panose="020B0502040204020203" charset="-122"/>
                <a:ea typeface="微软雅黑 Light" panose="020B0502040204020203" charset="-122"/>
              </a:rPr>
              <a:t>从</a:t>
            </a:r>
            <a:r>
              <a:rPr lang="en-US" altLang="zh-CN" sz="1200" dirty="0">
                <a:solidFill>
                  <a:srgbClr val="775480"/>
                </a:solidFill>
                <a:latin typeface="微软雅黑 Light" panose="020B0502040204020203" charset="-122"/>
                <a:ea typeface="微软雅黑 Light" panose="020B0502040204020203" charset="-122"/>
              </a:rPr>
              <a:t> CSI </a:t>
            </a:r>
            <a:r>
              <a:rPr lang="zh-CN" altLang="zh-CN" sz="1200" dirty="0">
                <a:solidFill>
                  <a:srgbClr val="775480"/>
                </a:solidFill>
                <a:latin typeface="微软雅黑 Light" panose="020B0502040204020203" charset="-122"/>
                <a:ea typeface="微软雅黑 Light" panose="020B0502040204020203" charset="-122"/>
              </a:rPr>
              <a:t>流的角度看，</a:t>
            </a:r>
            <a:r>
              <a:rPr lang="zh-CN" altLang="zh-CN" sz="1200" b="1" dirty="0">
                <a:solidFill>
                  <a:srgbClr val="775480"/>
                </a:solidFill>
                <a:latin typeface="微软雅黑 Light" panose="020B0502040204020203" charset="-122"/>
                <a:ea typeface="微软雅黑 Light" panose="020B0502040204020203" charset="-122"/>
              </a:rPr>
              <a:t>两根天线间相位差的方差等于各自方差之和</a:t>
            </a:r>
            <a:r>
              <a:rPr lang="zh-CN" altLang="zh-CN" sz="1200" dirty="0">
                <a:solidFill>
                  <a:srgbClr val="775480"/>
                </a:solidFill>
                <a:latin typeface="微软雅黑 Light" panose="020B0502040204020203" charset="-122"/>
                <a:ea typeface="微软雅黑 Light" panose="020B0502040204020203" charset="-122"/>
              </a:rPr>
              <a:t>，这意味着，相位差信号比振幅信号对环境变化更加敏感。因此，</a:t>
            </a:r>
            <a:r>
              <a:rPr lang="en-US" altLang="zh-CN" sz="1200" dirty="0">
                <a:solidFill>
                  <a:srgbClr val="775480"/>
                </a:solidFill>
                <a:latin typeface="微软雅黑 Light" panose="020B0502040204020203" charset="-122"/>
                <a:ea typeface="微软雅黑 Light" panose="020B0502040204020203" charset="-122"/>
              </a:rPr>
              <a:t>CSI </a:t>
            </a:r>
            <a:r>
              <a:rPr lang="zh-CN" altLang="zh-CN" sz="1200" dirty="0">
                <a:solidFill>
                  <a:srgbClr val="775480"/>
                </a:solidFill>
                <a:latin typeface="微软雅黑 Light" panose="020B0502040204020203" charset="-122"/>
                <a:ea typeface="微软雅黑 Light" panose="020B0502040204020203" charset="-122"/>
              </a:rPr>
              <a:t>的相位差相较于幅度，更适合作为表征人体活动的基础信号（</a:t>
            </a:r>
            <a:r>
              <a:rPr lang="en-US" altLang="zh-CN" sz="1200" dirty="0">
                <a:solidFill>
                  <a:srgbClr val="775480"/>
                </a:solidFill>
                <a:latin typeface="微软雅黑 Light" panose="020B0502040204020203" charset="-122"/>
                <a:ea typeface="微软雅黑 Light" panose="020B0502040204020203" charset="-122"/>
              </a:rPr>
              <a:t>base signal</a:t>
            </a:r>
            <a:r>
              <a:rPr lang="zh-CN" altLang="zh-CN" sz="1200" dirty="0">
                <a:solidFill>
                  <a:srgbClr val="775480"/>
                </a:solidFill>
                <a:latin typeface="微软雅黑 Light" panose="020B0502040204020203" charset="-122"/>
                <a:ea typeface="微软雅黑 Light" panose="020B0502040204020203" charset="-122"/>
              </a:rPr>
              <a:t>）</a:t>
            </a:r>
          </a:p>
          <a:p>
            <a:endParaRPr lang="en-US" altLang="zh-CN" dirty="0"/>
          </a:p>
        </p:txBody>
      </p:sp>
    </p:spTree>
    <p:extLst>
      <p:ext uri="{BB962C8B-B14F-4D97-AF65-F5344CB8AC3E}">
        <p14:creationId xmlns:p14="http://schemas.microsoft.com/office/powerpoint/2010/main" val="16457301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04E45-BCFB-C9E8-9FFD-F4E4A19458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C92D81-4363-8662-8C0C-DE17DF8A777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A2631DE-6107-96CD-D976-914FCDA0AD87}"/>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1700491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69FF8-0B1F-848E-2297-47624ECF8E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A78B5B-9766-0B86-7C16-8798A13D0AA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1B54314-8E81-5D1B-CAA4-83636BDB242F}"/>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2438970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774D9-6928-2066-845A-43415D7479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27A14F-2046-DABA-414B-297A5B443C11}"/>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0071E19-9024-D184-7111-1C5669BB2019}"/>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987430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A40EA-50A9-9F2B-08FE-16D3E4DAEE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0F33FC-B357-B681-982E-5B89306758B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A71B359-F966-7BDD-7C46-E4135FB9747B}"/>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317579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D4CB0-47DB-F070-1BBE-D67A5000A9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3646EC-8381-FD4B-548E-857EE015231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04FA138-B2C9-09DF-5377-8AB461364D62}"/>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9633943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Helvetica Neue"/>
              </a:rPr>
              <a:t>在确定跌倒和类跌倒活动的起始点和结束点后，即可分离出这些活动对应的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相位差和幅度信息。跌倒检测模块的目标是将跌倒与类跌倒活动区分开。</a:t>
            </a:r>
            <a:endParaRPr lang="zh-CN" altLang="en-US" dirty="0"/>
          </a:p>
          <a:p>
            <a:endParaRPr lang="en-US" altLang="zh-CN" dirty="0"/>
          </a:p>
        </p:txBody>
      </p:sp>
    </p:spTree>
    <p:extLst>
      <p:ext uri="{BB962C8B-B14F-4D97-AF65-F5344CB8AC3E}">
        <p14:creationId xmlns:p14="http://schemas.microsoft.com/office/powerpoint/2010/main" val="21033937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5722568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12606945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38139153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zh-CN" altLang="en-US" b="0" i="0" dirty="0">
                <a:solidFill>
                  <a:srgbClr val="333333"/>
                </a:solidFill>
                <a:effectLst/>
                <a:latin typeface="Helvetica Neue"/>
              </a:rPr>
              <a:t>本研究的前</a:t>
            </a:r>
            <a:r>
              <a:rPr lang="en-US" altLang="zh-CN" b="0" i="0" dirty="0">
                <a:solidFill>
                  <a:srgbClr val="333333"/>
                </a:solidFill>
                <a:effectLst/>
                <a:latin typeface="Helvetica Neue"/>
              </a:rPr>
              <a:t>6</a:t>
            </a:r>
            <a:r>
              <a:rPr lang="zh-CN" altLang="en-US" b="0" i="0" dirty="0">
                <a:solidFill>
                  <a:srgbClr val="333333"/>
                </a:solidFill>
                <a:effectLst/>
                <a:latin typeface="Helvetica Neue"/>
              </a:rPr>
              <a:t>类特征从</a:t>
            </a:r>
            <a:r>
              <a:rPr lang="en-US" altLang="zh-CN" b="0" i="0" dirty="0">
                <a:solidFill>
                  <a:srgbClr val="333333"/>
                </a:solidFill>
                <a:effectLst/>
                <a:latin typeface="Helvetica Neue"/>
              </a:rPr>
              <a:t>CSI</a:t>
            </a:r>
            <a:r>
              <a:rPr lang="zh-CN" altLang="en-US" b="0" i="0" dirty="0">
                <a:solidFill>
                  <a:srgbClr val="333333"/>
                </a:solidFill>
                <a:effectLst/>
                <a:latin typeface="Helvetica Neue"/>
              </a:rPr>
              <a:t>幅度和相位差中提取，两类新特征仅从相位差中提取，这</a:t>
            </a:r>
            <a:r>
              <a:rPr lang="en-US" altLang="zh-CN" b="0" i="0" dirty="0">
                <a:solidFill>
                  <a:srgbClr val="333333"/>
                </a:solidFill>
                <a:effectLst/>
                <a:latin typeface="Helvetica Neue"/>
              </a:rPr>
              <a:t>8</a:t>
            </a:r>
            <a:r>
              <a:rPr lang="zh-CN" altLang="en-US" b="0" i="0" dirty="0">
                <a:solidFill>
                  <a:srgbClr val="333333"/>
                </a:solidFill>
                <a:effectLst/>
                <a:latin typeface="Helvetica Neue"/>
              </a:rPr>
              <a:t>类特征共同构成支持向量机（</a:t>
            </a:r>
            <a:r>
              <a:rPr lang="en-US" altLang="zh-CN" b="0" i="0" dirty="0">
                <a:solidFill>
                  <a:srgbClr val="333333"/>
                </a:solidFill>
                <a:effectLst/>
                <a:latin typeface="Helvetica Neue"/>
              </a:rPr>
              <a:t>SVM</a:t>
            </a:r>
            <a:r>
              <a:rPr lang="zh-CN" altLang="en-US" b="0" i="0" dirty="0">
                <a:solidFill>
                  <a:srgbClr val="333333"/>
                </a:solidFill>
                <a:effectLst/>
                <a:latin typeface="Helvetica Neue"/>
              </a:rPr>
              <a:t>）分类器的输入。</a:t>
            </a:r>
            <a:endParaRPr lang="en-US" altLang="zh-CN" b="0"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r>
              <a:rPr lang="zh-CN" altLang="en-US" b="0" i="0" dirty="0">
                <a:solidFill>
                  <a:srgbClr val="333333"/>
                </a:solidFill>
                <a:effectLst/>
                <a:latin typeface="Helvetica Neue"/>
              </a:rPr>
              <a:t>为解决非线性分类问题，分类器通过核函数将输入样本映射到高维特征空间，并在变换后的特征空间中寻找最大间隔超平面。</a:t>
            </a:r>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r>
              <a:rPr lang="en-US" altLang="zh-CN" b="0" i="0" dirty="0">
                <a:solidFill>
                  <a:srgbClr val="333333"/>
                </a:solidFill>
                <a:effectLst/>
                <a:latin typeface="Helvetica Neue"/>
              </a:rPr>
              <a:t>SVM</a:t>
            </a:r>
            <a:r>
              <a:rPr lang="zh-CN" altLang="en-US" b="0" i="0" dirty="0">
                <a:solidFill>
                  <a:srgbClr val="333333"/>
                </a:solidFill>
                <a:effectLst/>
                <a:latin typeface="Helvetica Neue"/>
              </a:rPr>
              <a:t>分类器需要训练数据集和测试数据集：在分类模型构建过程中，首先在活动分割阶段从连续捕获的</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无线信号流中分割出跌倒和类跌倒活动并进行标记，然后将提取的特征及其对应的标记输入</a:t>
            </a:r>
            <a:r>
              <a:rPr lang="en-US" altLang="zh-CN" b="0" i="0" dirty="0">
                <a:solidFill>
                  <a:srgbClr val="333333"/>
                </a:solidFill>
                <a:effectLst/>
                <a:latin typeface="Helvetica Neue"/>
              </a:rPr>
              <a:t>SVM</a:t>
            </a:r>
            <a:r>
              <a:rPr lang="zh-CN" altLang="en-US" b="0" i="0" dirty="0">
                <a:solidFill>
                  <a:srgbClr val="333333"/>
                </a:solidFill>
                <a:effectLst/>
                <a:latin typeface="Helvetica Neue"/>
              </a:rPr>
              <a:t>分类器，构建分类模型；在实时跌倒检测过程中，记录分类结果和数据样本，结合用户反馈，对错误分类结果进行重新标记，并及时触发模型更新过程以更新分类模型。研究人员利用</a:t>
            </a:r>
            <a:r>
              <a:rPr lang="en-US" altLang="zh-CN" b="0" i="0" dirty="0" err="1">
                <a:solidFill>
                  <a:srgbClr val="333333"/>
                </a:solidFill>
                <a:effectLst/>
                <a:latin typeface="Helvetica Neue"/>
              </a:rPr>
              <a:t>LibSVM</a:t>
            </a:r>
            <a:r>
              <a:rPr lang="en-US" altLang="zh-CN" b="0" i="0" dirty="0">
                <a:solidFill>
                  <a:srgbClr val="333333"/>
                </a:solidFill>
                <a:effectLst/>
                <a:latin typeface="Helvetica Neue"/>
              </a:rPr>
              <a:t>[48]</a:t>
            </a:r>
            <a:r>
              <a:rPr lang="zh-CN" altLang="en-US" b="0" i="0" dirty="0">
                <a:solidFill>
                  <a:srgbClr val="333333"/>
                </a:solidFill>
                <a:effectLst/>
                <a:latin typeface="Helvetica Neue"/>
              </a:rPr>
              <a:t>构建</a:t>
            </a:r>
            <a:r>
              <a:rPr lang="en-US" altLang="zh-CN" b="0" i="0" dirty="0" err="1">
                <a:solidFill>
                  <a:srgbClr val="333333"/>
                </a:solidFill>
                <a:effectLst/>
                <a:latin typeface="KaTeX_Main"/>
              </a:rPr>
              <a:t>ν</a:t>
            </a:r>
            <a:r>
              <a:rPr lang="en-US" altLang="zh-CN" b="0" i="1" dirty="0" err="1">
                <a:solidFill>
                  <a:srgbClr val="333333"/>
                </a:solidFill>
                <a:effectLst/>
                <a:latin typeface="KaTeX_Math"/>
              </a:rPr>
              <a:t>ν</a:t>
            </a:r>
            <a:r>
              <a:rPr lang="en-US" altLang="zh-CN" b="0" i="0" dirty="0">
                <a:solidFill>
                  <a:srgbClr val="333333"/>
                </a:solidFill>
                <a:effectLst/>
                <a:latin typeface="Helvetica Neue"/>
              </a:rPr>
              <a:t>-SVM</a:t>
            </a:r>
            <a:r>
              <a:rPr lang="zh-CN" altLang="en-US" b="0" i="0" dirty="0">
                <a:solidFill>
                  <a:srgbClr val="333333"/>
                </a:solidFill>
                <a:effectLst/>
                <a:latin typeface="Helvetica Neue"/>
              </a:rPr>
              <a:t>分类模型，选择高斯径向基函数（</a:t>
            </a:r>
            <a:r>
              <a:rPr lang="en-US" altLang="zh-CN" b="0" i="0" dirty="0">
                <a:solidFill>
                  <a:srgbClr val="333333"/>
                </a:solidFill>
                <a:effectLst/>
                <a:latin typeface="Helvetica Neue"/>
              </a:rPr>
              <a:t>RBF</a:t>
            </a:r>
            <a:r>
              <a:rPr lang="zh-CN" altLang="en-US" b="0" i="0" dirty="0">
                <a:solidFill>
                  <a:srgbClr val="333333"/>
                </a:solidFill>
                <a:effectLst/>
                <a:latin typeface="Helvetica Neue"/>
              </a:rPr>
              <a:t>）作为核函数，并将参数</a:t>
            </a:r>
            <a:r>
              <a:rPr lang="en-US" altLang="zh-CN" b="0" i="0" dirty="0" err="1">
                <a:solidFill>
                  <a:srgbClr val="333333"/>
                </a:solidFill>
                <a:effectLst/>
                <a:latin typeface="KaTeX_Main"/>
              </a:rPr>
              <a:t>ν</a:t>
            </a:r>
            <a:r>
              <a:rPr lang="en-US" altLang="zh-CN" b="0" i="1" dirty="0" err="1">
                <a:solidFill>
                  <a:srgbClr val="333333"/>
                </a:solidFill>
                <a:effectLst/>
                <a:latin typeface="KaTeX_Math"/>
              </a:rPr>
              <a:t>ν</a:t>
            </a:r>
            <a:r>
              <a:rPr lang="zh-CN" altLang="en-US" b="0" i="0" dirty="0">
                <a:solidFill>
                  <a:srgbClr val="333333"/>
                </a:solidFill>
                <a:effectLst/>
                <a:latin typeface="Helvetica Neue"/>
              </a:rPr>
              <a:t>设置为</a:t>
            </a:r>
            <a:r>
              <a:rPr lang="en-US" altLang="zh-CN" b="0" i="0" dirty="0">
                <a:solidFill>
                  <a:srgbClr val="333333"/>
                </a:solidFill>
                <a:effectLst/>
                <a:latin typeface="Helvetica Neue"/>
              </a:rPr>
              <a:t>0.5</a:t>
            </a:r>
            <a:r>
              <a:rPr lang="zh-CN" altLang="en-US" b="0" i="0" dirty="0">
                <a:solidFill>
                  <a:srgbClr val="333333"/>
                </a:solidFill>
                <a:effectLst/>
                <a:latin typeface="Helvetica Neue"/>
              </a:rPr>
              <a:t>（该参数表示训练误差比例的上限和支持向量比例的下限），其他参数采用默认值。</a:t>
            </a:r>
          </a:p>
          <a:p>
            <a:endParaRPr lang="en-US" altLang="zh-CN" dirty="0"/>
          </a:p>
        </p:txBody>
      </p:sp>
    </p:spTree>
    <p:extLst>
      <p:ext uri="{BB962C8B-B14F-4D97-AF65-F5344CB8AC3E}">
        <p14:creationId xmlns:p14="http://schemas.microsoft.com/office/powerpoint/2010/main" val="3414530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27</a:t>
            </a:fld>
            <a:endParaRPr lang="zh-CN" altLang="en-US"/>
          </a:p>
        </p:txBody>
      </p:sp>
    </p:spTree>
    <p:extLst>
      <p:ext uri="{BB962C8B-B14F-4D97-AF65-F5344CB8AC3E}">
        <p14:creationId xmlns:p14="http://schemas.microsoft.com/office/powerpoint/2010/main" val="30995965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54719-4BCF-23A5-DD99-21233BB164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6FBBB9-C00C-1B58-3E39-93BA9571EDA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6FF60EF8-D632-CFE2-951B-F69D5AA7962C}"/>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40161459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A2658-7B8A-C4B4-4F69-38DC7F9F95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270622-794D-D6C7-7261-DD5714E4B38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1E659AB-2BA0-20A8-4248-733FC856F03F}"/>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0708030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0F774-AD37-0CCA-08E2-DC25B7D6DF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3686A6-16AD-D1BD-34B8-64968EFC1DE6}"/>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9F5181CB-EA5A-C6FB-EBAA-317F7AB2F3F1}"/>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2678520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1ED30-5C8B-43F8-98E3-48001E1D78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65A6E0-6243-6A51-7819-61CD17ADBFE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AF4194B6-B2FF-4259-88FB-DFBFAAC9494C}"/>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6076790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A4046-1406-9CE3-4BEE-BCA08762BB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E0B6F6-B3FB-B27A-5FFF-0D541E945482}"/>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C1723FB-B46C-65C9-41D6-989816DE5681}"/>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3144956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FD6CA-3B72-42F2-3BF5-1D531E3914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4DA0FC6-3124-D3C1-4E43-7BE657C736F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4D883343-ADD0-9A2C-37FB-0C516FFD5498}"/>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41181005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305D5-9A38-2CCB-3B77-652803401D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C59807-342D-FC89-5F99-A71B1DFAEB8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3953234A-5514-4171-EB3D-AAFD4AB41A54}"/>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19540496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35</a:t>
            </a:fld>
            <a:endParaRPr lang="zh-CN" altLang="en-US"/>
          </a:p>
        </p:txBody>
      </p:sp>
    </p:spTree>
    <p:extLst>
      <p:ext uri="{BB962C8B-B14F-4D97-AF65-F5344CB8AC3E}">
        <p14:creationId xmlns:p14="http://schemas.microsoft.com/office/powerpoint/2010/main" val="9587484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A7B10-DEEC-2B95-77D3-4E45060B41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F8B45C-136C-5C1B-41EE-5FFFF2808AB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D31B7D1-0C35-48CC-9ECB-58634175F560}"/>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0109305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0C969-8CEB-A3D6-328E-1E99C41170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C43679-5465-0464-F6D8-0AF137C7FF81}"/>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B945663-003E-E432-7012-2395AC943616}"/>
              </a:ext>
            </a:extLst>
          </p:cNvPr>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32007549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38</a:t>
            </a:fld>
            <a:endParaRPr lang="zh-CN" altLang="en-US"/>
          </a:p>
        </p:txBody>
      </p:sp>
    </p:spTree>
    <p:extLst>
      <p:ext uri="{BB962C8B-B14F-4D97-AF65-F5344CB8AC3E}">
        <p14:creationId xmlns:p14="http://schemas.microsoft.com/office/powerpoint/2010/main" val="30193834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606-6243-9A7E-E078-A0265FBF9C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97921B-947A-7793-9E93-77E22D72E0F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6C83A93A-1DBF-0870-7E17-2FB5A4A34DF5}"/>
              </a:ext>
            </a:extLst>
          </p:cNvPr>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3609858554"/>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3" Type="http://schemas.openxmlformats.org/officeDocument/2006/relationships/tags" Target="../tags/tag10.xml"/><Relationship Id="rId7" Type="http://schemas.openxmlformats.org/officeDocument/2006/relationships/tags" Target="../tags/tag14.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10" Type="http://schemas.openxmlformats.org/officeDocument/2006/relationships/image" Target="../media/image2.png"/><Relationship Id="rId4" Type="http://schemas.openxmlformats.org/officeDocument/2006/relationships/tags" Target="../tags/tag11.xml"/><Relationship Id="rId9"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image" Target="../media/image4.png"/><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image" Target="../media/image3.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slideMaster" Target="../slideMasters/slideMaster1.xml"/><Relationship Id="rId5" Type="http://schemas.openxmlformats.org/officeDocument/2006/relationships/tags" Target="../tags/tag20.xml"/><Relationship Id="rId10" Type="http://schemas.openxmlformats.org/officeDocument/2006/relationships/tags" Target="../tags/tag25.xml"/><Relationship Id="rId4" Type="http://schemas.openxmlformats.org/officeDocument/2006/relationships/tags" Target="../tags/tag19.xml"/><Relationship Id="rId9" Type="http://schemas.openxmlformats.org/officeDocument/2006/relationships/tags" Target="../tags/tag24.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4.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3.png"/><Relationship Id="rId5" Type="http://schemas.openxmlformats.org/officeDocument/2006/relationships/tags" Target="../tags/tag30.xml"/><Relationship Id="rId10" Type="http://schemas.openxmlformats.org/officeDocument/2006/relationships/slideMaster" Target="../slideMasters/slideMaster1.xml"/><Relationship Id="rId4" Type="http://schemas.openxmlformats.org/officeDocument/2006/relationships/tags" Target="../tags/tag29.xml"/><Relationship Id="rId9" Type="http://schemas.openxmlformats.org/officeDocument/2006/relationships/tags" Target="../tags/tag34.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37.xml"/><Relationship Id="rId7"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8.xml"/><Relationship Id="rId3" Type="http://schemas.openxmlformats.org/officeDocument/2006/relationships/tags" Target="../tags/tag43.xml"/><Relationship Id="rId7" Type="http://schemas.openxmlformats.org/officeDocument/2006/relationships/tags" Target="../tags/tag47.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slideMaster" Target="../slideMasters/slideMaster1.xml"/><Relationship Id="rId4" Type="http://schemas.openxmlformats.org/officeDocument/2006/relationships/tags" Target="../tags/tag52.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58.xml"/><Relationship Id="rId7" Type="http://schemas.openxmlformats.org/officeDocument/2006/relationships/slideMaster" Target="../slideMasters/slideMaster1.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slideMaster" Target="../slideMasters/slideMaster1.xml"/><Relationship Id="rId5" Type="http://schemas.openxmlformats.org/officeDocument/2006/relationships/tags" Target="../tags/tag66.xml"/><Relationship Id="rId4" Type="http://schemas.openxmlformats.org/officeDocument/2006/relationships/tags" Target="../tags/tag65.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slideMaster" Target="../slideMasters/slideMaster1.xml"/><Relationship Id="rId4" Type="http://schemas.openxmlformats.org/officeDocument/2006/relationships/tags" Target="../tags/tag70.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73.xml"/><Relationship Id="rId7" Type="http://schemas.openxmlformats.org/officeDocument/2006/relationships/slideMaster" Target="../slideMasters/slideMaster1.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10"/>
          <a:stretch>
            <a:fillRect/>
          </a:stretch>
        </p:blipFill>
        <p:spPr>
          <a:xfrm>
            <a:off x="0" y="2560320"/>
            <a:ext cx="12192000" cy="4297680"/>
          </a:xfrm>
          <a:prstGeom prst="rect">
            <a:avLst/>
          </a:prstGeom>
        </p:spPr>
      </p:pic>
      <p:sp>
        <p:nvSpPr>
          <p:cNvPr id="9802" name="标题 1"/>
          <p:cNvSpPr>
            <a:spLocks noGrp="1"/>
          </p:cNvSpPr>
          <p:nvPr>
            <p:ph type="ctrTitle" hasCustomPrompt="1"/>
            <p:custDataLst>
              <p:tags r:id="rId2"/>
            </p:custDataLst>
          </p:nvPr>
        </p:nvSpPr>
        <p:spPr>
          <a:xfrm>
            <a:off x="668622" y="950006"/>
            <a:ext cx="5893621" cy="1089529"/>
          </a:xfrm>
        </p:spPr>
        <p:txBody>
          <a:bodyPr anchor="b" anchorCtr="0">
            <a:normAutofit/>
          </a:bodyPr>
          <a:lstStyle>
            <a:lvl1pPr algn="l">
              <a:lnSpc>
                <a:spcPct val="90000"/>
              </a:lnSpc>
              <a:defRPr sz="4000">
                <a:solidFill>
                  <a:schemeClr val="tx1"/>
                </a:solidFill>
              </a:defRPr>
            </a:lvl1pPr>
          </a:lstStyle>
          <a:p>
            <a:r>
              <a:rPr lang="zh-CN" altLang="en-US" dirty="0"/>
              <a:t>单击此处编辑标题</a:t>
            </a:r>
          </a:p>
        </p:txBody>
      </p:sp>
      <p:sp>
        <p:nvSpPr>
          <p:cNvPr id="9801" name="副标题 2"/>
          <p:cNvSpPr>
            <a:spLocks noGrp="1"/>
          </p:cNvSpPr>
          <p:nvPr>
            <p:ph type="subTitle" idx="1" hasCustomPrompt="1"/>
            <p:custDataLst>
              <p:tags r:id="rId3"/>
            </p:custDataLst>
          </p:nvPr>
        </p:nvSpPr>
        <p:spPr>
          <a:xfrm>
            <a:off x="668622" y="2147484"/>
            <a:ext cx="5893621" cy="412835"/>
          </a:xfrm>
        </p:spPr>
        <p:txBody>
          <a:bodyPr anchor="t" anchorCtr="0">
            <a:normAutofit/>
          </a:bodyPr>
          <a:lstStyle>
            <a:lvl1pPr marL="0" indent="0" algn="l">
              <a:lnSpc>
                <a:spcPct val="90000"/>
              </a:lnSpc>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4" name="文本占位符 3"/>
          <p:cNvSpPr>
            <a:spLocks noGrp="1"/>
          </p:cNvSpPr>
          <p:nvPr>
            <p:ph type="body" sz="quarter" idx="10" hasCustomPrompt="1"/>
            <p:custDataLst>
              <p:tags r:id="rId4"/>
            </p:custDataLst>
          </p:nvPr>
        </p:nvSpPr>
        <p:spPr>
          <a:xfrm>
            <a:off x="668338" y="4438650"/>
            <a:ext cx="3691789" cy="324000"/>
          </a:xfrm>
        </p:spPr>
        <p:txBody>
          <a:bodyPr anchor="ctr" anchorCtr="0">
            <a:normAutofit/>
          </a:bodyPr>
          <a:lstStyle>
            <a:lvl1pPr marL="0" indent="0">
              <a:buNone/>
              <a:defRPr sz="1800"/>
            </a:lvl1pPr>
          </a:lstStyle>
          <a:p>
            <a:pPr lvl="0"/>
            <a:r>
              <a:rPr lang="zh-CN" altLang="en-US" dirty="0"/>
              <a:t>单击此处编辑副标题</a:t>
            </a:r>
          </a:p>
        </p:txBody>
      </p:sp>
      <p:sp>
        <p:nvSpPr>
          <p:cNvPr id="6" name="文本占位符 5"/>
          <p:cNvSpPr>
            <a:spLocks noGrp="1"/>
          </p:cNvSpPr>
          <p:nvPr>
            <p:ph type="body" sz="quarter" idx="11" hasCustomPrompt="1"/>
            <p:custDataLst>
              <p:tags r:id="rId5"/>
            </p:custDataLst>
          </p:nvPr>
        </p:nvSpPr>
        <p:spPr>
          <a:xfrm>
            <a:off x="668338" y="4806296"/>
            <a:ext cx="3691789" cy="324000"/>
          </a:xfrm>
        </p:spPr>
        <p:txBody>
          <a:bodyPr anchor="ctr" anchorCtr="0">
            <a:normAutofit/>
          </a:bodyPr>
          <a:lstStyle>
            <a:lvl1pPr marL="0" indent="0">
              <a:buNone/>
              <a:defRPr sz="1800"/>
            </a:lvl1pPr>
          </a:lstStyle>
          <a:p>
            <a:pPr lvl="0"/>
            <a:r>
              <a:rPr lang="zh-CN" altLang="en-US" dirty="0"/>
              <a:t>单击此处编辑副标题</a:t>
            </a:r>
          </a:p>
        </p:txBody>
      </p:sp>
      <p:sp>
        <p:nvSpPr>
          <p:cNvPr id="3" name="日期占位符 2"/>
          <p:cNvSpPr>
            <a:spLocks noGrp="1"/>
          </p:cNvSpPr>
          <p:nvPr>
            <p:ph type="dt" sz="half" idx="12"/>
            <p:custDataLst>
              <p:tags r:id="rId6"/>
            </p:custDataLst>
          </p:nvPr>
        </p:nvSpPr>
        <p:spPr/>
        <p:txBody>
          <a:bodyPr/>
          <a:lstStyle/>
          <a:p>
            <a:fld id="{760FBDFE-C587-4B4C-A407-44438C67B59E}" type="datetimeFigureOut">
              <a:rPr lang="zh-CN" altLang="en-US" smtClean="0"/>
              <a:t>2025/10/17</a:t>
            </a:fld>
            <a:endParaRPr lang="zh-CN" altLang="en-US"/>
          </a:p>
        </p:txBody>
      </p:sp>
      <p:sp>
        <p:nvSpPr>
          <p:cNvPr id="5" name="页脚占位符 4"/>
          <p:cNvSpPr>
            <a:spLocks noGrp="1"/>
          </p:cNvSpPr>
          <p:nvPr>
            <p:ph type="ftr" sz="quarter" idx="13"/>
            <p:custDataLst>
              <p:tags r:id="rId7"/>
            </p:custDataLst>
          </p:nvPr>
        </p:nvSpPr>
        <p:spPr/>
        <p:txBody>
          <a:bodyPr/>
          <a:lstStyle/>
          <a:p>
            <a:endParaRPr lang="zh-CN" altLang="en-US" dirty="0"/>
          </a:p>
        </p:txBody>
      </p:sp>
      <p:sp>
        <p:nvSpPr>
          <p:cNvPr id="7" name="灯片编号占位符 6"/>
          <p:cNvSpPr>
            <a:spLocks noGrp="1"/>
          </p:cNvSpPr>
          <p:nvPr>
            <p:ph type="sldNum" sz="quarter" idx="14"/>
            <p:custDataLst>
              <p:tags r:id="rId8"/>
            </p:custDataLst>
          </p:nvPr>
        </p:nvSpPr>
        <p:spPr/>
        <p:txBody>
          <a:bodyPr/>
          <a:lstStyle/>
          <a:p>
            <a:fld id="{49AE70B2-8BF9-45C0-BB95-33D1B9D3A854}" type="slidenum">
              <a:rPr lang="zh-CN" altLang="en-US" smtClean="0"/>
              <a:t>‹#›</a:t>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0" y="5571111"/>
            <a:ext cx="12192000" cy="1286889"/>
            <a:chOff x="0" y="5571111"/>
            <a:chExt cx="12192000" cy="1286889"/>
          </a:xfrm>
        </p:grpSpPr>
        <p:pic>
          <p:nvPicPr>
            <p:cNvPr id="10" name="图片 9"/>
            <p:cNvPicPr>
              <a:picLocks noChangeAspect="1"/>
            </p:cNvPicPr>
            <p:nvPr>
              <p:custDataLst>
                <p:tags r:id="rId9"/>
              </p:custDataLst>
            </p:nvPr>
          </p:nvPicPr>
          <p:blipFill>
            <a:blip r:embed="rId12"/>
            <a:stretch>
              <a:fillRect/>
            </a:stretch>
          </p:blipFill>
          <p:spPr>
            <a:xfrm>
              <a:off x="9960600" y="5571111"/>
              <a:ext cx="2184535" cy="1209295"/>
            </a:xfrm>
            <a:prstGeom prst="rect">
              <a:avLst/>
            </a:prstGeom>
          </p:spPr>
        </p:pic>
        <p:sp>
          <p:nvSpPr>
            <p:cNvPr id="11" name="矩形 10"/>
            <p:cNvSpPr/>
            <p:nvPr>
              <p:custDataLst>
                <p:tags r:id="rId10"/>
              </p:custDataLst>
            </p:nvPr>
          </p:nvSpPr>
          <p:spPr>
            <a:xfrm>
              <a:off x="0" y="6780406"/>
              <a:ext cx="12192000" cy="7759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cxnSp>
        <p:nvCxnSpPr>
          <p:cNvPr id="7" name="直接连接符 6"/>
          <p:cNvCxnSpPr/>
          <p:nvPr>
            <p:custDataLst>
              <p:tags r:id="rId2"/>
            </p:custDataLst>
          </p:nvPr>
        </p:nvCxnSpPr>
        <p:spPr>
          <a:xfrm>
            <a:off x="140087" y="731501"/>
            <a:ext cx="11911825" cy="11854"/>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custDataLst>
              <p:tags r:id="rId3"/>
            </p:custDataLst>
          </p:nvPr>
        </p:nvPicPr>
        <p:blipFill>
          <a:blip r:embed="rId13"/>
          <a:stretch>
            <a:fillRect/>
          </a:stretch>
        </p:blipFill>
        <p:spPr>
          <a:xfrm>
            <a:off x="237893" y="10930"/>
            <a:ext cx="460644" cy="732425"/>
          </a:xfrm>
          <a:prstGeom prst="rect">
            <a:avLst/>
          </a:prstGeom>
        </p:spPr>
      </p:pic>
      <p:sp>
        <p:nvSpPr>
          <p:cNvPr id="2" name="标题 1"/>
          <p:cNvSpPr>
            <a:spLocks noGrp="1"/>
          </p:cNvSpPr>
          <p:nvPr>
            <p:ph type="title"/>
            <p:custDataLst>
              <p:tags r:id="rId4"/>
            </p:custDataLst>
          </p:nvPr>
        </p:nvSpPr>
        <p:spPr>
          <a:xfrm>
            <a:off x="876000" y="334800"/>
            <a:ext cx="10440000" cy="1368000"/>
          </a:xfrm>
        </p:spPr>
        <p:txBody>
          <a:bodyPr>
            <a:normAutofit/>
          </a:bodyPr>
          <a:lstStyle>
            <a:lvl1pPr>
              <a:defRPr sz="40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custDataLst>
              <p:tags r:id="rId5"/>
            </p:custDataLst>
          </p:nvPr>
        </p:nvSpPr>
        <p:spPr>
          <a:xfrm>
            <a:off x="876000" y="1852295"/>
            <a:ext cx="10440000" cy="4320000"/>
          </a:xfrm>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t>2025/10/17</a:t>
            </a:fld>
            <a:endParaRPr lang="zh-CN" altLang="en-US" dirty="0"/>
          </a:p>
        </p:txBody>
      </p:sp>
      <p:sp>
        <p:nvSpPr>
          <p:cNvPr id="5" name="页脚占位符 4"/>
          <p:cNvSpPr>
            <a:spLocks noGrp="1"/>
          </p:cNvSpPr>
          <p:nvPr>
            <p:ph type="ftr" sz="quarter" idx="11"/>
            <p:custDataLst>
              <p:tags r:id="rId7"/>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12"/>
            <p:custDataLst>
              <p:tags r:id="rId8"/>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6" name="组合 5"/>
          <p:cNvGrpSpPr/>
          <p:nvPr>
            <p:custDataLst>
              <p:tags r:id="rId1"/>
            </p:custDataLst>
          </p:nvPr>
        </p:nvGrpSpPr>
        <p:grpSpPr>
          <a:xfrm>
            <a:off x="2292272" y="3615832"/>
            <a:ext cx="7607455" cy="971515"/>
            <a:chOff x="2305980" y="3602344"/>
            <a:chExt cx="7607455" cy="971515"/>
          </a:xfrm>
        </p:grpSpPr>
        <p:cxnSp>
          <p:nvCxnSpPr>
            <p:cNvPr id="4" name="直接连接符 3"/>
            <p:cNvCxnSpPr/>
            <p:nvPr>
              <p:custDataLst>
                <p:tags r:id="rId7"/>
              </p:custDataLst>
            </p:nvPr>
          </p:nvCxnSpPr>
          <p:spPr>
            <a:xfrm>
              <a:off x="2305980" y="4573859"/>
              <a:ext cx="7607455"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custDataLst>
                <p:tags r:id="rId8"/>
              </p:custDataLst>
            </p:nvPr>
          </p:nvPicPr>
          <p:blipFill>
            <a:blip r:embed="rId11"/>
            <a:stretch>
              <a:fillRect/>
            </a:stretch>
          </p:blipFill>
          <p:spPr>
            <a:xfrm>
              <a:off x="8719748" y="4002548"/>
              <a:ext cx="1024217" cy="566977"/>
            </a:xfrm>
            <a:prstGeom prst="rect">
              <a:avLst/>
            </a:prstGeom>
          </p:spPr>
        </p:pic>
        <p:pic>
          <p:nvPicPr>
            <p:cNvPr id="3" name="图片 2"/>
            <p:cNvPicPr>
              <a:picLocks noChangeAspect="1"/>
            </p:cNvPicPr>
            <p:nvPr>
              <p:custDataLst>
                <p:tags r:id="rId9"/>
              </p:custDataLst>
            </p:nvPr>
          </p:nvPicPr>
          <p:blipFill>
            <a:blip r:embed="rId12"/>
            <a:stretch>
              <a:fillRect/>
            </a:stretch>
          </p:blipFill>
          <p:spPr>
            <a:xfrm>
              <a:off x="2483459" y="3602344"/>
              <a:ext cx="609653" cy="969348"/>
            </a:xfrm>
            <a:prstGeom prst="rect">
              <a:avLst/>
            </a:prstGeom>
          </p:spPr>
        </p:pic>
      </p:grpSp>
      <p:sp>
        <p:nvSpPr>
          <p:cNvPr id="11" name="标题 1"/>
          <p:cNvSpPr>
            <a:spLocks noGrp="1"/>
          </p:cNvSpPr>
          <p:nvPr>
            <p:ph type="title" hasCustomPrompt="1"/>
            <p:custDataLst>
              <p:tags r:id="rId2"/>
            </p:custDataLst>
          </p:nvPr>
        </p:nvSpPr>
        <p:spPr>
          <a:xfrm>
            <a:off x="3270591" y="3813721"/>
            <a:ext cx="5271678" cy="716834"/>
          </a:xfrm>
          <a:prstGeom prst="rect">
            <a:avLst/>
          </a:prstGeom>
        </p:spPr>
        <p:txBody>
          <a:bodyPr anchor="b" anchorCtr="0">
            <a:normAutofit/>
          </a:bodyPr>
          <a:lstStyle>
            <a:lvl1pPr algn="ctr">
              <a:defRPr sz="3600" b="1">
                <a:solidFill>
                  <a:schemeClr val="tx1"/>
                </a:solidFill>
              </a:defRPr>
            </a:lvl1pPr>
          </a:lstStyle>
          <a:p>
            <a:r>
              <a:rPr lang="zh-CN" altLang="en-US" dirty="0"/>
              <a:t>单击此处编辑标题</a:t>
            </a:r>
          </a:p>
        </p:txBody>
      </p:sp>
      <p:sp>
        <p:nvSpPr>
          <p:cNvPr id="17" name="文本占位符 2"/>
          <p:cNvSpPr>
            <a:spLocks noGrp="1"/>
          </p:cNvSpPr>
          <p:nvPr>
            <p:ph type="body" idx="1" hasCustomPrompt="1"/>
            <p:custDataLst>
              <p:tags r:id="rId3"/>
            </p:custDataLst>
          </p:nvPr>
        </p:nvSpPr>
        <p:spPr>
          <a:xfrm>
            <a:off x="3270591" y="4644140"/>
            <a:ext cx="5271678" cy="1297689"/>
          </a:xfrm>
          <a:prstGeom prst="rect">
            <a:avLst/>
          </a:prstGeom>
        </p:spPr>
        <p:txBody>
          <a:bodyPr anchor="t">
            <a:normAutofit/>
          </a:bodyPr>
          <a:lstStyle>
            <a:lvl1pPr marL="0" indent="0" algn="ctr">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单击此处编辑副标题</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2025/10/17</a:t>
            </a:fld>
            <a:endParaRPr lang="zh-CN" altLang="en-US"/>
          </a:p>
        </p:txBody>
      </p:sp>
      <p:sp>
        <p:nvSpPr>
          <p:cNvPr id="7" name="页脚占位符 6"/>
          <p:cNvSpPr>
            <a:spLocks noGrp="1"/>
          </p:cNvSpPr>
          <p:nvPr>
            <p:ph type="ftr" sz="quarter" idx="11"/>
            <p:custDataLst>
              <p:tags r:id="rId5"/>
            </p:custDataLst>
          </p:nvPr>
        </p:nvSpPr>
        <p:spPr/>
        <p:txBody>
          <a:bodyPr/>
          <a:lstStyle/>
          <a:p>
            <a:endParaRPr lang="zh-CN" altLang="en-US" dirty="0"/>
          </a:p>
        </p:txBody>
      </p:sp>
      <p:sp>
        <p:nvSpPr>
          <p:cNvPr id="8" name="灯片编号占位符 7"/>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lvl1pPr>
              <a:defRPr sz="4000"/>
            </a:lvl1pPr>
          </a:lstStyle>
          <a:p>
            <a:r>
              <a:rPr lang="zh-CN" altLang="en-US" dirty="0"/>
              <a:t>单击此处编辑母版标题样式</a:t>
            </a:r>
          </a:p>
        </p:txBody>
      </p:sp>
      <p:sp>
        <p:nvSpPr>
          <p:cNvPr id="3" name="内容占位符 2"/>
          <p:cNvSpPr>
            <a:spLocks noGrp="1"/>
          </p:cNvSpPr>
          <p:nvPr>
            <p:ph sz="half" idx="1"/>
            <p:custDataLst>
              <p:tags r:id="rId2"/>
            </p:custDataLst>
          </p:nvPr>
        </p:nvSpPr>
        <p:spPr>
          <a:xfrm>
            <a:off x="874712" y="1854200"/>
            <a:ext cx="5112000" cy="432117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custDataLst>
              <p:tags r:id="rId3"/>
            </p:custDataLst>
          </p:nvPr>
        </p:nvSpPr>
        <p:spPr>
          <a:xfrm>
            <a:off x="6198600" y="1854200"/>
            <a:ext cx="5112000" cy="432117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2025/10/17</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74800" y="334800"/>
            <a:ext cx="10440000" cy="1368000"/>
          </a:xfrm>
        </p:spPr>
        <p:txBody>
          <a:bodyPr>
            <a:normAutofit/>
          </a:bodyPr>
          <a:lstStyle>
            <a:lvl1pPr>
              <a:defRPr sz="4000"/>
            </a:lvl1pPr>
          </a:lstStyle>
          <a:p>
            <a:r>
              <a:rPr lang="zh-CN" altLang="en-US" dirty="0"/>
              <a:t>单击此处编辑母版标题样式</a:t>
            </a:r>
          </a:p>
        </p:txBody>
      </p:sp>
      <p:sp>
        <p:nvSpPr>
          <p:cNvPr id="3" name="文本占位符 2"/>
          <p:cNvSpPr>
            <a:spLocks noGrp="1"/>
          </p:cNvSpPr>
          <p:nvPr>
            <p:ph type="body" idx="1"/>
            <p:custDataLst>
              <p:tags r:id="rId2"/>
            </p:custDataLst>
          </p:nvPr>
        </p:nvSpPr>
        <p:spPr>
          <a:xfrm>
            <a:off x="874713" y="1854298"/>
            <a:ext cx="5112000" cy="72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custDataLst>
              <p:tags r:id="rId3"/>
            </p:custDataLst>
          </p:nvPr>
        </p:nvSpPr>
        <p:spPr>
          <a:xfrm>
            <a:off x="874712" y="2716271"/>
            <a:ext cx="5112000" cy="34560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custDataLst>
              <p:tags r:id="rId4"/>
            </p:custDataLst>
          </p:nvPr>
        </p:nvSpPr>
        <p:spPr>
          <a:xfrm>
            <a:off x="6195764" y="1854298"/>
            <a:ext cx="5112000" cy="72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custDataLst>
              <p:tags r:id="rId5"/>
            </p:custDataLst>
          </p:nvPr>
        </p:nvSpPr>
        <p:spPr>
          <a:xfrm>
            <a:off x="6195760" y="2716271"/>
            <a:ext cx="5112001" cy="34560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2025/10/17</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lvl1pPr>
              <a:defRPr sz="4000"/>
            </a:lvl1p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2025/10/17</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2025/10/17</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74800" y="334800"/>
            <a:ext cx="4176000" cy="1620000"/>
          </a:xfrm>
        </p:spPr>
        <p:txBody>
          <a:bodyPr anchor="t" anchorCtr="0">
            <a:normAutofit/>
          </a:bodyPr>
          <a:lstStyle>
            <a:lvl1pPr>
              <a:defRPr sz="4000"/>
            </a:lvl1pPr>
          </a:lstStyle>
          <a:p>
            <a:r>
              <a:rPr lang="zh-CN" altLang="en-US" dirty="0"/>
              <a:t>单击此处编辑母版标题样式</a:t>
            </a:r>
          </a:p>
        </p:txBody>
      </p:sp>
      <p:sp>
        <p:nvSpPr>
          <p:cNvPr id="3" name="图片占位符 2"/>
          <p:cNvSpPr>
            <a:spLocks noGrp="1" noChangeAspect="1"/>
          </p:cNvSpPr>
          <p:nvPr>
            <p:ph type="pic" idx="1"/>
            <p:custDataLst>
              <p:tags r:id="rId2"/>
            </p:custDataLst>
          </p:nvPr>
        </p:nvSpPr>
        <p:spPr>
          <a:xfrm>
            <a:off x="5193525" y="334800"/>
            <a:ext cx="6120000" cy="583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custDataLst>
              <p:tags r:id="rId3"/>
            </p:custDataLst>
          </p:nvPr>
        </p:nvSpPr>
        <p:spPr>
          <a:xfrm>
            <a:off x="874800" y="2111473"/>
            <a:ext cx="4176000" cy="40536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2025/10/17</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9795909" y="333375"/>
            <a:ext cx="1512000" cy="5832000"/>
          </a:xfrm>
        </p:spPr>
        <p:txBody>
          <a:bodyPr vert="eaVert">
            <a:normAutofit/>
          </a:bodyPr>
          <a:lstStyle>
            <a:lvl1pPr>
              <a:defRPr sz="3600"/>
            </a:lvl1pPr>
          </a:lstStyle>
          <a:p>
            <a:r>
              <a:rPr lang="zh-CN" altLang="en-US" dirty="0"/>
              <a:t>单击此处编辑母版标题样式</a:t>
            </a:r>
          </a:p>
        </p:txBody>
      </p:sp>
      <p:sp>
        <p:nvSpPr>
          <p:cNvPr id="3" name="竖排文字占位符 2"/>
          <p:cNvSpPr>
            <a:spLocks noGrp="1"/>
          </p:cNvSpPr>
          <p:nvPr>
            <p:ph type="body" orient="vert" idx="1"/>
            <p:custDataLst>
              <p:tags r:id="rId2"/>
            </p:custDataLst>
          </p:nvPr>
        </p:nvSpPr>
        <p:spPr>
          <a:xfrm>
            <a:off x="874800" y="334800"/>
            <a:ext cx="8784000" cy="5832000"/>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2025/10/17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2025/10/17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874713" y="333375"/>
            <a:ext cx="10440000" cy="583247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13" name="Freeform 2200"/>
          <p:cNvSpPr/>
          <p:nvPr>
            <p:custDataLst>
              <p:tags r:id="rId1"/>
            </p:custDataLst>
          </p:nvPr>
        </p:nvSpPr>
        <p:spPr bwMode="auto">
          <a:xfrm>
            <a:off x="3838065" y="4810252"/>
            <a:ext cx="4515870" cy="17750"/>
          </a:xfrm>
          <a:custGeom>
            <a:avLst/>
            <a:gdLst>
              <a:gd name="T0" fmla="*/ 5940 w 5953"/>
              <a:gd name="T1" fmla="*/ 24 h 24"/>
              <a:gd name="T2" fmla="*/ 13 w 5953"/>
              <a:gd name="T3" fmla="*/ 24 h 24"/>
              <a:gd name="T4" fmla="*/ 0 w 5953"/>
              <a:gd name="T5" fmla="*/ 12 h 24"/>
              <a:gd name="T6" fmla="*/ 13 w 5953"/>
              <a:gd name="T7" fmla="*/ 0 h 24"/>
              <a:gd name="T8" fmla="*/ 5940 w 5953"/>
              <a:gd name="T9" fmla="*/ 0 h 24"/>
              <a:gd name="T10" fmla="*/ 5953 w 5953"/>
              <a:gd name="T11" fmla="*/ 12 h 24"/>
              <a:gd name="T12" fmla="*/ 5940 w 5953"/>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5953" h="24">
                <a:moveTo>
                  <a:pt x="5940" y="24"/>
                </a:moveTo>
                <a:cubicBezTo>
                  <a:pt x="13" y="24"/>
                  <a:pt x="13" y="24"/>
                  <a:pt x="13" y="24"/>
                </a:cubicBezTo>
                <a:cubicBezTo>
                  <a:pt x="6" y="24"/>
                  <a:pt x="0" y="19"/>
                  <a:pt x="0" y="12"/>
                </a:cubicBezTo>
                <a:cubicBezTo>
                  <a:pt x="0" y="6"/>
                  <a:pt x="6" y="0"/>
                  <a:pt x="13" y="0"/>
                </a:cubicBezTo>
                <a:cubicBezTo>
                  <a:pt x="5940" y="0"/>
                  <a:pt x="5940" y="0"/>
                  <a:pt x="5940" y="0"/>
                </a:cubicBezTo>
                <a:cubicBezTo>
                  <a:pt x="5947" y="0"/>
                  <a:pt x="5953" y="6"/>
                  <a:pt x="5953" y="12"/>
                </a:cubicBezTo>
                <a:cubicBezTo>
                  <a:pt x="5953" y="19"/>
                  <a:pt x="5947" y="24"/>
                  <a:pt x="5940" y="24"/>
                </a:cubicBezTo>
                <a:close/>
              </a:path>
            </a:pathLst>
          </a:custGeom>
          <a:solidFill>
            <a:schemeClr val="accent1">
              <a:lumMod val="50000"/>
            </a:schemeClr>
          </a:solidFill>
          <a:ln>
            <a:solidFill>
              <a:schemeClr val="accent5">
                <a:lumMod val="50000"/>
              </a:schemeClr>
            </a:solidFill>
          </a:ln>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custDataLst>
              <p:tags r:id="rId2"/>
            </p:custDataLst>
          </p:nvPr>
        </p:nvPicPr>
        <p:blipFill>
          <a:blip r:embed="rId8"/>
          <a:stretch>
            <a:fillRect/>
          </a:stretch>
        </p:blipFill>
        <p:spPr>
          <a:xfrm>
            <a:off x="3838065" y="1125202"/>
            <a:ext cx="4511431" cy="2261812"/>
          </a:xfrm>
          <a:prstGeom prst="rect">
            <a:avLst/>
          </a:prstGeom>
        </p:spPr>
      </p:pic>
      <p:sp>
        <p:nvSpPr>
          <p:cNvPr id="11" name="标题 1"/>
          <p:cNvSpPr>
            <a:spLocks noGrp="1"/>
          </p:cNvSpPr>
          <p:nvPr>
            <p:ph type="ctrTitle" hasCustomPrompt="1"/>
            <p:custDataLst>
              <p:tags r:id="rId3"/>
            </p:custDataLst>
          </p:nvPr>
        </p:nvSpPr>
        <p:spPr>
          <a:xfrm>
            <a:off x="3609975" y="3457292"/>
            <a:ext cx="4972050" cy="1310878"/>
          </a:xfrm>
          <a:prstGeom prst="rect">
            <a:avLst/>
          </a:prstGeom>
        </p:spPr>
        <p:txBody>
          <a:bodyPr anchor="b">
            <a:noAutofit/>
          </a:bodyPr>
          <a:lstStyle>
            <a:lvl1pPr marL="0" indent="0" algn="ctr">
              <a:lnSpc>
                <a:spcPct val="90000"/>
              </a:lnSpc>
              <a:buFont typeface="Arial" panose="020B0604020202020204" pitchFamily="34" charset="0"/>
              <a:buNone/>
              <a:defRPr sz="6000">
                <a:solidFill>
                  <a:schemeClr val="tx1"/>
                </a:solidFill>
                <a:latin typeface="微软雅黑" panose="020B0503020204020204" pitchFamily="34" charset="-122"/>
                <a:ea typeface="微软雅黑" panose="020B0503020204020204" pitchFamily="34" charset="-122"/>
              </a:defRPr>
            </a:lvl1pPr>
          </a:lstStyle>
          <a:p>
            <a:r>
              <a:rPr lang="zh-CN" altLang="en-US" dirty="0"/>
              <a:t>单击编辑标题</a:t>
            </a:r>
          </a:p>
        </p:txBody>
      </p:sp>
      <p:sp>
        <p:nvSpPr>
          <p:cNvPr id="5" name="日期占位符 4"/>
          <p:cNvSpPr>
            <a:spLocks noGrp="1"/>
          </p:cNvSpPr>
          <p:nvPr>
            <p:ph type="dt" sz="half" idx="12"/>
            <p:custDataLst>
              <p:tags r:id="rId4"/>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t>2025/10/17</a:t>
            </a:fld>
            <a:endParaRPr lang="zh-CN" altLang="en-US" dirty="0"/>
          </a:p>
        </p:txBody>
      </p:sp>
      <p:sp>
        <p:nvSpPr>
          <p:cNvPr id="6" name="页脚占位符 5"/>
          <p:cNvSpPr>
            <a:spLocks noGrp="1"/>
          </p:cNvSpPr>
          <p:nvPr>
            <p:ph type="ftr" sz="quarter" idx="13"/>
            <p:custDataLst>
              <p:tags r:id="rId5"/>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14"/>
            <p:custDataLst>
              <p:tags r:id="rId6"/>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t>‹#›</a:t>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2025/10/17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tile tx="0" ty="0" sx="100000" sy="100000" flip="none" algn="tl"/>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876000" y="333375"/>
            <a:ext cx="10440000" cy="1366838"/>
          </a:xfrm>
          <a:prstGeom prst="rect">
            <a:avLst/>
          </a:prstGeom>
        </p:spPr>
        <p:txBody>
          <a:bodyPr vert="horz" lIns="91440" tIns="45720" rIns="91440" bIns="46800" rtlCol="0" anchor="b">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876000" y="1854000"/>
            <a:ext cx="10440000" cy="4320000"/>
          </a:xfrm>
          <a:prstGeom prst="rect">
            <a:avLst/>
          </a:prstGeom>
        </p:spPr>
        <p:txBody>
          <a:bodyPr vert="horz" lIns="91440" tIns="45720" rIns="9144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879742" y="6349833"/>
            <a:ext cx="2700000" cy="316800"/>
          </a:xfrm>
          <a:prstGeom prst="rect">
            <a:avLst/>
          </a:prstGeom>
        </p:spPr>
        <p:txBody>
          <a:bodyPr vert="horz" lIns="91440" tIns="45720" rIns="91440" bIns="46800" rtlCol="0" anchor="ctr">
            <a:normAutofit/>
          </a:bodyP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t>2025/10/17</a:t>
            </a:fld>
            <a:endParaRPr lang="zh-CN" altLang="en-US" dirty="0"/>
          </a:p>
        </p:txBody>
      </p:sp>
      <p:sp>
        <p:nvSpPr>
          <p:cNvPr id="5" name="页脚占位符 4"/>
          <p:cNvSpPr>
            <a:spLocks noGrp="1"/>
          </p:cNvSpPr>
          <p:nvPr>
            <p:ph type="ftr" sz="quarter" idx="3"/>
            <p:custDataLst>
              <p:tags r:id="rId17"/>
            </p:custDataLst>
          </p:nvPr>
        </p:nvSpPr>
        <p:spPr>
          <a:xfrm>
            <a:off x="4116000" y="6349833"/>
            <a:ext cx="3960000" cy="316800"/>
          </a:xfrm>
          <a:prstGeom prst="rect">
            <a:avLst/>
          </a:prstGeom>
        </p:spPr>
        <p:txBody>
          <a:bodyPr vert="horz" lIns="91440" tIns="45720" rIns="91440" bIns="46800" rtlCol="0" anchor="ctr">
            <a:normAutofit/>
          </a:bodyP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610600" y="6349833"/>
            <a:ext cx="2700000" cy="316800"/>
          </a:xfrm>
          <a:prstGeom prst="rect">
            <a:avLst/>
          </a:prstGeom>
        </p:spPr>
        <p:txBody>
          <a:bodyPr vert="horz" lIns="91440" tIns="45720" rIns="91440" bIns="46800" rtlCol="0" anchor="ctr">
            <a:normAutofit/>
          </a:bodyP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KSO_TEMPLATE" hidden="1"/>
          <p:cNvSpPr/>
          <p:nvPr>
            <p:custDataLst>
              <p:tags r:id="rId1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2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7.xml"/><Relationship Id="rId1" Type="http://schemas.openxmlformats.org/officeDocument/2006/relationships/tags" Target="../tags/tag77.xml"/></Relationships>
</file>

<file path=ppt/slides/_rels/slide2.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slideLayout" Target="../slideLayouts/slideLayout12.xml"/><Relationship Id="rId7" Type="http://schemas.openxmlformats.org/officeDocument/2006/relationships/image" Target="../media/image10.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7.xml"/><Relationship Id="rId1" Type="http://schemas.openxmlformats.org/officeDocument/2006/relationships/tags" Target="../tags/tag80.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slideLayout" Target="../slideLayouts/slideLayout7.xml"/><Relationship Id="rId7" Type="http://schemas.openxmlformats.org/officeDocument/2006/relationships/image" Target="../media/image15.png"/><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Layout" Target="../slideLayouts/slideLayout7.xml"/><Relationship Id="rId7" Type="http://schemas.openxmlformats.org/officeDocument/2006/relationships/image" Target="../media/image18.png"/><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image" Target="../media/image17.GIF"/><Relationship Id="rId5" Type="http://schemas.openxmlformats.org/officeDocument/2006/relationships/image" Target="../media/image13.jpeg"/><Relationship Id="rId4"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image" Target="../media/image20.png"/><Relationship Id="rId5" Type="http://schemas.openxmlformats.org/officeDocument/2006/relationships/image" Target="../media/image13.jpeg"/><Relationship Id="rId4"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image" Target="../media/image21.png"/><Relationship Id="rId5" Type="http://schemas.openxmlformats.org/officeDocument/2006/relationships/image" Target="../media/image13.jpeg"/><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7.xml"/><Relationship Id="rId1" Type="http://schemas.openxmlformats.org/officeDocument/2006/relationships/tags" Target="../tags/tag89.xml"/></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slideLayout" Target="../slideLayouts/slideLayout7.xml"/><Relationship Id="rId7" Type="http://schemas.openxmlformats.org/officeDocument/2006/relationships/image" Target="../media/image23.pn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22.png"/><Relationship Id="rId5" Type="http://schemas.openxmlformats.org/officeDocument/2006/relationships/image" Target="../media/image13.jpeg"/><Relationship Id="rId4"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22.png"/><Relationship Id="rId5" Type="http://schemas.openxmlformats.org/officeDocument/2006/relationships/image" Target="../media/image13.jpeg"/><Relationship Id="rId4"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94.xm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6.xml"/><Relationship Id="rId1" Type="http://schemas.openxmlformats.org/officeDocument/2006/relationships/tags" Target="../tags/tag95.xml"/><Relationship Id="rId5" Type="http://schemas.openxmlformats.org/officeDocument/2006/relationships/image" Target="../media/image24.png"/><Relationship Id="rId4"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8.xml"/><Relationship Id="rId1" Type="http://schemas.openxmlformats.org/officeDocument/2006/relationships/tags" Target="../tags/tag97.xml"/><Relationship Id="rId5" Type="http://schemas.openxmlformats.org/officeDocument/2006/relationships/image" Target="../media/image25.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0.xml"/><Relationship Id="rId1" Type="http://schemas.openxmlformats.org/officeDocument/2006/relationships/tags" Target="../tags/tag99.xml"/><Relationship Id="rId5" Type="http://schemas.openxmlformats.org/officeDocument/2006/relationships/image" Target="../media/image26.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8" Type="http://schemas.openxmlformats.org/officeDocument/2006/relationships/package" Target="../embeddings/Microsoft_Word_Document.docx"/><Relationship Id="rId13" Type="http://schemas.openxmlformats.org/officeDocument/2006/relationships/image" Target="../media/image34.png"/><Relationship Id="rId3" Type="http://schemas.openxmlformats.org/officeDocument/2006/relationships/tags" Target="../tags/tag102.xml"/><Relationship Id="rId7" Type="http://schemas.openxmlformats.org/officeDocument/2006/relationships/image" Target="../media/image29.png"/><Relationship Id="rId12" Type="http://schemas.openxmlformats.org/officeDocument/2006/relationships/image" Target="../media/image33.png"/><Relationship Id="rId2" Type="http://schemas.openxmlformats.org/officeDocument/2006/relationships/tags" Target="../tags/tag101.xml"/><Relationship Id="rId1" Type="http://schemas.openxmlformats.org/officeDocument/2006/relationships/vmlDrawing" Target="../drawings/vmlDrawing1.vml"/><Relationship Id="rId6" Type="http://schemas.openxmlformats.org/officeDocument/2006/relationships/image" Target="../media/image28.png"/><Relationship Id="rId11" Type="http://schemas.openxmlformats.org/officeDocument/2006/relationships/image" Target="../media/image32.png"/><Relationship Id="rId5" Type="http://schemas.openxmlformats.org/officeDocument/2006/relationships/notesSlide" Target="../notesSlides/notesSlide11.xml"/><Relationship Id="rId10" Type="http://schemas.openxmlformats.org/officeDocument/2006/relationships/image" Target="../media/image30.png"/><Relationship Id="rId4" Type="http://schemas.openxmlformats.org/officeDocument/2006/relationships/slideLayout" Target="../slideLayouts/slideLayout7.xml"/><Relationship Id="rId9" Type="http://schemas.openxmlformats.org/officeDocument/2006/relationships/image" Target="../media/image27.emf"/><Relationship Id="rId1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4.xml"/><Relationship Id="rId1" Type="http://schemas.openxmlformats.org/officeDocument/2006/relationships/tags" Target="../tags/tag103.xml"/><Relationship Id="rId5" Type="http://schemas.openxmlformats.org/officeDocument/2006/relationships/image" Target="../media/image36.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6.xml"/><Relationship Id="rId1" Type="http://schemas.openxmlformats.org/officeDocument/2006/relationships/tags" Target="../tags/tag105.xml"/><Relationship Id="rId5" Type="http://schemas.openxmlformats.org/officeDocument/2006/relationships/image" Target="../media/image37.png"/><Relationship Id="rId4"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8.xml"/><Relationship Id="rId1" Type="http://schemas.openxmlformats.org/officeDocument/2006/relationships/tags" Target="../tags/tag107.xml"/><Relationship Id="rId5" Type="http://schemas.openxmlformats.org/officeDocument/2006/relationships/image" Target="../media/image38.png"/><Relationship Id="rId4"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image" Target="../media/image39.png"/><Relationship Id="rId4"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2.xml"/><Relationship Id="rId1" Type="http://schemas.openxmlformats.org/officeDocument/2006/relationships/tags" Target="../tags/tag111.xml"/><Relationship Id="rId5" Type="http://schemas.openxmlformats.org/officeDocument/2006/relationships/image" Target="../media/image39.png"/><Relationship Id="rId4"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3.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5.xml"/><Relationship Id="rId1" Type="http://schemas.openxmlformats.org/officeDocument/2006/relationships/tags" Target="../tags/tag114.xml"/><Relationship Id="rId5" Type="http://schemas.openxmlformats.org/officeDocument/2006/relationships/image" Target="../media/image40.png"/><Relationship Id="rId4"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9.xml"/><Relationship Id="rId1" Type="http://schemas.openxmlformats.org/officeDocument/2006/relationships/tags" Target="../tags/tag118.xml"/><Relationship Id="rId5" Type="http://schemas.openxmlformats.org/officeDocument/2006/relationships/image" Target="../media/image43.png"/><Relationship Id="rId4"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1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6.xml"/><Relationship Id="rId1" Type="http://schemas.openxmlformats.org/officeDocument/2006/relationships/tags" Target="../tags/tag125.xml"/><Relationship Id="rId5" Type="http://schemas.openxmlformats.org/officeDocument/2006/relationships/image" Target="../media/image47.png"/><Relationship Id="rId4"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8.xml"/><Relationship Id="rId1" Type="http://schemas.openxmlformats.org/officeDocument/2006/relationships/tags" Target="../tags/tag127.xml"/><Relationship Id="rId5" Type="http://schemas.openxmlformats.org/officeDocument/2006/relationships/image" Target="../media/image48.png"/><Relationship Id="rId4"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0.xml"/><Relationship Id="rId1" Type="http://schemas.openxmlformats.org/officeDocument/2006/relationships/tags" Target="../tags/tag129.xml"/><Relationship Id="rId5" Type="http://schemas.openxmlformats.org/officeDocument/2006/relationships/image" Target="../media/image49.png"/><Relationship Id="rId4"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2.xml"/><Relationship Id="rId1" Type="http://schemas.openxmlformats.org/officeDocument/2006/relationships/tags" Target="../tags/tag131.xml"/><Relationship Id="rId5" Type="http://schemas.openxmlformats.org/officeDocument/2006/relationships/image" Target="../media/image50.png"/><Relationship Id="rId4"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4.xml"/><Relationship Id="rId1" Type="http://schemas.openxmlformats.org/officeDocument/2006/relationships/tags" Target="../tags/tag133.xml"/><Relationship Id="rId5" Type="http://schemas.openxmlformats.org/officeDocument/2006/relationships/image" Target="../media/image51.png"/><Relationship Id="rId4"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6.xml"/><Relationship Id="rId1" Type="http://schemas.openxmlformats.org/officeDocument/2006/relationships/tags" Target="../tags/tag135.xml"/><Relationship Id="rId5" Type="http://schemas.openxmlformats.org/officeDocument/2006/relationships/image" Target="../media/image52.png"/><Relationship Id="rId4"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8.xml"/><Relationship Id="rId1" Type="http://schemas.openxmlformats.org/officeDocument/2006/relationships/tags" Target="../tags/tag137.xml"/><Relationship Id="rId5" Type="http://schemas.openxmlformats.org/officeDocument/2006/relationships/image" Target="../media/image53.png"/><Relationship Id="rId4"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tags" Target="../tags/tag139.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1.xml"/><Relationship Id="rId1" Type="http://schemas.openxmlformats.org/officeDocument/2006/relationships/tags" Target="../tags/tag140.xml"/><Relationship Id="rId5" Type="http://schemas.openxmlformats.org/officeDocument/2006/relationships/image" Target="../media/image54.png"/><Relationship Id="rId4"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3.xml"/><Relationship Id="rId1" Type="http://schemas.openxmlformats.org/officeDocument/2006/relationships/tags" Target="../tags/tag142.xml"/><Relationship Id="rId5" Type="http://schemas.openxmlformats.org/officeDocument/2006/relationships/image" Target="../media/image55.png"/><Relationship Id="rId4"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tags" Target="../tags/tag144.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6.xml"/><Relationship Id="rId1" Type="http://schemas.openxmlformats.org/officeDocument/2006/relationships/tags" Target="../tags/tag145.xml"/><Relationship Id="rId4"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65000"/>
            <a:lum/>
          </a:blip>
          <a:srcRect/>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110002" y="2152037"/>
            <a:ext cx="11971995" cy="1200329"/>
          </a:xfrm>
          <a:prstGeom prst="rect">
            <a:avLst/>
          </a:prstGeom>
          <a:noFill/>
        </p:spPr>
        <p:txBody>
          <a:bodyPr wrap="square" rtlCol="0">
            <a:spAutoFit/>
          </a:bodyPr>
          <a:lstStyle/>
          <a:p>
            <a:pPr algn="ctr"/>
            <a:r>
              <a:rPr lang="en-US" altLang="zh-CN" sz="3600" b="1" dirty="0"/>
              <a:t>RT-Fall: A Real-Time and Contactless </a:t>
            </a:r>
          </a:p>
          <a:p>
            <a:pPr algn="ctr"/>
            <a:r>
              <a:rPr lang="en-US" altLang="zh-CN" sz="3600" b="1" dirty="0"/>
              <a:t>Fall Detection System with Commodity </a:t>
            </a:r>
            <a:r>
              <a:rPr lang="en-US" altLang="zh-CN" sz="3600" b="1" dirty="0" err="1"/>
              <a:t>WiFi</a:t>
            </a:r>
            <a:r>
              <a:rPr lang="en-US" altLang="zh-CN" sz="3600" b="1" dirty="0"/>
              <a:t> Devices</a:t>
            </a:r>
            <a:endParaRPr lang="zh-CN" altLang="en-US" sz="3600" b="1" dirty="0">
              <a:ln>
                <a:noFill/>
              </a:ln>
              <a:solidFill>
                <a:srgbClr val="775480"/>
              </a:solidFill>
              <a:effectLst/>
              <a:latin typeface="微软雅黑 Light" panose="020B0502040204020203" charset="-122"/>
              <a:ea typeface="微软雅黑 Light" panose="020B0502040204020203" charset="-122"/>
            </a:endParaRPr>
          </a:p>
        </p:txBody>
      </p:sp>
      <p:sp>
        <p:nvSpPr>
          <p:cNvPr id="6" name="斜纹 5"/>
          <p:cNvSpPr/>
          <p:nvPr/>
        </p:nvSpPr>
        <p:spPr>
          <a:xfrm rot="10800000">
            <a:off x="296545" y="4958715"/>
            <a:ext cx="2995930" cy="1899285"/>
          </a:xfrm>
          <a:prstGeom prst="diagStripe">
            <a:avLst>
              <a:gd name="adj" fmla="val 82113"/>
            </a:avLst>
          </a:prstGeom>
          <a:gradFill>
            <a:gsLst>
              <a:gs pos="0">
                <a:schemeClr val="accent1">
                  <a:lumMod val="5000"/>
                  <a:lumOff val="95000"/>
                </a:schemeClr>
              </a:gs>
              <a:gs pos="0">
                <a:srgbClr val="BA9FC0"/>
              </a:gs>
              <a:gs pos="83000">
                <a:srgbClr val="EBC6FF"/>
              </a:gs>
              <a:gs pos="100000">
                <a:srgbClr val="BA9FC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斜纹 11"/>
          <p:cNvSpPr/>
          <p:nvPr/>
        </p:nvSpPr>
        <p:spPr>
          <a:xfrm>
            <a:off x="0" y="4958715"/>
            <a:ext cx="2995930" cy="1899285"/>
          </a:xfrm>
          <a:prstGeom prst="diagStripe">
            <a:avLst>
              <a:gd name="adj" fmla="val 82113"/>
            </a:avLst>
          </a:prstGeom>
          <a:gradFill>
            <a:gsLst>
              <a:gs pos="0">
                <a:schemeClr val="accent1">
                  <a:lumMod val="5000"/>
                  <a:lumOff val="95000"/>
                </a:schemeClr>
              </a:gs>
              <a:gs pos="0">
                <a:srgbClr val="BA9FC0"/>
              </a:gs>
              <a:gs pos="83000">
                <a:srgbClr val="EBC6FF"/>
              </a:gs>
              <a:gs pos="100000">
                <a:srgbClr val="BA9FC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4" name="组合 3"/>
          <p:cNvGrpSpPr/>
          <p:nvPr/>
        </p:nvGrpSpPr>
        <p:grpSpPr>
          <a:xfrm>
            <a:off x="8886825" y="0"/>
            <a:ext cx="3305175" cy="1898650"/>
            <a:chOff x="13995" y="0"/>
            <a:chExt cx="5205" cy="2990"/>
          </a:xfrm>
        </p:grpSpPr>
        <p:sp>
          <p:nvSpPr>
            <p:cNvPr id="13" name="斜纹 12"/>
            <p:cNvSpPr/>
            <p:nvPr/>
          </p:nvSpPr>
          <p:spPr>
            <a:xfrm>
              <a:off x="13995" y="0"/>
              <a:ext cx="4718" cy="2991"/>
            </a:xfrm>
            <a:prstGeom prst="diagStripe">
              <a:avLst>
                <a:gd name="adj" fmla="val 82113"/>
              </a:avLst>
            </a:prstGeom>
            <a:gradFill>
              <a:gsLst>
                <a:gs pos="0">
                  <a:schemeClr val="accent1">
                    <a:lumMod val="5000"/>
                    <a:lumOff val="95000"/>
                  </a:schemeClr>
                </a:gs>
                <a:gs pos="0">
                  <a:srgbClr val="BA9FC0"/>
                </a:gs>
                <a:gs pos="0">
                  <a:srgbClr val="EBC6FF"/>
                </a:gs>
                <a:gs pos="100000">
                  <a:srgbClr val="BA9FC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斜纹 13"/>
            <p:cNvSpPr/>
            <p:nvPr/>
          </p:nvSpPr>
          <p:spPr>
            <a:xfrm rot="10800000">
              <a:off x="14482" y="0"/>
              <a:ext cx="4718" cy="2991"/>
            </a:xfrm>
            <a:prstGeom prst="diagStripe">
              <a:avLst>
                <a:gd name="adj" fmla="val 82113"/>
              </a:avLst>
            </a:prstGeom>
            <a:gradFill>
              <a:gsLst>
                <a:gs pos="0">
                  <a:schemeClr val="accent1">
                    <a:lumMod val="5000"/>
                    <a:lumOff val="95000"/>
                  </a:schemeClr>
                </a:gs>
                <a:gs pos="0">
                  <a:srgbClr val="BA9FC0"/>
                </a:gs>
                <a:gs pos="0">
                  <a:srgbClr val="EBC6FF"/>
                </a:gs>
                <a:gs pos="100000">
                  <a:srgbClr val="BA9FC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6" name="文本框 15"/>
          <p:cNvSpPr txBox="1"/>
          <p:nvPr/>
        </p:nvSpPr>
        <p:spPr>
          <a:xfrm>
            <a:off x="4065534" y="3705443"/>
            <a:ext cx="3688830" cy="584775"/>
          </a:xfrm>
          <a:prstGeom prst="rect">
            <a:avLst/>
          </a:prstGeom>
          <a:noFill/>
        </p:spPr>
        <p:txBody>
          <a:bodyPr wrap="none" rtlCol="0">
            <a:spAutoFit/>
          </a:bodyPr>
          <a:lstStyle/>
          <a:p>
            <a:pPr algn="ctr"/>
            <a:r>
              <a:rPr lang="zh-CN" altLang="en-US" sz="3200" b="1" dirty="0">
                <a:latin typeface="微软雅黑 Light" panose="020B0502040204020203" charset="-122"/>
                <a:ea typeface="微软雅黑 Light" panose="020B0502040204020203" charset="-122"/>
                <a:cs typeface="微软雅黑 Light" panose="020B0502040204020203" charset="-122"/>
              </a:rPr>
              <a:t>王培鸿 </a:t>
            </a:r>
            <a:r>
              <a:rPr lang="en-US" altLang="zh-CN" sz="3200" b="1" dirty="0">
                <a:latin typeface="微软雅黑 Light" panose="020B0502040204020203" charset="-122"/>
                <a:ea typeface="微软雅黑 Light" panose="020B0502040204020203" charset="-122"/>
                <a:cs typeface="微软雅黑 Light" panose="020B0502040204020203" charset="-122"/>
              </a:rPr>
              <a:t>2022152021</a:t>
            </a:r>
          </a:p>
        </p:txBody>
      </p:sp>
      <p:grpSp>
        <p:nvGrpSpPr>
          <p:cNvPr id="11" name="组合 10"/>
          <p:cNvGrpSpPr/>
          <p:nvPr/>
        </p:nvGrpSpPr>
        <p:grpSpPr>
          <a:xfrm>
            <a:off x="205946" y="193738"/>
            <a:ext cx="2096408" cy="605580"/>
            <a:chOff x="3854450" y="4787900"/>
            <a:chExt cx="4462463" cy="1289050"/>
          </a:xfrm>
          <a:solidFill>
            <a:srgbClr val="694B71"/>
          </a:solidFill>
        </p:grpSpPr>
        <p:sp>
          <p:nvSpPr>
            <p:cNvPr id="17" name="Freeform 5"/>
            <p:cNvSpPr/>
            <p:nvPr/>
          </p:nvSpPr>
          <p:spPr bwMode="auto">
            <a:xfrm>
              <a:off x="7772400" y="5827713"/>
              <a:ext cx="112713" cy="158750"/>
            </a:xfrm>
            <a:custGeom>
              <a:avLst/>
              <a:gdLst>
                <a:gd name="T0" fmla="*/ 0 w 20"/>
                <a:gd name="T1" fmla="*/ 16 h 28"/>
                <a:gd name="T2" fmla="*/ 0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8 w 20"/>
                <a:gd name="T21" fmla="*/ 9 h 28"/>
                <a:gd name="T22" fmla="*/ 18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9 w 20"/>
                <a:gd name="T35" fmla="*/ 28 h 28"/>
                <a:gd name="T36" fmla="*/ 2 w 20"/>
                <a:gd name="T37" fmla="*/ 26 h 28"/>
                <a:gd name="T38" fmla="*/ 0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0" y="16"/>
                  </a:cubicBezTo>
                  <a:cubicBezTo>
                    <a:pt x="1" y="16"/>
                    <a:pt x="1" y="16"/>
                    <a:pt x="1" y="17"/>
                  </a:cubicBezTo>
                  <a:cubicBezTo>
                    <a:pt x="2" y="22"/>
                    <a:pt x="4"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6" y="1"/>
                    <a:pt x="17" y="1"/>
                  </a:cubicBezTo>
                  <a:cubicBezTo>
                    <a:pt x="17" y="1"/>
                    <a:pt x="18" y="1"/>
                    <a:pt x="18" y="2"/>
                  </a:cubicBezTo>
                  <a:cubicBezTo>
                    <a:pt x="18" y="9"/>
                    <a:pt x="18" y="9"/>
                    <a:pt x="18" y="9"/>
                  </a:cubicBezTo>
                  <a:cubicBezTo>
                    <a:pt x="18" y="10"/>
                    <a:pt x="18" y="10"/>
                    <a:pt x="18" y="10"/>
                  </a:cubicBezTo>
                  <a:cubicBezTo>
                    <a:pt x="18" y="10"/>
                    <a:pt x="18" y="11"/>
                    <a:pt x="18" y="11"/>
                  </a:cubicBezTo>
                  <a:cubicBezTo>
                    <a:pt x="18" y="11"/>
                    <a:pt x="18" y="10"/>
                    <a:pt x="17" y="8"/>
                  </a:cubicBezTo>
                  <a:cubicBezTo>
                    <a:pt x="15" y="4"/>
                    <a:pt x="13" y="2"/>
                    <a:pt x="9" y="2"/>
                  </a:cubicBezTo>
                  <a:cubicBezTo>
                    <a:pt x="6" y="2"/>
                    <a:pt x="4" y="3"/>
                    <a:pt x="4" y="6"/>
                  </a:cubicBezTo>
                  <a:cubicBezTo>
                    <a:pt x="4" y="12"/>
                    <a:pt x="20" y="8"/>
                    <a:pt x="20" y="19"/>
                  </a:cubicBezTo>
                  <a:cubicBezTo>
                    <a:pt x="20" y="24"/>
                    <a:pt x="15" y="28"/>
                    <a:pt x="9" y="28"/>
                  </a:cubicBezTo>
                  <a:cubicBezTo>
                    <a:pt x="6" y="28"/>
                    <a:pt x="4" y="26"/>
                    <a:pt x="2" y="26"/>
                  </a:cubicBezTo>
                  <a:cubicBezTo>
                    <a:pt x="1" y="26"/>
                    <a:pt x="1" y="28"/>
                    <a:pt x="0" y="28"/>
                  </a:cubicBezTo>
                  <a:cubicBezTo>
                    <a:pt x="0" y="28"/>
                    <a:pt x="0" y="28"/>
                    <a:pt x="0" y="27"/>
                  </a:cubicBezTo>
                  <a:lnTo>
                    <a:pt x="0"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 name="Freeform 6"/>
            <p:cNvSpPr/>
            <p:nvPr/>
          </p:nvSpPr>
          <p:spPr bwMode="auto">
            <a:xfrm>
              <a:off x="7435850" y="5832475"/>
              <a:ext cx="134938" cy="153988"/>
            </a:xfrm>
            <a:custGeom>
              <a:avLst/>
              <a:gdLst>
                <a:gd name="T0" fmla="*/ 4 w 24"/>
                <a:gd name="T1" fmla="*/ 3 h 27"/>
                <a:gd name="T2" fmla="*/ 0 w 24"/>
                <a:gd name="T3" fmla="*/ 0 h 27"/>
                <a:gd name="T4" fmla="*/ 1 w 24"/>
                <a:gd name="T5" fmla="*/ 0 h 27"/>
                <a:gd name="T6" fmla="*/ 7 w 24"/>
                <a:gd name="T7" fmla="*/ 0 h 27"/>
                <a:gd name="T8" fmla="*/ 21 w 24"/>
                <a:gd name="T9" fmla="*/ 0 h 27"/>
                <a:gd name="T10" fmla="*/ 23 w 24"/>
                <a:gd name="T11" fmla="*/ 7 h 27"/>
                <a:gd name="T12" fmla="*/ 23 w 24"/>
                <a:gd name="T13" fmla="*/ 8 h 27"/>
                <a:gd name="T14" fmla="*/ 22 w 24"/>
                <a:gd name="T15" fmla="*/ 9 h 27"/>
                <a:gd name="T16" fmla="*/ 21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6 w 24"/>
                <a:gd name="T29" fmla="*/ 6 h 27"/>
                <a:gd name="T30" fmla="*/ 16 w 24"/>
                <a:gd name="T31" fmla="*/ 7 h 27"/>
                <a:gd name="T32" fmla="*/ 16 w 24"/>
                <a:gd name="T33" fmla="*/ 19 h 27"/>
                <a:gd name="T34" fmla="*/ 16 w 24"/>
                <a:gd name="T35" fmla="*/ 19 h 27"/>
                <a:gd name="T36" fmla="*/ 15 w 24"/>
                <a:gd name="T37" fmla="*/ 18 h 27"/>
                <a:gd name="T38" fmla="*/ 10 w 24"/>
                <a:gd name="T39" fmla="*/ 14 h 27"/>
                <a:gd name="T40" fmla="*/ 9 w 24"/>
                <a:gd name="T41" fmla="*/ 14 h 27"/>
                <a:gd name="T42" fmla="*/ 9 w 24"/>
                <a:gd name="T43" fmla="*/ 23 h 27"/>
                <a:gd name="T44" fmla="*/ 13 w 24"/>
                <a:gd name="T45" fmla="*/ 25 h 27"/>
                <a:gd name="T46" fmla="*/ 23 w 24"/>
                <a:gd name="T47" fmla="*/ 17 h 27"/>
                <a:gd name="T48" fmla="*/ 24 w 24"/>
                <a:gd name="T49" fmla="*/ 16 h 27"/>
                <a:gd name="T50" fmla="*/ 24 w 24"/>
                <a:gd name="T51" fmla="*/ 17 h 27"/>
                <a:gd name="T52" fmla="*/ 24 w 24"/>
                <a:gd name="T53" fmla="*/ 18 h 27"/>
                <a:gd name="T54" fmla="*/ 22 w 24"/>
                <a:gd name="T55" fmla="*/ 27 h 27"/>
                <a:gd name="T56" fmla="*/ 7 w 24"/>
                <a:gd name="T57" fmla="*/ 27 h 27"/>
                <a:gd name="T58" fmla="*/ 1 w 24"/>
                <a:gd name="T59" fmla="*/ 27 h 27"/>
                <a:gd name="T60" fmla="*/ 0 w 24"/>
                <a:gd name="T61" fmla="*/ 26 h 27"/>
                <a:gd name="T62" fmla="*/ 4 w 24"/>
                <a:gd name="T63" fmla="*/ 23 h 27"/>
                <a:gd name="T64" fmla="*/ 4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4" y="3"/>
                  </a:moveTo>
                  <a:cubicBezTo>
                    <a:pt x="4" y="0"/>
                    <a:pt x="0" y="1"/>
                    <a:pt x="0" y="0"/>
                  </a:cubicBezTo>
                  <a:cubicBezTo>
                    <a:pt x="0" y="0"/>
                    <a:pt x="0" y="0"/>
                    <a:pt x="1" y="0"/>
                  </a:cubicBezTo>
                  <a:cubicBezTo>
                    <a:pt x="3" y="0"/>
                    <a:pt x="5" y="0"/>
                    <a:pt x="7" y="0"/>
                  </a:cubicBezTo>
                  <a:cubicBezTo>
                    <a:pt x="11" y="0"/>
                    <a:pt x="16" y="0"/>
                    <a:pt x="21" y="0"/>
                  </a:cubicBezTo>
                  <a:cubicBezTo>
                    <a:pt x="23" y="7"/>
                    <a:pt x="23" y="7"/>
                    <a:pt x="23" y="7"/>
                  </a:cubicBezTo>
                  <a:cubicBezTo>
                    <a:pt x="23" y="8"/>
                    <a:pt x="23" y="8"/>
                    <a:pt x="23" y="8"/>
                  </a:cubicBezTo>
                  <a:cubicBezTo>
                    <a:pt x="23" y="9"/>
                    <a:pt x="23" y="9"/>
                    <a:pt x="22" y="9"/>
                  </a:cubicBezTo>
                  <a:cubicBezTo>
                    <a:pt x="22" y="9"/>
                    <a:pt x="22" y="8"/>
                    <a:pt x="21" y="5"/>
                  </a:cubicBezTo>
                  <a:cubicBezTo>
                    <a:pt x="19"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6" y="6"/>
                  </a:cubicBezTo>
                  <a:cubicBezTo>
                    <a:pt x="16" y="6"/>
                    <a:pt x="16" y="6"/>
                    <a:pt x="16" y="7"/>
                  </a:cubicBezTo>
                  <a:cubicBezTo>
                    <a:pt x="16" y="19"/>
                    <a:pt x="16" y="19"/>
                    <a:pt x="16" y="19"/>
                  </a:cubicBezTo>
                  <a:cubicBezTo>
                    <a:pt x="16" y="19"/>
                    <a:pt x="16" y="19"/>
                    <a:pt x="16"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1" y="25"/>
                    <a:pt x="13" y="25"/>
                  </a:cubicBezTo>
                  <a:cubicBezTo>
                    <a:pt x="18" y="25"/>
                    <a:pt x="22" y="21"/>
                    <a:pt x="23" y="17"/>
                  </a:cubicBezTo>
                  <a:cubicBezTo>
                    <a:pt x="24" y="17"/>
                    <a:pt x="24" y="16"/>
                    <a:pt x="24" y="16"/>
                  </a:cubicBezTo>
                  <a:cubicBezTo>
                    <a:pt x="24" y="16"/>
                    <a:pt x="24" y="17"/>
                    <a:pt x="24" y="17"/>
                  </a:cubicBezTo>
                  <a:cubicBezTo>
                    <a:pt x="24" y="17"/>
                    <a:pt x="24" y="18"/>
                    <a:pt x="24" y="18"/>
                  </a:cubicBezTo>
                  <a:cubicBezTo>
                    <a:pt x="22" y="27"/>
                    <a:pt x="22" y="27"/>
                    <a:pt x="22" y="27"/>
                  </a:cubicBezTo>
                  <a:cubicBezTo>
                    <a:pt x="17" y="27"/>
                    <a:pt x="12" y="27"/>
                    <a:pt x="7" y="27"/>
                  </a:cubicBezTo>
                  <a:cubicBezTo>
                    <a:pt x="5" y="27"/>
                    <a:pt x="3" y="27"/>
                    <a:pt x="1" y="27"/>
                  </a:cubicBezTo>
                  <a:cubicBezTo>
                    <a:pt x="0" y="27"/>
                    <a:pt x="0" y="27"/>
                    <a:pt x="0" y="26"/>
                  </a:cubicBezTo>
                  <a:cubicBezTo>
                    <a:pt x="0" y="25"/>
                    <a:pt x="4" y="27"/>
                    <a:pt x="4" y="23"/>
                  </a:cubicBezTo>
                  <a:lnTo>
                    <a:pt x="4"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 name="Freeform 7"/>
            <p:cNvSpPr/>
            <p:nvPr/>
          </p:nvSpPr>
          <p:spPr bwMode="auto">
            <a:xfrm>
              <a:off x="6999288" y="5832475"/>
              <a:ext cx="161925" cy="158750"/>
            </a:xfrm>
            <a:custGeom>
              <a:avLst/>
              <a:gdLst>
                <a:gd name="T0" fmla="*/ 7 w 29"/>
                <a:gd name="T1" fmla="*/ 21 h 28"/>
                <a:gd name="T2" fmla="*/ 9 w 29"/>
                <a:gd name="T3" fmla="*/ 26 h 28"/>
                <a:gd name="T4" fmla="*/ 11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7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9" y="26"/>
                  </a:cubicBezTo>
                  <a:cubicBezTo>
                    <a:pt x="10" y="26"/>
                    <a:pt x="11" y="26"/>
                    <a:pt x="11" y="26"/>
                  </a:cubicBezTo>
                  <a:cubicBezTo>
                    <a:pt x="11" y="27"/>
                    <a:pt x="11" y="27"/>
                    <a:pt x="11" y="27"/>
                  </a:cubicBezTo>
                  <a:cubicBezTo>
                    <a:pt x="10" y="27"/>
                    <a:pt x="7" y="27"/>
                    <a:pt x="5" y="27"/>
                  </a:cubicBezTo>
                  <a:cubicBezTo>
                    <a:pt x="3" y="27"/>
                    <a:pt x="2" y="27"/>
                    <a:pt x="1" y="27"/>
                  </a:cubicBezTo>
                  <a:cubicBezTo>
                    <a:pt x="0" y="27"/>
                    <a:pt x="0" y="27"/>
                    <a:pt x="0" y="26"/>
                  </a:cubicBezTo>
                  <a:cubicBezTo>
                    <a:pt x="0" y="26"/>
                    <a:pt x="1" y="26"/>
                    <a:pt x="2" y="26"/>
                  </a:cubicBezTo>
                  <a:cubicBezTo>
                    <a:pt x="3"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7" y="1"/>
                    <a:pt x="17" y="0"/>
                  </a:cubicBezTo>
                  <a:cubicBezTo>
                    <a:pt x="17" y="0"/>
                    <a:pt x="18" y="0"/>
                    <a:pt x="18" y="0"/>
                  </a:cubicBezTo>
                  <a:cubicBezTo>
                    <a:pt x="19" y="0"/>
                    <a:pt x="22" y="0"/>
                    <a:pt x="24" y="0"/>
                  </a:cubicBezTo>
                  <a:cubicBezTo>
                    <a:pt x="25"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 name="Freeform 8"/>
            <p:cNvSpPr/>
            <p:nvPr/>
          </p:nvSpPr>
          <p:spPr bwMode="auto">
            <a:xfrm>
              <a:off x="5440363" y="5827713"/>
              <a:ext cx="112713" cy="158750"/>
            </a:xfrm>
            <a:custGeom>
              <a:avLst/>
              <a:gdLst>
                <a:gd name="T0" fmla="*/ 0 w 20"/>
                <a:gd name="T1" fmla="*/ 16 h 28"/>
                <a:gd name="T2" fmla="*/ 1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9 w 20"/>
                <a:gd name="T21" fmla="*/ 9 h 28"/>
                <a:gd name="T22" fmla="*/ 19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10 w 20"/>
                <a:gd name="T35" fmla="*/ 28 h 28"/>
                <a:gd name="T36" fmla="*/ 2 w 20"/>
                <a:gd name="T37" fmla="*/ 26 h 28"/>
                <a:gd name="T38" fmla="*/ 1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1" y="16"/>
                  </a:cubicBezTo>
                  <a:cubicBezTo>
                    <a:pt x="1" y="16"/>
                    <a:pt x="1" y="16"/>
                    <a:pt x="1" y="17"/>
                  </a:cubicBezTo>
                  <a:cubicBezTo>
                    <a:pt x="2" y="22"/>
                    <a:pt x="5"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7" y="1"/>
                    <a:pt x="17" y="1"/>
                  </a:cubicBezTo>
                  <a:cubicBezTo>
                    <a:pt x="18" y="1"/>
                    <a:pt x="18" y="1"/>
                    <a:pt x="18" y="2"/>
                  </a:cubicBezTo>
                  <a:cubicBezTo>
                    <a:pt x="19" y="9"/>
                    <a:pt x="19" y="9"/>
                    <a:pt x="19" y="9"/>
                  </a:cubicBezTo>
                  <a:cubicBezTo>
                    <a:pt x="19" y="10"/>
                    <a:pt x="19" y="10"/>
                    <a:pt x="19" y="10"/>
                  </a:cubicBezTo>
                  <a:cubicBezTo>
                    <a:pt x="19" y="10"/>
                    <a:pt x="19" y="11"/>
                    <a:pt x="18" y="11"/>
                  </a:cubicBezTo>
                  <a:cubicBezTo>
                    <a:pt x="18" y="11"/>
                    <a:pt x="18" y="10"/>
                    <a:pt x="17" y="8"/>
                  </a:cubicBezTo>
                  <a:cubicBezTo>
                    <a:pt x="16" y="4"/>
                    <a:pt x="13" y="2"/>
                    <a:pt x="9" y="2"/>
                  </a:cubicBezTo>
                  <a:cubicBezTo>
                    <a:pt x="7" y="2"/>
                    <a:pt x="4" y="3"/>
                    <a:pt x="4" y="6"/>
                  </a:cubicBezTo>
                  <a:cubicBezTo>
                    <a:pt x="4" y="12"/>
                    <a:pt x="20" y="8"/>
                    <a:pt x="20" y="19"/>
                  </a:cubicBezTo>
                  <a:cubicBezTo>
                    <a:pt x="20" y="24"/>
                    <a:pt x="16" y="28"/>
                    <a:pt x="10" y="28"/>
                  </a:cubicBezTo>
                  <a:cubicBezTo>
                    <a:pt x="6" y="28"/>
                    <a:pt x="4" y="26"/>
                    <a:pt x="2" y="26"/>
                  </a:cubicBezTo>
                  <a:cubicBezTo>
                    <a:pt x="1" y="26"/>
                    <a:pt x="1" y="28"/>
                    <a:pt x="1" y="28"/>
                  </a:cubicBezTo>
                  <a:cubicBezTo>
                    <a:pt x="0" y="28"/>
                    <a:pt x="0" y="28"/>
                    <a:pt x="0" y="27"/>
                  </a:cubicBezTo>
                  <a:lnTo>
                    <a:pt x="0"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 name="Freeform 9"/>
            <p:cNvSpPr/>
            <p:nvPr/>
          </p:nvSpPr>
          <p:spPr bwMode="auto">
            <a:xfrm>
              <a:off x="5580063"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Freeform 10"/>
            <p:cNvSpPr/>
            <p:nvPr/>
          </p:nvSpPr>
          <p:spPr bwMode="auto">
            <a:xfrm>
              <a:off x="5765800" y="5832475"/>
              <a:ext cx="134938"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Freeform 11"/>
            <p:cNvSpPr/>
            <p:nvPr/>
          </p:nvSpPr>
          <p:spPr bwMode="auto">
            <a:xfrm>
              <a:off x="5916613"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4" name="Freeform 12"/>
            <p:cNvSpPr/>
            <p:nvPr/>
          </p:nvSpPr>
          <p:spPr bwMode="auto">
            <a:xfrm>
              <a:off x="6096000" y="5832475"/>
              <a:ext cx="119063" cy="153988"/>
            </a:xfrm>
            <a:custGeom>
              <a:avLst/>
              <a:gdLst>
                <a:gd name="T0" fmla="*/ 10 w 21"/>
                <a:gd name="T1" fmla="*/ 25 h 27"/>
                <a:gd name="T2" fmla="*/ 19 w 21"/>
                <a:gd name="T3" fmla="*/ 21 h 27"/>
                <a:gd name="T4" fmla="*/ 21 w 21"/>
                <a:gd name="T5" fmla="*/ 16 h 27"/>
                <a:gd name="T6" fmla="*/ 21 w 21"/>
                <a:gd name="T7" fmla="*/ 17 h 27"/>
                <a:gd name="T8" fmla="*/ 21 w 21"/>
                <a:gd name="T9" fmla="*/ 18 h 27"/>
                <a:gd name="T10" fmla="*/ 19 w 21"/>
                <a:gd name="T11" fmla="*/ 27 h 27"/>
                <a:gd name="T12" fmla="*/ 10 w 21"/>
                <a:gd name="T13" fmla="*/ 27 h 27"/>
                <a:gd name="T14" fmla="*/ 0 w 21"/>
                <a:gd name="T15" fmla="*/ 27 h 27"/>
                <a:gd name="T16" fmla="*/ 0 w 21"/>
                <a:gd name="T17" fmla="*/ 26 h 27"/>
                <a:gd name="T18" fmla="*/ 0 w 21"/>
                <a:gd name="T19" fmla="*/ 25 h 27"/>
                <a:gd name="T20" fmla="*/ 14 w 21"/>
                <a:gd name="T21" fmla="*/ 2 h 27"/>
                <a:gd name="T22" fmla="*/ 12 w 21"/>
                <a:gd name="T23" fmla="*/ 2 h 27"/>
                <a:gd name="T24" fmla="*/ 3 w 21"/>
                <a:gd name="T25" fmla="*/ 5 h 27"/>
                <a:gd name="T26" fmla="*/ 1 w 21"/>
                <a:gd name="T27" fmla="*/ 9 h 27"/>
                <a:gd name="T28" fmla="*/ 1 w 21"/>
                <a:gd name="T29" fmla="*/ 8 h 27"/>
                <a:gd name="T30" fmla="*/ 1 w 21"/>
                <a:gd name="T31" fmla="*/ 7 h 27"/>
                <a:gd name="T32" fmla="*/ 3 w 21"/>
                <a:gd name="T33" fmla="*/ 0 h 27"/>
                <a:gd name="T34" fmla="*/ 12 w 21"/>
                <a:gd name="T35" fmla="*/ 0 h 27"/>
                <a:gd name="T36" fmla="*/ 21 w 21"/>
                <a:gd name="T37" fmla="*/ 0 h 27"/>
                <a:gd name="T38" fmla="*/ 21 w 21"/>
                <a:gd name="T39" fmla="*/ 0 h 27"/>
                <a:gd name="T40" fmla="*/ 21 w 21"/>
                <a:gd name="T41" fmla="*/ 1 h 27"/>
                <a:gd name="T42" fmla="*/ 7 w 21"/>
                <a:gd name="T43" fmla="*/ 25 h 27"/>
                <a:gd name="T44" fmla="*/ 10 w 21"/>
                <a:gd name="T45"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27">
                  <a:moveTo>
                    <a:pt x="10" y="25"/>
                  </a:moveTo>
                  <a:cubicBezTo>
                    <a:pt x="16" y="25"/>
                    <a:pt x="17" y="24"/>
                    <a:pt x="19" y="21"/>
                  </a:cubicBezTo>
                  <a:cubicBezTo>
                    <a:pt x="20" y="19"/>
                    <a:pt x="20" y="16"/>
                    <a:pt x="21" y="16"/>
                  </a:cubicBezTo>
                  <a:cubicBezTo>
                    <a:pt x="21" y="16"/>
                    <a:pt x="21" y="17"/>
                    <a:pt x="21" y="17"/>
                  </a:cubicBezTo>
                  <a:cubicBezTo>
                    <a:pt x="21" y="17"/>
                    <a:pt x="21" y="18"/>
                    <a:pt x="21" y="18"/>
                  </a:cubicBezTo>
                  <a:cubicBezTo>
                    <a:pt x="19" y="27"/>
                    <a:pt x="19" y="27"/>
                    <a:pt x="19" y="27"/>
                  </a:cubicBezTo>
                  <a:cubicBezTo>
                    <a:pt x="16" y="27"/>
                    <a:pt x="13" y="27"/>
                    <a:pt x="10" y="27"/>
                  </a:cubicBezTo>
                  <a:cubicBezTo>
                    <a:pt x="7" y="27"/>
                    <a:pt x="3" y="27"/>
                    <a:pt x="0" y="27"/>
                  </a:cubicBezTo>
                  <a:cubicBezTo>
                    <a:pt x="0" y="27"/>
                    <a:pt x="0" y="27"/>
                    <a:pt x="0" y="26"/>
                  </a:cubicBezTo>
                  <a:cubicBezTo>
                    <a:pt x="0" y="26"/>
                    <a:pt x="0" y="26"/>
                    <a:pt x="0" y="25"/>
                  </a:cubicBezTo>
                  <a:cubicBezTo>
                    <a:pt x="14" y="2"/>
                    <a:pt x="14" y="2"/>
                    <a:pt x="14" y="2"/>
                  </a:cubicBezTo>
                  <a:cubicBezTo>
                    <a:pt x="12" y="2"/>
                    <a:pt x="12" y="2"/>
                    <a:pt x="12" y="2"/>
                  </a:cubicBezTo>
                  <a:cubicBezTo>
                    <a:pt x="6" y="2"/>
                    <a:pt x="5" y="2"/>
                    <a:pt x="3" y="5"/>
                  </a:cubicBezTo>
                  <a:cubicBezTo>
                    <a:pt x="2" y="8"/>
                    <a:pt x="2" y="9"/>
                    <a:pt x="1" y="9"/>
                  </a:cubicBezTo>
                  <a:cubicBezTo>
                    <a:pt x="1" y="9"/>
                    <a:pt x="1" y="9"/>
                    <a:pt x="1" y="8"/>
                  </a:cubicBezTo>
                  <a:cubicBezTo>
                    <a:pt x="1" y="8"/>
                    <a:pt x="1" y="8"/>
                    <a:pt x="1" y="7"/>
                  </a:cubicBezTo>
                  <a:cubicBezTo>
                    <a:pt x="3" y="0"/>
                    <a:pt x="3" y="0"/>
                    <a:pt x="3" y="0"/>
                  </a:cubicBezTo>
                  <a:cubicBezTo>
                    <a:pt x="6" y="0"/>
                    <a:pt x="9" y="0"/>
                    <a:pt x="12" y="0"/>
                  </a:cubicBezTo>
                  <a:cubicBezTo>
                    <a:pt x="15" y="0"/>
                    <a:pt x="18" y="0"/>
                    <a:pt x="21" y="0"/>
                  </a:cubicBezTo>
                  <a:cubicBezTo>
                    <a:pt x="21" y="0"/>
                    <a:pt x="21" y="0"/>
                    <a:pt x="21" y="0"/>
                  </a:cubicBezTo>
                  <a:cubicBezTo>
                    <a:pt x="21" y="0"/>
                    <a:pt x="21" y="1"/>
                    <a:pt x="21" y="1"/>
                  </a:cubicBezTo>
                  <a:cubicBezTo>
                    <a:pt x="7" y="25"/>
                    <a:pt x="7" y="25"/>
                    <a:pt x="7" y="25"/>
                  </a:cubicBezTo>
                  <a:lnTo>
                    <a:pt x="10" y="2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5" name="Freeform 13"/>
            <p:cNvSpPr/>
            <p:nvPr/>
          </p:nvSpPr>
          <p:spPr bwMode="auto">
            <a:xfrm>
              <a:off x="6837363" y="5832475"/>
              <a:ext cx="150813" cy="153988"/>
            </a:xfrm>
            <a:custGeom>
              <a:avLst/>
              <a:gdLst>
                <a:gd name="T0" fmla="*/ 23 w 27"/>
                <a:gd name="T1" fmla="*/ 18 h 27"/>
                <a:gd name="T2" fmla="*/ 13 w 27"/>
                <a:gd name="T3" fmla="*/ 27 h 27"/>
                <a:gd name="T4" fmla="*/ 3 w 27"/>
                <a:gd name="T5" fmla="*/ 20 h 27"/>
                <a:gd name="T6" fmla="*/ 3 w 27"/>
                <a:gd name="T7" fmla="*/ 3 h 27"/>
                <a:gd name="T8" fmla="*/ 0 w 27"/>
                <a:gd name="T9" fmla="*/ 0 h 27"/>
                <a:gd name="T10" fmla="*/ 1 w 27"/>
                <a:gd name="T11" fmla="*/ 0 h 27"/>
                <a:gd name="T12" fmla="*/ 6 w 27"/>
                <a:gd name="T13" fmla="*/ 0 h 27"/>
                <a:gd name="T14" fmla="*/ 12 w 27"/>
                <a:gd name="T15" fmla="*/ 0 h 27"/>
                <a:gd name="T16" fmla="*/ 12 w 27"/>
                <a:gd name="T17" fmla="*/ 0 h 27"/>
                <a:gd name="T18" fmla="*/ 9 w 27"/>
                <a:gd name="T19" fmla="*/ 3 h 27"/>
                <a:gd name="T20" fmla="*/ 9 w 27"/>
                <a:gd name="T21" fmla="*/ 20 h 27"/>
                <a:gd name="T22" fmla="*/ 15 w 27"/>
                <a:gd name="T23" fmla="*/ 26 h 27"/>
                <a:gd name="T24" fmla="*/ 21 w 27"/>
                <a:gd name="T25" fmla="*/ 19 h 27"/>
                <a:gd name="T26" fmla="*/ 21 w 27"/>
                <a:gd name="T27" fmla="*/ 7 h 27"/>
                <a:gd name="T28" fmla="*/ 18 w 27"/>
                <a:gd name="T29" fmla="*/ 1 h 27"/>
                <a:gd name="T30" fmla="*/ 17 w 27"/>
                <a:gd name="T31" fmla="*/ 0 h 27"/>
                <a:gd name="T32" fmla="*/ 17 w 27"/>
                <a:gd name="T33" fmla="*/ 0 h 27"/>
                <a:gd name="T34" fmla="*/ 22 w 27"/>
                <a:gd name="T35" fmla="*/ 0 h 27"/>
                <a:gd name="T36" fmla="*/ 27 w 27"/>
                <a:gd name="T37" fmla="*/ 0 h 27"/>
                <a:gd name="T38" fmla="*/ 27 w 27"/>
                <a:gd name="T39" fmla="*/ 0 h 27"/>
                <a:gd name="T40" fmla="*/ 26 w 27"/>
                <a:gd name="T41" fmla="*/ 1 h 27"/>
                <a:gd name="T42" fmla="*/ 23 w 27"/>
                <a:gd name="T43" fmla="*/ 7 h 27"/>
                <a:gd name="T44" fmla="*/ 23 w 27"/>
                <a:gd name="T45" fmla="*/ 1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 h="27">
                  <a:moveTo>
                    <a:pt x="23" y="18"/>
                  </a:moveTo>
                  <a:cubicBezTo>
                    <a:pt x="23" y="24"/>
                    <a:pt x="19" y="27"/>
                    <a:pt x="13" y="27"/>
                  </a:cubicBezTo>
                  <a:cubicBezTo>
                    <a:pt x="7" y="27"/>
                    <a:pt x="3" y="24"/>
                    <a:pt x="3" y="20"/>
                  </a:cubicBezTo>
                  <a:cubicBezTo>
                    <a:pt x="3" y="3"/>
                    <a:pt x="3" y="3"/>
                    <a:pt x="3" y="3"/>
                  </a:cubicBez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20"/>
                    <a:pt x="9" y="20"/>
                    <a:pt x="9" y="20"/>
                  </a:cubicBezTo>
                  <a:cubicBezTo>
                    <a:pt x="9" y="24"/>
                    <a:pt x="12" y="26"/>
                    <a:pt x="15" y="26"/>
                  </a:cubicBezTo>
                  <a:cubicBezTo>
                    <a:pt x="18" y="26"/>
                    <a:pt x="21" y="23"/>
                    <a:pt x="21" y="19"/>
                  </a:cubicBezTo>
                  <a:cubicBezTo>
                    <a:pt x="21" y="7"/>
                    <a:pt x="21" y="7"/>
                    <a:pt x="21" y="7"/>
                  </a:cubicBezTo>
                  <a:cubicBezTo>
                    <a:pt x="21" y="3"/>
                    <a:pt x="20" y="1"/>
                    <a:pt x="18" y="1"/>
                  </a:cubicBezTo>
                  <a:cubicBezTo>
                    <a:pt x="17" y="1"/>
                    <a:pt x="17" y="1"/>
                    <a:pt x="17" y="0"/>
                  </a:cubicBezTo>
                  <a:cubicBezTo>
                    <a:pt x="17" y="0"/>
                    <a:pt x="17" y="0"/>
                    <a:pt x="17" y="0"/>
                  </a:cubicBezTo>
                  <a:cubicBezTo>
                    <a:pt x="18" y="0"/>
                    <a:pt x="21" y="0"/>
                    <a:pt x="22" y="0"/>
                  </a:cubicBezTo>
                  <a:cubicBezTo>
                    <a:pt x="24" y="0"/>
                    <a:pt x="26" y="0"/>
                    <a:pt x="27" y="0"/>
                  </a:cubicBezTo>
                  <a:cubicBezTo>
                    <a:pt x="27" y="0"/>
                    <a:pt x="27" y="0"/>
                    <a:pt x="27" y="0"/>
                  </a:cubicBezTo>
                  <a:cubicBezTo>
                    <a:pt x="27" y="1"/>
                    <a:pt x="26" y="1"/>
                    <a:pt x="26" y="1"/>
                  </a:cubicBezTo>
                  <a:cubicBezTo>
                    <a:pt x="24" y="1"/>
                    <a:pt x="23" y="3"/>
                    <a:pt x="23" y="7"/>
                  </a:cubicBezTo>
                  <a:lnTo>
                    <a:pt x="23" y="18"/>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 name="Freeform 14"/>
            <p:cNvSpPr/>
            <p:nvPr/>
          </p:nvSpPr>
          <p:spPr bwMode="auto">
            <a:xfrm>
              <a:off x="7178675" y="5832475"/>
              <a:ext cx="73025" cy="153988"/>
            </a:xfrm>
            <a:custGeom>
              <a:avLst/>
              <a:gdLst>
                <a:gd name="T0" fmla="*/ 3 w 13"/>
                <a:gd name="T1" fmla="*/ 3 h 27"/>
                <a:gd name="T2" fmla="*/ 0 w 13"/>
                <a:gd name="T3" fmla="*/ 0 h 27"/>
                <a:gd name="T4" fmla="*/ 1 w 13"/>
                <a:gd name="T5" fmla="*/ 0 h 27"/>
                <a:gd name="T6" fmla="*/ 6 w 13"/>
                <a:gd name="T7" fmla="*/ 0 h 27"/>
                <a:gd name="T8" fmla="*/ 12 w 13"/>
                <a:gd name="T9" fmla="*/ 0 h 27"/>
                <a:gd name="T10" fmla="*/ 13 w 13"/>
                <a:gd name="T11" fmla="*/ 0 h 27"/>
                <a:gd name="T12" fmla="*/ 9 w 13"/>
                <a:gd name="T13" fmla="*/ 3 h 27"/>
                <a:gd name="T14" fmla="*/ 9 w 13"/>
                <a:gd name="T15" fmla="*/ 23 h 27"/>
                <a:gd name="T16" fmla="*/ 13 w 13"/>
                <a:gd name="T17" fmla="*/ 26 h 27"/>
                <a:gd name="T18" fmla="*/ 12 w 13"/>
                <a:gd name="T19" fmla="*/ 27 h 27"/>
                <a:gd name="T20" fmla="*/ 6 w 13"/>
                <a:gd name="T21" fmla="*/ 27 h 27"/>
                <a:gd name="T22" fmla="*/ 1 w 13"/>
                <a:gd name="T23" fmla="*/ 27 h 27"/>
                <a:gd name="T24" fmla="*/ 0 w 13"/>
                <a:gd name="T25" fmla="*/ 26 h 27"/>
                <a:gd name="T26" fmla="*/ 3 w 13"/>
                <a:gd name="T27" fmla="*/ 23 h 27"/>
                <a:gd name="T28" fmla="*/ 3 w 13"/>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 h="27">
                  <a:moveTo>
                    <a:pt x="3" y="3"/>
                  </a:moveTo>
                  <a:cubicBezTo>
                    <a:pt x="3" y="0"/>
                    <a:pt x="0" y="1"/>
                    <a:pt x="0" y="0"/>
                  </a:cubicBezTo>
                  <a:cubicBezTo>
                    <a:pt x="0" y="0"/>
                    <a:pt x="0" y="0"/>
                    <a:pt x="1" y="0"/>
                  </a:cubicBezTo>
                  <a:cubicBezTo>
                    <a:pt x="3" y="0"/>
                    <a:pt x="5" y="0"/>
                    <a:pt x="6" y="0"/>
                  </a:cubicBezTo>
                  <a:cubicBezTo>
                    <a:pt x="8" y="0"/>
                    <a:pt x="10" y="0"/>
                    <a:pt x="12" y="0"/>
                  </a:cubicBezTo>
                  <a:cubicBezTo>
                    <a:pt x="12" y="0"/>
                    <a:pt x="13" y="0"/>
                    <a:pt x="13" y="0"/>
                  </a:cubicBezTo>
                  <a:cubicBezTo>
                    <a:pt x="13" y="1"/>
                    <a:pt x="9" y="0"/>
                    <a:pt x="9" y="3"/>
                  </a:cubicBezTo>
                  <a:cubicBezTo>
                    <a:pt x="9" y="23"/>
                    <a:pt x="9" y="23"/>
                    <a:pt x="9" y="23"/>
                  </a:cubicBezTo>
                  <a:cubicBezTo>
                    <a:pt x="9" y="27"/>
                    <a:pt x="13" y="25"/>
                    <a:pt x="13" y="26"/>
                  </a:cubicBezTo>
                  <a:cubicBezTo>
                    <a:pt x="13"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Freeform 15"/>
            <p:cNvSpPr/>
            <p:nvPr/>
          </p:nvSpPr>
          <p:spPr bwMode="auto">
            <a:xfrm>
              <a:off x="7267575" y="5832475"/>
              <a:ext cx="157163" cy="153988"/>
            </a:xfrm>
            <a:custGeom>
              <a:avLst/>
              <a:gdLst>
                <a:gd name="T0" fmla="*/ 20 w 28"/>
                <a:gd name="T1" fmla="*/ 7 h 27"/>
                <a:gd name="T2" fmla="*/ 20 w 28"/>
                <a:gd name="T3" fmla="*/ 4 h 27"/>
                <a:gd name="T4" fmla="*/ 17 w 28"/>
                <a:gd name="T5" fmla="*/ 0 h 27"/>
                <a:gd name="T6" fmla="*/ 18 w 28"/>
                <a:gd name="T7" fmla="*/ 0 h 27"/>
                <a:gd name="T8" fmla="*/ 21 w 28"/>
                <a:gd name="T9" fmla="*/ 0 h 27"/>
                <a:gd name="T10" fmla="*/ 27 w 28"/>
                <a:gd name="T11" fmla="*/ 0 h 27"/>
                <a:gd name="T12" fmla="*/ 28 w 28"/>
                <a:gd name="T13" fmla="*/ 0 h 27"/>
                <a:gd name="T14" fmla="*/ 23 w 28"/>
                <a:gd name="T15" fmla="*/ 6 h 27"/>
                <a:gd name="T16" fmla="*/ 14 w 28"/>
                <a:gd name="T17" fmla="*/ 26 h 27"/>
                <a:gd name="T18" fmla="*/ 13 w 28"/>
                <a:gd name="T19" fmla="*/ 27 h 27"/>
                <a:gd name="T20" fmla="*/ 13 w 28"/>
                <a:gd name="T21" fmla="*/ 26 h 27"/>
                <a:gd name="T22" fmla="*/ 3 w 28"/>
                <a:gd name="T23" fmla="*/ 3 h 27"/>
                <a:gd name="T24" fmla="*/ 0 w 28"/>
                <a:gd name="T25" fmla="*/ 0 h 27"/>
                <a:gd name="T26" fmla="*/ 0 w 28"/>
                <a:gd name="T27" fmla="*/ 0 h 27"/>
                <a:gd name="T28" fmla="*/ 6 w 28"/>
                <a:gd name="T29" fmla="*/ 0 h 27"/>
                <a:gd name="T30" fmla="*/ 11 w 28"/>
                <a:gd name="T31" fmla="*/ 0 h 27"/>
                <a:gd name="T32" fmla="*/ 12 w 28"/>
                <a:gd name="T33" fmla="*/ 0 h 27"/>
                <a:gd name="T34" fmla="*/ 9 w 28"/>
                <a:gd name="T35" fmla="*/ 2 h 27"/>
                <a:gd name="T36" fmla="*/ 10 w 28"/>
                <a:gd name="T37" fmla="*/ 4 h 27"/>
                <a:gd name="T38" fmla="*/ 15 w 28"/>
                <a:gd name="T39" fmla="*/ 18 h 27"/>
                <a:gd name="T40" fmla="*/ 20 w 28"/>
                <a:gd name="T41" fmla="*/ 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7">
                  <a:moveTo>
                    <a:pt x="20" y="7"/>
                  </a:moveTo>
                  <a:cubicBezTo>
                    <a:pt x="20" y="6"/>
                    <a:pt x="20" y="5"/>
                    <a:pt x="20" y="4"/>
                  </a:cubicBezTo>
                  <a:cubicBezTo>
                    <a:pt x="20" y="0"/>
                    <a:pt x="17" y="1"/>
                    <a:pt x="17" y="0"/>
                  </a:cubicBezTo>
                  <a:cubicBezTo>
                    <a:pt x="17" y="0"/>
                    <a:pt x="17" y="0"/>
                    <a:pt x="18" y="0"/>
                  </a:cubicBezTo>
                  <a:cubicBezTo>
                    <a:pt x="19" y="0"/>
                    <a:pt x="20" y="0"/>
                    <a:pt x="21" y="0"/>
                  </a:cubicBezTo>
                  <a:cubicBezTo>
                    <a:pt x="23" y="0"/>
                    <a:pt x="25" y="0"/>
                    <a:pt x="27" y="0"/>
                  </a:cubicBezTo>
                  <a:cubicBezTo>
                    <a:pt x="27" y="0"/>
                    <a:pt x="28" y="0"/>
                    <a:pt x="28" y="0"/>
                  </a:cubicBezTo>
                  <a:cubicBezTo>
                    <a:pt x="28" y="2"/>
                    <a:pt x="25" y="0"/>
                    <a:pt x="23" y="6"/>
                  </a:cubicBezTo>
                  <a:cubicBezTo>
                    <a:pt x="14" y="26"/>
                    <a:pt x="14" y="26"/>
                    <a:pt x="14" y="26"/>
                  </a:cubicBezTo>
                  <a:cubicBezTo>
                    <a:pt x="14" y="27"/>
                    <a:pt x="14" y="27"/>
                    <a:pt x="13" y="27"/>
                  </a:cubicBezTo>
                  <a:cubicBezTo>
                    <a:pt x="13" y="27"/>
                    <a:pt x="13" y="27"/>
                    <a:pt x="13" y="26"/>
                  </a:cubicBezTo>
                  <a:cubicBezTo>
                    <a:pt x="3" y="3"/>
                    <a:pt x="3" y="3"/>
                    <a:pt x="3" y="3"/>
                  </a:cubicBezTo>
                  <a:cubicBezTo>
                    <a:pt x="2" y="0"/>
                    <a:pt x="0" y="1"/>
                    <a:pt x="0" y="0"/>
                  </a:cubicBezTo>
                  <a:cubicBezTo>
                    <a:pt x="0" y="0"/>
                    <a:pt x="0" y="0"/>
                    <a:pt x="0" y="0"/>
                  </a:cubicBezTo>
                  <a:cubicBezTo>
                    <a:pt x="2" y="0"/>
                    <a:pt x="4" y="0"/>
                    <a:pt x="6" y="0"/>
                  </a:cubicBezTo>
                  <a:cubicBezTo>
                    <a:pt x="8" y="0"/>
                    <a:pt x="9" y="0"/>
                    <a:pt x="11" y="0"/>
                  </a:cubicBezTo>
                  <a:cubicBezTo>
                    <a:pt x="12" y="0"/>
                    <a:pt x="12" y="0"/>
                    <a:pt x="12" y="0"/>
                  </a:cubicBezTo>
                  <a:cubicBezTo>
                    <a:pt x="12" y="1"/>
                    <a:pt x="9" y="0"/>
                    <a:pt x="9" y="2"/>
                  </a:cubicBezTo>
                  <a:cubicBezTo>
                    <a:pt x="9" y="3"/>
                    <a:pt x="10" y="3"/>
                    <a:pt x="10" y="4"/>
                  </a:cubicBezTo>
                  <a:cubicBezTo>
                    <a:pt x="15" y="18"/>
                    <a:pt x="15" y="18"/>
                    <a:pt x="15" y="18"/>
                  </a:cubicBezTo>
                  <a:lnTo>
                    <a:pt x="20" y="7"/>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8" name="Freeform 16"/>
            <p:cNvSpPr>
              <a:spLocks noEditPoints="1"/>
            </p:cNvSpPr>
            <p:nvPr/>
          </p:nvSpPr>
          <p:spPr bwMode="auto">
            <a:xfrm>
              <a:off x="7599363" y="5832475"/>
              <a:ext cx="157163" cy="153988"/>
            </a:xfrm>
            <a:custGeom>
              <a:avLst/>
              <a:gdLst>
                <a:gd name="T0" fmla="*/ 14 w 28"/>
                <a:gd name="T1" fmla="*/ 17 h 27"/>
                <a:gd name="T2" fmla="*/ 9 w 28"/>
                <a:gd name="T3" fmla="*/ 14 h 27"/>
                <a:gd name="T4" fmla="*/ 9 w 28"/>
                <a:gd name="T5" fmla="*/ 23 h 27"/>
                <a:gd name="T6" fmla="*/ 13 w 28"/>
                <a:gd name="T7" fmla="*/ 26 h 27"/>
                <a:gd name="T8" fmla="*/ 12 w 28"/>
                <a:gd name="T9" fmla="*/ 27 h 27"/>
                <a:gd name="T10" fmla="*/ 6 w 28"/>
                <a:gd name="T11" fmla="*/ 27 h 27"/>
                <a:gd name="T12" fmla="*/ 1 w 28"/>
                <a:gd name="T13" fmla="*/ 27 h 27"/>
                <a:gd name="T14" fmla="*/ 0 w 28"/>
                <a:gd name="T15" fmla="*/ 26 h 27"/>
                <a:gd name="T16" fmla="*/ 4 w 28"/>
                <a:gd name="T17" fmla="*/ 23 h 27"/>
                <a:gd name="T18" fmla="*/ 4 w 28"/>
                <a:gd name="T19" fmla="*/ 3 h 27"/>
                <a:gd name="T20" fmla="*/ 0 w 28"/>
                <a:gd name="T21" fmla="*/ 0 h 27"/>
                <a:gd name="T22" fmla="*/ 1 w 28"/>
                <a:gd name="T23" fmla="*/ 0 h 27"/>
                <a:gd name="T24" fmla="*/ 6 w 28"/>
                <a:gd name="T25" fmla="*/ 0 h 27"/>
                <a:gd name="T26" fmla="*/ 13 w 28"/>
                <a:gd name="T27" fmla="*/ 0 h 27"/>
                <a:gd name="T28" fmla="*/ 23 w 28"/>
                <a:gd name="T29" fmla="*/ 7 h 27"/>
                <a:gd name="T30" fmla="*/ 13 w 28"/>
                <a:gd name="T31" fmla="*/ 14 h 27"/>
                <a:gd name="T32" fmla="*/ 13 w 28"/>
                <a:gd name="T33" fmla="*/ 14 h 27"/>
                <a:gd name="T34" fmla="*/ 21 w 28"/>
                <a:gd name="T35" fmla="*/ 18 h 27"/>
                <a:gd name="T36" fmla="*/ 24 w 28"/>
                <a:gd name="T37" fmla="*/ 24 h 27"/>
                <a:gd name="T38" fmla="*/ 28 w 28"/>
                <a:gd name="T39" fmla="*/ 26 h 27"/>
                <a:gd name="T40" fmla="*/ 28 w 28"/>
                <a:gd name="T41" fmla="*/ 27 h 27"/>
                <a:gd name="T42" fmla="*/ 23 w 28"/>
                <a:gd name="T43" fmla="*/ 27 h 27"/>
                <a:gd name="T44" fmla="*/ 19 w 28"/>
                <a:gd name="T45" fmla="*/ 27 h 27"/>
                <a:gd name="T46" fmla="*/ 14 w 28"/>
                <a:gd name="T47" fmla="*/ 17 h 27"/>
                <a:gd name="T48" fmla="*/ 9 w 28"/>
                <a:gd name="T49" fmla="*/ 12 h 27"/>
                <a:gd name="T50" fmla="*/ 11 w 28"/>
                <a:gd name="T51" fmla="*/ 12 h 27"/>
                <a:gd name="T52" fmla="*/ 17 w 28"/>
                <a:gd name="T53" fmla="*/ 7 h 27"/>
                <a:gd name="T54" fmla="*/ 12 w 28"/>
                <a:gd name="T55" fmla="*/ 2 h 27"/>
                <a:gd name="T56" fmla="*/ 9 w 28"/>
                <a:gd name="T57" fmla="*/ 2 h 27"/>
                <a:gd name="T58" fmla="*/ 9 w 28"/>
                <a:gd name="T5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 h="27">
                  <a:moveTo>
                    <a:pt x="14" y="17"/>
                  </a:moveTo>
                  <a:cubicBezTo>
                    <a:pt x="13" y="15"/>
                    <a:pt x="12" y="14"/>
                    <a:pt x="9" y="14"/>
                  </a:cubicBezTo>
                  <a:cubicBezTo>
                    <a:pt x="9" y="23"/>
                    <a:pt x="9" y="23"/>
                    <a:pt x="9" y="23"/>
                  </a:cubicBezTo>
                  <a:cubicBezTo>
                    <a:pt x="9" y="27"/>
                    <a:pt x="13" y="25"/>
                    <a:pt x="13" y="26"/>
                  </a:cubicBezTo>
                  <a:cubicBezTo>
                    <a:pt x="13" y="27"/>
                    <a:pt x="13" y="27"/>
                    <a:pt x="12" y="27"/>
                  </a:cubicBezTo>
                  <a:cubicBezTo>
                    <a:pt x="10" y="27"/>
                    <a:pt x="8" y="27"/>
                    <a:pt x="6" y="27"/>
                  </a:cubicBezTo>
                  <a:cubicBezTo>
                    <a:pt x="5" y="27"/>
                    <a:pt x="3" y="27"/>
                    <a:pt x="1" y="27"/>
                  </a:cubicBezTo>
                  <a:cubicBezTo>
                    <a:pt x="0" y="27"/>
                    <a:pt x="0" y="27"/>
                    <a:pt x="0" y="26"/>
                  </a:cubicBezTo>
                  <a:cubicBezTo>
                    <a:pt x="0" y="25"/>
                    <a:pt x="4" y="27"/>
                    <a:pt x="4" y="23"/>
                  </a:cubicBezTo>
                  <a:cubicBezTo>
                    <a:pt x="4" y="3"/>
                    <a:pt x="4" y="3"/>
                    <a:pt x="4" y="3"/>
                  </a:cubicBezTo>
                  <a:cubicBezTo>
                    <a:pt x="4" y="0"/>
                    <a:pt x="0" y="1"/>
                    <a:pt x="0" y="0"/>
                  </a:cubicBezTo>
                  <a:cubicBezTo>
                    <a:pt x="0" y="0"/>
                    <a:pt x="0" y="0"/>
                    <a:pt x="1" y="0"/>
                  </a:cubicBezTo>
                  <a:cubicBezTo>
                    <a:pt x="3" y="0"/>
                    <a:pt x="5" y="0"/>
                    <a:pt x="6" y="0"/>
                  </a:cubicBezTo>
                  <a:cubicBezTo>
                    <a:pt x="8" y="0"/>
                    <a:pt x="10" y="0"/>
                    <a:pt x="13" y="0"/>
                  </a:cubicBezTo>
                  <a:cubicBezTo>
                    <a:pt x="19" y="0"/>
                    <a:pt x="23" y="3"/>
                    <a:pt x="23" y="7"/>
                  </a:cubicBezTo>
                  <a:cubicBezTo>
                    <a:pt x="23" y="10"/>
                    <a:pt x="21" y="13"/>
                    <a:pt x="13" y="14"/>
                  </a:cubicBezTo>
                  <a:cubicBezTo>
                    <a:pt x="13" y="14"/>
                    <a:pt x="13" y="14"/>
                    <a:pt x="13" y="14"/>
                  </a:cubicBezTo>
                  <a:cubicBezTo>
                    <a:pt x="17" y="14"/>
                    <a:pt x="19" y="15"/>
                    <a:pt x="21" y="18"/>
                  </a:cubicBezTo>
                  <a:cubicBezTo>
                    <a:pt x="24" y="24"/>
                    <a:pt x="24" y="24"/>
                    <a:pt x="24" y="24"/>
                  </a:cubicBezTo>
                  <a:cubicBezTo>
                    <a:pt x="25" y="27"/>
                    <a:pt x="28" y="25"/>
                    <a:pt x="28" y="26"/>
                  </a:cubicBezTo>
                  <a:cubicBezTo>
                    <a:pt x="28" y="27"/>
                    <a:pt x="28" y="27"/>
                    <a:pt x="28" y="27"/>
                  </a:cubicBezTo>
                  <a:cubicBezTo>
                    <a:pt x="26" y="27"/>
                    <a:pt x="25" y="27"/>
                    <a:pt x="23" y="27"/>
                  </a:cubicBezTo>
                  <a:cubicBezTo>
                    <a:pt x="19" y="27"/>
                    <a:pt x="19" y="27"/>
                    <a:pt x="19" y="27"/>
                  </a:cubicBezTo>
                  <a:lnTo>
                    <a:pt x="14" y="17"/>
                  </a:lnTo>
                  <a:close/>
                  <a:moveTo>
                    <a:pt x="9" y="12"/>
                  </a:moveTo>
                  <a:cubicBezTo>
                    <a:pt x="11" y="12"/>
                    <a:pt x="11" y="12"/>
                    <a:pt x="11" y="12"/>
                  </a:cubicBezTo>
                  <a:cubicBezTo>
                    <a:pt x="15" y="12"/>
                    <a:pt x="17" y="10"/>
                    <a:pt x="17" y="7"/>
                  </a:cubicBezTo>
                  <a:cubicBezTo>
                    <a:pt x="17" y="3"/>
                    <a:pt x="15" y="2"/>
                    <a:pt x="12" y="2"/>
                  </a:cubicBezTo>
                  <a:cubicBezTo>
                    <a:pt x="9" y="2"/>
                    <a:pt x="9" y="2"/>
                    <a:pt x="9" y="2"/>
                  </a:cubicBezTo>
                  <a:lnTo>
                    <a:pt x="9" y="1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9" name="Freeform 17"/>
            <p:cNvSpPr/>
            <p:nvPr/>
          </p:nvSpPr>
          <p:spPr bwMode="auto">
            <a:xfrm>
              <a:off x="7913688" y="5832475"/>
              <a:ext cx="66675" cy="153988"/>
            </a:xfrm>
            <a:custGeom>
              <a:avLst/>
              <a:gdLst>
                <a:gd name="T0" fmla="*/ 3 w 12"/>
                <a:gd name="T1" fmla="*/ 3 h 27"/>
                <a:gd name="T2" fmla="*/ 0 w 12"/>
                <a:gd name="T3" fmla="*/ 0 h 27"/>
                <a:gd name="T4" fmla="*/ 0 w 12"/>
                <a:gd name="T5" fmla="*/ 0 h 27"/>
                <a:gd name="T6" fmla="*/ 6 w 12"/>
                <a:gd name="T7" fmla="*/ 0 h 27"/>
                <a:gd name="T8" fmla="*/ 11 w 12"/>
                <a:gd name="T9" fmla="*/ 0 h 27"/>
                <a:gd name="T10" fmla="*/ 12 w 12"/>
                <a:gd name="T11" fmla="*/ 0 h 27"/>
                <a:gd name="T12" fmla="*/ 9 w 12"/>
                <a:gd name="T13" fmla="*/ 3 h 27"/>
                <a:gd name="T14" fmla="*/ 9 w 12"/>
                <a:gd name="T15" fmla="*/ 23 h 27"/>
                <a:gd name="T16" fmla="*/ 12 w 12"/>
                <a:gd name="T17" fmla="*/ 26 h 27"/>
                <a:gd name="T18" fmla="*/ 11 w 12"/>
                <a:gd name="T19" fmla="*/ 27 h 27"/>
                <a:gd name="T20" fmla="*/ 6 w 12"/>
                <a:gd name="T21" fmla="*/ 27 h 27"/>
                <a:gd name="T22" fmla="*/ 0 w 12"/>
                <a:gd name="T23" fmla="*/ 27 h 27"/>
                <a:gd name="T24" fmla="*/ 0 w 12"/>
                <a:gd name="T25" fmla="*/ 26 h 27"/>
                <a:gd name="T26" fmla="*/ 3 w 12"/>
                <a:gd name="T27" fmla="*/ 23 h 27"/>
                <a:gd name="T28" fmla="*/ 3 w 12"/>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27">
                  <a:moveTo>
                    <a:pt x="3" y="3"/>
                  </a:moveTo>
                  <a:cubicBezTo>
                    <a:pt x="3" y="0"/>
                    <a:pt x="0" y="1"/>
                    <a:pt x="0" y="0"/>
                  </a:cubicBezTo>
                  <a:cubicBezTo>
                    <a:pt x="0" y="0"/>
                    <a:pt x="0" y="0"/>
                    <a:pt x="0" y="0"/>
                  </a:cubicBezTo>
                  <a:cubicBezTo>
                    <a:pt x="2" y="0"/>
                    <a:pt x="4" y="0"/>
                    <a:pt x="6" y="0"/>
                  </a:cubicBezTo>
                  <a:cubicBezTo>
                    <a:pt x="7" y="0"/>
                    <a:pt x="9" y="0"/>
                    <a:pt x="11" y="0"/>
                  </a:cubicBezTo>
                  <a:cubicBezTo>
                    <a:pt x="12" y="0"/>
                    <a:pt x="12" y="0"/>
                    <a:pt x="12" y="0"/>
                  </a:cubicBezTo>
                  <a:cubicBezTo>
                    <a:pt x="12" y="1"/>
                    <a:pt x="9" y="0"/>
                    <a:pt x="9" y="3"/>
                  </a:cubicBezTo>
                  <a:cubicBezTo>
                    <a:pt x="9" y="23"/>
                    <a:pt x="9" y="23"/>
                    <a:pt x="9" y="23"/>
                  </a:cubicBezTo>
                  <a:cubicBezTo>
                    <a:pt x="9" y="27"/>
                    <a:pt x="12" y="25"/>
                    <a:pt x="12" y="26"/>
                  </a:cubicBezTo>
                  <a:cubicBezTo>
                    <a:pt x="12" y="27"/>
                    <a:pt x="12" y="27"/>
                    <a:pt x="11" y="27"/>
                  </a:cubicBezTo>
                  <a:cubicBezTo>
                    <a:pt x="9" y="27"/>
                    <a:pt x="7" y="27"/>
                    <a:pt x="6" y="27"/>
                  </a:cubicBezTo>
                  <a:cubicBezTo>
                    <a:pt x="4" y="27"/>
                    <a:pt x="2" y="27"/>
                    <a:pt x="0"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 name="Freeform 18"/>
            <p:cNvSpPr/>
            <p:nvPr/>
          </p:nvSpPr>
          <p:spPr bwMode="auto">
            <a:xfrm>
              <a:off x="8002588" y="5827713"/>
              <a:ext cx="134938" cy="158750"/>
            </a:xfrm>
            <a:custGeom>
              <a:avLst/>
              <a:gdLst>
                <a:gd name="T0" fmla="*/ 9 w 24"/>
                <a:gd name="T1" fmla="*/ 2 h 28"/>
                <a:gd name="T2" fmla="*/ 0 w 24"/>
                <a:gd name="T3" fmla="*/ 10 h 28"/>
                <a:gd name="T4" fmla="*/ 0 w 24"/>
                <a:gd name="T5" fmla="*/ 10 h 28"/>
                <a:gd name="T6" fmla="*/ 0 w 24"/>
                <a:gd name="T7" fmla="*/ 8 h 28"/>
                <a:gd name="T8" fmla="*/ 1 w 24"/>
                <a:gd name="T9" fmla="*/ 1 h 28"/>
                <a:gd name="T10" fmla="*/ 1 w 24"/>
                <a:gd name="T11" fmla="*/ 0 h 28"/>
                <a:gd name="T12" fmla="*/ 2 w 24"/>
                <a:gd name="T13" fmla="*/ 1 h 28"/>
                <a:gd name="T14" fmla="*/ 3 w 24"/>
                <a:gd name="T15" fmla="*/ 1 h 28"/>
                <a:gd name="T16" fmla="*/ 21 w 24"/>
                <a:gd name="T17" fmla="*/ 1 h 28"/>
                <a:gd name="T18" fmla="*/ 22 w 24"/>
                <a:gd name="T19" fmla="*/ 1 h 28"/>
                <a:gd name="T20" fmla="*/ 22 w 24"/>
                <a:gd name="T21" fmla="*/ 0 h 28"/>
                <a:gd name="T22" fmla="*/ 23 w 24"/>
                <a:gd name="T23" fmla="*/ 1 h 28"/>
                <a:gd name="T24" fmla="*/ 24 w 24"/>
                <a:gd name="T25" fmla="*/ 8 h 28"/>
                <a:gd name="T26" fmla="*/ 24 w 24"/>
                <a:gd name="T27" fmla="*/ 10 h 28"/>
                <a:gd name="T28" fmla="*/ 24 w 24"/>
                <a:gd name="T29" fmla="*/ 10 h 28"/>
                <a:gd name="T30" fmla="*/ 15 w 24"/>
                <a:gd name="T31" fmla="*/ 2 h 28"/>
                <a:gd name="T32" fmla="*/ 15 w 24"/>
                <a:gd name="T33" fmla="*/ 24 h 28"/>
                <a:gd name="T34" fmla="*/ 18 w 24"/>
                <a:gd name="T35" fmla="*/ 27 h 28"/>
                <a:gd name="T36" fmla="*/ 19 w 24"/>
                <a:gd name="T37" fmla="*/ 27 h 28"/>
                <a:gd name="T38" fmla="*/ 18 w 24"/>
                <a:gd name="T39" fmla="*/ 28 h 28"/>
                <a:gd name="T40" fmla="*/ 12 w 24"/>
                <a:gd name="T41" fmla="*/ 28 h 28"/>
                <a:gd name="T42" fmla="*/ 6 w 24"/>
                <a:gd name="T43" fmla="*/ 28 h 28"/>
                <a:gd name="T44" fmla="*/ 5 w 24"/>
                <a:gd name="T45" fmla="*/ 27 h 28"/>
                <a:gd name="T46" fmla="*/ 6 w 24"/>
                <a:gd name="T47" fmla="*/ 27 h 28"/>
                <a:gd name="T48" fmla="*/ 9 w 24"/>
                <a:gd name="T49" fmla="*/ 24 h 28"/>
                <a:gd name="T50" fmla="*/ 9 w 24"/>
                <a:gd name="T51"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 h="28">
                  <a:moveTo>
                    <a:pt x="9" y="2"/>
                  </a:moveTo>
                  <a:cubicBezTo>
                    <a:pt x="1" y="5"/>
                    <a:pt x="1" y="10"/>
                    <a:pt x="0" y="10"/>
                  </a:cubicBezTo>
                  <a:cubicBezTo>
                    <a:pt x="0" y="10"/>
                    <a:pt x="0" y="10"/>
                    <a:pt x="0" y="10"/>
                  </a:cubicBezTo>
                  <a:cubicBezTo>
                    <a:pt x="0" y="10"/>
                    <a:pt x="0" y="9"/>
                    <a:pt x="0" y="8"/>
                  </a:cubicBezTo>
                  <a:cubicBezTo>
                    <a:pt x="1" y="1"/>
                    <a:pt x="1" y="1"/>
                    <a:pt x="1" y="1"/>
                  </a:cubicBezTo>
                  <a:cubicBezTo>
                    <a:pt x="1" y="0"/>
                    <a:pt x="1" y="0"/>
                    <a:pt x="1" y="0"/>
                  </a:cubicBezTo>
                  <a:cubicBezTo>
                    <a:pt x="2" y="0"/>
                    <a:pt x="2" y="0"/>
                    <a:pt x="2" y="1"/>
                  </a:cubicBezTo>
                  <a:cubicBezTo>
                    <a:pt x="2" y="1"/>
                    <a:pt x="3" y="1"/>
                    <a:pt x="3" y="1"/>
                  </a:cubicBezTo>
                  <a:cubicBezTo>
                    <a:pt x="21" y="1"/>
                    <a:pt x="21" y="1"/>
                    <a:pt x="21" y="1"/>
                  </a:cubicBezTo>
                  <a:cubicBezTo>
                    <a:pt x="21" y="1"/>
                    <a:pt x="22" y="1"/>
                    <a:pt x="22" y="1"/>
                  </a:cubicBezTo>
                  <a:cubicBezTo>
                    <a:pt x="22" y="0"/>
                    <a:pt x="22" y="0"/>
                    <a:pt x="22" y="0"/>
                  </a:cubicBezTo>
                  <a:cubicBezTo>
                    <a:pt x="22" y="0"/>
                    <a:pt x="23" y="0"/>
                    <a:pt x="23" y="1"/>
                  </a:cubicBezTo>
                  <a:cubicBezTo>
                    <a:pt x="24" y="8"/>
                    <a:pt x="24" y="8"/>
                    <a:pt x="24" y="8"/>
                  </a:cubicBezTo>
                  <a:cubicBezTo>
                    <a:pt x="24" y="9"/>
                    <a:pt x="24" y="10"/>
                    <a:pt x="24" y="10"/>
                  </a:cubicBezTo>
                  <a:cubicBezTo>
                    <a:pt x="24" y="10"/>
                    <a:pt x="24" y="10"/>
                    <a:pt x="24" y="10"/>
                  </a:cubicBezTo>
                  <a:cubicBezTo>
                    <a:pt x="23" y="10"/>
                    <a:pt x="23" y="5"/>
                    <a:pt x="15" y="2"/>
                  </a:cubicBezTo>
                  <a:cubicBezTo>
                    <a:pt x="15" y="24"/>
                    <a:pt x="15" y="24"/>
                    <a:pt x="15" y="24"/>
                  </a:cubicBezTo>
                  <a:cubicBezTo>
                    <a:pt x="15" y="26"/>
                    <a:pt x="16" y="27"/>
                    <a:pt x="18" y="27"/>
                  </a:cubicBezTo>
                  <a:cubicBezTo>
                    <a:pt x="18" y="27"/>
                    <a:pt x="19" y="27"/>
                    <a:pt x="19" y="27"/>
                  </a:cubicBezTo>
                  <a:cubicBezTo>
                    <a:pt x="19" y="28"/>
                    <a:pt x="18" y="28"/>
                    <a:pt x="18" y="28"/>
                  </a:cubicBezTo>
                  <a:cubicBezTo>
                    <a:pt x="16" y="28"/>
                    <a:pt x="14" y="28"/>
                    <a:pt x="12" y="28"/>
                  </a:cubicBezTo>
                  <a:cubicBezTo>
                    <a:pt x="10" y="28"/>
                    <a:pt x="8" y="28"/>
                    <a:pt x="6" y="28"/>
                  </a:cubicBezTo>
                  <a:cubicBezTo>
                    <a:pt x="5" y="28"/>
                    <a:pt x="5" y="28"/>
                    <a:pt x="5" y="27"/>
                  </a:cubicBezTo>
                  <a:cubicBezTo>
                    <a:pt x="5" y="27"/>
                    <a:pt x="5" y="27"/>
                    <a:pt x="6" y="27"/>
                  </a:cubicBezTo>
                  <a:cubicBezTo>
                    <a:pt x="8" y="27"/>
                    <a:pt x="9" y="26"/>
                    <a:pt x="9" y="24"/>
                  </a:cubicBezTo>
                  <a:lnTo>
                    <a:pt x="9" y="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1" name="Freeform 19"/>
            <p:cNvSpPr/>
            <p:nvPr/>
          </p:nvSpPr>
          <p:spPr bwMode="auto">
            <a:xfrm>
              <a:off x="8148638" y="5832475"/>
              <a:ext cx="146050" cy="153988"/>
            </a:xfrm>
            <a:custGeom>
              <a:avLst/>
              <a:gdLst>
                <a:gd name="T0" fmla="*/ 15 w 26"/>
                <a:gd name="T1" fmla="*/ 12 h 27"/>
                <a:gd name="T2" fmla="*/ 18 w 26"/>
                <a:gd name="T3" fmla="*/ 8 h 27"/>
                <a:gd name="T4" fmla="*/ 19 w 26"/>
                <a:gd name="T5" fmla="*/ 3 h 27"/>
                <a:gd name="T6" fmla="*/ 17 w 26"/>
                <a:gd name="T7" fmla="*/ 0 h 27"/>
                <a:gd name="T8" fmla="*/ 18 w 26"/>
                <a:gd name="T9" fmla="*/ 0 h 27"/>
                <a:gd name="T10" fmla="*/ 22 w 26"/>
                <a:gd name="T11" fmla="*/ 0 h 27"/>
                <a:gd name="T12" fmla="*/ 26 w 26"/>
                <a:gd name="T13" fmla="*/ 0 h 27"/>
                <a:gd name="T14" fmla="*/ 26 w 26"/>
                <a:gd name="T15" fmla="*/ 0 h 27"/>
                <a:gd name="T16" fmla="*/ 21 w 26"/>
                <a:gd name="T17" fmla="*/ 6 h 27"/>
                <a:gd name="T18" fmla="*/ 16 w 26"/>
                <a:gd name="T19" fmla="*/ 14 h 27"/>
                <a:gd name="T20" fmla="*/ 16 w 26"/>
                <a:gd name="T21" fmla="*/ 23 h 27"/>
                <a:gd name="T22" fmla="*/ 19 w 26"/>
                <a:gd name="T23" fmla="*/ 26 h 27"/>
                <a:gd name="T24" fmla="*/ 18 w 26"/>
                <a:gd name="T25" fmla="*/ 27 h 27"/>
                <a:gd name="T26" fmla="*/ 13 w 26"/>
                <a:gd name="T27" fmla="*/ 27 h 27"/>
                <a:gd name="T28" fmla="*/ 8 w 26"/>
                <a:gd name="T29" fmla="*/ 27 h 27"/>
                <a:gd name="T30" fmla="*/ 7 w 26"/>
                <a:gd name="T31" fmla="*/ 26 h 27"/>
                <a:gd name="T32" fmla="*/ 10 w 26"/>
                <a:gd name="T33" fmla="*/ 23 h 27"/>
                <a:gd name="T34" fmla="*/ 10 w 26"/>
                <a:gd name="T35" fmla="*/ 15 h 27"/>
                <a:gd name="T36" fmla="*/ 4 w 26"/>
                <a:gd name="T37" fmla="*/ 3 h 27"/>
                <a:gd name="T38" fmla="*/ 0 w 26"/>
                <a:gd name="T39" fmla="*/ 0 h 27"/>
                <a:gd name="T40" fmla="*/ 1 w 26"/>
                <a:gd name="T41" fmla="*/ 0 h 27"/>
                <a:gd name="T42" fmla="*/ 6 w 26"/>
                <a:gd name="T43" fmla="*/ 0 h 27"/>
                <a:gd name="T44" fmla="*/ 12 w 26"/>
                <a:gd name="T45" fmla="*/ 0 h 27"/>
                <a:gd name="T46" fmla="*/ 13 w 26"/>
                <a:gd name="T47" fmla="*/ 0 h 27"/>
                <a:gd name="T48" fmla="*/ 10 w 26"/>
                <a:gd name="T49" fmla="*/ 2 h 27"/>
                <a:gd name="T50" fmla="*/ 11 w 26"/>
                <a:gd name="T51" fmla="*/ 5 h 27"/>
                <a:gd name="T52" fmla="*/ 15 w 26"/>
                <a:gd name="T53"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6" h="27">
                  <a:moveTo>
                    <a:pt x="15" y="12"/>
                  </a:moveTo>
                  <a:cubicBezTo>
                    <a:pt x="18" y="8"/>
                    <a:pt x="18" y="8"/>
                    <a:pt x="18" y="8"/>
                  </a:cubicBezTo>
                  <a:cubicBezTo>
                    <a:pt x="19" y="6"/>
                    <a:pt x="19" y="4"/>
                    <a:pt x="19" y="3"/>
                  </a:cubicBezTo>
                  <a:cubicBezTo>
                    <a:pt x="19" y="1"/>
                    <a:pt x="17" y="1"/>
                    <a:pt x="17" y="0"/>
                  </a:cubicBezTo>
                  <a:cubicBezTo>
                    <a:pt x="17" y="0"/>
                    <a:pt x="17" y="0"/>
                    <a:pt x="18" y="0"/>
                  </a:cubicBezTo>
                  <a:cubicBezTo>
                    <a:pt x="19" y="0"/>
                    <a:pt x="20" y="0"/>
                    <a:pt x="22" y="0"/>
                  </a:cubicBezTo>
                  <a:cubicBezTo>
                    <a:pt x="23" y="0"/>
                    <a:pt x="25" y="0"/>
                    <a:pt x="26" y="0"/>
                  </a:cubicBezTo>
                  <a:cubicBezTo>
                    <a:pt x="26" y="0"/>
                    <a:pt x="26" y="0"/>
                    <a:pt x="26" y="0"/>
                  </a:cubicBezTo>
                  <a:cubicBezTo>
                    <a:pt x="26" y="1"/>
                    <a:pt x="24" y="0"/>
                    <a:pt x="21" y="6"/>
                  </a:cubicBezTo>
                  <a:cubicBezTo>
                    <a:pt x="16" y="14"/>
                    <a:pt x="16" y="14"/>
                    <a:pt x="16" y="14"/>
                  </a:cubicBezTo>
                  <a:cubicBezTo>
                    <a:pt x="16" y="23"/>
                    <a:pt x="16" y="23"/>
                    <a:pt x="16" y="23"/>
                  </a:cubicBezTo>
                  <a:cubicBezTo>
                    <a:pt x="16" y="27"/>
                    <a:pt x="19" y="25"/>
                    <a:pt x="19" y="26"/>
                  </a:cubicBezTo>
                  <a:cubicBezTo>
                    <a:pt x="19" y="27"/>
                    <a:pt x="19" y="27"/>
                    <a:pt x="18" y="27"/>
                  </a:cubicBezTo>
                  <a:cubicBezTo>
                    <a:pt x="16" y="27"/>
                    <a:pt x="15" y="27"/>
                    <a:pt x="13" y="27"/>
                  </a:cubicBezTo>
                  <a:cubicBezTo>
                    <a:pt x="11" y="27"/>
                    <a:pt x="10" y="27"/>
                    <a:pt x="8" y="27"/>
                  </a:cubicBezTo>
                  <a:cubicBezTo>
                    <a:pt x="7" y="27"/>
                    <a:pt x="7" y="27"/>
                    <a:pt x="7" y="26"/>
                  </a:cubicBezTo>
                  <a:cubicBezTo>
                    <a:pt x="7" y="25"/>
                    <a:pt x="10" y="27"/>
                    <a:pt x="10" y="23"/>
                  </a:cubicBezTo>
                  <a:cubicBezTo>
                    <a:pt x="10" y="15"/>
                    <a:pt x="10" y="15"/>
                    <a:pt x="10" y="15"/>
                  </a:cubicBezTo>
                  <a:cubicBezTo>
                    <a:pt x="4" y="3"/>
                    <a:pt x="4" y="3"/>
                    <a:pt x="4" y="3"/>
                  </a:cubicBezTo>
                  <a:cubicBezTo>
                    <a:pt x="2" y="0"/>
                    <a:pt x="0" y="1"/>
                    <a:pt x="0" y="0"/>
                  </a:cubicBezTo>
                  <a:cubicBezTo>
                    <a:pt x="0" y="0"/>
                    <a:pt x="0" y="0"/>
                    <a:pt x="1" y="0"/>
                  </a:cubicBezTo>
                  <a:cubicBezTo>
                    <a:pt x="3" y="0"/>
                    <a:pt x="4" y="0"/>
                    <a:pt x="6" y="0"/>
                  </a:cubicBezTo>
                  <a:cubicBezTo>
                    <a:pt x="8" y="0"/>
                    <a:pt x="10" y="0"/>
                    <a:pt x="12" y="0"/>
                  </a:cubicBezTo>
                  <a:cubicBezTo>
                    <a:pt x="12" y="0"/>
                    <a:pt x="13" y="0"/>
                    <a:pt x="13" y="0"/>
                  </a:cubicBezTo>
                  <a:cubicBezTo>
                    <a:pt x="13" y="1"/>
                    <a:pt x="10" y="0"/>
                    <a:pt x="10" y="2"/>
                  </a:cubicBezTo>
                  <a:cubicBezTo>
                    <a:pt x="10" y="3"/>
                    <a:pt x="10" y="4"/>
                    <a:pt x="11" y="5"/>
                  </a:cubicBezTo>
                  <a:lnTo>
                    <a:pt x="15" y="1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2" name="Freeform 20"/>
            <p:cNvSpPr/>
            <p:nvPr/>
          </p:nvSpPr>
          <p:spPr bwMode="auto">
            <a:xfrm>
              <a:off x="6242050"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3" name="Freeform 21"/>
            <p:cNvSpPr/>
            <p:nvPr/>
          </p:nvSpPr>
          <p:spPr bwMode="auto">
            <a:xfrm>
              <a:off x="6427788" y="5832475"/>
              <a:ext cx="133350"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4" name="Freeform 22"/>
            <p:cNvSpPr/>
            <p:nvPr/>
          </p:nvSpPr>
          <p:spPr bwMode="auto">
            <a:xfrm>
              <a:off x="6578600"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5" name="Freeform 23"/>
            <p:cNvSpPr/>
            <p:nvPr/>
          </p:nvSpPr>
          <p:spPr bwMode="auto">
            <a:xfrm>
              <a:off x="5614988" y="5475288"/>
              <a:ext cx="117475" cy="136525"/>
            </a:xfrm>
            <a:custGeom>
              <a:avLst/>
              <a:gdLst>
                <a:gd name="T0" fmla="*/ 11 w 21"/>
                <a:gd name="T1" fmla="*/ 2 h 24"/>
                <a:gd name="T2" fmla="*/ 1 w 21"/>
                <a:gd name="T3" fmla="*/ 13 h 24"/>
                <a:gd name="T4" fmla="*/ 11 w 21"/>
                <a:gd name="T5" fmla="*/ 24 h 24"/>
                <a:gd name="T6" fmla="*/ 14 w 21"/>
                <a:gd name="T7" fmla="*/ 22 h 24"/>
                <a:gd name="T8" fmla="*/ 21 w 21"/>
                <a:gd name="T9" fmla="*/ 9 h 24"/>
                <a:gd name="T10" fmla="*/ 21 w 21"/>
                <a:gd name="T11" fmla="*/ 8 h 24"/>
                <a:gd name="T12" fmla="*/ 11 w 21"/>
                <a:gd name="T13" fmla="*/ 2 h 24"/>
              </a:gdLst>
              <a:ahLst/>
              <a:cxnLst>
                <a:cxn ang="0">
                  <a:pos x="T0" y="T1"/>
                </a:cxn>
                <a:cxn ang="0">
                  <a:pos x="T2" y="T3"/>
                </a:cxn>
                <a:cxn ang="0">
                  <a:pos x="T4" y="T5"/>
                </a:cxn>
                <a:cxn ang="0">
                  <a:pos x="T6" y="T7"/>
                </a:cxn>
                <a:cxn ang="0">
                  <a:pos x="T8" y="T9"/>
                </a:cxn>
                <a:cxn ang="0">
                  <a:pos x="T10" y="T11"/>
                </a:cxn>
                <a:cxn ang="0">
                  <a:pos x="T12" y="T13"/>
                </a:cxn>
              </a:cxnLst>
              <a:rect l="0" t="0" r="r" b="b"/>
              <a:pathLst>
                <a:path w="21" h="24">
                  <a:moveTo>
                    <a:pt x="11" y="2"/>
                  </a:moveTo>
                  <a:cubicBezTo>
                    <a:pt x="6" y="4"/>
                    <a:pt x="2" y="9"/>
                    <a:pt x="1" y="13"/>
                  </a:cubicBezTo>
                  <a:cubicBezTo>
                    <a:pt x="0" y="20"/>
                    <a:pt x="6" y="22"/>
                    <a:pt x="11" y="24"/>
                  </a:cubicBezTo>
                  <a:cubicBezTo>
                    <a:pt x="12" y="24"/>
                    <a:pt x="13" y="24"/>
                    <a:pt x="14" y="22"/>
                  </a:cubicBezTo>
                  <a:cubicBezTo>
                    <a:pt x="15" y="17"/>
                    <a:pt x="17" y="13"/>
                    <a:pt x="21" y="9"/>
                  </a:cubicBezTo>
                  <a:cubicBezTo>
                    <a:pt x="21" y="8"/>
                    <a:pt x="21" y="8"/>
                    <a:pt x="21" y="8"/>
                  </a:cubicBezTo>
                  <a:cubicBezTo>
                    <a:pt x="20" y="1"/>
                    <a:pt x="15" y="0"/>
                    <a:pt x="11"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Freeform 24"/>
            <p:cNvSpPr/>
            <p:nvPr/>
          </p:nvSpPr>
          <p:spPr bwMode="auto">
            <a:xfrm>
              <a:off x="5440363" y="5140325"/>
              <a:ext cx="146050" cy="442913"/>
            </a:xfrm>
            <a:custGeom>
              <a:avLst/>
              <a:gdLst>
                <a:gd name="T0" fmla="*/ 20 w 26"/>
                <a:gd name="T1" fmla="*/ 52 h 78"/>
                <a:gd name="T2" fmla="*/ 18 w 26"/>
                <a:gd name="T3" fmla="*/ 25 h 78"/>
                <a:gd name="T4" fmla="*/ 22 w 26"/>
                <a:gd name="T5" fmla="*/ 7 h 78"/>
                <a:gd name="T6" fmla="*/ 10 w 26"/>
                <a:gd name="T7" fmla="*/ 4 h 78"/>
                <a:gd name="T8" fmla="*/ 1 w 26"/>
                <a:gd name="T9" fmla="*/ 48 h 78"/>
                <a:gd name="T10" fmla="*/ 11 w 26"/>
                <a:gd name="T11" fmla="*/ 78 h 78"/>
                <a:gd name="T12" fmla="*/ 25 w 26"/>
                <a:gd name="T13" fmla="*/ 51 h 78"/>
                <a:gd name="T14" fmla="*/ 20 w 26"/>
                <a:gd name="T15" fmla="*/ 52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78">
                  <a:moveTo>
                    <a:pt x="20" y="52"/>
                  </a:moveTo>
                  <a:cubicBezTo>
                    <a:pt x="14" y="49"/>
                    <a:pt x="17" y="30"/>
                    <a:pt x="18" y="25"/>
                  </a:cubicBezTo>
                  <a:cubicBezTo>
                    <a:pt x="20" y="20"/>
                    <a:pt x="22" y="12"/>
                    <a:pt x="22" y="7"/>
                  </a:cubicBezTo>
                  <a:cubicBezTo>
                    <a:pt x="17" y="0"/>
                    <a:pt x="15" y="1"/>
                    <a:pt x="10" y="4"/>
                  </a:cubicBezTo>
                  <a:cubicBezTo>
                    <a:pt x="0" y="17"/>
                    <a:pt x="1" y="30"/>
                    <a:pt x="1" y="48"/>
                  </a:cubicBezTo>
                  <a:cubicBezTo>
                    <a:pt x="2" y="57"/>
                    <a:pt x="2" y="73"/>
                    <a:pt x="11" y="78"/>
                  </a:cubicBezTo>
                  <a:cubicBezTo>
                    <a:pt x="19" y="77"/>
                    <a:pt x="26" y="60"/>
                    <a:pt x="25" y="51"/>
                  </a:cubicBezTo>
                  <a:cubicBezTo>
                    <a:pt x="24" y="47"/>
                    <a:pt x="23" y="52"/>
                    <a:pt x="20" y="5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7" name="Freeform 25"/>
            <p:cNvSpPr/>
            <p:nvPr/>
          </p:nvSpPr>
          <p:spPr bwMode="auto">
            <a:xfrm>
              <a:off x="5614988" y="4902200"/>
              <a:ext cx="323850" cy="782638"/>
            </a:xfrm>
            <a:custGeom>
              <a:avLst/>
              <a:gdLst>
                <a:gd name="T0" fmla="*/ 44 w 58"/>
                <a:gd name="T1" fmla="*/ 72 h 138"/>
                <a:gd name="T2" fmla="*/ 48 w 58"/>
                <a:gd name="T3" fmla="*/ 70 h 138"/>
                <a:gd name="T4" fmla="*/ 50 w 58"/>
                <a:gd name="T5" fmla="*/ 62 h 138"/>
                <a:gd name="T6" fmla="*/ 48 w 58"/>
                <a:gd name="T7" fmla="*/ 62 h 138"/>
                <a:gd name="T8" fmla="*/ 32 w 58"/>
                <a:gd name="T9" fmla="*/ 58 h 138"/>
                <a:gd name="T10" fmla="*/ 42 w 58"/>
                <a:gd name="T11" fmla="*/ 40 h 138"/>
                <a:gd name="T12" fmla="*/ 38 w 58"/>
                <a:gd name="T13" fmla="*/ 33 h 138"/>
                <a:gd name="T14" fmla="*/ 39 w 58"/>
                <a:gd name="T15" fmla="*/ 32 h 138"/>
                <a:gd name="T16" fmla="*/ 48 w 58"/>
                <a:gd name="T17" fmla="*/ 23 h 138"/>
                <a:gd name="T18" fmla="*/ 54 w 58"/>
                <a:gd name="T19" fmla="*/ 16 h 138"/>
                <a:gd name="T20" fmla="*/ 48 w 58"/>
                <a:gd name="T21" fmla="*/ 1 h 138"/>
                <a:gd name="T22" fmla="*/ 34 w 58"/>
                <a:gd name="T23" fmla="*/ 2 h 138"/>
                <a:gd name="T24" fmla="*/ 24 w 58"/>
                <a:gd name="T25" fmla="*/ 8 h 138"/>
                <a:gd name="T26" fmla="*/ 22 w 58"/>
                <a:gd name="T27" fmla="*/ 10 h 138"/>
                <a:gd name="T28" fmla="*/ 28 w 58"/>
                <a:gd name="T29" fmla="*/ 18 h 138"/>
                <a:gd name="T30" fmla="*/ 41 w 58"/>
                <a:gd name="T31" fmla="*/ 13 h 138"/>
                <a:gd name="T32" fmla="*/ 41 w 58"/>
                <a:gd name="T33" fmla="*/ 15 h 138"/>
                <a:gd name="T34" fmla="*/ 41 w 58"/>
                <a:gd name="T35" fmla="*/ 15 h 138"/>
                <a:gd name="T36" fmla="*/ 29 w 58"/>
                <a:gd name="T37" fmla="*/ 30 h 138"/>
                <a:gd name="T38" fmla="*/ 30 w 58"/>
                <a:gd name="T39" fmla="*/ 46 h 138"/>
                <a:gd name="T40" fmla="*/ 29 w 58"/>
                <a:gd name="T41" fmla="*/ 51 h 138"/>
                <a:gd name="T42" fmla="*/ 18 w 58"/>
                <a:gd name="T43" fmla="*/ 65 h 138"/>
                <a:gd name="T44" fmla="*/ 12 w 58"/>
                <a:gd name="T45" fmla="*/ 72 h 138"/>
                <a:gd name="T46" fmla="*/ 11 w 58"/>
                <a:gd name="T47" fmla="*/ 73 h 138"/>
                <a:gd name="T48" fmla="*/ 0 w 58"/>
                <a:gd name="T49" fmla="*/ 84 h 138"/>
                <a:gd name="T50" fmla="*/ 0 w 58"/>
                <a:gd name="T51" fmla="*/ 85 h 138"/>
                <a:gd name="T52" fmla="*/ 11 w 58"/>
                <a:gd name="T53" fmla="*/ 89 h 138"/>
                <a:gd name="T54" fmla="*/ 13 w 58"/>
                <a:gd name="T55" fmla="*/ 89 h 138"/>
                <a:gd name="T56" fmla="*/ 14 w 58"/>
                <a:gd name="T57" fmla="*/ 89 h 138"/>
                <a:gd name="T58" fmla="*/ 14 w 58"/>
                <a:gd name="T59" fmla="*/ 88 h 138"/>
                <a:gd name="T60" fmla="*/ 14 w 58"/>
                <a:gd name="T61" fmla="*/ 87 h 138"/>
                <a:gd name="T62" fmla="*/ 27 w 58"/>
                <a:gd name="T63" fmla="*/ 77 h 138"/>
                <a:gd name="T64" fmla="*/ 28 w 58"/>
                <a:gd name="T65" fmla="*/ 114 h 138"/>
                <a:gd name="T66" fmla="*/ 25 w 58"/>
                <a:gd name="T67" fmla="*/ 115 h 138"/>
                <a:gd name="T68" fmla="*/ 25 w 58"/>
                <a:gd name="T69" fmla="*/ 116 h 138"/>
                <a:gd name="T70" fmla="*/ 22 w 58"/>
                <a:gd name="T71" fmla="*/ 120 h 138"/>
                <a:gd name="T72" fmla="*/ 22 w 58"/>
                <a:gd name="T73" fmla="*/ 120 h 138"/>
                <a:gd name="T74" fmla="*/ 30 w 58"/>
                <a:gd name="T75" fmla="*/ 138 h 138"/>
                <a:gd name="T76" fmla="*/ 39 w 58"/>
                <a:gd name="T77" fmla="*/ 126 h 138"/>
                <a:gd name="T78" fmla="*/ 39 w 58"/>
                <a:gd name="T79" fmla="*/ 74 h 138"/>
                <a:gd name="T80" fmla="*/ 44 w 58"/>
                <a:gd name="T81"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8" h="138">
                  <a:moveTo>
                    <a:pt x="44" y="72"/>
                  </a:moveTo>
                  <a:cubicBezTo>
                    <a:pt x="45" y="71"/>
                    <a:pt x="47" y="71"/>
                    <a:pt x="48" y="70"/>
                  </a:cubicBezTo>
                  <a:cubicBezTo>
                    <a:pt x="51" y="68"/>
                    <a:pt x="54" y="66"/>
                    <a:pt x="50" y="62"/>
                  </a:cubicBezTo>
                  <a:cubicBezTo>
                    <a:pt x="50" y="62"/>
                    <a:pt x="49" y="62"/>
                    <a:pt x="48" y="62"/>
                  </a:cubicBezTo>
                  <a:cubicBezTo>
                    <a:pt x="42" y="62"/>
                    <a:pt x="32" y="66"/>
                    <a:pt x="32" y="58"/>
                  </a:cubicBezTo>
                  <a:cubicBezTo>
                    <a:pt x="35" y="53"/>
                    <a:pt x="42" y="45"/>
                    <a:pt x="42" y="40"/>
                  </a:cubicBezTo>
                  <a:cubicBezTo>
                    <a:pt x="38" y="38"/>
                    <a:pt x="38" y="37"/>
                    <a:pt x="38" y="33"/>
                  </a:cubicBezTo>
                  <a:cubicBezTo>
                    <a:pt x="39" y="33"/>
                    <a:pt x="39" y="33"/>
                    <a:pt x="39" y="32"/>
                  </a:cubicBezTo>
                  <a:cubicBezTo>
                    <a:pt x="42" y="30"/>
                    <a:pt x="45" y="27"/>
                    <a:pt x="48" y="23"/>
                  </a:cubicBezTo>
                  <a:cubicBezTo>
                    <a:pt x="50" y="21"/>
                    <a:pt x="52" y="18"/>
                    <a:pt x="54" y="16"/>
                  </a:cubicBezTo>
                  <a:cubicBezTo>
                    <a:pt x="58" y="6"/>
                    <a:pt x="54" y="2"/>
                    <a:pt x="48" y="1"/>
                  </a:cubicBezTo>
                  <a:cubicBezTo>
                    <a:pt x="44" y="0"/>
                    <a:pt x="38" y="1"/>
                    <a:pt x="34" y="2"/>
                  </a:cubicBezTo>
                  <a:cubicBezTo>
                    <a:pt x="32" y="3"/>
                    <a:pt x="24" y="6"/>
                    <a:pt x="24" y="8"/>
                  </a:cubicBezTo>
                  <a:cubicBezTo>
                    <a:pt x="23" y="9"/>
                    <a:pt x="22" y="9"/>
                    <a:pt x="22" y="10"/>
                  </a:cubicBezTo>
                  <a:cubicBezTo>
                    <a:pt x="19" y="16"/>
                    <a:pt x="22" y="18"/>
                    <a:pt x="28" y="18"/>
                  </a:cubicBezTo>
                  <a:cubicBezTo>
                    <a:pt x="31" y="17"/>
                    <a:pt x="37" y="8"/>
                    <a:pt x="41" y="13"/>
                  </a:cubicBezTo>
                  <a:cubicBezTo>
                    <a:pt x="41" y="13"/>
                    <a:pt x="40" y="14"/>
                    <a:pt x="41" y="15"/>
                  </a:cubicBezTo>
                  <a:cubicBezTo>
                    <a:pt x="40" y="15"/>
                    <a:pt x="41" y="15"/>
                    <a:pt x="41" y="15"/>
                  </a:cubicBezTo>
                  <a:cubicBezTo>
                    <a:pt x="39" y="19"/>
                    <a:pt x="31" y="27"/>
                    <a:pt x="29" y="30"/>
                  </a:cubicBezTo>
                  <a:cubicBezTo>
                    <a:pt x="26" y="35"/>
                    <a:pt x="30" y="40"/>
                    <a:pt x="30" y="46"/>
                  </a:cubicBezTo>
                  <a:cubicBezTo>
                    <a:pt x="30" y="48"/>
                    <a:pt x="29" y="49"/>
                    <a:pt x="29" y="51"/>
                  </a:cubicBezTo>
                  <a:cubicBezTo>
                    <a:pt x="25" y="55"/>
                    <a:pt x="22" y="62"/>
                    <a:pt x="18" y="65"/>
                  </a:cubicBezTo>
                  <a:cubicBezTo>
                    <a:pt x="16" y="67"/>
                    <a:pt x="13" y="70"/>
                    <a:pt x="12" y="72"/>
                  </a:cubicBezTo>
                  <a:cubicBezTo>
                    <a:pt x="12" y="72"/>
                    <a:pt x="11" y="73"/>
                    <a:pt x="11" y="73"/>
                  </a:cubicBezTo>
                  <a:cubicBezTo>
                    <a:pt x="7" y="77"/>
                    <a:pt x="4" y="81"/>
                    <a:pt x="0" y="84"/>
                  </a:cubicBezTo>
                  <a:cubicBezTo>
                    <a:pt x="0" y="84"/>
                    <a:pt x="0" y="85"/>
                    <a:pt x="0" y="85"/>
                  </a:cubicBezTo>
                  <a:cubicBezTo>
                    <a:pt x="2" y="87"/>
                    <a:pt x="7" y="88"/>
                    <a:pt x="11" y="89"/>
                  </a:cubicBezTo>
                  <a:cubicBezTo>
                    <a:pt x="12" y="89"/>
                    <a:pt x="12" y="89"/>
                    <a:pt x="13" y="89"/>
                  </a:cubicBezTo>
                  <a:cubicBezTo>
                    <a:pt x="13" y="89"/>
                    <a:pt x="14" y="89"/>
                    <a:pt x="14" y="89"/>
                  </a:cubicBezTo>
                  <a:cubicBezTo>
                    <a:pt x="14" y="88"/>
                    <a:pt x="14" y="88"/>
                    <a:pt x="14" y="88"/>
                  </a:cubicBezTo>
                  <a:cubicBezTo>
                    <a:pt x="14" y="88"/>
                    <a:pt x="14" y="87"/>
                    <a:pt x="14" y="87"/>
                  </a:cubicBezTo>
                  <a:cubicBezTo>
                    <a:pt x="18" y="82"/>
                    <a:pt x="20" y="78"/>
                    <a:pt x="27" y="77"/>
                  </a:cubicBezTo>
                  <a:cubicBezTo>
                    <a:pt x="27" y="78"/>
                    <a:pt x="27" y="84"/>
                    <a:pt x="28" y="114"/>
                  </a:cubicBezTo>
                  <a:cubicBezTo>
                    <a:pt x="27" y="114"/>
                    <a:pt x="28" y="114"/>
                    <a:pt x="25" y="115"/>
                  </a:cubicBezTo>
                  <a:cubicBezTo>
                    <a:pt x="25" y="115"/>
                    <a:pt x="25" y="116"/>
                    <a:pt x="25" y="116"/>
                  </a:cubicBezTo>
                  <a:cubicBezTo>
                    <a:pt x="23" y="117"/>
                    <a:pt x="22" y="118"/>
                    <a:pt x="22" y="120"/>
                  </a:cubicBezTo>
                  <a:cubicBezTo>
                    <a:pt x="22" y="120"/>
                    <a:pt x="22" y="120"/>
                    <a:pt x="22" y="120"/>
                  </a:cubicBezTo>
                  <a:cubicBezTo>
                    <a:pt x="22" y="127"/>
                    <a:pt x="23" y="133"/>
                    <a:pt x="30" y="138"/>
                  </a:cubicBezTo>
                  <a:cubicBezTo>
                    <a:pt x="35" y="137"/>
                    <a:pt x="37" y="131"/>
                    <a:pt x="39" y="126"/>
                  </a:cubicBezTo>
                  <a:cubicBezTo>
                    <a:pt x="39" y="119"/>
                    <a:pt x="39" y="119"/>
                    <a:pt x="39" y="74"/>
                  </a:cubicBezTo>
                  <a:cubicBezTo>
                    <a:pt x="41" y="73"/>
                    <a:pt x="42" y="72"/>
                    <a:pt x="44" y="7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Freeform 26"/>
            <p:cNvSpPr/>
            <p:nvPr/>
          </p:nvSpPr>
          <p:spPr bwMode="auto">
            <a:xfrm>
              <a:off x="5843588" y="5413375"/>
              <a:ext cx="141288" cy="152400"/>
            </a:xfrm>
            <a:custGeom>
              <a:avLst/>
              <a:gdLst>
                <a:gd name="T0" fmla="*/ 8 w 25"/>
                <a:gd name="T1" fmla="*/ 1 h 27"/>
                <a:gd name="T2" fmla="*/ 7 w 25"/>
                <a:gd name="T3" fmla="*/ 1 h 27"/>
                <a:gd name="T4" fmla="*/ 6 w 25"/>
                <a:gd name="T5" fmla="*/ 10 h 27"/>
                <a:gd name="T6" fmla="*/ 0 w 25"/>
                <a:gd name="T7" fmla="*/ 25 h 27"/>
                <a:gd name="T8" fmla="*/ 0 w 25"/>
                <a:gd name="T9" fmla="*/ 26 h 27"/>
                <a:gd name="T10" fmla="*/ 3 w 25"/>
                <a:gd name="T11" fmla="*/ 27 h 27"/>
                <a:gd name="T12" fmla="*/ 7 w 25"/>
                <a:gd name="T13" fmla="*/ 26 h 27"/>
                <a:gd name="T14" fmla="*/ 23 w 25"/>
                <a:gd name="T15" fmla="*/ 11 h 27"/>
                <a:gd name="T16" fmla="*/ 8 w 25"/>
                <a:gd name="T1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7">
                  <a:moveTo>
                    <a:pt x="8" y="1"/>
                  </a:moveTo>
                  <a:cubicBezTo>
                    <a:pt x="8" y="1"/>
                    <a:pt x="8" y="1"/>
                    <a:pt x="7" y="1"/>
                  </a:cubicBezTo>
                  <a:cubicBezTo>
                    <a:pt x="4" y="3"/>
                    <a:pt x="2" y="7"/>
                    <a:pt x="6" y="10"/>
                  </a:cubicBezTo>
                  <a:cubicBezTo>
                    <a:pt x="8" y="18"/>
                    <a:pt x="2" y="20"/>
                    <a:pt x="0" y="25"/>
                  </a:cubicBezTo>
                  <a:cubicBezTo>
                    <a:pt x="0" y="25"/>
                    <a:pt x="0" y="26"/>
                    <a:pt x="0" y="26"/>
                  </a:cubicBezTo>
                  <a:cubicBezTo>
                    <a:pt x="1" y="26"/>
                    <a:pt x="2" y="27"/>
                    <a:pt x="3" y="27"/>
                  </a:cubicBezTo>
                  <a:cubicBezTo>
                    <a:pt x="4" y="27"/>
                    <a:pt x="6" y="26"/>
                    <a:pt x="7" y="26"/>
                  </a:cubicBezTo>
                  <a:cubicBezTo>
                    <a:pt x="15" y="24"/>
                    <a:pt x="25" y="21"/>
                    <a:pt x="23" y="11"/>
                  </a:cubicBezTo>
                  <a:cubicBezTo>
                    <a:pt x="19" y="2"/>
                    <a:pt x="15" y="0"/>
                    <a:pt x="8"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9" name="Freeform 27"/>
            <p:cNvSpPr/>
            <p:nvPr/>
          </p:nvSpPr>
          <p:spPr bwMode="auto">
            <a:xfrm>
              <a:off x="5435600" y="4975225"/>
              <a:ext cx="144463" cy="136525"/>
            </a:xfrm>
            <a:custGeom>
              <a:avLst/>
              <a:gdLst>
                <a:gd name="T0" fmla="*/ 14 w 26"/>
                <a:gd name="T1" fmla="*/ 24 h 24"/>
                <a:gd name="T2" fmla="*/ 25 w 26"/>
                <a:gd name="T3" fmla="*/ 20 h 24"/>
                <a:gd name="T4" fmla="*/ 25 w 26"/>
                <a:gd name="T5" fmla="*/ 20 h 24"/>
                <a:gd name="T6" fmla="*/ 25 w 26"/>
                <a:gd name="T7" fmla="*/ 19 h 24"/>
                <a:gd name="T8" fmla="*/ 22 w 26"/>
                <a:gd name="T9" fmla="*/ 7 h 24"/>
                <a:gd name="T10" fmla="*/ 14 w 26"/>
                <a:gd name="T11" fmla="*/ 24 h 24"/>
              </a:gdLst>
              <a:ahLst/>
              <a:cxnLst>
                <a:cxn ang="0">
                  <a:pos x="T0" y="T1"/>
                </a:cxn>
                <a:cxn ang="0">
                  <a:pos x="T2" y="T3"/>
                </a:cxn>
                <a:cxn ang="0">
                  <a:pos x="T4" y="T5"/>
                </a:cxn>
                <a:cxn ang="0">
                  <a:pos x="T6" y="T7"/>
                </a:cxn>
                <a:cxn ang="0">
                  <a:pos x="T8" y="T9"/>
                </a:cxn>
                <a:cxn ang="0">
                  <a:pos x="T10" y="T11"/>
                </a:cxn>
              </a:cxnLst>
              <a:rect l="0" t="0" r="r" b="b"/>
              <a:pathLst>
                <a:path w="26" h="24">
                  <a:moveTo>
                    <a:pt x="14" y="24"/>
                  </a:moveTo>
                  <a:cubicBezTo>
                    <a:pt x="20" y="24"/>
                    <a:pt x="21" y="24"/>
                    <a:pt x="25" y="20"/>
                  </a:cubicBezTo>
                  <a:cubicBezTo>
                    <a:pt x="25" y="20"/>
                    <a:pt x="25" y="20"/>
                    <a:pt x="25" y="20"/>
                  </a:cubicBezTo>
                  <a:cubicBezTo>
                    <a:pt x="25" y="20"/>
                    <a:pt x="25" y="20"/>
                    <a:pt x="25" y="19"/>
                  </a:cubicBezTo>
                  <a:cubicBezTo>
                    <a:pt x="26" y="13"/>
                    <a:pt x="23" y="8"/>
                    <a:pt x="22" y="7"/>
                  </a:cubicBezTo>
                  <a:cubicBezTo>
                    <a:pt x="9" y="0"/>
                    <a:pt x="0" y="17"/>
                    <a:pt x="14" y="2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0" name="Freeform 28"/>
            <p:cNvSpPr/>
            <p:nvPr/>
          </p:nvSpPr>
          <p:spPr bwMode="auto">
            <a:xfrm>
              <a:off x="5603875" y="5032375"/>
              <a:ext cx="106363" cy="114300"/>
            </a:xfrm>
            <a:custGeom>
              <a:avLst/>
              <a:gdLst>
                <a:gd name="T0" fmla="*/ 9 w 19"/>
                <a:gd name="T1" fmla="*/ 20 h 20"/>
                <a:gd name="T2" fmla="*/ 11 w 19"/>
                <a:gd name="T3" fmla="*/ 19 h 20"/>
                <a:gd name="T4" fmla="*/ 13 w 19"/>
                <a:gd name="T5" fmla="*/ 18 h 20"/>
                <a:gd name="T6" fmla="*/ 16 w 19"/>
                <a:gd name="T7" fmla="*/ 1 h 20"/>
                <a:gd name="T8" fmla="*/ 13 w 19"/>
                <a:gd name="T9" fmla="*/ 0 h 20"/>
                <a:gd name="T10" fmla="*/ 9 w 19"/>
                <a:gd name="T11" fmla="*/ 20 h 20"/>
              </a:gdLst>
              <a:ahLst/>
              <a:cxnLst>
                <a:cxn ang="0">
                  <a:pos x="T0" y="T1"/>
                </a:cxn>
                <a:cxn ang="0">
                  <a:pos x="T2" y="T3"/>
                </a:cxn>
                <a:cxn ang="0">
                  <a:pos x="T4" y="T5"/>
                </a:cxn>
                <a:cxn ang="0">
                  <a:pos x="T6" y="T7"/>
                </a:cxn>
                <a:cxn ang="0">
                  <a:pos x="T8" y="T9"/>
                </a:cxn>
                <a:cxn ang="0">
                  <a:pos x="T10" y="T11"/>
                </a:cxn>
              </a:cxnLst>
              <a:rect l="0" t="0" r="r" b="b"/>
              <a:pathLst>
                <a:path w="19" h="20">
                  <a:moveTo>
                    <a:pt x="9" y="20"/>
                  </a:moveTo>
                  <a:cubicBezTo>
                    <a:pt x="10" y="20"/>
                    <a:pt x="10" y="20"/>
                    <a:pt x="11" y="19"/>
                  </a:cubicBezTo>
                  <a:cubicBezTo>
                    <a:pt x="12" y="19"/>
                    <a:pt x="12" y="18"/>
                    <a:pt x="13" y="18"/>
                  </a:cubicBezTo>
                  <a:cubicBezTo>
                    <a:pt x="16" y="13"/>
                    <a:pt x="19" y="5"/>
                    <a:pt x="16" y="1"/>
                  </a:cubicBezTo>
                  <a:cubicBezTo>
                    <a:pt x="15" y="0"/>
                    <a:pt x="14" y="0"/>
                    <a:pt x="13" y="0"/>
                  </a:cubicBezTo>
                  <a:cubicBezTo>
                    <a:pt x="6" y="1"/>
                    <a:pt x="0" y="14"/>
                    <a:pt x="9" y="2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1" name="Freeform 29"/>
            <p:cNvSpPr/>
            <p:nvPr/>
          </p:nvSpPr>
          <p:spPr bwMode="auto">
            <a:xfrm>
              <a:off x="6230938" y="5043488"/>
              <a:ext cx="212725" cy="504825"/>
            </a:xfrm>
            <a:custGeom>
              <a:avLst/>
              <a:gdLst>
                <a:gd name="T0" fmla="*/ 33 w 38"/>
                <a:gd name="T1" fmla="*/ 59 h 89"/>
                <a:gd name="T2" fmla="*/ 24 w 38"/>
                <a:gd name="T3" fmla="*/ 44 h 89"/>
                <a:gd name="T4" fmla="*/ 38 w 38"/>
                <a:gd name="T5" fmla="*/ 30 h 89"/>
                <a:gd name="T6" fmla="*/ 38 w 38"/>
                <a:gd name="T7" fmla="*/ 30 h 89"/>
                <a:gd name="T8" fmla="*/ 38 w 38"/>
                <a:gd name="T9" fmla="*/ 30 h 89"/>
                <a:gd name="T10" fmla="*/ 38 w 38"/>
                <a:gd name="T11" fmla="*/ 30 h 89"/>
                <a:gd name="T12" fmla="*/ 38 w 38"/>
                <a:gd name="T13" fmla="*/ 30 h 89"/>
                <a:gd name="T14" fmla="*/ 38 w 38"/>
                <a:gd name="T15" fmla="*/ 30 h 89"/>
                <a:gd name="T16" fmla="*/ 38 w 38"/>
                <a:gd name="T17" fmla="*/ 30 h 89"/>
                <a:gd name="T18" fmla="*/ 38 w 38"/>
                <a:gd name="T19" fmla="*/ 30 h 89"/>
                <a:gd name="T20" fmla="*/ 38 w 38"/>
                <a:gd name="T21" fmla="*/ 30 h 89"/>
                <a:gd name="T22" fmla="*/ 38 w 38"/>
                <a:gd name="T23" fmla="*/ 30 h 89"/>
                <a:gd name="T24" fmla="*/ 38 w 38"/>
                <a:gd name="T25" fmla="*/ 29 h 89"/>
                <a:gd name="T26" fmla="*/ 38 w 38"/>
                <a:gd name="T27" fmla="*/ 29 h 89"/>
                <a:gd name="T28" fmla="*/ 38 w 38"/>
                <a:gd name="T29" fmla="*/ 29 h 89"/>
                <a:gd name="T30" fmla="*/ 38 w 38"/>
                <a:gd name="T31" fmla="*/ 29 h 89"/>
                <a:gd name="T32" fmla="*/ 38 w 38"/>
                <a:gd name="T33" fmla="*/ 29 h 89"/>
                <a:gd name="T34" fmla="*/ 38 w 38"/>
                <a:gd name="T35" fmla="*/ 29 h 89"/>
                <a:gd name="T36" fmla="*/ 38 w 38"/>
                <a:gd name="T37" fmla="*/ 29 h 89"/>
                <a:gd name="T38" fmla="*/ 38 w 38"/>
                <a:gd name="T39" fmla="*/ 29 h 89"/>
                <a:gd name="T40" fmla="*/ 38 w 38"/>
                <a:gd name="T41" fmla="*/ 29 h 89"/>
                <a:gd name="T42" fmla="*/ 38 w 38"/>
                <a:gd name="T43" fmla="*/ 29 h 89"/>
                <a:gd name="T44" fmla="*/ 38 w 38"/>
                <a:gd name="T45" fmla="*/ 29 h 89"/>
                <a:gd name="T46" fmla="*/ 38 w 38"/>
                <a:gd name="T47" fmla="*/ 29 h 89"/>
                <a:gd name="T48" fmla="*/ 38 w 38"/>
                <a:gd name="T49" fmla="*/ 29 h 89"/>
                <a:gd name="T50" fmla="*/ 38 w 38"/>
                <a:gd name="T51" fmla="*/ 29 h 89"/>
                <a:gd name="T52" fmla="*/ 38 w 38"/>
                <a:gd name="T53" fmla="*/ 29 h 89"/>
                <a:gd name="T54" fmla="*/ 38 w 38"/>
                <a:gd name="T55" fmla="*/ 29 h 89"/>
                <a:gd name="T56" fmla="*/ 38 w 38"/>
                <a:gd name="T57" fmla="*/ 29 h 89"/>
                <a:gd name="T58" fmla="*/ 38 w 38"/>
                <a:gd name="T59" fmla="*/ 29 h 89"/>
                <a:gd name="T60" fmla="*/ 38 w 38"/>
                <a:gd name="T61" fmla="*/ 29 h 89"/>
                <a:gd name="T62" fmla="*/ 38 w 38"/>
                <a:gd name="T63" fmla="*/ 29 h 89"/>
                <a:gd name="T64" fmla="*/ 38 w 38"/>
                <a:gd name="T65" fmla="*/ 28 h 89"/>
                <a:gd name="T66" fmla="*/ 38 w 38"/>
                <a:gd name="T67" fmla="*/ 28 h 89"/>
                <a:gd name="T68" fmla="*/ 38 w 38"/>
                <a:gd name="T69" fmla="*/ 28 h 89"/>
                <a:gd name="T70" fmla="*/ 29 w 38"/>
                <a:gd name="T71" fmla="*/ 19 h 89"/>
                <a:gd name="T72" fmla="*/ 17 w 38"/>
                <a:gd name="T73" fmla="*/ 8 h 89"/>
                <a:gd name="T74" fmla="*/ 3 w 38"/>
                <a:gd name="T75" fmla="*/ 37 h 89"/>
                <a:gd name="T76" fmla="*/ 7 w 38"/>
                <a:gd name="T77" fmla="*/ 68 h 89"/>
                <a:gd name="T78" fmla="*/ 37 w 38"/>
                <a:gd name="T79" fmla="*/ 57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 h="89">
                  <a:moveTo>
                    <a:pt x="33" y="58"/>
                  </a:moveTo>
                  <a:cubicBezTo>
                    <a:pt x="33" y="58"/>
                    <a:pt x="33" y="58"/>
                    <a:pt x="33" y="59"/>
                  </a:cubicBezTo>
                  <a:cubicBezTo>
                    <a:pt x="30" y="61"/>
                    <a:pt x="26" y="69"/>
                    <a:pt x="22" y="70"/>
                  </a:cubicBezTo>
                  <a:cubicBezTo>
                    <a:pt x="21" y="61"/>
                    <a:pt x="23" y="52"/>
                    <a:pt x="24" y="44"/>
                  </a:cubicBezTo>
                  <a:cubicBezTo>
                    <a:pt x="26" y="39"/>
                    <a:pt x="27" y="39"/>
                    <a:pt x="32" y="37"/>
                  </a:cubicBezTo>
                  <a:cubicBezTo>
                    <a:pt x="35" y="35"/>
                    <a:pt x="37" y="33"/>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7" y="21"/>
                    <a:pt x="35" y="20"/>
                    <a:pt x="29" y="19"/>
                  </a:cubicBezTo>
                  <a:cubicBezTo>
                    <a:pt x="28" y="14"/>
                    <a:pt x="29" y="9"/>
                    <a:pt x="28" y="4"/>
                  </a:cubicBezTo>
                  <a:cubicBezTo>
                    <a:pt x="25" y="0"/>
                    <a:pt x="19" y="5"/>
                    <a:pt x="17" y="8"/>
                  </a:cubicBezTo>
                  <a:cubicBezTo>
                    <a:pt x="10" y="13"/>
                    <a:pt x="15" y="20"/>
                    <a:pt x="14" y="29"/>
                  </a:cubicBezTo>
                  <a:cubicBezTo>
                    <a:pt x="11" y="31"/>
                    <a:pt x="6" y="34"/>
                    <a:pt x="3" y="37"/>
                  </a:cubicBezTo>
                  <a:cubicBezTo>
                    <a:pt x="0" y="45"/>
                    <a:pt x="1" y="47"/>
                    <a:pt x="9" y="50"/>
                  </a:cubicBezTo>
                  <a:cubicBezTo>
                    <a:pt x="10" y="54"/>
                    <a:pt x="7" y="64"/>
                    <a:pt x="7" y="68"/>
                  </a:cubicBezTo>
                  <a:cubicBezTo>
                    <a:pt x="7" y="74"/>
                    <a:pt x="6" y="85"/>
                    <a:pt x="13" y="89"/>
                  </a:cubicBezTo>
                  <a:cubicBezTo>
                    <a:pt x="21" y="87"/>
                    <a:pt x="38" y="67"/>
                    <a:pt x="37" y="57"/>
                  </a:cubicBezTo>
                  <a:cubicBezTo>
                    <a:pt x="36" y="57"/>
                    <a:pt x="35" y="57"/>
                    <a:pt x="33" y="58"/>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Freeform 30"/>
            <p:cNvSpPr/>
            <p:nvPr/>
          </p:nvSpPr>
          <p:spPr bwMode="auto">
            <a:xfrm>
              <a:off x="6443663" y="5140325"/>
              <a:ext cx="101600" cy="352425"/>
            </a:xfrm>
            <a:custGeom>
              <a:avLst/>
              <a:gdLst>
                <a:gd name="T0" fmla="*/ 4 w 18"/>
                <a:gd name="T1" fmla="*/ 10 h 62"/>
                <a:gd name="T2" fmla="*/ 3 w 18"/>
                <a:gd name="T3" fmla="*/ 43 h 62"/>
                <a:gd name="T4" fmla="*/ 0 w 18"/>
                <a:gd name="T5" fmla="*/ 57 h 62"/>
                <a:gd name="T6" fmla="*/ 0 w 18"/>
                <a:gd name="T7" fmla="*/ 59 h 62"/>
                <a:gd name="T8" fmla="*/ 1 w 18"/>
                <a:gd name="T9" fmla="*/ 62 h 62"/>
                <a:gd name="T10" fmla="*/ 10 w 18"/>
                <a:gd name="T11" fmla="*/ 56 h 62"/>
                <a:gd name="T12" fmla="*/ 16 w 18"/>
                <a:gd name="T13" fmla="*/ 9 h 62"/>
                <a:gd name="T14" fmla="*/ 4 w 18"/>
                <a:gd name="T15" fmla="*/ 1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62">
                  <a:moveTo>
                    <a:pt x="4" y="10"/>
                  </a:moveTo>
                  <a:cubicBezTo>
                    <a:pt x="5" y="21"/>
                    <a:pt x="5" y="32"/>
                    <a:pt x="3" y="43"/>
                  </a:cubicBezTo>
                  <a:cubicBezTo>
                    <a:pt x="2" y="47"/>
                    <a:pt x="0" y="52"/>
                    <a:pt x="0" y="57"/>
                  </a:cubicBezTo>
                  <a:cubicBezTo>
                    <a:pt x="0" y="57"/>
                    <a:pt x="0" y="58"/>
                    <a:pt x="0" y="59"/>
                  </a:cubicBezTo>
                  <a:cubicBezTo>
                    <a:pt x="0" y="60"/>
                    <a:pt x="0" y="61"/>
                    <a:pt x="1" y="62"/>
                  </a:cubicBezTo>
                  <a:cubicBezTo>
                    <a:pt x="4" y="62"/>
                    <a:pt x="7" y="60"/>
                    <a:pt x="10" y="56"/>
                  </a:cubicBezTo>
                  <a:cubicBezTo>
                    <a:pt x="16" y="43"/>
                    <a:pt x="18" y="23"/>
                    <a:pt x="16" y="9"/>
                  </a:cubicBezTo>
                  <a:cubicBezTo>
                    <a:pt x="13" y="0"/>
                    <a:pt x="7" y="4"/>
                    <a:pt x="4" y="1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3" name="Freeform 31"/>
            <p:cNvSpPr/>
            <p:nvPr/>
          </p:nvSpPr>
          <p:spPr bwMode="auto">
            <a:xfrm>
              <a:off x="6640513" y="4999038"/>
              <a:ext cx="84138" cy="681038"/>
            </a:xfrm>
            <a:custGeom>
              <a:avLst/>
              <a:gdLst>
                <a:gd name="T0" fmla="*/ 11 w 15"/>
                <a:gd name="T1" fmla="*/ 2 h 120"/>
                <a:gd name="T2" fmla="*/ 2 w 15"/>
                <a:gd name="T3" fmla="*/ 4 h 120"/>
                <a:gd name="T4" fmla="*/ 2 w 15"/>
                <a:gd name="T5" fmla="*/ 6 h 120"/>
                <a:gd name="T6" fmla="*/ 2 w 15"/>
                <a:gd name="T7" fmla="*/ 113 h 120"/>
                <a:gd name="T8" fmla="*/ 4 w 15"/>
                <a:gd name="T9" fmla="*/ 120 h 120"/>
                <a:gd name="T10" fmla="*/ 15 w 15"/>
                <a:gd name="T11" fmla="*/ 107 h 120"/>
                <a:gd name="T12" fmla="*/ 15 w 15"/>
                <a:gd name="T13" fmla="*/ 69 h 120"/>
                <a:gd name="T14" fmla="*/ 15 w 15"/>
                <a:gd name="T15" fmla="*/ 55 h 120"/>
                <a:gd name="T16" fmla="*/ 15 w 15"/>
                <a:gd name="T17" fmla="*/ 6 h 120"/>
                <a:gd name="T18" fmla="*/ 11 w 15"/>
                <a:gd name="T19" fmla="*/ 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20">
                  <a:moveTo>
                    <a:pt x="11" y="2"/>
                  </a:moveTo>
                  <a:cubicBezTo>
                    <a:pt x="7" y="0"/>
                    <a:pt x="5" y="2"/>
                    <a:pt x="2" y="4"/>
                  </a:cubicBezTo>
                  <a:cubicBezTo>
                    <a:pt x="2" y="5"/>
                    <a:pt x="2" y="6"/>
                    <a:pt x="2" y="6"/>
                  </a:cubicBezTo>
                  <a:cubicBezTo>
                    <a:pt x="3" y="41"/>
                    <a:pt x="4" y="77"/>
                    <a:pt x="2" y="113"/>
                  </a:cubicBezTo>
                  <a:cubicBezTo>
                    <a:pt x="1" y="116"/>
                    <a:pt x="0" y="118"/>
                    <a:pt x="4" y="120"/>
                  </a:cubicBezTo>
                  <a:cubicBezTo>
                    <a:pt x="12" y="120"/>
                    <a:pt x="13" y="116"/>
                    <a:pt x="15" y="107"/>
                  </a:cubicBezTo>
                  <a:cubicBezTo>
                    <a:pt x="15" y="99"/>
                    <a:pt x="15" y="69"/>
                    <a:pt x="15" y="69"/>
                  </a:cubicBezTo>
                  <a:cubicBezTo>
                    <a:pt x="15" y="66"/>
                    <a:pt x="15" y="56"/>
                    <a:pt x="15" y="55"/>
                  </a:cubicBezTo>
                  <a:cubicBezTo>
                    <a:pt x="15" y="26"/>
                    <a:pt x="15" y="26"/>
                    <a:pt x="15" y="6"/>
                  </a:cubicBezTo>
                  <a:cubicBezTo>
                    <a:pt x="14" y="4"/>
                    <a:pt x="13" y="3"/>
                    <a:pt x="11"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4" name="Freeform 32"/>
            <p:cNvSpPr/>
            <p:nvPr/>
          </p:nvSpPr>
          <p:spPr bwMode="auto">
            <a:xfrm>
              <a:off x="6538913" y="5157788"/>
              <a:ext cx="101600" cy="260350"/>
            </a:xfrm>
            <a:custGeom>
              <a:avLst/>
              <a:gdLst>
                <a:gd name="T0" fmla="*/ 15 w 18"/>
                <a:gd name="T1" fmla="*/ 3 h 46"/>
                <a:gd name="T2" fmla="*/ 6 w 18"/>
                <a:gd name="T3" fmla="*/ 16 h 46"/>
                <a:gd name="T4" fmla="*/ 8 w 18"/>
                <a:gd name="T5" fmla="*/ 46 h 46"/>
                <a:gd name="T6" fmla="*/ 13 w 18"/>
                <a:gd name="T7" fmla="*/ 44 h 46"/>
                <a:gd name="T8" fmla="*/ 18 w 18"/>
                <a:gd name="T9" fmla="*/ 6 h 46"/>
                <a:gd name="T10" fmla="*/ 15 w 18"/>
                <a:gd name="T11" fmla="*/ 3 h 46"/>
              </a:gdLst>
              <a:ahLst/>
              <a:cxnLst>
                <a:cxn ang="0">
                  <a:pos x="T0" y="T1"/>
                </a:cxn>
                <a:cxn ang="0">
                  <a:pos x="T2" y="T3"/>
                </a:cxn>
                <a:cxn ang="0">
                  <a:pos x="T4" y="T5"/>
                </a:cxn>
                <a:cxn ang="0">
                  <a:pos x="T6" y="T7"/>
                </a:cxn>
                <a:cxn ang="0">
                  <a:pos x="T8" y="T9"/>
                </a:cxn>
                <a:cxn ang="0">
                  <a:pos x="T10" y="T11"/>
                </a:cxn>
              </a:cxnLst>
              <a:rect l="0" t="0" r="r" b="b"/>
              <a:pathLst>
                <a:path w="18" h="46">
                  <a:moveTo>
                    <a:pt x="15" y="3"/>
                  </a:moveTo>
                  <a:cubicBezTo>
                    <a:pt x="9" y="0"/>
                    <a:pt x="8" y="11"/>
                    <a:pt x="6" y="16"/>
                  </a:cubicBezTo>
                  <a:cubicBezTo>
                    <a:pt x="5" y="22"/>
                    <a:pt x="0" y="42"/>
                    <a:pt x="8" y="46"/>
                  </a:cubicBezTo>
                  <a:cubicBezTo>
                    <a:pt x="10" y="46"/>
                    <a:pt x="12" y="45"/>
                    <a:pt x="13" y="44"/>
                  </a:cubicBezTo>
                  <a:cubicBezTo>
                    <a:pt x="18" y="32"/>
                    <a:pt x="17" y="18"/>
                    <a:pt x="18" y="6"/>
                  </a:cubicBezTo>
                  <a:cubicBezTo>
                    <a:pt x="17" y="5"/>
                    <a:pt x="16" y="4"/>
                    <a:pt x="15" y="3"/>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5" name="Freeform 33"/>
            <p:cNvSpPr/>
            <p:nvPr/>
          </p:nvSpPr>
          <p:spPr bwMode="auto">
            <a:xfrm>
              <a:off x="7262813" y="5356225"/>
              <a:ext cx="285750" cy="255588"/>
            </a:xfrm>
            <a:custGeom>
              <a:avLst/>
              <a:gdLst>
                <a:gd name="T0" fmla="*/ 37 w 51"/>
                <a:gd name="T1" fmla="*/ 29 h 45"/>
                <a:gd name="T2" fmla="*/ 36 w 51"/>
                <a:gd name="T3" fmla="*/ 29 h 45"/>
                <a:gd name="T4" fmla="*/ 36 w 51"/>
                <a:gd name="T5" fmla="*/ 28 h 45"/>
                <a:gd name="T6" fmla="*/ 35 w 51"/>
                <a:gd name="T7" fmla="*/ 28 h 45"/>
                <a:gd name="T8" fmla="*/ 29 w 51"/>
                <a:gd name="T9" fmla="*/ 23 h 45"/>
                <a:gd name="T10" fmla="*/ 27 w 51"/>
                <a:gd name="T11" fmla="*/ 22 h 45"/>
                <a:gd name="T12" fmla="*/ 24 w 51"/>
                <a:gd name="T13" fmla="*/ 19 h 45"/>
                <a:gd name="T14" fmla="*/ 22 w 51"/>
                <a:gd name="T15" fmla="*/ 17 h 45"/>
                <a:gd name="T16" fmla="*/ 18 w 51"/>
                <a:gd name="T17" fmla="*/ 14 h 45"/>
                <a:gd name="T18" fmla="*/ 18 w 51"/>
                <a:gd name="T19" fmla="*/ 14 h 45"/>
                <a:gd name="T20" fmla="*/ 13 w 51"/>
                <a:gd name="T21" fmla="*/ 8 h 45"/>
                <a:gd name="T22" fmla="*/ 7 w 51"/>
                <a:gd name="T23" fmla="*/ 0 h 45"/>
                <a:gd name="T24" fmla="*/ 1 w 51"/>
                <a:gd name="T25" fmla="*/ 6 h 45"/>
                <a:gd name="T26" fmla="*/ 13 w 51"/>
                <a:gd name="T27" fmla="*/ 28 h 45"/>
                <a:gd name="T28" fmla="*/ 32 w 51"/>
                <a:gd name="T29" fmla="*/ 44 h 45"/>
                <a:gd name="T30" fmla="*/ 50 w 51"/>
                <a:gd name="T31" fmla="*/ 39 h 45"/>
                <a:gd name="T32" fmla="*/ 50 w 51"/>
                <a:gd name="T33" fmla="*/ 36 h 45"/>
                <a:gd name="T34" fmla="*/ 37 w 51"/>
                <a:gd name="T35" fmla="*/ 2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 h="45">
                  <a:moveTo>
                    <a:pt x="37" y="29"/>
                  </a:moveTo>
                  <a:cubicBezTo>
                    <a:pt x="37" y="29"/>
                    <a:pt x="36" y="29"/>
                    <a:pt x="36" y="29"/>
                  </a:cubicBezTo>
                  <a:cubicBezTo>
                    <a:pt x="35" y="28"/>
                    <a:pt x="36" y="28"/>
                    <a:pt x="36" y="28"/>
                  </a:cubicBezTo>
                  <a:cubicBezTo>
                    <a:pt x="35" y="28"/>
                    <a:pt x="35" y="28"/>
                    <a:pt x="35" y="28"/>
                  </a:cubicBezTo>
                  <a:cubicBezTo>
                    <a:pt x="33" y="27"/>
                    <a:pt x="30" y="24"/>
                    <a:pt x="29" y="23"/>
                  </a:cubicBezTo>
                  <a:cubicBezTo>
                    <a:pt x="29" y="23"/>
                    <a:pt x="27" y="22"/>
                    <a:pt x="27" y="22"/>
                  </a:cubicBezTo>
                  <a:cubicBezTo>
                    <a:pt x="25" y="21"/>
                    <a:pt x="25" y="20"/>
                    <a:pt x="24" y="19"/>
                  </a:cubicBezTo>
                  <a:cubicBezTo>
                    <a:pt x="23" y="18"/>
                    <a:pt x="23" y="18"/>
                    <a:pt x="22" y="17"/>
                  </a:cubicBezTo>
                  <a:cubicBezTo>
                    <a:pt x="20" y="16"/>
                    <a:pt x="19" y="15"/>
                    <a:pt x="18" y="14"/>
                  </a:cubicBezTo>
                  <a:cubicBezTo>
                    <a:pt x="18" y="14"/>
                    <a:pt x="18" y="14"/>
                    <a:pt x="18" y="14"/>
                  </a:cubicBezTo>
                  <a:cubicBezTo>
                    <a:pt x="16" y="11"/>
                    <a:pt x="14" y="9"/>
                    <a:pt x="13" y="8"/>
                  </a:cubicBezTo>
                  <a:cubicBezTo>
                    <a:pt x="11" y="5"/>
                    <a:pt x="9" y="3"/>
                    <a:pt x="7" y="0"/>
                  </a:cubicBezTo>
                  <a:cubicBezTo>
                    <a:pt x="3" y="0"/>
                    <a:pt x="0" y="2"/>
                    <a:pt x="1" y="6"/>
                  </a:cubicBezTo>
                  <a:cubicBezTo>
                    <a:pt x="3" y="14"/>
                    <a:pt x="7" y="21"/>
                    <a:pt x="13" y="28"/>
                  </a:cubicBezTo>
                  <a:cubicBezTo>
                    <a:pt x="18" y="35"/>
                    <a:pt x="25" y="41"/>
                    <a:pt x="32" y="44"/>
                  </a:cubicBezTo>
                  <a:cubicBezTo>
                    <a:pt x="39" y="44"/>
                    <a:pt x="45" y="45"/>
                    <a:pt x="50" y="39"/>
                  </a:cubicBezTo>
                  <a:cubicBezTo>
                    <a:pt x="50" y="38"/>
                    <a:pt x="51" y="37"/>
                    <a:pt x="50" y="36"/>
                  </a:cubicBezTo>
                  <a:cubicBezTo>
                    <a:pt x="45" y="33"/>
                    <a:pt x="41" y="31"/>
                    <a:pt x="37" y="29"/>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6" name="Freeform 34"/>
            <p:cNvSpPr/>
            <p:nvPr/>
          </p:nvSpPr>
          <p:spPr bwMode="auto">
            <a:xfrm>
              <a:off x="7016750" y="4999038"/>
              <a:ext cx="392113" cy="595313"/>
            </a:xfrm>
            <a:custGeom>
              <a:avLst/>
              <a:gdLst>
                <a:gd name="T0" fmla="*/ 57 w 70"/>
                <a:gd name="T1" fmla="*/ 41 h 105"/>
                <a:gd name="T2" fmla="*/ 68 w 70"/>
                <a:gd name="T3" fmla="*/ 25 h 105"/>
                <a:gd name="T4" fmla="*/ 60 w 70"/>
                <a:gd name="T5" fmla="*/ 19 h 105"/>
                <a:gd name="T6" fmla="*/ 57 w 70"/>
                <a:gd name="T7" fmla="*/ 21 h 105"/>
                <a:gd name="T8" fmla="*/ 52 w 70"/>
                <a:gd name="T9" fmla="*/ 24 h 105"/>
                <a:gd name="T10" fmla="*/ 51 w 70"/>
                <a:gd name="T11" fmla="*/ 8 h 105"/>
                <a:gd name="T12" fmla="*/ 41 w 70"/>
                <a:gd name="T13" fmla="*/ 0 h 105"/>
                <a:gd name="T14" fmla="*/ 39 w 70"/>
                <a:gd name="T15" fmla="*/ 9 h 105"/>
                <a:gd name="T16" fmla="*/ 39 w 70"/>
                <a:gd name="T17" fmla="*/ 28 h 105"/>
                <a:gd name="T18" fmla="*/ 18 w 70"/>
                <a:gd name="T19" fmla="*/ 39 h 105"/>
                <a:gd name="T20" fmla="*/ 14 w 70"/>
                <a:gd name="T21" fmla="*/ 49 h 105"/>
                <a:gd name="T22" fmla="*/ 28 w 70"/>
                <a:gd name="T23" fmla="*/ 54 h 105"/>
                <a:gd name="T24" fmla="*/ 27 w 70"/>
                <a:gd name="T25" fmla="*/ 62 h 105"/>
                <a:gd name="T26" fmla="*/ 21 w 70"/>
                <a:gd name="T27" fmla="*/ 76 h 105"/>
                <a:gd name="T28" fmla="*/ 1 w 70"/>
                <a:gd name="T29" fmla="*/ 96 h 105"/>
                <a:gd name="T30" fmla="*/ 0 w 70"/>
                <a:gd name="T31" fmla="*/ 98 h 105"/>
                <a:gd name="T32" fmla="*/ 8 w 70"/>
                <a:gd name="T33" fmla="*/ 105 h 105"/>
                <a:gd name="T34" fmla="*/ 20 w 70"/>
                <a:gd name="T35" fmla="*/ 102 h 105"/>
                <a:gd name="T36" fmla="*/ 39 w 70"/>
                <a:gd name="T37" fmla="*/ 67 h 105"/>
                <a:gd name="T38" fmla="*/ 39 w 70"/>
                <a:gd name="T39" fmla="*/ 66 h 105"/>
                <a:gd name="T40" fmla="*/ 50 w 70"/>
                <a:gd name="T41" fmla="*/ 44 h 105"/>
                <a:gd name="T42" fmla="*/ 57 w 70"/>
                <a:gd name="T43" fmla="*/ 4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0" h="105">
                  <a:moveTo>
                    <a:pt x="57" y="41"/>
                  </a:moveTo>
                  <a:cubicBezTo>
                    <a:pt x="63" y="38"/>
                    <a:pt x="70" y="36"/>
                    <a:pt x="68" y="25"/>
                  </a:cubicBezTo>
                  <a:cubicBezTo>
                    <a:pt x="65" y="21"/>
                    <a:pt x="64" y="20"/>
                    <a:pt x="60" y="19"/>
                  </a:cubicBezTo>
                  <a:cubicBezTo>
                    <a:pt x="59" y="20"/>
                    <a:pt x="58" y="20"/>
                    <a:pt x="57" y="21"/>
                  </a:cubicBezTo>
                  <a:cubicBezTo>
                    <a:pt x="53" y="23"/>
                    <a:pt x="52" y="24"/>
                    <a:pt x="52" y="24"/>
                  </a:cubicBezTo>
                  <a:cubicBezTo>
                    <a:pt x="51" y="18"/>
                    <a:pt x="51" y="13"/>
                    <a:pt x="51" y="8"/>
                  </a:cubicBezTo>
                  <a:cubicBezTo>
                    <a:pt x="48" y="1"/>
                    <a:pt x="47" y="0"/>
                    <a:pt x="41" y="0"/>
                  </a:cubicBezTo>
                  <a:cubicBezTo>
                    <a:pt x="36" y="1"/>
                    <a:pt x="31" y="6"/>
                    <a:pt x="39" y="9"/>
                  </a:cubicBezTo>
                  <a:cubicBezTo>
                    <a:pt x="42" y="12"/>
                    <a:pt x="41" y="25"/>
                    <a:pt x="39" y="28"/>
                  </a:cubicBezTo>
                  <a:cubicBezTo>
                    <a:pt x="32" y="32"/>
                    <a:pt x="25" y="35"/>
                    <a:pt x="18" y="39"/>
                  </a:cubicBezTo>
                  <a:cubicBezTo>
                    <a:pt x="15" y="42"/>
                    <a:pt x="14" y="45"/>
                    <a:pt x="14" y="49"/>
                  </a:cubicBezTo>
                  <a:cubicBezTo>
                    <a:pt x="16" y="59"/>
                    <a:pt x="21" y="52"/>
                    <a:pt x="28" y="54"/>
                  </a:cubicBezTo>
                  <a:cubicBezTo>
                    <a:pt x="29" y="55"/>
                    <a:pt x="28" y="61"/>
                    <a:pt x="27" y="62"/>
                  </a:cubicBezTo>
                  <a:cubicBezTo>
                    <a:pt x="27" y="65"/>
                    <a:pt x="22" y="75"/>
                    <a:pt x="21" y="76"/>
                  </a:cubicBezTo>
                  <a:cubicBezTo>
                    <a:pt x="19" y="84"/>
                    <a:pt x="7" y="92"/>
                    <a:pt x="1" y="96"/>
                  </a:cubicBezTo>
                  <a:cubicBezTo>
                    <a:pt x="1" y="96"/>
                    <a:pt x="0" y="97"/>
                    <a:pt x="0" y="98"/>
                  </a:cubicBezTo>
                  <a:cubicBezTo>
                    <a:pt x="0" y="103"/>
                    <a:pt x="4" y="105"/>
                    <a:pt x="8" y="105"/>
                  </a:cubicBezTo>
                  <a:cubicBezTo>
                    <a:pt x="13" y="105"/>
                    <a:pt x="16" y="105"/>
                    <a:pt x="20" y="102"/>
                  </a:cubicBezTo>
                  <a:cubicBezTo>
                    <a:pt x="27" y="91"/>
                    <a:pt x="34" y="79"/>
                    <a:pt x="39" y="67"/>
                  </a:cubicBezTo>
                  <a:cubicBezTo>
                    <a:pt x="39" y="67"/>
                    <a:pt x="39" y="66"/>
                    <a:pt x="39" y="66"/>
                  </a:cubicBezTo>
                  <a:cubicBezTo>
                    <a:pt x="41" y="59"/>
                    <a:pt x="46" y="50"/>
                    <a:pt x="50" y="44"/>
                  </a:cubicBezTo>
                  <a:cubicBezTo>
                    <a:pt x="52" y="43"/>
                    <a:pt x="54" y="42"/>
                    <a:pt x="57" y="4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7" name="Freeform 35"/>
            <p:cNvSpPr/>
            <p:nvPr/>
          </p:nvSpPr>
          <p:spPr bwMode="auto">
            <a:xfrm>
              <a:off x="7951788" y="4906963"/>
              <a:ext cx="90488" cy="239713"/>
            </a:xfrm>
            <a:custGeom>
              <a:avLst/>
              <a:gdLst>
                <a:gd name="T0" fmla="*/ 5 w 16"/>
                <a:gd name="T1" fmla="*/ 42 h 42"/>
                <a:gd name="T2" fmla="*/ 9 w 16"/>
                <a:gd name="T3" fmla="*/ 41 h 42"/>
                <a:gd name="T4" fmla="*/ 11 w 16"/>
                <a:gd name="T5" fmla="*/ 37 h 42"/>
                <a:gd name="T6" fmla="*/ 16 w 16"/>
                <a:gd name="T7" fmla="*/ 10 h 42"/>
                <a:gd name="T8" fmla="*/ 14 w 16"/>
                <a:gd name="T9" fmla="*/ 1 h 42"/>
                <a:gd name="T10" fmla="*/ 9 w 16"/>
                <a:gd name="T11" fmla="*/ 2 h 42"/>
                <a:gd name="T12" fmla="*/ 7 w 16"/>
                <a:gd name="T13" fmla="*/ 5 h 42"/>
                <a:gd name="T14" fmla="*/ 2 w 16"/>
                <a:gd name="T15" fmla="*/ 29 h 42"/>
                <a:gd name="T16" fmla="*/ 5 w 16"/>
                <a:gd name="T17"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42">
                  <a:moveTo>
                    <a:pt x="5" y="42"/>
                  </a:moveTo>
                  <a:cubicBezTo>
                    <a:pt x="7" y="42"/>
                    <a:pt x="8" y="42"/>
                    <a:pt x="9" y="41"/>
                  </a:cubicBezTo>
                  <a:cubicBezTo>
                    <a:pt x="10" y="40"/>
                    <a:pt x="11" y="39"/>
                    <a:pt x="11" y="37"/>
                  </a:cubicBezTo>
                  <a:cubicBezTo>
                    <a:pt x="13" y="28"/>
                    <a:pt x="15" y="20"/>
                    <a:pt x="16" y="10"/>
                  </a:cubicBezTo>
                  <a:cubicBezTo>
                    <a:pt x="16" y="7"/>
                    <a:pt x="15" y="4"/>
                    <a:pt x="14" y="1"/>
                  </a:cubicBezTo>
                  <a:cubicBezTo>
                    <a:pt x="11" y="0"/>
                    <a:pt x="9" y="1"/>
                    <a:pt x="9" y="2"/>
                  </a:cubicBezTo>
                  <a:cubicBezTo>
                    <a:pt x="8" y="3"/>
                    <a:pt x="7" y="4"/>
                    <a:pt x="7" y="5"/>
                  </a:cubicBezTo>
                  <a:cubicBezTo>
                    <a:pt x="5" y="13"/>
                    <a:pt x="3" y="21"/>
                    <a:pt x="2" y="29"/>
                  </a:cubicBezTo>
                  <a:cubicBezTo>
                    <a:pt x="2" y="34"/>
                    <a:pt x="0" y="39"/>
                    <a:pt x="5" y="4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8" name="Freeform 36"/>
            <p:cNvSpPr/>
            <p:nvPr/>
          </p:nvSpPr>
          <p:spPr bwMode="auto">
            <a:xfrm>
              <a:off x="7907338" y="4845050"/>
              <a:ext cx="392113" cy="425450"/>
            </a:xfrm>
            <a:custGeom>
              <a:avLst/>
              <a:gdLst>
                <a:gd name="T0" fmla="*/ 31 w 70"/>
                <a:gd name="T1" fmla="*/ 43 h 75"/>
                <a:gd name="T2" fmla="*/ 31 w 70"/>
                <a:gd name="T3" fmla="*/ 49 h 75"/>
                <a:gd name="T4" fmla="*/ 29 w 70"/>
                <a:gd name="T5" fmla="*/ 52 h 75"/>
                <a:gd name="T6" fmla="*/ 27 w 70"/>
                <a:gd name="T7" fmla="*/ 55 h 75"/>
                <a:gd name="T8" fmla="*/ 20 w 70"/>
                <a:gd name="T9" fmla="*/ 59 h 75"/>
                <a:gd name="T10" fmla="*/ 16 w 70"/>
                <a:gd name="T11" fmla="*/ 62 h 75"/>
                <a:gd name="T12" fmla="*/ 4 w 70"/>
                <a:gd name="T13" fmla="*/ 69 h 75"/>
                <a:gd name="T14" fmla="*/ 4 w 70"/>
                <a:gd name="T15" fmla="*/ 69 h 75"/>
                <a:gd name="T16" fmla="*/ 0 w 70"/>
                <a:gd name="T17" fmla="*/ 71 h 75"/>
                <a:gd name="T18" fmla="*/ 4 w 70"/>
                <a:gd name="T19" fmla="*/ 73 h 75"/>
                <a:gd name="T20" fmla="*/ 9 w 70"/>
                <a:gd name="T21" fmla="*/ 72 h 75"/>
                <a:gd name="T22" fmla="*/ 17 w 70"/>
                <a:gd name="T23" fmla="*/ 69 h 75"/>
                <a:gd name="T24" fmla="*/ 33 w 70"/>
                <a:gd name="T25" fmla="*/ 64 h 75"/>
                <a:gd name="T26" fmla="*/ 48 w 70"/>
                <a:gd name="T27" fmla="*/ 61 h 75"/>
                <a:gd name="T28" fmla="*/ 53 w 70"/>
                <a:gd name="T29" fmla="*/ 62 h 75"/>
                <a:gd name="T30" fmla="*/ 46 w 70"/>
                <a:gd name="T31" fmla="*/ 73 h 75"/>
                <a:gd name="T32" fmla="*/ 49 w 70"/>
                <a:gd name="T33" fmla="*/ 75 h 75"/>
                <a:gd name="T34" fmla="*/ 70 w 70"/>
                <a:gd name="T35" fmla="*/ 62 h 75"/>
                <a:gd name="T36" fmla="*/ 57 w 70"/>
                <a:gd name="T37" fmla="*/ 50 h 75"/>
                <a:gd name="T38" fmla="*/ 46 w 70"/>
                <a:gd name="T39" fmla="*/ 51 h 75"/>
                <a:gd name="T40" fmla="*/ 36 w 70"/>
                <a:gd name="T41" fmla="*/ 53 h 75"/>
                <a:gd name="T42" fmla="*/ 43 w 70"/>
                <a:gd name="T43" fmla="*/ 47 h 75"/>
                <a:gd name="T44" fmla="*/ 39 w 70"/>
                <a:gd name="T45" fmla="*/ 40 h 75"/>
                <a:gd name="T46" fmla="*/ 49 w 70"/>
                <a:gd name="T47" fmla="*/ 30 h 75"/>
                <a:gd name="T48" fmla="*/ 45 w 70"/>
                <a:gd name="T49" fmla="*/ 26 h 75"/>
                <a:gd name="T50" fmla="*/ 41 w 70"/>
                <a:gd name="T51" fmla="*/ 24 h 75"/>
                <a:gd name="T52" fmla="*/ 47 w 70"/>
                <a:gd name="T53" fmla="*/ 19 h 75"/>
                <a:gd name="T54" fmla="*/ 47 w 70"/>
                <a:gd name="T55" fmla="*/ 3 h 75"/>
                <a:gd name="T56" fmla="*/ 36 w 70"/>
                <a:gd name="T57" fmla="*/ 4 h 75"/>
                <a:gd name="T58" fmla="*/ 36 w 70"/>
                <a:gd name="T59" fmla="*/ 4 h 75"/>
                <a:gd name="T60" fmla="*/ 36 w 70"/>
                <a:gd name="T61" fmla="*/ 16 h 75"/>
                <a:gd name="T62" fmla="*/ 33 w 70"/>
                <a:gd name="T63" fmla="*/ 17 h 75"/>
                <a:gd name="T64" fmla="*/ 31 w 70"/>
                <a:gd name="T65" fmla="*/ 19 h 75"/>
                <a:gd name="T66" fmla="*/ 30 w 70"/>
                <a:gd name="T67" fmla="*/ 27 h 75"/>
                <a:gd name="T68" fmla="*/ 29 w 70"/>
                <a:gd name="T69" fmla="*/ 29 h 75"/>
                <a:gd name="T70" fmla="*/ 25 w 70"/>
                <a:gd name="T71" fmla="*/ 40 h 75"/>
                <a:gd name="T72" fmla="*/ 31 w 70"/>
                <a:gd name="T73" fmla="*/ 4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 h="75">
                  <a:moveTo>
                    <a:pt x="31" y="43"/>
                  </a:moveTo>
                  <a:cubicBezTo>
                    <a:pt x="32" y="44"/>
                    <a:pt x="31" y="48"/>
                    <a:pt x="31" y="49"/>
                  </a:cubicBezTo>
                  <a:cubicBezTo>
                    <a:pt x="31" y="50"/>
                    <a:pt x="30" y="51"/>
                    <a:pt x="29" y="52"/>
                  </a:cubicBezTo>
                  <a:cubicBezTo>
                    <a:pt x="29" y="52"/>
                    <a:pt x="27" y="54"/>
                    <a:pt x="27" y="55"/>
                  </a:cubicBezTo>
                  <a:cubicBezTo>
                    <a:pt x="24" y="58"/>
                    <a:pt x="23" y="57"/>
                    <a:pt x="20" y="59"/>
                  </a:cubicBezTo>
                  <a:cubicBezTo>
                    <a:pt x="19" y="60"/>
                    <a:pt x="17" y="61"/>
                    <a:pt x="16" y="62"/>
                  </a:cubicBezTo>
                  <a:cubicBezTo>
                    <a:pt x="13" y="65"/>
                    <a:pt x="9" y="66"/>
                    <a:pt x="4" y="69"/>
                  </a:cubicBezTo>
                  <a:cubicBezTo>
                    <a:pt x="4" y="69"/>
                    <a:pt x="4" y="69"/>
                    <a:pt x="4" y="69"/>
                  </a:cubicBezTo>
                  <a:cubicBezTo>
                    <a:pt x="3" y="69"/>
                    <a:pt x="2" y="71"/>
                    <a:pt x="0" y="71"/>
                  </a:cubicBezTo>
                  <a:cubicBezTo>
                    <a:pt x="0" y="73"/>
                    <a:pt x="2" y="74"/>
                    <a:pt x="4" y="73"/>
                  </a:cubicBezTo>
                  <a:cubicBezTo>
                    <a:pt x="6" y="73"/>
                    <a:pt x="8" y="72"/>
                    <a:pt x="9" y="72"/>
                  </a:cubicBezTo>
                  <a:cubicBezTo>
                    <a:pt x="12" y="71"/>
                    <a:pt x="14" y="70"/>
                    <a:pt x="17" y="69"/>
                  </a:cubicBezTo>
                  <a:cubicBezTo>
                    <a:pt x="22" y="67"/>
                    <a:pt x="27" y="65"/>
                    <a:pt x="33" y="64"/>
                  </a:cubicBezTo>
                  <a:cubicBezTo>
                    <a:pt x="36" y="64"/>
                    <a:pt x="43" y="62"/>
                    <a:pt x="48" y="61"/>
                  </a:cubicBezTo>
                  <a:cubicBezTo>
                    <a:pt x="50" y="61"/>
                    <a:pt x="51" y="62"/>
                    <a:pt x="53" y="62"/>
                  </a:cubicBezTo>
                  <a:cubicBezTo>
                    <a:pt x="55" y="67"/>
                    <a:pt x="48" y="71"/>
                    <a:pt x="46" y="73"/>
                  </a:cubicBezTo>
                  <a:cubicBezTo>
                    <a:pt x="46" y="74"/>
                    <a:pt x="48" y="74"/>
                    <a:pt x="49" y="75"/>
                  </a:cubicBezTo>
                  <a:cubicBezTo>
                    <a:pt x="57" y="74"/>
                    <a:pt x="68" y="73"/>
                    <a:pt x="70" y="62"/>
                  </a:cubicBezTo>
                  <a:cubicBezTo>
                    <a:pt x="70" y="52"/>
                    <a:pt x="63" y="51"/>
                    <a:pt x="57" y="50"/>
                  </a:cubicBezTo>
                  <a:cubicBezTo>
                    <a:pt x="55" y="50"/>
                    <a:pt x="51" y="50"/>
                    <a:pt x="46" y="51"/>
                  </a:cubicBezTo>
                  <a:cubicBezTo>
                    <a:pt x="43" y="51"/>
                    <a:pt x="37" y="53"/>
                    <a:pt x="36" y="53"/>
                  </a:cubicBezTo>
                  <a:cubicBezTo>
                    <a:pt x="38" y="51"/>
                    <a:pt x="41" y="49"/>
                    <a:pt x="43" y="47"/>
                  </a:cubicBezTo>
                  <a:cubicBezTo>
                    <a:pt x="43" y="43"/>
                    <a:pt x="41" y="43"/>
                    <a:pt x="39" y="40"/>
                  </a:cubicBezTo>
                  <a:cubicBezTo>
                    <a:pt x="37" y="32"/>
                    <a:pt x="46" y="35"/>
                    <a:pt x="49" y="30"/>
                  </a:cubicBezTo>
                  <a:cubicBezTo>
                    <a:pt x="49" y="28"/>
                    <a:pt x="47" y="27"/>
                    <a:pt x="45" y="26"/>
                  </a:cubicBezTo>
                  <a:cubicBezTo>
                    <a:pt x="43" y="25"/>
                    <a:pt x="42" y="24"/>
                    <a:pt x="41" y="24"/>
                  </a:cubicBezTo>
                  <a:cubicBezTo>
                    <a:pt x="41" y="20"/>
                    <a:pt x="44" y="20"/>
                    <a:pt x="47" y="19"/>
                  </a:cubicBezTo>
                  <a:cubicBezTo>
                    <a:pt x="52" y="16"/>
                    <a:pt x="49" y="7"/>
                    <a:pt x="47" y="3"/>
                  </a:cubicBezTo>
                  <a:cubicBezTo>
                    <a:pt x="44" y="1"/>
                    <a:pt x="37" y="0"/>
                    <a:pt x="36" y="4"/>
                  </a:cubicBezTo>
                  <a:cubicBezTo>
                    <a:pt x="36" y="4"/>
                    <a:pt x="36" y="4"/>
                    <a:pt x="36" y="4"/>
                  </a:cubicBezTo>
                  <a:cubicBezTo>
                    <a:pt x="37" y="8"/>
                    <a:pt x="38" y="11"/>
                    <a:pt x="36" y="16"/>
                  </a:cubicBezTo>
                  <a:cubicBezTo>
                    <a:pt x="35" y="16"/>
                    <a:pt x="34" y="16"/>
                    <a:pt x="33" y="17"/>
                  </a:cubicBezTo>
                  <a:cubicBezTo>
                    <a:pt x="32" y="17"/>
                    <a:pt x="31" y="18"/>
                    <a:pt x="31" y="19"/>
                  </a:cubicBezTo>
                  <a:cubicBezTo>
                    <a:pt x="30" y="22"/>
                    <a:pt x="31" y="26"/>
                    <a:pt x="30" y="27"/>
                  </a:cubicBezTo>
                  <a:cubicBezTo>
                    <a:pt x="30" y="28"/>
                    <a:pt x="29" y="29"/>
                    <a:pt x="29" y="29"/>
                  </a:cubicBezTo>
                  <a:cubicBezTo>
                    <a:pt x="27" y="32"/>
                    <a:pt x="24" y="36"/>
                    <a:pt x="25" y="40"/>
                  </a:cubicBezTo>
                  <a:cubicBezTo>
                    <a:pt x="26" y="43"/>
                    <a:pt x="29" y="40"/>
                    <a:pt x="31" y="43"/>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9" name="Freeform 37"/>
            <p:cNvSpPr/>
            <p:nvPr/>
          </p:nvSpPr>
          <p:spPr bwMode="auto">
            <a:xfrm>
              <a:off x="7856538" y="4941888"/>
              <a:ext cx="95250" cy="209550"/>
            </a:xfrm>
            <a:custGeom>
              <a:avLst/>
              <a:gdLst>
                <a:gd name="T0" fmla="*/ 10 w 17"/>
                <a:gd name="T1" fmla="*/ 37 h 37"/>
                <a:gd name="T2" fmla="*/ 13 w 17"/>
                <a:gd name="T3" fmla="*/ 37 h 37"/>
                <a:gd name="T4" fmla="*/ 16 w 17"/>
                <a:gd name="T5" fmla="*/ 35 h 37"/>
                <a:gd name="T6" fmla="*/ 13 w 17"/>
                <a:gd name="T7" fmla="*/ 28 h 37"/>
                <a:gd name="T8" fmla="*/ 13 w 17"/>
                <a:gd name="T9" fmla="*/ 28 h 37"/>
                <a:gd name="T10" fmla="*/ 13 w 17"/>
                <a:gd name="T11" fmla="*/ 18 h 37"/>
                <a:gd name="T12" fmla="*/ 17 w 17"/>
                <a:gd name="T13" fmla="*/ 8 h 37"/>
                <a:gd name="T14" fmla="*/ 14 w 17"/>
                <a:gd name="T15" fmla="*/ 0 h 37"/>
                <a:gd name="T16" fmla="*/ 13 w 17"/>
                <a:gd name="T17" fmla="*/ 0 h 37"/>
                <a:gd name="T18" fmla="*/ 5 w 17"/>
                <a:gd name="T19" fmla="*/ 7 h 37"/>
                <a:gd name="T20" fmla="*/ 2 w 17"/>
                <a:gd name="T21" fmla="*/ 15 h 37"/>
                <a:gd name="T22" fmla="*/ 2 w 17"/>
                <a:gd name="T23" fmla="*/ 31 h 37"/>
                <a:gd name="T24" fmla="*/ 10 w 17"/>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37">
                  <a:moveTo>
                    <a:pt x="10" y="37"/>
                  </a:moveTo>
                  <a:cubicBezTo>
                    <a:pt x="11" y="37"/>
                    <a:pt x="12" y="37"/>
                    <a:pt x="13" y="37"/>
                  </a:cubicBezTo>
                  <a:cubicBezTo>
                    <a:pt x="14" y="37"/>
                    <a:pt x="15" y="36"/>
                    <a:pt x="16" y="35"/>
                  </a:cubicBezTo>
                  <a:cubicBezTo>
                    <a:pt x="16" y="32"/>
                    <a:pt x="14" y="30"/>
                    <a:pt x="13" y="28"/>
                  </a:cubicBezTo>
                  <a:cubicBezTo>
                    <a:pt x="13" y="28"/>
                    <a:pt x="13" y="28"/>
                    <a:pt x="13" y="28"/>
                  </a:cubicBezTo>
                  <a:cubicBezTo>
                    <a:pt x="12" y="24"/>
                    <a:pt x="13" y="21"/>
                    <a:pt x="13" y="18"/>
                  </a:cubicBezTo>
                  <a:cubicBezTo>
                    <a:pt x="14" y="15"/>
                    <a:pt x="16" y="12"/>
                    <a:pt x="17" y="8"/>
                  </a:cubicBezTo>
                  <a:cubicBezTo>
                    <a:pt x="17" y="3"/>
                    <a:pt x="17" y="1"/>
                    <a:pt x="14" y="0"/>
                  </a:cubicBezTo>
                  <a:cubicBezTo>
                    <a:pt x="14" y="0"/>
                    <a:pt x="14" y="0"/>
                    <a:pt x="13" y="0"/>
                  </a:cubicBezTo>
                  <a:cubicBezTo>
                    <a:pt x="8" y="0"/>
                    <a:pt x="7" y="2"/>
                    <a:pt x="5" y="7"/>
                  </a:cubicBezTo>
                  <a:cubicBezTo>
                    <a:pt x="4" y="9"/>
                    <a:pt x="3" y="12"/>
                    <a:pt x="2" y="15"/>
                  </a:cubicBezTo>
                  <a:cubicBezTo>
                    <a:pt x="1" y="20"/>
                    <a:pt x="0" y="26"/>
                    <a:pt x="2" y="31"/>
                  </a:cubicBezTo>
                  <a:cubicBezTo>
                    <a:pt x="4" y="34"/>
                    <a:pt x="6" y="36"/>
                    <a:pt x="10" y="3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0" name="Freeform 38"/>
            <p:cNvSpPr/>
            <p:nvPr/>
          </p:nvSpPr>
          <p:spPr bwMode="auto">
            <a:xfrm>
              <a:off x="7862888" y="5270500"/>
              <a:ext cx="454025" cy="442913"/>
            </a:xfrm>
            <a:custGeom>
              <a:avLst/>
              <a:gdLst>
                <a:gd name="T0" fmla="*/ 50 w 81"/>
                <a:gd name="T1" fmla="*/ 29 h 78"/>
                <a:gd name="T2" fmla="*/ 41 w 81"/>
                <a:gd name="T3" fmla="*/ 28 h 78"/>
                <a:gd name="T4" fmla="*/ 39 w 81"/>
                <a:gd name="T5" fmla="*/ 26 h 78"/>
                <a:gd name="T6" fmla="*/ 41 w 81"/>
                <a:gd name="T7" fmla="*/ 22 h 78"/>
                <a:gd name="T8" fmla="*/ 46 w 81"/>
                <a:gd name="T9" fmla="*/ 15 h 78"/>
                <a:gd name="T10" fmla="*/ 41 w 81"/>
                <a:gd name="T11" fmla="*/ 2 h 78"/>
                <a:gd name="T12" fmla="*/ 40 w 81"/>
                <a:gd name="T13" fmla="*/ 1 h 78"/>
                <a:gd name="T14" fmla="*/ 33 w 81"/>
                <a:gd name="T15" fmla="*/ 0 h 78"/>
                <a:gd name="T16" fmla="*/ 26 w 81"/>
                <a:gd name="T17" fmla="*/ 2 h 78"/>
                <a:gd name="T18" fmla="*/ 25 w 81"/>
                <a:gd name="T19" fmla="*/ 6 h 78"/>
                <a:gd name="T20" fmla="*/ 32 w 81"/>
                <a:gd name="T21" fmla="*/ 9 h 78"/>
                <a:gd name="T22" fmla="*/ 35 w 81"/>
                <a:gd name="T23" fmla="*/ 15 h 78"/>
                <a:gd name="T24" fmla="*/ 32 w 81"/>
                <a:gd name="T25" fmla="*/ 30 h 78"/>
                <a:gd name="T26" fmla="*/ 25 w 81"/>
                <a:gd name="T27" fmla="*/ 32 h 78"/>
                <a:gd name="T28" fmla="*/ 15 w 81"/>
                <a:gd name="T29" fmla="*/ 37 h 78"/>
                <a:gd name="T30" fmla="*/ 12 w 81"/>
                <a:gd name="T31" fmla="*/ 38 h 78"/>
                <a:gd name="T32" fmla="*/ 1 w 81"/>
                <a:gd name="T33" fmla="*/ 39 h 78"/>
                <a:gd name="T34" fmla="*/ 0 w 81"/>
                <a:gd name="T35" fmla="*/ 39 h 78"/>
                <a:gd name="T36" fmla="*/ 1 w 81"/>
                <a:gd name="T37" fmla="*/ 43 h 78"/>
                <a:gd name="T38" fmla="*/ 8 w 81"/>
                <a:gd name="T39" fmla="*/ 47 h 78"/>
                <a:gd name="T40" fmla="*/ 14 w 81"/>
                <a:gd name="T41" fmla="*/ 46 h 78"/>
                <a:gd name="T42" fmla="*/ 25 w 81"/>
                <a:gd name="T43" fmla="*/ 43 h 78"/>
                <a:gd name="T44" fmla="*/ 36 w 81"/>
                <a:gd name="T45" fmla="*/ 44 h 78"/>
                <a:gd name="T46" fmla="*/ 32 w 81"/>
                <a:gd name="T47" fmla="*/ 60 h 78"/>
                <a:gd name="T48" fmla="*/ 25 w 81"/>
                <a:gd name="T49" fmla="*/ 58 h 78"/>
                <a:gd name="T50" fmla="*/ 25 w 81"/>
                <a:gd name="T51" fmla="*/ 58 h 78"/>
                <a:gd name="T52" fmla="*/ 19 w 81"/>
                <a:gd name="T53" fmla="*/ 53 h 78"/>
                <a:gd name="T54" fmla="*/ 20 w 81"/>
                <a:gd name="T55" fmla="*/ 67 h 78"/>
                <a:gd name="T56" fmla="*/ 25 w 81"/>
                <a:gd name="T57" fmla="*/ 76 h 78"/>
                <a:gd name="T58" fmla="*/ 28 w 81"/>
                <a:gd name="T59" fmla="*/ 78 h 78"/>
                <a:gd name="T60" fmla="*/ 41 w 81"/>
                <a:gd name="T61" fmla="*/ 69 h 78"/>
                <a:gd name="T62" fmla="*/ 41 w 81"/>
                <a:gd name="T63" fmla="*/ 69 h 78"/>
                <a:gd name="T64" fmla="*/ 41 w 81"/>
                <a:gd name="T65" fmla="*/ 68 h 78"/>
                <a:gd name="T66" fmla="*/ 48 w 81"/>
                <a:gd name="T67" fmla="*/ 42 h 78"/>
                <a:gd name="T68" fmla="*/ 63 w 81"/>
                <a:gd name="T69" fmla="*/ 41 h 78"/>
                <a:gd name="T70" fmla="*/ 70 w 81"/>
                <a:gd name="T71" fmla="*/ 44 h 78"/>
                <a:gd name="T72" fmla="*/ 76 w 81"/>
                <a:gd name="T73" fmla="*/ 27 h 78"/>
                <a:gd name="T74" fmla="*/ 50 w 81"/>
                <a:gd name="T75" fmla="*/ 2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78">
                  <a:moveTo>
                    <a:pt x="50" y="29"/>
                  </a:moveTo>
                  <a:cubicBezTo>
                    <a:pt x="46" y="29"/>
                    <a:pt x="43" y="30"/>
                    <a:pt x="41" y="28"/>
                  </a:cubicBezTo>
                  <a:cubicBezTo>
                    <a:pt x="40" y="27"/>
                    <a:pt x="40" y="27"/>
                    <a:pt x="39" y="26"/>
                  </a:cubicBezTo>
                  <a:cubicBezTo>
                    <a:pt x="39" y="25"/>
                    <a:pt x="40" y="23"/>
                    <a:pt x="41" y="22"/>
                  </a:cubicBezTo>
                  <a:cubicBezTo>
                    <a:pt x="42" y="20"/>
                    <a:pt x="45" y="17"/>
                    <a:pt x="46" y="15"/>
                  </a:cubicBezTo>
                  <a:cubicBezTo>
                    <a:pt x="48" y="7"/>
                    <a:pt x="46" y="6"/>
                    <a:pt x="41" y="2"/>
                  </a:cubicBezTo>
                  <a:cubicBezTo>
                    <a:pt x="40" y="1"/>
                    <a:pt x="40" y="1"/>
                    <a:pt x="40" y="1"/>
                  </a:cubicBezTo>
                  <a:cubicBezTo>
                    <a:pt x="38" y="0"/>
                    <a:pt x="35" y="0"/>
                    <a:pt x="33" y="0"/>
                  </a:cubicBezTo>
                  <a:cubicBezTo>
                    <a:pt x="33" y="0"/>
                    <a:pt x="27" y="0"/>
                    <a:pt x="26" y="2"/>
                  </a:cubicBezTo>
                  <a:cubicBezTo>
                    <a:pt x="26" y="3"/>
                    <a:pt x="26" y="5"/>
                    <a:pt x="25" y="6"/>
                  </a:cubicBezTo>
                  <a:cubicBezTo>
                    <a:pt x="25" y="7"/>
                    <a:pt x="30" y="6"/>
                    <a:pt x="32" y="9"/>
                  </a:cubicBezTo>
                  <a:cubicBezTo>
                    <a:pt x="34" y="11"/>
                    <a:pt x="35" y="12"/>
                    <a:pt x="35" y="15"/>
                  </a:cubicBezTo>
                  <a:cubicBezTo>
                    <a:pt x="31" y="21"/>
                    <a:pt x="29" y="23"/>
                    <a:pt x="32" y="30"/>
                  </a:cubicBezTo>
                  <a:cubicBezTo>
                    <a:pt x="30" y="31"/>
                    <a:pt x="27" y="31"/>
                    <a:pt x="25" y="32"/>
                  </a:cubicBezTo>
                  <a:cubicBezTo>
                    <a:pt x="18" y="35"/>
                    <a:pt x="16" y="36"/>
                    <a:pt x="15" y="37"/>
                  </a:cubicBezTo>
                  <a:cubicBezTo>
                    <a:pt x="14" y="37"/>
                    <a:pt x="12" y="37"/>
                    <a:pt x="12" y="38"/>
                  </a:cubicBezTo>
                  <a:cubicBezTo>
                    <a:pt x="11" y="38"/>
                    <a:pt x="10" y="38"/>
                    <a:pt x="1" y="39"/>
                  </a:cubicBezTo>
                  <a:cubicBezTo>
                    <a:pt x="1" y="39"/>
                    <a:pt x="0" y="39"/>
                    <a:pt x="0" y="39"/>
                  </a:cubicBezTo>
                  <a:cubicBezTo>
                    <a:pt x="0" y="40"/>
                    <a:pt x="0" y="41"/>
                    <a:pt x="1" y="43"/>
                  </a:cubicBezTo>
                  <a:cubicBezTo>
                    <a:pt x="3" y="46"/>
                    <a:pt x="4" y="46"/>
                    <a:pt x="8" y="47"/>
                  </a:cubicBezTo>
                  <a:cubicBezTo>
                    <a:pt x="8" y="47"/>
                    <a:pt x="13" y="47"/>
                    <a:pt x="14" y="46"/>
                  </a:cubicBezTo>
                  <a:cubicBezTo>
                    <a:pt x="18" y="46"/>
                    <a:pt x="21" y="44"/>
                    <a:pt x="25" y="43"/>
                  </a:cubicBezTo>
                  <a:cubicBezTo>
                    <a:pt x="29" y="43"/>
                    <a:pt x="34" y="43"/>
                    <a:pt x="36" y="44"/>
                  </a:cubicBezTo>
                  <a:cubicBezTo>
                    <a:pt x="37" y="48"/>
                    <a:pt x="34" y="56"/>
                    <a:pt x="32" y="60"/>
                  </a:cubicBezTo>
                  <a:cubicBezTo>
                    <a:pt x="29" y="63"/>
                    <a:pt x="27" y="62"/>
                    <a:pt x="25" y="58"/>
                  </a:cubicBezTo>
                  <a:cubicBezTo>
                    <a:pt x="25" y="58"/>
                    <a:pt x="25" y="58"/>
                    <a:pt x="25" y="58"/>
                  </a:cubicBezTo>
                  <a:cubicBezTo>
                    <a:pt x="23" y="53"/>
                    <a:pt x="23" y="52"/>
                    <a:pt x="19" y="53"/>
                  </a:cubicBezTo>
                  <a:cubicBezTo>
                    <a:pt x="18" y="57"/>
                    <a:pt x="19" y="62"/>
                    <a:pt x="20" y="67"/>
                  </a:cubicBezTo>
                  <a:cubicBezTo>
                    <a:pt x="21" y="72"/>
                    <a:pt x="21" y="74"/>
                    <a:pt x="25" y="76"/>
                  </a:cubicBezTo>
                  <a:cubicBezTo>
                    <a:pt x="25" y="77"/>
                    <a:pt x="26" y="77"/>
                    <a:pt x="28" y="78"/>
                  </a:cubicBezTo>
                  <a:cubicBezTo>
                    <a:pt x="34" y="77"/>
                    <a:pt x="37" y="75"/>
                    <a:pt x="41" y="69"/>
                  </a:cubicBezTo>
                  <a:cubicBezTo>
                    <a:pt x="41" y="69"/>
                    <a:pt x="41" y="69"/>
                    <a:pt x="41" y="69"/>
                  </a:cubicBezTo>
                  <a:cubicBezTo>
                    <a:pt x="41" y="68"/>
                    <a:pt x="41" y="69"/>
                    <a:pt x="41" y="68"/>
                  </a:cubicBezTo>
                  <a:cubicBezTo>
                    <a:pt x="46" y="60"/>
                    <a:pt x="49" y="52"/>
                    <a:pt x="48" y="42"/>
                  </a:cubicBezTo>
                  <a:cubicBezTo>
                    <a:pt x="50" y="40"/>
                    <a:pt x="60" y="40"/>
                    <a:pt x="63" y="41"/>
                  </a:cubicBezTo>
                  <a:cubicBezTo>
                    <a:pt x="65" y="42"/>
                    <a:pt x="68" y="42"/>
                    <a:pt x="70" y="44"/>
                  </a:cubicBezTo>
                  <a:cubicBezTo>
                    <a:pt x="76" y="44"/>
                    <a:pt x="81" y="34"/>
                    <a:pt x="76" y="27"/>
                  </a:cubicBezTo>
                  <a:cubicBezTo>
                    <a:pt x="67" y="25"/>
                    <a:pt x="59" y="27"/>
                    <a:pt x="50" y="29"/>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1" name="Freeform 39"/>
            <p:cNvSpPr/>
            <p:nvPr/>
          </p:nvSpPr>
          <p:spPr bwMode="auto">
            <a:xfrm>
              <a:off x="7767638" y="5180013"/>
              <a:ext cx="117475" cy="209550"/>
            </a:xfrm>
            <a:custGeom>
              <a:avLst/>
              <a:gdLst>
                <a:gd name="T0" fmla="*/ 18 w 21"/>
                <a:gd name="T1" fmla="*/ 21 h 37"/>
                <a:gd name="T2" fmla="*/ 19 w 21"/>
                <a:gd name="T3" fmla="*/ 2 h 37"/>
                <a:gd name="T4" fmla="*/ 18 w 21"/>
                <a:gd name="T5" fmla="*/ 2 h 37"/>
                <a:gd name="T6" fmla="*/ 4 w 21"/>
                <a:gd name="T7" fmla="*/ 18 h 37"/>
                <a:gd name="T8" fmla="*/ 11 w 21"/>
                <a:gd name="T9" fmla="*/ 37 h 37"/>
                <a:gd name="T10" fmla="*/ 18 w 21"/>
                <a:gd name="T11" fmla="*/ 24 h 37"/>
                <a:gd name="T12" fmla="*/ 18 w 21"/>
                <a:gd name="T13" fmla="*/ 21 h 37"/>
              </a:gdLst>
              <a:ahLst/>
              <a:cxnLst>
                <a:cxn ang="0">
                  <a:pos x="T0" y="T1"/>
                </a:cxn>
                <a:cxn ang="0">
                  <a:pos x="T2" y="T3"/>
                </a:cxn>
                <a:cxn ang="0">
                  <a:pos x="T4" y="T5"/>
                </a:cxn>
                <a:cxn ang="0">
                  <a:pos x="T6" y="T7"/>
                </a:cxn>
                <a:cxn ang="0">
                  <a:pos x="T8" y="T9"/>
                </a:cxn>
                <a:cxn ang="0">
                  <a:pos x="T10" y="T11"/>
                </a:cxn>
                <a:cxn ang="0">
                  <a:pos x="T12" y="T13"/>
                </a:cxn>
              </a:cxnLst>
              <a:rect l="0" t="0" r="r" b="b"/>
              <a:pathLst>
                <a:path w="21" h="37">
                  <a:moveTo>
                    <a:pt x="18" y="21"/>
                  </a:moveTo>
                  <a:cubicBezTo>
                    <a:pt x="19" y="15"/>
                    <a:pt x="21" y="6"/>
                    <a:pt x="19" y="2"/>
                  </a:cubicBezTo>
                  <a:cubicBezTo>
                    <a:pt x="18" y="2"/>
                    <a:pt x="18" y="2"/>
                    <a:pt x="18" y="2"/>
                  </a:cubicBezTo>
                  <a:cubicBezTo>
                    <a:pt x="12" y="0"/>
                    <a:pt x="6" y="14"/>
                    <a:pt x="4" y="18"/>
                  </a:cubicBezTo>
                  <a:cubicBezTo>
                    <a:pt x="2" y="29"/>
                    <a:pt x="0" y="33"/>
                    <a:pt x="11" y="37"/>
                  </a:cubicBezTo>
                  <a:cubicBezTo>
                    <a:pt x="16" y="35"/>
                    <a:pt x="17" y="29"/>
                    <a:pt x="18" y="24"/>
                  </a:cubicBezTo>
                  <a:cubicBezTo>
                    <a:pt x="18" y="23"/>
                    <a:pt x="18" y="22"/>
                    <a:pt x="18" y="2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2" name="Freeform 40"/>
            <p:cNvSpPr/>
            <p:nvPr/>
          </p:nvSpPr>
          <p:spPr bwMode="auto">
            <a:xfrm>
              <a:off x="5664200" y="5089525"/>
              <a:ext cx="90488" cy="141288"/>
            </a:xfrm>
            <a:custGeom>
              <a:avLst/>
              <a:gdLst>
                <a:gd name="T0" fmla="*/ 2 w 16"/>
                <a:gd name="T1" fmla="*/ 14 h 25"/>
                <a:gd name="T2" fmla="*/ 2 w 16"/>
                <a:gd name="T3" fmla="*/ 14 h 25"/>
                <a:gd name="T4" fmla="*/ 2 w 16"/>
                <a:gd name="T5" fmla="*/ 14 h 25"/>
                <a:gd name="T6" fmla="*/ 1 w 16"/>
                <a:gd name="T7" fmla="*/ 15 h 25"/>
                <a:gd name="T8" fmla="*/ 1 w 16"/>
                <a:gd name="T9" fmla="*/ 21 h 25"/>
                <a:gd name="T10" fmla="*/ 1 w 16"/>
                <a:gd name="T11" fmla="*/ 21 h 25"/>
                <a:gd name="T12" fmla="*/ 1 w 16"/>
                <a:gd name="T13" fmla="*/ 21 h 25"/>
                <a:gd name="T14" fmla="*/ 2 w 16"/>
                <a:gd name="T15" fmla="*/ 22 h 25"/>
                <a:gd name="T16" fmla="*/ 3 w 16"/>
                <a:gd name="T17" fmla="*/ 23 h 25"/>
                <a:gd name="T18" fmla="*/ 3 w 16"/>
                <a:gd name="T19" fmla="*/ 23 h 25"/>
                <a:gd name="T20" fmla="*/ 3 w 16"/>
                <a:gd name="T21" fmla="*/ 23 h 25"/>
                <a:gd name="T22" fmla="*/ 3 w 16"/>
                <a:gd name="T23" fmla="*/ 23 h 25"/>
                <a:gd name="T24" fmla="*/ 3 w 16"/>
                <a:gd name="T25" fmla="*/ 23 h 25"/>
                <a:gd name="T26" fmla="*/ 7 w 16"/>
                <a:gd name="T27" fmla="*/ 25 h 25"/>
                <a:gd name="T28" fmla="*/ 16 w 16"/>
                <a:gd name="T29" fmla="*/ 10 h 25"/>
                <a:gd name="T30" fmla="*/ 2 w 16"/>
                <a:gd name="T31"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25">
                  <a:moveTo>
                    <a:pt x="2" y="14"/>
                  </a:moveTo>
                  <a:cubicBezTo>
                    <a:pt x="2" y="14"/>
                    <a:pt x="2" y="14"/>
                    <a:pt x="2" y="14"/>
                  </a:cubicBezTo>
                  <a:cubicBezTo>
                    <a:pt x="2" y="14"/>
                    <a:pt x="2" y="14"/>
                    <a:pt x="2" y="14"/>
                  </a:cubicBezTo>
                  <a:cubicBezTo>
                    <a:pt x="2" y="14"/>
                    <a:pt x="1" y="15"/>
                    <a:pt x="1" y="15"/>
                  </a:cubicBezTo>
                  <a:cubicBezTo>
                    <a:pt x="0" y="18"/>
                    <a:pt x="0" y="20"/>
                    <a:pt x="1" y="21"/>
                  </a:cubicBezTo>
                  <a:cubicBezTo>
                    <a:pt x="1" y="21"/>
                    <a:pt x="1" y="21"/>
                    <a:pt x="1" y="21"/>
                  </a:cubicBezTo>
                  <a:cubicBezTo>
                    <a:pt x="1" y="21"/>
                    <a:pt x="1" y="21"/>
                    <a:pt x="1" y="21"/>
                  </a:cubicBezTo>
                  <a:cubicBezTo>
                    <a:pt x="1" y="22"/>
                    <a:pt x="2" y="22"/>
                    <a:pt x="2" y="22"/>
                  </a:cubicBezTo>
                  <a:cubicBezTo>
                    <a:pt x="2" y="22"/>
                    <a:pt x="2" y="22"/>
                    <a:pt x="3" y="23"/>
                  </a:cubicBezTo>
                  <a:cubicBezTo>
                    <a:pt x="3" y="23"/>
                    <a:pt x="3" y="23"/>
                    <a:pt x="3" y="23"/>
                  </a:cubicBezTo>
                  <a:cubicBezTo>
                    <a:pt x="3" y="23"/>
                    <a:pt x="3" y="23"/>
                    <a:pt x="3" y="23"/>
                  </a:cubicBezTo>
                  <a:cubicBezTo>
                    <a:pt x="3" y="23"/>
                    <a:pt x="3" y="23"/>
                    <a:pt x="3" y="23"/>
                  </a:cubicBezTo>
                  <a:cubicBezTo>
                    <a:pt x="3" y="23"/>
                    <a:pt x="3" y="23"/>
                    <a:pt x="3" y="23"/>
                  </a:cubicBezTo>
                  <a:cubicBezTo>
                    <a:pt x="4" y="23"/>
                    <a:pt x="5" y="24"/>
                    <a:pt x="7" y="25"/>
                  </a:cubicBezTo>
                  <a:cubicBezTo>
                    <a:pt x="13" y="23"/>
                    <a:pt x="15" y="17"/>
                    <a:pt x="16" y="10"/>
                  </a:cubicBezTo>
                  <a:cubicBezTo>
                    <a:pt x="15" y="0"/>
                    <a:pt x="5" y="8"/>
                    <a:pt x="2" y="1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 name="Freeform 41"/>
            <p:cNvSpPr/>
            <p:nvPr/>
          </p:nvSpPr>
          <p:spPr bwMode="auto">
            <a:xfrm>
              <a:off x="4525963" y="4856163"/>
              <a:ext cx="112713" cy="125413"/>
            </a:xfrm>
            <a:custGeom>
              <a:avLst/>
              <a:gdLst>
                <a:gd name="T0" fmla="*/ 14 w 20"/>
                <a:gd name="T1" fmla="*/ 16 h 22"/>
                <a:gd name="T2" fmla="*/ 7 w 20"/>
                <a:gd name="T3" fmla="*/ 21 h 22"/>
                <a:gd name="T4" fmla="*/ 0 w 20"/>
                <a:gd name="T5" fmla="*/ 15 h 22"/>
                <a:gd name="T6" fmla="*/ 2 w 20"/>
                <a:gd name="T7" fmla="*/ 3 h 22"/>
                <a:gd name="T8" fmla="*/ 0 w 20"/>
                <a:gd name="T9" fmla="*/ 1 h 22"/>
                <a:gd name="T10" fmla="*/ 1 w 20"/>
                <a:gd name="T11" fmla="*/ 0 h 22"/>
                <a:gd name="T12" fmla="*/ 5 w 20"/>
                <a:gd name="T13" fmla="*/ 1 h 22"/>
                <a:gd name="T14" fmla="*/ 9 w 20"/>
                <a:gd name="T15" fmla="*/ 2 h 22"/>
                <a:gd name="T16" fmla="*/ 9 w 20"/>
                <a:gd name="T17" fmla="*/ 2 h 22"/>
                <a:gd name="T18" fmla="*/ 6 w 20"/>
                <a:gd name="T19" fmla="*/ 4 h 22"/>
                <a:gd name="T20" fmla="*/ 4 w 20"/>
                <a:gd name="T21" fmla="*/ 16 h 22"/>
                <a:gd name="T22" fmla="*/ 8 w 20"/>
                <a:gd name="T23" fmla="*/ 20 h 22"/>
                <a:gd name="T24" fmla="*/ 14 w 20"/>
                <a:gd name="T25" fmla="*/ 16 h 22"/>
                <a:gd name="T26" fmla="*/ 15 w 20"/>
                <a:gd name="T27" fmla="*/ 8 h 22"/>
                <a:gd name="T28" fmla="*/ 14 w 20"/>
                <a:gd name="T29" fmla="*/ 3 h 22"/>
                <a:gd name="T30" fmla="*/ 13 w 20"/>
                <a:gd name="T31" fmla="*/ 3 h 22"/>
                <a:gd name="T32" fmla="*/ 13 w 20"/>
                <a:gd name="T33" fmla="*/ 2 h 22"/>
                <a:gd name="T34" fmla="*/ 16 w 20"/>
                <a:gd name="T35" fmla="*/ 3 h 22"/>
                <a:gd name="T36" fmla="*/ 19 w 20"/>
                <a:gd name="T37" fmla="*/ 3 h 22"/>
                <a:gd name="T38" fmla="*/ 19 w 20"/>
                <a:gd name="T39" fmla="*/ 4 h 22"/>
                <a:gd name="T40" fmla="*/ 19 w 20"/>
                <a:gd name="T41" fmla="*/ 4 h 22"/>
                <a:gd name="T42" fmla="*/ 16 w 20"/>
                <a:gd name="T43" fmla="*/ 8 h 22"/>
                <a:gd name="T44" fmla="*/ 14 w 20"/>
                <a:gd name="T45"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 h="22">
                  <a:moveTo>
                    <a:pt x="14" y="16"/>
                  </a:moveTo>
                  <a:cubicBezTo>
                    <a:pt x="14" y="20"/>
                    <a:pt x="11" y="22"/>
                    <a:pt x="7" y="21"/>
                  </a:cubicBezTo>
                  <a:cubicBezTo>
                    <a:pt x="2" y="20"/>
                    <a:pt x="0" y="18"/>
                    <a:pt x="0" y="15"/>
                  </a:cubicBezTo>
                  <a:cubicBezTo>
                    <a:pt x="2" y="3"/>
                    <a:pt x="2" y="3"/>
                    <a:pt x="2" y="3"/>
                  </a:cubicBezTo>
                  <a:cubicBezTo>
                    <a:pt x="3" y="1"/>
                    <a:pt x="0" y="1"/>
                    <a:pt x="0" y="1"/>
                  </a:cubicBezTo>
                  <a:cubicBezTo>
                    <a:pt x="0" y="0"/>
                    <a:pt x="0" y="0"/>
                    <a:pt x="1" y="0"/>
                  </a:cubicBezTo>
                  <a:cubicBezTo>
                    <a:pt x="2" y="1"/>
                    <a:pt x="4" y="1"/>
                    <a:pt x="5" y="1"/>
                  </a:cubicBezTo>
                  <a:cubicBezTo>
                    <a:pt x="6" y="1"/>
                    <a:pt x="7" y="1"/>
                    <a:pt x="9" y="2"/>
                  </a:cubicBezTo>
                  <a:cubicBezTo>
                    <a:pt x="9" y="2"/>
                    <a:pt x="9" y="2"/>
                    <a:pt x="9" y="2"/>
                  </a:cubicBezTo>
                  <a:cubicBezTo>
                    <a:pt x="9" y="3"/>
                    <a:pt x="7" y="1"/>
                    <a:pt x="6" y="4"/>
                  </a:cubicBezTo>
                  <a:cubicBezTo>
                    <a:pt x="4" y="16"/>
                    <a:pt x="4" y="16"/>
                    <a:pt x="4" y="16"/>
                  </a:cubicBezTo>
                  <a:cubicBezTo>
                    <a:pt x="4" y="18"/>
                    <a:pt x="6" y="20"/>
                    <a:pt x="8" y="20"/>
                  </a:cubicBezTo>
                  <a:cubicBezTo>
                    <a:pt x="11" y="21"/>
                    <a:pt x="13" y="19"/>
                    <a:pt x="14" y="16"/>
                  </a:cubicBezTo>
                  <a:cubicBezTo>
                    <a:pt x="15" y="8"/>
                    <a:pt x="15" y="8"/>
                    <a:pt x="15" y="8"/>
                  </a:cubicBezTo>
                  <a:cubicBezTo>
                    <a:pt x="15" y="5"/>
                    <a:pt x="15" y="4"/>
                    <a:pt x="14" y="3"/>
                  </a:cubicBezTo>
                  <a:cubicBezTo>
                    <a:pt x="13" y="3"/>
                    <a:pt x="13" y="3"/>
                    <a:pt x="13" y="3"/>
                  </a:cubicBezTo>
                  <a:cubicBezTo>
                    <a:pt x="13" y="2"/>
                    <a:pt x="13" y="2"/>
                    <a:pt x="13" y="2"/>
                  </a:cubicBezTo>
                  <a:cubicBezTo>
                    <a:pt x="14" y="2"/>
                    <a:pt x="15" y="3"/>
                    <a:pt x="16" y="3"/>
                  </a:cubicBezTo>
                  <a:cubicBezTo>
                    <a:pt x="17" y="3"/>
                    <a:pt x="18" y="3"/>
                    <a:pt x="19" y="3"/>
                  </a:cubicBezTo>
                  <a:cubicBezTo>
                    <a:pt x="19" y="3"/>
                    <a:pt x="20" y="3"/>
                    <a:pt x="19" y="4"/>
                  </a:cubicBezTo>
                  <a:cubicBezTo>
                    <a:pt x="19" y="4"/>
                    <a:pt x="19" y="4"/>
                    <a:pt x="19" y="4"/>
                  </a:cubicBezTo>
                  <a:cubicBezTo>
                    <a:pt x="17" y="4"/>
                    <a:pt x="16" y="5"/>
                    <a:pt x="16" y="8"/>
                  </a:cubicBezTo>
                  <a:lnTo>
                    <a:pt x="14"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4" name="Freeform 42"/>
            <p:cNvSpPr/>
            <p:nvPr/>
          </p:nvSpPr>
          <p:spPr bwMode="auto">
            <a:xfrm>
              <a:off x="4627563" y="4884738"/>
              <a:ext cx="146050" cy="142875"/>
            </a:xfrm>
            <a:custGeom>
              <a:avLst/>
              <a:gdLst>
                <a:gd name="T0" fmla="*/ 5 w 26"/>
                <a:gd name="T1" fmla="*/ 15 h 25"/>
                <a:gd name="T2" fmla="*/ 5 w 26"/>
                <a:gd name="T3" fmla="*/ 19 h 25"/>
                <a:gd name="T4" fmla="*/ 6 w 26"/>
                <a:gd name="T5" fmla="*/ 20 h 25"/>
                <a:gd name="T6" fmla="*/ 6 w 26"/>
                <a:gd name="T7" fmla="*/ 20 h 25"/>
                <a:gd name="T8" fmla="*/ 3 w 26"/>
                <a:gd name="T9" fmla="*/ 19 h 25"/>
                <a:gd name="T10" fmla="*/ 0 w 26"/>
                <a:gd name="T11" fmla="*/ 18 h 25"/>
                <a:gd name="T12" fmla="*/ 0 w 26"/>
                <a:gd name="T13" fmla="*/ 17 h 25"/>
                <a:gd name="T14" fmla="*/ 1 w 26"/>
                <a:gd name="T15" fmla="*/ 17 h 25"/>
                <a:gd name="T16" fmla="*/ 4 w 26"/>
                <a:gd name="T17" fmla="*/ 15 h 25"/>
                <a:gd name="T18" fmla="*/ 9 w 26"/>
                <a:gd name="T19" fmla="*/ 4 h 25"/>
                <a:gd name="T20" fmla="*/ 8 w 26"/>
                <a:gd name="T21" fmla="*/ 1 h 25"/>
                <a:gd name="T22" fmla="*/ 7 w 26"/>
                <a:gd name="T23" fmla="*/ 0 h 25"/>
                <a:gd name="T24" fmla="*/ 8 w 26"/>
                <a:gd name="T25" fmla="*/ 0 h 25"/>
                <a:gd name="T26" fmla="*/ 10 w 26"/>
                <a:gd name="T27" fmla="*/ 1 h 25"/>
                <a:gd name="T28" fmla="*/ 13 w 26"/>
                <a:gd name="T29" fmla="*/ 3 h 25"/>
                <a:gd name="T30" fmla="*/ 17 w 26"/>
                <a:gd name="T31" fmla="*/ 18 h 25"/>
                <a:gd name="T32" fmla="*/ 17 w 26"/>
                <a:gd name="T33" fmla="*/ 18 h 25"/>
                <a:gd name="T34" fmla="*/ 21 w 26"/>
                <a:gd name="T35" fmla="*/ 11 h 25"/>
                <a:gd name="T36" fmla="*/ 21 w 26"/>
                <a:gd name="T37" fmla="*/ 7 h 25"/>
                <a:gd name="T38" fmla="*/ 19 w 26"/>
                <a:gd name="T39" fmla="*/ 6 h 25"/>
                <a:gd name="T40" fmla="*/ 20 w 26"/>
                <a:gd name="T41" fmla="*/ 6 h 25"/>
                <a:gd name="T42" fmla="*/ 23 w 26"/>
                <a:gd name="T43" fmla="*/ 7 h 25"/>
                <a:gd name="T44" fmla="*/ 26 w 26"/>
                <a:gd name="T45" fmla="*/ 8 h 25"/>
                <a:gd name="T46" fmla="*/ 26 w 26"/>
                <a:gd name="T47" fmla="*/ 9 h 25"/>
                <a:gd name="T48" fmla="*/ 24 w 26"/>
                <a:gd name="T49" fmla="*/ 8 h 25"/>
                <a:gd name="T50" fmla="*/ 21 w 26"/>
                <a:gd name="T51" fmla="*/ 11 h 25"/>
                <a:gd name="T52" fmla="*/ 15 w 26"/>
                <a:gd name="T53" fmla="*/ 24 h 25"/>
                <a:gd name="T54" fmla="*/ 15 w 26"/>
                <a:gd name="T55" fmla="*/ 25 h 25"/>
                <a:gd name="T56" fmla="*/ 14 w 26"/>
                <a:gd name="T57" fmla="*/ 24 h 25"/>
                <a:gd name="T58" fmla="*/ 10 w 26"/>
                <a:gd name="T59" fmla="*/ 5 h 25"/>
                <a:gd name="T60" fmla="*/ 9 w 26"/>
                <a:gd name="T61" fmla="*/ 5 h 25"/>
                <a:gd name="T62" fmla="*/ 5 w 26"/>
                <a:gd name="T63" fmla="*/ 1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 h="25">
                  <a:moveTo>
                    <a:pt x="5" y="15"/>
                  </a:moveTo>
                  <a:cubicBezTo>
                    <a:pt x="4" y="17"/>
                    <a:pt x="4" y="18"/>
                    <a:pt x="5" y="19"/>
                  </a:cubicBezTo>
                  <a:cubicBezTo>
                    <a:pt x="6" y="20"/>
                    <a:pt x="6" y="20"/>
                    <a:pt x="6" y="20"/>
                  </a:cubicBezTo>
                  <a:cubicBezTo>
                    <a:pt x="6" y="20"/>
                    <a:pt x="6" y="20"/>
                    <a:pt x="6" y="20"/>
                  </a:cubicBezTo>
                  <a:cubicBezTo>
                    <a:pt x="5" y="20"/>
                    <a:pt x="4" y="19"/>
                    <a:pt x="3" y="19"/>
                  </a:cubicBezTo>
                  <a:cubicBezTo>
                    <a:pt x="2" y="18"/>
                    <a:pt x="1" y="18"/>
                    <a:pt x="0" y="18"/>
                  </a:cubicBezTo>
                  <a:cubicBezTo>
                    <a:pt x="0" y="18"/>
                    <a:pt x="0" y="17"/>
                    <a:pt x="0" y="17"/>
                  </a:cubicBezTo>
                  <a:cubicBezTo>
                    <a:pt x="0" y="17"/>
                    <a:pt x="0" y="17"/>
                    <a:pt x="1" y="17"/>
                  </a:cubicBezTo>
                  <a:cubicBezTo>
                    <a:pt x="2" y="17"/>
                    <a:pt x="3" y="17"/>
                    <a:pt x="4" y="15"/>
                  </a:cubicBezTo>
                  <a:cubicBezTo>
                    <a:pt x="9" y="4"/>
                    <a:pt x="9" y="4"/>
                    <a:pt x="9" y="4"/>
                  </a:cubicBezTo>
                  <a:cubicBezTo>
                    <a:pt x="9" y="2"/>
                    <a:pt x="8" y="1"/>
                    <a:pt x="8" y="1"/>
                  </a:cubicBezTo>
                  <a:cubicBezTo>
                    <a:pt x="7" y="1"/>
                    <a:pt x="7" y="1"/>
                    <a:pt x="7" y="0"/>
                  </a:cubicBezTo>
                  <a:cubicBezTo>
                    <a:pt x="7" y="0"/>
                    <a:pt x="7" y="0"/>
                    <a:pt x="8" y="0"/>
                  </a:cubicBezTo>
                  <a:cubicBezTo>
                    <a:pt x="8" y="0"/>
                    <a:pt x="9" y="1"/>
                    <a:pt x="10" y="1"/>
                  </a:cubicBezTo>
                  <a:cubicBezTo>
                    <a:pt x="13" y="3"/>
                    <a:pt x="13" y="3"/>
                    <a:pt x="13" y="3"/>
                  </a:cubicBezTo>
                  <a:cubicBezTo>
                    <a:pt x="17" y="18"/>
                    <a:pt x="17" y="18"/>
                    <a:pt x="17" y="18"/>
                  </a:cubicBezTo>
                  <a:cubicBezTo>
                    <a:pt x="17" y="18"/>
                    <a:pt x="17" y="18"/>
                    <a:pt x="17" y="18"/>
                  </a:cubicBezTo>
                  <a:cubicBezTo>
                    <a:pt x="21" y="11"/>
                    <a:pt x="21" y="11"/>
                    <a:pt x="21" y="11"/>
                  </a:cubicBezTo>
                  <a:cubicBezTo>
                    <a:pt x="22" y="9"/>
                    <a:pt x="21" y="7"/>
                    <a:pt x="21" y="7"/>
                  </a:cubicBezTo>
                  <a:cubicBezTo>
                    <a:pt x="20" y="6"/>
                    <a:pt x="19" y="6"/>
                    <a:pt x="19" y="6"/>
                  </a:cubicBezTo>
                  <a:cubicBezTo>
                    <a:pt x="19" y="6"/>
                    <a:pt x="20" y="5"/>
                    <a:pt x="20" y="6"/>
                  </a:cubicBezTo>
                  <a:cubicBezTo>
                    <a:pt x="21" y="6"/>
                    <a:pt x="22" y="6"/>
                    <a:pt x="23" y="7"/>
                  </a:cubicBezTo>
                  <a:cubicBezTo>
                    <a:pt x="24" y="7"/>
                    <a:pt x="25" y="8"/>
                    <a:pt x="26" y="8"/>
                  </a:cubicBezTo>
                  <a:cubicBezTo>
                    <a:pt x="26" y="8"/>
                    <a:pt x="26" y="8"/>
                    <a:pt x="26" y="9"/>
                  </a:cubicBezTo>
                  <a:cubicBezTo>
                    <a:pt x="26" y="9"/>
                    <a:pt x="25" y="8"/>
                    <a:pt x="24" y="8"/>
                  </a:cubicBezTo>
                  <a:cubicBezTo>
                    <a:pt x="23" y="8"/>
                    <a:pt x="22" y="9"/>
                    <a:pt x="21" y="11"/>
                  </a:cubicBezTo>
                  <a:cubicBezTo>
                    <a:pt x="15" y="24"/>
                    <a:pt x="15" y="24"/>
                    <a:pt x="15" y="24"/>
                  </a:cubicBezTo>
                  <a:cubicBezTo>
                    <a:pt x="15" y="25"/>
                    <a:pt x="15" y="25"/>
                    <a:pt x="15" y="25"/>
                  </a:cubicBezTo>
                  <a:cubicBezTo>
                    <a:pt x="15" y="25"/>
                    <a:pt x="15" y="24"/>
                    <a:pt x="14" y="24"/>
                  </a:cubicBezTo>
                  <a:cubicBezTo>
                    <a:pt x="10" y="5"/>
                    <a:pt x="10" y="5"/>
                    <a:pt x="10" y="5"/>
                  </a:cubicBezTo>
                  <a:cubicBezTo>
                    <a:pt x="9" y="5"/>
                    <a:pt x="9" y="5"/>
                    <a:pt x="9" y="5"/>
                  </a:cubicBezTo>
                  <a:lnTo>
                    <a:pt x="5"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5" name="Freeform 43"/>
            <p:cNvSpPr/>
            <p:nvPr/>
          </p:nvSpPr>
          <p:spPr bwMode="auto">
            <a:xfrm>
              <a:off x="4740275" y="4953000"/>
              <a:ext cx="100013" cy="114300"/>
            </a:xfrm>
            <a:custGeom>
              <a:avLst/>
              <a:gdLst>
                <a:gd name="T0" fmla="*/ 12 w 18"/>
                <a:gd name="T1" fmla="*/ 3 h 20"/>
                <a:gd name="T2" fmla="*/ 11 w 18"/>
                <a:gd name="T3" fmla="*/ 0 h 20"/>
                <a:gd name="T4" fmla="*/ 11 w 18"/>
                <a:gd name="T5" fmla="*/ 0 h 20"/>
                <a:gd name="T6" fmla="*/ 15 w 18"/>
                <a:gd name="T7" fmla="*/ 2 h 20"/>
                <a:gd name="T8" fmla="*/ 18 w 18"/>
                <a:gd name="T9" fmla="*/ 5 h 20"/>
                <a:gd name="T10" fmla="*/ 18 w 18"/>
                <a:gd name="T11" fmla="*/ 5 h 20"/>
                <a:gd name="T12" fmla="*/ 15 w 18"/>
                <a:gd name="T13" fmla="*/ 5 h 20"/>
                <a:gd name="T14" fmla="*/ 6 w 18"/>
                <a:gd name="T15" fmla="*/ 17 h 20"/>
                <a:gd name="T16" fmla="*/ 7 w 18"/>
                <a:gd name="T17" fmla="*/ 20 h 20"/>
                <a:gd name="T18" fmla="*/ 7 w 18"/>
                <a:gd name="T19" fmla="*/ 20 h 20"/>
                <a:gd name="T20" fmla="*/ 3 w 18"/>
                <a:gd name="T21" fmla="*/ 18 h 20"/>
                <a:gd name="T22" fmla="*/ 0 w 18"/>
                <a:gd name="T23" fmla="*/ 16 h 20"/>
                <a:gd name="T24" fmla="*/ 0 w 18"/>
                <a:gd name="T25" fmla="*/ 15 h 20"/>
                <a:gd name="T26" fmla="*/ 3 w 18"/>
                <a:gd name="T27" fmla="*/ 15 h 20"/>
                <a:gd name="T28" fmla="*/ 12 w 18"/>
                <a:gd name="T29" fmla="*/ 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20">
                  <a:moveTo>
                    <a:pt x="12" y="3"/>
                  </a:moveTo>
                  <a:cubicBezTo>
                    <a:pt x="13" y="1"/>
                    <a:pt x="10" y="1"/>
                    <a:pt x="11" y="0"/>
                  </a:cubicBezTo>
                  <a:cubicBezTo>
                    <a:pt x="11" y="0"/>
                    <a:pt x="11" y="0"/>
                    <a:pt x="11" y="0"/>
                  </a:cubicBezTo>
                  <a:cubicBezTo>
                    <a:pt x="13" y="1"/>
                    <a:pt x="14" y="2"/>
                    <a:pt x="15" y="2"/>
                  </a:cubicBezTo>
                  <a:cubicBezTo>
                    <a:pt x="15" y="3"/>
                    <a:pt x="17" y="4"/>
                    <a:pt x="18" y="5"/>
                  </a:cubicBezTo>
                  <a:cubicBezTo>
                    <a:pt x="18" y="5"/>
                    <a:pt x="18" y="5"/>
                    <a:pt x="18" y="5"/>
                  </a:cubicBezTo>
                  <a:cubicBezTo>
                    <a:pt x="18" y="6"/>
                    <a:pt x="16" y="4"/>
                    <a:pt x="15" y="5"/>
                  </a:cubicBezTo>
                  <a:cubicBezTo>
                    <a:pt x="6" y="17"/>
                    <a:pt x="6" y="17"/>
                    <a:pt x="6" y="17"/>
                  </a:cubicBezTo>
                  <a:cubicBezTo>
                    <a:pt x="5" y="19"/>
                    <a:pt x="8" y="20"/>
                    <a:pt x="7" y="20"/>
                  </a:cubicBezTo>
                  <a:cubicBezTo>
                    <a:pt x="7" y="20"/>
                    <a:pt x="7" y="20"/>
                    <a:pt x="7" y="20"/>
                  </a:cubicBezTo>
                  <a:cubicBezTo>
                    <a:pt x="5" y="19"/>
                    <a:pt x="4" y="19"/>
                    <a:pt x="3" y="18"/>
                  </a:cubicBezTo>
                  <a:cubicBezTo>
                    <a:pt x="3" y="17"/>
                    <a:pt x="1" y="17"/>
                    <a:pt x="0" y="16"/>
                  </a:cubicBezTo>
                  <a:cubicBezTo>
                    <a:pt x="0" y="15"/>
                    <a:pt x="0" y="15"/>
                    <a:pt x="0" y="15"/>
                  </a:cubicBezTo>
                  <a:cubicBezTo>
                    <a:pt x="0" y="14"/>
                    <a:pt x="2" y="17"/>
                    <a:pt x="3" y="15"/>
                  </a:cubicBezTo>
                  <a:lnTo>
                    <a:pt x="12"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Freeform 44"/>
            <p:cNvSpPr/>
            <p:nvPr/>
          </p:nvSpPr>
          <p:spPr bwMode="auto">
            <a:xfrm>
              <a:off x="4824413" y="4999038"/>
              <a:ext cx="117475" cy="119063"/>
            </a:xfrm>
            <a:custGeom>
              <a:avLst/>
              <a:gdLst>
                <a:gd name="T0" fmla="*/ 14 w 21"/>
                <a:gd name="T1" fmla="*/ 14 h 21"/>
                <a:gd name="T2" fmla="*/ 16 w 21"/>
                <a:gd name="T3" fmla="*/ 13 h 21"/>
                <a:gd name="T4" fmla="*/ 16 w 21"/>
                <a:gd name="T5" fmla="*/ 10 h 21"/>
                <a:gd name="T6" fmla="*/ 17 w 21"/>
                <a:gd name="T7" fmla="*/ 10 h 21"/>
                <a:gd name="T8" fmla="*/ 19 w 21"/>
                <a:gd name="T9" fmla="*/ 12 h 21"/>
                <a:gd name="T10" fmla="*/ 21 w 21"/>
                <a:gd name="T11" fmla="*/ 14 h 21"/>
                <a:gd name="T12" fmla="*/ 21 w 21"/>
                <a:gd name="T13" fmla="*/ 15 h 21"/>
                <a:gd name="T14" fmla="*/ 16 w 21"/>
                <a:gd name="T15" fmla="*/ 15 h 21"/>
                <a:gd name="T16" fmla="*/ 1 w 21"/>
                <a:gd name="T17" fmla="*/ 20 h 21"/>
                <a:gd name="T18" fmla="*/ 0 w 21"/>
                <a:gd name="T19" fmla="*/ 21 h 21"/>
                <a:gd name="T20" fmla="*/ 0 w 21"/>
                <a:gd name="T21" fmla="*/ 20 h 21"/>
                <a:gd name="T22" fmla="*/ 7 w 21"/>
                <a:gd name="T23" fmla="*/ 4 h 21"/>
                <a:gd name="T24" fmla="*/ 7 w 21"/>
                <a:gd name="T25" fmla="*/ 0 h 21"/>
                <a:gd name="T26" fmla="*/ 8 w 21"/>
                <a:gd name="T27" fmla="*/ 0 h 21"/>
                <a:gd name="T28" fmla="*/ 10 w 21"/>
                <a:gd name="T29" fmla="*/ 3 h 21"/>
                <a:gd name="T30" fmla="*/ 13 w 21"/>
                <a:gd name="T31" fmla="*/ 6 h 21"/>
                <a:gd name="T32" fmla="*/ 13 w 21"/>
                <a:gd name="T33" fmla="*/ 7 h 21"/>
                <a:gd name="T34" fmla="*/ 11 w 21"/>
                <a:gd name="T35" fmla="*/ 6 h 21"/>
                <a:gd name="T36" fmla="*/ 10 w 21"/>
                <a:gd name="T37" fmla="*/ 7 h 21"/>
                <a:gd name="T38" fmla="*/ 5 w 21"/>
                <a:gd name="T39" fmla="*/ 18 h 21"/>
                <a:gd name="T40" fmla="*/ 14 w 21"/>
                <a:gd name="T4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 h="21">
                  <a:moveTo>
                    <a:pt x="14" y="14"/>
                  </a:moveTo>
                  <a:cubicBezTo>
                    <a:pt x="15" y="14"/>
                    <a:pt x="15" y="14"/>
                    <a:pt x="16" y="13"/>
                  </a:cubicBezTo>
                  <a:cubicBezTo>
                    <a:pt x="18" y="12"/>
                    <a:pt x="16" y="10"/>
                    <a:pt x="16" y="10"/>
                  </a:cubicBezTo>
                  <a:cubicBezTo>
                    <a:pt x="16" y="10"/>
                    <a:pt x="17" y="10"/>
                    <a:pt x="17" y="10"/>
                  </a:cubicBezTo>
                  <a:cubicBezTo>
                    <a:pt x="17" y="11"/>
                    <a:pt x="18" y="11"/>
                    <a:pt x="19" y="12"/>
                  </a:cubicBezTo>
                  <a:cubicBezTo>
                    <a:pt x="19" y="13"/>
                    <a:pt x="20" y="13"/>
                    <a:pt x="21" y="14"/>
                  </a:cubicBezTo>
                  <a:cubicBezTo>
                    <a:pt x="21" y="14"/>
                    <a:pt x="21" y="15"/>
                    <a:pt x="21" y="15"/>
                  </a:cubicBezTo>
                  <a:cubicBezTo>
                    <a:pt x="20" y="15"/>
                    <a:pt x="20" y="13"/>
                    <a:pt x="16" y="15"/>
                  </a:cubicBezTo>
                  <a:cubicBezTo>
                    <a:pt x="1" y="20"/>
                    <a:pt x="1" y="20"/>
                    <a:pt x="1" y="20"/>
                  </a:cubicBezTo>
                  <a:cubicBezTo>
                    <a:pt x="0" y="21"/>
                    <a:pt x="0" y="21"/>
                    <a:pt x="0" y="21"/>
                  </a:cubicBezTo>
                  <a:cubicBezTo>
                    <a:pt x="0" y="20"/>
                    <a:pt x="0" y="20"/>
                    <a:pt x="0" y="20"/>
                  </a:cubicBezTo>
                  <a:cubicBezTo>
                    <a:pt x="7" y="4"/>
                    <a:pt x="7" y="4"/>
                    <a:pt x="7" y="4"/>
                  </a:cubicBezTo>
                  <a:cubicBezTo>
                    <a:pt x="8" y="1"/>
                    <a:pt x="7" y="1"/>
                    <a:pt x="7" y="0"/>
                  </a:cubicBezTo>
                  <a:cubicBezTo>
                    <a:pt x="7" y="0"/>
                    <a:pt x="7" y="0"/>
                    <a:pt x="8" y="0"/>
                  </a:cubicBezTo>
                  <a:cubicBezTo>
                    <a:pt x="9" y="1"/>
                    <a:pt x="9" y="2"/>
                    <a:pt x="10" y="3"/>
                  </a:cubicBezTo>
                  <a:cubicBezTo>
                    <a:pt x="11" y="4"/>
                    <a:pt x="12" y="5"/>
                    <a:pt x="13" y="6"/>
                  </a:cubicBezTo>
                  <a:cubicBezTo>
                    <a:pt x="13" y="6"/>
                    <a:pt x="13" y="6"/>
                    <a:pt x="13" y="7"/>
                  </a:cubicBezTo>
                  <a:cubicBezTo>
                    <a:pt x="13" y="7"/>
                    <a:pt x="12" y="5"/>
                    <a:pt x="11" y="6"/>
                  </a:cubicBezTo>
                  <a:cubicBezTo>
                    <a:pt x="11" y="6"/>
                    <a:pt x="10" y="7"/>
                    <a:pt x="10" y="7"/>
                  </a:cubicBezTo>
                  <a:cubicBezTo>
                    <a:pt x="5" y="18"/>
                    <a:pt x="5" y="18"/>
                    <a:pt x="5" y="18"/>
                  </a:cubicBezTo>
                  <a:lnTo>
                    <a:pt x="14" y="14"/>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7" name="Freeform 45"/>
            <p:cNvSpPr/>
            <p:nvPr/>
          </p:nvSpPr>
          <p:spPr bwMode="auto">
            <a:xfrm>
              <a:off x="4862513" y="5094288"/>
              <a:ext cx="134938" cy="136525"/>
            </a:xfrm>
            <a:custGeom>
              <a:avLst/>
              <a:gdLst>
                <a:gd name="T0" fmla="*/ 15 w 24"/>
                <a:gd name="T1" fmla="*/ 4 h 24"/>
                <a:gd name="T2" fmla="*/ 16 w 24"/>
                <a:gd name="T3" fmla="*/ 1 h 24"/>
                <a:gd name="T4" fmla="*/ 16 w 24"/>
                <a:gd name="T5" fmla="*/ 1 h 24"/>
                <a:gd name="T6" fmla="*/ 18 w 24"/>
                <a:gd name="T7" fmla="*/ 4 h 24"/>
                <a:gd name="T8" fmla="*/ 24 w 24"/>
                <a:gd name="T9" fmla="*/ 13 h 24"/>
                <a:gd name="T10" fmla="*/ 20 w 24"/>
                <a:gd name="T11" fmla="*/ 17 h 24"/>
                <a:gd name="T12" fmla="*/ 19 w 24"/>
                <a:gd name="T13" fmla="*/ 17 h 24"/>
                <a:gd name="T14" fmla="*/ 19 w 24"/>
                <a:gd name="T15" fmla="*/ 17 h 24"/>
                <a:gd name="T16" fmla="*/ 20 w 24"/>
                <a:gd name="T17" fmla="*/ 15 h 24"/>
                <a:gd name="T18" fmla="*/ 20 w 24"/>
                <a:gd name="T19" fmla="*/ 8 h 24"/>
                <a:gd name="T20" fmla="*/ 19 w 24"/>
                <a:gd name="T21" fmla="*/ 6 h 24"/>
                <a:gd name="T22" fmla="*/ 12 w 24"/>
                <a:gd name="T23" fmla="*/ 10 h 24"/>
                <a:gd name="T24" fmla="*/ 12 w 24"/>
                <a:gd name="T25" fmla="*/ 11 h 24"/>
                <a:gd name="T26" fmla="*/ 17 w 24"/>
                <a:gd name="T27" fmla="*/ 12 h 24"/>
                <a:gd name="T28" fmla="*/ 18 w 24"/>
                <a:gd name="T29" fmla="*/ 12 h 24"/>
                <a:gd name="T30" fmla="*/ 18 w 24"/>
                <a:gd name="T31" fmla="*/ 13 h 24"/>
                <a:gd name="T32" fmla="*/ 10 w 24"/>
                <a:gd name="T33" fmla="*/ 17 h 24"/>
                <a:gd name="T34" fmla="*/ 10 w 24"/>
                <a:gd name="T35" fmla="*/ 17 h 24"/>
                <a:gd name="T36" fmla="*/ 10 w 24"/>
                <a:gd name="T37" fmla="*/ 16 h 24"/>
                <a:gd name="T38" fmla="*/ 12 w 24"/>
                <a:gd name="T39" fmla="*/ 11 h 24"/>
                <a:gd name="T40" fmla="*/ 11 w 24"/>
                <a:gd name="T41" fmla="*/ 11 h 24"/>
                <a:gd name="T42" fmla="*/ 5 w 24"/>
                <a:gd name="T43" fmla="*/ 14 h 24"/>
                <a:gd name="T44" fmla="*/ 5 w 24"/>
                <a:gd name="T45" fmla="*/ 17 h 24"/>
                <a:gd name="T46" fmla="*/ 14 w 24"/>
                <a:gd name="T47" fmla="*/ 21 h 24"/>
                <a:gd name="T48" fmla="*/ 15 w 24"/>
                <a:gd name="T49" fmla="*/ 21 h 24"/>
                <a:gd name="T50" fmla="*/ 15 w 24"/>
                <a:gd name="T51" fmla="*/ 21 h 24"/>
                <a:gd name="T52" fmla="*/ 14 w 24"/>
                <a:gd name="T53" fmla="*/ 22 h 24"/>
                <a:gd name="T54" fmla="*/ 8 w 24"/>
                <a:gd name="T55" fmla="*/ 24 h 24"/>
                <a:gd name="T56" fmla="*/ 2 w 24"/>
                <a:gd name="T57" fmla="*/ 14 h 24"/>
                <a:gd name="T58" fmla="*/ 0 w 24"/>
                <a:gd name="T59" fmla="*/ 11 h 24"/>
                <a:gd name="T60" fmla="*/ 0 w 24"/>
                <a:gd name="T61" fmla="*/ 10 h 24"/>
                <a:gd name="T62" fmla="*/ 3 w 24"/>
                <a:gd name="T63" fmla="*/ 11 h 24"/>
                <a:gd name="T64" fmla="*/ 15 w 24"/>
                <a:gd name="T65"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15" y="4"/>
                  </a:moveTo>
                  <a:cubicBezTo>
                    <a:pt x="17" y="2"/>
                    <a:pt x="15" y="1"/>
                    <a:pt x="16" y="1"/>
                  </a:cubicBezTo>
                  <a:cubicBezTo>
                    <a:pt x="16" y="0"/>
                    <a:pt x="16" y="0"/>
                    <a:pt x="16" y="1"/>
                  </a:cubicBezTo>
                  <a:cubicBezTo>
                    <a:pt x="17" y="2"/>
                    <a:pt x="18" y="3"/>
                    <a:pt x="18" y="4"/>
                  </a:cubicBezTo>
                  <a:cubicBezTo>
                    <a:pt x="20" y="7"/>
                    <a:pt x="22" y="10"/>
                    <a:pt x="24" y="13"/>
                  </a:cubicBezTo>
                  <a:cubicBezTo>
                    <a:pt x="20" y="17"/>
                    <a:pt x="20" y="17"/>
                    <a:pt x="20" y="17"/>
                  </a:cubicBezTo>
                  <a:cubicBezTo>
                    <a:pt x="19" y="17"/>
                    <a:pt x="19" y="17"/>
                    <a:pt x="19" y="17"/>
                  </a:cubicBezTo>
                  <a:cubicBezTo>
                    <a:pt x="19" y="17"/>
                    <a:pt x="19" y="17"/>
                    <a:pt x="19" y="17"/>
                  </a:cubicBezTo>
                  <a:cubicBezTo>
                    <a:pt x="19" y="17"/>
                    <a:pt x="19" y="17"/>
                    <a:pt x="20" y="15"/>
                  </a:cubicBezTo>
                  <a:cubicBezTo>
                    <a:pt x="21" y="13"/>
                    <a:pt x="21" y="11"/>
                    <a:pt x="20" y="8"/>
                  </a:cubicBezTo>
                  <a:cubicBezTo>
                    <a:pt x="19" y="6"/>
                    <a:pt x="19" y="6"/>
                    <a:pt x="19" y="6"/>
                  </a:cubicBezTo>
                  <a:cubicBezTo>
                    <a:pt x="12" y="10"/>
                    <a:pt x="12" y="10"/>
                    <a:pt x="12" y="10"/>
                  </a:cubicBezTo>
                  <a:cubicBezTo>
                    <a:pt x="12" y="11"/>
                    <a:pt x="12" y="11"/>
                    <a:pt x="12" y="11"/>
                  </a:cubicBezTo>
                  <a:cubicBezTo>
                    <a:pt x="13" y="13"/>
                    <a:pt x="15" y="13"/>
                    <a:pt x="17" y="12"/>
                  </a:cubicBezTo>
                  <a:cubicBezTo>
                    <a:pt x="18" y="12"/>
                    <a:pt x="18" y="12"/>
                    <a:pt x="18" y="12"/>
                  </a:cubicBezTo>
                  <a:cubicBezTo>
                    <a:pt x="18" y="12"/>
                    <a:pt x="18" y="13"/>
                    <a:pt x="18" y="13"/>
                  </a:cubicBezTo>
                  <a:cubicBezTo>
                    <a:pt x="10" y="17"/>
                    <a:pt x="10" y="17"/>
                    <a:pt x="10" y="17"/>
                  </a:cubicBezTo>
                  <a:cubicBezTo>
                    <a:pt x="10" y="17"/>
                    <a:pt x="10" y="17"/>
                    <a:pt x="10" y="17"/>
                  </a:cubicBezTo>
                  <a:cubicBezTo>
                    <a:pt x="10" y="17"/>
                    <a:pt x="10" y="17"/>
                    <a:pt x="10" y="16"/>
                  </a:cubicBezTo>
                  <a:cubicBezTo>
                    <a:pt x="12" y="15"/>
                    <a:pt x="13" y="13"/>
                    <a:pt x="12" y="11"/>
                  </a:cubicBezTo>
                  <a:cubicBezTo>
                    <a:pt x="11" y="11"/>
                    <a:pt x="11" y="11"/>
                    <a:pt x="11" y="11"/>
                  </a:cubicBezTo>
                  <a:cubicBezTo>
                    <a:pt x="5" y="14"/>
                    <a:pt x="5" y="14"/>
                    <a:pt x="5" y="14"/>
                  </a:cubicBezTo>
                  <a:cubicBezTo>
                    <a:pt x="4" y="15"/>
                    <a:pt x="4" y="16"/>
                    <a:pt x="5" y="17"/>
                  </a:cubicBezTo>
                  <a:cubicBezTo>
                    <a:pt x="7" y="21"/>
                    <a:pt x="11" y="22"/>
                    <a:pt x="14" y="21"/>
                  </a:cubicBezTo>
                  <a:cubicBezTo>
                    <a:pt x="14" y="21"/>
                    <a:pt x="15" y="21"/>
                    <a:pt x="15" y="21"/>
                  </a:cubicBezTo>
                  <a:cubicBezTo>
                    <a:pt x="15" y="21"/>
                    <a:pt x="15" y="21"/>
                    <a:pt x="15" y="21"/>
                  </a:cubicBezTo>
                  <a:cubicBezTo>
                    <a:pt x="14" y="21"/>
                    <a:pt x="14" y="22"/>
                    <a:pt x="14" y="22"/>
                  </a:cubicBezTo>
                  <a:cubicBezTo>
                    <a:pt x="8" y="24"/>
                    <a:pt x="8" y="24"/>
                    <a:pt x="8" y="24"/>
                  </a:cubicBezTo>
                  <a:cubicBezTo>
                    <a:pt x="6" y="21"/>
                    <a:pt x="4" y="17"/>
                    <a:pt x="2" y="14"/>
                  </a:cubicBezTo>
                  <a:cubicBezTo>
                    <a:pt x="1" y="13"/>
                    <a:pt x="1" y="12"/>
                    <a:pt x="0" y="11"/>
                  </a:cubicBezTo>
                  <a:cubicBezTo>
                    <a:pt x="0" y="10"/>
                    <a:pt x="0" y="10"/>
                    <a:pt x="0" y="10"/>
                  </a:cubicBezTo>
                  <a:cubicBezTo>
                    <a:pt x="1" y="10"/>
                    <a:pt x="1" y="12"/>
                    <a:pt x="3" y="11"/>
                  </a:cubicBezTo>
                  <a:lnTo>
                    <a:pt x="15" y="4"/>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8" name="Freeform 46"/>
            <p:cNvSpPr>
              <a:spLocks noEditPoints="1"/>
            </p:cNvSpPr>
            <p:nvPr/>
          </p:nvSpPr>
          <p:spPr bwMode="auto">
            <a:xfrm>
              <a:off x="4919663" y="5219700"/>
              <a:ext cx="122238" cy="141288"/>
            </a:xfrm>
            <a:custGeom>
              <a:avLst/>
              <a:gdLst>
                <a:gd name="T0" fmla="*/ 9 w 22"/>
                <a:gd name="T1" fmla="*/ 13 h 25"/>
                <a:gd name="T2" fmla="*/ 10 w 22"/>
                <a:gd name="T3" fmla="*/ 9 h 25"/>
                <a:gd name="T4" fmla="*/ 4 w 22"/>
                <a:gd name="T5" fmla="*/ 11 h 25"/>
                <a:gd name="T6" fmla="*/ 3 w 22"/>
                <a:gd name="T7" fmla="*/ 14 h 25"/>
                <a:gd name="T8" fmla="*/ 2 w 22"/>
                <a:gd name="T9" fmla="*/ 14 h 25"/>
                <a:gd name="T10" fmla="*/ 1 w 22"/>
                <a:gd name="T11" fmla="*/ 10 h 25"/>
                <a:gd name="T12" fmla="*/ 0 w 22"/>
                <a:gd name="T13" fmla="*/ 6 h 25"/>
                <a:gd name="T14" fmla="*/ 0 w 22"/>
                <a:gd name="T15" fmla="*/ 6 h 25"/>
                <a:gd name="T16" fmla="*/ 3 w 22"/>
                <a:gd name="T17" fmla="*/ 7 h 25"/>
                <a:gd name="T18" fmla="*/ 17 w 22"/>
                <a:gd name="T19" fmla="*/ 3 h 25"/>
                <a:gd name="T20" fmla="*/ 18 w 22"/>
                <a:gd name="T21" fmla="*/ 0 h 25"/>
                <a:gd name="T22" fmla="*/ 18 w 22"/>
                <a:gd name="T23" fmla="*/ 1 h 25"/>
                <a:gd name="T24" fmla="*/ 19 w 22"/>
                <a:gd name="T25" fmla="*/ 5 h 25"/>
                <a:gd name="T26" fmla="*/ 21 w 22"/>
                <a:gd name="T27" fmla="*/ 9 h 25"/>
                <a:gd name="T28" fmla="*/ 18 w 22"/>
                <a:gd name="T29" fmla="*/ 17 h 25"/>
                <a:gd name="T30" fmla="*/ 11 w 22"/>
                <a:gd name="T31" fmla="*/ 12 h 25"/>
                <a:gd name="T32" fmla="*/ 11 w 22"/>
                <a:gd name="T33" fmla="*/ 12 h 25"/>
                <a:gd name="T34" fmla="*/ 10 w 22"/>
                <a:gd name="T35" fmla="*/ 18 h 25"/>
                <a:gd name="T36" fmla="*/ 7 w 22"/>
                <a:gd name="T37" fmla="*/ 21 h 25"/>
                <a:gd name="T38" fmla="*/ 6 w 22"/>
                <a:gd name="T39" fmla="*/ 25 h 25"/>
                <a:gd name="T40" fmla="*/ 5 w 22"/>
                <a:gd name="T41" fmla="*/ 25 h 25"/>
                <a:gd name="T42" fmla="*/ 4 w 22"/>
                <a:gd name="T43" fmla="*/ 22 h 25"/>
                <a:gd name="T44" fmla="*/ 4 w 22"/>
                <a:gd name="T45" fmla="*/ 19 h 25"/>
                <a:gd name="T46" fmla="*/ 9 w 22"/>
                <a:gd name="T47" fmla="*/ 13 h 25"/>
                <a:gd name="T48" fmla="*/ 11 w 22"/>
                <a:gd name="T49" fmla="*/ 9 h 25"/>
                <a:gd name="T50" fmla="*/ 11 w 22"/>
                <a:gd name="T51" fmla="*/ 10 h 25"/>
                <a:gd name="T52" fmla="*/ 17 w 22"/>
                <a:gd name="T53" fmla="*/ 13 h 25"/>
                <a:gd name="T54" fmla="*/ 20 w 22"/>
                <a:gd name="T55" fmla="*/ 8 h 25"/>
                <a:gd name="T56" fmla="*/ 19 w 22"/>
                <a:gd name="T57" fmla="*/ 7 h 25"/>
                <a:gd name="T58" fmla="*/ 11 w 22"/>
                <a:gd name="T59" fmla="*/ 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 h="25">
                  <a:moveTo>
                    <a:pt x="9" y="13"/>
                  </a:moveTo>
                  <a:cubicBezTo>
                    <a:pt x="11" y="12"/>
                    <a:pt x="11" y="11"/>
                    <a:pt x="10" y="9"/>
                  </a:cubicBezTo>
                  <a:cubicBezTo>
                    <a:pt x="4" y="11"/>
                    <a:pt x="4" y="11"/>
                    <a:pt x="4" y="11"/>
                  </a:cubicBezTo>
                  <a:cubicBezTo>
                    <a:pt x="2" y="12"/>
                    <a:pt x="3" y="14"/>
                    <a:pt x="3" y="14"/>
                  </a:cubicBezTo>
                  <a:cubicBezTo>
                    <a:pt x="2" y="14"/>
                    <a:pt x="2" y="14"/>
                    <a:pt x="2" y="14"/>
                  </a:cubicBezTo>
                  <a:cubicBezTo>
                    <a:pt x="2" y="12"/>
                    <a:pt x="1" y="11"/>
                    <a:pt x="1" y="10"/>
                  </a:cubicBezTo>
                  <a:cubicBezTo>
                    <a:pt x="1" y="9"/>
                    <a:pt x="0" y="8"/>
                    <a:pt x="0" y="6"/>
                  </a:cubicBezTo>
                  <a:cubicBezTo>
                    <a:pt x="0" y="6"/>
                    <a:pt x="0" y="6"/>
                    <a:pt x="0" y="6"/>
                  </a:cubicBezTo>
                  <a:cubicBezTo>
                    <a:pt x="1" y="5"/>
                    <a:pt x="0" y="8"/>
                    <a:pt x="3" y="7"/>
                  </a:cubicBezTo>
                  <a:cubicBezTo>
                    <a:pt x="17" y="3"/>
                    <a:pt x="17" y="3"/>
                    <a:pt x="17" y="3"/>
                  </a:cubicBezTo>
                  <a:cubicBezTo>
                    <a:pt x="19" y="3"/>
                    <a:pt x="17" y="1"/>
                    <a:pt x="18" y="0"/>
                  </a:cubicBezTo>
                  <a:cubicBezTo>
                    <a:pt x="18" y="0"/>
                    <a:pt x="18" y="0"/>
                    <a:pt x="18" y="1"/>
                  </a:cubicBezTo>
                  <a:cubicBezTo>
                    <a:pt x="19" y="2"/>
                    <a:pt x="19" y="4"/>
                    <a:pt x="19" y="5"/>
                  </a:cubicBezTo>
                  <a:cubicBezTo>
                    <a:pt x="20" y="6"/>
                    <a:pt x="20" y="7"/>
                    <a:pt x="21" y="9"/>
                  </a:cubicBezTo>
                  <a:cubicBezTo>
                    <a:pt x="22" y="13"/>
                    <a:pt x="21" y="17"/>
                    <a:pt x="18" y="17"/>
                  </a:cubicBezTo>
                  <a:cubicBezTo>
                    <a:pt x="16" y="18"/>
                    <a:pt x="13" y="17"/>
                    <a:pt x="11" y="12"/>
                  </a:cubicBezTo>
                  <a:cubicBezTo>
                    <a:pt x="11" y="12"/>
                    <a:pt x="11" y="12"/>
                    <a:pt x="11" y="12"/>
                  </a:cubicBezTo>
                  <a:cubicBezTo>
                    <a:pt x="12" y="15"/>
                    <a:pt x="12" y="16"/>
                    <a:pt x="10" y="18"/>
                  </a:cubicBezTo>
                  <a:cubicBezTo>
                    <a:pt x="7" y="21"/>
                    <a:pt x="7" y="21"/>
                    <a:pt x="7" y="21"/>
                  </a:cubicBezTo>
                  <a:cubicBezTo>
                    <a:pt x="5" y="23"/>
                    <a:pt x="6" y="24"/>
                    <a:pt x="6" y="25"/>
                  </a:cubicBezTo>
                  <a:cubicBezTo>
                    <a:pt x="6" y="25"/>
                    <a:pt x="5" y="25"/>
                    <a:pt x="5" y="25"/>
                  </a:cubicBezTo>
                  <a:cubicBezTo>
                    <a:pt x="5" y="24"/>
                    <a:pt x="5" y="23"/>
                    <a:pt x="4" y="22"/>
                  </a:cubicBezTo>
                  <a:cubicBezTo>
                    <a:pt x="4" y="19"/>
                    <a:pt x="4" y="19"/>
                    <a:pt x="4" y="19"/>
                  </a:cubicBezTo>
                  <a:lnTo>
                    <a:pt x="9" y="13"/>
                  </a:lnTo>
                  <a:close/>
                  <a:moveTo>
                    <a:pt x="11" y="9"/>
                  </a:moveTo>
                  <a:cubicBezTo>
                    <a:pt x="11" y="10"/>
                    <a:pt x="11" y="10"/>
                    <a:pt x="11" y="10"/>
                  </a:cubicBezTo>
                  <a:cubicBezTo>
                    <a:pt x="12" y="13"/>
                    <a:pt x="14" y="14"/>
                    <a:pt x="17" y="13"/>
                  </a:cubicBezTo>
                  <a:cubicBezTo>
                    <a:pt x="20" y="13"/>
                    <a:pt x="21" y="11"/>
                    <a:pt x="20" y="8"/>
                  </a:cubicBezTo>
                  <a:cubicBezTo>
                    <a:pt x="19" y="7"/>
                    <a:pt x="19" y="7"/>
                    <a:pt x="19" y="7"/>
                  </a:cubicBezTo>
                  <a:lnTo>
                    <a:pt x="11" y="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9" name="Freeform 47"/>
            <p:cNvSpPr/>
            <p:nvPr/>
          </p:nvSpPr>
          <p:spPr bwMode="auto">
            <a:xfrm>
              <a:off x="4946650" y="5367338"/>
              <a:ext cx="112713" cy="85725"/>
            </a:xfrm>
            <a:custGeom>
              <a:avLst/>
              <a:gdLst>
                <a:gd name="T0" fmla="*/ 8 w 20"/>
                <a:gd name="T1" fmla="*/ 0 h 15"/>
                <a:gd name="T2" fmla="*/ 9 w 20"/>
                <a:gd name="T3" fmla="*/ 0 h 15"/>
                <a:gd name="T4" fmla="*/ 8 w 20"/>
                <a:gd name="T5" fmla="*/ 1 h 15"/>
                <a:gd name="T6" fmla="*/ 1 w 20"/>
                <a:gd name="T7" fmla="*/ 7 h 15"/>
                <a:gd name="T8" fmla="*/ 5 w 20"/>
                <a:gd name="T9" fmla="*/ 12 h 15"/>
                <a:gd name="T10" fmla="*/ 14 w 20"/>
                <a:gd name="T11" fmla="*/ 0 h 15"/>
                <a:gd name="T12" fmla="*/ 20 w 20"/>
                <a:gd name="T13" fmla="*/ 6 h 15"/>
                <a:gd name="T14" fmla="*/ 19 w 20"/>
                <a:gd name="T15" fmla="*/ 11 h 15"/>
                <a:gd name="T16" fmla="*/ 20 w 20"/>
                <a:gd name="T17" fmla="*/ 12 h 15"/>
                <a:gd name="T18" fmla="*/ 19 w 20"/>
                <a:gd name="T19" fmla="*/ 12 h 15"/>
                <a:gd name="T20" fmla="*/ 14 w 20"/>
                <a:gd name="T21" fmla="*/ 13 h 15"/>
                <a:gd name="T22" fmla="*/ 13 w 20"/>
                <a:gd name="T23" fmla="*/ 13 h 15"/>
                <a:gd name="T24" fmla="*/ 13 w 20"/>
                <a:gd name="T25" fmla="*/ 13 h 15"/>
                <a:gd name="T26" fmla="*/ 15 w 20"/>
                <a:gd name="T27" fmla="*/ 12 h 15"/>
                <a:gd name="T28" fmla="*/ 19 w 20"/>
                <a:gd name="T29" fmla="*/ 6 h 15"/>
                <a:gd name="T30" fmla="*/ 16 w 20"/>
                <a:gd name="T31" fmla="*/ 3 h 15"/>
                <a:gd name="T32" fmla="*/ 7 w 20"/>
                <a:gd name="T33" fmla="*/ 14 h 15"/>
                <a:gd name="T34" fmla="*/ 0 w 20"/>
                <a:gd name="T35" fmla="*/ 7 h 15"/>
                <a:gd name="T36" fmla="*/ 1 w 20"/>
                <a:gd name="T37" fmla="*/ 2 h 15"/>
                <a:gd name="T38" fmla="*/ 0 w 20"/>
                <a:gd name="T39" fmla="*/ 1 h 15"/>
                <a:gd name="T40" fmla="*/ 0 w 20"/>
                <a:gd name="T41" fmla="*/ 1 h 15"/>
                <a:gd name="T42" fmla="*/ 8 w 20"/>
                <a:gd name="T4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15">
                  <a:moveTo>
                    <a:pt x="8" y="0"/>
                  </a:moveTo>
                  <a:cubicBezTo>
                    <a:pt x="9" y="0"/>
                    <a:pt x="9" y="0"/>
                    <a:pt x="9" y="0"/>
                  </a:cubicBezTo>
                  <a:cubicBezTo>
                    <a:pt x="9" y="1"/>
                    <a:pt x="8" y="1"/>
                    <a:pt x="8" y="1"/>
                  </a:cubicBezTo>
                  <a:cubicBezTo>
                    <a:pt x="4" y="2"/>
                    <a:pt x="1" y="3"/>
                    <a:pt x="1" y="7"/>
                  </a:cubicBezTo>
                  <a:cubicBezTo>
                    <a:pt x="1" y="10"/>
                    <a:pt x="2" y="12"/>
                    <a:pt x="5" y="12"/>
                  </a:cubicBezTo>
                  <a:cubicBezTo>
                    <a:pt x="10" y="11"/>
                    <a:pt x="7" y="0"/>
                    <a:pt x="14" y="0"/>
                  </a:cubicBezTo>
                  <a:cubicBezTo>
                    <a:pt x="17" y="0"/>
                    <a:pt x="20" y="3"/>
                    <a:pt x="20" y="6"/>
                  </a:cubicBezTo>
                  <a:cubicBezTo>
                    <a:pt x="20" y="9"/>
                    <a:pt x="19" y="10"/>
                    <a:pt x="19" y="11"/>
                  </a:cubicBezTo>
                  <a:cubicBezTo>
                    <a:pt x="19" y="12"/>
                    <a:pt x="20" y="11"/>
                    <a:pt x="20" y="12"/>
                  </a:cubicBezTo>
                  <a:cubicBezTo>
                    <a:pt x="20" y="12"/>
                    <a:pt x="20" y="12"/>
                    <a:pt x="19" y="12"/>
                  </a:cubicBezTo>
                  <a:cubicBezTo>
                    <a:pt x="14" y="13"/>
                    <a:pt x="14" y="13"/>
                    <a:pt x="14" y="13"/>
                  </a:cubicBezTo>
                  <a:cubicBezTo>
                    <a:pt x="14" y="13"/>
                    <a:pt x="13" y="13"/>
                    <a:pt x="13" y="13"/>
                  </a:cubicBezTo>
                  <a:cubicBezTo>
                    <a:pt x="13" y="13"/>
                    <a:pt x="13" y="13"/>
                    <a:pt x="13" y="13"/>
                  </a:cubicBezTo>
                  <a:cubicBezTo>
                    <a:pt x="13" y="13"/>
                    <a:pt x="14" y="13"/>
                    <a:pt x="15" y="12"/>
                  </a:cubicBezTo>
                  <a:cubicBezTo>
                    <a:pt x="18" y="11"/>
                    <a:pt x="20" y="9"/>
                    <a:pt x="19" y="6"/>
                  </a:cubicBezTo>
                  <a:cubicBezTo>
                    <a:pt x="19" y="4"/>
                    <a:pt x="18" y="2"/>
                    <a:pt x="16" y="3"/>
                  </a:cubicBezTo>
                  <a:cubicBezTo>
                    <a:pt x="12" y="3"/>
                    <a:pt x="15" y="14"/>
                    <a:pt x="7" y="14"/>
                  </a:cubicBezTo>
                  <a:cubicBezTo>
                    <a:pt x="3" y="15"/>
                    <a:pt x="0" y="12"/>
                    <a:pt x="0" y="7"/>
                  </a:cubicBezTo>
                  <a:cubicBezTo>
                    <a:pt x="0" y="5"/>
                    <a:pt x="1" y="3"/>
                    <a:pt x="1" y="2"/>
                  </a:cubicBezTo>
                  <a:cubicBezTo>
                    <a:pt x="1" y="1"/>
                    <a:pt x="0" y="1"/>
                    <a:pt x="0" y="1"/>
                  </a:cubicBezTo>
                  <a:cubicBezTo>
                    <a:pt x="0" y="1"/>
                    <a:pt x="0" y="1"/>
                    <a:pt x="0" y="1"/>
                  </a:cubicBezTo>
                  <a:lnTo>
                    <a:pt x="8" y="0"/>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Freeform 48"/>
            <p:cNvSpPr/>
            <p:nvPr/>
          </p:nvSpPr>
          <p:spPr bwMode="auto">
            <a:xfrm>
              <a:off x="4941888" y="5468938"/>
              <a:ext cx="111125" cy="63500"/>
            </a:xfrm>
            <a:custGeom>
              <a:avLst/>
              <a:gdLst>
                <a:gd name="T0" fmla="*/ 18 w 20"/>
                <a:gd name="T1" fmla="*/ 5 h 11"/>
                <a:gd name="T2" fmla="*/ 20 w 20"/>
                <a:gd name="T3" fmla="*/ 2 h 11"/>
                <a:gd name="T4" fmla="*/ 20 w 20"/>
                <a:gd name="T5" fmla="*/ 3 h 11"/>
                <a:gd name="T6" fmla="*/ 20 w 20"/>
                <a:gd name="T7" fmla="*/ 7 h 11"/>
                <a:gd name="T8" fmla="*/ 19 w 20"/>
                <a:gd name="T9" fmla="*/ 11 h 11"/>
                <a:gd name="T10" fmla="*/ 19 w 20"/>
                <a:gd name="T11" fmla="*/ 11 h 11"/>
                <a:gd name="T12" fmla="*/ 17 w 20"/>
                <a:gd name="T13" fmla="*/ 9 h 11"/>
                <a:gd name="T14" fmla="*/ 3 w 20"/>
                <a:gd name="T15" fmla="*/ 7 h 11"/>
                <a:gd name="T16" fmla="*/ 1 w 20"/>
                <a:gd name="T17" fmla="*/ 9 h 11"/>
                <a:gd name="T18" fmla="*/ 0 w 20"/>
                <a:gd name="T19" fmla="*/ 8 h 11"/>
                <a:gd name="T20" fmla="*/ 1 w 20"/>
                <a:gd name="T21" fmla="*/ 4 h 11"/>
                <a:gd name="T22" fmla="*/ 1 w 20"/>
                <a:gd name="T23" fmla="*/ 1 h 11"/>
                <a:gd name="T24" fmla="*/ 2 w 20"/>
                <a:gd name="T25" fmla="*/ 0 h 11"/>
                <a:gd name="T26" fmla="*/ 3 w 20"/>
                <a:gd name="T27" fmla="*/ 3 h 11"/>
                <a:gd name="T28" fmla="*/ 18 w 20"/>
                <a:gd name="T29"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11">
                  <a:moveTo>
                    <a:pt x="18" y="5"/>
                  </a:moveTo>
                  <a:cubicBezTo>
                    <a:pt x="20" y="5"/>
                    <a:pt x="19" y="2"/>
                    <a:pt x="20" y="2"/>
                  </a:cubicBezTo>
                  <a:cubicBezTo>
                    <a:pt x="20" y="3"/>
                    <a:pt x="20" y="3"/>
                    <a:pt x="20" y="3"/>
                  </a:cubicBezTo>
                  <a:cubicBezTo>
                    <a:pt x="20" y="5"/>
                    <a:pt x="20" y="6"/>
                    <a:pt x="20" y="7"/>
                  </a:cubicBezTo>
                  <a:cubicBezTo>
                    <a:pt x="20" y="8"/>
                    <a:pt x="20" y="9"/>
                    <a:pt x="19" y="11"/>
                  </a:cubicBezTo>
                  <a:cubicBezTo>
                    <a:pt x="19" y="11"/>
                    <a:pt x="19" y="11"/>
                    <a:pt x="19" y="11"/>
                  </a:cubicBezTo>
                  <a:cubicBezTo>
                    <a:pt x="18" y="11"/>
                    <a:pt x="20" y="9"/>
                    <a:pt x="17" y="9"/>
                  </a:cubicBezTo>
                  <a:cubicBezTo>
                    <a:pt x="3" y="7"/>
                    <a:pt x="3" y="7"/>
                    <a:pt x="3" y="7"/>
                  </a:cubicBezTo>
                  <a:cubicBezTo>
                    <a:pt x="1" y="6"/>
                    <a:pt x="1" y="9"/>
                    <a:pt x="1" y="9"/>
                  </a:cubicBezTo>
                  <a:cubicBezTo>
                    <a:pt x="0" y="9"/>
                    <a:pt x="0" y="9"/>
                    <a:pt x="0" y="8"/>
                  </a:cubicBezTo>
                  <a:cubicBezTo>
                    <a:pt x="1" y="7"/>
                    <a:pt x="1" y="6"/>
                    <a:pt x="1" y="4"/>
                  </a:cubicBezTo>
                  <a:cubicBezTo>
                    <a:pt x="1" y="3"/>
                    <a:pt x="1" y="2"/>
                    <a:pt x="1" y="1"/>
                  </a:cubicBezTo>
                  <a:cubicBezTo>
                    <a:pt x="1" y="0"/>
                    <a:pt x="2" y="0"/>
                    <a:pt x="2" y="0"/>
                  </a:cubicBezTo>
                  <a:cubicBezTo>
                    <a:pt x="3" y="0"/>
                    <a:pt x="1" y="2"/>
                    <a:pt x="3" y="3"/>
                  </a:cubicBezTo>
                  <a:lnTo>
                    <a:pt x="18" y="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 name="Freeform 49"/>
            <p:cNvSpPr/>
            <p:nvPr/>
          </p:nvSpPr>
          <p:spPr bwMode="auto">
            <a:xfrm>
              <a:off x="4919663" y="5554663"/>
              <a:ext cx="122238" cy="101600"/>
            </a:xfrm>
            <a:custGeom>
              <a:avLst/>
              <a:gdLst>
                <a:gd name="T0" fmla="*/ 19 w 22"/>
                <a:gd name="T1" fmla="*/ 8 h 18"/>
                <a:gd name="T2" fmla="*/ 16 w 22"/>
                <a:gd name="T3" fmla="*/ 0 h 18"/>
                <a:gd name="T4" fmla="*/ 16 w 22"/>
                <a:gd name="T5" fmla="*/ 0 h 18"/>
                <a:gd name="T6" fmla="*/ 17 w 22"/>
                <a:gd name="T7" fmla="*/ 1 h 18"/>
                <a:gd name="T8" fmla="*/ 22 w 22"/>
                <a:gd name="T9" fmla="*/ 3 h 18"/>
                <a:gd name="T10" fmla="*/ 22 w 22"/>
                <a:gd name="T11" fmla="*/ 4 h 18"/>
                <a:gd name="T12" fmla="*/ 22 w 22"/>
                <a:gd name="T13" fmla="*/ 4 h 18"/>
                <a:gd name="T14" fmla="*/ 21 w 22"/>
                <a:gd name="T15" fmla="*/ 5 h 18"/>
                <a:gd name="T16" fmla="*/ 17 w 22"/>
                <a:gd name="T17" fmla="*/ 17 h 18"/>
                <a:gd name="T18" fmla="*/ 17 w 22"/>
                <a:gd name="T19" fmla="*/ 17 h 18"/>
                <a:gd name="T20" fmla="*/ 18 w 22"/>
                <a:gd name="T21" fmla="*/ 18 h 18"/>
                <a:gd name="T22" fmla="*/ 17 w 22"/>
                <a:gd name="T23" fmla="*/ 18 h 18"/>
                <a:gd name="T24" fmla="*/ 12 w 22"/>
                <a:gd name="T25" fmla="*/ 17 h 18"/>
                <a:gd name="T26" fmla="*/ 11 w 22"/>
                <a:gd name="T27" fmla="*/ 17 h 18"/>
                <a:gd name="T28" fmla="*/ 11 w 22"/>
                <a:gd name="T29" fmla="*/ 17 h 18"/>
                <a:gd name="T30" fmla="*/ 18 w 22"/>
                <a:gd name="T31" fmla="*/ 12 h 18"/>
                <a:gd name="T32" fmla="*/ 3 w 22"/>
                <a:gd name="T33" fmla="*/ 7 h 18"/>
                <a:gd name="T34" fmla="*/ 1 w 22"/>
                <a:gd name="T35" fmla="*/ 9 h 18"/>
                <a:gd name="T36" fmla="*/ 0 w 22"/>
                <a:gd name="T37" fmla="*/ 9 h 18"/>
                <a:gd name="T38" fmla="*/ 0 w 22"/>
                <a:gd name="T39" fmla="*/ 9 h 18"/>
                <a:gd name="T40" fmla="*/ 1 w 22"/>
                <a:gd name="T41" fmla="*/ 4 h 18"/>
                <a:gd name="T42" fmla="*/ 3 w 22"/>
                <a:gd name="T43" fmla="*/ 0 h 18"/>
                <a:gd name="T44" fmla="*/ 3 w 22"/>
                <a:gd name="T45" fmla="*/ 0 h 18"/>
                <a:gd name="T46" fmla="*/ 3 w 22"/>
                <a:gd name="T47" fmla="*/ 1 h 18"/>
                <a:gd name="T48" fmla="*/ 5 w 22"/>
                <a:gd name="T49" fmla="*/ 3 h 18"/>
                <a:gd name="T50" fmla="*/ 19 w 22"/>
                <a:gd name="T51" fmla="*/ 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18">
                  <a:moveTo>
                    <a:pt x="19" y="8"/>
                  </a:moveTo>
                  <a:cubicBezTo>
                    <a:pt x="20" y="3"/>
                    <a:pt x="16" y="1"/>
                    <a:pt x="16" y="0"/>
                  </a:cubicBezTo>
                  <a:cubicBezTo>
                    <a:pt x="16" y="0"/>
                    <a:pt x="16" y="0"/>
                    <a:pt x="16" y="0"/>
                  </a:cubicBezTo>
                  <a:cubicBezTo>
                    <a:pt x="16" y="0"/>
                    <a:pt x="17" y="0"/>
                    <a:pt x="17" y="1"/>
                  </a:cubicBezTo>
                  <a:cubicBezTo>
                    <a:pt x="22" y="3"/>
                    <a:pt x="22" y="3"/>
                    <a:pt x="22" y="3"/>
                  </a:cubicBezTo>
                  <a:cubicBezTo>
                    <a:pt x="22" y="3"/>
                    <a:pt x="22" y="4"/>
                    <a:pt x="22" y="4"/>
                  </a:cubicBezTo>
                  <a:cubicBezTo>
                    <a:pt x="22" y="4"/>
                    <a:pt x="22" y="4"/>
                    <a:pt x="22" y="4"/>
                  </a:cubicBezTo>
                  <a:cubicBezTo>
                    <a:pt x="22" y="4"/>
                    <a:pt x="22" y="4"/>
                    <a:pt x="21" y="5"/>
                  </a:cubicBezTo>
                  <a:cubicBezTo>
                    <a:pt x="17" y="17"/>
                    <a:pt x="17" y="17"/>
                    <a:pt x="17" y="17"/>
                  </a:cubicBezTo>
                  <a:cubicBezTo>
                    <a:pt x="17" y="17"/>
                    <a:pt x="17" y="17"/>
                    <a:pt x="17" y="17"/>
                  </a:cubicBezTo>
                  <a:cubicBezTo>
                    <a:pt x="18" y="17"/>
                    <a:pt x="18" y="18"/>
                    <a:pt x="18" y="18"/>
                  </a:cubicBezTo>
                  <a:cubicBezTo>
                    <a:pt x="17" y="18"/>
                    <a:pt x="17" y="18"/>
                    <a:pt x="17" y="18"/>
                  </a:cubicBezTo>
                  <a:cubicBezTo>
                    <a:pt x="12" y="17"/>
                    <a:pt x="12" y="17"/>
                    <a:pt x="12" y="17"/>
                  </a:cubicBezTo>
                  <a:cubicBezTo>
                    <a:pt x="11" y="17"/>
                    <a:pt x="11" y="17"/>
                    <a:pt x="11" y="17"/>
                  </a:cubicBezTo>
                  <a:cubicBezTo>
                    <a:pt x="11" y="17"/>
                    <a:pt x="11" y="17"/>
                    <a:pt x="11" y="17"/>
                  </a:cubicBezTo>
                  <a:cubicBezTo>
                    <a:pt x="11" y="16"/>
                    <a:pt x="15" y="17"/>
                    <a:pt x="18" y="12"/>
                  </a:cubicBezTo>
                  <a:cubicBezTo>
                    <a:pt x="3" y="7"/>
                    <a:pt x="3" y="7"/>
                    <a:pt x="3" y="7"/>
                  </a:cubicBezTo>
                  <a:cubicBezTo>
                    <a:pt x="2" y="7"/>
                    <a:pt x="1" y="7"/>
                    <a:pt x="1" y="9"/>
                  </a:cubicBezTo>
                  <a:cubicBezTo>
                    <a:pt x="1" y="9"/>
                    <a:pt x="0" y="9"/>
                    <a:pt x="0" y="9"/>
                  </a:cubicBezTo>
                  <a:cubicBezTo>
                    <a:pt x="0" y="9"/>
                    <a:pt x="0" y="9"/>
                    <a:pt x="0" y="9"/>
                  </a:cubicBezTo>
                  <a:cubicBezTo>
                    <a:pt x="0" y="7"/>
                    <a:pt x="1" y="6"/>
                    <a:pt x="1" y="4"/>
                  </a:cubicBezTo>
                  <a:cubicBezTo>
                    <a:pt x="2" y="3"/>
                    <a:pt x="2" y="2"/>
                    <a:pt x="3" y="0"/>
                  </a:cubicBezTo>
                  <a:cubicBezTo>
                    <a:pt x="3" y="0"/>
                    <a:pt x="3" y="0"/>
                    <a:pt x="3" y="0"/>
                  </a:cubicBezTo>
                  <a:cubicBezTo>
                    <a:pt x="3" y="0"/>
                    <a:pt x="3" y="0"/>
                    <a:pt x="3" y="1"/>
                  </a:cubicBezTo>
                  <a:cubicBezTo>
                    <a:pt x="3" y="2"/>
                    <a:pt x="3" y="3"/>
                    <a:pt x="5" y="3"/>
                  </a:cubicBezTo>
                  <a:lnTo>
                    <a:pt x="19" y="8"/>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2" name="Freeform 50"/>
            <p:cNvSpPr/>
            <p:nvPr/>
          </p:nvSpPr>
          <p:spPr bwMode="auto">
            <a:xfrm>
              <a:off x="4868863" y="5656263"/>
              <a:ext cx="128588" cy="125413"/>
            </a:xfrm>
            <a:custGeom>
              <a:avLst/>
              <a:gdLst>
                <a:gd name="T0" fmla="*/ 10 w 23"/>
                <a:gd name="T1" fmla="*/ 10 h 22"/>
                <a:gd name="T2" fmla="*/ 12 w 23"/>
                <a:gd name="T3" fmla="*/ 14 h 22"/>
                <a:gd name="T4" fmla="*/ 14 w 23"/>
                <a:gd name="T5" fmla="*/ 17 h 22"/>
                <a:gd name="T6" fmla="*/ 17 w 23"/>
                <a:gd name="T7" fmla="*/ 16 h 22"/>
                <a:gd name="T8" fmla="*/ 17 w 23"/>
                <a:gd name="T9" fmla="*/ 17 h 22"/>
                <a:gd name="T10" fmla="*/ 15 w 23"/>
                <a:gd name="T11" fmla="*/ 19 h 22"/>
                <a:gd name="T12" fmla="*/ 14 w 23"/>
                <a:gd name="T13" fmla="*/ 21 h 22"/>
                <a:gd name="T14" fmla="*/ 13 w 23"/>
                <a:gd name="T15" fmla="*/ 22 h 22"/>
                <a:gd name="T16" fmla="*/ 12 w 23"/>
                <a:gd name="T17" fmla="*/ 16 h 22"/>
                <a:gd name="T18" fmla="*/ 9 w 23"/>
                <a:gd name="T19" fmla="*/ 10 h 22"/>
                <a:gd name="T20" fmla="*/ 3 w 23"/>
                <a:gd name="T21" fmla="*/ 7 h 22"/>
                <a:gd name="T22" fmla="*/ 0 w 23"/>
                <a:gd name="T23" fmla="*/ 8 h 22"/>
                <a:gd name="T24" fmla="*/ 0 w 23"/>
                <a:gd name="T25" fmla="*/ 7 h 22"/>
                <a:gd name="T26" fmla="*/ 2 w 23"/>
                <a:gd name="T27" fmla="*/ 4 h 22"/>
                <a:gd name="T28" fmla="*/ 4 w 23"/>
                <a:gd name="T29" fmla="*/ 0 h 22"/>
                <a:gd name="T30" fmla="*/ 5 w 23"/>
                <a:gd name="T31" fmla="*/ 0 h 22"/>
                <a:gd name="T32" fmla="*/ 5 w 23"/>
                <a:gd name="T33" fmla="*/ 3 h 22"/>
                <a:gd name="T34" fmla="*/ 11 w 23"/>
                <a:gd name="T35" fmla="*/ 6 h 22"/>
                <a:gd name="T36" fmla="*/ 20 w 23"/>
                <a:gd name="T37" fmla="*/ 7 h 22"/>
                <a:gd name="T38" fmla="*/ 23 w 23"/>
                <a:gd name="T39" fmla="*/ 6 h 22"/>
                <a:gd name="T40" fmla="*/ 23 w 23"/>
                <a:gd name="T41" fmla="*/ 6 h 22"/>
                <a:gd name="T42" fmla="*/ 21 w 23"/>
                <a:gd name="T43" fmla="*/ 10 h 22"/>
                <a:gd name="T44" fmla="*/ 19 w 23"/>
                <a:gd name="T45" fmla="*/ 13 h 22"/>
                <a:gd name="T46" fmla="*/ 18 w 23"/>
                <a:gd name="T47" fmla="*/ 13 h 22"/>
                <a:gd name="T48" fmla="*/ 18 w 23"/>
                <a:gd name="T49" fmla="*/ 11 h 22"/>
                <a:gd name="T50" fmla="*/ 17 w 23"/>
                <a:gd name="T51" fmla="*/ 11 h 22"/>
                <a:gd name="T52" fmla="*/ 10 w 23"/>
                <a:gd name="T53"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 h="22">
                  <a:moveTo>
                    <a:pt x="10" y="10"/>
                  </a:moveTo>
                  <a:cubicBezTo>
                    <a:pt x="12" y="14"/>
                    <a:pt x="12" y="14"/>
                    <a:pt x="12" y="14"/>
                  </a:cubicBezTo>
                  <a:cubicBezTo>
                    <a:pt x="12" y="15"/>
                    <a:pt x="13" y="16"/>
                    <a:pt x="14" y="17"/>
                  </a:cubicBezTo>
                  <a:cubicBezTo>
                    <a:pt x="16" y="18"/>
                    <a:pt x="16" y="16"/>
                    <a:pt x="17" y="16"/>
                  </a:cubicBezTo>
                  <a:cubicBezTo>
                    <a:pt x="17" y="16"/>
                    <a:pt x="17" y="17"/>
                    <a:pt x="17" y="17"/>
                  </a:cubicBezTo>
                  <a:cubicBezTo>
                    <a:pt x="16" y="18"/>
                    <a:pt x="16" y="18"/>
                    <a:pt x="15" y="19"/>
                  </a:cubicBezTo>
                  <a:cubicBezTo>
                    <a:pt x="15" y="20"/>
                    <a:pt x="14" y="21"/>
                    <a:pt x="14" y="21"/>
                  </a:cubicBezTo>
                  <a:cubicBezTo>
                    <a:pt x="14" y="22"/>
                    <a:pt x="14" y="22"/>
                    <a:pt x="13" y="22"/>
                  </a:cubicBezTo>
                  <a:cubicBezTo>
                    <a:pt x="13" y="21"/>
                    <a:pt x="14" y="21"/>
                    <a:pt x="12" y="16"/>
                  </a:cubicBezTo>
                  <a:cubicBezTo>
                    <a:pt x="9" y="10"/>
                    <a:pt x="9" y="10"/>
                    <a:pt x="9" y="10"/>
                  </a:cubicBezTo>
                  <a:cubicBezTo>
                    <a:pt x="3" y="7"/>
                    <a:pt x="3" y="7"/>
                    <a:pt x="3" y="7"/>
                  </a:cubicBezTo>
                  <a:cubicBezTo>
                    <a:pt x="1" y="5"/>
                    <a:pt x="1" y="8"/>
                    <a:pt x="0" y="8"/>
                  </a:cubicBezTo>
                  <a:cubicBezTo>
                    <a:pt x="0" y="7"/>
                    <a:pt x="0" y="7"/>
                    <a:pt x="0" y="7"/>
                  </a:cubicBezTo>
                  <a:cubicBezTo>
                    <a:pt x="1" y="6"/>
                    <a:pt x="2" y="5"/>
                    <a:pt x="2" y="4"/>
                  </a:cubicBezTo>
                  <a:cubicBezTo>
                    <a:pt x="3" y="3"/>
                    <a:pt x="4" y="1"/>
                    <a:pt x="4" y="0"/>
                  </a:cubicBezTo>
                  <a:cubicBezTo>
                    <a:pt x="5" y="0"/>
                    <a:pt x="5" y="0"/>
                    <a:pt x="5" y="0"/>
                  </a:cubicBezTo>
                  <a:cubicBezTo>
                    <a:pt x="6" y="0"/>
                    <a:pt x="3" y="2"/>
                    <a:pt x="5" y="3"/>
                  </a:cubicBezTo>
                  <a:cubicBezTo>
                    <a:pt x="11" y="6"/>
                    <a:pt x="11" y="6"/>
                    <a:pt x="11" y="6"/>
                  </a:cubicBezTo>
                  <a:cubicBezTo>
                    <a:pt x="20" y="7"/>
                    <a:pt x="20" y="7"/>
                    <a:pt x="20" y="7"/>
                  </a:cubicBezTo>
                  <a:cubicBezTo>
                    <a:pt x="23" y="7"/>
                    <a:pt x="23" y="5"/>
                    <a:pt x="23" y="6"/>
                  </a:cubicBezTo>
                  <a:cubicBezTo>
                    <a:pt x="23" y="6"/>
                    <a:pt x="23" y="6"/>
                    <a:pt x="23" y="6"/>
                  </a:cubicBezTo>
                  <a:cubicBezTo>
                    <a:pt x="23" y="7"/>
                    <a:pt x="22" y="8"/>
                    <a:pt x="21" y="10"/>
                  </a:cubicBezTo>
                  <a:cubicBezTo>
                    <a:pt x="20" y="11"/>
                    <a:pt x="20" y="12"/>
                    <a:pt x="19" y="13"/>
                  </a:cubicBezTo>
                  <a:cubicBezTo>
                    <a:pt x="19" y="13"/>
                    <a:pt x="19" y="13"/>
                    <a:pt x="18" y="13"/>
                  </a:cubicBezTo>
                  <a:cubicBezTo>
                    <a:pt x="18" y="13"/>
                    <a:pt x="20" y="12"/>
                    <a:pt x="18" y="11"/>
                  </a:cubicBezTo>
                  <a:cubicBezTo>
                    <a:pt x="18" y="11"/>
                    <a:pt x="17" y="11"/>
                    <a:pt x="17" y="11"/>
                  </a:cubicBezTo>
                  <a:lnTo>
                    <a:pt x="10" y="10"/>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3" name="Freeform 51"/>
            <p:cNvSpPr/>
            <p:nvPr/>
          </p:nvSpPr>
          <p:spPr bwMode="auto">
            <a:xfrm>
              <a:off x="4005263" y="5662613"/>
              <a:ext cx="128588" cy="112713"/>
            </a:xfrm>
            <a:custGeom>
              <a:avLst/>
              <a:gdLst>
                <a:gd name="T0" fmla="*/ 16 w 23"/>
                <a:gd name="T1" fmla="*/ 15 h 20"/>
                <a:gd name="T2" fmla="*/ 15 w 23"/>
                <a:gd name="T3" fmla="*/ 15 h 20"/>
                <a:gd name="T4" fmla="*/ 16 w 23"/>
                <a:gd name="T5" fmla="*/ 14 h 20"/>
                <a:gd name="T6" fmla="*/ 19 w 23"/>
                <a:gd name="T7" fmla="*/ 5 h 20"/>
                <a:gd name="T8" fmla="*/ 13 w 23"/>
                <a:gd name="T9" fmla="*/ 3 h 20"/>
                <a:gd name="T10" fmla="*/ 11 w 23"/>
                <a:gd name="T11" fmla="*/ 18 h 20"/>
                <a:gd name="T12" fmla="*/ 3 w 23"/>
                <a:gd name="T13" fmla="*/ 16 h 20"/>
                <a:gd name="T14" fmla="*/ 1 w 23"/>
                <a:gd name="T15" fmla="*/ 11 h 20"/>
                <a:gd name="T16" fmla="*/ 0 w 23"/>
                <a:gd name="T17" fmla="*/ 11 h 20"/>
                <a:gd name="T18" fmla="*/ 0 w 23"/>
                <a:gd name="T19" fmla="*/ 10 h 20"/>
                <a:gd name="T20" fmla="*/ 4 w 23"/>
                <a:gd name="T21" fmla="*/ 7 h 20"/>
                <a:gd name="T22" fmla="*/ 5 w 23"/>
                <a:gd name="T23" fmla="*/ 6 h 20"/>
                <a:gd name="T24" fmla="*/ 5 w 23"/>
                <a:gd name="T25" fmla="*/ 7 h 20"/>
                <a:gd name="T26" fmla="*/ 4 w 23"/>
                <a:gd name="T27" fmla="*/ 8 h 20"/>
                <a:gd name="T28" fmla="*/ 3 w 23"/>
                <a:gd name="T29" fmla="*/ 16 h 20"/>
                <a:gd name="T30" fmla="*/ 8 w 23"/>
                <a:gd name="T31" fmla="*/ 17 h 20"/>
                <a:gd name="T32" fmla="*/ 10 w 23"/>
                <a:gd name="T33" fmla="*/ 2 h 20"/>
                <a:gd name="T34" fmla="*/ 19 w 23"/>
                <a:gd name="T35" fmla="*/ 5 h 20"/>
                <a:gd name="T36" fmla="*/ 21 w 23"/>
                <a:gd name="T37" fmla="*/ 10 h 20"/>
                <a:gd name="T38" fmla="*/ 23 w 23"/>
                <a:gd name="T39" fmla="*/ 10 h 20"/>
                <a:gd name="T40" fmla="*/ 22 w 23"/>
                <a:gd name="T41" fmla="*/ 11 h 20"/>
                <a:gd name="T42" fmla="*/ 16 w 23"/>
                <a:gd name="T43" fmla="*/ 15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0">
                  <a:moveTo>
                    <a:pt x="16" y="15"/>
                  </a:moveTo>
                  <a:cubicBezTo>
                    <a:pt x="16" y="15"/>
                    <a:pt x="16" y="15"/>
                    <a:pt x="15" y="15"/>
                  </a:cubicBezTo>
                  <a:cubicBezTo>
                    <a:pt x="15" y="15"/>
                    <a:pt x="16" y="15"/>
                    <a:pt x="16" y="14"/>
                  </a:cubicBezTo>
                  <a:cubicBezTo>
                    <a:pt x="19" y="12"/>
                    <a:pt x="21" y="8"/>
                    <a:pt x="19" y="5"/>
                  </a:cubicBezTo>
                  <a:cubicBezTo>
                    <a:pt x="17" y="3"/>
                    <a:pt x="15" y="2"/>
                    <a:pt x="13" y="3"/>
                  </a:cubicBezTo>
                  <a:cubicBezTo>
                    <a:pt x="8" y="6"/>
                    <a:pt x="17" y="14"/>
                    <a:pt x="11" y="18"/>
                  </a:cubicBezTo>
                  <a:cubicBezTo>
                    <a:pt x="8" y="20"/>
                    <a:pt x="5" y="19"/>
                    <a:pt x="3" y="16"/>
                  </a:cubicBezTo>
                  <a:cubicBezTo>
                    <a:pt x="1" y="14"/>
                    <a:pt x="1" y="12"/>
                    <a:pt x="1" y="11"/>
                  </a:cubicBezTo>
                  <a:cubicBezTo>
                    <a:pt x="0" y="11"/>
                    <a:pt x="0" y="11"/>
                    <a:pt x="0" y="11"/>
                  </a:cubicBezTo>
                  <a:cubicBezTo>
                    <a:pt x="0" y="11"/>
                    <a:pt x="0" y="11"/>
                    <a:pt x="0" y="10"/>
                  </a:cubicBezTo>
                  <a:cubicBezTo>
                    <a:pt x="4" y="7"/>
                    <a:pt x="4" y="7"/>
                    <a:pt x="4" y="7"/>
                  </a:cubicBezTo>
                  <a:cubicBezTo>
                    <a:pt x="5" y="7"/>
                    <a:pt x="5" y="7"/>
                    <a:pt x="5" y="6"/>
                  </a:cubicBezTo>
                  <a:cubicBezTo>
                    <a:pt x="5" y="6"/>
                    <a:pt x="5" y="6"/>
                    <a:pt x="5" y="7"/>
                  </a:cubicBezTo>
                  <a:cubicBezTo>
                    <a:pt x="5" y="7"/>
                    <a:pt x="5" y="7"/>
                    <a:pt x="4" y="8"/>
                  </a:cubicBezTo>
                  <a:cubicBezTo>
                    <a:pt x="2" y="11"/>
                    <a:pt x="2" y="13"/>
                    <a:pt x="3" y="16"/>
                  </a:cubicBezTo>
                  <a:cubicBezTo>
                    <a:pt x="4" y="17"/>
                    <a:pt x="6" y="18"/>
                    <a:pt x="8" y="17"/>
                  </a:cubicBezTo>
                  <a:cubicBezTo>
                    <a:pt x="12" y="14"/>
                    <a:pt x="3" y="6"/>
                    <a:pt x="10" y="2"/>
                  </a:cubicBezTo>
                  <a:cubicBezTo>
                    <a:pt x="13" y="0"/>
                    <a:pt x="17" y="1"/>
                    <a:pt x="19" y="5"/>
                  </a:cubicBezTo>
                  <a:cubicBezTo>
                    <a:pt x="21" y="7"/>
                    <a:pt x="20" y="9"/>
                    <a:pt x="21" y="10"/>
                  </a:cubicBezTo>
                  <a:cubicBezTo>
                    <a:pt x="22" y="11"/>
                    <a:pt x="22" y="10"/>
                    <a:pt x="23" y="10"/>
                  </a:cubicBezTo>
                  <a:cubicBezTo>
                    <a:pt x="23" y="10"/>
                    <a:pt x="23" y="11"/>
                    <a:pt x="22" y="11"/>
                  </a:cubicBezTo>
                  <a:lnTo>
                    <a:pt x="16"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Freeform 52"/>
            <p:cNvSpPr/>
            <p:nvPr/>
          </p:nvSpPr>
          <p:spPr bwMode="auto">
            <a:xfrm>
              <a:off x="3938588" y="5526088"/>
              <a:ext cx="139700" cy="141288"/>
            </a:xfrm>
            <a:custGeom>
              <a:avLst/>
              <a:gdLst>
                <a:gd name="T0" fmla="*/ 8 w 25"/>
                <a:gd name="T1" fmla="*/ 22 h 25"/>
                <a:gd name="T2" fmla="*/ 7 w 25"/>
                <a:gd name="T3" fmla="*/ 25 h 25"/>
                <a:gd name="T4" fmla="*/ 6 w 25"/>
                <a:gd name="T5" fmla="*/ 25 h 25"/>
                <a:gd name="T6" fmla="*/ 5 w 25"/>
                <a:gd name="T7" fmla="*/ 21 h 25"/>
                <a:gd name="T8" fmla="*/ 4 w 25"/>
                <a:gd name="T9" fmla="*/ 17 h 25"/>
                <a:gd name="T10" fmla="*/ 4 w 25"/>
                <a:gd name="T11" fmla="*/ 17 h 25"/>
                <a:gd name="T12" fmla="*/ 7 w 25"/>
                <a:gd name="T13" fmla="*/ 18 h 25"/>
                <a:gd name="T14" fmla="*/ 13 w 25"/>
                <a:gd name="T15" fmla="*/ 16 h 25"/>
                <a:gd name="T16" fmla="*/ 10 w 25"/>
                <a:gd name="T17" fmla="*/ 9 h 25"/>
                <a:gd name="T18" fmla="*/ 4 w 25"/>
                <a:gd name="T19" fmla="*/ 11 h 25"/>
                <a:gd name="T20" fmla="*/ 3 w 25"/>
                <a:gd name="T21" fmla="*/ 14 h 25"/>
                <a:gd name="T22" fmla="*/ 3 w 25"/>
                <a:gd name="T23" fmla="*/ 14 h 25"/>
                <a:gd name="T24" fmla="*/ 1 w 25"/>
                <a:gd name="T25" fmla="*/ 10 h 25"/>
                <a:gd name="T26" fmla="*/ 0 w 25"/>
                <a:gd name="T27" fmla="*/ 7 h 25"/>
                <a:gd name="T28" fmla="*/ 0 w 25"/>
                <a:gd name="T29" fmla="*/ 6 h 25"/>
                <a:gd name="T30" fmla="*/ 3 w 25"/>
                <a:gd name="T31" fmla="*/ 8 h 25"/>
                <a:gd name="T32" fmla="*/ 17 w 25"/>
                <a:gd name="T33" fmla="*/ 3 h 25"/>
                <a:gd name="T34" fmla="*/ 18 w 25"/>
                <a:gd name="T35" fmla="*/ 0 h 25"/>
                <a:gd name="T36" fmla="*/ 18 w 25"/>
                <a:gd name="T37" fmla="*/ 0 h 25"/>
                <a:gd name="T38" fmla="*/ 19 w 25"/>
                <a:gd name="T39" fmla="*/ 4 h 25"/>
                <a:gd name="T40" fmla="*/ 21 w 25"/>
                <a:gd name="T41" fmla="*/ 8 h 25"/>
                <a:gd name="T42" fmla="*/ 21 w 25"/>
                <a:gd name="T43" fmla="*/ 9 h 25"/>
                <a:gd name="T44" fmla="*/ 18 w 25"/>
                <a:gd name="T45" fmla="*/ 7 h 25"/>
                <a:gd name="T46" fmla="*/ 11 w 25"/>
                <a:gd name="T47" fmla="*/ 9 h 25"/>
                <a:gd name="T48" fmla="*/ 13 w 25"/>
                <a:gd name="T49" fmla="*/ 16 h 25"/>
                <a:gd name="T50" fmla="*/ 20 w 25"/>
                <a:gd name="T51" fmla="*/ 14 h 25"/>
                <a:gd name="T52" fmla="*/ 21 w 25"/>
                <a:gd name="T53" fmla="*/ 11 h 25"/>
                <a:gd name="T54" fmla="*/ 22 w 25"/>
                <a:gd name="T55" fmla="*/ 11 h 25"/>
                <a:gd name="T56" fmla="*/ 23 w 25"/>
                <a:gd name="T57" fmla="*/ 15 h 25"/>
                <a:gd name="T58" fmla="*/ 24 w 25"/>
                <a:gd name="T59" fmla="*/ 19 h 25"/>
                <a:gd name="T60" fmla="*/ 24 w 25"/>
                <a:gd name="T61" fmla="*/ 19 h 25"/>
                <a:gd name="T62" fmla="*/ 22 w 25"/>
                <a:gd name="T63" fmla="*/ 18 h 25"/>
                <a:gd name="T64" fmla="*/ 8 w 25"/>
                <a:gd name="T65" fmla="*/ 2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 h="25">
                  <a:moveTo>
                    <a:pt x="8" y="22"/>
                  </a:moveTo>
                  <a:cubicBezTo>
                    <a:pt x="6" y="23"/>
                    <a:pt x="8" y="25"/>
                    <a:pt x="7" y="25"/>
                  </a:cubicBezTo>
                  <a:cubicBezTo>
                    <a:pt x="7" y="25"/>
                    <a:pt x="6" y="25"/>
                    <a:pt x="6" y="25"/>
                  </a:cubicBezTo>
                  <a:cubicBezTo>
                    <a:pt x="6" y="24"/>
                    <a:pt x="5" y="22"/>
                    <a:pt x="5" y="21"/>
                  </a:cubicBezTo>
                  <a:cubicBezTo>
                    <a:pt x="5" y="20"/>
                    <a:pt x="4" y="19"/>
                    <a:pt x="4" y="17"/>
                  </a:cubicBezTo>
                  <a:cubicBezTo>
                    <a:pt x="4" y="17"/>
                    <a:pt x="4" y="17"/>
                    <a:pt x="4" y="17"/>
                  </a:cubicBezTo>
                  <a:cubicBezTo>
                    <a:pt x="5" y="17"/>
                    <a:pt x="4" y="19"/>
                    <a:pt x="7" y="18"/>
                  </a:cubicBezTo>
                  <a:cubicBezTo>
                    <a:pt x="13" y="16"/>
                    <a:pt x="13" y="16"/>
                    <a:pt x="13" y="16"/>
                  </a:cubicBezTo>
                  <a:cubicBezTo>
                    <a:pt x="10" y="9"/>
                    <a:pt x="10" y="9"/>
                    <a:pt x="10" y="9"/>
                  </a:cubicBezTo>
                  <a:cubicBezTo>
                    <a:pt x="4" y="11"/>
                    <a:pt x="4" y="11"/>
                    <a:pt x="4" y="11"/>
                  </a:cubicBezTo>
                  <a:cubicBezTo>
                    <a:pt x="2" y="12"/>
                    <a:pt x="4" y="14"/>
                    <a:pt x="3" y="14"/>
                  </a:cubicBezTo>
                  <a:cubicBezTo>
                    <a:pt x="3" y="14"/>
                    <a:pt x="3" y="14"/>
                    <a:pt x="3" y="14"/>
                  </a:cubicBezTo>
                  <a:cubicBezTo>
                    <a:pt x="2" y="13"/>
                    <a:pt x="2" y="11"/>
                    <a:pt x="1" y="10"/>
                  </a:cubicBezTo>
                  <a:cubicBezTo>
                    <a:pt x="1" y="9"/>
                    <a:pt x="1" y="8"/>
                    <a:pt x="0" y="7"/>
                  </a:cubicBezTo>
                  <a:cubicBezTo>
                    <a:pt x="0" y="6"/>
                    <a:pt x="0" y="6"/>
                    <a:pt x="0" y="6"/>
                  </a:cubicBezTo>
                  <a:cubicBezTo>
                    <a:pt x="1" y="6"/>
                    <a:pt x="1" y="8"/>
                    <a:pt x="3" y="8"/>
                  </a:cubicBezTo>
                  <a:cubicBezTo>
                    <a:pt x="17" y="3"/>
                    <a:pt x="17" y="3"/>
                    <a:pt x="17" y="3"/>
                  </a:cubicBezTo>
                  <a:cubicBezTo>
                    <a:pt x="19" y="2"/>
                    <a:pt x="17" y="0"/>
                    <a:pt x="18" y="0"/>
                  </a:cubicBezTo>
                  <a:cubicBezTo>
                    <a:pt x="18" y="0"/>
                    <a:pt x="18" y="0"/>
                    <a:pt x="18" y="0"/>
                  </a:cubicBezTo>
                  <a:cubicBezTo>
                    <a:pt x="19" y="2"/>
                    <a:pt x="19" y="3"/>
                    <a:pt x="19" y="4"/>
                  </a:cubicBezTo>
                  <a:cubicBezTo>
                    <a:pt x="20" y="5"/>
                    <a:pt x="20" y="7"/>
                    <a:pt x="21" y="8"/>
                  </a:cubicBezTo>
                  <a:cubicBezTo>
                    <a:pt x="21" y="8"/>
                    <a:pt x="21" y="8"/>
                    <a:pt x="21" y="9"/>
                  </a:cubicBezTo>
                  <a:cubicBezTo>
                    <a:pt x="20" y="9"/>
                    <a:pt x="20" y="6"/>
                    <a:pt x="18" y="7"/>
                  </a:cubicBezTo>
                  <a:cubicBezTo>
                    <a:pt x="11" y="9"/>
                    <a:pt x="11" y="9"/>
                    <a:pt x="11" y="9"/>
                  </a:cubicBezTo>
                  <a:cubicBezTo>
                    <a:pt x="13" y="16"/>
                    <a:pt x="13" y="16"/>
                    <a:pt x="13" y="16"/>
                  </a:cubicBezTo>
                  <a:cubicBezTo>
                    <a:pt x="20" y="14"/>
                    <a:pt x="20" y="14"/>
                    <a:pt x="20" y="14"/>
                  </a:cubicBezTo>
                  <a:cubicBezTo>
                    <a:pt x="22" y="13"/>
                    <a:pt x="21" y="11"/>
                    <a:pt x="21" y="11"/>
                  </a:cubicBezTo>
                  <a:cubicBezTo>
                    <a:pt x="22" y="11"/>
                    <a:pt x="22" y="11"/>
                    <a:pt x="22" y="11"/>
                  </a:cubicBezTo>
                  <a:cubicBezTo>
                    <a:pt x="22" y="13"/>
                    <a:pt x="23" y="14"/>
                    <a:pt x="23" y="15"/>
                  </a:cubicBezTo>
                  <a:cubicBezTo>
                    <a:pt x="23" y="16"/>
                    <a:pt x="24" y="17"/>
                    <a:pt x="24" y="19"/>
                  </a:cubicBezTo>
                  <a:cubicBezTo>
                    <a:pt x="25" y="19"/>
                    <a:pt x="24" y="19"/>
                    <a:pt x="24" y="19"/>
                  </a:cubicBezTo>
                  <a:cubicBezTo>
                    <a:pt x="24" y="20"/>
                    <a:pt x="24" y="17"/>
                    <a:pt x="22" y="18"/>
                  </a:cubicBezTo>
                  <a:lnTo>
                    <a:pt x="8" y="2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5" name="Freeform 53"/>
            <p:cNvSpPr/>
            <p:nvPr/>
          </p:nvSpPr>
          <p:spPr bwMode="auto">
            <a:xfrm>
              <a:off x="3927475" y="5407025"/>
              <a:ext cx="111125" cy="101600"/>
            </a:xfrm>
            <a:custGeom>
              <a:avLst/>
              <a:gdLst>
                <a:gd name="T0" fmla="*/ 3 w 20"/>
                <a:gd name="T1" fmla="*/ 16 h 18"/>
                <a:gd name="T2" fmla="*/ 1 w 20"/>
                <a:gd name="T3" fmla="*/ 18 h 18"/>
                <a:gd name="T4" fmla="*/ 0 w 20"/>
                <a:gd name="T5" fmla="*/ 18 h 18"/>
                <a:gd name="T6" fmla="*/ 0 w 20"/>
                <a:gd name="T7" fmla="*/ 14 h 18"/>
                <a:gd name="T8" fmla="*/ 0 w 20"/>
                <a:gd name="T9" fmla="*/ 4 h 18"/>
                <a:gd name="T10" fmla="*/ 5 w 20"/>
                <a:gd name="T11" fmla="*/ 2 h 18"/>
                <a:gd name="T12" fmla="*/ 6 w 20"/>
                <a:gd name="T13" fmla="*/ 2 h 18"/>
                <a:gd name="T14" fmla="*/ 6 w 20"/>
                <a:gd name="T15" fmla="*/ 2 h 18"/>
                <a:gd name="T16" fmla="*/ 4 w 20"/>
                <a:gd name="T17" fmla="*/ 3 h 18"/>
                <a:gd name="T18" fmla="*/ 1 w 20"/>
                <a:gd name="T19" fmla="*/ 10 h 18"/>
                <a:gd name="T20" fmla="*/ 1 w 20"/>
                <a:gd name="T21" fmla="*/ 12 h 18"/>
                <a:gd name="T22" fmla="*/ 9 w 20"/>
                <a:gd name="T23" fmla="*/ 11 h 18"/>
                <a:gd name="T24" fmla="*/ 9 w 20"/>
                <a:gd name="T25" fmla="*/ 11 h 18"/>
                <a:gd name="T26" fmla="*/ 5 w 20"/>
                <a:gd name="T27" fmla="*/ 7 h 18"/>
                <a:gd name="T28" fmla="*/ 5 w 20"/>
                <a:gd name="T29" fmla="*/ 7 h 18"/>
                <a:gd name="T30" fmla="*/ 5 w 20"/>
                <a:gd name="T31" fmla="*/ 7 h 18"/>
                <a:gd name="T32" fmla="*/ 13 w 20"/>
                <a:gd name="T33" fmla="*/ 6 h 18"/>
                <a:gd name="T34" fmla="*/ 14 w 20"/>
                <a:gd name="T35" fmla="*/ 6 h 18"/>
                <a:gd name="T36" fmla="*/ 13 w 20"/>
                <a:gd name="T37" fmla="*/ 7 h 18"/>
                <a:gd name="T38" fmla="*/ 10 w 20"/>
                <a:gd name="T39" fmla="*/ 10 h 18"/>
                <a:gd name="T40" fmla="*/ 10 w 20"/>
                <a:gd name="T41" fmla="*/ 11 h 18"/>
                <a:gd name="T42" fmla="*/ 17 w 20"/>
                <a:gd name="T43" fmla="*/ 11 h 18"/>
                <a:gd name="T44" fmla="*/ 19 w 20"/>
                <a:gd name="T45" fmla="*/ 8 h 18"/>
                <a:gd name="T46" fmla="*/ 12 w 20"/>
                <a:gd name="T47" fmla="*/ 1 h 18"/>
                <a:gd name="T48" fmla="*/ 11 w 20"/>
                <a:gd name="T49" fmla="*/ 1 h 18"/>
                <a:gd name="T50" fmla="*/ 12 w 20"/>
                <a:gd name="T51" fmla="*/ 0 h 18"/>
                <a:gd name="T52" fmla="*/ 13 w 20"/>
                <a:gd name="T53" fmla="*/ 0 h 18"/>
                <a:gd name="T54" fmla="*/ 19 w 20"/>
                <a:gd name="T55" fmla="*/ 1 h 18"/>
                <a:gd name="T56" fmla="*/ 19 w 20"/>
                <a:gd name="T57" fmla="*/ 13 h 18"/>
                <a:gd name="T58" fmla="*/ 20 w 20"/>
                <a:gd name="T59" fmla="*/ 17 h 18"/>
                <a:gd name="T60" fmla="*/ 19 w 20"/>
                <a:gd name="T61" fmla="*/ 17 h 18"/>
                <a:gd name="T62" fmla="*/ 17 w 20"/>
                <a:gd name="T63" fmla="*/ 15 h 18"/>
                <a:gd name="T64" fmla="*/ 3 w 20"/>
                <a:gd name="T65"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 h="18">
                  <a:moveTo>
                    <a:pt x="3" y="16"/>
                  </a:moveTo>
                  <a:cubicBezTo>
                    <a:pt x="0" y="16"/>
                    <a:pt x="2" y="18"/>
                    <a:pt x="1" y="18"/>
                  </a:cubicBezTo>
                  <a:cubicBezTo>
                    <a:pt x="1" y="18"/>
                    <a:pt x="0" y="18"/>
                    <a:pt x="0" y="18"/>
                  </a:cubicBezTo>
                  <a:cubicBezTo>
                    <a:pt x="0" y="16"/>
                    <a:pt x="0" y="15"/>
                    <a:pt x="0" y="14"/>
                  </a:cubicBezTo>
                  <a:cubicBezTo>
                    <a:pt x="0" y="10"/>
                    <a:pt x="0" y="7"/>
                    <a:pt x="0" y="4"/>
                  </a:cubicBezTo>
                  <a:cubicBezTo>
                    <a:pt x="5" y="2"/>
                    <a:pt x="5" y="2"/>
                    <a:pt x="5" y="2"/>
                  </a:cubicBezTo>
                  <a:cubicBezTo>
                    <a:pt x="5" y="2"/>
                    <a:pt x="6" y="2"/>
                    <a:pt x="6" y="2"/>
                  </a:cubicBezTo>
                  <a:cubicBezTo>
                    <a:pt x="6" y="2"/>
                    <a:pt x="6" y="2"/>
                    <a:pt x="6" y="2"/>
                  </a:cubicBezTo>
                  <a:cubicBezTo>
                    <a:pt x="6" y="2"/>
                    <a:pt x="6" y="2"/>
                    <a:pt x="4" y="3"/>
                  </a:cubicBezTo>
                  <a:cubicBezTo>
                    <a:pt x="2" y="5"/>
                    <a:pt x="1" y="7"/>
                    <a:pt x="1" y="10"/>
                  </a:cubicBezTo>
                  <a:cubicBezTo>
                    <a:pt x="1" y="12"/>
                    <a:pt x="1" y="12"/>
                    <a:pt x="1" y="12"/>
                  </a:cubicBezTo>
                  <a:cubicBezTo>
                    <a:pt x="9" y="11"/>
                    <a:pt x="9" y="11"/>
                    <a:pt x="9" y="11"/>
                  </a:cubicBezTo>
                  <a:cubicBezTo>
                    <a:pt x="9" y="11"/>
                    <a:pt x="9" y="11"/>
                    <a:pt x="9" y="11"/>
                  </a:cubicBezTo>
                  <a:cubicBezTo>
                    <a:pt x="9" y="9"/>
                    <a:pt x="7" y="7"/>
                    <a:pt x="5" y="7"/>
                  </a:cubicBezTo>
                  <a:cubicBezTo>
                    <a:pt x="5" y="7"/>
                    <a:pt x="5" y="7"/>
                    <a:pt x="5" y="7"/>
                  </a:cubicBezTo>
                  <a:cubicBezTo>
                    <a:pt x="4" y="7"/>
                    <a:pt x="5" y="7"/>
                    <a:pt x="5" y="7"/>
                  </a:cubicBezTo>
                  <a:cubicBezTo>
                    <a:pt x="13" y="6"/>
                    <a:pt x="13" y="6"/>
                    <a:pt x="13" y="6"/>
                  </a:cubicBezTo>
                  <a:cubicBezTo>
                    <a:pt x="14" y="6"/>
                    <a:pt x="14" y="6"/>
                    <a:pt x="14" y="6"/>
                  </a:cubicBezTo>
                  <a:cubicBezTo>
                    <a:pt x="14" y="7"/>
                    <a:pt x="14" y="7"/>
                    <a:pt x="13" y="7"/>
                  </a:cubicBezTo>
                  <a:cubicBezTo>
                    <a:pt x="11" y="7"/>
                    <a:pt x="9" y="9"/>
                    <a:pt x="10" y="10"/>
                  </a:cubicBezTo>
                  <a:cubicBezTo>
                    <a:pt x="10" y="11"/>
                    <a:pt x="10" y="11"/>
                    <a:pt x="10" y="11"/>
                  </a:cubicBezTo>
                  <a:cubicBezTo>
                    <a:pt x="17" y="11"/>
                    <a:pt x="17" y="11"/>
                    <a:pt x="17" y="11"/>
                  </a:cubicBezTo>
                  <a:cubicBezTo>
                    <a:pt x="18" y="11"/>
                    <a:pt x="19" y="10"/>
                    <a:pt x="19" y="8"/>
                  </a:cubicBezTo>
                  <a:cubicBezTo>
                    <a:pt x="18" y="4"/>
                    <a:pt x="15" y="2"/>
                    <a:pt x="12" y="1"/>
                  </a:cubicBezTo>
                  <a:cubicBezTo>
                    <a:pt x="12" y="1"/>
                    <a:pt x="11" y="1"/>
                    <a:pt x="11" y="1"/>
                  </a:cubicBezTo>
                  <a:cubicBezTo>
                    <a:pt x="11" y="1"/>
                    <a:pt x="12" y="0"/>
                    <a:pt x="12" y="0"/>
                  </a:cubicBezTo>
                  <a:cubicBezTo>
                    <a:pt x="12" y="0"/>
                    <a:pt x="12" y="0"/>
                    <a:pt x="13" y="0"/>
                  </a:cubicBezTo>
                  <a:cubicBezTo>
                    <a:pt x="19" y="1"/>
                    <a:pt x="19" y="1"/>
                    <a:pt x="19" y="1"/>
                  </a:cubicBezTo>
                  <a:cubicBezTo>
                    <a:pt x="19" y="5"/>
                    <a:pt x="19" y="9"/>
                    <a:pt x="19" y="13"/>
                  </a:cubicBezTo>
                  <a:cubicBezTo>
                    <a:pt x="19" y="14"/>
                    <a:pt x="20" y="15"/>
                    <a:pt x="20" y="17"/>
                  </a:cubicBezTo>
                  <a:cubicBezTo>
                    <a:pt x="20" y="17"/>
                    <a:pt x="19" y="17"/>
                    <a:pt x="19" y="17"/>
                  </a:cubicBezTo>
                  <a:cubicBezTo>
                    <a:pt x="18" y="17"/>
                    <a:pt x="19" y="15"/>
                    <a:pt x="17" y="15"/>
                  </a:cubicBezTo>
                  <a:lnTo>
                    <a:pt x="3"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6" name="Freeform 54"/>
            <p:cNvSpPr/>
            <p:nvPr/>
          </p:nvSpPr>
          <p:spPr bwMode="auto">
            <a:xfrm>
              <a:off x="3927475" y="5253038"/>
              <a:ext cx="128588" cy="136525"/>
            </a:xfrm>
            <a:custGeom>
              <a:avLst/>
              <a:gdLst>
                <a:gd name="T0" fmla="*/ 15 w 23"/>
                <a:gd name="T1" fmla="*/ 19 h 24"/>
                <a:gd name="T2" fmla="*/ 19 w 23"/>
                <a:gd name="T3" fmla="*/ 18 h 24"/>
                <a:gd name="T4" fmla="*/ 20 w 23"/>
                <a:gd name="T5" fmla="*/ 17 h 24"/>
                <a:gd name="T6" fmla="*/ 20 w 23"/>
                <a:gd name="T7" fmla="*/ 17 h 24"/>
                <a:gd name="T8" fmla="*/ 20 w 23"/>
                <a:gd name="T9" fmla="*/ 21 h 24"/>
                <a:gd name="T10" fmla="*/ 19 w 23"/>
                <a:gd name="T11" fmla="*/ 24 h 24"/>
                <a:gd name="T12" fmla="*/ 18 w 23"/>
                <a:gd name="T13" fmla="*/ 24 h 24"/>
                <a:gd name="T14" fmla="*/ 18 w 23"/>
                <a:gd name="T15" fmla="*/ 22 h 24"/>
                <a:gd name="T16" fmla="*/ 15 w 23"/>
                <a:gd name="T17" fmla="*/ 20 h 24"/>
                <a:gd name="T18" fmla="*/ 3 w 23"/>
                <a:gd name="T19" fmla="*/ 17 h 24"/>
                <a:gd name="T20" fmla="*/ 1 w 23"/>
                <a:gd name="T21" fmla="*/ 19 h 24"/>
                <a:gd name="T22" fmla="*/ 0 w 23"/>
                <a:gd name="T23" fmla="*/ 20 h 24"/>
                <a:gd name="T24" fmla="*/ 0 w 23"/>
                <a:gd name="T25" fmla="*/ 20 h 24"/>
                <a:gd name="T26" fmla="*/ 1 w 23"/>
                <a:gd name="T27" fmla="*/ 17 h 24"/>
                <a:gd name="T28" fmla="*/ 2 w 23"/>
                <a:gd name="T29" fmla="*/ 14 h 24"/>
                <a:gd name="T30" fmla="*/ 16 w 23"/>
                <a:gd name="T31" fmla="*/ 6 h 24"/>
                <a:gd name="T32" fmla="*/ 16 w 23"/>
                <a:gd name="T33" fmla="*/ 6 h 24"/>
                <a:gd name="T34" fmla="*/ 8 w 23"/>
                <a:gd name="T35" fmla="*/ 5 h 24"/>
                <a:gd name="T36" fmla="*/ 4 w 23"/>
                <a:gd name="T37" fmla="*/ 6 h 24"/>
                <a:gd name="T38" fmla="*/ 3 w 23"/>
                <a:gd name="T39" fmla="*/ 7 h 24"/>
                <a:gd name="T40" fmla="*/ 3 w 23"/>
                <a:gd name="T41" fmla="*/ 6 h 24"/>
                <a:gd name="T42" fmla="*/ 4 w 23"/>
                <a:gd name="T43" fmla="*/ 3 h 24"/>
                <a:gd name="T44" fmla="*/ 4 w 23"/>
                <a:gd name="T45" fmla="*/ 0 h 24"/>
                <a:gd name="T46" fmla="*/ 5 w 23"/>
                <a:gd name="T47" fmla="*/ 0 h 24"/>
                <a:gd name="T48" fmla="*/ 5 w 23"/>
                <a:gd name="T49" fmla="*/ 1 h 24"/>
                <a:gd name="T50" fmla="*/ 8 w 23"/>
                <a:gd name="T51" fmla="*/ 4 h 24"/>
                <a:gd name="T52" fmla="*/ 22 w 23"/>
                <a:gd name="T53" fmla="*/ 7 h 24"/>
                <a:gd name="T54" fmla="*/ 23 w 23"/>
                <a:gd name="T55" fmla="*/ 7 h 24"/>
                <a:gd name="T56" fmla="*/ 22 w 23"/>
                <a:gd name="T57" fmla="*/ 8 h 24"/>
                <a:gd name="T58" fmla="*/ 4 w 23"/>
                <a:gd name="T59" fmla="*/ 17 h 24"/>
                <a:gd name="T60" fmla="*/ 4 w 23"/>
                <a:gd name="T61" fmla="*/ 17 h 24"/>
                <a:gd name="T62" fmla="*/ 15 w 23"/>
                <a:gd name="T63" fmla="*/ 1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4">
                  <a:moveTo>
                    <a:pt x="15" y="19"/>
                  </a:moveTo>
                  <a:cubicBezTo>
                    <a:pt x="18" y="20"/>
                    <a:pt x="19" y="19"/>
                    <a:pt x="19" y="18"/>
                  </a:cubicBezTo>
                  <a:cubicBezTo>
                    <a:pt x="20" y="18"/>
                    <a:pt x="20" y="17"/>
                    <a:pt x="20" y="17"/>
                  </a:cubicBezTo>
                  <a:cubicBezTo>
                    <a:pt x="20" y="17"/>
                    <a:pt x="20" y="17"/>
                    <a:pt x="20" y="17"/>
                  </a:cubicBezTo>
                  <a:cubicBezTo>
                    <a:pt x="20" y="18"/>
                    <a:pt x="20" y="19"/>
                    <a:pt x="20" y="21"/>
                  </a:cubicBezTo>
                  <a:cubicBezTo>
                    <a:pt x="19" y="22"/>
                    <a:pt x="19" y="23"/>
                    <a:pt x="19" y="24"/>
                  </a:cubicBezTo>
                  <a:cubicBezTo>
                    <a:pt x="19" y="24"/>
                    <a:pt x="19" y="24"/>
                    <a:pt x="18" y="24"/>
                  </a:cubicBezTo>
                  <a:cubicBezTo>
                    <a:pt x="18" y="24"/>
                    <a:pt x="18" y="23"/>
                    <a:pt x="18" y="22"/>
                  </a:cubicBezTo>
                  <a:cubicBezTo>
                    <a:pt x="18" y="21"/>
                    <a:pt x="17" y="20"/>
                    <a:pt x="15" y="20"/>
                  </a:cubicBezTo>
                  <a:cubicBezTo>
                    <a:pt x="3" y="17"/>
                    <a:pt x="3" y="17"/>
                    <a:pt x="3" y="17"/>
                  </a:cubicBezTo>
                  <a:cubicBezTo>
                    <a:pt x="2" y="18"/>
                    <a:pt x="1" y="19"/>
                    <a:pt x="1" y="19"/>
                  </a:cubicBezTo>
                  <a:cubicBezTo>
                    <a:pt x="1" y="20"/>
                    <a:pt x="1" y="20"/>
                    <a:pt x="0" y="20"/>
                  </a:cubicBezTo>
                  <a:cubicBezTo>
                    <a:pt x="0" y="20"/>
                    <a:pt x="0" y="20"/>
                    <a:pt x="0" y="20"/>
                  </a:cubicBezTo>
                  <a:cubicBezTo>
                    <a:pt x="0" y="19"/>
                    <a:pt x="1" y="18"/>
                    <a:pt x="1" y="17"/>
                  </a:cubicBezTo>
                  <a:cubicBezTo>
                    <a:pt x="2" y="14"/>
                    <a:pt x="2" y="14"/>
                    <a:pt x="2" y="14"/>
                  </a:cubicBezTo>
                  <a:cubicBezTo>
                    <a:pt x="16" y="6"/>
                    <a:pt x="16" y="6"/>
                    <a:pt x="16" y="6"/>
                  </a:cubicBezTo>
                  <a:cubicBezTo>
                    <a:pt x="16" y="6"/>
                    <a:pt x="16" y="6"/>
                    <a:pt x="16" y="6"/>
                  </a:cubicBezTo>
                  <a:cubicBezTo>
                    <a:pt x="8" y="5"/>
                    <a:pt x="8" y="5"/>
                    <a:pt x="8" y="5"/>
                  </a:cubicBezTo>
                  <a:cubicBezTo>
                    <a:pt x="6" y="4"/>
                    <a:pt x="5" y="5"/>
                    <a:pt x="4" y="6"/>
                  </a:cubicBezTo>
                  <a:cubicBezTo>
                    <a:pt x="4" y="6"/>
                    <a:pt x="4" y="7"/>
                    <a:pt x="3" y="7"/>
                  </a:cubicBezTo>
                  <a:cubicBezTo>
                    <a:pt x="3" y="7"/>
                    <a:pt x="3" y="7"/>
                    <a:pt x="3" y="6"/>
                  </a:cubicBezTo>
                  <a:cubicBezTo>
                    <a:pt x="3" y="6"/>
                    <a:pt x="4" y="4"/>
                    <a:pt x="4" y="3"/>
                  </a:cubicBezTo>
                  <a:cubicBezTo>
                    <a:pt x="4" y="2"/>
                    <a:pt x="4" y="1"/>
                    <a:pt x="4" y="0"/>
                  </a:cubicBezTo>
                  <a:cubicBezTo>
                    <a:pt x="4" y="0"/>
                    <a:pt x="5" y="0"/>
                    <a:pt x="5" y="0"/>
                  </a:cubicBezTo>
                  <a:cubicBezTo>
                    <a:pt x="5" y="0"/>
                    <a:pt x="5" y="1"/>
                    <a:pt x="5" y="1"/>
                  </a:cubicBezTo>
                  <a:cubicBezTo>
                    <a:pt x="5" y="2"/>
                    <a:pt x="6" y="3"/>
                    <a:pt x="8" y="4"/>
                  </a:cubicBezTo>
                  <a:cubicBezTo>
                    <a:pt x="22" y="7"/>
                    <a:pt x="22" y="7"/>
                    <a:pt x="22" y="7"/>
                  </a:cubicBezTo>
                  <a:cubicBezTo>
                    <a:pt x="23" y="7"/>
                    <a:pt x="23" y="7"/>
                    <a:pt x="23" y="7"/>
                  </a:cubicBezTo>
                  <a:cubicBezTo>
                    <a:pt x="23" y="8"/>
                    <a:pt x="23" y="8"/>
                    <a:pt x="22" y="8"/>
                  </a:cubicBezTo>
                  <a:cubicBezTo>
                    <a:pt x="4" y="17"/>
                    <a:pt x="4" y="17"/>
                    <a:pt x="4" y="17"/>
                  </a:cubicBezTo>
                  <a:cubicBezTo>
                    <a:pt x="4" y="17"/>
                    <a:pt x="4" y="17"/>
                    <a:pt x="4" y="17"/>
                  </a:cubicBezTo>
                  <a:lnTo>
                    <a:pt x="15" y="1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7" name="Freeform 55"/>
            <p:cNvSpPr/>
            <p:nvPr/>
          </p:nvSpPr>
          <p:spPr bwMode="auto">
            <a:xfrm>
              <a:off x="3965575" y="5151438"/>
              <a:ext cx="123825" cy="125413"/>
            </a:xfrm>
            <a:custGeom>
              <a:avLst/>
              <a:gdLst>
                <a:gd name="T0" fmla="*/ 19 w 22"/>
                <a:gd name="T1" fmla="*/ 15 h 22"/>
                <a:gd name="T2" fmla="*/ 19 w 22"/>
                <a:gd name="T3" fmla="*/ 8 h 22"/>
                <a:gd name="T4" fmla="*/ 16 w 22"/>
                <a:gd name="T5" fmla="*/ 5 h 22"/>
                <a:gd name="T6" fmla="*/ 17 w 22"/>
                <a:gd name="T7" fmla="*/ 5 h 22"/>
                <a:gd name="T8" fmla="*/ 18 w 22"/>
                <a:gd name="T9" fmla="*/ 6 h 22"/>
                <a:gd name="T10" fmla="*/ 22 w 22"/>
                <a:gd name="T11" fmla="*/ 9 h 22"/>
                <a:gd name="T12" fmla="*/ 19 w 22"/>
                <a:gd name="T13" fmla="*/ 16 h 22"/>
                <a:gd name="T14" fmla="*/ 17 w 22"/>
                <a:gd name="T15" fmla="*/ 22 h 22"/>
                <a:gd name="T16" fmla="*/ 16 w 22"/>
                <a:gd name="T17" fmla="*/ 22 h 22"/>
                <a:gd name="T18" fmla="*/ 16 w 22"/>
                <a:gd name="T19" fmla="*/ 21 h 22"/>
                <a:gd name="T20" fmla="*/ 4 w 22"/>
                <a:gd name="T21" fmla="*/ 4 h 22"/>
                <a:gd name="T22" fmla="*/ 4 w 22"/>
                <a:gd name="T23" fmla="*/ 6 h 22"/>
                <a:gd name="T24" fmla="*/ 4 w 22"/>
                <a:gd name="T25" fmla="*/ 13 h 22"/>
                <a:gd name="T26" fmla="*/ 5 w 22"/>
                <a:gd name="T27" fmla="*/ 15 h 22"/>
                <a:gd name="T28" fmla="*/ 5 w 22"/>
                <a:gd name="T29" fmla="*/ 16 h 22"/>
                <a:gd name="T30" fmla="*/ 4 w 22"/>
                <a:gd name="T31" fmla="*/ 15 h 22"/>
                <a:gd name="T32" fmla="*/ 0 w 22"/>
                <a:gd name="T33" fmla="*/ 12 h 22"/>
                <a:gd name="T34" fmla="*/ 3 w 22"/>
                <a:gd name="T35" fmla="*/ 6 h 22"/>
                <a:gd name="T36" fmla="*/ 5 w 22"/>
                <a:gd name="T37" fmla="*/ 0 h 22"/>
                <a:gd name="T38" fmla="*/ 6 w 22"/>
                <a:gd name="T39" fmla="*/ 0 h 22"/>
                <a:gd name="T40" fmla="*/ 6 w 22"/>
                <a:gd name="T41" fmla="*/ 1 h 22"/>
                <a:gd name="T42" fmla="*/ 18 w 22"/>
                <a:gd name="T43" fmla="*/ 17 h 22"/>
                <a:gd name="T44" fmla="*/ 19 w 22"/>
                <a:gd name="T45" fmla="*/ 1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22">
                  <a:moveTo>
                    <a:pt x="19" y="15"/>
                  </a:moveTo>
                  <a:cubicBezTo>
                    <a:pt x="20" y="12"/>
                    <a:pt x="20" y="10"/>
                    <a:pt x="19" y="8"/>
                  </a:cubicBezTo>
                  <a:cubicBezTo>
                    <a:pt x="18" y="6"/>
                    <a:pt x="16" y="6"/>
                    <a:pt x="16" y="5"/>
                  </a:cubicBezTo>
                  <a:cubicBezTo>
                    <a:pt x="16" y="5"/>
                    <a:pt x="16" y="5"/>
                    <a:pt x="17" y="5"/>
                  </a:cubicBezTo>
                  <a:cubicBezTo>
                    <a:pt x="17" y="5"/>
                    <a:pt x="17" y="5"/>
                    <a:pt x="18" y="6"/>
                  </a:cubicBezTo>
                  <a:cubicBezTo>
                    <a:pt x="22" y="9"/>
                    <a:pt x="22" y="9"/>
                    <a:pt x="22" y="9"/>
                  </a:cubicBezTo>
                  <a:cubicBezTo>
                    <a:pt x="21" y="11"/>
                    <a:pt x="20" y="13"/>
                    <a:pt x="19" y="16"/>
                  </a:cubicBezTo>
                  <a:cubicBezTo>
                    <a:pt x="18" y="18"/>
                    <a:pt x="18" y="20"/>
                    <a:pt x="17" y="22"/>
                  </a:cubicBezTo>
                  <a:cubicBezTo>
                    <a:pt x="16" y="22"/>
                    <a:pt x="16" y="22"/>
                    <a:pt x="16" y="22"/>
                  </a:cubicBezTo>
                  <a:cubicBezTo>
                    <a:pt x="16" y="22"/>
                    <a:pt x="16" y="22"/>
                    <a:pt x="16" y="21"/>
                  </a:cubicBezTo>
                  <a:cubicBezTo>
                    <a:pt x="4" y="4"/>
                    <a:pt x="4" y="4"/>
                    <a:pt x="4" y="4"/>
                  </a:cubicBezTo>
                  <a:cubicBezTo>
                    <a:pt x="4" y="6"/>
                    <a:pt x="4" y="6"/>
                    <a:pt x="4" y="6"/>
                  </a:cubicBezTo>
                  <a:cubicBezTo>
                    <a:pt x="2" y="9"/>
                    <a:pt x="2" y="11"/>
                    <a:pt x="4" y="13"/>
                  </a:cubicBezTo>
                  <a:cubicBezTo>
                    <a:pt x="5" y="15"/>
                    <a:pt x="5" y="15"/>
                    <a:pt x="5" y="15"/>
                  </a:cubicBezTo>
                  <a:cubicBezTo>
                    <a:pt x="5" y="16"/>
                    <a:pt x="5" y="16"/>
                    <a:pt x="5" y="16"/>
                  </a:cubicBezTo>
                  <a:cubicBezTo>
                    <a:pt x="5" y="16"/>
                    <a:pt x="5" y="15"/>
                    <a:pt x="4" y="15"/>
                  </a:cubicBezTo>
                  <a:cubicBezTo>
                    <a:pt x="0" y="12"/>
                    <a:pt x="0" y="12"/>
                    <a:pt x="0" y="12"/>
                  </a:cubicBezTo>
                  <a:cubicBezTo>
                    <a:pt x="1" y="10"/>
                    <a:pt x="2" y="8"/>
                    <a:pt x="3" y="6"/>
                  </a:cubicBezTo>
                  <a:cubicBezTo>
                    <a:pt x="4" y="4"/>
                    <a:pt x="5" y="2"/>
                    <a:pt x="5" y="0"/>
                  </a:cubicBezTo>
                  <a:cubicBezTo>
                    <a:pt x="6" y="0"/>
                    <a:pt x="6" y="0"/>
                    <a:pt x="6" y="0"/>
                  </a:cubicBezTo>
                  <a:cubicBezTo>
                    <a:pt x="6" y="0"/>
                    <a:pt x="6" y="0"/>
                    <a:pt x="6" y="1"/>
                  </a:cubicBezTo>
                  <a:cubicBezTo>
                    <a:pt x="18" y="17"/>
                    <a:pt x="18" y="17"/>
                    <a:pt x="18" y="17"/>
                  </a:cubicBezTo>
                  <a:lnTo>
                    <a:pt x="19"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8" name="Freeform 56"/>
            <p:cNvSpPr/>
            <p:nvPr/>
          </p:nvSpPr>
          <p:spPr bwMode="auto">
            <a:xfrm>
              <a:off x="4016375" y="5032375"/>
              <a:ext cx="150813" cy="153988"/>
            </a:xfrm>
            <a:custGeom>
              <a:avLst/>
              <a:gdLst>
                <a:gd name="T0" fmla="*/ 3 w 27"/>
                <a:gd name="T1" fmla="*/ 15 h 27"/>
                <a:gd name="T2" fmla="*/ 0 w 27"/>
                <a:gd name="T3" fmla="*/ 16 h 27"/>
                <a:gd name="T4" fmla="*/ 0 w 27"/>
                <a:gd name="T5" fmla="*/ 15 h 27"/>
                <a:gd name="T6" fmla="*/ 3 w 27"/>
                <a:gd name="T7" fmla="*/ 12 h 27"/>
                <a:gd name="T8" fmla="*/ 5 w 27"/>
                <a:gd name="T9" fmla="*/ 9 h 27"/>
                <a:gd name="T10" fmla="*/ 6 w 27"/>
                <a:gd name="T11" fmla="*/ 9 h 27"/>
                <a:gd name="T12" fmla="*/ 6 w 27"/>
                <a:gd name="T13" fmla="*/ 12 h 27"/>
                <a:gd name="T14" fmla="*/ 11 w 27"/>
                <a:gd name="T15" fmla="*/ 16 h 27"/>
                <a:gd name="T16" fmla="*/ 15 w 27"/>
                <a:gd name="T17" fmla="*/ 10 h 27"/>
                <a:gd name="T18" fmla="*/ 10 w 27"/>
                <a:gd name="T19" fmla="*/ 6 h 27"/>
                <a:gd name="T20" fmla="*/ 7 w 27"/>
                <a:gd name="T21" fmla="*/ 7 h 27"/>
                <a:gd name="T22" fmla="*/ 7 w 27"/>
                <a:gd name="T23" fmla="*/ 6 h 27"/>
                <a:gd name="T24" fmla="*/ 10 w 27"/>
                <a:gd name="T25" fmla="*/ 3 h 27"/>
                <a:gd name="T26" fmla="*/ 12 w 27"/>
                <a:gd name="T27" fmla="*/ 0 h 27"/>
                <a:gd name="T28" fmla="*/ 13 w 27"/>
                <a:gd name="T29" fmla="*/ 0 h 27"/>
                <a:gd name="T30" fmla="*/ 13 w 27"/>
                <a:gd name="T31" fmla="*/ 3 h 27"/>
                <a:gd name="T32" fmla="*/ 24 w 27"/>
                <a:gd name="T33" fmla="*/ 12 h 27"/>
                <a:gd name="T34" fmla="*/ 27 w 27"/>
                <a:gd name="T35" fmla="*/ 11 h 27"/>
                <a:gd name="T36" fmla="*/ 27 w 27"/>
                <a:gd name="T37" fmla="*/ 12 h 27"/>
                <a:gd name="T38" fmla="*/ 25 w 27"/>
                <a:gd name="T39" fmla="*/ 15 h 27"/>
                <a:gd name="T40" fmla="*/ 22 w 27"/>
                <a:gd name="T41" fmla="*/ 18 h 27"/>
                <a:gd name="T42" fmla="*/ 22 w 27"/>
                <a:gd name="T43" fmla="*/ 18 h 27"/>
                <a:gd name="T44" fmla="*/ 22 w 27"/>
                <a:gd name="T45" fmla="*/ 15 h 27"/>
                <a:gd name="T46" fmla="*/ 16 w 27"/>
                <a:gd name="T47" fmla="*/ 11 h 27"/>
                <a:gd name="T48" fmla="*/ 11 w 27"/>
                <a:gd name="T49" fmla="*/ 16 h 27"/>
                <a:gd name="T50" fmla="*/ 17 w 27"/>
                <a:gd name="T51" fmla="*/ 21 h 27"/>
                <a:gd name="T52" fmla="*/ 20 w 27"/>
                <a:gd name="T53" fmla="*/ 20 h 27"/>
                <a:gd name="T54" fmla="*/ 20 w 27"/>
                <a:gd name="T55" fmla="*/ 21 h 27"/>
                <a:gd name="T56" fmla="*/ 17 w 27"/>
                <a:gd name="T57" fmla="*/ 24 h 27"/>
                <a:gd name="T58" fmla="*/ 15 w 27"/>
                <a:gd name="T59" fmla="*/ 27 h 27"/>
                <a:gd name="T60" fmla="*/ 14 w 27"/>
                <a:gd name="T61" fmla="*/ 27 h 27"/>
                <a:gd name="T62" fmla="*/ 14 w 27"/>
                <a:gd name="T63" fmla="*/ 24 h 27"/>
                <a:gd name="T64" fmla="*/ 3 w 27"/>
                <a:gd name="T65" fmla="*/ 1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 h="27">
                  <a:moveTo>
                    <a:pt x="3" y="15"/>
                  </a:moveTo>
                  <a:cubicBezTo>
                    <a:pt x="1" y="14"/>
                    <a:pt x="1" y="16"/>
                    <a:pt x="0" y="16"/>
                  </a:cubicBezTo>
                  <a:cubicBezTo>
                    <a:pt x="0" y="16"/>
                    <a:pt x="0" y="15"/>
                    <a:pt x="0" y="15"/>
                  </a:cubicBezTo>
                  <a:cubicBezTo>
                    <a:pt x="1" y="14"/>
                    <a:pt x="2" y="13"/>
                    <a:pt x="3" y="12"/>
                  </a:cubicBezTo>
                  <a:cubicBezTo>
                    <a:pt x="3" y="11"/>
                    <a:pt x="4" y="10"/>
                    <a:pt x="5" y="9"/>
                  </a:cubicBezTo>
                  <a:cubicBezTo>
                    <a:pt x="5" y="9"/>
                    <a:pt x="5" y="9"/>
                    <a:pt x="6" y="9"/>
                  </a:cubicBezTo>
                  <a:cubicBezTo>
                    <a:pt x="6" y="9"/>
                    <a:pt x="4" y="10"/>
                    <a:pt x="6" y="12"/>
                  </a:cubicBezTo>
                  <a:cubicBezTo>
                    <a:pt x="11" y="16"/>
                    <a:pt x="11" y="16"/>
                    <a:pt x="11" y="16"/>
                  </a:cubicBezTo>
                  <a:cubicBezTo>
                    <a:pt x="15" y="10"/>
                    <a:pt x="15" y="10"/>
                    <a:pt x="15" y="10"/>
                  </a:cubicBezTo>
                  <a:cubicBezTo>
                    <a:pt x="10" y="6"/>
                    <a:pt x="10" y="6"/>
                    <a:pt x="10" y="6"/>
                  </a:cubicBezTo>
                  <a:cubicBezTo>
                    <a:pt x="8" y="5"/>
                    <a:pt x="8" y="7"/>
                    <a:pt x="7" y="7"/>
                  </a:cubicBezTo>
                  <a:cubicBezTo>
                    <a:pt x="7" y="7"/>
                    <a:pt x="7" y="6"/>
                    <a:pt x="7" y="6"/>
                  </a:cubicBezTo>
                  <a:cubicBezTo>
                    <a:pt x="8" y="5"/>
                    <a:pt x="9" y="4"/>
                    <a:pt x="10" y="3"/>
                  </a:cubicBezTo>
                  <a:cubicBezTo>
                    <a:pt x="10" y="2"/>
                    <a:pt x="11" y="1"/>
                    <a:pt x="12" y="0"/>
                  </a:cubicBezTo>
                  <a:cubicBezTo>
                    <a:pt x="12" y="0"/>
                    <a:pt x="13" y="0"/>
                    <a:pt x="13" y="0"/>
                  </a:cubicBezTo>
                  <a:cubicBezTo>
                    <a:pt x="13" y="0"/>
                    <a:pt x="11" y="1"/>
                    <a:pt x="13" y="3"/>
                  </a:cubicBezTo>
                  <a:cubicBezTo>
                    <a:pt x="24" y="12"/>
                    <a:pt x="24" y="12"/>
                    <a:pt x="24" y="12"/>
                  </a:cubicBezTo>
                  <a:cubicBezTo>
                    <a:pt x="26" y="13"/>
                    <a:pt x="27" y="11"/>
                    <a:pt x="27" y="11"/>
                  </a:cubicBezTo>
                  <a:cubicBezTo>
                    <a:pt x="27" y="11"/>
                    <a:pt x="27" y="12"/>
                    <a:pt x="27" y="12"/>
                  </a:cubicBezTo>
                  <a:cubicBezTo>
                    <a:pt x="26" y="13"/>
                    <a:pt x="25" y="14"/>
                    <a:pt x="25" y="15"/>
                  </a:cubicBezTo>
                  <a:cubicBezTo>
                    <a:pt x="24" y="16"/>
                    <a:pt x="23" y="17"/>
                    <a:pt x="22" y="18"/>
                  </a:cubicBezTo>
                  <a:cubicBezTo>
                    <a:pt x="22" y="18"/>
                    <a:pt x="22" y="18"/>
                    <a:pt x="22" y="18"/>
                  </a:cubicBezTo>
                  <a:cubicBezTo>
                    <a:pt x="21" y="18"/>
                    <a:pt x="23" y="17"/>
                    <a:pt x="22" y="15"/>
                  </a:cubicBezTo>
                  <a:cubicBezTo>
                    <a:pt x="16" y="11"/>
                    <a:pt x="16" y="11"/>
                    <a:pt x="16" y="11"/>
                  </a:cubicBezTo>
                  <a:cubicBezTo>
                    <a:pt x="11" y="16"/>
                    <a:pt x="11" y="16"/>
                    <a:pt x="11" y="16"/>
                  </a:cubicBezTo>
                  <a:cubicBezTo>
                    <a:pt x="17" y="21"/>
                    <a:pt x="17" y="21"/>
                    <a:pt x="17" y="21"/>
                  </a:cubicBezTo>
                  <a:cubicBezTo>
                    <a:pt x="19" y="22"/>
                    <a:pt x="19" y="20"/>
                    <a:pt x="20" y="20"/>
                  </a:cubicBezTo>
                  <a:cubicBezTo>
                    <a:pt x="20" y="20"/>
                    <a:pt x="20" y="21"/>
                    <a:pt x="20" y="21"/>
                  </a:cubicBezTo>
                  <a:cubicBezTo>
                    <a:pt x="19" y="22"/>
                    <a:pt x="18" y="23"/>
                    <a:pt x="17" y="24"/>
                  </a:cubicBezTo>
                  <a:cubicBezTo>
                    <a:pt x="17" y="25"/>
                    <a:pt x="16" y="26"/>
                    <a:pt x="15" y="27"/>
                  </a:cubicBezTo>
                  <a:cubicBezTo>
                    <a:pt x="15" y="27"/>
                    <a:pt x="15" y="27"/>
                    <a:pt x="14" y="27"/>
                  </a:cubicBezTo>
                  <a:cubicBezTo>
                    <a:pt x="14" y="27"/>
                    <a:pt x="16" y="26"/>
                    <a:pt x="14" y="24"/>
                  </a:cubicBezTo>
                  <a:lnTo>
                    <a:pt x="3"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9" name="Freeform 57"/>
            <p:cNvSpPr/>
            <p:nvPr/>
          </p:nvSpPr>
          <p:spPr bwMode="auto">
            <a:xfrm>
              <a:off x="4122738" y="4946650"/>
              <a:ext cx="134938" cy="136525"/>
            </a:xfrm>
            <a:custGeom>
              <a:avLst/>
              <a:gdLst>
                <a:gd name="T0" fmla="*/ 3 w 24"/>
                <a:gd name="T1" fmla="*/ 9 h 24"/>
                <a:gd name="T2" fmla="*/ 0 w 24"/>
                <a:gd name="T3" fmla="*/ 9 h 24"/>
                <a:gd name="T4" fmla="*/ 1 w 24"/>
                <a:gd name="T5" fmla="*/ 8 h 24"/>
                <a:gd name="T6" fmla="*/ 4 w 24"/>
                <a:gd name="T7" fmla="*/ 6 h 24"/>
                <a:gd name="T8" fmla="*/ 12 w 24"/>
                <a:gd name="T9" fmla="*/ 0 h 24"/>
                <a:gd name="T10" fmla="*/ 16 w 24"/>
                <a:gd name="T11" fmla="*/ 4 h 24"/>
                <a:gd name="T12" fmla="*/ 17 w 24"/>
                <a:gd name="T13" fmla="*/ 4 h 24"/>
                <a:gd name="T14" fmla="*/ 17 w 24"/>
                <a:gd name="T15" fmla="*/ 4 h 24"/>
                <a:gd name="T16" fmla="*/ 14 w 24"/>
                <a:gd name="T17" fmla="*/ 3 h 24"/>
                <a:gd name="T18" fmla="*/ 7 w 24"/>
                <a:gd name="T19" fmla="*/ 4 h 24"/>
                <a:gd name="T20" fmla="*/ 6 w 24"/>
                <a:gd name="T21" fmla="*/ 5 h 24"/>
                <a:gd name="T22" fmla="*/ 11 w 24"/>
                <a:gd name="T23" fmla="*/ 12 h 24"/>
                <a:gd name="T24" fmla="*/ 11 w 24"/>
                <a:gd name="T25" fmla="*/ 11 h 24"/>
                <a:gd name="T26" fmla="*/ 12 w 24"/>
                <a:gd name="T27" fmla="*/ 7 h 24"/>
                <a:gd name="T28" fmla="*/ 12 w 24"/>
                <a:gd name="T29" fmla="*/ 6 h 24"/>
                <a:gd name="T30" fmla="*/ 12 w 24"/>
                <a:gd name="T31" fmla="*/ 6 h 24"/>
                <a:gd name="T32" fmla="*/ 17 w 24"/>
                <a:gd name="T33" fmla="*/ 13 h 24"/>
                <a:gd name="T34" fmla="*/ 17 w 24"/>
                <a:gd name="T35" fmla="*/ 13 h 24"/>
                <a:gd name="T36" fmla="*/ 17 w 24"/>
                <a:gd name="T37" fmla="*/ 13 h 24"/>
                <a:gd name="T38" fmla="*/ 11 w 24"/>
                <a:gd name="T39" fmla="*/ 12 h 24"/>
                <a:gd name="T40" fmla="*/ 11 w 24"/>
                <a:gd name="T41" fmla="*/ 12 h 24"/>
                <a:gd name="T42" fmla="*/ 15 w 24"/>
                <a:gd name="T43" fmla="*/ 18 h 24"/>
                <a:gd name="T44" fmla="*/ 18 w 24"/>
                <a:gd name="T45" fmla="*/ 18 h 24"/>
                <a:gd name="T46" fmla="*/ 21 w 24"/>
                <a:gd name="T47" fmla="*/ 9 h 24"/>
                <a:gd name="T48" fmla="*/ 21 w 24"/>
                <a:gd name="T49" fmla="*/ 8 h 24"/>
                <a:gd name="T50" fmla="*/ 21 w 24"/>
                <a:gd name="T51" fmla="*/ 8 h 24"/>
                <a:gd name="T52" fmla="*/ 22 w 24"/>
                <a:gd name="T53" fmla="*/ 9 h 24"/>
                <a:gd name="T54" fmla="*/ 24 w 24"/>
                <a:gd name="T55" fmla="*/ 15 h 24"/>
                <a:gd name="T56" fmla="*/ 15 w 24"/>
                <a:gd name="T57" fmla="*/ 21 h 24"/>
                <a:gd name="T58" fmla="*/ 12 w 24"/>
                <a:gd name="T59" fmla="*/ 24 h 24"/>
                <a:gd name="T60" fmla="*/ 11 w 24"/>
                <a:gd name="T61" fmla="*/ 24 h 24"/>
                <a:gd name="T62" fmla="*/ 12 w 24"/>
                <a:gd name="T63" fmla="*/ 21 h 24"/>
                <a:gd name="T64" fmla="*/ 3 w 24"/>
                <a:gd name="T65" fmla="*/ 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3" y="9"/>
                  </a:moveTo>
                  <a:cubicBezTo>
                    <a:pt x="2" y="7"/>
                    <a:pt x="1" y="9"/>
                    <a:pt x="0" y="9"/>
                  </a:cubicBezTo>
                  <a:cubicBezTo>
                    <a:pt x="0" y="9"/>
                    <a:pt x="0" y="8"/>
                    <a:pt x="1" y="8"/>
                  </a:cubicBezTo>
                  <a:cubicBezTo>
                    <a:pt x="2" y="7"/>
                    <a:pt x="3" y="7"/>
                    <a:pt x="4" y="6"/>
                  </a:cubicBezTo>
                  <a:cubicBezTo>
                    <a:pt x="7" y="4"/>
                    <a:pt x="9" y="2"/>
                    <a:pt x="12" y="0"/>
                  </a:cubicBezTo>
                  <a:cubicBezTo>
                    <a:pt x="16" y="4"/>
                    <a:pt x="16" y="4"/>
                    <a:pt x="16" y="4"/>
                  </a:cubicBezTo>
                  <a:cubicBezTo>
                    <a:pt x="17" y="4"/>
                    <a:pt x="17" y="4"/>
                    <a:pt x="17" y="4"/>
                  </a:cubicBezTo>
                  <a:cubicBezTo>
                    <a:pt x="17" y="4"/>
                    <a:pt x="17" y="4"/>
                    <a:pt x="17" y="4"/>
                  </a:cubicBezTo>
                  <a:cubicBezTo>
                    <a:pt x="17" y="5"/>
                    <a:pt x="16" y="4"/>
                    <a:pt x="14" y="3"/>
                  </a:cubicBezTo>
                  <a:cubicBezTo>
                    <a:pt x="12" y="2"/>
                    <a:pt x="10" y="2"/>
                    <a:pt x="7" y="4"/>
                  </a:cubicBezTo>
                  <a:cubicBezTo>
                    <a:pt x="6" y="5"/>
                    <a:pt x="6" y="5"/>
                    <a:pt x="6" y="5"/>
                  </a:cubicBezTo>
                  <a:cubicBezTo>
                    <a:pt x="11" y="12"/>
                    <a:pt x="11" y="12"/>
                    <a:pt x="11" y="12"/>
                  </a:cubicBezTo>
                  <a:cubicBezTo>
                    <a:pt x="11" y="11"/>
                    <a:pt x="11" y="11"/>
                    <a:pt x="11" y="11"/>
                  </a:cubicBezTo>
                  <a:cubicBezTo>
                    <a:pt x="13" y="10"/>
                    <a:pt x="13" y="8"/>
                    <a:pt x="12" y="7"/>
                  </a:cubicBezTo>
                  <a:cubicBezTo>
                    <a:pt x="12" y="6"/>
                    <a:pt x="12" y="6"/>
                    <a:pt x="12" y="6"/>
                  </a:cubicBezTo>
                  <a:cubicBezTo>
                    <a:pt x="12" y="6"/>
                    <a:pt x="12" y="6"/>
                    <a:pt x="12" y="6"/>
                  </a:cubicBezTo>
                  <a:cubicBezTo>
                    <a:pt x="17" y="13"/>
                    <a:pt x="17" y="13"/>
                    <a:pt x="17" y="13"/>
                  </a:cubicBezTo>
                  <a:cubicBezTo>
                    <a:pt x="17" y="13"/>
                    <a:pt x="17" y="13"/>
                    <a:pt x="17" y="13"/>
                  </a:cubicBezTo>
                  <a:cubicBezTo>
                    <a:pt x="17" y="14"/>
                    <a:pt x="17" y="13"/>
                    <a:pt x="17" y="13"/>
                  </a:cubicBezTo>
                  <a:cubicBezTo>
                    <a:pt x="15" y="11"/>
                    <a:pt x="13" y="11"/>
                    <a:pt x="11" y="12"/>
                  </a:cubicBezTo>
                  <a:cubicBezTo>
                    <a:pt x="11" y="12"/>
                    <a:pt x="11" y="12"/>
                    <a:pt x="11" y="12"/>
                  </a:cubicBezTo>
                  <a:cubicBezTo>
                    <a:pt x="15" y="18"/>
                    <a:pt x="15" y="18"/>
                    <a:pt x="15" y="18"/>
                  </a:cubicBezTo>
                  <a:cubicBezTo>
                    <a:pt x="16" y="19"/>
                    <a:pt x="17" y="19"/>
                    <a:pt x="18" y="18"/>
                  </a:cubicBezTo>
                  <a:cubicBezTo>
                    <a:pt x="22" y="16"/>
                    <a:pt x="22" y="12"/>
                    <a:pt x="21" y="9"/>
                  </a:cubicBezTo>
                  <a:cubicBezTo>
                    <a:pt x="21" y="9"/>
                    <a:pt x="21" y="8"/>
                    <a:pt x="21" y="8"/>
                  </a:cubicBezTo>
                  <a:cubicBezTo>
                    <a:pt x="21" y="8"/>
                    <a:pt x="21" y="8"/>
                    <a:pt x="21" y="8"/>
                  </a:cubicBezTo>
                  <a:cubicBezTo>
                    <a:pt x="21" y="9"/>
                    <a:pt x="21" y="9"/>
                    <a:pt x="22" y="9"/>
                  </a:cubicBezTo>
                  <a:cubicBezTo>
                    <a:pt x="24" y="15"/>
                    <a:pt x="24" y="15"/>
                    <a:pt x="24" y="15"/>
                  </a:cubicBezTo>
                  <a:cubicBezTo>
                    <a:pt x="21" y="17"/>
                    <a:pt x="18" y="19"/>
                    <a:pt x="15" y="21"/>
                  </a:cubicBezTo>
                  <a:cubicBezTo>
                    <a:pt x="14" y="22"/>
                    <a:pt x="13" y="23"/>
                    <a:pt x="12" y="24"/>
                  </a:cubicBezTo>
                  <a:cubicBezTo>
                    <a:pt x="11" y="24"/>
                    <a:pt x="11" y="24"/>
                    <a:pt x="11" y="24"/>
                  </a:cubicBezTo>
                  <a:cubicBezTo>
                    <a:pt x="11" y="23"/>
                    <a:pt x="13" y="23"/>
                    <a:pt x="12" y="21"/>
                  </a:cubicBezTo>
                  <a:lnTo>
                    <a:pt x="3" y="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0" name="Freeform 58"/>
            <p:cNvSpPr/>
            <p:nvPr/>
          </p:nvSpPr>
          <p:spPr bwMode="auto">
            <a:xfrm>
              <a:off x="4240213" y="4879975"/>
              <a:ext cx="130175" cy="141288"/>
            </a:xfrm>
            <a:custGeom>
              <a:avLst/>
              <a:gdLst>
                <a:gd name="T0" fmla="*/ 8 w 23"/>
                <a:gd name="T1" fmla="*/ 19 h 25"/>
                <a:gd name="T2" fmla="*/ 11 w 23"/>
                <a:gd name="T3" fmla="*/ 22 h 25"/>
                <a:gd name="T4" fmla="*/ 13 w 23"/>
                <a:gd name="T5" fmla="*/ 22 h 25"/>
                <a:gd name="T6" fmla="*/ 13 w 23"/>
                <a:gd name="T7" fmla="*/ 22 h 25"/>
                <a:gd name="T8" fmla="*/ 10 w 23"/>
                <a:gd name="T9" fmla="*/ 23 h 25"/>
                <a:gd name="T10" fmla="*/ 7 w 23"/>
                <a:gd name="T11" fmla="*/ 25 h 25"/>
                <a:gd name="T12" fmla="*/ 6 w 23"/>
                <a:gd name="T13" fmla="*/ 24 h 25"/>
                <a:gd name="T14" fmla="*/ 7 w 23"/>
                <a:gd name="T15" fmla="*/ 23 h 25"/>
                <a:gd name="T16" fmla="*/ 8 w 23"/>
                <a:gd name="T17" fmla="*/ 19 h 25"/>
                <a:gd name="T18" fmla="*/ 3 w 23"/>
                <a:gd name="T19" fmla="*/ 8 h 25"/>
                <a:gd name="T20" fmla="*/ 0 w 23"/>
                <a:gd name="T21" fmla="*/ 7 h 25"/>
                <a:gd name="T22" fmla="*/ 0 w 23"/>
                <a:gd name="T23" fmla="*/ 7 h 25"/>
                <a:gd name="T24" fmla="*/ 0 w 23"/>
                <a:gd name="T25" fmla="*/ 7 h 25"/>
                <a:gd name="T26" fmla="*/ 3 w 23"/>
                <a:gd name="T27" fmla="*/ 6 h 25"/>
                <a:gd name="T28" fmla="*/ 6 w 23"/>
                <a:gd name="T29" fmla="*/ 5 h 25"/>
                <a:gd name="T30" fmla="*/ 20 w 23"/>
                <a:gd name="T31" fmla="*/ 13 h 25"/>
                <a:gd name="T32" fmla="*/ 20 w 23"/>
                <a:gd name="T33" fmla="*/ 13 h 25"/>
                <a:gd name="T34" fmla="*/ 17 w 23"/>
                <a:gd name="T35" fmla="*/ 5 h 25"/>
                <a:gd name="T36" fmla="*/ 14 w 23"/>
                <a:gd name="T37" fmla="*/ 2 h 25"/>
                <a:gd name="T38" fmla="*/ 12 w 23"/>
                <a:gd name="T39" fmla="*/ 2 h 25"/>
                <a:gd name="T40" fmla="*/ 12 w 23"/>
                <a:gd name="T41" fmla="*/ 2 h 25"/>
                <a:gd name="T42" fmla="*/ 15 w 23"/>
                <a:gd name="T43" fmla="*/ 1 h 25"/>
                <a:gd name="T44" fmla="*/ 18 w 23"/>
                <a:gd name="T45" fmla="*/ 0 h 25"/>
                <a:gd name="T46" fmla="*/ 19 w 23"/>
                <a:gd name="T47" fmla="*/ 0 h 25"/>
                <a:gd name="T48" fmla="*/ 18 w 23"/>
                <a:gd name="T49" fmla="*/ 1 h 25"/>
                <a:gd name="T50" fmla="*/ 17 w 23"/>
                <a:gd name="T51" fmla="*/ 5 h 25"/>
                <a:gd name="T52" fmla="*/ 22 w 23"/>
                <a:gd name="T53" fmla="*/ 18 h 25"/>
                <a:gd name="T54" fmla="*/ 23 w 23"/>
                <a:gd name="T55" fmla="*/ 19 h 25"/>
                <a:gd name="T56" fmla="*/ 22 w 23"/>
                <a:gd name="T57" fmla="*/ 19 h 25"/>
                <a:gd name="T58" fmla="*/ 4 w 23"/>
                <a:gd name="T59" fmla="*/ 9 h 25"/>
                <a:gd name="T60" fmla="*/ 4 w 23"/>
                <a:gd name="T61" fmla="*/ 9 h 25"/>
                <a:gd name="T62" fmla="*/ 8 w 23"/>
                <a:gd name="T63" fmla="*/ 1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5">
                  <a:moveTo>
                    <a:pt x="8" y="19"/>
                  </a:moveTo>
                  <a:cubicBezTo>
                    <a:pt x="9" y="21"/>
                    <a:pt x="10" y="22"/>
                    <a:pt x="11" y="22"/>
                  </a:cubicBezTo>
                  <a:cubicBezTo>
                    <a:pt x="12" y="22"/>
                    <a:pt x="13" y="21"/>
                    <a:pt x="13" y="22"/>
                  </a:cubicBezTo>
                  <a:cubicBezTo>
                    <a:pt x="13" y="22"/>
                    <a:pt x="13" y="22"/>
                    <a:pt x="13" y="22"/>
                  </a:cubicBezTo>
                  <a:cubicBezTo>
                    <a:pt x="12" y="23"/>
                    <a:pt x="11" y="23"/>
                    <a:pt x="10" y="23"/>
                  </a:cubicBezTo>
                  <a:cubicBezTo>
                    <a:pt x="9" y="24"/>
                    <a:pt x="8" y="24"/>
                    <a:pt x="7" y="25"/>
                  </a:cubicBezTo>
                  <a:cubicBezTo>
                    <a:pt x="6" y="25"/>
                    <a:pt x="6" y="25"/>
                    <a:pt x="6" y="24"/>
                  </a:cubicBezTo>
                  <a:cubicBezTo>
                    <a:pt x="6" y="24"/>
                    <a:pt x="7" y="24"/>
                    <a:pt x="7" y="23"/>
                  </a:cubicBezTo>
                  <a:cubicBezTo>
                    <a:pt x="8" y="23"/>
                    <a:pt x="9" y="22"/>
                    <a:pt x="8" y="19"/>
                  </a:cubicBezTo>
                  <a:cubicBezTo>
                    <a:pt x="3" y="8"/>
                    <a:pt x="3" y="8"/>
                    <a:pt x="3" y="8"/>
                  </a:cubicBezTo>
                  <a:cubicBezTo>
                    <a:pt x="2" y="7"/>
                    <a:pt x="1" y="7"/>
                    <a:pt x="0" y="7"/>
                  </a:cubicBezTo>
                  <a:cubicBezTo>
                    <a:pt x="0" y="7"/>
                    <a:pt x="0" y="7"/>
                    <a:pt x="0" y="7"/>
                  </a:cubicBezTo>
                  <a:cubicBezTo>
                    <a:pt x="0" y="7"/>
                    <a:pt x="0" y="7"/>
                    <a:pt x="0" y="7"/>
                  </a:cubicBezTo>
                  <a:cubicBezTo>
                    <a:pt x="1" y="6"/>
                    <a:pt x="2" y="6"/>
                    <a:pt x="3" y="6"/>
                  </a:cubicBezTo>
                  <a:cubicBezTo>
                    <a:pt x="6" y="5"/>
                    <a:pt x="6" y="5"/>
                    <a:pt x="6" y="5"/>
                  </a:cubicBezTo>
                  <a:cubicBezTo>
                    <a:pt x="20" y="13"/>
                    <a:pt x="20" y="13"/>
                    <a:pt x="20" y="13"/>
                  </a:cubicBezTo>
                  <a:cubicBezTo>
                    <a:pt x="20" y="13"/>
                    <a:pt x="20" y="13"/>
                    <a:pt x="20" y="13"/>
                  </a:cubicBezTo>
                  <a:cubicBezTo>
                    <a:pt x="17" y="5"/>
                    <a:pt x="17" y="5"/>
                    <a:pt x="17" y="5"/>
                  </a:cubicBezTo>
                  <a:cubicBezTo>
                    <a:pt x="16" y="3"/>
                    <a:pt x="15" y="2"/>
                    <a:pt x="14" y="2"/>
                  </a:cubicBezTo>
                  <a:cubicBezTo>
                    <a:pt x="13" y="2"/>
                    <a:pt x="12" y="3"/>
                    <a:pt x="12" y="2"/>
                  </a:cubicBezTo>
                  <a:cubicBezTo>
                    <a:pt x="12" y="2"/>
                    <a:pt x="12" y="2"/>
                    <a:pt x="12" y="2"/>
                  </a:cubicBezTo>
                  <a:cubicBezTo>
                    <a:pt x="13" y="2"/>
                    <a:pt x="14" y="1"/>
                    <a:pt x="15" y="1"/>
                  </a:cubicBezTo>
                  <a:cubicBezTo>
                    <a:pt x="17" y="0"/>
                    <a:pt x="18" y="0"/>
                    <a:pt x="18" y="0"/>
                  </a:cubicBezTo>
                  <a:cubicBezTo>
                    <a:pt x="19" y="0"/>
                    <a:pt x="19" y="0"/>
                    <a:pt x="19" y="0"/>
                  </a:cubicBezTo>
                  <a:cubicBezTo>
                    <a:pt x="19" y="0"/>
                    <a:pt x="18" y="0"/>
                    <a:pt x="18" y="1"/>
                  </a:cubicBezTo>
                  <a:cubicBezTo>
                    <a:pt x="17" y="1"/>
                    <a:pt x="17" y="3"/>
                    <a:pt x="17" y="5"/>
                  </a:cubicBezTo>
                  <a:cubicBezTo>
                    <a:pt x="22" y="18"/>
                    <a:pt x="22" y="18"/>
                    <a:pt x="22" y="18"/>
                  </a:cubicBezTo>
                  <a:cubicBezTo>
                    <a:pt x="23" y="19"/>
                    <a:pt x="23" y="19"/>
                    <a:pt x="23" y="19"/>
                  </a:cubicBezTo>
                  <a:cubicBezTo>
                    <a:pt x="22" y="19"/>
                    <a:pt x="22" y="19"/>
                    <a:pt x="22" y="19"/>
                  </a:cubicBezTo>
                  <a:cubicBezTo>
                    <a:pt x="4" y="9"/>
                    <a:pt x="4" y="9"/>
                    <a:pt x="4" y="9"/>
                  </a:cubicBezTo>
                  <a:cubicBezTo>
                    <a:pt x="4" y="9"/>
                    <a:pt x="4" y="9"/>
                    <a:pt x="4" y="9"/>
                  </a:cubicBezTo>
                  <a:lnTo>
                    <a:pt x="8" y="1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 name="Oval 59"/>
            <p:cNvSpPr>
              <a:spLocks noChangeArrowheads="1"/>
            </p:cNvSpPr>
            <p:nvPr/>
          </p:nvSpPr>
          <p:spPr bwMode="auto">
            <a:xfrm>
              <a:off x="4195763" y="5861050"/>
              <a:ext cx="28575" cy="28575"/>
            </a:xfrm>
            <a:prstGeom prst="ellipse">
              <a:avLst/>
            </a:pr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2" name="Oval 60"/>
            <p:cNvSpPr>
              <a:spLocks noChangeArrowheads="1"/>
            </p:cNvSpPr>
            <p:nvPr/>
          </p:nvSpPr>
          <p:spPr bwMode="auto">
            <a:xfrm>
              <a:off x="4756150" y="5861050"/>
              <a:ext cx="28575" cy="28575"/>
            </a:xfrm>
            <a:prstGeom prst="ellipse">
              <a:avLst/>
            </a:pr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3" name="Freeform 61"/>
            <p:cNvSpPr>
              <a:spLocks noEditPoints="1"/>
            </p:cNvSpPr>
            <p:nvPr/>
          </p:nvSpPr>
          <p:spPr bwMode="auto">
            <a:xfrm>
              <a:off x="3854450" y="4787900"/>
              <a:ext cx="1271588" cy="1289050"/>
            </a:xfrm>
            <a:custGeom>
              <a:avLst/>
              <a:gdLst>
                <a:gd name="T0" fmla="*/ 114 w 227"/>
                <a:gd name="T1" fmla="*/ 227 h 227"/>
                <a:gd name="T2" fmla="*/ 70 w 227"/>
                <a:gd name="T3" fmla="*/ 218 h 227"/>
                <a:gd name="T4" fmla="*/ 34 w 227"/>
                <a:gd name="T5" fmla="*/ 194 h 227"/>
                <a:gd name="T6" fmla="*/ 9 w 227"/>
                <a:gd name="T7" fmla="*/ 158 h 227"/>
                <a:gd name="T8" fmla="*/ 0 w 227"/>
                <a:gd name="T9" fmla="*/ 114 h 227"/>
                <a:gd name="T10" fmla="*/ 9 w 227"/>
                <a:gd name="T11" fmla="*/ 69 h 227"/>
                <a:gd name="T12" fmla="*/ 34 w 227"/>
                <a:gd name="T13" fmla="*/ 33 h 227"/>
                <a:gd name="T14" fmla="*/ 70 w 227"/>
                <a:gd name="T15" fmla="*/ 9 h 227"/>
                <a:gd name="T16" fmla="*/ 114 w 227"/>
                <a:gd name="T17" fmla="*/ 0 h 227"/>
                <a:gd name="T18" fmla="*/ 158 w 227"/>
                <a:gd name="T19" fmla="*/ 9 h 227"/>
                <a:gd name="T20" fmla="*/ 194 w 227"/>
                <a:gd name="T21" fmla="*/ 33 h 227"/>
                <a:gd name="T22" fmla="*/ 218 w 227"/>
                <a:gd name="T23" fmla="*/ 69 h 227"/>
                <a:gd name="T24" fmla="*/ 227 w 227"/>
                <a:gd name="T25" fmla="*/ 114 h 227"/>
                <a:gd name="T26" fmla="*/ 218 w 227"/>
                <a:gd name="T27" fmla="*/ 158 h 227"/>
                <a:gd name="T28" fmla="*/ 194 w 227"/>
                <a:gd name="T29" fmla="*/ 194 h 227"/>
                <a:gd name="T30" fmla="*/ 158 w 227"/>
                <a:gd name="T31" fmla="*/ 218 h 227"/>
                <a:gd name="T32" fmla="*/ 114 w 227"/>
                <a:gd name="T33" fmla="*/ 227 h 227"/>
                <a:gd name="T34" fmla="*/ 114 w 227"/>
                <a:gd name="T35" fmla="*/ 5 h 227"/>
                <a:gd name="T36" fmla="*/ 6 w 227"/>
                <a:gd name="T37" fmla="*/ 114 h 227"/>
                <a:gd name="T38" fmla="*/ 114 w 227"/>
                <a:gd name="T39" fmla="*/ 222 h 227"/>
                <a:gd name="T40" fmla="*/ 222 w 227"/>
                <a:gd name="T41" fmla="*/ 114 h 227"/>
                <a:gd name="T42" fmla="*/ 114 w 227"/>
                <a:gd name="T43" fmla="*/ 5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7" h="227">
                  <a:moveTo>
                    <a:pt x="114" y="227"/>
                  </a:moveTo>
                  <a:cubicBezTo>
                    <a:pt x="98" y="227"/>
                    <a:pt x="84" y="224"/>
                    <a:pt x="70" y="218"/>
                  </a:cubicBezTo>
                  <a:cubicBezTo>
                    <a:pt x="56" y="212"/>
                    <a:pt x="44" y="204"/>
                    <a:pt x="34" y="194"/>
                  </a:cubicBezTo>
                  <a:cubicBezTo>
                    <a:pt x="23" y="183"/>
                    <a:pt x="15" y="171"/>
                    <a:pt x="9" y="158"/>
                  </a:cubicBezTo>
                  <a:cubicBezTo>
                    <a:pt x="3" y="144"/>
                    <a:pt x="0" y="129"/>
                    <a:pt x="0" y="114"/>
                  </a:cubicBezTo>
                  <a:cubicBezTo>
                    <a:pt x="0" y="98"/>
                    <a:pt x="3" y="83"/>
                    <a:pt x="9" y="69"/>
                  </a:cubicBezTo>
                  <a:cubicBezTo>
                    <a:pt x="15" y="56"/>
                    <a:pt x="23" y="44"/>
                    <a:pt x="34" y="33"/>
                  </a:cubicBezTo>
                  <a:cubicBezTo>
                    <a:pt x="44" y="23"/>
                    <a:pt x="56" y="15"/>
                    <a:pt x="70" y="9"/>
                  </a:cubicBezTo>
                  <a:cubicBezTo>
                    <a:pt x="84" y="3"/>
                    <a:pt x="98" y="0"/>
                    <a:pt x="114" y="0"/>
                  </a:cubicBezTo>
                  <a:cubicBezTo>
                    <a:pt x="129" y="0"/>
                    <a:pt x="144" y="3"/>
                    <a:pt x="158" y="9"/>
                  </a:cubicBezTo>
                  <a:cubicBezTo>
                    <a:pt x="171" y="15"/>
                    <a:pt x="184" y="23"/>
                    <a:pt x="194" y="33"/>
                  </a:cubicBezTo>
                  <a:cubicBezTo>
                    <a:pt x="204" y="44"/>
                    <a:pt x="213" y="56"/>
                    <a:pt x="218" y="69"/>
                  </a:cubicBezTo>
                  <a:cubicBezTo>
                    <a:pt x="224" y="83"/>
                    <a:pt x="227" y="98"/>
                    <a:pt x="227" y="114"/>
                  </a:cubicBezTo>
                  <a:cubicBezTo>
                    <a:pt x="227" y="129"/>
                    <a:pt x="224" y="144"/>
                    <a:pt x="218" y="158"/>
                  </a:cubicBezTo>
                  <a:cubicBezTo>
                    <a:pt x="213" y="171"/>
                    <a:pt x="204" y="183"/>
                    <a:pt x="194" y="194"/>
                  </a:cubicBezTo>
                  <a:cubicBezTo>
                    <a:pt x="184" y="204"/>
                    <a:pt x="171" y="212"/>
                    <a:pt x="158" y="218"/>
                  </a:cubicBezTo>
                  <a:cubicBezTo>
                    <a:pt x="144" y="224"/>
                    <a:pt x="129" y="227"/>
                    <a:pt x="114" y="227"/>
                  </a:cubicBezTo>
                  <a:close/>
                  <a:moveTo>
                    <a:pt x="114" y="5"/>
                  </a:moveTo>
                  <a:cubicBezTo>
                    <a:pt x="54" y="5"/>
                    <a:pt x="6" y="54"/>
                    <a:pt x="6" y="114"/>
                  </a:cubicBezTo>
                  <a:cubicBezTo>
                    <a:pt x="6" y="173"/>
                    <a:pt x="54" y="222"/>
                    <a:pt x="114" y="222"/>
                  </a:cubicBezTo>
                  <a:cubicBezTo>
                    <a:pt x="173" y="222"/>
                    <a:pt x="222" y="173"/>
                    <a:pt x="222" y="114"/>
                  </a:cubicBezTo>
                  <a:cubicBezTo>
                    <a:pt x="222" y="54"/>
                    <a:pt x="173" y="5"/>
                    <a:pt x="114" y="5"/>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4" name="Freeform 62"/>
            <p:cNvSpPr/>
            <p:nvPr/>
          </p:nvSpPr>
          <p:spPr bwMode="auto">
            <a:xfrm>
              <a:off x="4279900" y="5867400"/>
              <a:ext cx="73025" cy="119063"/>
            </a:xfrm>
            <a:custGeom>
              <a:avLst/>
              <a:gdLst>
                <a:gd name="T0" fmla="*/ 8 w 13"/>
                <a:gd name="T1" fmla="*/ 17 h 21"/>
                <a:gd name="T2" fmla="*/ 10 w 13"/>
                <a:gd name="T3" fmla="*/ 20 h 21"/>
                <a:gd name="T4" fmla="*/ 11 w 13"/>
                <a:gd name="T5" fmla="*/ 21 h 21"/>
                <a:gd name="T6" fmla="*/ 11 w 13"/>
                <a:gd name="T7" fmla="*/ 21 h 21"/>
                <a:gd name="T8" fmla="*/ 5 w 13"/>
                <a:gd name="T9" fmla="*/ 19 h 21"/>
                <a:gd name="T10" fmla="*/ 0 w 13"/>
                <a:gd name="T11" fmla="*/ 17 h 21"/>
                <a:gd name="T12" fmla="*/ 0 w 13"/>
                <a:gd name="T13" fmla="*/ 17 h 21"/>
                <a:gd name="T14" fmla="*/ 2 w 13"/>
                <a:gd name="T15" fmla="*/ 17 h 21"/>
                <a:gd name="T16" fmla="*/ 4 w 13"/>
                <a:gd name="T17" fmla="*/ 16 h 21"/>
                <a:gd name="T18" fmla="*/ 9 w 13"/>
                <a:gd name="T19" fmla="*/ 3 h 21"/>
                <a:gd name="T20" fmla="*/ 8 w 13"/>
                <a:gd name="T21" fmla="*/ 2 h 21"/>
                <a:gd name="T22" fmla="*/ 4 w 13"/>
                <a:gd name="T23" fmla="*/ 1 h 21"/>
                <a:gd name="T24" fmla="*/ 4 w 13"/>
                <a:gd name="T25" fmla="*/ 1 h 21"/>
                <a:gd name="T26" fmla="*/ 7 w 13"/>
                <a:gd name="T27" fmla="*/ 1 h 21"/>
                <a:gd name="T28" fmla="*/ 13 w 13"/>
                <a:gd name="T29" fmla="*/ 1 h 21"/>
                <a:gd name="T30" fmla="*/ 13 w 13"/>
                <a:gd name="T31" fmla="*/ 2 h 21"/>
                <a:gd name="T32" fmla="*/ 8 w 13"/>
                <a:gd name="T33"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 h="21">
                  <a:moveTo>
                    <a:pt x="8" y="17"/>
                  </a:moveTo>
                  <a:cubicBezTo>
                    <a:pt x="8" y="18"/>
                    <a:pt x="8" y="19"/>
                    <a:pt x="10" y="20"/>
                  </a:cubicBezTo>
                  <a:cubicBezTo>
                    <a:pt x="11" y="20"/>
                    <a:pt x="11" y="20"/>
                    <a:pt x="11" y="21"/>
                  </a:cubicBezTo>
                  <a:cubicBezTo>
                    <a:pt x="11" y="21"/>
                    <a:pt x="11" y="21"/>
                    <a:pt x="11" y="21"/>
                  </a:cubicBezTo>
                  <a:cubicBezTo>
                    <a:pt x="9" y="20"/>
                    <a:pt x="7" y="20"/>
                    <a:pt x="5" y="19"/>
                  </a:cubicBezTo>
                  <a:cubicBezTo>
                    <a:pt x="4" y="18"/>
                    <a:pt x="2" y="18"/>
                    <a:pt x="0" y="17"/>
                  </a:cubicBezTo>
                  <a:cubicBezTo>
                    <a:pt x="0" y="17"/>
                    <a:pt x="0" y="17"/>
                    <a:pt x="0" y="17"/>
                  </a:cubicBezTo>
                  <a:cubicBezTo>
                    <a:pt x="0" y="16"/>
                    <a:pt x="0" y="16"/>
                    <a:pt x="2" y="17"/>
                  </a:cubicBezTo>
                  <a:cubicBezTo>
                    <a:pt x="3" y="17"/>
                    <a:pt x="4" y="17"/>
                    <a:pt x="4" y="16"/>
                  </a:cubicBezTo>
                  <a:cubicBezTo>
                    <a:pt x="9" y="3"/>
                    <a:pt x="9" y="3"/>
                    <a:pt x="9" y="3"/>
                  </a:cubicBezTo>
                  <a:cubicBezTo>
                    <a:pt x="9" y="3"/>
                    <a:pt x="9" y="3"/>
                    <a:pt x="8" y="2"/>
                  </a:cubicBezTo>
                  <a:cubicBezTo>
                    <a:pt x="4" y="1"/>
                    <a:pt x="4" y="1"/>
                    <a:pt x="4" y="1"/>
                  </a:cubicBezTo>
                  <a:cubicBezTo>
                    <a:pt x="4" y="1"/>
                    <a:pt x="4" y="1"/>
                    <a:pt x="4" y="1"/>
                  </a:cubicBezTo>
                  <a:cubicBezTo>
                    <a:pt x="4" y="0"/>
                    <a:pt x="5" y="1"/>
                    <a:pt x="7" y="1"/>
                  </a:cubicBezTo>
                  <a:cubicBezTo>
                    <a:pt x="11" y="2"/>
                    <a:pt x="13" y="1"/>
                    <a:pt x="13" y="1"/>
                  </a:cubicBezTo>
                  <a:cubicBezTo>
                    <a:pt x="13" y="1"/>
                    <a:pt x="13" y="1"/>
                    <a:pt x="13" y="2"/>
                  </a:cubicBezTo>
                  <a:lnTo>
                    <a:pt x="8" y="17"/>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5" name="Freeform 63"/>
            <p:cNvSpPr>
              <a:spLocks noEditPoints="1"/>
            </p:cNvSpPr>
            <p:nvPr/>
          </p:nvSpPr>
          <p:spPr bwMode="auto">
            <a:xfrm>
              <a:off x="4392613" y="5889625"/>
              <a:ext cx="84138" cy="107950"/>
            </a:xfrm>
            <a:custGeom>
              <a:avLst/>
              <a:gdLst>
                <a:gd name="T0" fmla="*/ 8 w 15"/>
                <a:gd name="T1" fmla="*/ 0 h 19"/>
                <a:gd name="T2" fmla="*/ 14 w 15"/>
                <a:gd name="T3" fmla="*/ 9 h 19"/>
                <a:gd name="T4" fmla="*/ 2 w 15"/>
                <a:gd name="T5" fmla="*/ 19 h 19"/>
                <a:gd name="T6" fmla="*/ 2 w 15"/>
                <a:gd name="T7" fmla="*/ 19 h 19"/>
                <a:gd name="T8" fmla="*/ 10 w 15"/>
                <a:gd name="T9" fmla="*/ 11 h 19"/>
                <a:gd name="T10" fmla="*/ 6 w 15"/>
                <a:gd name="T11" fmla="*/ 12 h 19"/>
                <a:gd name="T12" fmla="*/ 0 w 15"/>
                <a:gd name="T13" fmla="*/ 5 h 19"/>
                <a:gd name="T14" fmla="*/ 8 w 15"/>
                <a:gd name="T15" fmla="*/ 0 h 19"/>
                <a:gd name="T16" fmla="*/ 7 w 15"/>
                <a:gd name="T17" fmla="*/ 11 h 19"/>
                <a:gd name="T18" fmla="*/ 10 w 15"/>
                <a:gd name="T19" fmla="*/ 10 h 19"/>
                <a:gd name="T20" fmla="*/ 11 w 15"/>
                <a:gd name="T21" fmla="*/ 7 h 19"/>
                <a:gd name="T22" fmla="*/ 8 w 15"/>
                <a:gd name="T23" fmla="*/ 1 h 19"/>
                <a:gd name="T24" fmla="*/ 4 w 15"/>
                <a:gd name="T25" fmla="*/ 6 h 19"/>
                <a:gd name="T26" fmla="*/ 7 w 15"/>
                <a:gd name="T2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19">
                  <a:moveTo>
                    <a:pt x="8" y="0"/>
                  </a:moveTo>
                  <a:cubicBezTo>
                    <a:pt x="12" y="1"/>
                    <a:pt x="15" y="4"/>
                    <a:pt x="14" y="9"/>
                  </a:cubicBezTo>
                  <a:cubicBezTo>
                    <a:pt x="13" y="17"/>
                    <a:pt x="3" y="19"/>
                    <a:pt x="2" y="19"/>
                  </a:cubicBezTo>
                  <a:cubicBezTo>
                    <a:pt x="2" y="19"/>
                    <a:pt x="1" y="19"/>
                    <a:pt x="2" y="19"/>
                  </a:cubicBezTo>
                  <a:cubicBezTo>
                    <a:pt x="2" y="18"/>
                    <a:pt x="7" y="18"/>
                    <a:pt x="10" y="11"/>
                  </a:cubicBezTo>
                  <a:cubicBezTo>
                    <a:pt x="9" y="11"/>
                    <a:pt x="7" y="12"/>
                    <a:pt x="6" y="12"/>
                  </a:cubicBezTo>
                  <a:cubicBezTo>
                    <a:pt x="1" y="11"/>
                    <a:pt x="0" y="8"/>
                    <a:pt x="0" y="5"/>
                  </a:cubicBezTo>
                  <a:cubicBezTo>
                    <a:pt x="0" y="2"/>
                    <a:pt x="3" y="0"/>
                    <a:pt x="8" y="0"/>
                  </a:cubicBezTo>
                  <a:close/>
                  <a:moveTo>
                    <a:pt x="7" y="11"/>
                  </a:moveTo>
                  <a:cubicBezTo>
                    <a:pt x="8" y="11"/>
                    <a:pt x="10" y="10"/>
                    <a:pt x="10" y="10"/>
                  </a:cubicBezTo>
                  <a:cubicBezTo>
                    <a:pt x="10" y="10"/>
                    <a:pt x="10" y="9"/>
                    <a:pt x="11" y="7"/>
                  </a:cubicBezTo>
                  <a:cubicBezTo>
                    <a:pt x="11" y="2"/>
                    <a:pt x="10" y="1"/>
                    <a:pt x="8" y="1"/>
                  </a:cubicBezTo>
                  <a:cubicBezTo>
                    <a:pt x="6" y="0"/>
                    <a:pt x="4" y="1"/>
                    <a:pt x="4" y="6"/>
                  </a:cubicBezTo>
                  <a:cubicBezTo>
                    <a:pt x="3" y="9"/>
                    <a:pt x="5" y="11"/>
                    <a:pt x="7" y="1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6" name="Freeform 64"/>
            <p:cNvSpPr>
              <a:spLocks noEditPoints="1"/>
            </p:cNvSpPr>
            <p:nvPr/>
          </p:nvSpPr>
          <p:spPr bwMode="auto">
            <a:xfrm>
              <a:off x="4503738" y="5889625"/>
              <a:ext cx="79375" cy="112713"/>
            </a:xfrm>
            <a:custGeom>
              <a:avLst/>
              <a:gdLst>
                <a:gd name="T0" fmla="*/ 3 w 14"/>
                <a:gd name="T1" fmla="*/ 10 h 20"/>
                <a:gd name="T2" fmla="*/ 0 w 14"/>
                <a:gd name="T3" fmla="*/ 6 h 20"/>
                <a:gd name="T4" fmla="*/ 6 w 14"/>
                <a:gd name="T5" fmla="*/ 0 h 20"/>
                <a:gd name="T6" fmla="*/ 12 w 14"/>
                <a:gd name="T7" fmla="*/ 4 h 20"/>
                <a:gd name="T8" fmla="*/ 10 w 14"/>
                <a:gd name="T9" fmla="*/ 8 h 20"/>
                <a:gd name="T10" fmla="*/ 14 w 14"/>
                <a:gd name="T11" fmla="*/ 13 h 20"/>
                <a:gd name="T12" fmla="*/ 7 w 14"/>
                <a:gd name="T13" fmla="*/ 20 h 20"/>
                <a:gd name="T14" fmla="*/ 0 w 14"/>
                <a:gd name="T15" fmla="*/ 15 h 20"/>
                <a:gd name="T16" fmla="*/ 3 w 14"/>
                <a:gd name="T17" fmla="*/ 10 h 20"/>
                <a:gd name="T18" fmla="*/ 7 w 14"/>
                <a:gd name="T19" fmla="*/ 19 h 20"/>
                <a:gd name="T20" fmla="*/ 11 w 14"/>
                <a:gd name="T21" fmla="*/ 15 h 20"/>
                <a:gd name="T22" fmla="*/ 7 w 14"/>
                <a:gd name="T23" fmla="*/ 12 h 20"/>
                <a:gd name="T24" fmla="*/ 3 w 14"/>
                <a:gd name="T25" fmla="*/ 11 h 20"/>
                <a:gd name="T26" fmla="*/ 2 w 14"/>
                <a:gd name="T27" fmla="*/ 15 h 20"/>
                <a:gd name="T28" fmla="*/ 7 w 14"/>
                <a:gd name="T29" fmla="*/ 19 h 20"/>
                <a:gd name="T30" fmla="*/ 6 w 14"/>
                <a:gd name="T31" fmla="*/ 1 h 20"/>
                <a:gd name="T32" fmla="*/ 3 w 14"/>
                <a:gd name="T33" fmla="*/ 4 h 20"/>
                <a:gd name="T34" fmla="*/ 10 w 14"/>
                <a:gd name="T35" fmla="*/ 8 h 20"/>
                <a:gd name="T36" fmla="*/ 11 w 14"/>
                <a:gd name="T37" fmla="*/ 5 h 20"/>
                <a:gd name="T38" fmla="*/ 6 w 14"/>
                <a:gd name="T39" fmla="*/ 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20">
                  <a:moveTo>
                    <a:pt x="3" y="10"/>
                  </a:moveTo>
                  <a:cubicBezTo>
                    <a:pt x="1" y="9"/>
                    <a:pt x="0" y="8"/>
                    <a:pt x="0" y="6"/>
                  </a:cubicBezTo>
                  <a:cubicBezTo>
                    <a:pt x="0" y="3"/>
                    <a:pt x="2" y="1"/>
                    <a:pt x="6" y="0"/>
                  </a:cubicBezTo>
                  <a:cubicBezTo>
                    <a:pt x="9" y="0"/>
                    <a:pt x="12" y="2"/>
                    <a:pt x="12" y="4"/>
                  </a:cubicBezTo>
                  <a:cubicBezTo>
                    <a:pt x="12" y="6"/>
                    <a:pt x="12" y="7"/>
                    <a:pt x="10" y="8"/>
                  </a:cubicBezTo>
                  <a:cubicBezTo>
                    <a:pt x="13" y="9"/>
                    <a:pt x="14" y="11"/>
                    <a:pt x="14" y="13"/>
                  </a:cubicBezTo>
                  <a:cubicBezTo>
                    <a:pt x="14" y="17"/>
                    <a:pt x="11" y="19"/>
                    <a:pt x="7" y="20"/>
                  </a:cubicBezTo>
                  <a:cubicBezTo>
                    <a:pt x="3" y="20"/>
                    <a:pt x="0" y="18"/>
                    <a:pt x="0" y="15"/>
                  </a:cubicBezTo>
                  <a:cubicBezTo>
                    <a:pt x="0" y="14"/>
                    <a:pt x="1" y="12"/>
                    <a:pt x="3" y="10"/>
                  </a:cubicBezTo>
                  <a:close/>
                  <a:moveTo>
                    <a:pt x="7" y="19"/>
                  </a:moveTo>
                  <a:cubicBezTo>
                    <a:pt x="10" y="19"/>
                    <a:pt x="11" y="17"/>
                    <a:pt x="11" y="15"/>
                  </a:cubicBezTo>
                  <a:cubicBezTo>
                    <a:pt x="11" y="14"/>
                    <a:pt x="10" y="12"/>
                    <a:pt x="7" y="12"/>
                  </a:cubicBezTo>
                  <a:cubicBezTo>
                    <a:pt x="4" y="11"/>
                    <a:pt x="4" y="10"/>
                    <a:pt x="3" y="11"/>
                  </a:cubicBezTo>
                  <a:cubicBezTo>
                    <a:pt x="3" y="11"/>
                    <a:pt x="1" y="12"/>
                    <a:pt x="2" y="15"/>
                  </a:cubicBezTo>
                  <a:cubicBezTo>
                    <a:pt x="2" y="18"/>
                    <a:pt x="4" y="20"/>
                    <a:pt x="7" y="19"/>
                  </a:cubicBezTo>
                  <a:close/>
                  <a:moveTo>
                    <a:pt x="6" y="1"/>
                  </a:moveTo>
                  <a:cubicBezTo>
                    <a:pt x="4" y="1"/>
                    <a:pt x="3" y="2"/>
                    <a:pt x="3" y="4"/>
                  </a:cubicBezTo>
                  <a:cubicBezTo>
                    <a:pt x="4" y="7"/>
                    <a:pt x="8" y="8"/>
                    <a:pt x="10" y="8"/>
                  </a:cubicBezTo>
                  <a:cubicBezTo>
                    <a:pt x="11" y="8"/>
                    <a:pt x="11" y="7"/>
                    <a:pt x="11" y="5"/>
                  </a:cubicBezTo>
                  <a:cubicBezTo>
                    <a:pt x="11" y="2"/>
                    <a:pt x="9" y="1"/>
                    <a:pt x="6"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7" name="Freeform 65"/>
            <p:cNvSpPr/>
            <p:nvPr/>
          </p:nvSpPr>
          <p:spPr bwMode="auto">
            <a:xfrm>
              <a:off x="4605338" y="5867400"/>
              <a:ext cx="88900" cy="119063"/>
            </a:xfrm>
            <a:custGeom>
              <a:avLst/>
              <a:gdLst>
                <a:gd name="T0" fmla="*/ 11 w 16"/>
                <a:gd name="T1" fmla="*/ 7 h 21"/>
                <a:gd name="T2" fmla="*/ 15 w 16"/>
                <a:gd name="T3" fmla="*/ 11 h 21"/>
                <a:gd name="T4" fmla="*/ 10 w 16"/>
                <a:gd name="T5" fmla="*/ 20 h 21"/>
                <a:gd name="T6" fmla="*/ 2 w 16"/>
                <a:gd name="T7" fmla="*/ 18 h 21"/>
                <a:gd name="T8" fmla="*/ 4 w 16"/>
                <a:gd name="T9" fmla="*/ 16 h 21"/>
                <a:gd name="T10" fmla="*/ 6 w 16"/>
                <a:gd name="T11" fmla="*/ 18 h 21"/>
                <a:gd name="T12" fmla="*/ 10 w 16"/>
                <a:gd name="T13" fmla="*/ 19 h 21"/>
                <a:gd name="T14" fmla="*/ 12 w 16"/>
                <a:gd name="T15" fmla="*/ 14 h 21"/>
                <a:gd name="T16" fmla="*/ 8 w 16"/>
                <a:gd name="T17" fmla="*/ 10 h 21"/>
                <a:gd name="T18" fmla="*/ 5 w 16"/>
                <a:gd name="T19" fmla="*/ 11 h 21"/>
                <a:gd name="T20" fmla="*/ 8 w 16"/>
                <a:gd name="T21" fmla="*/ 9 h 21"/>
                <a:gd name="T22" fmla="*/ 8 w 16"/>
                <a:gd name="T23" fmla="*/ 6 h 21"/>
                <a:gd name="T24" fmla="*/ 3 w 16"/>
                <a:gd name="T25" fmla="*/ 4 h 21"/>
                <a:gd name="T26" fmla="*/ 0 w 16"/>
                <a:gd name="T27" fmla="*/ 7 h 21"/>
                <a:gd name="T28" fmla="*/ 0 w 16"/>
                <a:gd name="T29" fmla="*/ 7 h 21"/>
                <a:gd name="T30" fmla="*/ 5 w 16"/>
                <a:gd name="T31" fmla="*/ 1 h 21"/>
                <a:gd name="T32" fmla="*/ 11 w 16"/>
                <a:gd name="T33" fmla="*/ 4 h 21"/>
                <a:gd name="T34" fmla="*/ 11 w 16"/>
                <a:gd name="T35"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 h="21">
                  <a:moveTo>
                    <a:pt x="11" y="7"/>
                  </a:moveTo>
                  <a:cubicBezTo>
                    <a:pt x="13" y="8"/>
                    <a:pt x="14" y="9"/>
                    <a:pt x="15" y="11"/>
                  </a:cubicBezTo>
                  <a:cubicBezTo>
                    <a:pt x="16" y="15"/>
                    <a:pt x="14" y="19"/>
                    <a:pt x="10" y="20"/>
                  </a:cubicBezTo>
                  <a:cubicBezTo>
                    <a:pt x="6" y="21"/>
                    <a:pt x="3" y="20"/>
                    <a:pt x="2" y="18"/>
                  </a:cubicBezTo>
                  <a:cubicBezTo>
                    <a:pt x="2" y="17"/>
                    <a:pt x="2" y="16"/>
                    <a:pt x="4" y="16"/>
                  </a:cubicBezTo>
                  <a:cubicBezTo>
                    <a:pt x="5" y="15"/>
                    <a:pt x="6" y="16"/>
                    <a:pt x="6" y="18"/>
                  </a:cubicBezTo>
                  <a:cubicBezTo>
                    <a:pt x="7" y="19"/>
                    <a:pt x="8" y="20"/>
                    <a:pt x="10" y="19"/>
                  </a:cubicBezTo>
                  <a:cubicBezTo>
                    <a:pt x="12" y="19"/>
                    <a:pt x="13" y="17"/>
                    <a:pt x="12" y="14"/>
                  </a:cubicBezTo>
                  <a:cubicBezTo>
                    <a:pt x="11" y="12"/>
                    <a:pt x="9" y="10"/>
                    <a:pt x="8" y="10"/>
                  </a:cubicBezTo>
                  <a:cubicBezTo>
                    <a:pt x="7" y="10"/>
                    <a:pt x="5" y="11"/>
                    <a:pt x="5" y="11"/>
                  </a:cubicBezTo>
                  <a:cubicBezTo>
                    <a:pt x="5" y="10"/>
                    <a:pt x="6" y="10"/>
                    <a:pt x="8" y="9"/>
                  </a:cubicBezTo>
                  <a:cubicBezTo>
                    <a:pt x="8" y="8"/>
                    <a:pt x="8" y="7"/>
                    <a:pt x="8" y="6"/>
                  </a:cubicBezTo>
                  <a:cubicBezTo>
                    <a:pt x="7" y="4"/>
                    <a:pt x="6" y="3"/>
                    <a:pt x="3" y="4"/>
                  </a:cubicBezTo>
                  <a:cubicBezTo>
                    <a:pt x="1" y="4"/>
                    <a:pt x="1" y="7"/>
                    <a:pt x="0" y="7"/>
                  </a:cubicBezTo>
                  <a:cubicBezTo>
                    <a:pt x="0" y="7"/>
                    <a:pt x="0" y="7"/>
                    <a:pt x="0" y="7"/>
                  </a:cubicBezTo>
                  <a:cubicBezTo>
                    <a:pt x="0" y="6"/>
                    <a:pt x="1" y="2"/>
                    <a:pt x="5" y="1"/>
                  </a:cubicBezTo>
                  <a:cubicBezTo>
                    <a:pt x="7" y="0"/>
                    <a:pt x="10" y="1"/>
                    <a:pt x="11" y="4"/>
                  </a:cubicBezTo>
                  <a:cubicBezTo>
                    <a:pt x="12" y="5"/>
                    <a:pt x="11" y="6"/>
                    <a:pt x="11" y="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8" name="Freeform 66"/>
            <p:cNvSpPr/>
            <p:nvPr/>
          </p:nvSpPr>
          <p:spPr bwMode="auto">
            <a:xfrm>
              <a:off x="4375150" y="5480050"/>
              <a:ext cx="22225" cy="6350"/>
            </a:xfrm>
            <a:custGeom>
              <a:avLst/>
              <a:gdLst>
                <a:gd name="T0" fmla="*/ 1 w 4"/>
                <a:gd name="T1" fmla="*/ 1 h 1"/>
                <a:gd name="T2" fmla="*/ 2 w 4"/>
                <a:gd name="T3" fmla="*/ 1 h 1"/>
                <a:gd name="T4" fmla="*/ 4 w 4"/>
                <a:gd name="T5" fmla="*/ 1 h 1"/>
                <a:gd name="T6" fmla="*/ 4 w 4"/>
                <a:gd name="T7" fmla="*/ 1 h 1"/>
                <a:gd name="T8" fmla="*/ 2 w 4"/>
                <a:gd name="T9" fmla="*/ 0 h 1"/>
                <a:gd name="T10" fmla="*/ 0 w 4"/>
                <a:gd name="T11" fmla="*/ 1 h 1"/>
                <a:gd name="T12" fmla="*/ 1 w 4"/>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4" h="1">
                  <a:moveTo>
                    <a:pt x="1" y="1"/>
                  </a:moveTo>
                  <a:cubicBezTo>
                    <a:pt x="2" y="1"/>
                    <a:pt x="2" y="1"/>
                    <a:pt x="2" y="1"/>
                  </a:cubicBezTo>
                  <a:cubicBezTo>
                    <a:pt x="3" y="1"/>
                    <a:pt x="3" y="1"/>
                    <a:pt x="4" y="1"/>
                  </a:cubicBezTo>
                  <a:cubicBezTo>
                    <a:pt x="4" y="1"/>
                    <a:pt x="4" y="1"/>
                    <a:pt x="4" y="1"/>
                  </a:cubicBezTo>
                  <a:cubicBezTo>
                    <a:pt x="4" y="0"/>
                    <a:pt x="3" y="0"/>
                    <a:pt x="2" y="0"/>
                  </a:cubicBezTo>
                  <a:cubicBezTo>
                    <a:pt x="2" y="0"/>
                    <a:pt x="0" y="0"/>
                    <a:pt x="0" y="1"/>
                  </a:cubicBezTo>
                  <a:cubicBezTo>
                    <a:pt x="0" y="1"/>
                    <a:pt x="1" y="1"/>
                    <a:pt x="1"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9" name="Freeform 67"/>
            <p:cNvSpPr/>
            <p:nvPr/>
          </p:nvSpPr>
          <p:spPr bwMode="auto">
            <a:xfrm>
              <a:off x="4346575" y="5554663"/>
              <a:ext cx="73025" cy="17463"/>
            </a:xfrm>
            <a:custGeom>
              <a:avLst/>
              <a:gdLst>
                <a:gd name="T0" fmla="*/ 13 w 13"/>
                <a:gd name="T1" fmla="*/ 2 h 3"/>
                <a:gd name="T2" fmla="*/ 9 w 13"/>
                <a:gd name="T3" fmla="*/ 1 h 3"/>
                <a:gd name="T4" fmla="*/ 1 w 13"/>
                <a:gd name="T5" fmla="*/ 1 h 3"/>
                <a:gd name="T6" fmla="*/ 0 w 13"/>
                <a:gd name="T7" fmla="*/ 2 h 3"/>
                <a:gd name="T8" fmla="*/ 6 w 13"/>
                <a:gd name="T9" fmla="*/ 3 h 3"/>
                <a:gd name="T10" fmla="*/ 8 w 13"/>
                <a:gd name="T11" fmla="*/ 3 h 3"/>
                <a:gd name="T12" fmla="*/ 13 w 13"/>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13" h="3">
                  <a:moveTo>
                    <a:pt x="13" y="2"/>
                  </a:moveTo>
                  <a:cubicBezTo>
                    <a:pt x="13" y="0"/>
                    <a:pt x="13" y="1"/>
                    <a:pt x="9" y="1"/>
                  </a:cubicBezTo>
                  <a:cubicBezTo>
                    <a:pt x="8" y="1"/>
                    <a:pt x="2" y="1"/>
                    <a:pt x="1" y="1"/>
                  </a:cubicBezTo>
                  <a:cubicBezTo>
                    <a:pt x="0" y="1"/>
                    <a:pt x="0" y="2"/>
                    <a:pt x="0" y="2"/>
                  </a:cubicBezTo>
                  <a:cubicBezTo>
                    <a:pt x="0" y="3"/>
                    <a:pt x="0" y="3"/>
                    <a:pt x="6" y="3"/>
                  </a:cubicBezTo>
                  <a:cubicBezTo>
                    <a:pt x="8" y="3"/>
                    <a:pt x="8" y="3"/>
                    <a:pt x="8" y="3"/>
                  </a:cubicBezTo>
                  <a:cubicBezTo>
                    <a:pt x="12" y="3"/>
                    <a:pt x="12" y="3"/>
                    <a:pt x="13"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0" name="Freeform 68"/>
            <p:cNvSpPr>
              <a:spLocks noEditPoints="1"/>
            </p:cNvSpPr>
            <p:nvPr/>
          </p:nvSpPr>
          <p:spPr bwMode="auto">
            <a:xfrm>
              <a:off x="4106863" y="5043488"/>
              <a:ext cx="766763" cy="777875"/>
            </a:xfrm>
            <a:custGeom>
              <a:avLst/>
              <a:gdLst>
                <a:gd name="T0" fmla="*/ 137 w 137"/>
                <a:gd name="T1" fmla="*/ 42 h 137"/>
                <a:gd name="T2" fmla="*/ 91 w 137"/>
                <a:gd name="T3" fmla="*/ 1 h 137"/>
                <a:gd name="T4" fmla="*/ 50 w 137"/>
                <a:gd name="T5" fmla="*/ 4 h 137"/>
                <a:gd name="T6" fmla="*/ 42 w 137"/>
                <a:gd name="T7" fmla="*/ 0 h 137"/>
                <a:gd name="T8" fmla="*/ 20 w 137"/>
                <a:gd name="T9" fmla="*/ 43 h 137"/>
                <a:gd name="T10" fmla="*/ 2 w 137"/>
                <a:gd name="T11" fmla="*/ 64 h 137"/>
                <a:gd name="T12" fmla="*/ 20 w 137"/>
                <a:gd name="T13" fmla="*/ 67 h 137"/>
                <a:gd name="T14" fmla="*/ 2 w 137"/>
                <a:gd name="T15" fmla="*/ 88 h 137"/>
                <a:gd name="T16" fmla="*/ 21 w 137"/>
                <a:gd name="T17" fmla="*/ 87 h 137"/>
                <a:gd name="T18" fmla="*/ 47 w 137"/>
                <a:gd name="T19" fmla="*/ 121 h 137"/>
                <a:gd name="T20" fmla="*/ 42 w 137"/>
                <a:gd name="T21" fmla="*/ 137 h 137"/>
                <a:gd name="T22" fmla="*/ 63 w 137"/>
                <a:gd name="T23" fmla="*/ 121 h 137"/>
                <a:gd name="T24" fmla="*/ 74 w 137"/>
                <a:gd name="T25" fmla="*/ 119 h 137"/>
                <a:gd name="T26" fmla="*/ 84 w 137"/>
                <a:gd name="T27" fmla="*/ 119 h 137"/>
                <a:gd name="T28" fmla="*/ 118 w 137"/>
                <a:gd name="T29" fmla="*/ 94 h 137"/>
                <a:gd name="T30" fmla="*/ 136 w 137"/>
                <a:gd name="T31" fmla="*/ 98 h 137"/>
                <a:gd name="T32" fmla="*/ 116 w 137"/>
                <a:gd name="T33" fmla="*/ 66 h 137"/>
                <a:gd name="T34" fmla="*/ 137 w 137"/>
                <a:gd name="T35" fmla="*/ 88 h 137"/>
                <a:gd name="T36" fmla="*/ 116 w 137"/>
                <a:gd name="T37" fmla="*/ 41 h 137"/>
                <a:gd name="T38" fmla="*/ 103 w 137"/>
                <a:gd name="T39" fmla="*/ 44 h 137"/>
                <a:gd name="T40" fmla="*/ 80 w 137"/>
                <a:gd name="T41" fmla="*/ 35 h 137"/>
                <a:gd name="T42" fmla="*/ 80 w 137"/>
                <a:gd name="T43" fmla="*/ 35 h 137"/>
                <a:gd name="T44" fmla="*/ 79 w 137"/>
                <a:gd name="T45" fmla="*/ 52 h 137"/>
                <a:gd name="T46" fmla="*/ 77 w 137"/>
                <a:gd name="T47" fmla="*/ 53 h 137"/>
                <a:gd name="T48" fmla="*/ 73 w 137"/>
                <a:gd name="T49" fmla="*/ 34 h 137"/>
                <a:gd name="T50" fmla="*/ 73 w 137"/>
                <a:gd name="T51" fmla="*/ 59 h 137"/>
                <a:gd name="T52" fmla="*/ 53 w 137"/>
                <a:gd name="T53" fmla="*/ 104 h 137"/>
                <a:gd name="T54" fmla="*/ 39 w 137"/>
                <a:gd name="T55" fmla="*/ 100 h 137"/>
                <a:gd name="T56" fmla="*/ 39 w 137"/>
                <a:gd name="T57" fmla="*/ 92 h 137"/>
                <a:gd name="T58" fmla="*/ 61 w 137"/>
                <a:gd name="T59" fmla="*/ 98 h 137"/>
                <a:gd name="T60" fmla="*/ 32 w 137"/>
                <a:gd name="T61" fmla="*/ 94 h 137"/>
                <a:gd name="T62" fmla="*/ 40 w 137"/>
                <a:gd name="T63" fmla="*/ 77 h 137"/>
                <a:gd name="T64" fmla="*/ 34 w 137"/>
                <a:gd name="T65" fmla="*/ 83 h 137"/>
                <a:gd name="T66" fmla="*/ 45 w 137"/>
                <a:gd name="T67" fmla="*/ 73 h 137"/>
                <a:gd name="T68" fmla="*/ 53 w 137"/>
                <a:gd name="T69" fmla="*/ 75 h 137"/>
                <a:gd name="T70" fmla="*/ 54 w 137"/>
                <a:gd name="T71" fmla="*/ 83 h 137"/>
                <a:gd name="T72" fmla="*/ 44 w 137"/>
                <a:gd name="T73" fmla="*/ 78 h 137"/>
                <a:gd name="T74" fmla="*/ 60 w 137"/>
                <a:gd name="T75" fmla="*/ 81 h 137"/>
                <a:gd name="T76" fmla="*/ 58 w 137"/>
                <a:gd name="T77" fmla="*/ 74 h 137"/>
                <a:gd name="T78" fmla="*/ 50 w 137"/>
                <a:gd name="T79" fmla="*/ 56 h 137"/>
                <a:gd name="T80" fmla="*/ 37 w 137"/>
                <a:gd name="T81" fmla="*/ 45 h 137"/>
                <a:gd name="T82" fmla="*/ 49 w 137"/>
                <a:gd name="T83" fmla="*/ 32 h 137"/>
                <a:gd name="T84" fmla="*/ 61 w 137"/>
                <a:gd name="T85" fmla="*/ 42 h 137"/>
                <a:gd name="T86" fmla="*/ 52 w 137"/>
                <a:gd name="T87" fmla="*/ 21 h 137"/>
                <a:gd name="T88" fmla="*/ 79 w 137"/>
                <a:gd name="T89" fmla="*/ 97 h 137"/>
                <a:gd name="T90" fmla="*/ 75 w 137"/>
                <a:gd name="T91" fmla="*/ 97 h 137"/>
                <a:gd name="T92" fmla="*/ 75 w 137"/>
                <a:gd name="T93" fmla="*/ 88 h 137"/>
                <a:gd name="T94" fmla="*/ 84 w 137"/>
                <a:gd name="T95" fmla="*/ 78 h 137"/>
                <a:gd name="T96" fmla="*/ 85 w 137"/>
                <a:gd name="T97" fmla="*/ 98 h 137"/>
                <a:gd name="T98" fmla="*/ 91 w 137"/>
                <a:gd name="T99" fmla="*/ 73 h 137"/>
                <a:gd name="T100" fmla="*/ 98 w 137"/>
                <a:gd name="T101" fmla="*/ 107 h 137"/>
                <a:gd name="T102" fmla="*/ 97 w 137"/>
                <a:gd name="T103" fmla="*/ 72 h 137"/>
                <a:gd name="T104" fmla="*/ 104 w 137"/>
                <a:gd name="T105" fmla="*/ 102 h 137"/>
                <a:gd name="T106" fmla="*/ 102 w 137"/>
                <a:gd name="T107" fmla="*/ 72 h 137"/>
                <a:gd name="T108" fmla="*/ 96 w 137"/>
                <a:gd name="T109" fmla="*/ 66 h 137"/>
                <a:gd name="T110" fmla="*/ 83 w 137"/>
                <a:gd name="T111" fmla="*/ 68 h 137"/>
                <a:gd name="T112" fmla="*/ 86 w 137"/>
                <a:gd name="T113" fmla="*/ 47 h 137"/>
                <a:gd name="T114" fmla="*/ 105 w 137"/>
                <a:gd name="T115" fmla="*/ 47 h 137"/>
                <a:gd name="T116" fmla="*/ 106 w 137"/>
                <a:gd name="T117" fmla="*/ 6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7" h="137">
                  <a:moveTo>
                    <a:pt x="116" y="39"/>
                  </a:moveTo>
                  <a:cubicBezTo>
                    <a:pt x="116" y="40"/>
                    <a:pt x="117" y="42"/>
                    <a:pt x="118" y="43"/>
                  </a:cubicBezTo>
                  <a:cubicBezTo>
                    <a:pt x="118" y="43"/>
                    <a:pt x="118" y="43"/>
                    <a:pt x="118" y="43"/>
                  </a:cubicBezTo>
                  <a:cubicBezTo>
                    <a:pt x="136" y="61"/>
                    <a:pt x="136" y="61"/>
                    <a:pt x="136" y="61"/>
                  </a:cubicBezTo>
                  <a:cubicBezTo>
                    <a:pt x="136" y="61"/>
                    <a:pt x="136" y="61"/>
                    <a:pt x="136" y="61"/>
                  </a:cubicBezTo>
                  <a:cubicBezTo>
                    <a:pt x="137" y="61"/>
                    <a:pt x="137" y="63"/>
                    <a:pt x="137" y="64"/>
                  </a:cubicBezTo>
                  <a:cubicBezTo>
                    <a:pt x="137" y="42"/>
                    <a:pt x="137" y="42"/>
                    <a:pt x="137" y="42"/>
                  </a:cubicBezTo>
                  <a:cubicBezTo>
                    <a:pt x="137" y="41"/>
                    <a:pt x="137" y="39"/>
                    <a:pt x="136" y="39"/>
                  </a:cubicBezTo>
                  <a:cubicBezTo>
                    <a:pt x="99" y="1"/>
                    <a:pt x="99" y="1"/>
                    <a:pt x="99" y="1"/>
                  </a:cubicBezTo>
                  <a:cubicBezTo>
                    <a:pt x="98" y="0"/>
                    <a:pt x="96" y="0"/>
                    <a:pt x="95" y="0"/>
                  </a:cubicBezTo>
                  <a:cubicBezTo>
                    <a:pt x="93" y="0"/>
                    <a:pt x="93" y="0"/>
                    <a:pt x="93" y="0"/>
                  </a:cubicBezTo>
                  <a:cubicBezTo>
                    <a:pt x="93" y="0"/>
                    <a:pt x="93" y="0"/>
                    <a:pt x="93" y="0"/>
                  </a:cubicBezTo>
                  <a:cubicBezTo>
                    <a:pt x="93" y="0"/>
                    <a:pt x="93" y="0"/>
                    <a:pt x="93" y="0"/>
                  </a:cubicBezTo>
                  <a:cubicBezTo>
                    <a:pt x="92" y="0"/>
                    <a:pt x="91" y="0"/>
                    <a:pt x="91" y="1"/>
                  </a:cubicBezTo>
                  <a:cubicBezTo>
                    <a:pt x="91" y="19"/>
                    <a:pt x="91" y="19"/>
                    <a:pt x="91" y="19"/>
                  </a:cubicBezTo>
                  <a:cubicBezTo>
                    <a:pt x="91" y="20"/>
                    <a:pt x="90" y="21"/>
                    <a:pt x="89" y="21"/>
                  </a:cubicBezTo>
                  <a:cubicBezTo>
                    <a:pt x="87" y="21"/>
                    <a:pt x="87" y="21"/>
                    <a:pt x="87" y="21"/>
                  </a:cubicBezTo>
                  <a:cubicBezTo>
                    <a:pt x="87" y="4"/>
                    <a:pt x="87" y="4"/>
                    <a:pt x="87" y="4"/>
                  </a:cubicBezTo>
                  <a:cubicBezTo>
                    <a:pt x="87" y="2"/>
                    <a:pt x="85" y="0"/>
                    <a:pt x="83" y="0"/>
                  </a:cubicBezTo>
                  <a:cubicBezTo>
                    <a:pt x="54" y="0"/>
                    <a:pt x="54" y="0"/>
                    <a:pt x="54" y="0"/>
                  </a:cubicBezTo>
                  <a:cubicBezTo>
                    <a:pt x="52" y="0"/>
                    <a:pt x="50" y="2"/>
                    <a:pt x="50" y="4"/>
                  </a:cubicBezTo>
                  <a:cubicBezTo>
                    <a:pt x="50" y="21"/>
                    <a:pt x="50" y="21"/>
                    <a:pt x="50" y="21"/>
                  </a:cubicBezTo>
                  <a:cubicBezTo>
                    <a:pt x="48" y="21"/>
                    <a:pt x="48" y="21"/>
                    <a:pt x="48" y="21"/>
                  </a:cubicBezTo>
                  <a:cubicBezTo>
                    <a:pt x="47" y="21"/>
                    <a:pt x="46" y="20"/>
                    <a:pt x="46" y="19"/>
                  </a:cubicBezTo>
                  <a:cubicBezTo>
                    <a:pt x="46" y="1"/>
                    <a:pt x="46" y="1"/>
                    <a:pt x="46" y="1"/>
                  </a:cubicBezTo>
                  <a:cubicBezTo>
                    <a:pt x="46" y="0"/>
                    <a:pt x="46" y="0"/>
                    <a:pt x="45" y="0"/>
                  </a:cubicBezTo>
                  <a:cubicBezTo>
                    <a:pt x="45" y="0"/>
                    <a:pt x="45" y="0"/>
                    <a:pt x="45" y="0"/>
                  </a:cubicBezTo>
                  <a:cubicBezTo>
                    <a:pt x="42" y="0"/>
                    <a:pt x="42" y="0"/>
                    <a:pt x="42" y="0"/>
                  </a:cubicBezTo>
                  <a:cubicBezTo>
                    <a:pt x="41" y="0"/>
                    <a:pt x="40" y="0"/>
                    <a:pt x="39" y="1"/>
                  </a:cubicBezTo>
                  <a:cubicBezTo>
                    <a:pt x="2" y="39"/>
                    <a:pt x="2" y="39"/>
                    <a:pt x="2" y="39"/>
                  </a:cubicBezTo>
                  <a:cubicBezTo>
                    <a:pt x="1" y="39"/>
                    <a:pt x="0" y="41"/>
                    <a:pt x="0" y="42"/>
                  </a:cubicBezTo>
                  <a:cubicBezTo>
                    <a:pt x="0" y="64"/>
                    <a:pt x="0" y="64"/>
                    <a:pt x="0" y="64"/>
                  </a:cubicBezTo>
                  <a:cubicBezTo>
                    <a:pt x="0" y="63"/>
                    <a:pt x="1" y="61"/>
                    <a:pt x="2" y="61"/>
                  </a:cubicBezTo>
                  <a:cubicBezTo>
                    <a:pt x="2" y="61"/>
                    <a:pt x="2" y="61"/>
                    <a:pt x="2" y="61"/>
                  </a:cubicBezTo>
                  <a:cubicBezTo>
                    <a:pt x="20" y="43"/>
                    <a:pt x="20" y="43"/>
                    <a:pt x="20" y="43"/>
                  </a:cubicBezTo>
                  <a:cubicBezTo>
                    <a:pt x="20" y="43"/>
                    <a:pt x="20" y="43"/>
                    <a:pt x="20" y="43"/>
                  </a:cubicBezTo>
                  <a:cubicBezTo>
                    <a:pt x="21" y="42"/>
                    <a:pt x="21" y="40"/>
                    <a:pt x="21" y="39"/>
                  </a:cubicBezTo>
                  <a:cubicBezTo>
                    <a:pt x="21" y="41"/>
                    <a:pt x="21" y="41"/>
                    <a:pt x="21" y="41"/>
                  </a:cubicBezTo>
                  <a:cubicBezTo>
                    <a:pt x="21" y="43"/>
                    <a:pt x="21" y="43"/>
                    <a:pt x="21" y="43"/>
                  </a:cubicBezTo>
                  <a:cubicBezTo>
                    <a:pt x="21" y="44"/>
                    <a:pt x="21" y="45"/>
                    <a:pt x="20" y="46"/>
                  </a:cubicBezTo>
                  <a:cubicBezTo>
                    <a:pt x="20" y="46"/>
                    <a:pt x="20" y="46"/>
                    <a:pt x="20" y="46"/>
                  </a:cubicBezTo>
                  <a:cubicBezTo>
                    <a:pt x="2" y="64"/>
                    <a:pt x="2" y="64"/>
                    <a:pt x="2" y="64"/>
                  </a:cubicBezTo>
                  <a:cubicBezTo>
                    <a:pt x="2" y="64"/>
                    <a:pt x="2" y="64"/>
                    <a:pt x="2" y="64"/>
                  </a:cubicBezTo>
                  <a:cubicBezTo>
                    <a:pt x="1" y="65"/>
                    <a:pt x="0" y="66"/>
                    <a:pt x="0" y="68"/>
                  </a:cubicBezTo>
                  <a:cubicBezTo>
                    <a:pt x="0" y="88"/>
                    <a:pt x="0" y="88"/>
                    <a:pt x="0" y="88"/>
                  </a:cubicBezTo>
                  <a:cubicBezTo>
                    <a:pt x="0" y="87"/>
                    <a:pt x="1" y="85"/>
                    <a:pt x="2" y="84"/>
                  </a:cubicBezTo>
                  <a:cubicBezTo>
                    <a:pt x="2" y="84"/>
                    <a:pt x="2" y="84"/>
                    <a:pt x="2" y="84"/>
                  </a:cubicBezTo>
                  <a:cubicBezTo>
                    <a:pt x="20" y="67"/>
                    <a:pt x="20" y="67"/>
                    <a:pt x="20" y="67"/>
                  </a:cubicBezTo>
                  <a:cubicBezTo>
                    <a:pt x="20" y="67"/>
                    <a:pt x="20" y="67"/>
                    <a:pt x="20" y="67"/>
                  </a:cubicBezTo>
                  <a:cubicBezTo>
                    <a:pt x="21" y="66"/>
                    <a:pt x="21" y="64"/>
                    <a:pt x="21" y="63"/>
                  </a:cubicBezTo>
                  <a:cubicBezTo>
                    <a:pt x="21" y="65"/>
                    <a:pt x="21" y="65"/>
                    <a:pt x="21" y="65"/>
                  </a:cubicBezTo>
                  <a:cubicBezTo>
                    <a:pt x="21" y="66"/>
                    <a:pt x="21" y="66"/>
                    <a:pt x="21" y="66"/>
                  </a:cubicBezTo>
                  <a:cubicBezTo>
                    <a:pt x="21" y="68"/>
                    <a:pt x="21" y="69"/>
                    <a:pt x="20" y="70"/>
                  </a:cubicBezTo>
                  <a:cubicBezTo>
                    <a:pt x="20" y="70"/>
                    <a:pt x="20" y="70"/>
                    <a:pt x="20" y="70"/>
                  </a:cubicBezTo>
                  <a:cubicBezTo>
                    <a:pt x="2" y="88"/>
                    <a:pt x="2" y="88"/>
                    <a:pt x="2" y="88"/>
                  </a:cubicBezTo>
                  <a:cubicBezTo>
                    <a:pt x="2" y="88"/>
                    <a:pt x="2" y="88"/>
                    <a:pt x="2" y="88"/>
                  </a:cubicBezTo>
                  <a:cubicBezTo>
                    <a:pt x="1" y="89"/>
                    <a:pt x="0" y="90"/>
                    <a:pt x="0" y="92"/>
                  </a:cubicBezTo>
                  <a:cubicBezTo>
                    <a:pt x="0" y="95"/>
                    <a:pt x="0" y="95"/>
                    <a:pt x="0" y="95"/>
                  </a:cubicBezTo>
                  <a:cubicBezTo>
                    <a:pt x="0" y="96"/>
                    <a:pt x="1" y="97"/>
                    <a:pt x="2" y="98"/>
                  </a:cubicBezTo>
                  <a:cubicBezTo>
                    <a:pt x="7" y="103"/>
                    <a:pt x="7" y="103"/>
                    <a:pt x="7" y="103"/>
                  </a:cubicBezTo>
                  <a:cubicBezTo>
                    <a:pt x="20" y="91"/>
                    <a:pt x="20" y="91"/>
                    <a:pt x="20" y="91"/>
                  </a:cubicBezTo>
                  <a:cubicBezTo>
                    <a:pt x="20" y="91"/>
                    <a:pt x="20" y="91"/>
                    <a:pt x="20" y="91"/>
                  </a:cubicBezTo>
                  <a:cubicBezTo>
                    <a:pt x="21" y="90"/>
                    <a:pt x="21" y="88"/>
                    <a:pt x="21" y="87"/>
                  </a:cubicBezTo>
                  <a:cubicBezTo>
                    <a:pt x="21" y="89"/>
                    <a:pt x="21" y="89"/>
                    <a:pt x="21" y="89"/>
                  </a:cubicBezTo>
                  <a:cubicBezTo>
                    <a:pt x="21" y="90"/>
                    <a:pt x="21" y="90"/>
                    <a:pt x="21" y="90"/>
                  </a:cubicBezTo>
                  <a:cubicBezTo>
                    <a:pt x="21" y="92"/>
                    <a:pt x="21" y="93"/>
                    <a:pt x="20" y="94"/>
                  </a:cubicBezTo>
                  <a:cubicBezTo>
                    <a:pt x="20" y="94"/>
                    <a:pt x="20" y="94"/>
                    <a:pt x="20" y="94"/>
                  </a:cubicBezTo>
                  <a:cubicBezTo>
                    <a:pt x="9" y="105"/>
                    <a:pt x="9" y="105"/>
                    <a:pt x="9" y="105"/>
                  </a:cubicBezTo>
                  <a:cubicBezTo>
                    <a:pt x="39" y="135"/>
                    <a:pt x="39" y="135"/>
                    <a:pt x="39" y="135"/>
                  </a:cubicBezTo>
                  <a:cubicBezTo>
                    <a:pt x="47" y="121"/>
                    <a:pt x="47" y="121"/>
                    <a:pt x="47" y="121"/>
                  </a:cubicBezTo>
                  <a:cubicBezTo>
                    <a:pt x="48" y="119"/>
                    <a:pt x="49" y="119"/>
                    <a:pt x="51" y="119"/>
                  </a:cubicBezTo>
                  <a:cubicBezTo>
                    <a:pt x="52" y="119"/>
                    <a:pt x="52" y="119"/>
                    <a:pt x="52" y="119"/>
                  </a:cubicBezTo>
                  <a:cubicBezTo>
                    <a:pt x="54" y="119"/>
                    <a:pt x="54" y="119"/>
                    <a:pt x="54" y="119"/>
                  </a:cubicBezTo>
                  <a:cubicBezTo>
                    <a:pt x="52" y="119"/>
                    <a:pt x="51" y="119"/>
                    <a:pt x="50" y="121"/>
                  </a:cubicBezTo>
                  <a:cubicBezTo>
                    <a:pt x="50" y="121"/>
                    <a:pt x="50" y="121"/>
                    <a:pt x="50" y="121"/>
                  </a:cubicBezTo>
                  <a:cubicBezTo>
                    <a:pt x="41" y="137"/>
                    <a:pt x="41" y="137"/>
                    <a:pt x="41" y="137"/>
                  </a:cubicBezTo>
                  <a:cubicBezTo>
                    <a:pt x="42" y="137"/>
                    <a:pt x="42" y="137"/>
                    <a:pt x="42" y="137"/>
                  </a:cubicBezTo>
                  <a:cubicBezTo>
                    <a:pt x="58" y="137"/>
                    <a:pt x="58" y="137"/>
                    <a:pt x="58" y="137"/>
                  </a:cubicBezTo>
                  <a:cubicBezTo>
                    <a:pt x="61" y="121"/>
                    <a:pt x="61" y="121"/>
                    <a:pt x="61" y="121"/>
                  </a:cubicBezTo>
                  <a:cubicBezTo>
                    <a:pt x="61" y="119"/>
                    <a:pt x="62" y="119"/>
                    <a:pt x="63" y="119"/>
                  </a:cubicBezTo>
                  <a:cubicBezTo>
                    <a:pt x="63" y="119"/>
                    <a:pt x="63" y="119"/>
                    <a:pt x="63" y="119"/>
                  </a:cubicBezTo>
                  <a:cubicBezTo>
                    <a:pt x="64" y="119"/>
                    <a:pt x="64" y="119"/>
                    <a:pt x="64" y="119"/>
                  </a:cubicBezTo>
                  <a:cubicBezTo>
                    <a:pt x="66" y="119"/>
                    <a:pt x="66" y="119"/>
                    <a:pt x="66" y="119"/>
                  </a:cubicBezTo>
                  <a:cubicBezTo>
                    <a:pt x="65" y="119"/>
                    <a:pt x="64" y="119"/>
                    <a:pt x="63" y="121"/>
                  </a:cubicBezTo>
                  <a:cubicBezTo>
                    <a:pt x="60" y="137"/>
                    <a:pt x="60" y="137"/>
                    <a:pt x="60" y="137"/>
                  </a:cubicBezTo>
                  <a:cubicBezTo>
                    <a:pt x="77" y="137"/>
                    <a:pt x="77" y="137"/>
                    <a:pt x="77" y="137"/>
                  </a:cubicBezTo>
                  <a:cubicBezTo>
                    <a:pt x="74" y="121"/>
                    <a:pt x="74" y="121"/>
                    <a:pt x="74" y="121"/>
                  </a:cubicBezTo>
                  <a:cubicBezTo>
                    <a:pt x="74" y="119"/>
                    <a:pt x="73" y="119"/>
                    <a:pt x="72" y="119"/>
                  </a:cubicBezTo>
                  <a:cubicBezTo>
                    <a:pt x="74" y="119"/>
                    <a:pt x="74" y="119"/>
                    <a:pt x="74" y="119"/>
                  </a:cubicBezTo>
                  <a:cubicBezTo>
                    <a:pt x="74" y="119"/>
                    <a:pt x="74" y="119"/>
                    <a:pt x="74" y="119"/>
                  </a:cubicBezTo>
                  <a:cubicBezTo>
                    <a:pt x="74" y="119"/>
                    <a:pt x="74" y="119"/>
                    <a:pt x="74" y="119"/>
                  </a:cubicBezTo>
                  <a:cubicBezTo>
                    <a:pt x="76" y="119"/>
                    <a:pt x="77" y="119"/>
                    <a:pt x="77" y="121"/>
                  </a:cubicBezTo>
                  <a:cubicBezTo>
                    <a:pt x="80" y="137"/>
                    <a:pt x="80" y="137"/>
                    <a:pt x="80" y="137"/>
                  </a:cubicBezTo>
                  <a:cubicBezTo>
                    <a:pt x="95" y="137"/>
                    <a:pt x="95" y="137"/>
                    <a:pt x="95" y="137"/>
                  </a:cubicBezTo>
                  <a:cubicBezTo>
                    <a:pt x="96" y="137"/>
                    <a:pt x="96" y="137"/>
                    <a:pt x="97" y="137"/>
                  </a:cubicBezTo>
                  <a:cubicBezTo>
                    <a:pt x="88" y="121"/>
                    <a:pt x="88" y="121"/>
                    <a:pt x="88" y="121"/>
                  </a:cubicBezTo>
                  <a:cubicBezTo>
                    <a:pt x="88" y="121"/>
                    <a:pt x="88" y="121"/>
                    <a:pt x="88" y="121"/>
                  </a:cubicBezTo>
                  <a:cubicBezTo>
                    <a:pt x="87" y="119"/>
                    <a:pt x="86" y="119"/>
                    <a:pt x="84" y="119"/>
                  </a:cubicBezTo>
                  <a:cubicBezTo>
                    <a:pt x="86" y="119"/>
                    <a:pt x="86" y="119"/>
                    <a:pt x="86" y="119"/>
                  </a:cubicBezTo>
                  <a:cubicBezTo>
                    <a:pt x="87" y="119"/>
                    <a:pt x="87" y="119"/>
                    <a:pt x="87" y="119"/>
                  </a:cubicBezTo>
                  <a:cubicBezTo>
                    <a:pt x="89" y="119"/>
                    <a:pt x="90" y="119"/>
                    <a:pt x="91" y="121"/>
                  </a:cubicBezTo>
                  <a:cubicBezTo>
                    <a:pt x="99" y="135"/>
                    <a:pt x="99" y="135"/>
                    <a:pt x="99" y="135"/>
                  </a:cubicBezTo>
                  <a:cubicBezTo>
                    <a:pt x="129" y="105"/>
                    <a:pt x="129" y="105"/>
                    <a:pt x="129" y="105"/>
                  </a:cubicBezTo>
                  <a:cubicBezTo>
                    <a:pt x="118" y="94"/>
                    <a:pt x="118" y="94"/>
                    <a:pt x="118" y="94"/>
                  </a:cubicBezTo>
                  <a:cubicBezTo>
                    <a:pt x="118" y="94"/>
                    <a:pt x="118" y="94"/>
                    <a:pt x="118" y="94"/>
                  </a:cubicBezTo>
                  <a:cubicBezTo>
                    <a:pt x="117" y="93"/>
                    <a:pt x="116" y="92"/>
                    <a:pt x="116" y="90"/>
                  </a:cubicBezTo>
                  <a:cubicBezTo>
                    <a:pt x="116" y="89"/>
                    <a:pt x="116" y="89"/>
                    <a:pt x="116" y="89"/>
                  </a:cubicBezTo>
                  <a:cubicBezTo>
                    <a:pt x="116" y="87"/>
                    <a:pt x="116" y="87"/>
                    <a:pt x="116" y="87"/>
                  </a:cubicBezTo>
                  <a:cubicBezTo>
                    <a:pt x="116" y="88"/>
                    <a:pt x="117" y="90"/>
                    <a:pt x="118" y="91"/>
                  </a:cubicBezTo>
                  <a:cubicBezTo>
                    <a:pt x="118" y="91"/>
                    <a:pt x="118" y="91"/>
                    <a:pt x="118" y="91"/>
                  </a:cubicBezTo>
                  <a:cubicBezTo>
                    <a:pt x="131" y="103"/>
                    <a:pt x="131" y="103"/>
                    <a:pt x="131" y="103"/>
                  </a:cubicBezTo>
                  <a:cubicBezTo>
                    <a:pt x="136" y="98"/>
                    <a:pt x="136" y="98"/>
                    <a:pt x="136" y="98"/>
                  </a:cubicBezTo>
                  <a:cubicBezTo>
                    <a:pt x="137" y="97"/>
                    <a:pt x="137" y="96"/>
                    <a:pt x="137" y="95"/>
                  </a:cubicBezTo>
                  <a:cubicBezTo>
                    <a:pt x="137" y="92"/>
                    <a:pt x="137" y="92"/>
                    <a:pt x="137" y="92"/>
                  </a:cubicBezTo>
                  <a:cubicBezTo>
                    <a:pt x="137" y="90"/>
                    <a:pt x="137" y="89"/>
                    <a:pt x="136" y="88"/>
                  </a:cubicBezTo>
                  <a:cubicBezTo>
                    <a:pt x="136" y="88"/>
                    <a:pt x="136" y="88"/>
                    <a:pt x="136" y="88"/>
                  </a:cubicBezTo>
                  <a:cubicBezTo>
                    <a:pt x="118" y="70"/>
                    <a:pt x="118" y="70"/>
                    <a:pt x="118" y="70"/>
                  </a:cubicBezTo>
                  <a:cubicBezTo>
                    <a:pt x="118" y="70"/>
                    <a:pt x="118" y="70"/>
                    <a:pt x="118" y="70"/>
                  </a:cubicBezTo>
                  <a:cubicBezTo>
                    <a:pt x="117" y="69"/>
                    <a:pt x="116" y="68"/>
                    <a:pt x="116" y="66"/>
                  </a:cubicBezTo>
                  <a:cubicBezTo>
                    <a:pt x="116" y="65"/>
                    <a:pt x="116" y="65"/>
                    <a:pt x="116" y="65"/>
                  </a:cubicBezTo>
                  <a:cubicBezTo>
                    <a:pt x="116" y="63"/>
                    <a:pt x="116" y="63"/>
                    <a:pt x="116" y="63"/>
                  </a:cubicBezTo>
                  <a:cubicBezTo>
                    <a:pt x="116" y="64"/>
                    <a:pt x="117" y="66"/>
                    <a:pt x="118" y="67"/>
                  </a:cubicBezTo>
                  <a:cubicBezTo>
                    <a:pt x="118" y="67"/>
                    <a:pt x="118" y="67"/>
                    <a:pt x="118" y="67"/>
                  </a:cubicBezTo>
                  <a:cubicBezTo>
                    <a:pt x="136" y="84"/>
                    <a:pt x="136" y="84"/>
                    <a:pt x="136" y="84"/>
                  </a:cubicBezTo>
                  <a:cubicBezTo>
                    <a:pt x="136" y="84"/>
                    <a:pt x="136" y="84"/>
                    <a:pt x="136" y="84"/>
                  </a:cubicBezTo>
                  <a:cubicBezTo>
                    <a:pt x="137" y="85"/>
                    <a:pt x="137" y="87"/>
                    <a:pt x="137" y="88"/>
                  </a:cubicBezTo>
                  <a:cubicBezTo>
                    <a:pt x="137" y="68"/>
                    <a:pt x="137" y="68"/>
                    <a:pt x="137" y="68"/>
                  </a:cubicBezTo>
                  <a:cubicBezTo>
                    <a:pt x="137" y="66"/>
                    <a:pt x="137" y="65"/>
                    <a:pt x="136" y="64"/>
                  </a:cubicBezTo>
                  <a:cubicBezTo>
                    <a:pt x="136" y="64"/>
                    <a:pt x="136" y="64"/>
                    <a:pt x="136" y="64"/>
                  </a:cubicBezTo>
                  <a:cubicBezTo>
                    <a:pt x="118" y="46"/>
                    <a:pt x="118" y="46"/>
                    <a:pt x="118" y="46"/>
                  </a:cubicBezTo>
                  <a:cubicBezTo>
                    <a:pt x="118" y="46"/>
                    <a:pt x="118" y="46"/>
                    <a:pt x="118" y="46"/>
                  </a:cubicBezTo>
                  <a:cubicBezTo>
                    <a:pt x="117" y="45"/>
                    <a:pt x="116" y="44"/>
                    <a:pt x="116" y="43"/>
                  </a:cubicBezTo>
                  <a:cubicBezTo>
                    <a:pt x="116" y="41"/>
                    <a:pt x="116" y="41"/>
                    <a:pt x="116" y="41"/>
                  </a:cubicBezTo>
                  <a:lnTo>
                    <a:pt x="116" y="39"/>
                  </a:lnTo>
                  <a:close/>
                  <a:moveTo>
                    <a:pt x="83" y="40"/>
                  </a:moveTo>
                  <a:cubicBezTo>
                    <a:pt x="84" y="35"/>
                    <a:pt x="84" y="35"/>
                    <a:pt x="87" y="34"/>
                  </a:cubicBezTo>
                  <a:cubicBezTo>
                    <a:pt x="91" y="33"/>
                    <a:pt x="93" y="33"/>
                    <a:pt x="95" y="33"/>
                  </a:cubicBezTo>
                  <a:cubicBezTo>
                    <a:pt x="97" y="33"/>
                    <a:pt x="101" y="33"/>
                    <a:pt x="105" y="34"/>
                  </a:cubicBezTo>
                  <a:cubicBezTo>
                    <a:pt x="106" y="35"/>
                    <a:pt x="106" y="36"/>
                    <a:pt x="106" y="42"/>
                  </a:cubicBezTo>
                  <a:cubicBezTo>
                    <a:pt x="106" y="44"/>
                    <a:pt x="105" y="44"/>
                    <a:pt x="103" y="44"/>
                  </a:cubicBezTo>
                  <a:cubicBezTo>
                    <a:pt x="101" y="44"/>
                    <a:pt x="100" y="44"/>
                    <a:pt x="97" y="44"/>
                  </a:cubicBezTo>
                  <a:cubicBezTo>
                    <a:pt x="96" y="42"/>
                    <a:pt x="95" y="37"/>
                    <a:pt x="94" y="38"/>
                  </a:cubicBezTo>
                  <a:cubicBezTo>
                    <a:pt x="93" y="38"/>
                    <a:pt x="94" y="38"/>
                    <a:pt x="92" y="41"/>
                  </a:cubicBezTo>
                  <a:cubicBezTo>
                    <a:pt x="92" y="41"/>
                    <a:pt x="91" y="43"/>
                    <a:pt x="91" y="43"/>
                  </a:cubicBezTo>
                  <a:cubicBezTo>
                    <a:pt x="89" y="44"/>
                    <a:pt x="87" y="44"/>
                    <a:pt x="85" y="44"/>
                  </a:cubicBezTo>
                  <a:cubicBezTo>
                    <a:pt x="83" y="44"/>
                    <a:pt x="83" y="43"/>
                    <a:pt x="83" y="40"/>
                  </a:cubicBezTo>
                  <a:close/>
                  <a:moveTo>
                    <a:pt x="80" y="35"/>
                  </a:moveTo>
                  <a:cubicBezTo>
                    <a:pt x="80" y="34"/>
                    <a:pt x="80" y="34"/>
                    <a:pt x="80" y="34"/>
                  </a:cubicBezTo>
                  <a:cubicBezTo>
                    <a:pt x="82" y="34"/>
                    <a:pt x="82" y="34"/>
                    <a:pt x="82" y="35"/>
                  </a:cubicBezTo>
                  <a:cubicBezTo>
                    <a:pt x="82" y="36"/>
                    <a:pt x="82" y="39"/>
                    <a:pt x="82" y="41"/>
                  </a:cubicBezTo>
                  <a:cubicBezTo>
                    <a:pt x="82" y="43"/>
                    <a:pt x="82" y="45"/>
                    <a:pt x="81" y="46"/>
                  </a:cubicBezTo>
                  <a:cubicBezTo>
                    <a:pt x="80" y="46"/>
                    <a:pt x="79" y="46"/>
                    <a:pt x="79" y="45"/>
                  </a:cubicBezTo>
                  <a:cubicBezTo>
                    <a:pt x="79" y="44"/>
                    <a:pt x="79" y="43"/>
                    <a:pt x="80" y="42"/>
                  </a:cubicBezTo>
                  <a:cubicBezTo>
                    <a:pt x="80" y="40"/>
                    <a:pt x="80" y="37"/>
                    <a:pt x="80" y="35"/>
                  </a:cubicBezTo>
                  <a:close/>
                  <a:moveTo>
                    <a:pt x="80" y="49"/>
                  </a:moveTo>
                  <a:cubicBezTo>
                    <a:pt x="82" y="50"/>
                    <a:pt x="82" y="54"/>
                    <a:pt x="82" y="54"/>
                  </a:cubicBezTo>
                  <a:cubicBezTo>
                    <a:pt x="82" y="55"/>
                    <a:pt x="82" y="59"/>
                    <a:pt x="82" y="60"/>
                  </a:cubicBezTo>
                  <a:cubicBezTo>
                    <a:pt x="82" y="61"/>
                    <a:pt x="82" y="62"/>
                    <a:pt x="82" y="63"/>
                  </a:cubicBezTo>
                  <a:cubicBezTo>
                    <a:pt x="81" y="63"/>
                    <a:pt x="81" y="63"/>
                    <a:pt x="80" y="63"/>
                  </a:cubicBezTo>
                  <a:cubicBezTo>
                    <a:pt x="79" y="63"/>
                    <a:pt x="79" y="59"/>
                    <a:pt x="79" y="58"/>
                  </a:cubicBezTo>
                  <a:cubicBezTo>
                    <a:pt x="79" y="57"/>
                    <a:pt x="79" y="54"/>
                    <a:pt x="79" y="52"/>
                  </a:cubicBezTo>
                  <a:cubicBezTo>
                    <a:pt x="78" y="49"/>
                    <a:pt x="79" y="50"/>
                    <a:pt x="80" y="49"/>
                  </a:cubicBezTo>
                  <a:close/>
                  <a:moveTo>
                    <a:pt x="75" y="47"/>
                  </a:moveTo>
                  <a:cubicBezTo>
                    <a:pt x="75" y="45"/>
                    <a:pt x="76" y="39"/>
                    <a:pt x="75" y="37"/>
                  </a:cubicBezTo>
                  <a:cubicBezTo>
                    <a:pt x="76" y="36"/>
                    <a:pt x="75" y="35"/>
                    <a:pt x="76" y="34"/>
                  </a:cubicBezTo>
                  <a:cubicBezTo>
                    <a:pt x="76" y="33"/>
                    <a:pt x="76" y="33"/>
                    <a:pt x="77" y="33"/>
                  </a:cubicBezTo>
                  <a:cubicBezTo>
                    <a:pt x="79" y="33"/>
                    <a:pt x="78" y="38"/>
                    <a:pt x="78" y="38"/>
                  </a:cubicBezTo>
                  <a:cubicBezTo>
                    <a:pt x="78" y="42"/>
                    <a:pt x="77" y="51"/>
                    <a:pt x="77" y="53"/>
                  </a:cubicBezTo>
                  <a:cubicBezTo>
                    <a:pt x="77" y="57"/>
                    <a:pt x="78" y="67"/>
                    <a:pt x="77" y="68"/>
                  </a:cubicBezTo>
                  <a:cubicBezTo>
                    <a:pt x="77" y="68"/>
                    <a:pt x="76" y="69"/>
                    <a:pt x="76" y="68"/>
                  </a:cubicBezTo>
                  <a:cubicBezTo>
                    <a:pt x="75" y="65"/>
                    <a:pt x="75" y="61"/>
                    <a:pt x="74" y="57"/>
                  </a:cubicBezTo>
                  <a:cubicBezTo>
                    <a:pt x="74" y="53"/>
                    <a:pt x="75" y="49"/>
                    <a:pt x="75" y="47"/>
                  </a:cubicBezTo>
                  <a:close/>
                  <a:moveTo>
                    <a:pt x="71" y="41"/>
                  </a:moveTo>
                  <a:cubicBezTo>
                    <a:pt x="72" y="38"/>
                    <a:pt x="71" y="35"/>
                    <a:pt x="72" y="35"/>
                  </a:cubicBezTo>
                  <a:cubicBezTo>
                    <a:pt x="72" y="34"/>
                    <a:pt x="73" y="34"/>
                    <a:pt x="73" y="34"/>
                  </a:cubicBezTo>
                  <a:cubicBezTo>
                    <a:pt x="74" y="35"/>
                    <a:pt x="75" y="44"/>
                    <a:pt x="72" y="46"/>
                  </a:cubicBezTo>
                  <a:cubicBezTo>
                    <a:pt x="72" y="46"/>
                    <a:pt x="71" y="46"/>
                    <a:pt x="71" y="45"/>
                  </a:cubicBezTo>
                  <a:cubicBezTo>
                    <a:pt x="70" y="45"/>
                    <a:pt x="71" y="43"/>
                    <a:pt x="71" y="41"/>
                  </a:cubicBezTo>
                  <a:close/>
                  <a:moveTo>
                    <a:pt x="70" y="53"/>
                  </a:moveTo>
                  <a:cubicBezTo>
                    <a:pt x="70" y="49"/>
                    <a:pt x="70" y="49"/>
                    <a:pt x="71" y="48"/>
                  </a:cubicBezTo>
                  <a:cubicBezTo>
                    <a:pt x="72" y="47"/>
                    <a:pt x="73" y="48"/>
                    <a:pt x="73" y="48"/>
                  </a:cubicBezTo>
                  <a:cubicBezTo>
                    <a:pt x="74" y="50"/>
                    <a:pt x="73" y="56"/>
                    <a:pt x="73" y="59"/>
                  </a:cubicBezTo>
                  <a:cubicBezTo>
                    <a:pt x="72" y="61"/>
                    <a:pt x="73" y="64"/>
                    <a:pt x="72" y="65"/>
                  </a:cubicBezTo>
                  <a:cubicBezTo>
                    <a:pt x="71" y="65"/>
                    <a:pt x="70" y="65"/>
                    <a:pt x="70" y="64"/>
                  </a:cubicBezTo>
                  <a:cubicBezTo>
                    <a:pt x="70" y="61"/>
                    <a:pt x="70" y="53"/>
                    <a:pt x="70" y="53"/>
                  </a:cubicBezTo>
                  <a:close/>
                  <a:moveTo>
                    <a:pt x="67" y="96"/>
                  </a:moveTo>
                  <a:cubicBezTo>
                    <a:pt x="67" y="101"/>
                    <a:pt x="66" y="101"/>
                    <a:pt x="63" y="101"/>
                  </a:cubicBezTo>
                  <a:cubicBezTo>
                    <a:pt x="60" y="101"/>
                    <a:pt x="53" y="101"/>
                    <a:pt x="53" y="101"/>
                  </a:cubicBezTo>
                  <a:cubicBezTo>
                    <a:pt x="53" y="101"/>
                    <a:pt x="53" y="103"/>
                    <a:pt x="53" y="104"/>
                  </a:cubicBezTo>
                  <a:cubicBezTo>
                    <a:pt x="53" y="106"/>
                    <a:pt x="54" y="106"/>
                    <a:pt x="47" y="107"/>
                  </a:cubicBezTo>
                  <a:cubicBezTo>
                    <a:pt x="45" y="107"/>
                    <a:pt x="34" y="107"/>
                    <a:pt x="33" y="105"/>
                  </a:cubicBezTo>
                  <a:cubicBezTo>
                    <a:pt x="32" y="104"/>
                    <a:pt x="31" y="102"/>
                    <a:pt x="32" y="100"/>
                  </a:cubicBezTo>
                  <a:cubicBezTo>
                    <a:pt x="33" y="101"/>
                    <a:pt x="35" y="102"/>
                    <a:pt x="38" y="103"/>
                  </a:cubicBezTo>
                  <a:cubicBezTo>
                    <a:pt x="41" y="104"/>
                    <a:pt x="45" y="104"/>
                    <a:pt x="48" y="104"/>
                  </a:cubicBezTo>
                  <a:cubicBezTo>
                    <a:pt x="49" y="103"/>
                    <a:pt x="49" y="103"/>
                    <a:pt x="49" y="101"/>
                  </a:cubicBezTo>
                  <a:cubicBezTo>
                    <a:pt x="44" y="101"/>
                    <a:pt x="41" y="100"/>
                    <a:pt x="39" y="100"/>
                  </a:cubicBezTo>
                  <a:cubicBezTo>
                    <a:pt x="37" y="100"/>
                    <a:pt x="37" y="100"/>
                    <a:pt x="37" y="99"/>
                  </a:cubicBezTo>
                  <a:cubicBezTo>
                    <a:pt x="37" y="97"/>
                    <a:pt x="37" y="97"/>
                    <a:pt x="39" y="97"/>
                  </a:cubicBezTo>
                  <a:cubicBezTo>
                    <a:pt x="40" y="97"/>
                    <a:pt x="42" y="98"/>
                    <a:pt x="45" y="98"/>
                  </a:cubicBezTo>
                  <a:cubicBezTo>
                    <a:pt x="47" y="98"/>
                    <a:pt x="49" y="98"/>
                    <a:pt x="49" y="98"/>
                  </a:cubicBezTo>
                  <a:cubicBezTo>
                    <a:pt x="49" y="95"/>
                    <a:pt x="49" y="95"/>
                    <a:pt x="49" y="95"/>
                  </a:cubicBezTo>
                  <a:cubicBezTo>
                    <a:pt x="49" y="95"/>
                    <a:pt x="45" y="95"/>
                    <a:pt x="44" y="95"/>
                  </a:cubicBezTo>
                  <a:cubicBezTo>
                    <a:pt x="39" y="95"/>
                    <a:pt x="40" y="94"/>
                    <a:pt x="39" y="92"/>
                  </a:cubicBezTo>
                  <a:cubicBezTo>
                    <a:pt x="40" y="88"/>
                    <a:pt x="40" y="89"/>
                    <a:pt x="43" y="89"/>
                  </a:cubicBezTo>
                  <a:cubicBezTo>
                    <a:pt x="46" y="89"/>
                    <a:pt x="55" y="89"/>
                    <a:pt x="57" y="89"/>
                  </a:cubicBezTo>
                  <a:cubicBezTo>
                    <a:pt x="60" y="89"/>
                    <a:pt x="60" y="89"/>
                    <a:pt x="60" y="92"/>
                  </a:cubicBezTo>
                  <a:cubicBezTo>
                    <a:pt x="60" y="94"/>
                    <a:pt x="60" y="95"/>
                    <a:pt x="57" y="95"/>
                  </a:cubicBezTo>
                  <a:cubicBezTo>
                    <a:pt x="56" y="95"/>
                    <a:pt x="53" y="95"/>
                    <a:pt x="53" y="95"/>
                  </a:cubicBezTo>
                  <a:cubicBezTo>
                    <a:pt x="53" y="98"/>
                    <a:pt x="53" y="98"/>
                    <a:pt x="53" y="98"/>
                  </a:cubicBezTo>
                  <a:cubicBezTo>
                    <a:pt x="61" y="98"/>
                    <a:pt x="61" y="98"/>
                    <a:pt x="61" y="98"/>
                  </a:cubicBezTo>
                  <a:cubicBezTo>
                    <a:pt x="61" y="98"/>
                    <a:pt x="63" y="98"/>
                    <a:pt x="63" y="95"/>
                  </a:cubicBezTo>
                  <a:cubicBezTo>
                    <a:pt x="63" y="93"/>
                    <a:pt x="64" y="90"/>
                    <a:pt x="64" y="90"/>
                  </a:cubicBezTo>
                  <a:cubicBezTo>
                    <a:pt x="64" y="90"/>
                    <a:pt x="64" y="87"/>
                    <a:pt x="61" y="87"/>
                  </a:cubicBezTo>
                  <a:cubicBezTo>
                    <a:pt x="59" y="87"/>
                    <a:pt x="46" y="87"/>
                    <a:pt x="41" y="87"/>
                  </a:cubicBezTo>
                  <a:cubicBezTo>
                    <a:pt x="37" y="87"/>
                    <a:pt x="37" y="88"/>
                    <a:pt x="36" y="89"/>
                  </a:cubicBezTo>
                  <a:cubicBezTo>
                    <a:pt x="36" y="91"/>
                    <a:pt x="36" y="97"/>
                    <a:pt x="34" y="97"/>
                  </a:cubicBezTo>
                  <a:cubicBezTo>
                    <a:pt x="31" y="96"/>
                    <a:pt x="32" y="96"/>
                    <a:pt x="32" y="94"/>
                  </a:cubicBezTo>
                  <a:cubicBezTo>
                    <a:pt x="32" y="92"/>
                    <a:pt x="33" y="89"/>
                    <a:pt x="33" y="87"/>
                  </a:cubicBezTo>
                  <a:cubicBezTo>
                    <a:pt x="34" y="85"/>
                    <a:pt x="34" y="84"/>
                    <a:pt x="44" y="84"/>
                  </a:cubicBezTo>
                  <a:cubicBezTo>
                    <a:pt x="49" y="84"/>
                    <a:pt x="62" y="84"/>
                    <a:pt x="62" y="84"/>
                  </a:cubicBezTo>
                  <a:cubicBezTo>
                    <a:pt x="65" y="84"/>
                    <a:pt x="66" y="84"/>
                    <a:pt x="67" y="87"/>
                  </a:cubicBezTo>
                  <a:cubicBezTo>
                    <a:pt x="67" y="92"/>
                    <a:pt x="67" y="93"/>
                    <a:pt x="67" y="96"/>
                  </a:cubicBezTo>
                  <a:close/>
                  <a:moveTo>
                    <a:pt x="37" y="76"/>
                  </a:moveTo>
                  <a:cubicBezTo>
                    <a:pt x="37" y="77"/>
                    <a:pt x="38" y="77"/>
                    <a:pt x="40" y="77"/>
                  </a:cubicBezTo>
                  <a:cubicBezTo>
                    <a:pt x="42" y="77"/>
                    <a:pt x="42" y="76"/>
                    <a:pt x="42" y="78"/>
                  </a:cubicBezTo>
                  <a:cubicBezTo>
                    <a:pt x="42" y="78"/>
                    <a:pt x="42" y="79"/>
                    <a:pt x="41" y="79"/>
                  </a:cubicBezTo>
                  <a:cubicBezTo>
                    <a:pt x="36" y="79"/>
                    <a:pt x="37" y="79"/>
                    <a:pt x="37" y="80"/>
                  </a:cubicBezTo>
                  <a:cubicBezTo>
                    <a:pt x="37" y="81"/>
                    <a:pt x="37" y="81"/>
                    <a:pt x="40" y="80"/>
                  </a:cubicBezTo>
                  <a:cubicBezTo>
                    <a:pt x="42" y="80"/>
                    <a:pt x="42" y="80"/>
                    <a:pt x="42" y="81"/>
                  </a:cubicBezTo>
                  <a:cubicBezTo>
                    <a:pt x="43" y="82"/>
                    <a:pt x="42" y="83"/>
                    <a:pt x="42" y="83"/>
                  </a:cubicBezTo>
                  <a:cubicBezTo>
                    <a:pt x="41" y="83"/>
                    <a:pt x="36" y="83"/>
                    <a:pt x="34" y="83"/>
                  </a:cubicBezTo>
                  <a:cubicBezTo>
                    <a:pt x="33" y="83"/>
                    <a:pt x="33" y="83"/>
                    <a:pt x="33" y="80"/>
                  </a:cubicBezTo>
                  <a:cubicBezTo>
                    <a:pt x="33" y="78"/>
                    <a:pt x="33" y="75"/>
                    <a:pt x="34" y="73"/>
                  </a:cubicBezTo>
                  <a:cubicBezTo>
                    <a:pt x="35" y="72"/>
                    <a:pt x="35" y="72"/>
                    <a:pt x="40" y="72"/>
                  </a:cubicBezTo>
                  <a:cubicBezTo>
                    <a:pt x="43" y="72"/>
                    <a:pt x="43" y="72"/>
                    <a:pt x="43" y="74"/>
                  </a:cubicBezTo>
                  <a:cubicBezTo>
                    <a:pt x="43" y="74"/>
                    <a:pt x="43" y="74"/>
                    <a:pt x="38" y="75"/>
                  </a:cubicBezTo>
                  <a:cubicBezTo>
                    <a:pt x="36" y="75"/>
                    <a:pt x="37" y="75"/>
                    <a:pt x="37" y="76"/>
                  </a:cubicBezTo>
                  <a:close/>
                  <a:moveTo>
                    <a:pt x="45" y="73"/>
                  </a:moveTo>
                  <a:cubicBezTo>
                    <a:pt x="44" y="73"/>
                    <a:pt x="45" y="72"/>
                    <a:pt x="46" y="72"/>
                  </a:cubicBezTo>
                  <a:cubicBezTo>
                    <a:pt x="46" y="72"/>
                    <a:pt x="48" y="73"/>
                    <a:pt x="49" y="73"/>
                  </a:cubicBezTo>
                  <a:cubicBezTo>
                    <a:pt x="49" y="73"/>
                    <a:pt x="50" y="73"/>
                    <a:pt x="50" y="74"/>
                  </a:cubicBezTo>
                  <a:cubicBezTo>
                    <a:pt x="51" y="74"/>
                    <a:pt x="51" y="74"/>
                    <a:pt x="51" y="73"/>
                  </a:cubicBezTo>
                  <a:cubicBezTo>
                    <a:pt x="52" y="73"/>
                    <a:pt x="54" y="72"/>
                    <a:pt x="55" y="72"/>
                  </a:cubicBezTo>
                  <a:cubicBezTo>
                    <a:pt x="55" y="72"/>
                    <a:pt x="56" y="73"/>
                    <a:pt x="56" y="74"/>
                  </a:cubicBezTo>
                  <a:cubicBezTo>
                    <a:pt x="55" y="74"/>
                    <a:pt x="54" y="75"/>
                    <a:pt x="53" y="75"/>
                  </a:cubicBezTo>
                  <a:cubicBezTo>
                    <a:pt x="54" y="76"/>
                    <a:pt x="54" y="76"/>
                    <a:pt x="55" y="76"/>
                  </a:cubicBezTo>
                  <a:cubicBezTo>
                    <a:pt x="56" y="77"/>
                    <a:pt x="56" y="77"/>
                    <a:pt x="56" y="78"/>
                  </a:cubicBezTo>
                  <a:cubicBezTo>
                    <a:pt x="56" y="78"/>
                    <a:pt x="55" y="79"/>
                    <a:pt x="55" y="79"/>
                  </a:cubicBezTo>
                  <a:cubicBezTo>
                    <a:pt x="54" y="79"/>
                    <a:pt x="54" y="80"/>
                    <a:pt x="53" y="80"/>
                  </a:cubicBezTo>
                  <a:cubicBezTo>
                    <a:pt x="54" y="80"/>
                    <a:pt x="54" y="80"/>
                    <a:pt x="55" y="81"/>
                  </a:cubicBezTo>
                  <a:cubicBezTo>
                    <a:pt x="57" y="82"/>
                    <a:pt x="57" y="81"/>
                    <a:pt x="56" y="83"/>
                  </a:cubicBezTo>
                  <a:cubicBezTo>
                    <a:pt x="55" y="84"/>
                    <a:pt x="54" y="83"/>
                    <a:pt x="54" y="83"/>
                  </a:cubicBezTo>
                  <a:cubicBezTo>
                    <a:pt x="53" y="83"/>
                    <a:pt x="52" y="82"/>
                    <a:pt x="50" y="81"/>
                  </a:cubicBezTo>
                  <a:cubicBezTo>
                    <a:pt x="49" y="82"/>
                    <a:pt x="48" y="82"/>
                    <a:pt x="47" y="83"/>
                  </a:cubicBezTo>
                  <a:cubicBezTo>
                    <a:pt x="46" y="84"/>
                    <a:pt x="45" y="84"/>
                    <a:pt x="45" y="83"/>
                  </a:cubicBezTo>
                  <a:cubicBezTo>
                    <a:pt x="44" y="82"/>
                    <a:pt x="44" y="82"/>
                    <a:pt x="46" y="81"/>
                  </a:cubicBezTo>
                  <a:cubicBezTo>
                    <a:pt x="46" y="81"/>
                    <a:pt x="47" y="80"/>
                    <a:pt x="47" y="80"/>
                  </a:cubicBezTo>
                  <a:cubicBezTo>
                    <a:pt x="47" y="80"/>
                    <a:pt x="46" y="79"/>
                    <a:pt x="45" y="79"/>
                  </a:cubicBezTo>
                  <a:cubicBezTo>
                    <a:pt x="45" y="79"/>
                    <a:pt x="44" y="78"/>
                    <a:pt x="44" y="78"/>
                  </a:cubicBezTo>
                  <a:cubicBezTo>
                    <a:pt x="44" y="77"/>
                    <a:pt x="44" y="77"/>
                    <a:pt x="46" y="76"/>
                  </a:cubicBezTo>
                  <a:cubicBezTo>
                    <a:pt x="46" y="76"/>
                    <a:pt x="47" y="75"/>
                    <a:pt x="47" y="75"/>
                  </a:cubicBezTo>
                  <a:cubicBezTo>
                    <a:pt x="46" y="75"/>
                    <a:pt x="45" y="74"/>
                    <a:pt x="45" y="73"/>
                  </a:cubicBezTo>
                  <a:close/>
                  <a:moveTo>
                    <a:pt x="66" y="83"/>
                  </a:moveTo>
                  <a:cubicBezTo>
                    <a:pt x="65" y="83"/>
                    <a:pt x="59" y="83"/>
                    <a:pt x="58" y="83"/>
                  </a:cubicBezTo>
                  <a:cubicBezTo>
                    <a:pt x="58" y="83"/>
                    <a:pt x="58" y="83"/>
                    <a:pt x="58" y="82"/>
                  </a:cubicBezTo>
                  <a:cubicBezTo>
                    <a:pt x="58" y="81"/>
                    <a:pt x="58" y="81"/>
                    <a:pt x="60" y="81"/>
                  </a:cubicBezTo>
                  <a:cubicBezTo>
                    <a:pt x="62" y="81"/>
                    <a:pt x="64" y="81"/>
                    <a:pt x="64" y="80"/>
                  </a:cubicBezTo>
                  <a:cubicBezTo>
                    <a:pt x="64" y="79"/>
                    <a:pt x="63" y="79"/>
                    <a:pt x="60" y="79"/>
                  </a:cubicBezTo>
                  <a:cubicBezTo>
                    <a:pt x="58" y="79"/>
                    <a:pt x="58" y="79"/>
                    <a:pt x="58" y="78"/>
                  </a:cubicBezTo>
                  <a:cubicBezTo>
                    <a:pt x="58" y="77"/>
                    <a:pt x="58" y="77"/>
                    <a:pt x="59" y="76"/>
                  </a:cubicBezTo>
                  <a:cubicBezTo>
                    <a:pt x="62" y="76"/>
                    <a:pt x="64" y="76"/>
                    <a:pt x="64" y="76"/>
                  </a:cubicBezTo>
                  <a:cubicBezTo>
                    <a:pt x="64" y="75"/>
                    <a:pt x="64" y="75"/>
                    <a:pt x="62" y="75"/>
                  </a:cubicBezTo>
                  <a:cubicBezTo>
                    <a:pt x="58" y="75"/>
                    <a:pt x="58" y="75"/>
                    <a:pt x="58" y="74"/>
                  </a:cubicBezTo>
                  <a:cubicBezTo>
                    <a:pt x="58" y="73"/>
                    <a:pt x="57" y="72"/>
                    <a:pt x="60" y="72"/>
                  </a:cubicBezTo>
                  <a:cubicBezTo>
                    <a:pt x="63" y="72"/>
                    <a:pt x="66" y="72"/>
                    <a:pt x="66" y="73"/>
                  </a:cubicBezTo>
                  <a:cubicBezTo>
                    <a:pt x="67" y="75"/>
                    <a:pt x="67" y="77"/>
                    <a:pt x="67" y="80"/>
                  </a:cubicBezTo>
                  <a:cubicBezTo>
                    <a:pt x="67" y="83"/>
                    <a:pt x="67" y="83"/>
                    <a:pt x="66" y="83"/>
                  </a:cubicBezTo>
                  <a:close/>
                  <a:moveTo>
                    <a:pt x="65" y="69"/>
                  </a:moveTo>
                  <a:cubicBezTo>
                    <a:pt x="64" y="70"/>
                    <a:pt x="60" y="64"/>
                    <a:pt x="58" y="61"/>
                  </a:cubicBezTo>
                  <a:cubicBezTo>
                    <a:pt x="57" y="59"/>
                    <a:pt x="53" y="56"/>
                    <a:pt x="50" y="56"/>
                  </a:cubicBezTo>
                  <a:cubicBezTo>
                    <a:pt x="45" y="56"/>
                    <a:pt x="38" y="64"/>
                    <a:pt x="37" y="67"/>
                  </a:cubicBezTo>
                  <a:cubicBezTo>
                    <a:pt x="36" y="69"/>
                    <a:pt x="35" y="70"/>
                    <a:pt x="33" y="69"/>
                  </a:cubicBezTo>
                  <a:cubicBezTo>
                    <a:pt x="32" y="68"/>
                    <a:pt x="32" y="68"/>
                    <a:pt x="33" y="66"/>
                  </a:cubicBezTo>
                  <a:cubicBezTo>
                    <a:pt x="34" y="63"/>
                    <a:pt x="40" y="56"/>
                    <a:pt x="43" y="55"/>
                  </a:cubicBezTo>
                  <a:cubicBezTo>
                    <a:pt x="45" y="52"/>
                    <a:pt x="46" y="52"/>
                    <a:pt x="47" y="49"/>
                  </a:cubicBezTo>
                  <a:cubicBezTo>
                    <a:pt x="47" y="43"/>
                    <a:pt x="47" y="42"/>
                    <a:pt x="46" y="42"/>
                  </a:cubicBezTo>
                  <a:cubicBezTo>
                    <a:pt x="44" y="41"/>
                    <a:pt x="37" y="40"/>
                    <a:pt x="37" y="45"/>
                  </a:cubicBezTo>
                  <a:cubicBezTo>
                    <a:pt x="36" y="49"/>
                    <a:pt x="36" y="50"/>
                    <a:pt x="36" y="52"/>
                  </a:cubicBezTo>
                  <a:cubicBezTo>
                    <a:pt x="36" y="54"/>
                    <a:pt x="36" y="54"/>
                    <a:pt x="34" y="54"/>
                  </a:cubicBezTo>
                  <a:cubicBezTo>
                    <a:pt x="33" y="54"/>
                    <a:pt x="33" y="46"/>
                    <a:pt x="33" y="41"/>
                  </a:cubicBezTo>
                  <a:cubicBezTo>
                    <a:pt x="34" y="38"/>
                    <a:pt x="36" y="39"/>
                    <a:pt x="39" y="38"/>
                  </a:cubicBezTo>
                  <a:cubicBezTo>
                    <a:pt x="41" y="38"/>
                    <a:pt x="43" y="38"/>
                    <a:pt x="44" y="38"/>
                  </a:cubicBezTo>
                  <a:cubicBezTo>
                    <a:pt x="46" y="38"/>
                    <a:pt x="47" y="37"/>
                    <a:pt x="47" y="35"/>
                  </a:cubicBezTo>
                  <a:cubicBezTo>
                    <a:pt x="47" y="33"/>
                    <a:pt x="48" y="33"/>
                    <a:pt x="49" y="32"/>
                  </a:cubicBezTo>
                  <a:cubicBezTo>
                    <a:pt x="51" y="32"/>
                    <a:pt x="51" y="33"/>
                    <a:pt x="51" y="35"/>
                  </a:cubicBezTo>
                  <a:cubicBezTo>
                    <a:pt x="52" y="37"/>
                    <a:pt x="51" y="38"/>
                    <a:pt x="54" y="38"/>
                  </a:cubicBezTo>
                  <a:cubicBezTo>
                    <a:pt x="57" y="38"/>
                    <a:pt x="60" y="38"/>
                    <a:pt x="61" y="38"/>
                  </a:cubicBezTo>
                  <a:cubicBezTo>
                    <a:pt x="64" y="38"/>
                    <a:pt x="66" y="38"/>
                    <a:pt x="66" y="43"/>
                  </a:cubicBezTo>
                  <a:cubicBezTo>
                    <a:pt x="66" y="47"/>
                    <a:pt x="67" y="50"/>
                    <a:pt x="66" y="52"/>
                  </a:cubicBezTo>
                  <a:cubicBezTo>
                    <a:pt x="65" y="52"/>
                    <a:pt x="64" y="53"/>
                    <a:pt x="63" y="53"/>
                  </a:cubicBezTo>
                  <a:cubicBezTo>
                    <a:pt x="62" y="52"/>
                    <a:pt x="64" y="44"/>
                    <a:pt x="61" y="42"/>
                  </a:cubicBezTo>
                  <a:cubicBezTo>
                    <a:pt x="59" y="41"/>
                    <a:pt x="54" y="41"/>
                    <a:pt x="52" y="42"/>
                  </a:cubicBezTo>
                  <a:cubicBezTo>
                    <a:pt x="51" y="43"/>
                    <a:pt x="51" y="46"/>
                    <a:pt x="51" y="48"/>
                  </a:cubicBezTo>
                  <a:cubicBezTo>
                    <a:pt x="51" y="50"/>
                    <a:pt x="51" y="51"/>
                    <a:pt x="55" y="54"/>
                  </a:cubicBezTo>
                  <a:cubicBezTo>
                    <a:pt x="58" y="56"/>
                    <a:pt x="62" y="60"/>
                    <a:pt x="65" y="64"/>
                  </a:cubicBezTo>
                  <a:cubicBezTo>
                    <a:pt x="67" y="66"/>
                    <a:pt x="69" y="68"/>
                    <a:pt x="65" y="69"/>
                  </a:cubicBezTo>
                  <a:close/>
                  <a:moveTo>
                    <a:pt x="67" y="21"/>
                  </a:moveTo>
                  <a:cubicBezTo>
                    <a:pt x="52" y="21"/>
                    <a:pt x="52" y="21"/>
                    <a:pt x="52" y="21"/>
                  </a:cubicBezTo>
                  <a:cubicBezTo>
                    <a:pt x="52" y="19"/>
                    <a:pt x="53" y="17"/>
                    <a:pt x="56" y="17"/>
                  </a:cubicBezTo>
                  <a:cubicBezTo>
                    <a:pt x="65" y="17"/>
                    <a:pt x="65" y="17"/>
                    <a:pt x="65" y="17"/>
                  </a:cubicBezTo>
                  <a:cubicBezTo>
                    <a:pt x="67" y="17"/>
                    <a:pt x="67" y="18"/>
                    <a:pt x="67" y="19"/>
                  </a:cubicBezTo>
                  <a:lnTo>
                    <a:pt x="67" y="21"/>
                  </a:lnTo>
                  <a:close/>
                  <a:moveTo>
                    <a:pt x="83" y="89"/>
                  </a:moveTo>
                  <a:cubicBezTo>
                    <a:pt x="82" y="90"/>
                    <a:pt x="80" y="90"/>
                    <a:pt x="79" y="91"/>
                  </a:cubicBezTo>
                  <a:cubicBezTo>
                    <a:pt x="79" y="92"/>
                    <a:pt x="79" y="97"/>
                    <a:pt x="79" y="97"/>
                  </a:cubicBezTo>
                  <a:cubicBezTo>
                    <a:pt x="80" y="98"/>
                    <a:pt x="81" y="97"/>
                    <a:pt x="82" y="97"/>
                  </a:cubicBezTo>
                  <a:cubicBezTo>
                    <a:pt x="84" y="97"/>
                    <a:pt x="84" y="101"/>
                    <a:pt x="83" y="101"/>
                  </a:cubicBezTo>
                  <a:cubicBezTo>
                    <a:pt x="82" y="101"/>
                    <a:pt x="79" y="102"/>
                    <a:pt x="77" y="102"/>
                  </a:cubicBezTo>
                  <a:cubicBezTo>
                    <a:pt x="75" y="102"/>
                    <a:pt x="74" y="102"/>
                    <a:pt x="72" y="102"/>
                  </a:cubicBezTo>
                  <a:cubicBezTo>
                    <a:pt x="70" y="102"/>
                    <a:pt x="70" y="101"/>
                    <a:pt x="70" y="100"/>
                  </a:cubicBezTo>
                  <a:cubicBezTo>
                    <a:pt x="70" y="99"/>
                    <a:pt x="70" y="98"/>
                    <a:pt x="71" y="98"/>
                  </a:cubicBezTo>
                  <a:cubicBezTo>
                    <a:pt x="73" y="98"/>
                    <a:pt x="74" y="98"/>
                    <a:pt x="75" y="97"/>
                  </a:cubicBezTo>
                  <a:cubicBezTo>
                    <a:pt x="76" y="97"/>
                    <a:pt x="75" y="95"/>
                    <a:pt x="75" y="93"/>
                  </a:cubicBezTo>
                  <a:cubicBezTo>
                    <a:pt x="75" y="92"/>
                    <a:pt x="76" y="91"/>
                    <a:pt x="74" y="91"/>
                  </a:cubicBezTo>
                  <a:cubicBezTo>
                    <a:pt x="71" y="92"/>
                    <a:pt x="71" y="92"/>
                    <a:pt x="71" y="88"/>
                  </a:cubicBezTo>
                  <a:cubicBezTo>
                    <a:pt x="71" y="86"/>
                    <a:pt x="71" y="85"/>
                    <a:pt x="71" y="83"/>
                  </a:cubicBezTo>
                  <a:cubicBezTo>
                    <a:pt x="71" y="81"/>
                    <a:pt x="71" y="80"/>
                    <a:pt x="73" y="80"/>
                  </a:cubicBezTo>
                  <a:cubicBezTo>
                    <a:pt x="75" y="79"/>
                    <a:pt x="74" y="83"/>
                    <a:pt x="74" y="85"/>
                  </a:cubicBezTo>
                  <a:cubicBezTo>
                    <a:pt x="74" y="86"/>
                    <a:pt x="74" y="88"/>
                    <a:pt x="75" y="88"/>
                  </a:cubicBezTo>
                  <a:cubicBezTo>
                    <a:pt x="77" y="88"/>
                    <a:pt x="76" y="83"/>
                    <a:pt x="76" y="79"/>
                  </a:cubicBezTo>
                  <a:cubicBezTo>
                    <a:pt x="76" y="76"/>
                    <a:pt x="75" y="75"/>
                    <a:pt x="77" y="74"/>
                  </a:cubicBezTo>
                  <a:cubicBezTo>
                    <a:pt x="79" y="74"/>
                    <a:pt x="79" y="75"/>
                    <a:pt x="79" y="77"/>
                  </a:cubicBezTo>
                  <a:cubicBezTo>
                    <a:pt x="79" y="79"/>
                    <a:pt x="79" y="87"/>
                    <a:pt x="80" y="87"/>
                  </a:cubicBezTo>
                  <a:cubicBezTo>
                    <a:pt x="82" y="87"/>
                    <a:pt x="81" y="80"/>
                    <a:pt x="81" y="79"/>
                  </a:cubicBezTo>
                  <a:cubicBezTo>
                    <a:pt x="81" y="77"/>
                    <a:pt x="81" y="77"/>
                    <a:pt x="83" y="77"/>
                  </a:cubicBezTo>
                  <a:cubicBezTo>
                    <a:pt x="84" y="76"/>
                    <a:pt x="84" y="76"/>
                    <a:pt x="84" y="78"/>
                  </a:cubicBezTo>
                  <a:cubicBezTo>
                    <a:pt x="85" y="79"/>
                    <a:pt x="85" y="81"/>
                    <a:pt x="85" y="82"/>
                  </a:cubicBezTo>
                  <a:cubicBezTo>
                    <a:pt x="84" y="84"/>
                    <a:pt x="84" y="85"/>
                    <a:pt x="84" y="86"/>
                  </a:cubicBezTo>
                  <a:cubicBezTo>
                    <a:pt x="84" y="88"/>
                    <a:pt x="83" y="89"/>
                    <a:pt x="83" y="89"/>
                  </a:cubicBezTo>
                  <a:close/>
                  <a:moveTo>
                    <a:pt x="91" y="107"/>
                  </a:moveTo>
                  <a:cubicBezTo>
                    <a:pt x="90" y="107"/>
                    <a:pt x="89" y="107"/>
                    <a:pt x="88" y="107"/>
                  </a:cubicBezTo>
                  <a:cubicBezTo>
                    <a:pt x="87" y="107"/>
                    <a:pt x="87" y="106"/>
                    <a:pt x="86" y="103"/>
                  </a:cubicBezTo>
                  <a:cubicBezTo>
                    <a:pt x="86" y="102"/>
                    <a:pt x="85" y="101"/>
                    <a:pt x="85" y="98"/>
                  </a:cubicBezTo>
                  <a:cubicBezTo>
                    <a:pt x="85" y="95"/>
                    <a:pt x="84" y="92"/>
                    <a:pt x="85" y="90"/>
                  </a:cubicBezTo>
                  <a:cubicBezTo>
                    <a:pt x="85" y="89"/>
                    <a:pt x="86" y="87"/>
                    <a:pt x="87" y="86"/>
                  </a:cubicBezTo>
                  <a:cubicBezTo>
                    <a:pt x="87" y="85"/>
                    <a:pt x="88" y="84"/>
                    <a:pt x="88" y="81"/>
                  </a:cubicBezTo>
                  <a:cubicBezTo>
                    <a:pt x="89" y="79"/>
                    <a:pt x="89" y="79"/>
                    <a:pt x="88" y="77"/>
                  </a:cubicBezTo>
                  <a:cubicBezTo>
                    <a:pt x="88" y="76"/>
                    <a:pt x="88" y="75"/>
                    <a:pt x="87" y="74"/>
                  </a:cubicBezTo>
                  <a:cubicBezTo>
                    <a:pt x="87" y="72"/>
                    <a:pt x="86" y="72"/>
                    <a:pt x="88" y="71"/>
                  </a:cubicBezTo>
                  <a:cubicBezTo>
                    <a:pt x="90" y="71"/>
                    <a:pt x="90" y="71"/>
                    <a:pt x="91" y="73"/>
                  </a:cubicBezTo>
                  <a:cubicBezTo>
                    <a:pt x="92" y="76"/>
                    <a:pt x="92" y="77"/>
                    <a:pt x="92" y="77"/>
                  </a:cubicBezTo>
                  <a:cubicBezTo>
                    <a:pt x="92" y="79"/>
                    <a:pt x="92" y="82"/>
                    <a:pt x="90" y="86"/>
                  </a:cubicBezTo>
                  <a:cubicBezTo>
                    <a:pt x="89" y="89"/>
                    <a:pt x="88" y="91"/>
                    <a:pt x="88" y="94"/>
                  </a:cubicBezTo>
                  <a:cubicBezTo>
                    <a:pt x="88" y="98"/>
                    <a:pt x="89" y="102"/>
                    <a:pt x="90" y="103"/>
                  </a:cubicBezTo>
                  <a:cubicBezTo>
                    <a:pt x="90" y="104"/>
                    <a:pt x="92" y="107"/>
                    <a:pt x="91" y="107"/>
                  </a:cubicBezTo>
                  <a:close/>
                  <a:moveTo>
                    <a:pt x="97" y="102"/>
                  </a:moveTo>
                  <a:cubicBezTo>
                    <a:pt x="97" y="104"/>
                    <a:pt x="99" y="106"/>
                    <a:pt x="98" y="107"/>
                  </a:cubicBezTo>
                  <a:cubicBezTo>
                    <a:pt x="97" y="107"/>
                    <a:pt x="95" y="107"/>
                    <a:pt x="95" y="106"/>
                  </a:cubicBezTo>
                  <a:cubicBezTo>
                    <a:pt x="94" y="105"/>
                    <a:pt x="93" y="103"/>
                    <a:pt x="92" y="100"/>
                  </a:cubicBezTo>
                  <a:cubicBezTo>
                    <a:pt x="92" y="96"/>
                    <a:pt x="92" y="94"/>
                    <a:pt x="92" y="91"/>
                  </a:cubicBezTo>
                  <a:cubicBezTo>
                    <a:pt x="93" y="86"/>
                    <a:pt x="96" y="85"/>
                    <a:pt x="96" y="81"/>
                  </a:cubicBezTo>
                  <a:cubicBezTo>
                    <a:pt x="96" y="78"/>
                    <a:pt x="96" y="77"/>
                    <a:pt x="95" y="76"/>
                  </a:cubicBezTo>
                  <a:cubicBezTo>
                    <a:pt x="95" y="74"/>
                    <a:pt x="93" y="71"/>
                    <a:pt x="95" y="71"/>
                  </a:cubicBezTo>
                  <a:cubicBezTo>
                    <a:pt x="97" y="71"/>
                    <a:pt x="97" y="72"/>
                    <a:pt x="97" y="72"/>
                  </a:cubicBezTo>
                  <a:cubicBezTo>
                    <a:pt x="98" y="73"/>
                    <a:pt x="100" y="76"/>
                    <a:pt x="100" y="78"/>
                  </a:cubicBezTo>
                  <a:cubicBezTo>
                    <a:pt x="100" y="81"/>
                    <a:pt x="99" y="84"/>
                    <a:pt x="98" y="87"/>
                  </a:cubicBezTo>
                  <a:cubicBezTo>
                    <a:pt x="96" y="90"/>
                    <a:pt x="95" y="91"/>
                    <a:pt x="95" y="94"/>
                  </a:cubicBezTo>
                  <a:cubicBezTo>
                    <a:pt x="96" y="96"/>
                    <a:pt x="96" y="98"/>
                    <a:pt x="97" y="102"/>
                  </a:cubicBezTo>
                  <a:close/>
                  <a:moveTo>
                    <a:pt x="106" y="84"/>
                  </a:moveTo>
                  <a:cubicBezTo>
                    <a:pt x="104" y="89"/>
                    <a:pt x="103" y="88"/>
                    <a:pt x="102" y="93"/>
                  </a:cubicBezTo>
                  <a:cubicBezTo>
                    <a:pt x="102" y="95"/>
                    <a:pt x="103" y="100"/>
                    <a:pt x="104" y="102"/>
                  </a:cubicBezTo>
                  <a:cubicBezTo>
                    <a:pt x="104" y="103"/>
                    <a:pt x="106" y="106"/>
                    <a:pt x="105" y="106"/>
                  </a:cubicBezTo>
                  <a:cubicBezTo>
                    <a:pt x="104" y="107"/>
                    <a:pt x="102" y="106"/>
                    <a:pt x="102" y="106"/>
                  </a:cubicBezTo>
                  <a:cubicBezTo>
                    <a:pt x="101" y="105"/>
                    <a:pt x="100" y="102"/>
                    <a:pt x="100" y="101"/>
                  </a:cubicBezTo>
                  <a:cubicBezTo>
                    <a:pt x="99" y="98"/>
                    <a:pt x="98" y="92"/>
                    <a:pt x="100" y="88"/>
                  </a:cubicBezTo>
                  <a:cubicBezTo>
                    <a:pt x="101" y="87"/>
                    <a:pt x="102" y="85"/>
                    <a:pt x="103" y="81"/>
                  </a:cubicBezTo>
                  <a:cubicBezTo>
                    <a:pt x="103" y="77"/>
                    <a:pt x="102" y="76"/>
                    <a:pt x="102" y="74"/>
                  </a:cubicBezTo>
                  <a:cubicBezTo>
                    <a:pt x="101" y="73"/>
                    <a:pt x="100" y="72"/>
                    <a:pt x="102" y="72"/>
                  </a:cubicBezTo>
                  <a:cubicBezTo>
                    <a:pt x="105" y="72"/>
                    <a:pt x="105" y="73"/>
                    <a:pt x="106" y="75"/>
                  </a:cubicBezTo>
                  <a:cubicBezTo>
                    <a:pt x="106" y="78"/>
                    <a:pt x="106" y="79"/>
                    <a:pt x="106" y="84"/>
                  </a:cubicBezTo>
                  <a:close/>
                  <a:moveTo>
                    <a:pt x="105" y="67"/>
                  </a:moveTo>
                  <a:cubicBezTo>
                    <a:pt x="103" y="68"/>
                    <a:pt x="103" y="67"/>
                    <a:pt x="103" y="64"/>
                  </a:cubicBezTo>
                  <a:cubicBezTo>
                    <a:pt x="103" y="63"/>
                    <a:pt x="103" y="57"/>
                    <a:pt x="101" y="56"/>
                  </a:cubicBezTo>
                  <a:cubicBezTo>
                    <a:pt x="99" y="55"/>
                    <a:pt x="97" y="55"/>
                    <a:pt x="96" y="56"/>
                  </a:cubicBezTo>
                  <a:cubicBezTo>
                    <a:pt x="96" y="56"/>
                    <a:pt x="96" y="66"/>
                    <a:pt x="96" y="66"/>
                  </a:cubicBezTo>
                  <a:cubicBezTo>
                    <a:pt x="96" y="69"/>
                    <a:pt x="95" y="68"/>
                    <a:pt x="94" y="68"/>
                  </a:cubicBezTo>
                  <a:cubicBezTo>
                    <a:pt x="92" y="67"/>
                    <a:pt x="92" y="66"/>
                    <a:pt x="92" y="65"/>
                  </a:cubicBezTo>
                  <a:cubicBezTo>
                    <a:pt x="92" y="63"/>
                    <a:pt x="92" y="56"/>
                    <a:pt x="92" y="56"/>
                  </a:cubicBezTo>
                  <a:cubicBezTo>
                    <a:pt x="92" y="56"/>
                    <a:pt x="88" y="55"/>
                    <a:pt x="87" y="59"/>
                  </a:cubicBezTo>
                  <a:cubicBezTo>
                    <a:pt x="87" y="63"/>
                    <a:pt x="86" y="65"/>
                    <a:pt x="86" y="66"/>
                  </a:cubicBezTo>
                  <a:cubicBezTo>
                    <a:pt x="86" y="67"/>
                    <a:pt x="86" y="67"/>
                    <a:pt x="86" y="67"/>
                  </a:cubicBezTo>
                  <a:cubicBezTo>
                    <a:pt x="85" y="68"/>
                    <a:pt x="84" y="68"/>
                    <a:pt x="83" y="68"/>
                  </a:cubicBezTo>
                  <a:cubicBezTo>
                    <a:pt x="83" y="66"/>
                    <a:pt x="83" y="64"/>
                    <a:pt x="84" y="62"/>
                  </a:cubicBezTo>
                  <a:cubicBezTo>
                    <a:pt x="84" y="59"/>
                    <a:pt x="85" y="57"/>
                    <a:pt x="85" y="55"/>
                  </a:cubicBezTo>
                  <a:cubicBezTo>
                    <a:pt x="86" y="54"/>
                    <a:pt x="89" y="53"/>
                    <a:pt x="92" y="52"/>
                  </a:cubicBezTo>
                  <a:cubicBezTo>
                    <a:pt x="93" y="52"/>
                    <a:pt x="93" y="50"/>
                    <a:pt x="92" y="50"/>
                  </a:cubicBezTo>
                  <a:cubicBezTo>
                    <a:pt x="91" y="49"/>
                    <a:pt x="89" y="50"/>
                    <a:pt x="87" y="50"/>
                  </a:cubicBezTo>
                  <a:cubicBezTo>
                    <a:pt x="86" y="50"/>
                    <a:pt x="85" y="51"/>
                    <a:pt x="84" y="49"/>
                  </a:cubicBezTo>
                  <a:cubicBezTo>
                    <a:pt x="84" y="48"/>
                    <a:pt x="84" y="47"/>
                    <a:pt x="86" y="47"/>
                  </a:cubicBezTo>
                  <a:cubicBezTo>
                    <a:pt x="90" y="47"/>
                    <a:pt x="90" y="47"/>
                    <a:pt x="90" y="47"/>
                  </a:cubicBezTo>
                  <a:cubicBezTo>
                    <a:pt x="90" y="47"/>
                    <a:pt x="92" y="47"/>
                    <a:pt x="92" y="46"/>
                  </a:cubicBezTo>
                  <a:cubicBezTo>
                    <a:pt x="92" y="46"/>
                    <a:pt x="93" y="44"/>
                    <a:pt x="93" y="43"/>
                  </a:cubicBezTo>
                  <a:cubicBezTo>
                    <a:pt x="93" y="43"/>
                    <a:pt x="94" y="43"/>
                    <a:pt x="95" y="43"/>
                  </a:cubicBezTo>
                  <a:cubicBezTo>
                    <a:pt x="96" y="44"/>
                    <a:pt x="96" y="44"/>
                    <a:pt x="96" y="45"/>
                  </a:cubicBezTo>
                  <a:cubicBezTo>
                    <a:pt x="96" y="46"/>
                    <a:pt x="96" y="46"/>
                    <a:pt x="100" y="46"/>
                  </a:cubicBezTo>
                  <a:cubicBezTo>
                    <a:pt x="103" y="46"/>
                    <a:pt x="105" y="46"/>
                    <a:pt x="105" y="47"/>
                  </a:cubicBezTo>
                  <a:cubicBezTo>
                    <a:pt x="105" y="48"/>
                    <a:pt x="105" y="49"/>
                    <a:pt x="105" y="49"/>
                  </a:cubicBezTo>
                  <a:cubicBezTo>
                    <a:pt x="105" y="50"/>
                    <a:pt x="104" y="49"/>
                    <a:pt x="102" y="50"/>
                  </a:cubicBezTo>
                  <a:cubicBezTo>
                    <a:pt x="100" y="50"/>
                    <a:pt x="97" y="50"/>
                    <a:pt x="96" y="50"/>
                  </a:cubicBezTo>
                  <a:cubicBezTo>
                    <a:pt x="96" y="50"/>
                    <a:pt x="96" y="51"/>
                    <a:pt x="96" y="51"/>
                  </a:cubicBezTo>
                  <a:cubicBezTo>
                    <a:pt x="96" y="52"/>
                    <a:pt x="96" y="52"/>
                    <a:pt x="98" y="52"/>
                  </a:cubicBezTo>
                  <a:cubicBezTo>
                    <a:pt x="105" y="54"/>
                    <a:pt x="105" y="54"/>
                    <a:pt x="106" y="58"/>
                  </a:cubicBezTo>
                  <a:cubicBezTo>
                    <a:pt x="106" y="62"/>
                    <a:pt x="106" y="64"/>
                    <a:pt x="106" y="65"/>
                  </a:cubicBezTo>
                  <a:cubicBezTo>
                    <a:pt x="106" y="66"/>
                    <a:pt x="107" y="67"/>
                    <a:pt x="105" y="6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1" name="Freeform 69"/>
            <p:cNvSpPr/>
            <p:nvPr/>
          </p:nvSpPr>
          <p:spPr bwMode="auto">
            <a:xfrm>
              <a:off x="4656138" y="5248275"/>
              <a:ext cx="26988" cy="28575"/>
            </a:xfrm>
            <a:custGeom>
              <a:avLst/>
              <a:gdLst>
                <a:gd name="T0" fmla="*/ 3 w 5"/>
                <a:gd name="T1" fmla="*/ 5 h 5"/>
                <a:gd name="T2" fmla="*/ 4 w 5"/>
                <a:gd name="T3" fmla="*/ 5 h 5"/>
                <a:gd name="T4" fmla="*/ 5 w 5"/>
                <a:gd name="T5" fmla="*/ 1 h 5"/>
                <a:gd name="T6" fmla="*/ 1 w 5"/>
                <a:gd name="T7" fmla="*/ 0 h 5"/>
                <a:gd name="T8" fmla="*/ 0 w 5"/>
                <a:gd name="T9" fmla="*/ 1 h 5"/>
                <a:gd name="T10" fmla="*/ 3 w 5"/>
                <a:gd name="T11" fmla="*/ 5 h 5"/>
              </a:gdLst>
              <a:ahLst/>
              <a:cxnLst>
                <a:cxn ang="0">
                  <a:pos x="T0" y="T1"/>
                </a:cxn>
                <a:cxn ang="0">
                  <a:pos x="T2" y="T3"/>
                </a:cxn>
                <a:cxn ang="0">
                  <a:pos x="T4" y="T5"/>
                </a:cxn>
                <a:cxn ang="0">
                  <a:pos x="T6" y="T7"/>
                </a:cxn>
                <a:cxn ang="0">
                  <a:pos x="T8" y="T9"/>
                </a:cxn>
                <a:cxn ang="0">
                  <a:pos x="T10" y="T11"/>
                </a:cxn>
              </a:cxnLst>
              <a:rect l="0" t="0" r="r" b="b"/>
              <a:pathLst>
                <a:path w="5" h="5">
                  <a:moveTo>
                    <a:pt x="3" y="5"/>
                  </a:moveTo>
                  <a:cubicBezTo>
                    <a:pt x="4" y="5"/>
                    <a:pt x="4" y="5"/>
                    <a:pt x="4" y="5"/>
                  </a:cubicBezTo>
                  <a:cubicBezTo>
                    <a:pt x="5" y="4"/>
                    <a:pt x="5" y="3"/>
                    <a:pt x="5" y="1"/>
                  </a:cubicBezTo>
                  <a:cubicBezTo>
                    <a:pt x="4" y="0"/>
                    <a:pt x="3" y="0"/>
                    <a:pt x="1" y="0"/>
                  </a:cubicBezTo>
                  <a:cubicBezTo>
                    <a:pt x="1" y="0"/>
                    <a:pt x="0" y="0"/>
                    <a:pt x="0" y="1"/>
                  </a:cubicBezTo>
                  <a:cubicBezTo>
                    <a:pt x="1" y="5"/>
                    <a:pt x="1" y="4"/>
                    <a:pt x="3" y="5"/>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2" name="Freeform 70"/>
            <p:cNvSpPr/>
            <p:nvPr/>
          </p:nvSpPr>
          <p:spPr bwMode="auto">
            <a:xfrm>
              <a:off x="4587875" y="5253038"/>
              <a:ext cx="28575" cy="23813"/>
            </a:xfrm>
            <a:custGeom>
              <a:avLst/>
              <a:gdLst>
                <a:gd name="T0" fmla="*/ 1 w 5"/>
                <a:gd name="T1" fmla="*/ 4 h 4"/>
                <a:gd name="T2" fmla="*/ 2 w 5"/>
                <a:gd name="T3" fmla="*/ 4 h 4"/>
                <a:gd name="T4" fmla="*/ 5 w 5"/>
                <a:gd name="T5" fmla="*/ 0 h 4"/>
                <a:gd name="T6" fmla="*/ 2 w 5"/>
                <a:gd name="T7" fmla="*/ 0 h 4"/>
                <a:gd name="T8" fmla="*/ 1 w 5"/>
                <a:gd name="T9" fmla="*/ 1 h 4"/>
                <a:gd name="T10" fmla="*/ 1 w 5"/>
                <a:gd name="T11" fmla="*/ 4 h 4"/>
              </a:gdLst>
              <a:ahLst/>
              <a:cxnLst>
                <a:cxn ang="0">
                  <a:pos x="T0" y="T1"/>
                </a:cxn>
                <a:cxn ang="0">
                  <a:pos x="T2" y="T3"/>
                </a:cxn>
                <a:cxn ang="0">
                  <a:pos x="T4" y="T5"/>
                </a:cxn>
                <a:cxn ang="0">
                  <a:pos x="T6" y="T7"/>
                </a:cxn>
                <a:cxn ang="0">
                  <a:pos x="T8" y="T9"/>
                </a:cxn>
                <a:cxn ang="0">
                  <a:pos x="T10" y="T11"/>
                </a:cxn>
              </a:cxnLst>
              <a:rect l="0" t="0" r="r" b="b"/>
              <a:pathLst>
                <a:path w="5" h="4">
                  <a:moveTo>
                    <a:pt x="1" y="4"/>
                  </a:moveTo>
                  <a:cubicBezTo>
                    <a:pt x="2" y="4"/>
                    <a:pt x="2" y="4"/>
                    <a:pt x="2" y="4"/>
                  </a:cubicBezTo>
                  <a:cubicBezTo>
                    <a:pt x="4" y="4"/>
                    <a:pt x="4" y="2"/>
                    <a:pt x="5" y="0"/>
                  </a:cubicBezTo>
                  <a:cubicBezTo>
                    <a:pt x="5" y="0"/>
                    <a:pt x="3" y="0"/>
                    <a:pt x="2" y="0"/>
                  </a:cubicBezTo>
                  <a:cubicBezTo>
                    <a:pt x="1" y="0"/>
                    <a:pt x="1" y="0"/>
                    <a:pt x="1" y="1"/>
                  </a:cubicBezTo>
                  <a:cubicBezTo>
                    <a:pt x="0" y="2"/>
                    <a:pt x="0" y="4"/>
                    <a:pt x="1" y="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83" name="文本框 82">
            <a:extLst>
              <a:ext uri="{FF2B5EF4-FFF2-40B4-BE49-F238E27FC236}">
                <a16:creationId xmlns:a16="http://schemas.microsoft.com/office/drawing/2014/main" id="{1A2E149E-9968-4998-9BE9-AC5195A8005E}"/>
              </a:ext>
            </a:extLst>
          </p:cNvPr>
          <p:cNvSpPr txBox="1"/>
          <p:nvPr/>
        </p:nvSpPr>
        <p:spPr>
          <a:xfrm>
            <a:off x="2861949" y="4216332"/>
            <a:ext cx="6096000" cy="584775"/>
          </a:xfrm>
          <a:prstGeom prst="rect">
            <a:avLst/>
          </a:prstGeom>
          <a:noFill/>
        </p:spPr>
        <p:txBody>
          <a:bodyPr wrap="square">
            <a:spAutoFit/>
          </a:bodyPr>
          <a:lstStyle/>
          <a:p>
            <a:pPr algn="ctr"/>
            <a:r>
              <a:rPr lang="zh-CN" altLang="en-US" sz="3200" b="1" dirty="0">
                <a:latin typeface="微软雅黑 Light" panose="020B0502040204020203" charset="-122"/>
                <a:ea typeface="微软雅黑 Light" panose="020B0502040204020203" charset="-122"/>
              </a:rPr>
              <a:t>廖悦成 </a:t>
            </a:r>
            <a:r>
              <a:rPr lang="en-US" altLang="zh-CN" sz="3200" b="1" dirty="0">
                <a:latin typeface="微软雅黑 Light" panose="020B0502040204020203" charset="-122"/>
                <a:ea typeface="微软雅黑 Light" panose="020B0502040204020203" charset="-122"/>
              </a:rPr>
              <a:t>2022150128</a:t>
            </a:r>
            <a:r>
              <a:rPr lang="zh-CN" altLang="en-US" sz="1800" dirty="0">
                <a:solidFill>
                  <a:srgbClr val="694B71"/>
                </a:solidFill>
                <a:latin typeface="微软雅黑 Light" panose="020B0502040204020203" charset="-122"/>
                <a:ea typeface="微软雅黑 Light" panose="020B0502040204020203" charset="-122"/>
                <a:cs typeface="微软雅黑 Light" panose="020B0502040204020203" charset="-122"/>
              </a:rPr>
              <a:t> </a:t>
            </a:r>
            <a:endParaRPr lang="en-US" altLang="zh-CN" sz="1800" dirty="0">
              <a:solidFill>
                <a:srgbClr val="694B71"/>
              </a:solidFill>
              <a:latin typeface="微软雅黑 Light" panose="020B0502040204020203" charset="-122"/>
              <a:ea typeface="微软雅黑 Light" panose="020B0502040204020203" charset="-122"/>
              <a:cs typeface="微软雅黑 Light" panose="020B0502040204020203" charset="-122"/>
            </a:endParaRPr>
          </a:p>
        </p:txBody>
      </p:sp>
      <p:sp>
        <p:nvSpPr>
          <p:cNvPr id="84" name="文本框 83">
            <a:extLst>
              <a:ext uri="{FF2B5EF4-FFF2-40B4-BE49-F238E27FC236}">
                <a16:creationId xmlns:a16="http://schemas.microsoft.com/office/drawing/2014/main" id="{27705903-3300-4C56-ADE1-FA6D05BD0B03}"/>
              </a:ext>
            </a:extLst>
          </p:cNvPr>
          <p:cNvSpPr txBox="1"/>
          <p:nvPr/>
        </p:nvSpPr>
        <p:spPr>
          <a:xfrm>
            <a:off x="2766060" y="4727221"/>
            <a:ext cx="6096000" cy="584775"/>
          </a:xfrm>
          <a:prstGeom prst="rect">
            <a:avLst/>
          </a:prstGeom>
          <a:noFill/>
        </p:spPr>
        <p:txBody>
          <a:bodyPr wrap="square">
            <a:spAutoFit/>
          </a:bodyPr>
          <a:lstStyle/>
          <a:p>
            <a:pPr algn="ctr"/>
            <a:r>
              <a:rPr lang="zh-CN" altLang="en-US" sz="3200" b="1" dirty="0">
                <a:latin typeface="微软雅黑 Light" panose="020B0502040204020203" charset="-122"/>
                <a:ea typeface="微软雅黑 Light" panose="020B0502040204020203" charset="-122"/>
              </a:rPr>
              <a:t> 李伟超 </a:t>
            </a:r>
            <a:r>
              <a:rPr lang="en-US" altLang="zh-CN" sz="3200" b="1" dirty="0">
                <a:latin typeface="微软雅黑 Light" panose="020B0502040204020203" charset="-122"/>
                <a:ea typeface="微软雅黑 Light" panose="020B0502040204020203" charset="-122"/>
              </a:rPr>
              <a:t>2023110019 </a:t>
            </a:r>
            <a:endParaRPr lang="zh-CN" altLang="en-US" sz="3200" b="1" dirty="0">
              <a:latin typeface="微软雅黑 Light" panose="020B0502040204020203" charset="-122"/>
              <a:ea typeface="微软雅黑 Light" panose="020B0502040204020203" charset="-122"/>
            </a:endParaRPr>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97000"/>
            <a:lum/>
          </a:blip>
          <a:srcRect/>
          <a:stretch>
            <a:fillRect l="-5000" r="-5000"/>
          </a:stretch>
        </a:blipFill>
        <a:effectLst/>
      </p:bgPr>
    </p:bg>
    <p:spTree>
      <p:nvGrpSpPr>
        <p:cNvPr id="1" name=""/>
        <p:cNvGrpSpPr/>
        <p:nvPr/>
      </p:nvGrpSpPr>
      <p:grpSpPr>
        <a:xfrm>
          <a:off x="0" y="0"/>
          <a:ext cx="0" cy="0"/>
          <a:chOff x="0" y="0"/>
          <a:chExt cx="0" cy="0"/>
        </a:xfrm>
      </p:grpSpPr>
      <p:sp>
        <p:nvSpPr>
          <p:cNvPr id="5" name="矩形 4"/>
          <p:cNvSpPr/>
          <p:nvPr/>
        </p:nvSpPr>
        <p:spPr>
          <a:xfrm>
            <a:off x="0" y="0"/>
            <a:ext cx="6096000"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浑天仪1"/>
          <p:cNvPicPr>
            <a:picLocks noChangeAspect="1"/>
          </p:cNvPicPr>
          <p:nvPr/>
        </p:nvPicPr>
        <p:blipFill>
          <a:blip r:embed="rId5"/>
          <a:stretch>
            <a:fillRect/>
          </a:stretch>
        </p:blipFill>
        <p:spPr>
          <a:xfrm>
            <a:off x="552133" y="5126355"/>
            <a:ext cx="544195" cy="746760"/>
          </a:xfrm>
          <a:prstGeom prst="rect">
            <a:avLst/>
          </a:prstGeom>
        </p:spPr>
      </p:pic>
      <p:pic>
        <p:nvPicPr>
          <p:cNvPr id="7" name="图片 6" descr="日晷荔枝红2"/>
          <p:cNvPicPr>
            <a:picLocks noChangeAspect="1"/>
          </p:cNvPicPr>
          <p:nvPr/>
        </p:nvPicPr>
        <p:blipFill>
          <a:blip r:embed="rId6"/>
          <a:stretch>
            <a:fillRect/>
          </a:stretch>
        </p:blipFill>
        <p:spPr>
          <a:xfrm>
            <a:off x="382270" y="3594735"/>
            <a:ext cx="883920" cy="530860"/>
          </a:xfrm>
          <a:prstGeom prst="rect">
            <a:avLst/>
          </a:prstGeom>
        </p:spPr>
      </p:pic>
      <p:pic>
        <p:nvPicPr>
          <p:cNvPr id="8" name="图片 7" descr="仰望星空3"/>
          <p:cNvPicPr>
            <a:picLocks noChangeAspect="1"/>
          </p:cNvPicPr>
          <p:nvPr/>
        </p:nvPicPr>
        <p:blipFill>
          <a:blip r:embed="rId7"/>
          <a:stretch>
            <a:fillRect/>
          </a:stretch>
        </p:blipFill>
        <p:spPr>
          <a:xfrm>
            <a:off x="607695" y="1819275"/>
            <a:ext cx="433070" cy="774700"/>
          </a:xfrm>
          <a:prstGeom prst="rect">
            <a:avLst/>
          </a:prstGeom>
        </p:spPr>
      </p:pic>
      <p:sp>
        <p:nvSpPr>
          <p:cNvPr id="10" name="文本框 9"/>
          <p:cNvSpPr txBox="1"/>
          <p:nvPr/>
        </p:nvSpPr>
        <p:spPr>
          <a:xfrm>
            <a:off x="1660671" y="1865986"/>
            <a:ext cx="3457087" cy="681355"/>
          </a:xfrm>
          <a:prstGeom prst="rect">
            <a:avLst/>
          </a:prstGeom>
          <a:noFill/>
        </p:spPr>
        <p:txBody>
          <a:bodyPr wrap="square" rtlCol="0">
            <a:spAutoFit/>
          </a:bodyPr>
          <a:lstStyle/>
          <a:p>
            <a:pPr algn="ctr">
              <a:lnSpc>
                <a:spcPct val="120000"/>
              </a:lnSpc>
            </a:pPr>
            <a:r>
              <a:rPr lang="zh-CN" altLang="en-US" sz="1600" dirty="0">
                <a:solidFill>
                  <a:srgbClr val="775480"/>
                </a:solidFill>
                <a:latin typeface="微软雅黑 Light" panose="020B0502040204020203" charset="-122"/>
                <a:ea typeface="微软雅黑 Light" panose="020B0502040204020203" charset="-122"/>
                <a:sym typeface="+mn-ea"/>
              </a:rPr>
              <a:t>每年每 3 名 65 岁及以上的成年人中就有 1 人跌倒[</a:t>
            </a:r>
          </a:p>
        </p:txBody>
      </p:sp>
      <p:sp>
        <p:nvSpPr>
          <p:cNvPr id="11" name="文本框 10"/>
          <p:cNvSpPr txBox="1"/>
          <p:nvPr/>
        </p:nvSpPr>
        <p:spPr>
          <a:xfrm>
            <a:off x="1545590" y="3429000"/>
            <a:ext cx="3916680" cy="975995"/>
          </a:xfrm>
          <a:prstGeom prst="rect">
            <a:avLst/>
          </a:prstGeom>
          <a:noFill/>
        </p:spPr>
        <p:txBody>
          <a:bodyPr wrap="square" rtlCol="0">
            <a:spAutoFit/>
          </a:bodyPr>
          <a:lstStyle/>
          <a:p>
            <a:pPr algn="ctr">
              <a:lnSpc>
                <a:spcPct val="120000"/>
              </a:lnSpc>
            </a:pPr>
            <a:r>
              <a:rPr lang="zh-CN" altLang="en-US" sz="1600" dirty="0">
                <a:solidFill>
                  <a:srgbClr val="775480"/>
                </a:solidFill>
                <a:latin typeface="微软雅黑 Light" panose="020B0502040204020203" charset="-122"/>
                <a:ea typeface="微软雅黑 Light" panose="020B0502040204020203" charset="-122"/>
                <a:sym typeface="+mn-ea"/>
              </a:rPr>
              <a:t>在 2000 例老年人跌倒中，美国医疗保健系统损失了超过 190 亿美元，2010 年这一数字增加到 300 亿美元[2]。</a:t>
            </a:r>
          </a:p>
        </p:txBody>
      </p:sp>
      <p:sp>
        <p:nvSpPr>
          <p:cNvPr id="12" name="文本框 11"/>
          <p:cNvSpPr txBox="1"/>
          <p:nvPr/>
        </p:nvSpPr>
        <p:spPr>
          <a:xfrm>
            <a:off x="1315720" y="4897120"/>
            <a:ext cx="4376420" cy="975995"/>
          </a:xfrm>
          <a:prstGeom prst="rect">
            <a:avLst/>
          </a:prstGeom>
          <a:noFill/>
        </p:spPr>
        <p:txBody>
          <a:bodyPr wrap="square" rtlCol="0">
            <a:spAutoFit/>
          </a:bodyPr>
          <a:lstStyle/>
          <a:p>
            <a:pPr algn="ctr">
              <a:lnSpc>
                <a:spcPct val="120000"/>
              </a:lnSpc>
            </a:pPr>
            <a:r>
              <a:rPr lang="zh-CN" altLang="en-US" sz="1600" dirty="0">
                <a:solidFill>
                  <a:srgbClr val="775480"/>
                </a:solidFill>
                <a:latin typeface="微软雅黑 Light" panose="020B0502040204020203" charset="-122"/>
                <a:ea typeface="微软雅黑 Light" panose="020B0502040204020203" charset="-122"/>
                <a:sym typeface="+mn-ea"/>
              </a:rPr>
              <a:t>大多数老年人在跌倒后无法自行站起来</a:t>
            </a:r>
            <a:r>
              <a:rPr lang="en-US" altLang="zh-CN" sz="1600" dirty="0">
                <a:solidFill>
                  <a:srgbClr val="775480"/>
                </a:solidFill>
                <a:latin typeface="微软雅黑 Light" panose="020B0502040204020203" charset="-122"/>
                <a:ea typeface="微软雅黑 Light" panose="020B0502040204020203" charset="-122"/>
                <a:sym typeface="+mn-ea"/>
              </a:rPr>
              <a:t> </a:t>
            </a:r>
          </a:p>
          <a:p>
            <a:pPr algn="ctr">
              <a:lnSpc>
                <a:spcPct val="120000"/>
              </a:lnSpc>
            </a:pPr>
            <a:r>
              <a:rPr lang="zh-CN" altLang="en-US" sz="1600" dirty="0">
                <a:solidFill>
                  <a:srgbClr val="775480"/>
                </a:solidFill>
                <a:latin typeface="微软雅黑 Light" panose="020B0502040204020203" charset="-122"/>
                <a:ea typeface="微软雅黑 Light" panose="020B0502040204020203" charset="-122"/>
                <a:sym typeface="+mn-ea"/>
              </a:rPr>
              <a:t>跌倒后延误就医会增加死亡风险，</a:t>
            </a:r>
          </a:p>
          <a:p>
            <a:pPr algn="ctr">
              <a:lnSpc>
                <a:spcPct val="120000"/>
              </a:lnSpc>
            </a:pPr>
            <a:r>
              <a:rPr lang="zh-CN" altLang="en-US" sz="1600" dirty="0">
                <a:solidFill>
                  <a:srgbClr val="775480"/>
                </a:solidFill>
                <a:latin typeface="微软雅黑 Light" panose="020B0502040204020203" charset="-122"/>
                <a:ea typeface="微软雅黑 Light" panose="020B0502040204020203" charset="-122"/>
                <a:sym typeface="+mn-ea"/>
              </a:rPr>
              <a:t>跌倒还会对老年人造成心理伤害</a:t>
            </a:r>
          </a:p>
        </p:txBody>
      </p:sp>
      <p:sp>
        <p:nvSpPr>
          <p:cNvPr id="13" name="标题 1"/>
          <p:cNvSpPr txBox="1"/>
          <p:nvPr>
            <p:custDataLst>
              <p:tags r:id="rId2"/>
            </p:custDataLst>
          </p:nvPr>
        </p:nvSpPr>
        <p:spPr>
          <a:xfrm>
            <a:off x="3854938" y="269240"/>
            <a:ext cx="4482123"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跌倒问题很严峻</a:t>
            </a:r>
          </a:p>
        </p:txBody>
      </p:sp>
      <p:sp>
        <p:nvSpPr>
          <p:cNvPr id="14" name="矩形 13"/>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603615" y="62130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descr="gettyimages-1183001120-2048x2048"/>
          <p:cNvPicPr>
            <a:picLocks noChangeAspect="1"/>
          </p:cNvPicPr>
          <p:nvPr/>
        </p:nvPicPr>
        <p:blipFill>
          <a:blip r:embed="rId8"/>
          <a:stretch>
            <a:fillRect/>
          </a:stretch>
        </p:blipFill>
        <p:spPr>
          <a:xfrm>
            <a:off x="6096000" y="1581150"/>
            <a:ext cx="6242050" cy="4166870"/>
          </a:xfrm>
          <a:prstGeom prst="rect">
            <a:avLst/>
          </a:prstGeom>
        </p:spPr>
      </p:pic>
      <p:sp>
        <p:nvSpPr>
          <p:cNvPr id="19" name="文本框 18"/>
          <p:cNvSpPr txBox="1"/>
          <p:nvPr/>
        </p:nvSpPr>
        <p:spPr>
          <a:xfrm>
            <a:off x="2098992" y="2821305"/>
            <a:ext cx="9571355" cy="1304290"/>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zh-CN" altLang="en-US" sz="5400" dirty="0">
                <a:ln>
                  <a:solidFill>
                    <a:sysClr val="windowText" lastClr="000000"/>
                  </a:solidFill>
                </a:ln>
                <a:solidFill>
                  <a:schemeClr val="tx1"/>
                </a:solidFill>
              </a:rPr>
              <a:t>因此，检测老人跌倒很有必要</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480243" y="2882130"/>
            <a:ext cx="3230880" cy="1014730"/>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相关研究</a:t>
            </a:r>
          </a:p>
        </p:txBody>
      </p:sp>
      <p:grpSp>
        <p:nvGrpSpPr>
          <p:cNvPr id="12" name="组合 11"/>
          <p:cNvGrpSpPr/>
          <p:nvPr/>
        </p:nvGrpSpPr>
        <p:grpSpPr>
          <a:xfrm>
            <a:off x="5555048" y="1471295"/>
            <a:ext cx="1080000" cy="1080000"/>
            <a:chOff x="8049" y="2049"/>
            <a:chExt cx="1701" cy="1701"/>
          </a:xfrm>
        </p:grpSpPr>
        <p:sp>
          <p:nvSpPr>
            <p:cNvPr id="10" name="椭圆 9"/>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380" y="2440"/>
              <a:ext cx="1038" cy="919"/>
            </a:xfrm>
            <a:prstGeom prst="rect">
              <a:avLst/>
            </a:prstGeom>
            <a:noFill/>
          </p:spPr>
          <p:txBody>
            <a:bodyPr wrap="none" rtlCol="0">
              <a:spAutoFit/>
            </a:bodyPr>
            <a:lstStyle/>
            <a:p>
              <a:r>
                <a:rPr lang="en-US" altLang="zh-CN" sz="3200">
                  <a:solidFill>
                    <a:schemeClr val="bg1"/>
                  </a:solidFill>
                  <a:latin typeface="微软雅黑" panose="020B0503020204020204" pitchFamily="34" charset="-122"/>
                  <a:ea typeface="微软雅黑" panose="020B0503020204020204" pitchFamily="34" charset="-122"/>
                </a:rPr>
                <a:t>01</a:t>
              </a:r>
            </a:p>
          </p:txBody>
        </p:sp>
      </p:grpSp>
    </p:spTree>
    <p:custDataLst>
      <p:tags r:id="rId1"/>
    </p:custData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pic>
        <p:nvPicPr>
          <p:cNvPr id="4" name="图片 3" descr="D:\Downloads\js452078-fig-0002c-m.jpgjs452078-fig-0002c-m"/>
          <p:cNvPicPr preferRelativeResize="0"/>
          <p:nvPr/>
        </p:nvPicPr>
        <p:blipFill>
          <a:blip r:embed="rId6"/>
          <a:srcRect/>
          <a:stretch>
            <a:fillRect/>
          </a:stretch>
        </p:blipFill>
        <p:spPr>
          <a:xfrm>
            <a:off x="885825" y="1954530"/>
            <a:ext cx="2623185" cy="2948940"/>
          </a:xfrm>
          <a:prstGeom prst="rect">
            <a:avLst/>
          </a:prstGeom>
        </p:spPr>
      </p:pic>
      <p:sp>
        <p:nvSpPr>
          <p:cNvPr id="17" name="标题 1"/>
          <p:cNvSpPr txBox="1"/>
          <p:nvPr>
            <p:custDataLst>
              <p:tags r:id="rId2"/>
            </p:custDataLst>
          </p:nvPr>
        </p:nvSpPr>
        <p:spPr>
          <a:xfrm>
            <a:off x="3695065" y="313055"/>
            <a:ext cx="498792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基于可穿戴传感器的系统</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688193" y="5044482"/>
            <a:ext cx="2658403" cy="53403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sym typeface="+mn-ea"/>
              </a:rPr>
              <a:t>陀螺仪</a:t>
            </a:r>
          </a:p>
        </p:txBody>
      </p:sp>
      <p:sp>
        <p:nvSpPr>
          <p:cNvPr id="25" name="文本框 24"/>
          <p:cNvSpPr txBox="1"/>
          <p:nvPr/>
        </p:nvSpPr>
        <p:spPr>
          <a:xfrm>
            <a:off x="8793968" y="5044482"/>
            <a:ext cx="2658403" cy="53403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rPr>
              <a:t>气压传感器</a:t>
            </a:r>
          </a:p>
        </p:txBody>
      </p:sp>
      <p:sp>
        <p:nvSpPr>
          <p:cNvPr id="26" name="文本框 25"/>
          <p:cNvSpPr txBox="1"/>
          <p:nvPr/>
        </p:nvSpPr>
        <p:spPr>
          <a:xfrm>
            <a:off x="4766797" y="5044482"/>
            <a:ext cx="2658403" cy="534035"/>
          </a:xfrm>
          <a:prstGeom prst="rect">
            <a:avLst/>
          </a:prstGeom>
          <a:noFill/>
        </p:spPr>
        <p:txBody>
          <a:bodyPr wrap="square" rtlCol="0">
            <a:spAutoFit/>
          </a:bodyPr>
          <a:lstStyle/>
          <a:p>
            <a:pPr algn="ctr">
              <a:lnSpc>
                <a:spcPct val="120000"/>
              </a:lnSpc>
            </a:pPr>
            <a:r>
              <a:rPr lang="en-US" altLang="zh-CN" sz="2400" dirty="0">
                <a:solidFill>
                  <a:srgbClr val="775480"/>
                </a:solidFill>
                <a:latin typeface="微软雅黑 Light" panose="020B0502040204020203" charset="-122"/>
                <a:ea typeface="微软雅黑 Light" panose="020B0502040204020203" charset="-122"/>
              </a:rPr>
              <a:t>RFID</a:t>
            </a:r>
          </a:p>
        </p:txBody>
      </p:sp>
      <p:pic>
        <p:nvPicPr>
          <p:cNvPr id="5" name="图片 4"/>
          <p:cNvPicPr>
            <a:picLocks noChangeAspect="1"/>
          </p:cNvPicPr>
          <p:nvPr/>
        </p:nvPicPr>
        <p:blipFill>
          <a:blip r:embed="rId7"/>
          <a:stretch>
            <a:fillRect/>
          </a:stretch>
        </p:blipFill>
        <p:spPr>
          <a:xfrm>
            <a:off x="8255635" y="2282825"/>
            <a:ext cx="4043680" cy="2291715"/>
          </a:xfrm>
          <a:prstGeom prst="rect">
            <a:avLst/>
          </a:prstGeom>
        </p:spPr>
      </p:pic>
      <p:pic>
        <p:nvPicPr>
          <p:cNvPr id="6" name="图片 5"/>
          <p:cNvPicPr>
            <a:picLocks noChangeAspect="1"/>
          </p:cNvPicPr>
          <p:nvPr/>
        </p:nvPicPr>
        <p:blipFill>
          <a:blip r:embed="rId8"/>
          <a:stretch>
            <a:fillRect/>
          </a:stretch>
        </p:blipFill>
        <p:spPr>
          <a:xfrm>
            <a:off x="3588385" y="1954530"/>
            <a:ext cx="4429125" cy="2887980"/>
          </a:xfrm>
          <a:prstGeom prst="rect">
            <a:avLst/>
          </a:prstGeom>
        </p:spPr>
      </p:pic>
      <p:sp>
        <p:nvSpPr>
          <p:cNvPr id="10" name="文本框 9"/>
          <p:cNvSpPr txBox="1"/>
          <p:nvPr/>
        </p:nvSpPr>
        <p:spPr>
          <a:xfrm>
            <a:off x="2494280" y="5645785"/>
            <a:ext cx="7203440" cy="840740"/>
          </a:xfrm>
          <a:prstGeom prst="rect">
            <a:avLst/>
          </a:prstGeom>
          <a:noFill/>
        </p:spPr>
        <p:txBody>
          <a:bodyPr wrap="square" rtlCol="0">
            <a:noAutofit/>
          </a:bodyPr>
          <a:lstStyle/>
          <a:p>
            <a:r>
              <a:rPr lang="zh-CN" altLang="en-US" dirty="0">
                <a:solidFill>
                  <a:srgbClr val="694B71"/>
                </a:solidFill>
                <a:latin typeface="微软雅黑" panose="020B0503020204020204" pitchFamily="34" charset="-122"/>
                <a:ea typeface="微软雅黑" panose="020B0503020204020204" pitchFamily="34" charset="-122"/>
                <a:sym typeface="+mn-ea"/>
              </a:rPr>
              <a:t>Limitation: These systems can only work when sensors are worn by the user. However, the always-on-body requirement makes the subject difficult to comply with,</a:t>
            </a:r>
            <a:endParaRPr lang="zh-CN" altLang="en-US" dirty="0">
              <a:solidFill>
                <a:srgbClr val="694B71"/>
              </a:solidFill>
              <a:latin typeface="微软雅黑" panose="020B0503020204020204" pitchFamily="34" charset="-122"/>
              <a:ea typeface="微软雅黑" panose="020B0503020204020204" pitchFamily="34" charset="-122"/>
            </a:endParaRPr>
          </a:p>
          <a:p>
            <a:endParaRPr lang="zh-CN" altLang="en-US"/>
          </a:p>
        </p:txBody>
      </p:sp>
    </p:spTree>
    <p:custDataLst>
      <p:tags r:id="rId1"/>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4149725" y="313055"/>
            <a:ext cx="389191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基于环境设备的检测</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688193" y="5044482"/>
            <a:ext cx="2658403" cy="53403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sym typeface="+mn-ea"/>
              </a:rPr>
              <a:t>音频噪声</a:t>
            </a:r>
          </a:p>
        </p:txBody>
      </p:sp>
      <p:sp>
        <p:nvSpPr>
          <p:cNvPr id="25" name="文本框 24"/>
          <p:cNvSpPr txBox="1"/>
          <p:nvPr/>
        </p:nvSpPr>
        <p:spPr>
          <a:xfrm>
            <a:off x="8793968" y="5044482"/>
            <a:ext cx="2658403" cy="53403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rPr>
              <a:t>红外传感数据</a:t>
            </a:r>
          </a:p>
        </p:txBody>
      </p:sp>
      <p:sp>
        <p:nvSpPr>
          <p:cNvPr id="26" name="文本框 25"/>
          <p:cNvSpPr txBox="1"/>
          <p:nvPr/>
        </p:nvSpPr>
        <p:spPr>
          <a:xfrm>
            <a:off x="4766797" y="5044482"/>
            <a:ext cx="2658403" cy="534035"/>
          </a:xfrm>
          <a:prstGeom prst="rect">
            <a:avLst/>
          </a:prstGeom>
          <a:noFill/>
        </p:spPr>
        <p:txBody>
          <a:bodyPr wrap="square" rtlCol="0">
            <a:spAutoFit/>
          </a:bodyPr>
          <a:lstStyle/>
          <a:p>
            <a:pPr algn="ctr">
              <a:lnSpc>
                <a:spcPct val="120000"/>
              </a:lnSpc>
            </a:pPr>
            <a:r>
              <a:rPr lang="en-US" altLang="zh-CN" sz="2400" dirty="0">
                <a:solidFill>
                  <a:srgbClr val="775480"/>
                </a:solidFill>
                <a:latin typeface="微软雅黑 Light" panose="020B0502040204020203" charset="-122"/>
                <a:ea typeface="微软雅黑 Light" panose="020B0502040204020203" charset="-122"/>
              </a:rPr>
              <a:t>地板振动</a:t>
            </a:r>
          </a:p>
        </p:txBody>
      </p:sp>
      <p:sp>
        <p:nvSpPr>
          <p:cNvPr id="10" name="文本框 9"/>
          <p:cNvSpPr txBox="1"/>
          <p:nvPr/>
        </p:nvSpPr>
        <p:spPr>
          <a:xfrm>
            <a:off x="2494280" y="5645785"/>
            <a:ext cx="7203440" cy="840740"/>
          </a:xfrm>
          <a:prstGeom prst="rect">
            <a:avLst/>
          </a:prstGeom>
          <a:noFill/>
        </p:spPr>
        <p:txBody>
          <a:bodyPr wrap="square" rtlCol="0">
            <a:noAutofit/>
          </a:bodyPr>
          <a:lstStyle/>
          <a:p>
            <a:r>
              <a:rPr lang="zh-CN" altLang="en-US" dirty="0"/>
              <a:t>但容易受环境干扰</a:t>
            </a:r>
          </a:p>
        </p:txBody>
      </p:sp>
      <p:pic>
        <p:nvPicPr>
          <p:cNvPr id="8" name="图片 7" descr="1684511-fig-5-source-large"/>
          <p:cNvPicPr>
            <a:picLocks noChangeAspect="1"/>
          </p:cNvPicPr>
          <p:nvPr/>
        </p:nvPicPr>
        <p:blipFill>
          <a:blip r:embed="rId6"/>
          <a:stretch>
            <a:fillRect/>
          </a:stretch>
        </p:blipFill>
        <p:spPr>
          <a:xfrm>
            <a:off x="4230370" y="2331720"/>
            <a:ext cx="3923030" cy="2373630"/>
          </a:xfrm>
          <a:prstGeom prst="rect">
            <a:avLst/>
          </a:prstGeom>
        </p:spPr>
      </p:pic>
      <p:pic>
        <p:nvPicPr>
          <p:cNvPr id="2" name="图片 1"/>
          <p:cNvPicPr>
            <a:picLocks noChangeAspect="1"/>
          </p:cNvPicPr>
          <p:nvPr/>
        </p:nvPicPr>
        <p:blipFill>
          <a:blip r:embed="rId7"/>
          <a:stretch>
            <a:fillRect/>
          </a:stretch>
        </p:blipFill>
        <p:spPr>
          <a:xfrm>
            <a:off x="132715" y="2045335"/>
            <a:ext cx="3931285" cy="2955925"/>
          </a:xfrm>
          <a:prstGeom prst="rect">
            <a:avLst/>
          </a:prstGeom>
        </p:spPr>
      </p:pic>
      <p:pic>
        <p:nvPicPr>
          <p:cNvPr id="3" name="图片 2"/>
          <p:cNvPicPr>
            <a:picLocks noChangeAspect="1"/>
          </p:cNvPicPr>
          <p:nvPr/>
        </p:nvPicPr>
        <p:blipFill>
          <a:blip r:embed="rId8"/>
          <a:stretch>
            <a:fillRect/>
          </a:stretch>
        </p:blipFill>
        <p:spPr>
          <a:xfrm>
            <a:off x="8346440" y="1773555"/>
            <a:ext cx="3554095" cy="3082925"/>
          </a:xfrm>
          <a:prstGeom prst="rect">
            <a:avLst/>
          </a:prstGeom>
        </p:spPr>
      </p:pic>
    </p:spTree>
    <p:custDataLst>
      <p:tags r:id="rId1"/>
    </p:custData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3325495" y="312420"/>
            <a:ext cx="5732780"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基于计算机视觉的跌倒检测系统</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5608955" y="1748790"/>
            <a:ext cx="6468745" cy="3817620"/>
          </a:xfrm>
          <a:prstGeom prst="rect">
            <a:avLst/>
          </a:prstGeom>
          <a:noFill/>
        </p:spPr>
        <p:txBody>
          <a:bodyPr wrap="square" rtlCol="0">
            <a:noAutofit/>
          </a:bodyPr>
          <a:lstStyle/>
          <a:p>
            <a:pPr algn="l">
              <a:lnSpc>
                <a:spcPct val="120000"/>
              </a:lnSpc>
            </a:pPr>
            <a:r>
              <a:rPr lang="en-US" altLang="zh-CN" sz="2400" dirty="0">
                <a:solidFill>
                  <a:srgbClr val="775480"/>
                </a:solidFill>
                <a:latin typeface="微软雅黑 Light" panose="020B0502040204020203" charset="-122"/>
                <a:ea typeface="微软雅黑 Light" panose="020B0502040204020203" charset="-122"/>
              </a:rPr>
              <a:t>使用安装在监控环境中的摄像头来捕获图像或视频序列以进行场景识别 通过使用活动分类算法，将跌倒活动与其他事件区分开来</a:t>
            </a:r>
          </a:p>
          <a:p>
            <a:pPr algn="l">
              <a:lnSpc>
                <a:spcPct val="120000"/>
              </a:lnSpc>
            </a:pPr>
            <a:r>
              <a:rPr lang="en-US" altLang="zh-CN" sz="2400" dirty="0">
                <a:solidFill>
                  <a:srgbClr val="775480"/>
                </a:solidFill>
                <a:latin typeface="微软雅黑 Light" panose="020B0502040204020203" charset="-122"/>
                <a:ea typeface="微软雅黑 Light" panose="020B0502040204020203" charset="-122"/>
              </a:rPr>
              <a:t>红外 LED 和深度相机的最新进展扩大了其应用范围（例如，不受灯光照明的影响，甚至可以在黑暗的房间中工作）</a:t>
            </a:r>
          </a:p>
        </p:txBody>
      </p:sp>
      <p:sp>
        <p:nvSpPr>
          <p:cNvPr id="10" name="文本框 9"/>
          <p:cNvSpPr txBox="1"/>
          <p:nvPr/>
        </p:nvSpPr>
        <p:spPr>
          <a:xfrm>
            <a:off x="2494280" y="5645785"/>
            <a:ext cx="7203440" cy="840740"/>
          </a:xfrm>
          <a:prstGeom prst="rect">
            <a:avLst/>
          </a:prstGeom>
          <a:noFill/>
        </p:spPr>
        <p:txBody>
          <a:bodyPr wrap="square" rtlCol="0">
            <a:noAutofit/>
          </a:bodyPr>
          <a:lstStyle/>
          <a:p>
            <a:r>
              <a:rPr lang="zh-CN" altLang="en-US" dirty="0">
                <a:solidFill>
                  <a:srgbClr val="694B71"/>
                </a:solidFill>
                <a:latin typeface="微软雅黑" panose="020B0503020204020204" pitchFamily="34" charset="-122"/>
                <a:ea typeface="微软雅黑" panose="020B0503020204020204" pitchFamily="34" charset="-122"/>
                <a:sym typeface="+mn-ea"/>
              </a:rPr>
              <a:t>Limitation: 关于隐私问题、对视线的要求以及实时处理的密集计算仍需解决</a:t>
            </a:r>
          </a:p>
          <a:p>
            <a:endParaRPr lang="zh-CN" altLang="en-US"/>
          </a:p>
        </p:txBody>
      </p:sp>
      <p:pic>
        <p:nvPicPr>
          <p:cNvPr id="9" name="图片 8"/>
          <p:cNvPicPr>
            <a:picLocks noChangeAspect="1"/>
          </p:cNvPicPr>
          <p:nvPr/>
        </p:nvPicPr>
        <p:blipFill>
          <a:blip r:embed="rId6"/>
          <a:stretch>
            <a:fillRect/>
          </a:stretch>
        </p:blipFill>
        <p:spPr>
          <a:xfrm>
            <a:off x="1478280" y="2332355"/>
            <a:ext cx="3303270" cy="2192655"/>
          </a:xfrm>
          <a:prstGeom prst="rect">
            <a:avLst/>
          </a:prstGeom>
        </p:spPr>
      </p:pic>
    </p:spTree>
    <p:custDataLst>
      <p:tags r:id="rId1"/>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4149725" y="313055"/>
            <a:ext cx="389191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sym typeface="+mn-ea"/>
              </a:rPr>
              <a:t>基于</a:t>
            </a:r>
            <a:r>
              <a:rPr lang="en-US" altLang="zh-CN" sz="3200" dirty="0">
                <a:solidFill>
                  <a:srgbClr val="694B71"/>
                </a:solidFill>
                <a:latin typeface="微软雅黑" panose="020B0503020204020204" pitchFamily="34" charset="-122"/>
                <a:ea typeface="微软雅黑" panose="020B0503020204020204" pitchFamily="34" charset="-122"/>
                <a:sym typeface="+mn-ea"/>
              </a:rPr>
              <a:t>WIFI</a:t>
            </a:r>
            <a:r>
              <a:rPr lang="zh-CN" altLang="en-US" sz="3200" dirty="0">
                <a:solidFill>
                  <a:srgbClr val="694B71"/>
                </a:solidFill>
                <a:latin typeface="微软雅黑" panose="020B0503020204020204" pitchFamily="34" charset="-122"/>
                <a:ea typeface="微软雅黑" panose="020B0503020204020204" pitchFamily="34" charset="-122"/>
                <a:sym typeface="+mn-ea"/>
              </a:rPr>
              <a:t>和</a:t>
            </a:r>
            <a:r>
              <a:rPr lang="en-US" altLang="zh-CN" sz="3200" dirty="0">
                <a:solidFill>
                  <a:srgbClr val="694B71"/>
                </a:solidFill>
                <a:latin typeface="微软雅黑" panose="020B0503020204020204" pitchFamily="34" charset="-122"/>
                <a:ea typeface="微软雅黑" panose="020B0503020204020204" pitchFamily="34" charset="-122"/>
                <a:sym typeface="+mn-ea"/>
              </a:rPr>
              <a:t>CSI</a:t>
            </a:r>
            <a:endParaRPr lang="zh-CN" altLang="en-US" sz="3200" dirty="0">
              <a:solidFill>
                <a:srgbClr val="694B71"/>
              </a:solidFill>
              <a:latin typeface="微软雅黑" panose="020B0503020204020204" pitchFamily="34" charset="-122"/>
              <a:ea typeface="微软雅黑" panose="020B0503020204020204" pitchFamily="34" charset="-122"/>
            </a:endParaRP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5954395" y="2180590"/>
            <a:ext cx="6096000" cy="2306955"/>
          </a:xfrm>
          <a:prstGeom prst="rect">
            <a:avLst/>
          </a:prstGeom>
          <a:noFill/>
        </p:spPr>
        <p:txBody>
          <a:bodyPr wrap="square" rtlCol="0" anchor="t">
            <a:spAutoFit/>
          </a:bodyPr>
          <a:lstStyle/>
          <a:p>
            <a:pPr algn="l">
              <a:buClrTx/>
              <a:buSzTx/>
              <a:buFontTx/>
            </a:pPr>
            <a:r>
              <a:rPr lang="en-US" altLang="zh-CN" sz="2400" dirty="0">
                <a:solidFill>
                  <a:srgbClr val="775480"/>
                </a:solidFill>
                <a:latin typeface="微软雅黑 Light" panose="020B0502040204020203" charset="-122"/>
                <a:ea typeface="微软雅黑 Light" panose="020B0502040204020203" charset="-122"/>
                <a:sym typeface="+mn-ea"/>
              </a:rPr>
              <a:t>其中也有利用wifi商用设备检测的工作</a:t>
            </a:r>
            <a:endParaRPr lang="en-US" altLang="zh-CN" sz="2400" b="0" dirty="0">
              <a:solidFill>
                <a:srgbClr val="775480"/>
              </a:solidFill>
              <a:latin typeface="微软雅黑 Light" panose="020B0502040204020203" charset="-122"/>
              <a:ea typeface="微软雅黑 Light" panose="020B0502040204020203" charset="-122"/>
            </a:endParaRPr>
          </a:p>
          <a:p>
            <a:pPr algn="l">
              <a:buClrTx/>
              <a:buSzTx/>
              <a:buFontTx/>
            </a:pPr>
            <a:r>
              <a:rPr lang="en-US" altLang="zh-CN" sz="2400" dirty="0">
                <a:solidFill>
                  <a:srgbClr val="775480"/>
                </a:solidFill>
                <a:latin typeface="微软雅黑 Light" panose="020B0502040204020203" charset="-122"/>
                <a:ea typeface="微软雅黑 Light" panose="020B0502040204020203" charset="-122"/>
                <a:sym typeface="+mn-ea"/>
              </a:rPr>
              <a:t>比如用CSI信息进行跌倒检测，但这项工作仅利用了 CSI 的振幅信息，并简化了问题，</a:t>
            </a:r>
            <a:r>
              <a:rPr lang="en-US" altLang="zh-CN" sz="2400" b="1" dirty="0">
                <a:solidFill>
                  <a:srgbClr val="FF0000"/>
                </a:solidFill>
                <a:latin typeface="微软雅黑 Light" panose="020B0502040204020203" charset="-122"/>
                <a:ea typeface="微软雅黑 Light" panose="020B0502040204020203" charset="-122"/>
                <a:sym typeface="+mn-ea"/>
              </a:rPr>
              <a:t>即受试者只能执行四种预定义的活动。当长者在家庭环境中正常生活，自然、持续地进行各种活动时，解决方案就会失败。</a:t>
            </a:r>
          </a:p>
        </p:txBody>
      </p:sp>
      <p:pic>
        <p:nvPicPr>
          <p:cNvPr id="2" name="图片 1"/>
          <p:cNvPicPr>
            <a:picLocks noChangeAspect="1"/>
          </p:cNvPicPr>
          <p:nvPr/>
        </p:nvPicPr>
        <p:blipFill>
          <a:blip r:embed="rId6"/>
          <a:stretch>
            <a:fillRect/>
          </a:stretch>
        </p:blipFill>
        <p:spPr>
          <a:xfrm>
            <a:off x="290195" y="1600200"/>
            <a:ext cx="5372100" cy="4543425"/>
          </a:xfrm>
          <a:prstGeom prst="rect">
            <a:avLst/>
          </a:prstGeom>
        </p:spPr>
      </p:pic>
    </p:spTree>
    <p:custDataLst>
      <p:tags r:id="rId1"/>
    </p:custData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480243" y="2882130"/>
            <a:ext cx="3262432" cy="1015663"/>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初步分析</a:t>
            </a:r>
          </a:p>
        </p:txBody>
      </p:sp>
      <p:grpSp>
        <p:nvGrpSpPr>
          <p:cNvPr id="12" name="组合 11"/>
          <p:cNvGrpSpPr/>
          <p:nvPr/>
        </p:nvGrpSpPr>
        <p:grpSpPr>
          <a:xfrm>
            <a:off x="5555048" y="1471295"/>
            <a:ext cx="1080000" cy="1080000"/>
            <a:chOff x="8049" y="2049"/>
            <a:chExt cx="1701" cy="1701"/>
          </a:xfrm>
        </p:grpSpPr>
        <p:sp>
          <p:nvSpPr>
            <p:cNvPr id="10" name="椭圆 9"/>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380" y="2440"/>
              <a:ext cx="1048" cy="921"/>
            </a:xfrm>
            <a:prstGeom prst="rect">
              <a:avLst/>
            </a:prstGeom>
            <a:noFill/>
          </p:spPr>
          <p:txBody>
            <a:bodyPr wrap="non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rPr>
                <a:t>02</a:t>
              </a:r>
            </a:p>
          </p:txBody>
        </p:sp>
      </p:grpSp>
    </p:spTree>
    <p:custDataLst>
      <p:tags r:id="rId1"/>
    </p:custDataLst>
    <p:extLst>
      <p:ext uri="{BB962C8B-B14F-4D97-AF65-F5344CB8AC3E}">
        <p14:creationId xmlns:p14="http://schemas.microsoft.com/office/powerpoint/2010/main" val="192362673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1FD77694-7D45-43A3-9B6D-CF52F0242B0E}"/>
              </a:ext>
            </a:extLst>
          </p:cNvPr>
          <p:cNvSpPr/>
          <p:nvPr/>
        </p:nvSpPr>
        <p:spPr>
          <a:xfrm>
            <a:off x="6279560" y="6366832"/>
            <a:ext cx="5647266" cy="3819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a:extLst>
              <a:ext uri="{FF2B5EF4-FFF2-40B4-BE49-F238E27FC236}">
                <a16:creationId xmlns:a16="http://schemas.microsoft.com/office/drawing/2014/main" id="{AA37286D-F4D7-4466-B864-51D368699896}"/>
              </a:ext>
            </a:extLst>
          </p:cNvPr>
          <p:cNvSpPr/>
          <p:nvPr/>
        </p:nvSpPr>
        <p:spPr>
          <a:xfrm>
            <a:off x="6392334" y="1536553"/>
            <a:ext cx="5647266" cy="11389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标题 1"/>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初步分析</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a:extLst>
              <a:ext uri="{FF2B5EF4-FFF2-40B4-BE49-F238E27FC236}">
                <a16:creationId xmlns:a16="http://schemas.microsoft.com/office/drawing/2014/main" id="{D5EC289D-0968-4AE5-87E6-6EB388CC3A18}"/>
              </a:ext>
            </a:extLst>
          </p:cNvPr>
          <p:cNvPicPr>
            <a:picLocks noChangeAspect="1"/>
          </p:cNvPicPr>
          <p:nvPr/>
        </p:nvPicPr>
        <p:blipFill>
          <a:blip r:embed="rId6"/>
          <a:stretch>
            <a:fillRect/>
          </a:stretch>
        </p:blipFill>
        <p:spPr>
          <a:xfrm>
            <a:off x="827830" y="1693913"/>
            <a:ext cx="4205784" cy="2008845"/>
          </a:xfrm>
          <a:prstGeom prst="rect">
            <a:avLst/>
          </a:prstGeom>
        </p:spPr>
      </p:pic>
      <p:sp>
        <p:nvSpPr>
          <p:cNvPr id="25" name="文本框 24">
            <a:extLst>
              <a:ext uri="{FF2B5EF4-FFF2-40B4-BE49-F238E27FC236}">
                <a16:creationId xmlns:a16="http://schemas.microsoft.com/office/drawing/2014/main" id="{AAC229A8-6DDC-4105-BBD9-83D701B457E7}"/>
              </a:ext>
            </a:extLst>
          </p:cNvPr>
          <p:cNvSpPr txBox="1"/>
          <p:nvPr/>
        </p:nvSpPr>
        <p:spPr>
          <a:xfrm>
            <a:off x="183560" y="3826341"/>
            <a:ext cx="5649432" cy="2862322"/>
          </a:xfrm>
          <a:prstGeom prst="rect">
            <a:avLst/>
          </a:prstGeom>
          <a:noFill/>
        </p:spPr>
        <p:txBody>
          <a:bodyPr wrap="square">
            <a:spAutoFit/>
          </a:bodyPr>
          <a:lstStyle/>
          <a:p>
            <a:r>
              <a:rPr lang="en-US" altLang="zh-CN" dirty="0">
                <a:solidFill>
                  <a:srgbClr val="333333"/>
                </a:solidFill>
                <a:latin typeface="Helvetica Neue"/>
              </a:rPr>
              <a:t>     </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信号通过</a:t>
            </a:r>
            <a:r>
              <a:rPr lang="zh-CN" altLang="en-US" b="1" i="0" dirty="0">
                <a:solidFill>
                  <a:srgbClr val="FF0000"/>
                </a:solidFill>
                <a:effectLst/>
                <a:latin typeface="Helvetica Neue"/>
              </a:rPr>
              <a:t>天花板、地面、墙壁、家具</a:t>
            </a:r>
            <a:r>
              <a:rPr lang="zh-CN" altLang="en-US" b="0" i="0" dirty="0">
                <a:solidFill>
                  <a:srgbClr val="333333"/>
                </a:solidFill>
                <a:effectLst/>
                <a:latin typeface="Helvetica Neue"/>
              </a:rPr>
              <a:t>等多条路径在物理空间中传播。</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     由于</a:t>
            </a:r>
            <a:r>
              <a:rPr lang="zh-CN" altLang="en-US" b="1" i="0" dirty="0">
                <a:solidFill>
                  <a:srgbClr val="333333"/>
                </a:solidFill>
                <a:effectLst/>
                <a:latin typeface="Helvetica Neue"/>
              </a:rPr>
              <a:t>物理空间</a:t>
            </a:r>
            <a:r>
              <a:rPr lang="zh-CN" altLang="en-US" b="0" i="0" dirty="0">
                <a:solidFill>
                  <a:srgbClr val="333333"/>
                </a:solidFill>
                <a:effectLst/>
                <a:latin typeface="Helvetica Neue"/>
              </a:rPr>
              <a:t>会限制无线信号的传播</a:t>
            </a:r>
            <a:r>
              <a:rPr lang="en-US" altLang="zh-CN" b="1" i="0" dirty="0">
                <a:solidFill>
                  <a:srgbClr val="333333"/>
                </a:solidFill>
                <a:effectLst/>
                <a:latin typeface="Helvetica Neue"/>
              </a:rPr>
              <a:t>(</a:t>
            </a:r>
            <a:r>
              <a:rPr lang="zh-CN" altLang="en-US" b="1" i="0" dirty="0">
                <a:solidFill>
                  <a:srgbClr val="FF0000"/>
                </a:solidFill>
                <a:effectLst/>
                <a:latin typeface="Helvetica Neue"/>
              </a:rPr>
              <a:t>触碰地面</a:t>
            </a:r>
            <a:r>
              <a:rPr lang="zh-CN" altLang="en-US" b="1" dirty="0">
                <a:solidFill>
                  <a:srgbClr val="FF0000"/>
                </a:solidFill>
                <a:latin typeface="Helvetica Neue"/>
              </a:rPr>
              <a:t>反射等</a:t>
            </a:r>
            <a:r>
              <a:rPr lang="en-US" altLang="zh-CN" b="1" i="0" dirty="0">
                <a:solidFill>
                  <a:srgbClr val="333333"/>
                </a:solidFill>
                <a:effectLst/>
                <a:latin typeface="Helvetica Neue"/>
              </a:rPr>
              <a:t>)</a:t>
            </a:r>
            <a:r>
              <a:rPr lang="zh-CN" altLang="en-US" dirty="0">
                <a:solidFill>
                  <a:srgbClr val="333333"/>
                </a:solidFill>
                <a:latin typeface="Helvetica Neue"/>
              </a:rPr>
              <a:t>，</a:t>
            </a:r>
            <a:r>
              <a:rPr lang="zh-CN" altLang="en-US" b="0" i="0" dirty="0">
                <a:solidFill>
                  <a:srgbClr val="333333"/>
                </a:solidFill>
                <a:effectLst/>
                <a:latin typeface="Helvetica Neue"/>
              </a:rPr>
              <a:t>当环境中有人员存在时，</a:t>
            </a:r>
            <a:r>
              <a:rPr lang="zh-CN" altLang="en-US" b="1" i="0" dirty="0">
                <a:solidFill>
                  <a:srgbClr val="333333"/>
                </a:solidFill>
                <a:effectLst/>
                <a:latin typeface="Helvetica Neue"/>
              </a:rPr>
              <a:t>人体散射（</a:t>
            </a:r>
            <a:r>
              <a:rPr lang="zh-CN" altLang="en-US" b="1" i="0" dirty="0">
                <a:solidFill>
                  <a:srgbClr val="FF0000"/>
                </a:solidFill>
                <a:effectLst/>
                <a:latin typeface="Helvetica Neue"/>
              </a:rPr>
              <a:t>衣服、肢体的等多个部位阻挡和反射</a:t>
            </a:r>
            <a:r>
              <a:rPr lang="zh-CN" altLang="en-US" b="1" i="0" dirty="0">
                <a:solidFill>
                  <a:srgbClr val="333333"/>
                </a:solidFill>
                <a:effectLst/>
                <a:latin typeface="Helvetica Neue"/>
              </a:rPr>
              <a:t>）</a:t>
            </a:r>
            <a:r>
              <a:rPr lang="zh-CN" altLang="en-US" b="0" i="0" dirty="0">
                <a:solidFill>
                  <a:srgbClr val="333333"/>
                </a:solidFill>
                <a:effectLst/>
                <a:latin typeface="Helvetica Neue"/>
              </a:rPr>
              <a:t>会引入额外的信号路径；因此，接收信号会包含能够表征人员存在对环境影响的信息和其传播环境的信息。</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     将物理空间（包括环境中的物体和人员）视为一个无线信道，</a:t>
            </a:r>
            <a:r>
              <a:rPr lang="zh-CN" altLang="en-US" b="1" i="0" dirty="0">
                <a:solidFill>
                  <a:srgbClr val="FF0000"/>
                </a:solidFill>
                <a:effectLst/>
                <a:latin typeface="Helvetica Neue"/>
              </a:rPr>
              <a:t>信道状态信息（</a:t>
            </a:r>
            <a:r>
              <a:rPr lang="en-US" altLang="zh-CN" b="1" i="0" dirty="0">
                <a:solidFill>
                  <a:srgbClr val="FF0000"/>
                </a:solidFill>
                <a:effectLst/>
                <a:latin typeface="Helvetica Neue"/>
              </a:rPr>
              <a:t>CSI</a:t>
            </a:r>
            <a:r>
              <a:rPr lang="zh-CN" altLang="en-US" b="1" i="0" dirty="0">
                <a:solidFill>
                  <a:srgbClr val="FF0000"/>
                </a:solidFill>
                <a:effectLst/>
                <a:latin typeface="Helvetica Neue"/>
              </a:rPr>
              <a:t>）</a:t>
            </a:r>
            <a:r>
              <a:rPr lang="zh-CN" altLang="en-US" b="1" i="0" dirty="0">
                <a:solidFill>
                  <a:srgbClr val="333333"/>
                </a:solidFill>
                <a:effectLst/>
                <a:latin typeface="Helvetica Neue"/>
              </a:rPr>
              <a:t>就描述了无线信号通过该信道时所受到的影响</a:t>
            </a:r>
            <a:r>
              <a:rPr lang="zh-CN" altLang="en-US" b="0" i="0" dirty="0">
                <a:solidFill>
                  <a:srgbClr val="333333"/>
                </a:solidFill>
                <a:effectLst/>
                <a:latin typeface="Helvetica Neue"/>
              </a:rPr>
              <a:t>。</a:t>
            </a:r>
            <a:endParaRPr lang="zh-CN" altLang="en-US" dirty="0"/>
          </a:p>
        </p:txBody>
      </p:sp>
      <p:sp>
        <p:nvSpPr>
          <p:cNvPr id="27" name="文本框 26">
            <a:extLst>
              <a:ext uri="{FF2B5EF4-FFF2-40B4-BE49-F238E27FC236}">
                <a16:creationId xmlns:a16="http://schemas.microsoft.com/office/drawing/2014/main" id="{64B0F30C-987E-4EEC-B8FC-8B836B30B85E}"/>
              </a:ext>
            </a:extLst>
          </p:cNvPr>
          <p:cNvSpPr txBox="1"/>
          <p:nvPr/>
        </p:nvSpPr>
        <p:spPr>
          <a:xfrm>
            <a:off x="183560" y="1158024"/>
            <a:ext cx="6096000" cy="369332"/>
          </a:xfrm>
          <a:prstGeom prst="rect">
            <a:avLst/>
          </a:prstGeom>
          <a:noFill/>
        </p:spPr>
        <p:txBody>
          <a:bodyPr wrap="square">
            <a:spAutoFit/>
          </a:bodyPr>
          <a:lstStyle/>
          <a:p>
            <a:pPr algn="l"/>
            <a:r>
              <a:rPr lang="en-US" altLang="zh-CN" b="1" i="0" dirty="0" err="1">
                <a:solidFill>
                  <a:srgbClr val="000000"/>
                </a:solidFill>
                <a:effectLst/>
                <a:latin typeface="Helvetica Neue"/>
              </a:rPr>
              <a:t>WiFi</a:t>
            </a:r>
            <a:r>
              <a:rPr lang="zh-CN" altLang="en-US" b="1" i="0" dirty="0">
                <a:solidFill>
                  <a:srgbClr val="000000"/>
                </a:solidFill>
                <a:effectLst/>
                <a:latin typeface="Helvetica Neue"/>
              </a:rPr>
              <a:t>信号的室内传播特性</a:t>
            </a:r>
          </a:p>
        </p:txBody>
      </p:sp>
      <p:sp>
        <p:nvSpPr>
          <p:cNvPr id="28" name="文本框 27">
            <a:extLst>
              <a:ext uri="{FF2B5EF4-FFF2-40B4-BE49-F238E27FC236}">
                <a16:creationId xmlns:a16="http://schemas.microsoft.com/office/drawing/2014/main" id="{9074DA04-888D-4F79-AB6C-AFDAD775A846}"/>
              </a:ext>
            </a:extLst>
          </p:cNvPr>
          <p:cNvSpPr txBox="1"/>
          <p:nvPr/>
        </p:nvSpPr>
        <p:spPr>
          <a:xfrm>
            <a:off x="6392334" y="1158024"/>
            <a:ext cx="6096000" cy="369332"/>
          </a:xfrm>
          <a:prstGeom prst="rect">
            <a:avLst/>
          </a:prstGeom>
          <a:noFill/>
        </p:spPr>
        <p:txBody>
          <a:bodyPr wrap="square">
            <a:spAutoFit/>
          </a:bodyPr>
          <a:lstStyle/>
          <a:p>
            <a:pPr algn="l"/>
            <a:r>
              <a:rPr lang="en-US" altLang="zh-CN" b="1" i="0" dirty="0">
                <a:solidFill>
                  <a:srgbClr val="000000"/>
                </a:solidFill>
                <a:effectLst/>
                <a:latin typeface="Helvetica Neue"/>
              </a:rPr>
              <a:t>CSI</a:t>
            </a:r>
            <a:r>
              <a:rPr lang="zh-CN" altLang="en-US" b="1" i="0" dirty="0">
                <a:solidFill>
                  <a:srgbClr val="000000"/>
                </a:solidFill>
                <a:effectLst/>
                <a:latin typeface="Helvetica Neue"/>
              </a:rPr>
              <a:t>的数学模型与</a:t>
            </a:r>
            <a:r>
              <a:rPr lang="en-US" altLang="zh-CN" b="1" i="0" dirty="0">
                <a:solidFill>
                  <a:srgbClr val="000000"/>
                </a:solidFill>
                <a:effectLst/>
                <a:latin typeface="Helvetica Neue"/>
              </a:rPr>
              <a:t>OFDM</a:t>
            </a:r>
            <a:r>
              <a:rPr lang="zh-CN" altLang="en-US" b="1" i="0" dirty="0">
                <a:solidFill>
                  <a:srgbClr val="000000"/>
                </a:solidFill>
                <a:effectLst/>
                <a:latin typeface="Helvetica Neue"/>
              </a:rPr>
              <a:t>子载波特性</a:t>
            </a:r>
          </a:p>
        </p:txBody>
      </p:sp>
      <p:sp>
        <p:nvSpPr>
          <p:cNvPr id="29" name="文本框 28">
            <a:extLst>
              <a:ext uri="{FF2B5EF4-FFF2-40B4-BE49-F238E27FC236}">
                <a16:creationId xmlns:a16="http://schemas.microsoft.com/office/drawing/2014/main" id="{87CC2C81-4808-410C-B472-BF74CB22BADF}"/>
              </a:ext>
            </a:extLst>
          </p:cNvPr>
          <p:cNvSpPr txBox="1"/>
          <p:nvPr/>
        </p:nvSpPr>
        <p:spPr>
          <a:xfrm>
            <a:off x="6129866" y="4880388"/>
            <a:ext cx="6038694" cy="1477328"/>
          </a:xfrm>
          <a:prstGeom prst="rect">
            <a:avLst/>
          </a:prstGeom>
          <a:noFill/>
        </p:spPr>
        <p:txBody>
          <a:bodyPr wrap="square">
            <a:spAutoFit/>
          </a:bodyPr>
          <a:lstStyle/>
          <a:p>
            <a:r>
              <a:rPr lang="en-US" altLang="zh-CN" b="0" i="0" dirty="0">
                <a:solidFill>
                  <a:srgbClr val="333333"/>
                </a:solidFill>
                <a:effectLst/>
                <a:latin typeface="Helvetica Neue"/>
              </a:rPr>
              <a:t>      </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标准在物理层采用</a:t>
            </a:r>
            <a:r>
              <a:rPr lang="zh-CN" altLang="en-US" b="1" i="0" dirty="0">
                <a:solidFill>
                  <a:srgbClr val="FF0000"/>
                </a:solidFill>
                <a:effectLst/>
                <a:latin typeface="Helvetica Neue"/>
              </a:rPr>
              <a:t>正交频分复用（</a:t>
            </a:r>
            <a:r>
              <a:rPr lang="en-US" altLang="zh-CN" b="1" i="0" dirty="0">
                <a:solidFill>
                  <a:srgbClr val="FF0000"/>
                </a:solidFill>
                <a:effectLst/>
                <a:latin typeface="Helvetica Neue"/>
              </a:rPr>
              <a:t>OFDM</a:t>
            </a:r>
            <a:r>
              <a:rPr lang="zh-CN" altLang="en-US" b="1" i="0" dirty="0">
                <a:solidFill>
                  <a:srgbClr val="FF0000"/>
                </a:solidFill>
                <a:effectLst/>
                <a:latin typeface="Helvetica Neue"/>
              </a:rPr>
              <a:t>）</a:t>
            </a:r>
            <a:r>
              <a:rPr lang="zh-CN" altLang="en-US" b="0" i="0" dirty="0">
                <a:solidFill>
                  <a:srgbClr val="333333"/>
                </a:solidFill>
                <a:effectLst/>
                <a:latin typeface="Helvetica Neue"/>
              </a:rPr>
              <a:t>技术，将其频谱带宽（</a:t>
            </a:r>
            <a:r>
              <a:rPr lang="en-US" altLang="zh-CN" b="0" i="0" dirty="0">
                <a:solidFill>
                  <a:srgbClr val="333333"/>
                </a:solidFill>
                <a:effectLst/>
                <a:latin typeface="Helvetica Neue"/>
              </a:rPr>
              <a:t>20 MHz</a:t>
            </a:r>
            <a:r>
              <a:rPr lang="zh-CN" altLang="en-US" b="0" i="0" dirty="0">
                <a:solidFill>
                  <a:srgbClr val="333333"/>
                </a:solidFill>
                <a:effectLst/>
                <a:latin typeface="Helvetica Neue"/>
              </a:rPr>
              <a:t>）划分为</a:t>
            </a:r>
            <a:r>
              <a:rPr lang="en-US" altLang="zh-CN" b="1" i="0" dirty="0">
                <a:solidFill>
                  <a:srgbClr val="333333"/>
                </a:solidFill>
                <a:effectLst/>
                <a:latin typeface="Helvetica Neue"/>
              </a:rPr>
              <a:t>56</a:t>
            </a:r>
            <a:r>
              <a:rPr lang="zh-CN" altLang="en-US" b="1" i="0" dirty="0">
                <a:solidFill>
                  <a:srgbClr val="333333"/>
                </a:solidFill>
                <a:effectLst/>
                <a:latin typeface="Helvetica Neue"/>
              </a:rPr>
              <a:t>个子频带</a:t>
            </a:r>
            <a:r>
              <a:rPr lang="en-US" altLang="zh-CN" b="1" dirty="0">
                <a:solidFill>
                  <a:srgbClr val="333333"/>
                </a:solidFill>
                <a:latin typeface="Helvetica Neue"/>
              </a:rPr>
              <a:t> / </a:t>
            </a:r>
            <a:r>
              <a:rPr lang="zh-CN" altLang="en-US" b="1" i="0" dirty="0">
                <a:solidFill>
                  <a:srgbClr val="333333"/>
                </a:solidFill>
                <a:effectLst/>
                <a:latin typeface="Helvetica Neue"/>
              </a:rPr>
              <a:t>波</a:t>
            </a:r>
            <a:r>
              <a:rPr lang="zh-CN" altLang="en-US" b="0" i="0" dirty="0">
                <a:solidFill>
                  <a:srgbClr val="333333"/>
                </a:solidFill>
                <a:effectLst/>
                <a:latin typeface="Helvetica Neue"/>
              </a:rPr>
              <a:t>，并通过这些子载波并行传输数字比特。</a:t>
            </a:r>
            <a:endParaRPr lang="en-US" altLang="zh-CN" b="0" i="0" dirty="0">
              <a:solidFill>
                <a:srgbClr val="333333"/>
              </a:solidFill>
              <a:effectLst/>
              <a:latin typeface="Helvetica Neue"/>
            </a:endParaRPr>
          </a:p>
          <a:p>
            <a:r>
              <a:rPr lang="en-US" altLang="zh-CN" b="0" i="0" dirty="0">
                <a:solidFill>
                  <a:srgbClr val="333333"/>
                </a:solidFill>
                <a:effectLst/>
                <a:latin typeface="Helvetica Neue"/>
              </a:rPr>
              <a:t>      CSI</a:t>
            </a:r>
            <a:r>
              <a:rPr lang="zh-CN" altLang="en-US" b="0" i="0" dirty="0">
                <a:solidFill>
                  <a:srgbClr val="333333"/>
                </a:solidFill>
                <a:effectLst/>
                <a:latin typeface="Helvetica Neue"/>
              </a:rPr>
              <a:t>包含一组信道测量值，能够描述每个</a:t>
            </a:r>
            <a:r>
              <a:rPr lang="en-US" altLang="zh-CN" b="0" i="0" dirty="0">
                <a:solidFill>
                  <a:srgbClr val="333333"/>
                </a:solidFill>
                <a:effectLst/>
                <a:latin typeface="Helvetica Neue"/>
              </a:rPr>
              <a:t>OFDM</a:t>
            </a:r>
            <a:r>
              <a:rPr lang="zh-CN" altLang="en-US" b="0" i="0" dirty="0">
                <a:solidFill>
                  <a:srgbClr val="333333"/>
                </a:solidFill>
                <a:effectLst/>
                <a:latin typeface="Helvetica Neue"/>
              </a:rPr>
              <a:t>子载波的</a:t>
            </a:r>
            <a:r>
              <a:rPr lang="zh-CN" altLang="en-US" b="1" i="0" dirty="0">
                <a:solidFill>
                  <a:srgbClr val="FF0000"/>
                </a:solidFill>
                <a:effectLst/>
                <a:latin typeface="Helvetica Neue"/>
              </a:rPr>
              <a:t>幅度和相位</a:t>
            </a:r>
            <a:r>
              <a:rPr lang="zh-CN" altLang="en-US" b="0" i="0" dirty="0">
                <a:solidFill>
                  <a:srgbClr val="333333"/>
                </a:solidFill>
                <a:effectLst/>
                <a:latin typeface="Helvetica Neue"/>
              </a:rPr>
              <a:t>。单个子载波的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可表示为：</a:t>
            </a:r>
            <a:endParaRPr lang="en-US" altLang="zh-CN" b="0" i="0" dirty="0">
              <a:solidFill>
                <a:srgbClr val="333333"/>
              </a:solidFill>
              <a:effectLst/>
              <a:latin typeface="Helvetica Neue"/>
            </a:endParaRPr>
          </a:p>
        </p:txBody>
      </p:sp>
      <p:cxnSp>
        <p:nvCxnSpPr>
          <p:cNvPr id="3" name="直接连接符 2">
            <a:extLst>
              <a:ext uri="{FF2B5EF4-FFF2-40B4-BE49-F238E27FC236}">
                <a16:creationId xmlns:a16="http://schemas.microsoft.com/office/drawing/2014/main" id="{F15FFCBB-C5D7-4F05-A7F8-38C4395511CD}"/>
              </a:ext>
            </a:extLst>
          </p:cNvPr>
          <p:cNvCxnSpPr>
            <a:cxnSpLocks/>
          </p:cNvCxnSpPr>
          <p:nvPr/>
        </p:nvCxnSpPr>
        <p:spPr>
          <a:xfrm flipH="1" flipV="1">
            <a:off x="6050416" y="1143000"/>
            <a:ext cx="11720" cy="5562600"/>
          </a:xfrm>
          <a:prstGeom prst="line">
            <a:avLst/>
          </a:prstGeom>
          <a:ln w="38100">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3A3E3AE4-EB39-4BA2-AF19-8BC6C7B8BC41}"/>
              </a:ext>
            </a:extLst>
          </p:cNvPr>
          <p:cNvSpPr txBox="1"/>
          <p:nvPr/>
        </p:nvSpPr>
        <p:spPr>
          <a:xfrm>
            <a:off x="8413736" y="1495900"/>
            <a:ext cx="1512358" cy="461665"/>
          </a:xfrm>
          <a:prstGeom prst="rect">
            <a:avLst/>
          </a:prstGeom>
          <a:noFill/>
        </p:spPr>
        <p:txBody>
          <a:bodyPr wrap="square">
            <a:spAutoFit/>
          </a:bodyPr>
          <a:lstStyle/>
          <a:p>
            <a:r>
              <a:rPr lang="en-US" altLang="zh-CN" sz="2400" b="0" i="1" dirty="0">
                <a:solidFill>
                  <a:srgbClr val="333333"/>
                </a:solidFill>
                <a:effectLst/>
                <a:latin typeface="KaTeX_Math"/>
              </a:rPr>
              <a:t>Y</a:t>
            </a:r>
            <a:r>
              <a:rPr lang="en-US" altLang="zh-CN" sz="2400" b="0" dirty="0">
                <a:solidFill>
                  <a:srgbClr val="333333"/>
                </a:solidFill>
                <a:effectLst/>
                <a:latin typeface="KaTeX_Main"/>
              </a:rPr>
              <a:t>=</a:t>
            </a:r>
            <a:r>
              <a:rPr lang="en-US" altLang="zh-CN" sz="2400" b="0" i="1" dirty="0">
                <a:solidFill>
                  <a:srgbClr val="333333"/>
                </a:solidFill>
                <a:effectLst/>
                <a:latin typeface="KaTeX_Math"/>
              </a:rPr>
              <a:t>HX</a:t>
            </a:r>
            <a:r>
              <a:rPr lang="en-US" altLang="zh-CN" sz="2400" b="0" dirty="0">
                <a:solidFill>
                  <a:srgbClr val="333333"/>
                </a:solidFill>
                <a:effectLst/>
                <a:latin typeface="KaTeX_Main"/>
              </a:rPr>
              <a:t>+</a:t>
            </a:r>
            <a:r>
              <a:rPr lang="en-US" altLang="zh-CN" sz="2400" b="0" i="1" dirty="0">
                <a:solidFill>
                  <a:srgbClr val="333333"/>
                </a:solidFill>
                <a:effectLst/>
                <a:latin typeface="KaTeX_Math"/>
              </a:rPr>
              <a:t>N</a:t>
            </a:r>
            <a:endParaRPr lang="zh-CN" altLang="en-US" sz="2400" dirty="0"/>
          </a:p>
        </p:txBody>
      </p:sp>
      <p:sp>
        <p:nvSpPr>
          <p:cNvPr id="35" name="文本框 34">
            <a:extLst>
              <a:ext uri="{FF2B5EF4-FFF2-40B4-BE49-F238E27FC236}">
                <a16:creationId xmlns:a16="http://schemas.microsoft.com/office/drawing/2014/main" id="{1BD66C6F-A37A-4D03-A5E9-D4757C8B72BB}"/>
              </a:ext>
            </a:extLst>
          </p:cNvPr>
          <p:cNvSpPr txBox="1"/>
          <p:nvPr/>
        </p:nvSpPr>
        <p:spPr>
          <a:xfrm>
            <a:off x="6499194" y="1564783"/>
            <a:ext cx="1313394" cy="369332"/>
          </a:xfrm>
          <a:prstGeom prst="rect">
            <a:avLst/>
          </a:prstGeom>
          <a:noFill/>
        </p:spPr>
        <p:txBody>
          <a:bodyPr wrap="square">
            <a:spAutoFit/>
          </a:bodyPr>
          <a:lstStyle/>
          <a:p>
            <a:r>
              <a:rPr lang="zh-CN" altLang="en-US" b="0" i="0" dirty="0">
                <a:solidFill>
                  <a:srgbClr val="333333"/>
                </a:solidFill>
                <a:effectLst/>
                <a:latin typeface="Helvetica Neue"/>
              </a:rPr>
              <a:t>信道建模</a:t>
            </a:r>
            <a:r>
              <a:rPr lang="zh-CN" altLang="en-US" dirty="0">
                <a:solidFill>
                  <a:srgbClr val="333333"/>
                </a:solidFill>
                <a:latin typeface="Helvetica Neue"/>
              </a:rPr>
              <a:t>：</a:t>
            </a:r>
            <a:endParaRPr lang="zh-CN" altLang="en-US" dirty="0"/>
          </a:p>
        </p:txBody>
      </p:sp>
      <p:sp>
        <p:nvSpPr>
          <p:cNvPr id="37" name="文本框 36">
            <a:extLst>
              <a:ext uri="{FF2B5EF4-FFF2-40B4-BE49-F238E27FC236}">
                <a16:creationId xmlns:a16="http://schemas.microsoft.com/office/drawing/2014/main" id="{291456A7-BB1B-4497-B8FB-C826DC0CB309}"/>
              </a:ext>
            </a:extLst>
          </p:cNvPr>
          <p:cNvSpPr txBox="1"/>
          <p:nvPr/>
        </p:nvSpPr>
        <p:spPr>
          <a:xfrm>
            <a:off x="6499194" y="2104125"/>
            <a:ext cx="5476364" cy="523220"/>
          </a:xfrm>
          <a:prstGeom prst="rect">
            <a:avLst/>
          </a:prstGeom>
          <a:noFill/>
        </p:spPr>
        <p:txBody>
          <a:bodyPr wrap="square">
            <a:spAutoFit/>
          </a:bodyPr>
          <a:lstStyle/>
          <a:p>
            <a:r>
              <a:rPr lang="zh-CN" altLang="en-US" sz="1400" b="0" i="1" dirty="0">
                <a:solidFill>
                  <a:srgbClr val="333333"/>
                </a:solidFill>
                <a:effectLst/>
                <a:latin typeface="Helvetica Neue"/>
              </a:rPr>
              <a:t>其中</a:t>
            </a:r>
            <a:r>
              <a:rPr lang="en-US" altLang="zh-CN" sz="1400" b="0" i="1" dirty="0">
                <a:solidFill>
                  <a:srgbClr val="333333"/>
                </a:solidFill>
                <a:effectLst/>
                <a:latin typeface="KaTeX_Main"/>
              </a:rPr>
              <a:t>Y</a:t>
            </a:r>
            <a:r>
              <a:rPr lang="zh-CN" altLang="en-US" sz="1400" b="0" i="1" dirty="0">
                <a:solidFill>
                  <a:srgbClr val="333333"/>
                </a:solidFill>
                <a:effectLst/>
                <a:latin typeface="Helvetica Neue"/>
              </a:rPr>
              <a:t>和</a:t>
            </a:r>
            <a:r>
              <a:rPr lang="en-US" altLang="zh-CN" sz="1400" b="0" i="1" dirty="0">
                <a:solidFill>
                  <a:srgbClr val="333333"/>
                </a:solidFill>
                <a:effectLst/>
                <a:latin typeface="KaTeX_Main"/>
              </a:rPr>
              <a:t>X</a:t>
            </a:r>
            <a:r>
              <a:rPr lang="zh-CN" altLang="en-US" sz="1400" b="0" i="1" dirty="0">
                <a:solidFill>
                  <a:srgbClr val="333333"/>
                </a:solidFill>
                <a:effectLst/>
                <a:latin typeface="Helvetica Neue"/>
              </a:rPr>
              <a:t>分别为接收信号向量和发射信号向量，</a:t>
            </a:r>
            <a:r>
              <a:rPr lang="en-US" altLang="zh-CN" sz="1400" b="0" i="1" dirty="0">
                <a:solidFill>
                  <a:srgbClr val="333333"/>
                </a:solidFill>
                <a:effectLst/>
                <a:latin typeface="KaTeX_Main"/>
              </a:rPr>
              <a:t>N</a:t>
            </a:r>
            <a:r>
              <a:rPr lang="zh-CN" altLang="en-US" sz="1400" b="0" i="1" dirty="0">
                <a:solidFill>
                  <a:srgbClr val="333333"/>
                </a:solidFill>
                <a:effectLst/>
                <a:latin typeface="Helvetica Neue"/>
              </a:rPr>
              <a:t>表示信道噪声向量，</a:t>
            </a:r>
            <a:r>
              <a:rPr lang="en-US" altLang="zh-CN" sz="1400" b="0" i="1" dirty="0">
                <a:solidFill>
                  <a:srgbClr val="333333"/>
                </a:solidFill>
                <a:effectLst/>
                <a:latin typeface="KaTeX_Math"/>
              </a:rPr>
              <a:t>H</a:t>
            </a:r>
            <a:r>
              <a:rPr lang="zh-CN" altLang="en-US" sz="1400" b="0" i="1" dirty="0">
                <a:solidFill>
                  <a:srgbClr val="333333"/>
                </a:solidFill>
                <a:effectLst/>
                <a:latin typeface="Helvetica Neue"/>
              </a:rPr>
              <a:t>为信道矩阵（以</a:t>
            </a:r>
            <a:r>
              <a:rPr lang="en-US" altLang="zh-CN" sz="1400" b="0" i="1" dirty="0">
                <a:solidFill>
                  <a:srgbClr val="333333"/>
                </a:solidFill>
                <a:effectLst/>
                <a:latin typeface="Helvetica Neue"/>
              </a:rPr>
              <a:t>CSI</a:t>
            </a:r>
            <a:r>
              <a:rPr lang="zh-CN" altLang="en-US" sz="1400" b="0" i="1" dirty="0">
                <a:solidFill>
                  <a:srgbClr val="333333"/>
                </a:solidFill>
                <a:effectLst/>
                <a:latin typeface="Helvetica Neue"/>
              </a:rPr>
              <a:t>的形式呈现）</a:t>
            </a:r>
            <a:endParaRPr lang="zh-CN" altLang="en-US" sz="1400" i="1" dirty="0"/>
          </a:p>
        </p:txBody>
      </p:sp>
      <p:pic>
        <p:nvPicPr>
          <p:cNvPr id="39" name="图片 38">
            <a:extLst>
              <a:ext uri="{FF2B5EF4-FFF2-40B4-BE49-F238E27FC236}">
                <a16:creationId xmlns:a16="http://schemas.microsoft.com/office/drawing/2014/main" id="{CA064F97-1D48-4DEA-84E7-874543CA0F3D}"/>
              </a:ext>
            </a:extLst>
          </p:cNvPr>
          <p:cNvPicPr>
            <a:picLocks noChangeAspect="1"/>
          </p:cNvPicPr>
          <p:nvPr/>
        </p:nvPicPr>
        <p:blipFill>
          <a:blip r:embed="rId7"/>
          <a:stretch>
            <a:fillRect/>
          </a:stretch>
        </p:blipFill>
        <p:spPr>
          <a:xfrm>
            <a:off x="7015614" y="2744902"/>
            <a:ext cx="4400706" cy="2108095"/>
          </a:xfrm>
          <a:prstGeom prst="rect">
            <a:avLst/>
          </a:prstGeom>
        </p:spPr>
      </p:pic>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67EDFC05-F622-4A23-AC96-E8C3B0FEABE5}"/>
                  </a:ext>
                </a:extLst>
              </p:cNvPr>
              <p:cNvSpPr txBox="1"/>
              <p:nvPr/>
            </p:nvSpPr>
            <p:spPr>
              <a:xfrm>
                <a:off x="6909580" y="6428286"/>
                <a:ext cx="1094595" cy="288990"/>
              </a:xfrm>
              <a:prstGeom prst="rect">
                <a:avLst/>
              </a:prstGeom>
              <a:noFill/>
            </p:spPr>
            <p:txBody>
              <a:bodyPr wrap="none" lIns="0" tIns="0" rIns="0" bIns="0" rtlCol="0">
                <a:spAutoFit/>
              </a:bodyPr>
              <a:lstStyle/>
              <a:p>
                <a14:m>
                  <m:oMath xmlns:m="http://schemas.openxmlformats.org/officeDocument/2006/math">
                    <m:r>
                      <a:rPr lang="en-US" altLang="zh-CN" b="0" i="1" smtClean="0">
                        <a:latin typeface="Cambria Math" panose="02040503050406030204" pitchFamily="18" charset="0"/>
                      </a:rPr>
                      <m:t>h</m:t>
                    </m:r>
                    <m:r>
                      <a:rPr lang="en-US" altLang="zh-CN" i="1"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r>
                          <a:rPr lang="en-US" altLang="zh-CN" b="0" i="1" smtClean="0">
                            <a:latin typeface="Cambria Math" panose="02040503050406030204" pitchFamily="18" charset="0"/>
                          </a:rPr>
                          <m:t>h</m:t>
                        </m:r>
                      </m:e>
                    </m:d>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𝑗</m:t>
                        </m:r>
                        <m:r>
                          <a:rPr lang="zh-CN" altLang="en-US" b="0" i="1" smtClean="0">
                            <a:latin typeface="Cambria Math" panose="02040503050406030204" pitchFamily="18" charset="0"/>
                          </a:rPr>
                          <m:t>𝜗</m:t>
                        </m:r>
                      </m:sup>
                    </m:sSup>
                  </m:oMath>
                </a14:m>
                <a:r>
                  <a:rPr lang="en-US" altLang="zh-CN" i="1" dirty="0">
                    <a:solidFill>
                      <a:srgbClr val="333333"/>
                    </a:solidFill>
                    <a:latin typeface="KaTeX_Math"/>
                  </a:rPr>
                  <a:t> </a:t>
                </a:r>
                <a:endParaRPr lang="zh-CN" altLang="en-US" dirty="0"/>
              </a:p>
            </p:txBody>
          </p:sp>
        </mc:Choice>
        <mc:Fallback xmlns="">
          <p:sp>
            <p:nvSpPr>
              <p:cNvPr id="40" name="文本框 39">
                <a:extLst>
                  <a:ext uri="{FF2B5EF4-FFF2-40B4-BE49-F238E27FC236}">
                    <a16:creationId xmlns:a16="http://schemas.microsoft.com/office/drawing/2014/main" id="{67EDFC05-F622-4A23-AC96-E8C3B0FEABE5}"/>
                  </a:ext>
                </a:extLst>
              </p:cNvPr>
              <p:cNvSpPr txBox="1">
                <a:spLocks noRot="1" noChangeAspect="1" noMove="1" noResize="1" noEditPoints="1" noAdjustHandles="1" noChangeArrowheads="1" noChangeShapeType="1" noTextEdit="1"/>
              </p:cNvSpPr>
              <p:nvPr/>
            </p:nvSpPr>
            <p:spPr>
              <a:xfrm>
                <a:off x="6909580" y="6428286"/>
                <a:ext cx="1094595" cy="288990"/>
              </a:xfrm>
              <a:prstGeom prst="rect">
                <a:avLst/>
              </a:prstGeom>
              <a:blipFill>
                <a:blip r:embed="rId8"/>
                <a:stretch>
                  <a:fillRect l="-7778" t="-8511" b="-8511"/>
                </a:stretch>
              </a:blipFill>
            </p:spPr>
            <p:txBody>
              <a:bodyPr/>
              <a:lstStyle/>
              <a:p>
                <a:r>
                  <a:rPr lang="zh-CN" altLang="en-US">
                    <a:noFill/>
                  </a:rPr>
                  <a:t> </a:t>
                </a:r>
              </a:p>
            </p:txBody>
          </p:sp>
        </mc:Fallback>
      </mc:AlternateContent>
      <p:sp>
        <p:nvSpPr>
          <p:cNvPr id="42" name="文本框 41">
            <a:extLst>
              <a:ext uri="{FF2B5EF4-FFF2-40B4-BE49-F238E27FC236}">
                <a16:creationId xmlns:a16="http://schemas.microsoft.com/office/drawing/2014/main" id="{B9D0759A-0E03-49E9-A5BB-E1374F0AEE6A}"/>
              </a:ext>
            </a:extLst>
          </p:cNvPr>
          <p:cNvSpPr txBox="1"/>
          <p:nvPr/>
        </p:nvSpPr>
        <p:spPr>
          <a:xfrm>
            <a:off x="8181083" y="6372217"/>
            <a:ext cx="3316650" cy="369332"/>
          </a:xfrm>
          <a:prstGeom prst="rect">
            <a:avLst/>
          </a:prstGeom>
          <a:noFill/>
        </p:spPr>
        <p:txBody>
          <a:bodyPr wrap="square">
            <a:spAutoFit/>
          </a:bodyPr>
          <a:lstStyle/>
          <a:p>
            <a:r>
              <a:rPr lang="zh-CN" altLang="en-US" b="0" i="0" dirty="0">
                <a:solidFill>
                  <a:srgbClr val="333333"/>
                </a:solidFill>
                <a:effectLst/>
                <a:latin typeface="Helvetica Neue"/>
              </a:rPr>
              <a:t>其中</a:t>
            </a:r>
            <a:r>
              <a:rPr lang="en-US" altLang="zh-CN" b="0" dirty="0">
                <a:solidFill>
                  <a:srgbClr val="333333"/>
                </a:solidFill>
                <a:effectLst/>
                <a:latin typeface="KaTeX_Main"/>
              </a:rPr>
              <a:t>∣</a:t>
            </a:r>
            <a:r>
              <a:rPr lang="en-US" altLang="zh-CN" b="0" i="1" dirty="0">
                <a:solidFill>
                  <a:srgbClr val="333333"/>
                </a:solidFill>
                <a:effectLst/>
                <a:latin typeface="KaTeX_Math"/>
              </a:rPr>
              <a:t>h</a:t>
            </a:r>
            <a:r>
              <a:rPr lang="zh-CN" altLang="en-US" b="0" dirty="0">
                <a:solidFill>
                  <a:srgbClr val="333333"/>
                </a:solidFill>
                <a:effectLst/>
                <a:latin typeface="KaTeX_Main"/>
              </a:rPr>
              <a:t>∣</a:t>
            </a:r>
            <a:r>
              <a:rPr lang="zh-CN" altLang="en-US" b="0" i="0" dirty="0">
                <a:solidFill>
                  <a:srgbClr val="333333"/>
                </a:solidFill>
                <a:effectLst/>
                <a:latin typeface="Helvetica Neue"/>
              </a:rPr>
              <a:t>和</a:t>
            </a:r>
            <a:r>
              <a:rPr lang="en-US" altLang="zh-CN" b="0" i="1" dirty="0">
                <a:solidFill>
                  <a:srgbClr val="333333"/>
                </a:solidFill>
                <a:effectLst/>
                <a:latin typeface="KaTeX_Math"/>
              </a:rPr>
              <a:t>θ</a:t>
            </a:r>
            <a:r>
              <a:rPr lang="zh-CN" altLang="en-US" b="0" i="0" dirty="0">
                <a:solidFill>
                  <a:srgbClr val="333333"/>
                </a:solidFill>
                <a:effectLst/>
                <a:latin typeface="Helvetica Neue"/>
              </a:rPr>
              <a:t>分别为幅度和相位</a:t>
            </a:r>
            <a:endParaRPr lang="zh-CN" altLang="en-US" dirty="0"/>
          </a:p>
        </p:txBody>
      </p:sp>
    </p:spTree>
    <p:custDataLst>
      <p:tags r:id="rId1"/>
    </p:custDataLst>
    <p:extLst>
      <p:ext uri="{BB962C8B-B14F-4D97-AF65-F5344CB8AC3E}">
        <p14:creationId xmlns:p14="http://schemas.microsoft.com/office/powerpoint/2010/main" val="61143569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0B28935-36A0-4674-A2CD-9099504F5890}"/>
              </a:ext>
            </a:extLst>
          </p:cNvPr>
          <p:cNvSpPr txBox="1"/>
          <p:nvPr/>
        </p:nvSpPr>
        <p:spPr>
          <a:xfrm>
            <a:off x="177443" y="1201360"/>
            <a:ext cx="6333066" cy="369332"/>
          </a:xfrm>
          <a:prstGeom prst="rect">
            <a:avLst/>
          </a:prstGeom>
          <a:noFill/>
        </p:spPr>
        <p:txBody>
          <a:bodyPr wrap="square">
            <a:spAutoFit/>
          </a:bodyPr>
          <a:lstStyle/>
          <a:p>
            <a:pPr algn="l"/>
            <a:r>
              <a:rPr lang="zh-CN" altLang="en-US" b="1" i="0" dirty="0">
                <a:solidFill>
                  <a:srgbClr val="000000"/>
                </a:solidFill>
                <a:effectLst/>
                <a:latin typeface="Helvetica Neue"/>
              </a:rPr>
              <a:t>人体活动对</a:t>
            </a:r>
            <a:r>
              <a:rPr lang="en-US" altLang="zh-CN" b="1" i="0" dirty="0">
                <a:solidFill>
                  <a:srgbClr val="000000"/>
                </a:solidFill>
                <a:effectLst/>
                <a:latin typeface="Helvetica Neue"/>
              </a:rPr>
              <a:t>CSI</a:t>
            </a:r>
            <a:r>
              <a:rPr lang="zh-CN" altLang="en-US" b="1" i="0" dirty="0">
                <a:solidFill>
                  <a:srgbClr val="000000"/>
                </a:solidFill>
                <a:effectLst/>
                <a:latin typeface="Helvetica Neue"/>
              </a:rPr>
              <a:t>的影响</a:t>
            </a:r>
          </a:p>
        </p:txBody>
      </p:sp>
      <p:sp>
        <p:nvSpPr>
          <p:cNvPr id="8" name="文本框 7">
            <a:extLst>
              <a:ext uri="{FF2B5EF4-FFF2-40B4-BE49-F238E27FC236}">
                <a16:creationId xmlns:a16="http://schemas.microsoft.com/office/drawing/2014/main" id="{7D03FC45-E1FA-4403-9A44-C613348BCDB9}"/>
              </a:ext>
            </a:extLst>
          </p:cNvPr>
          <p:cNvSpPr txBox="1"/>
          <p:nvPr/>
        </p:nvSpPr>
        <p:spPr>
          <a:xfrm>
            <a:off x="177443" y="4316987"/>
            <a:ext cx="2078567" cy="923330"/>
          </a:xfrm>
          <a:prstGeom prst="rect">
            <a:avLst/>
          </a:prstGeom>
          <a:noFill/>
        </p:spPr>
        <p:txBody>
          <a:bodyPr wrap="square">
            <a:spAutoFit/>
          </a:bodyPr>
          <a:lstStyle/>
          <a:p>
            <a:r>
              <a:rPr lang="zh-CN" altLang="en-US" b="0" i="0" dirty="0">
                <a:solidFill>
                  <a:srgbClr val="333333"/>
                </a:solidFill>
                <a:effectLst/>
                <a:latin typeface="Helvetica Neue"/>
              </a:rPr>
              <a:t>如果环境中没有人员或人员无活动，</a:t>
            </a:r>
            <a:r>
              <a:rPr lang="zh-CN" altLang="en-US" b="1" i="0" dirty="0">
                <a:solidFill>
                  <a:srgbClr val="333333"/>
                </a:solidFill>
                <a:effectLst/>
                <a:latin typeface="Helvetica Neue"/>
              </a:rPr>
              <a:t>信道会相对稳定</a:t>
            </a:r>
            <a:r>
              <a:rPr lang="zh-CN" altLang="en-US" b="0" i="0" dirty="0">
                <a:solidFill>
                  <a:srgbClr val="333333"/>
                </a:solidFill>
                <a:effectLst/>
                <a:latin typeface="Helvetica Neue"/>
              </a:rPr>
              <a:t>。</a:t>
            </a:r>
            <a:endParaRPr lang="zh-CN" altLang="en-US" dirty="0"/>
          </a:p>
        </p:txBody>
      </p:sp>
      <p:sp>
        <p:nvSpPr>
          <p:cNvPr id="9" name="文本框 8">
            <a:extLst>
              <a:ext uri="{FF2B5EF4-FFF2-40B4-BE49-F238E27FC236}">
                <a16:creationId xmlns:a16="http://schemas.microsoft.com/office/drawing/2014/main" id="{DD7FE37C-2D30-4143-BCD5-ECC2C04E23C6}"/>
              </a:ext>
            </a:extLst>
          </p:cNvPr>
          <p:cNvSpPr txBox="1"/>
          <p:nvPr/>
        </p:nvSpPr>
        <p:spPr>
          <a:xfrm>
            <a:off x="6510509" y="1201360"/>
            <a:ext cx="6527800" cy="369332"/>
          </a:xfrm>
          <a:prstGeom prst="rect">
            <a:avLst/>
          </a:prstGeom>
          <a:noFill/>
        </p:spPr>
        <p:txBody>
          <a:bodyPr wrap="square">
            <a:spAutoFit/>
          </a:bodyPr>
          <a:lstStyle/>
          <a:p>
            <a:pPr algn="l"/>
            <a:r>
              <a:rPr lang="zh-CN" altLang="en-US" b="1" i="0" dirty="0">
                <a:solidFill>
                  <a:srgbClr val="000000"/>
                </a:solidFill>
                <a:effectLst/>
                <a:latin typeface="Helvetica Neue"/>
              </a:rPr>
              <a:t>目标跌倒活动类型</a:t>
            </a:r>
          </a:p>
        </p:txBody>
      </p:sp>
      <p:sp>
        <p:nvSpPr>
          <p:cNvPr id="10" name="文本框 9">
            <a:extLst>
              <a:ext uri="{FF2B5EF4-FFF2-40B4-BE49-F238E27FC236}">
                <a16:creationId xmlns:a16="http://schemas.microsoft.com/office/drawing/2014/main" id="{D71FD6C3-23CF-46F3-92CA-2248FFA066A0}"/>
              </a:ext>
            </a:extLst>
          </p:cNvPr>
          <p:cNvSpPr txBox="1"/>
          <p:nvPr/>
        </p:nvSpPr>
        <p:spPr>
          <a:xfrm>
            <a:off x="6253057" y="1938871"/>
            <a:ext cx="5303944" cy="646331"/>
          </a:xfrm>
          <a:prstGeom prst="rect">
            <a:avLst/>
          </a:prstGeom>
          <a:noFill/>
        </p:spPr>
        <p:txBody>
          <a:bodyPr wrap="square">
            <a:spAutoFit/>
          </a:bodyPr>
          <a:lstStyle/>
          <a:p>
            <a:r>
              <a:rPr lang="zh-CN" altLang="en-US" b="0" i="0" dirty="0">
                <a:solidFill>
                  <a:srgbClr val="333333"/>
                </a:solidFill>
                <a:effectLst/>
                <a:latin typeface="Helvetica Neue"/>
              </a:rPr>
              <a:t>老年人跌倒的方式多种多样，研究旨在检测与</a:t>
            </a:r>
            <a:r>
              <a:rPr lang="zh-CN" altLang="en-US" b="0" i="0" dirty="0">
                <a:solidFill>
                  <a:srgbClr val="FF0000"/>
                </a:solidFill>
                <a:effectLst/>
                <a:latin typeface="Helvetica Neue"/>
              </a:rPr>
              <a:t>两种过渡活动</a:t>
            </a:r>
            <a:r>
              <a:rPr lang="zh-CN" altLang="en-US" b="0" i="0" dirty="0">
                <a:solidFill>
                  <a:srgbClr val="333333"/>
                </a:solidFill>
                <a:effectLst/>
                <a:latin typeface="Helvetica Neue"/>
              </a:rPr>
              <a:t>相关的跌倒情况：</a:t>
            </a:r>
            <a:endParaRPr lang="zh-CN" altLang="en-US" b="1" dirty="0"/>
          </a:p>
        </p:txBody>
      </p:sp>
      <p:sp>
        <p:nvSpPr>
          <p:cNvPr id="11" name="标题 1">
            <a:extLst>
              <a:ext uri="{FF2B5EF4-FFF2-40B4-BE49-F238E27FC236}">
                <a16:creationId xmlns:a16="http://schemas.microsoft.com/office/drawing/2014/main" id="{B8B55E02-9F3E-4D41-9A05-7E73BD6334AD}"/>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初步分析</a:t>
            </a:r>
          </a:p>
        </p:txBody>
      </p:sp>
      <p:cxnSp>
        <p:nvCxnSpPr>
          <p:cNvPr id="12" name="直接连接符 11">
            <a:extLst>
              <a:ext uri="{FF2B5EF4-FFF2-40B4-BE49-F238E27FC236}">
                <a16:creationId xmlns:a16="http://schemas.microsoft.com/office/drawing/2014/main" id="{70A5B1D7-6A31-469B-87F8-BC3765EE3DF5}"/>
              </a:ext>
            </a:extLst>
          </p:cNvPr>
          <p:cNvCxnSpPr>
            <a:cxnSpLocks/>
          </p:cNvCxnSpPr>
          <p:nvPr/>
        </p:nvCxnSpPr>
        <p:spPr>
          <a:xfrm flipH="1" flipV="1">
            <a:off x="6050416" y="1143000"/>
            <a:ext cx="11720" cy="5562600"/>
          </a:xfrm>
          <a:prstGeom prst="line">
            <a:avLst/>
          </a:prstGeom>
          <a:ln w="38100">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6EC9E71E-E84F-4E2D-83AA-E11C3E6E8744}"/>
              </a:ext>
            </a:extLst>
          </p:cNvPr>
          <p:cNvPicPr>
            <a:picLocks noChangeAspect="1"/>
          </p:cNvPicPr>
          <p:nvPr/>
        </p:nvPicPr>
        <p:blipFill>
          <a:blip r:embed="rId6"/>
          <a:stretch>
            <a:fillRect/>
          </a:stretch>
        </p:blipFill>
        <p:spPr>
          <a:xfrm>
            <a:off x="793963" y="1776566"/>
            <a:ext cx="4205784" cy="2008845"/>
          </a:xfrm>
          <a:prstGeom prst="rect">
            <a:avLst/>
          </a:prstGeom>
        </p:spPr>
      </p:pic>
      <p:sp>
        <p:nvSpPr>
          <p:cNvPr id="15" name="文本框 14">
            <a:extLst>
              <a:ext uri="{FF2B5EF4-FFF2-40B4-BE49-F238E27FC236}">
                <a16:creationId xmlns:a16="http://schemas.microsoft.com/office/drawing/2014/main" id="{5B4ABA64-D4C6-4314-99D6-D3FA8FA11969}"/>
              </a:ext>
            </a:extLst>
          </p:cNvPr>
          <p:cNvSpPr txBox="1"/>
          <p:nvPr/>
        </p:nvSpPr>
        <p:spPr>
          <a:xfrm>
            <a:off x="6253057" y="2771103"/>
            <a:ext cx="5820410" cy="1200329"/>
          </a:xfrm>
          <a:prstGeom prst="rect">
            <a:avLst/>
          </a:prstGeom>
          <a:noFill/>
        </p:spPr>
        <p:txBody>
          <a:bodyPr wrap="square">
            <a:spAutoFit/>
          </a:bodyPr>
          <a:lstStyle/>
          <a:p>
            <a:r>
              <a:rPr lang="en-US" altLang="zh-CN" b="1" i="0" dirty="0">
                <a:solidFill>
                  <a:srgbClr val="333333"/>
                </a:solidFill>
                <a:effectLst/>
                <a:latin typeface="Helvetica Neue"/>
              </a:rPr>
              <a:t>1</a:t>
            </a:r>
            <a:r>
              <a:rPr lang="zh-CN" altLang="en-US" b="1" i="0" dirty="0">
                <a:solidFill>
                  <a:srgbClr val="333333"/>
                </a:solidFill>
                <a:effectLst/>
                <a:latin typeface="Helvetica Neue"/>
              </a:rPr>
              <a:t>）</a:t>
            </a:r>
            <a:r>
              <a:rPr lang="zh-CN" altLang="en-US" b="1" i="0" dirty="0">
                <a:solidFill>
                  <a:srgbClr val="FF0000"/>
                </a:solidFill>
                <a:effectLst/>
                <a:latin typeface="Helvetica Neue"/>
              </a:rPr>
              <a:t>站立跌倒</a:t>
            </a:r>
            <a:r>
              <a:rPr lang="zh-CN" altLang="en-US" b="0" i="0" dirty="0">
                <a:solidFill>
                  <a:srgbClr val="333333"/>
                </a:solidFill>
                <a:effectLst/>
                <a:latin typeface="Helvetica Neue"/>
              </a:rPr>
              <a:t>：指老年人从床或椅子上起身时发生的跌倒，例如老年人刚从椅子上站起来就摔倒；</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en-US" altLang="zh-CN" b="1" i="0" dirty="0">
                <a:solidFill>
                  <a:srgbClr val="333333"/>
                </a:solidFill>
                <a:effectLst/>
                <a:latin typeface="Helvetica Neue"/>
              </a:rPr>
              <a:t>2</a:t>
            </a:r>
            <a:r>
              <a:rPr lang="zh-CN" altLang="en-US" b="1" i="0" dirty="0">
                <a:solidFill>
                  <a:srgbClr val="333333"/>
                </a:solidFill>
                <a:effectLst/>
                <a:latin typeface="Helvetica Neue"/>
              </a:rPr>
              <a:t>）</a:t>
            </a:r>
            <a:r>
              <a:rPr lang="zh-CN" altLang="en-US" b="1" i="0" dirty="0">
                <a:solidFill>
                  <a:srgbClr val="FF0000"/>
                </a:solidFill>
                <a:effectLst/>
                <a:latin typeface="Helvetica Neue"/>
              </a:rPr>
              <a:t>行走跌倒</a:t>
            </a:r>
            <a:r>
              <a:rPr lang="zh-CN" altLang="en-US" b="1" i="0" dirty="0">
                <a:solidFill>
                  <a:srgbClr val="333333"/>
                </a:solidFill>
                <a:effectLst/>
                <a:latin typeface="Helvetica Neue"/>
              </a:rPr>
              <a:t>：</a:t>
            </a:r>
            <a:r>
              <a:rPr lang="zh-CN" altLang="en-US" b="0" i="0" dirty="0">
                <a:solidFill>
                  <a:srgbClr val="333333"/>
                </a:solidFill>
                <a:effectLst/>
                <a:latin typeface="Helvetica Neue"/>
              </a:rPr>
              <a:t>指老年人行走时发生的跌倒。</a:t>
            </a:r>
            <a:endParaRPr lang="zh-CN" altLang="en-US" dirty="0"/>
          </a:p>
        </p:txBody>
      </p:sp>
      <p:sp>
        <p:nvSpPr>
          <p:cNvPr id="18" name="文本框 17">
            <a:extLst>
              <a:ext uri="{FF2B5EF4-FFF2-40B4-BE49-F238E27FC236}">
                <a16:creationId xmlns:a16="http://schemas.microsoft.com/office/drawing/2014/main" id="{1EB19272-DB5A-446C-B2C7-6A2916905779}"/>
              </a:ext>
            </a:extLst>
          </p:cNvPr>
          <p:cNvSpPr txBox="1"/>
          <p:nvPr/>
        </p:nvSpPr>
        <p:spPr>
          <a:xfrm>
            <a:off x="6309015" y="4316987"/>
            <a:ext cx="5593214" cy="1754326"/>
          </a:xfrm>
          <a:prstGeom prst="rect">
            <a:avLst/>
          </a:prstGeom>
          <a:noFill/>
        </p:spPr>
        <p:txBody>
          <a:bodyPr wrap="square">
            <a:spAutoFit/>
          </a:bodyPr>
          <a:lstStyle/>
          <a:p>
            <a:r>
              <a:rPr lang="zh-CN" altLang="en-US" b="0" i="0" dirty="0">
                <a:solidFill>
                  <a:srgbClr val="333333"/>
                </a:solidFill>
                <a:effectLst/>
                <a:latin typeface="Helvetica Neue"/>
              </a:rPr>
              <a:t>根据</a:t>
            </a:r>
            <a:r>
              <a:rPr lang="en-US" altLang="zh-CN" b="0" i="0" dirty="0" err="1">
                <a:solidFill>
                  <a:srgbClr val="333333"/>
                </a:solidFill>
                <a:effectLst/>
                <a:latin typeface="Helvetica Neue"/>
              </a:rPr>
              <a:t>SignalQuest</a:t>
            </a:r>
            <a:r>
              <a:rPr lang="zh-CN" altLang="en-US" b="0" i="0" dirty="0">
                <a:solidFill>
                  <a:srgbClr val="333333"/>
                </a:solidFill>
                <a:effectLst/>
                <a:latin typeface="Helvetica Neue"/>
              </a:rPr>
              <a:t>关于老年人跌倒的研究</a:t>
            </a:r>
            <a:r>
              <a:rPr lang="en-US" altLang="zh-CN" b="0" i="0" dirty="0">
                <a:solidFill>
                  <a:srgbClr val="333333"/>
                </a:solidFill>
                <a:effectLst/>
                <a:latin typeface="Helvetica Neue"/>
              </a:rPr>
              <a:t>[38]</a:t>
            </a:r>
            <a:r>
              <a:rPr lang="zh-CN" altLang="en-US" b="0" i="0" dirty="0">
                <a:solidFill>
                  <a:srgbClr val="333333"/>
                </a:solidFill>
                <a:effectLst/>
                <a:latin typeface="Helvetica Neue"/>
              </a:rPr>
              <a:t>，</a:t>
            </a:r>
            <a:r>
              <a:rPr lang="en-US" altLang="zh-CN" b="0" i="0" dirty="0">
                <a:solidFill>
                  <a:srgbClr val="333333"/>
                </a:solidFill>
                <a:effectLst/>
                <a:latin typeface="Helvetica Neue"/>
              </a:rPr>
              <a:t>24%</a:t>
            </a:r>
            <a:r>
              <a:rPr lang="zh-CN" altLang="en-US" b="0" i="0" dirty="0">
                <a:solidFill>
                  <a:srgbClr val="333333"/>
                </a:solidFill>
                <a:effectLst/>
                <a:latin typeface="Helvetica Neue"/>
              </a:rPr>
              <a:t>的跌倒属于第一种情况，</a:t>
            </a:r>
            <a:r>
              <a:rPr lang="en-US" altLang="zh-CN" b="0" i="0" dirty="0">
                <a:solidFill>
                  <a:srgbClr val="333333"/>
                </a:solidFill>
                <a:effectLst/>
                <a:latin typeface="Helvetica Neue"/>
              </a:rPr>
              <a:t>39%</a:t>
            </a:r>
            <a:r>
              <a:rPr lang="zh-CN" altLang="en-US" b="0" i="0" dirty="0">
                <a:solidFill>
                  <a:srgbClr val="333333"/>
                </a:solidFill>
                <a:effectLst/>
                <a:latin typeface="Helvetica Neue"/>
              </a:rPr>
              <a:t>的跌倒属于第二种情况。</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zh-CN" altLang="en-US" i="0" dirty="0">
                <a:solidFill>
                  <a:srgbClr val="333333"/>
                </a:solidFill>
                <a:effectLst/>
                <a:latin typeface="Helvetica Neue"/>
              </a:rPr>
              <a:t>因此，本研究针对</a:t>
            </a:r>
            <a:r>
              <a:rPr lang="en-US" altLang="zh-CN" i="0" dirty="0">
                <a:solidFill>
                  <a:srgbClr val="333333"/>
                </a:solidFill>
                <a:effectLst/>
                <a:latin typeface="Helvetica Neue"/>
              </a:rPr>
              <a:t>63%</a:t>
            </a:r>
            <a:r>
              <a:rPr lang="zh-CN" altLang="en-US" i="0" dirty="0">
                <a:solidFill>
                  <a:srgbClr val="333333"/>
                </a:solidFill>
                <a:effectLst/>
                <a:latin typeface="Helvetica Neue"/>
              </a:rPr>
              <a:t>的跌倒场景，</a:t>
            </a:r>
            <a:r>
              <a:rPr lang="zh-CN" altLang="en-US" b="1" i="0" dirty="0">
                <a:solidFill>
                  <a:srgbClr val="333333"/>
                </a:solidFill>
                <a:effectLst/>
                <a:latin typeface="Helvetica Neue"/>
              </a:rPr>
              <a:t>其余跌倒类型（如下楼梯、户外活动时的跌倒）将在未来的工作中解决</a:t>
            </a:r>
            <a:r>
              <a:rPr lang="zh-CN" altLang="en-US" i="0" dirty="0">
                <a:solidFill>
                  <a:srgbClr val="333333"/>
                </a:solidFill>
                <a:effectLst/>
                <a:latin typeface="Helvetica Neue"/>
              </a:rPr>
              <a:t>。</a:t>
            </a:r>
            <a:endParaRPr lang="zh-CN" altLang="en-US" dirty="0"/>
          </a:p>
        </p:txBody>
      </p:sp>
      <p:sp>
        <p:nvSpPr>
          <p:cNvPr id="19" name="文本框 18">
            <a:extLst>
              <a:ext uri="{FF2B5EF4-FFF2-40B4-BE49-F238E27FC236}">
                <a16:creationId xmlns:a16="http://schemas.microsoft.com/office/drawing/2014/main" id="{935E8A90-B75C-475F-A807-7A17D8A3DFC3}"/>
              </a:ext>
            </a:extLst>
          </p:cNvPr>
          <p:cNvSpPr txBox="1"/>
          <p:nvPr/>
        </p:nvSpPr>
        <p:spPr>
          <a:xfrm>
            <a:off x="232106" y="5733046"/>
            <a:ext cx="5249690" cy="646331"/>
          </a:xfrm>
          <a:prstGeom prst="rect">
            <a:avLst/>
          </a:prstGeom>
          <a:noFill/>
        </p:spPr>
        <p:txBody>
          <a:bodyPr wrap="square">
            <a:spAutoFit/>
          </a:bodyPr>
          <a:lstStyle/>
          <a:p>
            <a:r>
              <a:rPr lang="zh-CN" altLang="en-US" b="0" i="0" dirty="0">
                <a:solidFill>
                  <a:srgbClr val="333333"/>
                </a:solidFill>
                <a:effectLst/>
                <a:latin typeface="Helvetica Neue"/>
              </a:rPr>
              <a:t>通过将不同的</a:t>
            </a:r>
            <a:r>
              <a:rPr lang="zh-CN" altLang="en-US" b="0" i="0" dirty="0">
                <a:solidFill>
                  <a:srgbClr val="FF0000"/>
                </a:solidFill>
                <a:effectLst/>
                <a:latin typeface="Helvetica Neue"/>
              </a:rPr>
              <a:t>信道失真模式</a:t>
            </a:r>
            <a:r>
              <a:rPr lang="zh-CN" altLang="en-US" b="0" i="0" dirty="0">
                <a:solidFill>
                  <a:srgbClr val="333333"/>
                </a:solidFill>
                <a:effectLst/>
                <a:latin typeface="Helvetica Neue"/>
              </a:rPr>
              <a:t>与对应的</a:t>
            </a:r>
            <a:r>
              <a:rPr lang="zh-CN" altLang="en-US" b="0" i="0" dirty="0">
                <a:solidFill>
                  <a:srgbClr val="FF0000"/>
                </a:solidFill>
                <a:effectLst/>
                <a:latin typeface="Helvetica Neue"/>
              </a:rPr>
              <a:t>人类活动</a:t>
            </a:r>
            <a:r>
              <a:rPr lang="zh-CN" altLang="en-US" b="0" i="0" dirty="0">
                <a:solidFill>
                  <a:srgbClr val="333333"/>
                </a:solidFill>
                <a:effectLst/>
                <a:latin typeface="Helvetica Neue"/>
              </a:rPr>
              <a:t>进行</a:t>
            </a:r>
            <a:r>
              <a:rPr lang="zh-CN" altLang="en-US" b="0" i="0" dirty="0">
                <a:solidFill>
                  <a:srgbClr val="FF0000"/>
                </a:solidFill>
                <a:effectLst/>
                <a:latin typeface="Helvetica Neue"/>
              </a:rPr>
              <a:t>映射</a:t>
            </a:r>
            <a:r>
              <a:rPr lang="zh-CN" altLang="en-US" b="0" i="0" dirty="0">
                <a:solidFill>
                  <a:srgbClr val="333333"/>
                </a:solidFill>
                <a:effectLst/>
                <a:latin typeface="Helvetica Neue"/>
              </a:rPr>
              <a:t>，即可实现人类活动的识别。</a:t>
            </a:r>
            <a:endParaRPr lang="zh-CN" altLang="en-US" dirty="0"/>
          </a:p>
        </p:txBody>
      </p:sp>
      <p:sp>
        <p:nvSpPr>
          <p:cNvPr id="24" name="文本框 23">
            <a:extLst>
              <a:ext uri="{FF2B5EF4-FFF2-40B4-BE49-F238E27FC236}">
                <a16:creationId xmlns:a16="http://schemas.microsoft.com/office/drawing/2014/main" id="{022581F6-DDC0-4E7F-8A52-FEE991FCA43B}"/>
              </a:ext>
            </a:extLst>
          </p:cNvPr>
          <p:cNvSpPr txBox="1"/>
          <p:nvPr/>
        </p:nvSpPr>
        <p:spPr>
          <a:xfrm>
            <a:off x="3083229" y="4340523"/>
            <a:ext cx="2679508" cy="1217383"/>
          </a:xfrm>
          <a:prstGeom prst="rect">
            <a:avLst/>
          </a:prstGeom>
          <a:noFill/>
        </p:spPr>
        <p:txBody>
          <a:bodyPr wrap="square">
            <a:spAutoFit/>
          </a:bodyPr>
          <a:lstStyle/>
          <a:p>
            <a:r>
              <a:rPr lang="zh-CN" altLang="en-US" b="0" i="0" dirty="0">
                <a:solidFill>
                  <a:srgbClr val="333333"/>
                </a:solidFill>
                <a:effectLst/>
                <a:latin typeface="Helvetica Neue"/>
              </a:rPr>
              <a:t>当人员</a:t>
            </a:r>
            <a:r>
              <a:rPr lang="zh-CN" altLang="en-US" b="1" i="0" dirty="0">
                <a:solidFill>
                  <a:srgbClr val="333333"/>
                </a:solidFill>
                <a:effectLst/>
                <a:latin typeface="Helvetica Neue"/>
              </a:rPr>
              <a:t>移动</a:t>
            </a:r>
            <a:r>
              <a:rPr lang="zh-CN" altLang="en-US" b="0" i="0" dirty="0">
                <a:solidFill>
                  <a:srgbClr val="333333"/>
                </a:solidFill>
                <a:effectLst/>
                <a:latin typeface="Helvetica Neue"/>
              </a:rPr>
              <a:t>时，散射信号会发生变化，导致明显的</a:t>
            </a:r>
            <a:r>
              <a:rPr lang="zh-CN" altLang="en-US" b="1" i="0" dirty="0">
                <a:solidFill>
                  <a:srgbClr val="FF0000"/>
                </a:solidFill>
                <a:effectLst/>
                <a:latin typeface="Helvetica Neue"/>
              </a:rPr>
              <a:t>信道失真</a:t>
            </a:r>
            <a:r>
              <a:rPr lang="zh-CN" altLang="en-US" b="0" i="0" dirty="0">
                <a:solidFill>
                  <a:srgbClr val="333333"/>
                </a:solidFill>
                <a:effectLst/>
                <a:latin typeface="Helvetica Neue"/>
              </a:rPr>
              <a:t>（包括</a:t>
            </a:r>
            <a:r>
              <a:rPr lang="zh-CN" altLang="en-US" b="1" i="0" dirty="0">
                <a:solidFill>
                  <a:srgbClr val="FF0000"/>
                </a:solidFill>
                <a:effectLst/>
                <a:latin typeface="Helvetica Neue"/>
              </a:rPr>
              <a:t>幅度衰减和相位偏移</a:t>
            </a:r>
            <a:r>
              <a:rPr lang="zh-CN" altLang="en-US" b="0" i="0" dirty="0">
                <a:solidFill>
                  <a:srgbClr val="333333"/>
                </a:solidFill>
                <a:effectLst/>
                <a:latin typeface="Helvetica Neue"/>
              </a:rPr>
              <a:t>）。</a:t>
            </a:r>
            <a:endParaRPr lang="zh-CN" altLang="en-US" dirty="0"/>
          </a:p>
        </p:txBody>
      </p:sp>
      <p:cxnSp>
        <p:nvCxnSpPr>
          <p:cNvPr id="14" name="直接箭头连接符 13">
            <a:extLst>
              <a:ext uri="{FF2B5EF4-FFF2-40B4-BE49-F238E27FC236}">
                <a16:creationId xmlns:a16="http://schemas.microsoft.com/office/drawing/2014/main" id="{0BAD22B1-EEF1-49C0-B864-2214A3530F6D}"/>
              </a:ext>
            </a:extLst>
          </p:cNvPr>
          <p:cNvCxnSpPr/>
          <p:nvPr/>
        </p:nvCxnSpPr>
        <p:spPr>
          <a:xfrm flipH="1">
            <a:off x="1126067" y="3149600"/>
            <a:ext cx="939800" cy="947744"/>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0A3B5B24-F21C-4F27-8772-A52EE87C709D}"/>
              </a:ext>
            </a:extLst>
          </p:cNvPr>
          <p:cNvSpPr txBox="1"/>
          <p:nvPr/>
        </p:nvSpPr>
        <p:spPr>
          <a:xfrm>
            <a:off x="3085625" y="4036009"/>
            <a:ext cx="1803757" cy="369332"/>
          </a:xfrm>
          <a:prstGeom prst="rect">
            <a:avLst/>
          </a:prstGeom>
          <a:noFill/>
        </p:spPr>
        <p:txBody>
          <a:bodyPr wrap="square">
            <a:spAutoFit/>
          </a:bodyPr>
          <a:lstStyle/>
          <a:p>
            <a:pPr algn="l"/>
            <a:r>
              <a:rPr lang="zh-CN" altLang="en-US" b="1" dirty="0">
                <a:solidFill>
                  <a:srgbClr val="000000"/>
                </a:solidFill>
                <a:latin typeface="Helvetica Neue"/>
              </a:rPr>
              <a:t>动态环境</a:t>
            </a:r>
            <a:endParaRPr lang="zh-CN" altLang="en-US" b="1" i="0" dirty="0">
              <a:solidFill>
                <a:srgbClr val="000000"/>
              </a:solidFill>
              <a:effectLst/>
              <a:latin typeface="Helvetica Neue"/>
            </a:endParaRPr>
          </a:p>
        </p:txBody>
      </p:sp>
      <p:sp>
        <p:nvSpPr>
          <p:cNvPr id="26" name="文本框 25">
            <a:extLst>
              <a:ext uri="{FF2B5EF4-FFF2-40B4-BE49-F238E27FC236}">
                <a16:creationId xmlns:a16="http://schemas.microsoft.com/office/drawing/2014/main" id="{371BA135-F53F-4139-BB70-E0FDCDCB897D}"/>
              </a:ext>
            </a:extLst>
          </p:cNvPr>
          <p:cNvSpPr txBox="1"/>
          <p:nvPr/>
        </p:nvSpPr>
        <p:spPr>
          <a:xfrm>
            <a:off x="189428" y="4036009"/>
            <a:ext cx="1803757" cy="369332"/>
          </a:xfrm>
          <a:prstGeom prst="rect">
            <a:avLst/>
          </a:prstGeom>
          <a:noFill/>
        </p:spPr>
        <p:txBody>
          <a:bodyPr wrap="square">
            <a:spAutoFit/>
          </a:bodyPr>
          <a:lstStyle/>
          <a:p>
            <a:pPr algn="l"/>
            <a:r>
              <a:rPr lang="zh-CN" altLang="en-US" b="1" dirty="0">
                <a:solidFill>
                  <a:srgbClr val="000000"/>
                </a:solidFill>
                <a:latin typeface="Helvetica Neue"/>
              </a:rPr>
              <a:t>静态环境</a:t>
            </a:r>
            <a:endParaRPr lang="zh-CN" altLang="en-US" b="1" i="0" dirty="0">
              <a:solidFill>
                <a:srgbClr val="000000"/>
              </a:solidFill>
              <a:effectLst/>
              <a:latin typeface="Helvetica Neue"/>
            </a:endParaRPr>
          </a:p>
        </p:txBody>
      </p:sp>
      <p:cxnSp>
        <p:nvCxnSpPr>
          <p:cNvPr id="27" name="直接箭头连接符 26">
            <a:extLst>
              <a:ext uri="{FF2B5EF4-FFF2-40B4-BE49-F238E27FC236}">
                <a16:creationId xmlns:a16="http://schemas.microsoft.com/office/drawing/2014/main" id="{CB394424-82F0-4EFD-B922-281A90B4E09E}"/>
              </a:ext>
            </a:extLst>
          </p:cNvPr>
          <p:cNvCxnSpPr>
            <a:cxnSpLocks/>
          </p:cNvCxnSpPr>
          <p:nvPr/>
        </p:nvCxnSpPr>
        <p:spPr>
          <a:xfrm>
            <a:off x="2948941" y="2705100"/>
            <a:ext cx="723899" cy="133090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18433672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80000"/>
            <a:lum/>
          </a:blip>
          <a:srcRect/>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480243" y="2882130"/>
            <a:ext cx="3230880" cy="1014730"/>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实验研究</a:t>
            </a:r>
          </a:p>
        </p:txBody>
      </p:sp>
      <p:grpSp>
        <p:nvGrpSpPr>
          <p:cNvPr id="12" name="组合 11"/>
          <p:cNvGrpSpPr/>
          <p:nvPr/>
        </p:nvGrpSpPr>
        <p:grpSpPr>
          <a:xfrm>
            <a:off x="5555048" y="1471295"/>
            <a:ext cx="1080000" cy="1080000"/>
            <a:chOff x="8049" y="2049"/>
            <a:chExt cx="1701" cy="1701"/>
          </a:xfrm>
        </p:grpSpPr>
        <p:sp>
          <p:nvSpPr>
            <p:cNvPr id="10" name="椭圆 9"/>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380" y="2440"/>
              <a:ext cx="1048" cy="921"/>
            </a:xfrm>
            <a:prstGeom prst="rect">
              <a:avLst/>
            </a:prstGeom>
            <a:noFill/>
          </p:spPr>
          <p:txBody>
            <a:bodyPr wrap="non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rPr>
                <a:t>03</a:t>
              </a:r>
            </a:p>
          </p:txBody>
        </p:sp>
      </p:grpSp>
    </p:spTree>
    <p:custDataLst>
      <p:tags r:id="rId1"/>
    </p:custData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115D8-2029-E052-A28F-BDDFC7C72E42}"/>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57108FF3-E90B-F7E4-B397-80104D8674B5}"/>
              </a:ext>
            </a:extLst>
          </p:cNvPr>
          <p:cNvSpPr txBox="1"/>
          <p:nvPr>
            <p:custDataLst>
              <p:tags r:id="rId2"/>
            </p:custDataLst>
          </p:nvPr>
        </p:nvSpPr>
        <p:spPr>
          <a:xfrm>
            <a:off x="4016429" y="0"/>
            <a:ext cx="415914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zh-CN" sz="3100" dirty="0">
                <a:solidFill>
                  <a:srgbClr val="694B71"/>
                </a:solidFill>
                <a:latin typeface="微软雅黑" panose="020B0503020204020204" pitchFamily="34" charset="-122"/>
                <a:ea typeface="微软雅黑" panose="020B0503020204020204" pitchFamily="34" charset="-122"/>
              </a:rPr>
              <a:t>不同活动的影响</a:t>
            </a:r>
          </a:p>
        </p:txBody>
      </p:sp>
      <p:pic>
        <p:nvPicPr>
          <p:cNvPr id="8" name="图片 7">
            <a:extLst>
              <a:ext uri="{FF2B5EF4-FFF2-40B4-BE49-F238E27FC236}">
                <a16:creationId xmlns:a16="http://schemas.microsoft.com/office/drawing/2014/main" id="{27243D68-8619-E032-7DE2-47304CC7AEBA}"/>
              </a:ext>
            </a:extLst>
          </p:cNvPr>
          <p:cNvPicPr>
            <a:picLocks noChangeAspect="1"/>
          </p:cNvPicPr>
          <p:nvPr/>
        </p:nvPicPr>
        <p:blipFill>
          <a:blip r:embed="rId5"/>
          <a:stretch>
            <a:fillRect/>
          </a:stretch>
        </p:blipFill>
        <p:spPr>
          <a:xfrm>
            <a:off x="597877" y="868764"/>
            <a:ext cx="10502124" cy="3691514"/>
          </a:xfrm>
          <a:prstGeom prst="rect">
            <a:avLst/>
          </a:prstGeom>
        </p:spPr>
      </p:pic>
      <p:sp>
        <p:nvSpPr>
          <p:cNvPr id="10" name="文本框 9">
            <a:extLst>
              <a:ext uri="{FF2B5EF4-FFF2-40B4-BE49-F238E27FC236}">
                <a16:creationId xmlns:a16="http://schemas.microsoft.com/office/drawing/2014/main" id="{40186B86-11FF-09A8-2F14-69DCF2FD89FC}"/>
              </a:ext>
            </a:extLst>
          </p:cNvPr>
          <p:cNvSpPr txBox="1"/>
          <p:nvPr/>
        </p:nvSpPr>
        <p:spPr>
          <a:xfrm>
            <a:off x="808891" y="4782711"/>
            <a:ext cx="4220309" cy="646331"/>
          </a:xfrm>
          <a:prstGeom prst="rect">
            <a:avLst/>
          </a:prstGeom>
          <a:noFill/>
        </p:spPr>
        <p:txBody>
          <a:bodyPr wrap="square">
            <a:spAutoFit/>
          </a:bodyPr>
          <a:lstStyle/>
          <a:p>
            <a:r>
              <a:rPr lang="zh-CN" altLang="en-US" sz="1800" b="1" dirty="0">
                <a:solidFill>
                  <a:srgbClr val="FF0000"/>
                </a:solidFill>
                <a:latin typeface="微软雅黑 Light" panose="020B0502040204020203" charset="-122"/>
                <a:ea typeface="微软雅黑 Light" panose="020B0502040204020203" charset="-122"/>
              </a:rPr>
              <a:t>非运动活动时，会引起</a:t>
            </a:r>
            <a:r>
              <a:rPr lang="en-US" altLang="zh-CN" sz="1800" b="1" dirty="0">
                <a:solidFill>
                  <a:srgbClr val="FF0000"/>
                </a:solidFill>
                <a:latin typeface="微软雅黑 Light" panose="020B0502040204020203" charset="-122"/>
                <a:ea typeface="微软雅黑 Light" panose="020B0502040204020203" charset="-122"/>
              </a:rPr>
              <a:t>CSI</a:t>
            </a:r>
            <a:r>
              <a:rPr lang="zh-CN" altLang="en-US" sz="1800" b="1" dirty="0">
                <a:solidFill>
                  <a:srgbClr val="FF0000"/>
                </a:solidFill>
                <a:latin typeface="微软雅黑 Light" panose="020B0502040204020203" charset="-122"/>
                <a:ea typeface="微软雅黑 Light" panose="020B0502040204020203" charset="-122"/>
              </a:rPr>
              <a:t>信号振幅的稳定变化模式</a:t>
            </a:r>
            <a:endParaRPr lang="zh-CN" altLang="en-US" b="1" dirty="0">
              <a:solidFill>
                <a:srgbClr val="FF0000"/>
              </a:solidFill>
            </a:endParaRPr>
          </a:p>
        </p:txBody>
      </p:sp>
      <p:sp>
        <p:nvSpPr>
          <p:cNvPr id="12" name="文本框 11">
            <a:extLst>
              <a:ext uri="{FF2B5EF4-FFF2-40B4-BE49-F238E27FC236}">
                <a16:creationId xmlns:a16="http://schemas.microsoft.com/office/drawing/2014/main" id="{D09D8748-782F-A998-E48A-0A92F1B28BA0}"/>
              </a:ext>
            </a:extLst>
          </p:cNvPr>
          <p:cNvSpPr txBox="1"/>
          <p:nvPr/>
        </p:nvSpPr>
        <p:spPr>
          <a:xfrm>
            <a:off x="808891" y="5651474"/>
            <a:ext cx="4220309" cy="646331"/>
          </a:xfrm>
          <a:prstGeom prst="rect">
            <a:avLst/>
          </a:prstGeom>
          <a:noFill/>
        </p:spPr>
        <p:txBody>
          <a:bodyPr wrap="square">
            <a:spAutoFit/>
          </a:bodyPr>
          <a:lstStyle/>
          <a:p>
            <a:r>
              <a:rPr lang="zh-CN" altLang="en-US" sz="1800" dirty="0">
                <a:solidFill>
                  <a:srgbClr val="775480"/>
                </a:solidFill>
                <a:latin typeface="微软雅黑 Light" panose="020B0502040204020203" charset="-122"/>
                <a:ea typeface="微软雅黑 Light" panose="020B0502040204020203" charset="-122"/>
              </a:rPr>
              <a:t>同时还发现，站立的信号变化幅度坐着和躺着</a:t>
            </a:r>
            <a:r>
              <a:rPr lang="zh-CN" altLang="en-US" sz="1800" dirty="0">
                <a:solidFill>
                  <a:srgbClr val="FF0000"/>
                </a:solidFill>
                <a:latin typeface="微软雅黑 Light" panose="020B0502040204020203" charset="-122"/>
                <a:ea typeface="微软雅黑 Light" panose="020B0502040204020203" charset="-122"/>
              </a:rPr>
              <a:t>更加显著</a:t>
            </a:r>
            <a:endParaRPr lang="en-US" altLang="zh-CN" sz="1800" dirty="0">
              <a:solidFill>
                <a:srgbClr val="FF0000"/>
              </a:solidFill>
              <a:latin typeface="微软雅黑 Light" panose="020B0502040204020203" charset="-122"/>
              <a:ea typeface="微软雅黑 Light" panose="020B0502040204020203" charset="-122"/>
            </a:endParaRPr>
          </a:p>
        </p:txBody>
      </p:sp>
      <p:sp>
        <p:nvSpPr>
          <p:cNvPr id="14" name="文本框 13">
            <a:extLst>
              <a:ext uri="{FF2B5EF4-FFF2-40B4-BE49-F238E27FC236}">
                <a16:creationId xmlns:a16="http://schemas.microsoft.com/office/drawing/2014/main" id="{D3F7DCAC-D1B4-ABB6-6A74-C6A8406751DB}"/>
              </a:ext>
            </a:extLst>
          </p:cNvPr>
          <p:cNvSpPr txBox="1"/>
          <p:nvPr/>
        </p:nvSpPr>
        <p:spPr>
          <a:xfrm>
            <a:off x="5578909" y="4560278"/>
            <a:ext cx="5193323" cy="1754326"/>
          </a:xfrm>
          <a:prstGeom prst="rect">
            <a:avLst/>
          </a:prstGeom>
          <a:noFill/>
        </p:spPr>
        <p:txBody>
          <a:bodyPr wrap="square">
            <a:spAutoFit/>
          </a:bodyPr>
          <a:lstStyle/>
          <a:p>
            <a:r>
              <a:rPr lang="zh-CN" altLang="zh-CN" sz="1800" dirty="0">
                <a:solidFill>
                  <a:srgbClr val="775480"/>
                </a:solidFill>
                <a:latin typeface="微软雅黑 Light" panose="020B0502040204020203" charset="-122"/>
                <a:ea typeface="微软雅黑 Light" panose="020B0502040204020203" charset="-122"/>
              </a:rPr>
              <a:t>行走、躺下、坐下和跌倒等运动活动表现出明显的信号变化</a:t>
            </a:r>
            <a:endParaRPr lang="en-US" altLang="zh-CN" sz="1800" dirty="0">
              <a:solidFill>
                <a:srgbClr val="775480"/>
              </a:solidFill>
              <a:latin typeface="微软雅黑 Light" panose="020B0502040204020203" charset="-122"/>
              <a:ea typeface="微软雅黑 Light" panose="020B0502040204020203" charset="-122"/>
            </a:endParaRPr>
          </a:p>
          <a:p>
            <a:endParaRPr lang="en-US" altLang="zh-CN" sz="1800" dirty="0">
              <a:solidFill>
                <a:srgbClr val="775480"/>
              </a:solidFill>
              <a:latin typeface="微软雅黑 Light" panose="020B0502040204020203" charset="-122"/>
              <a:ea typeface="微软雅黑 Light" panose="020B0502040204020203" charset="-122"/>
            </a:endParaRPr>
          </a:p>
          <a:p>
            <a:r>
              <a:rPr lang="zh-CN" altLang="zh-CN" dirty="0"/>
              <a:t>振幅的变化和振幅的轮廓</a:t>
            </a:r>
            <a:r>
              <a:rPr lang="zh-CN" altLang="zh-CN" b="1" dirty="0">
                <a:solidFill>
                  <a:srgbClr val="FF0000"/>
                </a:solidFill>
              </a:rPr>
              <a:t>没有显示出清晰的模式</a:t>
            </a:r>
            <a:r>
              <a:rPr lang="zh-CN" altLang="zh-CN" dirty="0"/>
              <a:t>，因此，</a:t>
            </a:r>
            <a:r>
              <a:rPr lang="zh-CN" altLang="zh-CN" b="1" dirty="0">
                <a:solidFill>
                  <a:srgbClr val="FF0000"/>
                </a:solidFill>
              </a:rPr>
              <a:t>振幅只能判断人体受试者是否在进行运动活动</a:t>
            </a:r>
            <a:r>
              <a:rPr lang="zh-CN" altLang="zh-CN" dirty="0">
                <a:solidFill>
                  <a:srgbClr val="FF0000"/>
                </a:solidFill>
              </a:rPr>
              <a:t>。 </a:t>
            </a:r>
            <a:endParaRPr lang="en-US" altLang="zh-CN" sz="1800" dirty="0">
              <a:solidFill>
                <a:srgbClr val="FF0000"/>
              </a:solidFill>
              <a:latin typeface="微软雅黑 Light" panose="020B0502040204020203" charset="-122"/>
              <a:ea typeface="微软雅黑 Light" panose="020B0502040204020203" charset="-122"/>
            </a:endParaRPr>
          </a:p>
        </p:txBody>
      </p:sp>
      <p:cxnSp>
        <p:nvCxnSpPr>
          <p:cNvPr id="15" name="直接连接符 14">
            <a:extLst>
              <a:ext uri="{FF2B5EF4-FFF2-40B4-BE49-F238E27FC236}">
                <a16:creationId xmlns:a16="http://schemas.microsoft.com/office/drawing/2014/main" id="{BBFBA9D1-B575-B0AA-389A-8342B073B579}"/>
              </a:ext>
            </a:extLst>
          </p:cNvPr>
          <p:cNvCxnSpPr>
            <a:cxnSpLocks/>
          </p:cNvCxnSpPr>
          <p:nvPr/>
        </p:nvCxnSpPr>
        <p:spPr>
          <a:xfrm flipV="1">
            <a:off x="5358751" y="4848443"/>
            <a:ext cx="0" cy="1606062"/>
          </a:xfrm>
          <a:prstGeom prst="line">
            <a:avLst/>
          </a:prstGeom>
          <a:ln w="38100">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1664133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43A08-B7C7-50F9-31C7-BCB102D5FD62}"/>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FC7ADF89-6193-C39A-308C-46FDCF7F458F}"/>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en-US" altLang="zh-CN" sz="3100" dirty="0">
                <a:solidFill>
                  <a:srgbClr val="694B71"/>
                </a:solidFill>
                <a:latin typeface="微软雅黑" panose="020B0503020204020204" pitchFamily="34" charset="-122"/>
                <a:ea typeface="微软雅黑" panose="020B0503020204020204" pitchFamily="34" charset="-122"/>
              </a:rPr>
              <a:t>LOS </a:t>
            </a:r>
            <a:r>
              <a:rPr lang="zh-CN" altLang="zh-CN" sz="3100" dirty="0">
                <a:solidFill>
                  <a:srgbClr val="694B71"/>
                </a:solidFill>
                <a:latin typeface="微软雅黑" panose="020B0503020204020204" pitchFamily="34" charset="-122"/>
                <a:ea typeface="微软雅黑" panose="020B0503020204020204" pitchFamily="34" charset="-122"/>
              </a:rPr>
              <a:t>和</a:t>
            </a:r>
            <a:r>
              <a:rPr lang="en-US" altLang="zh-CN" sz="3100" dirty="0">
                <a:solidFill>
                  <a:srgbClr val="694B71"/>
                </a:solidFill>
                <a:latin typeface="微软雅黑" panose="020B0503020204020204" pitchFamily="34" charset="-122"/>
                <a:ea typeface="微软雅黑" panose="020B0503020204020204" pitchFamily="34" charset="-122"/>
              </a:rPr>
              <a:t> NLOS </a:t>
            </a:r>
            <a:r>
              <a:rPr lang="zh-CN" altLang="zh-CN" sz="3100" dirty="0">
                <a:solidFill>
                  <a:srgbClr val="694B71"/>
                </a:solidFill>
                <a:latin typeface="微软雅黑" panose="020B0503020204020204" pitchFamily="34" charset="-122"/>
                <a:ea typeface="微软雅黑" panose="020B0503020204020204" pitchFamily="34" charset="-122"/>
              </a:rPr>
              <a:t>条件下的活动</a:t>
            </a:r>
          </a:p>
        </p:txBody>
      </p:sp>
      <p:sp>
        <p:nvSpPr>
          <p:cNvPr id="20" name="矩形 19">
            <a:extLst>
              <a:ext uri="{FF2B5EF4-FFF2-40B4-BE49-F238E27FC236}">
                <a16:creationId xmlns:a16="http://schemas.microsoft.com/office/drawing/2014/main" id="{7B6EBEE9-B06F-5116-BAE4-245264B811B4}"/>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0B5D303-B092-250A-9F1B-B959B9BDF3B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D773948D-74F8-8896-E457-A18A76A474CA}"/>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D64B5D8F-5F41-F0ED-2B82-8BA9DF230695}"/>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2803B248-AE32-EF12-60F7-189BA05EC017}"/>
              </a:ext>
            </a:extLst>
          </p:cNvPr>
          <p:cNvSpPr txBox="1"/>
          <p:nvPr/>
        </p:nvSpPr>
        <p:spPr>
          <a:xfrm>
            <a:off x="234462" y="5064434"/>
            <a:ext cx="5494358" cy="3817620"/>
          </a:xfrm>
          <a:prstGeom prst="rect">
            <a:avLst/>
          </a:prstGeom>
          <a:noFill/>
        </p:spPr>
        <p:txBody>
          <a:bodyPr wrap="square" rtlCol="0">
            <a:noAutofit/>
          </a:bodyPr>
          <a:lstStyle/>
          <a:p>
            <a:r>
              <a:rPr lang="zh-CN" altLang="zh-CN" dirty="0">
                <a:solidFill>
                  <a:srgbClr val="FF0000"/>
                </a:solidFill>
                <a:latin typeface="微软雅黑 Light" panose="020B0502040204020203" charset="-122"/>
                <a:ea typeface="微软雅黑 Light" panose="020B0502040204020203" charset="-122"/>
              </a:rPr>
              <a:t>当受试者</a:t>
            </a:r>
            <a:r>
              <a:rPr lang="zh-CN" altLang="en-US" dirty="0">
                <a:solidFill>
                  <a:srgbClr val="FF0000"/>
                </a:solidFill>
                <a:latin typeface="微软雅黑 Light" panose="020B0502040204020203" charset="-122"/>
                <a:ea typeface="微软雅黑 Light" panose="020B0502040204020203" charset="-122"/>
              </a:rPr>
              <a:t>处于</a:t>
            </a:r>
            <a:r>
              <a:rPr lang="en-US" altLang="zh-CN" dirty="0">
                <a:solidFill>
                  <a:srgbClr val="FF0000"/>
                </a:solidFill>
                <a:latin typeface="微软雅黑 Light" panose="020B0502040204020203" charset="-122"/>
                <a:ea typeface="微软雅黑 Light" panose="020B0502040204020203" charset="-122"/>
              </a:rPr>
              <a:t>NLOS </a:t>
            </a:r>
            <a:r>
              <a:rPr lang="zh-CN" altLang="zh-CN" dirty="0">
                <a:solidFill>
                  <a:srgbClr val="FF0000"/>
                </a:solidFill>
                <a:latin typeface="微软雅黑 Light" panose="020B0502040204020203" charset="-122"/>
                <a:ea typeface="微软雅黑 Light" panose="020B0502040204020203" charset="-122"/>
              </a:rPr>
              <a:t>时，站立的振幅变化会减小</a:t>
            </a:r>
            <a:r>
              <a:rPr lang="zh-CN" altLang="zh-CN" dirty="0">
                <a:solidFill>
                  <a:srgbClr val="775480"/>
                </a:solidFill>
                <a:latin typeface="微软雅黑 Light" panose="020B0502040204020203" charset="-122"/>
                <a:ea typeface="微软雅黑 Light" panose="020B0502040204020203" charset="-122"/>
              </a:rPr>
              <a:t>。因此，怀疑振幅是否能够可靠地区分站立姿势和其他非运动活动。</a:t>
            </a:r>
            <a:endParaRPr lang="en-US" altLang="zh-CN" dirty="0">
              <a:solidFill>
                <a:srgbClr val="775480"/>
              </a:solidFill>
              <a:latin typeface="微软雅黑 Light" panose="020B0502040204020203" charset="-122"/>
              <a:ea typeface="微软雅黑 Light" panose="020B0502040204020203" charset="-122"/>
            </a:endParaRPr>
          </a:p>
          <a:p>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3" name="图片 2">
            <a:extLst>
              <a:ext uri="{FF2B5EF4-FFF2-40B4-BE49-F238E27FC236}">
                <a16:creationId xmlns:a16="http://schemas.microsoft.com/office/drawing/2014/main" id="{29D5AC46-1256-21A6-97C4-52A56B570547}"/>
              </a:ext>
            </a:extLst>
          </p:cNvPr>
          <p:cNvPicPr>
            <a:picLocks noChangeAspect="1"/>
          </p:cNvPicPr>
          <p:nvPr/>
        </p:nvPicPr>
        <p:blipFill>
          <a:blip r:embed="rId5"/>
          <a:stretch>
            <a:fillRect/>
          </a:stretch>
        </p:blipFill>
        <p:spPr>
          <a:xfrm>
            <a:off x="234462" y="1111525"/>
            <a:ext cx="5728820" cy="3815071"/>
          </a:xfrm>
          <a:prstGeom prst="rect">
            <a:avLst/>
          </a:prstGeom>
          <a:noFill/>
          <a:ln>
            <a:noFill/>
          </a:ln>
        </p:spPr>
      </p:pic>
      <p:sp>
        <p:nvSpPr>
          <p:cNvPr id="4" name="文本框 3">
            <a:extLst>
              <a:ext uri="{FF2B5EF4-FFF2-40B4-BE49-F238E27FC236}">
                <a16:creationId xmlns:a16="http://schemas.microsoft.com/office/drawing/2014/main" id="{69EA1F5E-BECE-3A0D-E277-5C97BAE8C23D}"/>
              </a:ext>
            </a:extLst>
          </p:cNvPr>
          <p:cNvSpPr txBox="1"/>
          <p:nvPr/>
        </p:nvSpPr>
        <p:spPr>
          <a:xfrm>
            <a:off x="6413943" y="1239478"/>
            <a:ext cx="5238795" cy="3416320"/>
          </a:xfrm>
          <a:prstGeom prst="rect">
            <a:avLst/>
          </a:prstGeom>
          <a:noFill/>
        </p:spPr>
        <p:txBody>
          <a:bodyPr wrap="square">
            <a:spAutoFit/>
          </a:bodyPr>
          <a:lstStyle/>
          <a:p>
            <a:r>
              <a:rPr lang="zh-CN" altLang="en-US" sz="1800" b="1" dirty="0">
                <a:solidFill>
                  <a:srgbClr val="775480"/>
                </a:solidFill>
                <a:latin typeface="微软雅黑 Light" panose="020B0502040204020203" charset="-122"/>
                <a:ea typeface="微软雅黑 Light" panose="020B0502040204020203" charset="-122"/>
              </a:rPr>
              <a:t>振幅</a:t>
            </a:r>
            <a:r>
              <a:rPr lang="zh-CN" altLang="zh-CN" sz="1800" b="1" dirty="0">
                <a:solidFill>
                  <a:srgbClr val="775480"/>
                </a:solidFill>
                <a:latin typeface="微软雅黑 Light" panose="020B0502040204020203" charset="-122"/>
                <a:ea typeface="微软雅黑 Light" panose="020B0502040204020203" charset="-122"/>
              </a:rPr>
              <a:t>多远</a:t>
            </a:r>
            <a:r>
              <a:rPr lang="zh-CN" altLang="en-US" sz="1800" b="1" dirty="0">
                <a:solidFill>
                  <a:srgbClr val="775480"/>
                </a:solidFill>
                <a:latin typeface="微软雅黑 Light" panose="020B0502040204020203" charset="-122"/>
                <a:ea typeface="微软雅黑 Light" panose="020B0502040204020203" charset="-122"/>
              </a:rPr>
              <a:t>无法判断</a:t>
            </a:r>
            <a:r>
              <a:rPr lang="zh-CN" altLang="zh-CN" sz="1800" b="1" dirty="0">
                <a:solidFill>
                  <a:srgbClr val="775480"/>
                </a:solidFill>
                <a:latin typeface="微软雅黑 Light" panose="020B0502040204020203" charset="-122"/>
                <a:ea typeface="微软雅黑 Light" panose="020B0502040204020203" charset="-122"/>
              </a:rPr>
              <a:t>站立和其他</a:t>
            </a:r>
            <a:r>
              <a:rPr lang="zh-CN" altLang="en-US" sz="1800" b="1" dirty="0">
                <a:solidFill>
                  <a:srgbClr val="775480"/>
                </a:solidFill>
                <a:latin typeface="微软雅黑 Light" panose="020B0502040204020203" charset="-122"/>
                <a:ea typeface="微软雅黑 Light" panose="020B0502040204020203" charset="-122"/>
              </a:rPr>
              <a:t>静止</a:t>
            </a:r>
            <a:r>
              <a:rPr lang="zh-CN" altLang="zh-CN" sz="1800" b="1" dirty="0">
                <a:solidFill>
                  <a:srgbClr val="775480"/>
                </a:solidFill>
                <a:latin typeface="微软雅黑 Light" panose="020B0502040204020203" charset="-122"/>
                <a:ea typeface="微软雅黑 Light" panose="020B0502040204020203" charset="-122"/>
              </a:rPr>
              <a:t>活动？ </a:t>
            </a:r>
          </a:p>
          <a:p>
            <a:r>
              <a:rPr lang="en-US" altLang="zh-CN" sz="1800" b="1" dirty="0">
                <a:solidFill>
                  <a:srgbClr val="775480"/>
                </a:solidFill>
                <a:latin typeface="微软雅黑 Light" panose="020B0502040204020203" charset="-122"/>
                <a:ea typeface="微软雅黑 Light" panose="020B0502040204020203" charset="-122"/>
              </a:rPr>
              <a:t>LOS 2 m</a:t>
            </a:r>
            <a:r>
              <a:rPr lang="zh-CN" altLang="zh-CN" sz="1800" b="1" dirty="0">
                <a:solidFill>
                  <a:srgbClr val="775480"/>
                </a:solidFill>
                <a:latin typeface="微软雅黑 Light" panose="020B0502040204020203" charset="-122"/>
                <a:ea typeface="微软雅黑 Light" panose="020B0502040204020203" charset="-122"/>
              </a:rPr>
              <a:t>，</a:t>
            </a:r>
            <a:endParaRPr lang="en-US" altLang="zh-CN" b="1" dirty="0">
              <a:solidFill>
                <a:srgbClr val="775480"/>
              </a:solidFill>
              <a:latin typeface="微软雅黑 Light" panose="020B0502040204020203" charset="-122"/>
              <a:ea typeface="微软雅黑 Light" panose="020B0502040204020203" charset="-122"/>
            </a:endParaRPr>
          </a:p>
          <a:p>
            <a:r>
              <a:rPr lang="en-US" altLang="zh-CN" b="1" dirty="0">
                <a:solidFill>
                  <a:srgbClr val="775480"/>
                </a:solidFill>
                <a:latin typeface="微软雅黑 Light" panose="020B0502040204020203" charset="-122"/>
                <a:ea typeface="微软雅黑 Light" panose="020B0502040204020203" charset="-122"/>
              </a:rPr>
              <a:t>NLOS </a:t>
            </a:r>
            <a:r>
              <a:rPr lang="zh-CN" altLang="zh-CN" sz="1800" b="1" dirty="0">
                <a:solidFill>
                  <a:srgbClr val="775480"/>
                </a:solidFill>
                <a:latin typeface="微软雅黑 Light" panose="020B0502040204020203" charset="-122"/>
                <a:ea typeface="微软雅黑 Light" panose="020B0502040204020203" charset="-122"/>
              </a:rPr>
              <a:t>不到</a:t>
            </a:r>
            <a:r>
              <a:rPr lang="en-US" altLang="zh-CN" sz="1800" b="1" dirty="0">
                <a:solidFill>
                  <a:srgbClr val="775480"/>
                </a:solidFill>
                <a:latin typeface="微软雅黑 Light" panose="020B0502040204020203" charset="-122"/>
                <a:ea typeface="微软雅黑 Light" panose="020B0502040204020203" charset="-122"/>
              </a:rPr>
              <a:t> 1.5 </a:t>
            </a:r>
            <a:r>
              <a:rPr lang="zh-CN" altLang="zh-CN" sz="1800" b="1" dirty="0">
                <a:solidFill>
                  <a:srgbClr val="775480"/>
                </a:solidFill>
                <a:latin typeface="微软雅黑 Light" panose="020B0502040204020203" charset="-122"/>
                <a:ea typeface="微软雅黑 Light" panose="020B0502040204020203" charset="-122"/>
              </a:rPr>
              <a:t>米</a:t>
            </a:r>
            <a:r>
              <a:rPr lang="zh-CN" altLang="zh-CN" sz="1800" dirty="0">
                <a:solidFill>
                  <a:srgbClr val="775480"/>
                </a:solidFill>
                <a:latin typeface="微软雅黑 Light" panose="020B0502040204020203" charset="-122"/>
                <a:ea typeface="微软雅黑 Light" panose="020B0502040204020203" charset="-122"/>
              </a:rPr>
              <a:t>。 </a:t>
            </a:r>
            <a:endParaRPr lang="en-US" altLang="zh-CN" sz="1800" dirty="0">
              <a:solidFill>
                <a:srgbClr val="775480"/>
              </a:solidFill>
              <a:latin typeface="微软雅黑 Light" panose="020B0502040204020203" charset="-122"/>
              <a:ea typeface="微软雅黑 Light" panose="020B0502040204020203" charset="-122"/>
            </a:endParaRPr>
          </a:p>
          <a:p>
            <a:r>
              <a:rPr lang="zh-CN" altLang="zh-CN" sz="1800" dirty="0">
                <a:solidFill>
                  <a:srgbClr val="775480"/>
                </a:solidFill>
                <a:latin typeface="微软雅黑 Light" panose="020B0502040204020203" charset="-122"/>
                <a:ea typeface="微软雅黑 Light" panose="020B0502040204020203" charset="-122"/>
              </a:rPr>
              <a:t>不足以满足普通房间的需要</a:t>
            </a:r>
            <a:r>
              <a:rPr lang="zh-CN" altLang="en-US" dirty="0">
                <a:solidFill>
                  <a:srgbClr val="775480"/>
                </a:solidFill>
                <a:latin typeface="微软雅黑 Light" panose="020B0502040204020203" charset="-122"/>
                <a:ea typeface="微软雅黑 Light" panose="020B0502040204020203" charset="-122"/>
              </a:rPr>
              <a:t>，</a:t>
            </a:r>
            <a:r>
              <a:rPr lang="zh-CN" altLang="zh-CN" sz="1800" b="1" dirty="0">
                <a:solidFill>
                  <a:srgbClr val="FF0000"/>
                </a:solidFill>
                <a:latin typeface="微软雅黑 Light" panose="020B0502040204020203" charset="-122"/>
                <a:ea typeface="微软雅黑 Light" panose="020B0502040204020203" charset="-122"/>
              </a:rPr>
              <a:t>区分站立姿势与其他静止活动</a:t>
            </a:r>
            <a:r>
              <a:rPr lang="zh-CN" altLang="en-US" sz="1800" b="1" dirty="0">
                <a:solidFill>
                  <a:srgbClr val="FF0000"/>
                </a:solidFill>
                <a:latin typeface="微软雅黑 Light" panose="020B0502040204020203" charset="-122"/>
                <a:ea typeface="微软雅黑 Light" panose="020B0502040204020203" charset="-122"/>
              </a:rPr>
              <a:t>（坐着，躺着）</a:t>
            </a:r>
            <a:r>
              <a:rPr lang="zh-CN" altLang="zh-CN" sz="1800" dirty="0">
                <a:solidFill>
                  <a:srgbClr val="775480"/>
                </a:solidFill>
                <a:latin typeface="微软雅黑 Light" panose="020B0502040204020203" charset="-122"/>
                <a:ea typeface="微软雅黑 Light" panose="020B0502040204020203" charset="-122"/>
              </a:rPr>
              <a:t>的能力</a:t>
            </a:r>
            <a:r>
              <a:rPr lang="zh-CN" altLang="zh-CN" sz="1800" b="1" dirty="0">
                <a:solidFill>
                  <a:srgbClr val="FF0000"/>
                </a:solidFill>
                <a:latin typeface="微软雅黑 Light" panose="020B0502040204020203" charset="-122"/>
                <a:ea typeface="微软雅黑 Light" panose="020B0502040204020203" charset="-122"/>
              </a:rPr>
              <a:t>相当有限且不可靠</a:t>
            </a:r>
            <a:r>
              <a:rPr lang="zh-CN" altLang="zh-CN" sz="1800" b="1" dirty="0">
                <a:solidFill>
                  <a:srgbClr val="775480"/>
                </a:solidFill>
                <a:latin typeface="微软雅黑 Light" panose="020B0502040204020203" charset="-122"/>
                <a:ea typeface="微软雅黑 Light" panose="020B0502040204020203" charset="-122"/>
              </a:rPr>
              <a:t>。</a:t>
            </a:r>
            <a:endParaRPr lang="en-US" altLang="zh-CN" sz="1800" b="1" dirty="0">
              <a:solidFill>
                <a:srgbClr val="775480"/>
              </a:solidFill>
              <a:latin typeface="微软雅黑 Light" panose="020B0502040204020203" charset="-122"/>
              <a:ea typeface="微软雅黑 Light" panose="020B0502040204020203" charset="-122"/>
            </a:endParaRPr>
          </a:p>
          <a:p>
            <a:endParaRPr lang="en-US" altLang="zh-CN" b="1" dirty="0">
              <a:solidFill>
                <a:srgbClr val="775480"/>
              </a:solidFill>
              <a:latin typeface="微软雅黑 Light" panose="020B0502040204020203" charset="-122"/>
              <a:ea typeface="微软雅黑 Light" panose="020B0502040204020203" charset="-122"/>
            </a:endParaRPr>
          </a:p>
          <a:p>
            <a:r>
              <a:rPr lang="zh-CN" altLang="en-US" b="1" dirty="0">
                <a:solidFill>
                  <a:srgbClr val="775480"/>
                </a:solidFill>
                <a:latin typeface="微软雅黑 Light" panose="020B0502040204020203" charset="-122"/>
                <a:ea typeface="微软雅黑 Light" panose="020B0502040204020203" charset="-122"/>
              </a:rPr>
              <a:t>振幅</a:t>
            </a:r>
            <a:r>
              <a:rPr lang="zh-CN" altLang="zh-CN" b="1" dirty="0">
                <a:solidFill>
                  <a:srgbClr val="775480"/>
                </a:solidFill>
                <a:latin typeface="微软雅黑 Light" panose="020B0502040204020203" charset="-122"/>
                <a:ea typeface="微软雅黑 Light" panose="020B0502040204020203" charset="-122"/>
              </a:rPr>
              <a:t>多远</a:t>
            </a:r>
            <a:r>
              <a:rPr lang="zh-CN" altLang="en-US" b="1" dirty="0">
                <a:solidFill>
                  <a:srgbClr val="775480"/>
                </a:solidFill>
                <a:latin typeface="微软雅黑 Light" panose="020B0502040204020203" charset="-122"/>
                <a:ea typeface="微软雅黑 Light" panose="020B0502040204020203" charset="-122"/>
              </a:rPr>
              <a:t>无法判断运动活动</a:t>
            </a:r>
            <a:r>
              <a:rPr lang="zh-CN" altLang="zh-CN" b="1" dirty="0">
                <a:solidFill>
                  <a:srgbClr val="775480"/>
                </a:solidFill>
                <a:latin typeface="微软雅黑 Light" panose="020B0502040204020203" charset="-122"/>
                <a:ea typeface="微软雅黑 Light" panose="020B0502040204020203" charset="-122"/>
              </a:rPr>
              <a:t>和其他</a:t>
            </a:r>
            <a:r>
              <a:rPr lang="zh-CN" altLang="en-US" b="1" dirty="0">
                <a:solidFill>
                  <a:srgbClr val="775480"/>
                </a:solidFill>
                <a:latin typeface="微软雅黑 Light" panose="020B0502040204020203" charset="-122"/>
                <a:ea typeface="微软雅黑 Light" panose="020B0502040204020203" charset="-122"/>
              </a:rPr>
              <a:t>静止</a:t>
            </a:r>
            <a:r>
              <a:rPr lang="zh-CN" altLang="zh-CN" b="1" dirty="0">
                <a:solidFill>
                  <a:srgbClr val="775480"/>
                </a:solidFill>
                <a:latin typeface="微软雅黑 Light" panose="020B0502040204020203" charset="-122"/>
                <a:ea typeface="微软雅黑 Light" panose="020B0502040204020203" charset="-122"/>
              </a:rPr>
              <a:t>活动？ </a:t>
            </a:r>
          </a:p>
          <a:p>
            <a:r>
              <a:rPr lang="en-US" altLang="zh-CN" b="1" dirty="0">
                <a:solidFill>
                  <a:srgbClr val="775480"/>
                </a:solidFill>
                <a:latin typeface="微软雅黑 Light" panose="020B0502040204020203" charset="-122"/>
                <a:ea typeface="微软雅黑 Light" panose="020B0502040204020203" charset="-122"/>
              </a:rPr>
              <a:t>LOS 5 m</a:t>
            </a:r>
            <a:r>
              <a:rPr lang="zh-CN" altLang="zh-CN" b="1" dirty="0">
                <a:solidFill>
                  <a:srgbClr val="775480"/>
                </a:solidFill>
                <a:latin typeface="微软雅黑 Light" panose="020B0502040204020203" charset="-122"/>
                <a:ea typeface="微软雅黑 Light" panose="020B0502040204020203" charset="-122"/>
              </a:rPr>
              <a:t>，</a:t>
            </a:r>
            <a:endParaRPr lang="en-US" altLang="zh-CN" b="1" dirty="0">
              <a:solidFill>
                <a:srgbClr val="775480"/>
              </a:solidFill>
              <a:latin typeface="微软雅黑 Light" panose="020B0502040204020203" charset="-122"/>
              <a:ea typeface="微软雅黑 Light" panose="020B0502040204020203" charset="-122"/>
            </a:endParaRPr>
          </a:p>
          <a:p>
            <a:r>
              <a:rPr lang="en-US" altLang="zh-CN" b="1" dirty="0">
                <a:solidFill>
                  <a:srgbClr val="775480"/>
                </a:solidFill>
                <a:latin typeface="微软雅黑 Light" panose="020B0502040204020203" charset="-122"/>
                <a:ea typeface="微软雅黑 Light" panose="020B0502040204020203" charset="-122"/>
              </a:rPr>
              <a:t>NLOS </a:t>
            </a:r>
            <a:r>
              <a:rPr lang="zh-CN" altLang="zh-CN" b="1" dirty="0">
                <a:solidFill>
                  <a:srgbClr val="775480"/>
                </a:solidFill>
                <a:latin typeface="微软雅黑 Light" panose="020B0502040204020203" charset="-122"/>
                <a:ea typeface="微软雅黑 Light" panose="020B0502040204020203" charset="-122"/>
              </a:rPr>
              <a:t>不到</a:t>
            </a:r>
            <a:r>
              <a:rPr lang="en-US" altLang="zh-CN" b="1" dirty="0">
                <a:solidFill>
                  <a:srgbClr val="775480"/>
                </a:solidFill>
                <a:latin typeface="微软雅黑 Light" panose="020B0502040204020203" charset="-122"/>
                <a:ea typeface="微软雅黑 Light" panose="020B0502040204020203" charset="-122"/>
              </a:rPr>
              <a:t> 4 </a:t>
            </a:r>
            <a:r>
              <a:rPr lang="zh-CN" altLang="zh-CN" b="1" dirty="0">
                <a:solidFill>
                  <a:srgbClr val="775480"/>
                </a:solidFill>
                <a:latin typeface="微软雅黑 Light" panose="020B0502040204020203" charset="-122"/>
                <a:ea typeface="微软雅黑 Light" panose="020B0502040204020203" charset="-122"/>
              </a:rPr>
              <a:t>米</a:t>
            </a:r>
            <a:r>
              <a:rPr lang="zh-CN" altLang="zh-CN" dirty="0">
                <a:solidFill>
                  <a:srgbClr val="775480"/>
                </a:solidFill>
                <a:latin typeface="微软雅黑 Light" panose="020B0502040204020203" charset="-122"/>
                <a:ea typeface="微软雅黑 Light" panose="020B0502040204020203" charset="-122"/>
              </a:rPr>
              <a:t>。 </a:t>
            </a:r>
            <a:endParaRPr lang="en-US" altLang="zh-CN" dirty="0">
              <a:solidFill>
                <a:srgbClr val="775480"/>
              </a:solidFill>
              <a:latin typeface="微软雅黑 Light" panose="020B0502040204020203" charset="-122"/>
              <a:ea typeface="微软雅黑 Light" panose="020B0502040204020203" charset="-122"/>
            </a:endParaRPr>
          </a:p>
          <a:p>
            <a:r>
              <a:rPr lang="en-US" altLang="zh-CN" b="1" dirty="0">
                <a:solidFill>
                  <a:srgbClr val="775480"/>
                </a:solidFill>
                <a:latin typeface="微软雅黑 Light" panose="020B0502040204020203" charset="-122"/>
                <a:ea typeface="微软雅黑 Light" panose="020B0502040204020203" charset="-122"/>
              </a:rPr>
              <a:t>4 </a:t>
            </a:r>
            <a:r>
              <a:rPr lang="zh-CN" altLang="zh-CN" b="1" dirty="0">
                <a:solidFill>
                  <a:srgbClr val="775480"/>
                </a:solidFill>
                <a:latin typeface="微软雅黑 Light" panose="020B0502040204020203" charset="-122"/>
                <a:ea typeface="微软雅黑 Light" panose="020B0502040204020203" charset="-122"/>
              </a:rPr>
              <a:t>米的情况下，足够大</a:t>
            </a:r>
            <a:r>
              <a:rPr lang="zh-CN" altLang="en-US" b="1" dirty="0">
                <a:solidFill>
                  <a:srgbClr val="775480"/>
                </a:solidFill>
                <a:latin typeface="微软雅黑 Light" panose="020B0502040204020203" charset="-122"/>
                <a:ea typeface="微软雅黑 Light" panose="020B0502040204020203" charset="-122"/>
              </a:rPr>
              <a:t>，</a:t>
            </a:r>
            <a:r>
              <a:rPr lang="zh-CN" altLang="zh-CN" b="1" dirty="0">
                <a:solidFill>
                  <a:srgbClr val="775480"/>
                </a:solidFill>
                <a:latin typeface="微软雅黑 Light" panose="020B0502040204020203" charset="-122"/>
                <a:ea typeface="微软雅黑 Light" panose="020B0502040204020203" charset="-122"/>
              </a:rPr>
              <a:t>因此，</a:t>
            </a:r>
            <a:r>
              <a:rPr lang="en-US" altLang="zh-CN" b="1" dirty="0">
                <a:solidFill>
                  <a:srgbClr val="FF0000"/>
                </a:solidFill>
                <a:latin typeface="微软雅黑 Light" panose="020B0502040204020203" charset="-122"/>
                <a:ea typeface="微软雅黑 Light" panose="020B0502040204020203" charset="-122"/>
              </a:rPr>
              <a:t>CSI </a:t>
            </a:r>
            <a:r>
              <a:rPr lang="zh-CN" altLang="zh-CN" b="1" dirty="0">
                <a:solidFill>
                  <a:srgbClr val="FF0000"/>
                </a:solidFill>
                <a:latin typeface="微软雅黑 Light" panose="020B0502040204020203" charset="-122"/>
                <a:ea typeface="微软雅黑 Light" panose="020B0502040204020203" charset="-122"/>
              </a:rPr>
              <a:t>幅度区分运动活动与</a:t>
            </a:r>
            <a:r>
              <a:rPr lang="zh-CN" altLang="en-US" b="1" dirty="0">
                <a:solidFill>
                  <a:srgbClr val="FF0000"/>
                </a:solidFill>
                <a:latin typeface="微软雅黑 Light" panose="020B0502040204020203" charset="-122"/>
                <a:ea typeface="微软雅黑 Light" panose="020B0502040204020203" charset="-122"/>
              </a:rPr>
              <a:t>非静止</a:t>
            </a:r>
            <a:r>
              <a:rPr lang="zh-CN" altLang="zh-CN" b="1" dirty="0">
                <a:solidFill>
                  <a:srgbClr val="FF0000"/>
                </a:solidFill>
                <a:latin typeface="微软雅黑 Light" panose="020B0502040204020203" charset="-122"/>
                <a:ea typeface="微软雅黑 Light" panose="020B0502040204020203" charset="-122"/>
              </a:rPr>
              <a:t>活动的能力在普通客厅环境下是足够且可靠的</a:t>
            </a:r>
            <a:endParaRPr lang="zh-CN" altLang="zh-CN" sz="1800" b="1" dirty="0">
              <a:solidFill>
                <a:srgbClr val="FF0000"/>
              </a:solidFill>
              <a:latin typeface="微软雅黑 Light" panose="020B0502040204020203" charset="-122"/>
              <a:ea typeface="微软雅黑 Light" panose="020B0502040204020203" charset="-122"/>
            </a:endParaRPr>
          </a:p>
        </p:txBody>
      </p:sp>
      <p:sp>
        <p:nvSpPr>
          <p:cNvPr id="6" name="文本框 5">
            <a:extLst>
              <a:ext uri="{FF2B5EF4-FFF2-40B4-BE49-F238E27FC236}">
                <a16:creationId xmlns:a16="http://schemas.microsoft.com/office/drawing/2014/main" id="{0C3BF47E-68CE-2094-4B14-3B857043E2CC}"/>
              </a:ext>
            </a:extLst>
          </p:cNvPr>
          <p:cNvSpPr txBox="1"/>
          <p:nvPr/>
        </p:nvSpPr>
        <p:spPr>
          <a:xfrm>
            <a:off x="3588385" y="1014074"/>
            <a:ext cx="6096000" cy="369332"/>
          </a:xfrm>
          <a:prstGeom prst="rect">
            <a:avLst/>
          </a:prstGeom>
          <a:noFill/>
        </p:spPr>
        <p:txBody>
          <a:bodyPr wrap="square">
            <a:spAutoFit/>
          </a:bodyPr>
          <a:lstStyle/>
          <a:p>
            <a:r>
              <a:rPr lang="en-US" altLang="zh-CN" b="1" dirty="0">
                <a:solidFill>
                  <a:srgbClr val="FF0000"/>
                </a:solidFill>
                <a:latin typeface="微软雅黑 Light" panose="020B0502040204020203" charset="-122"/>
                <a:ea typeface="微软雅黑 Light" panose="020B0502040204020203" charset="-122"/>
              </a:rPr>
              <a:t>NLOS </a:t>
            </a:r>
            <a:endParaRPr lang="zh-CN" altLang="en-US" b="1" dirty="0"/>
          </a:p>
        </p:txBody>
      </p:sp>
      <p:sp>
        <p:nvSpPr>
          <p:cNvPr id="7" name="文本框 6">
            <a:extLst>
              <a:ext uri="{FF2B5EF4-FFF2-40B4-BE49-F238E27FC236}">
                <a16:creationId xmlns:a16="http://schemas.microsoft.com/office/drawing/2014/main" id="{F88293BC-6399-F2A7-09E2-3DBABD4C6A8F}"/>
              </a:ext>
            </a:extLst>
          </p:cNvPr>
          <p:cNvSpPr txBox="1"/>
          <p:nvPr/>
        </p:nvSpPr>
        <p:spPr>
          <a:xfrm>
            <a:off x="669339" y="1035148"/>
            <a:ext cx="6096000" cy="369332"/>
          </a:xfrm>
          <a:prstGeom prst="rect">
            <a:avLst/>
          </a:prstGeom>
          <a:noFill/>
        </p:spPr>
        <p:txBody>
          <a:bodyPr wrap="square">
            <a:spAutoFit/>
          </a:bodyPr>
          <a:lstStyle/>
          <a:p>
            <a:r>
              <a:rPr lang="en-US" altLang="zh-CN" b="1" dirty="0">
                <a:solidFill>
                  <a:srgbClr val="FF0000"/>
                </a:solidFill>
                <a:latin typeface="微软雅黑 Light" panose="020B0502040204020203" charset="-122"/>
                <a:ea typeface="微软雅黑 Light" panose="020B0502040204020203" charset="-122"/>
              </a:rPr>
              <a:t>LOS </a:t>
            </a:r>
            <a:endParaRPr lang="zh-CN" altLang="en-US" b="1" dirty="0"/>
          </a:p>
        </p:txBody>
      </p:sp>
      <p:cxnSp>
        <p:nvCxnSpPr>
          <p:cNvPr id="8" name="直接连接符 7">
            <a:extLst>
              <a:ext uri="{FF2B5EF4-FFF2-40B4-BE49-F238E27FC236}">
                <a16:creationId xmlns:a16="http://schemas.microsoft.com/office/drawing/2014/main" id="{33328484-AA37-94F4-9E55-58FA582F8174}"/>
              </a:ext>
            </a:extLst>
          </p:cNvPr>
          <p:cNvCxnSpPr>
            <a:cxnSpLocks/>
          </p:cNvCxnSpPr>
          <p:nvPr/>
        </p:nvCxnSpPr>
        <p:spPr>
          <a:xfrm>
            <a:off x="6248015" y="1129416"/>
            <a:ext cx="0" cy="5423626"/>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08736841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4817F-322F-589C-C0A2-4835443E9412}"/>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E4FDE695-2C25-FCF1-3AD8-4EE7BC7AFF7B}"/>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不同设置下的跌倒</a:t>
            </a:r>
          </a:p>
        </p:txBody>
      </p:sp>
      <p:sp>
        <p:nvSpPr>
          <p:cNvPr id="20" name="矩形 19">
            <a:extLst>
              <a:ext uri="{FF2B5EF4-FFF2-40B4-BE49-F238E27FC236}">
                <a16:creationId xmlns:a16="http://schemas.microsoft.com/office/drawing/2014/main" id="{E37FF4AE-4D60-15D6-1965-00064AD0F8A8}"/>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EADC7586-31AC-2740-E724-82A72EFEEC9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0DA5A152-2969-C348-5F3A-859991B633C1}"/>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7644BB77-FF5F-B031-011C-A894D5019788}"/>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3556CECF-6D8C-68EB-2BFE-23F502FE763B}"/>
              </a:ext>
            </a:extLst>
          </p:cNvPr>
          <p:cNvSpPr txBox="1"/>
          <p:nvPr/>
        </p:nvSpPr>
        <p:spPr>
          <a:xfrm>
            <a:off x="170608" y="4502028"/>
            <a:ext cx="6159854" cy="3817620"/>
          </a:xfrm>
          <a:prstGeom prst="rect">
            <a:avLst/>
          </a:prstGeom>
          <a:noFill/>
        </p:spPr>
        <p:txBody>
          <a:bodyPr wrap="square" rtlCol="0">
            <a:noAutofit/>
          </a:bodyPr>
          <a:lstStyle/>
          <a:p>
            <a:r>
              <a:rPr lang="en-US" altLang="zh-CN" b="1" dirty="0">
                <a:solidFill>
                  <a:srgbClr val="775480"/>
                </a:solidFill>
                <a:latin typeface="微软雅黑 Light" panose="020B0502040204020203" charset="-122"/>
                <a:ea typeface="微软雅黑 Light" panose="020B0502040204020203" charset="-122"/>
              </a:rPr>
              <a:t> LOS </a:t>
            </a:r>
            <a:r>
              <a:rPr lang="zh-CN" altLang="zh-CN" b="1" dirty="0">
                <a:solidFill>
                  <a:srgbClr val="775480"/>
                </a:solidFill>
                <a:latin typeface="微软雅黑 Light" panose="020B0502040204020203" charset="-122"/>
                <a:ea typeface="微软雅黑 Light" panose="020B0502040204020203" charset="-122"/>
              </a:rPr>
              <a:t>和</a:t>
            </a:r>
            <a:r>
              <a:rPr lang="en-US" altLang="zh-CN" b="1" dirty="0">
                <a:solidFill>
                  <a:srgbClr val="775480"/>
                </a:solidFill>
                <a:latin typeface="微软雅黑 Light" panose="020B0502040204020203" charset="-122"/>
                <a:ea typeface="微软雅黑 Light" panose="020B0502040204020203" charset="-122"/>
              </a:rPr>
              <a:t> NLOS</a:t>
            </a:r>
            <a:r>
              <a:rPr lang="zh-CN" altLang="zh-CN" b="1" dirty="0">
                <a:solidFill>
                  <a:srgbClr val="775480"/>
                </a:solidFill>
                <a:latin typeface="微软雅黑 Light" panose="020B0502040204020203" charset="-122"/>
                <a:ea typeface="微软雅黑 Light" panose="020B0502040204020203" charset="-122"/>
              </a:rPr>
              <a:t>下发生的站立跌倒和行走跌倒</a:t>
            </a:r>
            <a:endParaRPr lang="en-US" altLang="zh-CN" b="1" dirty="0">
              <a:solidFill>
                <a:srgbClr val="775480"/>
              </a:solidFill>
              <a:latin typeface="微软雅黑 Light" panose="020B0502040204020203" charset="-122"/>
              <a:ea typeface="微软雅黑 Light" panose="020B0502040204020203" charset="-122"/>
            </a:endParaRPr>
          </a:p>
          <a:p>
            <a:endParaRPr lang="en-US" altLang="zh-CN" b="1" dirty="0">
              <a:solidFill>
                <a:srgbClr val="775480"/>
              </a:solidFill>
              <a:latin typeface="微软雅黑 Light" panose="020B0502040204020203" charset="-122"/>
              <a:ea typeface="微软雅黑 Light" panose="020B0502040204020203" charset="-122"/>
            </a:endParaRPr>
          </a:p>
          <a:p>
            <a:r>
              <a:rPr lang="zh-CN" altLang="zh-CN" b="1" dirty="0"/>
              <a:t>振幅变化幅度都显示出从波动状态到稳定状态的明显转变</a:t>
            </a:r>
            <a:r>
              <a:rPr lang="zh-CN" altLang="en-US" b="1" dirty="0"/>
              <a:t>，可以</a:t>
            </a:r>
            <a:r>
              <a:rPr lang="zh-CN" altLang="zh-CN" b="1" dirty="0"/>
              <a:t>将过渡用作实时活动分割的功能</a:t>
            </a:r>
            <a:r>
              <a:rPr lang="zh-CN" altLang="en-US" b="1" dirty="0"/>
              <a:t>，但</a:t>
            </a:r>
            <a:r>
              <a:rPr lang="zh-CN" altLang="zh-CN" dirty="0"/>
              <a:t>由于许多人类日常活动最终都可能导致某种不动的活动，</a:t>
            </a:r>
            <a:r>
              <a:rPr lang="zh-CN" altLang="en-US" dirty="0"/>
              <a:t>通过这种过渡</a:t>
            </a:r>
            <a:r>
              <a:rPr lang="zh-CN" altLang="zh-CN" dirty="0"/>
              <a:t>挑出真正的跌倒是非常困难的</a:t>
            </a:r>
            <a:endParaRPr lang="en-US" altLang="zh-CN" b="1" dirty="0">
              <a:solidFill>
                <a:srgbClr val="775480"/>
              </a:solidFill>
              <a:latin typeface="微软雅黑 Light" panose="020B0502040204020203" charset="-122"/>
              <a:ea typeface="微软雅黑 Light" panose="020B0502040204020203" charset="-122"/>
            </a:endParaRPr>
          </a:p>
          <a:p>
            <a:endParaRPr lang="en-US" altLang="zh-CN" b="1" dirty="0">
              <a:solidFill>
                <a:srgbClr val="775480"/>
              </a:solidFill>
              <a:latin typeface="微软雅黑 Light" panose="020B0502040204020203" charset="-122"/>
              <a:ea typeface="微软雅黑 Light" panose="020B0502040204020203" charset="-122"/>
            </a:endParaRPr>
          </a:p>
          <a:p>
            <a:endParaRPr lang="en-US" altLang="zh-CN" b="1" dirty="0">
              <a:solidFill>
                <a:srgbClr val="775480"/>
              </a:solidFill>
              <a:latin typeface="微软雅黑 Light" panose="020B0502040204020203" charset="-122"/>
              <a:ea typeface="微软雅黑 Light" panose="020B0502040204020203" charset="-122"/>
            </a:endParaRPr>
          </a:p>
          <a:p>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2" name="图片 1">
            <a:extLst>
              <a:ext uri="{FF2B5EF4-FFF2-40B4-BE49-F238E27FC236}">
                <a16:creationId xmlns:a16="http://schemas.microsoft.com/office/drawing/2014/main" id="{82EB034D-E891-70B4-5D32-E018EC8DAEB0}"/>
              </a:ext>
            </a:extLst>
          </p:cNvPr>
          <p:cNvPicPr>
            <a:picLocks noChangeAspect="1"/>
          </p:cNvPicPr>
          <p:nvPr/>
        </p:nvPicPr>
        <p:blipFill>
          <a:blip r:embed="rId5"/>
          <a:stretch>
            <a:fillRect/>
          </a:stretch>
        </p:blipFill>
        <p:spPr>
          <a:xfrm>
            <a:off x="170608" y="1118985"/>
            <a:ext cx="6258910" cy="3330765"/>
          </a:xfrm>
          <a:prstGeom prst="rect">
            <a:avLst/>
          </a:prstGeom>
          <a:noFill/>
          <a:ln>
            <a:noFill/>
          </a:ln>
        </p:spPr>
      </p:pic>
      <p:sp>
        <p:nvSpPr>
          <p:cNvPr id="3" name="文本框 2">
            <a:extLst>
              <a:ext uri="{FF2B5EF4-FFF2-40B4-BE49-F238E27FC236}">
                <a16:creationId xmlns:a16="http://schemas.microsoft.com/office/drawing/2014/main" id="{3B733754-EBBE-19FE-45E0-44487F1F80AE}"/>
              </a:ext>
            </a:extLst>
          </p:cNvPr>
          <p:cNvSpPr txBox="1"/>
          <p:nvPr/>
        </p:nvSpPr>
        <p:spPr>
          <a:xfrm>
            <a:off x="463921" y="1118985"/>
            <a:ext cx="2602523" cy="369332"/>
          </a:xfrm>
          <a:prstGeom prst="rect">
            <a:avLst/>
          </a:prstGeom>
          <a:noFill/>
        </p:spPr>
        <p:txBody>
          <a:bodyPr wrap="square" rtlCol="0">
            <a:spAutoFit/>
          </a:bodyPr>
          <a:lstStyle/>
          <a:p>
            <a:r>
              <a:rPr lang="zh-CN" altLang="en-US" b="1" dirty="0">
                <a:solidFill>
                  <a:schemeClr val="accent3">
                    <a:lumMod val="75000"/>
                  </a:schemeClr>
                </a:solidFill>
              </a:rPr>
              <a:t>站立跌倒</a:t>
            </a:r>
          </a:p>
        </p:txBody>
      </p:sp>
      <p:sp>
        <p:nvSpPr>
          <p:cNvPr id="4" name="文本框 3">
            <a:extLst>
              <a:ext uri="{FF2B5EF4-FFF2-40B4-BE49-F238E27FC236}">
                <a16:creationId xmlns:a16="http://schemas.microsoft.com/office/drawing/2014/main" id="{E5F6C4FC-60D5-2B62-AD77-D2C4FC340FE6}"/>
              </a:ext>
            </a:extLst>
          </p:cNvPr>
          <p:cNvSpPr txBox="1"/>
          <p:nvPr/>
        </p:nvSpPr>
        <p:spPr>
          <a:xfrm>
            <a:off x="3588385" y="1118985"/>
            <a:ext cx="2602523" cy="369332"/>
          </a:xfrm>
          <a:prstGeom prst="rect">
            <a:avLst/>
          </a:prstGeom>
          <a:noFill/>
        </p:spPr>
        <p:txBody>
          <a:bodyPr wrap="square" rtlCol="0">
            <a:spAutoFit/>
          </a:bodyPr>
          <a:lstStyle/>
          <a:p>
            <a:r>
              <a:rPr lang="zh-CN" altLang="en-US" b="1" dirty="0">
                <a:solidFill>
                  <a:schemeClr val="accent3">
                    <a:lumMod val="75000"/>
                  </a:schemeClr>
                </a:solidFill>
              </a:rPr>
              <a:t>行走跌倒</a:t>
            </a:r>
          </a:p>
        </p:txBody>
      </p:sp>
      <p:sp>
        <p:nvSpPr>
          <p:cNvPr id="7" name="文本框 6">
            <a:extLst>
              <a:ext uri="{FF2B5EF4-FFF2-40B4-BE49-F238E27FC236}">
                <a16:creationId xmlns:a16="http://schemas.microsoft.com/office/drawing/2014/main" id="{93B73C2E-729E-55C1-212C-31B8F33668CD}"/>
              </a:ext>
            </a:extLst>
          </p:cNvPr>
          <p:cNvSpPr txBox="1"/>
          <p:nvPr/>
        </p:nvSpPr>
        <p:spPr>
          <a:xfrm>
            <a:off x="6722831" y="1452634"/>
            <a:ext cx="5147027" cy="4401205"/>
          </a:xfrm>
          <a:prstGeom prst="rect">
            <a:avLst/>
          </a:prstGeom>
          <a:noFill/>
        </p:spPr>
        <p:txBody>
          <a:bodyPr wrap="square">
            <a:spAutoFit/>
          </a:bodyPr>
          <a:lstStyle/>
          <a:p>
            <a:r>
              <a:rPr lang="zh-CN" altLang="en-US" sz="2000" dirty="0">
                <a:solidFill>
                  <a:srgbClr val="775480"/>
                </a:solidFill>
                <a:latin typeface="微软雅黑 Light" panose="020B0502040204020203" charset="-122"/>
                <a:ea typeface="微软雅黑 Light" panose="020B0502040204020203" charset="-122"/>
              </a:rPr>
              <a:t>只看</a:t>
            </a:r>
            <a:r>
              <a:rPr lang="en-US" altLang="zh-CN" sz="2000" dirty="0">
                <a:solidFill>
                  <a:srgbClr val="775480"/>
                </a:solidFill>
                <a:latin typeface="微软雅黑 Light" panose="020B0502040204020203" charset="-122"/>
                <a:ea typeface="微软雅黑 Light" panose="020B0502040204020203" charset="-122"/>
              </a:rPr>
              <a:t>CSI</a:t>
            </a:r>
            <a:r>
              <a:rPr lang="zh-CN" altLang="en-US" sz="2000" dirty="0">
                <a:solidFill>
                  <a:srgbClr val="775480"/>
                </a:solidFill>
                <a:latin typeface="微软雅黑 Light" panose="020B0502040204020203" charset="-122"/>
                <a:ea typeface="微软雅黑 Light" panose="020B0502040204020203" charset="-122"/>
              </a:rPr>
              <a:t>振幅的局限：</a:t>
            </a:r>
            <a:endParaRPr lang="en-US" altLang="zh-CN" sz="2000" dirty="0">
              <a:solidFill>
                <a:srgbClr val="775480"/>
              </a:solidFill>
              <a:latin typeface="微软雅黑 Light" panose="020B0502040204020203" charset="-122"/>
              <a:ea typeface="微软雅黑 Light" panose="020B0502040204020203" charset="-122"/>
            </a:endParaRPr>
          </a:p>
          <a:p>
            <a:r>
              <a:rPr lang="en-US" altLang="zh-CN" sz="2000" dirty="0">
                <a:solidFill>
                  <a:srgbClr val="775480"/>
                </a:solidFill>
                <a:latin typeface="微软雅黑 Light" panose="020B0502040204020203" charset="-122"/>
                <a:ea typeface="微软雅黑 Light" panose="020B0502040204020203" charset="-122"/>
              </a:rPr>
              <a:t>1</a:t>
            </a:r>
            <a:r>
              <a:rPr lang="zh-CN" altLang="en-US" sz="2000" dirty="0">
                <a:solidFill>
                  <a:srgbClr val="775480"/>
                </a:solidFill>
                <a:latin typeface="微软雅黑 Light" panose="020B0502040204020203" charset="-122"/>
                <a:ea typeface="微软雅黑 Light" panose="020B0502040204020203" charset="-122"/>
              </a:rPr>
              <a:t>、</a:t>
            </a:r>
            <a:r>
              <a:rPr lang="zh-CN" altLang="zh-CN" sz="2000" dirty="0">
                <a:solidFill>
                  <a:srgbClr val="775480"/>
                </a:solidFill>
                <a:latin typeface="微软雅黑 Light" panose="020B0502040204020203" charset="-122"/>
                <a:ea typeface="微软雅黑 Light" panose="020B0502040204020203" charset="-122"/>
              </a:rPr>
              <a:t>只能判断人体受试者是否在进行</a:t>
            </a:r>
            <a:r>
              <a:rPr lang="zh-CN" altLang="zh-CN" sz="2000" b="1" dirty="0">
                <a:solidFill>
                  <a:srgbClr val="FF0000"/>
                </a:solidFill>
                <a:latin typeface="微软雅黑 Light" panose="020B0502040204020203" charset="-122"/>
                <a:ea typeface="微软雅黑 Light" panose="020B0502040204020203" charset="-122"/>
              </a:rPr>
              <a:t>运动活动</a:t>
            </a:r>
            <a:r>
              <a:rPr lang="zh-CN" altLang="en-US" sz="2000" dirty="0">
                <a:solidFill>
                  <a:srgbClr val="775480"/>
                </a:solidFill>
                <a:latin typeface="微软雅黑 Light" panose="020B0502040204020203" charset="-122"/>
                <a:ea typeface="微软雅黑 Light" panose="020B0502040204020203" charset="-122"/>
              </a:rPr>
              <a:t>，</a:t>
            </a:r>
            <a:r>
              <a:rPr lang="zh-CN" altLang="en-US" sz="2000" b="1" dirty="0">
                <a:solidFill>
                  <a:srgbClr val="FF0000"/>
                </a:solidFill>
                <a:latin typeface="微软雅黑 Light" panose="020B0502040204020203" charset="-122"/>
                <a:ea typeface="微软雅黑 Light" panose="020B0502040204020203" charset="-122"/>
              </a:rPr>
              <a:t>无法区分跌倒和其他运动活动</a:t>
            </a:r>
            <a:endParaRPr lang="en-US" altLang="zh-CN" sz="2000" b="1" dirty="0">
              <a:solidFill>
                <a:srgbClr val="FF0000"/>
              </a:solidFill>
              <a:latin typeface="微软雅黑 Light" panose="020B0502040204020203" charset="-122"/>
              <a:ea typeface="微软雅黑 Light" panose="020B0502040204020203" charset="-122"/>
            </a:endParaRPr>
          </a:p>
          <a:p>
            <a:r>
              <a:rPr lang="en-US" altLang="zh-CN" sz="2000" dirty="0">
                <a:solidFill>
                  <a:srgbClr val="775480"/>
                </a:solidFill>
                <a:latin typeface="微软雅黑 Light" panose="020B0502040204020203" charset="-122"/>
                <a:ea typeface="微软雅黑 Light" panose="020B0502040204020203" charset="-122"/>
              </a:rPr>
              <a:t>2</a:t>
            </a:r>
            <a:r>
              <a:rPr lang="zh-CN" altLang="en-US" sz="2000" dirty="0">
                <a:solidFill>
                  <a:srgbClr val="775480"/>
                </a:solidFill>
                <a:latin typeface="微软雅黑 Light" panose="020B0502040204020203" charset="-122"/>
                <a:ea typeface="微软雅黑 Light" panose="020B0502040204020203" charset="-122"/>
              </a:rPr>
              <a:t>、</a:t>
            </a:r>
            <a:r>
              <a:rPr lang="zh-CN" altLang="zh-CN" sz="2000" dirty="0">
                <a:solidFill>
                  <a:srgbClr val="775480"/>
                </a:solidFill>
                <a:latin typeface="微软雅黑 Light" panose="020B0502040204020203" charset="-122"/>
                <a:ea typeface="微软雅黑 Light" panose="020B0502040204020203" charset="-122"/>
              </a:rPr>
              <a:t>区分运动活动与静止活动的能力在普通客厅环境下是足够且可靠的</a:t>
            </a:r>
            <a:r>
              <a:rPr lang="zh-CN" altLang="en-US" sz="2000" dirty="0">
                <a:solidFill>
                  <a:srgbClr val="775480"/>
                </a:solidFill>
                <a:latin typeface="微软雅黑 Light" panose="020B0502040204020203" charset="-122"/>
                <a:ea typeface="微软雅黑 Light" panose="020B0502040204020203" charset="-122"/>
              </a:rPr>
              <a:t>，但</a:t>
            </a:r>
            <a:r>
              <a:rPr lang="zh-CN" altLang="zh-CN" sz="2000" dirty="0">
                <a:solidFill>
                  <a:srgbClr val="FF0000"/>
                </a:solidFill>
                <a:latin typeface="微软雅黑 Light" panose="020B0502040204020203" charset="-122"/>
                <a:ea typeface="微软雅黑 Light" panose="020B0502040204020203" charset="-122"/>
              </a:rPr>
              <a:t>区分站立姿势与其他静止活动的能力不可靠</a:t>
            </a:r>
            <a:r>
              <a:rPr lang="zh-CN" altLang="zh-CN" sz="2000" dirty="0">
                <a:solidFill>
                  <a:srgbClr val="775480"/>
                </a:solidFill>
                <a:latin typeface="微软雅黑 Light" panose="020B0502040204020203" charset="-122"/>
                <a:ea typeface="微软雅黑 Light" panose="020B0502040204020203" charset="-122"/>
              </a:rPr>
              <a:t>。</a:t>
            </a:r>
            <a:endParaRPr lang="en-US" altLang="zh-CN" sz="2000" dirty="0">
              <a:solidFill>
                <a:srgbClr val="775480"/>
              </a:solidFill>
              <a:latin typeface="微软雅黑 Light" panose="020B0502040204020203" charset="-122"/>
              <a:ea typeface="微软雅黑 Light" panose="020B0502040204020203" charset="-122"/>
            </a:endParaRPr>
          </a:p>
          <a:p>
            <a:r>
              <a:rPr lang="en-US" altLang="zh-CN" sz="2000" dirty="0">
                <a:solidFill>
                  <a:srgbClr val="775480"/>
                </a:solidFill>
                <a:latin typeface="微软雅黑 Light" panose="020B0502040204020203" charset="-122"/>
                <a:ea typeface="微软雅黑 Light" panose="020B0502040204020203" charset="-122"/>
              </a:rPr>
              <a:t>3</a:t>
            </a:r>
            <a:r>
              <a:rPr lang="zh-CN" altLang="en-US" sz="2000" dirty="0">
                <a:solidFill>
                  <a:srgbClr val="775480"/>
                </a:solidFill>
                <a:latin typeface="微软雅黑 Light" panose="020B0502040204020203" charset="-122"/>
                <a:ea typeface="微软雅黑 Light" panose="020B0502040204020203" charset="-122"/>
              </a:rPr>
              <a:t>、对于人类实时活动的分割，由于需要受试人</a:t>
            </a:r>
            <a:r>
              <a:rPr lang="zh-CN" altLang="en-US" sz="2000" dirty="0">
                <a:solidFill>
                  <a:srgbClr val="FF0000"/>
                </a:solidFill>
                <a:latin typeface="微软雅黑 Light" panose="020B0502040204020203" charset="-122"/>
                <a:ea typeface="微软雅黑 Light" panose="020B0502040204020203" charset="-122"/>
              </a:rPr>
              <a:t>处于一个受控环境</a:t>
            </a:r>
            <a:r>
              <a:rPr lang="zh-CN" altLang="en-US" sz="2000" dirty="0">
                <a:solidFill>
                  <a:srgbClr val="775480"/>
                </a:solidFill>
                <a:latin typeface="微软雅黑 Light" panose="020B0502040204020203" charset="-122"/>
                <a:ea typeface="微软雅黑 Light" panose="020B0502040204020203" charset="-122"/>
              </a:rPr>
              <a:t>，只执行少量预定义的活动，且要求</a:t>
            </a:r>
            <a:r>
              <a:rPr lang="zh-CN" altLang="en-US" sz="2000" b="1" dirty="0">
                <a:solidFill>
                  <a:srgbClr val="FF0000"/>
                </a:solidFill>
                <a:latin typeface="微软雅黑 Light" panose="020B0502040204020203" charset="-122"/>
                <a:ea typeface="微软雅黑 Light" panose="020B0502040204020203" charset="-122"/>
              </a:rPr>
              <a:t>活动之间必须有间隔</a:t>
            </a:r>
            <a:r>
              <a:rPr lang="zh-CN" altLang="en-US" sz="2000" dirty="0">
                <a:solidFill>
                  <a:srgbClr val="775480"/>
                </a:solidFill>
                <a:latin typeface="微软雅黑 Light" panose="020B0502040204020203" charset="-122"/>
                <a:ea typeface="微软雅黑 Light" panose="020B0502040204020203" charset="-122"/>
              </a:rPr>
              <a:t>，</a:t>
            </a:r>
            <a:r>
              <a:rPr lang="zh-CN" altLang="zh-CN" sz="2000" dirty="0">
                <a:solidFill>
                  <a:srgbClr val="775480"/>
                </a:solidFill>
                <a:latin typeface="微软雅黑 Light" panose="020B0502040204020203" charset="-122"/>
                <a:ea typeface="微软雅黑 Light" panose="020B0502040204020203" charset="-122"/>
              </a:rPr>
              <a:t>无法以自然、连续的方式执行活动 </a:t>
            </a:r>
          </a:p>
          <a:p>
            <a:endParaRPr lang="en-US" altLang="zh-CN" sz="2000" dirty="0">
              <a:solidFill>
                <a:srgbClr val="775480"/>
              </a:solidFill>
              <a:latin typeface="微软雅黑 Light" panose="020B0502040204020203" charset="-122"/>
              <a:ea typeface="微软雅黑 Light" panose="020B0502040204020203" charset="-122"/>
            </a:endParaRPr>
          </a:p>
          <a:p>
            <a:r>
              <a:rPr lang="en-US" altLang="zh-CN" sz="2000" dirty="0">
                <a:solidFill>
                  <a:srgbClr val="775480"/>
                </a:solidFill>
                <a:latin typeface="微软雅黑 Light" panose="020B0502040204020203" charset="-122"/>
                <a:ea typeface="微软雅黑 Light" panose="020B0502040204020203" charset="-122"/>
              </a:rPr>
              <a:t>CSI </a:t>
            </a:r>
            <a:r>
              <a:rPr lang="zh-CN" altLang="zh-CN" sz="2000" dirty="0">
                <a:solidFill>
                  <a:srgbClr val="775480"/>
                </a:solidFill>
                <a:latin typeface="微软雅黑 Light" panose="020B0502040204020203" charset="-122"/>
                <a:ea typeface="微软雅黑 Light" panose="020B0502040204020203" charset="-122"/>
              </a:rPr>
              <a:t>幅度上的这些局限性促使我们进一步探索，看看是否能</a:t>
            </a:r>
            <a:r>
              <a:rPr lang="zh-CN" altLang="zh-CN" sz="2000" b="1" dirty="0">
                <a:solidFill>
                  <a:srgbClr val="FF0000"/>
                </a:solidFill>
                <a:latin typeface="微软雅黑 Light" panose="020B0502040204020203" charset="-122"/>
                <a:ea typeface="微软雅黑 Light" panose="020B0502040204020203" charset="-122"/>
              </a:rPr>
              <a:t>找到一种更合适的基础信号</a:t>
            </a:r>
            <a:r>
              <a:rPr lang="zh-CN" altLang="zh-CN" sz="2000" dirty="0">
                <a:solidFill>
                  <a:srgbClr val="775480"/>
                </a:solidFill>
                <a:latin typeface="微软雅黑 Light" panose="020B0502040204020203" charset="-122"/>
                <a:ea typeface="微软雅黑 Light" panose="020B0502040204020203" charset="-122"/>
              </a:rPr>
              <a:t>，用于活动分割和跌倒检测。 </a:t>
            </a:r>
            <a:endParaRPr lang="zh-CN" altLang="en-US" sz="2000" dirty="0">
              <a:solidFill>
                <a:srgbClr val="775480"/>
              </a:solidFill>
              <a:latin typeface="微软雅黑 Light" panose="020B0502040204020203" charset="-122"/>
              <a:ea typeface="微软雅黑 Light" panose="020B0502040204020203" charset="-122"/>
            </a:endParaRPr>
          </a:p>
        </p:txBody>
      </p:sp>
      <p:cxnSp>
        <p:nvCxnSpPr>
          <p:cNvPr id="8" name="直接连接符 7">
            <a:extLst>
              <a:ext uri="{FF2B5EF4-FFF2-40B4-BE49-F238E27FC236}">
                <a16:creationId xmlns:a16="http://schemas.microsoft.com/office/drawing/2014/main" id="{F9E319B5-E109-116E-7C86-57A031338088}"/>
              </a:ext>
            </a:extLst>
          </p:cNvPr>
          <p:cNvCxnSpPr>
            <a:cxnSpLocks/>
          </p:cNvCxnSpPr>
          <p:nvPr/>
        </p:nvCxnSpPr>
        <p:spPr>
          <a:xfrm>
            <a:off x="6541093" y="984525"/>
            <a:ext cx="0" cy="5423626"/>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3311122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2C3B5-DB4C-5332-1A41-FCF907B23A19}"/>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B7E2A540-EB13-6992-1A01-E839713F911E}"/>
              </a:ext>
            </a:extLst>
          </p:cNvPr>
          <p:cNvSpPr txBox="1"/>
          <p:nvPr>
            <p:custDataLst>
              <p:tags r:id="rId3"/>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人类活动和</a:t>
            </a:r>
            <a:r>
              <a:rPr lang="en-US" altLang="zh-CN" sz="3100" dirty="0">
                <a:solidFill>
                  <a:srgbClr val="694B71"/>
                </a:solidFill>
                <a:latin typeface="微软雅黑" panose="020B0503020204020204" pitchFamily="34" charset="-122"/>
                <a:ea typeface="微软雅黑" panose="020B0503020204020204" pitchFamily="34" charset="-122"/>
                <a:cs typeface="+mn-ea"/>
              </a:rPr>
              <a:t> CSI </a:t>
            </a:r>
            <a:r>
              <a:rPr lang="zh-CN" altLang="zh-CN" sz="3100" dirty="0">
                <a:solidFill>
                  <a:srgbClr val="694B71"/>
                </a:solidFill>
                <a:latin typeface="微软雅黑" panose="020B0503020204020204" pitchFamily="34" charset="-122"/>
                <a:ea typeface="微软雅黑" panose="020B0503020204020204" pitchFamily="34" charset="-122"/>
                <a:cs typeface="+mn-ea"/>
              </a:rPr>
              <a:t>相位 </a:t>
            </a:r>
          </a:p>
        </p:txBody>
      </p:sp>
      <p:sp>
        <p:nvSpPr>
          <p:cNvPr id="20" name="矩形 19">
            <a:extLst>
              <a:ext uri="{FF2B5EF4-FFF2-40B4-BE49-F238E27FC236}">
                <a16:creationId xmlns:a16="http://schemas.microsoft.com/office/drawing/2014/main" id="{F9AC0910-CF3A-0055-6713-E1604F2FF486}"/>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2A185BF5-CBA2-6976-3FDE-595809698A64}"/>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93C73DA0-F6A3-F9DA-D9D0-6F45505F9D7E}"/>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1AD13671-2569-5E95-1DCA-B97C0DD6C84F}"/>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C9EC3BAC-D3E5-99C8-D813-693DE2BA5C21}"/>
              </a:ext>
            </a:extLst>
          </p:cNvPr>
          <p:cNvSpPr txBox="1"/>
          <p:nvPr/>
        </p:nvSpPr>
        <p:spPr>
          <a:xfrm>
            <a:off x="328246" y="944136"/>
            <a:ext cx="5673969" cy="954107"/>
          </a:xfrm>
          <a:prstGeom prst="rect">
            <a:avLst/>
          </a:prstGeom>
          <a:noFill/>
        </p:spPr>
        <p:txBody>
          <a:bodyPr wrap="square" rtlCol="0">
            <a:spAutoFit/>
          </a:bodyPr>
          <a:lstStyle/>
          <a:p>
            <a:endParaRPr lang="en-US" altLang="zh-CN" sz="2400" b="1" dirty="0">
              <a:solidFill>
                <a:srgbClr val="775480"/>
              </a:solidFill>
              <a:latin typeface="微软雅黑 Light" panose="020B0502040204020203" charset="-122"/>
              <a:ea typeface="微软雅黑 Light" panose="020B0502040204020203" charset="-122"/>
            </a:endParaRPr>
          </a:p>
          <a:p>
            <a:r>
              <a:rPr lang="zh-CN" altLang="en-US" sz="1600" b="1" dirty="0">
                <a:solidFill>
                  <a:srgbClr val="775480"/>
                </a:solidFill>
                <a:latin typeface="微软雅黑 Light" panose="020B0502040204020203" charset="-122"/>
                <a:ea typeface="微软雅黑 Light" panose="020B0502040204020203" charset="-122"/>
              </a:rPr>
              <a:t>每一条天线发射</a:t>
            </a:r>
            <a:r>
              <a:rPr lang="en-US" altLang="zh-CN" sz="1600" b="1" dirty="0">
                <a:solidFill>
                  <a:srgbClr val="775480"/>
                </a:solidFill>
                <a:latin typeface="微软雅黑 Light" panose="020B0502040204020203" charset="-122"/>
                <a:ea typeface="微软雅黑 Light" panose="020B0502040204020203" charset="-122"/>
              </a:rPr>
              <a:t>30</a:t>
            </a:r>
            <a:r>
              <a:rPr lang="zh-CN" altLang="en-US" sz="1600" b="1" dirty="0">
                <a:solidFill>
                  <a:srgbClr val="775480"/>
                </a:solidFill>
                <a:latin typeface="微软雅黑 Light" panose="020B0502040204020203" charset="-122"/>
                <a:ea typeface="微软雅黑 Light" panose="020B0502040204020203" charset="-122"/>
              </a:rPr>
              <a:t>条子载波，其中，每一条子载波</a:t>
            </a:r>
            <a:r>
              <a:rPr lang="en-US" altLang="zh-CN" sz="1600" b="1" i="1" dirty="0">
                <a:solidFill>
                  <a:srgbClr val="775480"/>
                </a:solidFill>
                <a:latin typeface="微软雅黑 Light" panose="020B0502040204020203" charset="-122"/>
                <a:ea typeface="微软雅黑 Light" panose="020B0502040204020203" charset="-122"/>
              </a:rPr>
              <a:t>f</a:t>
            </a:r>
            <a:r>
              <a:rPr lang="zh-CN" altLang="en-US" sz="1600" b="1" i="1" dirty="0">
                <a:solidFill>
                  <a:srgbClr val="775480"/>
                </a:solidFill>
                <a:latin typeface="微软雅黑 Light" panose="020B0502040204020203" charset="-122"/>
                <a:ea typeface="微软雅黑 Light" panose="020B0502040204020203" charset="-122"/>
              </a:rPr>
              <a:t> </a:t>
            </a:r>
            <a:r>
              <a:rPr lang="zh-CN" altLang="en-US" sz="1600" b="1" dirty="0">
                <a:solidFill>
                  <a:srgbClr val="775480"/>
                </a:solidFill>
                <a:latin typeface="微软雅黑 Light" panose="020B0502040204020203" charset="-122"/>
                <a:ea typeface="微软雅黑 Light" panose="020B0502040204020203" charset="-122"/>
              </a:rPr>
              <a:t>的 </a:t>
            </a:r>
            <a:r>
              <a:rPr lang="en-US" altLang="zh-CN" sz="1600" b="1" dirty="0">
                <a:solidFill>
                  <a:srgbClr val="775480"/>
                </a:solidFill>
                <a:latin typeface="微软雅黑 Light" panose="020B0502040204020203" charset="-122"/>
                <a:ea typeface="微软雅黑 Light" panose="020B0502040204020203" charset="-122"/>
              </a:rPr>
              <a:t>CSI </a:t>
            </a:r>
            <a:r>
              <a:rPr lang="zh-CN" altLang="en-US" sz="1600" b="1" dirty="0">
                <a:solidFill>
                  <a:srgbClr val="775480"/>
                </a:solidFill>
                <a:latin typeface="微软雅黑 Light" panose="020B0502040204020203" charset="-122"/>
                <a:ea typeface="微软雅黑 Light" panose="020B0502040204020203" charset="-122"/>
              </a:rPr>
              <a:t>测量相位</a:t>
            </a:r>
          </a:p>
        </p:txBody>
      </p:sp>
      <p:pic>
        <p:nvPicPr>
          <p:cNvPr id="10" name="图片 9">
            <a:extLst>
              <a:ext uri="{FF2B5EF4-FFF2-40B4-BE49-F238E27FC236}">
                <a16:creationId xmlns:a16="http://schemas.microsoft.com/office/drawing/2014/main" id="{47761FA0-10B7-4AC8-A7E6-8E4E8372F8B4}"/>
              </a:ext>
            </a:extLst>
          </p:cNvPr>
          <p:cNvPicPr>
            <a:picLocks noChangeAspect="1"/>
          </p:cNvPicPr>
          <p:nvPr/>
        </p:nvPicPr>
        <p:blipFill>
          <a:blip r:embed="rId6"/>
          <a:stretch>
            <a:fillRect/>
          </a:stretch>
        </p:blipFill>
        <p:spPr>
          <a:xfrm>
            <a:off x="1094578" y="1583218"/>
            <a:ext cx="300263" cy="467075"/>
          </a:xfrm>
          <a:prstGeom prst="rect">
            <a:avLst/>
          </a:prstGeom>
          <a:noFill/>
          <a:ln>
            <a:noFill/>
          </a:ln>
        </p:spPr>
      </p:pic>
      <p:pic>
        <p:nvPicPr>
          <p:cNvPr id="11" name="图片 10">
            <a:extLst>
              <a:ext uri="{FF2B5EF4-FFF2-40B4-BE49-F238E27FC236}">
                <a16:creationId xmlns:a16="http://schemas.microsoft.com/office/drawing/2014/main" id="{B58D2989-64A6-3607-97A2-A36CEDBAA3EF}"/>
              </a:ext>
            </a:extLst>
          </p:cNvPr>
          <p:cNvPicPr>
            <a:picLocks noChangeAspect="1"/>
          </p:cNvPicPr>
          <p:nvPr/>
        </p:nvPicPr>
        <p:blipFill>
          <a:blip r:embed="rId7"/>
          <a:stretch>
            <a:fillRect/>
          </a:stretch>
        </p:blipFill>
        <p:spPr>
          <a:xfrm>
            <a:off x="1244709" y="1916910"/>
            <a:ext cx="3582423" cy="786794"/>
          </a:xfrm>
          <a:prstGeom prst="rect">
            <a:avLst/>
          </a:prstGeom>
          <a:noFill/>
          <a:ln>
            <a:noFill/>
          </a:ln>
        </p:spPr>
      </p:pic>
      <p:graphicFrame>
        <p:nvGraphicFramePr>
          <p:cNvPr id="24" name="对象 23">
            <a:extLst>
              <a:ext uri="{FF2B5EF4-FFF2-40B4-BE49-F238E27FC236}">
                <a16:creationId xmlns:a16="http://schemas.microsoft.com/office/drawing/2014/main" id="{B3E7A7F2-9BC9-5C3F-B121-C08D25F4CC54}"/>
              </a:ext>
            </a:extLst>
          </p:cNvPr>
          <p:cNvGraphicFramePr>
            <a:graphicFrameLocks noChangeAspect="1"/>
          </p:cNvGraphicFramePr>
          <p:nvPr>
            <p:extLst>
              <p:ext uri="{D42A27DB-BD31-4B8C-83A1-F6EECF244321}">
                <p14:modId xmlns:p14="http://schemas.microsoft.com/office/powerpoint/2010/main" val="2894707085"/>
              </p:ext>
            </p:extLst>
          </p:nvPr>
        </p:nvGraphicFramePr>
        <p:xfrm>
          <a:off x="463089" y="2746576"/>
          <a:ext cx="5429250" cy="1364848"/>
        </p:xfrm>
        <a:graphic>
          <a:graphicData uri="http://schemas.openxmlformats.org/presentationml/2006/ole">
            <mc:AlternateContent xmlns:mc="http://schemas.openxmlformats.org/markup-compatibility/2006">
              <mc:Choice xmlns:v="urn:schemas-microsoft-com:vml" Requires="v">
                <p:oleObj spid="_x0000_s1030" name="Document" r:id="rId8" imgW="5272095" imgH="1366512" progId="Word.Document.12">
                  <p:embed/>
                </p:oleObj>
              </mc:Choice>
              <mc:Fallback>
                <p:oleObj name="Document" r:id="rId8" imgW="5272095" imgH="1366512" progId="Word.Document.12">
                  <p:embed/>
                  <p:pic>
                    <p:nvPicPr>
                      <p:cNvPr id="24" name="对象 23">
                        <a:extLst>
                          <a:ext uri="{FF2B5EF4-FFF2-40B4-BE49-F238E27FC236}">
                            <a16:creationId xmlns:a16="http://schemas.microsoft.com/office/drawing/2014/main" id="{B3E7A7F2-9BC9-5C3F-B121-C08D25F4CC54}"/>
                          </a:ext>
                        </a:extLst>
                      </p:cNvPr>
                      <p:cNvPicPr/>
                      <p:nvPr/>
                    </p:nvPicPr>
                    <p:blipFill>
                      <a:blip r:embed="rId9"/>
                      <a:stretch>
                        <a:fillRect/>
                      </a:stretch>
                    </p:blipFill>
                    <p:spPr>
                      <a:xfrm>
                        <a:off x="463089" y="2746576"/>
                        <a:ext cx="5429250" cy="136484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9FD38711-543D-6F49-45E4-97ADCCE1118F}"/>
              </a:ext>
            </a:extLst>
          </p:cNvPr>
          <p:cNvSpPr txBox="1"/>
          <p:nvPr/>
        </p:nvSpPr>
        <p:spPr>
          <a:xfrm>
            <a:off x="328246" y="4694826"/>
            <a:ext cx="6096000" cy="923330"/>
          </a:xfrm>
          <a:prstGeom prst="rect">
            <a:avLst/>
          </a:prstGeom>
          <a:noFill/>
        </p:spPr>
        <p:txBody>
          <a:bodyPr wrap="square">
            <a:spAutoFit/>
          </a:bodyPr>
          <a:lstStyle/>
          <a:p>
            <a:r>
              <a:rPr lang="zh-CN" altLang="en-US" sz="1800" b="1" dirty="0">
                <a:effectLst/>
                <a:latin typeface="Calibri" panose="020F0502020204030204" pitchFamily="34" charset="0"/>
                <a:ea typeface="宋体" panose="02010600030101010101" pitchFamily="2" charset="-122"/>
                <a:cs typeface="Times New Roman" panose="02020603050405020304" pitchFamily="18" charset="0"/>
              </a:rPr>
              <a:t>但</a:t>
            </a:r>
            <a:r>
              <a:rPr lang="zh-CN" altLang="zh-CN" sz="1800" b="1" dirty="0">
                <a:effectLst/>
                <a:latin typeface="Calibri" panose="020F0502020204030204" pitchFamily="34" charset="0"/>
                <a:ea typeface="宋体" panose="02010600030101010101" pitchFamily="2" charset="-122"/>
                <a:cs typeface="Times New Roman" panose="02020603050405020304" pitchFamily="18" charset="0"/>
              </a:rPr>
              <a:t>单个商用无线网卡上，射频振荡器在启动时是锁频的。因此，同一网卡上不同天线</a:t>
            </a:r>
            <a:r>
              <a:rPr lang="zh-CN" altLang="en-US" sz="1800" b="1" dirty="0">
                <a:effectLst/>
                <a:latin typeface="Calibri" panose="020F0502020204030204" pitchFamily="34" charset="0"/>
                <a:ea typeface="宋体" panose="02010600030101010101" pitchFamily="2" charset="-122"/>
                <a:cs typeface="Times New Roman" panose="02020603050405020304" pitchFamily="18" charset="0"/>
              </a:rPr>
              <a:t>的 </a:t>
            </a:r>
            <a:r>
              <a:rPr lang="en-US" altLang="zh-CN" sz="1800" b="1" i="1"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f </a:t>
            </a:r>
            <a:r>
              <a:rPr lang="zh-CN" altLang="en-US" sz="1800" b="1"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是一样</a:t>
            </a:r>
            <a:r>
              <a:rPr lang="zh-CN" altLang="en-US" sz="1800" b="1" dirty="0">
                <a:effectLst/>
                <a:latin typeface="Calibri" panose="020F0502020204030204" pitchFamily="34" charset="0"/>
                <a:ea typeface="宋体" panose="02010600030101010101" pitchFamily="2" charset="-122"/>
                <a:cs typeface="Times New Roman" panose="02020603050405020304" pitchFamily="18" charset="0"/>
              </a:rPr>
              <a:t>的，所以，对于相位差</a:t>
            </a:r>
            <a:endParaRPr lang="zh-CN" altLang="en-US" b="1" dirty="0"/>
          </a:p>
        </p:txBody>
      </p:sp>
      <p:pic>
        <p:nvPicPr>
          <p:cNvPr id="6" name="图片 5">
            <a:extLst>
              <a:ext uri="{FF2B5EF4-FFF2-40B4-BE49-F238E27FC236}">
                <a16:creationId xmlns:a16="http://schemas.microsoft.com/office/drawing/2014/main" id="{2A1A8CA5-A491-F865-E404-7B381DBB3FD5}"/>
              </a:ext>
            </a:extLst>
          </p:cNvPr>
          <p:cNvPicPr>
            <a:picLocks noChangeAspect="1"/>
          </p:cNvPicPr>
          <p:nvPr/>
        </p:nvPicPr>
        <p:blipFill>
          <a:blip r:embed="rId10"/>
          <a:stretch>
            <a:fillRect/>
          </a:stretch>
        </p:blipFill>
        <p:spPr>
          <a:xfrm>
            <a:off x="974107" y="5274782"/>
            <a:ext cx="522138" cy="368568"/>
          </a:xfrm>
          <a:prstGeom prst="rect">
            <a:avLst/>
          </a:prstGeom>
          <a:noFill/>
          <a:ln>
            <a:noFill/>
          </a:ln>
        </p:spPr>
      </p:pic>
      <p:pic>
        <p:nvPicPr>
          <p:cNvPr id="7" name="图片 6">
            <a:extLst>
              <a:ext uri="{FF2B5EF4-FFF2-40B4-BE49-F238E27FC236}">
                <a16:creationId xmlns:a16="http://schemas.microsoft.com/office/drawing/2014/main" id="{6C096319-9359-9500-D74E-31DB491B2CFC}"/>
              </a:ext>
            </a:extLst>
          </p:cNvPr>
          <p:cNvPicPr>
            <a:picLocks noChangeAspect="1"/>
          </p:cNvPicPr>
          <p:nvPr/>
        </p:nvPicPr>
        <p:blipFill>
          <a:blip r:embed="rId11"/>
          <a:stretch>
            <a:fillRect/>
          </a:stretch>
        </p:blipFill>
        <p:spPr>
          <a:xfrm>
            <a:off x="328246" y="5786359"/>
            <a:ext cx="5225682" cy="832289"/>
          </a:xfrm>
          <a:prstGeom prst="rect">
            <a:avLst/>
          </a:prstGeom>
          <a:noFill/>
          <a:ln>
            <a:noFill/>
          </a:ln>
        </p:spPr>
      </p:pic>
      <p:sp>
        <p:nvSpPr>
          <p:cNvPr id="8" name="Rectangle 39">
            <a:extLst>
              <a:ext uri="{FF2B5EF4-FFF2-40B4-BE49-F238E27FC236}">
                <a16:creationId xmlns:a16="http://schemas.microsoft.com/office/drawing/2014/main" id="{A23DA002-FE4C-4D12-6BFA-25D6F07E11C7}"/>
              </a:ext>
            </a:extLst>
          </p:cNvPr>
          <p:cNvSpPr>
            <a:spLocks noChangeArrowheads="1"/>
          </p:cNvSpPr>
          <p:nvPr/>
        </p:nvSpPr>
        <p:spPr bwMode="auto">
          <a:xfrm>
            <a:off x="328246" y="3911070"/>
            <a:ext cx="522568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商用英特尔</a:t>
            </a:r>
            <a:r>
              <a:rPr kumimoji="0" lang="zh-CN" altLang="en-US"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 </a:t>
            </a:r>
            <a:r>
              <a:rPr kumimoji="0" lang="en-US" altLang="zh-CN"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5300 NIC (</a:t>
            </a:r>
            <a:r>
              <a:rPr kumimoji="0" lang="zh-CN" altLang="en-US"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一种商用天线</a:t>
            </a:r>
            <a:r>
              <a:rPr kumimoji="0" lang="en-US" altLang="zh-CN"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r>
              <a:rPr kumimoji="0" lang="zh-CN" altLang="en-US"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提供的原始相位是随机分布的，因为</a:t>
            </a:r>
            <a:r>
              <a:rPr kumimoji="0" lang="en-US" altLang="zh-CN" b="1" i="0" u="none" strike="noStrike" cap="none" normalizeH="0" baseline="0" dirty="0" err="1">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Δt</a:t>
            </a:r>
            <a:r>
              <a:rPr kumimoji="0" lang="zh-CN" altLang="en-US" b="1" i="0" u="none" strike="noStrike" cap="none" normalizeH="0" baseline="0" dirty="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在每一个包中都不一样</a:t>
            </a:r>
            <a:endParaRPr kumimoji="0" lang="zh-CN" altLang="en-US" sz="2800" b="0" i="0" u="none" strike="noStrike" cap="none" normalizeH="0" baseline="0" dirty="0">
              <a:ln>
                <a:noFill/>
              </a:ln>
              <a:solidFill>
                <a:srgbClr val="FF0000"/>
              </a:solidFill>
              <a:effectLst/>
              <a:latin typeface="Arial" panose="020B0604020202020204" pitchFamily="34" charset="0"/>
            </a:endParaRPr>
          </a:p>
        </p:txBody>
      </p:sp>
      <p:pic>
        <p:nvPicPr>
          <p:cNvPr id="12" name="图片 11">
            <a:extLst>
              <a:ext uri="{FF2B5EF4-FFF2-40B4-BE49-F238E27FC236}">
                <a16:creationId xmlns:a16="http://schemas.microsoft.com/office/drawing/2014/main" id="{0E7075C7-3FF6-711C-5387-B6B98A873B8F}"/>
              </a:ext>
            </a:extLst>
          </p:cNvPr>
          <p:cNvPicPr>
            <a:picLocks noChangeAspect="1"/>
          </p:cNvPicPr>
          <p:nvPr/>
        </p:nvPicPr>
        <p:blipFill>
          <a:blip r:embed="rId12"/>
          <a:stretch>
            <a:fillRect/>
          </a:stretch>
        </p:blipFill>
        <p:spPr>
          <a:xfrm>
            <a:off x="7975214" y="1823601"/>
            <a:ext cx="2574277" cy="756597"/>
          </a:xfrm>
          <a:prstGeom prst="rect">
            <a:avLst/>
          </a:prstGeom>
          <a:noFill/>
          <a:ln>
            <a:noFill/>
          </a:ln>
        </p:spPr>
      </p:pic>
      <p:sp>
        <p:nvSpPr>
          <p:cNvPr id="14" name="文本框 13">
            <a:extLst>
              <a:ext uri="{FF2B5EF4-FFF2-40B4-BE49-F238E27FC236}">
                <a16:creationId xmlns:a16="http://schemas.microsoft.com/office/drawing/2014/main" id="{AA18D6B9-96CC-873A-A240-8C072EAAC06C}"/>
              </a:ext>
            </a:extLst>
          </p:cNvPr>
          <p:cNvSpPr txBox="1"/>
          <p:nvPr/>
        </p:nvSpPr>
        <p:spPr>
          <a:xfrm>
            <a:off x="6649557" y="2718803"/>
            <a:ext cx="5225593" cy="1077218"/>
          </a:xfrm>
          <a:prstGeom prst="rect">
            <a:avLst/>
          </a:prstGeom>
          <a:noFill/>
        </p:spPr>
        <p:txBody>
          <a:bodyPr wrap="square">
            <a:spAutoFit/>
          </a:bodyPr>
          <a:lstStyle/>
          <a:p>
            <a:pPr>
              <a:buNone/>
            </a:pPr>
            <a:r>
              <a:rPr lang="el-GR" altLang="zh-CN" sz="1600" dirty="0"/>
              <a:t>λ</a:t>
            </a:r>
            <a:r>
              <a:rPr lang="zh-CN" altLang="zh-CN" sz="1600" dirty="0"/>
              <a:t>是波长</a:t>
            </a:r>
            <a:r>
              <a:rPr lang="zh-CN" altLang="en-US" sz="16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600" dirty="0">
                <a:effectLst/>
                <a:latin typeface="Calibri" panose="020F0502020204030204" pitchFamily="34" charset="0"/>
                <a:ea typeface="宋体" panose="02010600030101010101" pitchFamily="2" charset="-122"/>
                <a:cs typeface="Times New Roman" panose="02020603050405020304" pitchFamily="18" charset="0"/>
              </a:rPr>
              <a:t>f</a:t>
            </a:r>
            <a:r>
              <a:rPr lang="zh-CN" altLang="zh-CN" sz="1600" dirty="0">
                <a:effectLst/>
                <a:latin typeface="Calibri" panose="020F0502020204030204" pitchFamily="34" charset="0"/>
                <a:ea typeface="宋体" panose="02010600030101010101" pitchFamily="2" charset="-122"/>
                <a:cs typeface="Times New Roman" panose="02020603050405020304" pitchFamily="18" charset="0"/>
              </a:rPr>
              <a:t>是中心频率，</a:t>
            </a:r>
            <a:r>
              <a:rPr lang="en-US" altLang="zh-CN" sz="1600" dirty="0">
                <a:effectLst/>
                <a:latin typeface="Calibri" panose="020F0502020204030204" pitchFamily="34" charset="0"/>
                <a:ea typeface="宋体" panose="02010600030101010101" pitchFamily="2" charset="-122"/>
                <a:cs typeface="Times New Roman" panose="02020603050405020304" pitchFamily="18" charset="0"/>
              </a:rPr>
              <a:t>c</a:t>
            </a:r>
            <a:r>
              <a:rPr lang="zh-CN" altLang="zh-CN" sz="1600" dirty="0">
                <a:effectLst/>
                <a:latin typeface="Calibri" panose="020F0502020204030204" pitchFamily="34" charset="0"/>
                <a:ea typeface="宋体" panose="02010600030101010101" pitchFamily="2" charset="-122"/>
                <a:cs typeface="Times New Roman" panose="02020603050405020304" pitchFamily="18" charset="0"/>
              </a:rPr>
              <a:t>是光速，</a:t>
            </a:r>
            <a:r>
              <a:rPr lang="en-US" altLang="zh-CN" sz="1600" dirty="0">
                <a:effectLst/>
                <a:latin typeface="Calibri" panose="020F0502020204030204" pitchFamily="34" charset="0"/>
                <a:ea typeface="宋体" panose="02010600030101010101" pitchFamily="2" charset="-122"/>
                <a:cs typeface="Times New Roman" panose="02020603050405020304" pitchFamily="18" charset="0"/>
              </a:rPr>
              <a:t>T</a:t>
            </a:r>
            <a:r>
              <a:rPr lang="zh-CN" altLang="zh-CN" sz="1600" dirty="0">
                <a:effectLst/>
                <a:latin typeface="Calibri" panose="020F0502020204030204" pitchFamily="34" charset="0"/>
                <a:ea typeface="宋体" panose="02010600030101010101" pitchFamily="2" charset="-122"/>
                <a:cs typeface="Times New Roman" panose="02020603050405020304" pitchFamily="18" charset="0"/>
              </a:rPr>
              <a:t>是</a:t>
            </a:r>
            <a:r>
              <a:rPr lang="zh-CN" altLang="zh-CN" sz="1600" b="1" dirty="0">
                <a:effectLst/>
                <a:latin typeface="Calibri" panose="020F0502020204030204" pitchFamily="34" charset="0"/>
                <a:ea typeface="宋体" panose="02010600030101010101" pitchFamily="2" charset="-122"/>
                <a:cs typeface="宋体" panose="02010600030101010101" pitchFamily="2" charset="-122"/>
              </a:rPr>
              <a:t>采样间隔（</a:t>
            </a:r>
            <a:r>
              <a:rPr lang="en-US" altLang="zh-CN" sz="1600" b="1" dirty="0">
                <a:effectLst/>
                <a:latin typeface="Calibri" panose="020F0502020204030204" pitchFamily="34" charset="0"/>
                <a:ea typeface="宋体" panose="02010600030101010101" pitchFamily="2" charset="-122"/>
                <a:cs typeface="宋体" panose="02010600030101010101" pitchFamily="2" charset="-122"/>
              </a:rPr>
              <a:t>sample interval</a:t>
            </a:r>
            <a:r>
              <a:rPr lang="zh-CN" altLang="zh-CN" sz="1600" b="1" dirty="0">
                <a:effectLst/>
                <a:latin typeface="Calibri" panose="020F0502020204030204" pitchFamily="34" charset="0"/>
                <a:ea typeface="宋体" panose="02010600030101010101" pitchFamily="2" charset="-122"/>
                <a:cs typeface="宋体" panose="02010600030101010101" pitchFamily="2" charset="-122"/>
              </a:rPr>
              <a:t>）</a:t>
            </a:r>
            <a:r>
              <a:rPr lang="zh-CN" altLang="zh-CN" sz="1600" dirty="0">
                <a:effectLst/>
                <a:latin typeface="Calibri" panose="020F0502020204030204" pitchFamily="34" charset="0"/>
                <a:ea typeface="宋体" panose="02010600030101010101" pitchFamily="2" charset="-122"/>
                <a:cs typeface="宋体" panose="02010600030101010101" pitchFamily="2" charset="-122"/>
              </a:rPr>
              <a:t>，在</a:t>
            </a:r>
            <a:r>
              <a:rPr lang="en-US" altLang="zh-CN" sz="1600" dirty="0">
                <a:effectLst/>
                <a:latin typeface="Calibri" panose="020F0502020204030204" pitchFamily="34" charset="0"/>
                <a:ea typeface="宋体" panose="02010600030101010101" pitchFamily="2" charset="-122"/>
                <a:cs typeface="宋体" panose="02010600030101010101" pitchFamily="2" charset="-122"/>
              </a:rPr>
              <a:t> </a:t>
            </a:r>
            <a:r>
              <a:rPr lang="en-US" altLang="zh-CN" sz="1600" dirty="0" err="1">
                <a:effectLst/>
                <a:latin typeface="Calibri" panose="020F0502020204030204" pitchFamily="34" charset="0"/>
                <a:ea typeface="宋体" panose="02010600030101010101" pitchFamily="2" charset="-122"/>
                <a:cs typeface="宋体" panose="02010600030101010101" pitchFamily="2" charset="-122"/>
              </a:rPr>
              <a:t>WiFi</a:t>
            </a:r>
            <a:r>
              <a:rPr lang="en-US" altLang="zh-CN" sz="1600" dirty="0">
                <a:effectLst/>
                <a:latin typeface="Calibri" panose="020F0502020204030204" pitchFamily="34" charset="0"/>
                <a:ea typeface="宋体" panose="02010600030101010101" pitchFamily="2" charset="-122"/>
                <a:cs typeface="宋体" panose="02010600030101010101" pitchFamily="2" charset="-122"/>
              </a:rPr>
              <a:t> </a:t>
            </a:r>
            <a:r>
              <a:rPr lang="zh-CN" altLang="zh-CN" sz="1600" dirty="0">
                <a:effectLst/>
                <a:latin typeface="Calibri" panose="020F0502020204030204" pitchFamily="34" charset="0"/>
                <a:ea typeface="宋体" panose="02010600030101010101" pitchFamily="2" charset="-122"/>
                <a:cs typeface="宋体" panose="02010600030101010101" pitchFamily="2" charset="-122"/>
              </a:rPr>
              <a:t>中为 </a:t>
            </a:r>
            <a:r>
              <a:rPr lang="en-US" altLang="zh-CN" sz="1600" b="1" dirty="0">
                <a:effectLst/>
                <a:latin typeface="Calibri" panose="020F0502020204030204" pitchFamily="34" charset="0"/>
                <a:ea typeface="宋体" panose="02010600030101010101" pitchFamily="2" charset="-122"/>
                <a:cs typeface="宋体" panose="02010600030101010101" pitchFamily="2" charset="-122"/>
              </a:rPr>
              <a:t>50 ns</a:t>
            </a:r>
            <a:r>
              <a:rPr lang="zh-CN" altLang="zh-CN" sz="1600" b="1" dirty="0">
                <a:effectLst/>
                <a:latin typeface="Calibri" panose="020F0502020204030204" pitchFamily="34" charset="0"/>
                <a:ea typeface="宋体" panose="02010600030101010101" pitchFamily="2" charset="-122"/>
                <a:cs typeface="宋体" panose="02010600030101010101" pitchFamily="2" charset="-122"/>
              </a:rPr>
              <a:t>，θ是</a:t>
            </a:r>
            <a:r>
              <a:rPr lang="zh-CN" altLang="zh-CN" sz="1600" dirty="0">
                <a:effectLst/>
                <a:latin typeface="Calibri" panose="020F0502020204030204" pitchFamily="34" charset="0"/>
                <a:ea typeface="宋体" panose="02010600030101010101" pitchFamily="2" charset="-122"/>
                <a:cs typeface="宋体" panose="02010600030101010101" pitchFamily="2" charset="-122"/>
              </a:rPr>
              <a:t>是</a:t>
            </a:r>
            <a:r>
              <a:rPr lang="zh-CN" altLang="zh-CN" sz="1600" b="1" dirty="0">
                <a:effectLst/>
                <a:latin typeface="Calibri" panose="020F0502020204030204" pitchFamily="34" charset="0"/>
                <a:ea typeface="宋体" panose="02010600030101010101" pitchFamily="2" charset="-122"/>
                <a:cs typeface="宋体" panose="02010600030101010101" pitchFamily="2" charset="-122"/>
              </a:rPr>
              <a:t>入射方向（</a:t>
            </a:r>
            <a:r>
              <a:rPr lang="en-US" altLang="zh-CN" sz="1600" b="1" dirty="0">
                <a:effectLst/>
                <a:latin typeface="Calibri" panose="020F0502020204030204" pitchFamily="34" charset="0"/>
                <a:ea typeface="宋体" panose="02010600030101010101" pitchFamily="2" charset="-122"/>
                <a:cs typeface="宋体" panose="02010600030101010101" pitchFamily="2" charset="-122"/>
              </a:rPr>
              <a:t>direction of arrival</a:t>
            </a:r>
            <a:r>
              <a:rPr lang="zh-CN" altLang="zh-CN" sz="1600" b="1" dirty="0">
                <a:effectLst/>
                <a:latin typeface="Calibri" panose="020F0502020204030204" pitchFamily="34" charset="0"/>
                <a:ea typeface="宋体" panose="02010600030101010101" pitchFamily="2" charset="-122"/>
                <a:cs typeface="宋体" panose="02010600030101010101" pitchFamily="2" charset="-122"/>
              </a:rPr>
              <a:t>）</a:t>
            </a:r>
            <a:r>
              <a:rPr lang="zh-CN" altLang="zh-CN" sz="1600" dirty="0">
                <a:effectLst/>
                <a:latin typeface="Calibri" panose="020F0502020204030204" pitchFamily="34" charset="0"/>
                <a:ea typeface="宋体" panose="02010600030101010101" pitchFamily="2" charset="-122"/>
                <a:cs typeface="宋体" panose="02010600030101010101" pitchFamily="2" charset="-122"/>
              </a:rPr>
              <a:t>。</a:t>
            </a:r>
            <a:r>
              <a:rPr lang="zh-CN" altLang="zh-CN" sz="1600" dirty="0"/>
              <a:t>在我们选择的 </a:t>
            </a:r>
            <a:r>
              <a:rPr lang="en-US" altLang="zh-CN" sz="1600" b="1" dirty="0"/>
              <a:t>5 GHz </a:t>
            </a:r>
            <a:r>
              <a:rPr lang="en-US" altLang="zh-CN" sz="1600" b="1" dirty="0" err="1"/>
              <a:t>WiFi</a:t>
            </a:r>
            <a:r>
              <a:rPr lang="en-US" altLang="zh-CN" sz="1600" b="1" dirty="0"/>
              <a:t> </a:t>
            </a:r>
            <a:r>
              <a:rPr lang="zh-CN" altLang="zh-CN" sz="1600" b="1" dirty="0"/>
              <a:t>频率</a:t>
            </a:r>
            <a:r>
              <a:rPr lang="zh-CN" altLang="zh-CN" sz="1600" dirty="0"/>
              <a:t>下，</a:t>
            </a:r>
            <a:r>
              <a:rPr lang="zh-CN" altLang="en-US" sz="1600" dirty="0"/>
              <a:t>约为</a:t>
            </a:r>
            <a:r>
              <a:rPr lang="en-US" altLang="zh-CN" sz="1600" dirty="0"/>
              <a:t>0</a:t>
            </a:r>
            <a:endParaRPr lang="zh-CN" altLang="zh-CN" sz="16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15" name="Rectangle 45">
            <a:extLst>
              <a:ext uri="{FF2B5EF4-FFF2-40B4-BE49-F238E27FC236}">
                <a16:creationId xmlns:a16="http://schemas.microsoft.com/office/drawing/2014/main" id="{BB1E82DB-44F3-D7A4-E223-7E12115D18C6}"/>
              </a:ext>
            </a:extLst>
          </p:cNvPr>
          <p:cNvSpPr>
            <a:spLocks noChangeArrowheads="1"/>
          </p:cNvSpPr>
          <p:nvPr/>
        </p:nvSpPr>
        <p:spPr bwMode="auto">
          <a:xfrm>
            <a:off x="6499731" y="1123035"/>
            <a:ext cx="552524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将两个接收器天线放在彼此相距大概</a:t>
            </a:r>
            <a:r>
              <a:rPr kumimoji="0" lang="en-US"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1/2</a:t>
            </a:r>
            <a:r>
              <a:rPr lang="el-GR" altLang="zh-CN" sz="2400" dirty="0"/>
              <a:t> </a:t>
            </a:r>
            <a:r>
              <a:rPr lang="el-GR" altLang="zh-CN" dirty="0"/>
              <a:t>λ</a:t>
            </a:r>
            <a:r>
              <a:rPr lang="zh-CN" altLang="en-US" dirty="0"/>
              <a:t>，距离差的传播时间：</a:t>
            </a:r>
            <a:endParaRPr kumimoji="0" lang="en-US" altLang="zh-CN" sz="2400" b="0" i="0" u="none" strike="noStrike" cap="none" normalizeH="0" baseline="0" dirty="0">
              <a:ln>
                <a:noFill/>
              </a:ln>
              <a:solidFill>
                <a:schemeClr val="tx1"/>
              </a:solidFill>
              <a:effectLst/>
              <a:latin typeface="Arial" panose="020B0604020202020204" pitchFamily="34" charset="0"/>
            </a:endParaRPr>
          </a:p>
        </p:txBody>
      </p:sp>
      <p:pic>
        <p:nvPicPr>
          <p:cNvPr id="26" name="图片 25">
            <a:extLst>
              <a:ext uri="{FF2B5EF4-FFF2-40B4-BE49-F238E27FC236}">
                <a16:creationId xmlns:a16="http://schemas.microsoft.com/office/drawing/2014/main" id="{21B5DA69-5D54-4C20-E1F5-9142E2936FC5}"/>
              </a:ext>
            </a:extLst>
          </p:cNvPr>
          <p:cNvPicPr>
            <a:picLocks noChangeAspect="1"/>
          </p:cNvPicPr>
          <p:nvPr/>
        </p:nvPicPr>
        <p:blipFill>
          <a:blip r:embed="rId13"/>
          <a:stretch>
            <a:fillRect/>
          </a:stretch>
        </p:blipFill>
        <p:spPr>
          <a:xfrm>
            <a:off x="7682928" y="3830035"/>
            <a:ext cx="3158847" cy="727366"/>
          </a:xfrm>
          <a:prstGeom prst="rect">
            <a:avLst/>
          </a:prstGeom>
          <a:noFill/>
          <a:ln>
            <a:noFill/>
          </a:ln>
        </p:spPr>
      </p:pic>
      <p:pic>
        <p:nvPicPr>
          <p:cNvPr id="27" name="图片 26">
            <a:extLst>
              <a:ext uri="{FF2B5EF4-FFF2-40B4-BE49-F238E27FC236}">
                <a16:creationId xmlns:a16="http://schemas.microsoft.com/office/drawing/2014/main" id="{A23E0964-0445-CA3F-CEFC-A916E5D400F9}"/>
              </a:ext>
            </a:extLst>
          </p:cNvPr>
          <p:cNvPicPr>
            <a:picLocks noChangeAspect="1"/>
          </p:cNvPicPr>
          <p:nvPr/>
        </p:nvPicPr>
        <p:blipFill>
          <a:blip r:embed="rId14"/>
          <a:stretch>
            <a:fillRect/>
          </a:stretch>
        </p:blipFill>
        <p:spPr>
          <a:xfrm>
            <a:off x="6407700" y="4538808"/>
            <a:ext cx="5784300" cy="2209083"/>
          </a:xfrm>
          <a:prstGeom prst="rect">
            <a:avLst/>
          </a:prstGeom>
          <a:noFill/>
          <a:ln>
            <a:noFill/>
          </a:ln>
        </p:spPr>
      </p:pic>
      <p:cxnSp>
        <p:nvCxnSpPr>
          <p:cNvPr id="28" name="直接连接符 27">
            <a:extLst>
              <a:ext uri="{FF2B5EF4-FFF2-40B4-BE49-F238E27FC236}">
                <a16:creationId xmlns:a16="http://schemas.microsoft.com/office/drawing/2014/main" id="{7DDA0F7F-B9D2-C34D-CCE6-9E648439E787}"/>
              </a:ext>
            </a:extLst>
          </p:cNvPr>
          <p:cNvCxnSpPr>
            <a:cxnSpLocks/>
          </p:cNvCxnSpPr>
          <p:nvPr/>
        </p:nvCxnSpPr>
        <p:spPr>
          <a:xfrm flipH="1" flipV="1">
            <a:off x="6227196" y="1129770"/>
            <a:ext cx="11720" cy="5562600"/>
          </a:xfrm>
          <a:prstGeom prst="line">
            <a:avLst/>
          </a:prstGeom>
          <a:ln w="38100">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spTree>
    <p:custDataLst>
      <p:tags r:id="rId2"/>
    </p:custDataLst>
    <p:extLst>
      <p:ext uri="{BB962C8B-B14F-4D97-AF65-F5344CB8AC3E}">
        <p14:creationId xmlns:p14="http://schemas.microsoft.com/office/powerpoint/2010/main" val="1313308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47C0-6B20-F33E-EA04-B78AD7D975F3}"/>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6CE81565-F347-C3B3-1E5E-7DEB8670CEBD}"/>
              </a:ext>
            </a:extLst>
          </p:cNvPr>
          <p:cNvSpPr txBox="1"/>
          <p:nvPr>
            <p:custDataLst>
              <p:tags r:id="rId2"/>
            </p:custDataLst>
          </p:nvPr>
        </p:nvSpPr>
        <p:spPr>
          <a:xfrm>
            <a:off x="2637453" y="16061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zh-CN" sz="2400" dirty="0">
                <a:solidFill>
                  <a:srgbClr val="694B71"/>
                </a:solidFill>
                <a:latin typeface="微软雅黑" panose="020B0503020204020204" pitchFamily="34" charset="-122"/>
                <a:ea typeface="微软雅黑" panose="020B0503020204020204" pitchFamily="34" charset="-122"/>
                <a:cs typeface="+mn-ea"/>
              </a:rPr>
              <a:t>不同子载波与天线流间的相位差  </a:t>
            </a:r>
          </a:p>
        </p:txBody>
      </p:sp>
      <p:sp>
        <p:nvSpPr>
          <p:cNvPr id="20" name="矩形 19">
            <a:extLst>
              <a:ext uri="{FF2B5EF4-FFF2-40B4-BE49-F238E27FC236}">
                <a16:creationId xmlns:a16="http://schemas.microsoft.com/office/drawing/2014/main" id="{00C5C10D-23F2-076E-25D4-D46FA21DC441}"/>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0149C647-E2E9-98B8-5CCC-8ECFF089EBE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72BC1EBF-F8A1-8D01-4F6E-4B4BC6E25F7F}"/>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D15F449A-E18F-35F6-4126-C680DF9E1CE6}"/>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944BA7AF-8B73-84FB-A4B3-D3EBA2699163}"/>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pic>
        <p:nvPicPr>
          <p:cNvPr id="4" name="图片 3">
            <a:extLst>
              <a:ext uri="{FF2B5EF4-FFF2-40B4-BE49-F238E27FC236}">
                <a16:creationId xmlns:a16="http://schemas.microsoft.com/office/drawing/2014/main" id="{7AFB77CF-5EA6-2720-01EC-1CE24EBF3293}"/>
              </a:ext>
            </a:extLst>
          </p:cNvPr>
          <p:cNvPicPr>
            <a:picLocks noChangeAspect="1"/>
          </p:cNvPicPr>
          <p:nvPr/>
        </p:nvPicPr>
        <p:blipFill>
          <a:blip r:embed="rId5"/>
          <a:stretch>
            <a:fillRect/>
          </a:stretch>
        </p:blipFill>
        <p:spPr>
          <a:xfrm>
            <a:off x="965072" y="948741"/>
            <a:ext cx="10261855" cy="3918380"/>
          </a:xfrm>
          <a:prstGeom prst="rect">
            <a:avLst/>
          </a:prstGeom>
        </p:spPr>
      </p:pic>
      <p:sp>
        <p:nvSpPr>
          <p:cNvPr id="7" name="文本框 6">
            <a:extLst>
              <a:ext uri="{FF2B5EF4-FFF2-40B4-BE49-F238E27FC236}">
                <a16:creationId xmlns:a16="http://schemas.microsoft.com/office/drawing/2014/main" id="{D95EA5B3-D0ED-260C-8BA7-2BDD908D90B0}"/>
              </a:ext>
            </a:extLst>
          </p:cNvPr>
          <p:cNvSpPr txBox="1"/>
          <p:nvPr/>
        </p:nvSpPr>
        <p:spPr>
          <a:xfrm>
            <a:off x="716205" y="5008384"/>
            <a:ext cx="5524253" cy="1477328"/>
          </a:xfrm>
          <a:prstGeom prst="rect">
            <a:avLst/>
          </a:prstGeom>
          <a:noFill/>
        </p:spPr>
        <p:txBody>
          <a:bodyPr wrap="square">
            <a:spAutoFit/>
          </a:bodyPr>
          <a:lstStyle/>
          <a:p>
            <a:pPr>
              <a:buNone/>
            </a:pPr>
            <a:r>
              <a:rPr lang="zh-CN" altLang="zh-CN" sz="1800" dirty="0">
                <a:solidFill>
                  <a:srgbClr val="775480"/>
                </a:solidFill>
                <a:latin typeface="微软雅黑 Light" panose="020B0502040204020203" charset="-122"/>
                <a:ea typeface="微软雅黑 Light" panose="020B0502040204020203" charset="-122"/>
              </a:rPr>
              <a:t>坐着和躺着等不动的活动导致时域中相对稳定的信号变化模式。但有一项新的观察结果是，</a:t>
            </a:r>
            <a:r>
              <a:rPr lang="en-US" altLang="zh-CN" sz="1800" dirty="0">
                <a:solidFill>
                  <a:srgbClr val="FF0000"/>
                </a:solidFill>
                <a:latin typeface="微软雅黑 Light" panose="020B0502040204020203" charset="-122"/>
                <a:ea typeface="微软雅黑 Light" panose="020B0502040204020203" charset="-122"/>
              </a:rPr>
              <a:t>CSI </a:t>
            </a:r>
            <a:r>
              <a:rPr lang="zh-CN" altLang="zh-CN" sz="1800" dirty="0">
                <a:solidFill>
                  <a:srgbClr val="FF0000"/>
                </a:solidFill>
                <a:latin typeface="微软雅黑 Light" panose="020B0502040204020203" charset="-122"/>
                <a:ea typeface="微软雅黑 Light" panose="020B0502040204020203" charset="-122"/>
              </a:rPr>
              <a:t>相位差信号随着人体的微小运动而波动</a:t>
            </a:r>
            <a:r>
              <a:rPr lang="zh-CN" altLang="zh-CN" sz="1800" dirty="0">
                <a:solidFill>
                  <a:srgbClr val="775480"/>
                </a:solidFill>
                <a:latin typeface="微软雅黑 Light" panose="020B0502040204020203" charset="-122"/>
                <a:ea typeface="微软雅黑 Light" panose="020B0502040204020203" charset="-122"/>
              </a:rPr>
              <a:t>。</a:t>
            </a:r>
            <a:r>
              <a:rPr lang="zh-CN" altLang="en-US" sz="1800" dirty="0">
                <a:solidFill>
                  <a:srgbClr val="775480"/>
                </a:solidFill>
                <a:latin typeface="微软雅黑 Light" panose="020B0502040204020203" charset="-122"/>
                <a:ea typeface="微软雅黑 Light" panose="020B0502040204020203" charset="-122"/>
              </a:rPr>
              <a:t>因为</a:t>
            </a:r>
            <a:r>
              <a:rPr lang="zh-CN" altLang="zh-CN" b="1" dirty="0">
                <a:solidFill>
                  <a:srgbClr val="FF0000"/>
                </a:solidFill>
                <a:latin typeface="微软雅黑 Light" panose="020B0502040204020203" charset="-122"/>
                <a:ea typeface="微软雅黑 Light" panose="020B0502040204020203" charset="-122"/>
              </a:rPr>
              <a:t>两根天线间相位差的方差等于各自方差之和</a:t>
            </a:r>
            <a:r>
              <a:rPr lang="zh-CN" altLang="en-US" b="1" dirty="0">
                <a:solidFill>
                  <a:srgbClr val="775480"/>
                </a:solidFill>
                <a:latin typeface="微软雅黑 Light" panose="020B0502040204020203" charset="-122"/>
                <a:ea typeface="微软雅黑 Light" panose="020B0502040204020203" charset="-122"/>
              </a:rPr>
              <a:t>，</a:t>
            </a:r>
            <a:r>
              <a:rPr lang="zh-CN" altLang="zh-CN" dirty="0">
                <a:solidFill>
                  <a:srgbClr val="775480"/>
                </a:solidFill>
                <a:latin typeface="微软雅黑 Light" panose="020B0502040204020203" charset="-122"/>
                <a:ea typeface="微软雅黑 Light" panose="020B0502040204020203" charset="-122"/>
              </a:rPr>
              <a:t>因此，</a:t>
            </a:r>
            <a:r>
              <a:rPr lang="en-US" altLang="zh-CN" dirty="0">
                <a:solidFill>
                  <a:srgbClr val="775480"/>
                </a:solidFill>
                <a:latin typeface="微软雅黑 Light" panose="020B0502040204020203" charset="-122"/>
                <a:ea typeface="微软雅黑 Light" panose="020B0502040204020203" charset="-122"/>
              </a:rPr>
              <a:t>CSI </a:t>
            </a:r>
            <a:r>
              <a:rPr lang="zh-CN" altLang="zh-CN" dirty="0">
                <a:solidFill>
                  <a:srgbClr val="775480"/>
                </a:solidFill>
                <a:latin typeface="微软雅黑 Light" panose="020B0502040204020203" charset="-122"/>
                <a:ea typeface="微软雅黑 Light" panose="020B0502040204020203" charset="-122"/>
              </a:rPr>
              <a:t>的相位差相较于幅度</a:t>
            </a:r>
            <a:r>
              <a:rPr lang="zh-CN" altLang="en-US" dirty="0">
                <a:solidFill>
                  <a:srgbClr val="775480"/>
                </a:solidFill>
                <a:latin typeface="微软雅黑 Light" panose="020B0502040204020203" charset="-122"/>
                <a:ea typeface="微软雅黑 Light" panose="020B0502040204020203" charset="-122"/>
              </a:rPr>
              <a:t>更加敏感</a:t>
            </a:r>
            <a:endParaRPr lang="zh-CN" altLang="zh-CN" sz="1800" dirty="0">
              <a:solidFill>
                <a:srgbClr val="775480"/>
              </a:solidFill>
              <a:latin typeface="微软雅黑 Light" panose="020B0502040204020203" charset="-122"/>
              <a:ea typeface="微软雅黑 Light" panose="020B0502040204020203" charset="-122"/>
            </a:endParaRPr>
          </a:p>
        </p:txBody>
      </p:sp>
      <p:sp>
        <p:nvSpPr>
          <p:cNvPr id="9" name="文本框 8">
            <a:extLst>
              <a:ext uri="{FF2B5EF4-FFF2-40B4-BE49-F238E27FC236}">
                <a16:creationId xmlns:a16="http://schemas.microsoft.com/office/drawing/2014/main" id="{E9A9AD37-B307-05FC-2BD4-D303E83722D1}"/>
              </a:ext>
            </a:extLst>
          </p:cNvPr>
          <p:cNvSpPr txBox="1"/>
          <p:nvPr/>
        </p:nvSpPr>
        <p:spPr>
          <a:xfrm>
            <a:off x="6635262" y="5026583"/>
            <a:ext cx="4466492" cy="1477328"/>
          </a:xfrm>
          <a:prstGeom prst="rect">
            <a:avLst/>
          </a:prstGeom>
          <a:noFill/>
        </p:spPr>
        <p:txBody>
          <a:bodyPr wrap="square">
            <a:spAutoFit/>
          </a:bodyPr>
          <a:lstStyle/>
          <a:p>
            <a:r>
              <a:rPr lang="zh-CN" altLang="en-US" sz="1800" dirty="0">
                <a:solidFill>
                  <a:srgbClr val="775480"/>
                </a:solidFill>
                <a:latin typeface="微软雅黑 Light" panose="020B0502040204020203" charset="-122"/>
                <a:ea typeface="微软雅黑 Light" panose="020B0502040204020203" charset="-122"/>
              </a:rPr>
              <a:t>运动活动导致时域中更明显的 </a:t>
            </a:r>
            <a:r>
              <a:rPr lang="en" altLang="zh-CN" sz="1800" dirty="0">
                <a:solidFill>
                  <a:srgbClr val="775480"/>
                </a:solidFill>
                <a:latin typeface="微软雅黑 Light" panose="020B0502040204020203" charset="-122"/>
                <a:ea typeface="微软雅黑 Light" panose="020B0502040204020203" charset="-122"/>
              </a:rPr>
              <a:t>CSI </a:t>
            </a:r>
            <a:r>
              <a:rPr lang="zh-CN" altLang="en-US" sz="1800" dirty="0">
                <a:solidFill>
                  <a:srgbClr val="775480"/>
                </a:solidFill>
                <a:latin typeface="微软雅黑 Light" panose="020B0502040204020203" charset="-122"/>
                <a:ea typeface="微软雅黑 Light" panose="020B0502040204020203" charset="-122"/>
              </a:rPr>
              <a:t>信号波动</a:t>
            </a:r>
            <a:endParaRPr lang="en-US" altLang="zh-CN" sz="1800" dirty="0">
              <a:solidFill>
                <a:srgbClr val="775480"/>
              </a:solidFill>
              <a:latin typeface="微软雅黑 Light" panose="020B0502040204020203" charset="-122"/>
              <a:ea typeface="微软雅黑 Light" panose="020B0502040204020203" charset="-122"/>
            </a:endParaRPr>
          </a:p>
          <a:p>
            <a:r>
              <a:rPr lang="zh-CN" altLang="en-US" b="1" dirty="0">
                <a:solidFill>
                  <a:srgbClr val="FF0000"/>
                </a:solidFill>
                <a:latin typeface="微软雅黑 Light" panose="020B0502040204020203" charset="-122"/>
                <a:ea typeface="微软雅黑 Light" panose="020B0502040204020203" charset="-122"/>
              </a:rPr>
              <a:t>和</a:t>
            </a:r>
            <a:r>
              <a:rPr lang="en-US" altLang="zh-CN" b="1" dirty="0">
                <a:solidFill>
                  <a:srgbClr val="FF0000"/>
                </a:solidFill>
                <a:latin typeface="微软雅黑 Light" panose="020B0502040204020203" charset="-122"/>
                <a:ea typeface="微软雅黑 Light" panose="020B0502040204020203" charset="-122"/>
              </a:rPr>
              <a:t>CSI</a:t>
            </a:r>
            <a:r>
              <a:rPr lang="zh-CN" altLang="en-US" b="1" dirty="0">
                <a:solidFill>
                  <a:srgbClr val="FF0000"/>
                </a:solidFill>
                <a:latin typeface="微软雅黑 Light" panose="020B0502040204020203" charset="-122"/>
                <a:ea typeface="微软雅黑 Light" panose="020B0502040204020203" charset="-122"/>
              </a:rPr>
              <a:t>振幅一样，仍然没有明显的模式来区分真正的跌倒和其他非跌倒的日常活动。</a:t>
            </a:r>
          </a:p>
          <a:p>
            <a:endParaRPr lang="zh-CN" altLang="en-US" dirty="0"/>
          </a:p>
        </p:txBody>
      </p:sp>
    </p:spTree>
    <p:custDataLst>
      <p:tags r:id="rId1"/>
    </p:custDataLst>
    <p:extLst>
      <p:ext uri="{BB962C8B-B14F-4D97-AF65-F5344CB8AC3E}">
        <p14:creationId xmlns:p14="http://schemas.microsoft.com/office/powerpoint/2010/main" val="128028949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05EF4-ABD8-C62E-3010-E03A6D7E5F71}"/>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068A42D0-C8DE-CC85-CA23-3C15581394AF}"/>
              </a:ext>
            </a:extLst>
          </p:cNvPr>
          <p:cNvSpPr txBox="1"/>
          <p:nvPr>
            <p:custDataLst>
              <p:tags r:id="rId2"/>
            </p:custDataLst>
          </p:nvPr>
        </p:nvSpPr>
        <p:spPr>
          <a:xfrm>
            <a:off x="2637453" y="167348"/>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en" altLang="zh-CN" sz="2400" dirty="0">
                <a:solidFill>
                  <a:srgbClr val="694B71"/>
                </a:solidFill>
                <a:latin typeface="微软雅黑" panose="020B0503020204020204" pitchFamily="34" charset="-122"/>
                <a:ea typeface="微软雅黑" panose="020B0503020204020204" pitchFamily="34" charset="-122"/>
                <a:cs typeface="+mn-ea"/>
              </a:rPr>
              <a:t>LOS </a:t>
            </a:r>
            <a:r>
              <a:rPr lang="zh-CN" altLang="en-US" sz="2400" dirty="0">
                <a:solidFill>
                  <a:srgbClr val="694B71"/>
                </a:solidFill>
                <a:latin typeface="微软雅黑" panose="020B0503020204020204" pitchFamily="34" charset="-122"/>
                <a:ea typeface="微软雅黑" panose="020B0503020204020204" pitchFamily="34" charset="-122"/>
                <a:cs typeface="+mn-ea"/>
              </a:rPr>
              <a:t>和 </a:t>
            </a:r>
            <a:r>
              <a:rPr lang="en" altLang="zh-CN" sz="2400" dirty="0">
                <a:solidFill>
                  <a:srgbClr val="694B71"/>
                </a:solidFill>
                <a:latin typeface="微软雅黑" panose="020B0503020204020204" pitchFamily="34" charset="-122"/>
                <a:ea typeface="微软雅黑" panose="020B0503020204020204" pitchFamily="34" charset="-122"/>
                <a:cs typeface="+mn-ea"/>
              </a:rPr>
              <a:t>NLOS </a:t>
            </a:r>
            <a:r>
              <a:rPr lang="zh-CN" altLang="en-US" sz="2400" dirty="0">
                <a:solidFill>
                  <a:srgbClr val="694B71"/>
                </a:solidFill>
                <a:latin typeface="微软雅黑" panose="020B0503020204020204" pitchFamily="34" charset="-122"/>
                <a:ea typeface="微软雅黑" panose="020B0503020204020204" pitchFamily="34" charset="-122"/>
                <a:cs typeface="+mn-ea"/>
              </a:rPr>
              <a:t>条件下的活动 </a:t>
            </a:r>
            <a:endParaRPr lang="zh-CN" altLang="zh-CN" sz="24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485259A6-E178-832F-7452-BB0E022982B0}"/>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393EA08C-0F05-3116-3BA3-9EE20B728835}"/>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BFC68309-DE58-29B3-835E-58D9D9CBE0CC}"/>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00D27EB9-F5FF-3368-0D41-5E35B6740008}"/>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BE4A2799-9D1C-7CD4-0CAD-F196D2F21CC8}"/>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5" name="文本框 4">
            <a:extLst>
              <a:ext uri="{FF2B5EF4-FFF2-40B4-BE49-F238E27FC236}">
                <a16:creationId xmlns:a16="http://schemas.microsoft.com/office/drawing/2014/main" id="{99B75BAE-E7E1-B698-3872-39E77949D3E7}"/>
              </a:ext>
            </a:extLst>
          </p:cNvPr>
          <p:cNvSpPr txBox="1"/>
          <p:nvPr/>
        </p:nvSpPr>
        <p:spPr>
          <a:xfrm>
            <a:off x="447973" y="5698131"/>
            <a:ext cx="5832758" cy="1107996"/>
          </a:xfrm>
          <a:prstGeom prst="rect">
            <a:avLst/>
          </a:prstGeom>
          <a:noFill/>
        </p:spPr>
        <p:txBody>
          <a:bodyPr wrap="square">
            <a:spAutoFit/>
          </a:bodyPr>
          <a:lstStyle/>
          <a:p>
            <a:r>
              <a:rPr lang="zh-CN" altLang="en-US" dirty="0">
                <a:solidFill>
                  <a:srgbClr val="775480"/>
                </a:solidFill>
                <a:latin typeface="微软雅黑 Light" panose="020B0502040204020203" charset="-122"/>
                <a:ea typeface="微软雅黑 Light" panose="020B0502040204020203" charset="-122"/>
              </a:rPr>
              <a:t>和振幅一样，从 </a:t>
            </a:r>
            <a:r>
              <a:rPr lang="en" altLang="zh-CN" dirty="0">
                <a:solidFill>
                  <a:srgbClr val="775480"/>
                </a:solidFill>
                <a:latin typeface="微软雅黑 Light" panose="020B0502040204020203" charset="-122"/>
                <a:ea typeface="微软雅黑 Light" panose="020B0502040204020203" charset="-122"/>
              </a:rPr>
              <a:t>LOS </a:t>
            </a:r>
            <a:r>
              <a:rPr lang="zh-CN" altLang="en-US" dirty="0">
                <a:solidFill>
                  <a:srgbClr val="775480"/>
                </a:solidFill>
                <a:latin typeface="微软雅黑 Light" panose="020B0502040204020203" charset="-122"/>
                <a:ea typeface="微软雅黑 Light" panose="020B0502040204020203" charset="-122"/>
              </a:rPr>
              <a:t>到 </a:t>
            </a:r>
            <a:r>
              <a:rPr lang="en" altLang="zh-CN" dirty="0">
                <a:solidFill>
                  <a:srgbClr val="775480"/>
                </a:solidFill>
                <a:latin typeface="微软雅黑 Light" panose="020B0502040204020203" charset="-122"/>
                <a:ea typeface="微软雅黑 Light" panose="020B0502040204020203" charset="-122"/>
              </a:rPr>
              <a:t>NLOS </a:t>
            </a:r>
            <a:r>
              <a:rPr lang="zh-CN" altLang="en-US" dirty="0">
                <a:solidFill>
                  <a:srgbClr val="775480"/>
                </a:solidFill>
                <a:latin typeface="微软雅黑 Light" panose="020B0502040204020203" charset="-122"/>
                <a:ea typeface="微软雅黑 Light" panose="020B0502040204020203" charset="-122"/>
              </a:rPr>
              <a:t>条件，相位差变化会变弱。</a:t>
            </a:r>
          </a:p>
          <a:p>
            <a:endParaRPr lang="zh-CN" altLang="en-US" sz="2400" dirty="0">
              <a:solidFill>
                <a:srgbClr val="775480"/>
              </a:solidFill>
              <a:latin typeface="微软雅黑 Light" panose="020B0502040204020203" charset="-122"/>
              <a:ea typeface="微软雅黑 Light" panose="020B0502040204020203" charset="-122"/>
            </a:endParaRPr>
          </a:p>
          <a:p>
            <a:pPr>
              <a:buNone/>
            </a:pPr>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3" name="图片 2">
            <a:extLst>
              <a:ext uri="{FF2B5EF4-FFF2-40B4-BE49-F238E27FC236}">
                <a16:creationId xmlns:a16="http://schemas.microsoft.com/office/drawing/2014/main" id="{21457961-7303-37AA-9886-FE7EF543E912}"/>
              </a:ext>
            </a:extLst>
          </p:cNvPr>
          <p:cNvPicPr>
            <a:picLocks noChangeAspect="1"/>
          </p:cNvPicPr>
          <p:nvPr/>
        </p:nvPicPr>
        <p:blipFill>
          <a:blip r:embed="rId5"/>
          <a:stretch>
            <a:fillRect/>
          </a:stretch>
        </p:blipFill>
        <p:spPr>
          <a:xfrm>
            <a:off x="447973" y="1501942"/>
            <a:ext cx="5558127" cy="3725277"/>
          </a:xfrm>
          <a:prstGeom prst="rect">
            <a:avLst/>
          </a:prstGeom>
          <a:noFill/>
          <a:ln>
            <a:noFill/>
          </a:ln>
        </p:spPr>
      </p:pic>
      <p:sp>
        <p:nvSpPr>
          <p:cNvPr id="4" name="文本框 3">
            <a:extLst>
              <a:ext uri="{FF2B5EF4-FFF2-40B4-BE49-F238E27FC236}">
                <a16:creationId xmlns:a16="http://schemas.microsoft.com/office/drawing/2014/main" id="{804F1BEF-1EC7-AEDB-A175-E1B0BB53FE14}"/>
              </a:ext>
            </a:extLst>
          </p:cNvPr>
          <p:cNvSpPr txBox="1"/>
          <p:nvPr/>
        </p:nvSpPr>
        <p:spPr>
          <a:xfrm>
            <a:off x="6683574" y="1586302"/>
            <a:ext cx="5238795" cy="3416320"/>
          </a:xfrm>
          <a:prstGeom prst="rect">
            <a:avLst/>
          </a:prstGeom>
          <a:noFill/>
        </p:spPr>
        <p:txBody>
          <a:bodyPr wrap="square">
            <a:spAutoFit/>
          </a:bodyPr>
          <a:lstStyle/>
          <a:p>
            <a:r>
              <a:rPr lang="zh-CN" altLang="en-US" b="1" dirty="0">
                <a:solidFill>
                  <a:srgbClr val="775480"/>
                </a:solidFill>
                <a:latin typeface="微软雅黑 Light" panose="020B0502040204020203" charset="-122"/>
                <a:ea typeface="微软雅黑 Light" panose="020B0502040204020203" charset="-122"/>
              </a:rPr>
              <a:t>相位差</a:t>
            </a:r>
            <a:r>
              <a:rPr lang="zh-CN" altLang="zh-CN" sz="1800" b="1" dirty="0">
                <a:solidFill>
                  <a:srgbClr val="775480"/>
                </a:solidFill>
                <a:latin typeface="微软雅黑 Light" panose="020B0502040204020203" charset="-122"/>
                <a:ea typeface="微软雅黑 Light" panose="020B0502040204020203" charset="-122"/>
              </a:rPr>
              <a:t>多远</a:t>
            </a:r>
            <a:r>
              <a:rPr lang="zh-CN" altLang="en-US" sz="1800" b="1" dirty="0">
                <a:solidFill>
                  <a:srgbClr val="775480"/>
                </a:solidFill>
                <a:latin typeface="微软雅黑 Light" panose="020B0502040204020203" charset="-122"/>
                <a:ea typeface="微软雅黑 Light" panose="020B0502040204020203" charset="-122"/>
              </a:rPr>
              <a:t>无法判断</a:t>
            </a:r>
            <a:r>
              <a:rPr lang="zh-CN" altLang="zh-CN" sz="1800" b="1" dirty="0">
                <a:solidFill>
                  <a:srgbClr val="775480"/>
                </a:solidFill>
                <a:latin typeface="微软雅黑 Light" panose="020B0502040204020203" charset="-122"/>
                <a:ea typeface="微软雅黑 Light" panose="020B0502040204020203" charset="-122"/>
              </a:rPr>
              <a:t>站立和其他</a:t>
            </a:r>
            <a:r>
              <a:rPr lang="zh-CN" altLang="en-US" sz="1800" b="1" dirty="0">
                <a:solidFill>
                  <a:srgbClr val="775480"/>
                </a:solidFill>
                <a:latin typeface="微软雅黑 Light" panose="020B0502040204020203" charset="-122"/>
                <a:ea typeface="微软雅黑 Light" panose="020B0502040204020203" charset="-122"/>
              </a:rPr>
              <a:t>静止</a:t>
            </a:r>
            <a:r>
              <a:rPr lang="zh-CN" altLang="zh-CN" sz="1800" b="1" dirty="0">
                <a:solidFill>
                  <a:srgbClr val="775480"/>
                </a:solidFill>
                <a:latin typeface="微软雅黑 Light" panose="020B0502040204020203" charset="-122"/>
                <a:ea typeface="微软雅黑 Light" panose="020B0502040204020203" charset="-122"/>
              </a:rPr>
              <a:t>活动？ </a:t>
            </a:r>
            <a:endParaRPr lang="en-US" altLang="zh-CN" sz="1800" b="1" dirty="0">
              <a:solidFill>
                <a:srgbClr val="775480"/>
              </a:solidFill>
              <a:latin typeface="微软雅黑 Light" panose="020B0502040204020203" charset="-122"/>
              <a:ea typeface="微软雅黑 Light" panose="020B0502040204020203" charset="-122"/>
            </a:endParaRPr>
          </a:p>
          <a:p>
            <a:r>
              <a:rPr lang="en-US" altLang="zh-CN" b="1" dirty="0">
                <a:solidFill>
                  <a:srgbClr val="775480"/>
                </a:solidFill>
                <a:latin typeface="微软雅黑 Light" panose="020B0502040204020203" charset="-122"/>
                <a:ea typeface="微软雅黑 Light" panose="020B0502040204020203" charset="-122"/>
              </a:rPr>
              <a:t>LOS </a:t>
            </a:r>
            <a:r>
              <a:rPr lang="en-US" altLang="zh-CN" dirty="0">
                <a:solidFill>
                  <a:srgbClr val="775480"/>
                </a:solidFill>
                <a:latin typeface="微软雅黑 Light" panose="020B0502040204020203" charset="-122"/>
                <a:ea typeface="微软雅黑 Light" panose="020B0502040204020203" charset="-122"/>
              </a:rPr>
              <a:t>3.5 m </a:t>
            </a:r>
          </a:p>
          <a:p>
            <a:r>
              <a:rPr lang="en-US" altLang="zh-CN" sz="1800" b="1" dirty="0">
                <a:solidFill>
                  <a:srgbClr val="775480"/>
                </a:solidFill>
                <a:latin typeface="微软雅黑 Light" panose="020B0502040204020203" charset="-122"/>
                <a:ea typeface="微软雅黑 Light" panose="020B0502040204020203" charset="-122"/>
              </a:rPr>
              <a:t>NLOS </a:t>
            </a:r>
            <a:r>
              <a:rPr lang="en-US" altLang="zh-CN" dirty="0">
                <a:solidFill>
                  <a:srgbClr val="775480"/>
                </a:solidFill>
                <a:latin typeface="微软雅黑 Light" panose="020B0502040204020203" charset="-122"/>
                <a:ea typeface="微软雅黑 Light" panose="020B0502040204020203" charset="-122"/>
              </a:rPr>
              <a:t>3 m</a:t>
            </a:r>
            <a:endParaRPr lang="zh-CN" altLang="zh-CN" sz="1800" b="1" dirty="0">
              <a:solidFill>
                <a:srgbClr val="775480"/>
              </a:solidFill>
              <a:latin typeface="微软雅黑 Light" panose="020B0502040204020203" charset="-122"/>
              <a:ea typeface="微软雅黑 Light" panose="020B0502040204020203" charset="-122"/>
            </a:endParaRPr>
          </a:p>
          <a:p>
            <a:r>
              <a:rPr lang="zh-CN" altLang="zh-CN" dirty="0">
                <a:solidFill>
                  <a:srgbClr val="775480"/>
                </a:solidFill>
                <a:latin typeface="微软雅黑 Light" panose="020B0502040204020203" charset="-122"/>
                <a:ea typeface="微软雅黑 Light" panose="020B0502040204020203" charset="-122"/>
              </a:rPr>
              <a:t>差异变得更加清晰</a:t>
            </a:r>
            <a:endParaRPr lang="en-US" altLang="zh-CN" dirty="0">
              <a:solidFill>
                <a:srgbClr val="775480"/>
              </a:solidFill>
              <a:latin typeface="微软雅黑 Light" panose="020B0502040204020203" charset="-122"/>
              <a:ea typeface="微软雅黑 Light" panose="020B0502040204020203" charset="-122"/>
            </a:endParaRPr>
          </a:p>
          <a:p>
            <a:r>
              <a:rPr lang="zh-CN" altLang="zh-CN" sz="1800" dirty="0">
                <a:solidFill>
                  <a:srgbClr val="775480"/>
                </a:solidFill>
                <a:latin typeface="微软雅黑 Light" panose="020B0502040204020203" charset="-122"/>
                <a:ea typeface="微软雅黑 Light" panose="020B0502040204020203" charset="-122"/>
              </a:rPr>
              <a:t>因此，我们得出结论：在普通的室内居住环境中，</a:t>
            </a:r>
            <a:r>
              <a:rPr lang="en-US" altLang="zh-CN" sz="1800" dirty="0">
                <a:solidFill>
                  <a:srgbClr val="775480"/>
                </a:solidFill>
                <a:latin typeface="微软雅黑 Light" panose="020B0502040204020203" charset="-122"/>
                <a:ea typeface="微软雅黑 Light" panose="020B0502040204020203" charset="-122"/>
              </a:rPr>
              <a:t>CSI </a:t>
            </a:r>
            <a:r>
              <a:rPr lang="zh-CN" altLang="en-US" dirty="0">
                <a:solidFill>
                  <a:srgbClr val="775480"/>
                </a:solidFill>
                <a:latin typeface="微软雅黑 Light" panose="020B0502040204020203" charset="-122"/>
                <a:ea typeface="微软雅黑 Light" panose="020B0502040204020203" charset="-122"/>
              </a:rPr>
              <a:t>相位差</a:t>
            </a:r>
            <a:r>
              <a:rPr lang="zh-CN" altLang="en-US" dirty="0">
                <a:solidFill>
                  <a:srgbClr val="FF0000"/>
                </a:solidFill>
                <a:latin typeface="微软雅黑 Light" panose="020B0502040204020203" charset="-122"/>
                <a:ea typeface="微软雅黑 Light" panose="020B0502040204020203" charset="-122"/>
              </a:rPr>
              <a:t>可以</a:t>
            </a:r>
            <a:r>
              <a:rPr lang="zh-CN" altLang="zh-CN" sz="1800" b="1" dirty="0">
                <a:solidFill>
                  <a:srgbClr val="FF0000"/>
                </a:solidFill>
                <a:latin typeface="微软雅黑 Light" panose="020B0502040204020203" charset="-122"/>
                <a:ea typeface="微软雅黑 Light" panose="020B0502040204020203" charset="-122"/>
              </a:rPr>
              <a:t>区分站立姿势与其他静止活动</a:t>
            </a:r>
            <a:r>
              <a:rPr lang="zh-CN" altLang="en-US" sz="1800" b="1" dirty="0">
                <a:solidFill>
                  <a:srgbClr val="FF0000"/>
                </a:solidFill>
                <a:latin typeface="微软雅黑 Light" panose="020B0502040204020203" charset="-122"/>
                <a:ea typeface="微软雅黑 Light" panose="020B0502040204020203" charset="-122"/>
              </a:rPr>
              <a:t>（坐着，躺着）</a:t>
            </a:r>
            <a:endParaRPr lang="en-US" altLang="zh-CN" b="1" dirty="0">
              <a:solidFill>
                <a:srgbClr val="FF0000"/>
              </a:solidFill>
              <a:latin typeface="微软雅黑 Light" panose="020B0502040204020203" charset="-122"/>
              <a:ea typeface="微软雅黑 Light" panose="020B0502040204020203" charset="-122"/>
            </a:endParaRPr>
          </a:p>
          <a:p>
            <a:endParaRPr lang="en-US" altLang="zh-CN" b="1" dirty="0">
              <a:solidFill>
                <a:srgbClr val="775480"/>
              </a:solidFill>
              <a:latin typeface="微软雅黑 Light" panose="020B0502040204020203" charset="-122"/>
              <a:ea typeface="微软雅黑 Light" panose="020B0502040204020203" charset="-122"/>
            </a:endParaRPr>
          </a:p>
          <a:p>
            <a:r>
              <a:rPr lang="zh-CN" altLang="en-US" b="1" dirty="0">
                <a:solidFill>
                  <a:srgbClr val="775480"/>
                </a:solidFill>
                <a:latin typeface="微软雅黑 Light" panose="020B0502040204020203" charset="-122"/>
                <a:ea typeface="微软雅黑 Light" panose="020B0502040204020203" charset="-122"/>
              </a:rPr>
              <a:t>相位差</a:t>
            </a:r>
            <a:r>
              <a:rPr lang="zh-CN" altLang="zh-CN" b="1" dirty="0">
                <a:solidFill>
                  <a:srgbClr val="775480"/>
                </a:solidFill>
                <a:latin typeface="微软雅黑 Light" panose="020B0502040204020203" charset="-122"/>
                <a:ea typeface="微软雅黑 Light" panose="020B0502040204020203" charset="-122"/>
              </a:rPr>
              <a:t>多远</a:t>
            </a:r>
            <a:r>
              <a:rPr lang="zh-CN" altLang="en-US" b="1" dirty="0">
                <a:solidFill>
                  <a:srgbClr val="775480"/>
                </a:solidFill>
                <a:latin typeface="微软雅黑 Light" panose="020B0502040204020203" charset="-122"/>
                <a:ea typeface="微软雅黑 Light" panose="020B0502040204020203" charset="-122"/>
              </a:rPr>
              <a:t>无法判断运动活动</a:t>
            </a:r>
            <a:r>
              <a:rPr lang="zh-CN" altLang="zh-CN" b="1" dirty="0">
                <a:solidFill>
                  <a:srgbClr val="775480"/>
                </a:solidFill>
                <a:latin typeface="微软雅黑 Light" panose="020B0502040204020203" charset="-122"/>
                <a:ea typeface="微软雅黑 Light" panose="020B0502040204020203" charset="-122"/>
              </a:rPr>
              <a:t>和其他</a:t>
            </a:r>
            <a:r>
              <a:rPr lang="zh-CN" altLang="en-US" b="1" dirty="0">
                <a:solidFill>
                  <a:srgbClr val="775480"/>
                </a:solidFill>
                <a:latin typeface="微软雅黑 Light" panose="020B0502040204020203" charset="-122"/>
                <a:ea typeface="微软雅黑 Light" panose="020B0502040204020203" charset="-122"/>
              </a:rPr>
              <a:t>静止</a:t>
            </a:r>
            <a:r>
              <a:rPr lang="zh-CN" altLang="zh-CN" b="1" dirty="0">
                <a:solidFill>
                  <a:srgbClr val="775480"/>
                </a:solidFill>
                <a:latin typeface="微软雅黑 Light" panose="020B0502040204020203" charset="-122"/>
                <a:ea typeface="微软雅黑 Light" panose="020B0502040204020203" charset="-122"/>
              </a:rPr>
              <a:t>活动？ </a:t>
            </a:r>
          </a:p>
          <a:p>
            <a:r>
              <a:rPr lang="en-US" altLang="zh-CN" b="1" dirty="0">
                <a:solidFill>
                  <a:srgbClr val="775480"/>
                </a:solidFill>
                <a:latin typeface="微软雅黑 Light" panose="020B0502040204020203" charset="-122"/>
                <a:ea typeface="微软雅黑 Light" panose="020B0502040204020203" charset="-122"/>
              </a:rPr>
              <a:t>LOS 6 m</a:t>
            </a:r>
            <a:r>
              <a:rPr lang="zh-CN" altLang="zh-CN" b="1" dirty="0">
                <a:solidFill>
                  <a:srgbClr val="775480"/>
                </a:solidFill>
                <a:latin typeface="微软雅黑 Light" panose="020B0502040204020203" charset="-122"/>
                <a:ea typeface="微软雅黑 Light" panose="020B0502040204020203" charset="-122"/>
              </a:rPr>
              <a:t>，</a:t>
            </a:r>
            <a:endParaRPr lang="en-US" altLang="zh-CN" b="1" dirty="0">
              <a:solidFill>
                <a:srgbClr val="775480"/>
              </a:solidFill>
              <a:latin typeface="微软雅黑 Light" panose="020B0502040204020203" charset="-122"/>
              <a:ea typeface="微软雅黑 Light" panose="020B0502040204020203" charset="-122"/>
            </a:endParaRPr>
          </a:p>
          <a:p>
            <a:r>
              <a:rPr lang="en-US" altLang="zh-CN" b="1" dirty="0">
                <a:solidFill>
                  <a:srgbClr val="775480"/>
                </a:solidFill>
                <a:latin typeface="微软雅黑 Light" panose="020B0502040204020203" charset="-122"/>
                <a:ea typeface="微软雅黑 Light" panose="020B0502040204020203" charset="-122"/>
              </a:rPr>
              <a:t>NLO  5 </a:t>
            </a:r>
            <a:r>
              <a:rPr lang="zh-CN" altLang="zh-CN" b="1" dirty="0">
                <a:solidFill>
                  <a:srgbClr val="775480"/>
                </a:solidFill>
                <a:latin typeface="微软雅黑 Light" panose="020B0502040204020203" charset="-122"/>
                <a:ea typeface="微软雅黑 Light" panose="020B0502040204020203" charset="-122"/>
              </a:rPr>
              <a:t>不到</a:t>
            </a:r>
            <a:r>
              <a:rPr lang="en-US" altLang="zh-CN" b="1" dirty="0">
                <a:solidFill>
                  <a:srgbClr val="775480"/>
                </a:solidFill>
                <a:latin typeface="微软雅黑 Light" panose="020B0502040204020203" charset="-122"/>
                <a:ea typeface="微软雅黑 Light" panose="020B0502040204020203" charset="-122"/>
              </a:rPr>
              <a:t> 4 </a:t>
            </a:r>
            <a:r>
              <a:rPr lang="zh-CN" altLang="zh-CN" b="1" dirty="0">
                <a:solidFill>
                  <a:srgbClr val="775480"/>
                </a:solidFill>
                <a:latin typeface="微软雅黑 Light" panose="020B0502040204020203" charset="-122"/>
                <a:ea typeface="微软雅黑 Light" panose="020B0502040204020203" charset="-122"/>
              </a:rPr>
              <a:t>米</a:t>
            </a:r>
            <a:r>
              <a:rPr lang="zh-CN" altLang="zh-CN" dirty="0">
                <a:solidFill>
                  <a:srgbClr val="775480"/>
                </a:solidFill>
                <a:latin typeface="微软雅黑 Light" panose="020B0502040204020203" charset="-122"/>
                <a:ea typeface="微软雅黑 Light" panose="020B0502040204020203" charset="-122"/>
              </a:rPr>
              <a:t>。 </a:t>
            </a:r>
            <a:br>
              <a:rPr lang="en-US" altLang="zh-CN" b="1" dirty="0">
                <a:solidFill>
                  <a:srgbClr val="775480"/>
                </a:solidFill>
                <a:latin typeface="微软雅黑 Light" panose="020B0502040204020203" charset="-122"/>
                <a:ea typeface="微软雅黑 Light" panose="020B0502040204020203" charset="-122"/>
              </a:rPr>
            </a:br>
            <a:r>
              <a:rPr lang="zh-CN" altLang="zh-CN" b="1" dirty="0">
                <a:solidFill>
                  <a:srgbClr val="775480"/>
                </a:solidFill>
                <a:latin typeface="微软雅黑 Light" panose="020B0502040204020203" charset="-122"/>
                <a:ea typeface="微软雅黑 Light" panose="020B0502040204020203" charset="-122"/>
              </a:rPr>
              <a:t>因此，</a:t>
            </a:r>
            <a:r>
              <a:rPr lang="en-US" altLang="zh-CN" b="1" dirty="0">
                <a:solidFill>
                  <a:srgbClr val="FF0000"/>
                </a:solidFill>
                <a:latin typeface="微软雅黑 Light" panose="020B0502040204020203" charset="-122"/>
                <a:ea typeface="微软雅黑 Light" panose="020B0502040204020203" charset="-122"/>
              </a:rPr>
              <a:t>CSI </a:t>
            </a:r>
            <a:r>
              <a:rPr lang="zh-CN" altLang="en-US" b="1" dirty="0">
                <a:solidFill>
                  <a:srgbClr val="FF0000"/>
                </a:solidFill>
                <a:latin typeface="微软雅黑 Light" panose="020B0502040204020203" charset="-122"/>
                <a:ea typeface="微软雅黑 Light" panose="020B0502040204020203" charset="-122"/>
              </a:rPr>
              <a:t>相位差也是比幅度更好的基础信号</a:t>
            </a:r>
            <a:endParaRPr lang="zh-CN" altLang="zh-CN" sz="1800" b="1" dirty="0">
              <a:solidFill>
                <a:srgbClr val="FF0000"/>
              </a:solidFill>
              <a:latin typeface="微软雅黑 Light" panose="020B0502040204020203" charset="-122"/>
              <a:ea typeface="微软雅黑 Light" panose="020B0502040204020203" charset="-122"/>
            </a:endParaRPr>
          </a:p>
        </p:txBody>
      </p:sp>
      <p:sp>
        <p:nvSpPr>
          <p:cNvPr id="7" name="文本框 6">
            <a:extLst>
              <a:ext uri="{FF2B5EF4-FFF2-40B4-BE49-F238E27FC236}">
                <a16:creationId xmlns:a16="http://schemas.microsoft.com/office/drawing/2014/main" id="{21459165-1C71-5616-69DD-607673116410}"/>
              </a:ext>
            </a:extLst>
          </p:cNvPr>
          <p:cNvSpPr txBox="1"/>
          <p:nvPr/>
        </p:nvSpPr>
        <p:spPr>
          <a:xfrm>
            <a:off x="732549" y="1034514"/>
            <a:ext cx="6096000" cy="369332"/>
          </a:xfrm>
          <a:prstGeom prst="rect">
            <a:avLst/>
          </a:prstGeom>
          <a:noFill/>
        </p:spPr>
        <p:txBody>
          <a:bodyPr wrap="square">
            <a:spAutoFit/>
          </a:bodyPr>
          <a:lstStyle/>
          <a:p>
            <a:r>
              <a:rPr lang="en" altLang="zh-CN" b="1" dirty="0">
                <a:solidFill>
                  <a:srgbClr val="FF0000"/>
                </a:solidFill>
                <a:latin typeface="微软雅黑 Light" panose="020B0502040204020203" charset="-122"/>
                <a:ea typeface="微软雅黑 Light" panose="020B0502040204020203" charset="-122"/>
              </a:rPr>
              <a:t>LOS</a:t>
            </a:r>
            <a:endParaRPr lang="zh-CN" altLang="en-US" b="1" dirty="0">
              <a:solidFill>
                <a:srgbClr val="FF0000"/>
              </a:solidFill>
            </a:endParaRPr>
          </a:p>
        </p:txBody>
      </p:sp>
      <p:sp>
        <p:nvSpPr>
          <p:cNvPr id="8" name="文本框 7">
            <a:extLst>
              <a:ext uri="{FF2B5EF4-FFF2-40B4-BE49-F238E27FC236}">
                <a16:creationId xmlns:a16="http://schemas.microsoft.com/office/drawing/2014/main" id="{75B07D65-1661-FDAB-8A73-580C3136DAC0}"/>
              </a:ext>
            </a:extLst>
          </p:cNvPr>
          <p:cNvSpPr txBox="1"/>
          <p:nvPr/>
        </p:nvSpPr>
        <p:spPr>
          <a:xfrm>
            <a:off x="3458547" y="1050531"/>
            <a:ext cx="6096000" cy="369332"/>
          </a:xfrm>
          <a:prstGeom prst="rect">
            <a:avLst/>
          </a:prstGeom>
          <a:noFill/>
        </p:spPr>
        <p:txBody>
          <a:bodyPr wrap="square">
            <a:spAutoFit/>
          </a:bodyPr>
          <a:lstStyle/>
          <a:p>
            <a:r>
              <a:rPr lang="en-US" altLang="zh-CN" b="1" dirty="0">
                <a:solidFill>
                  <a:srgbClr val="FF0000"/>
                </a:solidFill>
                <a:latin typeface="微软雅黑 Light" panose="020B0502040204020203" charset="-122"/>
                <a:ea typeface="微软雅黑 Light" panose="020B0502040204020203" charset="-122"/>
              </a:rPr>
              <a:t>N</a:t>
            </a:r>
            <a:r>
              <a:rPr lang="en" altLang="zh-CN" b="1" dirty="0">
                <a:solidFill>
                  <a:srgbClr val="FF0000"/>
                </a:solidFill>
                <a:latin typeface="微软雅黑 Light" panose="020B0502040204020203" charset="-122"/>
                <a:ea typeface="微软雅黑 Light" panose="020B0502040204020203" charset="-122"/>
              </a:rPr>
              <a:t>LOS</a:t>
            </a:r>
            <a:endParaRPr lang="zh-CN" altLang="en-US" b="1" dirty="0">
              <a:solidFill>
                <a:srgbClr val="FF0000"/>
              </a:solidFill>
            </a:endParaRPr>
          </a:p>
        </p:txBody>
      </p:sp>
      <p:cxnSp>
        <p:nvCxnSpPr>
          <p:cNvPr id="9" name="直接连接符 8">
            <a:extLst>
              <a:ext uri="{FF2B5EF4-FFF2-40B4-BE49-F238E27FC236}">
                <a16:creationId xmlns:a16="http://schemas.microsoft.com/office/drawing/2014/main" id="{C7A365F8-3E55-1794-371F-B4D6DE46C4EE}"/>
              </a:ext>
            </a:extLst>
          </p:cNvPr>
          <p:cNvCxnSpPr>
            <a:cxnSpLocks/>
          </p:cNvCxnSpPr>
          <p:nvPr/>
        </p:nvCxnSpPr>
        <p:spPr>
          <a:xfrm flipH="1" flipV="1">
            <a:off x="6494827" y="1128052"/>
            <a:ext cx="11720" cy="5562600"/>
          </a:xfrm>
          <a:prstGeom prst="line">
            <a:avLst/>
          </a:prstGeom>
          <a:ln w="38100">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12670625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902F9-12B7-1259-BF3F-9F7D55D0D137}"/>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F3C9C9BF-AB52-5797-72C0-AFB22859382F}"/>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不同场景下的跌倒 </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66BC3B11-D082-E14B-8483-5D2DAE72DA36}"/>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2984373B-F57B-A139-263B-0D7FCB12ADCF}"/>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DA8EC45B-1C0A-278E-D6B2-E555A20513D2}"/>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73C045DC-5089-96E0-07BB-546751BF9108}"/>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CEEDF94D-70D9-06F1-4BA0-96388DB552CE}"/>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pic>
        <p:nvPicPr>
          <p:cNvPr id="3" name="图片 2">
            <a:extLst>
              <a:ext uri="{FF2B5EF4-FFF2-40B4-BE49-F238E27FC236}">
                <a16:creationId xmlns:a16="http://schemas.microsoft.com/office/drawing/2014/main" id="{BE24AA06-B20E-348F-FB45-7A4904BABDE3}"/>
              </a:ext>
            </a:extLst>
          </p:cNvPr>
          <p:cNvPicPr>
            <a:picLocks noChangeAspect="1"/>
          </p:cNvPicPr>
          <p:nvPr/>
        </p:nvPicPr>
        <p:blipFill>
          <a:blip r:embed="rId5"/>
          <a:stretch>
            <a:fillRect/>
          </a:stretch>
        </p:blipFill>
        <p:spPr>
          <a:xfrm>
            <a:off x="260681" y="1374834"/>
            <a:ext cx="5986033" cy="3188764"/>
          </a:xfrm>
          <a:prstGeom prst="rect">
            <a:avLst/>
          </a:prstGeom>
          <a:noFill/>
          <a:ln>
            <a:noFill/>
          </a:ln>
        </p:spPr>
      </p:pic>
      <p:sp>
        <p:nvSpPr>
          <p:cNvPr id="5" name="文本框 4">
            <a:extLst>
              <a:ext uri="{FF2B5EF4-FFF2-40B4-BE49-F238E27FC236}">
                <a16:creationId xmlns:a16="http://schemas.microsoft.com/office/drawing/2014/main" id="{9F77B926-A686-69B5-8BFE-D51F407CA775}"/>
              </a:ext>
            </a:extLst>
          </p:cNvPr>
          <p:cNvSpPr txBox="1"/>
          <p:nvPr/>
        </p:nvSpPr>
        <p:spPr>
          <a:xfrm>
            <a:off x="181110" y="4963886"/>
            <a:ext cx="5914890" cy="923330"/>
          </a:xfrm>
          <a:prstGeom prst="rect">
            <a:avLst/>
          </a:prstGeom>
          <a:noFill/>
        </p:spPr>
        <p:txBody>
          <a:bodyPr wrap="square">
            <a:spAutoFit/>
          </a:bodyPr>
          <a:lstStyle/>
          <a:p>
            <a:r>
              <a:rPr lang="zh-CN" altLang="zh-CN" dirty="0">
                <a:solidFill>
                  <a:srgbClr val="775480"/>
                </a:solidFill>
                <a:latin typeface="微软雅黑 Light" panose="020B0502040204020203" charset="-122"/>
                <a:ea typeface="微软雅黑 Light" panose="020B0502040204020203" charset="-122"/>
              </a:rPr>
              <a:t>当人们跌倒、躺下和坐下时，</a:t>
            </a:r>
            <a:r>
              <a:rPr lang="zh-CN" altLang="zh-CN" b="1" dirty="0">
                <a:solidFill>
                  <a:srgbClr val="FF0000"/>
                </a:solidFill>
                <a:latin typeface="微软雅黑 Light" panose="020B0502040204020203" charset="-122"/>
                <a:ea typeface="微软雅黑 Light" panose="020B0502040204020203" charset="-122"/>
              </a:rPr>
              <a:t>相位差的变化模式才表现出从波动状态到稳定状态的明显转变</a:t>
            </a:r>
            <a:r>
              <a:rPr lang="zh-CN" altLang="zh-CN" dirty="0">
                <a:solidFill>
                  <a:srgbClr val="775480"/>
                </a:solidFill>
                <a:latin typeface="微软雅黑 Light" panose="020B0502040204020203" charset="-122"/>
                <a:ea typeface="微软雅黑 Light" panose="020B0502040204020203" charset="-122"/>
              </a:rPr>
              <a:t>，</a:t>
            </a:r>
            <a:r>
              <a:rPr lang="zh-CN" altLang="en-US" dirty="0">
                <a:solidFill>
                  <a:srgbClr val="775480"/>
                </a:solidFill>
                <a:latin typeface="微软雅黑 Light" panose="020B0502040204020203" charset="-122"/>
                <a:ea typeface="微软雅黑 Light" panose="020B0502040204020203" charset="-122"/>
              </a:rPr>
              <a:t>所以可以</a:t>
            </a:r>
            <a:r>
              <a:rPr lang="zh-CN" altLang="zh-CN" dirty="0">
                <a:solidFill>
                  <a:srgbClr val="775480"/>
                </a:solidFill>
                <a:latin typeface="微软雅黑 Light" panose="020B0502040204020203" charset="-122"/>
                <a:ea typeface="微软雅黑 Light" panose="020B0502040204020203" charset="-122"/>
              </a:rPr>
              <a:t>利用</a:t>
            </a:r>
            <a:r>
              <a:rPr lang="en-US" altLang="zh-CN" dirty="0">
                <a:solidFill>
                  <a:srgbClr val="775480"/>
                </a:solidFill>
                <a:latin typeface="微软雅黑 Light" panose="020B0502040204020203" charset="-122"/>
                <a:ea typeface="微软雅黑 Light" panose="020B0502040204020203" charset="-122"/>
              </a:rPr>
              <a:t> CSI </a:t>
            </a:r>
            <a:r>
              <a:rPr lang="zh-CN" altLang="zh-CN" dirty="0">
                <a:solidFill>
                  <a:srgbClr val="775480"/>
                </a:solidFill>
                <a:latin typeface="微软雅黑 Light" panose="020B0502040204020203" charset="-122"/>
                <a:ea typeface="微软雅黑 Light" panose="020B0502040204020203" charset="-122"/>
              </a:rPr>
              <a:t>相位差的状态转变进行实时活动分割。 </a:t>
            </a:r>
            <a:endParaRPr lang="zh-CN" altLang="en-US" dirty="0">
              <a:solidFill>
                <a:srgbClr val="775480"/>
              </a:solidFill>
              <a:latin typeface="微软雅黑 Light" panose="020B0502040204020203" charset="-122"/>
              <a:ea typeface="微软雅黑 Light" panose="020B0502040204020203" charset="-122"/>
            </a:endParaRPr>
          </a:p>
        </p:txBody>
      </p:sp>
      <p:sp>
        <p:nvSpPr>
          <p:cNvPr id="6" name="文本框 5">
            <a:extLst>
              <a:ext uri="{FF2B5EF4-FFF2-40B4-BE49-F238E27FC236}">
                <a16:creationId xmlns:a16="http://schemas.microsoft.com/office/drawing/2014/main" id="{4141C33A-1848-7580-5E38-B4EBE715D2F8}"/>
              </a:ext>
            </a:extLst>
          </p:cNvPr>
          <p:cNvSpPr txBox="1"/>
          <p:nvPr/>
        </p:nvSpPr>
        <p:spPr>
          <a:xfrm>
            <a:off x="6459093" y="2413337"/>
            <a:ext cx="5404338" cy="2031325"/>
          </a:xfrm>
          <a:prstGeom prst="rect">
            <a:avLst/>
          </a:prstGeom>
          <a:noFill/>
        </p:spPr>
        <p:txBody>
          <a:bodyPr wrap="square">
            <a:spAutoFit/>
          </a:bodyPr>
          <a:lstStyle/>
          <a:p>
            <a:r>
              <a:rPr lang="zh-CN" altLang="en-US" sz="1800" b="1" dirty="0">
                <a:solidFill>
                  <a:srgbClr val="FF0000"/>
                </a:solidFill>
                <a:latin typeface="微软雅黑 Light" panose="020B0502040204020203" charset="-122"/>
                <a:ea typeface="微软雅黑 Light" panose="020B0502040204020203" charset="-122"/>
              </a:rPr>
              <a:t>但除了跌倒、躺下和坐下之外，许多“原地”活动也可能引起 </a:t>
            </a:r>
            <a:r>
              <a:rPr lang="en" altLang="zh-CN" sz="1800" b="1" dirty="0">
                <a:solidFill>
                  <a:srgbClr val="FF0000"/>
                </a:solidFill>
                <a:latin typeface="微软雅黑 Light" panose="020B0502040204020203" charset="-122"/>
                <a:ea typeface="微软雅黑 Light" panose="020B0502040204020203" charset="-122"/>
              </a:rPr>
              <a:t>CSI </a:t>
            </a:r>
            <a:r>
              <a:rPr lang="zh-CN" altLang="en-US" sz="1800" b="1" dirty="0">
                <a:solidFill>
                  <a:srgbClr val="FF0000"/>
                </a:solidFill>
                <a:latin typeface="微软雅黑 Light" panose="020B0502040204020203" charset="-122"/>
                <a:ea typeface="微软雅黑 Light" panose="020B0502040204020203" charset="-122"/>
              </a:rPr>
              <a:t>相位差的状态转换</a:t>
            </a:r>
            <a:r>
              <a:rPr lang="zh-CN" altLang="en-US" sz="1800" dirty="0">
                <a:solidFill>
                  <a:srgbClr val="775480"/>
                </a:solidFill>
                <a:latin typeface="微软雅黑 Light" panose="020B0502040204020203" charset="-122"/>
                <a:ea typeface="微软雅黑 Light" panose="020B0502040204020203" charset="-122"/>
              </a:rPr>
              <a:t>，从而导致很多活动被分割</a:t>
            </a:r>
            <a:r>
              <a:rPr lang="zh-CN" altLang="en-US" dirty="0">
                <a:solidFill>
                  <a:srgbClr val="775480"/>
                </a:solidFill>
                <a:latin typeface="微软雅黑 Light" panose="020B0502040204020203" charset="-122"/>
                <a:ea typeface="微软雅黑 Light" panose="020B0502040204020203" charset="-122"/>
              </a:rPr>
              <a:t>，比如受试者完成某些原地活动（例如吃饭、写作或打电话）并返回不动姿势。就地活动种类不同，很难将所有这些活动收集起来进行训练和测试以进行分类。</a:t>
            </a:r>
          </a:p>
          <a:p>
            <a:endParaRPr lang="zh-CN" altLang="en-US" dirty="0"/>
          </a:p>
        </p:txBody>
      </p:sp>
    </p:spTree>
    <p:custDataLst>
      <p:tags r:id="rId1"/>
    </p:custDataLst>
    <p:extLst>
      <p:ext uri="{BB962C8B-B14F-4D97-AF65-F5344CB8AC3E}">
        <p14:creationId xmlns:p14="http://schemas.microsoft.com/office/powerpoint/2010/main" val="74153806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DAC30-E722-B6B4-8877-BF8546865CD3}"/>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E1A8134A-9955-5A2C-45D2-E89E8C043E1C}"/>
              </a:ext>
            </a:extLst>
          </p:cNvPr>
          <p:cNvSpPr txBox="1"/>
          <p:nvPr>
            <p:custDataLst>
              <p:tags r:id="rId2"/>
            </p:custDataLst>
          </p:nvPr>
        </p:nvSpPr>
        <p:spPr>
          <a:xfrm>
            <a:off x="2637453" y="23935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28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28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8C9D93AC-949F-C247-5872-B422CAEEE256}"/>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AF9427B4-BFAB-2F10-05B6-6C74B49304B6}"/>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FCA94231-6C6D-EB21-A97E-DB9E4FA9660D}"/>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BA63E15-368D-EC4F-8B7E-AC256701478E}"/>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FA1E3A70-D3DD-8A5A-2087-A3FAAEDE917B}"/>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0F077A67-F82D-2B80-0BE9-CAC0C1B34072}"/>
              </a:ext>
            </a:extLst>
          </p:cNvPr>
          <p:cNvSpPr txBox="1"/>
          <p:nvPr/>
        </p:nvSpPr>
        <p:spPr>
          <a:xfrm>
            <a:off x="316125" y="3641540"/>
            <a:ext cx="3918092" cy="830997"/>
          </a:xfrm>
          <a:prstGeom prst="rect">
            <a:avLst/>
          </a:prstGeom>
          <a:noFill/>
        </p:spPr>
        <p:txBody>
          <a:bodyPr wrap="square">
            <a:spAutoFit/>
          </a:bodyPr>
          <a:lstStyle/>
          <a:p>
            <a:r>
              <a:rPr lang="zh-CN" altLang="zh-CN" sz="1600" dirty="0">
                <a:solidFill>
                  <a:srgbClr val="775480"/>
                </a:solidFill>
                <a:latin typeface="微软雅黑 Light" panose="020B0502040204020203" charset="-122"/>
                <a:ea typeface="微软雅黑 Light" panose="020B0502040204020203" charset="-122"/>
              </a:rPr>
              <a:t>为了提取对跌倒分割与检测更有效的特征，我们进一步使用短时傅里叶变换绘制出不同日常活动对应的 </a:t>
            </a:r>
            <a:r>
              <a:rPr lang="en-US" altLang="zh-CN" sz="1600" dirty="0">
                <a:solidFill>
                  <a:srgbClr val="775480"/>
                </a:solidFill>
                <a:latin typeface="微软雅黑 Light" panose="020B0502040204020203" charset="-122"/>
                <a:ea typeface="微软雅黑 Light" panose="020B0502040204020203" charset="-122"/>
              </a:rPr>
              <a:t>CSI </a:t>
            </a:r>
            <a:r>
              <a:rPr lang="zh-CN" altLang="zh-CN" sz="1600" dirty="0">
                <a:solidFill>
                  <a:srgbClr val="775480"/>
                </a:solidFill>
                <a:latin typeface="微软雅黑 Light" panose="020B0502040204020203" charset="-122"/>
                <a:ea typeface="微软雅黑 Light" panose="020B0502040204020203" charset="-122"/>
              </a:rPr>
              <a:t>相位差信号频谱图 </a:t>
            </a:r>
            <a:endParaRPr lang="zh-CN" altLang="en-US" sz="1600" dirty="0">
              <a:solidFill>
                <a:srgbClr val="775480"/>
              </a:solidFill>
              <a:latin typeface="微软雅黑 Light" panose="020B0502040204020203" charset="-122"/>
              <a:ea typeface="微软雅黑 Light" panose="020B0502040204020203" charset="-122"/>
            </a:endParaRPr>
          </a:p>
        </p:txBody>
      </p:sp>
      <p:pic>
        <p:nvPicPr>
          <p:cNvPr id="8" name="图片 7">
            <a:extLst>
              <a:ext uri="{FF2B5EF4-FFF2-40B4-BE49-F238E27FC236}">
                <a16:creationId xmlns:a16="http://schemas.microsoft.com/office/drawing/2014/main" id="{7CEC4E25-B0F9-BE32-A591-BA53F7A8D4D7}"/>
              </a:ext>
            </a:extLst>
          </p:cNvPr>
          <p:cNvPicPr>
            <a:picLocks noChangeAspect="1"/>
          </p:cNvPicPr>
          <p:nvPr/>
        </p:nvPicPr>
        <p:blipFill>
          <a:blip r:embed="rId5"/>
          <a:stretch>
            <a:fillRect/>
          </a:stretch>
        </p:blipFill>
        <p:spPr>
          <a:xfrm>
            <a:off x="0" y="1556331"/>
            <a:ext cx="12192001" cy="2025804"/>
          </a:xfrm>
          <a:prstGeom prst="rect">
            <a:avLst/>
          </a:prstGeom>
        </p:spPr>
      </p:pic>
      <p:sp>
        <p:nvSpPr>
          <p:cNvPr id="4" name="文本框 3">
            <a:extLst>
              <a:ext uri="{FF2B5EF4-FFF2-40B4-BE49-F238E27FC236}">
                <a16:creationId xmlns:a16="http://schemas.microsoft.com/office/drawing/2014/main" id="{4F4CDBF0-A32E-CF1C-E9B4-BA7B9AB8488A}"/>
              </a:ext>
            </a:extLst>
          </p:cNvPr>
          <p:cNvSpPr txBox="1"/>
          <p:nvPr/>
        </p:nvSpPr>
        <p:spPr>
          <a:xfrm>
            <a:off x="492203" y="4448304"/>
            <a:ext cx="5192127" cy="584775"/>
          </a:xfrm>
          <a:prstGeom prst="rect">
            <a:avLst/>
          </a:prstGeom>
          <a:noFill/>
        </p:spPr>
        <p:txBody>
          <a:bodyPr wrap="square">
            <a:spAutoFit/>
          </a:bodyPr>
          <a:lstStyle/>
          <a:p>
            <a:r>
              <a:rPr lang="en-US" altLang="zh-CN" sz="1600" dirty="0">
                <a:solidFill>
                  <a:srgbClr val="775480"/>
                </a:solidFill>
                <a:latin typeface="微软雅黑 Light" panose="020B0502040204020203" charset="-122"/>
                <a:ea typeface="微软雅黑 Light" panose="020B0502040204020203" charset="-122"/>
              </a:rPr>
              <a:t>1 </a:t>
            </a:r>
            <a:r>
              <a:rPr lang="zh-CN" altLang="en-US" sz="1600" dirty="0">
                <a:solidFill>
                  <a:srgbClr val="775480"/>
                </a:solidFill>
                <a:latin typeface="微软雅黑 Light" panose="020B0502040204020203" charset="-122"/>
                <a:ea typeface="微软雅黑 Light" panose="020B0502040204020203" charset="-122"/>
              </a:rPr>
              <a:t>非运动姿势的</a:t>
            </a:r>
            <a:r>
              <a:rPr lang="zh-CN" altLang="en-US" sz="1600" b="1" dirty="0">
                <a:solidFill>
                  <a:srgbClr val="FF0000"/>
                </a:solidFill>
                <a:latin typeface="微软雅黑 Light" panose="020B0502040204020203" charset="-122"/>
                <a:ea typeface="微软雅黑 Light" panose="020B0502040204020203" charset="-122"/>
              </a:rPr>
              <a:t>功率谱特征较弱</a:t>
            </a:r>
            <a:r>
              <a:rPr lang="zh-CN" altLang="en-US" sz="1600" dirty="0">
                <a:solidFill>
                  <a:srgbClr val="775480"/>
                </a:solidFill>
                <a:latin typeface="微软雅黑 Light" panose="020B0502040204020203" charset="-122"/>
                <a:ea typeface="微软雅黑 Light" panose="020B0502040204020203" charset="-122"/>
              </a:rPr>
              <a:t>，因为没有任何明显的身体运动</a:t>
            </a:r>
            <a:endParaRPr lang="zh-CN" altLang="en-US" sz="1600" dirty="0"/>
          </a:p>
        </p:txBody>
      </p:sp>
      <p:sp>
        <p:nvSpPr>
          <p:cNvPr id="5" name="矩形 4">
            <a:extLst>
              <a:ext uri="{FF2B5EF4-FFF2-40B4-BE49-F238E27FC236}">
                <a16:creationId xmlns:a16="http://schemas.microsoft.com/office/drawing/2014/main" id="{AF8D6A6E-A1F4-5987-432F-B4720533FEBA}"/>
              </a:ext>
            </a:extLst>
          </p:cNvPr>
          <p:cNvSpPr/>
          <p:nvPr/>
        </p:nvSpPr>
        <p:spPr>
          <a:xfrm>
            <a:off x="621323" y="2074985"/>
            <a:ext cx="820532" cy="1354015"/>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91BDA8A2-5AF2-0FF0-6496-FE47DD7FCDF7}"/>
              </a:ext>
            </a:extLst>
          </p:cNvPr>
          <p:cNvSpPr/>
          <p:nvPr/>
        </p:nvSpPr>
        <p:spPr>
          <a:xfrm>
            <a:off x="2203938" y="1887415"/>
            <a:ext cx="820532" cy="1541585"/>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A71575C6-7C22-544E-B5FE-2A2B64591673}"/>
              </a:ext>
            </a:extLst>
          </p:cNvPr>
          <p:cNvSpPr/>
          <p:nvPr/>
        </p:nvSpPr>
        <p:spPr>
          <a:xfrm>
            <a:off x="4642339" y="1981199"/>
            <a:ext cx="820532" cy="1354015"/>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74CA229C-9D21-F210-2FF1-92FD18487FEF}"/>
              </a:ext>
            </a:extLst>
          </p:cNvPr>
          <p:cNvSpPr/>
          <p:nvPr/>
        </p:nvSpPr>
        <p:spPr>
          <a:xfrm>
            <a:off x="11342245" y="2074985"/>
            <a:ext cx="820532" cy="1354015"/>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BE9BF0AB-6315-FC68-F281-0AF6BDCFAD9C}"/>
              </a:ext>
            </a:extLst>
          </p:cNvPr>
          <p:cNvSpPr/>
          <p:nvPr/>
        </p:nvSpPr>
        <p:spPr>
          <a:xfrm>
            <a:off x="1441855" y="1998701"/>
            <a:ext cx="762083" cy="1336514"/>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0F6103B0-9AF6-3B5E-C141-1538C70ED4AA}"/>
              </a:ext>
            </a:extLst>
          </p:cNvPr>
          <p:cNvSpPr/>
          <p:nvPr/>
        </p:nvSpPr>
        <p:spPr>
          <a:xfrm>
            <a:off x="6348089" y="1998701"/>
            <a:ext cx="762083" cy="1336514"/>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7680B22A-E752-AD06-876E-04744BB357DA}"/>
              </a:ext>
            </a:extLst>
          </p:cNvPr>
          <p:cNvSpPr txBox="1"/>
          <p:nvPr/>
        </p:nvSpPr>
        <p:spPr>
          <a:xfrm>
            <a:off x="454039" y="5009281"/>
            <a:ext cx="5034464" cy="584775"/>
          </a:xfrm>
          <a:prstGeom prst="rect">
            <a:avLst/>
          </a:prstGeom>
          <a:noFill/>
        </p:spPr>
        <p:txBody>
          <a:bodyPr wrap="square">
            <a:spAutoFit/>
          </a:bodyPr>
          <a:lstStyle/>
          <a:p>
            <a:r>
              <a:rPr lang="en-US" altLang="zh-CN" sz="1600" dirty="0">
                <a:solidFill>
                  <a:srgbClr val="775480"/>
                </a:solidFill>
                <a:latin typeface="微软雅黑 Light" panose="020B0502040204020203" charset="-122"/>
                <a:ea typeface="微软雅黑 Light" panose="020B0502040204020203" charset="-122"/>
              </a:rPr>
              <a:t>2 </a:t>
            </a:r>
            <a:r>
              <a:rPr lang="zh-CN" altLang="en-US" sz="1600" dirty="0">
                <a:solidFill>
                  <a:srgbClr val="775480"/>
                </a:solidFill>
                <a:latin typeface="微软雅黑 Light" panose="020B0502040204020203" charset="-122"/>
                <a:ea typeface="微软雅黑 Light" panose="020B0502040204020203" charset="-122"/>
              </a:rPr>
              <a:t>“原地”活动具有</a:t>
            </a:r>
            <a:r>
              <a:rPr lang="zh-CN" altLang="en-US" sz="1600" b="1" dirty="0">
                <a:solidFill>
                  <a:srgbClr val="FF0000"/>
                </a:solidFill>
                <a:latin typeface="微软雅黑 Light" panose="020B0502040204020203" charset="-122"/>
                <a:ea typeface="微软雅黑 Light" panose="020B0502040204020203" charset="-122"/>
              </a:rPr>
              <a:t>温和的功率谱</a:t>
            </a:r>
            <a:r>
              <a:rPr lang="zh-CN" altLang="en-US" sz="1600" dirty="0">
                <a:solidFill>
                  <a:srgbClr val="775480"/>
                </a:solidFill>
                <a:latin typeface="微软雅黑 Light" panose="020B0502040204020203" charset="-122"/>
                <a:ea typeface="微软雅黑 Light" panose="020B0502040204020203" charset="-122"/>
              </a:rPr>
              <a:t>，主要由低频分量 （</a:t>
            </a:r>
            <a:r>
              <a:rPr lang="en-US" altLang="zh-CN" sz="1600" dirty="0">
                <a:solidFill>
                  <a:srgbClr val="775480"/>
                </a:solidFill>
                <a:latin typeface="微软雅黑 Light" panose="020B0502040204020203" charset="-122"/>
                <a:ea typeface="微软雅黑 Light" panose="020B0502040204020203" charset="-122"/>
              </a:rPr>
              <a:t>&lt;5</a:t>
            </a:r>
            <a:r>
              <a:rPr lang="en" altLang="zh-CN" sz="1600" dirty="0">
                <a:solidFill>
                  <a:srgbClr val="775480"/>
                </a:solidFill>
                <a:latin typeface="微软雅黑 Light" panose="020B0502040204020203" charset="-122"/>
                <a:ea typeface="微软雅黑 Light" panose="020B0502040204020203" charset="-122"/>
              </a:rPr>
              <a:t>Hz</a:t>
            </a:r>
            <a:r>
              <a:rPr lang="zh-CN" altLang="en" sz="1600" dirty="0">
                <a:solidFill>
                  <a:srgbClr val="775480"/>
                </a:solidFill>
                <a:latin typeface="微软雅黑 Light" panose="020B0502040204020203" charset="-122"/>
                <a:ea typeface="微软雅黑 Light" panose="020B0502040204020203" charset="-122"/>
              </a:rPr>
              <a:t>） </a:t>
            </a:r>
            <a:r>
              <a:rPr lang="zh-CN" altLang="en-US" sz="1600" dirty="0">
                <a:solidFill>
                  <a:srgbClr val="775480"/>
                </a:solidFill>
                <a:latin typeface="微软雅黑 Light" panose="020B0502040204020203" charset="-122"/>
                <a:ea typeface="微软雅黑 Light" panose="020B0502040204020203" charset="-122"/>
              </a:rPr>
              <a:t>贡献，这些分量主要由肢体运动产生 </a:t>
            </a:r>
            <a:endParaRPr lang="zh-CN" altLang="en-US" sz="1600" dirty="0"/>
          </a:p>
        </p:txBody>
      </p:sp>
      <p:sp>
        <p:nvSpPr>
          <p:cNvPr id="16" name="矩形 15">
            <a:extLst>
              <a:ext uri="{FF2B5EF4-FFF2-40B4-BE49-F238E27FC236}">
                <a16:creationId xmlns:a16="http://schemas.microsoft.com/office/drawing/2014/main" id="{CAAB20DD-E6F6-40F6-95F9-01F2EB240567}"/>
              </a:ext>
            </a:extLst>
          </p:cNvPr>
          <p:cNvSpPr/>
          <p:nvPr/>
        </p:nvSpPr>
        <p:spPr>
          <a:xfrm>
            <a:off x="3287403" y="1998701"/>
            <a:ext cx="762083" cy="1336514"/>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8EA0710C-50F6-4C5C-8B67-06A89AF29FEB}"/>
              </a:ext>
            </a:extLst>
          </p:cNvPr>
          <p:cNvSpPr/>
          <p:nvPr/>
        </p:nvSpPr>
        <p:spPr>
          <a:xfrm>
            <a:off x="5714958" y="1998701"/>
            <a:ext cx="762083" cy="1336514"/>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003FE72E-31D5-C3A6-EA0B-A32CCBC8F052}"/>
              </a:ext>
            </a:extLst>
          </p:cNvPr>
          <p:cNvSpPr/>
          <p:nvPr/>
        </p:nvSpPr>
        <p:spPr>
          <a:xfrm>
            <a:off x="7094774" y="1981199"/>
            <a:ext cx="762083" cy="1336514"/>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75049BE0-E97A-4E55-D4E5-CF190D9D1F27}"/>
              </a:ext>
            </a:extLst>
          </p:cNvPr>
          <p:cNvSpPr/>
          <p:nvPr/>
        </p:nvSpPr>
        <p:spPr>
          <a:xfrm>
            <a:off x="8948260" y="2083735"/>
            <a:ext cx="1285986" cy="1336514"/>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5B3BD648-BD17-88D1-AF67-968ADEABE8D4}"/>
              </a:ext>
            </a:extLst>
          </p:cNvPr>
          <p:cNvSpPr txBox="1"/>
          <p:nvPr/>
        </p:nvSpPr>
        <p:spPr>
          <a:xfrm>
            <a:off x="428407" y="5655612"/>
            <a:ext cx="6101860" cy="584775"/>
          </a:xfrm>
          <a:prstGeom prst="rect">
            <a:avLst/>
          </a:prstGeom>
          <a:noFill/>
        </p:spPr>
        <p:txBody>
          <a:bodyPr wrap="square">
            <a:spAutoFit/>
          </a:bodyPr>
          <a:lstStyle/>
          <a:p>
            <a:r>
              <a:rPr lang="en-US" altLang="zh-CN" sz="1600" dirty="0">
                <a:solidFill>
                  <a:srgbClr val="775480"/>
                </a:solidFill>
                <a:latin typeface="微软雅黑 Light" panose="020B0502040204020203" charset="-122"/>
                <a:ea typeface="微软雅黑 Light" panose="020B0502040204020203" charset="-122"/>
              </a:rPr>
              <a:t>3 </a:t>
            </a:r>
            <a:r>
              <a:rPr lang="zh-CN" altLang="en-US" sz="1600" dirty="0">
                <a:solidFill>
                  <a:srgbClr val="775480"/>
                </a:solidFill>
                <a:latin typeface="微软雅黑 Light" panose="020B0502040204020203" charset="-122"/>
                <a:ea typeface="微软雅黑 Light" panose="020B0502040204020203" charset="-122"/>
              </a:rPr>
              <a:t>所有运动活动具有</a:t>
            </a:r>
            <a:r>
              <a:rPr lang="zh-CN" altLang="en-US" sz="1600" b="1" dirty="0">
                <a:solidFill>
                  <a:srgbClr val="FF0000"/>
                </a:solidFill>
                <a:latin typeface="微软雅黑 Light" panose="020B0502040204020203" charset="-122"/>
                <a:ea typeface="微软雅黑 Light" panose="020B0502040204020203" charset="-122"/>
              </a:rPr>
              <a:t>强大的功率谱</a:t>
            </a:r>
            <a:r>
              <a:rPr lang="zh-CN" altLang="en-US" sz="1600" dirty="0">
                <a:solidFill>
                  <a:srgbClr val="775480"/>
                </a:solidFill>
                <a:latin typeface="微软雅黑 Light" panose="020B0502040204020203" charset="-122"/>
                <a:ea typeface="微软雅黑 Light" panose="020B0502040204020203" charset="-122"/>
              </a:rPr>
              <a:t>，包括由肢体和躯干运动产生的低频 </a:t>
            </a:r>
            <a:r>
              <a:rPr lang="en-US" altLang="zh-CN" sz="1600" dirty="0">
                <a:solidFill>
                  <a:srgbClr val="775480"/>
                </a:solidFill>
                <a:latin typeface="微软雅黑 Light" panose="020B0502040204020203" charset="-122"/>
                <a:ea typeface="微软雅黑 Light" panose="020B0502040204020203" charset="-122"/>
              </a:rPr>
              <a:t>[0</a:t>
            </a:r>
            <a:r>
              <a:rPr lang="zh-CN" altLang="en-US" sz="1600" dirty="0">
                <a:solidFill>
                  <a:srgbClr val="775480"/>
                </a:solidFill>
                <a:latin typeface="微软雅黑 Light" panose="020B0502040204020203" charset="-122"/>
                <a:ea typeface="微软雅黑 Light" panose="020B0502040204020203" charset="-122"/>
              </a:rPr>
              <a:t>， </a:t>
            </a:r>
            <a:r>
              <a:rPr lang="en-US" altLang="zh-CN" sz="1600" dirty="0">
                <a:solidFill>
                  <a:srgbClr val="775480"/>
                </a:solidFill>
                <a:latin typeface="微软雅黑 Light" panose="020B0502040204020203" charset="-122"/>
                <a:ea typeface="微软雅黑 Light" panose="020B0502040204020203" charset="-122"/>
              </a:rPr>
              <a:t>5 </a:t>
            </a:r>
            <a:r>
              <a:rPr lang="en" altLang="zh-CN" sz="1600" dirty="0">
                <a:solidFill>
                  <a:srgbClr val="775480"/>
                </a:solidFill>
                <a:latin typeface="微软雅黑 Light" panose="020B0502040204020203" charset="-122"/>
                <a:ea typeface="微软雅黑 Light" panose="020B0502040204020203" charset="-122"/>
              </a:rPr>
              <a:t>Hz] </a:t>
            </a:r>
            <a:r>
              <a:rPr lang="zh-CN" altLang="en-US" sz="1600" dirty="0">
                <a:solidFill>
                  <a:srgbClr val="775480"/>
                </a:solidFill>
                <a:latin typeface="微软雅黑 Light" panose="020B0502040204020203" charset="-122"/>
                <a:ea typeface="微软雅黑 Light" panose="020B0502040204020203" charset="-122"/>
              </a:rPr>
              <a:t>和高频分量（</a:t>
            </a:r>
            <a:r>
              <a:rPr lang="en-US" altLang="zh-CN" sz="1600" dirty="0">
                <a:solidFill>
                  <a:srgbClr val="775480"/>
                </a:solidFill>
                <a:latin typeface="微软雅黑 Light" panose="020B0502040204020203" charset="-122"/>
                <a:ea typeface="微软雅黑 Light" panose="020B0502040204020203" charset="-122"/>
              </a:rPr>
              <a:t>&gt;5 </a:t>
            </a:r>
            <a:r>
              <a:rPr lang="en" altLang="zh-CN" sz="1600" dirty="0">
                <a:solidFill>
                  <a:srgbClr val="775480"/>
                </a:solidFill>
                <a:latin typeface="微软雅黑 Light" panose="020B0502040204020203" charset="-122"/>
                <a:ea typeface="微软雅黑 Light" panose="020B0502040204020203" charset="-122"/>
              </a:rPr>
              <a:t>Hz</a:t>
            </a:r>
            <a:r>
              <a:rPr lang="zh-CN" altLang="en" sz="1600" dirty="0">
                <a:solidFill>
                  <a:srgbClr val="775480"/>
                </a:solidFill>
                <a:latin typeface="微软雅黑 Light" panose="020B0502040204020203" charset="-122"/>
                <a:ea typeface="微软雅黑 Light" panose="020B0502040204020203" charset="-122"/>
              </a:rPr>
              <a:t>） </a:t>
            </a:r>
            <a:endParaRPr lang="zh-CN" altLang="en-US" sz="1600" dirty="0"/>
          </a:p>
        </p:txBody>
      </p:sp>
      <p:sp>
        <p:nvSpPr>
          <p:cNvPr id="28" name="文本框 27">
            <a:extLst>
              <a:ext uri="{FF2B5EF4-FFF2-40B4-BE49-F238E27FC236}">
                <a16:creationId xmlns:a16="http://schemas.microsoft.com/office/drawing/2014/main" id="{3F7AC4FC-F420-6826-3D1F-069CB368B2F9}"/>
              </a:ext>
            </a:extLst>
          </p:cNvPr>
          <p:cNvSpPr txBox="1"/>
          <p:nvPr/>
        </p:nvSpPr>
        <p:spPr>
          <a:xfrm>
            <a:off x="1233854" y="1674875"/>
            <a:ext cx="1605442" cy="369332"/>
          </a:xfrm>
          <a:prstGeom prst="rect">
            <a:avLst/>
          </a:prstGeom>
          <a:noFill/>
        </p:spPr>
        <p:txBody>
          <a:bodyPr wrap="square">
            <a:spAutoFit/>
          </a:bodyPr>
          <a:lstStyle/>
          <a:p>
            <a:r>
              <a:rPr lang="zh-CN" altLang="en-US" sz="1800" b="1" dirty="0">
                <a:solidFill>
                  <a:srgbClr val="FFC000"/>
                </a:solidFill>
                <a:latin typeface="微软雅黑 Light" panose="020B0502040204020203" charset="-122"/>
                <a:ea typeface="微软雅黑 Light" panose="020B0502040204020203" charset="-122"/>
              </a:rPr>
              <a:t>“原地”活动</a:t>
            </a:r>
            <a:endParaRPr lang="zh-CN" altLang="en-US" b="1" dirty="0">
              <a:solidFill>
                <a:srgbClr val="FFC000"/>
              </a:solidFill>
            </a:endParaRPr>
          </a:p>
        </p:txBody>
      </p:sp>
      <p:sp>
        <p:nvSpPr>
          <p:cNvPr id="30" name="文本框 29">
            <a:extLst>
              <a:ext uri="{FF2B5EF4-FFF2-40B4-BE49-F238E27FC236}">
                <a16:creationId xmlns:a16="http://schemas.microsoft.com/office/drawing/2014/main" id="{704BF640-3E61-023D-1B6E-9C97ADEF048C}"/>
              </a:ext>
            </a:extLst>
          </p:cNvPr>
          <p:cNvSpPr txBox="1"/>
          <p:nvPr/>
        </p:nvSpPr>
        <p:spPr>
          <a:xfrm>
            <a:off x="4372131" y="1591951"/>
            <a:ext cx="6101860" cy="369332"/>
          </a:xfrm>
          <a:prstGeom prst="rect">
            <a:avLst/>
          </a:prstGeom>
          <a:noFill/>
        </p:spPr>
        <p:txBody>
          <a:bodyPr wrap="square">
            <a:spAutoFit/>
          </a:bodyPr>
          <a:lstStyle/>
          <a:p>
            <a:r>
              <a:rPr lang="zh-CN" altLang="en-US" b="1" dirty="0">
                <a:solidFill>
                  <a:srgbClr val="00B050"/>
                </a:solidFill>
                <a:latin typeface="微软雅黑 Light" panose="020B0502040204020203" charset="-122"/>
                <a:ea typeface="微软雅黑 Light" panose="020B0502040204020203" charset="-122"/>
              </a:rPr>
              <a:t>非运动姿势</a:t>
            </a:r>
            <a:endParaRPr lang="zh-CN" altLang="en-US" b="1" dirty="0">
              <a:solidFill>
                <a:srgbClr val="00B050"/>
              </a:solidFill>
            </a:endParaRPr>
          </a:p>
        </p:txBody>
      </p:sp>
      <p:sp>
        <p:nvSpPr>
          <p:cNvPr id="32" name="文本框 31">
            <a:extLst>
              <a:ext uri="{FF2B5EF4-FFF2-40B4-BE49-F238E27FC236}">
                <a16:creationId xmlns:a16="http://schemas.microsoft.com/office/drawing/2014/main" id="{E52482EE-58C5-3A3E-3DD7-DC4056ABB984}"/>
              </a:ext>
            </a:extLst>
          </p:cNvPr>
          <p:cNvSpPr txBox="1"/>
          <p:nvPr/>
        </p:nvSpPr>
        <p:spPr>
          <a:xfrm>
            <a:off x="3131798" y="1674875"/>
            <a:ext cx="6101860" cy="369332"/>
          </a:xfrm>
          <a:prstGeom prst="rect">
            <a:avLst/>
          </a:prstGeom>
          <a:noFill/>
        </p:spPr>
        <p:txBody>
          <a:bodyPr wrap="square">
            <a:spAutoFit/>
          </a:bodyPr>
          <a:lstStyle/>
          <a:p>
            <a:r>
              <a:rPr lang="zh-CN" altLang="en-US" sz="1800" b="1" dirty="0">
                <a:solidFill>
                  <a:srgbClr val="FF0000"/>
                </a:solidFill>
                <a:latin typeface="微软雅黑 Light" panose="020B0502040204020203" charset="-122"/>
                <a:ea typeface="微软雅黑 Light" panose="020B0502040204020203" charset="-122"/>
              </a:rPr>
              <a:t>运动活动</a:t>
            </a:r>
            <a:endParaRPr lang="zh-CN" altLang="en-US" b="1" dirty="0">
              <a:solidFill>
                <a:srgbClr val="FF0000"/>
              </a:solidFill>
            </a:endParaRPr>
          </a:p>
        </p:txBody>
      </p:sp>
      <p:sp>
        <p:nvSpPr>
          <p:cNvPr id="34" name="文本框 33">
            <a:extLst>
              <a:ext uri="{FF2B5EF4-FFF2-40B4-BE49-F238E27FC236}">
                <a16:creationId xmlns:a16="http://schemas.microsoft.com/office/drawing/2014/main" id="{E4178C80-2757-4BD9-78D9-1464B7AC4A0F}"/>
              </a:ext>
            </a:extLst>
          </p:cNvPr>
          <p:cNvSpPr txBox="1"/>
          <p:nvPr/>
        </p:nvSpPr>
        <p:spPr>
          <a:xfrm>
            <a:off x="6804081" y="3887327"/>
            <a:ext cx="4859153" cy="1323439"/>
          </a:xfrm>
          <a:prstGeom prst="rect">
            <a:avLst/>
          </a:prstGeom>
          <a:noFill/>
        </p:spPr>
        <p:txBody>
          <a:bodyPr wrap="square">
            <a:spAutoFit/>
          </a:bodyPr>
          <a:lstStyle/>
          <a:p>
            <a:r>
              <a:rPr lang="zh-CN" altLang="en-US" sz="1600" dirty="0">
                <a:solidFill>
                  <a:srgbClr val="775480"/>
                </a:solidFill>
                <a:latin typeface="微软雅黑 Light" panose="020B0502040204020203" charset="-122"/>
                <a:ea typeface="微软雅黑 Light" panose="020B0502040204020203" charset="-122"/>
              </a:rPr>
              <a:t>跌倒以及坐下</a:t>
            </a:r>
            <a:r>
              <a:rPr lang="en-US" altLang="zh-CN" sz="1600" dirty="0">
                <a:solidFill>
                  <a:srgbClr val="775480"/>
                </a:solidFill>
                <a:latin typeface="微软雅黑 Light" panose="020B0502040204020203" charset="-122"/>
                <a:ea typeface="微软雅黑 Light" panose="020B0502040204020203" charset="-122"/>
              </a:rPr>
              <a:t>/</a:t>
            </a:r>
            <a:r>
              <a:rPr lang="zh-CN" altLang="en-US" sz="1600" dirty="0">
                <a:solidFill>
                  <a:srgbClr val="775480"/>
                </a:solidFill>
                <a:latin typeface="微软雅黑 Light" panose="020B0502040204020203" charset="-122"/>
                <a:ea typeface="微软雅黑 Light" panose="020B0502040204020203" charset="-122"/>
              </a:rPr>
              <a:t>躺下活动的功率谱表现出一个从</a:t>
            </a:r>
            <a:r>
              <a:rPr lang="zh-CN" altLang="en-US" sz="1600" b="1" dirty="0">
                <a:solidFill>
                  <a:srgbClr val="FF0000"/>
                </a:solidFill>
                <a:latin typeface="微软雅黑 Light" panose="020B0502040204020203" charset="-122"/>
                <a:ea typeface="微软雅黑 Light" panose="020B0502040204020203" charset="-122"/>
              </a:rPr>
              <a:t>高频到低频的急剧功率下降</a:t>
            </a:r>
            <a:endParaRPr lang="en-US" altLang="zh-CN" sz="1600" b="1" dirty="0">
              <a:solidFill>
                <a:srgbClr val="FF0000"/>
              </a:solidFill>
              <a:latin typeface="微软雅黑 Light" panose="020B0502040204020203" charset="-122"/>
              <a:ea typeface="微软雅黑 Light" panose="020B0502040204020203" charset="-122"/>
            </a:endParaRPr>
          </a:p>
          <a:p>
            <a:endParaRPr lang="en-US" altLang="zh-CN" sz="1600" b="1" dirty="0">
              <a:solidFill>
                <a:srgbClr val="FF0000"/>
              </a:solidFill>
              <a:latin typeface="微软雅黑 Light" panose="020B0502040204020203" charset="-122"/>
              <a:ea typeface="微软雅黑 Light" panose="020B0502040204020203" charset="-122"/>
            </a:endParaRPr>
          </a:p>
          <a:p>
            <a:r>
              <a:rPr lang="zh-CN" altLang="en-US" sz="1600" dirty="0">
                <a:solidFill>
                  <a:srgbClr val="775480"/>
                </a:solidFill>
                <a:latin typeface="微软雅黑 Light" panose="020B0502040204020203" charset="-122"/>
                <a:ea typeface="微软雅黑 Light" panose="020B0502040204020203" charset="-122"/>
              </a:rPr>
              <a:t>但</a:t>
            </a:r>
            <a:r>
              <a:rPr lang="zh-CN" altLang="en-US" sz="1600" b="1" dirty="0">
                <a:solidFill>
                  <a:srgbClr val="FF0000"/>
                </a:solidFill>
                <a:latin typeface="微软雅黑 Light" panose="020B0502040204020203" charset="-122"/>
                <a:ea typeface="微软雅黑 Light" panose="020B0502040204020203" charset="-122"/>
              </a:rPr>
              <a:t>“就地”活动不会导致功率谱突然下降</a:t>
            </a:r>
            <a:r>
              <a:rPr lang="zh-CN" altLang="en-US" sz="1600" dirty="0">
                <a:solidFill>
                  <a:srgbClr val="775480"/>
                </a:solidFill>
                <a:latin typeface="微软雅黑 Light" panose="020B0502040204020203" charset="-122"/>
                <a:ea typeface="微软雅黑 Light" panose="020B0502040204020203" charset="-122"/>
              </a:rPr>
              <a:t>，因为“就地”活动的功率曲线主要位于低频范围（</a:t>
            </a:r>
            <a:r>
              <a:rPr lang="en-US" altLang="zh-CN" sz="1600" dirty="0">
                <a:solidFill>
                  <a:srgbClr val="775480"/>
                </a:solidFill>
                <a:latin typeface="微软雅黑 Light" panose="020B0502040204020203" charset="-122"/>
                <a:ea typeface="微软雅黑 Light" panose="020B0502040204020203" charset="-122"/>
              </a:rPr>
              <a:t>&lt;5 Hz</a:t>
            </a:r>
            <a:r>
              <a:rPr lang="zh-CN" altLang="en-US" sz="1600" dirty="0">
                <a:solidFill>
                  <a:srgbClr val="775480"/>
                </a:solidFill>
                <a:latin typeface="微软雅黑 Light" panose="020B0502040204020203" charset="-122"/>
                <a:ea typeface="微软雅黑 Light" panose="020B0502040204020203" charset="-122"/>
              </a:rPr>
              <a:t>）。</a:t>
            </a:r>
            <a:endParaRPr lang="zh-CN" altLang="en-US" sz="1600" dirty="0"/>
          </a:p>
        </p:txBody>
      </p:sp>
      <p:cxnSp>
        <p:nvCxnSpPr>
          <p:cNvPr id="36" name="直接箭头连接符 35">
            <a:extLst>
              <a:ext uri="{FF2B5EF4-FFF2-40B4-BE49-F238E27FC236}">
                <a16:creationId xmlns:a16="http://schemas.microsoft.com/office/drawing/2014/main" id="{AB502354-33E3-3B57-0231-D062216CDE0A}"/>
              </a:ext>
            </a:extLst>
          </p:cNvPr>
          <p:cNvCxnSpPr>
            <a:cxnSpLocks/>
          </p:cNvCxnSpPr>
          <p:nvPr/>
        </p:nvCxnSpPr>
        <p:spPr>
          <a:xfrm flipV="1">
            <a:off x="9694945" y="3059723"/>
            <a:ext cx="1160624" cy="88793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D1D9D1F7-B637-B305-9E2D-C6A581852AA3}"/>
              </a:ext>
            </a:extLst>
          </p:cNvPr>
          <p:cNvCxnSpPr>
            <a:cxnSpLocks/>
          </p:cNvCxnSpPr>
          <p:nvPr/>
        </p:nvCxnSpPr>
        <p:spPr>
          <a:xfrm flipH="1" flipV="1">
            <a:off x="2203938" y="3059723"/>
            <a:ext cx="4560730" cy="175407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411661D8-6290-E748-64D6-8CF27C65A12B}"/>
              </a:ext>
            </a:extLst>
          </p:cNvPr>
          <p:cNvSpPr txBox="1"/>
          <p:nvPr/>
        </p:nvSpPr>
        <p:spPr>
          <a:xfrm>
            <a:off x="6740853" y="5333218"/>
            <a:ext cx="5333916" cy="830997"/>
          </a:xfrm>
          <a:prstGeom prst="rect">
            <a:avLst/>
          </a:prstGeom>
          <a:noFill/>
        </p:spPr>
        <p:txBody>
          <a:bodyPr wrap="square">
            <a:spAutoFit/>
          </a:bodyPr>
          <a:lstStyle/>
          <a:p>
            <a:r>
              <a:rPr lang="zh-CN" altLang="zh-CN" sz="1600" dirty="0">
                <a:solidFill>
                  <a:srgbClr val="775480"/>
                </a:solidFill>
                <a:latin typeface="微软雅黑 Light" panose="020B0502040204020203" charset="-122"/>
                <a:ea typeface="微软雅黑 Light" panose="020B0502040204020203" charset="-122"/>
              </a:rPr>
              <a:t>因此，通过检测</a:t>
            </a:r>
            <a:r>
              <a:rPr lang="en-US" altLang="zh-CN" sz="1600" dirty="0">
                <a:solidFill>
                  <a:srgbClr val="775480"/>
                </a:solidFill>
                <a:latin typeface="微软雅黑 Light" panose="020B0502040204020203" charset="-122"/>
                <a:ea typeface="微软雅黑 Light" panose="020B0502040204020203" charset="-122"/>
              </a:rPr>
              <a:t> CSI </a:t>
            </a:r>
            <a:r>
              <a:rPr lang="zh-CN" altLang="zh-CN" sz="1600" dirty="0">
                <a:solidFill>
                  <a:srgbClr val="775480"/>
                </a:solidFill>
                <a:latin typeface="微软雅黑 Light" panose="020B0502040204020203" charset="-122"/>
                <a:ea typeface="微软雅黑 Light" panose="020B0502040204020203" charset="-122"/>
              </a:rPr>
              <a:t>相位差变化模式的状态转换以及剧烈的功率谱下降模式，我们可以稳健地排除</a:t>
            </a:r>
            <a:r>
              <a:rPr lang="en-US" altLang="zh-CN" sz="1600" dirty="0">
                <a:solidFill>
                  <a:srgbClr val="775480"/>
                </a:solidFill>
                <a:latin typeface="微软雅黑 Light" panose="020B0502040204020203" charset="-122"/>
                <a:ea typeface="微软雅黑 Light" panose="020B0502040204020203" charset="-122"/>
              </a:rPr>
              <a:t>“</a:t>
            </a:r>
            <a:r>
              <a:rPr lang="zh-CN" altLang="en-US" sz="1600" dirty="0">
                <a:solidFill>
                  <a:srgbClr val="775480"/>
                </a:solidFill>
                <a:latin typeface="微软雅黑 Light" panose="020B0502040204020203" charset="-122"/>
                <a:ea typeface="微软雅黑 Light" panose="020B0502040204020203" charset="-122"/>
              </a:rPr>
              <a:t>就地</a:t>
            </a:r>
            <a:r>
              <a:rPr lang="en-US" altLang="zh-CN" sz="1600" dirty="0">
                <a:solidFill>
                  <a:srgbClr val="775480"/>
                </a:solidFill>
                <a:latin typeface="微软雅黑 Light" panose="020B0502040204020203" charset="-122"/>
                <a:ea typeface="微软雅黑 Light" panose="020B0502040204020203" charset="-122"/>
              </a:rPr>
              <a:t>”</a:t>
            </a:r>
            <a:r>
              <a:rPr lang="zh-CN" altLang="zh-CN" sz="1600" dirty="0">
                <a:solidFill>
                  <a:srgbClr val="775480"/>
                </a:solidFill>
                <a:latin typeface="微软雅黑 Light" panose="020B0502040204020203" charset="-122"/>
                <a:ea typeface="微软雅黑 Light" panose="020B0502040204020203" charset="-122"/>
              </a:rPr>
              <a:t>活动，但仅能分割出跌倒和一些其他非跌倒活动（即躺下和坐着）。</a:t>
            </a:r>
            <a:endParaRPr lang="zh-CN" altLang="en-US" sz="1600" dirty="0"/>
          </a:p>
        </p:txBody>
      </p:sp>
    </p:spTree>
    <p:custDataLst>
      <p:tags r:id="rId1"/>
    </p:custDataLst>
    <p:extLst>
      <p:ext uri="{BB962C8B-B14F-4D97-AF65-F5344CB8AC3E}">
        <p14:creationId xmlns:p14="http://schemas.microsoft.com/office/powerpoint/2010/main" val="379813828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9BF97-0247-62FE-537B-320E9A5F5070}"/>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998303FF-79D7-0CC6-BD5B-0A08EBBE3BBF}"/>
              </a:ext>
            </a:extLst>
          </p:cNvPr>
          <p:cNvSpPr txBox="1"/>
          <p:nvPr>
            <p:custDataLst>
              <p:tags r:id="rId2"/>
            </p:custDataLst>
          </p:nvPr>
        </p:nvSpPr>
        <p:spPr>
          <a:xfrm>
            <a:off x="2637453" y="23935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28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28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EBB3A0CA-50C8-4C29-EC12-16E9FD6EFB83}"/>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09BDAB90-37E4-606A-AEC8-47DB7A883E8B}"/>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EBC9D153-60A2-0D3C-5D5B-CC2E8176D232}"/>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1F96FA8B-E4F5-8A96-1171-93523F4A40D9}"/>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1B65642F-ABCD-0848-4AFC-DBBC3A7D527B}"/>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pic>
        <p:nvPicPr>
          <p:cNvPr id="4" name="图片 3">
            <a:extLst>
              <a:ext uri="{FF2B5EF4-FFF2-40B4-BE49-F238E27FC236}">
                <a16:creationId xmlns:a16="http://schemas.microsoft.com/office/drawing/2014/main" id="{3F07ED65-857C-EE01-DAE1-B585E297C2EC}"/>
              </a:ext>
            </a:extLst>
          </p:cNvPr>
          <p:cNvPicPr>
            <a:picLocks noChangeAspect="1"/>
          </p:cNvPicPr>
          <p:nvPr/>
        </p:nvPicPr>
        <p:blipFill>
          <a:blip r:embed="rId5"/>
          <a:stretch>
            <a:fillRect/>
          </a:stretch>
        </p:blipFill>
        <p:spPr>
          <a:xfrm>
            <a:off x="0" y="1318217"/>
            <a:ext cx="12192001" cy="2025804"/>
          </a:xfrm>
          <a:prstGeom prst="rect">
            <a:avLst/>
          </a:prstGeom>
        </p:spPr>
      </p:pic>
      <p:sp>
        <p:nvSpPr>
          <p:cNvPr id="8" name="文本框 7">
            <a:extLst>
              <a:ext uri="{FF2B5EF4-FFF2-40B4-BE49-F238E27FC236}">
                <a16:creationId xmlns:a16="http://schemas.microsoft.com/office/drawing/2014/main" id="{368703C8-F3E0-C68E-1585-AEAF6A7AE922}"/>
              </a:ext>
            </a:extLst>
          </p:cNvPr>
          <p:cNvSpPr txBox="1"/>
          <p:nvPr/>
        </p:nvSpPr>
        <p:spPr>
          <a:xfrm>
            <a:off x="1344478" y="3975847"/>
            <a:ext cx="11046814" cy="369332"/>
          </a:xfrm>
          <a:prstGeom prst="rect">
            <a:avLst/>
          </a:prstGeom>
          <a:noFill/>
        </p:spPr>
        <p:txBody>
          <a:bodyPr wrap="square">
            <a:spAutoFit/>
          </a:bodyPr>
          <a:lstStyle/>
          <a:p>
            <a:r>
              <a:rPr lang="zh-CN" altLang="zh-CN" dirty="0">
                <a:solidFill>
                  <a:srgbClr val="775480"/>
                </a:solidFill>
                <a:latin typeface="微软雅黑 Light" panose="020B0502040204020203" charset="-122"/>
                <a:ea typeface="微软雅黑 Light" panose="020B0502040204020203" charset="-122"/>
              </a:rPr>
              <a:t>坐下活动仅显示出轻微的功率下降</a:t>
            </a:r>
            <a:r>
              <a:rPr lang="zh-CN" altLang="en-US" dirty="0"/>
              <a:t>             </a:t>
            </a:r>
            <a:r>
              <a:rPr lang="zh-CN" altLang="zh-CN" sz="1800" dirty="0">
                <a:solidFill>
                  <a:srgbClr val="775480"/>
                </a:solidFill>
                <a:latin typeface="微软雅黑 Light" panose="020B0502040204020203" charset="-122"/>
                <a:ea typeface="微软雅黑 Light" panose="020B0502040204020203" charset="-122"/>
              </a:rPr>
              <a:t>跌倒显示出从高频到低频分量的明显突然功率下降，</a:t>
            </a:r>
            <a:endParaRPr lang="en-US" altLang="zh-CN" sz="1800" dirty="0">
              <a:solidFill>
                <a:srgbClr val="775480"/>
              </a:solidFill>
              <a:latin typeface="微软雅黑 Light" panose="020B0502040204020203" charset="-122"/>
              <a:ea typeface="微软雅黑 Light" panose="020B0502040204020203" charset="-122"/>
            </a:endParaRPr>
          </a:p>
        </p:txBody>
      </p:sp>
      <p:cxnSp>
        <p:nvCxnSpPr>
          <p:cNvPr id="9" name="直接箭头连接符 8">
            <a:extLst>
              <a:ext uri="{FF2B5EF4-FFF2-40B4-BE49-F238E27FC236}">
                <a16:creationId xmlns:a16="http://schemas.microsoft.com/office/drawing/2014/main" id="{0998AF5F-2DE3-0FA4-02F1-B15D96D67B63}"/>
              </a:ext>
            </a:extLst>
          </p:cNvPr>
          <p:cNvCxnSpPr>
            <a:cxnSpLocks/>
          </p:cNvCxnSpPr>
          <p:nvPr/>
        </p:nvCxnSpPr>
        <p:spPr>
          <a:xfrm flipV="1">
            <a:off x="8264769" y="2882153"/>
            <a:ext cx="3188677" cy="109369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7D2CAB5F-CC25-F8D7-3E91-53B72D2D4C39}"/>
              </a:ext>
            </a:extLst>
          </p:cNvPr>
          <p:cNvCxnSpPr>
            <a:cxnSpLocks/>
          </p:cNvCxnSpPr>
          <p:nvPr/>
        </p:nvCxnSpPr>
        <p:spPr>
          <a:xfrm flipV="1">
            <a:off x="3481754" y="2743200"/>
            <a:ext cx="1324708" cy="123264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24C42557-2C2C-E215-7CE8-0D37689C2A3C}"/>
              </a:ext>
            </a:extLst>
          </p:cNvPr>
          <p:cNvSpPr txBox="1"/>
          <p:nvPr/>
        </p:nvSpPr>
        <p:spPr>
          <a:xfrm>
            <a:off x="1344478" y="4607673"/>
            <a:ext cx="9862784" cy="646331"/>
          </a:xfrm>
          <a:prstGeom prst="rect">
            <a:avLst/>
          </a:prstGeom>
          <a:noFill/>
        </p:spPr>
        <p:txBody>
          <a:bodyPr wrap="square">
            <a:spAutoFit/>
          </a:bodyPr>
          <a:lstStyle/>
          <a:p>
            <a:r>
              <a:rPr lang="zh-CN" altLang="en-US" sz="1800" dirty="0">
                <a:solidFill>
                  <a:srgbClr val="775480"/>
                </a:solidFill>
                <a:latin typeface="微软雅黑 Light" panose="020B0502040204020203" charset="-122"/>
                <a:ea typeface="微软雅黑 Light" panose="020B0502040204020203" charset="-122"/>
              </a:rPr>
              <a:t>但是</a:t>
            </a:r>
            <a:r>
              <a:rPr lang="zh-CN" altLang="zh-CN" sz="1800" dirty="0">
                <a:solidFill>
                  <a:srgbClr val="775480"/>
                </a:solidFill>
                <a:latin typeface="微软雅黑 Light" panose="020B0502040204020203" charset="-122"/>
                <a:ea typeface="微软雅黑 Light" panose="020B0502040204020203" charset="-122"/>
              </a:rPr>
              <a:t>随着</a:t>
            </a:r>
            <a:r>
              <a:rPr lang="zh-CN" altLang="en-US" sz="1800" dirty="0">
                <a:solidFill>
                  <a:srgbClr val="775480"/>
                </a:solidFill>
                <a:latin typeface="微软雅黑 Light" panose="020B0502040204020203" charset="-122"/>
                <a:ea typeface="微软雅黑 Light" panose="020B0502040204020203" charset="-122"/>
              </a:rPr>
              <a:t>坐下这种</a:t>
            </a:r>
            <a:r>
              <a:rPr lang="zh-CN" altLang="zh-CN" sz="1800" dirty="0">
                <a:solidFill>
                  <a:srgbClr val="775480"/>
                </a:solidFill>
                <a:latin typeface="微软雅黑 Light" panose="020B0502040204020203" charset="-122"/>
                <a:ea typeface="微软雅黑 Light" panose="020B0502040204020203" charset="-122"/>
              </a:rPr>
              <a:t>类下跌活动速度的增加，这种</a:t>
            </a:r>
            <a:r>
              <a:rPr lang="zh-CN" altLang="zh-CN" sz="1800" dirty="0">
                <a:solidFill>
                  <a:srgbClr val="FF0000"/>
                </a:solidFill>
                <a:latin typeface="微软雅黑 Light" panose="020B0502040204020203" charset="-122"/>
                <a:ea typeface="微软雅黑 Light" panose="020B0502040204020203" charset="-122"/>
              </a:rPr>
              <a:t>差距变得越来越小</a:t>
            </a:r>
            <a:r>
              <a:rPr lang="zh-CN" altLang="en-US" sz="1800" dirty="0">
                <a:solidFill>
                  <a:srgbClr val="FF0000"/>
                </a:solidFill>
                <a:latin typeface="微软雅黑 Light" panose="020B0502040204020203" charset="-122"/>
                <a:ea typeface="微软雅黑 Light" panose="020B0502040204020203" charset="-122"/>
              </a:rPr>
              <a:t>，</a:t>
            </a:r>
            <a:r>
              <a:rPr lang="zh-CN" altLang="zh-CN" dirty="0">
                <a:solidFill>
                  <a:srgbClr val="FF0000"/>
                </a:solidFill>
                <a:latin typeface="微软雅黑 Light" panose="020B0502040204020203" charset="-122"/>
                <a:ea typeface="微软雅黑 Light" panose="020B0502040204020203" charset="-122"/>
              </a:rPr>
              <a:t>不再能够仅通过比较功率曲线下降模式来区分差异。</a:t>
            </a:r>
            <a:endParaRPr lang="zh-CN" altLang="en-US" dirty="0">
              <a:solidFill>
                <a:srgbClr val="FF0000"/>
              </a:solidFill>
            </a:endParaRPr>
          </a:p>
        </p:txBody>
      </p:sp>
    </p:spTree>
    <p:custDataLst>
      <p:tags r:id="rId1"/>
    </p:custDataLst>
    <p:extLst>
      <p:ext uri="{BB962C8B-B14F-4D97-AF65-F5344CB8AC3E}">
        <p14:creationId xmlns:p14="http://schemas.microsoft.com/office/powerpoint/2010/main" val="207937891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080064" y="2882130"/>
            <a:ext cx="4031873" cy="1015663"/>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框架与方法</a:t>
            </a:r>
          </a:p>
        </p:txBody>
      </p:sp>
      <p:grpSp>
        <p:nvGrpSpPr>
          <p:cNvPr id="12" name="组合 11"/>
          <p:cNvGrpSpPr/>
          <p:nvPr/>
        </p:nvGrpSpPr>
        <p:grpSpPr>
          <a:xfrm>
            <a:off x="5555048" y="1471295"/>
            <a:ext cx="1080000" cy="1080000"/>
            <a:chOff x="8049" y="2049"/>
            <a:chExt cx="1701" cy="1701"/>
          </a:xfrm>
        </p:grpSpPr>
        <p:sp>
          <p:nvSpPr>
            <p:cNvPr id="10" name="椭圆 9"/>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380" y="2440"/>
              <a:ext cx="1048" cy="921"/>
            </a:xfrm>
            <a:prstGeom prst="rect">
              <a:avLst/>
            </a:prstGeom>
            <a:noFill/>
          </p:spPr>
          <p:txBody>
            <a:bodyPr wrap="non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rPr>
                <a:t>04</a:t>
              </a:r>
            </a:p>
          </p:txBody>
        </p:sp>
      </p:grpSp>
    </p:spTree>
    <p:custDataLst>
      <p:tags r:id="rId1"/>
    </p:custDataLst>
    <p:extLst>
      <p:ext uri="{BB962C8B-B14F-4D97-AF65-F5344CB8AC3E}">
        <p14:creationId xmlns:p14="http://schemas.microsoft.com/office/powerpoint/2010/main" val="132380289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框架与方法</a:t>
            </a:r>
          </a:p>
        </p:txBody>
      </p:sp>
      <p:sp>
        <p:nvSpPr>
          <p:cNvPr id="9" name="文本框 8">
            <a:extLst>
              <a:ext uri="{FF2B5EF4-FFF2-40B4-BE49-F238E27FC236}">
                <a16:creationId xmlns:a16="http://schemas.microsoft.com/office/drawing/2014/main" id="{E656B8A2-B379-4540-B414-3D9BC66D29E8}"/>
              </a:ext>
            </a:extLst>
          </p:cNvPr>
          <p:cNvSpPr txBox="1"/>
          <p:nvPr/>
        </p:nvSpPr>
        <p:spPr>
          <a:xfrm>
            <a:off x="285588" y="1222932"/>
            <a:ext cx="6096000" cy="461665"/>
          </a:xfrm>
          <a:prstGeom prst="rect">
            <a:avLst/>
          </a:prstGeom>
          <a:noFill/>
        </p:spPr>
        <p:txBody>
          <a:bodyPr wrap="square">
            <a:spAutoFit/>
          </a:bodyPr>
          <a:lstStyle/>
          <a:p>
            <a:pPr algn="l"/>
            <a:r>
              <a:rPr lang="en-US" altLang="zh-CN" sz="2400" b="1" i="0" dirty="0">
                <a:solidFill>
                  <a:srgbClr val="000000"/>
                </a:solidFill>
                <a:effectLst/>
                <a:latin typeface="Helvetica Neue"/>
              </a:rPr>
              <a:t>RT-Fall</a:t>
            </a:r>
            <a:r>
              <a:rPr lang="zh-CN" altLang="en-US" sz="2400" b="1" i="0" dirty="0">
                <a:solidFill>
                  <a:srgbClr val="000000"/>
                </a:solidFill>
                <a:effectLst/>
                <a:latin typeface="Helvetica Neue"/>
              </a:rPr>
              <a:t>系统概述</a:t>
            </a:r>
          </a:p>
        </p:txBody>
      </p:sp>
      <p:sp>
        <p:nvSpPr>
          <p:cNvPr id="10" name="文本框 9">
            <a:extLst>
              <a:ext uri="{FF2B5EF4-FFF2-40B4-BE49-F238E27FC236}">
                <a16:creationId xmlns:a16="http://schemas.microsoft.com/office/drawing/2014/main" id="{93EFC558-8A6C-4C0C-B420-9C6DE103E03B}"/>
              </a:ext>
            </a:extLst>
          </p:cNvPr>
          <p:cNvSpPr txBox="1"/>
          <p:nvPr/>
        </p:nvSpPr>
        <p:spPr>
          <a:xfrm>
            <a:off x="7508756" y="1706726"/>
            <a:ext cx="4204175" cy="3970318"/>
          </a:xfrm>
          <a:prstGeom prst="rect">
            <a:avLst/>
          </a:prstGeom>
          <a:noFill/>
          <a:ln w="28575">
            <a:solidFill>
              <a:srgbClr val="00B050"/>
            </a:solidFill>
            <a:prstDash val="dash"/>
          </a:ln>
        </p:spPr>
        <p:txBody>
          <a:bodyPr wrap="square">
            <a:spAutoFit/>
          </a:bodyPr>
          <a:lstStyle/>
          <a:p>
            <a:r>
              <a:rPr lang="zh-CN" altLang="en-US" b="0" i="0" dirty="0">
                <a:solidFill>
                  <a:srgbClr val="333333"/>
                </a:solidFill>
                <a:effectLst/>
                <a:latin typeface="Helvetica Neue"/>
              </a:rPr>
              <a:t>系统以</a:t>
            </a:r>
            <a:r>
              <a:rPr lang="en-US" altLang="zh-CN" b="0" i="0" dirty="0">
                <a:solidFill>
                  <a:srgbClr val="FF0000"/>
                </a:solidFill>
                <a:effectLst/>
                <a:latin typeface="Helvetica Neue"/>
              </a:rPr>
              <a:t>CSI</a:t>
            </a:r>
            <a:r>
              <a:rPr lang="zh-CN" altLang="en-US" b="0" i="0" dirty="0">
                <a:solidFill>
                  <a:srgbClr val="FF0000"/>
                </a:solidFill>
                <a:effectLst/>
                <a:latin typeface="Helvetica Neue"/>
              </a:rPr>
              <a:t>信号流作为输入</a:t>
            </a:r>
            <a:r>
              <a:rPr lang="zh-CN" altLang="en-US" b="0" i="0" dirty="0">
                <a:solidFill>
                  <a:srgbClr val="333333"/>
                </a:solidFill>
                <a:effectLst/>
                <a:latin typeface="Helvetica Neue"/>
              </a:rPr>
              <a:t>，这些信号流由商用</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设备（如</a:t>
            </a:r>
            <a:r>
              <a:rPr lang="en-US" altLang="zh-CN" b="0" i="0" dirty="0">
                <a:solidFill>
                  <a:srgbClr val="333333"/>
                </a:solidFill>
                <a:effectLst/>
                <a:latin typeface="Helvetica Neue"/>
              </a:rPr>
              <a:t>Intel 5300</a:t>
            </a:r>
            <a:r>
              <a:rPr lang="zh-CN" altLang="en-US" b="0" i="0" dirty="0">
                <a:solidFill>
                  <a:srgbClr val="333333"/>
                </a:solidFill>
                <a:effectLst/>
                <a:latin typeface="Helvetica Neue"/>
              </a:rPr>
              <a:t>网卡）的两根接收天线采集。</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每个</a:t>
            </a:r>
            <a:r>
              <a:rPr lang="en-US" altLang="zh-CN" b="0" i="0" dirty="0">
                <a:solidFill>
                  <a:srgbClr val="333333"/>
                </a:solidFill>
                <a:effectLst/>
                <a:latin typeface="Helvetica Neue"/>
              </a:rPr>
              <a:t>CSI</a:t>
            </a:r>
            <a:r>
              <a:rPr lang="zh-CN" altLang="en-US" b="0" i="0" dirty="0">
                <a:solidFill>
                  <a:srgbClr val="333333"/>
                </a:solidFill>
                <a:effectLst/>
                <a:latin typeface="Helvetica Neue"/>
              </a:rPr>
              <a:t>信号流包含一个无线流中</a:t>
            </a:r>
            <a:r>
              <a:rPr lang="en-US" altLang="zh-CN" b="0" i="0" dirty="0">
                <a:solidFill>
                  <a:srgbClr val="333333"/>
                </a:solidFill>
                <a:effectLst/>
                <a:latin typeface="Helvetica Neue"/>
              </a:rPr>
              <a:t>30</a:t>
            </a:r>
            <a:r>
              <a:rPr lang="zh-CN" altLang="en-US" b="0" i="0" dirty="0">
                <a:solidFill>
                  <a:srgbClr val="333333"/>
                </a:solidFill>
                <a:effectLst/>
                <a:latin typeface="Helvetica Neue"/>
              </a:rPr>
              <a:t>个子载波的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读数，</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在实验中，</a:t>
            </a:r>
            <a:r>
              <a:rPr lang="zh-CN" altLang="en-US" b="0" i="0" dirty="0">
                <a:solidFill>
                  <a:srgbClr val="FF0000"/>
                </a:solidFill>
                <a:effectLst/>
                <a:latin typeface="Helvetica Neue"/>
              </a:rPr>
              <a:t>发射端使用</a:t>
            </a:r>
            <a:r>
              <a:rPr lang="en-US" altLang="zh-CN" b="0" i="0" dirty="0">
                <a:solidFill>
                  <a:srgbClr val="FF0000"/>
                </a:solidFill>
                <a:effectLst/>
                <a:latin typeface="Helvetica Neue"/>
              </a:rPr>
              <a:t>1</a:t>
            </a:r>
            <a:r>
              <a:rPr lang="zh-CN" altLang="en-US" b="0" i="0" dirty="0">
                <a:solidFill>
                  <a:srgbClr val="FF0000"/>
                </a:solidFill>
                <a:effectLst/>
                <a:latin typeface="Helvetica Neue"/>
              </a:rPr>
              <a:t>根天线、接收端使用</a:t>
            </a:r>
            <a:r>
              <a:rPr lang="en-US" altLang="zh-CN" b="0" i="0" dirty="0">
                <a:solidFill>
                  <a:srgbClr val="FF0000"/>
                </a:solidFill>
                <a:effectLst/>
                <a:latin typeface="Helvetica Neue"/>
              </a:rPr>
              <a:t>2</a:t>
            </a:r>
            <a:r>
              <a:rPr lang="zh-CN" altLang="en-US" b="0" i="0" dirty="0">
                <a:solidFill>
                  <a:srgbClr val="FF0000"/>
                </a:solidFill>
                <a:effectLst/>
                <a:latin typeface="Helvetica Neue"/>
              </a:rPr>
              <a:t>根天线</a:t>
            </a:r>
            <a:r>
              <a:rPr lang="zh-CN" altLang="en-US" b="0" i="0" dirty="0">
                <a:solidFill>
                  <a:srgbClr val="333333"/>
                </a:solidFill>
                <a:effectLst/>
                <a:latin typeface="Helvetica Neue"/>
              </a:rPr>
              <a:t>，因此共采集两个</a:t>
            </a:r>
            <a:r>
              <a:rPr lang="en-US" altLang="zh-CN" b="0" i="0" dirty="0">
                <a:solidFill>
                  <a:srgbClr val="333333"/>
                </a:solidFill>
                <a:effectLst/>
                <a:latin typeface="Helvetica Neue"/>
              </a:rPr>
              <a:t>CSI</a:t>
            </a:r>
            <a:r>
              <a:rPr lang="zh-CN" altLang="en-US" b="0" i="0" dirty="0">
                <a:solidFill>
                  <a:srgbClr val="333333"/>
                </a:solidFill>
                <a:effectLst/>
                <a:latin typeface="Helvetica Neue"/>
              </a:rPr>
              <a:t>信号流</a:t>
            </a:r>
            <a:r>
              <a:rPr lang="zh-CN" altLang="en-US" dirty="0">
                <a:solidFill>
                  <a:srgbClr val="333333"/>
                </a:solidFill>
                <a:latin typeface="Helvetica Neue"/>
              </a:rPr>
              <a:t>（</a:t>
            </a:r>
            <a:r>
              <a:rPr lang="en-US" altLang="zh-CN" b="0" i="0" dirty="0">
                <a:solidFill>
                  <a:srgbClr val="333333"/>
                </a:solidFill>
                <a:effectLst/>
                <a:latin typeface="Helvetica Neue"/>
              </a:rPr>
              <a:t>CSI</a:t>
            </a:r>
            <a:r>
              <a:rPr lang="zh-CN" altLang="en-US" b="0" i="0" dirty="0">
                <a:solidFill>
                  <a:srgbClr val="333333"/>
                </a:solidFill>
                <a:effectLst/>
                <a:latin typeface="Helvetica Neue"/>
              </a:rPr>
              <a:t>的采样率设置为</a:t>
            </a:r>
            <a:r>
              <a:rPr lang="en-US" altLang="zh-CN" b="0" i="0" dirty="0">
                <a:solidFill>
                  <a:srgbClr val="333333"/>
                </a:solidFill>
                <a:effectLst/>
                <a:latin typeface="Helvetica Neue"/>
              </a:rPr>
              <a:t>100</a:t>
            </a:r>
            <a:r>
              <a:rPr lang="zh-CN" altLang="en-US" b="0" i="0" dirty="0">
                <a:solidFill>
                  <a:srgbClr val="333333"/>
                </a:solidFill>
                <a:effectLst/>
                <a:latin typeface="Helvetica Neue"/>
              </a:rPr>
              <a:t>包</a:t>
            </a:r>
            <a:r>
              <a:rPr lang="en-US" altLang="zh-CN" b="0" i="0" dirty="0">
                <a:solidFill>
                  <a:srgbClr val="333333"/>
                </a:solidFill>
                <a:effectLst/>
                <a:latin typeface="Helvetica Neue"/>
              </a:rPr>
              <a:t>/</a:t>
            </a:r>
            <a:r>
              <a:rPr lang="zh-CN" altLang="en-US" b="0" i="0" dirty="0">
                <a:solidFill>
                  <a:srgbClr val="333333"/>
                </a:solidFill>
                <a:effectLst/>
                <a:latin typeface="Helvetica Neue"/>
              </a:rPr>
              <a:t>秒）</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zh-CN" altLang="en-US" b="0" i="0" dirty="0">
                <a:solidFill>
                  <a:srgbClr val="333333"/>
                </a:solidFill>
                <a:effectLst/>
                <a:latin typeface="Helvetica Neue"/>
              </a:rPr>
              <a:t>系统可利用这些链路中现有通信流量的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测量值；如果网络流量不足，系统也可生成周期性流量用于测量。</a:t>
            </a:r>
            <a:endParaRPr lang="zh-CN" altLang="en-US" dirty="0"/>
          </a:p>
        </p:txBody>
      </p:sp>
      <p:pic>
        <p:nvPicPr>
          <p:cNvPr id="11" name="图片 10">
            <a:extLst>
              <a:ext uri="{FF2B5EF4-FFF2-40B4-BE49-F238E27FC236}">
                <a16:creationId xmlns:a16="http://schemas.microsoft.com/office/drawing/2014/main" id="{FDE215AE-F35A-4B8A-B1B4-DCD0AA3DF222}"/>
              </a:ext>
            </a:extLst>
          </p:cNvPr>
          <p:cNvPicPr>
            <a:picLocks noChangeAspect="1"/>
          </p:cNvPicPr>
          <p:nvPr/>
        </p:nvPicPr>
        <p:blipFill>
          <a:blip r:embed="rId5"/>
          <a:stretch>
            <a:fillRect/>
          </a:stretch>
        </p:blipFill>
        <p:spPr>
          <a:xfrm>
            <a:off x="810520" y="1992495"/>
            <a:ext cx="6337626" cy="2063856"/>
          </a:xfrm>
          <a:prstGeom prst="rect">
            <a:avLst/>
          </a:prstGeom>
        </p:spPr>
      </p:pic>
      <p:sp>
        <p:nvSpPr>
          <p:cNvPr id="13" name="文本框 12">
            <a:extLst>
              <a:ext uri="{FF2B5EF4-FFF2-40B4-BE49-F238E27FC236}">
                <a16:creationId xmlns:a16="http://schemas.microsoft.com/office/drawing/2014/main" id="{52545F33-C89B-4D98-A20B-C961E7F38F73}"/>
              </a:ext>
            </a:extLst>
          </p:cNvPr>
          <p:cNvSpPr txBox="1"/>
          <p:nvPr/>
        </p:nvSpPr>
        <p:spPr>
          <a:xfrm>
            <a:off x="736015" y="4364249"/>
            <a:ext cx="1928284" cy="1754326"/>
          </a:xfrm>
          <a:prstGeom prst="rect">
            <a:avLst/>
          </a:prstGeom>
          <a:noFill/>
        </p:spPr>
        <p:txBody>
          <a:bodyPr wrap="square">
            <a:spAutoFit/>
          </a:bodyPr>
          <a:lstStyle/>
          <a:p>
            <a:r>
              <a:rPr lang="zh-CN" altLang="en-US" b="0" i="0" dirty="0">
                <a:solidFill>
                  <a:srgbClr val="333333"/>
                </a:solidFill>
                <a:effectLst/>
                <a:latin typeface="Helvetica Neue"/>
              </a:rPr>
              <a:t>处理</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突发传输导致的</a:t>
            </a:r>
            <a:r>
              <a:rPr lang="zh-CN" altLang="en-US" b="1" i="0" dirty="0">
                <a:solidFill>
                  <a:srgbClr val="FF0000"/>
                </a:solidFill>
                <a:effectLst/>
                <a:latin typeface="Helvetica Neue"/>
              </a:rPr>
              <a:t>数据包到达不均匀</a:t>
            </a:r>
            <a:r>
              <a:rPr lang="zh-CN" altLang="en-US" b="0" i="0" dirty="0">
                <a:solidFill>
                  <a:srgbClr val="333333"/>
                </a:solidFill>
                <a:effectLst/>
                <a:latin typeface="Helvetica Neue"/>
              </a:rPr>
              <a:t>问题，</a:t>
            </a:r>
            <a:r>
              <a:rPr lang="zh-CN" altLang="en-US" b="1" i="0" dirty="0">
                <a:solidFill>
                  <a:srgbClr val="FF0000"/>
                </a:solidFill>
                <a:effectLst/>
                <a:latin typeface="Helvetica Neue"/>
              </a:rPr>
              <a:t>过滤</a:t>
            </a:r>
            <a:r>
              <a:rPr lang="zh-CN" altLang="en-US" b="0" i="0" dirty="0">
                <a:solidFill>
                  <a:srgbClr val="333333"/>
                </a:solidFill>
                <a:effectLst/>
                <a:latin typeface="Helvetica Neue"/>
              </a:rPr>
              <a:t>对跌倒分割和检测无帮助的</a:t>
            </a:r>
            <a:r>
              <a:rPr lang="zh-CN" altLang="en-US" b="1" i="0" dirty="0">
                <a:solidFill>
                  <a:srgbClr val="FF0000"/>
                </a:solidFill>
                <a:effectLst/>
                <a:latin typeface="Helvetica Neue"/>
              </a:rPr>
              <a:t>信号噪声</a:t>
            </a:r>
            <a:r>
              <a:rPr lang="zh-CN" altLang="en-US" b="0" i="0" dirty="0">
                <a:solidFill>
                  <a:srgbClr val="333333"/>
                </a:solidFill>
                <a:effectLst/>
                <a:latin typeface="Helvetica Neue"/>
              </a:rPr>
              <a:t>。</a:t>
            </a:r>
            <a:endParaRPr lang="zh-CN" altLang="en-US" dirty="0"/>
          </a:p>
        </p:txBody>
      </p:sp>
      <p:sp>
        <p:nvSpPr>
          <p:cNvPr id="15" name="文本框 14">
            <a:extLst>
              <a:ext uri="{FF2B5EF4-FFF2-40B4-BE49-F238E27FC236}">
                <a16:creationId xmlns:a16="http://schemas.microsoft.com/office/drawing/2014/main" id="{A675523B-3AF1-45A1-83C3-78E6D16435A5}"/>
              </a:ext>
            </a:extLst>
          </p:cNvPr>
          <p:cNvSpPr txBox="1"/>
          <p:nvPr/>
        </p:nvSpPr>
        <p:spPr>
          <a:xfrm>
            <a:off x="3024909" y="4476715"/>
            <a:ext cx="1753161" cy="1200329"/>
          </a:xfrm>
          <a:prstGeom prst="rect">
            <a:avLst/>
          </a:prstGeom>
          <a:noFill/>
        </p:spPr>
        <p:txBody>
          <a:bodyPr wrap="square">
            <a:spAutoFit/>
          </a:bodyPr>
          <a:lstStyle/>
          <a:p>
            <a:r>
              <a:rPr lang="zh-CN" altLang="en-US" b="0" i="0" dirty="0">
                <a:solidFill>
                  <a:srgbClr val="333333"/>
                </a:solidFill>
                <a:effectLst/>
                <a:latin typeface="Helvetica Neue"/>
              </a:rPr>
              <a:t>从连续接收的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流中</a:t>
            </a:r>
            <a:r>
              <a:rPr lang="zh-CN" altLang="en-US" b="1" i="0" dirty="0">
                <a:solidFill>
                  <a:srgbClr val="FF0000"/>
                </a:solidFill>
                <a:effectLst/>
                <a:latin typeface="Helvetica Neue"/>
              </a:rPr>
              <a:t>分割出跌倒和类跌倒活动</a:t>
            </a:r>
            <a:endParaRPr lang="zh-CN" altLang="en-US" b="1" dirty="0">
              <a:solidFill>
                <a:srgbClr val="FF0000"/>
              </a:solidFill>
            </a:endParaRPr>
          </a:p>
        </p:txBody>
      </p:sp>
      <p:sp>
        <p:nvSpPr>
          <p:cNvPr id="17" name="文本框 16">
            <a:extLst>
              <a:ext uri="{FF2B5EF4-FFF2-40B4-BE49-F238E27FC236}">
                <a16:creationId xmlns:a16="http://schemas.microsoft.com/office/drawing/2014/main" id="{D4B4CD04-C47D-4D2D-825B-A8489A3537AC}"/>
              </a:ext>
            </a:extLst>
          </p:cNvPr>
          <p:cNvSpPr txBox="1"/>
          <p:nvPr/>
        </p:nvSpPr>
        <p:spPr>
          <a:xfrm>
            <a:off x="5449265" y="4657561"/>
            <a:ext cx="1598695" cy="646331"/>
          </a:xfrm>
          <a:prstGeom prst="rect">
            <a:avLst/>
          </a:prstGeom>
          <a:noFill/>
        </p:spPr>
        <p:txBody>
          <a:bodyPr wrap="square">
            <a:spAutoFit/>
          </a:bodyPr>
          <a:lstStyle/>
          <a:p>
            <a:r>
              <a:rPr lang="zh-CN" altLang="en-US" b="1" i="0" dirty="0">
                <a:solidFill>
                  <a:srgbClr val="FF0000"/>
                </a:solidFill>
                <a:effectLst/>
                <a:latin typeface="Helvetica Neue"/>
              </a:rPr>
              <a:t>将跌倒与类跌倒活动区分开。</a:t>
            </a:r>
            <a:endParaRPr lang="zh-CN" altLang="en-US" b="1" dirty="0">
              <a:solidFill>
                <a:srgbClr val="FF0000"/>
              </a:solidFill>
            </a:endParaRPr>
          </a:p>
        </p:txBody>
      </p:sp>
      <p:cxnSp>
        <p:nvCxnSpPr>
          <p:cNvPr id="12" name="直接箭头连接符 11">
            <a:extLst>
              <a:ext uri="{FF2B5EF4-FFF2-40B4-BE49-F238E27FC236}">
                <a16:creationId xmlns:a16="http://schemas.microsoft.com/office/drawing/2014/main" id="{DEE50EE7-5DCB-4A2E-B5D4-6A8A2E95F2E6}"/>
              </a:ext>
            </a:extLst>
          </p:cNvPr>
          <p:cNvCxnSpPr>
            <a:cxnSpLocks/>
            <a:endCxn id="13" idx="0"/>
          </p:cNvCxnSpPr>
          <p:nvPr/>
        </p:nvCxnSpPr>
        <p:spPr>
          <a:xfrm flipH="1">
            <a:off x="1700157" y="3581400"/>
            <a:ext cx="2" cy="78284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92B914BF-03FE-4D5A-B55B-A0A0D3A93DAB}"/>
              </a:ext>
            </a:extLst>
          </p:cNvPr>
          <p:cNvCxnSpPr>
            <a:cxnSpLocks/>
          </p:cNvCxnSpPr>
          <p:nvPr/>
        </p:nvCxnSpPr>
        <p:spPr>
          <a:xfrm flipH="1">
            <a:off x="3901490" y="3581400"/>
            <a:ext cx="2" cy="78284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9E3BB81A-513F-477D-BB13-7CFF72122D19}"/>
              </a:ext>
            </a:extLst>
          </p:cNvPr>
          <p:cNvCxnSpPr>
            <a:cxnSpLocks/>
          </p:cNvCxnSpPr>
          <p:nvPr/>
        </p:nvCxnSpPr>
        <p:spPr>
          <a:xfrm flipH="1">
            <a:off x="6102823" y="3581399"/>
            <a:ext cx="2" cy="78284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94308701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框架与方法</a:t>
            </a:r>
          </a:p>
        </p:txBody>
      </p:sp>
      <p:sp>
        <p:nvSpPr>
          <p:cNvPr id="8" name="文本框 7">
            <a:extLst>
              <a:ext uri="{FF2B5EF4-FFF2-40B4-BE49-F238E27FC236}">
                <a16:creationId xmlns:a16="http://schemas.microsoft.com/office/drawing/2014/main" id="{B00D64FB-7593-45ED-93E1-574FDB9AD995}"/>
              </a:ext>
            </a:extLst>
          </p:cNvPr>
          <p:cNvSpPr txBox="1"/>
          <p:nvPr/>
        </p:nvSpPr>
        <p:spPr>
          <a:xfrm>
            <a:off x="233632" y="1181216"/>
            <a:ext cx="2890568" cy="478251"/>
          </a:xfrm>
          <a:prstGeom prst="rect">
            <a:avLst/>
          </a:prstGeom>
          <a:noFill/>
        </p:spPr>
        <p:txBody>
          <a:bodyPr wrap="square">
            <a:spAutoFit/>
          </a:bodyPr>
          <a:lstStyle/>
          <a:p>
            <a:pPr algn="l"/>
            <a:r>
              <a:rPr lang="zh-CN" altLang="en-US" sz="2400" b="1" i="0" dirty="0">
                <a:solidFill>
                  <a:srgbClr val="000000"/>
                </a:solidFill>
                <a:effectLst/>
                <a:latin typeface="Helvetica Neue"/>
              </a:rPr>
              <a:t>信号预处理</a:t>
            </a:r>
          </a:p>
        </p:txBody>
      </p:sp>
      <p:sp>
        <p:nvSpPr>
          <p:cNvPr id="10" name="文本框 9">
            <a:extLst>
              <a:ext uri="{FF2B5EF4-FFF2-40B4-BE49-F238E27FC236}">
                <a16:creationId xmlns:a16="http://schemas.microsoft.com/office/drawing/2014/main" id="{FAB4C619-7C8A-4B36-ABE9-996FB3248C52}"/>
              </a:ext>
            </a:extLst>
          </p:cNvPr>
          <p:cNvSpPr txBox="1"/>
          <p:nvPr/>
        </p:nvSpPr>
        <p:spPr>
          <a:xfrm>
            <a:off x="2730557" y="5057638"/>
            <a:ext cx="3201881" cy="1200329"/>
          </a:xfrm>
          <a:prstGeom prst="rect">
            <a:avLst/>
          </a:prstGeom>
          <a:noFill/>
        </p:spPr>
        <p:txBody>
          <a:bodyPr wrap="square">
            <a:spAutoFit/>
          </a:bodyPr>
          <a:lstStyle/>
          <a:p>
            <a:pPr algn="l"/>
            <a:r>
              <a:rPr lang="zh-CN" altLang="en-US" b="0" i="0" dirty="0">
                <a:solidFill>
                  <a:srgbClr val="333333"/>
                </a:solidFill>
                <a:effectLst/>
                <a:latin typeface="Helvetica Neue"/>
              </a:rPr>
              <a:t>采用</a:t>
            </a:r>
            <a:r>
              <a:rPr lang="zh-CN" altLang="en-US" b="1" i="0" dirty="0">
                <a:solidFill>
                  <a:srgbClr val="FF0000"/>
                </a:solidFill>
                <a:effectLst/>
                <a:latin typeface="Helvetica Neue"/>
              </a:rPr>
              <a:t>一维线性插值（两点确定一条直线）</a:t>
            </a:r>
            <a:r>
              <a:rPr lang="zh-CN" altLang="en-US" b="0" i="0" dirty="0">
                <a:solidFill>
                  <a:srgbClr val="333333"/>
                </a:solidFill>
                <a:effectLst/>
                <a:latin typeface="Helvetica Neue"/>
              </a:rPr>
              <a:t>算法，对原始</a:t>
            </a:r>
            <a:r>
              <a:rPr lang="en-US" altLang="zh-CN" b="0" i="0" dirty="0">
                <a:solidFill>
                  <a:srgbClr val="333333"/>
                </a:solidFill>
                <a:effectLst/>
                <a:latin typeface="Helvetica Neue"/>
              </a:rPr>
              <a:t>CSI</a:t>
            </a:r>
            <a:r>
              <a:rPr lang="zh-CN" altLang="en-US" b="0" i="0" dirty="0">
                <a:solidFill>
                  <a:srgbClr val="333333"/>
                </a:solidFill>
                <a:effectLst/>
                <a:latin typeface="Helvetica Neue"/>
              </a:rPr>
              <a:t>读数进行处理，获得</a:t>
            </a:r>
            <a:r>
              <a:rPr lang="zh-CN" altLang="en-US" b="1" i="0" dirty="0">
                <a:solidFill>
                  <a:srgbClr val="FF0000"/>
                </a:solidFill>
                <a:effectLst/>
                <a:latin typeface="Helvetica Neue"/>
              </a:rPr>
              <a:t>均匀分布的样本。</a:t>
            </a:r>
          </a:p>
        </p:txBody>
      </p:sp>
      <p:sp>
        <p:nvSpPr>
          <p:cNvPr id="12" name="文本框 11">
            <a:extLst>
              <a:ext uri="{FF2B5EF4-FFF2-40B4-BE49-F238E27FC236}">
                <a16:creationId xmlns:a16="http://schemas.microsoft.com/office/drawing/2014/main" id="{86FF6D59-726D-4B84-99AA-CAA3C216AD6F}"/>
              </a:ext>
            </a:extLst>
          </p:cNvPr>
          <p:cNvSpPr txBox="1"/>
          <p:nvPr/>
        </p:nvSpPr>
        <p:spPr>
          <a:xfrm>
            <a:off x="233632" y="1654470"/>
            <a:ext cx="5698806" cy="369332"/>
          </a:xfrm>
          <a:prstGeom prst="rect">
            <a:avLst/>
          </a:prstGeom>
          <a:noFill/>
        </p:spPr>
        <p:txBody>
          <a:bodyPr wrap="square">
            <a:spAutoFit/>
          </a:bodyPr>
          <a:lstStyle/>
          <a:p>
            <a:pPr algn="l"/>
            <a:r>
              <a:rPr lang="zh-CN" altLang="en-US" b="1" i="0" dirty="0">
                <a:solidFill>
                  <a:srgbClr val="000000"/>
                </a:solidFill>
                <a:effectLst/>
                <a:latin typeface="Helvetica Neue"/>
              </a:rPr>
              <a:t>插值</a:t>
            </a:r>
          </a:p>
        </p:txBody>
      </p:sp>
      <p:sp>
        <p:nvSpPr>
          <p:cNvPr id="14" name="文本框 13">
            <a:extLst>
              <a:ext uri="{FF2B5EF4-FFF2-40B4-BE49-F238E27FC236}">
                <a16:creationId xmlns:a16="http://schemas.microsoft.com/office/drawing/2014/main" id="{358DB830-A85B-49DC-BCF0-16FB4B8BABDD}"/>
              </a:ext>
            </a:extLst>
          </p:cNvPr>
          <p:cNvSpPr txBox="1"/>
          <p:nvPr/>
        </p:nvSpPr>
        <p:spPr>
          <a:xfrm>
            <a:off x="221355" y="2226173"/>
            <a:ext cx="6281045" cy="923330"/>
          </a:xfrm>
          <a:prstGeom prst="rect">
            <a:avLst/>
          </a:prstGeom>
          <a:noFill/>
        </p:spPr>
        <p:txBody>
          <a:bodyPr wrap="square">
            <a:spAutoFit/>
          </a:bodyPr>
          <a:lstStyle/>
          <a:p>
            <a:r>
              <a:rPr lang="en-US" altLang="zh-CN" dirty="0" err="1">
                <a:solidFill>
                  <a:srgbClr val="333333"/>
                </a:solidFill>
                <a:latin typeface="Helvetica Neue"/>
              </a:rPr>
              <a:t>WiFi</a:t>
            </a:r>
            <a:r>
              <a:rPr lang="en-US" altLang="zh-CN" dirty="0">
                <a:solidFill>
                  <a:srgbClr val="333333"/>
                </a:solidFill>
                <a:latin typeface="Helvetica Neue"/>
              </a:rPr>
              <a:t> </a:t>
            </a:r>
            <a:r>
              <a:rPr lang="zh-CN" altLang="en-US" dirty="0">
                <a:solidFill>
                  <a:srgbClr val="333333"/>
                </a:solidFill>
                <a:latin typeface="Helvetica Neue"/>
              </a:rPr>
              <a:t>信道采用</a:t>
            </a:r>
            <a:r>
              <a:rPr lang="zh-CN" altLang="en-US" dirty="0">
                <a:solidFill>
                  <a:srgbClr val="FF0000"/>
                </a:solidFill>
                <a:latin typeface="Helvetica Neue"/>
              </a:rPr>
              <a:t>“多设备共享”随机接入</a:t>
            </a:r>
            <a:r>
              <a:rPr lang="zh-CN" altLang="en-US" dirty="0">
                <a:solidFill>
                  <a:srgbClr val="333333"/>
                </a:solidFill>
                <a:latin typeface="Helvetica Neue"/>
              </a:rPr>
              <a:t>机制，导致接收的 </a:t>
            </a:r>
            <a:r>
              <a:rPr lang="en-US" altLang="zh-CN" dirty="0">
                <a:solidFill>
                  <a:srgbClr val="333333"/>
                </a:solidFill>
                <a:latin typeface="Helvetica Neue"/>
              </a:rPr>
              <a:t>CSI </a:t>
            </a:r>
            <a:r>
              <a:rPr lang="zh-CN" altLang="en-US" dirty="0">
                <a:solidFill>
                  <a:srgbClr val="333333"/>
                </a:solidFill>
                <a:latin typeface="Helvetica Neue"/>
              </a:rPr>
              <a:t>数据包在</a:t>
            </a:r>
            <a:r>
              <a:rPr lang="zh-CN" altLang="en-US" dirty="0">
                <a:solidFill>
                  <a:srgbClr val="FF0000"/>
                </a:solidFill>
                <a:latin typeface="Helvetica Neue"/>
              </a:rPr>
              <a:t>时间上分布不均匀</a:t>
            </a:r>
            <a:r>
              <a:rPr lang="zh-CN" altLang="en-US" dirty="0">
                <a:solidFill>
                  <a:srgbClr val="333333"/>
                </a:solidFill>
                <a:latin typeface="Helvetica Neue"/>
              </a:rPr>
              <a:t>，直接影响后续跌倒检测，具体有两大问题：</a:t>
            </a:r>
          </a:p>
        </p:txBody>
      </p:sp>
      <p:sp>
        <p:nvSpPr>
          <p:cNvPr id="16" name="文本框 15">
            <a:extLst>
              <a:ext uri="{FF2B5EF4-FFF2-40B4-BE49-F238E27FC236}">
                <a16:creationId xmlns:a16="http://schemas.microsoft.com/office/drawing/2014/main" id="{0AE62D97-C14D-4546-A0F4-94ED389F7F16}"/>
              </a:ext>
            </a:extLst>
          </p:cNvPr>
          <p:cNvSpPr txBox="1"/>
          <p:nvPr/>
        </p:nvSpPr>
        <p:spPr>
          <a:xfrm>
            <a:off x="233632" y="3274444"/>
            <a:ext cx="5955501" cy="1477328"/>
          </a:xfrm>
          <a:prstGeom prst="rect">
            <a:avLst/>
          </a:prstGeom>
          <a:noFill/>
        </p:spPr>
        <p:txBody>
          <a:bodyPr wrap="square">
            <a:spAutoFit/>
          </a:bodyPr>
          <a:lstStyle/>
          <a:p>
            <a:r>
              <a:rPr lang="en-US" altLang="zh-CN" b="0" i="0" dirty="0">
                <a:solidFill>
                  <a:srgbClr val="333333"/>
                </a:solidFill>
                <a:effectLst/>
                <a:latin typeface="Helvetica Neue"/>
              </a:rPr>
              <a:t>1</a:t>
            </a:r>
            <a:r>
              <a:rPr lang="zh-CN" altLang="en-US" b="0" i="0" dirty="0">
                <a:solidFill>
                  <a:srgbClr val="333333"/>
                </a:solidFill>
                <a:effectLst/>
                <a:latin typeface="Helvetica Neue"/>
              </a:rPr>
              <a:t>）跌倒期间采集的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读数可能不连续，给特征提取带来困难；</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en-US" altLang="zh-CN" b="0" i="0" dirty="0">
                <a:solidFill>
                  <a:srgbClr val="333333"/>
                </a:solidFill>
                <a:effectLst/>
                <a:latin typeface="Helvetica Neue"/>
              </a:rPr>
              <a:t>2</a:t>
            </a:r>
            <a:r>
              <a:rPr lang="zh-CN" altLang="en-US" b="0" i="0" dirty="0">
                <a:solidFill>
                  <a:srgbClr val="333333"/>
                </a:solidFill>
                <a:effectLst/>
                <a:latin typeface="Helvetica Neue"/>
              </a:rPr>
              <a:t>）时域中不均匀的样本会影响时频分析，无法获取准确的频谱图。</a:t>
            </a:r>
            <a:endParaRPr lang="zh-CN" altLang="en-US" dirty="0"/>
          </a:p>
        </p:txBody>
      </p:sp>
      <p:pic>
        <p:nvPicPr>
          <p:cNvPr id="6" name="图片 5">
            <a:extLst>
              <a:ext uri="{FF2B5EF4-FFF2-40B4-BE49-F238E27FC236}">
                <a16:creationId xmlns:a16="http://schemas.microsoft.com/office/drawing/2014/main" id="{4D55170E-2D23-473F-9C1D-3AA98AC8DD03}"/>
              </a:ext>
            </a:extLst>
          </p:cNvPr>
          <p:cNvPicPr>
            <a:picLocks noChangeAspect="1"/>
          </p:cNvPicPr>
          <p:nvPr/>
        </p:nvPicPr>
        <p:blipFill>
          <a:blip r:embed="rId5"/>
          <a:stretch>
            <a:fillRect/>
          </a:stretch>
        </p:blipFill>
        <p:spPr>
          <a:xfrm>
            <a:off x="847514" y="4876713"/>
            <a:ext cx="1658619" cy="1624700"/>
          </a:xfrm>
          <a:prstGeom prst="rect">
            <a:avLst/>
          </a:prstGeom>
        </p:spPr>
      </p:pic>
      <p:sp>
        <p:nvSpPr>
          <p:cNvPr id="24" name="文本框 23">
            <a:extLst>
              <a:ext uri="{FF2B5EF4-FFF2-40B4-BE49-F238E27FC236}">
                <a16:creationId xmlns:a16="http://schemas.microsoft.com/office/drawing/2014/main" id="{37FF2593-822D-4237-8837-BF8DCC6CB1EF}"/>
              </a:ext>
            </a:extLst>
          </p:cNvPr>
          <p:cNvSpPr txBox="1"/>
          <p:nvPr/>
        </p:nvSpPr>
        <p:spPr>
          <a:xfrm>
            <a:off x="905933" y="6445579"/>
            <a:ext cx="1998134" cy="369332"/>
          </a:xfrm>
          <a:prstGeom prst="rect">
            <a:avLst/>
          </a:prstGeom>
          <a:noFill/>
        </p:spPr>
        <p:txBody>
          <a:bodyPr wrap="square">
            <a:spAutoFit/>
          </a:bodyPr>
          <a:lstStyle/>
          <a:p>
            <a:r>
              <a:rPr lang="zh-CN" altLang="en-US" b="1" i="0" dirty="0">
                <a:effectLst/>
                <a:latin typeface="Helvetica Neue"/>
              </a:rPr>
              <a:t>一维线性插值</a:t>
            </a:r>
            <a:endParaRPr lang="zh-CN" altLang="en-US" b="1" dirty="0"/>
          </a:p>
        </p:txBody>
      </p:sp>
      <p:sp>
        <p:nvSpPr>
          <p:cNvPr id="25" name="文本框 24">
            <a:extLst>
              <a:ext uri="{FF2B5EF4-FFF2-40B4-BE49-F238E27FC236}">
                <a16:creationId xmlns:a16="http://schemas.microsoft.com/office/drawing/2014/main" id="{80FFBE3C-17A6-4B24-8C3D-D14D5C4E3C1E}"/>
              </a:ext>
            </a:extLst>
          </p:cNvPr>
          <p:cNvSpPr txBox="1"/>
          <p:nvPr/>
        </p:nvSpPr>
        <p:spPr>
          <a:xfrm>
            <a:off x="6787630" y="1654470"/>
            <a:ext cx="7196666" cy="369332"/>
          </a:xfrm>
          <a:prstGeom prst="rect">
            <a:avLst/>
          </a:prstGeom>
          <a:noFill/>
        </p:spPr>
        <p:txBody>
          <a:bodyPr wrap="square">
            <a:spAutoFit/>
          </a:bodyPr>
          <a:lstStyle/>
          <a:p>
            <a:pPr algn="l"/>
            <a:r>
              <a:rPr lang="zh-CN" altLang="en-US" b="1" i="0" dirty="0">
                <a:solidFill>
                  <a:srgbClr val="000000"/>
                </a:solidFill>
                <a:effectLst/>
                <a:latin typeface="Helvetica Neue"/>
              </a:rPr>
              <a:t>带通滤波</a:t>
            </a:r>
          </a:p>
        </p:txBody>
      </p:sp>
      <p:pic>
        <p:nvPicPr>
          <p:cNvPr id="18" name="图片 17">
            <a:extLst>
              <a:ext uri="{FF2B5EF4-FFF2-40B4-BE49-F238E27FC236}">
                <a16:creationId xmlns:a16="http://schemas.microsoft.com/office/drawing/2014/main" id="{3CF28657-639C-4FB0-9F53-B37D3F3FBD7A}"/>
              </a:ext>
            </a:extLst>
          </p:cNvPr>
          <p:cNvPicPr>
            <a:picLocks noChangeAspect="1"/>
          </p:cNvPicPr>
          <p:nvPr/>
        </p:nvPicPr>
        <p:blipFill>
          <a:blip r:embed="rId6"/>
          <a:stretch>
            <a:fillRect/>
          </a:stretch>
        </p:blipFill>
        <p:spPr>
          <a:xfrm>
            <a:off x="7084073" y="2990584"/>
            <a:ext cx="4436339" cy="1331441"/>
          </a:xfrm>
          <a:prstGeom prst="rect">
            <a:avLst/>
          </a:prstGeom>
        </p:spPr>
      </p:pic>
      <p:sp>
        <p:nvSpPr>
          <p:cNvPr id="26" name="文本框 25">
            <a:extLst>
              <a:ext uri="{FF2B5EF4-FFF2-40B4-BE49-F238E27FC236}">
                <a16:creationId xmlns:a16="http://schemas.microsoft.com/office/drawing/2014/main" id="{879B7B35-8305-4264-B425-172E02C51D1C}"/>
              </a:ext>
            </a:extLst>
          </p:cNvPr>
          <p:cNvSpPr txBox="1"/>
          <p:nvPr/>
        </p:nvSpPr>
        <p:spPr>
          <a:xfrm>
            <a:off x="6788305" y="2182969"/>
            <a:ext cx="5182340" cy="646331"/>
          </a:xfrm>
          <a:prstGeom prst="rect">
            <a:avLst/>
          </a:prstGeom>
          <a:noFill/>
        </p:spPr>
        <p:txBody>
          <a:bodyPr wrap="square">
            <a:spAutoFit/>
          </a:bodyPr>
          <a:lstStyle/>
          <a:p>
            <a:r>
              <a:rPr lang="zh-CN" altLang="en-US" b="0" i="0" dirty="0">
                <a:solidFill>
                  <a:srgbClr val="333333"/>
                </a:solidFill>
                <a:effectLst/>
                <a:latin typeface="Helvetica Neue"/>
              </a:rPr>
              <a:t>插值后的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信号流会被输入</a:t>
            </a:r>
            <a:r>
              <a:rPr lang="zh-CN" altLang="en-US" b="1" i="0" dirty="0">
                <a:solidFill>
                  <a:srgbClr val="333333"/>
                </a:solidFill>
                <a:effectLst/>
                <a:latin typeface="Helvetica Neue"/>
              </a:rPr>
              <a:t>带通滤波器</a:t>
            </a:r>
            <a:r>
              <a:rPr lang="zh-CN" altLang="en-US" b="0" i="0" dirty="0">
                <a:solidFill>
                  <a:srgbClr val="333333"/>
                </a:solidFill>
                <a:effectLst/>
                <a:latin typeface="Helvetica Neue"/>
              </a:rPr>
              <a:t>，以进一步</a:t>
            </a:r>
            <a:r>
              <a:rPr lang="zh-CN" altLang="en-US" b="1" i="0" dirty="0">
                <a:solidFill>
                  <a:srgbClr val="FF0000"/>
                </a:solidFill>
                <a:effectLst/>
                <a:latin typeface="Helvetica Neue"/>
              </a:rPr>
              <a:t>滤除无关的信号频率成分</a:t>
            </a:r>
            <a:r>
              <a:rPr lang="zh-CN" altLang="en-US" b="0" i="0" dirty="0">
                <a:solidFill>
                  <a:srgbClr val="333333"/>
                </a:solidFill>
                <a:effectLst/>
                <a:latin typeface="Helvetica Neue"/>
              </a:rPr>
              <a:t>。</a:t>
            </a:r>
            <a:endParaRPr lang="zh-CN" altLang="en-US" dirty="0"/>
          </a:p>
        </p:txBody>
      </p:sp>
      <p:sp>
        <p:nvSpPr>
          <p:cNvPr id="28" name="文本框 27">
            <a:extLst>
              <a:ext uri="{FF2B5EF4-FFF2-40B4-BE49-F238E27FC236}">
                <a16:creationId xmlns:a16="http://schemas.microsoft.com/office/drawing/2014/main" id="{FA0950FF-00FF-45A4-AA9F-56139D804034}"/>
              </a:ext>
            </a:extLst>
          </p:cNvPr>
          <p:cNvSpPr txBox="1"/>
          <p:nvPr/>
        </p:nvSpPr>
        <p:spPr>
          <a:xfrm>
            <a:off x="6787630" y="4351865"/>
            <a:ext cx="5105782" cy="1499342"/>
          </a:xfrm>
          <a:prstGeom prst="rect">
            <a:avLst/>
          </a:prstGeom>
          <a:noFill/>
        </p:spPr>
        <p:txBody>
          <a:bodyPr wrap="square">
            <a:spAutoFit/>
          </a:bodyPr>
          <a:lstStyle/>
          <a:p>
            <a:pPr algn="l"/>
            <a:r>
              <a:rPr lang="zh-CN" altLang="en-US" b="1" dirty="0">
                <a:solidFill>
                  <a:srgbClr val="333333"/>
                </a:solidFill>
                <a:latin typeface="Helvetica Neue"/>
              </a:rPr>
              <a:t>干扰活动（呼吸、轻微移动）</a:t>
            </a:r>
            <a:r>
              <a:rPr lang="zh-CN" altLang="en-US" dirty="0">
                <a:solidFill>
                  <a:srgbClr val="333333"/>
                </a:solidFill>
                <a:latin typeface="Helvetica Neue"/>
              </a:rPr>
              <a:t>速度远低于跌倒，信号频率低</a:t>
            </a:r>
            <a:endParaRPr lang="en-US" altLang="zh-CN" dirty="0">
              <a:solidFill>
                <a:srgbClr val="333333"/>
              </a:solidFill>
              <a:latin typeface="Helvetica Neue"/>
            </a:endParaRPr>
          </a:p>
          <a:p>
            <a:pPr algn="l"/>
            <a:endParaRPr lang="en-US" altLang="zh-CN" dirty="0">
              <a:solidFill>
                <a:srgbClr val="000000"/>
              </a:solidFill>
              <a:latin typeface="Inter"/>
            </a:endParaRPr>
          </a:p>
          <a:p>
            <a:pPr algn="l"/>
            <a:r>
              <a:rPr lang="zh-CN" altLang="en-US" dirty="0">
                <a:solidFill>
                  <a:srgbClr val="333333"/>
                </a:solidFill>
                <a:latin typeface="Helvetica Neue"/>
              </a:rPr>
              <a:t>实验验证：</a:t>
            </a:r>
            <a:r>
              <a:rPr lang="en-US" altLang="zh-CN" b="1" dirty="0">
                <a:solidFill>
                  <a:srgbClr val="FF0000"/>
                </a:solidFill>
                <a:latin typeface="Helvetica Neue"/>
              </a:rPr>
              <a:t>[5, 10 Hz] </a:t>
            </a:r>
            <a:r>
              <a:rPr lang="zh-CN" altLang="en-US" dirty="0">
                <a:solidFill>
                  <a:srgbClr val="333333"/>
                </a:solidFill>
                <a:latin typeface="Helvetica Neue"/>
              </a:rPr>
              <a:t>频率范围能最精准地表征</a:t>
            </a:r>
            <a:r>
              <a:rPr lang="zh-CN" altLang="en-US" b="1" dirty="0">
                <a:solidFill>
                  <a:srgbClr val="FF0000"/>
                </a:solidFill>
                <a:latin typeface="Helvetica Neue"/>
              </a:rPr>
              <a:t>跌倒 </a:t>
            </a:r>
            <a:r>
              <a:rPr lang="en-US" altLang="zh-CN" b="1" dirty="0">
                <a:solidFill>
                  <a:srgbClr val="FF0000"/>
                </a:solidFill>
                <a:latin typeface="Helvetica Neue"/>
              </a:rPr>
              <a:t>/ </a:t>
            </a:r>
            <a:r>
              <a:rPr lang="zh-CN" altLang="en-US" b="1" dirty="0">
                <a:solidFill>
                  <a:srgbClr val="FF0000"/>
                </a:solidFill>
                <a:latin typeface="Helvetica Neue"/>
              </a:rPr>
              <a:t>类跌倒</a:t>
            </a:r>
            <a:r>
              <a:rPr lang="zh-CN" altLang="en-US" dirty="0">
                <a:solidFill>
                  <a:srgbClr val="333333"/>
                </a:solidFill>
                <a:latin typeface="Helvetica Neue"/>
              </a:rPr>
              <a:t>活动特征</a:t>
            </a:r>
          </a:p>
        </p:txBody>
      </p:sp>
      <p:cxnSp>
        <p:nvCxnSpPr>
          <p:cNvPr id="32" name="直接连接符 31">
            <a:extLst>
              <a:ext uri="{FF2B5EF4-FFF2-40B4-BE49-F238E27FC236}">
                <a16:creationId xmlns:a16="http://schemas.microsoft.com/office/drawing/2014/main" id="{09148BE7-90C5-409D-96F6-00AF0EFA9299}"/>
              </a:ext>
            </a:extLst>
          </p:cNvPr>
          <p:cNvCxnSpPr>
            <a:cxnSpLocks/>
          </p:cNvCxnSpPr>
          <p:nvPr/>
        </p:nvCxnSpPr>
        <p:spPr>
          <a:xfrm>
            <a:off x="6318354" y="1391285"/>
            <a:ext cx="0" cy="5423626"/>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48259562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框架与方法</a:t>
            </a:r>
          </a:p>
        </p:txBody>
      </p:sp>
      <p:sp>
        <p:nvSpPr>
          <p:cNvPr id="8" name="文本框 7">
            <a:extLst>
              <a:ext uri="{FF2B5EF4-FFF2-40B4-BE49-F238E27FC236}">
                <a16:creationId xmlns:a16="http://schemas.microsoft.com/office/drawing/2014/main" id="{2B1C8FB3-0307-4B28-96D1-62A6C1C11084}"/>
              </a:ext>
            </a:extLst>
          </p:cNvPr>
          <p:cNvSpPr txBox="1"/>
          <p:nvPr/>
        </p:nvSpPr>
        <p:spPr>
          <a:xfrm>
            <a:off x="135467" y="1203231"/>
            <a:ext cx="6096000" cy="461665"/>
          </a:xfrm>
          <a:prstGeom prst="rect">
            <a:avLst/>
          </a:prstGeom>
          <a:noFill/>
        </p:spPr>
        <p:txBody>
          <a:bodyPr wrap="square">
            <a:spAutoFit/>
          </a:bodyPr>
          <a:lstStyle/>
          <a:p>
            <a:pPr algn="l"/>
            <a:r>
              <a:rPr lang="zh-CN" altLang="en-US" sz="2400" b="1" i="0" dirty="0">
                <a:solidFill>
                  <a:srgbClr val="000000"/>
                </a:solidFill>
                <a:effectLst/>
                <a:latin typeface="Helvetica Neue"/>
              </a:rPr>
              <a:t>活动分割</a:t>
            </a:r>
          </a:p>
        </p:txBody>
      </p:sp>
      <p:pic>
        <p:nvPicPr>
          <p:cNvPr id="14" name="图片 13">
            <a:extLst>
              <a:ext uri="{FF2B5EF4-FFF2-40B4-BE49-F238E27FC236}">
                <a16:creationId xmlns:a16="http://schemas.microsoft.com/office/drawing/2014/main" id="{B465412F-CB38-4D64-924E-271799D8CD44}"/>
              </a:ext>
            </a:extLst>
          </p:cNvPr>
          <p:cNvPicPr>
            <a:picLocks noChangeAspect="1"/>
          </p:cNvPicPr>
          <p:nvPr/>
        </p:nvPicPr>
        <p:blipFill>
          <a:blip r:embed="rId5"/>
          <a:stretch>
            <a:fillRect/>
          </a:stretch>
        </p:blipFill>
        <p:spPr>
          <a:xfrm>
            <a:off x="264761" y="2335898"/>
            <a:ext cx="5901627" cy="2950814"/>
          </a:xfrm>
          <a:prstGeom prst="rect">
            <a:avLst/>
          </a:prstGeom>
        </p:spPr>
      </p:pic>
      <p:sp>
        <p:nvSpPr>
          <p:cNvPr id="19" name="文本框 18">
            <a:extLst>
              <a:ext uri="{FF2B5EF4-FFF2-40B4-BE49-F238E27FC236}">
                <a16:creationId xmlns:a16="http://schemas.microsoft.com/office/drawing/2014/main" id="{EB0116B1-4123-4C66-8010-F3D06F421BBA}"/>
              </a:ext>
            </a:extLst>
          </p:cNvPr>
          <p:cNvSpPr txBox="1"/>
          <p:nvPr/>
        </p:nvSpPr>
        <p:spPr>
          <a:xfrm>
            <a:off x="321734" y="1815731"/>
            <a:ext cx="4516966" cy="369332"/>
          </a:xfrm>
          <a:prstGeom prst="rect">
            <a:avLst/>
          </a:prstGeom>
          <a:noFill/>
        </p:spPr>
        <p:txBody>
          <a:bodyPr wrap="square">
            <a:spAutoFit/>
          </a:bodyPr>
          <a:lstStyle/>
          <a:p>
            <a:pPr algn="l"/>
            <a:r>
              <a:rPr lang="zh-CN" altLang="en-US" b="1" i="0" dirty="0">
                <a:solidFill>
                  <a:srgbClr val="000000"/>
                </a:solidFill>
                <a:effectLst/>
                <a:latin typeface="Inter"/>
              </a:rPr>
              <a:t>自动识别跌倒 </a:t>
            </a:r>
            <a:r>
              <a:rPr lang="en-US" altLang="zh-CN" b="1" i="0" dirty="0">
                <a:solidFill>
                  <a:srgbClr val="000000"/>
                </a:solidFill>
                <a:effectLst/>
                <a:latin typeface="Inter"/>
              </a:rPr>
              <a:t>/ </a:t>
            </a:r>
            <a:r>
              <a:rPr lang="zh-CN" altLang="en-US" b="1" i="0" dirty="0">
                <a:solidFill>
                  <a:srgbClr val="000000"/>
                </a:solidFill>
                <a:effectLst/>
                <a:latin typeface="Inter"/>
              </a:rPr>
              <a:t>类跌倒活动的 “结束点”</a:t>
            </a:r>
          </a:p>
        </p:txBody>
      </p:sp>
      <p:sp>
        <p:nvSpPr>
          <p:cNvPr id="26" name="文本框 25">
            <a:extLst>
              <a:ext uri="{FF2B5EF4-FFF2-40B4-BE49-F238E27FC236}">
                <a16:creationId xmlns:a16="http://schemas.microsoft.com/office/drawing/2014/main" id="{9B7DC889-0392-4C44-88D3-EEC40CFACD0C}"/>
              </a:ext>
            </a:extLst>
          </p:cNvPr>
          <p:cNvSpPr txBox="1"/>
          <p:nvPr/>
        </p:nvSpPr>
        <p:spPr>
          <a:xfrm>
            <a:off x="135467" y="2462338"/>
            <a:ext cx="338666" cy="1015663"/>
          </a:xfrm>
          <a:prstGeom prst="rect">
            <a:avLst/>
          </a:prstGeom>
          <a:noFill/>
        </p:spPr>
        <p:txBody>
          <a:bodyPr wrap="square">
            <a:spAutoFit/>
          </a:bodyPr>
          <a:lstStyle/>
          <a:p>
            <a:r>
              <a:rPr lang="zh-CN" altLang="en-US" sz="1200" b="1" dirty="0">
                <a:solidFill>
                  <a:srgbClr val="FF0000"/>
                </a:solidFill>
              </a:rPr>
              <a:t>相位差信号</a:t>
            </a:r>
          </a:p>
        </p:txBody>
      </p:sp>
      <p:sp>
        <p:nvSpPr>
          <p:cNvPr id="27" name="文本框 26">
            <a:extLst>
              <a:ext uri="{FF2B5EF4-FFF2-40B4-BE49-F238E27FC236}">
                <a16:creationId xmlns:a16="http://schemas.microsoft.com/office/drawing/2014/main" id="{19A11418-D934-4208-AA46-50A0E91900ED}"/>
              </a:ext>
            </a:extLst>
          </p:cNvPr>
          <p:cNvSpPr txBox="1"/>
          <p:nvPr/>
        </p:nvSpPr>
        <p:spPr>
          <a:xfrm>
            <a:off x="135467" y="3668207"/>
            <a:ext cx="283455" cy="1015663"/>
          </a:xfrm>
          <a:prstGeom prst="rect">
            <a:avLst/>
          </a:prstGeom>
          <a:noFill/>
        </p:spPr>
        <p:txBody>
          <a:bodyPr wrap="square">
            <a:spAutoFit/>
          </a:bodyPr>
          <a:lstStyle/>
          <a:p>
            <a:r>
              <a:rPr lang="zh-CN" altLang="en-US" sz="1200" b="1" i="0" dirty="0">
                <a:solidFill>
                  <a:srgbClr val="FF0000"/>
                </a:solidFill>
                <a:effectLst/>
                <a:latin typeface="Inter"/>
              </a:rPr>
              <a:t>信号标准差</a:t>
            </a:r>
            <a:endParaRPr lang="zh-CN" altLang="en-US" sz="1200" b="1" dirty="0">
              <a:solidFill>
                <a:srgbClr val="FF0000"/>
              </a:solidFill>
            </a:endParaRPr>
          </a:p>
        </p:txBody>
      </p:sp>
      <p:cxnSp>
        <p:nvCxnSpPr>
          <p:cNvPr id="29" name="直接箭头连接符 28">
            <a:extLst>
              <a:ext uri="{FF2B5EF4-FFF2-40B4-BE49-F238E27FC236}">
                <a16:creationId xmlns:a16="http://schemas.microsoft.com/office/drawing/2014/main" id="{AD91671A-DE82-47F7-BFBF-7A511A6E5E44}"/>
              </a:ext>
            </a:extLst>
          </p:cNvPr>
          <p:cNvCxnSpPr>
            <a:cxnSpLocks/>
          </p:cNvCxnSpPr>
          <p:nvPr/>
        </p:nvCxnSpPr>
        <p:spPr>
          <a:xfrm flipH="1">
            <a:off x="501278" y="4649665"/>
            <a:ext cx="313639" cy="63704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0A6EF2B3-BE45-4D2B-A1D7-21DB0267176E}"/>
              </a:ext>
            </a:extLst>
          </p:cNvPr>
          <p:cNvCxnSpPr>
            <a:cxnSpLocks/>
          </p:cNvCxnSpPr>
          <p:nvPr/>
        </p:nvCxnSpPr>
        <p:spPr>
          <a:xfrm>
            <a:off x="1100666" y="4649665"/>
            <a:ext cx="0" cy="63704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7FB6EA05-D5CC-41F1-8173-D9EF23CE5372}"/>
              </a:ext>
            </a:extLst>
          </p:cNvPr>
          <p:cNvSpPr txBox="1"/>
          <p:nvPr/>
        </p:nvSpPr>
        <p:spPr>
          <a:xfrm>
            <a:off x="52340" y="5246085"/>
            <a:ext cx="843586" cy="461666"/>
          </a:xfrm>
          <a:prstGeom prst="rect">
            <a:avLst/>
          </a:prstGeom>
          <a:noFill/>
        </p:spPr>
        <p:txBody>
          <a:bodyPr wrap="square">
            <a:spAutoFit/>
          </a:bodyPr>
          <a:lstStyle/>
          <a:p>
            <a:r>
              <a:rPr lang="zh-CN" altLang="en-US" sz="1200" b="1" i="0" dirty="0">
                <a:solidFill>
                  <a:srgbClr val="FF0000"/>
                </a:solidFill>
                <a:effectLst/>
                <a:latin typeface="Inter"/>
              </a:rPr>
              <a:t>原始信号的标准差</a:t>
            </a:r>
            <a:endParaRPr lang="zh-CN" altLang="en-US" sz="1200" b="1" dirty="0">
              <a:solidFill>
                <a:srgbClr val="FF0000"/>
              </a:solidFill>
            </a:endParaRPr>
          </a:p>
        </p:txBody>
      </p:sp>
      <p:sp>
        <p:nvSpPr>
          <p:cNvPr id="34" name="文本框 33">
            <a:extLst>
              <a:ext uri="{FF2B5EF4-FFF2-40B4-BE49-F238E27FC236}">
                <a16:creationId xmlns:a16="http://schemas.microsoft.com/office/drawing/2014/main" id="{C0C32882-04F5-434B-AAC9-57B060CF7DFE}"/>
              </a:ext>
            </a:extLst>
          </p:cNvPr>
          <p:cNvSpPr txBox="1"/>
          <p:nvPr/>
        </p:nvSpPr>
        <p:spPr>
          <a:xfrm>
            <a:off x="885686" y="5193456"/>
            <a:ext cx="678447" cy="600164"/>
          </a:xfrm>
          <a:prstGeom prst="rect">
            <a:avLst/>
          </a:prstGeom>
          <a:noFill/>
        </p:spPr>
        <p:txBody>
          <a:bodyPr wrap="square">
            <a:spAutoFit/>
          </a:bodyPr>
          <a:lstStyle/>
          <a:p>
            <a:r>
              <a:rPr lang="zh-CN" altLang="en-US" sz="1100" b="1" dirty="0">
                <a:solidFill>
                  <a:srgbClr val="FF0000"/>
                </a:solidFill>
                <a:latin typeface="Inter"/>
              </a:rPr>
              <a:t>滤波后</a:t>
            </a:r>
            <a:r>
              <a:rPr lang="zh-CN" altLang="en-US" sz="1100" b="1" i="0" dirty="0">
                <a:solidFill>
                  <a:srgbClr val="FF0000"/>
                </a:solidFill>
                <a:effectLst/>
                <a:latin typeface="Inter"/>
              </a:rPr>
              <a:t>信号的标准差</a:t>
            </a:r>
            <a:endParaRPr lang="zh-CN" altLang="en-US" sz="1100" b="1" dirty="0">
              <a:solidFill>
                <a:srgbClr val="FF0000"/>
              </a:solidFill>
            </a:endParaRPr>
          </a:p>
        </p:txBody>
      </p:sp>
      <p:sp>
        <p:nvSpPr>
          <p:cNvPr id="35" name="文本框 34">
            <a:extLst>
              <a:ext uri="{FF2B5EF4-FFF2-40B4-BE49-F238E27FC236}">
                <a16:creationId xmlns:a16="http://schemas.microsoft.com/office/drawing/2014/main" id="{0FFBB06D-346B-44D6-931C-E4321AEF1FEE}"/>
              </a:ext>
            </a:extLst>
          </p:cNvPr>
          <p:cNvSpPr txBox="1"/>
          <p:nvPr/>
        </p:nvSpPr>
        <p:spPr>
          <a:xfrm>
            <a:off x="1528700" y="5159870"/>
            <a:ext cx="1469917" cy="461665"/>
          </a:xfrm>
          <a:prstGeom prst="rect">
            <a:avLst/>
          </a:prstGeom>
          <a:noFill/>
        </p:spPr>
        <p:txBody>
          <a:bodyPr wrap="square">
            <a:spAutoFit/>
          </a:bodyPr>
          <a:lstStyle/>
          <a:p>
            <a:r>
              <a:rPr lang="zh-CN" altLang="en-US" sz="1200" b="1" dirty="0">
                <a:solidFill>
                  <a:srgbClr val="FF0000"/>
                </a:solidFill>
                <a:latin typeface="Inter"/>
              </a:rPr>
              <a:t>滤波后</a:t>
            </a:r>
            <a:r>
              <a:rPr lang="zh-CN" altLang="en-US" sz="1200" b="1" i="0" dirty="0">
                <a:solidFill>
                  <a:srgbClr val="FF0000"/>
                </a:solidFill>
                <a:effectLst/>
                <a:latin typeface="Inter"/>
              </a:rPr>
              <a:t>信号从波动到稳定的时间点</a:t>
            </a:r>
            <a:endParaRPr lang="zh-CN" altLang="en-US" sz="1200" b="1" dirty="0">
              <a:solidFill>
                <a:srgbClr val="FF0000"/>
              </a:solidFill>
            </a:endParaRPr>
          </a:p>
        </p:txBody>
      </p:sp>
      <p:sp>
        <p:nvSpPr>
          <p:cNvPr id="36" name="文本框 35">
            <a:extLst>
              <a:ext uri="{FF2B5EF4-FFF2-40B4-BE49-F238E27FC236}">
                <a16:creationId xmlns:a16="http://schemas.microsoft.com/office/drawing/2014/main" id="{42D1755E-86B1-4F66-B3C1-42C1D46E9BC1}"/>
              </a:ext>
            </a:extLst>
          </p:cNvPr>
          <p:cNvSpPr txBox="1"/>
          <p:nvPr/>
        </p:nvSpPr>
        <p:spPr>
          <a:xfrm>
            <a:off x="2907888" y="5173413"/>
            <a:ext cx="1390776" cy="461665"/>
          </a:xfrm>
          <a:prstGeom prst="rect">
            <a:avLst/>
          </a:prstGeom>
          <a:noFill/>
        </p:spPr>
        <p:txBody>
          <a:bodyPr wrap="square">
            <a:spAutoFit/>
          </a:bodyPr>
          <a:lstStyle/>
          <a:p>
            <a:r>
              <a:rPr lang="zh-CN" altLang="en-US" sz="1200" b="1" i="0" dirty="0">
                <a:solidFill>
                  <a:srgbClr val="FF0000"/>
                </a:solidFill>
                <a:effectLst/>
                <a:latin typeface="Inter"/>
              </a:rPr>
              <a:t>原始信号从波动到稳定的时间点</a:t>
            </a:r>
            <a:endParaRPr lang="zh-CN" altLang="en-US" sz="1200" b="1" dirty="0">
              <a:solidFill>
                <a:srgbClr val="FF0000"/>
              </a:solidFill>
            </a:endParaRPr>
          </a:p>
        </p:txBody>
      </p:sp>
      <p:cxnSp>
        <p:nvCxnSpPr>
          <p:cNvPr id="37" name="直接箭头连接符 36">
            <a:extLst>
              <a:ext uri="{FF2B5EF4-FFF2-40B4-BE49-F238E27FC236}">
                <a16:creationId xmlns:a16="http://schemas.microsoft.com/office/drawing/2014/main" id="{D3EFC7D6-49FE-4556-BB25-DA609EC0F560}"/>
              </a:ext>
            </a:extLst>
          </p:cNvPr>
          <p:cNvCxnSpPr>
            <a:cxnSpLocks/>
          </p:cNvCxnSpPr>
          <p:nvPr/>
        </p:nvCxnSpPr>
        <p:spPr>
          <a:xfrm flipH="1">
            <a:off x="2131399" y="4492253"/>
            <a:ext cx="219734" cy="67963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A31C924C-224C-4A1E-9DC6-851F7E940D2E}"/>
              </a:ext>
            </a:extLst>
          </p:cNvPr>
          <p:cNvCxnSpPr>
            <a:cxnSpLocks/>
          </p:cNvCxnSpPr>
          <p:nvPr/>
        </p:nvCxnSpPr>
        <p:spPr>
          <a:xfrm>
            <a:off x="2586615" y="4492253"/>
            <a:ext cx="626978" cy="66622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E69A71E7-082C-4D61-B4EB-6675E45A3E21}"/>
              </a:ext>
            </a:extLst>
          </p:cNvPr>
          <p:cNvSpPr txBox="1"/>
          <p:nvPr/>
        </p:nvSpPr>
        <p:spPr>
          <a:xfrm>
            <a:off x="6295682" y="2514045"/>
            <a:ext cx="5566833" cy="2308324"/>
          </a:xfrm>
          <a:prstGeom prst="rect">
            <a:avLst/>
          </a:prstGeom>
          <a:noFill/>
        </p:spPr>
        <p:txBody>
          <a:bodyPr wrap="square">
            <a:spAutoFit/>
          </a:bodyPr>
          <a:lstStyle/>
          <a:p>
            <a:r>
              <a:rPr lang="zh-CN" altLang="en-US" b="0" i="0" dirty="0">
                <a:solidFill>
                  <a:srgbClr val="333333"/>
                </a:solidFill>
                <a:effectLst/>
                <a:latin typeface="Helvetica Neue"/>
              </a:rPr>
              <a:t>首先，计算原始相位差信号流和滤波后相位差信号流的均值</a:t>
            </a:r>
            <a:r>
              <a:rPr lang="en-US" altLang="zh-CN" b="0" i="1" dirty="0">
                <a:solidFill>
                  <a:srgbClr val="333333"/>
                </a:solidFill>
                <a:effectLst/>
                <a:latin typeface="KaTeX_Math"/>
              </a:rPr>
              <a:t>μ</a:t>
            </a:r>
            <a:r>
              <a:rPr lang="zh-CN" altLang="en-US" b="0" i="0" dirty="0">
                <a:solidFill>
                  <a:srgbClr val="333333"/>
                </a:solidFill>
                <a:effectLst/>
                <a:latin typeface="Helvetica Neue"/>
              </a:rPr>
              <a:t>和标准化标准差</a:t>
            </a:r>
            <a:r>
              <a:rPr lang="en-US" altLang="zh-CN" b="0" i="1" dirty="0">
                <a:solidFill>
                  <a:srgbClr val="333333"/>
                </a:solidFill>
                <a:effectLst/>
                <a:latin typeface="KaTeX_Math"/>
              </a:rPr>
              <a:t>σ</a:t>
            </a:r>
            <a:r>
              <a:rPr lang="zh-CN" altLang="en-US" b="0" i="1" dirty="0">
                <a:solidFill>
                  <a:srgbClr val="333333"/>
                </a:solidFill>
                <a:effectLst/>
                <a:latin typeface="KaTeX_Math"/>
              </a:rPr>
              <a:t>；</a:t>
            </a:r>
            <a:endParaRPr lang="en-US" altLang="zh-CN" b="0" i="1" dirty="0">
              <a:solidFill>
                <a:srgbClr val="333333"/>
              </a:solidFill>
              <a:effectLst/>
              <a:latin typeface="KaTeX_Math"/>
            </a:endParaRPr>
          </a:p>
          <a:p>
            <a:endParaRPr lang="en-US" altLang="zh-CN" dirty="0"/>
          </a:p>
          <a:p>
            <a:r>
              <a:rPr lang="zh-CN" altLang="en-US" dirty="0"/>
              <a:t>然后，寻找信号流</a:t>
            </a:r>
            <a:r>
              <a:rPr lang="zh-CN" altLang="en-US" b="0" i="0" dirty="0">
                <a:solidFill>
                  <a:srgbClr val="333333"/>
                </a:solidFill>
                <a:effectLst/>
                <a:latin typeface="Helvetica Neue"/>
              </a:rPr>
              <a:t>从波动状态到稳定状态（信号标准差从大于标准差</a:t>
            </a:r>
            <a:r>
              <a:rPr lang="en-US" altLang="zh-CN" b="0" i="1" dirty="0">
                <a:solidFill>
                  <a:srgbClr val="333333"/>
                </a:solidFill>
                <a:effectLst/>
                <a:latin typeface="KaTeX_Math"/>
              </a:rPr>
              <a:t>σ </a:t>
            </a:r>
            <a:r>
              <a:rPr lang="zh-CN" altLang="en-US" b="0" dirty="0">
                <a:solidFill>
                  <a:srgbClr val="333333"/>
                </a:solidFill>
                <a:effectLst/>
                <a:latin typeface="KaTeX_Math"/>
              </a:rPr>
              <a:t>到小于</a:t>
            </a:r>
            <a:r>
              <a:rPr lang="zh-CN" altLang="en-US" b="0" dirty="0">
                <a:solidFill>
                  <a:srgbClr val="333333"/>
                </a:solidFill>
                <a:effectLst/>
                <a:latin typeface="Helvetica Neue"/>
              </a:rPr>
              <a:t>标准差</a:t>
            </a:r>
            <a:r>
              <a:rPr lang="en-US" altLang="zh-CN" b="0" i="1" dirty="0">
                <a:solidFill>
                  <a:srgbClr val="333333"/>
                </a:solidFill>
                <a:effectLst/>
                <a:latin typeface="KaTeX_Math"/>
              </a:rPr>
              <a:t>σ </a:t>
            </a:r>
            <a:r>
              <a:rPr lang="zh-CN" altLang="en-US" b="0" i="0" dirty="0">
                <a:solidFill>
                  <a:srgbClr val="333333"/>
                </a:solidFill>
                <a:effectLst/>
                <a:latin typeface="Helvetica Neue"/>
              </a:rPr>
              <a:t>）的过渡时间点；</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zh-CN" altLang="en-US" dirty="0">
                <a:solidFill>
                  <a:srgbClr val="333333"/>
                </a:solidFill>
                <a:latin typeface="Helvetica Neue"/>
              </a:rPr>
              <a:t>最后，根据两种信号均完成</a:t>
            </a:r>
            <a:r>
              <a:rPr lang="zh-CN" altLang="en-US" b="0" i="0" dirty="0">
                <a:solidFill>
                  <a:srgbClr val="333333"/>
                </a:solidFill>
                <a:effectLst/>
                <a:latin typeface="Helvetica Neue"/>
              </a:rPr>
              <a:t>从波动状态到稳定状态的最终时间点记作活动结束时间点</a:t>
            </a:r>
            <a:endParaRPr lang="zh-CN" altLang="en-US" dirty="0"/>
          </a:p>
        </p:txBody>
      </p:sp>
      <p:cxnSp>
        <p:nvCxnSpPr>
          <p:cNvPr id="45" name="直接箭头连接符 44">
            <a:extLst>
              <a:ext uri="{FF2B5EF4-FFF2-40B4-BE49-F238E27FC236}">
                <a16:creationId xmlns:a16="http://schemas.microsoft.com/office/drawing/2014/main" id="{29BF43F7-209F-4CAF-BA12-E395310836A8}"/>
              </a:ext>
            </a:extLst>
          </p:cNvPr>
          <p:cNvCxnSpPr>
            <a:cxnSpLocks/>
          </p:cNvCxnSpPr>
          <p:nvPr/>
        </p:nvCxnSpPr>
        <p:spPr>
          <a:xfrm flipV="1">
            <a:off x="2603726" y="3293334"/>
            <a:ext cx="0" cy="88270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AB8D9ECD-4955-4F02-B499-6C0EC50586A7}"/>
              </a:ext>
            </a:extLst>
          </p:cNvPr>
          <p:cNvSpPr txBox="1"/>
          <p:nvPr/>
        </p:nvSpPr>
        <p:spPr>
          <a:xfrm>
            <a:off x="635538" y="5848927"/>
            <a:ext cx="11061700" cy="923330"/>
          </a:xfrm>
          <a:prstGeom prst="rect">
            <a:avLst/>
          </a:prstGeom>
          <a:noFill/>
          <a:ln w="19050">
            <a:solidFill>
              <a:srgbClr val="00B0F0"/>
            </a:solidFill>
            <a:prstDash val="dash"/>
          </a:ln>
        </p:spPr>
        <p:txBody>
          <a:bodyPr wrap="square">
            <a:spAutoFit/>
          </a:bodyPr>
          <a:lstStyle/>
          <a:p>
            <a:r>
              <a:rPr lang="zh-CN" altLang="en-US" b="1" i="0" dirty="0">
                <a:effectLst/>
                <a:latin typeface="Inter"/>
              </a:rPr>
              <a:t>“双信号状态过渡检测” </a:t>
            </a:r>
            <a:r>
              <a:rPr lang="zh-CN" altLang="en-US" dirty="0">
                <a:latin typeface="Inter"/>
              </a:rPr>
              <a:t>：</a:t>
            </a:r>
            <a:r>
              <a:rPr lang="zh-CN" altLang="en-US" b="0" i="0" dirty="0">
                <a:solidFill>
                  <a:srgbClr val="FF0000"/>
                </a:solidFill>
                <a:effectLst/>
                <a:latin typeface="Inter"/>
              </a:rPr>
              <a:t>跌倒和类跌倒</a:t>
            </a:r>
            <a:r>
              <a:rPr lang="zh-CN" altLang="en-US" b="0" i="0" dirty="0">
                <a:effectLst/>
                <a:latin typeface="Inter"/>
              </a:rPr>
              <a:t>活动的</a:t>
            </a:r>
            <a:r>
              <a:rPr lang="zh-CN" altLang="en-US" b="1" i="0" dirty="0">
                <a:solidFill>
                  <a:srgbClr val="FF0000"/>
                </a:solidFill>
                <a:effectLst/>
                <a:latin typeface="Inter"/>
              </a:rPr>
              <a:t>唯一共性</a:t>
            </a:r>
            <a:r>
              <a:rPr lang="zh-CN" altLang="en-US" b="0" i="0" dirty="0">
                <a:effectLst/>
                <a:latin typeface="Inter"/>
              </a:rPr>
              <a:t>是：</a:t>
            </a:r>
            <a:r>
              <a:rPr lang="zh-CN" altLang="en-US" b="1" i="0" dirty="0">
                <a:solidFill>
                  <a:srgbClr val="000000"/>
                </a:solidFill>
                <a:effectLst/>
                <a:latin typeface="Inter"/>
              </a:rPr>
              <a:t>既会</a:t>
            </a:r>
            <a:r>
              <a:rPr lang="zh-CN" altLang="en-US" b="1" i="0" dirty="0">
                <a:solidFill>
                  <a:srgbClr val="FF0000"/>
                </a:solidFill>
                <a:effectLst/>
                <a:latin typeface="Inter"/>
              </a:rPr>
              <a:t>触发原始信号的状态过渡</a:t>
            </a:r>
            <a:r>
              <a:rPr lang="zh-CN" altLang="en-US" b="1" i="0" dirty="0">
                <a:solidFill>
                  <a:srgbClr val="000000"/>
                </a:solidFill>
                <a:effectLst/>
                <a:latin typeface="Inter"/>
              </a:rPr>
              <a:t>，也会伴随尖锐功率谱下降（</a:t>
            </a:r>
            <a:r>
              <a:rPr lang="zh-CN" altLang="en-US" b="1" i="0" dirty="0">
                <a:solidFill>
                  <a:srgbClr val="FF0000"/>
                </a:solidFill>
                <a:effectLst/>
                <a:latin typeface="Inter"/>
              </a:rPr>
              <a:t>滤波后信号同步过渡</a:t>
            </a:r>
            <a:r>
              <a:rPr lang="zh-CN" altLang="en-US" b="1" i="0" dirty="0">
                <a:solidFill>
                  <a:srgbClr val="000000"/>
                </a:solidFill>
                <a:effectLst/>
                <a:latin typeface="Inter"/>
              </a:rPr>
              <a:t>，</a:t>
            </a:r>
            <a:r>
              <a:rPr lang="en-US" altLang="zh-CN" b="1" dirty="0" err="1">
                <a:solidFill>
                  <a:srgbClr val="000000"/>
                </a:solidFill>
                <a:latin typeface="Inter"/>
              </a:rPr>
              <a:t>Δt</a:t>
            </a:r>
            <a:r>
              <a:rPr lang="en-US" altLang="zh-CN" b="1" dirty="0">
                <a:solidFill>
                  <a:srgbClr val="000000"/>
                </a:solidFill>
                <a:latin typeface="Inter"/>
              </a:rPr>
              <a:t> </a:t>
            </a:r>
            <a:r>
              <a:rPr lang="zh-CN" altLang="en-US" b="1" dirty="0">
                <a:solidFill>
                  <a:srgbClr val="000000"/>
                </a:solidFill>
                <a:latin typeface="Inter"/>
              </a:rPr>
              <a:t>越短，说明信号功率谱从高频到低频的下降越陡峭）</a:t>
            </a:r>
            <a:r>
              <a:rPr lang="zh-CN" altLang="en-US" b="0" i="0" dirty="0">
                <a:effectLst/>
                <a:latin typeface="Inter"/>
              </a:rPr>
              <a:t>；而原地活动（打电话）、单纯站立等无关活动，只会满足其中一个条件，因此被双信号逻辑排除。</a:t>
            </a:r>
            <a:endParaRPr lang="zh-CN" altLang="en-US" dirty="0"/>
          </a:p>
        </p:txBody>
      </p:sp>
      <p:sp>
        <p:nvSpPr>
          <p:cNvPr id="52" name="椭圆 51">
            <a:extLst>
              <a:ext uri="{FF2B5EF4-FFF2-40B4-BE49-F238E27FC236}">
                <a16:creationId xmlns:a16="http://schemas.microsoft.com/office/drawing/2014/main" id="{4CA275C5-9823-46DA-956D-3E5A2463569D}"/>
              </a:ext>
            </a:extLst>
          </p:cNvPr>
          <p:cNvSpPr/>
          <p:nvPr/>
        </p:nvSpPr>
        <p:spPr>
          <a:xfrm>
            <a:off x="1237677" y="3116246"/>
            <a:ext cx="188075" cy="152419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a:extLst>
              <a:ext uri="{FF2B5EF4-FFF2-40B4-BE49-F238E27FC236}">
                <a16:creationId xmlns:a16="http://schemas.microsoft.com/office/drawing/2014/main" id="{53D41CC9-2D11-40A6-B96A-17AE9ED7A664}"/>
              </a:ext>
            </a:extLst>
          </p:cNvPr>
          <p:cNvSpPr/>
          <p:nvPr/>
        </p:nvSpPr>
        <p:spPr>
          <a:xfrm>
            <a:off x="3213593" y="3101925"/>
            <a:ext cx="188075" cy="152419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a:extLst>
              <a:ext uri="{FF2B5EF4-FFF2-40B4-BE49-F238E27FC236}">
                <a16:creationId xmlns:a16="http://schemas.microsoft.com/office/drawing/2014/main" id="{F5F678EF-4CEA-479A-9D15-1529499635E6}"/>
              </a:ext>
            </a:extLst>
          </p:cNvPr>
          <p:cNvSpPr txBox="1"/>
          <p:nvPr/>
        </p:nvSpPr>
        <p:spPr>
          <a:xfrm>
            <a:off x="680734" y="3514318"/>
            <a:ext cx="2282831" cy="307777"/>
          </a:xfrm>
          <a:prstGeom prst="rect">
            <a:avLst/>
          </a:prstGeom>
          <a:noFill/>
        </p:spPr>
        <p:txBody>
          <a:bodyPr wrap="square">
            <a:spAutoFit/>
          </a:bodyPr>
          <a:lstStyle/>
          <a:p>
            <a:r>
              <a:rPr lang="zh-CN" altLang="en-US" sz="1400" b="1" dirty="0">
                <a:solidFill>
                  <a:srgbClr val="00B050"/>
                </a:solidFill>
              </a:rPr>
              <a:t>单一观测原始信号</a:t>
            </a:r>
          </a:p>
        </p:txBody>
      </p:sp>
      <p:sp>
        <p:nvSpPr>
          <p:cNvPr id="66" name="文本框 65">
            <a:extLst>
              <a:ext uri="{FF2B5EF4-FFF2-40B4-BE49-F238E27FC236}">
                <a16:creationId xmlns:a16="http://schemas.microsoft.com/office/drawing/2014/main" id="{510670E9-76C5-49A7-BEA9-55319AA6A029}"/>
              </a:ext>
            </a:extLst>
          </p:cNvPr>
          <p:cNvSpPr txBox="1"/>
          <p:nvPr/>
        </p:nvSpPr>
        <p:spPr>
          <a:xfrm>
            <a:off x="2640285" y="3534774"/>
            <a:ext cx="2282831" cy="307777"/>
          </a:xfrm>
          <a:prstGeom prst="rect">
            <a:avLst/>
          </a:prstGeom>
          <a:noFill/>
        </p:spPr>
        <p:txBody>
          <a:bodyPr wrap="square">
            <a:spAutoFit/>
          </a:bodyPr>
          <a:lstStyle/>
          <a:p>
            <a:r>
              <a:rPr lang="zh-CN" altLang="en-US" sz="1400" b="1" dirty="0">
                <a:solidFill>
                  <a:srgbClr val="00B050"/>
                </a:solidFill>
              </a:rPr>
              <a:t>单一观测滤波后信号</a:t>
            </a:r>
          </a:p>
        </p:txBody>
      </p:sp>
    </p:spTree>
    <p:custDataLst>
      <p:tags r:id="rId1"/>
    </p:custDataLst>
    <p:extLst>
      <p:ext uri="{BB962C8B-B14F-4D97-AF65-F5344CB8AC3E}">
        <p14:creationId xmlns:p14="http://schemas.microsoft.com/office/powerpoint/2010/main" val="35768685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additive="base">
                                        <p:cTn id="7" dur="500" fill="hold"/>
                                        <p:tgtEl>
                                          <p:spTgt spid="66"/>
                                        </p:tgtEl>
                                        <p:attrNameLst>
                                          <p:attrName>ppt_x</p:attrName>
                                        </p:attrNameLst>
                                      </p:cBhvr>
                                      <p:tavLst>
                                        <p:tav tm="0">
                                          <p:val>
                                            <p:strVal val="#ppt_x"/>
                                          </p:val>
                                        </p:tav>
                                        <p:tav tm="100000">
                                          <p:val>
                                            <p:strVal val="#ppt_x"/>
                                          </p:val>
                                        </p:tav>
                                      </p:tavLst>
                                    </p:anim>
                                    <p:anim calcmode="lin" valueType="num">
                                      <p:cBhvr additive="base">
                                        <p:cTn id="8" dur="500" fill="hold"/>
                                        <p:tgtEl>
                                          <p:spTgt spid="6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cBhvr additive="base">
                                        <p:cTn id="11" dur="500" fill="hold"/>
                                        <p:tgtEl>
                                          <p:spTgt spid="52"/>
                                        </p:tgtEl>
                                        <p:attrNameLst>
                                          <p:attrName>ppt_x</p:attrName>
                                        </p:attrNameLst>
                                      </p:cBhvr>
                                      <p:tavLst>
                                        <p:tav tm="0">
                                          <p:val>
                                            <p:strVal val="#ppt_x"/>
                                          </p:val>
                                        </p:tav>
                                        <p:tav tm="100000">
                                          <p:val>
                                            <p:strVal val="#ppt_x"/>
                                          </p:val>
                                        </p:tav>
                                      </p:tavLst>
                                    </p:anim>
                                    <p:anim calcmode="lin" valueType="num">
                                      <p:cBhvr additive="base">
                                        <p:cTn id="12" dur="500" fill="hold"/>
                                        <p:tgtEl>
                                          <p:spTgt spid="5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5"/>
                                        </p:tgtEl>
                                        <p:attrNameLst>
                                          <p:attrName>style.visibility</p:attrName>
                                        </p:attrNameLst>
                                      </p:cBhvr>
                                      <p:to>
                                        <p:strVal val="visible"/>
                                      </p:to>
                                    </p:set>
                                    <p:anim calcmode="lin" valueType="num">
                                      <p:cBhvr additive="base">
                                        <p:cTn id="15" dur="500" fill="hold"/>
                                        <p:tgtEl>
                                          <p:spTgt spid="65"/>
                                        </p:tgtEl>
                                        <p:attrNameLst>
                                          <p:attrName>ppt_x</p:attrName>
                                        </p:attrNameLst>
                                      </p:cBhvr>
                                      <p:tavLst>
                                        <p:tav tm="0">
                                          <p:val>
                                            <p:strVal val="#ppt_x"/>
                                          </p:val>
                                        </p:tav>
                                        <p:tav tm="100000">
                                          <p:val>
                                            <p:strVal val="#ppt_x"/>
                                          </p:val>
                                        </p:tav>
                                      </p:tavLst>
                                    </p:anim>
                                    <p:anim calcmode="lin" valueType="num">
                                      <p:cBhvr additive="base">
                                        <p:cTn id="16" dur="500" fill="hold"/>
                                        <p:tgtEl>
                                          <p:spTgt spid="6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anim calcmode="lin" valueType="num">
                                      <p:cBhvr additive="base">
                                        <p:cTn id="19" dur="500" fill="hold"/>
                                        <p:tgtEl>
                                          <p:spTgt spid="53"/>
                                        </p:tgtEl>
                                        <p:attrNameLst>
                                          <p:attrName>ppt_x</p:attrName>
                                        </p:attrNameLst>
                                      </p:cBhvr>
                                      <p:tavLst>
                                        <p:tav tm="0">
                                          <p:val>
                                            <p:strVal val="#ppt_x"/>
                                          </p:val>
                                        </p:tav>
                                        <p:tav tm="100000">
                                          <p:val>
                                            <p:strVal val="#ppt_x"/>
                                          </p:val>
                                        </p:tav>
                                      </p:tavLst>
                                    </p:anim>
                                    <p:anim calcmode="lin" valueType="num">
                                      <p:cBhvr additive="base">
                                        <p:cTn id="20"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65" grpId="0"/>
      <p:bldP spid="6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框架与方法</a:t>
            </a:r>
          </a:p>
        </p:txBody>
      </p:sp>
      <p:sp>
        <p:nvSpPr>
          <p:cNvPr id="9" name="文本框 8">
            <a:extLst>
              <a:ext uri="{FF2B5EF4-FFF2-40B4-BE49-F238E27FC236}">
                <a16:creationId xmlns:a16="http://schemas.microsoft.com/office/drawing/2014/main" id="{B2E5E3B3-CA98-4C18-9D8B-ECFC2A81E12E}"/>
              </a:ext>
            </a:extLst>
          </p:cNvPr>
          <p:cNvSpPr txBox="1"/>
          <p:nvPr/>
        </p:nvSpPr>
        <p:spPr>
          <a:xfrm>
            <a:off x="224711" y="1690670"/>
            <a:ext cx="5023909" cy="369332"/>
          </a:xfrm>
          <a:prstGeom prst="rect">
            <a:avLst/>
          </a:prstGeom>
          <a:noFill/>
        </p:spPr>
        <p:txBody>
          <a:bodyPr wrap="square">
            <a:spAutoFit/>
          </a:bodyPr>
          <a:lstStyle/>
          <a:p>
            <a:pPr algn="l"/>
            <a:r>
              <a:rPr lang="zh-CN" altLang="en-US" b="1" i="0" dirty="0">
                <a:solidFill>
                  <a:srgbClr val="000000"/>
                </a:solidFill>
                <a:effectLst/>
                <a:latin typeface="Inter"/>
              </a:rPr>
              <a:t>确定活动 “起始点”</a:t>
            </a:r>
            <a:r>
              <a:rPr lang="en-US" altLang="zh-CN" b="1" i="0" dirty="0">
                <a:solidFill>
                  <a:srgbClr val="000000"/>
                </a:solidFill>
                <a:effectLst/>
                <a:latin typeface="Inter"/>
              </a:rPr>
              <a:t>—— </a:t>
            </a:r>
            <a:r>
              <a:rPr lang="zh-CN" altLang="en-US" b="1" i="0" dirty="0">
                <a:solidFill>
                  <a:srgbClr val="000000"/>
                </a:solidFill>
                <a:effectLst/>
                <a:latin typeface="Inter"/>
              </a:rPr>
              <a:t>选择回溯窗口大小</a:t>
            </a:r>
          </a:p>
        </p:txBody>
      </p:sp>
      <p:sp>
        <p:nvSpPr>
          <p:cNvPr id="10" name="文本框 9">
            <a:extLst>
              <a:ext uri="{FF2B5EF4-FFF2-40B4-BE49-F238E27FC236}">
                <a16:creationId xmlns:a16="http://schemas.microsoft.com/office/drawing/2014/main" id="{A3098A18-1731-4E07-AD5D-82E9F7558853}"/>
              </a:ext>
            </a:extLst>
          </p:cNvPr>
          <p:cNvSpPr txBox="1"/>
          <p:nvPr/>
        </p:nvSpPr>
        <p:spPr>
          <a:xfrm>
            <a:off x="135467" y="1203231"/>
            <a:ext cx="6096000" cy="461665"/>
          </a:xfrm>
          <a:prstGeom prst="rect">
            <a:avLst/>
          </a:prstGeom>
          <a:noFill/>
        </p:spPr>
        <p:txBody>
          <a:bodyPr wrap="square">
            <a:spAutoFit/>
          </a:bodyPr>
          <a:lstStyle/>
          <a:p>
            <a:pPr algn="l"/>
            <a:r>
              <a:rPr lang="zh-CN" altLang="en-US" sz="2400" b="1" i="0" dirty="0">
                <a:solidFill>
                  <a:srgbClr val="000000"/>
                </a:solidFill>
                <a:effectLst/>
                <a:latin typeface="Helvetica Neue"/>
              </a:rPr>
              <a:t>活动分割</a:t>
            </a:r>
          </a:p>
        </p:txBody>
      </p:sp>
      <p:pic>
        <p:nvPicPr>
          <p:cNvPr id="11" name="图片 10">
            <a:extLst>
              <a:ext uri="{FF2B5EF4-FFF2-40B4-BE49-F238E27FC236}">
                <a16:creationId xmlns:a16="http://schemas.microsoft.com/office/drawing/2014/main" id="{30B5D0CF-6884-48C9-86C2-301F7AF4F33A}"/>
              </a:ext>
            </a:extLst>
          </p:cNvPr>
          <p:cNvPicPr>
            <a:picLocks noChangeAspect="1"/>
          </p:cNvPicPr>
          <p:nvPr/>
        </p:nvPicPr>
        <p:blipFill>
          <a:blip r:embed="rId5"/>
          <a:stretch>
            <a:fillRect/>
          </a:stretch>
        </p:blipFill>
        <p:spPr>
          <a:xfrm>
            <a:off x="223908" y="2038520"/>
            <a:ext cx="7074684" cy="3537343"/>
          </a:xfrm>
          <a:prstGeom prst="rect">
            <a:avLst/>
          </a:prstGeom>
        </p:spPr>
      </p:pic>
      <p:sp>
        <p:nvSpPr>
          <p:cNvPr id="12" name="文本框 11">
            <a:extLst>
              <a:ext uri="{FF2B5EF4-FFF2-40B4-BE49-F238E27FC236}">
                <a16:creationId xmlns:a16="http://schemas.microsoft.com/office/drawing/2014/main" id="{7F2DDDE1-F20A-4869-9576-7EA8605BC3E0}"/>
              </a:ext>
            </a:extLst>
          </p:cNvPr>
          <p:cNvSpPr txBox="1"/>
          <p:nvPr/>
        </p:nvSpPr>
        <p:spPr>
          <a:xfrm>
            <a:off x="7564572" y="1918818"/>
            <a:ext cx="4450205" cy="953921"/>
          </a:xfrm>
          <a:prstGeom prst="rect">
            <a:avLst/>
          </a:prstGeom>
          <a:noFill/>
        </p:spPr>
        <p:txBody>
          <a:bodyPr wrap="square">
            <a:spAutoFit/>
          </a:bodyPr>
          <a:lstStyle/>
          <a:p>
            <a:r>
              <a:rPr lang="zh-CN" altLang="en-US" b="0" i="0" dirty="0">
                <a:solidFill>
                  <a:srgbClr val="333333"/>
                </a:solidFill>
                <a:effectLst/>
                <a:latin typeface="Helvetica Neue"/>
              </a:rPr>
              <a:t>为了区分跌倒与类跌倒活动，</a:t>
            </a:r>
            <a:r>
              <a:rPr lang="zh-CN" altLang="en-US" b="0" i="0" dirty="0">
                <a:solidFill>
                  <a:srgbClr val="FF0000"/>
                </a:solidFill>
                <a:effectLst/>
                <a:latin typeface="Helvetica Neue"/>
              </a:rPr>
              <a:t>需要确定合适的回溯窗口大小</a:t>
            </a:r>
            <a:r>
              <a:rPr lang="zh-CN" altLang="en-US" b="0" i="0" dirty="0">
                <a:solidFill>
                  <a:srgbClr val="333333"/>
                </a:solidFill>
                <a:effectLst/>
                <a:latin typeface="Helvetica Neue"/>
              </a:rPr>
              <a:t>，以采集训练数据样本，实现精确的跌倒检测。</a:t>
            </a:r>
            <a:endParaRPr lang="en-US" altLang="zh-CN" b="0" i="0" dirty="0">
              <a:solidFill>
                <a:srgbClr val="333333"/>
              </a:solidFill>
              <a:effectLst/>
              <a:latin typeface="Helvetica Neue"/>
            </a:endParaRPr>
          </a:p>
        </p:txBody>
      </p:sp>
      <p:sp>
        <p:nvSpPr>
          <p:cNvPr id="13" name="椭圆 12">
            <a:extLst>
              <a:ext uri="{FF2B5EF4-FFF2-40B4-BE49-F238E27FC236}">
                <a16:creationId xmlns:a16="http://schemas.microsoft.com/office/drawing/2014/main" id="{CA92CCCB-EB97-4133-BFED-AFE9539B420B}"/>
              </a:ext>
            </a:extLst>
          </p:cNvPr>
          <p:cNvSpPr/>
          <p:nvPr/>
        </p:nvSpPr>
        <p:spPr>
          <a:xfrm>
            <a:off x="6392333" y="2117426"/>
            <a:ext cx="482600" cy="3081107"/>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26F36816-F29D-4B13-8673-DD060FEACD69}"/>
              </a:ext>
            </a:extLst>
          </p:cNvPr>
          <p:cNvSpPr/>
          <p:nvPr/>
        </p:nvSpPr>
        <p:spPr>
          <a:xfrm>
            <a:off x="2700867" y="2086223"/>
            <a:ext cx="482600" cy="3081107"/>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8B8E1C2A-7BFA-49DE-9FB2-2D1CE0C6B384}"/>
              </a:ext>
            </a:extLst>
          </p:cNvPr>
          <p:cNvSpPr txBox="1"/>
          <p:nvPr/>
        </p:nvSpPr>
        <p:spPr>
          <a:xfrm>
            <a:off x="1831164" y="5069662"/>
            <a:ext cx="1043023" cy="276999"/>
          </a:xfrm>
          <a:prstGeom prst="rect">
            <a:avLst/>
          </a:prstGeom>
          <a:noFill/>
        </p:spPr>
        <p:txBody>
          <a:bodyPr wrap="square">
            <a:spAutoFit/>
          </a:bodyPr>
          <a:lstStyle/>
          <a:p>
            <a:r>
              <a:rPr lang="zh-CN" altLang="en-US" sz="1200" b="1" dirty="0">
                <a:solidFill>
                  <a:srgbClr val="FF0000"/>
                </a:solidFill>
              </a:rPr>
              <a:t>类跌倒活动</a:t>
            </a:r>
          </a:p>
        </p:txBody>
      </p:sp>
      <p:sp>
        <p:nvSpPr>
          <p:cNvPr id="16" name="文本框 15">
            <a:extLst>
              <a:ext uri="{FF2B5EF4-FFF2-40B4-BE49-F238E27FC236}">
                <a16:creationId xmlns:a16="http://schemas.microsoft.com/office/drawing/2014/main" id="{E7FF24A8-AF45-4E7D-ACC1-BE3236836884}"/>
              </a:ext>
            </a:extLst>
          </p:cNvPr>
          <p:cNvSpPr txBox="1"/>
          <p:nvPr/>
        </p:nvSpPr>
        <p:spPr>
          <a:xfrm>
            <a:off x="5702694" y="5069662"/>
            <a:ext cx="1043023" cy="276999"/>
          </a:xfrm>
          <a:prstGeom prst="rect">
            <a:avLst/>
          </a:prstGeom>
          <a:noFill/>
        </p:spPr>
        <p:txBody>
          <a:bodyPr wrap="square">
            <a:spAutoFit/>
          </a:bodyPr>
          <a:lstStyle/>
          <a:p>
            <a:r>
              <a:rPr lang="zh-CN" altLang="en-US" sz="1200" b="1" dirty="0">
                <a:solidFill>
                  <a:srgbClr val="FF0000"/>
                </a:solidFill>
              </a:rPr>
              <a:t>跌倒活动</a:t>
            </a:r>
          </a:p>
        </p:txBody>
      </p:sp>
      <p:cxnSp>
        <p:nvCxnSpPr>
          <p:cNvPr id="17" name="直接箭头连接符 16">
            <a:extLst>
              <a:ext uri="{FF2B5EF4-FFF2-40B4-BE49-F238E27FC236}">
                <a16:creationId xmlns:a16="http://schemas.microsoft.com/office/drawing/2014/main" id="{9FF70E13-DCCC-459F-B1D4-FB49240A4769}"/>
              </a:ext>
            </a:extLst>
          </p:cNvPr>
          <p:cNvCxnSpPr>
            <a:cxnSpLocks/>
          </p:cNvCxnSpPr>
          <p:nvPr/>
        </p:nvCxnSpPr>
        <p:spPr>
          <a:xfrm flipH="1">
            <a:off x="2387228" y="4432615"/>
            <a:ext cx="313639" cy="63704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2382678E-91BB-47A8-8818-7E2AA59AC5A7}"/>
              </a:ext>
            </a:extLst>
          </p:cNvPr>
          <p:cNvCxnSpPr>
            <a:cxnSpLocks/>
          </p:cNvCxnSpPr>
          <p:nvPr/>
        </p:nvCxnSpPr>
        <p:spPr>
          <a:xfrm flipH="1">
            <a:off x="6011974" y="4443030"/>
            <a:ext cx="313639" cy="63704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22D07EDE-9A93-4B25-A446-8304321C67FD}"/>
              </a:ext>
            </a:extLst>
          </p:cNvPr>
          <p:cNvSpPr txBox="1"/>
          <p:nvPr/>
        </p:nvSpPr>
        <p:spPr>
          <a:xfrm>
            <a:off x="7585738" y="2972986"/>
            <a:ext cx="4450205" cy="646331"/>
          </a:xfrm>
          <a:prstGeom prst="rect">
            <a:avLst/>
          </a:prstGeom>
          <a:noFill/>
        </p:spPr>
        <p:txBody>
          <a:bodyPr wrap="square">
            <a:spAutoFit/>
          </a:bodyPr>
          <a:lstStyle/>
          <a:p>
            <a:pPr algn="l"/>
            <a:r>
              <a:rPr lang="zh-CN" altLang="en-US" b="0" i="0" dirty="0">
                <a:solidFill>
                  <a:srgbClr val="000000"/>
                </a:solidFill>
                <a:effectLst/>
                <a:latin typeface="Inter"/>
              </a:rPr>
              <a:t>前期跌倒检测工作中，窗口大小</a:t>
            </a:r>
            <a:r>
              <a:rPr lang="zh-CN" altLang="en-US" b="1" i="0" dirty="0">
                <a:solidFill>
                  <a:srgbClr val="000000"/>
                </a:solidFill>
                <a:effectLst/>
                <a:latin typeface="Inter"/>
              </a:rPr>
              <a:t>因传感器 </a:t>
            </a:r>
            <a:r>
              <a:rPr lang="en-US" altLang="zh-CN" b="1" i="0" dirty="0">
                <a:solidFill>
                  <a:srgbClr val="000000"/>
                </a:solidFill>
                <a:effectLst/>
                <a:latin typeface="Inter"/>
              </a:rPr>
              <a:t>/ </a:t>
            </a:r>
            <a:r>
              <a:rPr lang="zh-CN" altLang="en-US" b="1" i="0" dirty="0">
                <a:solidFill>
                  <a:srgbClr val="000000"/>
                </a:solidFill>
                <a:effectLst/>
                <a:latin typeface="Inter"/>
              </a:rPr>
              <a:t>方法不同，</a:t>
            </a:r>
            <a:r>
              <a:rPr lang="zh-CN" altLang="en-US" b="0" i="0" dirty="0">
                <a:solidFill>
                  <a:srgbClr val="000000"/>
                </a:solidFill>
                <a:effectLst/>
                <a:latin typeface="Inter"/>
              </a:rPr>
              <a:t>差异较大：</a:t>
            </a:r>
          </a:p>
        </p:txBody>
      </p:sp>
      <p:sp>
        <p:nvSpPr>
          <p:cNvPr id="25" name="文本框 24">
            <a:extLst>
              <a:ext uri="{FF2B5EF4-FFF2-40B4-BE49-F238E27FC236}">
                <a16:creationId xmlns:a16="http://schemas.microsoft.com/office/drawing/2014/main" id="{57B25408-6BFD-4931-9EDF-2C25CE4E9D51}"/>
              </a:ext>
            </a:extLst>
          </p:cNvPr>
          <p:cNvSpPr txBox="1"/>
          <p:nvPr/>
        </p:nvSpPr>
        <p:spPr>
          <a:xfrm>
            <a:off x="4222570" y="5534481"/>
            <a:ext cx="3578808" cy="646331"/>
          </a:xfrm>
          <a:prstGeom prst="rect">
            <a:avLst/>
          </a:prstGeom>
          <a:noFill/>
        </p:spPr>
        <p:txBody>
          <a:bodyPr wrap="square">
            <a:spAutoFit/>
          </a:bodyPr>
          <a:lstStyle/>
          <a:p>
            <a:r>
              <a:rPr lang="zh-CN" altLang="en-US" b="0" i="0" dirty="0">
                <a:effectLst/>
                <a:latin typeface="Inter"/>
              </a:rPr>
              <a:t>如</a:t>
            </a:r>
            <a:r>
              <a:rPr lang="zh-CN" altLang="en-US" b="1" i="0" dirty="0">
                <a:solidFill>
                  <a:srgbClr val="FF0000"/>
                </a:solidFill>
                <a:effectLst/>
                <a:latin typeface="Inter"/>
              </a:rPr>
              <a:t>跌倒结束点</a:t>
            </a:r>
            <a:r>
              <a:rPr lang="zh-CN" altLang="en-US" b="0" i="0" dirty="0">
                <a:effectLst/>
                <a:latin typeface="Inter"/>
              </a:rPr>
              <a:t>，前 </a:t>
            </a:r>
            <a:r>
              <a:rPr lang="en-US" altLang="zh-CN" b="0" i="0" dirty="0">
                <a:effectLst/>
                <a:latin typeface="Inter"/>
              </a:rPr>
              <a:t>2 </a:t>
            </a:r>
            <a:r>
              <a:rPr lang="zh-CN" altLang="en-US" b="0" i="0" dirty="0">
                <a:effectLst/>
                <a:latin typeface="Inter"/>
              </a:rPr>
              <a:t>秒是倒地动态，后 </a:t>
            </a:r>
            <a:r>
              <a:rPr lang="en-US" altLang="zh-CN" b="0" i="0" dirty="0">
                <a:effectLst/>
                <a:latin typeface="Inter"/>
              </a:rPr>
              <a:t>1 </a:t>
            </a:r>
            <a:r>
              <a:rPr lang="zh-CN" altLang="en-US" b="0" i="0" dirty="0">
                <a:effectLst/>
                <a:latin typeface="Inter"/>
              </a:rPr>
              <a:t>秒是躺平静态（图</a:t>
            </a:r>
            <a:r>
              <a:rPr lang="en-US" altLang="zh-CN" b="0" i="0" dirty="0">
                <a:effectLst/>
                <a:latin typeface="Inter"/>
              </a:rPr>
              <a:t>a</a:t>
            </a:r>
            <a:r>
              <a:rPr lang="zh-CN" altLang="en-US" b="0" i="0" dirty="0">
                <a:effectLst/>
                <a:latin typeface="Inter"/>
              </a:rPr>
              <a:t>）</a:t>
            </a:r>
            <a:endParaRPr lang="zh-CN" altLang="en-US" dirty="0"/>
          </a:p>
        </p:txBody>
      </p:sp>
      <p:sp>
        <p:nvSpPr>
          <p:cNvPr id="26" name="文本框 25">
            <a:extLst>
              <a:ext uri="{FF2B5EF4-FFF2-40B4-BE49-F238E27FC236}">
                <a16:creationId xmlns:a16="http://schemas.microsoft.com/office/drawing/2014/main" id="{4468F939-2E28-4428-AB28-BCAB4F769115}"/>
              </a:ext>
            </a:extLst>
          </p:cNvPr>
          <p:cNvSpPr txBox="1"/>
          <p:nvPr/>
        </p:nvSpPr>
        <p:spPr>
          <a:xfrm>
            <a:off x="430895" y="5531874"/>
            <a:ext cx="3578808" cy="646331"/>
          </a:xfrm>
          <a:prstGeom prst="rect">
            <a:avLst/>
          </a:prstGeom>
          <a:noFill/>
        </p:spPr>
        <p:txBody>
          <a:bodyPr wrap="square">
            <a:spAutoFit/>
          </a:bodyPr>
          <a:lstStyle/>
          <a:p>
            <a:r>
              <a:rPr lang="zh-CN" altLang="en-US" b="0" i="0" dirty="0">
                <a:effectLst/>
                <a:latin typeface="Inter"/>
              </a:rPr>
              <a:t>如</a:t>
            </a:r>
            <a:r>
              <a:rPr lang="zh-CN" altLang="en-US" b="1" i="0" dirty="0">
                <a:solidFill>
                  <a:srgbClr val="FF0000"/>
                </a:solidFill>
                <a:effectLst/>
                <a:latin typeface="Inter"/>
              </a:rPr>
              <a:t>类跌倒结束点</a:t>
            </a:r>
            <a:r>
              <a:rPr lang="zh-CN" altLang="en-US" b="0" i="0" dirty="0">
                <a:effectLst/>
                <a:latin typeface="Inter"/>
              </a:rPr>
              <a:t>，前 </a:t>
            </a:r>
            <a:r>
              <a:rPr lang="en-US" altLang="zh-CN" b="0" i="0" dirty="0">
                <a:effectLst/>
                <a:latin typeface="Inter"/>
              </a:rPr>
              <a:t>2 </a:t>
            </a:r>
            <a:r>
              <a:rPr lang="zh-CN" altLang="en-US" b="0" i="0" dirty="0">
                <a:effectLst/>
                <a:latin typeface="Inter"/>
              </a:rPr>
              <a:t>秒是</a:t>
            </a:r>
            <a:r>
              <a:rPr lang="zh-CN" altLang="en-US" dirty="0">
                <a:latin typeface="Inter"/>
              </a:rPr>
              <a:t>坐下</a:t>
            </a:r>
            <a:r>
              <a:rPr lang="zh-CN" altLang="en-US" b="0" i="0" dirty="0">
                <a:effectLst/>
                <a:latin typeface="Inter"/>
              </a:rPr>
              <a:t>动态，后 </a:t>
            </a:r>
            <a:r>
              <a:rPr lang="en-US" altLang="zh-CN" b="0" i="0" dirty="0">
                <a:effectLst/>
                <a:latin typeface="Inter"/>
              </a:rPr>
              <a:t>1 </a:t>
            </a:r>
            <a:r>
              <a:rPr lang="zh-CN" altLang="en-US" b="0" i="0" dirty="0">
                <a:effectLst/>
                <a:latin typeface="Inter"/>
              </a:rPr>
              <a:t>秒是坐好静态（图</a:t>
            </a:r>
            <a:r>
              <a:rPr lang="en-US" altLang="zh-CN" b="0" i="0" dirty="0">
                <a:effectLst/>
                <a:latin typeface="Inter"/>
              </a:rPr>
              <a:t>a</a:t>
            </a:r>
            <a:r>
              <a:rPr lang="zh-CN" altLang="en-US" b="0" i="0" dirty="0">
                <a:effectLst/>
                <a:latin typeface="Inter"/>
              </a:rPr>
              <a:t>）</a:t>
            </a:r>
            <a:endParaRPr lang="zh-CN" altLang="en-US" dirty="0"/>
          </a:p>
        </p:txBody>
      </p:sp>
      <p:sp>
        <p:nvSpPr>
          <p:cNvPr id="27" name="文本框 26">
            <a:extLst>
              <a:ext uri="{FF2B5EF4-FFF2-40B4-BE49-F238E27FC236}">
                <a16:creationId xmlns:a16="http://schemas.microsoft.com/office/drawing/2014/main" id="{2CBFECF6-640B-443B-BCBD-F1794BA29FD9}"/>
              </a:ext>
            </a:extLst>
          </p:cNvPr>
          <p:cNvSpPr txBox="1"/>
          <p:nvPr/>
        </p:nvSpPr>
        <p:spPr>
          <a:xfrm>
            <a:off x="130135" y="6223098"/>
            <a:ext cx="12061865" cy="369332"/>
          </a:xfrm>
          <a:prstGeom prst="rect">
            <a:avLst/>
          </a:prstGeom>
          <a:solidFill>
            <a:schemeClr val="accent3">
              <a:lumMod val="20000"/>
              <a:lumOff val="80000"/>
            </a:schemeClr>
          </a:solidFill>
        </p:spPr>
        <p:txBody>
          <a:bodyPr wrap="square">
            <a:spAutoFit/>
          </a:bodyPr>
          <a:lstStyle/>
          <a:p>
            <a:r>
              <a:rPr lang="zh-CN" altLang="en-US" b="1" i="0" dirty="0">
                <a:solidFill>
                  <a:srgbClr val="333333"/>
                </a:solidFill>
                <a:effectLst/>
                <a:latin typeface="Helvetica Neue"/>
              </a:rPr>
              <a:t>确定</a:t>
            </a:r>
            <a:r>
              <a:rPr lang="zh-CN" altLang="en-US" b="1" i="0" dirty="0">
                <a:solidFill>
                  <a:srgbClr val="FF0000"/>
                </a:solidFill>
                <a:effectLst/>
                <a:latin typeface="Helvetica Neue"/>
              </a:rPr>
              <a:t>最佳窗口大小为</a:t>
            </a:r>
            <a:r>
              <a:rPr lang="en-US" altLang="zh-CN" b="1" i="0" dirty="0">
                <a:solidFill>
                  <a:srgbClr val="FF0000"/>
                </a:solidFill>
                <a:effectLst/>
                <a:latin typeface="Helvetica Neue"/>
              </a:rPr>
              <a:t>3</a:t>
            </a:r>
            <a:r>
              <a:rPr lang="zh-CN" altLang="en-US" b="1" i="0" dirty="0">
                <a:solidFill>
                  <a:srgbClr val="FF0000"/>
                </a:solidFill>
                <a:effectLst/>
                <a:latin typeface="Helvetica Neue"/>
              </a:rPr>
              <a:t>秒</a:t>
            </a:r>
            <a:r>
              <a:rPr lang="en-US" altLang="zh-CN" b="1" i="0" dirty="0">
                <a:solidFill>
                  <a:srgbClr val="333333"/>
                </a:solidFill>
                <a:effectLst/>
                <a:latin typeface="Helvetica Neue"/>
              </a:rPr>
              <a:t>——</a:t>
            </a:r>
            <a:r>
              <a:rPr lang="zh-CN" altLang="en-US" b="1" i="0" dirty="0">
                <a:solidFill>
                  <a:srgbClr val="333333"/>
                </a:solidFill>
                <a:effectLst/>
                <a:latin typeface="Helvetica Neue"/>
              </a:rPr>
              <a:t>包含结束点前</a:t>
            </a:r>
            <a:r>
              <a:rPr lang="en-US" altLang="zh-CN" b="1" i="0" dirty="0">
                <a:solidFill>
                  <a:srgbClr val="333333"/>
                </a:solidFill>
                <a:effectLst/>
                <a:latin typeface="Helvetica Neue"/>
              </a:rPr>
              <a:t>2</a:t>
            </a:r>
            <a:r>
              <a:rPr lang="zh-CN" altLang="en-US" b="1" i="0" dirty="0">
                <a:solidFill>
                  <a:srgbClr val="333333"/>
                </a:solidFill>
                <a:effectLst/>
                <a:latin typeface="Helvetica Neue"/>
              </a:rPr>
              <a:t>秒和结束点后</a:t>
            </a:r>
            <a:r>
              <a:rPr lang="en-US" altLang="zh-CN" b="1" i="0" dirty="0">
                <a:solidFill>
                  <a:srgbClr val="333333"/>
                </a:solidFill>
                <a:effectLst/>
                <a:latin typeface="Helvetica Neue"/>
              </a:rPr>
              <a:t>1</a:t>
            </a:r>
            <a:r>
              <a:rPr lang="zh-CN" altLang="en-US" b="1" i="0" dirty="0">
                <a:solidFill>
                  <a:srgbClr val="333333"/>
                </a:solidFill>
                <a:effectLst/>
                <a:latin typeface="Helvetica Neue"/>
              </a:rPr>
              <a:t>秒的信号片段，该片段可完整表征分割出的活动流（图</a:t>
            </a:r>
            <a:r>
              <a:rPr lang="en-US" altLang="zh-CN" b="1" dirty="0">
                <a:solidFill>
                  <a:srgbClr val="333333"/>
                </a:solidFill>
                <a:latin typeface="Helvetica Neue"/>
              </a:rPr>
              <a:t>b</a:t>
            </a:r>
            <a:r>
              <a:rPr lang="zh-CN" altLang="en-US" b="1" i="0" dirty="0">
                <a:solidFill>
                  <a:srgbClr val="333333"/>
                </a:solidFill>
                <a:effectLst/>
                <a:latin typeface="Helvetica Neue"/>
              </a:rPr>
              <a:t>）</a:t>
            </a:r>
            <a:endParaRPr lang="zh-CN" altLang="en-US" dirty="0"/>
          </a:p>
        </p:txBody>
      </p:sp>
      <p:pic>
        <p:nvPicPr>
          <p:cNvPr id="6" name="图片 5">
            <a:extLst>
              <a:ext uri="{FF2B5EF4-FFF2-40B4-BE49-F238E27FC236}">
                <a16:creationId xmlns:a16="http://schemas.microsoft.com/office/drawing/2014/main" id="{B826D575-EDC5-46CA-9142-C244380F9840}"/>
              </a:ext>
            </a:extLst>
          </p:cNvPr>
          <p:cNvPicPr>
            <a:picLocks noChangeAspect="1"/>
          </p:cNvPicPr>
          <p:nvPr/>
        </p:nvPicPr>
        <p:blipFill>
          <a:blip r:embed="rId6"/>
          <a:stretch>
            <a:fillRect/>
          </a:stretch>
        </p:blipFill>
        <p:spPr>
          <a:xfrm>
            <a:off x="8203480" y="3667086"/>
            <a:ext cx="3202583" cy="1254121"/>
          </a:xfrm>
          <a:prstGeom prst="rect">
            <a:avLst/>
          </a:prstGeom>
        </p:spPr>
      </p:pic>
    </p:spTree>
    <p:custDataLst>
      <p:tags r:id="rId1"/>
    </p:custDataLst>
    <p:extLst>
      <p:ext uri="{BB962C8B-B14F-4D97-AF65-F5344CB8AC3E}">
        <p14:creationId xmlns:p14="http://schemas.microsoft.com/office/powerpoint/2010/main" val="38866070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框架与方法</a:t>
            </a:r>
          </a:p>
        </p:txBody>
      </p:sp>
      <p:sp>
        <p:nvSpPr>
          <p:cNvPr id="12" name="文本框 11">
            <a:extLst>
              <a:ext uri="{FF2B5EF4-FFF2-40B4-BE49-F238E27FC236}">
                <a16:creationId xmlns:a16="http://schemas.microsoft.com/office/drawing/2014/main" id="{48076F80-6549-45A2-BE28-A814922C9950}"/>
              </a:ext>
            </a:extLst>
          </p:cNvPr>
          <p:cNvSpPr txBox="1"/>
          <p:nvPr/>
        </p:nvSpPr>
        <p:spPr>
          <a:xfrm>
            <a:off x="163437" y="1131554"/>
            <a:ext cx="1480244" cy="461665"/>
          </a:xfrm>
          <a:prstGeom prst="rect">
            <a:avLst/>
          </a:prstGeom>
          <a:noFill/>
        </p:spPr>
        <p:txBody>
          <a:bodyPr wrap="square">
            <a:spAutoFit/>
          </a:bodyPr>
          <a:lstStyle/>
          <a:p>
            <a:pPr algn="l"/>
            <a:r>
              <a:rPr lang="zh-CN" altLang="en-US" sz="2400" b="1" i="0" dirty="0">
                <a:solidFill>
                  <a:srgbClr val="000000"/>
                </a:solidFill>
                <a:effectLst/>
                <a:latin typeface="Helvetica Neue"/>
              </a:rPr>
              <a:t>跌倒检测</a:t>
            </a:r>
          </a:p>
        </p:txBody>
      </p:sp>
      <p:sp>
        <p:nvSpPr>
          <p:cNvPr id="13" name="文本框 12">
            <a:extLst>
              <a:ext uri="{FF2B5EF4-FFF2-40B4-BE49-F238E27FC236}">
                <a16:creationId xmlns:a16="http://schemas.microsoft.com/office/drawing/2014/main" id="{A59E0164-99D1-4907-8E98-52A711AFB193}"/>
              </a:ext>
            </a:extLst>
          </p:cNvPr>
          <p:cNvSpPr txBox="1"/>
          <p:nvPr/>
        </p:nvSpPr>
        <p:spPr>
          <a:xfrm>
            <a:off x="1775142" y="1206619"/>
            <a:ext cx="10375413" cy="369332"/>
          </a:xfrm>
          <a:prstGeom prst="rect">
            <a:avLst/>
          </a:prstGeom>
          <a:noFill/>
        </p:spPr>
        <p:txBody>
          <a:bodyPr wrap="square">
            <a:spAutoFit/>
          </a:bodyPr>
          <a:lstStyle/>
          <a:p>
            <a:r>
              <a:rPr lang="zh-CN" altLang="en-US" b="0" i="0" dirty="0">
                <a:solidFill>
                  <a:srgbClr val="333333"/>
                </a:solidFill>
                <a:effectLst/>
                <a:latin typeface="Helvetica Neue"/>
              </a:rPr>
              <a:t>通过 “特征提取 </a:t>
            </a:r>
            <a:r>
              <a:rPr lang="en-US" altLang="zh-CN" b="0" i="0" dirty="0">
                <a:solidFill>
                  <a:srgbClr val="333333"/>
                </a:solidFill>
                <a:effectLst/>
                <a:latin typeface="Helvetica Neue"/>
              </a:rPr>
              <a:t>+ SVM </a:t>
            </a:r>
            <a:r>
              <a:rPr lang="zh-CN" altLang="en-US" b="0" i="0" dirty="0">
                <a:solidFill>
                  <a:srgbClr val="333333"/>
                </a:solidFill>
                <a:effectLst/>
                <a:latin typeface="Helvetica Neue"/>
              </a:rPr>
              <a:t>分类”，最终实现 </a:t>
            </a:r>
            <a:r>
              <a:rPr lang="zh-CN" altLang="en-US" b="1" i="0" dirty="0">
                <a:solidFill>
                  <a:srgbClr val="FF0000"/>
                </a:solidFill>
                <a:effectLst/>
                <a:latin typeface="Helvetica Neue"/>
              </a:rPr>
              <a:t>“跌倒” 与 “类跌倒活动（坐下、躺下）” 的精准区分</a:t>
            </a:r>
            <a:endParaRPr lang="zh-CN" altLang="en-US" b="1" dirty="0">
              <a:solidFill>
                <a:srgbClr val="FF0000"/>
              </a:solidFill>
            </a:endParaRPr>
          </a:p>
        </p:txBody>
      </p:sp>
      <p:sp>
        <p:nvSpPr>
          <p:cNvPr id="14" name="文本框 13">
            <a:extLst>
              <a:ext uri="{FF2B5EF4-FFF2-40B4-BE49-F238E27FC236}">
                <a16:creationId xmlns:a16="http://schemas.microsoft.com/office/drawing/2014/main" id="{A35D5AA5-E0EC-44F1-8276-FA480351E25B}"/>
              </a:ext>
            </a:extLst>
          </p:cNvPr>
          <p:cNvSpPr txBox="1"/>
          <p:nvPr/>
        </p:nvSpPr>
        <p:spPr>
          <a:xfrm>
            <a:off x="163437" y="1671716"/>
            <a:ext cx="5205950" cy="400110"/>
          </a:xfrm>
          <a:prstGeom prst="rect">
            <a:avLst/>
          </a:prstGeom>
          <a:noFill/>
        </p:spPr>
        <p:txBody>
          <a:bodyPr wrap="square">
            <a:spAutoFit/>
          </a:bodyPr>
          <a:lstStyle/>
          <a:p>
            <a:pPr algn="l"/>
            <a:r>
              <a:rPr lang="zh-CN" altLang="en-US" sz="2000" b="1" i="0" dirty="0">
                <a:solidFill>
                  <a:srgbClr val="000000"/>
                </a:solidFill>
                <a:effectLst/>
                <a:latin typeface="Helvetica Neue"/>
              </a:rPr>
              <a:t>特征提取</a:t>
            </a:r>
          </a:p>
        </p:txBody>
      </p:sp>
      <p:sp>
        <p:nvSpPr>
          <p:cNvPr id="15" name="文本框 14">
            <a:extLst>
              <a:ext uri="{FF2B5EF4-FFF2-40B4-BE49-F238E27FC236}">
                <a16:creationId xmlns:a16="http://schemas.microsoft.com/office/drawing/2014/main" id="{7FDAC8AE-B99D-4E8E-8BD1-625C3BB4DF00}"/>
              </a:ext>
            </a:extLst>
          </p:cNvPr>
          <p:cNvSpPr txBox="1"/>
          <p:nvPr/>
        </p:nvSpPr>
        <p:spPr>
          <a:xfrm>
            <a:off x="163437" y="2072390"/>
            <a:ext cx="6304309" cy="1477328"/>
          </a:xfrm>
          <a:prstGeom prst="rect">
            <a:avLst/>
          </a:prstGeom>
          <a:noFill/>
        </p:spPr>
        <p:txBody>
          <a:bodyPr wrap="square">
            <a:spAutoFit/>
          </a:bodyPr>
          <a:lstStyle/>
          <a:p>
            <a:r>
              <a:rPr lang="zh-CN" altLang="en-US" dirty="0">
                <a:solidFill>
                  <a:srgbClr val="333333"/>
                </a:solidFill>
                <a:latin typeface="Helvetica Neue"/>
              </a:rPr>
              <a:t>从</a:t>
            </a:r>
            <a:r>
              <a:rPr lang="en-US" altLang="zh-CN" b="0" i="0" dirty="0">
                <a:solidFill>
                  <a:srgbClr val="333333"/>
                </a:solidFill>
                <a:effectLst/>
                <a:latin typeface="Helvetica Neue"/>
              </a:rPr>
              <a:t>CSI</a:t>
            </a:r>
            <a:r>
              <a:rPr lang="zh-CN" altLang="en-US" b="0" i="0" dirty="0">
                <a:solidFill>
                  <a:srgbClr val="333333"/>
                </a:solidFill>
                <a:effectLst/>
                <a:latin typeface="Helvetica Neue"/>
              </a:rPr>
              <a:t>流中提取了以下</a:t>
            </a:r>
            <a:r>
              <a:rPr lang="en-US" altLang="zh-CN" b="1" i="0" dirty="0">
                <a:solidFill>
                  <a:srgbClr val="333333"/>
                </a:solidFill>
                <a:effectLst/>
                <a:latin typeface="Helvetica Neue"/>
              </a:rPr>
              <a:t>8</a:t>
            </a:r>
            <a:r>
              <a:rPr lang="zh-CN" altLang="en-US" b="1" i="0" dirty="0">
                <a:solidFill>
                  <a:srgbClr val="333333"/>
                </a:solidFill>
                <a:effectLst/>
                <a:latin typeface="Helvetica Neue"/>
              </a:rPr>
              <a:t>类用于活动分类的特征</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a:t>
            </a:r>
            <a:r>
              <a:rPr lang="en-US" altLang="zh-CN" b="0" i="0" dirty="0">
                <a:solidFill>
                  <a:srgbClr val="333333"/>
                </a:solidFill>
                <a:effectLst/>
                <a:latin typeface="Helvetica Neue"/>
              </a:rPr>
              <a:t>1</a:t>
            </a:r>
            <a:r>
              <a:rPr lang="zh-CN" altLang="en-US" b="0" i="0" dirty="0">
                <a:solidFill>
                  <a:srgbClr val="333333"/>
                </a:solidFill>
                <a:effectLst/>
                <a:latin typeface="Helvetica Neue"/>
              </a:rPr>
              <a:t>）</a:t>
            </a:r>
            <a:r>
              <a:rPr lang="en-US" altLang="zh-CN" b="0" i="0" dirty="0">
                <a:solidFill>
                  <a:srgbClr val="333333"/>
                </a:solidFill>
                <a:effectLst/>
                <a:latin typeface="Helvetica Neue"/>
              </a:rPr>
              <a:t>CSI</a:t>
            </a:r>
            <a:r>
              <a:rPr lang="zh-CN" altLang="en-US" b="0" i="0" dirty="0">
                <a:solidFill>
                  <a:srgbClr val="333333"/>
                </a:solidFill>
                <a:effectLst/>
                <a:latin typeface="Helvetica Neue"/>
              </a:rPr>
              <a:t>的标准化标准差（</a:t>
            </a:r>
            <a:r>
              <a:rPr lang="en-US" altLang="zh-CN" b="0" i="0" dirty="0">
                <a:solidFill>
                  <a:srgbClr val="333333"/>
                </a:solidFill>
                <a:effectLst/>
                <a:latin typeface="Helvetica Neue"/>
              </a:rPr>
              <a:t>STD</a:t>
            </a:r>
            <a:r>
              <a:rPr lang="zh-CN" altLang="en-US" b="0" i="0" dirty="0">
                <a:solidFill>
                  <a:srgbClr val="333333"/>
                </a:solidFill>
                <a:effectLst/>
                <a:latin typeface="Helvetica Neue"/>
              </a:rPr>
              <a:t>）；（</a:t>
            </a:r>
            <a:r>
              <a:rPr lang="en-US" altLang="zh-CN" b="0" i="0" dirty="0">
                <a:solidFill>
                  <a:srgbClr val="333333"/>
                </a:solidFill>
                <a:effectLst/>
                <a:latin typeface="Helvetica Neue"/>
              </a:rPr>
              <a:t>2</a:t>
            </a:r>
            <a:r>
              <a:rPr lang="zh-CN" altLang="en-US" b="0" i="0" dirty="0">
                <a:solidFill>
                  <a:srgbClr val="333333"/>
                </a:solidFill>
                <a:effectLst/>
                <a:latin typeface="Helvetica Neue"/>
              </a:rPr>
              <a:t>）中位数绝对偏差（</a:t>
            </a:r>
            <a:r>
              <a:rPr lang="en-US" altLang="zh-CN" b="0" i="0" dirty="0">
                <a:solidFill>
                  <a:srgbClr val="333333"/>
                </a:solidFill>
                <a:effectLst/>
                <a:latin typeface="Helvetica Neue"/>
              </a:rPr>
              <a:t>MAD</a:t>
            </a:r>
            <a:r>
              <a:rPr lang="zh-CN" altLang="en-US" b="0" i="0" dirty="0">
                <a:solidFill>
                  <a:srgbClr val="333333"/>
                </a:solidFill>
                <a:effectLst/>
                <a:latin typeface="Helvetica Neue"/>
              </a:rPr>
              <a:t>）；（</a:t>
            </a:r>
            <a:r>
              <a:rPr lang="en-US" altLang="zh-CN" b="0" i="0" dirty="0">
                <a:solidFill>
                  <a:srgbClr val="333333"/>
                </a:solidFill>
                <a:effectLst/>
                <a:latin typeface="Helvetica Neue"/>
              </a:rPr>
              <a:t>3</a:t>
            </a:r>
            <a:r>
              <a:rPr lang="zh-CN" altLang="en-US" b="0" i="0" dirty="0">
                <a:solidFill>
                  <a:srgbClr val="333333"/>
                </a:solidFill>
                <a:effectLst/>
                <a:latin typeface="Helvetica Neue"/>
              </a:rPr>
              <a:t>）信号强度偏移量；（</a:t>
            </a:r>
            <a:r>
              <a:rPr lang="en-US" altLang="zh-CN" b="0" i="0" dirty="0">
                <a:solidFill>
                  <a:srgbClr val="333333"/>
                </a:solidFill>
                <a:effectLst/>
                <a:latin typeface="Helvetica Neue"/>
              </a:rPr>
              <a:t>4</a:t>
            </a:r>
            <a:r>
              <a:rPr lang="zh-CN" altLang="en-US" b="0" i="0" dirty="0">
                <a:solidFill>
                  <a:srgbClr val="333333"/>
                </a:solidFill>
                <a:effectLst/>
                <a:latin typeface="Helvetica Neue"/>
              </a:rPr>
              <a:t>）四分位距（</a:t>
            </a:r>
            <a:r>
              <a:rPr lang="en-US" altLang="zh-CN" b="0" i="0" dirty="0">
                <a:solidFill>
                  <a:srgbClr val="333333"/>
                </a:solidFill>
                <a:effectLst/>
                <a:latin typeface="Helvetica Neue"/>
              </a:rPr>
              <a:t>IR</a:t>
            </a:r>
            <a:r>
              <a:rPr lang="zh-CN" altLang="en-US" b="0" i="0" dirty="0">
                <a:solidFill>
                  <a:srgbClr val="333333"/>
                </a:solidFill>
                <a:effectLst/>
                <a:latin typeface="Helvetica Neue"/>
              </a:rPr>
              <a:t>）；（</a:t>
            </a:r>
            <a:r>
              <a:rPr lang="en-US" altLang="zh-CN" b="0" i="0" dirty="0">
                <a:solidFill>
                  <a:srgbClr val="333333"/>
                </a:solidFill>
                <a:effectLst/>
                <a:latin typeface="Helvetica Neue"/>
              </a:rPr>
              <a:t>5</a:t>
            </a:r>
            <a:r>
              <a:rPr lang="zh-CN" altLang="en-US" b="0" i="0" dirty="0">
                <a:solidFill>
                  <a:srgbClr val="333333"/>
                </a:solidFill>
                <a:effectLst/>
                <a:latin typeface="Helvetica Neue"/>
              </a:rPr>
              <a:t>）信号熵；（</a:t>
            </a:r>
            <a:r>
              <a:rPr lang="en-US" altLang="zh-CN" b="0" i="0" dirty="0">
                <a:solidFill>
                  <a:srgbClr val="333333"/>
                </a:solidFill>
                <a:effectLst/>
                <a:latin typeface="Helvetica Neue"/>
              </a:rPr>
              <a:t>6</a:t>
            </a:r>
            <a:r>
              <a:rPr lang="zh-CN" altLang="en-US" b="0" i="0" dirty="0">
                <a:solidFill>
                  <a:srgbClr val="333333"/>
                </a:solidFill>
                <a:effectLst/>
                <a:latin typeface="Helvetica Neue"/>
              </a:rPr>
              <a:t>）信号变化速度；</a:t>
            </a:r>
            <a:r>
              <a:rPr lang="zh-CN" altLang="en-US" b="1" i="0" dirty="0">
                <a:solidFill>
                  <a:srgbClr val="FF0000"/>
                </a:solidFill>
                <a:effectLst/>
                <a:latin typeface="Helvetica Neue"/>
              </a:rPr>
              <a:t>（</a:t>
            </a:r>
            <a:r>
              <a:rPr lang="en-US" altLang="zh-CN" b="1" i="0" dirty="0">
                <a:solidFill>
                  <a:srgbClr val="FF0000"/>
                </a:solidFill>
                <a:effectLst/>
                <a:latin typeface="Helvetica Neue"/>
              </a:rPr>
              <a:t>7</a:t>
            </a:r>
            <a:r>
              <a:rPr lang="zh-CN" altLang="en-US" b="1" i="0" dirty="0">
                <a:solidFill>
                  <a:srgbClr val="FF0000"/>
                </a:solidFill>
                <a:effectLst/>
                <a:latin typeface="Helvetica Neue"/>
              </a:rPr>
              <a:t>）时间滞后（</a:t>
            </a:r>
            <a:r>
              <a:rPr lang="en-US" altLang="zh-CN" b="1" i="0" dirty="0" err="1">
                <a:solidFill>
                  <a:srgbClr val="FF0000"/>
                </a:solidFill>
                <a:effectLst/>
                <a:latin typeface="Helvetica Neue"/>
              </a:rPr>
              <a:t>TimeLag</a:t>
            </a:r>
            <a:r>
              <a:rPr lang="zh-CN" altLang="en-US" b="1" i="0" dirty="0">
                <a:solidFill>
                  <a:srgbClr val="FF0000"/>
                </a:solidFill>
                <a:effectLst/>
                <a:latin typeface="Helvetica Neue"/>
              </a:rPr>
              <a:t>）；（</a:t>
            </a:r>
            <a:r>
              <a:rPr lang="en-US" altLang="zh-CN" b="1" i="0" dirty="0">
                <a:solidFill>
                  <a:srgbClr val="FF0000"/>
                </a:solidFill>
                <a:effectLst/>
                <a:latin typeface="Helvetica Neue"/>
              </a:rPr>
              <a:t>8</a:t>
            </a:r>
            <a:r>
              <a:rPr lang="zh-CN" altLang="en-US" b="1" i="0" dirty="0">
                <a:solidFill>
                  <a:srgbClr val="FF0000"/>
                </a:solidFill>
                <a:effectLst/>
                <a:latin typeface="Helvetica Neue"/>
              </a:rPr>
              <a:t>）功率下降比（</a:t>
            </a:r>
            <a:r>
              <a:rPr lang="en-US" altLang="zh-CN" b="1" i="0" dirty="0">
                <a:solidFill>
                  <a:srgbClr val="FF0000"/>
                </a:solidFill>
                <a:effectLst/>
                <a:latin typeface="Helvetica Neue"/>
              </a:rPr>
              <a:t>PDR</a:t>
            </a:r>
            <a:r>
              <a:rPr lang="zh-CN" altLang="en-US" b="1" i="0" dirty="0">
                <a:solidFill>
                  <a:srgbClr val="FF0000"/>
                </a:solidFill>
                <a:effectLst/>
                <a:latin typeface="Helvetica Neue"/>
              </a:rPr>
              <a:t>）（两种新特征）</a:t>
            </a:r>
            <a:r>
              <a:rPr lang="zh-CN" altLang="en-US" b="0" i="0" dirty="0">
                <a:solidFill>
                  <a:srgbClr val="333333"/>
                </a:solidFill>
                <a:effectLst/>
                <a:latin typeface="Helvetica Neue"/>
              </a:rPr>
              <a:t>。</a:t>
            </a:r>
          </a:p>
        </p:txBody>
      </p:sp>
      <p:sp>
        <p:nvSpPr>
          <p:cNvPr id="19" name="文本框 18">
            <a:extLst>
              <a:ext uri="{FF2B5EF4-FFF2-40B4-BE49-F238E27FC236}">
                <a16:creationId xmlns:a16="http://schemas.microsoft.com/office/drawing/2014/main" id="{6C35AD77-16C5-45EE-992B-3BDF1754A597}"/>
              </a:ext>
            </a:extLst>
          </p:cNvPr>
          <p:cNvSpPr txBox="1"/>
          <p:nvPr/>
        </p:nvSpPr>
        <p:spPr>
          <a:xfrm>
            <a:off x="6468002" y="1657559"/>
            <a:ext cx="7382932" cy="400110"/>
          </a:xfrm>
          <a:prstGeom prst="rect">
            <a:avLst/>
          </a:prstGeom>
          <a:noFill/>
        </p:spPr>
        <p:txBody>
          <a:bodyPr wrap="square">
            <a:spAutoFit/>
          </a:bodyPr>
          <a:lstStyle/>
          <a:p>
            <a:pPr algn="l"/>
            <a:r>
              <a:rPr lang="en-US" altLang="zh-CN" sz="2000" b="1" i="0" dirty="0">
                <a:solidFill>
                  <a:srgbClr val="000000"/>
                </a:solidFill>
                <a:effectLst/>
                <a:latin typeface="Helvetica Neue"/>
              </a:rPr>
              <a:t>SVM</a:t>
            </a:r>
            <a:r>
              <a:rPr lang="zh-CN" altLang="en-US" sz="2000" b="1" i="0" dirty="0">
                <a:solidFill>
                  <a:srgbClr val="000000"/>
                </a:solidFill>
                <a:effectLst/>
                <a:latin typeface="Helvetica Neue"/>
              </a:rPr>
              <a:t>分类器</a:t>
            </a:r>
          </a:p>
        </p:txBody>
      </p:sp>
      <p:grpSp>
        <p:nvGrpSpPr>
          <p:cNvPr id="6" name="组合 5">
            <a:extLst>
              <a:ext uri="{FF2B5EF4-FFF2-40B4-BE49-F238E27FC236}">
                <a16:creationId xmlns:a16="http://schemas.microsoft.com/office/drawing/2014/main" id="{DD09B820-C813-43EE-AC6A-E3B307C950AE}"/>
              </a:ext>
            </a:extLst>
          </p:cNvPr>
          <p:cNvGrpSpPr/>
          <p:nvPr/>
        </p:nvGrpSpPr>
        <p:grpSpPr>
          <a:xfrm>
            <a:off x="422902" y="3579352"/>
            <a:ext cx="5616870" cy="1191435"/>
            <a:chOff x="422902" y="3688553"/>
            <a:chExt cx="5616870" cy="1191435"/>
          </a:xfrm>
        </p:grpSpPr>
        <p:sp>
          <p:nvSpPr>
            <p:cNvPr id="24" name="文本框 23">
              <a:extLst>
                <a:ext uri="{FF2B5EF4-FFF2-40B4-BE49-F238E27FC236}">
                  <a16:creationId xmlns:a16="http://schemas.microsoft.com/office/drawing/2014/main" id="{85A603B8-DA1E-4F70-B80A-BA60F04EE35F}"/>
                </a:ext>
              </a:extLst>
            </p:cNvPr>
            <p:cNvSpPr txBox="1"/>
            <p:nvPr/>
          </p:nvSpPr>
          <p:spPr>
            <a:xfrm>
              <a:off x="1350997" y="3688553"/>
              <a:ext cx="3994484" cy="369332"/>
            </a:xfrm>
            <a:prstGeom prst="rect">
              <a:avLst/>
            </a:prstGeom>
            <a:noFill/>
          </p:spPr>
          <p:txBody>
            <a:bodyPr wrap="square">
              <a:spAutoFit/>
            </a:bodyPr>
            <a:lstStyle/>
            <a:p>
              <a:pPr algn="l"/>
              <a:r>
                <a:rPr lang="zh-CN" altLang="en-US" b="1" i="0" dirty="0">
                  <a:solidFill>
                    <a:srgbClr val="000000"/>
                  </a:solidFill>
                  <a:effectLst/>
                  <a:latin typeface="Inter"/>
                </a:rPr>
                <a:t>时间滞后（</a:t>
              </a:r>
              <a:r>
                <a:rPr lang="en-US" altLang="zh-CN" b="1" i="0" dirty="0" err="1">
                  <a:solidFill>
                    <a:srgbClr val="000000"/>
                  </a:solidFill>
                  <a:effectLst/>
                  <a:latin typeface="Inter"/>
                </a:rPr>
                <a:t>TimeLag</a:t>
              </a:r>
              <a:r>
                <a:rPr lang="zh-CN" altLang="en-US" b="1" i="0" dirty="0">
                  <a:solidFill>
                    <a:srgbClr val="000000"/>
                  </a:solidFill>
                  <a:effectLst/>
                  <a:latin typeface="Inter"/>
                </a:rPr>
                <a:t>）</a:t>
              </a:r>
            </a:p>
          </p:txBody>
        </p:sp>
        <p:pic>
          <p:nvPicPr>
            <p:cNvPr id="4" name="图片 3">
              <a:extLst>
                <a:ext uri="{FF2B5EF4-FFF2-40B4-BE49-F238E27FC236}">
                  <a16:creationId xmlns:a16="http://schemas.microsoft.com/office/drawing/2014/main" id="{3F6860D2-A73A-432A-BD04-CABC0E91FEE7}"/>
                </a:ext>
              </a:extLst>
            </p:cNvPr>
            <p:cNvPicPr>
              <a:picLocks noChangeAspect="1"/>
            </p:cNvPicPr>
            <p:nvPr/>
          </p:nvPicPr>
          <p:blipFill>
            <a:blip r:embed="rId5"/>
            <a:stretch>
              <a:fillRect/>
            </a:stretch>
          </p:blipFill>
          <p:spPr>
            <a:xfrm>
              <a:off x="422902" y="3750236"/>
              <a:ext cx="928095" cy="1099739"/>
            </a:xfrm>
            <a:prstGeom prst="rect">
              <a:avLst/>
            </a:prstGeom>
          </p:spPr>
        </p:pic>
        <p:sp>
          <p:nvSpPr>
            <p:cNvPr id="25" name="文本框 24">
              <a:extLst>
                <a:ext uri="{FF2B5EF4-FFF2-40B4-BE49-F238E27FC236}">
                  <a16:creationId xmlns:a16="http://schemas.microsoft.com/office/drawing/2014/main" id="{717E175B-4BE1-4F98-B70F-6FF168485D6E}"/>
                </a:ext>
              </a:extLst>
            </p:cNvPr>
            <p:cNvSpPr txBox="1"/>
            <p:nvPr/>
          </p:nvSpPr>
          <p:spPr>
            <a:xfrm>
              <a:off x="1341059" y="3921812"/>
              <a:ext cx="4698713" cy="958176"/>
            </a:xfrm>
            <a:prstGeom prst="rect">
              <a:avLst/>
            </a:prstGeom>
            <a:noFill/>
          </p:spPr>
          <p:txBody>
            <a:bodyPr wrap="square">
              <a:spAutoFit/>
            </a:bodyPr>
            <a:lstStyle/>
            <a:p>
              <a:r>
                <a:rPr lang="zh-CN" altLang="en-US" b="0" i="0" dirty="0">
                  <a:solidFill>
                    <a:srgbClr val="333333"/>
                  </a:solidFill>
                  <a:effectLst/>
                  <a:latin typeface="Helvetica Neue"/>
                </a:rPr>
                <a:t>该特征</a:t>
              </a:r>
              <a:r>
                <a:rPr lang="zh-CN" altLang="en-US" b="1" i="0" dirty="0">
                  <a:solidFill>
                    <a:srgbClr val="333333"/>
                  </a:solidFill>
                  <a:effectLst/>
                  <a:latin typeface="Helvetica Neue"/>
                </a:rPr>
                <a:t>基于跌倒和类跌倒活动在信号功率谱上的差异</a:t>
              </a:r>
              <a:r>
                <a:rPr lang="zh-CN" altLang="en-US" b="0" i="0" dirty="0">
                  <a:solidFill>
                    <a:srgbClr val="333333"/>
                  </a:solidFill>
                  <a:effectLst/>
                  <a:latin typeface="Helvetica Neue"/>
                </a:rPr>
                <a:t>提出，</a:t>
              </a:r>
              <a:r>
                <a:rPr lang="zh-CN" altLang="en-US" b="1" i="0" dirty="0">
                  <a:solidFill>
                    <a:srgbClr val="333333"/>
                  </a:solidFill>
                  <a:effectLst/>
                  <a:latin typeface="Helvetica Neue"/>
                </a:rPr>
                <a:t>表征带通滤波后相位差与原始相位差状态过渡点的</a:t>
              </a:r>
              <a:r>
                <a:rPr lang="zh-CN" altLang="en-US" b="1" i="0" dirty="0">
                  <a:solidFill>
                    <a:srgbClr val="FF0000"/>
                  </a:solidFill>
                  <a:effectLst/>
                  <a:latin typeface="Helvetica Neue"/>
                </a:rPr>
                <a:t>时间延迟。</a:t>
              </a:r>
              <a:endParaRPr lang="zh-CN" altLang="en-US" b="1" dirty="0">
                <a:solidFill>
                  <a:srgbClr val="FF0000"/>
                </a:solidFill>
              </a:endParaRPr>
            </a:p>
          </p:txBody>
        </p:sp>
      </p:grpSp>
      <p:sp>
        <p:nvSpPr>
          <p:cNvPr id="27" name="文本框 26">
            <a:extLst>
              <a:ext uri="{FF2B5EF4-FFF2-40B4-BE49-F238E27FC236}">
                <a16:creationId xmlns:a16="http://schemas.microsoft.com/office/drawing/2014/main" id="{43629117-7075-4F85-9612-74DC55194C5D}"/>
              </a:ext>
            </a:extLst>
          </p:cNvPr>
          <p:cNvSpPr txBox="1"/>
          <p:nvPr/>
        </p:nvSpPr>
        <p:spPr>
          <a:xfrm>
            <a:off x="364886" y="4841625"/>
            <a:ext cx="4274556" cy="369332"/>
          </a:xfrm>
          <a:prstGeom prst="rect">
            <a:avLst/>
          </a:prstGeom>
          <a:noFill/>
        </p:spPr>
        <p:txBody>
          <a:bodyPr wrap="square">
            <a:spAutoFit/>
          </a:bodyPr>
          <a:lstStyle/>
          <a:p>
            <a:r>
              <a:rPr lang="zh-CN" altLang="en-US" b="1" i="0" dirty="0">
                <a:solidFill>
                  <a:srgbClr val="000000"/>
                </a:solidFill>
                <a:effectLst/>
                <a:latin typeface="Helvetica Neue"/>
              </a:rPr>
              <a:t>功率下降比（</a:t>
            </a:r>
            <a:r>
              <a:rPr lang="en-US" altLang="zh-CN" b="1" i="0" dirty="0">
                <a:solidFill>
                  <a:srgbClr val="000000"/>
                </a:solidFill>
                <a:effectLst/>
                <a:latin typeface="Helvetica Neue"/>
              </a:rPr>
              <a:t>PDR</a:t>
            </a:r>
            <a:r>
              <a:rPr lang="zh-CN" altLang="en-US" b="1" i="0" dirty="0">
                <a:solidFill>
                  <a:srgbClr val="000000"/>
                </a:solidFill>
                <a:effectLst/>
                <a:latin typeface="Helvetica Neue"/>
              </a:rPr>
              <a:t>）</a:t>
            </a:r>
            <a:endParaRPr lang="zh-CN" altLang="en-US" dirty="0"/>
          </a:p>
        </p:txBody>
      </p:sp>
      <p:pic>
        <p:nvPicPr>
          <p:cNvPr id="29" name="图片 28">
            <a:extLst>
              <a:ext uri="{FF2B5EF4-FFF2-40B4-BE49-F238E27FC236}">
                <a16:creationId xmlns:a16="http://schemas.microsoft.com/office/drawing/2014/main" id="{D698C1D3-417D-4D35-B8F1-A38AAD8AD4BC}"/>
              </a:ext>
            </a:extLst>
          </p:cNvPr>
          <p:cNvPicPr>
            <a:picLocks noChangeAspect="1"/>
          </p:cNvPicPr>
          <p:nvPr/>
        </p:nvPicPr>
        <p:blipFill>
          <a:blip r:embed="rId6"/>
          <a:stretch>
            <a:fillRect/>
          </a:stretch>
        </p:blipFill>
        <p:spPr>
          <a:xfrm>
            <a:off x="382637" y="5196281"/>
            <a:ext cx="3165482" cy="755933"/>
          </a:xfrm>
          <a:prstGeom prst="rect">
            <a:avLst/>
          </a:prstGeom>
        </p:spPr>
      </p:pic>
      <p:sp>
        <p:nvSpPr>
          <p:cNvPr id="31" name="文本框 30">
            <a:extLst>
              <a:ext uri="{FF2B5EF4-FFF2-40B4-BE49-F238E27FC236}">
                <a16:creationId xmlns:a16="http://schemas.microsoft.com/office/drawing/2014/main" id="{5CE68EFD-C07F-4ED7-94ED-318334FFED50}"/>
              </a:ext>
            </a:extLst>
          </p:cNvPr>
          <p:cNvSpPr txBox="1"/>
          <p:nvPr/>
        </p:nvSpPr>
        <p:spPr>
          <a:xfrm>
            <a:off x="373821" y="5977824"/>
            <a:ext cx="5408563" cy="738664"/>
          </a:xfrm>
          <a:prstGeom prst="rect">
            <a:avLst/>
          </a:prstGeom>
          <a:noFill/>
        </p:spPr>
        <p:txBody>
          <a:bodyPr wrap="square">
            <a:spAutoFit/>
          </a:bodyPr>
          <a:lstStyle/>
          <a:p>
            <a:r>
              <a:rPr lang="zh-CN" altLang="en-US" sz="1400" b="0" i="0" dirty="0">
                <a:solidFill>
                  <a:srgbClr val="333333"/>
                </a:solidFill>
                <a:effectLst/>
                <a:latin typeface="Helvetica Neue"/>
              </a:rPr>
              <a:t>其中，</a:t>
            </a:r>
            <a:r>
              <a:rPr lang="en-US" altLang="zh-CN" sz="1400" b="0" i="1" dirty="0">
                <a:solidFill>
                  <a:srgbClr val="333333"/>
                </a:solidFill>
                <a:effectLst/>
                <a:latin typeface="KaTeX_Math"/>
              </a:rPr>
              <a:t>t</a:t>
            </a:r>
            <a:r>
              <a:rPr lang="en-US" altLang="zh-CN" sz="1400" b="0" dirty="0">
                <a:solidFill>
                  <a:srgbClr val="333333"/>
                </a:solidFill>
                <a:effectLst/>
                <a:latin typeface="KaTeX_Main"/>
              </a:rPr>
              <a:t>^</a:t>
            </a:r>
            <a:r>
              <a:rPr lang="zh-CN" altLang="en-US" sz="1400" b="0" i="0" dirty="0">
                <a:solidFill>
                  <a:srgbClr val="333333"/>
                </a:solidFill>
                <a:effectLst/>
                <a:latin typeface="Helvetica Neue"/>
              </a:rPr>
              <a:t>为结束点，</a:t>
            </a:r>
            <a:r>
              <a:rPr lang="en-US" altLang="zh-CN" sz="1400" b="0" i="1" dirty="0">
                <a:solidFill>
                  <a:srgbClr val="333333"/>
                </a:solidFill>
                <a:effectLst/>
                <a:latin typeface="KaTeX_Math"/>
              </a:rPr>
              <a:t>t</a:t>
            </a:r>
            <a:r>
              <a:rPr lang="en-US" altLang="zh-CN" sz="1400" b="0" dirty="0">
                <a:solidFill>
                  <a:srgbClr val="333333"/>
                </a:solidFill>
                <a:effectLst/>
                <a:latin typeface="KaTeX_Main"/>
              </a:rPr>
              <a:t>^−1​</a:t>
            </a:r>
            <a:r>
              <a:rPr lang="zh-CN" altLang="en-US" sz="1400" b="0" i="0" dirty="0">
                <a:solidFill>
                  <a:srgbClr val="333333"/>
                </a:solidFill>
                <a:effectLst/>
                <a:latin typeface="Helvetica Neue"/>
              </a:rPr>
              <a:t>为</a:t>
            </a:r>
            <a:r>
              <a:rPr lang="en-US" altLang="zh-CN" sz="1400" b="0" i="1" dirty="0">
                <a:solidFill>
                  <a:srgbClr val="333333"/>
                </a:solidFill>
                <a:effectLst/>
                <a:latin typeface="KaTeX_Math"/>
              </a:rPr>
              <a:t>t</a:t>
            </a:r>
            <a:r>
              <a:rPr lang="en-US" altLang="zh-CN" sz="1400" b="0" dirty="0">
                <a:solidFill>
                  <a:srgbClr val="333333"/>
                </a:solidFill>
                <a:effectLst/>
                <a:latin typeface="KaTeX_Main"/>
              </a:rPr>
              <a:t>^</a:t>
            </a:r>
            <a:r>
              <a:rPr lang="zh-CN" altLang="en-US" sz="1400" b="0" i="0" dirty="0">
                <a:solidFill>
                  <a:srgbClr val="333333"/>
                </a:solidFill>
                <a:effectLst/>
                <a:latin typeface="Helvetica Neue"/>
              </a:rPr>
              <a:t>前</a:t>
            </a:r>
            <a:r>
              <a:rPr lang="en-US" altLang="zh-CN" sz="1400" b="0" i="0" dirty="0">
                <a:solidFill>
                  <a:srgbClr val="333333"/>
                </a:solidFill>
                <a:effectLst/>
                <a:latin typeface="Helvetica Neue"/>
              </a:rPr>
              <a:t>1</a:t>
            </a:r>
            <a:r>
              <a:rPr lang="zh-CN" altLang="en-US" sz="1400" b="0" i="0" dirty="0">
                <a:solidFill>
                  <a:srgbClr val="333333"/>
                </a:solidFill>
                <a:effectLst/>
                <a:latin typeface="Helvetica Neue"/>
              </a:rPr>
              <a:t>秒的时刻，</a:t>
            </a:r>
            <a:r>
              <a:rPr lang="en-US" altLang="zh-CN" sz="1400" b="0" i="1" dirty="0">
                <a:solidFill>
                  <a:srgbClr val="333333"/>
                </a:solidFill>
                <a:effectLst/>
                <a:latin typeface="KaTeX_Math"/>
              </a:rPr>
              <a:t>t</a:t>
            </a:r>
            <a:r>
              <a:rPr lang="en-US" altLang="zh-CN" sz="1400" b="0" dirty="0">
                <a:solidFill>
                  <a:srgbClr val="333333"/>
                </a:solidFill>
                <a:effectLst/>
                <a:latin typeface="KaTeX_Main"/>
              </a:rPr>
              <a:t>^+1​</a:t>
            </a:r>
            <a:r>
              <a:rPr lang="zh-CN" altLang="en-US" sz="1400" b="0" i="0" dirty="0">
                <a:solidFill>
                  <a:srgbClr val="333333"/>
                </a:solidFill>
                <a:effectLst/>
                <a:latin typeface="Helvetica Neue"/>
              </a:rPr>
              <a:t>为</a:t>
            </a:r>
            <a:r>
              <a:rPr lang="en-US" altLang="zh-CN" sz="1400" b="0" i="1" dirty="0">
                <a:solidFill>
                  <a:srgbClr val="333333"/>
                </a:solidFill>
                <a:effectLst/>
                <a:latin typeface="KaTeX_Math"/>
              </a:rPr>
              <a:t>t</a:t>
            </a:r>
            <a:r>
              <a:rPr lang="en-US" altLang="zh-CN" sz="1400" b="0" dirty="0">
                <a:solidFill>
                  <a:srgbClr val="333333"/>
                </a:solidFill>
                <a:effectLst/>
                <a:latin typeface="KaTeX_Main"/>
              </a:rPr>
              <a:t>^</a:t>
            </a:r>
            <a:r>
              <a:rPr lang="zh-CN" altLang="en-US" sz="1400" b="0" i="0" dirty="0">
                <a:solidFill>
                  <a:srgbClr val="333333"/>
                </a:solidFill>
                <a:effectLst/>
                <a:latin typeface="Helvetica Neue"/>
              </a:rPr>
              <a:t>后</a:t>
            </a:r>
            <a:r>
              <a:rPr lang="en-US" altLang="zh-CN" sz="1400" b="0" i="0" dirty="0">
                <a:solidFill>
                  <a:srgbClr val="333333"/>
                </a:solidFill>
                <a:effectLst/>
                <a:latin typeface="Helvetica Neue"/>
              </a:rPr>
              <a:t>1</a:t>
            </a:r>
            <a:r>
              <a:rPr lang="zh-CN" altLang="en-US" sz="1400" b="0" i="0" dirty="0">
                <a:solidFill>
                  <a:srgbClr val="333333"/>
                </a:solidFill>
                <a:effectLst/>
                <a:latin typeface="Helvetica Neue"/>
              </a:rPr>
              <a:t>秒的时刻；</a:t>
            </a:r>
            <a:r>
              <a:rPr lang="en-US" altLang="zh-CN" sz="1400" b="0" i="1" dirty="0" err="1">
                <a:solidFill>
                  <a:srgbClr val="333333"/>
                </a:solidFill>
                <a:effectLst/>
                <a:latin typeface="KaTeX_Math"/>
              </a:rPr>
              <a:t>fl</a:t>
            </a:r>
            <a:r>
              <a:rPr lang="zh-CN" altLang="en-US" sz="1400" b="0" dirty="0">
                <a:solidFill>
                  <a:srgbClr val="333333"/>
                </a:solidFill>
                <a:effectLst/>
                <a:latin typeface="KaTeX_Main"/>
              </a:rPr>
              <a:t>​</a:t>
            </a:r>
            <a:r>
              <a:rPr lang="zh-CN" altLang="en-US" sz="1400" b="0" i="0" dirty="0">
                <a:solidFill>
                  <a:srgbClr val="333333"/>
                </a:solidFill>
                <a:effectLst/>
                <a:latin typeface="Helvetica Neue"/>
              </a:rPr>
              <a:t>和</a:t>
            </a:r>
            <a:r>
              <a:rPr lang="en-US" altLang="zh-CN" sz="1400" b="0" i="1" dirty="0" err="1">
                <a:solidFill>
                  <a:srgbClr val="333333"/>
                </a:solidFill>
                <a:effectLst/>
                <a:latin typeface="KaTeX_Math"/>
              </a:rPr>
              <a:t>fh</a:t>
            </a:r>
            <a:r>
              <a:rPr lang="zh-CN" altLang="en-US" sz="1400" b="0" dirty="0">
                <a:solidFill>
                  <a:srgbClr val="333333"/>
                </a:solidFill>
                <a:effectLst/>
                <a:latin typeface="KaTeX_Main"/>
              </a:rPr>
              <a:t>​</a:t>
            </a:r>
            <a:r>
              <a:rPr lang="zh-CN" altLang="en-US" sz="1400" b="0" i="0" dirty="0">
                <a:solidFill>
                  <a:srgbClr val="333333"/>
                </a:solidFill>
                <a:effectLst/>
                <a:latin typeface="Helvetica Neue"/>
              </a:rPr>
              <a:t>分别为频率范围的下限和上限（</a:t>
            </a:r>
            <a:r>
              <a:rPr lang="en-US" altLang="zh-CN" sz="1400" b="0" i="0" dirty="0">
                <a:solidFill>
                  <a:srgbClr val="333333"/>
                </a:solidFill>
                <a:effectLst/>
                <a:latin typeface="Helvetica Neue"/>
              </a:rPr>
              <a:t>[0, 50 Hz]</a:t>
            </a:r>
            <a:r>
              <a:rPr lang="zh-CN" altLang="en-US" sz="1400" b="0" i="0" dirty="0">
                <a:solidFill>
                  <a:srgbClr val="333333"/>
                </a:solidFill>
                <a:effectLst/>
                <a:latin typeface="Helvetica Neue"/>
              </a:rPr>
              <a:t>）；</a:t>
            </a:r>
            <a:r>
              <a:rPr lang="en-US" altLang="zh-CN" sz="1400" b="0" i="1" dirty="0" err="1">
                <a:solidFill>
                  <a:srgbClr val="333333"/>
                </a:solidFill>
                <a:effectLst/>
                <a:latin typeface="KaTeX_Math"/>
              </a:rPr>
              <a:t>et</a:t>
            </a:r>
            <a:r>
              <a:rPr lang="en-US" altLang="zh-CN" sz="1400" b="0" dirty="0" err="1">
                <a:solidFill>
                  <a:srgbClr val="333333"/>
                </a:solidFill>
                <a:effectLst/>
                <a:latin typeface="KaTeX_Main"/>
              </a:rPr>
              <a:t>,</a:t>
            </a:r>
            <a:r>
              <a:rPr lang="en-US" altLang="zh-CN" sz="1400" b="0" i="1" dirty="0" err="1">
                <a:solidFill>
                  <a:srgbClr val="333333"/>
                </a:solidFill>
                <a:effectLst/>
                <a:latin typeface="KaTeX_Math"/>
              </a:rPr>
              <a:t>f</a:t>
            </a:r>
            <a:r>
              <a:rPr lang="zh-CN" altLang="en-US" sz="1400" b="0" dirty="0">
                <a:solidFill>
                  <a:srgbClr val="333333"/>
                </a:solidFill>
                <a:effectLst/>
                <a:latin typeface="KaTeX_Main"/>
              </a:rPr>
              <a:t>​</a:t>
            </a:r>
            <a:r>
              <a:rPr lang="zh-CN" altLang="en-US" sz="1400" b="0" i="0" dirty="0">
                <a:solidFill>
                  <a:srgbClr val="333333"/>
                </a:solidFill>
                <a:effectLst/>
                <a:latin typeface="Helvetica Neue"/>
              </a:rPr>
              <a:t>为时刻</a:t>
            </a:r>
            <a:r>
              <a:rPr lang="en-US" altLang="zh-CN" sz="1400" b="0" i="1" dirty="0">
                <a:solidFill>
                  <a:srgbClr val="333333"/>
                </a:solidFill>
                <a:effectLst/>
                <a:latin typeface="KaTeX_Math"/>
              </a:rPr>
              <a:t>t</a:t>
            </a:r>
            <a:r>
              <a:rPr lang="zh-CN" altLang="en-US" sz="1400" b="0" i="0" dirty="0">
                <a:solidFill>
                  <a:srgbClr val="333333"/>
                </a:solidFill>
                <a:effectLst/>
                <a:latin typeface="Helvetica Neue"/>
              </a:rPr>
              <a:t>、频率</a:t>
            </a:r>
            <a:r>
              <a:rPr lang="en-US" altLang="zh-CN" sz="1400" b="0" i="1" dirty="0">
                <a:solidFill>
                  <a:srgbClr val="333333"/>
                </a:solidFill>
                <a:effectLst/>
                <a:latin typeface="KaTeX_Math"/>
              </a:rPr>
              <a:t>f</a:t>
            </a:r>
            <a:r>
              <a:rPr lang="zh-CN" altLang="en-US" sz="1400" b="0" i="0" dirty="0">
                <a:solidFill>
                  <a:srgbClr val="333333"/>
                </a:solidFill>
                <a:effectLst/>
                <a:latin typeface="Helvetica Neue"/>
              </a:rPr>
              <a:t>处的功率强度；</a:t>
            </a:r>
            <a:r>
              <a:rPr lang="en-US" altLang="zh-CN" sz="1400" b="0" i="1" dirty="0" err="1">
                <a:solidFill>
                  <a:srgbClr val="333333"/>
                </a:solidFill>
                <a:effectLst/>
                <a:latin typeface="KaTeX_Math"/>
              </a:rPr>
              <a:t>ωf</a:t>
            </a:r>
            <a:r>
              <a:rPr lang="zh-CN" altLang="en-US" sz="1400" b="0" dirty="0">
                <a:solidFill>
                  <a:srgbClr val="333333"/>
                </a:solidFill>
                <a:effectLst/>
                <a:latin typeface="KaTeX_Main"/>
              </a:rPr>
              <a:t>​</a:t>
            </a:r>
            <a:r>
              <a:rPr lang="zh-CN" altLang="en-US" sz="1400" b="0" i="0" dirty="0">
                <a:solidFill>
                  <a:srgbClr val="333333"/>
                </a:solidFill>
                <a:effectLst/>
                <a:latin typeface="Helvetica Neue"/>
              </a:rPr>
              <a:t>为每个频率</a:t>
            </a:r>
            <a:r>
              <a:rPr lang="en-US" altLang="zh-CN" sz="1400" b="0" i="1" dirty="0">
                <a:solidFill>
                  <a:srgbClr val="333333"/>
                </a:solidFill>
                <a:effectLst/>
                <a:latin typeface="KaTeX_Math"/>
              </a:rPr>
              <a:t>f</a:t>
            </a:r>
            <a:r>
              <a:rPr lang="zh-CN" altLang="en-US" sz="1400" b="0" i="0" dirty="0">
                <a:solidFill>
                  <a:srgbClr val="333333"/>
                </a:solidFill>
                <a:effectLst/>
                <a:latin typeface="Helvetica Neue"/>
              </a:rPr>
              <a:t>的权重向量。</a:t>
            </a:r>
            <a:endParaRPr lang="zh-CN" altLang="en-US" dirty="0"/>
          </a:p>
        </p:txBody>
      </p:sp>
      <p:sp>
        <p:nvSpPr>
          <p:cNvPr id="32" name="矩形 31">
            <a:extLst>
              <a:ext uri="{FF2B5EF4-FFF2-40B4-BE49-F238E27FC236}">
                <a16:creationId xmlns:a16="http://schemas.microsoft.com/office/drawing/2014/main" id="{37A2C456-36E2-4E72-BB89-E83A8256AAFF}"/>
              </a:ext>
            </a:extLst>
          </p:cNvPr>
          <p:cNvSpPr/>
          <p:nvPr/>
        </p:nvSpPr>
        <p:spPr>
          <a:xfrm>
            <a:off x="329102" y="3585437"/>
            <a:ext cx="5586178" cy="1185350"/>
          </a:xfrm>
          <a:prstGeom prst="rect">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DF8A737A-2048-4CE1-991C-8BD0639ECF86}"/>
              </a:ext>
            </a:extLst>
          </p:cNvPr>
          <p:cNvSpPr/>
          <p:nvPr/>
        </p:nvSpPr>
        <p:spPr>
          <a:xfrm>
            <a:off x="330046" y="4842225"/>
            <a:ext cx="5585233" cy="1874264"/>
          </a:xfrm>
          <a:prstGeom prst="rect">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FADEA095-F284-4F99-9B63-F1D57BE1E40B}"/>
              </a:ext>
            </a:extLst>
          </p:cNvPr>
          <p:cNvSpPr txBox="1"/>
          <p:nvPr/>
        </p:nvSpPr>
        <p:spPr>
          <a:xfrm>
            <a:off x="6483415" y="2117931"/>
            <a:ext cx="5461537" cy="923330"/>
          </a:xfrm>
          <a:prstGeom prst="rect">
            <a:avLst/>
          </a:prstGeom>
          <a:noFill/>
        </p:spPr>
        <p:txBody>
          <a:bodyPr wrap="square">
            <a:spAutoFit/>
          </a:bodyPr>
          <a:lstStyle/>
          <a:p>
            <a:pPr algn="l"/>
            <a:r>
              <a:rPr lang="zh-CN" altLang="en-US" b="0" i="0" dirty="0">
                <a:solidFill>
                  <a:srgbClr val="000000"/>
                </a:solidFill>
                <a:effectLst/>
                <a:latin typeface="Inter"/>
              </a:rPr>
              <a:t>输入</a:t>
            </a:r>
            <a:r>
              <a:rPr lang="en-US" altLang="zh-CN" b="0" i="0" dirty="0">
                <a:solidFill>
                  <a:srgbClr val="000000"/>
                </a:solidFill>
                <a:effectLst/>
                <a:latin typeface="Inter"/>
              </a:rPr>
              <a:t>8</a:t>
            </a:r>
            <a:r>
              <a:rPr lang="zh-CN" altLang="en-US" b="0" i="0" dirty="0">
                <a:solidFill>
                  <a:srgbClr val="000000"/>
                </a:solidFill>
                <a:effectLst/>
                <a:latin typeface="Inter"/>
              </a:rPr>
              <a:t>类特征，输出两种类别的分类：</a:t>
            </a:r>
          </a:p>
          <a:p>
            <a:pPr algn="l"/>
            <a:r>
              <a:rPr lang="zh-CN" altLang="en-US" b="0" i="0" dirty="0">
                <a:solidFill>
                  <a:srgbClr val="FF0000"/>
                </a:solidFill>
                <a:effectLst/>
                <a:latin typeface="Helvetica Neue"/>
              </a:rPr>
              <a:t>      目标类（即跌倒）</a:t>
            </a:r>
            <a:r>
              <a:rPr lang="zh-CN" altLang="en-US" b="0" i="0" dirty="0">
                <a:solidFill>
                  <a:srgbClr val="333333"/>
                </a:solidFill>
                <a:effectLst/>
                <a:latin typeface="Helvetica Neue"/>
              </a:rPr>
              <a:t>和</a:t>
            </a:r>
            <a:r>
              <a:rPr lang="zh-CN" altLang="en-US" b="0" i="0" dirty="0">
                <a:solidFill>
                  <a:srgbClr val="FF0000"/>
                </a:solidFill>
                <a:effectLst/>
                <a:latin typeface="Helvetica Neue"/>
              </a:rPr>
              <a:t>非目标类</a:t>
            </a:r>
            <a:r>
              <a:rPr lang="zh-CN" altLang="en-US" b="0" i="0" dirty="0">
                <a:solidFill>
                  <a:srgbClr val="333333"/>
                </a:solidFill>
                <a:effectLst/>
                <a:latin typeface="Helvetica Neue"/>
              </a:rPr>
              <a:t>（即</a:t>
            </a:r>
            <a:r>
              <a:rPr lang="zh-CN" altLang="en-US" b="0" i="0" dirty="0">
                <a:effectLst/>
                <a:latin typeface="Inter"/>
              </a:rPr>
              <a:t>坐下、躺下等</a:t>
            </a:r>
            <a:r>
              <a:rPr lang="zh-CN" altLang="en-US" b="0" i="0" dirty="0">
                <a:solidFill>
                  <a:srgbClr val="FF0000"/>
                </a:solidFill>
                <a:effectLst/>
                <a:latin typeface="Helvetica Neue"/>
              </a:rPr>
              <a:t>类跌倒活动</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p:txBody>
      </p:sp>
      <p:sp>
        <p:nvSpPr>
          <p:cNvPr id="38" name="文本框 37">
            <a:extLst>
              <a:ext uri="{FF2B5EF4-FFF2-40B4-BE49-F238E27FC236}">
                <a16:creationId xmlns:a16="http://schemas.microsoft.com/office/drawing/2014/main" id="{3D97EB9A-877E-4B1E-BB24-990C89C10646}"/>
              </a:ext>
            </a:extLst>
          </p:cNvPr>
          <p:cNvSpPr txBox="1"/>
          <p:nvPr/>
        </p:nvSpPr>
        <p:spPr>
          <a:xfrm>
            <a:off x="6486340" y="3540445"/>
            <a:ext cx="5529482" cy="1200329"/>
          </a:xfrm>
          <a:prstGeom prst="rect">
            <a:avLst/>
          </a:prstGeom>
          <a:noFill/>
        </p:spPr>
        <p:txBody>
          <a:bodyPr wrap="square">
            <a:spAutoFit/>
          </a:bodyPr>
          <a:lstStyle/>
          <a:p>
            <a:r>
              <a:rPr lang="zh-CN" altLang="en-US" b="0" i="0" dirty="0">
                <a:solidFill>
                  <a:srgbClr val="333333"/>
                </a:solidFill>
                <a:effectLst/>
                <a:latin typeface="Helvetica Neue"/>
              </a:rPr>
              <a:t>利用</a:t>
            </a:r>
            <a:r>
              <a:rPr lang="en-US" altLang="zh-CN" b="0" i="0" dirty="0" err="1">
                <a:solidFill>
                  <a:srgbClr val="333333"/>
                </a:solidFill>
                <a:effectLst/>
                <a:latin typeface="Helvetica Neue"/>
              </a:rPr>
              <a:t>LibSVM</a:t>
            </a:r>
            <a:r>
              <a:rPr lang="zh-CN" altLang="en-US" b="0" i="0" dirty="0">
                <a:solidFill>
                  <a:srgbClr val="333333"/>
                </a:solidFill>
                <a:effectLst/>
                <a:latin typeface="Helvetica Neue"/>
              </a:rPr>
              <a:t>构建</a:t>
            </a:r>
            <a:r>
              <a:rPr lang="en-US" altLang="zh-CN" b="1" i="1" dirty="0">
                <a:solidFill>
                  <a:srgbClr val="333333"/>
                </a:solidFill>
                <a:effectLst/>
                <a:latin typeface="KaTeX_Math"/>
              </a:rPr>
              <a:t>ν</a:t>
            </a:r>
            <a:r>
              <a:rPr lang="en-US" altLang="zh-CN" b="1" i="0" dirty="0">
                <a:solidFill>
                  <a:srgbClr val="333333"/>
                </a:solidFill>
                <a:effectLst/>
                <a:latin typeface="Helvetica Neue"/>
              </a:rPr>
              <a:t>-SVM</a:t>
            </a:r>
            <a:r>
              <a:rPr lang="zh-CN" altLang="en-US" b="1" i="0" dirty="0">
                <a:solidFill>
                  <a:srgbClr val="333333"/>
                </a:solidFill>
                <a:effectLst/>
                <a:latin typeface="Helvetica Neue"/>
              </a:rPr>
              <a:t>分类模型</a:t>
            </a:r>
            <a:r>
              <a:rPr lang="zh-CN" altLang="en-US" b="0" i="0" dirty="0">
                <a:solidFill>
                  <a:srgbClr val="333333"/>
                </a:solidFill>
                <a:effectLst/>
                <a:latin typeface="Helvetica Neue"/>
              </a:rPr>
              <a:t>，选择高斯径向基函数（</a:t>
            </a:r>
            <a:r>
              <a:rPr lang="en-US" altLang="zh-CN" b="0" i="0" dirty="0">
                <a:solidFill>
                  <a:srgbClr val="333333"/>
                </a:solidFill>
                <a:effectLst/>
                <a:latin typeface="Helvetica Neue"/>
              </a:rPr>
              <a:t>RBF</a:t>
            </a:r>
            <a:r>
              <a:rPr lang="zh-CN" altLang="en-US" b="0" i="0" dirty="0">
                <a:solidFill>
                  <a:srgbClr val="333333"/>
                </a:solidFill>
                <a:effectLst/>
                <a:latin typeface="Helvetica Neue"/>
              </a:rPr>
              <a:t>）作为核函数</a:t>
            </a:r>
            <a:r>
              <a:rPr lang="zh-CN" altLang="en-US" b="1" i="0" dirty="0">
                <a:solidFill>
                  <a:srgbClr val="333333"/>
                </a:solidFill>
                <a:effectLst/>
                <a:latin typeface="Helvetica Neue"/>
              </a:rPr>
              <a:t>（解决非线性分类问题）</a:t>
            </a:r>
            <a:r>
              <a:rPr lang="zh-CN" altLang="en-US" b="0" i="0" dirty="0">
                <a:solidFill>
                  <a:srgbClr val="333333"/>
                </a:solidFill>
                <a:effectLst/>
                <a:latin typeface="Helvetica Neue"/>
              </a:rPr>
              <a:t>，并将参数</a:t>
            </a:r>
            <a:r>
              <a:rPr lang="en-US" altLang="zh-CN" b="0" i="1" dirty="0">
                <a:solidFill>
                  <a:srgbClr val="333333"/>
                </a:solidFill>
                <a:effectLst/>
                <a:latin typeface="KaTeX_Math"/>
              </a:rPr>
              <a:t>ν</a:t>
            </a:r>
            <a:r>
              <a:rPr lang="zh-CN" altLang="en-US" b="0" i="0" dirty="0">
                <a:solidFill>
                  <a:srgbClr val="333333"/>
                </a:solidFill>
                <a:effectLst/>
                <a:latin typeface="Helvetica Neue"/>
              </a:rPr>
              <a:t>设置为</a:t>
            </a:r>
            <a:r>
              <a:rPr lang="en-US" altLang="zh-CN" b="0" i="0" dirty="0">
                <a:solidFill>
                  <a:srgbClr val="333333"/>
                </a:solidFill>
                <a:effectLst/>
                <a:latin typeface="Helvetica Neue"/>
              </a:rPr>
              <a:t>0.5</a:t>
            </a:r>
            <a:r>
              <a:rPr lang="zh-CN" altLang="en-US" b="0" i="0" dirty="0">
                <a:solidFill>
                  <a:srgbClr val="333333"/>
                </a:solidFill>
                <a:effectLst/>
                <a:latin typeface="Helvetica Neue"/>
              </a:rPr>
              <a:t>（该参数表示训练误差比例的上限和支持向量比例的下限），其他参数采用默认值。</a:t>
            </a:r>
            <a:endParaRPr lang="zh-CN" altLang="en-US" dirty="0"/>
          </a:p>
        </p:txBody>
      </p:sp>
      <p:sp>
        <p:nvSpPr>
          <p:cNvPr id="40" name="文本框 39">
            <a:extLst>
              <a:ext uri="{FF2B5EF4-FFF2-40B4-BE49-F238E27FC236}">
                <a16:creationId xmlns:a16="http://schemas.microsoft.com/office/drawing/2014/main" id="{F5F6103A-E815-4930-9F26-2EBA8450A098}"/>
              </a:ext>
            </a:extLst>
          </p:cNvPr>
          <p:cNvSpPr txBox="1"/>
          <p:nvPr/>
        </p:nvSpPr>
        <p:spPr>
          <a:xfrm>
            <a:off x="6500414" y="5296093"/>
            <a:ext cx="5395242" cy="1200329"/>
          </a:xfrm>
          <a:prstGeom prst="rect">
            <a:avLst/>
          </a:prstGeom>
          <a:noFill/>
        </p:spPr>
        <p:txBody>
          <a:bodyPr wrap="square">
            <a:spAutoFit/>
          </a:bodyPr>
          <a:lstStyle/>
          <a:p>
            <a:r>
              <a:rPr lang="zh-CN" altLang="en-US" b="0" i="0" dirty="0">
                <a:effectLst/>
                <a:latin typeface="Inter"/>
              </a:rPr>
              <a:t>用已标记的 “跌倒 </a:t>
            </a:r>
            <a:r>
              <a:rPr lang="en-US" altLang="zh-CN" b="0" i="0" dirty="0">
                <a:effectLst/>
                <a:latin typeface="Inter"/>
              </a:rPr>
              <a:t>/ </a:t>
            </a:r>
            <a:r>
              <a:rPr lang="zh-CN" altLang="en-US" b="0" i="0" dirty="0">
                <a:effectLst/>
                <a:latin typeface="Inter"/>
              </a:rPr>
              <a:t>类跌倒活动” 特征数据训练模型，确定分类边界；</a:t>
            </a:r>
            <a:endParaRPr lang="en-US" altLang="zh-CN" b="0" i="0" dirty="0">
              <a:effectLst/>
              <a:latin typeface="Inter"/>
            </a:endParaRPr>
          </a:p>
          <a:p>
            <a:r>
              <a:rPr lang="zh-CN" altLang="en-US" b="0" i="0" dirty="0">
                <a:effectLst/>
                <a:latin typeface="Inter"/>
              </a:rPr>
              <a:t>结合用户反馈（如纠正误判），重新标记错误样本并更新模型，持续提升精度。</a:t>
            </a:r>
            <a:endParaRPr lang="zh-CN" altLang="en-US" dirty="0"/>
          </a:p>
        </p:txBody>
      </p:sp>
      <p:cxnSp>
        <p:nvCxnSpPr>
          <p:cNvPr id="41" name="直接连接符 40">
            <a:extLst>
              <a:ext uri="{FF2B5EF4-FFF2-40B4-BE49-F238E27FC236}">
                <a16:creationId xmlns:a16="http://schemas.microsoft.com/office/drawing/2014/main" id="{9E22A00B-471C-4DE2-86F9-1B351CBBD724}"/>
              </a:ext>
            </a:extLst>
          </p:cNvPr>
          <p:cNvCxnSpPr>
            <a:cxnSpLocks/>
          </p:cNvCxnSpPr>
          <p:nvPr/>
        </p:nvCxnSpPr>
        <p:spPr>
          <a:xfrm>
            <a:off x="6276708" y="1711171"/>
            <a:ext cx="0" cy="5146829"/>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0E0F59F1-60FA-40ED-8898-011615A2984F}"/>
              </a:ext>
            </a:extLst>
          </p:cNvPr>
          <p:cNvSpPr txBox="1"/>
          <p:nvPr/>
        </p:nvSpPr>
        <p:spPr>
          <a:xfrm>
            <a:off x="3527059" y="4842224"/>
            <a:ext cx="2423060" cy="1200329"/>
          </a:xfrm>
          <a:prstGeom prst="rect">
            <a:avLst/>
          </a:prstGeom>
          <a:noFill/>
        </p:spPr>
        <p:txBody>
          <a:bodyPr wrap="square">
            <a:spAutoFit/>
          </a:bodyPr>
          <a:lstStyle/>
          <a:p>
            <a:r>
              <a:rPr lang="zh-CN" altLang="en-US" b="0" i="0" dirty="0">
                <a:solidFill>
                  <a:srgbClr val="333333"/>
                </a:solidFill>
                <a:effectLst/>
                <a:latin typeface="Helvetica Neue"/>
              </a:rPr>
              <a:t>计算结束点前后</a:t>
            </a:r>
            <a:r>
              <a:rPr lang="en-US" altLang="zh-CN" b="0" i="0" dirty="0">
                <a:solidFill>
                  <a:srgbClr val="333333"/>
                </a:solidFill>
                <a:effectLst/>
                <a:latin typeface="Helvetica Neue"/>
              </a:rPr>
              <a:t>1</a:t>
            </a:r>
            <a:r>
              <a:rPr lang="zh-CN" altLang="en-US" b="0" i="0" dirty="0">
                <a:solidFill>
                  <a:srgbClr val="333333"/>
                </a:solidFill>
                <a:effectLst/>
                <a:latin typeface="Helvetica Neue"/>
              </a:rPr>
              <a:t>秒的累积功率，将</a:t>
            </a:r>
            <a:r>
              <a:rPr lang="en-US" altLang="zh-CN" b="0" i="0" dirty="0">
                <a:solidFill>
                  <a:srgbClr val="333333"/>
                </a:solidFill>
                <a:effectLst/>
                <a:latin typeface="Helvetica Neue"/>
              </a:rPr>
              <a:t>1</a:t>
            </a:r>
            <a:r>
              <a:rPr lang="zh-CN" altLang="en-US" b="0" i="0" dirty="0">
                <a:solidFill>
                  <a:srgbClr val="333333"/>
                </a:solidFill>
                <a:effectLst/>
                <a:latin typeface="Helvetica Neue"/>
              </a:rPr>
              <a:t>秒内的功率损失除以结束点前</a:t>
            </a:r>
            <a:r>
              <a:rPr lang="en-US" altLang="zh-CN" b="0" i="0" dirty="0">
                <a:solidFill>
                  <a:srgbClr val="333333"/>
                </a:solidFill>
                <a:effectLst/>
                <a:latin typeface="Helvetica Neue"/>
              </a:rPr>
              <a:t>1</a:t>
            </a:r>
            <a:r>
              <a:rPr lang="zh-CN" altLang="en-US" b="0" i="0" dirty="0">
                <a:solidFill>
                  <a:srgbClr val="333333"/>
                </a:solidFill>
                <a:effectLst/>
                <a:latin typeface="Helvetica Neue"/>
              </a:rPr>
              <a:t>秒的累积功率</a:t>
            </a:r>
            <a:endParaRPr lang="zh-CN" altLang="en-US" dirty="0"/>
          </a:p>
        </p:txBody>
      </p:sp>
      <p:sp>
        <p:nvSpPr>
          <p:cNvPr id="28" name="文本框 27">
            <a:extLst>
              <a:ext uri="{FF2B5EF4-FFF2-40B4-BE49-F238E27FC236}">
                <a16:creationId xmlns:a16="http://schemas.microsoft.com/office/drawing/2014/main" id="{A4335E62-AD19-4E40-A8E6-47F8A9095483}"/>
              </a:ext>
            </a:extLst>
          </p:cNvPr>
          <p:cNvSpPr txBox="1"/>
          <p:nvPr/>
        </p:nvSpPr>
        <p:spPr>
          <a:xfrm>
            <a:off x="6472422" y="3191849"/>
            <a:ext cx="4919477" cy="369332"/>
          </a:xfrm>
          <a:prstGeom prst="rect">
            <a:avLst/>
          </a:prstGeom>
          <a:noFill/>
        </p:spPr>
        <p:txBody>
          <a:bodyPr wrap="square">
            <a:spAutoFit/>
          </a:bodyPr>
          <a:lstStyle/>
          <a:p>
            <a:r>
              <a:rPr lang="zh-CN" altLang="en-US" sz="1800" b="1" i="0" dirty="0">
                <a:effectLst/>
                <a:latin typeface="Inter"/>
              </a:rPr>
              <a:t>模型细节</a:t>
            </a:r>
            <a:endParaRPr lang="en-US" altLang="zh-CN" sz="1800" b="1" i="0" dirty="0">
              <a:effectLst/>
              <a:latin typeface="Inter"/>
            </a:endParaRPr>
          </a:p>
        </p:txBody>
      </p:sp>
      <p:sp>
        <p:nvSpPr>
          <p:cNvPr id="30" name="文本框 29">
            <a:extLst>
              <a:ext uri="{FF2B5EF4-FFF2-40B4-BE49-F238E27FC236}">
                <a16:creationId xmlns:a16="http://schemas.microsoft.com/office/drawing/2014/main" id="{5EB803E1-0A0F-4BB0-8B64-7407422B43A2}"/>
              </a:ext>
            </a:extLst>
          </p:cNvPr>
          <p:cNvSpPr txBox="1"/>
          <p:nvPr/>
        </p:nvSpPr>
        <p:spPr>
          <a:xfrm>
            <a:off x="6483415" y="4992910"/>
            <a:ext cx="4740845" cy="369332"/>
          </a:xfrm>
          <a:prstGeom prst="rect">
            <a:avLst/>
          </a:prstGeom>
          <a:noFill/>
        </p:spPr>
        <p:txBody>
          <a:bodyPr wrap="square">
            <a:spAutoFit/>
          </a:bodyPr>
          <a:lstStyle/>
          <a:p>
            <a:r>
              <a:rPr lang="zh-CN" altLang="en-US" b="1" i="0" dirty="0">
                <a:effectLst/>
                <a:latin typeface="Inter"/>
              </a:rPr>
              <a:t>训练过程</a:t>
            </a:r>
            <a:endParaRPr lang="en-US" altLang="zh-CN" b="1" i="0" dirty="0">
              <a:effectLst/>
              <a:latin typeface="Inter"/>
            </a:endParaRPr>
          </a:p>
        </p:txBody>
      </p:sp>
      <p:sp>
        <p:nvSpPr>
          <p:cNvPr id="34" name="矩形 33">
            <a:extLst>
              <a:ext uri="{FF2B5EF4-FFF2-40B4-BE49-F238E27FC236}">
                <a16:creationId xmlns:a16="http://schemas.microsoft.com/office/drawing/2014/main" id="{F33C4BC3-85D2-4C8C-B7F2-BE122072ED1C}"/>
              </a:ext>
            </a:extLst>
          </p:cNvPr>
          <p:cNvSpPr/>
          <p:nvPr/>
        </p:nvSpPr>
        <p:spPr>
          <a:xfrm>
            <a:off x="6534096" y="3164788"/>
            <a:ext cx="5328800" cy="1602342"/>
          </a:xfrm>
          <a:prstGeom prst="rect">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A4A38896-6AE8-45C5-8AE2-636764990649}"/>
              </a:ext>
            </a:extLst>
          </p:cNvPr>
          <p:cNvSpPr/>
          <p:nvPr/>
        </p:nvSpPr>
        <p:spPr>
          <a:xfrm>
            <a:off x="6534096" y="4968752"/>
            <a:ext cx="5327858" cy="1602342"/>
          </a:xfrm>
          <a:prstGeom prst="rect">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136781308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5233272" y="2881663"/>
            <a:ext cx="1723549" cy="1015663"/>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评估</a:t>
            </a:r>
          </a:p>
        </p:txBody>
      </p:sp>
      <p:grpSp>
        <p:nvGrpSpPr>
          <p:cNvPr id="12" name="组合 11"/>
          <p:cNvGrpSpPr/>
          <p:nvPr/>
        </p:nvGrpSpPr>
        <p:grpSpPr>
          <a:xfrm>
            <a:off x="5555048" y="1471295"/>
            <a:ext cx="1080000" cy="1080000"/>
            <a:chOff x="8049" y="2049"/>
            <a:chExt cx="1701" cy="1701"/>
          </a:xfrm>
        </p:grpSpPr>
        <p:sp>
          <p:nvSpPr>
            <p:cNvPr id="10" name="椭圆 9"/>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380" y="2440"/>
              <a:ext cx="1048" cy="921"/>
            </a:xfrm>
            <a:prstGeom prst="rect">
              <a:avLst/>
            </a:prstGeom>
            <a:noFill/>
          </p:spPr>
          <p:txBody>
            <a:bodyPr wrap="non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rPr>
                <a:t>05</a:t>
              </a:r>
            </a:p>
          </p:txBody>
        </p:sp>
      </p:grpSp>
    </p:spTree>
    <p:custDataLst>
      <p:tags r:id="rId1"/>
    </p:custDataLst>
    <p:extLst>
      <p:ext uri="{BB962C8B-B14F-4D97-AF65-F5344CB8AC3E}">
        <p14:creationId xmlns:p14="http://schemas.microsoft.com/office/powerpoint/2010/main" val="407599286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83E86-D0E7-5486-F722-8596A481E2EF}"/>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2E2203B6-F395-08A8-FDAB-8A2068B250A1}"/>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6AC93A6B-A3DE-C3B7-E68B-CC0EDE6167FE}"/>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5E90776A-BE52-6D72-D7BC-6F165323A203}"/>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3FD2E4C-8EA4-CFCD-1EAF-D2F528AEB69A}"/>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12947422-DE34-CF84-9B05-E2B334C41CDD}"/>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评估</a:t>
            </a:r>
          </a:p>
        </p:txBody>
      </p:sp>
      <p:sp>
        <p:nvSpPr>
          <p:cNvPr id="4" name="文本框 3">
            <a:extLst>
              <a:ext uri="{FF2B5EF4-FFF2-40B4-BE49-F238E27FC236}">
                <a16:creationId xmlns:a16="http://schemas.microsoft.com/office/drawing/2014/main" id="{03E15EEE-4420-70AC-13E3-7ECE1051ADFE}"/>
              </a:ext>
            </a:extLst>
          </p:cNvPr>
          <p:cNvSpPr txBox="1"/>
          <p:nvPr/>
        </p:nvSpPr>
        <p:spPr>
          <a:xfrm>
            <a:off x="279400" y="1133000"/>
            <a:ext cx="6096000" cy="461665"/>
          </a:xfrm>
          <a:prstGeom prst="rect">
            <a:avLst/>
          </a:prstGeom>
          <a:noFill/>
        </p:spPr>
        <p:txBody>
          <a:bodyPr wrap="square">
            <a:spAutoFit/>
          </a:bodyPr>
          <a:lstStyle/>
          <a:p>
            <a:r>
              <a:rPr lang="en-US" altLang="zh-CN" sz="2400" b="1" dirty="0">
                <a:solidFill>
                  <a:srgbClr val="000000"/>
                </a:solidFill>
                <a:latin typeface="Helvetica Neue"/>
              </a:rPr>
              <a:t>6.1</a:t>
            </a:r>
            <a:r>
              <a:rPr lang="zh-CN" altLang="en-US" sz="2400" b="1" dirty="0">
                <a:solidFill>
                  <a:srgbClr val="000000"/>
                </a:solidFill>
                <a:latin typeface="Helvetica Neue"/>
              </a:rPr>
              <a:t>实验设置</a:t>
            </a:r>
          </a:p>
        </p:txBody>
      </p:sp>
      <p:sp>
        <p:nvSpPr>
          <p:cNvPr id="6" name="文本框 5">
            <a:extLst>
              <a:ext uri="{FF2B5EF4-FFF2-40B4-BE49-F238E27FC236}">
                <a16:creationId xmlns:a16="http://schemas.microsoft.com/office/drawing/2014/main" id="{A9398097-303B-EE09-9288-7EF9FB1182DF}"/>
              </a:ext>
            </a:extLst>
          </p:cNvPr>
          <p:cNvSpPr txBox="1"/>
          <p:nvPr/>
        </p:nvSpPr>
        <p:spPr>
          <a:xfrm>
            <a:off x="279400" y="1798045"/>
            <a:ext cx="6096000" cy="369332"/>
          </a:xfrm>
          <a:prstGeom prst="rect">
            <a:avLst/>
          </a:prstGeom>
          <a:noFill/>
        </p:spPr>
        <p:txBody>
          <a:bodyPr wrap="square">
            <a:spAutoFit/>
          </a:bodyPr>
          <a:lstStyle/>
          <a:p>
            <a:pPr algn="l"/>
            <a:r>
              <a:rPr lang="zh-CN" altLang="en-US" b="1" i="0" dirty="0">
                <a:solidFill>
                  <a:srgbClr val="000000"/>
                </a:solidFill>
                <a:effectLst/>
                <a:latin typeface="Helvetica Neue"/>
              </a:rPr>
              <a:t>实验的测试环境的设置</a:t>
            </a:r>
          </a:p>
        </p:txBody>
      </p:sp>
      <p:pic>
        <p:nvPicPr>
          <p:cNvPr id="9" name="图片 8">
            <a:extLst>
              <a:ext uri="{FF2B5EF4-FFF2-40B4-BE49-F238E27FC236}">
                <a16:creationId xmlns:a16="http://schemas.microsoft.com/office/drawing/2014/main" id="{546A3BF0-860B-64E4-C9F6-A629AF970429}"/>
              </a:ext>
            </a:extLst>
          </p:cNvPr>
          <p:cNvPicPr>
            <a:picLocks noChangeAspect="1"/>
          </p:cNvPicPr>
          <p:nvPr/>
        </p:nvPicPr>
        <p:blipFill>
          <a:blip r:embed="rId5"/>
          <a:stretch>
            <a:fillRect/>
          </a:stretch>
        </p:blipFill>
        <p:spPr>
          <a:xfrm>
            <a:off x="279400" y="2370756"/>
            <a:ext cx="5585511" cy="4080843"/>
          </a:xfrm>
          <a:prstGeom prst="rect">
            <a:avLst/>
          </a:prstGeom>
        </p:spPr>
      </p:pic>
      <p:sp>
        <p:nvSpPr>
          <p:cNvPr id="11" name="文本框 10">
            <a:extLst>
              <a:ext uri="{FF2B5EF4-FFF2-40B4-BE49-F238E27FC236}">
                <a16:creationId xmlns:a16="http://schemas.microsoft.com/office/drawing/2014/main" id="{F474E07F-319C-1986-34A1-991F89AAA9E9}"/>
              </a:ext>
            </a:extLst>
          </p:cNvPr>
          <p:cNvSpPr txBox="1"/>
          <p:nvPr/>
        </p:nvSpPr>
        <p:spPr>
          <a:xfrm>
            <a:off x="6006782" y="1812827"/>
            <a:ext cx="6096000" cy="3693319"/>
          </a:xfrm>
          <a:prstGeom prst="rect">
            <a:avLst/>
          </a:prstGeom>
          <a:noFill/>
        </p:spPr>
        <p:txBody>
          <a:bodyPr wrap="square">
            <a:spAutoFit/>
          </a:bodyPr>
          <a:lstStyle/>
          <a:p>
            <a:r>
              <a:rPr lang="zh-CN" altLang="en-US" dirty="0"/>
              <a:t>在四种不同的环境中进行实验，这些环境中的实验设置和设置如图所示。：</a:t>
            </a:r>
            <a:endParaRPr lang="en-US" altLang="zh-CN" dirty="0"/>
          </a:p>
          <a:p>
            <a:pPr fontAlgn="base"/>
            <a:r>
              <a:rPr lang="zh-CN" altLang="en-US" b="1" dirty="0"/>
              <a:t>办公室（</a:t>
            </a:r>
            <a:r>
              <a:rPr lang="en-US" altLang="zh-CN" b="1" dirty="0"/>
              <a:t>a</a:t>
            </a:r>
            <a:r>
              <a:rPr lang="zh-CN" altLang="en-US" b="1" dirty="0"/>
              <a:t>）​</a:t>
            </a:r>
            <a:r>
              <a:rPr lang="zh-CN" altLang="en-US" dirty="0"/>
              <a:t>​：尺寸约</a:t>
            </a:r>
            <a:r>
              <a:rPr lang="en-US" altLang="zh-CN" dirty="0"/>
              <a:t>3m×4m</a:t>
            </a:r>
            <a:r>
              <a:rPr lang="zh-CN" altLang="en-US" dirty="0"/>
              <a:t>，配备沙发、桌子和书柜，模拟家庭办公场景，部分区域为视距</a:t>
            </a:r>
            <a:r>
              <a:rPr lang="zh-CN" altLang="en-US" b="1" dirty="0"/>
              <a:t>（</a:t>
            </a:r>
            <a:r>
              <a:rPr lang="en-US" altLang="zh-CN" b="1" dirty="0"/>
              <a:t>LOS</a:t>
            </a:r>
            <a:r>
              <a:rPr lang="zh-CN" altLang="en-US" b="1" dirty="0"/>
              <a:t>）</a:t>
            </a:r>
            <a:r>
              <a:rPr lang="zh-CN" altLang="en-US" dirty="0"/>
              <a:t>条件。</a:t>
            </a:r>
          </a:p>
          <a:p>
            <a:pPr fontAlgn="base"/>
            <a:r>
              <a:rPr lang="zh-CN" altLang="en-US" dirty="0"/>
              <a:t>​</a:t>
            </a:r>
            <a:r>
              <a:rPr lang="zh-CN" altLang="en-US" b="1" dirty="0"/>
              <a:t>公寓（</a:t>
            </a:r>
            <a:r>
              <a:rPr lang="en-US" altLang="zh-CN" b="1" dirty="0"/>
              <a:t>b</a:t>
            </a:r>
            <a:r>
              <a:rPr lang="zh-CN" altLang="en-US" b="1" dirty="0"/>
              <a:t>）​</a:t>
            </a:r>
            <a:r>
              <a:rPr lang="zh-CN" altLang="en-US" dirty="0"/>
              <a:t>​：包含卧室和客厅，配备多组家具，代表</a:t>
            </a:r>
            <a:r>
              <a:rPr lang="zh-CN" altLang="en-US" b="1" dirty="0"/>
              <a:t>多房间</a:t>
            </a:r>
            <a:r>
              <a:rPr lang="zh-CN" altLang="en-US" dirty="0"/>
              <a:t>住宅，多非视距</a:t>
            </a:r>
            <a:r>
              <a:rPr lang="zh-CN" altLang="en-US" b="1" dirty="0"/>
              <a:t>（</a:t>
            </a:r>
            <a:r>
              <a:rPr lang="en-US" altLang="zh-CN" b="1" dirty="0"/>
              <a:t>NLOS</a:t>
            </a:r>
            <a:r>
              <a:rPr lang="zh-CN" altLang="en-US" b="1" dirty="0"/>
              <a:t>）</a:t>
            </a:r>
            <a:r>
              <a:rPr lang="zh-CN" altLang="en-US" dirty="0"/>
              <a:t>条件。</a:t>
            </a:r>
          </a:p>
          <a:p>
            <a:pPr fontAlgn="base"/>
            <a:r>
              <a:rPr lang="zh-CN" altLang="en-US" dirty="0"/>
              <a:t>​</a:t>
            </a:r>
            <a:r>
              <a:rPr lang="zh-CN" altLang="en-US" b="1" dirty="0"/>
              <a:t>会议室（</a:t>
            </a:r>
            <a:r>
              <a:rPr lang="en-US" altLang="zh-CN" b="1" dirty="0"/>
              <a:t>c</a:t>
            </a:r>
            <a:r>
              <a:rPr lang="zh-CN" altLang="en-US" b="1" dirty="0"/>
              <a:t>）​</a:t>
            </a:r>
            <a:r>
              <a:rPr lang="zh-CN" altLang="en-US" dirty="0"/>
              <a:t>​：尺寸约</a:t>
            </a:r>
            <a:r>
              <a:rPr lang="en-US" altLang="zh-CN" dirty="0"/>
              <a:t>6m×6m</a:t>
            </a:r>
            <a:r>
              <a:rPr lang="zh-CN" altLang="en-US" dirty="0"/>
              <a:t>，配备会议桌和椅子，测试开阔空间，混合</a:t>
            </a:r>
            <a:r>
              <a:rPr lang="en-US" altLang="zh-CN" dirty="0"/>
              <a:t>LOS/NLOS</a:t>
            </a:r>
            <a:r>
              <a:rPr lang="zh-CN" altLang="en-US" dirty="0"/>
              <a:t>条件。</a:t>
            </a:r>
          </a:p>
          <a:p>
            <a:pPr fontAlgn="base"/>
            <a:r>
              <a:rPr lang="zh-CN" altLang="en-US" dirty="0"/>
              <a:t>​</a:t>
            </a:r>
            <a:r>
              <a:rPr lang="zh-CN" altLang="en-US" b="1" dirty="0"/>
              <a:t>大厅（</a:t>
            </a:r>
            <a:r>
              <a:rPr lang="en-US" altLang="zh-CN" b="1" dirty="0"/>
              <a:t>d</a:t>
            </a:r>
            <a:r>
              <a:rPr lang="zh-CN" altLang="en-US" b="1" dirty="0"/>
              <a:t>）​</a:t>
            </a:r>
            <a:r>
              <a:rPr lang="zh-CN" altLang="en-US" dirty="0"/>
              <a:t>​：尺寸约</a:t>
            </a:r>
            <a:r>
              <a:rPr lang="en-US" altLang="zh-CN" dirty="0"/>
              <a:t>12m×6m</a:t>
            </a:r>
            <a:r>
              <a:rPr lang="zh-CN" altLang="en-US" dirty="0"/>
              <a:t>，为大面积开放区域，挑战远距离信号覆盖，需多个</a:t>
            </a:r>
            <a:r>
              <a:rPr lang="en-US" altLang="zh-CN" dirty="0" err="1"/>
              <a:t>WiFi</a:t>
            </a:r>
            <a:r>
              <a:rPr lang="zh-CN" altLang="en-US" dirty="0"/>
              <a:t>设备同步。</a:t>
            </a:r>
          </a:p>
          <a:p>
            <a:pPr fontAlgn="base"/>
            <a:r>
              <a:rPr lang="zh-CN" altLang="en-US" dirty="0"/>
              <a:t>图片帮助可视化环境多样性，强调系统需适应不同布局和障碍物，便于理解实验设置的现实基础。</a:t>
            </a:r>
          </a:p>
          <a:p>
            <a:endParaRPr lang="en-US" altLang="zh-CN" b="0" i="1" dirty="0">
              <a:solidFill>
                <a:srgbClr val="333333"/>
              </a:solidFill>
              <a:effectLst/>
              <a:latin typeface="KaTeX_Math"/>
            </a:endParaRPr>
          </a:p>
        </p:txBody>
      </p:sp>
      <p:sp>
        <p:nvSpPr>
          <p:cNvPr id="3" name="文本框 2">
            <a:extLst>
              <a:ext uri="{FF2B5EF4-FFF2-40B4-BE49-F238E27FC236}">
                <a16:creationId xmlns:a16="http://schemas.microsoft.com/office/drawing/2014/main" id="{3F85FF46-BC90-7BC3-65FF-F3F3CEAC4CCA}"/>
              </a:ext>
            </a:extLst>
          </p:cNvPr>
          <p:cNvSpPr txBox="1"/>
          <p:nvPr/>
        </p:nvSpPr>
        <p:spPr>
          <a:xfrm>
            <a:off x="6082664" y="5506146"/>
            <a:ext cx="6096000" cy="523220"/>
          </a:xfrm>
          <a:prstGeom prst="rect">
            <a:avLst/>
          </a:prstGeom>
          <a:noFill/>
        </p:spPr>
        <p:txBody>
          <a:bodyPr wrap="square">
            <a:spAutoFit/>
          </a:bodyPr>
          <a:lstStyle/>
          <a:p>
            <a:r>
              <a:rPr lang="en-US" altLang="zh-CN" sz="1400" b="1" dirty="0">
                <a:effectLst/>
                <a:latin typeface="等线" panose="02010600030101010101" pitchFamily="2" charset="-122"/>
                <a:cs typeface="Times New Roman" panose="02020603050405020304" pitchFamily="18" charset="0"/>
              </a:rPr>
              <a:t>LOS</a:t>
            </a:r>
            <a:r>
              <a:rPr lang="zh-CN" altLang="zh-CN" sz="1400" b="1" dirty="0">
                <a:effectLst/>
                <a:ea typeface="等线" panose="02010600030101010101" pitchFamily="2" charset="-122"/>
                <a:cs typeface="Times New Roman" panose="02020603050405020304" pitchFamily="18" charset="0"/>
              </a:rPr>
              <a:t>（</a:t>
            </a:r>
            <a:r>
              <a:rPr lang="en-US" altLang="zh-CN" sz="1400" b="1" dirty="0">
                <a:effectLst/>
                <a:ea typeface="等线" panose="02010600030101010101" pitchFamily="2" charset="-122"/>
                <a:cs typeface="Times New Roman" panose="02020603050405020304" pitchFamily="18" charset="0"/>
              </a:rPr>
              <a:t>Line-Of-Sight</a:t>
            </a:r>
            <a:r>
              <a:rPr lang="zh-CN" altLang="zh-CN" sz="1400" b="1" dirty="0">
                <a:effectLst/>
                <a:ea typeface="等线" panose="02010600030101010101" pitchFamily="2" charset="-122"/>
                <a:cs typeface="Times New Roman" panose="02020603050405020304" pitchFamily="18" charset="0"/>
              </a:rPr>
              <a:t>，视距）</a:t>
            </a:r>
            <a:r>
              <a:rPr lang="en-US" altLang="zh-CN" sz="1400" b="1" dirty="0">
                <a:effectLst/>
                <a:latin typeface="Times New Roman" panose="02020603050405020304" pitchFamily="18" charset="0"/>
                <a:ea typeface="等线" panose="02010600030101010101" pitchFamily="2" charset="-122"/>
              </a:rPr>
              <a:t>​</a:t>
            </a:r>
            <a:r>
              <a:rPr lang="en-US" altLang="zh-CN" sz="1400" dirty="0">
                <a:effectLst/>
                <a:latin typeface="Times New Roman" panose="02020603050405020304" pitchFamily="18" charset="0"/>
                <a:ea typeface="等线" panose="02010600030101010101" pitchFamily="2" charset="-122"/>
              </a:rPr>
              <a:t>​</a:t>
            </a:r>
            <a:r>
              <a:rPr lang="zh-CN" altLang="zh-CN" sz="1400" dirty="0">
                <a:effectLst/>
                <a:ea typeface="等线" panose="02010600030101010101" pitchFamily="2" charset="-122"/>
                <a:cs typeface="Times New Roman" panose="02020603050405020304" pitchFamily="18" charset="0"/>
              </a:rPr>
              <a:t>：信号传播路径无遮挡，信号强度高且稳定。例如，办公室中部分区域为</a:t>
            </a:r>
            <a:r>
              <a:rPr lang="en-US" altLang="zh-CN" sz="1400" dirty="0">
                <a:effectLst/>
                <a:ea typeface="等线" panose="02010600030101010101" pitchFamily="2" charset="-122"/>
                <a:cs typeface="Times New Roman" panose="02020603050405020304" pitchFamily="18" charset="0"/>
              </a:rPr>
              <a:t>LOS</a:t>
            </a:r>
            <a:r>
              <a:rPr lang="zh-CN" altLang="zh-CN" sz="1400" dirty="0">
                <a:effectLst/>
                <a:ea typeface="等线" panose="02010600030101010101" pitchFamily="2" charset="-122"/>
                <a:cs typeface="Times New Roman" panose="02020603050405020304" pitchFamily="18" charset="0"/>
              </a:rPr>
              <a:t>。</a:t>
            </a:r>
            <a:endParaRPr lang="zh-CN" altLang="en-US" sz="1400" dirty="0"/>
          </a:p>
        </p:txBody>
      </p:sp>
      <p:sp>
        <p:nvSpPr>
          <p:cNvPr id="8" name="文本框 7">
            <a:extLst>
              <a:ext uri="{FF2B5EF4-FFF2-40B4-BE49-F238E27FC236}">
                <a16:creationId xmlns:a16="http://schemas.microsoft.com/office/drawing/2014/main" id="{112F6758-AD85-B6F4-AA62-7F629F2E16CF}"/>
              </a:ext>
            </a:extLst>
          </p:cNvPr>
          <p:cNvSpPr txBox="1"/>
          <p:nvPr/>
        </p:nvSpPr>
        <p:spPr>
          <a:xfrm>
            <a:off x="6082664" y="6157955"/>
            <a:ext cx="6096000" cy="523220"/>
          </a:xfrm>
          <a:prstGeom prst="rect">
            <a:avLst/>
          </a:prstGeom>
          <a:noFill/>
        </p:spPr>
        <p:txBody>
          <a:bodyPr wrap="square">
            <a:spAutoFit/>
          </a:bodyPr>
          <a:lstStyle/>
          <a:p>
            <a:r>
              <a:rPr lang="en-US" altLang="zh-CN" sz="1400" b="1" dirty="0">
                <a:effectLst/>
                <a:latin typeface="等线" panose="02010600030101010101" pitchFamily="2" charset="-122"/>
                <a:cs typeface="Times New Roman" panose="02020603050405020304" pitchFamily="18" charset="0"/>
              </a:rPr>
              <a:t>NLOS</a:t>
            </a:r>
            <a:r>
              <a:rPr lang="zh-CN" altLang="zh-CN" sz="1400" b="1" dirty="0">
                <a:effectLst/>
                <a:ea typeface="等线" panose="02010600030101010101" pitchFamily="2" charset="-122"/>
                <a:cs typeface="Times New Roman" panose="02020603050405020304" pitchFamily="18" charset="0"/>
              </a:rPr>
              <a:t>（</a:t>
            </a:r>
            <a:r>
              <a:rPr lang="en-US" altLang="zh-CN" sz="1400" b="1" dirty="0">
                <a:effectLst/>
                <a:ea typeface="等线" panose="02010600030101010101" pitchFamily="2" charset="-122"/>
                <a:cs typeface="Times New Roman" panose="02020603050405020304" pitchFamily="18" charset="0"/>
              </a:rPr>
              <a:t>Non-Line-Of-Sight</a:t>
            </a:r>
            <a:r>
              <a:rPr lang="zh-CN" altLang="zh-CN" sz="1400" b="1" dirty="0">
                <a:effectLst/>
                <a:ea typeface="等线" panose="02010600030101010101" pitchFamily="2" charset="-122"/>
                <a:cs typeface="Times New Roman" panose="02020603050405020304" pitchFamily="18" charset="0"/>
              </a:rPr>
              <a:t>，非视距）</a:t>
            </a:r>
            <a:r>
              <a:rPr lang="en-US" altLang="zh-CN" sz="1400" b="1" dirty="0">
                <a:effectLst/>
                <a:latin typeface="Times New Roman" panose="02020603050405020304" pitchFamily="18" charset="0"/>
                <a:ea typeface="等线" panose="02010600030101010101" pitchFamily="2" charset="-122"/>
              </a:rPr>
              <a:t>​</a:t>
            </a:r>
            <a:r>
              <a:rPr lang="en-US" altLang="zh-CN" sz="1400" dirty="0">
                <a:effectLst/>
                <a:latin typeface="Times New Roman" panose="02020603050405020304" pitchFamily="18" charset="0"/>
                <a:ea typeface="等线" panose="02010600030101010101" pitchFamily="2" charset="-122"/>
              </a:rPr>
              <a:t>​</a:t>
            </a:r>
            <a:r>
              <a:rPr lang="zh-CN" altLang="zh-CN" sz="1400" dirty="0">
                <a:effectLst/>
                <a:ea typeface="等线" panose="02010600030101010101" pitchFamily="2" charset="-122"/>
                <a:cs typeface="Times New Roman" panose="02020603050405020304" pitchFamily="18" charset="0"/>
              </a:rPr>
              <a:t>：信号路径被障碍物（如墙壁、家具）阻挡，导致信号衰减和波动。例如，公寓中多房间结构引入</a:t>
            </a:r>
            <a:r>
              <a:rPr lang="en-US" altLang="zh-CN" sz="1400" dirty="0">
                <a:effectLst/>
                <a:ea typeface="等线" panose="02010600030101010101" pitchFamily="2" charset="-122"/>
                <a:cs typeface="Times New Roman" panose="02020603050405020304" pitchFamily="18" charset="0"/>
              </a:rPr>
              <a:t>NLOS</a:t>
            </a:r>
            <a:r>
              <a:rPr lang="zh-CN" altLang="zh-CN" sz="1400" dirty="0">
                <a:effectLst/>
                <a:ea typeface="等线" panose="02010600030101010101" pitchFamily="2" charset="-122"/>
                <a:cs typeface="Times New Roman" panose="02020603050405020304" pitchFamily="18" charset="0"/>
              </a:rPr>
              <a:t>。</a:t>
            </a:r>
            <a:endParaRPr lang="zh-CN" altLang="en-US" sz="1400" dirty="0"/>
          </a:p>
        </p:txBody>
      </p:sp>
    </p:spTree>
    <p:custDataLst>
      <p:tags r:id="rId1"/>
    </p:custDataLst>
    <p:extLst>
      <p:ext uri="{BB962C8B-B14F-4D97-AF65-F5344CB8AC3E}">
        <p14:creationId xmlns:p14="http://schemas.microsoft.com/office/powerpoint/2010/main" val="2857172664"/>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C0140-A988-1E1A-D2E7-12BBDC26AA41}"/>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878E0704-0044-DC83-3E76-A14BAD92ECB5}"/>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FF1C349F-B3EE-99A6-D0CC-AB650BA2B4C8}"/>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ABA244EE-B7C8-12C8-689D-1D4C46624682}"/>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2BE60DA-C5BE-5C97-42CC-E7616A9A4714}"/>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1859F063-2EBB-5144-4107-DED9741D2DFF}"/>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评估</a:t>
            </a:r>
          </a:p>
        </p:txBody>
      </p:sp>
      <p:sp>
        <p:nvSpPr>
          <p:cNvPr id="4" name="文本框 3">
            <a:extLst>
              <a:ext uri="{FF2B5EF4-FFF2-40B4-BE49-F238E27FC236}">
                <a16:creationId xmlns:a16="http://schemas.microsoft.com/office/drawing/2014/main" id="{07BE9ACA-6788-95A5-A0D5-E9C4381C023F}"/>
              </a:ext>
            </a:extLst>
          </p:cNvPr>
          <p:cNvSpPr txBox="1"/>
          <p:nvPr/>
        </p:nvSpPr>
        <p:spPr>
          <a:xfrm>
            <a:off x="279400" y="1133000"/>
            <a:ext cx="6096000" cy="461665"/>
          </a:xfrm>
          <a:prstGeom prst="rect">
            <a:avLst/>
          </a:prstGeom>
          <a:noFill/>
        </p:spPr>
        <p:txBody>
          <a:bodyPr wrap="square">
            <a:spAutoFit/>
          </a:bodyPr>
          <a:lstStyle/>
          <a:p>
            <a:r>
              <a:rPr lang="en-US" altLang="zh-CN" sz="2400" b="1" dirty="0">
                <a:solidFill>
                  <a:srgbClr val="000000"/>
                </a:solidFill>
                <a:latin typeface="Helvetica Neue"/>
              </a:rPr>
              <a:t>6.2</a:t>
            </a:r>
            <a:r>
              <a:rPr lang="zh-CN" altLang="en-US" sz="2400" b="1" dirty="0">
                <a:solidFill>
                  <a:srgbClr val="000000"/>
                </a:solidFill>
                <a:latin typeface="Helvetica Neue"/>
              </a:rPr>
              <a:t>数据集</a:t>
            </a:r>
          </a:p>
        </p:txBody>
      </p:sp>
      <p:sp>
        <p:nvSpPr>
          <p:cNvPr id="6" name="文本框 5">
            <a:extLst>
              <a:ext uri="{FF2B5EF4-FFF2-40B4-BE49-F238E27FC236}">
                <a16:creationId xmlns:a16="http://schemas.microsoft.com/office/drawing/2014/main" id="{22400BEA-995A-C47C-F5ED-F0EDAAB8410B}"/>
              </a:ext>
            </a:extLst>
          </p:cNvPr>
          <p:cNvSpPr txBox="1"/>
          <p:nvPr/>
        </p:nvSpPr>
        <p:spPr>
          <a:xfrm>
            <a:off x="279400" y="1798045"/>
            <a:ext cx="6096000" cy="369332"/>
          </a:xfrm>
          <a:prstGeom prst="rect">
            <a:avLst/>
          </a:prstGeom>
          <a:noFill/>
        </p:spPr>
        <p:txBody>
          <a:bodyPr wrap="square">
            <a:spAutoFit/>
          </a:bodyPr>
          <a:lstStyle/>
          <a:p>
            <a:r>
              <a:rPr lang="zh-CN" altLang="en-US" b="1" dirty="0"/>
              <a:t>数据收集</a:t>
            </a:r>
            <a:endParaRPr lang="zh-CN" altLang="en-US" b="1" i="0" dirty="0">
              <a:solidFill>
                <a:srgbClr val="000000"/>
              </a:solidFill>
              <a:effectLst/>
              <a:latin typeface="Helvetica Neue"/>
            </a:endParaRPr>
          </a:p>
        </p:txBody>
      </p:sp>
      <p:pic>
        <p:nvPicPr>
          <p:cNvPr id="2" name="图片 1">
            <a:extLst>
              <a:ext uri="{FF2B5EF4-FFF2-40B4-BE49-F238E27FC236}">
                <a16:creationId xmlns:a16="http://schemas.microsoft.com/office/drawing/2014/main" id="{F45AC5F7-33E7-98DE-5B87-713F486D8646}"/>
              </a:ext>
            </a:extLst>
          </p:cNvPr>
          <p:cNvPicPr>
            <a:picLocks noChangeAspect="1"/>
          </p:cNvPicPr>
          <p:nvPr/>
        </p:nvPicPr>
        <p:blipFill>
          <a:blip r:embed="rId5"/>
          <a:stretch>
            <a:fillRect/>
          </a:stretch>
        </p:blipFill>
        <p:spPr>
          <a:xfrm>
            <a:off x="224789" y="2208160"/>
            <a:ext cx="5919940" cy="3337580"/>
          </a:xfrm>
          <a:prstGeom prst="rect">
            <a:avLst/>
          </a:prstGeom>
        </p:spPr>
      </p:pic>
      <p:sp>
        <p:nvSpPr>
          <p:cNvPr id="15" name="文本框 14">
            <a:extLst>
              <a:ext uri="{FF2B5EF4-FFF2-40B4-BE49-F238E27FC236}">
                <a16:creationId xmlns:a16="http://schemas.microsoft.com/office/drawing/2014/main" id="{FB29495C-FC96-C602-A1B8-65E47F927B07}"/>
              </a:ext>
            </a:extLst>
          </p:cNvPr>
          <p:cNvSpPr txBox="1"/>
          <p:nvPr/>
        </p:nvSpPr>
        <p:spPr>
          <a:xfrm>
            <a:off x="224789" y="6040422"/>
            <a:ext cx="5593450" cy="738664"/>
          </a:xfrm>
          <a:prstGeom prst="rect">
            <a:avLst/>
          </a:prstGeom>
          <a:noFill/>
        </p:spPr>
        <p:txBody>
          <a:bodyPr wrap="square">
            <a:spAutoFit/>
          </a:bodyPr>
          <a:lstStyle/>
          <a:p>
            <a:r>
              <a:rPr lang="zh-CN" altLang="en-US" sz="1400" b="0" i="0" dirty="0">
                <a:solidFill>
                  <a:srgbClr val="000000"/>
                </a:solidFill>
                <a:effectLst/>
                <a:latin typeface="-apple-system"/>
              </a:rPr>
              <a:t>​</a:t>
            </a:r>
            <a:r>
              <a:rPr lang="en-US" altLang="zh-CN" sz="1400" b="1" i="0" dirty="0">
                <a:solidFill>
                  <a:srgbClr val="000000"/>
                </a:solidFill>
                <a:effectLst/>
                <a:latin typeface="-apple-system"/>
              </a:rPr>
              <a:t>ADL</a:t>
            </a:r>
            <a:r>
              <a:rPr lang="zh-CN" altLang="en-US" sz="1400" b="1" i="0" dirty="0">
                <a:solidFill>
                  <a:srgbClr val="000000"/>
                </a:solidFill>
                <a:effectLst/>
                <a:latin typeface="-apple-system"/>
              </a:rPr>
              <a:t>（</a:t>
            </a:r>
            <a:r>
              <a:rPr lang="en-US" altLang="zh-CN" sz="1400" b="1" i="0" dirty="0">
                <a:solidFill>
                  <a:srgbClr val="000000"/>
                </a:solidFill>
                <a:effectLst/>
                <a:latin typeface="-apple-system"/>
              </a:rPr>
              <a:t>Activities of Daily Living</a:t>
            </a:r>
            <a:r>
              <a:rPr lang="zh-CN" altLang="en-US" sz="1400" b="1" i="0" dirty="0">
                <a:solidFill>
                  <a:srgbClr val="000000"/>
                </a:solidFill>
                <a:effectLst/>
                <a:latin typeface="-apple-system"/>
              </a:rPr>
              <a:t>，日常生活活动）​</a:t>
            </a:r>
            <a:r>
              <a:rPr lang="zh-CN" altLang="en-US" sz="1400" b="0" i="0" dirty="0">
                <a:solidFill>
                  <a:srgbClr val="000000"/>
                </a:solidFill>
                <a:effectLst/>
                <a:latin typeface="-apple-system"/>
              </a:rPr>
              <a:t>​：指日常人类活动，如行走、坐下、跌倒、捡东西等。本文基于</a:t>
            </a:r>
            <a:r>
              <a:rPr lang="en-US" altLang="zh-CN" sz="1400" b="0" i="0" dirty="0">
                <a:solidFill>
                  <a:srgbClr val="000000"/>
                </a:solidFill>
                <a:effectLst/>
                <a:latin typeface="-apple-system"/>
              </a:rPr>
              <a:t>ADL</a:t>
            </a:r>
            <a:r>
              <a:rPr lang="zh-CN" altLang="en-US" sz="1400" b="0" i="0" dirty="0">
                <a:solidFill>
                  <a:srgbClr val="000000"/>
                </a:solidFill>
                <a:effectLst/>
                <a:latin typeface="-apple-system"/>
              </a:rPr>
              <a:t>总结活动类型确保数据集全面覆盖真实家庭环境中的常见行为，减少检测盲点</a:t>
            </a:r>
            <a:endParaRPr lang="zh-CN" altLang="en-US" sz="1400" dirty="0"/>
          </a:p>
        </p:txBody>
      </p:sp>
      <p:sp>
        <p:nvSpPr>
          <p:cNvPr id="17" name="文本框 16">
            <a:extLst>
              <a:ext uri="{FF2B5EF4-FFF2-40B4-BE49-F238E27FC236}">
                <a16:creationId xmlns:a16="http://schemas.microsoft.com/office/drawing/2014/main" id="{82D63594-7899-F611-C608-FF350ABD79C9}"/>
              </a:ext>
            </a:extLst>
          </p:cNvPr>
          <p:cNvSpPr txBox="1"/>
          <p:nvPr/>
        </p:nvSpPr>
        <p:spPr>
          <a:xfrm>
            <a:off x="6041389" y="6094333"/>
            <a:ext cx="6146800" cy="738664"/>
          </a:xfrm>
          <a:prstGeom prst="rect">
            <a:avLst/>
          </a:prstGeom>
          <a:noFill/>
        </p:spPr>
        <p:txBody>
          <a:bodyPr wrap="square">
            <a:spAutoFit/>
          </a:bodyPr>
          <a:lstStyle/>
          <a:p>
            <a:r>
              <a:rPr lang="zh-CN" altLang="en-US" sz="1400" b="1" i="0" dirty="0">
                <a:solidFill>
                  <a:srgbClr val="000000"/>
                </a:solidFill>
                <a:effectLst/>
                <a:latin typeface="-apple-system"/>
              </a:rPr>
              <a:t>地面真值（</a:t>
            </a:r>
            <a:r>
              <a:rPr lang="en-US" altLang="zh-CN" sz="1400" b="1" i="0" dirty="0">
                <a:solidFill>
                  <a:srgbClr val="000000"/>
                </a:solidFill>
                <a:effectLst/>
                <a:latin typeface="-apple-system"/>
              </a:rPr>
              <a:t>Ground Truth</a:t>
            </a:r>
            <a:r>
              <a:rPr lang="zh-CN" altLang="en-US" sz="1400" b="1" i="0" dirty="0">
                <a:solidFill>
                  <a:srgbClr val="000000"/>
                </a:solidFill>
                <a:effectLst/>
                <a:latin typeface="-apple-system"/>
              </a:rPr>
              <a:t>）​</a:t>
            </a:r>
            <a:r>
              <a:rPr lang="zh-CN" altLang="en-US" sz="1400" b="0" i="0" dirty="0">
                <a:solidFill>
                  <a:srgbClr val="000000"/>
                </a:solidFill>
                <a:effectLst/>
                <a:latin typeface="-apple-system"/>
              </a:rPr>
              <a:t>​：通过摄像头记录的视频数据，作为活动标签的参考标准，用于训练和测试系统的准确性。视频提供视觉确认，确保数据标注可靠</a:t>
            </a:r>
            <a:endParaRPr lang="zh-CN" altLang="en-US" sz="1400" dirty="0"/>
          </a:p>
        </p:txBody>
      </p:sp>
      <p:sp>
        <p:nvSpPr>
          <p:cNvPr id="9" name="文本框 8">
            <a:extLst>
              <a:ext uri="{FF2B5EF4-FFF2-40B4-BE49-F238E27FC236}">
                <a16:creationId xmlns:a16="http://schemas.microsoft.com/office/drawing/2014/main" id="{B29A5734-A13C-62D6-47D9-9C6C2929EBCC}"/>
              </a:ext>
            </a:extLst>
          </p:cNvPr>
          <p:cNvSpPr txBox="1"/>
          <p:nvPr/>
        </p:nvSpPr>
        <p:spPr>
          <a:xfrm>
            <a:off x="6145406" y="1372885"/>
            <a:ext cx="5870534" cy="4524315"/>
          </a:xfrm>
          <a:prstGeom prst="rect">
            <a:avLst/>
          </a:prstGeom>
          <a:noFill/>
        </p:spPr>
        <p:txBody>
          <a:bodyPr wrap="square">
            <a:spAutoFit/>
          </a:bodyPr>
          <a:lstStyle/>
          <a:p>
            <a:r>
              <a:rPr lang="zh-CN" altLang="en-US" dirty="0">
                <a:solidFill>
                  <a:srgbClr val="000000"/>
                </a:solidFill>
                <a:latin typeface="Helvetica Neue"/>
              </a:rPr>
              <a:t>实验的数据收集配置</a:t>
            </a:r>
            <a:r>
              <a:rPr lang="en-US" altLang="zh-CN" dirty="0">
                <a:solidFill>
                  <a:srgbClr val="000000"/>
                </a:solidFill>
                <a:latin typeface="Helvetica Neue"/>
              </a:rPr>
              <a:t>:</a:t>
            </a:r>
            <a:endParaRPr lang="en-US" altLang="zh-CN" dirty="0"/>
          </a:p>
          <a:p>
            <a:r>
              <a:rPr lang="en-US" altLang="zh-CN" dirty="0"/>
              <a:t>1.  </a:t>
            </a:r>
            <a:r>
              <a:rPr lang="en-US" altLang="zh-CN" dirty="0" err="1"/>
              <a:t>WiFi</a:t>
            </a:r>
            <a:r>
              <a:rPr lang="zh-CN" altLang="en-US" dirty="0"/>
              <a:t>网络</a:t>
            </a:r>
            <a:r>
              <a:rPr lang="en-US" altLang="zh-CN" b="1" dirty="0"/>
              <a:t>802.11n</a:t>
            </a:r>
          </a:p>
          <a:p>
            <a:r>
              <a:rPr lang="zh-CN" altLang="en-US" dirty="0"/>
              <a:t>配备有</a:t>
            </a:r>
            <a:r>
              <a:rPr lang="en-US" altLang="zh-CN" b="1" dirty="0"/>
              <a:t>Intel Link 5,300</a:t>
            </a:r>
            <a:r>
              <a:rPr lang="zh-CN" altLang="en-US" b="1" dirty="0"/>
              <a:t> </a:t>
            </a:r>
            <a:r>
              <a:rPr lang="en-US" altLang="zh-CN" b="1" dirty="0"/>
              <a:t>Card</a:t>
            </a:r>
            <a:r>
              <a:rPr lang="zh-CN" altLang="en-US" dirty="0"/>
              <a:t>和两个内部天线的</a:t>
            </a:r>
            <a:r>
              <a:rPr lang="zh-CN" altLang="en-US" b="1" dirty="0"/>
              <a:t>无线信号设备</a:t>
            </a:r>
            <a:r>
              <a:rPr lang="zh-CN" altLang="en-US" dirty="0"/>
              <a:t>（笔记本电脑或迷你电脑）</a:t>
            </a:r>
            <a:endParaRPr lang="en-US" altLang="zh-CN" dirty="0"/>
          </a:p>
          <a:p>
            <a:r>
              <a:rPr lang="en-US" altLang="zh-CN" dirty="0"/>
              <a:t>2.  TP-Link WDR5300</a:t>
            </a:r>
            <a:r>
              <a:rPr lang="zh-CN" altLang="en-US" dirty="0"/>
              <a:t>路由器，运行在</a:t>
            </a:r>
            <a:r>
              <a:rPr lang="en-US" altLang="zh-CN" dirty="0"/>
              <a:t>5 GHz</a:t>
            </a:r>
          </a:p>
          <a:p>
            <a:r>
              <a:rPr lang="zh-CN" altLang="en-US" dirty="0"/>
              <a:t>设置包传输速率为</a:t>
            </a:r>
            <a:r>
              <a:rPr lang="en-US" altLang="zh-CN" b="1" dirty="0"/>
              <a:t>100 pkts/s</a:t>
            </a:r>
          </a:p>
          <a:p>
            <a:r>
              <a:rPr lang="en-US" altLang="zh-CN" dirty="0"/>
              <a:t>3. </a:t>
            </a:r>
            <a:r>
              <a:rPr lang="en-US" altLang="zh-CN" b="1" dirty="0"/>
              <a:t>RT-Fall</a:t>
            </a:r>
            <a:r>
              <a:rPr lang="zh-CN" altLang="en-US" b="1" dirty="0"/>
              <a:t>系统软件的用户界面</a:t>
            </a:r>
            <a:r>
              <a:rPr lang="en-US" altLang="zh-CN" b="1" dirty="0"/>
              <a:t>:</a:t>
            </a:r>
          </a:p>
          <a:p>
            <a:r>
              <a:rPr lang="zh-CN" altLang="en-US" dirty="0"/>
              <a:t>在线显示</a:t>
            </a:r>
            <a:r>
              <a:rPr lang="zh-CN" altLang="en-US" b="1" dirty="0"/>
              <a:t>实时视频</a:t>
            </a:r>
            <a:r>
              <a:rPr lang="zh-CN" altLang="en-US" dirty="0"/>
              <a:t>、</a:t>
            </a:r>
            <a:r>
              <a:rPr lang="en-US" altLang="zh-CN" b="1" dirty="0"/>
              <a:t>CSI</a:t>
            </a:r>
            <a:r>
              <a:rPr lang="zh-CN" altLang="en-US" b="1" dirty="0"/>
              <a:t>振幅和相位差数据</a:t>
            </a:r>
            <a:r>
              <a:rPr lang="zh-CN" altLang="en-US" dirty="0"/>
              <a:t>、</a:t>
            </a:r>
            <a:r>
              <a:rPr lang="zh-CN" altLang="en-US" b="1" dirty="0"/>
              <a:t>分割</a:t>
            </a:r>
            <a:r>
              <a:rPr lang="zh-CN" altLang="en-US" dirty="0"/>
              <a:t>的活动</a:t>
            </a:r>
            <a:r>
              <a:rPr lang="zh-CN" altLang="en-US" b="1" dirty="0"/>
              <a:t>流</a:t>
            </a:r>
            <a:r>
              <a:rPr lang="zh-CN" altLang="en-US" dirty="0"/>
              <a:t>以及</a:t>
            </a:r>
            <a:r>
              <a:rPr lang="zh-CN" altLang="en-US" b="1" dirty="0"/>
              <a:t>检测结果</a:t>
            </a:r>
            <a:r>
              <a:rPr lang="zh-CN" altLang="en-US" dirty="0"/>
              <a:t>，并实时报告结果。</a:t>
            </a:r>
            <a:endParaRPr lang="en-US" altLang="zh-CN" dirty="0"/>
          </a:p>
          <a:p>
            <a:r>
              <a:rPr lang="zh-CN" altLang="en-US" dirty="0"/>
              <a:t>视频额外提供</a:t>
            </a:r>
            <a:r>
              <a:rPr lang="zh-CN" altLang="en-US" b="1" dirty="0"/>
              <a:t>地面真值</a:t>
            </a:r>
            <a:r>
              <a:rPr lang="zh-CN" altLang="en-US" dirty="0"/>
              <a:t>，</a:t>
            </a:r>
            <a:r>
              <a:rPr lang="zh-CN" altLang="en-US" dirty="0">
                <a:solidFill>
                  <a:srgbClr val="000000"/>
                </a:solidFill>
                <a:latin typeface="-apple-system"/>
              </a:rPr>
              <a:t>提供视觉确认，确保数据标注可靠</a:t>
            </a:r>
            <a:endParaRPr lang="en-US" altLang="zh-CN" dirty="0">
              <a:solidFill>
                <a:srgbClr val="000000"/>
              </a:solidFill>
              <a:latin typeface="-apple-system"/>
            </a:endParaRPr>
          </a:p>
          <a:p>
            <a:r>
              <a:rPr lang="en-US" altLang="zh-CN" dirty="0">
                <a:solidFill>
                  <a:srgbClr val="000000"/>
                </a:solidFill>
                <a:latin typeface="-apple-system"/>
              </a:rPr>
              <a:t>4.</a:t>
            </a:r>
            <a:r>
              <a:rPr lang="zh-CN" altLang="zh-CN" dirty="0">
                <a:ea typeface="等线" panose="02010600030101010101" pitchFamily="2" charset="-122"/>
                <a:cs typeface="Times New Roman" panose="02020603050405020304" pitchFamily="18" charset="0"/>
              </a:rPr>
              <a:t>招募</a:t>
            </a:r>
            <a:r>
              <a:rPr lang="en-US" altLang="zh-CN" b="1" dirty="0">
                <a:ea typeface="等线" panose="02010600030101010101" pitchFamily="2" charset="-122"/>
                <a:cs typeface="Times New Roman" panose="02020603050405020304" pitchFamily="18" charset="0"/>
              </a:rPr>
              <a:t>6</a:t>
            </a:r>
            <a:r>
              <a:rPr lang="zh-CN" altLang="zh-CN" b="1" dirty="0">
                <a:ea typeface="等线" panose="02010600030101010101" pitchFamily="2" charset="-122"/>
                <a:cs typeface="Times New Roman" panose="02020603050405020304" pitchFamily="18" charset="0"/>
              </a:rPr>
              <a:t>名志愿者</a:t>
            </a:r>
            <a:r>
              <a:rPr lang="zh-CN" altLang="zh-CN" dirty="0">
                <a:ea typeface="等线" panose="02010600030101010101" pitchFamily="2" charset="-122"/>
                <a:cs typeface="Times New Roman" panose="02020603050405020304" pitchFamily="18" charset="0"/>
              </a:rPr>
              <a:t>（年龄</a:t>
            </a:r>
            <a:r>
              <a:rPr lang="en-US" altLang="zh-CN" dirty="0">
                <a:ea typeface="等线" panose="02010600030101010101" pitchFamily="2" charset="-122"/>
                <a:cs typeface="Times New Roman" panose="02020603050405020304" pitchFamily="18" charset="0"/>
              </a:rPr>
              <a:t>21-32</a:t>
            </a:r>
            <a:r>
              <a:rPr lang="zh-CN" altLang="zh-CN" dirty="0">
                <a:ea typeface="等线" panose="02010600030101010101" pitchFamily="2" charset="-122"/>
                <a:cs typeface="Times New Roman" panose="02020603050405020304" pitchFamily="18" charset="0"/>
              </a:rPr>
              <a:t>岁，身高</a:t>
            </a:r>
            <a:r>
              <a:rPr lang="en-US" altLang="zh-CN" dirty="0">
                <a:ea typeface="等线" panose="02010600030101010101" pitchFamily="2" charset="-122"/>
                <a:cs typeface="Times New Roman" panose="02020603050405020304" pitchFamily="18" charset="0"/>
              </a:rPr>
              <a:t>1.6-1.83m</a:t>
            </a:r>
            <a:r>
              <a:rPr lang="zh-CN" altLang="zh-CN" dirty="0">
                <a:ea typeface="等线" panose="02010600030101010101" pitchFamily="2" charset="-122"/>
                <a:cs typeface="Times New Roman" panose="02020603050405020304" pitchFamily="18" charset="0"/>
              </a:rPr>
              <a:t>），在</a:t>
            </a:r>
            <a:r>
              <a:rPr lang="zh-CN" altLang="zh-CN" b="1" dirty="0">
                <a:ea typeface="等线" panose="02010600030101010101" pitchFamily="2" charset="-122"/>
                <a:cs typeface="Times New Roman" panose="02020603050405020304" pitchFamily="18" charset="0"/>
              </a:rPr>
              <a:t>两个月</a:t>
            </a:r>
            <a:r>
              <a:rPr lang="zh-CN" altLang="zh-CN" dirty="0">
                <a:ea typeface="等线" panose="02010600030101010101" pitchFamily="2" charset="-122"/>
                <a:cs typeface="Times New Roman" panose="02020603050405020304" pitchFamily="18" charset="0"/>
              </a:rPr>
              <a:t>内于</a:t>
            </a:r>
            <a:r>
              <a:rPr lang="zh-CN" altLang="zh-CN" b="1" dirty="0">
                <a:ea typeface="等线" panose="02010600030101010101" pitchFamily="2" charset="-122"/>
                <a:cs typeface="Times New Roman" panose="02020603050405020304" pitchFamily="18" charset="0"/>
              </a:rPr>
              <a:t>四种环境</a:t>
            </a:r>
            <a:r>
              <a:rPr lang="zh-CN" altLang="zh-CN" dirty="0">
                <a:ea typeface="等线" panose="02010600030101010101" pitchFamily="2" charset="-122"/>
                <a:cs typeface="Times New Roman" panose="02020603050405020304" pitchFamily="18" charset="0"/>
              </a:rPr>
              <a:t>中执行活动基于</a:t>
            </a:r>
            <a:r>
              <a:rPr lang="zh-CN" altLang="zh-CN" b="1" dirty="0">
                <a:ea typeface="等线" panose="02010600030101010101" pitchFamily="2" charset="-122"/>
                <a:cs typeface="Times New Roman" panose="02020603050405020304" pitchFamily="18" charset="0"/>
              </a:rPr>
              <a:t>日常生活活动（</a:t>
            </a:r>
            <a:r>
              <a:rPr lang="en-US" altLang="zh-CN" b="1" dirty="0">
                <a:ea typeface="等线" panose="02010600030101010101" pitchFamily="2" charset="-122"/>
                <a:cs typeface="Times New Roman" panose="02020603050405020304" pitchFamily="18" charset="0"/>
              </a:rPr>
              <a:t>ADL</a:t>
            </a:r>
            <a:r>
              <a:rPr lang="zh-CN" altLang="zh-CN" b="1" dirty="0">
                <a:ea typeface="等线" panose="02010600030101010101" pitchFamily="2" charset="-122"/>
                <a:cs typeface="Times New Roman" panose="02020603050405020304" pitchFamily="18" charset="0"/>
              </a:rPr>
              <a:t>）</a:t>
            </a:r>
            <a:r>
              <a:rPr lang="zh-CN" altLang="zh-CN" dirty="0">
                <a:ea typeface="等线" panose="02010600030101010101" pitchFamily="2" charset="-122"/>
                <a:cs typeface="Times New Roman" panose="02020603050405020304" pitchFamily="18" charset="0"/>
              </a:rPr>
              <a:t>总结</a:t>
            </a:r>
            <a:r>
              <a:rPr lang="zh-CN" altLang="en-US" dirty="0">
                <a:ea typeface="等线" panose="02010600030101010101" pitchFamily="2" charset="-122"/>
                <a:cs typeface="Times New Roman" panose="02020603050405020304" pitchFamily="18" charset="0"/>
              </a:rPr>
              <a:t>的</a:t>
            </a:r>
            <a:r>
              <a:rPr lang="zh-CN" altLang="zh-CN" dirty="0">
                <a:ea typeface="等线" panose="02010600030101010101" pitchFamily="2" charset="-122"/>
                <a:cs typeface="Times New Roman" panose="02020603050405020304" pitchFamily="18" charset="0"/>
              </a:rPr>
              <a:t>各种</a:t>
            </a:r>
            <a:r>
              <a:rPr lang="zh-CN" altLang="en-US" b="1" dirty="0">
                <a:ea typeface="等线" panose="02010600030101010101" pitchFamily="2" charset="-122"/>
                <a:cs typeface="Times New Roman" panose="02020603050405020304" pitchFamily="18" charset="0"/>
              </a:rPr>
              <a:t>连续</a:t>
            </a:r>
            <a:r>
              <a:rPr lang="zh-CN" altLang="en-US" dirty="0">
                <a:ea typeface="等线" panose="02010600030101010101" pitchFamily="2" charset="-122"/>
                <a:cs typeface="Times New Roman" panose="02020603050405020304" pitchFamily="18" charset="0"/>
              </a:rPr>
              <a:t>的</a:t>
            </a:r>
            <a:r>
              <a:rPr lang="zh-CN" altLang="zh-CN" dirty="0">
                <a:ea typeface="等线" panose="02010600030101010101" pitchFamily="2" charset="-122"/>
                <a:cs typeface="Times New Roman" panose="02020603050405020304" pitchFamily="18" charset="0"/>
              </a:rPr>
              <a:t>日常活动，包括</a:t>
            </a:r>
            <a:r>
              <a:rPr lang="zh-CN" altLang="zh-CN" b="1" dirty="0">
                <a:ea typeface="等线" panose="02010600030101010101" pitchFamily="2" charset="-122"/>
                <a:cs typeface="Times New Roman" panose="02020603050405020304" pitchFamily="18" charset="0"/>
              </a:rPr>
              <a:t>跌倒</a:t>
            </a:r>
            <a:r>
              <a:rPr lang="zh-CN" altLang="zh-CN" dirty="0">
                <a:ea typeface="等线" panose="02010600030101010101" pitchFamily="2" charset="-122"/>
                <a:cs typeface="Times New Roman" panose="02020603050405020304" pitchFamily="18" charset="0"/>
              </a:rPr>
              <a:t>、</a:t>
            </a:r>
            <a:r>
              <a:rPr lang="zh-CN" altLang="zh-CN" b="1" dirty="0">
                <a:ea typeface="等线" panose="02010600030101010101" pitchFamily="2" charset="-122"/>
                <a:cs typeface="Times New Roman" panose="02020603050405020304" pitchFamily="18" charset="0"/>
              </a:rPr>
              <a:t>跌倒类似活动</a:t>
            </a:r>
            <a:r>
              <a:rPr lang="zh-CN" altLang="zh-CN" dirty="0">
                <a:ea typeface="等线" panose="02010600030101010101" pitchFamily="2" charset="-122"/>
                <a:cs typeface="Times New Roman" panose="02020603050405020304" pitchFamily="18" charset="0"/>
              </a:rPr>
              <a:t>和</a:t>
            </a:r>
            <a:r>
              <a:rPr lang="zh-CN" altLang="zh-CN" b="1" dirty="0">
                <a:ea typeface="等线" panose="02010600030101010101" pitchFamily="2" charset="-122"/>
                <a:cs typeface="Times New Roman" panose="02020603050405020304" pitchFamily="18" charset="0"/>
              </a:rPr>
              <a:t>其他活动</a:t>
            </a:r>
            <a:r>
              <a:rPr lang="zh-CN" altLang="zh-CN" dirty="0">
                <a:ea typeface="等线" panose="02010600030101010101" pitchFamily="2" charset="-122"/>
                <a:cs typeface="Times New Roman" panose="02020603050405020304" pitchFamily="18" charset="0"/>
              </a:rPr>
              <a:t>（如行走、跑步）。</a:t>
            </a:r>
            <a:endParaRPr lang="zh-CN" altLang="en-US" dirty="0">
              <a:ea typeface="等线" panose="02010600030101010101" pitchFamily="2" charset="-122"/>
              <a:cs typeface="Times New Roman" panose="02020603050405020304" pitchFamily="18" charset="0"/>
            </a:endParaRPr>
          </a:p>
          <a:p>
            <a:endParaRPr lang="en-US" altLang="zh-CN" dirty="0"/>
          </a:p>
        </p:txBody>
      </p:sp>
    </p:spTree>
    <p:custDataLst>
      <p:tags r:id="rId1"/>
    </p:custDataLst>
    <p:extLst>
      <p:ext uri="{BB962C8B-B14F-4D97-AF65-F5344CB8AC3E}">
        <p14:creationId xmlns:p14="http://schemas.microsoft.com/office/powerpoint/2010/main" val="7948184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303E4-D09E-6FAD-4605-D8E2A4D7C447}"/>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96A32E5B-5A14-5134-AF1F-3E19EB7EC402}"/>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A2B87351-AE21-8E3A-5E67-5A2FEF436BD9}"/>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152EBA61-2214-4BCA-5E75-0CDABB8AD932}"/>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A0E1426D-9AA9-C273-3758-5C90ADF3FCE3}"/>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E2F51142-8C65-085D-4182-6D9AB555D2A1}"/>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评估</a:t>
            </a:r>
          </a:p>
        </p:txBody>
      </p:sp>
      <p:sp>
        <p:nvSpPr>
          <p:cNvPr id="4" name="文本框 3">
            <a:extLst>
              <a:ext uri="{FF2B5EF4-FFF2-40B4-BE49-F238E27FC236}">
                <a16:creationId xmlns:a16="http://schemas.microsoft.com/office/drawing/2014/main" id="{24CA8FF8-3BFD-ADED-D30E-91DC0B0D9F27}"/>
              </a:ext>
            </a:extLst>
          </p:cNvPr>
          <p:cNvSpPr txBox="1"/>
          <p:nvPr/>
        </p:nvSpPr>
        <p:spPr>
          <a:xfrm>
            <a:off x="279400" y="1133000"/>
            <a:ext cx="6096000" cy="461665"/>
          </a:xfrm>
          <a:prstGeom prst="rect">
            <a:avLst/>
          </a:prstGeom>
          <a:noFill/>
        </p:spPr>
        <p:txBody>
          <a:bodyPr wrap="square">
            <a:spAutoFit/>
          </a:bodyPr>
          <a:lstStyle/>
          <a:p>
            <a:r>
              <a:rPr lang="en-US" altLang="zh-CN" sz="2400" b="1" dirty="0">
                <a:solidFill>
                  <a:srgbClr val="000000"/>
                </a:solidFill>
                <a:latin typeface="Helvetica Neue"/>
              </a:rPr>
              <a:t>6.3</a:t>
            </a:r>
            <a:r>
              <a:rPr lang="zh-CN" altLang="en-US" sz="2400" b="1" dirty="0">
                <a:solidFill>
                  <a:srgbClr val="000000"/>
                </a:solidFill>
                <a:latin typeface="Helvetica Neue"/>
              </a:rPr>
              <a:t>基线方法和性能指标</a:t>
            </a:r>
          </a:p>
        </p:txBody>
      </p:sp>
      <p:sp>
        <p:nvSpPr>
          <p:cNvPr id="6" name="文本框 5">
            <a:extLst>
              <a:ext uri="{FF2B5EF4-FFF2-40B4-BE49-F238E27FC236}">
                <a16:creationId xmlns:a16="http://schemas.microsoft.com/office/drawing/2014/main" id="{D7CFF99C-AC34-9B2A-C23A-E0A549BE6E6E}"/>
              </a:ext>
            </a:extLst>
          </p:cNvPr>
          <p:cNvSpPr txBox="1"/>
          <p:nvPr/>
        </p:nvSpPr>
        <p:spPr>
          <a:xfrm>
            <a:off x="279400" y="1798045"/>
            <a:ext cx="6096000" cy="369332"/>
          </a:xfrm>
          <a:prstGeom prst="rect">
            <a:avLst/>
          </a:prstGeom>
          <a:noFill/>
        </p:spPr>
        <p:txBody>
          <a:bodyPr wrap="square">
            <a:spAutoFit/>
          </a:bodyPr>
          <a:lstStyle/>
          <a:p>
            <a:r>
              <a:rPr lang="zh-CN" altLang="en-US" b="1" dirty="0"/>
              <a:t>定义</a:t>
            </a:r>
            <a:endParaRPr lang="zh-CN" altLang="en-US" b="1" i="0" dirty="0">
              <a:solidFill>
                <a:srgbClr val="000000"/>
              </a:solidFill>
              <a:effectLst/>
              <a:latin typeface="Helvetica Neue"/>
            </a:endParaRPr>
          </a:p>
        </p:txBody>
      </p:sp>
      <p:sp>
        <p:nvSpPr>
          <p:cNvPr id="11" name="文本框 10">
            <a:extLst>
              <a:ext uri="{FF2B5EF4-FFF2-40B4-BE49-F238E27FC236}">
                <a16:creationId xmlns:a16="http://schemas.microsoft.com/office/drawing/2014/main" id="{2AF12BD8-E29A-4DD4-0AD9-B2EDEDA9641C}"/>
              </a:ext>
            </a:extLst>
          </p:cNvPr>
          <p:cNvSpPr txBox="1"/>
          <p:nvPr/>
        </p:nvSpPr>
        <p:spPr>
          <a:xfrm>
            <a:off x="5016664" y="1558915"/>
            <a:ext cx="6096000" cy="646331"/>
          </a:xfrm>
          <a:prstGeom prst="rect">
            <a:avLst/>
          </a:prstGeom>
          <a:noFill/>
        </p:spPr>
        <p:txBody>
          <a:bodyPr wrap="square">
            <a:spAutoFit/>
          </a:bodyPr>
          <a:lstStyle/>
          <a:p>
            <a:r>
              <a:rPr lang="zh-CN" altLang="en-US" dirty="0"/>
              <a:t>定义了用于评估</a:t>
            </a:r>
            <a:r>
              <a:rPr lang="en-US" altLang="zh-CN" dirty="0"/>
              <a:t>RT-Fall</a:t>
            </a:r>
            <a:r>
              <a:rPr lang="zh-CN" altLang="en-US" dirty="0"/>
              <a:t>系统的基线方法（</a:t>
            </a:r>
            <a:r>
              <a:rPr lang="en-US" altLang="zh-CN" dirty="0" err="1"/>
              <a:t>WiFall</a:t>
            </a:r>
            <a:r>
              <a:rPr lang="zh-CN" altLang="en-US" dirty="0"/>
              <a:t>）和性能指标（敏感性和特异性）</a:t>
            </a:r>
            <a:r>
              <a:rPr lang="en-US" altLang="zh-CN" dirty="0"/>
              <a:t>,</a:t>
            </a:r>
            <a:r>
              <a:rPr lang="zh-CN" altLang="en-US" dirty="0"/>
              <a:t>用于评估</a:t>
            </a:r>
            <a:r>
              <a:rPr lang="en-US" altLang="zh-CN" dirty="0"/>
              <a:t>RT-Fall</a:t>
            </a:r>
            <a:r>
              <a:rPr lang="zh-CN" altLang="en-US" dirty="0"/>
              <a:t>系统。</a:t>
            </a:r>
            <a:endParaRPr lang="zh-CN" altLang="zh-CN" dirty="0"/>
          </a:p>
        </p:txBody>
      </p:sp>
      <p:sp>
        <p:nvSpPr>
          <p:cNvPr id="15" name="文本框 14">
            <a:extLst>
              <a:ext uri="{FF2B5EF4-FFF2-40B4-BE49-F238E27FC236}">
                <a16:creationId xmlns:a16="http://schemas.microsoft.com/office/drawing/2014/main" id="{5CA14C0A-EF82-D311-04B9-B5CFBCF76193}"/>
              </a:ext>
            </a:extLst>
          </p:cNvPr>
          <p:cNvSpPr txBox="1"/>
          <p:nvPr/>
        </p:nvSpPr>
        <p:spPr>
          <a:xfrm>
            <a:off x="224789" y="5632667"/>
            <a:ext cx="5870893" cy="369332"/>
          </a:xfrm>
          <a:prstGeom prst="rect">
            <a:avLst/>
          </a:prstGeom>
          <a:noFill/>
        </p:spPr>
        <p:txBody>
          <a:bodyPr wrap="square">
            <a:spAutoFit/>
          </a:bodyPr>
          <a:lstStyle/>
          <a:p>
            <a:r>
              <a:rPr lang="zh-CN" altLang="en-US" b="0" i="0" dirty="0">
                <a:solidFill>
                  <a:srgbClr val="000000"/>
                </a:solidFill>
                <a:effectLst/>
                <a:latin typeface="-apple-system"/>
              </a:rPr>
              <a:t>​</a:t>
            </a:r>
            <a:endParaRPr lang="zh-CN" altLang="en-US" dirty="0"/>
          </a:p>
        </p:txBody>
      </p:sp>
      <p:sp>
        <p:nvSpPr>
          <p:cNvPr id="16" name="文本框 15">
            <a:extLst>
              <a:ext uri="{FF2B5EF4-FFF2-40B4-BE49-F238E27FC236}">
                <a16:creationId xmlns:a16="http://schemas.microsoft.com/office/drawing/2014/main" id="{60995B70-B902-AC6B-A51F-0ECF3142D34A}"/>
              </a:ext>
            </a:extLst>
          </p:cNvPr>
          <p:cNvSpPr txBox="1"/>
          <p:nvPr/>
        </p:nvSpPr>
        <p:spPr>
          <a:xfrm>
            <a:off x="3327400" y="5345251"/>
            <a:ext cx="6203950" cy="1200329"/>
          </a:xfrm>
          <a:prstGeom prst="rect">
            <a:avLst/>
          </a:prstGeom>
          <a:noFill/>
        </p:spPr>
        <p:txBody>
          <a:bodyPr wrap="square">
            <a:spAutoFit/>
          </a:bodyPr>
          <a:lstStyle/>
          <a:p>
            <a:r>
              <a:rPr lang="zh-CN" altLang="en-US" b="1" dirty="0"/>
              <a:t>性能指标（敏感性和特异性）</a:t>
            </a:r>
            <a:r>
              <a:rPr lang="en-US" altLang="zh-CN" b="1" dirty="0"/>
              <a:t>:</a:t>
            </a:r>
            <a:r>
              <a:rPr lang="zh-CN" altLang="en-US" dirty="0"/>
              <a:t>基于</a:t>
            </a:r>
            <a:r>
              <a:rPr lang="zh-CN" altLang="en-US" b="1" dirty="0"/>
              <a:t>混淆矩阵</a:t>
            </a:r>
            <a:r>
              <a:rPr lang="zh-CN" altLang="en-US" dirty="0"/>
              <a:t>（</a:t>
            </a:r>
            <a:r>
              <a:rPr lang="en-US" altLang="zh-CN" dirty="0"/>
              <a:t>Confusion Matrix</a:t>
            </a:r>
            <a:r>
              <a:rPr lang="zh-CN" altLang="en-US" dirty="0"/>
              <a:t>）计算</a:t>
            </a:r>
            <a:r>
              <a:rPr lang="en-US" altLang="zh-CN" dirty="0"/>
              <a:t>,</a:t>
            </a:r>
          </a:p>
          <a:p>
            <a:r>
              <a:rPr lang="zh-CN" altLang="en-US" b="1" dirty="0">
                <a:solidFill>
                  <a:srgbClr val="000000"/>
                </a:solidFill>
                <a:latin typeface="-apple-system"/>
              </a:rPr>
              <a:t>敏感性</a:t>
            </a:r>
            <a:r>
              <a:rPr lang="en-US" altLang="zh-CN" b="1" dirty="0">
                <a:solidFill>
                  <a:srgbClr val="000000"/>
                </a:solidFill>
                <a:latin typeface="-apple-system"/>
              </a:rPr>
              <a:t>=TP/(TP+FN),</a:t>
            </a:r>
            <a:r>
              <a:rPr lang="zh-CN" altLang="en-US" dirty="0">
                <a:solidFill>
                  <a:srgbClr val="000000"/>
                </a:solidFill>
                <a:latin typeface="-apple-system"/>
              </a:rPr>
              <a:t>正确检测跌倒的性能</a:t>
            </a:r>
            <a:endParaRPr lang="en-US" altLang="zh-CN" dirty="0">
              <a:solidFill>
                <a:srgbClr val="000000"/>
              </a:solidFill>
              <a:latin typeface="-apple-system"/>
            </a:endParaRPr>
          </a:p>
          <a:p>
            <a:r>
              <a:rPr lang="zh-CN" altLang="en-US" b="1" dirty="0">
                <a:solidFill>
                  <a:srgbClr val="000000"/>
                </a:solidFill>
                <a:latin typeface="-apple-system"/>
              </a:rPr>
              <a:t>特异性</a:t>
            </a:r>
            <a:r>
              <a:rPr lang="en-US" altLang="zh-CN" b="1" dirty="0">
                <a:solidFill>
                  <a:srgbClr val="000000"/>
                </a:solidFill>
                <a:latin typeface="-apple-system"/>
              </a:rPr>
              <a:t>=TN/(TN+FP),</a:t>
            </a:r>
            <a:r>
              <a:rPr lang="zh-CN" altLang="en-US" dirty="0">
                <a:solidFill>
                  <a:srgbClr val="000000"/>
                </a:solidFill>
                <a:latin typeface="-apple-system"/>
              </a:rPr>
              <a:t>正确排除非跌倒的性能</a:t>
            </a:r>
            <a:endParaRPr lang="zh-CN" altLang="en-US" dirty="0"/>
          </a:p>
        </p:txBody>
      </p:sp>
      <p:pic>
        <p:nvPicPr>
          <p:cNvPr id="19" name="图片 18">
            <a:extLst>
              <a:ext uri="{FF2B5EF4-FFF2-40B4-BE49-F238E27FC236}">
                <a16:creationId xmlns:a16="http://schemas.microsoft.com/office/drawing/2014/main" id="{691FB76B-7F5C-A48E-D44C-FB2E0B19BF1E}"/>
              </a:ext>
            </a:extLst>
          </p:cNvPr>
          <p:cNvPicPr>
            <a:picLocks noChangeAspect="1"/>
          </p:cNvPicPr>
          <p:nvPr/>
        </p:nvPicPr>
        <p:blipFill>
          <a:blip r:embed="rId5"/>
          <a:stretch>
            <a:fillRect/>
          </a:stretch>
        </p:blipFill>
        <p:spPr>
          <a:xfrm>
            <a:off x="279400" y="2375389"/>
            <a:ext cx="11737648" cy="2434074"/>
          </a:xfrm>
          <a:prstGeom prst="rect">
            <a:avLst/>
          </a:prstGeom>
        </p:spPr>
      </p:pic>
      <p:sp>
        <p:nvSpPr>
          <p:cNvPr id="28" name="箭头: 右 27">
            <a:extLst>
              <a:ext uri="{FF2B5EF4-FFF2-40B4-BE49-F238E27FC236}">
                <a16:creationId xmlns:a16="http://schemas.microsoft.com/office/drawing/2014/main" id="{397C3C0B-6F0B-A21A-1D80-1AA325232841}"/>
              </a:ext>
            </a:extLst>
          </p:cNvPr>
          <p:cNvSpPr/>
          <p:nvPr/>
        </p:nvSpPr>
        <p:spPr>
          <a:xfrm rot="19224072">
            <a:off x="2441141" y="2896216"/>
            <a:ext cx="762000" cy="139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F0ABF9C0-0AEC-DA14-A2C7-40E1939F2A82}"/>
              </a:ext>
            </a:extLst>
          </p:cNvPr>
          <p:cNvSpPr txBox="1"/>
          <p:nvPr/>
        </p:nvSpPr>
        <p:spPr>
          <a:xfrm>
            <a:off x="4678680" y="4780548"/>
            <a:ext cx="6172200" cy="369332"/>
          </a:xfrm>
          <a:prstGeom prst="rect">
            <a:avLst/>
          </a:prstGeom>
          <a:noFill/>
        </p:spPr>
        <p:txBody>
          <a:bodyPr wrap="square">
            <a:spAutoFit/>
          </a:bodyPr>
          <a:lstStyle/>
          <a:p>
            <a:r>
              <a:rPr lang="zh-CN" altLang="en-US" b="1" i="0" dirty="0">
                <a:solidFill>
                  <a:srgbClr val="000000"/>
                </a:solidFill>
                <a:effectLst/>
                <a:latin typeface="-apple-system"/>
              </a:rPr>
              <a:t>混淆矩阵</a:t>
            </a:r>
            <a:r>
              <a:rPr lang="zh-CN" altLang="en-US" b="0" i="0" dirty="0">
                <a:solidFill>
                  <a:srgbClr val="000000"/>
                </a:solidFill>
                <a:effectLst/>
                <a:latin typeface="-apple-system"/>
              </a:rPr>
              <a:t>的示意图</a:t>
            </a:r>
            <a:endParaRPr lang="en-US" altLang="zh-CN" b="0" i="0" dirty="0">
              <a:solidFill>
                <a:srgbClr val="000000"/>
              </a:solidFill>
              <a:effectLst/>
              <a:latin typeface="-apple-system"/>
            </a:endParaRPr>
          </a:p>
        </p:txBody>
      </p:sp>
      <p:sp>
        <p:nvSpPr>
          <p:cNvPr id="32" name="文本框 31">
            <a:extLst>
              <a:ext uri="{FF2B5EF4-FFF2-40B4-BE49-F238E27FC236}">
                <a16:creationId xmlns:a16="http://schemas.microsoft.com/office/drawing/2014/main" id="{6559E6DF-F094-0551-A52C-3EAC55B4DACF}"/>
              </a:ext>
            </a:extLst>
          </p:cNvPr>
          <p:cNvSpPr txBox="1"/>
          <p:nvPr/>
        </p:nvSpPr>
        <p:spPr>
          <a:xfrm>
            <a:off x="3122135" y="2361330"/>
            <a:ext cx="6172200" cy="646331"/>
          </a:xfrm>
          <a:prstGeom prst="rect">
            <a:avLst/>
          </a:prstGeom>
          <a:noFill/>
        </p:spPr>
        <p:txBody>
          <a:bodyPr wrap="square">
            <a:spAutoFit/>
          </a:bodyPr>
          <a:lstStyle/>
          <a:p>
            <a:r>
              <a:rPr lang="en-US" altLang="zh-CN" b="0" i="0" dirty="0">
                <a:solidFill>
                  <a:srgbClr val="C00000"/>
                </a:solidFill>
                <a:effectLst/>
                <a:latin typeface="-apple-system"/>
              </a:rPr>
              <a:t>TP</a:t>
            </a:r>
            <a:r>
              <a:rPr lang="zh-CN" altLang="en-US" b="0" i="0" dirty="0">
                <a:solidFill>
                  <a:srgbClr val="C00000"/>
                </a:solidFill>
                <a:effectLst/>
                <a:latin typeface="-apple-system"/>
              </a:rPr>
              <a:t>表示跌倒被正确检测，</a:t>
            </a:r>
            <a:r>
              <a:rPr lang="en-US" altLang="zh-CN" dirty="0">
                <a:solidFill>
                  <a:srgbClr val="C00000"/>
                </a:solidFill>
                <a:latin typeface="-apple-system"/>
              </a:rPr>
              <a:t>FN</a:t>
            </a:r>
            <a:r>
              <a:rPr lang="zh-CN" altLang="en-US" dirty="0">
                <a:solidFill>
                  <a:srgbClr val="C00000"/>
                </a:solidFill>
                <a:latin typeface="-apple-system"/>
              </a:rPr>
              <a:t>表示跌倒被漏报。</a:t>
            </a:r>
            <a:endParaRPr lang="zh-CN" altLang="en-US" dirty="0">
              <a:solidFill>
                <a:srgbClr val="C00000"/>
              </a:solidFill>
            </a:endParaRPr>
          </a:p>
          <a:p>
            <a:endParaRPr lang="en-US" altLang="zh-CN" b="0" i="0" dirty="0">
              <a:solidFill>
                <a:srgbClr val="000000"/>
              </a:solidFill>
              <a:effectLst/>
              <a:latin typeface="-apple-system"/>
            </a:endParaRPr>
          </a:p>
        </p:txBody>
      </p:sp>
      <p:sp>
        <p:nvSpPr>
          <p:cNvPr id="33" name="箭头: 右 32">
            <a:extLst>
              <a:ext uri="{FF2B5EF4-FFF2-40B4-BE49-F238E27FC236}">
                <a16:creationId xmlns:a16="http://schemas.microsoft.com/office/drawing/2014/main" id="{CFB01171-1429-FFB1-76E6-EF76FB9E9CFE}"/>
              </a:ext>
            </a:extLst>
          </p:cNvPr>
          <p:cNvSpPr/>
          <p:nvPr/>
        </p:nvSpPr>
        <p:spPr>
          <a:xfrm rot="1722637">
            <a:off x="3080018" y="3863275"/>
            <a:ext cx="762000" cy="139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5D390583-4575-9C69-A5DE-0688A8595B5A}"/>
              </a:ext>
            </a:extLst>
          </p:cNvPr>
          <p:cNvSpPr txBox="1"/>
          <p:nvPr/>
        </p:nvSpPr>
        <p:spPr>
          <a:xfrm>
            <a:off x="3967480" y="3958870"/>
            <a:ext cx="6883400" cy="646331"/>
          </a:xfrm>
          <a:prstGeom prst="rect">
            <a:avLst/>
          </a:prstGeom>
          <a:noFill/>
        </p:spPr>
        <p:txBody>
          <a:bodyPr wrap="square">
            <a:spAutoFit/>
          </a:bodyPr>
          <a:lstStyle/>
          <a:p>
            <a:r>
              <a:rPr lang="en-US" altLang="zh-CN" b="0" i="0" dirty="0">
                <a:solidFill>
                  <a:srgbClr val="C00000"/>
                </a:solidFill>
                <a:effectLst/>
                <a:latin typeface="-apple-system"/>
              </a:rPr>
              <a:t>FP</a:t>
            </a:r>
            <a:r>
              <a:rPr lang="zh-CN" altLang="en-US" b="0" i="0" dirty="0">
                <a:solidFill>
                  <a:srgbClr val="C00000"/>
                </a:solidFill>
                <a:effectLst/>
                <a:latin typeface="-apple-system"/>
              </a:rPr>
              <a:t>表示非跌倒活动被误报为跌倒</a:t>
            </a:r>
            <a:r>
              <a:rPr lang="en-US" altLang="zh-CN" dirty="0">
                <a:solidFill>
                  <a:srgbClr val="C00000"/>
                </a:solidFill>
                <a:latin typeface="-apple-system"/>
              </a:rPr>
              <a:t>, TN</a:t>
            </a:r>
            <a:r>
              <a:rPr lang="zh-CN" altLang="en-US" dirty="0">
                <a:solidFill>
                  <a:srgbClr val="C00000"/>
                </a:solidFill>
                <a:latin typeface="-apple-system"/>
              </a:rPr>
              <a:t>表示非跌倒活动被正确排除</a:t>
            </a:r>
            <a:endParaRPr lang="en-US" altLang="zh-CN" dirty="0">
              <a:solidFill>
                <a:srgbClr val="000000"/>
              </a:solidFill>
              <a:latin typeface="-apple-system"/>
            </a:endParaRPr>
          </a:p>
          <a:p>
            <a:endParaRPr lang="zh-CN" altLang="en-US" dirty="0"/>
          </a:p>
        </p:txBody>
      </p:sp>
    </p:spTree>
    <p:custDataLst>
      <p:tags r:id="rId1"/>
    </p:custDataLst>
    <p:extLst>
      <p:ext uri="{BB962C8B-B14F-4D97-AF65-F5344CB8AC3E}">
        <p14:creationId xmlns:p14="http://schemas.microsoft.com/office/powerpoint/2010/main" val="234057757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657D8-0CD7-5B40-3CF6-EB866B3328DA}"/>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EDF9B4EB-9452-CE54-D94C-9F6635B7DCC9}"/>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09272C70-3637-EA4B-1CD2-18AD036ADCEC}"/>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E3499B74-6200-0EAE-7A70-7A6C04A3B2F3}"/>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04DAB365-2041-6319-9290-5EF5B8086FB8}"/>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7F3E78E3-0906-02C3-81D0-2348B2DC0A1C}"/>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评估</a:t>
            </a:r>
          </a:p>
        </p:txBody>
      </p:sp>
      <p:sp>
        <p:nvSpPr>
          <p:cNvPr id="4" name="文本框 3">
            <a:extLst>
              <a:ext uri="{FF2B5EF4-FFF2-40B4-BE49-F238E27FC236}">
                <a16:creationId xmlns:a16="http://schemas.microsoft.com/office/drawing/2014/main" id="{5EDAC5E8-BECE-D766-89B0-FB8E3172508E}"/>
              </a:ext>
            </a:extLst>
          </p:cNvPr>
          <p:cNvSpPr txBox="1"/>
          <p:nvPr/>
        </p:nvSpPr>
        <p:spPr>
          <a:xfrm>
            <a:off x="279400" y="1133000"/>
            <a:ext cx="6096000" cy="461665"/>
          </a:xfrm>
          <a:prstGeom prst="rect">
            <a:avLst/>
          </a:prstGeom>
          <a:noFill/>
        </p:spPr>
        <p:txBody>
          <a:bodyPr wrap="square">
            <a:spAutoFit/>
          </a:bodyPr>
          <a:lstStyle/>
          <a:p>
            <a:r>
              <a:rPr lang="en-US" altLang="zh-CN" sz="2400" b="1" dirty="0">
                <a:solidFill>
                  <a:srgbClr val="000000"/>
                </a:solidFill>
                <a:latin typeface="Helvetica Neue"/>
              </a:rPr>
              <a:t>6.4</a:t>
            </a:r>
            <a:r>
              <a:rPr lang="zh-CN" altLang="en-US" sz="2400" b="1" dirty="0">
                <a:solidFill>
                  <a:srgbClr val="000000"/>
                </a:solidFill>
                <a:latin typeface="Helvetica Neue"/>
              </a:rPr>
              <a:t>系统性能与参与者数量</a:t>
            </a:r>
          </a:p>
        </p:txBody>
      </p:sp>
      <p:sp>
        <p:nvSpPr>
          <p:cNvPr id="11" name="文本框 10">
            <a:extLst>
              <a:ext uri="{FF2B5EF4-FFF2-40B4-BE49-F238E27FC236}">
                <a16:creationId xmlns:a16="http://schemas.microsoft.com/office/drawing/2014/main" id="{386B1021-F6E6-25CC-D1AA-33A06BB26B60}"/>
              </a:ext>
            </a:extLst>
          </p:cNvPr>
          <p:cNvSpPr txBox="1"/>
          <p:nvPr/>
        </p:nvSpPr>
        <p:spPr>
          <a:xfrm>
            <a:off x="176675" y="1747804"/>
            <a:ext cx="3763011" cy="4801314"/>
          </a:xfrm>
          <a:prstGeom prst="rect">
            <a:avLst/>
          </a:prstGeom>
          <a:noFill/>
        </p:spPr>
        <p:txBody>
          <a:bodyPr wrap="square">
            <a:spAutoFit/>
          </a:bodyPr>
          <a:lstStyle/>
          <a:p>
            <a:r>
              <a:rPr lang="zh-CN" altLang="en-US" dirty="0"/>
              <a:t>本部分通过实验研究了</a:t>
            </a:r>
            <a:r>
              <a:rPr lang="zh-CN" altLang="en-US" b="1" dirty="0"/>
              <a:t>参与者数量对系统性能的影响。</a:t>
            </a:r>
            <a:endParaRPr lang="en-US" altLang="zh-CN" b="1" dirty="0"/>
          </a:p>
          <a:p>
            <a:endParaRPr lang="en-US" altLang="zh-CN" b="1" dirty="0"/>
          </a:p>
          <a:p>
            <a:r>
              <a:rPr lang="zh-CN" altLang="en-US" dirty="0"/>
              <a:t>实验设计分为</a:t>
            </a:r>
            <a:r>
              <a:rPr lang="zh-CN" altLang="en-US" b="1" dirty="0"/>
              <a:t>训练数据收集</a:t>
            </a:r>
            <a:r>
              <a:rPr lang="zh-CN" altLang="en-US" dirty="0"/>
              <a:t>和</a:t>
            </a:r>
            <a:r>
              <a:rPr lang="zh-CN" altLang="en-US" b="1" dirty="0"/>
              <a:t>测试</a:t>
            </a:r>
            <a:r>
              <a:rPr lang="zh-CN" altLang="en-US" dirty="0"/>
              <a:t>两个阶段，</a:t>
            </a:r>
            <a:endParaRPr lang="en-US" altLang="zh-CN" dirty="0"/>
          </a:p>
          <a:p>
            <a:r>
              <a:rPr lang="zh-CN" altLang="en-US" dirty="0"/>
              <a:t>通过</a:t>
            </a:r>
            <a:r>
              <a:rPr lang="zh-CN" altLang="en-US" b="1" dirty="0"/>
              <a:t>逐步增加参与者数量（从</a:t>
            </a:r>
            <a:r>
              <a:rPr lang="en-US" altLang="zh-CN" b="1" dirty="0"/>
              <a:t>1</a:t>
            </a:r>
            <a:r>
              <a:rPr lang="zh-CN" altLang="en-US" b="1" dirty="0"/>
              <a:t>人到</a:t>
            </a:r>
            <a:r>
              <a:rPr lang="en-US" altLang="zh-CN" b="1" dirty="0"/>
              <a:t>3</a:t>
            </a:r>
            <a:r>
              <a:rPr lang="zh-CN" altLang="en-US" b="1" dirty="0"/>
              <a:t>人）来构建个性化模型和通用模型。</a:t>
            </a:r>
            <a:endParaRPr lang="en-US" altLang="zh-CN" b="1" dirty="0"/>
          </a:p>
          <a:p>
            <a:endParaRPr lang="en-US" altLang="zh-CN" dirty="0"/>
          </a:p>
          <a:p>
            <a:r>
              <a:rPr lang="zh-CN" altLang="en-US" dirty="0"/>
              <a:t>实验结果显示，当参与者数量增加到</a:t>
            </a:r>
            <a:r>
              <a:rPr lang="en-US" altLang="zh-CN" b="1" dirty="0"/>
              <a:t>3</a:t>
            </a:r>
            <a:r>
              <a:rPr lang="zh-CN" altLang="en-US" b="1" dirty="0"/>
              <a:t>人</a:t>
            </a:r>
            <a:r>
              <a:rPr lang="zh-CN" altLang="en-US" dirty="0"/>
              <a:t>时，模型性能趋于</a:t>
            </a:r>
            <a:r>
              <a:rPr lang="zh-CN" altLang="en-US" b="1" dirty="0"/>
              <a:t>稳定</a:t>
            </a:r>
            <a:r>
              <a:rPr lang="zh-CN" altLang="en-US" dirty="0"/>
              <a:t>，敏感性平均达到</a:t>
            </a:r>
            <a:r>
              <a:rPr lang="en-US" altLang="zh-CN" dirty="0"/>
              <a:t>93%</a:t>
            </a:r>
            <a:r>
              <a:rPr lang="zh-CN" altLang="en-US" dirty="0"/>
              <a:t>，特异性平均达到</a:t>
            </a:r>
            <a:r>
              <a:rPr lang="en-US" altLang="zh-CN" dirty="0"/>
              <a:t>89%</a:t>
            </a:r>
            <a:r>
              <a:rPr lang="zh-CN" altLang="en-US" dirty="0"/>
              <a:t>。所有跌倒活动均能被</a:t>
            </a:r>
            <a:r>
              <a:rPr lang="en-US" altLang="zh-CN" dirty="0"/>
              <a:t>100%</a:t>
            </a:r>
            <a:r>
              <a:rPr lang="zh-CN" altLang="en-US" dirty="0"/>
              <a:t>准确分割</a:t>
            </a:r>
            <a:endParaRPr lang="en-US" altLang="zh-CN" dirty="0"/>
          </a:p>
          <a:p>
            <a:endParaRPr lang="en-US" altLang="zh-CN" dirty="0"/>
          </a:p>
          <a:p>
            <a:r>
              <a:rPr lang="zh-CN" altLang="en-US" dirty="0"/>
              <a:t>但</a:t>
            </a:r>
            <a:r>
              <a:rPr lang="zh-CN" altLang="en-US" b="1" dirty="0"/>
              <a:t>通用模型</a:t>
            </a:r>
            <a:r>
              <a:rPr lang="zh-CN" altLang="en-US" dirty="0"/>
              <a:t>的性能</a:t>
            </a:r>
            <a:r>
              <a:rPr lang="zh-CN" altLang="en-US" b="1" dirty="0"/>
              <a:t>略低于个性化模型</a:t>
            </a:r>
            <a:r>
              <a:rPr lang="zh-CN" altLang="en-US" dirty="0"/>
              <a:t>，表明系统需要足够的训练数据才能达到最优性能。</a:t>
            </a:r>
            <a:endParaRPr lang="zh-CN" altLang="zh-CN" dirty="0"/>
          </a:p>
        </p:txBody>
      </p:sp>
      <p:sp>
        <p:nvSpPr>
          <p:cNvPr id="30" name="文本框 29">
            <a:extLst>
              <a:ext uri="{FF2B5EF4-FFF2-40B4-BE49-F238E27FC236}">
                <a16:creationId xmlns:a16="http://schemas.microsoft.com/office/drawing/2014/main" id="{089D6F72-404D-F1C5-F160-A2FE8646673C}"/>
              </a:ext>
            </a:extLst>
          </p:cNvPr>
          <p:cNvSpPr txBox="1"/>
          <p:nvPr/>
        </p:nvSpPr>
        <p:spPr>
          <a:xfrm>
            <a:off x="4678680" y="4780548"/>
            <a:ext cx="6172200" cy="369332"/>
          </a:xfrm>
          <a:prstGeom prst="rect">
            <a:avLst/>
          </a:prstGeom>
          <a:noFill/>
        </p:spPr>
        <p:txBody>
          <a:bodyPr wrap="square">
            <a:spAutoFit/>
          </a:bodyPr>
          <a:lstStyle/>
          <a:p>
            <a:r>
              <a:rPr lang="zh-CN" altLang="en-US" b="1" i="0" dirty="0">
                <a:solidFill>
                  <a:srgbClr val="000000"/>
                </a:solidFill>
                <a:effectLst/>
                <a:latin typeface="-apple-system"/>
              </a:rPr>
              <a:t>混淆矩阵</a:t>
            </a:r>
            <a:r>
              <a:rPr lang="zh-CN" altLang="en-US" b="0" i="0" dirty="0">
                <a:solidFill>
                  <a:srgbClr val="000000"/>
                </a:solidFill>
                <a:effectLst/>
                <a:latin typeface="-apple-system"/>
              </a:rPr>
              <a:t>的示意图</a:t>
            </a:r>
            <a:endParaRPr lang="en-US" altLang="zh-CN" b="0" i="0" dirty="0">
              <a:solidFill>
                <a:srgbClr val="000000"/>
              </a:solidFill>
              <a:effectLst/>
              <a:latin typeface="-apple-system"/>
            </a:endParaRPr>
          </a:p>
        </p:txBody>
      </p:sp>
      <p:pic>
        <p:nvPicPr>
          <p:cNvPr id="37" name="图片 36">
            <a:extLst>
              <a:ext uri="{FF2B5EF4-FFF2-40B4-BE49-F238E27FC236}">
                <a16:creationId xmlns:a16="http://schemas.microsoft.com/office/drawing/2014/main" id="{0E8FB57F-CC58-EE12-62AD-B91EFDE3B573}"/>
              </a:ext>
            </a:extLst>
          </p:cNvPr>
          <p:cNvPicPr>
            <a:picLocks noChangeAspect="1"/>
          </p:cNvPicPr>
          <p:nvPr/>
        </p:nvPicPr>
        <p:blipFill>
          <a:blip r:embed="rId5"/>
          <a:stretch>
            <a:fillRect/>
          </a:stretch>
        </p:blipFill>
        <p:spPr>
          <a:xfrm>
            <a:off x="3939686" y="1111525"/>
            <a:ext cx="7554939" cy="6017736"/>
          </a:xfrm>
          <a:prstGeom prst="rect">
            <a:avLst/>
          </a:prstGeom>
        </p:spPr>
      </p:pic>
      <p:sp>
        <p:nvSpPr>
          <p:cNvPr id="42" name="矩形 41">
            <a:extLst>
              <a:ext uri="{FF2B5EF4-FFF2-40B4-BE49-F238E27FC236}">
                <a16:creationId xmlns:a16="http://schemas.microsoft.com/office/drawing/2014/main" id="{2C37FE98-EB3A-3044-0F3D-9C60CB533365}"/>
              </a:ext>
            </a:extLst>
          </p:cNvPr>
          <p:cNvSpPr/>
          <p:nvPr/>
        </p:nvSpPr>
        <p:spPr>
          <a:xfrm>
            <a:off x="8519014" y="1246454"/>
            <a:ext cx="2908300" cy="3284905"/>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2708233E-D5DF-EB12-6A5F-AB93E8081601}"/>
              </a:ext>
            </a:extLst>
          </p:cNvPr>
          <p:cNvSpPr txBox="1"/>
          <p:nvPr/>
        </p:nvSpPr>
        <p:spPr>
          <a:xfrm>
            <a:off x="5871211" y="3963795"/>
            <a:ext cx="6096000" cy="369332"/>
          </a:xfrm>
          <a:prstGeom prst="rect">
            <a:avLst/>
          </a:prstGeom>
          <a:noFill/>
        </p:spPr>
        <p:txBody>
          <a:bodyPr wrap="square">
            <a:spAutoFit/>
          </a:bodyPr>
          <a:lstStyle/>
          <a:p>
            <a:r>
              <a:rPr lang="zh-CN" altLang="en-US" dirty="0">
                <a:solidFill>
                  <a:srgbClr val="C00000"/>
                </a:solidFill>
              </a:rPr>
              <a:t>用于训练模型的数据</a:t>
            </a:r>
          </a:p>
        </p:txBody>
      </p:sp>
      <p:sp>
        <p:nvSpPr>
          <p:cNvPr id="46" name="文本框 45">
            <a:extLst>
              <a:ext uri="{FF2B5EF4-FFF2-40B4-BE49-F238E27FC236}">
                <a16:creationId xmlns:a16="http://schemas.microsoft.com/office/drawing/2014/main" id="{7AB629BE-DA2C-0381-8BB5-BBCF2C21075D}"/>
              </a:ext>
            </a:extLst>
          </p:cNvPr>
          <p:cNvSpPr txBox="1"/>
          <p:nvPr/>
        </p:nvSpPr>
        <p:spPr>
          <a:xfrm>
            <a:off x="9093054" y="945155"/>
            <a:ext cx="6096000" cy="369332"/>
          </a:xfrm>
          <a:prstGeom prst="rect">
            <a:avLst/>
          </a:prstGeom>
          <a:noFill/>
        </p:spPr>
        <p:txBody>
          <a:bodyPr wrap="square">
            <a:spAutoFit/>
          </a:bodyPr>
          <a:lstStyle/>
          <a:p>
            <a:r>
              <a:rPr lang="zh-CN" altLang="en-US" dirty="0">
                <a:solidFill>
                  <a:srgbClr val="C00000"/>
                </a:solidFill>
              </a:rPr>
              <a:t>用于测试模型的数据</a:t>
            </a:r>
          </a:p>
        </p:txBody>
      </p:sp>
      <p:sp>
        <p:nvSpPr>
          <p:cNvPr id="47" name="矩形 46">
            <a:extLst>
              <a:ext uri="{FF2B5EF4-FFF2-40B4-BE49-F238E27FC236}">
                <a16:creationId xmlns:a16="http://schemas.microsoft.com/office/drawing/2014/main" id="{640CB9CE-89D9-48A2-FC5F-F6C6CA9DCE47}"/>
              </a:ext>
            </a:extLst>
          </p:cNvPr>
          <p:cNvSpPr/>
          <p:nvPr/>
        </p:nvSpPr>
        <p:spPr>
          <a:xfrm>
            <a:off x="5570220" y="1153320"/>
            <a:ext cx="2908300" cy="2717340"/>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ustDataLst>
      <p:tags r:id="rId1"/>
    </p:custDataLst>
    <p:extLst>
      <p:ext uri="{BB962C8B-B14F-4D97-AF65-F5344CB8AC3E}">
        <p14:creationId xmlns:p14="http://schemas.microsoft.com/office/powerpoint/2010/main" val="203483847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51652-ACA4-A00B-62BC-3BDF0380D525}"/>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4B5B159C-F8B5-582D-3351-AD83320C944B}"/>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56459668-D991-ED0A-3BB2-257688B239F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4CF81D75-BC49-3BB2-66E3-B05B4C9B05F6}"/>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AD7CCAB2-2B18-45B1-BAF7-6306FF6F7E46}"/>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37BDAE38-1103-6BF5-4B32-528500DF331F}"/>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评估</a:t>
            </a:r>
          </a:p>
        </p:txBody>
      </p:sp>
      <p:sp>
        <p:nvSpPr>
          <p:cNvPr id="4" name="文本框 3">
            <a:extLst>
              <a:ext uri="{FF2B5EF4-FFF2-40B4-BE49-F238E27FC236}">
                <a16:creationId xmlns:a16="http://schemas.microsoft.com/office/drawing/2014/main" id="{088E4EF3-9461-3204-9A45-193AEFDF028B}"/>
              </a:ext>
            </a:extLst>
          </p:cNvPr>
          <p:cNvSpPr txBox="1"/>
          <p:nvPr/>
        </p:nvSpPr>
        <p:spPr>
          <a:xfrm>
            <a:off x="279400" y="1133000"/>
            <a:ext cx="6096000" cy="461665"/>
          </a:xfrm>
          <a:prstGeom prst="rect">
            <a:avLst/>
          </a:prstGeom>
          <a:noFill/>
        </p:spPr>
        <p:txBody>
          <a:bodyPr wrap="square">
            <a:spAutoFit/>
          </a:bodyPr>
          <a:lstStyle/>
          <a:p>
            <a:r>
              <a:rPr lang="en-US" altLang="zh-CN" sz="2400" b="1" dirty="0">
                <a:solidFill>
                  <a:srgbClr val="000000"/>
                </a:solidFill>
                <a:latin typeface="Helvetica Neue"/>
              </a:rPr>
              <a:t>6.5</a:t>
            </a:r>
            <a:r>
              <a:rPr lang="zh-CN" altLang="en-US" sz="2400" b="1" dirty="0">
                <a:solidFill>
                  <a:srgbClr val="000000"/>
                </a:solidFill>
                <a:latin typeface="Helvetica Neue"/>
              </a:rPr>
              <a:t>系统评估与比较</a:t>
            </a:r>
          </a:p>
        </p:txBody>
      </p:sp>
      <p:sp>
        <p:nvSpPr>
          <p:cNvPr id="6" name="文本框 5">
            <a:extLst>
              <a:ext uri="{FF2B5EF4-FFF2-40B4-BE49-F238E27FC236}">
                <a16:creationId xmlns:a16="http://schemas.microsoft.com/office/drawing/2014/main" id="{61A8696D-2A0D-C478-E41D-9C36B63BCB23}"/>
              </a:ext>
            </a:extLst>
          </p:cNvPr>
          <p:cNvSpPr txBox="1"/>
          <p:nvPr/>
        </p:nvSpPr>
        <p:spPr>
          <a:xfrm>
            <a:off x="279400" y="1798045"/>
            <a:ext cx="6096000" cy="369332"/>
          </a:xfrm>
          <a:prstGeom prst="rect">
            <a:avLst/>
          </a:prstGeom>
          <a:noFill/>
        </p:spPr>
        <p:txBody>
          <a:bodyPr wrap="square">
            <a:spAutoFit/>
          </a:bodyPr>
          <a:lstStyle/>
          <a:p>
            <a:pPr fontAlgn="base"/>
            <a:r>
              <a:rPr lang="en-US" altLang="zh-CN" b="1" dirty="0"/>
              <a:t>6.5.1</a:t>
            </a:r>
            <a:r>
              <a:rPr lang="zh-CN" altLang="en-US" b="1" dirty="0"/>
              <a:t>性能比较</a:t>
            </a:r>
          </a:p>
        </p:txBody>
      </p:sp>
      <p:pic>
        <p:nvPicPr>
          <p:cNvPr id="8" name="图片 7">
            <a:extLst>
              <a:ext uri="{FF2B5EF4-FFF2-40B4-BE49-F238E27FC236}">
                <a16:creationId xmlns:a16="http://schemas.microsoft.com/office/drawing/2014/main" id="{AE7CD9F4-26AE-2977-18D8-0BC9C1E08CFE}"/>
              </a:ext>
            </a:extLst>
          </p:cNvPr>
          <p:cNvPicPr>
            <a:picLocks noChangeAspect="1"/>
          </p:cNvPicPr>
          <p:nvPr/>
        </p:nvPicPr>
        <p:blipFill>
          <a:blip r:embed="rId5"/>
          <a:stretch>
            <a:fillRect/>
          </a:stretch>
        </p:blipFill>
        <p:spPr>
          <a:xfrm>
            <a:off x="5016500" y="1394571"/>
            <a:ext cx="6896100" cy="5213885"/>
          </a:xfrm>
          <a:prstGeom prst="rect">
            <a:avLst/>
          </a:prstGeom>
        </p:spPr>
      </p:pic>
      <p:sp>
        <p:nvSpPr>
          <p:cNvPr id="10" name="文本框 9">
            <a:extLst>
              <a:ext uri="{FF2B5EF4-FFF2-40B4-BE49-F238E27FC236}">
                <a16:creationId xmlns:a16="http://schemas.microsoft.com/office/drawing/2014/main" id="{E1EC3245-18AE-E62D-B02B-EED8DB28AED2}"/>
              </a:ext>
            </a:extLst>
          </p:cNvPr>
          <p:cNvSpPr txBox="1"/>
          <p:nvPr/>
        </p:nvSpPr>
        <p:spPr>
          <a:xfrm>
            <a:off x="286385" y="2274619"/>
            <a:ext cx="4368800" cy="1754326"/>
          </a:xfrm>
          <a:prstGeom prst="rect">
            <a:avLst/>
          </a:prstGeom>
          <a:noFill/>
        </p:spPr>
        <p:txBody>
          <a:bodyPr wrap="square">
            <a:spAutoFit/>
          </a:bodyPr>
          <a:lstStyle/>
          <a:p>
            <a:r>
              <a:rPr lang="zh-CN" altLang="en-US" b="0" i="0" dirty="0">
                <a:solidFill>
                  <a:srgbClr val="000000"/>
                </a:solidFill>
                <a:effectLst/>
                <a:latin typeface="-apple-system"/>
              </a:rPr>
              <a:t>此图展示了在</a:t>
            </a:r>
            <a:r>
              <a:rPr lang="zh-CN" altLang="en-US" b="1" i="0" dirty="0">
                <a:solidFill>
                  <a:srgbClr val="000000"/>
                </a:solidFill>
                <a:effectLst/>
                <a:latin typeface="-apple-system"/>
              </a:rPr>
              <a:t>不同房间中的性能比较</a:t>
            </a:r>
            <a:r>
              <a:rPr lang="zh-CN" altLang="en-US" b="0" i="0" dirty="0">
                <a:solidFill>
                  <a:srgbClr val="000000"/>
                </a:solidFill>
                <a:effectLst/>
                <a:latin typeface="-apple-system"/>
              </a:rPr>
              <a:t>。</a:t>
            </a:r>
            <a:r>
              <a:rPr lang="en-US" altLang="zh-CN" b="0" i="0" dirty="0">
                <a:solidFill>
                  <a:srgbClr val="000000"/>
                </a:solidFill>
                <a:effectLst/>
                <a:latin typeface="-apple-system"/>
              </a:rPr>
              <a:t>(a)</a:t>
            </a:r>
            <a:r>
              <a:rPr lang="zh-CN" altLang="en-US" b="0" i="0" dirty="0">
                <a:solidFill>
                  <a:srgbClr val="000000"/>
                </a:solidFill>
                <a:effectLst/>
                <a:latin typeface="-apple-system"/>
              </a:rPr>
              <a:t>部分为实验设计，说明了在四种环境中的测试布局结果显示</a:t>
            </a:r>
            <a:endParaRPr lang="en-US" altLang="zh-CN" b="0" i="0" dirty="0">
              <a:solidFill>
                <a:srgbClr val="000000"/>
              </a:solidFill>
              <a:effectLst/>
              <a:latin typeface="-apple-system"/>
            </a:endParaRPr>
          </a:p>
          <a:p>
            <a:r>
              <a:rPr lang="en-US" altLang="zh-CN" b="0" i="0" dirty="0">
                <a:solidFill>
                  <a:srgbClr val="000000"/>
                </a:solidFill>
                <a:effectLst/>
                <a:latin typeface="-apple-system"/>
              </a:rPr>
              <a:t>RT-Fall</a:t>
            </a:r>
            <a:r>
              <a:rPr lang="zh-CN" altLang="en-US" b="0" i="0" dirty="0">
                <a:solidFill>
                  <a:srgbClr val="000000"/>
                </a:solidFill>
                <a:effectLst/>
                <a:latin typeface="-apple-system"/>
              </a:rPr>
              <a:t>在平均敏感性和特异性上分别达到</a:t>
            </a:r>
            <a:r>
              <a:rPr lang="en-US" altLang="zh-CN" b="0" i="0" dirty="0">
                <a:solidFill>
                  <a:srgbClr val="000000"/>
                </a:solidFill>
                <a:effectLst/>
                <a:latin typeface="-apple-system"/>
              </a:rPr>
              <a:t>91%</a:t>
            </a:r>
            <a:r>
              <a:rPr lang="zh-CN" altLang="en-US" b="0" i="0" dirty="0">
                <a:solidFill>
                  <a:srgbClr val="000000"/>
                </a:solidFill>
                <a:effectLst/>
                <a:latin typeface="-apple-system"/>
              </a:rPr>
              <a:t>和</a:t>
            </a:r>
            <a:r>
              <a:rPr lang="en-US" altLang="zh-CN" b="0" i="0" dirty="0">
                <a:solidFill>
                  <a:srgbClr val="000000"/>
                </a:solidFill>
                <a:effectLst/>
                <a:latin typeface="-apple-system"/>
              </a:rPr>
              <a:t>92%</a:t>
            </a:r>
            <a:r>
              <a:rPr lang="zh-CN" altLang="en-US" b="0" i="0" dirty="0">
                <a:solidFill>
                  <a:srgbClr val="000000"/>
                </a:solidFill>
                <a:effectLst/>
                <a:latin typeface="-apple-system"/>
              </a:rPr>
              <a:t>，相比</a:t>
            </a:r>
            <a:r>
              <a:rPr lang="en-US" altLang="zh-CN" b="0" i="0" dirty="0" err="1">
                <a:solidFill>
                  <a:srgbClr val="000000"/>
                </a:solidFill>
                <a:effectLst/>
                <a:latin typeface="-apple-system"/>
              </a:rPr>
              <a:t>WiFall</a:t>
            </a:r>
            <a:r>
              <a:rPr lang="zh-CN" altLang="en-US" i="0" dirty="0">
                <a:solidFill>
                  <a:srgbClr val="000000"/>
                </a:solidFill>
                <a:effectLst/>
                <a:latin typeface="-apple-system"/>
              </a:rPr>
              <a:t>提升了</a:t>
            </a:r>
            <a:r>
              <a:rPr lang="en-US" altLang="zh-CN" i="0" dirty="0">
                <a:solidFill>
                  <a:srgbClr val="000000"/>
                </a:solidFill>
                <a:effectLst/>
                <a:latin typeface="-apple-system"/>
              </a:rPr>
              <a:t>14%</a:t>
            </a:r>
            <a:r>
              <a:rPr lang="zh-CN" altLang="en-US" i="0" dirty="0">
                <a:solidFill>
                  <a:srgbClr val="000000"/>
                </a:solidFill>
                <a:effectLst/>
                <a:latin typeface="-apple-system"/>
              </a:rPr>
              <a:t>的敏感性和</a:t>
            </a:r>
            <a:r>
              <a:rPr lang="en-US" altLang="zh-CN" i="0" dirty="0">
                <a:solidFill>
                  <a:srgbClr val="000000"/>
                </a:solidFill>
                <a:effectLst/>
                <a:latin typeface="-apple-system"/>
              </a:rPr>
              <a:t>10%</a:t>
            </a:r>
            <a:r>
              <a:rPr lang="zh-CN" altLang="en-US" i="0" dirty="0">
                <a:solidFill>
                  <a:srgbClr val="000000"/>
                </a:solidFill>
                <a:effectLst/>
                <a:latin typeface="-apple-system"/>
              </a:rPr>
              <a:t>的特异性。</a:t>
            </a:r>
            <a:endParaRPr lang="zh-CN" altLang="en-US" dirty="0"/>
          </a:p>
        </p:txBody>
      </p:sp>
      <p:sp>
        <p:nvSpPr>
          <p:cNvPr id="13" name="文本框 12">
            <a:extLst>
              <a:ext uri="{FF2B5EF4-FFF2-40B4-BE49-F238E27FC236}">
                <a16:creationId xmlns:a16="http://schemas.microsoft.com/office/drawing/2014/main" id="{F62CA93C-EDA8-2712-70AB-930ABB53DA82}"/>
              </a:ext>
            </a:extLst>
          </p:cNvPr>
          <p:cNvSpPr txBox="1"/>
          <p:nvPr/>
        </p:nvSpPr>
        <p:spPr>
          <a:xfrm>
            <a:off x="279400" y="4136187"/>
            <a:ext cx="4521200" cy="1200329"/>
          </a:xfrm>
          <a:prstGeom prst="rect">
            <a:avLst/>
          </a:prstGeom>
          <a:noFill/>
        </p:spPr>
        <p:txBody>
          <a:bodyPr wrap="square">
            <a:spAutoFit/>
          </a:bodyPr>
          <a:lstStyle/>
          <a:p>
            <a:r>
              <a:rPr lang="zh-CN" altLang="en-US" b="1" dirty="0"/>
              <a:t>动态模型选择</a:t>
            </a:r>
            <a:r>
              <a:rPr lang="en-US" altLang="zh-CN" dirty="0">
                <a:effectLst/>
              </a:rPr>
              <a:t>:</a:t>
            </a:r>
            <a:r>
              <a:rPr lang="zh-CN" altLang="en-US" b="1" dirty="0">
                <a:effectLst/>
              </a:rPr>
              <a:t>多房间</a:t>
            </a:r>
            <a:r>
              <a:rPr lang="zh-CN" altLang="en-US" dirty="0">
                <a:effectLst/>
              </a:rPr>
              <a:t>如</a:t>
            </a:r>
            <a:r>
              <a:rPr lang="zh-CN" altLang="en-US" dirty="0"/>
              <a:t>公寓</a:t>
            </a:r>
            <a:r>
              <a:rPr lang="en-US" altLang="zh-CN" dirty="0"/>
              <a:t>Apartment,</a:t>
            </a:r>
            <a:r>
              <a:rPr lang="zh-CN" altLang="en-US" dirty="0"/>
              <a:t>系统通过分析信号波动（如</a:t>
            </a:r>
            <a:r>
              <a:rPr lang="en-US" altLang="zh-CN" dirty="0"/>
              <a:t>CSI</a:t>
            </a:r>
            <a:r>
              <a:rPr lang="zh-CN" altLang="en-US" dirty="0"/>
              <a:t>相位差的</a:t>
            </a:r>
            <a:r>
              <a:rPr lang="zh-CN" altLang="en-US" b="1" dirty="0"/>
              <a:t>方差</a:t>
            </a:r>
            <a:r>
              <a:rPr lang="zh-CN" altLang="en-US" dirty="0"/>
              <a:t>）来判断用户当前所处的区域，并</a:t>
            </a:r>
            <a:r>
              <a:rPr lang="zh-CN" altLang="en-US" b="1" dirty="0"/>
              <a:t>自动选择</a:t>
            </a:r>
            <a:r>
              <a:rPr lang="zh-CN" altLang="en-US" dirty="0"/>
              <a:t>为该区域训练的</a:t>
            </a:r>
            <a:r>
              <a:rPr lang="zh-CN" altLang="en-US" b="1" dirty="0"/>
              <a:t>特定模型</a:t>
            </a:r>
          </a:p>
        </p:txBody>
      </p:sp>
      <p:sp>
        <p:nvSpPr>
          <p:cNvPr id="14" name="矩形 13">
            <a:extLst>
              <a:ext uri="{FF2B5EF4-FFF2-40B4-BE49-F238E27FC236}">
                <a16:creationId xmlns:a16="http://schemas.microsoft.com/office/drawing/2014/main" id="{62EED9C9-ADB1-F49F-C9E8-BCEDC979E7D3}"/>
              </a:ext>
            </a:extLst>
          </p:cNvPr>
          <p:cNvSpPr/>
          <p:nvPr/>
        </p:nvSpPr>
        <p:spPr>
          <a:xfrm>
            <a:off x="6375400" y="1418847"/>
            <a:ext cx="2768600" cy="2717340"/>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a:extLst>
              <a:ext uri="{FF2B5EF4-FFF2-40B4-BE49-F238E27FC236}">
                <a16:creationId xmlns:a16="http://schemas.microsoft.com/office/drawing/2014/main" id="{AB2C481B-FB38-BECE-2DE8-D9D4EB3289D9}"/>
              </a:ext>
            </a:extLst>
          </p:cNvPr>
          <p:cNvSpPr/>
          <p:nvPr/>
        </p:nvSpPr>
        <p:spPr>
          <a:xfrm>
            <a:off x="9144000" y="1556565"/>
            <a:ext cx="2908300" cy="2948954"/>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框 16">
            <a:extLst>
              <a:ext uri="{FF2B5EF4-FFF2-40B4-BE49-F238E27FC236}">
                <a16:creationId xmlns:a16="http://schemas.microsoft.com/office/drawing/2014/main" id="{DA59E047-8AF4-FBDA-9DDE-042116EA584A}"/>
              </a:ext>
            </a:extLst>
          </p:cNvPr>
          <p:cNvSpPr txBox="1"/>
          <p:nvPr/>
        </p:nvSpPr>
        <p:spPr>
          <a:xfrm>
            <a:off x="6680200" y="994500"/>
            <a:ext cx="6096000" cy="369332"/>
          </a:xfrm>
          <a:prstGeom prst="rect">
            <a:avLst/>
          </a:prstGeom>
          <a:noFill/>
        </p:spPr>
        <p:txBody>
          <a:bodyPr wrap="square">
            <a:spAutoFit/>
          </a:bodyPr>
          <a:lstStyle/>
          <a:p>
            <a:r>
              <a:rPr lang="zh-CN" altLang="en-US" dirty="0">
                <a:solidFill>
                  <a:srgbClr val="C00000"/>
                </a:solidFill>
              </a:rPr>
              <a:t>用于训练模型的数据</a:t>
            </a:r>
          </a:p>
        </p:txBody>
      </p:sp>
      <p:sp>
        <p:nvSpPr>
          <p:cNvPr id="19" name="文本框 18">
            <a:extLst>
              <a:ext uri="{FF2B5EF4-FFF2-40B4-BE49-F238E27FC236}">
                <a16:creationId xmlns:a16="http://schemas.microsoft.com/office/drawing/2014/main" id="{8280885C-1DAE-9B66-0A11-56D06FBFAAA4}"/>
              </a:ext>
            </a:extLst>
          </p:cNvPr>
          <p:cNvSpPr txBox="1"/>
          <p:nvPr/>
        </p:nvSpPr>
        <p:spPr>
          <a:xfrm>
            <a:off x="9791700" y="4136187"/>
            <a:ext cx="6388100" cy="369332"/>
          </a:xfrm>
          <a:prstGeom prst="rect">
            <a:avLst/>
          </a:prstGeom>
          <a:noFill/>
        </p:spPr>
        <p:txBody>
          <a:bodyPr wrap="square">
            <a:spAutoFit/>
          </a:bodyPr>
          <a:lstStyle/>
          <a:p>
            <a:r>
              <a:rPr lang="zh-CN" altLang="en-US" dirty="0">
                <a:solidFill>
                  <a:srgbClr val="C00000"/>
                </a:solidFill>
              </a:rPr>
              <a:t>用于测试模型的数据</a:t>
            </a:r>
          </a:p>
        </p:txBody>
      </p:sp>
      <p:sp>
        <p:nvSpPr>
          <p:cNvPr id="25" name="文本框 24">
            <a:extLst>
              <a:ext uri="{FF2B5EF4-FFF2-40B4-BE49-F238E27FC236}">
                <a16:creationId xmlns:a16="http://schemas.microsoft.com/office/drawing/2014/main" id="{C521B16A-11AC-A5D0-55F1-A90C4C6ACB84}"/>
              </a:ext>
            </a:extLst>
          </p:cNvPr>
          <p:cNvSpPr txBox="1"/>
          <p:nvPr/>
        </p:nvSpPr>
        <p:spPr>
          <a:xfrm>
            <a:off x="286385" y="5552105"/>
            <a:ext cx="4521200" cy="800219"/>
          </a:xfrm>
          <a:prstGeom prst="rect">
            <a:avLst/>
          </a:prstGeom>
          <a:noFill/>
        </p:spPr>
        <p:txBody>
          <a:bodyPr wrap="square">
            <a:spAutoFit/>
          </a:bodyPr>
          <a:lstStyle/>
          <a:p>
            <a:r>
              <a:rPr lang="zh-CN" altLang="en-US" sz="1400" b="1" i="0" dirty="0">
                <a:solidFill>
                  <a:srgbClr val="000000"/>
                </a:solidFill>
                <a:effectLst/>
                <a:latin typeface="-apple-system"/>
              </a:rPr>
              <a:t>多设备同步：​</a:t>
            </a:r>
            <a:r>
              <a:rPr lang="zh-CN" altLang="en-US" sz="1400" b="0" i="0" dirty="0">
                <a:solidFill>
                  <a:srgbClr val="000000"/>
                </a:solidFill>
                <a:effectLst/>
                <a:latin typeface="-apple-system"/>
              </a:rPr>
              <a:t>​ 在公寓和大厅等大面积环境中，部署多个</a:t>
            </a:r>
            <a:r>
              <a:rPr lang="en-US" altLang="zh-CN" sz="1400" b="0" i="0" dirty="0" err="1">
                <a:solidFill>
                  <a:srgbClr val="000000"/>
                </a:solidFill>
                <a:effectLst/>
                <a:latin typeface="-apple-system"/>
              </a:rPr>
              <a:t>WiFi</a:t>
            </a:r>
            <a:r>
              <a:rPr lang="zh-CN" altLang="en-US" sz="1400" b="0" i="0" dirty="0">
                <a:solidFill>
                  <a:srgbClr val="000000"/>
                </a:solidFill>
                <a:effectLst/>
                <a:latin typeface="-apple-system"/>
              </a:rPr>
              <a:t>接收设备，并通过中央服务器同步它们的</a:t>
            </a:r>
            <a:r>
              <a:rPr lang="en-US" altLang="zh-CN" sz="1400" b="0" i="0" dirty="0">
                <a:solidFill>
                  <a:srgbClr val="000000"/>
                </a:solidFill>
                <a:effectLst/>
                <a:latin typeface="-apple-system"/>
              </a:rPr>
              <a:t>CSI</a:t>
            </a:r>
            <a:r>
              <a:rPr lang="zh-CN" altLang="en-US" sz="1400" b="0" i="0" dirty="0">
                <a:solidFill>
                  <a:srgbClr val="000000"/>
                </a:solidFill>
                <a:effectLst/>
                <a:latin typeface="-apple-system"/>
              </a:rPr>
              <a:t>数据，以确保全面覆盖</a:t>
            </a:r>
            <a:r>
              <a:rPr lang="zh-CN" altLang="en-US" b="0" i="0" dirty="0">
                <a:solidFill>
                  <a:srgbClr val="000000"/>
                </a:solidFill>
                <a:effectLst/>
                <a:latin typeface="-apple-system"/>
              </a:rPr>
              <a:t>。</a:t>
            </a:r>
            <a:endParaRPr lang="zh-CN" altLang="en-US" dirty="0"/>
          </a:p>
        </p:txBody>
      </p:sp>
    </p:spTree>
    <p:custDataLst>
      <p:tags r:id="rId1"/>
    </p:custDataLst>
    <p:extLst>
      <p:ext uri="{BB962C8B-B14F-4D97-AF65-F5344CB8AC3E}">
        <p14:creationId xmlns:p14="http://schemas.microsoft.com/office/powerpoint/2010/main" val="411237092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CCC5B-4646-4A60-CD66-F31E70699D32}"/>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37F19159-B608-EA19-54E0-688344B533FD}"/>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1F9641C5-337C-7E57-AFF7-98DAA869F1AC}"/>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C831D96C-70EC-9150-5709-86E880F59715}"/>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91E71552-B18C-E7A7-5CBE-8E2A7C254809}"/>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7875AC5B-3DE2-36E8-0927-8518DBAE2D1B}"/>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评估</a:t>
            </a:r>
          </a:p>
        </p:txBody>
      </p:sp>
      <p:sp>
        <p:nvSpPr>
          <p:cNvPr id="4" name="文本框 3">
            <a:extLst>
              <a:ext uri="{FF2B5EF4-FFF2-40B4-BE49-F238E27FC236}">
                <a16:creationId xmlns:a16="http://schemas.microsoft.com/office/drawing/2014/main" id="{709C7A14-D89A-D4E1-6517-EEBB81534608}"/>
              </a:ext>
            </a:extLst>
          </p:cNvPr>
          <p:cNvSpPr txBox="1"/>
          <p:nvPr/>
        </p:nvSpPr>
        <p:spPr>
          <a:xfrm>
            <a:off x="279400" y="1133000"/>
            <a:ext cx="6096000" cy="461665"/>
          </a:xfrm>
          <a:prstGeom prst="rect">
            <a:avLst/>
          </a:prstGeom>
          <a:noFill/>
        </p:spPr>
        <p:txBody>
          <a:bodyPr wrap="square">
            <a:spAutoFit/>
          </a:bodyPr>
          <a:lstStyle/>
          <a:p>
            <a:r>
              <a:rPr lang="en-US" altLang="zh-CN" sz="2400" b="1" dirty="0">
                <a:solidFill>
                  <a:srgbClr val="000000"/>
                </a:solidFill>
                <a:latin typeface="Helvetica Neue"/>
              </a:rPr>
              <a:t>6.5</a:t>
            </a:r>
            <a:r>
              <a:rPr lang="zh-CN" altLang="en-US" sz="2400" b="1" dirty="0">
                <a:solidFill>
                  <a:srgbClr val="000000"/>
                </a:solidFill>
                <a:latin typeface="Helvetica Neue"/>
              </a:rPr>
              <a:t>系统评估与比较</a:t>
            </a:r>
          </a:p>
        </p:txBody>
      </p:sp>
      <p:sp>
        <p:nvSpPr>
          <p:cNvPr id="6" name="文本框 5">
            <a:extLst>
              <a:ext uri="{FF2B5EF4-FFF2-40B4-BE49-F238E27FC236}">
                <a16:creationId xmlns:a16="http://schemas.microsoft.com/office/drawing/2014/main" id="{C2841804-FA7D-7815-E005-0893D2BE1FCC}"/>
              </a:ext>
            </a:extLst>
          </p:cNvPr>
          <p:cNvSpPr txBox="1"/>
          <p:nvPr/>
        </p:nvSpPr>
        <p:spPr>
          <a:xfrm>
            <a:off x="279400" y="1805105"/>
            <a:ext cx="6096000" cy="369332"/>
          </a:xfrm>
          <a:prstGeom prst="rect">
            <a:avLst/>
          </a:prstGeom>
          <a:noFill/>
        </p:spPr>
        <p:txBody>
          <a:bodyPr wrap="square">
            <a:spAutoFit/>
          </a:bodyPr>
          <a:lstStyle/>
          <a:p>
            <a:pPr fontAlgn="base"/>
            <a:r>
              <a:rPr lang="en-US" altLang="zh-CN" b="1" dirty="0"/>
              <a:t>6.5.2</a:t>
            </a:r>
            <a:r>
              <a:rPr lang="zh-CN" altLang="en-US" b="1" dirty="0"/>
              <a:t>鲁棒性</a:t>
            </a:r>
          </a:p>
        </p:txBody>
      </p:sp>
      <p:pic>
        <p:nvPicPr>
          <p:cNvPr id="3" name="图片 2">
            <a:extLst>
              <a:ext uri="{FF2B5EF4-FFF2-40B4-BE49-F238E27FC236}">
                <a16:creationId xmlns:a16="http://schemas.microsoft.com/office/drawing/2014/main" id="{7F654089-AF7D-1748-54FD-11A447C5A3EA}"/>
              </a:ext>
            </a:extLst>
          </p:cNvPr>
          <p:cNvPicPr>
            <a:picLocks noChangeAspect="1"/>
          </p:cNvPicPr>
          <p:nvPr/>
        </p:nvPicPr>
        <p:blipFill>
          <a:blip r:embed="rId5"/>
          <a:stretch>
            <a:fillRect/>
          </a:stretch>
        </p:blipFill>
        <p:spPr>
          <a:xfrm>
            <a:off x="5179805" y="1874191"/>
            <a:ext cx="6847619" cy="2390476"/>
          </a:xfrm>
          <a:prstGeom prst="rect">
            <a:avLst/>
          </a:prstGeom>
        </p:spPr>
      </p:pic>
      <p:sp>
        <p:nvSpPr>
          <p:cNvPr id="8" name="文本框 7">
            <a:extLst>
              <a:ext uri="{FF2B5EF4-FFF2-40B4-BE49-F238E27FC236}">
                <a16:creationId xmlns:a16="http://schemas.microsoft.com/office/drawing/2014/main" id="{E1893BFC-1F18-A72C-D459-8BA8652ADFE0}"/>
              </a:ext>
            </a:extLst>
          </p:cNvPr>
          <p:cNvSpPr txBox="1"/>
          <p:nvPr/>
        </p:nvSpPr>
        <p:spPr>
          <a:xfrm>
            <a:off x="279400" y="2551837"/>
            <a:ext cx="4712224" cy="1754326"/>
          </a:xfrm>
          <a:prstGeom prst="rect">
            <a:avLst/>
          </a:prstGeom>
          <a:noFill/>
        </p:spPr>
        <p:txBody>
          <a:bodyPr wrap="square">
            <a:spAutoFit/>
          </a:bodyPr>
          <a:lstStyle/>
          <a:p>
            <a:r>
              <a:rPr lang="zh-CN" altLang="en-US" b="0" i="0" dirty="0">
                <a:solidFill>
                  <a:srgbClr val="000000"/>
                </a:solidFill>
                <a:effectLst/>
                <a:latin typeface="-apple-system"/>
              </a:rPr>
              <a:t>评估</a:t>
            </a:r>
            <a:r>
              <a:rPr lang="zh-CN" altLang="en-US" b="1" i="0" dirty="0">
                <a:solidFill>
                  <a:srgbClr val="000000"/>
                </a:solidFill>
                <a:effectLst/>
                <a:latin typeface="-apple-system"/>
              </a:rPr>
              <a:t>家具位置变化对系统鲁棒性</a:t>
            </a:r>
            <a:r>
              <a:rPr lang="zh-CN" altLang="en-US" b="0" i="0" dirty="0">
                <a:solidFill>
                  <a:srgbClr val="000000"/>
                </a:solidFill>
                <a:effectLst/>
                <a:latin typeface="-apple-system"/>
              </a:rPr>
              <a:t>的影响。</a:t>
            </a:r>
            <a:endParaRPr lang="en-US" altLang="zh-CN" b="0" i="0" dirty="0">
              <a:solidFill>
                <a:srgbClr val="000000"/>
              </a:solidFill>
              <a:effectLst/>
              <a:latin typeface="-apple-system"/>
            </a:endParaRPr>
          </a:p>
          <a:p>
            <a:r>
              <a:rPr lang="zh-CN" altLang="en-US" dirty="0"/>
              <a:t>测试表明</a:t>
            </a:r>
            <a:r>
              <a:rPr lang="en-US" altLang="zh-CN" dirty="0"/>
              <a:t>,</a:t>
            </a:r>
            <a:r>
              <a:rPr lang="zh-CN" altLang="en-US" b="1" dirty="0"/>
              <a:t>轻微</a:t>
            </a:r>
            <a:r>
              <a:rPr lang="zh-CN" altLang="en-US" dirty="0"/>
              <a:t>的环境变化（如开关门、灯光变化）对性能影响</a:t>
            </a:r>
            <a:r>
              <a:rPr lang="zh-CN" altLang="en-US" b="1" dirty="0"/>
              <a:t>较小</a:t>
            </a:r>
            <a:r>
              <a:rPr lang="zh-CN" altLang="en-US" dirty="0"/>
              <a:t>；</a:t>
            </a:r>
            <a:endParaRPr lang="en-US" altLang="zh-CN" dirty="0"/>
          </a:p>
          <a:p>
            <a:r>
              <a:rPr lang="zh-CN" altLang="en-US" b="1" dirty="0"/>
              <a:t>重大</a:t>
            </a:r>
            <a:r>
              <a:rPr lang="zh-CN" altLang="en-US" dirty="0"/>
              <a:t>的布局变化</a:t>
            </a:r>
            <a:r>
              <a:rPr lang="en-US" altLang="zh-CN" dirty="0"/>
              <a:t>(LOS</a:t>
            </a:r>
            <a:r>
              <a:rPr lang="zh-CN" altLang="en-US" dirty="0"/>
              <a:t>路径</a:t>
            </a:r>
            <a:r>
              <a:rPr lang="en-US" altLang="zh-CN" dirty="0"/>
              <a:t>)</a:t>
            </a:r>
            <a:r>
              <a:rPr lang="zh-CN" altLang="en-US" dirty="0"/>
              <a:t>会导致性能</a:t>
            </a:r>
            <a:r>
              <a:rPr lang="zh-CN" altLang="en-US" b="1" dirty="0"/>
              <a:t>显著</a:t>
            </a:r>
            <a:r>
              <a:rPr lang="zh-CN" altLang="en-US" dirty="0"/>
              <a:t>下降。</a:t>
            </a:r>
            <a:endParaRPr lang="en-US" altLang="zh-CN" b="0" i="0" dirty="0">
              <a:solidFill>
                <a:srgbClr val="000000"/>
              </a:solidFill>
              <a:effectLst/>
              <a:latin typeface="-apple-system"/>
            </a:endParaRPr>
          </a:p>
          <a:p>
            <a:r>
              <a:rPr lang="zh-CN" altLang="en-US" b="0" i="0" dirty="0">
                <a:solidFill>
                  <a:srgbClr val="000000"/>
                </a:solidFill>
                <a:effectLst/>
                <a:latin typeface="-apple-system"/>
              </a:rPr>
              <a:t>但通过</a:t>
            </a:r>
            <a:r>
              <a:rPr lang="zh-CN" altLang="en-US" b="1" i="0" dirty="0">
                <a:solidFill>
                  <a:srgbClr val="000000"/>
                </a:solidFill>
                <a:effectLst/>
                <a:latin typeface="-apple-system"/>
              </a:rPr>
              <a:t>重新训练</a:t>
            </a:r>
            <a:r>
              <a:rPr lang="zh-CN" altLang="en-US" b="0" i="0" dirty="0">
                <a:solidFill>
                  <a:srgbClr val="000000"/>
                </a:solidFill>
                <a:effectLst/>
                <a:latin typeface="-apple-system"/>
              </a:rPr>
              <a:t>模型，性能可以得到</a:t>
            </a:r>
            <a:r>
              <a:rPr lang="zh-CN" altLang="en-US" b="1" i="0" dirty="0">
                <a:solidFill>
                  <a:srgbClr val="000000"/>
                </a:solidFill>
                <a:effectLst/>
                <a:latin typeface="-apple-system"/>
              </a:rPr>
              <a:t>恢复</a:t>
            </a:r>
            <a:r>
              <a:rPr lang="zh-CN" altLang="en-US" dirty="0"/>
              <a:t>。</a:t>
            </a:r>
          </a:p>
        </p:txBody>
      </p:sp>
      <p:sp>
        <p:nvSpPr>
          <p:cNvPr id="10" name="文本框 9">
            <a:extLst>
              <a:ext uri="{FF2B5EF4-FFF2-40B4-BE49-F238E27FC236}">
                <a16:creationId xmlns:a16="http://schemas.microsoft.com/office/drawing/2014/main" id="{ACC7050E-DBC7-880C-077D-DC184786E8CD}"/>
              </a:ext>
            </a:extLst>
          </p:cNvPr>
          <p:cNvSpPr txBox="1"/>
          <p:nvPr/>
        </p:nvSpPr>
        <p:spPr>
          <a:xfrm>
            <a:off x="7137402" y="4359527"/>
            <a:ext cx="6096000" cy="369332"/>
          </a:xfrm>
          <a:prstGeom prst="rect">
            <a:avLst/>
          </a:prstGeom>
          <a:noFill/>
        </p:spPr>
        <p:txBody>
          <a:bodyPr wrap="square">
            <a:spAutoFit/>
          </a:bodyPr>
          <a:lstStyle/>
          <a:p>
            <a:r>
              <a:rPr lang="zh-CN" altLang="en-US" dirty="0">
                <a:solidFill>
                  <a:srgbClr val="C00000"/>
                </a:solidFill>
                <a:latin typeface="-apple-system"/>
              </a:rPr>
              <a:t>移动到门口</a:t>
            </a:r>
          </a:p>
        </p:txBody>
      </p:sp>
      <p:sp>
        <p:nvSpPr>
          <p:cNvPr id="12" name="文本框 11">
            <a:extLst>
              <a:ext uri="{FF2B5EF4-FFF2-40B4-BE49-F238E27FC236}">
                <a16:creationId xmlns:a16="http://schemas.microsoft.com/office/drawing/2014/main" id="{51C1A038-A573-1033-8449-0A0E66A7E964}"/>
              </a:ext>
            </a:extLst>
          </p:cNvPr>
          <p:cNvSpPr txBox="1"/>
          <p:nvPr/>
        </p:nvSpPr>
        <p:spPr>
          <a:xfrm>
            <a:off x="8603614" y="4371523"/>
            <a:ext cx="6616700" cy="369332"/>
          </a:xfrm>
          <a:prstGeom prst="rect">
            <a:avLst/>
          </a:prstGeom>
          <a:noFill/>
        </p:spPr>
        <p:txBody>
          <a:bodyPr wrap="square">
            <a:spAutoFit/>
          </a:bodyPr>
          <a:lstStyle/>
          <a:p>
            <a:r>
              <a:rPr lang="zh-CN" altLang="en-US" dirty="0">
                <a:solidFill>
                  <a:srgbClr val="C00000"/>
                </a:solidFill>
                <a:latin typeface="-apple-system"/>
              </a:rPr>
              <a:t>移动到</a:t>
            </a:r>
            <a:r>
              <a:rPr lang="en-US" altLang="zh-CN" dirty="0">
                <a:solidFill>
                  <a:srgbClr val="C00000"/>
                </a:solidFill>
                <a:latin typeface="-apple-system"/>
              </a:rPr>
              <a:t>LOS</a:t>
            </a:r>
            <a:r>
              <a:rPr lang="zh-CN" altLang="en-US" dirty="0">
                <a:solidFill>
                  <a:srgbClr val="C00000"/>
                </a:solidFill>
                <a:latin typeface="-apple-system"/>
              </a:rPr>
              <a:t>路径</a:t>
            </a:r>
          </a:p>
        </p:txBody>
      </p:sp>
      <p:sp>
        <p:nvSpPr>
          <p:cNvPr id="14" name="文本框 13">
            <a:extLst>
              <a:ext uri="{FF2B5EF4-FFF2-40B4-BE49-F238E27FC236}">
                <a16:creationId xmlns:a16="http://schemas.microsoft.com/office/drawing/2014/main" id="{CF15CA74-C913-132A-D76F-7C9668368DA9}"/>
              </a:ext>
            </a:extLst>
          </p:cNvPr>
          <p:cNvSpPr txBox="1"/>
          <p:nvPr/>
        </p:nvSpPr>
        <p:spPr>
          <a:xfrm>
            <a:off x="10306050" y="4371523"/>
            <a:ext cx="7607300" cy="369332"/>
          </a:xfrm>
          <a:prstGeom prst="rect">
            <a:avLst/>
          </a:prstGeom>
          <a:noFill/>
        </p:spPr>
        <p:txBody>
          <a:bodyPr wrap="square">
            <a:spAutoFit/>
          </a:bodyPr>
          <a:lstStyle/>
          <a:p>
            <a:r>
              <a:rPr lang="zh-CN" altLang="en-US" b="0" i="0" dirty="0">
                <a:solidFill>
                  <a:srgbClr val="C00000"/>
                </a:solidFill>
                <a:effectLst/>
                <a:latin typeface="-apple-system"/>
              </a:rPr>
              <a:t>重新训练模型</a:t>
            </a:r>
            <a:endParaRPr lang="zh-CN" altLang="en-US" dirty="0">
              <a:solidFill>
                <a:srgbClr val="C00000"/>
              </a:solidFill>
            </a:endParaRPr>
          </a:p>
        </p:txBody>
      </p:sp>
    </p:spTree>
    <p:custDataLst>
      <p:tags r:id="rId1"/>
    </p:custDataLst>
    <p:extLst>
      <p:ext uri="{BB962C8B-B14F-4D97-AF65-F5344CB8AC3E}">
        <p14:creationId xmlns:p14="http://schemas.microsoft.com/office/powerpoint/2010/main" val="51037978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91D90-562B-47D3-5870-35EA612402E6}"/>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CD1250A7-08ED-83B6-8DF4-13D14579CB81}"/>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2C650EBB-15BD-460D-FE5E-4AB6F89C72CD}"/>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B2C554A6-A477-0E1A-B19B-2857D5F61285}"/>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178365A4-32B6-6964-3E9E-4B1CD862AFCA}"/>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78034C66-72BA-D7C7-6438-F854B6FEBF1C}"/>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评估</a:t>
            </a:r>
          </a:p>
        </p:txBody>
      </p:sp>
      <p:sp>
        <p:nvSpPr>
          <p:cNvPr id="4" name="文本框 3">
            <a:extLst>
              <a:ext uri="{FF2B5EF4-FFF2-40B4-BE49-F238E27FC236}">
                <a16:creationId xmlns:a16="http://schemas.microsoft.com/office/drawing/2014/main" id="{AC10779B-CAB7-BD65-531A-CC8D0CE8F542}"/>
              </a:ext>
            </a:extLst>
          </p:cNvPr>
          <p:cNvSpPr txBox="1"/>
          <p:nvPr/>
        </p:nvSpPr>
        <p:spPr>
          <a:xfrm>
            <a:off x="279400" y="1133000"/>
            <a:ext cx="6096000" cy="461665"/>
          </a:xfrm>
          <a:prstGeom prst="rect">
            <a:avLst/>
          </a:prstGeom>
          <a:noFill/>
        </p:spPr>
        <p:txBody>
          <a:bodyPr wrap="square">
            <a:spAutoFit/>
          </a:bodyPr>
          <a:lstStyle/>
          <a:p>
            <a:r>
              <a:rPr lang="zh-CN" altLang="en-US" sz="2400" b="1" dirty="0">
                <a:solidFill>
                  <a:srgbClr val="000000"/>
                </a:solidFill>
                <a:latin typeface="Helvetica Neue"/>
              </a:rPr>
              <a:t>系统评估与比较</a:t>
            </a:r>
          </a:p>
        </p:txBody>
      </p:sp>
      <p:sp>
        <p:nvSpPr>
          <p:cNvPr id="6" name="文本框 5">
            <a:extLst>
              <a:ext uri="{FF2B5EF4-FFF2-40B4-BE49-F238E27FC236}">
                <a16:creationId xmlns:a16="http://schemas.microsoft.com/office/drawing/2014/main" id="{3349D9BB-C15D-AD6A-939B-811642F2046C}"/>
              </a:ext>
            </a:extLst>
          </p:cNvPr>
          <p:cNvSpPr txBox="1"/>
          <p:nvPr/>
        </p:nvSpPr>
        <p:spPr>
          <a:xfrm>
            <a:off x="279400" y="1798045"/>
            <a:ext cx="6096000" cy="369332"/>
          </a:xfrm>
          <a:prstGeom prst="rect">
            <a:avLst/>
          </a:prstGeom>
          <a:noFill/>
        </p:spPr>
        <p:txBody>
          <a:bodyPr wrap="square">
            <a:spAutoFit/>
          </a:bodyPr>
          <a:lstStyle/>
          <a:p>
            <a:pPr fontAlgn="base"/>
            <a:r>
              <a:rPr lang="en-US" altLang="zh-CN" b="1" dirty="0"/>
              <a:t>6.5.2</a:t>
            </a:r>
            <a:r>
              <a:rPr lang="zh-CN" altLang="en-US" b="1" dirty="0"/>
              <a:t>鲁棒性</a:t>
            </a:r>
          </a:p>
        </p:txBody>
      </p:sp>
      <p:pic>
        <p:nvPicPr>
          <p:cNvPr id="3" name="图片 2">
            <a:extLst>
              <a:ext uri="{FF2B5EF4-FFF2-40B4-BE49-F238E27FC236}">
                <a16:creationId xmlns:a16="http://schemas.microsoft.com/office/drawing/2014/main" id="{653749B6-F204-74BA-F276-8053EA3021CC}"/>
              </a:ext>
            </a:extLst>
          </p:cNvPr>
          <p:cNvPicPr>
            <a:picLocks noChangeAspect="1"/>
          </p:cNvPicPr>
          <p:nvPr/>
        </p:nvPicPr>
        <p:blipFill>
          <a:blip r:embed="rId5"/>
          <a:stretch>
            <a:fillRect/>
          </a:stretch>
        </p:blipFill>
        <p:spPr>
          <a:xfrm>
            <a:off x="4559300" y="1880546"/>
            <a:ext cx="7353300" cy="2586333"/>
          </a:xfrm>
          <a:prstGeom prst="rect">
            <a:avLst/>
          </a:prstGeom>
        </p:spPr>
      </p:pic>
      <p:sp>
        <p:nvSpPr>
          <p:cNvPr id="8" name="文本框 7">
            <a:extLst>
              <a:ext uri="{FF2B5EF4-FFF2-40B4-BE49-F238E27FC236}">
                <a16:creationId xmlns:a16="http://schemas.microsoft.com/office/drawing/2014/main" id="{1202C4C1-5401-46EF-49D3-1CC797515CAB}"/>
              </a:ext>
            </a:extLst>
          </p:cNvPr>
          <p:cNvSpPr txBox="1"/>
          <p:nvPr/>
        </p:nvSpPr>
        <p:spPr>
          <a:xfrm>
            <a:off x="279400" y="2490686"/>
            <a:ext cx="4445000" cy="2308324"/>
          </a:xfrm>
          <a:prstGeom prst="rect">
            <a:avLst/>
          </a:prstGeom>
          <a:noFill/>
        </p:spPr>
        <p:txBody>
          <a:bodyPr wrap="square">
            <a:spAutoFit/>
          </a:bodyPr>
          <a:lstStyle/>
          <a:p>
            <a:r>
              <a:rPr lang="zh-CN" altLang="en-US" dirty="0">
                <a:solidFill>
                  <a:srgbClr val="000000"/>
                </a:solidFill>
                <a:latin typeface="-apple-system"/>
              </a:rPr>
              <a:t>评估</a:t>
            </a:r>
            <a:r>
              <a:rPr lang="zh-CN" altLang="en-US" b="1" dirty="0"/>
              <a:t>不同房间环境</a:t>
            </a:r>
            <a:r>
              <a:rPr lang="zh-CN" altLang="en-US" b="1" dirty="0">
                <a:solidFill>
                  <a:srgbClr val="000000"/>
                </a:solidFill>
                <a:latin typeface="-apple-system"/>
              </a:rPr>
              <a:t>对系统鲁棒性</a:t>
            </a:r>
            <a:r>
              <a:rPr lang="zh-CN" altLang="en-US" dirty="0">
                <a:solidFill>
                  <a:srgbClr val="000000"/>
                </a:solidFill>
                <a:latin typeface="-apple-system"/>
              </a:rPr>
              <a:t>的影响。</a:t>
            </a:r>
            <a:endParaRPr lang="en-US" altLang="zh-CN" dirty="0">
              <a:solidFill>
                <a:srgbClr val="000000"/>
              </a:solidFill>
              <a:latin typeface="-apple-system"/>
            </a:endParaRPr>
          </a:p>
          <a:p>
            <a:endParaRPr lang="en-US" altLang="zh-CN" b="0" i="0" dirty="0">
              <a:solidFill>
                <a:srgbClr val="000000"/>
              </a:solidFill>
              <a:effectLst/>
              <a:latin typeface="-apple-system"/>
            </a:endParaRPr>
          </a:p>
          <a:p>
            <a:r>
              <a:rPr lang="zh-CN" altLang="en-US" b="0" i="0" dirty="0">
                <a:solidFill>
                  <a:srgbClr val="000000"/>
                </a:solidFill>
                <a:effectLst/>
                <a:latin typeface="-apple-system"/>
              </a:rPr>
              <a:t>图表比较了同一模型即</a:t>
            </a:r>
            <a:r>
              <a:rPr lang="zh-CN" altLang="en-US" b="1" i="0" dirty="0">
                <a:solidFill>
                  <a:srgbClr val="000000"/>
                </a:solidFill>
                <a:effectLst/>
                <a:latin typeface="-apple-system"/>
              </a:rPr>
              <a:t>使用在办公室训练</a:t>
            </a:r>
            <a:r>
              <a:rPr lang="zh-CN" altLang="en-US" b="0" i="0" dirty="0">
                <a:solidFill>
                  <a:srgbClr val="000000"/>
                </a:solidFill>
                <a:effectLst/>
                <a:latin typeface="-apple-system"/>
              </a:rPr>
              <a:t>的模型直接在其他环境（公寓、会议室、大厅）中测试时的性能变化。</a:t>
            </a:r>
            <a:endParaRPr lang="en-US" altLang="zh-CN" b="0" i="0" dirty="0">
              <a:solidFill>
                <a:srgbClr val="000000"/>
              </a:solidFill>
              <a:effectLst/>
              <a:latin typeface="-apple-system"/>
            </a:endParaRPr>
          </a:p>
          <a:p>
            <a:endParaRPr lang="en-US" altLang="zh-CN" dirty="0">
              <a:solidFill>
                <a:srgbClr val="000000"/>
              </a:solidFill>
              <a:latin typeface="-apple-system"/>
            </a:endParaRPr>
          </a:p>
          <a:p>
            <a:r>
              <a:rPr lang="zh-CN" altLang="en-US" b="0" i="0" dirty="0">
                <a:solidFill>
                  <a:srgbClr val="000000"/>
                </a:solidFill>
                <a:effectLst/>
                <a:latin typeface="-apple-system"/>
              </a:rPr>
              <a:t>结果显示，</a:t>
            </a:r>
            <a:r>
              <a:rPr lang="zh-CN" altLang="en-US" b="1" i="0" dirty="0">
                <a:solidFill>
                  <a:srgbClr val="000000"/>
                </a:solidFill>
                <a:effectLst/>
                <a:latin typeface="-apple-system"/>
              </a:rPr>
              <a:t>跨环境</a:t>
            </a:r>
            <a:r>
              <a:rPr lang="zh-CN" altLang="en-US" b="0" i="0" dirty="0">
                <a:solidFill>
                  <a:srgbClr val="000000"/>
                </a:solidFill>
                <a:effectLst/>
                <a:latin typeface="-apple-system"/>
              </a:rPr>
              <a:t>测试时性能有所</a:t>
            </a:r>
            <a:r>
              <a:rPr lang="zh-CN" altLang="en-US" b="1" i="0" dirty="0">
                <a:solidFill>
                  <a:srgbClr val="000000"/>
                </a:solidFill>
                <a:effectLst/>
                <a:latin typeface="-apple-system"/>
              </a:rPr>
              <a:t>下降</a:t>
            </a:r>
            <a:r>
              <a:rPr lang="zh-CN" altLang="en-US" b="0" i="0" dirty="0">
                <a:solidFill>
                  <a:srgbClr val="000000"/>
                </a:solidFill>
                <a:effectLst/>
                <a:latin typeface="-apple-system"/>
              </a:rPr>
              <a:t>，</a:t>
            </a:r>
            <a:r>
              <a:rPr lang="zh-CN" altLang="en-US" dirty="0"/>
              <a:t>凸显了</a:t>
            </a:r>
            <a:r>
              <a:rPr lang="zh-CN" altLang="en-US" b="1" dirty="0"/>
              <a:t>模型对环境特征的依赖性</a:t>
            </a:r>
            <a:r>
              <a:rPr lang="zh-CN" altLang="en-US" b="0" i="0" dirty="0">
                <a:solidFill>
                  <a:srgbClr val="000000"/>
                </a:solidFill>
                <a:effectLst/>
                <a:latin typeface="-apple-system"/>
              </a:rPr>
              <a:t>。</a:t>
            </a:r>
            <a:endParaRPr lang="zh-CN" altLang="en-US" dirty="0"/>
          </a:p>
        </p:txBody>
      </p:sp>
      <p:sp>
        <p:nvSpPr>
          <p:cNvPr id="10" name="文本框 9">
            <a:extLst>
              <a:ext uri="{FF2B5EF4-FFF2-40B4-BE49-F238E27FC236}">
                <a16:creationId xmlns:a16="http://schemas.microsoft.com/office/drawing/2014/main" id="{744F62A6-D215-8F46-0617-1147445A62A0}"/>
              </a:ext>
            </a:extLst>
          </p:cNvPr>
          <p:cNvSpPr txBox="1"/>
          <p:nvPr/>
        </p:nvSpPr>
        <p:spPr>
          <a:xfrm>
            <a:off x="6794500" y="4479579"/>
            <a:ext cx="6096000" cy="369332"/>
          </a:xfrm>
          <a:prstGeom prst="rect">
            <a:avLst/>
          </a:prstGeom>
          <a:noFill/>
        </p:spPr>
        <p:txBody>
          <a:bodyPr wrap="square">
            <a:spAutoFit/>
          </a:bodyPr>
          <a:lstStyle/>
          <a:p>
            <a:r>
              <a:rPr lang="zh-CN" altLang="en-US" dirty="0">
                <a:solidFill>
                  <a:srgbClr val="C00000"/>
                </a:solidFill>
                <a:latin typeface="-apple-system"/>
              </a:rPr>
              <a:t>公寓中测试</a:t>
            </a:r>
          </a:p>
        </p:txBody>
      </p:sp>
      <p:sp>
        <p:nvSpPr>
          <p:cNvPr id="12" name="文本框 11">
            <a:extLst>
              <a:ext uri="{FF2B5EF4-FFF2-40B4-BE49-F238E27FC236}">
                <a16:creationId xmlns:a16="http://schemas.microsoft.com/office/drawing/2014/main" id="{5B1377FD-6BE8-98B7-2010-1F5EFA88FAEF}"/>
              </a:ext>
            </a:extLst>
          </p:cNvPr>
          <p:cNvSpPr txBox="1"/>
          <p:nvPr/>
        </p:nvSpPr>
        <p:spPr>
          <a:xfrm>
            <a:off x="8391525" y="4448392"/>
            <a:ext cx="6445250" cy="369332"/>
          </a:xfrm>
          <a:prstGeom prst="rect">
            <a:avLst/>
          </a:prstGeom>
          <a:noFill/>
        </p:spPr>
        <p:txBody>
          <a:bodyPr wrap="square">
            <a:spAutoFit/>
          </a:bodyPr>
          <a:lstStyle/>
          <a:p>
            <a:r>
              <a:rPr lang="zh-CN" altLang="en-US" dirty="0">
                <a:solidFill>
                  <a:srgbClr val="C00000"/>
                </a:solidFill>
                <a:latin typeface="-apple-system"/>
              </a:rPr>
              <a:t>会议室中测试</a:t>
            </a:r>
          </a:p>
        </p:txBody>
      </p:sp>
      <p:sp>
        <p:nvSpPr>
          <p:cNvPr id="14" name="文本框 13">
            <a:extLst>
              <a:ext uri="{FF2B5EF4-FFF2-40B4-BE49-F238E27FC236}">
                <a16:creationId xmlns:a16="http://schemas.microsoft.com/office/drawing/2014/main" id="{29BE49F5-C6BB-7DE4-3E82-AAA31F91C703}"/>
              </a:ext>
            </a:extLst>
          </p:cNvPr>
          <p:cNvSpPr txBox="1"/>
          <p:nvPr/>
        </p:nvSpPr>
        <p:spPr>
          <a:xfrm>
            <a:off x="10155238" y="4463986"/>
            <a:ext cx="7416800" cy="369332"/>
          </a:xfrm>
          <a:prstGeom prst="rect">
            <a:avLst/>
          </a:prstGeom>
          <a:noFill/>
        </p:spPr>
        <p:txBody>
          <a:bodyPr wrap="square">
            <a:spAutoFit/>
          </a:bodyPr>
          <a:lstStyle/>
          <a:p>
            <a:r>
              <a:rPr lang="zh-CN" altLang="en-US" dirty="0">
                <a:solidFill>
                  <a:srgbClr val="C00000"/>
                </a:solidFill>
                <a:latin typeface="-apple-system"/>
              </a:rPr>
              <a:t>大厅中测试</a:t>
            </a:r>
          </a:p>
        </p:txBody>
      </p:sp>
    </p:spTree>
    <p:custDataLst>
      <p:tags r:id="rId1"/>
    </p:custDataLst>
    <p:extLst>
      <p:ext uri="{BB962C8B-B14F-4D97-AF65-F5344CB8AC3E}">
        <p14:creationId xmlns:p14="http://schemas.microsoft.com/office/powerpoint/2010/main" val="32723333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E9664-4FC3-8FE8-9F5F-F622D64672A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5CC79B0E-41DB-BB59-7626-A9AE3EE597D2}"/>
              </a:ext>
            </a:extLst>
          </p:cNvPr>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1931D550-D4DE-D32C-4462-B35F5A2E5245}"/>
              </a:ext>
            </a:extLst>
          </p:cNvPr>
          <p:cNvSpPr txBox="1"/>
          <p:nvPr/>
        </p:nvSpPr>
        <p:spPr>
          <a:xfrm>
            <a:off x="5233272" y="2965048"/>
            <a:ext cx="1723549" cy="1015663"/>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讨论</a:t>
            </a:r>
          </a:p>
        </p:txBody>
      </p:sp>
      <p:grpSp>
        <p:nvGrpSpPr>
          <p:cNvPr id="12" name="组合 11">
            <a:extLst>
              <a:ext uri="{FF2B5EF4-FFF2-40B4-BE49-F238E27FC236}">
                <a16:creationId xmlns:a16="http://schemas.microsoft.com/office/drawing/2014/main" id="{A9AC3658-424A-3C2B-E898-31CA1463EFF9}"/>
              </a:ext>
            </a:extLst>
          </p:cNvPr>
          <p:cNvGrpSpPr/>
          <p:nvPr/>
        </p:nvGrpSpPr>
        <p:grpSpPr>
          <a:xfrm>
            <a:off x="5555048" y="1471295"/>
            <a:ext cx="1080000" cy="1080000"/>
            <a:chOff x="8049" y="2049"/>
            <a:chExt cx="1701" cy="1701"/>
          </a:xfrm>
        </p:grpSpPr>
        <p:sp>
          <p:nvSpPr>
            <p:cNvPr id="10" name="椭圆 9">
              <a:extLst>
                <a:ext uri="{FF2B5EF4-FFF2-40B4-BE49-F238E27FC236}">
                  <a16:creationId xmlns:a16="http://schemas.microsoft.com/office/drawing/2014/main" id="{B86C578E-49C6-37AB-88E6-7B016FC99F68}"/>
                </a:ext>
              </a:extLst>
            </p:cNvPr>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88D1880C-6F65-2795-63B1-BABDEB0BC262}"/>
                </a:ext>
              </a:extLst>
            </p:cNvPr>
            <p:cNvSpPr txBox="1"/>
            <p:nvPr/>
          </p:nvSpPr>
          <p:spPr>
            <a:xfrm>
              <a:off x="8380" y="2440"/>
              <a:ext cx="1048" cy="921"/>
            </a:xfrm>
            <a:prstGeom prst="rect">
              <a:avLst/>
            </a:prstGeom>
            <a:noFill/>
          </p:spPr>
          <p:txBody>
            <a:bodyPr wrap="non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rPr>
                <a:t>06</a:t>
              </a:r>
            </a:p>
          </p:txBody>
        </p:sp>
      </p:grpSp>
    </p:spTree>
    <p:custDataLst>
      <p:tags r:id="rId1"/>
    </p:custDataLst>
    <p:extLst>
      <p:ext uri="{BB962C8B-B14F-4D97-AF65-F5344CB8AC3E}">
        <p14:creationId xmlns:p14="http://schemas.microsoft.com/office/powerpoint/2010/main" val="117510348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C8CD4-8F09-EE39-06DE-96A0A17B1AFF}"/>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82884B6E-76C3-34CE-A73C-DB55D6A15AA9}"/>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B12AFA77-146A-F317-0805-802B82376793}"/>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59FCA001-F7ED-DD4E-8759-38310D3A2B2E}"/>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8633A4D7-1232-EEDB-50E4-7FFB0CE05753}"/>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F142DD50-6886-5026-BA25-846848A93222}"/>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讨论</a:t>
            </a:r>
          </a:p>
        </p:txBody>
      </p:sp>
      <p:sp>
        <p:nvSpPr>
          <p:cNvPr id="3" name="文本框 2">
            <a:extLst>
              <a:ext uri="{FF2B5EF4-FFF2-40B4-BE49-F238E27FC236}">
                <a16:creationId xmlns:a16="http://schemas.microsoft.com/office/drawing/2014/main" id="{E0CB074A-F86F-D689-9D69-BAFC35C4156D}"/>
              </a:ext>
            </a:extLst>
          </p:cNvPr>
          <p:cNvSpPr txBox="1"/>
          <p:nvPr/>
        </p:nvSpPr>
        <p:spPr>
          <a:xfrm>
            <a:off x="203200" y="1270119"/>
            <a:ext cx="6096000" cy="461665"/>
          </a:xfrm>
          <a:prstGeom prst="rect">
            <a:avLst/>
          </a:prstGeom>
          <a:noFill/>
        </p:spPr>
        <p:txBody>
          <a:bodyPr wrap="square">
            <a:spAutoFit/>
          </a:bodyPr>
          <a:lstStyle/>
          <a:p>
            <a:pPr algn="l" fontAlgn="base">
              <a:buNone/>
            </a:pPr>
            <a:r>
              <a:rPr lang="en-US" altLang="zh-CN" sz="2400" b="1" dirty="0">
                <a:solidFill>
                  <a:srgbClr val="000000"/>
                </a:solidFill>
                <a:effectLst/>
              </a:rPr>
              <a:t>7.1</a:t>
            </a:r>
            <a:r>
              <a:rPr lang="zh-CN" altLang="en-US" sz="2400" b="1" dirty="0">
                <a:solidFill>
                  <a:srgbClr val="000000"/>
                </a:solidFill>
                <a:effectLst/>
              </a:rPr>
              <a:t>检测错误的主要原因</a:t>
            </a:r>
          </a:p>
        </p:txBody>
      </p:sp>
      <p:sp>
        <p:nvSpPr>
          <p:cNvPr id="5" name="文本框 4">
            <a:extLst>
              <a:ext uri="{FF2B5EF4-FFF2-40B4-BE49-F238E27FC236}">
                <a16:creationId xmlns:a16="http://schemas.microsoft.com/office/drawing/2014/main" id="{D54A589B-F9C4-962D-0FA2-54261DA8C9BB}"/>
              </a:ext>
            </a:extLst>
          </p:cNvPr>
          <p:cNvSpPr txBox="1"/>
          <p:nvPr/>
        </p:nvSpPr>
        <p:spPr>
          <a:xfrm>
            <a:off x="202336" y="1943800"/>
            <a:ext cx="6096000" cy="923330"/>
          </a:xfrm>
          <a:prstGeom prst="rect">
            <a:avLst/>
          </a:prstGeom>
          <a:noFill/>
        </p:spPr>
        <p:txBody>
          <a:bodyPr wrap="square">
            <a:spAutoFit/>
          </a:bodyPr>
          <a:lstStyle/>
          <a:p>
            <a:r>
              <a:rPr lang="zh-CN" altLang="en-US" b="1" i="0" dirty="0">
                <a:solidFill>
                  <a:srgbClr val="000000"/>
                </a:solidFill>
                <a:effectLst/>
                <a:latin typeface="-apple-system"/>
              </a:rPr>
              <a:t>特征相似性</a:t>
            </a:r>
            <a:r>
              <a:rPr lang="zh-CN" altLang="en-US" b="0" i="0" dirty="0">
                <a:solidFill>
                  <a:srgbClr val="000000"/>
                </a:solidFill>
                <a:effectLst/>
                <a:latin typeface="-apple-system"/>
              </a:rPr>
              <a:t>问题：某些快速且剧烈的非跌倒活动（例如快速坐到椅子上并向后靠）在时频域特征上与真实跌倒高度相似，导致分类器难以区分，从而引发误报</a:t>
            </a:r>
            <a:endParaRPr lang="zh-CN" altLang="en-US" dirty="0"/>
          </a:p>
        </p:txBody>
      </p:sp>
      <p:sp>
        <p:nvSpPr>
          <p:cNvPr id="8" name="文本框 7">
            <a:extLst>
              <a:ext uri="{FF2B5EF4-FFF2-40B4-BE49-F238E27FC236}">
                <a16:creationId xmlns:a16="http://schemas.microsoft.com/office/drawing/2014/main" id="{7AE40A2C-E448-A28D-3AB3-239993847676}"/>
              </a:ext>
            </a:extLst>
          </p:cNvPr>
          <p:cNvSpPr txBox="1"/>
          <p:nvPr/>
        </p:nvSpPr>
        <p:spPr>
          <a:xfrm>
            <a:off x="6299200" y="1903276"/>
            <a:ext cx="6096000" cy="923330"/>
          </a:xfrm>
          <a:prstGeom prst="rect">
            <a:avLst/>
          </a:prstGeom>
          <a:noFill/>
        </p:spPr>
        <p:txBody>
          <a:bodyPr wrap="square">
            <a:spAutoFit/>
          </a:bodyPr>
          <a:lstStyle/>
          <a:p>
            <a:r>
              <a:rPr lang="zh-CN" altLang="en-US" b="1" i="0" dirty="0">
                <a:solidFill>
                  <a:srgbClr val="000000"/>
                </a:solidFill>
                <a:effectLst/>
                <a:latin typeface="-apple-system"/>
              </a:rPr>
              <a:t>环境依赖性</a:t>
            </a:r>
            <a:r>
              <a:rPr lang="zh-CN" altLang="en-US" b="0" i="0" dirty="0">
                <a:solidFill>
                  <a:srgbClr val="000000"/>
                </a:solidFill>
                <a:effectLst/>
                <a:latin typeface="-apple-system"/>
              </a:rPr>
              <a:t>问题：</a:t>
            </a:r>
            <a:r>
              <a:rPr lang="zh-CN" altLang="en-US" b="1" i="0" dirty="0">
                <a:solidFill>
                  <a:srgbClr val="000000"/>
                </a:solidFill>
                <a:effectLst/>
                <a:latin typeface="-apple-system"/>
              </a:rPr>
              <a:t>同一活动在不同位置</a:t>
            </a:r>
            <a:r>
              <a:rPr lang="zh-CN" altLang="en-US" b="0" i="0" dirty="0">
                <a:solidFill>
                  <a:srgbClr val="000000"/>
                </a:solidFill>
                <a:effectLst/>
                <a:latin typeface="-apple-system"/>
              </a:rPr>
              <a:t>会因信号传播路径的不同而表现出不同的</a:t>
            </a:r>
            <a:r>
              <a:rPr lang="en-US" altLang="zh-CN" b="0" i="0" dirty="0">
                <a:solidFill>
                  <a:srgbClr val="000000"/>
                </a:solidFill>
                <a:effectLst/>
                <a:latin typeface="-apple-system"/>
              </a:rPr>
              <a:t>CSI</a:t>
            </a:r>
            <a:r>
              <a:rPr lang="zh-CN" altLang="en-US" b="0" i="0" dirty="0">
                <a:solidFill>
                  <a:srgbClr val="000000"/>
                </a:solidFill>
                <a:effectLst/>
                <a:latin typeface="-apple-system"/>
              </a:rPr>
              <a:t>特征，使用单一通用模型难以在所有位置都保持高精度。</a:t>
            </a:r>
            <a:endParaRPr lang="zh-CN" altLang="en-US" dirty="0"/>
          </a:p>
        </p:txBody>
      </p:sp>
      <p:sp>
        <p:nvSpPr>
          <p:cNvPr id="10" name="文本框 9">
            <a:extLst>
              <a:ext uri="{FF2B5EF4-FFF2-40B4-BE49-F238E27FC236}">
                <a16:creationId xmlns:a16="http://schemas.microsoft.com/office/drawing/2014/main" id="{444ECC54-732F-965F-3411-875D298DA6EE}"/>
              </a:ext>
            </a:extLst>
          </p:cNvPr>
          <p:cNvSpPr txBox="1"/>
          <p:nvPr/>
        </p:nvSpPr>
        <p:spPr>
          <a:xfrm>
            <a:off x="160205" y="3212433"/>
            <a:ext cx="6096000" cy="1477328"/>
          </a:xfrm>
          <a:prstGeom prst="rect">
            <a:avLst/>
          </a:prstGeom>
          <a:noFill/>
        </p:spPr>
        <p:txBody>
          <a:bodyPr wrap="square">
            <a:spAutoFit/>
          </a:bodyPr>
          <a:lstStyle/>
          <a:p>
            <a:pPr>
              <a:buNone/>
            </a:pPr>
            <a:r>
              <a:rPr lang="zh-CN" altLang="en-US" dirty="0">
                <a:effectLst/>
              </a:rPr>
              <a:t>例如，当受试者快速坐在椅子上并靠在椅背上时，有时会被定义为跌倒。</a:t>
            </a:r>
            <a:endParaRPr lang="en-US" altLang="zh-CN" dirty="0">
              <a:effectLst/>
            </a:endParaRPr>
          </a:p>
          <a:p>
            <a:pPr>
              <a:buNone/>
            </a:pPr>
            <a:endParaRPr lang="zh-CN" altLang="en-US" dirty="0">
              <a:effectLst/>
            </a:endParaRPr>
          </a:p>
          <a:p>
            <a:pPr>
              <a:buNone/>
            </a:pPr>
            <a:r>
              <a:rPr lang="zh-CN" altLang="en-US" dirty="0">
                <a:effectLst/>
              </a:rPr>
              <a:t>对于这种类型的错误分类，我们计划</a:t>
            </a:r>
            <a:r>
              <a:rPr lang="zh-CN" altLang="en-US" b="1" dirty="0">
                <a:effectLst/>
              </a:rPr>
              <a:t>引入更多的显著特征</a:t>
            </a:r>
            <a:r>
              <a:rPr lang="zh-CN" altLang="en-US" dirty="0">
                <a:effectLst/>
              </a:rPr>
              <a:t>作为输入，以帮助区分跌倒和类似跌倒的活动。</a:t>
            </a:r>
          </a:p>
        </p:txBody>
      </p:sp>
      <p:sp>
        <p:nvSpPr>
          <p:cNvPr id="12" name="文本框 11">
            <a:extLst>
              <a:ext uri="{FF2B5EF4-FFF2-40B4-BE49-F238E27FC236}">
                <a16:creationId xmlns:a16="http://schemas.microsoft.com/office/drawing/2014/main" id="{F84D5841-95EC-D288-B6AC-7AE3DB4D39AD}"/>
              </a:ext>
            </a:extLst>
          </p:cNvPr>
          <p:cNvSpPr txBox="1"/>
          <p:nvPr/>
        </p:nvSpPr>
        <p:spPr>
          <a:xfrm>
            <a:off x="6299200" y="3236592"/>
            <a:ext cx="2587625" cy="1477328"/>
          </a:xfrm>
          <a:prstGeom prst="rect">
            <a:avLst/>
          </a:prstGeom>
          <a:noFill/>
        </p:spPr>
        <p:txBody>
          <a:bodyPr wrap="square">
            <a:spAutoFit/>
          </a:bodyPr>
          <a:lstStyle/>
          <a:p>
            <a:r>
              <a:rPr lang="zh-CN" altLang="en-US" dirty="0">
                <a:effectLst/>
              </a:rPr>
              <a:t>以办公室为例我们注意到办公桌后面的位置（</a:t>
            </a:r>
            <a:r>
              <a:rPr lang="en-US" altLang="zh-CN" dirty="0">
                <a:effectLst/>
              </a:rPr>
              <a:t>a</a:t>
            </a:r>
            <a:r>
              <a:rPr lang="zh-CN" altLang="en-US" dirty="0">
                <a:effectLst/>
              </a:rPr>
              <a:t>，</a:t>
            </a:r>
            <a:r>
              <a:rPr lang="en-US" altLang="zh-CN" dirty="0">
                <a:effectLst/>
              </a:rPr>
              <a:t>b</a:t>
            </a:r>
            <a:r>
              <a:rPr lang="zh-CN" altLang="en-US" dirty="0">
                <a:effectLst/>
              </a:rPr>
              <a:t>）比</a:t>
            </a:r>
            <a:r>
              <a:rPr lang="en-US" altLang="zh-CN" dirty="0">
                <a:effectLst/>
              </a:rPr>
              <a:t>c</a:t>
            </a:r>
            <a:r>
              <a:rPr lang="zh-CN" altLang="en-US" dirty="0">
                <a:effectLst/>
              </a:rPr>
              <a:t>，</a:t>
            </a:r>
            <a:r>
              <a:rPr lang="en-US" altLang="zh-CN" dirty="0">
                <a:effectLst/>
              </a:rPr>
              <a:t>d</a:t>
            </a:r>
            <a:r>
              <a:rPr lang="zh-CN" altLang="en-US" dirty="0">
                <a:effectLst/>
              </a:rPr>
              <a:t>，</a:t>
            </a:r>
            <a:r>
              <a:rPr lang="en-US" altLang="zh-CN" dirty="0">
                <a:effectLst/>
              </a:rPr>
              <a:t>e</a:t>
            </a:r>
            <a:r>
              <a:rPr lang="zh-CN" altLang="en-US" dirty="0">
                <a:effectLst/>
              </a:rPr>
              <a:t>，</a:t>
            </a:r>
            <a:r>
              <a:rPr lang="en-US" altLang="zh-CN" dirty="0">
                <a:effectLst/>
              </a:rPr>
              <a:t>f</a:t>
            </a:r>
            <a:r>
              <a:rPr lang="zh-CN" altLang="en-US" dirty="0">
                <a:effectLst/>
              </a:rPr>
              <a:t>中的位置具有更低的检测率。</a:t>
            </a:r>
            <a:endParaRPr lang="zh-CN" altLang="en-US" dirty="0"/>
          </a:p>
        </p:txBody>
      </p:sp>
      <p:sp>
        <p:nvSpPr>
          <p:cNvPr id="14" name="文本框 13">
            <a:extLst>
              <a:ext uri="{FF2B5EF4-FFF2-40B4-BE49-F238E27FC236}">
                <a16:creationId xmlns:a16="http://schemas.microsoft.com/office/drawing/2014/main" id="{3781CC19-F95E-926C-C94B-A085F0D596F7}"/>
              </a:ext>
            </a:extLst>
          </p:cNvPr>
          <p:cNvSpPr txBox="1"/>
          <p:nvPr/>
        </p:nvSpPr>
        <p:spPr>
          <a:xfrm>
            <a:off x="6318250" y="5284413"/>
            <a:ext cx="5956300" cy="923330"/>
          </a:xfrm>
          <a:prstGeom prst="rect">
            <a:avLst/>
          </a:prstGeom>
          <a:noFill/>
        </p:spPr>
        <p:txBody>
          <a:bodyPr wrap="square">
            <a:spAutoFit/>
          </a:bodyPr>
          <a:lstStyle/>
          <a:p>
            <a:r>
              <a:rPr lang="zh-CN" altLang="en-US" dirty="0">
                <a:effectLst/>
              </a:rPr>
              <a:t>因此，在跌倒检测算法中</a:t>
            </a:r>
            <a:r>
              <a:rPr lang="zh-CN" altLang="en-US" b="1" dirty="0">
                <a:effectLst/>
              </a:rPr>
              <a:t>引入位置信息</a:t>
            </a:r>
            <a:r>
              <a:rPr lang="zh-CN" altLang="en-US" dirty="0">
                <a:effectLst/>
              </a:rPr>
              <a:t>等上下文以提高系统性能是一个很有前途的研究方向。</a:t>
            </a:r>
            <a:endParaRPr lang="en-US" altLang="zh-CN" dirty="0">
              <a:effectLst/>
            </a:endParaRPr>
          </a:p>
          <a:p>
            <a:r>
              <a:rPr lang="zh-CN" altLang="en-US" dirty="0">
                <a:effectLst/>
              </a:rPr>
              <a:t>例如，选择基于位置的分类模型进行跌倒检测。</a:t>
            </a:r>
            <a:endParaRPr lang="zh-CN" altLang="en-US" dirty="0"/>
          </a:p>
        </p:txBody>
      </p:sp>
      <p:pic>
        <p:nvPicPr>
          <p:cNvPr id="16" name="图片 15">
            <a:extLst>
              <a:ext uri="{FF2B5EF4-FFF2-40B4-BE49-F238E27FC236}">
                <a16:creationId xmlns:a16="http://schemas.microsoft.com/office/drawing/2014/main" id="{A2C5012C-80C9-885A-0871-78946592CE12}"/>
              </a:ext>
            </a:extLst>
          </p:cNvPr>
          <p:cNvPicPr>
            <a:picLocks noChangeAspect="1"/>
          </p:cNvPicPr>
          <p:nvPr/>
        </p:nvPicPr>
        <p:blipFill>
          <a:blip r:embed="rId5"/>
          <a:stretch>
            <a:fillRect/>
          </a:stretch>
        </p:blipFill>
        <p:spPr>
          <a:xfrm>
            <a:off x="8972816" y="2649089"/>
            <a:ext cx="3016848" cy="2604016"/>
          </a:xfrm>
          <a:prstGeom prst="rect">
            <a:avLst/>
          </a:prstGeom>
        </p:spPr>
      </p:pic>
      <p:cxnSp>
        <p:nvCxnSpPr>
          <p:cNvPr id="17" name="直接连接符 16">
            <a:extLst>
              <a:ext uri="{FF2B5EF4-FFF2-40B4-BE49-F238E27FC236}">
                <a16:creationId xmlns:a16="http://schemas.microsoft.com/office/drawing/2014/main" id="{BCCA3ADD-A117-C5F1-A19C-945C711D0703}"/>
              </a:ext>
            </a:extLst>
          </p:cNvPr>
          <p:cNvCxnSpPr>
            <a:cxnSpLocks/>
          </p:cNvCxnSpPr>
          <p:nvPr/>
        </p:nvCxnSpPr>
        <p:spPr>
          <a:xfrm>
            <a:off x="6213208" y="1270119"/>
            <a:ext cx="0" cy="5146829"/>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98215965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6967D-B78D-F790-D5B3-3676E7D36700}"/>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E7FB792F-AAA8-0A5A-8429-E743D089C0A3}"/>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4E2EE5B5-ABEF-B5BE-9859-C291E5766422}"/>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C6FDC002-CB01-38D8-6092-FA0D1FFC6067}"/>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911295C-3DE4-E76D-6BF2-D3153F3273BD}"/>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5B6016E3-FDF2-049C-C7D7-5D5E3A33D87D}"/>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讨论</a:t>
            </a:r>
          </a:p>
        </p:txBody>
      </p:sp>
      <p:sp>
        <p:nvSpPr>
          <p:cNvPr id="3" name="文本框 2">
            <a:extLst>
              <a:ext uri="{FF2B5EF4-FFF2-40B4-BE49-F238E27FC236}">
                <a16:creationId xmlns:a16="http://schemas.microsoft.com/office/drawing/2014/main" id="{BE96071C-50F5-6F78-52CF-1E7402C588D1}"/>
              </a:ext>
            </a:extLst>
          </p:cNvPr>
          <p:cNvSpPr txBox="1"/>
          <p:nvPr/>
        </p:nvSpPr>
        <p:spPr>
          <a:xfrm>
            <a:off x="203200" y="1270119"/>
            <a:ext cx="6096000" cy="461665"/>
          </a:xfrm>
          <a:prstGeom prst="rect">
            <a:avLst/>
          </a:prstGeom>
          <a:noFill/>
        </p:spPr>
        <p:txBody>
          <a:bodyPr wrap="square">
            <a:spAutoFit/>
          </a:bodyPr>
          <a:lstStyle/>
          <a:p>
            <a:pPr fontAlgn="base"/>
            <a:r>
              <a:rPr lang="en-US" altLang="zh-CN" sz="2400" b="1" dirty="0">
                <a:solidFill>
                  <a:srgbClr val="000000"/>
                </a:solidFill>
                <a:effectLst/>
              </a:rPr>
              <a:t>7.2</a:t>
            </a:r>
            <a:r>
              <a:rPr lang="zh-CN" altLang="en-US" sz="2400" dirty="0"/>
              <a:t>将解决方案</a:t>
            </a:r>
            <a:r>
              <a:rPr lang="zh-CN" altLang="en-US" sz="2400" b="1" dirty="0">
                <a:solidFill>
                  <a:srgbClr val="000000"/>
                </a:solidFill>
                <a:effectLst/>
              </a:rPr>
              <a:t>扩展到多房间</a:t>
            </a:r>
          </a:p>
        </p:txBody>
      </p:sp>
      <p:sp>
        <p:nvSpPr>
          <p:cNvPr id="9" name="文本框 8">
            <a:extLst>
              <a:ext uri="{FF2B5EF4-FFF2-40B4-BE49-F238E27FC236}">
                <a16:creationId xmlns:a16="http://schemas.microsoft.com/office/drawing/2014/main" id="{95ECEE87-CFD4-D9C2-21B5-2830B05FAA36}"/>
              </a:ext>
            </a:extLst>
          </p:cNvPr>
          <p:cNvSpPr txBox="1"/>
          <p:nvPr/>
        </p:nvSpPr>
        <p:spPr>
          <a:xfrm>
            <a:off x="203200" y="1926029"/>
            <a:ext cx="6096000" cy="923330"/>
          </a:xfrm>
          <a:prstGeom prst="rect">
            <a:avLst/>
          </a:prstGeom>
          <a:noFill/>
        </p:spPr>
        <p:txBody>
          <a:bodyPr wrap="square">
            <a:spAutoFit/>
          </a:bodyPr>
          <a:lstStyle/>
          <a:p>
            <a:r>
              <a:rPr lang="zh-CN" altLang="en-US" dirty="0">
                <a:effectLst/>
              </a:rPr>
              <a:t>困难集中于在</a:t>
            </a:r>
            <a:r>
              <a:rPr lang="zh-CN" altLang="en-US" b="1" dirty="0">
                <a:effectLst/>
              </a:rPr>
              <a:t>多房间环境</a:t>
            </a:r>
            <a:r>
              <a:rPr lang="zh-CN" altLang="en-US" dirty="0">
                <a:effectLst/>
              </a:rPr>
              <a:t>中</a:t>
            </a:r>
            <a:r>
              <a:rPr lang="zh-CN" altLang="en-US" b="1" dirty="0">
                <a:effectLst/>
              </a:rPr>
              <a:t>找到</a:t>
            </a:r>
            <a:r>
              <a:rPr lang="zh-CN" altLang="en-US" dirty="0">
                <a:effectLst/>
              </a:rPr>
              <a:t>安装</a:t>
            </a:r>
            <a:r>
              <a:rPr lang="en-US" altLang="zh-CN" dirty="0" err="1">
                <a:effectLst/>
              </a:rPr>
              <a:t>WiFi</a:t>
            </a:r>
            <a:r>
              <a:rPr lang="zh-CN" altLang="en-US" dirty="0">
                <a:effectLst/>
              </a:rPr>
              <a:t>接入点和设备的</a:t>
            </a:r>
            <a:r>
              <a:rPr lang="zh-CN" altLang="en-US" b="1" dirty="0">
                <a:effectLst/>
              </a:rPr>
              <a:t>最佳位置</a:t>
            </a:r>
            <a:r>
              <a:rPr lang="zh-CN" altLang="en-US" dirty="0">
                <a:effectLst/>
              </a:rPr>
              <a:t>以确保在系统的检测性能</a:t>
            </a:r>
            <a:endParaRPr lang="en-US" altLang="zh-CN" dirty="0"/>
          </a:p>
          <a:p>
            <a:r>
              <a:rPr lang="zh-CN" altLang="en-US" dirty="0"/>
              <a:t>以多房间的公寓为例</a:t>
            </a:r>
          </a:p>
        </p:txBody>
      </p:sp>
      <p:sp>
        <p:nvSpPr>
          <p:cNvPr id="13" name="文本框 12">
            <a:extLst>
              <a:ext uri="{FF2B5EF4-FFF2-40B4-BE49-F238E27FC236}">
                <a16:creationId xmlns:a16="http://schemas.microsoft.com/office/drawing/2014/main" id="{D2ABECFC-1AD9-D517-FFA2-42C995EB68E0}"/>
              </a:ext>
            </a:extLst>
          </p:cNvPr>
          <p:cNvSpPr txBox="1"/>
          <p:nvPr/>
        </p:nvSpPr>
        <p:spPr>
          <a:xfrm>
            <a:off x="203200" y="5511624"/>
            <a:ext cx="6096000" cy="646331"/>
          </a:xfrm>
          <a:prstGeom prst="rect">
            <a:avLst/>
          </a:prstGeom>
          <a:noFill/>
        </p:spPr>
        <p:txBody>
          <a:bodyPr wrap="square">
            <a:spAutoFit/>
          </a:bodyPr>
          <a:lstStyle/>
          <a:p>
            <a:r>
              <a:rPr lang="zh-CN" altLang="en-US" dirty="0">
                <a:effectLst/>
              </a:rPr>
              <a:t>未来我们计划研究</a:t>
            </a:r>
            <a:r>
              <a:rPr lang="zh-CN" altLang="en-US" b="1" dirty="0">
                <a:effectLst/>
              </a:rPr>
              <a:t>射频覆盖和跌倒检测的最佳设备放置</a:t>
            </a:r>
            <a:r>
              <a:rPr lang="zh-CN" altLang="en-US" dirty="0">
                <a:effectLst/>
              </a:rPr>
              <a:t>问题</a:t>
            </a:r>
            <a:endParaRPr lang="zh-CN" altLang="en-US" dirty="0"/>
          </a:p>
        </p:txBody>
      </p:sp>
      <p:pic>
        <p:nvPicPr>
          <p:cNvPr id="18" name="图片 17">
            <a:extLst>
              <a:ext uri="{FF2B5EF4-FFF2-40B4-BE49-F238E27FC236}">
                <a16:creationId xmlns:a16="http://schemas.microsoft.com/office/drawing/2014/main" id="{039C067A-D3B3-5661-EDF6-A3803D370AB2}"/>
              </a:ext>
            </a:extLst>
          </p:cNvPr>
          <p:cNvPicPr>
            <a:picLocks noChangeAspect="1"/>
          </p:cNvPicPr>
          <p:nvPr/>
        </p:nvPicPr>
        <p:blipFill>
          <a:blip r:embed="rId5"/>
          <a:stretch>
            <a:fillRect/>
          </a:stretch>
        </p:blipFill>
        <p:spPr>
          <a:xfrm>
            <a:off x="326606" y="2868613"/>
            <a:ext cx="5537200" cy="2436375"/>
          </a:xfrm>
          <a:prstGeom prst="rect">
            <a:avLst/>
          </a:prstGeom>
        </p:spPr>
      </p:pic>
      <p:sp>
        <p:nvSpPr>
          <p:cNvPr id="24" name="文本框 23">
            <a:extLst>
              <a:ext uri="{FF2B5EF4-FFF2-40B4-BE49-F238E27FC236}">
                <a16:creationId xmlns:a16="http://schemas.microsoft.com/office/drawing/2014/main" id="{C89BDCA1-76A1-D647-886A-4096EA40D319}"/>
              </a:ext>
            </a:extLst>
          </p:cNvPr>
          <p:cNvSpPr txBox="1"/>
          <p:nvPr/>
        </p:nvSpPr>
        <p:spPr>
          <a:xfrm>
            <a:off x="6400800" y="1270119"/>
            <a:ext cx="6096000" cy="461665"/>
          </a:xfrm>
          <a:prstGeom prst="rect">
            <a:avLst/>
          </a:prstGeom>
          <a:noFill/>
        </p:spPr>
        <p:txBody>
          <a:bodyPr wrap="square">
            <a:spAutoFit/>
          </a:bodyPr>
          <a:lstStyle/>
          <a:p>
            <a:pPr fontAlgn="base"/>
            <a:r>
              <a:rPr lang="en-US" altLang="zh-CN" sz="2400" b="1" dirty="0">
                <a:solidFill>
                  <a:srgbClr val="000000"/>
                </a:solidFill>
                <a:effectLst/>
              </a:rPr>
              <a:t>7.3</a:t>
            </a:r>
            <a:r>
              <a:rPr lang="zh-CN" altLang="en-US" sz="2400" dirty="0"/>
              <a:t>将解决方案</a:t>
            </a:r>
            <a:r>
              <a:rPr lang="zh-CN" altLang="en-US" sz="2400" b="1" dirty="0">
                <a:solidFill>
                  <a:srgbClr val="000000"/>
                </a:solidFill>
                <a:effectLst/>
              </a:rPr>
              <a:t>扩展到多人物</a:t>
            </a:r>
          </a:p>
        </p:txBody>
      </p:sp>
      <p:sp>
        <p:nvSpPr>
          <p:cNvPr id="26" name="文本框 25">
            <a:extLst>
              <a:ext uri="{FF2B5EF4-FFF2-40B4-BE49-F238E27FC236}">
                <a16:creationId xmlns:a16="http://schemas.microsoft.com/office/drawing/2014/main" id="{0D681527-E6A3-0D56-14DE-91CD83A44A44}"/>
              </a:ext>
            </a:extLst>
          </p:cNvPr>
          <p:cNvSpPr txBox="1"/>
          <p:nvPr/>
        </p:nvSpPr>
        <p:spPr>
          <a:xfrm>
            <a:off x="6400800" y="2017378"/>
            <a:ext cx="5689599" cy="646331"/>
          </a:xfrm>
          <a:prstGeom prst="rect">
            <a:avLst/>
          </a:prstGeom>
          <a:noFill/>
        </p:spPr>
        <p:txBody>
          <a:bodyPr wrap="square">
            <a:spAutoFit/>
          </a:bodyPr>
          <a:lstStyle/>
          <a:p>
            <a:r>
              <a:rPr lang="zh-CN" altLang="en-US" b="0" i="0" dirty="0">
                <a:solidFill>
                  <a:srgbClr val="000000"/>
                </a:solidFill>
                <a:effectLst/>
                <a:latin typeface="-apple-system"/>
              </a:rPr>
              <a:t>当前不足</a:t>
            </a:r>
            <a:r>
              <a:rPr lang="en-US" altLang="zh-CN" b="0" i="0" dirty="0">
                <a:solidFill>
                  <a:srgbClr val="000000"/>
                </a:solidFill>
                <a:effectLst/>
                <a:latin typeface="-apple-system"/>
              </a:rPr>
              <a:t>:</a:t>
            </a:r>
            <a:r>
              <a:rPr lang="zh-CN" altLang="en-US" b="0" i="0" dirty="0">
                <a:solidFill>
                  <a:srgbClr val="000000"/>
                </a:solidFill>
                <a:effectLst/>
                <a:latin typeface="-apple-system"/>
              </a:rPr>
              <a:t>当前设计下</a:t>
            </a:r>
            <a:r>
              <a:rPr lang="zh-CN" altLang="en-US" dirty="0"/>
              <a:t>只有当</a:t>
            </a:r>
            <a:r>
              <a:rPr lang="zh-CN" altLang="en-US" b="1" dirty="0"/>
              <a:t>只有一个人移动而其他人静止</a:t>
            </a:r>
            <a:r>
              <a:rPr lang="zh-CN" altLang="en-US" dirty="0"/>
              <a:t>时，检测系统才能正常工作。</a:t>
            </a:r>
          </a:p>
        </p:txBody>
      </p:sp>
      <p:sp>
        <p:nvSpPr>
          <p:cNvPr id="28" name="文本框 27">
            <a:extLst>
              <a:ext uri="{FF2B5EF4-FFF2-40B4-BE49-F238E27FC236}">
                <a16:creationId xmlns:a16="http://schemas.microsoft.com/office/drawing/2014/main" id="{3D304A83-1251-7A7A-2EF5-41D0E9464AE4}"/>
              </a:ext>
            </a:extLst>
          </p:cNvPr>
          <p:cNvSpPr txBox="1"/>
          <p:nvPr/>
        </p:nvSpPr>
        <p:spPr>
          <a:xfrm>
            <a:off x="6400800" y="3105834"/>
            <a:ext cx="5588000" cy="646331"/>
          </a:xfrm>
          <a:prstGeom prst="rect">
            <a:avLst/>
          </a:prstGeom>
          <a:noFill/>
        </p:spPr>
        <p:txBody>
          <a:bodyPr wrap="square">
            <a:spAutoFit/>
          </a:bodyPr>
          <a:lstStyle/>
          <a:p>
            <a:r>
              <a:rPr lang="zh-CN" altLang="en-US" b="0" i="0" dirty="0">
                <a:solidFill>
                  <a:srgbClr val="000000"/>
                </a:solidFill>
                <a:effectLst/>
                <a:latin typeface="-apple-system"/>
              </a:rPr>
              <a:t>​</a:t>
            </a:r>
            <a:r>
              <a:rPr lang="zh-CN" altLang="en-US" b="1" i="0" dirty="0">
                <a:solidFill>
                  <a:srgbClr val="000000"/>
                </a:solidFill>
                <a:effectLst/>
                <a:latin typeface="-apple-system"/>
              </a:rPr>
              <a:t>一旦多人同时活动</a:t>
            </a:r>
            <a:r>
              <a:rPr lang="zh-CN" altLang="en-US" b="0" i="0" dirty="0">
                <a:solidFill>
                  <a:srgbClr val="000000"/>
                </a:solidFill>
                <a:effectLst/>
                <a:latin typeface="-apple-system"/>
              </a:rPr>
              <a:t>，无法正确检测跌倒</a:t>
            </a:r>
            <a:r>
              <a:rPr lang="en-US" altLang="zh-CN" b="0" i="0" dirty="0">
                <a:solidFill>
                  <a:srgbClr val="000000"/>
                </a:solidFill>
                <a:effectLst/>
                <a:latin typeface="-apple-system"/>
              </a:rPr>
              <a:t>,</a:t>
            </a:r>
            <a:r>
              <a:rPr lang="zh-CN" altLang="en-US" b="0" i="0" dirty="0">
                <a:solidFill>
                  <a:srgbClr val="000000"/>
                </a:solidFill>
                <a:effectLst/>
                <a:latin typeface="-apple-system"/>
              </a:rPr>
              <a:t>文中认为这种情况</a:t>
            </a:r>
            <a:r>
              <a:rPr lang="zh-CN" altLang="en-US" dirty="0">
                <a:solidFill>
                  <a:srgbClr val="000000"/>
                </a:solidFill>
                <a:latin typeface="-apple-system"/>
              </a:rPr>
              <a:t>其他人</a:t>
            </a:r>
            <a:r>
              <a:rPr lang="zh-CN" altLang="en-US" b="0" i="0" dirty="0">
                <a:solidFill>
                  <a:srgbClr val="000000"/>
                </a:solidFill>
                <a:effectLst/>
                <a:latin typeface="-apple-system"/>
              </a:rPr>
              <a:t>一般能帮助跌倒者</a:t>
            </a:r>
            <a:r>
              <a:rPr lang="en-US" altLang="zh-CN" b="0" i="0" dirty="0">
                <a:solidFill>
                  <a:srgbClr val="000000"/>
                </a:solidFill>
                <a:effectLst/>
                <a:latin typeface="-apple-system"/>
              </a:rPr>
              <a:t>,</a:t>
            </a:r>
            <a:r>
              <a:rPr lang="zh-CN" altLang="en-US" b="0" i="0" dirty="0">
                <a:solidFill>
                  <a:srgbClr val="000000"/>
                </a:solidFill>
                <a:effectLst/>
                <a:latin typeface="-apple-system"/>
              </a:rPr>
              <a:t>故不再深入</a:t>
            </a:r>
            <a:endParaRPr lang="zh-CN" altLang="en-US" dirty="0"/>
          </a:p>
        </p:txBody>
      </p:sp>
      <p:cxnSp>
        <p:nvCxnSpPr>
          <p:cNvPr id="29" name="直接连接符 28">
            <a:extLst>
              <a:ext uri="{FF2B5EF4-FFF2-40B4-BE49-F238E27FC236}">
                <a16:creationId xmlns:a16="http://schemas.microsoft.com/office/drawing/2014/main" id="{1DCE453A-D490-10A1-2E12-DBD683AD6B0E}"/>
              </a:ext>
            </a:extLst>
          </p:cNvPr>
          <p:cNvCxnSpPr>
            <a:cxnSpLocks/>
          </p:cNvCxnSpPr>
          <p:nvPr/>
        </p:nvCxnSpPr>
        <p:spPr>
          <a:xfrm>
            <a:off x="6238608" y="1391285"/>
            <a:ext cx="0" cy="5146829"/>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14846194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407F3-BA67-C8C5-307D-D1490E3B290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79596F5-FE60-C175-EA48-16C99EE8FC51}"/>
              </a:ext>
            </a:extLst>
          </p:cNvPr>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7E70F65A-47E8-C3D4-243B-8640691CB5AB}"/>
              </a:ext>
            </a:extLst>
          </p:cNvPr>
          <p:cNvSpPr txBox="1"/>
          <p:nvPr/>
        </p:nvSpPr>
        <p:spPr>
          <a:xfrm>
            <a:off x="5233272" y="2965048"/>
            <a:ext cx="1723549" cy="1015663"/>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结论</a:t>
            </a:r>
          </a:p>
        </p:txBody>
      </p:sp>
      <p:grpSp>
        <p:nvGrpSpPr>
          <p:cNvPr id="12" name="组合 11">
            <a:extLst>
              <a:ext uri="{FF2B5EF4-FFF2-40B4-BE49-F238E27FC236}">
                <a16:creationId xmlns:a16="http://schemas.microsoft.com/office/drawing/2014/main" id="{8310B88E-BA86-B736-3CC0-B432A3FA9207}"/>
              </a:ext>
            </a:extLst>
          </p:cNvPr>
          <p:cNvGrpSpPr/>
          <p:nvPr/>
        </p:nvGrpSpPr>
        <p:grpSpPr>
          <a:xfrm>
            <a:off x="5555048" y="1471295"/>
            <a:ext cx="1080000" cy="1080000"/>
            <a:chOff x="8049" y="2049"/>
            <a:chExt cx="1701" cy="1701"/>
          </a:xfrm>
        </p:grpSpPr>
        <p:sp>
          <p:nvSpPr>
            <p:cNvPr id="10" name="椭圆 9">
              <a:extLst>
                <a:ext uri="{FF2B5EF4-FFF2-40B4-BE49-F238E27FC236}">
                  <a16:creationId xmlns:a16="http://schemas.microsoft.com/office/drawing/2014/main" id="{80D2A2F9-AE48-96B7-3825-D98748728A86}"/>
                </a:ext>
              </a:extLst>
            </p:cNvPr>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3C54DDDD-28CE-530C-D6F2-BAA17B95FD5F}"/>
                </a:ext>
              </a:extLst>
            </p:cNvPr>
            <p:cNvSpPr txBox="1"/>
            <p:nvPr/>
          </p:nvSpPr>
          <p:spPr>
            <a:xfrm>
              <a:off x="8380" y="2440"/>
              <a:ext cx="1048" cy="921"/>
            </a:xfrm>
            <a:prstGeom prst="rect">
              <a:avLst/>
            </a:prstGeom>
            <a:noFill/>
          </p:spPr>
          <p:txBody>
            <a:bodyPr wrap="non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rPr>
                <a:t>07</a:t>
              </a:r>
            </a:p>
          </p:txBody>
        </p:sp>
      </p:grpSp>
    </p:spTree>
    <p:custDataLst>
      <p:tags r:id="rId1"/>
    </p:custDataLst>
    <p:extLst>
      <p:ext uri="{BB962C8B-B14F-4D97-AF65-F5344CB8AC3E}">
        <p14:creationId xmlns:p14="http://schemas.microsoft.com/office/powerpoint/2010/main" val="426656466"/>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CF741-D16D-B533-4C8E-DB65606668FB}"/>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7E30391F-E03B-7B54-29D9-B748D47BEE07}"/>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49A2E813-E868-B959-4AC2-6BCB8650B9DE}"/>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2F73DD6E-E87E-3A6F-D6AC-668AA9EB6C49}"/>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8D59687-565B-FBDE-207E-14CE9791ADAC}"/>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A36A7893-4F52-7382-8CD5-53E4D85AB87B}"/>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结论</a:t>
            </a:r>
          </a:p>
        </p:txBody>
      </p:sp>
      <p:sp>
        <p:nvSpPr>
          <p:cNvPr id="3" name="文本框 2">
            <a:extLst>
              <a:ext uri="{FF2B5EF4-FFF2-40B4-BE49-F238E27FC236}">
                <a16:creationId xmlns:a16="http://schemas.microsoft.com/office/drawing/2014/main" id="{8CB71379-CA29-8CF0-8BEE-78F17DB47B96}"/>
              </a:ext>
            </a:extLst>
          </p:cNvPr>
          <p:cNvSpPr txBox="1"/>
          <p:nvPr/>
        </p:nvSpPr>
        <p:spPr>
          <a:xfrm>
            <a:off x="6194425" y="2949446"/>
            <a:ext cx="6096000" cy="1477328"/>
          </a:xfrm>
          <a:prstGeom prst="rect">
            <a:avLst/>
          </a:prstGeom>
          <a:noFill/>
        </p:spPr>
        <p:txBody>
          <a:bodyPr wrap="square">
            <a:spAutoFit/>
          </a:bodyPr>
          <a:lstStyle/>
          <a:p>
            <a:r>
              <a:rPr lang="zh-CN" altLang="en-US" b="1" i="0" dirty="0">
                <a:solidFill>
                  <a:srgbClr val="000000"/>
                </a:solidFill>
                <a:effectLst/>
                <a:latin typeface="-apple-system"/>
              </a:rPr>
              <a:t>未来工作</a:t>
            </a:r>
            <a:r>
              <a:rPr lang="zh-CN" altLang="en-US" b="0" i="0" dirty="0">
                <a:solidFill>
                  <a:srgbClr val="000000"/>
                </a:solidFill>
                <a:effectLst/>
                <a:latin typeface="-apple-system"/>
              </a:rPr>
              <a:t>​：</a:t>
            </a:r>
            <a:endParaRPr lang="en-US" altLang="zh-CN" b="0" i="0" dirty="0">
              <a:solidFill>
                <a:srgbClr val="000000"/>
              </a:solidFill>
              <a:effectLst/>
              <a:latin typeface="-apple-system"/>
            </a:endParaRPr>
          </a:p>
          <a:p>
            <a:r>
              <a:rPr lang="en-US" altLang="zh-CN" b="0" i="0" dirty="0">
                <a:solidFill>
                  <a:srgbClr val="000000"/>
                </a:solidFill>
                <a:effectLst/>
                <a:latin typeface="-apple-system"/>
              </a:rPr>
              <a:t>1.</a:t>
            </a:r>
            <a:r>
              <a:rPr lang="zh-CN" altLang="en-US" b="0" i="0" dirty="0">
                <a:solidFill>
                  <a:srgbClr val="000000"/>
                </a:solidFill>
                <a:effectLst/>
                <a:latin typeface="-apple-system"/>
              </a:rPr>
              <a:t>开发</a:t>
            </a:r>
            <a:r>
              <a:rPr lang="zh-CN" altLang="en-US" b="1" i="0" dirty="0">
                <a:solidFill>
                  <a:srgbClr val="000000"/>
                </a:solidFill>
                <a:effectLst/>
                <a:latin typeface="-apple-system"/>
              </a:rPr>
              <a:t>个性化检测器</a:t>
            </a:r>
            <a:r>
              <a:rPr lang="zh-CN" altLang="en-US" b="0" i="0" dirty="0">
                <a:solidFill>
                  <a:srgbClr val="000000"/>
                </a:solidFill>
                <a:effectLst/>
                <a:latin typeface="-apple-system"/>
              </a:rPr>
              <a:t>以适配不同用户和环境，研究</a:t>
            </a:r>
            <a:r>
              <a:rPr lang="zh-CN" altLang="en-US" b="1" i="0" dirty="0">
                <a:solidFill>
                  <a:srgbClr val="000000"/>
                </a:solidFill>
                <a:effectLst/>
                <a:latin typeface="-apple-system"/>
              </a:rPr>
              <a:t>环境自适应</a:t>
            </a:r>
            <a:r>
              <a:rPr lang="zh-CN" altLang="en-US" b="0" i="0" dirty="0">
                <a:solidFill>
                  <a:srgbClr val="000000"/>
                </a:solidFill>
                <a:effectLst/>
                <a:latin typeface="-apple-system"/>
              </a:rPr>
              <a:t>机制以处理动态变化，</a:t>
            </a:r>
            <a:endParaRPr lang="en-US" altLang="zh-CN" b="0" i="0" dirty="0">
              <a:solidFill>
                <a:srgbClr val="000000"/>
              </a:solidFill>
              <a:effectLst/>
              <a:latin typeface="-apple-system"/>
            </a:endParaRPr>
          </a:p>
          <a:p>
            <a:r>
              <a:rPr lang="en-US" altLang="zh-CN" b="0" i="0" dirty="0">
                <a:solidFill>
                  <a:srgbClr val="000000"/>
                </a:solidFill>
                <a:effectLst/>
                <a:latin typeface="-apple-system"/>
              </a:rPr>
              <a:t>2.</a:t>
            </a:r>
            <a:r>
              <a:rPr lang="zh-CN" altLang="en-US" b="0" i="0" dirty="0">
                <a:solidFill>
                  <a:srgbClr val="000000"/>
                </a:solidFill>
                <a:effectLst/>
                <a:latin typeface="-apple-system"/>
              </a:rPr>
              <a:t>以及</a:t>
            </a:r>
            <a:r>
              <a:rPr lang="zh-CN" altLang="en-US" b="1" i="0" dirty="0">
                <a:solidFill>
                  <a:srgbClr val="000000"/>
                </a:solidFill>
                <a:effectLst/>
                <a:latin typeface="-apple-system"/>
              </a:rPr>
              <a:t>扩展相位差</a:t>
            </a:r>
            <a:r>
              <a:rPr lang="zh-CN" altLang="en-US" b="0" i="0" dirty="0">
                <a:solidFill>
                  <a:srgbClr val="000000"/>
                </a:solidFill>
                <a:effectLst/>
                <a:latin typeface="-apple-system"/>
              </a:rPr>
              <a:t>技术到更广泛的活动识别领域（如手势或呼吸监测）。</a:t>
            </a:r>
            <a:endParaRPr lang="zh-CN" altLang="en-US" dirty="0"/>
          </a:p>
        </p:txBody>
      </p:sp>
      <p:sp>
        <p:nvSpPr>
          <p:cNvPr id="5" name="文本框 4">
            <a:extLst>
              <a:ext uri="{FF2B5EF4-FFF2-40B4-BE49-F238E27FC236}">
                <a16:creationId xmlns:a16="http://schemas.microsoft.com/office/drawing/2014/main" id="{E2B3693F-91EA-01C7-929D-06DCB634CE44}"/>
              </a:ext>
            </a:extLst>
          </p:cNvPr>
          <p:cNvSpPr txBox="1"/>
          <p:nvPr/>
        </p:nvSpPr>
        <p:spPr>
          <a:xfrm>
            <a:off x="250825" y="1518285"/>
            <a:ext cx="5692775" cy="3139321"/>
          </a:xfrm>
          <a:prstGeom prst="rect">
            <a:avLst/>
          </a:prstGeom>
          <a:noFill/>
        </p:spPr>
        <p:txBody>
          <a:bodyPr wrap="square">
            <a:spAutoFit/>
          </a:bodyPr>
          <a:lstStyle/>
          <a:p>
            <a:r>
              <a:rPr lang="zh-CN" altLang="en-US" b="1" i="0" dirty="0">
                <a:solidFill>
                  <a:srgbClr val="000000"/>
                </a:solidFill>
                <a:effectLst/>
                <a:latin typeface="-apple-system"/>
              </a:rPr>
              <a:t>技术贡献</a:t>
            </a:r>
            <a:r>
              <a:rPr lang="zh-CN" altLang="en-US" b="0" i="0" dirty="0">
                <a:solidFill>
                  <a:srgbClr val="000000"/>
                </a:solidFill>
                <a:effectLst/>
                <a:latin typeface="-apple-system"/>
              </a:rPr>
              <a:t>​：</a:t>
            </a:r>
            <a:endParaRPr lang="en-US" altLang="zh-CN" b="0" i="0" dirty="0">
              <a:solidFill>
                <a:srgbClr val="000000"/>
              </a:solidFill>
              <a:effectLst/>
              <a:latin typeface="-apple-system"/>
            </a:endParaRPr>
          </a:p>
          <a:p>
            <a:r>
              <a:rPr lang="en-US" altLang="zh-CN" dirty="0">
                <a:solidFill>
                  <a:srgbClr val="000000"/>
                </a:solidFill>
                <a:latin typeface="-apple-system"/>
              </a:rPr>
              <a:t>1.</a:t>
            </a:r>
            <a:r>
              <a:rPr lang="zh-CN" altLang="en-US" dirty="0">
                <a:solidFill>
                  <a:srgbClr val="000000"/>
                </a:solidFill>
                <a:latin typeface="-apple-system"/>
              </a:rPr>
              <a:t>首次</a:t>
            </a:r>
            <a:r>
              <a:rPr lang="zh-CN" altLang="en-US" dirty="0"/>
              <a:t>在</a:t>
            </a:r>
            <a:r>
              <a:rPr lang="zh-CN" altLang="en-US" b="1" dirty="0"/>
              <a:t>自然连续</a:t>
            </a:r>
            <a:r>
              <a:rPr lang="zh-CN" altLang="en-US" dirty="0"/>
              <a:t>地进行大量</a:t>
            </a:r>
            <a:r>
              <a:rPr lang="zh-CN" altLang="en-US" b="1" dirty="0"/>
              <a:t>日常活动</a:t>
            </a:r>
            <a:r>
              <a:rPr lang="zh-CN" altLang="en-US" dirty="0"/>
              <a:t>的情况下检测跌倒</a:t>
            </a:r>
            <a:endParaRPr lang="en-US" altLang="zh-CN" b="0" i="0" dirty="0">
              <a:solidFill>
                <a:srgbClr val="000000"/>
              </a:solidFill>
              <a:effectLst/>
              <a:latin typeface="-apple-system"/>
            </a:endParaRPr>
          </a:p>
          <a:p>
            <a:r>
              <a:rPr lang="en-US" altLang="zh-CN" b="0" i="0" dirty="0">
                <a:solidFill>
                  <a:srgbClr val="000000"/>
                </a:solidFill>
                <a:effectLst/>
                <a:latin typeface="-apple-system"/>
              </a:rPr>
              <a:t>2.</a:t>
            </a:r>
            <a:r>
              <a:rPr lang="zh-CN" altLang="en-US" b="0" i="0" dirty="0">
                <a:solidFill>
                  <a:srgbClr val="000000"/>
                </a:solidFill>
                <a:effectLst/>
                <a:latin typeface="-apple-system"/>
              </a:rPr>
              <a:t>首次利用</a:t>
            </a:r>
            <a:r>
              <a:rPr lang="en-US" altLang="zh-CN" b="0" i="0" dirty="0">
                <a:solidFill>
                  <a:srgbClr val="000000"/>
                </a:solidFill>
                <a:effectLst/>
                <a:latin typeface="-apple-system"/>
              </a:rPr>
              <a:t>CSI</a:t>
            </a:r>
            <a:r>
              <a:rPr lang="zh-CN" altLang="en-US" b="1" i="0" dirty="0">
                <a:solidFill>
                  <a:srgbClr val="000000"/>
                </a:solidFill>
                <a:effectLst/>
                <a:latin typeface="-apple-system"/>
              </a:rPr>
              <a:t>相位差</a:t>
            </a:r>
            <a:r>
              <a:rPr lang="zh-CN" altLang="en-US" b="0" i="0" dirty="0">
                <a:solidFill>
                  <a:srgbClr val="000000"/>
                </a:solidFill>
                <a:effectLst/>
                <a:latin typeface="-apple-system"/>
              </a:rPr>
              <a:t>作为比振幅更敏感的基础信号，用于活动分割和跌倒检测；</a:t>
            </a:r>
            <a:endParaRPr lang="en-US" altLang="zh-CN" b="0" i="0" dirty="0">
              <a:solidFill>
                <a:srgbClr val="000000"/>
              </a:solidFill>
              <a:effectLst/>
              <a:latin typeface="-apple-system"/>
            </a:endParaRPr>
          </a:p>
          <a:p>
            <a:r>
              <a:rPr lang="en-US" altLang="zh-CN" b="0" i="0" dirty="0">
                <a:solidFill>
                  <a:srgbClr val="000000"/>
                </a:solidFill>
                <a:effectLst/>
                <a:latin typeface="-apple-system"/>
              </a:rPr>
              <a:t>3.</a:t>
            </a:r>
            <a:r>
              <a:rPr lang="zh-CN" altLang="en-US" b="0" i="0" dirty="0">
                <a:solidFill>
                  <a:srgbClr val="000000"/>
                </a:solidFill>
                <a:effectLst/>
                <a:latin typeface="-apple-system"/>
              </a:rPr>
              <a:t>发现并利用了跌倒活动在时频域中的</a:t>
            </a:r>
            <a:r>
              <a:rPr lang="zh-CN" altLang="en-US" b="1" i="0" dirty="0">
                <a:solidFill>
                  <a:srgbClr val="000000"/>
                </a:solidFill>
                <a:effectLst/>
                <a:latin typeface="-apple-system"/>
              </a:rPr>
              <a:t>急剧功率谱下降模式</a:t>
            </a:r>
            <a:r>
              <a:rPr lang="zh-CN" altLang="en-US" dirty="0">
                <a:solidFill>
                  <a:srgbClr val="000000"/>
                </a:solidFill>
                <a:latin typeface="-apple-system"/>
              </a:rPr>
              <a:t>。</a:t>
            </a:r>
            <a:endParaRPr lang="en-US" altLang="zh-CN" dirty="0">
              <a:solidFill>
                <a:srgbClr val="000000"/>
              </a:solidFill>
              <a:latin typeface="-apple-system"/>
            </a:endParaRPr>
          </a:p>
          <a:p>
            <a:r>
              <a:rPr lang="en-US" altLang="zh-CN" dirty="0"/>
              <a:t>4.</a:t>
            </a:r>
            <a:r>
              <a:rPr lang="zh-CN" altLang="en-US" dirty="0"/>
              <a:t>在</a:t>
            </a:r>
            <a:r>
              <a:rPr lang="zh-CN" altLang="en-US" b="1" dirty="0"/>
              <a:t>商品</a:t>
            </a:r>
            <a:r>
              <a:rPr lang="en-US" altLang="zh-CN" b="1" dirty="0" err="1"/>
              <a:t>WiFi</a:t>
            </a:r>
            <a:r>
              <a:rPr lang="zh-CN" altLang="en-US" b="1" dirty="0"/>
              <a:t>设备</a:t>
            </a:r>
            <a:r>
              <a:rPr lang="zh-CN" altLang="en-US" dirty="0"/>
              <a:t>上设计并实现了实时活动分割和跌倒检测系统</a:t>
            </a:r>
            <a:r>
              <a:rPr lang="en-US" altLang="zh-CN" dirty="0"/>
              <a:t>RT-Fall </a:t>
            </a:r>
            <a:r>
              <a:rPr lang="zh-CN" altLang="en-US" dirty="0"/>
              <a:t>，</a:t>
            </a:r>
            <a:r>
              <a:rPr lang="zh-CN" altLang="en-US" dirty="0">
                <a:solidFill>
                  <a:srgbClr val="000000"/>
                </a:solidFill>
                <a:latin typeface="-apple-system"/>
              </a:rPr>
              <a:t>通过实验验证</a:t>
            </a:r>
            <a:r>
              <a:rPr lang="en-US" altLang="zh-CN" dirty="0"/>
              <a:t>RT-Fall</a:t>
            </a:r>
            <a:r>
              <a:rPr lang="zh-CN" altLang="en-US" dirty="0">
                <a:solidFill>
                  <a:srgbClr val="000000"/>
                </a:solidFill>
                <a:latin typeface="-apple-system"/>
              </a:rPr>
              <a:t>相比基线方法</a:t>
            </a:r>
            <a:r>
              <a:rPr lang="en-US" altLang="zh-CN" dirty="0" err="1">
                <a:solidFill>
                  <a:srgbClr val="000000"/>
                </a:solidFill>
                <a:latin typeface="-apple-system"/>
              </a:rPr>
              <a:t>WiFall</a:t>
            </a:r>
            <a:r>
              <a:rPr lang="zh-CN" altLang="en-US" dirty="0">
                <a:solidFill>
                  <a:srgbClr val="000000"/>
                </a:solidFill>
                <a:latin typeface="-apple-system"/>
              </a:rPr>
              <a:t>有</a:t>
            </a:r>
            <a:r>
              <a:rPr lang="zh-CN" altLang="en-US" b="1" dirty="0">
                <a:solidFill>
                  <a:srgbClr val="000000"/>
                </a:solidFill>
                <a:latin typeface="-apple-system"/>
              </a:rPr>
              <a:t>显著提升</a:t>
            </a:r>
            <a:r>
              <a:rPr lang="en-US" altLang="zh-CN" b="1" dirty="0">
                <a:solidFill>
                  <a:srgbClr val="000000"/>
                </a:solidFill>
                <a:latin typeface="-apple-system"/>
              </a:rPr>
              <a:t>,</a:t>
            </a:r>
          </a:p>
          <a:p>
            <a:r>
              <a:rPr lang="zh-CN" altLang="en-US" dirty="0">
                <a:solidFill>
                  <a:srgbClr val="000000"/>
                </a:solidFill>
                <a:latin typeface="-apple-system"/>
              </a:rPr>
              <a:t>系统低成本、非侵入性，具有良好的</a:t>
            </a:r>
            <a:r>
              <a:rPr lang="zh-CN" altLang="en-US" b="1" dirty="0">
                <a:solidFill>
                  <a:srgbClr val="000000"/>
                </a:solidFill>
                <a:latin typeface="-apple-system"/>
              </a:rPr>
              <a:t>实际应用潜力</a:t>
            </a:r>
            <a:endParaRPr lang="zh-CN" altLang="en-US" b="1" dirty="0"/>
          </a:p>
        </p:txBody>
      </p:sp>
      <p:sp>
        <p:nvSpPr>
          <p:cNvPr id="10" name="文本框 9">
            <a:extLst>
              <a:ext uri="{FF2B5EF4-FFF2-40B4-BE49-F238E27FC236}">
                <a16:creationId xmlns:a16="http://schemas.microsoft.com/office/drawing/2014/main" id="{3D8486C7-18D2-F3AC-4FB5-13C7AD0580ED}"/>
              </a:ext>
            </a:extLst>
          </p:cNvPr>
          <p:cNvSpPr txBox="1"/>
          <p:nvPr/>
        </p:nvSpPr>
        <p:spPr>
          <a:xfrm>
            <a:off x="6172200" y="1518285"/>
            <a:ext cx="6140450" cy="923330"/>
          </a:xfrm>
          <a:prstGeom prst="rect">
            <a:avLst/>
          </a:prstGeom>
          <a:noFill/>
        </p:spPr>
        <p:txBody>
          <a:bodyPr wrap="square">
            <a:spAutoFit/>
          </a:bodyPr>
          <a:lstStyle/>
          <a:p>
            <a:r>
              <a:rPr lang="zh-CN" altLang="en-US" b="1" i="0" dirty="0">
                <a:solidFill>
                  <a:srgbClr val="000000"/>
                </a:solidFill>
                <a:effectLst/>
                <a:latin typeface="-apple-system"/>
              </a:rPr>
              <a:t>局限性</a:t>
            </a:r>
            <a:r>
              <a:rPr lang="zh-CN" altLang="en-US" b="0" i="0" dirty="0">
                <a:solidFill>
                  <a:srgbClr val="000000"/>
                </a:solidFill>
                <a:effectLst/>
                <a:latin typeface="-apple-system"/>
              </a:rPr>
              <a:t>​：</a:t>
            </a:r>
            <a:endParaRPr lang="en-US" altLang="zh-CN" b="0" i="0" dirty="0">
              <a:solidFill>
                <a:srgbClr val="000000"/>
              </a:solidFill>
              <a:effectLst/>
              <a:latin typeface="-apple-system"/>
            </a:endParaRPr>
          </a:p>
          <a:p>
            <a:r>
              <a:rPr lang="en-US" altLang="zh-CN" dirty="0">
                <a:solidFill>
                  <a:srgbClr val="000000"/>
                </a:solidFill>
                <a:latin typeface="-apple-system"/>
              </a:rPr>
              <a:t>1.</a:t>
            </a:r>
            <a:r>
              <a:rPr lang="zh-CN" altLang="en-US" b="0" i="0" dirty="0">
                <a:solidFill>
                  <a:srgbClr val="000000"/>
                </a:solidFill>
                <a:effectLst/>
                <a:latin typeface="-apple-system"/>
              </a:rPr>
              <a:t>系统性能受环境变化影响（如家具移动）</a:t>
            </a:r>
            <a:endParaRPr lang="en-US" altLang="zh-CN" b="0" i="0" dirty="0">
              <a:solidFill>
                <a:srgbClr val="000000"/>
              </a:solidFill>
              <a:effectLst/>
              <a:latin typeface="-apple-system"/>
            </a:endParaRPr>
          </a:p>
          <a:p>
            <a:r>
              <a:rPr lang="en-US" altLang="zh-CN" dirty="0">
                <a:solidFill>
                  <a:srgbClr val="000000"/>
                </a:solidFill>
                <a:latin typeface="-apple-system"/>
              </a:rPr>
              <a:t>2.</a:t>
            </a:r>
            <a:r>
              <a:rPr lang="zh-CN" altLang="en-US" b="0" i="0" dirty="0">
                <a:solidFill>
                  <a:srgbClr val="000000"/>
                </a:solidFill>
                <a:effectLst/>
                <a:latin typeface="-apple-system"/>
              </a:rPr>
              <a:t>在多人物同时活动场景下可靠性有限。</a:t>
            </a:r>
            <a:endParaRPr lang="zh-CN" altLang="en-US" dirty="0"/>
          </a:p>
        </p:txBody>
      </p:sp>
      <p:cxnSp>
        <p:nvCxnSpPr>
          <p:cNvPr id="11" name="直接连接符 10">
            <a:extLst>
              <a:ext uri="{FF2B5EF4-FFF2-40B4-BE49-F238E27FC236}">
                <a16:creationId xmlns:a16="http://schemas.microsoft.com/office/drawing/2014/main" id="{DD21D2AE-F356-C480-4F9C-1C61FF286AC1}"/>
              </a:ext>
            </a:extLst>
          </p:cNvPr>
          <p:cNvCxnSpPr>
            <a:cxnSpLocks/>
          </p:cNvCxnSpPr>
          <p:nvPr/>
        </p:nvCxnSpPr>
        <p:spPr>
          <a:xfrm>
            <a:off x="6096000" y="1391285"/>
            <a:ext cx="0" cy="5146829"/>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790997590"/>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DOC_GUID" val="{a430a092-4c0f-4c48-9dc9-eb6f5ee1d151}"/>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86617"/>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86617"/>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INDEX" val="20186617"/>
  <p:tag name="KSO_WM_TEMPLATE_CATEGORY" val="custom"/>
  <p:tag name="KSO_WM_TEMPLATE_THUMBS_INDEX" val="1、2、3、4、5、6、7、8、9、10、11、12、13、14、15"/>
  <p:tag name="KSO_WM_TEMPLATE_TOPIC_ID" val="2869567"/>
  <p:tag name="KSO_WM_TEMPLATE_OUTLINE_ID" val="5"/>
  <p:tag name="KSO_WM_TEMPLATE_SCENE_ID" val="1"/>
  <p:tag name="KSO_WM_TEMPLATE_JOB_ID" val="5"/>
  <p:tag name="KSO_WM_TEMPLATE_TOPIC_DEFAULT" val="0"/>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08"/>
  <p:tag name="KSO_WM_SLIDE_INDEX" val="1"/>
  <p:tag name="KSO_WM_SLIDE_ITEM_CNT" val="3"/>
  <p:tag name="KSO_WM_SLIDE_LAYOUT" val="a_b_d"/>
  <p:tag name="KSO_WM_SLIDE_LAYOUT_CNT" val="1_1_1"/>
  <p:tag name="KSO_WM_SLIDE_TYPE" val="title"/>
  <p:tag name="KSO_WM_TAG_VERSION" val="1.0"/>
  <p:tag name="KSO_WM_SLIDE_MODEL_TYPE" val="cover"/>
</p:tagLst>
</file>

<file path=ppt/tags/tag7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617"/>
</p:tagLst>
</file>

<file path=ppt/tags/tag7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8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8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8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8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9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9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9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9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0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0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0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0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0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1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1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1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1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1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2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2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2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2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3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3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3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3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3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4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4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4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heme/theme1.xml><?xml version="1.0" encoding="utf-8"?>
<a:theme xmlns:a="http://schemas.openxmlformats.org/drawingml/2006/main" name="Office 主题​​">
  <a:themeElements>
    <a:clrScheme name="20186615">
      <a:dk1>
        <a:srgbClr val="000000"/>
      </a:dk1>
      <a:lt1>
        <a:srgbClr val="FFFFFF"/>
      </a:lt1>
      <a:dk2>
        <a:srgbClr val="0BA0BD"/>
      </a:dk2>
      <a:lt2>
        <a:srgbClr val="E6E4E4"/>
      </a:lt2>
      <a:accent1>
        <a:srgbClr val="E85955"/>
      </a:accent1>
      <a:accent2>
        <a:srgbClr val="DE9138"/>
      </a:accent2>
      <a:accent3>
        <a:srgbClr val="F8B62D"/>
      </a:accent3>
      <a:accent4>
        <a:srgbClr val="B1BE4D"/>
      </a:accent4>
      <a:accent5>
        <a:srgbClr val="559DB4"/>
      </a:accent5>
      <a:accent6>
        <a:srgbClr val="C4AF8F"/>
      </a:accent6>
      <a:hlink>
        <a:srgbClr val="0563C1"/>
      </a:hlink>
      <a:folHlink>
        <a:srgbClr val="954D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962</TotalTime>
  <Words>5380</Words>
  <Application>Microsoft Office PowerPoint</Application>
  <PresentationFormat>宽屏</PresentationFormat>
  <Paragraphs>347</Paragraphs>
  <Slides>39</Slides>
  <Notes>34</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53" baseType="lpstr">
      <vt:lpstr>-apple-system</vt:lpstr>
      <vt:lpstr>Helvetica Neue</vt:lpstr>
      <vt:lpstr>Inter</vt:lpstr>
      <vt:lpstr>KaTeX_Main</vt:lpstr>
      <vt:lpstr>KaTeX_Math</vt:lpstr>
      <vt:lpstr>等线</vt:lpstr>
      <vt:lpstr>微软雅黑</vt:lpstr>
      <vt:lpstr>微软雅黑 Light</vt:lpstr>
      <vt:lpstr>Arial</vt:lpstr>
      <vt:lpstr>Calibri</vt:lpstr>
      <vt:lpstr>Cambria Math</vt:lpstr>
      <vt:lpstr>Times New Roman</vt:lpstr>
      <vt:lpstr>Office 主题​​</vt:lpstr>
      <vt:lpstr>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吴 欣琪</dc:creator>
  <cp:lastModifiedBy>王锦鸿</cp:lastModifiedBy>
  <cp:revision>215</cp:revision>
  <dcterms:created xsi:type="dcterms:W3CDTF">2019-03-24T15:19:00Z</dcterms:created>
  <dcterms:modified xsi:type="dcterms:W3CDTF">2025-10-17T04:22:21Z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2052-11.8.2.12195</vt:lpwstr>
  </property>
  <property fmtid="{D5CDD505-2E9C-101B-9397-08002B2CF9AE}" pid="3" name="ICV">
    <vt:lpwstr>4B55492A4D5946159BFF1B442633507F</vt:lpwstr>
  </property>
</Properties>
</file>