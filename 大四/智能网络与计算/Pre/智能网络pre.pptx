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2.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1.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notesSlides/notesSlide2.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notesSlides/notesSlide3.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notesSlides/notesSlide4.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notesSlides/notesSlide5.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notesSlides/notesSlide6.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notesSlides/notesSlide7.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8.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notesSlides/notesSlide9.xml" ContentType="application/vnd.openxmlformats-officedocument.presentationml.notesSlide+xml"/>
  <Override PartName="/ppt/tags/tag111.xml" ContentType="application/vnd.openxmlformats-officedocument.presentationml.tags+xml"/>
  <Override PartName="/ppt/notesSlides/notesSlide10.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notesSlides/notesSlide11.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notesSlides/notesSlide12.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notesSlides/notesSlide13.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notesSlides/notesSlide14.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notesSlides/notesSlide15.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notesSlides/notesSlide16.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notesSlides/notesSlide17.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notesSlides/notesSlide18.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notesSlides/notesSlide19.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notesSlides/notesSlide20.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notesSlides/notesSlide21.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notesSlides/notesSlide22.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notesSlides/notesSlide23.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notesSlides/notesSlide24.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notesSlides/notesSlide25.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notesSlides/notesSlide26.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notesSlides/notesSlide27.xml" ContentType="application/vnd.openxmlformats-officedocument.presentationml.notesSlide+xml"/>
  <Override PartName="/ppt/tags/tag146.xml" ContentType="application/vnd.openxmlformats-officedocument.presentationml.tags+xml"/>
  <Override PartName="/ppt/tags/tag147.xml" ContentType="application/vnd.openxmlformats-officedocument.presentationml.tags+xml"/>
  <Override PartName="/ppt/notesSlides/notesSlide28.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notesSlides/notesSlide29.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notesSlides/notesSlide30.xml" ContentType="application/vnd.openxmlformats-officedocument.presentationml.notesSlide+xml"/>
  <Override PartName="/ppt/tags/tag152.xml" ContentType="application/vnd.openxmlformats-officedocument.presentationml.tags+xml"/>
  <Override PartName="/ppt/tags/tag153.xml" ContentType="application/vnd.openxmlformats-officedocument.presentationml.tags+xml"/>
  <Override PartName="/ppt/notesSlides/notesSlide31.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notesSlides/notesSlide32.xml" ContentType="application/vnd.openxmlformats-officedocument.presentationml.notesSlide+xml"/>
  <Override PartName="/ppt/tags/tag156.xml" ContentType="application/vnd.openxmlformats-officedocument.presentationml.tags+xml"/>
  <Override PartName="/ppt/tags/tag157.xml" ContentType="application/vnd.openxmlformats-officedocument.presentationml.tags+xml"/>
  <Override PartName="/ppt/notesSlides/notesSlide33.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notesSlides/notesSlide34.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notesSlides/notesSlide35.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notesSlides/notesSlide36.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notesSlides/notesSlide37.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notesSlides/notesSlide38.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notesSlides/notesSlide39.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notesSlides/notesSlide40.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notesSlides/notesSlide41.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notesSlides/notesSlide42.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notesSlides/notesSlide43.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notesSlides/notesSlide44.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notesSlides/notesSlide45.xml" ContentType="application/vnd.openxmlformats-officedocument.presentationml.notesSlide+xml"/>
  <Override PartName="/ppt/tags/tag182.xml" ContentType="application/vnd.openxmlformats-officedocument.presentationml.tags+xml"/>
  <Override PartName="/ppt/tags/tag183.xml" ContentType="application/vnd.openxmlformats-officedocument.presentationml.tags+xml"/>
  <Override PartName="/ppt/notesSlides/notesSlide46.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notesSlides/notesSlide47.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notesSlides/notesSlide48.xml" ContentType="application/vnd.openxmlformats-officedocument.presentationml.notesSlide+xml"/>
  <Override PartName="/ppt/tags/tag189.xml" ContentType="application/vnd.openxmlformats-officedocument.presentationml.tags+xml"/>
  <Override PartName="/ppt/tags/tag190.xml" ContentType="application/vnd.openxmlformats-officedocument.presentationml.tags+xml"/>
  <Override PartName="/ppt/notesSlides/notesSlide49.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notesSlides/notesSlide50.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notesSlides/notesSlide51.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notesSlides/notesSlide52.xml" ContentType="application/vnd.openxmlformats-officedocument.presentationml.notesSlide+xml"/>
  <Override PartName="/ppt/tags/tag197.xml" ContentType="application/vnd.openxmlformats-officedocument.presentationml.tags+xml"/>
  <Override PartName="/ppt/tags/tag198.xml" ContentType="application/vnd.openxmlformats-officedocument.presentationml.tags+xml"/>
  <Override PartName="/ppt/notesSlides/notesSlide53.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8"/>
  </p:notesMasterIdLst>
  <p:sldIdLst>
    <p:sldId id="258" r:id="rId2"/>
    <p:sldId id="286" r:id="rId3"/>
    <p:sldId id="287" r:id="rId4"/>
    <p:sldId id="288" r:id="rId5"/>
    <p:sldId id="290" r:id="rId6"/>
    <p:sldId id="291" r:id="rId7"/>
    <p:sldId id="292" r:id="rId8"/>
    <p:sldId id="268" r:id="rId9"/>
    <p:sldId id="264" r:id="rId10"/>
    <p:sldId id="293" r:id="rId11"/>
    <p:sldId id="294" r:id="rId12"/>
    <p:sldId id="295" r:id="rId13"/>
    <p:sldId id="296" r:id="rId14"/>
    <p:sldId id="297" r:id="rId15"/>
    <p:sldId id="299" r:id="rId16"/>
    <p:sldId id="298" r:id="rId17"/>
    <p:sldId id="338" r:id="rId18"/>
    <p:sldId id="339" r:id="rId19"/>
    <p:sldId id="341" r:id="rId20"/>
    <p:sldId id="300" r:id="rId21"/>
    <p:sldId id="301" r:id="rId22"/>
    <p:sldId id="302" r:id="rId23"/>
    <p:sldId id="303" r:id="rId24"/>
    <p:sldId id="304" r:id="rId25"/>
    <p:sldId id="305" r:id="rId26"/>
    <p:sldId id="306" r:id="rId27"/>
    <p:sldId id="307" r:id="rId28"/>
    <p:sldId id="308" r:id="rId29"/>
    <p:sldId id="309" r:id="rId30"/>
    <p:sldId id="310" r:id="rId31"/>
    <p:sldId id="311" r:id="rId32"/>
    <p:sldId id="313" r:id="rId33"/>
    <p:sldId id="312"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331" r:id="rId52"/>
    <p:sldId id="332" r:id="rId53"/>
    <p:sldId id="333" r:id="rId54"/>
    <p:sldId id="334" r:id="rId55"/>
    <p:sldId id="335" r:id="rId56"/>
    <p:sldId id="336" r:id="rId57"/>
    <p:sldId id="337" r:id="rId58"/>
    <p:sldId id="343" r:id="rId59"/>
    <p:sldId id="344" r:id="rId60"/>
    <p:sldId id="345" r:id="rId61"/>
    <p:sldId id="346" r:id="rId62"/>
    <p:sldId id="349" r:id="rId63"/>
    <p:sldId id="347" r:id="rId64"/>
    <p:sldId id="348" r:id="rId65"/>
    <p:sldId id="342" r:id="rId66"/>
    <p:sldId id="340" r:id="rId67"/>
  </p:sldIdLst>
  <p:sldSz cx="12192000" cy="6858000"/>
  <p:notesSz cx="6858000" cy="9144000"/>
  <p:custDataLst>
    <p:tags r:id="rId6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6">
          <p15:clr>
            <a:srgbClr val="A4A3A4"/>
          </p15:clr>
        </p15:guide>
        <p15:guide id="2" pos="357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锦鸿" initials="王锦鸿" lastIdx="1" clrIdx="0">
    <p:extLst>
      <p:ext uri="{19B8F6BF-5375-455C-9EA6-DF929625EA0E}">
        <p15:presenceInfo xmlns:p15="http://schemas.microsoft.com/office/powerpoint/2012/main" userId="王锦鸿"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94B71"/>
    <a:srgbClr val="8F6C8F"/>
    <a:srgbClr val="955BA5"/>
    <a:srgbClr val="CC64AA"/>
    <a:srgbClr val="C993B7"/>
    <a:srgbClr val="7C5886"/>
    <a:srgbClr val="DCBBE3"/>
    <a:srgbClr val="C54B48"/>
    <a:srgbClr val="D4CFF3"/>
    <a:srgbClr val="C0B4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8" autoAdjust="0"/>
    <p:restoredTop sz="85544" autoAdjust="0"/>
  </p:normalViewPr>
  <p:slideViewPr>
    <p:cSldViewPr snapToGrid="0">
      <p:cViewPr>
        <p:scale>
          <a:sx n="66" d="100"/>
          <a:sy n="66" d="100"/>
        </p:scale>
        <p:origin x="1764" y="276"/>
      </p:cViewPr>
      <p:guideLst>
        <p:guide orient="horz" pos="2216"/>
        <p:guide pos="3574"/>
      </p:guideLst>
    </p:cSldViewPr>
  </p:slideViewPr>
  <p:outlineViewPr>
    <p:cViewPr>
      <p:scale>
        <a:sx n="33" d="100"/>
        <a:sy n="33" d="100"/>
      </p:scale>
      <p:origin x="0" y="-284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image" Target="../media/image44.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image" Target="../media/image4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陀螺仪：</a:t>
            </a:r>
            <a:r>
              <a:rPr lang="en-US" altLang="zh-CN" dirty="0"/>
              <a:t> 该研究通过优化算法来提高跌倒检测的准确性。具体来说，研究人员利用加速度计和陀螺仪的数据，结合机器学习技术，开发了一种能够区分跌倒和其他日常活动的算法。这种算法通过分析传感器数据中的特征，如加速度的变化率和陀螺仪的旋转角度，来判断是否发生了跌倒</a:t>
            </a:r>
          </a:p>
          <a:p>
            <a:r>
              <a:rPr lang="zh-CN" altLang="en-US" dirty="0"/>
              <a:t>气压传感器：</a:t>
            </a:r>
          </a:p>
          <a:p>
            <a:r>
              <a:rPr lang="zh-CN" altLang="en-US" dirty="0"/>
              <a:t>气压传感器：该研究提出了一种结合气压计和三轴加速度计的跌倒检测算法。气压计可以检测到跌倒过程中气压的快速变化，而三轴加速度计则可以捕捉到加速度的变化。通过结合这两种传感器的数据，算法能够更准确地识别跌倒事件。</a:t>
            </a:r>
          </a:p>
          <a:p>
            <a:r>
              <a:rPr lang="en-US" altLang="zh-CN" dirty="0"/>
              <a:t>RFID</a:t>
            </a:r>
            <a:r>
              <a:rPr lang="zh-CN" altLang="en-US" dirty="0"/>
              <a:t>：该研究提出了一种基于室内 RFID 的步态监测系统，用于检测跌倒事件。系统通过在室内环境中部署 RFID 标签和读取器，实时监测人体的运动轨迹和步态特征。具体来说，RFID 标签被放置在受试者的衣物上，而读取器则安装在室内环境中，用于捕捉标签的信号。通过分析这些信号的变化，系统能够识别出跌倒事件。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音频噪声：</a:t>
            </a:r>
            <a:r>
              <a:rPr lang="en-US" altLang="zh-CN"/>
              <a:t> 该研究提出了一种基于麦克风阵列的跌倒检测系统，利用多个麦克风捕捉声音信号，并通过信号处理和模式识别技术来检测跌倒事件。具体来说，该系统通过分析声音信号的特征，如声音的强度、频率和持续时间，来区分跌倒和其他日常活动</a:t>
            </a:r>
          </a:p>
          <a:p>
            <a:r>
              <a:rPr lang="zh-CN" altLang="en-US"/>
              <a:t>地板振动：该研究提出了一种基于地板振动的被动跌倒检测系统。系统通过在地板上安装传感器，捕捉人体跌倒时产生的振动信号。这些传感器能够检测到跌倒事件的振动特征，并通过信号处理和模式识别技术来区分跌倒和其他日常活动。</a:t>
            </a:r>
          </a:p>
          <a:p>
            <a:r>
              <a:rPr lang="zh-CN" altLang="en-US"/>
              <a:t>红外数据：该研究提出了一种基于红外天花板传感器网络的跌倒检测系统。系统通过在天花板上安装多个红外传感器，实时监测人体的运动轨迹和行为模式。这些传感器能够捕捉到人体的热辐射信号，并通过信号处理和模式识别技术来区分跌倒和其他日常活动</a:t>
            </a:r>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Figure 6 展示了图 1 中手势的频率-时间多普勒轮廓（Frequency-time Doppler profiles）。WiSee 系统通过将这些轮廓分割成正多普勒频移和负多普勒频移的序列来唯一识别每个手势。</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Y. Liu, and J. Cao, “Non-invasive detection of moving and stationary human with wifi,’ IEEE J. Selected Areas Commun., vol. 33, no. 11, pp. 2329–2342, 2015. </a:t>
            </a:r>
            <a:r>
              <a:rPr lang="zh-CN" altLang="en-US"/>
              <a:t>人体移动时，由</a:t>
            </a:r>
            <a:r>
              <a:rPr lang="en-US" altLang="zh-CN"/>
              <a:t>CSI</a:t>
            </a:r>
            <a:r>
              <a:rPr lang="zh-CN" altLang="en-US"/>
              <a:t>的信号包络的波动更大</a:t>
            </a:r>
            <a:r>
              <a:rPr lang="en-US" altLang="zh-CN"/>
              <a:t>dB</a:t>
            </a:r>
            <a:r>
              <a:rPr lang="zh-CN" altLang="en-US"/>
              <a:t>单位</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1806725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941925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1CA4D-16C3-B1F5-DEA0-D24819DDA1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535DFD-8B49-7609-4499-DC23581881F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4854180-2E16-A740-8ECB-522E27EB205B}"/>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2271203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5F87A-1777-09FA-CBE8-A5C7BB173D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342232-A444-1F6F-5174-A59AB0F744D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97F12C2-D91C-434D-FA6F-EC31BFDA0DFC}"/>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2920970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65C8-10DE-A7AC-1615-6A9DA10352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422139-2308-F6A4-9684-E5CF6992E34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3ECB83C-883F-173B-193C-559CEF787FCA}"/>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4042526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025B2-5E75-B56B-E3F1-DCDEDA7985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0602E2-ABB9-3B44-CB76-9EF2D42E1F3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5E0A6A3-35DF-3DED-5723-321008E48317}"/>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2789955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21CAD-DCD5-37A4-8C27-DD1B2BC31A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24EED9-9EEA-C43B-2B04-9D9F138516D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D94EF65-BCE2-06B4-DF51-A698F92E7A78}"/>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为了将跌倒与其他活动区分开来，我们首先试图找到跌倒的一些独特之处。不幸的是，振幅的变化和振幅的轮廓</a:t>
            </a:r>
            <a:r>
              <a:rPr lang="zh-CN" altLang="zh-CN" sz="1200" b="1" kern="1200" dirty="0">
                <a:solidFill>
                  <a:schemeClr val="tx1"/>
                </a:solidFill>
                <a:effectLst/>
                <a:latin typeface="+mn-lt"/>
                <a:ea typeface="+mn-ea"/>
                <a:cs typeface="+mn-cs"/>
              </a:rPr>
              <a:t>都没有显示出清晰的模式</a:t>
            </a:r>
            <a:r>
              <a:rPr lang="zh-CN" altLang="zh-CN" sz="1200" kern="1200" dirty="0">
                <a:solidFill>
                  <a:schemeClr val="tx1"/>
                </a:solidFill>
                <a:effectLst/>
                <a:latin typeface="+mn-lt"/>
                <a:ea typeface="+mn-ea"/>
                <a:cs typeface="+mn-cs"/>
              </a:rPr>
              <a:t>，无法使跌倒与其他活动区分开来。因此，</a:t>
            </a:r>
            <a:r>
              <a:rPr lang="zh-CN" altLang="zh-CN" sz="1200" b="1" kern="1200" dirty="0">
                <a:solidFill>
                  <a:schemeClr val="tx1"/>
                </a:solidFill>
                <a:effectLst/>
                <a:latin typeface="+mn-lt"/>
                <a:ea typeface="+mn-ea"/>
                <a:cs typeface="+mn-cs"/>
              </a:rPr>
              <a:t>振幅只能判断人体受试者是否在进行运动活动</a:t>
            </a:r>
            <a:r>
              <a:rPr lang="zh-CN" altLang="zh-CN" sz="1200" kern="1200" dirty="0">
                <a:solidFill>
                  <a:schemeClr val="tx1"/>
                </a:solidFill>
                <a:effectLst/>
                <a:latin typeface="+mn-lt"/>
                <a:ea typeface="+mn-ea"/>
                <a:cs typeface="+mn-cs"/>
              </a:rPr>
              <a:t>。</a:t>
            </a:r>
            <a:r>
              <a:rPr lang="zh-CN" altLang="zh-CN" dirty="0">
                <a:effectLst/>
              </a:rPr>
              <a:t> </a:t>
            </a:r>
            <a:endParaRPr lang="en-US" altLang="zh-CN" dirty="0"/>
          </a:p>
        </p:txBody>
      </p:sp>
    </p:spTree>
    <p:extLst>
      <p:ext uri="{BB962C8B-B14F-4D97-AF65-F5344CB8AC3E}">
        <p14:creationId xmlns:p14="http://schemas.microsoft.com/office/powerpoint/2010/main" val="1392041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4961-829F-8BA0-F260-4A7E05ED7A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6D14E9-DCEB-66E4-8C9D-66B9A0B2ABA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82F34C5-01C3-4891-7D33-586ECCF989E1}"/>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运动引起的</a:t>
            </a:r>
            <a:r>
              <a:rPr lang="zh-CN" altLang="zh-CN" sz="1200" b="1" kern="1200" dirty="0">
                <a:solidFill>
                  <a:schemeClr val="tx1"/>
                </a:solidFill>
                <a:effectLst/>
                <a:latin typeface="+mn-lt"/>
                <a:ea typeface="+mn-ea"/>
                <a:cs typeface="+mn-cs"/>
              </a:rPr>
              <a:t>振幅变化幅度在从</a:t>
            </a:r>
            <a:r>
              <a:rPr lang="en-US" altLang="zh-CN" sz="1200" b="1" kern="1200" dirty="0">
                <a:solidFill>
                  <a:schemeClr val="tx1"/>
                </a:solidFill>
                <a:effectLst/>
                <a:latin typeface="+mn-lt"/>
                <a:ea typeface="+mn-ea"/>
                <a:cs typeface="+mn-cs"/>
              </a:rPr>
              <a:t> LOS </a:t>
            </a:r>
            <a:r>
              <a:rPr lang="zh-CN" altLang="zh-CN" sz="1200" b="1" kern="1200" dirty="0">
                <a:solidFill>
                  <a:schemeClr val="tx1"/>
                </a:solidFill>
                <a:effectLst/>
                <a:latin typeface="+mn-lt"/>
                <a:ea typeface="+mn-ea"/>
                <a:cs typeface="+mn-cs"/>
              </a:rPr>
              <a:t>到</a:t>
            </a:r>
            <a:r>
              <a:rPr lang="en-US" altLang="zh-CN" sz="1200" b="1" kern="1200" dirty="0">
                <a:solidFill>
                  <a:schemeClr val="tx1"/>
                </a:solidFill>
                <a:effectLst/>
                <a:latin typeface="+mn-lt"/>
                <a:ea typeface="+mn-ea"/>
                <a:cs typeface="+mn-cs"/>
              </a:rPr>
              <a:t> NLOS </a:t>
            </a:r>
            <a:r>
              <a:rPr lang="zh-CN" altLang="zh-CN" sz="1200" b="1" kern="1200" dirty="0">
                <a:solidFill>
                  <a:schemeClr val="tx1"/>
                </a:solidFill>
                <a:effectLst/>
                <a:latin typeface="+mn-lt"/>
                <a:ea typeface="+mn-ea"/>
                <a:cs typeface="+mn-cs"/>
              </a:rPr>
              <a:t>的条件下变小</a:t>
            </a:r>
            <a:r>
              <a:rPr lang="zh-CN" altLang="zh-CN" sz="1200" kern="1200" dirty="0">
                <a:solidFill>
                  <a:schemeClr val="tx1"/>
                </a:solidFill>
                <a:effectLst/>
                <a:latin typeface="+mn-lt"/>
                <a:ea typeface="+mn-ea"/>
                <a:cs typeface="+mn-cs"/>
              </a:rPr>
              <a:t>。这是意料之中的，因为信号传播会受到路径损耗的影响。</a:t>
            </a:r>
            <a:r>
              <a:rPr lang="zh-CN" altLang="zh-CN" dirty="0">
                <a:effectLst/>
              </a:rPr>
              <a:t> </a:t>
            </a:r>
            <a:endParaRPr lang="en-US" altLang="zh-CN" dirty="0"/>
          </a:p>
        </p:txBody>
      </p:sp>
    </p:spTree>
    <p:extLst>
      <p:ext uri="{BB962C8B-B14F-4D97-AF65-F5344CB8AC3E}">
        <p14:creationId xmlns:p14="http://schemas.microsoft.com/office/powerpoint/2010/main" val="1194123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9CDE9-AAB5-F0D4-D8C2-E23AF9FC63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AEECFD-C718-F1CD-FB07-20CFCD4289A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C9A355A-A33F-66D2-574D-4B54BB6EE391}"/>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中的红线所示，随着人体的运动，来自人体的散射路径不断变化。随着人体与</a:t>
            </a:r>
            <a:r>
              <a:rPr lang="en-US" altLang="zh-CN" sz="1200" kern="1200" dirty="0">
                <a:solidFill>
                  <a:schemeClr val="tx1"/>
                </a:solidFill>
                <a:effectLst/>
                <a:latin typeface="+mn-lt"/>
                <a:ea typeface="+mn-ea"/>
                <a:cs typeface="+mn-cs"/>
              </a:rPr>
              <a:t> LOS </a:t>
            </a:r>
            <a:r>
              <a:rPr lang="zh-CN" altLang="zh-CN" sz="1200" kern="1200" dirty="0">
                <a:solidFill>
                  <a:schemeClr val="tx1"/>
                </a:solidFill>
                <a:effectLst/>
                <a:latin typeface="+mn-lt"/>
                <a:ea typeface="+mn-ea"/>
                <a:cs typeface="+mn-cs"/>
              </a:rPr>
              <a:t>路径距离的增大，这些散射功率迅速减小，直到它们变得太弱而无法与环境噪声区分开来。</a:t>
            </a:r>
            <a:r>
              <a:rPr lang="zh-CN" altLang="zh-CN" dirty="0">
                <a:effectLst/>
              </a:rPr>
              <a:t> </a:t>
            </a:r>
            <a:endParaRPr lang="en-US" altLang="zh-CN" dirty="0">
              <a:effectLst/>
            </a:endParaRPr>
          </a:p>
          <a:p>
            <a:r>
              <a:rPr lang="zh-CN" altLang="en-US" dirty="0">
                <a:effectLst/>
              </a:rPr>
              <a:t>很自然地，提出两个问题：</a:t>
            </a:r>
            <a:endParaRPr lang="en-US" altLang="zh-CN" dirty="0"/>
          </a:p>
        </p:txBody>
      </p:sp>
    </p:spTree>
    <p:extLst>
      <p:ext uri="{BB962C8B-B14F-4D97-AF65-F5344CB8AC3E}">
        <p14:creationId xmlns:p14="http://schemas.microsoft.com/office/powerpoint/2010/main" val="257847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B787E-DCB3-3C58-83F8-6E23A46AA0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F174A3-FAD8-3DA6-379B-2BB2D5E83AB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11455F5-5BBB-1BD5-EA8B-3412F13C914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694152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12CE-4CFD-AAB9-A9B1-1D9F26BF4A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E5C31F-DC0B-CA9A-A458-E61FA5A0855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74D5D77-5CDE-CC26-9F88-8AF0450D8D44}"/>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6659705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6524-5C0A-6B30-197F-926F2349F7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248D77-3150-CE9B-C428-A27FF03C075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5B57DE2-6CEF-EF28-49F1-152EBE7835EB}"/>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在所有跌落中，</a:t>
            </a:r>
            <a:r>
              <a:rPr lang="zh-CN" altLang="zh-CN" sz="1200" b="1" kern="1200" dirty="0">
                <a:solidFill>
                  <a:schemeClr val="tx1"/>
                </a:solidFill>
                <a:effectLst/>
                <a:latin typeface="+mn-lt"/>
                <a:ea typeface="+mn-ea"/>
                <a:cs typeface="+mn-cs"/>
              </a:rPr>
              <a:t>振幅变化幅度都显示出从波动状态到稳定状态的明显转变。</a:t>
            </a:r>
            <a:r>
              <a:rPr lang="zh-CN" altLang="zh-CN" sz="1200" kern="1200" dirty="0">
                <a:solidFill>
                  <a:schemeClr val="tx1"/>
                </a:solidFill>
                <a:effectLst/>
                <a:latin typeface="+mn-lt"/>
                <a:ea typeface="+mn-ea"/>
                <a:cs typeface="+mn-cs"/>
              </a:rPr>
              <a:t>这是意料之中的，因为跌倒通常最终会以一动不动的姿势（例如，躺在地板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沙发上）结束，从而导致相对稳定的信号变化模式。看来我们可以</a:t>
            </a:r>
            <a:r>
              <a:rPr lang="zh-CN" altLang="zh-CN" sz="1200" b="1" kern="1200" dirty="0">
                <a:solidFill>
                  <a:schemeClr val="tx1"/>
                </a:solidFill>
                <a:effectLst/>
                <a:latin typeface="+mn-lt"/>
                <a:ea typeface="+mn-ea"/>
                <a:cs typeface="+mn-cs"/>
              </a:rPr>
              <a:t>将过渡用作实时活动分割的功能</a:t>
            </a:r>
            <a:r>
              <a:rPr lang="zh-CN" altLang="zh-CN" sz="1200" kern="1200" dirty="0">
                <a:solidFill>
                  <a:schemeClr val="tx1"/>
                </a:solidFill>
                <a:effectLst/>
                <a:latin typeface="+mn-lt"/>
                <a:ea typeface="+mn-ea"/>
                <a:cs typeface="+mn-cs"/>
              </a:rPr>
              <a:t>。不幸的是，由于许多人类日常活动最终都可能导致某种不动的活动，从所有这些活动组合中挑出真正的跌倒是非常困难的，甚至是不可能的。</a:t>
            </a:r>
            <a:r>
              <a:rPr lang="zh-CN" altLang="zh-CN" dirty="0">
                <a:effectLst/>
              </a:rPr>
              <a:t> </a:t>
            </a:r>
            <a:endParaRPr lang="en-US" altLang="zh-CN" dirty="0"/>
          </a:p>
        </p:txBody>
      </p:sp>
    </p:spTree>
    <p:extLst>
      <p:ext uri="{BB962C8B-B14F-4D97-AF65-F5344CB8AC3E}">
        <p14:creationId xmlns:p14="http://schemas.microsoft.com/office/powerpoint/2010/main" val="1933008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A11FE-5550-6499-1ABC-2FB1BB8379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E32768-A547-D1B3-62CF-F409CCB412D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CD2B72D-CE40-AF56-2D91-427D983AD022}"/>
              </a:ext>
            </a:extLst>
          </p:cNvPr>
          <p:cNvSpPr>
            <a:spLocks noGrp="1"/>
          </p:cNvSpPr>
          <p:nvPr>
            <p:ph type="body" idx="3"/>
          </p:nvPr>
        </p:nvSpPr>
        <p:spPr/>
        <p:txBody>
          <a:bodyPr/>
          <a:lstStyle/>
          <a:p>
            <a:r>
              <a:rPr lang="zh-CN" altLang="en-US" sz="1200" b="1" dirty="0">
                <a:solidFill>
                  <a:srgbClr val="775480"/>
                </a:solidFill>
                <a:latin typeface="微软雅黑 Light" panose="020B0502040204020203" charset="-122"/>
                <a:ea typeface="微软雅黑 Light" panose="020B0502040204020203" charset="-122"/>
              </a:rPr>
              <a:t>首先：</a:t>
            </a:r>
            <a:r>
              <a:rPr lang="zh-CN" altLang="zh-CN" sz="1200" b="1" dirty="0">
                <a:solidFill>
                  <a:srgbClr val="775480"/>
                </a:solidFill>
                <a:latin typeface="微软雅黑 Light" panose="020B0502040204020203" charset="-122"/>
                <a:ea typeface="微软雅黑 Light" panose="020B0502040204020203" charset="-122"/>
              </a:rPr>
              <a:t>因此，当执行各种未定义的人体活动时，系统将会失效</a:t>
            </a:r>
            <a:endParaRPr lang="en-US" altLang="zh-CN" sz="1200" b="1" dirty="0">
              <a:solidFill>
                <a:srgbClr val="775480"/>
              </a:solidFill>
              <a:latin typeface="微软雅黑 Light" panose="020B0502040204020203" charset="-122"/>
              <a:ea typeface="微软雅黑 Light" panose="020B0502040204020203" charset="-122"/>
            </a:endParaRPr>
          </a:p>
          <a:p>
            <a:endParaRPr lang="en-US" altLang="zh-CN" sz="1200" b="1" dirty="0">
              <a:solidFill>
                <a:srgbClr val="775480"/>
              </a:solidFill>
              <a:latin typeface="微软雅黑 Light" panose="020B0502040204020203" charset="-122"/>
              <a:ea typeface="微软雅黑 Light" panose="020B0502040204020203" charset="-122"/>
            </a:endParaRPr>
          </a:p>
          <a:p>
            <a:r>
              <a:rPr lang="zh-CN" altLang="en-US" sz="1200" b="1" dirty="0">
                <a:solidFill>
                  <a:srgbClr val="775480"/>
                </a:solidFill>
                <a:latin typeface="微软雅黑 Light" panose="020B0502040204020203" charset="-122"/>
                <a:ea typeface="微软雅黑 Light" panose="020B0502040204020203" charset="-122"/>
              </a:rPr>
              <a:t>其次：</a:t>
            </a:r>
            <a:r>
              <a:rPr lang="zh-CN" altLang="zh-CN" sz="1200" b="1" dirty="0">
                <a:solidFill>
                  <a:srgbClr val="775480"/>
                </a:solidFill>
                <a:latin typeface="微软雅黑 Light" panose="020B0502040204020203" charset="-122"/>
                <a:ea typeface="微软雅黑 Light" panose="020B0502040204020203" charset="-122"/>
              </a:rPr>
              <a:t>换句话说，受试者无法以自然、连续的方式执行活动。例如，一个人不能直接从坐姿起身并开始行走，而必须先起身、站立一段时间，然后再行走。</a:t>
            </a:r>
          </a:p>
          <a:p>
            <a:endParaRPr lang="en-US" altLang="zh-CN" sz="1200" b="1" dirty="0">
              <a:solidFill>
                <a:srgbClr val="775480"/>
              </a:solidFill>
              <a:latin typeface="微软雅黑 Light" panose="020B0502040204020203" charset="-122"/>
              <a:ea typeface="微软雅黑 Light" panose="020B0502040204020203" charset="-122"/>
            </a:endParaRPr>
          </a:p>
          <a:p>
            <a:endParaRPr lang="en-US" altLang="zh-CN" dirty="0"/>
          </a:p>
        </p:txBody>
      </p:sp>
    </p:spTree>
    <p:extLst>
      <p:ext uri="{BB962C8B-B14F-4D97-AF65-F5344CB8AC3E}">
        <p14:creationId xmlns:p14="http://schemas.microsoft.com/office/powerpoint/2010/main" val="3337473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2DEBA-F716-ECC3-E99C-3A8F2DB954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E69E0B-3068-0894-D6FC-9A4C0FB99A1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23B4346-5E1E-513C-9951-F00807F19D21}"/>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110067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1E4C-8412-CC89-2A04-BAB43C26CD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7B592E-BC7F-1487-2742-1646E3E2262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D499B89-0102-41FB-CE07-FC40CEE0BE0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6457301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108B3-F579-06EE-63AE-3C7D5CAA0C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418948-F4C8-54FE-D8DC-AB93CC5B3A6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1571CA1-D0C0-627F-4665-A8DC6C0E627D}"/>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956090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DAFC9-BDDB-2AC8-351B-0CC17A5211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5F38B0-5CAC-271F-1D57-CC35AAC2A27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63DC54C-C0C7-3319-657C-AC88E3E23A4A}"/>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583381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E2AED-6CE7-55E9-0B23-8A3AE6565E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452F47-0135-3BEF-A1CE-C5747F1D243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87D621B-739A-8427-8F60-D813A95456AE}"/>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1417866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199F-BA3D-7B76-3527-ECA5D8514B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B32435-433A-4783-D9EF-E5659B10622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BE32661-00F8-6710-76E6-7A76BF91E5F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2118725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819F4-363C-83A6-FFD4-7AF079D47A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46D064-B7F0-A0AA-5875-0540802E827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0ACAFC0-79FF-151D-EFDB-F850ACE35B0C}"/>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kern="1200" dirty="0">
                <a:solidFill>
                  <a:schemeClr val="tx1"/>
                </a:solidFill>
                <a:effectLst/>
                <a:latin typeface="+mn-lt"/>
                <a:ea typeface="+mn-ea"/>
                <a:cs typeface="+mn-cs"/>
              </a:rPr>
              <a:t>无人存在环境下的原始随机分布相位</a:t>
            </a:r>
            <a:r>
              <a:rPr lang="zh-CN" altLang="zh-CN" sz="1200" kern="1200" dirty="0">
                <a:solidFill>
                  <a:schemeClr val="tx1"/>
                </a:solidFill>
                <a:effectLst/>
                <a:latin typeface="+mn-lt"/>
                <a:ea typeface="+mn-ea"/>
                <a:cs typeface="+mn-cs"/>
              </a:rPr>
              <a:t>以及</a:t>
            </a:r>
            <a:r>
              <a:rPr lang="zh-CN" altLang="zh-CN" sz="1200" b="1" kern="1200" dirty="0">
                <a:solidFill>
                  <a:schemeClr val="tx1"/>
                </a:solidFill>
                <a:effectLst/>
                <a:latin typeface="+mn-lt"/>
                <a:ea typeface="+mn-ea"/>
                <a:cs typeface="+mn-cs"/>
              </a:rPr>
              <a:t>相位差</a:t>
            </a:r>
            <a:r>
              <a:rPr lang="zh-CN" altLang="en-US" sz="1200" b="1"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可以看到，通过计算</a:t>
            </a:r>
            <a:r>
              <a:rPr lang="zh-CN" altLang="zh-CN" sz="1200" b="1" kern="1200" dirty="0">
                <a:solidFill>
                  <a:schemeClr val="tx1"/>
                </a:solidFill>
                <a:effectLst/>
                <a:latin typeface="+mn-lt"/>
                <a:ea typeface="+mn-ea"/>
                <a:cs typeface="+mn-cs"/>
              </a:rPr>
              <a:t>两天线之间的相位差</a:t>
            </a:r>
            <a:r>
              <a:rPr lang="zh-CN" altLang="zh-CN" sz="1200" kern="1200" dirty="0">
                <a:solidFill>
                  <a:schemeClr val="tx1"/>
                </a:solidFill>
                <a:effectLst/>
                <a:latin typeface="+mn-lt"/>
                <a:ea typeface="+mn-ea"/>
                <a:cs typeface="+mn-cs"/>
              </a:rPr>
              <a:t>，原本随机分布的相位可以得到</a:t>
            </a:r>
            <a:r>
              <a:rPr lang="zh-CN" altLang="zh-CN" sz="1200" b="1" kern="1200" dirty="0">
                <a:solidFill>
                  <a:schemeClr val="tx1"/>
                </a:solidFill>
                <a:effectLst/>
                <a:latin typeface="+mn-lt"/>
                <a:ea typeface="+mn-ea"/>
                <a:cs typeface="+mn-cs"/>
              </a:rPr>
              <a:t>有效校准</a:t>
            </a:r>
            <a:r>
              <a:rPr lang="zh-CN" altLang="zh-CN" sz="1200" kern="1200" dirty="0">
                <a:solidFill>
                  <a:schemeClr val="tx1"/>
                </a:solidFill>
                <a:effectLst/>
                <a:latin typeface="+mn-lt"/>
                <a:ea typeface="+mn-ea"/>
                <a:cs typeface="+mn-cs"/>
              </a:rPr>
              <a:t>。</a:t>
            </a:r>
          </a:p>
          <a:p>
            <a:endParaRPr lang="en-US" altLang="zh-CN" dirty="0"/>
          </a:p>
        </p:txBody>
      </p:sp>
    </p:spTree>
    <p:extLst>
      <p:ext uri="{BB962C8B-B14F-4D97-AF65-F5344CB8AC3E}">
        <p14:creationId xmlns:p14="http://schemas.microsoft.com/office/powerpoint/2010/main" val="15881926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04E45-BCFB-C9E8-9FFD-F4E4A19458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C92D81-4363-8662-8C0C-DE17DF8A777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A2631DE-6107-96CD-D976-914FCDA0AD8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1700491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E6A5D-270B-9099-3A71-CF314C7EB9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D627B2-45D2-743C-A4CC-C12B169AC3A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476D8DA-12B1-B9E5-2077-A57663A212A8}"/>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0518426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EE1B5-43D7-71E6-5C03-A6A3F291FE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2018DB-591C-080D-306F-6F4AF66610D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08FB24A-7C9A-79C6-464B-BBA1B4E72C2D}"/>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678231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9FF8-0B1F-848E-2297-47624ECF8E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A78B5B-9766-0B86-7C16-8798A13D0AA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1B54314-8E81-5D1B-CAA4-83636BDB242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2438970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3749-0673-B477-55F5-BDDE189480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DAA709-0FB6-68B7-1530-6B0FDEC0C59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08CCA9C-9B01-97A5-20DD-97081454361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4719808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4CA3A-0FF4-674D-A0DE-83972A6518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5B67A5-F824-B536-161C-0491D9A3EDD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EE3784A-337E-A748-DCEA-12D57911F006}"/>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9601203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774D9-6928-2066-845A-43415D7479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27A14F-2046-DABA-414B-297A5B443C1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0071E19-9024-D184-7111-1C5669BB201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9874306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AD1B1-3C2D-65C0-FD7E-4F4C7A0D72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84510C-1706-A12B-E5B5-B621E3A9783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E7CEB6E-87E4-F98D-C5FC-344607E2480E}"/>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9986474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A40EA-50A9-9F2B-08FE-16D3E4DAEE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0F33FC-B357-B681-982E-5B89306758B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A71B359-F966-7BDD-7C46-E4135FB9747B}"/>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317579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8282-9129-E572-AC21-E90DEC701D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94F993-5505-8611-201F-8E71453B691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D38FB49-97C5-BC49-8838-EAE7348172E0}"/>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3139051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60D7A-1294-3E5A-D16D-40B550A636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AFAECE-116B-0964-83F0-AE6D190C329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DC6BD45-DF62-CB57-EC1E-05750C0B32A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4710433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C89A9-F3AA-A29B-F961-E9762B0BF6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D83561-606B-FCA3-B0A2-3DFB647AD25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D759000-9796-A068-34FF-2EA6242CEE82}"/>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7239834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0C588-032D-8DA3-41AF-D769E6F35D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BF0916-6715-B3B1-B199-9FF4B85BD9A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E5BE9D8-D3E3-3D5A-4930-A0485B6A5D6C}"/>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0402006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7203-6C1B-74C0-9DCD-737EEEA748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BABA2B-B808-5F2E-D5ED-001CDA5888B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0FC4814-77B9-F6A1-E2B0-366F7EF149F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1184398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03E6-E689-4423-972E-DBC0FBF55E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47555F-77CE-F9FE-CA0E-45517887622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ADB5BE8-3FEE-1F9F-EF6B-29F30F5AFD0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2651821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EDDA-AFF2-812A-0B7D-138E189E6E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B4BAF6-3804-F94E-B2D4-B657FB5E783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6C94EEE-27AE-FF41-22B9-0D0D9F392DA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9526782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CE0C-7DDA-0A2D-E2BD-2B44AA2F06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38AF90-66C8-780F-D3B6-626B5351E14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A7ACFCE-5BF1-E178-A827-3B28EC546B01}"/>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4637704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1500E-2153-6660-86AA-0589891FD1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E0C5C8-1525-3682-1855-54420B93DD3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C197E2F-F1F9-447B-5F86-DA05DB024A5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7902885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0D56A-C982-8792-F10D-DF896AC7FE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93953C-0FDC-B0E0-D6F8-DD5CAF3FF67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F0334FC-265F-08FB-AA30-5482B0B3DBF5}"/>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3804981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Helvetica Neue"/>
              </a:rPr>
              <a:t>在确定跌倒和类跌倒活动的起始点和结束点后，即可分离出这些活动对应的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相位差和幅度信息。跌倒检测模块的目标是将跌倒与类跌倒活动区分开。</a:t>
            </a:r>
            <a:endParaRPr lang="zh-CN" altLang="en-US" dirty="0"/>
          </a:p>
          <a:p>
            <a:endParaRPr lang="en-US" altLang="zh-CN" dirty="0"/>
          </a:p>
        </p:txBody>
      </p:sp>
    </p:spTree>
    <p:extLst>
      <p:ext uri="{BB962C8B-B14F-4D97-AF65-F5344CB8AC3E}">
        <p14:creationId xmlns:p14="http://schemas.microsoft.com/office/powerpoint/2010/main" val="21033937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572256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12606945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8139153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b="0" i="0" dirty="0">
                <a:solidFill>
                  <a:srgbClr val="333333"/>
                </a:solidFill>
                <a:effectLst/>
                <a:latin typeface="Helvetica Neue"/>
              </a:rPr>
              <a:t>为解决非线性分类问题，分类器通过核函数将输入样本映射到高维特征空间，并在变换后的特征空间中寻找最大间隔超平面。</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分类器需要训练数据集和测试数据集：在分类模型构建过程中，首先在活动分割阶段从连续捕获的</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无线信号流中分割出跌倒和类跌倒活动并进行标记，然后将提取的特征及其对应的标记输入</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分类器，构建分类模型；在实时跌倒检测过程中，记录分类结果和数据样本，结合用户反馈，对错误分类结果进行重新标记，并及时触发模型更新过程以更新分类模型。研究人员利用</a:t>
            </a:r>
            <a:r>
              <a:rPr lang="en-US" altLang="zh-CN" b="0" i="0" dirty="0" err="1">
                <a:solidFill>
                  <a:srgbClr val="333333"/>
                </a:solidFill>
                <a:effectLst/>
                <a:latin typeface="Helvetica Neue"/>
              </a:rPr>
              <a:t>LibSVM</a:t>
            </a:r>
            <a:r>
              <a:rPr lang="en-US" altLang="zh-CN" b="0" i="0" dirty="0">
                <a:solidFill>
                  <a:srgbClr val="333333"/>
                </a:solidFill>
                <a:effectLst/>
                <a:latin typeface="Helvetica Neue"/>
              </a:rPr>
              <a:t>[48]</a:t>
            </a:r>
            <a:r>
              <a:rPr lang="zh-CN" altLang="en-US" b="0" i="0" dirty="0">
                <a:solidFill>
                  <a:srgbClr val="333333"/>
                </a:solidFill>
                <a:effectLst/>
                <a:latin typeface="Helvetica Neue"/>
              </a:rPr>
              <a:t>构建</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分类模型，选择高斯径向基函数（</a:t>
            </a:r>
            <a:r>
              <a:rPr lang="en-US" altLang="zh-CN" b="0" i="0" dirty="0">
                <a:solidFill>
                  <a:srgbClr val="333333"/>
                </a:solidFill>
                <a:effectLst/>
                <a:latin typeface="Helvetica Neue"/>
              </a:rPr>
              <a:t>RBF</a:t>
            </a:r>
            <a:r>
              <a:rPr lang="zh-CN" altLang="en-US" b="0" i="0" dirty="0">
                <a:solidFill>
                  <a:srgbClr val="333333"/>
                </a:solidFill>
                <a:effectLst/>
                <a:latin typeface="Helvetica Neue"/>
              </a:rPr>
              <a:t>）作为核函数，并将参数</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zh-CN" altLang="en-US" b="0" i="0" dirty="0">
                <a:solidFill>
                  <a:srgbClr val="333333"/>
                </a:solidFill>
                <a:effectLst/>
                <a:latin typeface="Helvetica Neue"/>
              </a:rPr>
              <a:t>设置为</a:t>
            </a:r>
            <a:r>
              <a:rPr lang="en-US" altLang="zh-CN" b="0" i="0" dirty="0">
                <a:solidFill>
                  <a:srgbClr val="333333"/>
                </a:solidFill>
                <a:effectLst/>
                <a:latin typeface="Helvetica Neue"/>
              </a:rPr>
              <a:t>0.5</a:t>
            </a:r>
            <a:r>
              <a:rPr lang="zh-CN" altLang="en-US" b="0" i="0" dirty="0">
                <a:solidFill>
                  <a:srgbClr val="333333"/>
                </a:solidFill>
                <a:effectLst/>
                <a:latin typeface="Helvetica Neue"/>
              </a:rPr>
              <a:t>（该参数表示训练误差比例的上限和支持向量比例的下限），其他参数采用默认值。</a:t>
            </a:r>
          </a:p>
          <a:p>
            <a:endParaRPr lang="en-US" altLang="zh-CN" dirty="0"/>
          </a:p>
        </p:txBody>
      </p:sp>
    </p:spTree>
    <p:extLst>
      <p:ext uri="{BB962C8B-B14F-4D97-AF65-F5344CB8AC3E}">
        <p14:creationId xmlns:p14="http://schemas.microsoft.com/office/powerpoint/2010/main" val="3414530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13420586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282430129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2.png"/><Relationship Id="rId4" Type="http://schemas.openxmlformats.org/officeDocument/2006/relationships/tags" Target="../tags/tag11.xml"/><Relationship Id="rId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4.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3.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slideMaster" Target="../slideMasters/slideMaster1.xml"/><Relationship Id="rId5" Type="http://schemas.openxmlformats.org/officeDocument/2006/relationships/tags" Target="../tags/tag2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3.png"/><Relationship Id="rId5" Type="http://schemas.openxmlformats.org/officeDocument/2006/relationships/tags" Target="../tags/tag30.xml"/><Relationship Id="rId10" Type="http://schemas.openxmlformats.org/officeDocument/2006/relationships/slideMaster" Target="../slideMasters/slideMaster1.xml"/><Relationship Id="rId4" Type="http://schemas.openxmlformats.org/officeDocument/2006/relationships/tags" Target="../tags/tag29.xml"/><Relationship Id="rId9" Type="http://schemas.openxmlformats.org/officeDocument/2006/relationships/tags" Target="../tags/tag34.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slideMaster" Target="../slideMasters/slideMaster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slideMaster" Target="../slideMasters/slideMaster1.xml"/><Relationship Id="rId5" Type="http://schemas.openxmlformats.org/officeDocument/2006/relationships/tags" Target="../tags/tag66.xml"/><Relationship Id="rId4" Type="http://schemas.openxmlformats.org/officeDocument/2006/relationships/tags" Target="../tags/tag65.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slideMaster" Target="../slideMasters/slideMaster1.xml"/><Relationship Id="rId4" Type="http://schemas.openxmlformats.org/officeDocument/2006/relationships/tags" Target="../tags/tag70.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73.xml"/><Relationship Id="rId7"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10"/>
          <a:stretch>
            <a:fillRect/>
          </a:stretch>
        </p:blipFill>
        <p:spPr>
          <a:xfrm>
            <a:off x="0" y="2560320"/>
            <a:ext cx="12192000" cy="4297680"/>
          </a:xfrm>
          <a:prstGeom prst="rect">
            <a:avLst/>
          </a:prstGeom>
        </p:spPr>
      </p:pic>
      <p:sp>
        <p:nvSpPr>
          <p:cNvPr id="9802" name="标题 1"/>
          <p:cNvSpPr>
            <a:spLocks noGrp="1"/>
          </p:cNvSpPr>
          <p:nvPr>
            <p:ph type="ctrTitle" hasCustomPrompt="1"/>
            <p:custDataLst>
              <p:tags r:id="rId2"/>
            </p:custDataLst>
          </p:nvPr>
        </p:nvSpPr>
        <p:spPr>
          <a:xfrm>
            <a:off x="668622" y="950006"/>
            <a:ext cx="5893621" cy="1089529"/>
          </a:xfrm>
        </p:spPr>
        <p:txBody>
          <a:bodyPr anchor="b" anchorCtr="0">
            <a:normAutofit/>
          </a:bodyPr>
          <a:lstStyle>
            <a:lvl1pPr algn="l">
              <a:lnSpc>
                <a:spcPct val="90000"/>
              </a:lnSpc>
              <a:defRPr sz="4000">
                <a:solidFill>
                  <a:schemeClr val="tx1"/>
                </a:solidFill>
              </a:defRPr>
            </a:lvl1pPr>
          </a:lstStyle>
          <a:p>
            <a:r>
              <a:rPr lang="zh-CN" altLang="en-US" dirty="0"/>
              <a:t>单击此处编辑标题</a:t>
            </a:r>
          </a:p>
        </p:txBody>
      </p:sp>
      <p:sp>
        <p:nvSpPr>
          <p:cNvPr id="9801" name="副标题 2"/>
          <p:cNvSpPr>
            <a:spLocks noGrp="1"/>
          </p:cNvSpPr>
          <p:nvPr>
            <p:ph type="subTitle" idx="1" hasCustomPrompt="1"/>
            <p:custDataLst>
              <p:tags r:id="rId3"/>
            </p:custDataLst>
          </p:nvPr>
        </p:nvSpPr>
        <p:spPr>
          <a:xfrm>
            <a:off x="668622" y="2147484"/>
            <a:ext cx="5893621" cy="412835"/>
          </a:xfrm>
        </p:spPr>
        <p:txBody>
          <a:bodyPr anchor="t" anchorCtr="0">
            <a:normAutofit/>
          </a:bodyPr>
          <a:lstStyle>
            <a:lvl1pPr marL="0" indent="0" algn="l">
              <a:lnSpc>
                <a:spcPct val="90000"/>
              </a:lnSpc>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4" name="文本占位符 3"/>
          <p:cNvSpPr>
            <a:spLocks noGrp="1"/>
          </p:cNvSpPr>
          <p:nvPr>
            <p:ph type="body" sz="quarter" idx="10" hasCustomPrompt="1"/>
            <p:custDataLst>
              <p:tags r:id="rId4"/>
            </p:custDataLst>
          </p:nvPr>
        </p:nvSpPr>
        <p:spPr>
          <a:xfrm>
            <a:off x="668338" y="4438650"/>
            <a:ext cx="3691789" cy="324000"/>
          </a:xfrm>
        </p:spPr>
        <p:txBody>
          <a:bodyPr anchor="ctr" anchorCtr="0">
            <a:normAutofit/>
          </a:bodyPr>
          <a:lstStyle>
            <a:lvl1pPr marL="0" indent="0">
              <a:buNone/>
              <a:defRPr sz="1800"/>
            </a:lvl1pPr>
          </a:lstStyle>
          <a:p>
            <a:pPr lvl="0"/>
            <a:r>
              <a:rPr lang="zh-CN" altLang="en-US" dirty="0"/>
              <a:t>单击此处编辑副标题</a:t>
            </a:r>
          </a:p>
        </p:txBody>
      </p:sp>
      <p:sp>
        <p:nvSpPr>
          <p:cNvPr id="6" name="文本占位符 5"/>
          <p:cNvSpPr>
            <a:spLocks noGrp="1"/>
          </p:cNvSpPr>
          <p:nvPr>
            <p:ph type="body" sz="quarter" idx="11" hasCustomPrompt="1"/>
            <p:custDataLst>
              <p:tags r:id="rId5"/>
            </p:custDataLst>
          </p:nvPr>
        </p:nvSpPr>
        <p:spPr>
          <a:xfrm>
            <a:off x="668338" y="4806296"/>
            <a:ext cx="3691789" cy="324000"/>
          </a:xfrm>
        </p:spPr>
        <p:txBody>
          <a:bodyPr anchor="ctr" anchorCtr="0">
            <a:normAutofit/>
          </a:bodyPr>
          <a:lstStyle>
            <a:lvl1pPr marL="0" indent="0">
              <a:buNone/>
              <a:defRPr sz="1800"/>
            </a:lvl1pPr>
          </a:lstStyle>
          <a:p>
            <a:pPr lvl="0"/>
            <a:r>
              <a:rPr lang="zh-CN" altLang="en-US" dirty="0"/>
              <a:t>单击此处编辑副标题</a:t>
            </a:r>
          </a:p>
        </p:txBody>
      </p:sp>
      <p:sp>
        <p:nvSpPr>
          <p:cNvPr id="3" name="日期占位符 2"/>
          <p:cNvSpPr>
            <a:spLocks noGrp="1"/>
          </p:cNvSpPr>
          <p:nvPr>
            <p:ph type="dt" sz="half" idx="12"/>
            <p:custDataLst>
              <p:tags r:id="rId6"/>
            </p:custDataLst>
          </p:nvPr>
        </p:nvSpPr>
        <p:spPr/>
        <p:txBody>
          <a:bodyPr/>
          <a:lstStyle/>
          <a:p>
            <a:fld id="{760FBDFE-C587-4B4C-A407-44438C67B59E}" type="datetimeFigureOut">
              <a:rPr lang="zh-CN" altLang="en-US" smtClean="0"/>
              <a:t>2025/10/16</a:t>
            </a:fld>
            <a:endParaRPr lang="zh-CN" altLang="en-US"/>
          </a:p>
        </p:txBody>
      </p:sp>
      <p:sp>
        <p:nvSpPr>
          <p:cNvPr id="5" name="页脚占位符 4"/>
          <p:cNvSpPr>
            <a:spLocks noGrp="1"/>
          </p:cNvSpPr>
          <p:nvPr>
            <p:ph type="ftr" sz="quarter" idx="13"/>
            <p:custDataLst>
              <p:tags r:id="rId7"/>
            </p:custDataLst>
          </p:nvPr>
        </p:nvSpPr>
        <p:spPr/>
        <p:txBody>
          <a:bodyPr/>
          <a:lstStyle/>
          <a:p>
            <a:endParaRPr lang="zh-CN" altLang="en-US" dirty="0"/>
          </a:p>
        </p:txBody>
      </p:sp>
      <p:sp>
        <p:nvSpPr>
          <p:cNvPr id="7" name="灯片编号占位符 6"/>
          <p:cNvSpPr>
            <a:spLocks noGrp="1"/>
          </p:cNvSpPr>
          <p:nvPr>
            <p:ph type="sldNum" sz="quarter" idx="14"/>
            <p:custDataLst>
              <p:tags r:id="rId8"/>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0" y="5571111"/>
            <a:ext cx="12192000" cy="1286889"/>
            <a:chOff x="0" y="5571111"/>
            <a:chExt cx="12192000" cy="1286889"/>
          </a:xfrm>
        </p:grpSpPr>
        <p:pic>
          <p:nvPicPr>
            <p:cNvPr id="10" name="图片 9"/>
            <p:cNvPicPr>
              <a:picLocks noChangeAspect="1"/>
            </p:cNvPicPr>
            <p:nvPr>
              <p:custDataLst>
                <p:tags r:id="rId9"/>
              </p:custDataLst>
            </p:nvPr>
          </p:nvPicPr>
          <p:blipFill>
            <a:blip r:embed="rId12"/>
            <a:stretch>
              <a:fillRect/>
            </a:stretch>
          </p:blipFill>
          <p:spPr>
            <a:xfrm>
              <a:off x="9960600" y="5571111"/>
              <a:ext cx="2184535" cy="1209295"/>
            </a:xfrm>
            <a:prstGeom prst="rect">
              <a:avLst/>
            </a:prstGeom>
          </p:spPr>
        </p:pic>
        <p:sp>
          <p:nvSpPr>
            <p:cNvPr id="11" name="矩形 10"/>
            <p:cNvSpPr/>
            <p:nvPr>
              <p:custDataLst>
                <p:tags r:id="rId10"/>
              </p:custDataLst>
            </p:nvPr>
          </p:nvSpPr>
          <p:spPr>
            <a:xfrm>
              <a:off x="0" y="6780406"/>
              <a:ext cx="12192000" cy="7759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cxnSp>
        <p:nvCxnSpPr>
          <p:cNvPr id="7" name="直接连接符 6"/>
          <p:cNvCxnSpPr/>
          <p:nvPr>
            <p:custDataLst>
              <p:tags r:id="rId2"/>
            </p:custDataLst>
          </p:nvPr>
        </p:nvCxnSpPr>
        <p:spPr>
          <a:xfrm>
            <a:off x="140087" y="731501"/>
            <a:ext cx="11911825" cy="11854"/>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custDataLst>
              <p:tags r:id="rId3"/>
            </p:custDataLst>
          </p:nvPr>
        </p:nvPicPr>
        <p:blipFill>
          <a:blip r:embed="rId13"/>
          <a:stretch>
            <a:fillRect/>
          </a:stretch>
        </p:blipFill>
        <p:spPr>
          <a:xfrm>
            <a:off x="237893" y="10930"/>
            <a:ext cx="460644" cy="732425"/>
          </a:xfrm>
          <a:prstGeom prst="rect">
            <a:avLst/>
          </a:prstGeom>
        </p:spPr>
      </p:pic>
      <p:sp>
        <p:nvSpPr>
          <p:cNvPr id="2" name="标题 1"/>
          <p:cNvSpPr>
            <a:spLocks noGrp="1"/>
          </p:cNvSpPr>
          <p:nvPr>
            <p:ph type="title"/>
            <p:custDataLst>
              <p:tags r:id="rId4"/>
            </p:custDataLst>
          </p:nvPr>
        </p:nvSpPr>
        <p:spPr>
          <a:xfrm>
            <a:off x="876000" y="334800"/>
            <a:ext cx="10440000" cy="1368000"/>
          </a:xfrm>
        </p:spPr>
        <p:txBody>
          <a:bodyPr>
            <a:normAutofit/>
          </a:bodyPr>
          <a:lstStyle>
            <a:lvl1pPr>
              <a:defRPr sz="40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custDataLst>
              <p:tags r:id="rId5"/>
            </p:custDataLst>
          </p:nvPr>
        </p:nvSpPr>
        <p:spPr>
          <a:xfrm>
            <a:off x="876000" y="1852295"/>
            <a:ext cx="10440000" cy="4320000"/>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2025/10/16</a:t>
            </a:fld>
            <a:endParaRPr lang="zh-CN" altLang="en-US" dirty="0"/>
          </a:p>
        </p:txBody>
      </p:sp>
      <p:sp>
        <p:nvSpPr>
          <p:cNvPr id="5" name="页脚占位符 4"/>
          <p:cNvSpPr>
            <a:spLocks noGrp="1"/>
          </p:cNvSpPr>
          <p:nvPr>
            <p:ph type="ftr" sz="quarter" idx="11"/>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12"/>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2292272" y="3615832"/>
            <a:ext cx="7607455" cy="971515"/>
            <a:chOff x="2305980" y="3602344"/>
            <a:chExt cx="7607455" cy="971515"/>
          </a:xfrm>
        </p:grpSpPr>
        <p:cxnSp>
          <p:nvCxnSpPr>
            <p:cNvPr id="4" name="直接连接符 3"/>
            <p:cNvCxnSpPr/>
            <p:nvPr>
              <p:custDataLst>
                <p:tags r:id="rId7"/>
              </p:custDataLst>
            </p:nvPr>
          </p:nvCxnSpPr>
          <p:spPr>
            <a:xfrm>
              <a:off x="2305980" y="4573859"/>
              <a:ext cx="7607455"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8"/>
              </p:custDataLst>
            </p:nvPr>
          </p:nvPicPr>
          <p:blipFill>
            <a:blip r:embed="rId11"/>
            <a:stretch>
              <a:fillRect/>
            </a:stretch>
          </p:blipFill>
          <p:spPr>
            <a:xfrm>
              <a:off x="8719748" y="4002548"/>
              <a:ext cx="1024217" cy="566977"/>
            </a:xfrm>
            <a:prstGeom prst="rect">
              <a:avLst/>
            </a:prstGeom>
          </p:spPr>
        </p:pic>
        <p:pic>
          <p:nvPicPr>
            <p:cNvPr id="3" name="图片 2"/>
            <p:cNvPicPr>
              <a:picLocks noChangeAspect="1"/>
            </p:cNvPicPr>
            <p:nvPr>
              <p:custDataLst>
                <p:tags r:id="rId9"/>
              </p:custDataLst>
            </p:nvPr>
          </p:nvPicPr>
          <p:blipFill>
            <a:blip r:embed="rId12"/>
            <a:stretch>
              <a:fillRect/>
            </a:stretch>
          </p:blipFill>
          <p:spPr>
            <a:xfrm>
              <a:off x="2483459" y="3602344"/>
              <a:ext cx="609653" cy="969348"/>
            </a:xfrm>
            <a:prstGeom prst="rect">
              <a:avLst/>
            </a:prstGeom>
          </p:spPr>
        </p:pic>
      </p:grpSp>
      <p:sp>
        <p:nvSpPr>
          <p:cNvPr id="11" name="标题 1"/>
          <p:cNvSpPr>
            <a:spLocks noGrp="1"/>
          </p:cNvSpPr>
          <p:nvPr>
            <p:ph type="title" hasCustomPrompt="1"/>
            <p:custDataLst>
              <p:tags r:id="rId2"/>
            </p:custDataLst>
          </p:nvPr>
        </p:nvSpPr>
        <p:spPr>
          <a:xfrm>
            <a:off x="3270591" y="3813721"/>
            <a:ext cx="5271678" cy="716834"/>
          </a:xfrm>
          <a:prstGeom prst="rect">
            <a:avLst/>
          </a:prstGeom>
        </p:spPr>
        <p:txBody>
          <a:bodyPr anchor="b" anchorCtr="0">
            <a:normAutofit/>
          </a:bodyPr>
          <a:lstStyle>
            <a:lvl1pPr algn="ctr">
              <a:defRPr sz="3600" b="1">
                <a:solidFill>
                  <a:schemeClr val="tx1"/>
                </a:solidFill>
              </a:defRPr>
            </a:lvl1pPr>
          </a:lstStyle>
          <a:p>
            <a:r>
              <a:rPr lang="zh-CN" altLang="en-US" dirty="0"/>
              <a:t>单击此处编辑标题</a:t>
            </a:r>
          </a:p>
        </p:txBody>
      </p:sp>
      <p:sp>
        <p:nvSpPr>
          <p:cNvPr id="17" name="文本占位符 2"/>
          <p:cNvSpPr>
            <a:spLocks noGrp="1"/>
          </p:cNvSpPr>
          <p:nvPr>
            <p:ph type="body" idx="1" hasCustomPrompt="1"/>
            <p:custDataLst>
              <p:tags r:id="rId3"/>
            </p:custDataLst>
          </p:nvPr>
        </p:nvSpPr>
        <p:spPr>
          <a:xfrm>
            <a:off x="3270591" y="4644140"/>
            <a:ext cx="5271678" cy="1297689"/>
          </a:xfrm>
          <a:prstGeom prst="rect">
            <a:avLst/>
          </a:prstGeom>
        </p:spPr>
        <p:txBody>
          <a:bodyPr anchor="t">
            <a:normAutofit/>
          </a:bodyPr>
          <a:lstStyle>
            <a:lvl1pPr marL="0" indent="0" algn="ctr">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2025/10/16</a:t>
            </a:fld>
            <a:endParaRPr lang="zh-CN" altLang="en-US"/>
          </a:p>
        </p:txBody>
      </p:sp>
      <p:sp>
        <p:nvSpPr>
          <p:cNvPr id="7" name="页脚占位符 6"/>
          <p:cNvSpPr>
            <a:spLocks noGrp="1"/>
          </p:cNvSpPr>
          <p:nvPr>
            <p:ph type="ftr" sz="quarter" idx="11"/>
            <p:custDataLst>
              <p:tags r:id="rId5"/>
            </p:custDataLst>
          </p:nvPr>
        </p:nvSpPr>
        <p:spPr/>
        <p:txBody>
          <a:bodyPr/>
          <a:lstStyle/>
          <a:p>
            <a:endParaRPr lang="zh-CN" altLang="en-US" dirty="0"/>
          </a:p>
        </p:txBody>
      </p:sp>
      <p:sp>
        <p:nvSpPr>
          <p:cNvPr id="8" name="灯片编号占位符 7"/>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lvl1pPr>
              <a:defRPr sz="4000"/>
            </a:lvl1pPr>
          </a:lstStyle>
          <a:p>
            <a:r>
              <a:rPr lang="zh-CN" altLang="en-US" dirty="0"/>
              <a:t>单击此处编辑母版标题样式</a:t>
            </a:r>
          </a:p>
        </p:txBody>
      </p:sp>
      <p:sp>
        <p:nvSpPr>
          <p:cNvPr id="3" name="内容占位符 2"/>
          <p:cNvSpPr>
            <a:spLocks noGrp="1"/>
          </p:cNvSpPr>
          <p:nvPr>
            <p:ph sz="half" idx="1"/>
            <p:custDataLst>
              <p:tags r:id="rId2"/>
            </p:custDataLst>
          </p:nvPr>
        </p:nvSpPr>
        <p:spPr>
          <a:xfrm>
            <a:off x="874712" y="1854200"/>
            <a:ext cx="5112000" cy="43211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6198600" y="1854200"/>
            <a:ext cx="5112000" cy="43211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2025/10/16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74800" y="334800"/>
            <a:ext cx="10440000" cy="1368000"/>
          </a:xfrm>
        </p:spPr>
        <p:txBody>
          <a:bodyPr>
            <a:normAutofit/>
          </a:bodyPr>
          <a:lstStyle>
            <a:lvl1pPr>
              <a:defRPr sz="4000"/>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874713" y="1854298"/>
            <a:ext cx="5112000" cy="72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874712" y="2716271"/>
            <a:ext cx="5112000" cy="34560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6195764" y="1854298"/>
            <a:ext cx="5112000" cy="72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6195760" y="2716271"/>
            <a:ext cx="5112001" cy="34560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2025/10/16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lvl1pPr>
              <a:defRPr sz="4000"/>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2025/10/16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74800" y="334800"/>
            <a:ext cx="4176000" cy="1620000"/>
          </a:xfrm>
        </p:spPr>
        <p:txBody>
          <a:bodyPr anchor="t" anchorCtr="0">
            <a:normAutofit/>
          </a:bodyPr>
          <a:lstStyle>
            <a:lvl1pPr>
              <a:defRPr sz="4000"/>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5193525" y="334800"/>
            <a:ext cx="6120000" cy="583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custDataLst>
              <p:tags r:id="rId3"/>
            </p:custDataLst>
          </p:nvPr>
        </p:nvSpPr>
        <p:spPr>
          <a:xfrm>
            <a:off x="874800" y="2111473"/>
            <a:ext cx="4176000" cy="40536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2025/10/16</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9795909" y="333375"/>
            <a:ext cx="1512000" cy="5832000"/>
          </a:xfrm>
        </p:spPr>
        <p:txBody>
          <a:bodyPr vert="eaVert">
            <a:normAutofit/>
          </a:bodyPr>
          <a:lstStyle>
            <a:lvl1pPr>
              <a:defRPr sz="3600"/>
            </a:lvl1pPr>
          </a:lstStyle>
          <a:p>
            <a:r>
              <a:rPr lang="zh-CN" altLang="en-US" dirty="0"/>
              <a:t>单击此处编辑母版标题样式</a:t>
            </a:r>
          </a:p>
        </p:txBody>
      </p:sp>
      <p:sp>
        <p:nvSpPr>
          <p:cNvPr id="3" name="竖排文字占位符 2"/>
          <p:cNvSpPr>
            <a:spLocks noGrp="1"/>
          </p:cNvSpPr>
          <p:nvPr>
            <p:ph type="body" orient="vert" idx="1"/>
            <p:custDataLst>
              <p:tags r:id="rId2"/>
            </p:custDataLst>
          </p:nvPr>
        </p:nvSpPr>
        <p:spPr>
          <a:xfrm>
            <a:off x="874800" y="334800"/>
            <a:ext cx="8784000" cy="5832000"/>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874713" y="333375"/>
            <a:ext cx="10440000" cy="58324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13" name="Freeform 2200"/>
          <p:cNvSpPr/>
          <p:nvPr>
            <p:custDataLst>
              <p:tags r:id="rId1"/>
            </p:custDataLst>
          </p:nvPr>
        </p:nvSpPr>
        <p:spPr bwMode="auto">
          <a:xfrm>
            <a:off x="3838065" y="4810252"/>
            <a:ext cx="4515870" cy="17750"/>
          </a:xfrm>
          <a:custGeom>
            <a:avLst/>
            <a:gdLst>
              <a:gd name="T0" fmla="*/ 5940 w 5953"/>
              <a:gd name="T1" fmla="*/ 24 h 24"/>
              <a:gd name="T2" fmla="*/ 13 w 5953"/>
              <a:gd name="T3" fmla="*/ 24 h 24"/>
              <a:gd name="T4" fmla="*/ 0 w 5953"/>
              <a:gd name="T5" fmla="*/ 12 h 24"/>
              <a:gd name="T6" fmla="*/ 13 w 5953"/>
              <a:gd name="T7" fmla="*/ 0 h 24"/>
              <a:gd name="T8" fmla="*/ 5940 w 5953"/>
              <a:gd name="T9" fmla="*/ 0 h 24"/>
              <a:gd name="T10" fmla="*/ 5953 w 5953"/>
              <a:gd name="T11" fmla="*/ 12 h 24"/>
              <a:gd name="T12" fmla="*/ 5940 w 5953"/>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5953" h="24">
                <a:moveTo>
                  <a:pt x="5940" y="24"/>
                </a:moveTo>
                <a:cubicBezTo>
                  <a:pt x="13" y="24"/>
                  <a:pt x="13" y="24"/>
                  <a:pt x="13" y="24"/>
                </a:cubicBezTo>
                <a:cubicBezTo>
                  <a:pt x="6" y="24"/>
                  <a:pt x="0" y="19"/>
                  <a:pt x="0" y="12"/>
                </a:cubicBezTo>
                <a:cubicBezTo>
                  <a:pt x="0" y="6"/>
                  <a:pt x="6" y="0"/>
                  <a:pt x="13" y="0"/>
                </a:cubicBezTo>
                <a:cubicBezTo>
                  <a:pt x="5940" y="0"/>
                  <a:pt x="5940" y="0"/>
                  <a:pt x="5940" y="0"/>
                </a:cubicBezTo>
                <a:cubicBezTo>
                  <a:pt x="5947" y="0"/>
                  <a:pt x="5953" y="6"/>
                  <a:pt x="5953" y="12"/>
                </a:cubicBezTo>
                <a:cubicBezTo>
                  <a:pt x="5953" y="19"/>
                  <a:pt x="5947" y="24"/>
                  <a:pt x="5940" y="24"/>
                </a:cubicBezTo>
                <a:close/>
              </a:path>
            </a:pathLst>
          </a:custGeom>
          <a:solidFill>
            <a:schemeClr val="accent1">
              <a:lumMod val="50000"/>
            </a:schemeClr>
          </a:solidFill>
          <a:ln>
            <a:solidFill>
              <a:schemeClr val="accent5">
                <a:lumMod val="50000"/>
              </a:schemeClr>
            </a:solid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custDataLst>
              <p:tags r:id="rId2"/>
            </p:custDataLst>
          </p:nvPr>
        </p:nvPicPr>
        <p:blipFill>
          <a:blip r:embed="rId8"/>
          <a:stretch>
            <a:fillRect/>
          </a:stretch>
        </p:blipFill>
        <p:spPr>
          <a:xfrm>
            <a:off x="3838065" y="1125202"/>
            <a:ext cx="4511431" cy="2261812"/>
          </a:xfrm>
          <a:prstGeom prst="rect">
            <a:avLst/>
          </a:prstGeom>
        </p:spPr>
      </p:pic>
      <p:sp>
        <p:nvSpPr>
          <p:cNvPr id="11" name="标题 1"/>
          <p:cNvSpPr>
            <a:spLocks noGrp="1"/>
          </p:cNvSpPr>
          <p:nvPr>
            <p:ph type="ctrTitle" hasCustomPrompt="1"/>
            <p:custDataLst>
              <p:tags r:id="rId3"/>
            </p:custDataLst>
          </p:nvPr>
        </p:nvSpPr>
        <p:spPr>
          <a:xfrm>
            <a:off x="3609975" y="3457292"/>
            <a:ext cx="4972050" cy="1310878"/>
          </a:xfrm>
          <a:prstGeom prst="rect">
            <a:avLst/>
          </a:prstGeom>
        </p:spPr>
        <p:txBody>
          <a:bodyPr anchor="b">
            <a:noAutofit/>
          </a:bodyPr>
          <a:lstStyle>
            <a:lvl1pPr marL="0" indent="0" algn="ctr">
              <a:lnSpc>
                <a:spcPct val="90000"/>
              </a:lnSpc>
              <a:buFont typeface="Arial" panose="020B0604020202020204" pitchFamily="34" charset="0"/>
              <a:buNone/>
              <a:defRPr sz="6000">
                <a:solidFill>
                  <a:schemeClr val="tx1"/>
                </a:solidFill>
                <a:latin typeface="微软雅黑" panose="020B0503020204020204" pitchFamily="34" charset="-122"/>
                <a:ea typeface="微软雅黑" panose="020B0503020204020204" pitchFamily="34" charset="-122"/>
              </a:defRPr>
            </a:lvl1pPr>
          </a:lstStyle>
          <a:p>
            <a:r>
              <a:rPr lang="zh-CN" altLang="en-US" dirty="0"/>
              <a:t>单击编辑标题</a:t>
            </a:r>
          </a:p>
        </p:txBody>
      </p:sp>
      <p:sp>
        <p:nvSpPr>
          <p:cNvPr id="5" name="日期占位符 4"/>
          <p:cNvSpPr>
            <a:spLocks noGrp="1"/>
          </p:cNvSpPr>
          <p:nvPr>
            <p:ph type="dt" sz="half" idx="12"/>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2025/10/16</a:t>
            </a:fld>
            <a:endParaRPr lang="zh-CN" altLang="en-US" dirty="0"/>
          </a:p>
        </p:txBody>
      </p:sp>
      <p:sp>
        <p:nvSpPr>
          <p:cNvPr id="6" name="页脚占位符 5"/>
          <p:cNvSpPr>
            <a:spLocks noGrp="1"/>
          </p:cNvSpPr>
          <p:nvPr>
            <p:ph type="ftr" sz="quarter" idx="13"/>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4"/>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2025/10/16</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876000" y="333375"/>
            <a:ext cx="10440000" cy="1366838"/>
          </a:xfrm>
          <a:prstGeom prst="rect">
            <a:avLst/>
          </a:prstGeom>
        </p:spPr>
        <p:txBody>
          <a:bodyPr vert="horz" lIns="91440" tIns="45720" rIns="91440" bIns="46800" rtlCol="0" anchor="b">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876000" y="1854000"/>
            <a:ext cx="10440000" cy="4320000"/>
          </a:xfrm>
          <a:prstGeom prst="rect">
            <a:avLst/>
          </a:prstGeom>
        </p:spPr>
        <p:txBody>
          <a:bodyPr vert="horz" lIns="91440" tIns="45720" rIns="9144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2025/10/16</a:t>
            </a:fld>
            <a:endParaRPr lang="zh-CN" altLang="en-US" dirty="0"/>
          </a:p>
        </p:txBody>
      </p:sp>
      <p:sp>
        <p:nvSpPr>
          <p:cNvPr id="5" name="页脚占位符 4"/>
          <p:cNvSpPr>
            <a:spLocks noGrp="1"/>
          </p:cNvSpPr>
          <p:nvPr>
            <p:ph type="ftr" sz="quarter" idx="3"/>
            <p:custDataLst>
              <p:tags r:id="rId17"/>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2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slideLayout" Target="../slideLayouts/slideLayout12.xml"/><Relationship Id="rId7" Type="http://schemas.openxmlformats.org/officeDocument/2006/relationships/image" Target="../media/image10.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5.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4.GIF"/><Relationship Id="rId5" Type="http://schemas.openxmlformats.org/officeDocument/2006/relationships/image" Target="../media/image13.jpeg"/><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5.xml"/><Relationship Id="rId1" Type="http://schemas.openxmlformats.org/officeDocument/2006/relationships/tags" Target="../tags/tag84.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7.xml"/><Relationship Id="rId1" Type="http://schemas.openxmlformats.org/officeDocument/2006/relationships/tags" Target="../tags/tag86.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7.xml"/><Relationship Id="rId1" Type="http://schemas.openxmlformats.org/officeDocument/2006/relationships/tags" Target="../tags/tag90.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7.xml"/><Relationship Id="rId1" Type="http://schemas.openxmlformats.org/officeDocument/2006/relationships/tags" Target="../tags/tag91.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7.xml"/><Relationship Id="rId7" Type="http://schemas.openxmlformats.org/officeDocument/2006/relationships/image" Target="../media/image2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7.xml"/><Relationship Id="rId7" Type="http://schemas.openxmlformats.org/officeDocument/2006/relationships/image" Target="../media/image23.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14.GIF"/><Relationship Id="rId5" Type="http://schemas.openxmlformats.org/officeDocument/2006/relationships/image" Target="../media/image12.jpeg"/><Relationship Id="rId4"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15.png"/><Relationship Id="rId5" Type="http://schemas.openxmlformats.org/officeDocument/2006/relationships/image" Target="../media/image12.jpeg"/><Relationship Id="rId4"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6.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25.png"/><Relationship Id="rId5" Type="http://schemas.openxmlformats.org/officeDocument/2006/relationships/image" Target="../media/image12.jpeg"/><Relationship Id="rId4"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27.png"/><Relationship Id="rId5" Type="http://schemas.openxmlformats.org/officeDocument/2006/relationships/image" Target="../media/image12.jpeg"/><Relationship Id="rId4"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28.png"/><Relationship Id="rId5" Type="http://schemas.openxmlformats.org/officeDocument/2006/relationships/image" Target="../media/image12.jpeg"/><Relationship Id="rId4"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5.xml"/><Relationship Id="rId1" Type="http://schemas.openxmlformats.org/officeDocument/2006/relationships/tags" Target="../tags/tag104.xml"/><Relationship Id="rId5" Type="http://schemas.openxmlformats.org/officeDocument/2006/relationships/image" Target="../media/image12.jpeg"/><Relationship Id="rId4"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7.xml"/><Relationship Id="rId1" Type="http://schemas.openxmlformats.org/officeDocument/2006/relationships/tags" Target="../tags/tag106.xml"/></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7.xml"/><Relationship Id="rId7" Type="http://schemas.openxmlformats.org/officeDocument/2006/relationships/image" Target="../media/image30.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29.png"/><Relationship Id="rId5" Type="http://schemas.openxmlformats.org/officeDocument/2006/relationships/image" Target="../media/image12.jpeg"/><Relationship Id="rId4"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image" Target="../media/image29.png"/><Relationship Id="rId5" Type="http://schemas.openxmlformats.org/officeDocument/2006/relationships/image" Target="../media/image12.jpeg"/><Relationship Id="rId4"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11.xml"/><Relationship Id="rId4"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3.xml"/><Relationship Id="rId1" Type="http://schemas.openxmlformats.org/officeDocument/2006/relationships/tags" Target="../tags/tag112.xml"/><Relationship Id="rId4"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5.xml"/><Relationship Id="rId1" Type="http://schemas.openxmlformats.org/officeDocument/2006/relationships/tags" Target="../tags/tag114.xml"/><Relationship Id="rId4"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9.xml"/><Relationship Id="rId1" Type="http://schemas.openxmlformats.org/officeDocument/2006/relationships/tags" Target="../tags/tag118.xml"/><Relationship Id="rId5" Type="http://schemas.openxmlformats.org/officeDocument/2006/relationships/image" Target="../media/image34.png"/><Relationship Id="rId4"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3.xml"/><Relationship Id="rId1" Type="http://schemas.openxmlformats.org/officeDocument/2006/relationships/tags" Target="../tags/tag122.xml"/><Relationship Id="rId5" Type="http://schemas.openxmlformats.org/officeDocument/2006/relationships/image" Target="../media/image37.png"/><Relationship Id="rId4"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5.xml"/><Relationship Id="rId1" Type="http://schemas.openxmlformats.org/officeDocument/2006/relationships/tags" Target="../tags/tag124.xml"/><Relationship Id="rId5" Type="http://schemas.openxmlformats.org/officeDocument/2006/relationships/image" Target="../media/image38.png"/><Relationship Id="rId4"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7.xml"/><Relationship Id="rId1" Type="http://schemas.openxmlformats.org/officeDocument/2006/relationships/tags" Target="../tags/tag126.xml"/><Relationship Id="rId4"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9.xml"/><Relationship Id="rId1" Type="http://schemas.openxmlformats.org/officeDocument/2006/relationships/tags" Target="../tags/tag128.xml"/><Relationship Id="rId4"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39.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image" Target="../media/image28.png"/><Relationship Id="rId4"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5.xml"/><Relationship Id="rId1" Type="http://schemas.openxmlformats.org/officeDocument/2006/relationships/tags" Target="../tags/tag134.xml"/><Relationship Id="rId4"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8" Type="http://schemas.openxmlformats.org/officeDocument/2006/relationships/package" Target="../embeddings/Microsoft_Word_Document.docx"/><Relationship Id="rId3" Type="http://schemas.openxmlformats.org/officeDocument/2006/relationships/tags" Target="../tags/tag137.xml"/><Relationship Id="rId7" Type="http://schemas.openxmlformats.org/officeDocument/2006/relationships/image" Target="../media/image42.png"/><Relationship Id="rId2" Type="http://schemas.openxmlformats.org/officeDocument/2006/relationships/tags" Target="../tags/tag136.xml"/><Relationship Id="rId1" Type="http://schemas.openxmlformats.org/officeDocument/2006/relationships/vmlDrawing" Target="../drawings/vmlDrawing1.vml"/><Relationship Id="rId6" Type="http://schemas.openxmlformats.org/officeDocument/2006/relationships/image" Target="../media/image41.png"/><Relationship Id="rId5" Type="http://schemas.openxmlformats.org/officeDocument/2006/relationships/notesSlide" Target="../notesSlides/notesSlide23.xml"/><Relationship Id="rId4" Type="http://schemas.openxmlformats.org/officeDocument/2006/relationships/slideLayout" Target="../slideLayouts/slideLayout7.xml"/><Relationship Id="rId9" Type="http://schemas.openxmlformats.org/officeDocument/2006/relationships/image" Target="../media/image40.emf"/></Relationships>
</file>

<file path=ppt/slides/_rels/slide3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139.xml"/><Relationship Id="rId7" Type="http://schemas.openxmlformats.org/officeDocument/2006/relationships/image" Target="../media/image43.emf"/><Relationship Id="rId2" Type="http://schemas.openxmlformats.org/officeDocument/2006/relationships/tags" Target="../tags/tag138.xml"/><Relationship Id="rId1" Type="http://schemas.openxmlformats.org/officeDocument/2006/relationships/vmlDrawing" Target="../drawings/vmlDrawing2.vml"/><Relationship Id="rId6" Type="http://schemas.openxmlformats.org/officeDocument/2006/relationships/package" Target="../embeddings/Microsoft_Word_Document1.docx"/><Relationship Id="rId5" Type="http://schemas.openxmlformats.org/officeDocument/2006/relationships/notesSlide" Target="../notesSlides/notesSlide24.xml"/><Relationship Id="rId4"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tags" Target="../tags/tag141.xml"/><Relationship Id="rId7" Type="http://schemas.openxmlformats.org/officeDocument/2006/relationships/image" Target="../media/image44.emf"/><Relationship Id="rId2" Type="http://schemas.openxmlformats.org/officeDocument/2006/relationships/tags" Target="../tags/tag140.xml"/><Relationship Id="rId1" Type="http://schemas.openxmlformats.org/officeDocument/2006/relationships/vmlDrawing" Target="../drawings/vmlDrawing3.vml"/><Relationship Id="rId6" Type="http://schemas.openxmlformats.org/officeDocument/2006/relationships/oleObject" Target="../embeddings/oleObject1.bin"/><Relationship Id="rId5" Type="http://schemas.openxmlformats.org/officeDocument/2006/relationships/notesSlide" Target="../notesSlides/notesSlide25.xml"/><Relationship Id="rId10" Type="http://schemas.openxmlformats.org/officeDocument/2006/relationships/image" Target="../media/image45.emf"/><Relationship Id="rId4" Type="http://schemas.openxmlformats.org/officeDocument/2006/relationships/slideLayout" Target="../slideLayouts/slideLayout7.xml"/><Relationship Id="rId9" Type="http://schemas.openxmlformats.org/officeDocument/2006/relationships/package" Target="../embeddings/Microsoft_Word_Document2.docx"/></Relationships>
</file>

<file path=ppt/slides/_rels/slide36.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tags" Target="../tags/tag143.xml"/><Relationship Id="rId7" Type="http://schemas.openxmlformats.org/officeDocument/2006/relationships/image" Target="../media/image47.emf"/><Relationship Id="rId12" Type="http://schemas.openxmlformats.org/officeDocument/2006/relationships/image" Target="../media/image49.emf"/><Relationship Id="rId2" Type="http://schemas.openxmlformats.org/officeDocument/2006/relationships/tags" Target="../tags/tag142.xml"/><Relationship Id="rId1" Type="http://schemas.openxmlformats.org/officeDocument/2006/relationships/vmlDrawing" Target="../drawings/vmlDrawing4.vml"/><Relationship Id="rId6" Type="http://schemas.openxmlformats.org/officeDocument/2006/relationships/package" Target="../embeddings/Microsoft_Word_Document3.docx"/><Relationship Id="rId11" Type="http://schemas.openxmlformats.org/officeDocument/2006/relationships/package" Target="../embeddings/Microsoft_Word_Document5.docx"/><Relationship Id="rId5" Type="http://schemas.openxmlformats.org/officeDocument/2006/relationships/notesSlide" Target="../notesSlides/notesSlide26.xml"/><Relationship Id="rId10" Type="http://schemas.openxmlformats.org/officeDocument/2006/relationships/image" Target="../media/image48.emf"/><Relationship Id="rId4" Type="http://schemas.openxmlformats.org/officeDocument/2006/relationships/slideLayout" Target="../slideLayouts/slideLayout7.xml"/><Relationship Id="rId9" Type="http://schemas.openxmlformats.org/officeDocument/2006/relationships/package" Target="../embeddings/Microsoft_Word_Document4.docx"/></Relationships>
</file>

<file path=ppt/slides/_rels/slide37.xml.rels><?xml version="1.0" encoding="UTF-8" standalone="yes"?>
<Relationships xmlns="http://schemas.openxmlformats.org/package/2006/relationships"><Relationship Id="rId8" Type="http://schemas.openxmlformats.org/officeDocument/2006/relationships/package" Target="../embeddings/Microsoft_Word_Document6.docx"/><Relationship Id="rId3" Type="http://schemas.openxmlformats.org/officeDocument/2006/relationships/tags" Target="../tags/tag145.xml"/><Relationship Id="rId7" Type="http://schemas.openxmlformats.org/officeDocument/2006/relationships/image" Target="../media/image52.png"/><Relationship Id="rId2" Type="http://schemas.openxmlformats.org/officeDocument/2006/relationships/tags" Target="../tags/tag144.xml"/><Relationship Id="rId1" Type="http://schemas.openxmlformats.org/officeDocument/2006/relationships/vmlDrawing" Target="../drawings/vmlDrawing5.vml"/><Relationship Id="rId6" Type="http://schemas.openxmlformats.org/officeDocument/2006/relationships/image" Target="../media/image46.png"/><Relationship Id="rId5" Type="http://schemas.openxmlformats.org/officeDocument/2006/relationships/notesSlide" Target="../notesSlides/notesSlide27.xml"/><Relationship Id="rId4" Type="http://schemas.openxmlformats.org/officeDocument/2006/relationships/slideLayout" Target="../slideLayouts/slideLayout7.xml"/><Relationship Id="rId9" Type="http://schemas.openxmlformats.org/officeDocument/2006/relationships/image" Target="../media/image51.emf"/></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2.png"/><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image" Target="../media/image52.png"/><Relationship Id="rId5" Type="http://schemas.openxmlformats.org/officeDocument/2006/relationships/image" Target="../media/image53.png"/><Relationship Id="rId4"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9.xml"/><Relationship Id="rId1" Type="http://schemas.openxmlformats.org/officeDocument/2006/relationships/tags" Target="../tags/tag148.xml"/><Relationship Id="rId4"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1.xml"/><Relationship Id="rId1" Type="http://schemas.openxmlformats.org/officeDocument/2006/relationships/tags" Target="../tags/tag150.xml"/><Relationship Id="rId5" Type="http://schemas.openxmlformats.org/officeDocument/2006/relationships/image" Target="../media/image54.png"/><Relationship Id="rId4"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5.xml"/><Relationship Id="rId1" Type="http://schemas.openxmlformats.org/officeDocument/2006/relationships/tags" Target="../tags/tag154.xml"/><Relationship Id="rId5" Type="http://schemas.openxmlformats.org/officeDocument/2006/relationships/image" Target="../media/image57.png"/><Relationship Id="rId4"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7.xml"/><Relationship Id="rId1" Type="http://schemas.openxmlformats.org/officeDocument/2006/relationships/tags" Target="../tags/tag156.xml"/><Relationship Id="rId4"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9.xml"/><Relationship Id="rId1" Type="http://schemas.openxmlformats.org/officeDocument/2006/relationships/tags" Target="../tags/tag158.xml"/><Relationship Id="rId4"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1.xml"/><Relationship Id="rId1" Type="http://schemas.openxmlformats.org/officeDocument/2006/relationships/tags" Target="../tags/tag160.xml"/><Relationship Id="rId5" Type="http://schemas.openxmlformats.org/officeDocument/2006/relationships/image" Target="../media/image58.png"/><Relationship Id="rId4"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58.png"/><Relationship Id="rId4"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5.xml"/><Relationship Id="rId1" Type="http://schemas.openxmlformats.org/officeDocument/2006/relationships/tags" Target="../tags/tag164.xml"/><Relationship Id="rId5" Type="http://schemas.openxmlformats.org/officeDocument/2006/relationships/image" Target="../media/image59.png"/><Relationship Id="rId4"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slideLayout" Target="../slideLayouts/slideLayout7.xml"/><Relationship Id="rId7" Type="http://schemas.openxmlformats.org/officeDocument/2006/relationships/image" Target="../media/image62.png"/><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slideLayout" Target="../slideLayouts/slideLayout7.xml"/><Relationship Id="rId7" Type="http://schemas.openxmlformats.org/officeDocument/2006/relationships/image" Target="../media/image68.png"/><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notesSlide" Target="../notesSlides/notesSlide40.xml"/><Relationship Id="rId9" Type="http://schemas.openxmlformats.org/officeDocument/2006/relationships/image" Target="../media/image70.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3.png"/><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5.xml"/><Relationship Id="rId1" Type="http://schemas.openxmlformats.org/officeDocument/2006/relationships/tags" Target="../tags/tag174.xml"/><Relationship Id="rId4"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9.xml"/><Relationship Id="rId1" Type="http://schemas.openxmlformats.org/officeDocument/2006/relationships/tags" Target="../tags/tag178.xml"/><Relationship Id="rId4" Type="http://schemas.openxmlformats.org/officeDocument/2006/relationships/notesSlide" Target="../notesSlides/notesSlide44.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1.xml"/><Relationship Id="rId1" Type="http://schemas.openxmlformats.org/officeDocument/2006/relationships/tags" Target="../tags/tag180.xml"/><Relationship Id="rId4" Type="http://schemas.openxmlformats.org/officeDocument/2006/relationships/notesSlide" Target="../notesSlides/notesSlide4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3.xml"/><Relationship Id="rId1" Type="http://schemas.openxmlformats.org/officeDocument/2006/relationships/tags" Target="../tags/tag182.xml"/><Relationship Id="rId4" Type="http://schemas.openxmlformats.org/officeDocument/2006/relationships/notesSlide" Target="../notesSlides/notesSlide4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5.xml"/><Relationship Id="rId1" Type="http://schemas.openxmlformats.org/officeDocument/2006/relationships/tags" Target="../tags/tag184.xml"/><Relationship Id="rId4" Type="http://schemas.openxmlformats.org/officeDocument/2006/relationships/notesSlide" Target="../notesSlides/notesSlide47.xml"/></Relationships>
</file>

<file path=ppt/slides/_rels/slide5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7.xml"/><Relationship Id="rId1" Type="http://schemas.openxmlformats.org/officeDocument/2006/relationships/tags" Target="../tags/tag186.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image" Target="../media/image74.png"/><Relationship Id="rId5" Type="http://schemas.openxmlformats.org/officeDocument/2006/relationships/image" Target="../media/image12.jpeg"/><Relationship Id="rId4"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6.png"/><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image" Target="../media/image75.png"/><Relationship Id="rId5" Type="http://schemas.openxmlformats.org/officeDocument/2006/relationships/image" Target="../media/image12.jpeg"/><Relationship Id="rId4"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image" Target="../media/image77.png"/><Relationship Id="rId5" Type="http://schemas.openxmlformats.org/officeDocument/2006/relationships/image" Target="../media/image12.jpeg"/><Relationship Id="rId4"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image" Target="../media/image77.png"/><Relationship Id="rId5" Type="http://schemas.openxmlformats.org/officeDocument/2006/relationships/image" Target="../media/image12.jpeg"/><Relationship Id="rId4" Type="http://schemas.openxmlformats.org/officeDocument/2006/relationships/notesSlide" Target="../notesSlides/notesSlide51.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9.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78.png"/><Relationship Id="rId5" Type="http://schemas.openxmlformats.org/officeDocument/2006/relationships/image" Target="../media/image12.jpeg"/><Relationship Id="rId4" Type="http://schemas.openxmlformats.org/officeDocument/2006/relationships/notesSlide" Target="../notesSlides/notesSlide5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8.xml"/><Relationship Id="rId1" Type="http://schemas.openxmlformats.org/officeDocument/2006/relationships/tags" Target="../tags/tag197.xml"/><Relationship Id="rId5" Type="http://schemas.openxmlformats.org/officeDocument/2006/relationships/image" Target="../media/image12.jpeg"/><Relationship Id="rId4" Type="http://schemas.openxmlformats.org/officeDocument/2006/relationships/notesSlide" Target="../notesSlides/notesSlide53.xml"/></Relationships>
</file>

<file path=ppt/slides/_rels/slide6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7.xml"/><Relationship Id="rId1" Type="http://schemas.openxmlformats.org/officeDocument/2006/relationships/tags" Target="../tags/tag199.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1.xml"/><Relationship Id="rId1" Type="http://schemas.openxmlformats.org/officeDocument/2006/relationships/tags" Target="../tags/tag200.xml"/><Relationship Id="rId5" Type="http://schemas.openxmlformats.org/officeDocument/2006/relationships/image" Target="../media/image12.jpeg"/><Relationship Id="rId4"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5000"/>
            <a:lum/>
          </a:blip>
          <a:srcRect/>
          <a:stretch>
            <a:fillRect/>
          </a:stretch>
        </a:blipFill>
        <a:effectLst/>
      </p:bgPr>
    </p:bg>
    <p:spTree>
      <p:nvGrpSpPr>
        <p:cNvPr id="1" name=""/>
        <p:cNvGrpSpPr/>
        <p:nvPr/>
      </p:nvGrpSpPr>
      <p:grpSpPr>
        <a:xfrm>
          <a:off x="0" y="0"/>
          <a:ext cx="0" cy="0"/>
          <a:chOff x="0" y="0"/>
          <a:chExt cx="0" cy="0"/>
        </a:xfrm>
      </p:grpSpPr>
      <p:sp>
        <p:nvSpPr>
          <p:cNvPr id="2" name="椭圆 1"/>
          <p:cNvSpPr/>
          <p:nvPr/>
        </p:nvSpPr>
        <p:spPr>
          <a:xfrm>
            <a:off x="3395980" y="728980"/>
            <a:ext cx="5400000" cy="5400000"/>
          </a:xfrm>
          <a:prstGeom prst="ellipse">
            <a:avLst/>
          </a:prstGeom>
          <a:noFill/>
          <a:ln w="190500" cmpd="sng">
            <a:gradFill>
              <a:gsLst>
                <a:gs pos="47000">
                  <a:srgbClr val="CEAAE0">
                    <a:alpha val="100000"/>
                  </a:srgbClr>
                </a:gs>
                <a:gs pos="100000">
                  <a:srgbClr val="B18DC0"/>
                </a:gs>
                <a:gs pos="0">
                  <a:srgbClr val="775480"/>
                </a:gs>
                <a:gs pos="67000">
                  <a:srgbClr val="EBC6FF"/>
                </a:gs>
              </a:gsLst>
              <a:lin ang="5400000"/>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950335" y="2275840"/>
            <a:ext cx="4291330" cy="2308324"/>
          </a:xfrm>
          <a:prstGeom prst="rect">
            <a:avLst/>
          </a:prstGeom>
          <a:noFill/>
        </p:spPr>
        <p:txBody>
          <a:bodyPr wrap="square" rtlCol="0">
            <a:spAutoFit/>
          </a:bodyPr>
          <a:lstStyle/>
          <a:p>
            <a:pPr algn="ctr"/>
            <a:r>
              <a:rPr lang="zh-CN" altLang="en-US" sz="7200" b="1" dirty="0">
                <a:ln>
                  <a:noFill/>
                </a:ln>
                <a:solidFill>
                  <a:srgbClr val="775480"/>
                </a:solidFill>
                <a:effectLst/>
                <a:latin typeface="微软雅黑 Light" panose="020B0502040204020203" charset="-122"/>
                <a:ea typeface="微软雅黑 Light" panose="020B0502040204020203" charset="-122"/>
              </a:rPr>
              <a:t>请在此处</a:t>
            </a:r>
          </a:p>
          <a:p>
            <a:pPr algn="ctr"/>
            <a:r>
              <a:rPr lang="zh-CN" altLang="en-US" sz="7200" b="1" dirty="0">
                <a:ln>
                  <a:noFill/>
                </a:ln>
                <a:solidFill>
                  <a:srgbClr val="775480"/>
                </a:solidFill>
                <a:effectLst/>
                <a:latin typeface="微软雅黑 Light" panose="020B0502040204020203" charset="-122"/>
                <a:ea typeface="微软雅黑 Light" panose="020B0502040204020203" charset="-122"/>
              </a:rPr>
              <a:t>输入标题</a:t>
            </a:r>
          </a:p>
        </p:txBody>
      </p:sp>
      <p:sp>
        <p:nvSpPr>
          <p:cNvPr id="6" name="斜纹 5"/>
          <p:cNvSpPr/>
          <p:nvPr/>
        </p:nvSpPr>
        <p:spPr>
          <a:xfrm rot="10800000">
            <a:off x="296545" y="4958715"/>
            <a:ext cx="2995930" cy="1899285"/>
          </a:xfrm>
          <a:prstGeom prst="diagStripe">
            <a:avLst>
              <a:gd name="adj" fmla="val 82113"/>
            </a:avLst>
          </a:prstGeom>
          <a:gradFill>
            <a:gsLst>
              <a:gs pos="0">
                <a:schemeClr val="accent1">
                  <a:lumMod val="5000"/>
                  <a:lumOff val="95000"/>
                </a:schemeClr>
              </a:gs>
              <a:gs pos="0">
                <a:srgbClr val="BA9FC0"/>
              </a:gs>
              <a:gs pos="8300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斜纹 11"/>
          <p:cNvSpPr/>
          <p:nvPr/>
        </p:nvSpPr>
        <p:spPr>
          <a:xfrm>
            <a:off x="0" y="4958715"/>
            <a:ext cx="2995930" cy="1899285"/>
          </a:xfrm>
          <a:prstGeom prst="diagStripe">
            <a:avLst>
              <a:gd name="adj" fmla="val 82113"/>
            </a:avLst>
          </a:prstGeom>
          <a:gradFill>
            <a:gsLst>
              <a:gs pos="0">
                <a:schemeClr val="accent1">
                  <a:lumMod val="5000"/>
                  <a:lumOff val="95000"/>
                </a:schemeClr>
              </a:gs>
              <a:gs pos="0">
                <a:srgbClr val="BA9FC0"/>
              </a:gs>
              <a:gs pos="8300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4" name="组合 3"/>
          <p:cNvGrpSpPr/>
          <p:nvPr/>
        </p:nvGrpSpPr>
        <p:grpSpPr>
          <a:xfrm>
            <a:off x="8886825" y="0"/>
            <a:ext cx="3305175" cy="1898650"/>
            <a:chOff x="13995" y="0"/>
            <a:chExt cx="5205" cy="2990"/>
          </a:xfrm>
        </p:grpSpPr>
        <p:sp>
          <p:nvSpPr>
            <p:cNvPr id="13" name="斜纹 12"/>
            <p:cNvSpPr/>
            <p:nvPr/>
          </p:nvSpPr>
          <p:spPr>
            <a:xfrm>
              <a:off x="13995" y="0"/>
              <a:ext cx="4718" cy="2991"/>
            </a:xfrm>
            <a:prstGeom prst="diagStripe">
              <a:avLst>
                <a:gd name="adj" fmla="val 82113"/>
              </a:avLst>
            </a:prstGeom>
            <a:gradFill>
              <a:gsLst>
                <a:gs pos="0">
                  <a:schemeClr val="accent1">
                    <a:lumMod val="5000"/>
                    <a:lumOff val="95000"/>
                  </a:schemeClr>
                </a:gs>
                <a:gs pos="0">
                  <a:srgbClr val="BA9FC0"/>
                </a:gs>
                <a:gs pos="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斜纹 13"/>
            <p:cNvSpPr/>
            <p:nvPr/>
          </p:nvSpPr>
          <p:spPr>
            <a:xfrm rot="10800000">
              <a:off x="14482" y="0"/>
              <a:ext cx="4718" cy="2991"/>
            </a:xfrm>
            <a:prstGeom prst="diagStripe">
              <a:avLst>
                <a:gd name="adj" fmla="val 82113"/>
              </a:avLst>
            </a:prstGeom>
            <a:gradFill>
              <a:gsLst>
                <a:gs pos="0">
                  <a:schemeClr val="accent1">
                    <a:lumMod val="5000"/>
                    <a:lumOff val="95000"/>
                  </a:schemeClr>
                </a:gs>
                <a:gs pos="0">
                  <a:srgbClr val="BA9FC0"/>
                </a:gs>
                <a:gs pos="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5" name="椭圆 14"/>
          <p:cNvSpPr/>
          <p:nvPr/>
        </p:nvSpPr>
        <p:spPr>
          <a:xfrm>
            <a:off x="7741285" y="4582795"/>
            <a:ext cx="2160000" cy="2160000"/>
          </a:xfrm>
          <a:prstGeom prst="ellipse">
            <a:avLst/>
          </a:prstGeom>
          <a:noFill/>
          <a:ln w="190500">
            <a:gradFill>
              <a:gsLst>
                <a:gs pos="5000">
                  <a:srgbClr val="CEAAE0">
                    <a:alpha val="50000"/>
                  </a:srgbClr>
                </a:gs>
                <a:gs pos="100000">
                  <a:srgbClr val="B18DC0"/>
                </a:gs>
                <a:gs pos="0">
                  <a:srgbClr val="775480"/>
                </a:gs>
                <a:gs pos="67000">
                  <a:srgbClr val="EBC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8241665" y="5299075"/>
            <a:ext cx="1097280" cy="829945"/>
          </a:xfrm>
          <a:prstGeom prst="rect">
            <a:avLst/>
          </a:prstGeom>
          <a:noFill/>
        </p:spPr>
        <p:txBody>
          <a:bodyPr wrap="none" rtlCol="0">
            <a:spAutoFit/>
          </a:bodyPr>
          <a:lstStyle/>
          <a:p>
            <a:pPr algn="ctr"/>
            <a:r>
              <a:rPr lang="zh-CN" altLang="en-US" sz="2400" dirty="0">
                <a:solidFill>
                  <a:srgbClr val="694B71"/>
                </a:solidFill>
                <a:latin typeface="微软雅黑 Light" panose="020B0502040204020203" charset="-122"/>
                <a:ea typeface="微软雅黑 Light" panose="020B0502040204020203" charset="-122"/>
                <a:cs typeface="微软雅黑 Light" panose="020B0502040204020203" charset="-122"/>
              </a:rPr>
              <a:t>主讲人</a:t>
            </a:r>
          </a:p>
          <a:p>
            <a:pPr algn="ctr"/>
            <a:r>
              <a:rPr lang="en-US" altLang="zh-CN" sz="2400" dirty="0">
                <a:solidFill>
                  <a:srgbClr val="694B71"/>
                </a:solidFill>
                <a:latin typeface="微软雅黑 Light" panose="020B0502040204020203" charset="-122"/>
                <a:ea typeface="微软雅黑 Light" panose="020B0502040204020203" charset="-122"/>
                <a:cs typeface="微软雅黑 Light" panose="020B0502040204020203" charset="-122"/>
              </a:rPr>
              <a:t>XXX</a:t>
            </a:r>
          </a:p>
        </p:txBody>
      </p:sp>
      <p:grpSp>
        <p:nvGrpSpPr>
          <p:cNvPr id="11" name="组合 10"/>
          <p:cNvGrpSpPr/>
          <p:nvPr/>
        </p:nvGrpSpPr>
        <p:grpSpPr>
          <a:xfrm>
            <a:off x="205946" y="193738"/>
            <a:ext cx="2096408" cy="605580"/>
            <a:chOff x="3854450" y="4787900"/>
            <a:chExt cx="4462463" cy="1289050"/>
          </a:xfrm>
          <a:solidFill>
            <a:srgbClr val="694B71"/>
          </a:solidFill>
        </p:grpSpPr>
        <p:sp>
          <p:nvSpPr>
            <p:cNvPr id="17" name="Freeform 5"/>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Freeform 6"/>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Freeform 7"/>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8"/>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9"/>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10"/>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11"/>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Freeform 12"/>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13"/>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14"/>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5"/>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16"/>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17"/>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18"/>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19"/>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Freeform 20"/>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Freeform 21"/>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22"/>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23"/>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24"/>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Freeform 25"/>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26"/>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Freeform 27"/>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Freeform 28"/>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29"/>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30"/>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Freeform 31"/>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Freeform 32"/>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33"/>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Freeform 34"/>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Freeform 35"/>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Freeform 36"/>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37"/>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Freeform 38"/>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Freeform 39"/>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Freeform 40"/>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41"/>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Freeform 42"/>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Freeform 43"/>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44"/>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45"/>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Freeform 46"/>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Freeform 47"/>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48"/>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49"/>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50"/>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Freeform 51"/>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52"/>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53"/>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54"/>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55"/>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Freeform 56"/>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Freeform 57"/>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58"/>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Oval 59"/>
            <p:cNvSpPr>
              <a:spLocks noChangeArrowheads="1"/>
            </p:cNvSpPr>
            <p:nvPr/>
          </p:nvSpPr>
          <p:spPr bwMode="auto">
            <a:xfrm>
              <a:off x="4195763"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Oval 60"/>
            <p:cNvSpPr>
              <a:spLocks noChangeArrowheads="1"/>
            </p:cNvSpPr>
            <p:nvPr/>
          </p:nvSpPr>
          <p:spPr bwMode="auto">
            <a:xfrm>
              <a:off x="4756150"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61"/>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Freeform 62"/>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5" name="Freeform 63"/>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Freeform 64"/>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7" name="Freeform 65"/>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Freeform 66"/>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Freeform 67"/>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0" name="Freeform 68"/>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Freeform 69"/>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Freeform 70"/>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97000"/>
            <a:lum/>
          </a:blip>
          <a:srcRect/>
          <a:stretch>
            <a:fillRect l="-5000" r="-5000"/>
          </a:stretch>
        </a:blipFill>
        <a:effectLst/>
      </p:bgPr>
    </p:bg>
    <p:spTree>
      <p:nvGrpSpPr>
        <p:cNvPr id="1" name=""/>
        <p:cNvGrpSpPr/>
        <p:nvPr/>
      </p:nvGrpSpPr>
      <p:grpSpPr>
        <a:xfrm>
          <a:off x="0" y="0"/>
          <a:ext cx="0" cy="0"/>
          <a:chOff x="0" y="0"/>
          <a:chExt cx="0" cy="0"/>
        </a:xfrm>
      </p:grpSpPr>
      <p:sp>
        <p:nvSpPr>
          <p:cNvPr id="5" name="矩形 4"/>
          <p:cNvSpPr/>
          <p:nvPr/>
        </p:nvSpPr>
        <p:spPr>
          <a:xfrm>
            <a:off x="0" y="0"/>
            <a:ext cx="6096000"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浑天仪1"/>
          <p:cNvPicPr>
            <a:picLocks noChangeAspect="1"/>
          </p:cNvPicPr>
          <p:nvPr/>
        </p:nvPicPr>
        <p:blipFill>
          <a:blip r:embed="rId5"/>
          <a:stretch>
            <a:fillRect/>
          </a:stretch>
        </p:blipFill>
        <p:spPr>
          <a:xfrm>
            <a:off x="552133" y="5126355"/>
            <a:ext cx="544195" cy="746760"/>
          </a:xfrm>
          <a:prstGeom prst="rect">
            <a:avLst/>
          </a:prstGeom>
        </p:spPr>
      </p:pic>
      <p:pic>
        <p:nvPicPr>
          <p:cNvPr id="7" name="图片 6" descr="日晷荔枝红2"/>
          <p:cNvPicPr>
            <a:picLocks noChangeAspect="1"/>
          </p:cNvPicPr>
          <p:nvPr/>
        </p:nvPicPr>
        <p:blipFill>
          <a:blip r:embed="rId6"/>
          <a:stretch>
            <a:fillRect/>
          </a:stretch>
        </p:blipFill>
        <p:spPr>
          <a:xfrm>
            <a:off x="382270" y="3594735"/>
            <a:ext cx="883920" cy="530860"/>
          </a:xfrm>
          <a:prstGeom prst="rect">
            <a:avLst/>
          </a:prstGeom>
        </p:spPr>
      </p:pic>
      <p:pic>
        <p:nvPicPr>
          <p:cNvPr id="8" name="图片 7" descr="仰望星空3"/>
          <p:cNvPicPr>
            <a:picLocks noChangeAspect="1"/>
          </p:cNvPicPr>
          <p:nvPr/>
        </p:nvPicPr>
        <p:blipFill>
          <a:blip r:embed="rId7"/>
          <a:stretch>
            <a:fillRect/>
          </a:stretch>
        </p:blipFill>
        <p:spPr>
          <a:xfrm>
            <a:off x="607695" y="1819275"/>
            <a:ext cx="433070" cy="774700"/>
          </a:xfrm>
          <a:prstGeom prst="rect">
            <a:avLst/>
          </a:prstGeom>
        </p:spPr>
      </p:pic>
      <p:sp>
        <p:nvSpPr>
          <p:cNvPr id="10" name="文本框 9"/>
          <p:cNvSpPr txBox="1"/>
          <p:nvPr/>
        </p:nvSpPr>
        <p:spPr>
          <a:xfrm>
            <a:off x="1660671" y="1865986"/>
            <a:ext cx="3457087" cy="68135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每年每 3 名 65 岁及以上的成年人中就有 1 人跌倒[</a:t>
            </a:r>
          </a:p>
        </p:txBody>
      </p:sp>
      <p:sp>
        <p:nvSpPr>
          <p:cNvPr id="11" name="文本框 10"/>
          <p:cNvSpPr txBox="1"/>
          <p:nvPr/>
        </p:nvSpPr>
        <p:spPr>
          <a:xfrm>
            <a:off x="1545590" y="3429000"/>
            <a:ext cx="3916680" cy="97599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在 2000 例老年人跌倒中，美国医疗保健系统损失了超过 190 亿美元，2010 年这一数字增加到 300 亿美元[2]。</a:t>
            </a:r>
          </a:p>
        </p:txBody>
      </p:sp>
      <p:sp>
        <p:nvSpPr>
          <p:cNvPr id="12" name="文本框 11"/>
          <p:cNvSpPr txBox="1"/>
          <p:nvPr/>
        </p:nvSpPr>
        <p:spPr>
          <a:xfrm>
            <a:off x="1315720" y="4897120"/>
            <a:ext cx="4376420" cy="97599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大多数老年人在跌倒后无法自行站起来</a:t>
            </a:r>
            <a:r>
              <a:rPr lang="en-US" altLang="zh-CN" sz="1600" dirty="0">
                <a:solidFill>
                  <a:srgbClr val="775480"/>
                </a:solidFill>
                <a:latin typeface="微软雅黑 Light" panose="020B0502040204020203" charset="-122"/>
                <a:ea typeface="微软雅黑 Light" panose="020B0502040204020203" charset="-122"/>
                <a:sym typeface="+mn-ea"/>
              </a:rPr>
              <a:t> </a:t>
            </a:r>
          </a:p>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跌倒后延误就医会增加死亡风险，</a:t>
            </a:r>
          </a:p>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跌倒还会对老年人造成心理伤害</a:t>
            </a:r>
          </a:p>
        </p:txBody>
      </p:sp>
      <p:sp>
        <p:nvSpPr>
          <p:cNvPr id="13"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chemeClr val="tx1"/>
                </a:solidFill>
                <a:latin typeface="微软雅黑" panose="020B0503020204020204" pitchFamily="34" charset="-122"/>
                <a:ea typeface="微软雅黑" panose="020B0503020204020204" pitchFamily="34" charset="-122"/>
              </a:rPr>
              <a:t>跌倒问题很严峻</a:t>
            </a:r>
          </a:p>
        </p:txBody>
      </p:sp>
      <p:sp>
        <p:nvSpPr>
          <p:cNvPr id="14" name="矩形 13"/>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603615" y="62130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gettyimages-1183001120-2048x2048"/>
          <p:cNvPicPr>
            <a:picLocks noChangeAspect="1"/>
          </p:cNvPicPr>
          <p:nvPr/>
        </p:nvPicPr>
        <p:blipFill>
          <a:blip r:embed="rId8"/>
          <a:stretch>
            <a:fillRect/>
          </a:stretch>
        </p:blipFill>
        <p:spPr>
          <a:xfrm>
            <a:off x="6096000" y="1581150"/>
            <a:ext cx="6242050" cy="4166870"/>
          </a:xfrm>
          <a:prstGeom prst="rect">
            <a:avLst/>
          </a:prstGeom>
        </p:spPr>
      </p:pic>
      <p:sp>
        <p:nvSpPr>
          <p:cNvPr id="19" name="文本框 18"/>
          <p:cNvSpPr txBox="1"/>
          <p:nvPr/>
        </p:nvSpPr>
        <p:spPr>
          <a:xfrm>
            <a:off x="1545590" y="3208020"/>
            <a:ext cx="9571355" cy="1304290"/>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zh-CN" altLang="en-US" sz="5400">
                <a:ln>
                  <a:solidFill>
                    <a:sysClr val="windowText" lastClr="000000"/>
                  </a:solidFill>
                </a:ln>
                <a:solidFill>
                  <a:schemeClr val="tx1"/>
                </a:solidFill>
              </a:rPr>
              <a:t>因此，检测老人跌倒很有必要</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25000"/>
          </a:blip>
          <a:stretch>
            <a:fillRect l="-5000" r="-5000"/>
          </a:stretch>
        </a:blipFill>
        <a:effectLst/>
      </p:bgPr>
    </p:bg>
    <p:spTree>
      <p:nvGrpSpPr>
        <p:cNvPr id="1" name=""/>
        <p:cNvGrpSpPr/>
        <p:nvPr/>
      </p:nvGrpSpPr>
      <p:grpSpPr>
        <a:xfrm>
          <a:off x="0" y="0"/>
          <a:ext cx="0" cy="0"/>
          <a:chOff x="0" y="0"/>
          <a:chExt cx="0" cy="0"/>
        </a:xfrm>
      </p:grpSpPr>
      <p:pic>
        <p:nvPicPr>
          <p:cNvPr id="4" name="图片 3" descr="D:\Downloads\js452078-fig-0002c-m.jpgjs452078-fig-0002c-m"/>
          <p:cNvPicPr preferRelativeResize="0"/>
          <p:nvPr/>
        </p:nvPicPr>
        <p:blipFill>
          <a:blip r:embed="rId5"/>
          <a:srcRect/>
          <a:stretch>
            <a:fillRect/>
          </a:stretch>
        </p:blipFill>
        <p:spPr>
          <a:xfrm>
            <a:off x="885825" y="1954530"/>
            <a:ext cx="2623185" cy="2948940"/>
          </a:xfrm>
          <a:prstGeom prst="rect">
            <a:avLst/>
          </a:prstGeom>
        </p:spPr>
      </p:pic>
      <p:sp>
        <p:nvSpPr>
          <p:cNvPr id="17"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目前的跌倒检测方法</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88193" y="5044482"/>
            <a:ext cx="2658403" cy="460375"/>
          </a:xfrm>
          <a:prstGeom prst="rect">
            <a:avLst/>
          </a:prstGeom>
          <a:noFill/>
        </p:spPr>
        <p:txBody>
          <a:bodyPr wrap="square" rtlCol="0">
            <a:spAutoFit/>
          </a:bodyPr>
          <a:lstStyle/>
          <a:p>
            <a:pPr algn="ctr">
              <a:lnSpc>
                <a:spcPct val="120000"/>
              </a:lnSpc>
            </a:pPr>
            <a:r>
              <a:rPr lang="zh-CN" altLang="en-US" sz="2000" dirty="0">
                <a:solidFill>
                  <a:srgbClr val="775480"/>
                </a:solidFill>
                <a:latin typeface="微软雅黑 Light" panose="020B0502040204020203" charset="-122"/>
                <a:ea typeface="微软雅黑 Light" panose="020B0502040204020203" charset="-122"/>
                <a:sym typeface="+mn-ea"/>
              </a:rPr>
              <a:t>可穿戴传感器</a:t>
            </a:r>
          </a:p>
        </p:txBody>
      </p:sp>
      <p:sp>
        <p:nvSpPr>
          <p:cNvPr id="25" name="文本框 24"/>
          <p:cNvSpPr txBox="1"/>
          <p:nvPr/>
        </p:nvSpPr>
        <p:spPr>
          <a:xfrm>
            <a:off x="8793968" y="5044482"/>
            <a:ext cx="2658403" cy="97726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基于计算机视觉的检测</a:t>
            </a:r>
          </a:p>
        </p:txBody>
      </p:sp>
      <p:sp>
        <p:nvSpPr>
          <p:cNvPr id="26" name="文本框 25"/>
          <p:cNvSpPr txBox="1"/>
          <p:nvPr/>
        </p:nvSpPr>
        <p:spPr>
          <a:xfrm>
            <a:off x="4766797" y="5044482"/>
            <a:ext cx="2658403" cy="142049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环境检测（跌倒发出的噪音，地板产生的震动）</a:t>
            </a:r>
          </a:p>
        </p:txBody>
      </p:sp>
      <p:pic>
        <p:nvPicPr>
          <p:cNvPr id="8" name="图片 7" descr="1684511-fig-5-source-large"/>
          <p:cNvPicPr>
            <a:picLocks noChangeAspect="1"/>
          </p:cNvPicPr>
          <p:nvPr/>
        </p:nvPicPr>
        <p:blipFill>
          <a:blip r:embed="rId6"/>
          <a:stretch>
            <a:fillRect/>
          </a:stretch>
        </p:blipFill>
        <p:spPr>
          <a:xfrm>
            <a:off x="4134485" y="2242185"/>
            <a:ext cx="3923030" cy="2373630"/>
          </a:xfrm>
          <a:prstGeom prst="rect">
            <a:avLst/>
          </a:prstGeom>
        </p:spPr>
      </p:pic>
      <p:pic>
        <p:nvPicPr>
          <p:cNvPr id="9" name="图片 8"/>
          <p:cNvPicPr>
            <a:picLocks noChangeAspect="1"/>
          </p:cNvPicPr>
          <p:nvPr/>
        </p:nvPicPr>
        <p:blipFill>
          <a:blip r:embed="rId7"/>
          <a:stretch>
            <a:fillRect/>
          </a:stretch>
        </p:blipFill>
        <p:spPr>
          <a:xfrm>
            <a:off x="8682990" y="2423160"/>
            <a:ext cx="3303270" cy="2192655"/>
          </a:xfrm>
          <a:prstGeom prst="rect">
            <a:avLst/>
          </a:prstGeom>
        </p:spPr>
      </p:pic>
      <p:sp>
        <p:nvSpPr>
          <p:cNvPr id="11" name="文本框 10"/>
          <p:cNvSpPr txBox="1"/>
          <p:nvPr/>
        </p:nvSpPr>
        <p:spPr>
          <a:xfrm>
            <a:off x="2942590" y="1202055"/>
            <a:ext cx="6306185"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然而，这些方法都有他们各自的限制</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68000"/>
            <a:lum/>
          </a:blip>
          <a:srcRect/>
          <a:stretch>
            <a:fillRect l="-5000" r="-5000"/>
          </a:stretch>
        </a:blipFill>
        <a:effectLst/>
      </p:bgPr>
    </p:bg>
    <p:spTree>
      <p:nvGrpSpPr>
        <p:cNvPr id="1" name=""/>
        <p:cNvGrpSpPr/>
        <p:nvPr/>
      </p:nvGrpSpPr>
      <p:grpSpPr>
        <a:xfrm>
          <a:off x="0" y="0"/>
          <a:ext cx="0" cy="0"/>
          <a:chOff x="0" y="0"/>
          <a:chExt cx="0" cy="0"/>
        </a:xfrm>
      </p:grpSpPr>
      <p:sp>
        <p:nvSpPr>
          <p:cNvPr id="4" name="椭圆 3"/>
          <p:cNvSpPr/>
          <p:nvPr/>
        </p:nvSpPr>
        <p:spPr>
          <a:xfrm>
            <a:off x="3235960" y="5833745"/>
            <a:ext cx="720000" cy="720000"/>
          </a:xfrm>
          <a:prstGeom prst="ellipse">
            <a:avLst/>
          </a:prstGeom>
          <a:solidFill>
            <a:srgbClr val="C3BEF0">
              <a:alpha val="78000"/>
            </a:srgbClr>
          </a:solidFill>
          <a:ln>
            <a:solidFill>
              <a:srgbClr val="D8C7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8135620" y="5833745"/>
            <a:ext cx="288000" cy="288000"/>
          </a:xfrm>
          <a:prstGeom prst="ellipse">
            <a:avLst/>
          </a:prstGeom>
          <a:solidFill>
            <a:srgbClr val="EBC6FF">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579995" y="6191250"/>
            <a:ext cx="360000" cy="360000"/>
          </a:xfrm>
          <a:prstGeom prst="ellipse">
            <a:avLst/>
          </a:prstGeom>
          <a:solidFill>
            <a:srgbClr val="C3BE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031730" y="0"/>
            <a:ext cx="2160000" cy="21600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894" h="2837">
                <a:moveTo>
                  <a:pt x="0" y="0"/>
                </a:moveTo>
                <a:lnTo>
                  <a:pt x="2894" y="0"/>
                </a:lnTo>
                <a:lnTo>
                  <a:pt x="2894" y="2836"/>
                </a:lnTo>
                <a:lnTo>
                  <a:pt x="2871" y="2837"/>
                </a:lnTo>
                <a:cubicBezTo>
                  <a:pt x="2859" y="2837"/>
                  <a:pt x="2847" y="2837"/>
                  <a:pt x="2835" y="2837"/>
                </a:cubicBezTo>
                <a:cubicBezTo>
                  <a:pt x="1269" y="2837"/>
                  <a:pt x="0" y="1568"/>
                  <a:pt x="0" y="3"/>
                </a:cubicBezTo>
                <a:lnTo>
                  <a:pt x="0" y="0"/>
                </a:lnTo>
                <a:close/>
              </a:path>
            </a:pathLst>
          </a:custGeom>
          <a:solidFill>
            <a:srgbClr val="DCBBE3">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4" name="椭圆 53"/>
          <p:cNvSpPr/>
          <p:nvPr/>
        </p:nvSpPr>
        <p:spPr>
          <a:xfrm>
            <a:off x="11616055" y="2500630"/>
            <a:ext cx="360000" cy="360000"/>
          </a:xfrm>
          <a:prstGeom prst="ellipse">
            <a:avLst/>
          </a:prstGeom>
          <a:solidFill>
            <a:srgbClr val="BA9FC0">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10852150" y="1637665"/>
            <a:ext cx="763905" cy="773430"/>
          </a:xfrm>
          <a:prstGeom prst="ellipse">
            <a:avLst/>
          </a:prstGeom>
          <a:solidFill>
            <a:srgbClr val="C3BEF0">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弦形 57"/>
          <p:cNvSpPr/>
          <p:nvPr/>
        </p:nvSpPr>
        <p:spPr>
          <a:xfrm rot="10800000">
            <a:off x="-1259525" y="1311275"/>
            <a:ext cx="2520000" cy="2521585"/>
          </a:xfrm>
          <a:prstGeom prst="chord">
            <a:avLst>
              <a:gd name="adj1" fmla="val 5369053"/>
              <a:gd name="adj2" fmla="val 16200000"/>
            </a:avLst>
          </a:prstGeom>
          <a:solidFill>
            <a:srgbClr val="D4CF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无线技术的应用</a:t>
            </a:r>
          </a:p>
        </p:txBody>
      </p:sp>
      <p:sp>
        <p:nvSpPr>
          <p:cNvPr id="17" name="矩形 16"/>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燕尾形 14"/>
          <p:cNvSpPr/>
          <p:nvPr/>
        </p:nvSpPr>
        <p:spPr>
          <a:xfrm>
            <a:off x="7744720" y="2248626"/>
            <a:ext cx="828675" cy="1038225"/>
          </a:xfrm>
          <a:prstGeom prst="chevron">
            <a:avLst/>
          </a:prstGeom>
          <a:solidFill>
            <a:srgbClr val="BA9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燕尾形 15"/>
          <p:cNvSpPr/>
          <p:nvPr/>
        </p:nvSpPr>
        <p:spPr>
          <a:xfrm>
            <a:off x="3735781" y="2248626"/>
            <a:ext cx="828675" cy="1038225"/>
          </a:xfrm>
          <a:prstGeom prst="chevron">
            <a:avLst/>
          </a:prstGeom>
          <a:solidFill>
            <a:srgbClr val="DCB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768200" y="2169251"/>
            <a:ext cx="2658403" cy="24511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20000"/>
              </a:lnSpc>
            </a:pPr>
            <a:r>
              <a:rPr lang="zh-CN" altLang="en-US" sz="1600" dirty="0">
                <a:solidFill>
                  <a:srgbClr val="694B71"/>
                </a:solidFill>
                <a:latin typeface="微软雅黑 Light" panose="020B0502040204020203" charset="-122"/>
                <a:ea typeface="微软雅黑 Light" panose="020B0502040204020203" charset="-122"/>
                <a:sym typeface="+mn-ea"/>
              </a:rPr>
              <a:t>商用 WiFi 设备上公开的物理层信道状态信息（</a:t>
            </a:r>
            <a:r>
              <a:rPr lang="en-US" altLang="zh-CN" sz="1600" dirty="0">
                <a:solidFill>
                  <a:srgbClr val="694B71"/>
                </a:solidFill>
                <a:latin typeface="微软雅黑 Light" panose="020B0502040204020203" charset="-122"/>
                <a:ea typeface="微软雅黑 Light" panose="020B0502040204020203" charset="-122"/>
                <a:sym typeface="+mn-ea"/>
              </a:rPr>
              <a:t>Channel State Information </a:t>
            </a:r>
            <a:r>
              <a:rPr lang="zh-CN" altLang="en-US" sz="1600" dirty="0">
                <a:solidFill>
                  <a:srgbClr val="694B71"/>
                </a:solidFill>
                <a:latin typeface="微软雅黑 Light" panose="020B0502040204020203" charset="-122"/>
                <a:ea typeface="微软雅黑 Light" panose="020B0502040204020203" charset="-122"/>
                <a:sym typeface="+mn-ea"/>
              </a:rPr>
              <a:t>，CSI）揭示了 OFDM 子载波粒度的多径信道特征[21]，这比传统的 MAC 层 RSS（接收信号强度）要细得多。</a:t>
            </a:r>
          </a:p>
        </p:txBody>
      </p:sp>
      <p:sp>
        <p:nvSpPr>
          <p:cNvPr id="25" name="文本框 24"/>
          <p:cNvSpPr txBox="1"/>
          <p:nvPr/>
        </p:nvSpPr>
        <p:spPr>
          <a:xfrm>
            <a:off x="1493516" y="1154521"/>
            <a:ext cx="1207770" cy="830997"/>
          </a:xfrm>
          <a:prstGeom prst="rect">
            <a:avLst/>
          </a:prstGeom>
          <a:noFill/>
        </p:spPr>
        <p:txBody>
          <a:bodyPr wrap="square" rtlCol="0">
            <a:spAutoFit/>
          </a:bodyPr>
          <a:lstStyle/>
          <a:p>
            <a:r>
              <a:rPr lang="en-US" altLang="zh-CN" sz="4800" b="1" dirty="0">
                <a:solidFill>
                  <a:srgbClr val="8F6C8F">
                    <a:alpha val="60000"/>
                  </a:srgbClr>
                </a:solidFill>
                <a:latin typeface="微软雅黑" panose="020B0503020204020204" pitchFamily="34" charset="-122"/>
                <a:ea typeface="微软雅黑" panose="020B0503020204020204" pitchFamily="34" charset="-122"/>
              </a:rPr>
              <a:t>01</a:t>
            </a:r>
          </a:p>
        </p:txBody>
      </p:sp>
      <p:sp>
        <p:nvSpPr>
          <p:cNvPr id="26" name="文本框 25"/>
          <p:cNvSpPr txBox="1"/>
          <p:nvPr/>
        </p:nvSpPr>
        <p:spPr>
          <a:xfrm>
            <a:off x="5596255" y="1154521"/>
            <a:ext cx="1207770" cy="830997"/>
          </a:xfrm>
          <a:prstGeom prst="rect">
            <a:avLst/>
          </a:prstGeom>
          <a:noFill/>
        </p:spPr>
        <p:txBody>
          <a:bodyPr wrap="square" rtlCol="0">
            <a:spAutoFit/>
          </a:bodyPr>
          <a:lstStyle/>
          <a:p>
            <a:r>
              <a:rPr lang="en-US" altLang="zh-CN" sz="4800" b="1" dirty="0">
                <a:solidFill>
                  <a:srgbClr val="8F6C8F">
                    <a:alpha val="60000"/>
                  </a:srgbClr>
                </a:solidFill>
                <a:latin typeface="微软雅黑" panose="020B0503020204020204" pitchFamily="34" charset="-122"/>
                <a:ea typeface="微软雅黑" panose="020B0503020204020204" pitchFamily="34" charset="-122"/>
              </a:rPr>
              <a:t>02</a:t>
            </a:r>
          </a:p>
        </p:txBody>
      </p:sp>
      <p:sp>
        <p:nvSpPr>
          <p:cNvPr id="27" name="文本框 26"/>
          <p:cNvSpPr txBox="1"/>
          <p:nvPr/>
        </p:nvSpPr>
        <p:spPr>
          <a:xfrm>
            <a:off x="9698994" y="1166189"/>
            <a:ext cx="1207770" cy="830997"/>
          </a:xfrm>
          <a:prstGeom prst="rect">
            <a:avLst/>
          </a:prstGeom>
          <a:noFill/>
        </p:spPr>
        <p:txBody>
          <a:bodyPr wrap="square" rtlCol="0">
            <a:spAutoFit/>
          </a:bodyPr>
          <a:lstStyle/>
          <a:p>
            <a:r>
              <a:rPr lang="en-US" altLang="zh-CN" sz="4800" b="1" dirty="0">
                <a:solidFill>
                  <a:srgbClr val="8F6C8F">
                    <a:alpha val="60000"/>
                  </a:srgbClr>
                </a:solidFill>
                <a:latin typeface="微软雅黑" panose="020B0503020204020204" pitchFamily="34" charset="-122"/>
                <a:ea typeface="微软雅黑" panose="020B0503020204020204" pitchFamily="34" charset="-122"/>
              </a:rPr>
              <a:t>03</a:t>
            </a:r>
          </a:p>
        </p:txBody>
      </p:sp>
      <p:sp>
        <p:nvSpPr>
          <p:cNvPr id="29" name="文本框 28"/>
          <p:cNvSpPr txBox="1"/>
          <p:nvPr/>
        </p:nvSpPr>
        <p:spPr>
          <a:xfrm>
            <a:off x="4870939" y="2169251"/>
            <a:ext cx="2658403" cy="21558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20000"/>
              </a:lnSpc>
            </a:pPr>
            <a:r>
              <a:rPr lang="zh-CN" altLang="en-US" sz="1600" dirty="0">
                <a:solidFill>
                  <a:srgbClr val="694B71"/>
                </a:solidFill>
                <a:latin typeface="微软雅黑 Light" panose="020B0502040204020203" charset="-122"/>
                <a:ea typeface="微软雅黑 Light" panose="020B0502040204020203" charset="-122"/>
                <a:sym typeface="+mn-ea"/>
              </a:rPr>
              <a:t>通过利用 MIMO 系统中 OFDM 子载波上 CSI 的幅度和相位信息以及多天线上 CSI 信息的多样性，在运动检测、唇语和手势识别、生命体征监测和活动识别等方面的应用取得了重大进展。</a:t>
            </a:r>
          </a:p>
        </p:txBody>
      </p:sp>
      <p:sp>
        <p:nvSpPr>
          <p:cNvPr id="30" name="文本框 29"/>
          <p:cNvSpPr txBox="1"/>
          <p:nvPr/>
        </p:nvSpPr>
        <p:spPr>
          <a:xfrm>
            <a:off x="8938633" y="2179410"/>
            <a:ext cx="2658403" cy="186118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20000"/>
              </a:lnSpc>
            </a:pPr>
            <a:r>
              <a:rPr lang="zh-CN" altLang="en-US" sz="1600" dirty="0">
                <a:solidFill>
                  <a:srgbClr val="694B71"/>
                </a:solidFill>
                <a:latin typeface="微软雅黑 Light" panose="020B0502040204020203" charset="-122"/>
                <a:ea typeface="微软雅黑 Light" panose="020B0502040204020203" charset="-122"/>
                <a:sym typeface="+mn-ea"/>
              </a:rPr>
              <a:t>所有这些研究工作背后的基本原理是，不同的人类活动会导致不同的信号变化模式，并且可以通过将观察到的信号变化模式映射到不同的人类活动来实时识别活动。</a:t>
            </a:r>
          </a:p>
        </p:txBody>
      </p:sp>
      <p:sp>
        <p:nvSpPr>
          <p:cNvPr id="2" name="文本框 1"/>
          <p:cNvSpPr txBox="1"/>
          <p:nvPr/>
        </p:nvSpPr>
        <p:spPr>
          <a:xfrm>
            <a:off x="2232660" y="5146040"/>
            <a:ext cx="7934960" cy="68135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20000"/>
              </a:lnSpc>
            </a:pPr>
            <a:r>
              <a:rPr lang="zh-CN" altLang="en-US" sz="1600" dirty="0">
                <a:solidFill>
                  <a:srgbClr val="694B71"/>
                </a:solidFill>
                <a:latin typeface="微软雅黑 Light" panose="020B0502040204020203" charset="-122"/>
                <a:ea typeface="微软雅黑 Light" panose="020B0502040204020203" charset="-122"/>
                <a:sym typeface="+mn-ea"/>
              </a:rPr>
              <a:t>出于这种动机，在本文中，我们旨在研究是否可以使用家中廉价且广泛部署的 WiFi 设备实现实时和自动跌倒检测，而无需受试者佩戴或携带任何物品。</a:t>
            </a:r>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需要解决的问题</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349375" y="1599565"/>
            <a:ext cx="9492615" cy="3192780"/>
          </a:xfrm>
          <a:prstGeom prst="rect">
            <a:avLst/>
          </a:prstGeom>
          <a:noFill/>
        </p:spPr>
        <p:txBody>
          <a:bodyPr wrap="square" rtlCol="0">
            <a:spAutoFit/>
          </a:bodyPr>
          <a:lstStyle/>
          <a:p>
            <a:pPr algn="l">
              <a:lnSpc>
                <a:spcPct val="120000"/>
              </a:lnSpc>
            </a:pPr>
            <a:r>
              <a:rPr lang="en-US" altLang="zh-CN" sz="2400" dirty="0">
                <a:solidFill>
                  <a:srgbClr val="775480"/>
                </a:solidFill>
                <a:latin typeface="微软雅黑 Light" panose="020B0502040204020203" charset="-122"/>
                <a:ea typeface="微软雅黑 Light" panose="020B0502040204020203" charset="-122"/>
                <a:sym typeface="+mn-ea"/>
              </a:rPr>
              <a:t>1. </a:t>
            </a:r>
            <a:r>
              <a:rPr lang="zh-CN" altLang="en-US" sz="2400" dirty="0">
                <a:solidFill>
                  <a:srgbClr val="775480"/>
                </a:solidFill>
                <a:latin typeface="微软雅黑 Light" panose="020B0502040204020203" charset="-122"/>
                <a:ea typeface="微软雅黑 Light" panose="020B0502040204020203" charset="-122"/>
                <a:sym typeface="+mn-ea"/>
              </a:rPr>
              <a:t>跌倒和其他人类活动如何影响 CSI 的振幅和相位信息？</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sym typeface="+mn-ea"/>
              </a:rPr>
              <a:t>2. WiFi 信号流的 CSI 中是否有任何特定特征可以表征跌倒和其他人类活动？</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sym typeface="+mn-ea"/>
              </a:rPr>
              <a:t>3. 由于活动是连续进行的，因此没有给出后续活动的 WiFi 信号边界。如何自动准确地分割连续捕获的 WiFi 无线信号流中相应的跌倒等活动？</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sym typeface="+mn-ea"/>
              </a:rPr>
              <a:t>4. 由于日常活动众多，从活动识别的角度来看，问题空间较大。即使活动被分割开来，</a:t>
            </a:r>
            <a:r>
              <a:rPr lang="zh-CN" altLang="en-US" sz="2400" dirty="0">
                <a:solidFill>
                  <a:srgbClr val="775480"/>
                </a:solidFill>
                <a:latin typeface="微软雅黑 Light" panose="020B0502040204020203" charset="-122"/>
                <a:ea typeface="微软雅黑 Light" panose="020B0502040204020203" charset="-122"/>
                <a:sym typeface="+mn-ea"/>
              </a:rPr>
              <a:t>如何</a:t>
            </a:r>
            <a:r>
              <a:rPr lang="en-US" altLang="zh-CN" sz="2400" dirty="0">
                <a:solidFill>
                  <a:srgbClr val="775480"/>
                </a:solidFill>
                <a:latin typeface="微软雅黑 Light" panose="020B0502040204020203" charset="-122"/>
                <a:ea typeface="微软雅黑 Light" panose="020B0502040204020203" charset="-122"/>
                <a:sym typeface="+mn-ea"/>
              </a:rPr>
              <a:t>将跌倒与所有其他日常活动区分开来</a:t>
            </a:r>
            <a:r>
              <a:rPr lang="zh-CN" altLang="en-US" sz="2400" dirty="0">
                <a:solidFill>
                  <a:srgbClr val="775480"/>
                </a:solidFill>
                <a:latin typeface="微软雅黑 Light" panose="020B0502040204020203" charset="-122"/>
                <a:ea typeface="微软雅黑 Light" panose="020B0502040204020203" charset="-122"/>
                <a:sym typeface="+mn-ea"/>
              </a:rPr>
              <a:t>？</a:t>
            </a:r>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解决方法</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349375" y="1599565"/>
            <a:ext cx="9492615" cy="4078605"/>
          </a:xfrm>
          <a:prstGeom prst="rect">
            <a:avLst/>
          </a:prstGeom>
          <a:noFill/>
        </p:spPr>
        <p:txBody>
          <a:bodyPr wrap="square" rtlCol="0">
            <a:spAutoFit/>
          </a:bodyPr>
          <a:lstStyle/>
          <a:p>
            <a:pPr algn="l">
              <a:lnSpc>
                <a:spcPct val="120000"/>
              </a:lnSpc>
            </a:pPr>
            <a:r>
              <a:rPr sz="2400" dirty="0">
                <a:solidFill>
                  <a:srgbClr val="775480"/>
                </a:solidFill>
                <a:latin typeface="微软雅黑 Light" panose="020B0502040204020203" charset="-122"/>
                <a:ea typeface="微软雅黑 Light" panose="020B0502040204020203" charset="-122"/>
                <a:sym typeface="+mn-ea"/>
              </a:rPr>
              <a:t>1.如何分割？ 两个天线的相位差表现出有趣的特征，但原始信号却不能直接用。基于这个，有一种基于过渡的分隔方法，利用相位差的不同作为特征，在连续捕获的 WiFi 无线信号流中自动分割所有跌倒和类似跌倒的活动</a:t>
            </a:r>
          </a:p>
          <a:p>
            <a:pPr algn="l">
              <a:lnSpc>
                <a:spcPct val="120000"/>
              </a:lnSpc>
            </a:pPr>
            <a:r>
              <a:rPr lang="zh-CN" altLang="en-US" sz="2400" dirty="0">
                <a:solidFill>
                  <a:srgbClr val="775480"/>
                </a:solidFill>
                <a:latin typeface="微软雅黑 Light" panose="020B0502040204020203" charset="-122"/>
                <a:ea typeface="微软雅黑 Light" panose="020B0502040204020203" charset="-122"/>
                <a:sym typeface="+mn-ea"/>
              </a:rPr>
              <a:t>2.如何进一步地区分跌倒和类似跌倒的活动？进行实验，证实了CSI的幅度和相位在时域和频域在发生跌倒活动时的变化。在实验中，发现下降和类似下降的活动以时频域的功率曲线急剧下降而结束。因此可以从 CSI 的振幅和相位信息中提取特征，以区分跌倒和类似跌倒的活动。</a:t>
            </a: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5263515" y="405130"/>
            <a:ext cx="166560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200" dirty="0">
                <a:solidFill>
                  <a:srgbClr val="694B71"/>
                </a:solidFill>
                <a:latin typeface="微软雅黑" panose="020B0503020204020204" pitchFamily="34" charset="-122"/>
                <a:ea typeface="微软雅黑" panose="020B0503020204020204" pitchFamily="34" charset="-122"/>
              </a:rPr>
              <a:t>TR-Fall</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349375" y="1599565"/>
            <a:ext cx="9492615" cy="2306320"/>
          </a:xfrm>
          <a:prstGeom prst="rect">
            <a:avLst/>
          </a:prstGeom>
          <a:noFill/>
        </p:spPr>
        <p:txBody>
          <a:bodyPr wrap="square" rtlCol="0">
            <a:spAutoFit/>
          </a:bodyPr>
          <a:lstStyle/>
          <a:p>
            <a:pPr>
              <a:lnSpc>
                <a:spcPct val="120000"/>
              </a:lnSpc>
            </a:pPr>
            <a:r>
              <a:rPr sz="2400" dirty="0">
                <a:solidFill>
                  <a:srgbClr val="775480"/>
                </a:solidFill>
                <a:latin typeface="微软雅黑 Light" panose="020B0502040204020203" charset="-122"/>
                <a:ea typeface="微软雅黑 Light" panose="020B0502040204020203" charset="-122"/>
                <a:sym typeface="+mn-ea"/>
              </a:rPr>
              <a:t>以上两个</a:t>
            </a:r>
            <a:r>
              <a:rPr lang="zh-CN" sz="2400" dirty="0">
                <a:solidFill>
                  <a:srgbClr val="775480"/>
                </a:solidFill>
                <a:latin typeface="微软雅黑 Light" panose="020B0502040204020203" charset="-122"/>
                <a:ea typeface="微软雅黑 Light" panose="020B0502040204020203" charset="-122"/>
                <a:sym typeface="+mn-ea"/>
              </a:rPr>
              <a:t>解决方案</a:t>
            </a:r>
            <a:r>
              <a:rPr sz="2400" dirty="0">
                <a:solidFill>
                  <a:srgbClr val="775480"/>
                </a:solidFill>
                <a:latin typeface="微软雅黑 Light" panose="020B0502040204020203" charset="-122"/>
                <a:ea typeface="微软雅黑 Light" panose="020B0502040204020203" charset="-122"/>
                <a:sym typeface="+mn-ea"/>
              </a:rPr>
              <a:t>，设计了一个实时，非侵入式的跌倒检测器 RT-Fall 它的检测主要包含两个阶段：1.以相位差的不同作为基础信号，设计了一套滤波和信号处理技术，可以在连续捕获的 WiFi 无线信号流中的robustly地分割出跌倒和类似跌倒样活动。2. 提取了一组时域和频域的性特征，支持向量机区分真实跌倒和跌倒类的活动。</a:t>
            </a:r>
          </a:p>
        </p:txBody>
      </p:sp>
      <p:sp>
        <p:nvSpPr>
          <p:cNvPr id="2" name="文本框 1"/>
          <p:cNvSpPr txBox="1"/>
          <p:nvPr/>
        </p:nvSpPr>
        <p:spPr>
          <a:xfrm>
            <a:off x="1350010" y="4021455"/>
            <a:ext cx="9492615" cy="2194560"/>
          </a:xfrm>
          <a:prstGeom prst="rect">
            <a:avLst/>
          </a:prstGeom>
          <a:noFill/>
          <a:ln w="9525">
            <a:noFill/>
          </a:ln>
        </p:spPr>
        <p:txBody>
          <a:bodyPr wrap="square">
            <a:spAutoFit/>
          </a:bodyPr>
          <a:lstStyle/>
          <a:p>
            <a:pPr indent="0" fontAlgn="auto">
              <a:lnSpc>
                <a:spcPts val="3280"/>
              </a:lnSpc>
            </a:pPr>
            <a:r>
              <a:rPr sz="2400" b="0" dirty="0">
                <a:solidFill>
                  <a:srgbClr val="775480"/>
                </a:solidFill>
                <a:latin typeface="微软雅黑 Light" panose="020B0502040204020203" charset="-122"/>
                <a:ea typeface="微软雅黑 Light" panose="020B0502040204020203" charset="-122"/>
              </a:rPr>
              <a:t>主要贡献：1 第一个在真实环境中用商用wifi设备检测跌倒的工作。</a:t>
            </a:r>
          </a:p>
          <a:p>
            <a:pPr indent="0" fontAlgn="auto">
              <a:lnSpc>
                <a:spcPts val="3280"/>
              </a:lnSpc>
            </a:pPr>
            <a:r>
              <a:rPr sz="2400" b="0" dirty="0">
                <a:solidFill>
                  <a:srgbClr val="775480"/>
                </a:solidFill>
                <a:latin typeface="微软雅黑 Light" panose="020B0502040204020203" charset="-122"/>
                <a:ea typeface="微软雅黑 Light" panose="020B0502040204020203" charset="-122"/>
              </a:rPr>
              <a:t>2 第一个将CSI天线的相位差确认为为比振幅更好的基信号</a:t>
            </a:r>
          </a:p>
          <a:p>
            <a:pPr indent="0" fontAlgn="auto">
              <a:lnSpc>
                <a:spcPts val="3280"/>
              </a:lnSpc>
            </a:pPr>
            <a:r>
              <a:rPr sz="2400" b="0" dirty="0">
                <a:solidFill>
                  <a:srgbClr val="775480"/>
                </a:solidFill>
                <a:latin typeface="微软雅黑 Light" panose="020B0502040204020203" charset="-122"/>
                <a:ea typeface="微软雅黑 Light" panose="020B0502040204020203" charset="-122"/>
              </a:rPr>
              <a:t>3 发现了时频域中在跌倒情况下的剧烈的功率下降模式，</a:t>
            </a:r>
          </a:p>
          <a:p>
            <a:pPr indent="0" fontAlgn="auto">
              <a:lnSpc>
                <a:spcPts val="3280"/>
              </a:lnSpc>
            </a:pPr>
            <a:r>
              <a:rPr sz="2400" b="0" dirty="0">
                <a:solidFill>
                  <a:srgbClr val="775480"/>
                </a:solidFill>
                <a:latin typeface="微软雅黑 Light" panose="020B0502040204020203" charset="-122"/>
                <a:ea typeface="微软雅黑 Light" panose="020B0502040204020203" charset="-122"/>
              </a:rPr>
              <a:t>4 在商用 WiFi 设备上设计并实施了实时活动分割和跌倒检测系统 RT-Fall，</a:t>
            </a:r>
          </a:p>
        </p:txBody>
      </p:sp>
    </p:spTree>
    <p:custDataLst>
      <p:tags r:id="rId1"/>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blip>
          <a:srcRect/>
          <a:stretch>
            <a:fillRect l="-5000" r="-5000"/>
          </a:stretch>
        </a:blipFill>
        <a:effectLst/>
      </p:bgPr>
    </p:bg>
    <p:spTree>
      <p:nvGrpSpPr>
        <p:cNvPr id="1" name=""/>
        <p:cNvGrpSpPr/>
        <p:nvPr/>
      </p:nvGrpSpPr>
      <p:grpSpPr>
        <a:xfrm>
          <a:off x="0" y="0"/>
          <a:ext cx="0" cy="0"/>
          <a:chOff x="0" y="0"/>
          <a:chExt cx="0" cy="0"/>
        </a:xfrm>
      </p:grpSpPr>
      <p:pic>
        <p:nvPicPr>
          <p:cNvPr id="2" name="图片 1" descr="0 (34)"/>
          <p:cNvPicPr/>
          <p:nvPr/>
        </p:nvPicPr>
        <p:blipFill>
          <a:blip r:embed="rId4"/>
          <a:stretch>
            <a:fillRect/>
          </a:stretch>
        </p:blipFill>
        <p:spPr>
          <a:xfrm>
            <a:off x="2006892" y="610890"/>
            <a:ext cx="2160000" cy="2160000"/>
          </a:xfrm>
          <a:prstGeom prst="ellipse">
            <a:avLst/>
          </a:prstGeom>
          <a:ln w="95250" cmpd="sng">
            <a:gradFill>
              <a:gsLst>
                <a:gs pos="0">
                  <a:schemeClr val="bg1"/>
                </a:gs>
                <a:gs pos="41000">
                  <a:srgbClr val="7E6BC4"/>
                </a:gs>
                <a:gs pos="100000">
                  <a:srgbClr val="EBC6FF"/>
                </a:gs>
                <a:gs pos="100000">
                  <a:srgbClr val="C3BEF0"/>
                </a:gs>
              </a:gsLst>
              <a:lin ang="5400000" scaled="1"/>
            </a:gradFill>
            <a:prstDash val="solid"/>
          </a:ln>
        </p:spPr>
      </p:pic>
      <p:pic>
        <p:nvPicPr>
          <p:cNvPr id="4" name="图片 3" descr="0 (59)"/>
          <p:cNvPicPr/>
          <p:nvPr/>
        </p:nvPicPr>
        <p:blipFill>
          <a:blip r:embed="rId5"/>
          <a:srcRect l="1736" t="513" r="34943" b="5888"/>
          <a:stretch>
            <a:fillRect/>
          </a:stretch>
        </p:blipFill>
        <p:spPr>
          <a:xfrm>
            <a:off x="2484902" y="4819265"/>
            <a:ext cx="1800000" cy="1800000"/>
          </a:xfrm>
          <a:prstGeom prst="ellipse">
            <a:avLst/>
          </a:prstGeom>
          <a:ln w="95250" cmpd="sng">
            <a:gradFill>
              <a:gsLst>
                <a:gs pos="0">
                  <a:srgbClr val="C3BEF0"/>
                </a:gs>
                <a:gs pos="80000">
                  <a:srgbClr val="B599E2"/>
                </a:gs>
                <a:gs pos="39000">
                  <a:srgbClr val="EBC6FF"/>
                </a:gs>
                <a:gs pos="100000">
                  <a:srgbClr val="7E6BC4"/>
                </a:gs>
              </a:gsLst>
              <a:lin ang="2640000" scaled="1"/>
            </a:gradFill>
            <a:prstDash val="solid"/>
          </a:ln>
        </p:spPr>
      </p:pic>
      <p:pic>
        <p:nvPicPr>
          <p:cNvPr id="3" name="图片 2" descr="0 (35)"/>
          <p:cNvPicPr preferRelativeResize="0"/>
          <p:nvPr/>
        </p:nvPicPr>
        <p:blipFill>
          <a:blip r:embed="rId6"/>
          <a:stretch>
            <a:fillRect/>
          </a:stretch>
        </p:blipFill>
        <p:spPr>
          <a:xfrm>
            <a:off x="232849" y="2535078"/>
            <a:ext cx="2520000" cy="2520000"/>
          </a:xfrm>
          <a:prstGeom prst="ellipse">
            <a:avLst/>
          </a:prstGeom>
          <a:ln w="95250">
            <a:gradFill>
              <a:gsLst>
                <a:gs pos="0">
                  <a:schemeClr val="bg1"/>
                </a:gs>
                <a:gs pos="31000">
                  <a:srgbClr val="7E6BC4">
                    <a:lumMod val="97000"/>
                  </a:srgbClr>
                </a:gs>
                <a:gs pos="100000">
                  <a:srgbClr val="EBC6FF"/>
                </a:gs>
                <a:gs pos="100000">
                  <a:srgbClr val="C3BEF0"/>
                </a:gs>
              </a:gsLst>
              <a:lin ang="5400000" scaled="1"/>
            </a:gradFill>
          </a:ln>
        </p:spPr>
      </p:pic>
      <p:sp>
        <p:nvSpPr>
          <p:cNvPr id="13" name="任意多边形 12"/>
          <p:cNvSpPr/>
          <p:nvPr/>
        </p:nvSpPr>
        <p:spPr>
          <a:xfrm rot="16740000">
            <a:off x="2910000" y="1597989"/>
            <a:ext cx="6372000" cy="3672000"/>
          </a:xfrm>
          <a:custGeom>
            <a:avLst/>
            <a:gdLst>
              <a:gd name="connsiteX0" fmla="*/ 0 w 9693"/>
              <a:gd name="connsiteY0" fmla="*/ 4808 h 5354"/>
              <a:gd name="connsiteX1" fmla="*/ 5005 w 9693"/>
              <a:gd name="connsiteY1" fmla="*/ 0 h 5354"/>
              <a:gd name="connsiteX2" fmla="*/ 9693 w 9693"/>
              <a:gd name="connsiteY2" fmla="*/ 3000 h 5354"/>
              <a:gd name="connsiteX3" fmla="*/ 9605 w 9693"/>
              <a:gd name="connsiteY3" fmla="*/ 3041 h 5354"/>
              <a:gd name="connsiteX4" fmla="*/ 5004 w 9693"/>
              <a:gd name="connsiteY4" fmla="*/ 97 h 5354"/>
              <a:gd name="connsiteX5" fmla="*/ 72 w 9693"/>
              <a:gd name="connsiteY5" fmla="*/ 5354 h 5354"/>
              <a:gd name="connsiteX6" fmla="*/ 0 w 9693"/>
              <a:gd name="connsiteY6" fmla="*/ 4808 h 5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93" h="5354">
                <a:moveTo>
                  <a:pt x="0" y="4808"/>
                </a:moveTo>
                <a:cubicBezTo>
                  <a:pt x="0" y="2002"/>
                  <a:pt x="2168" y="0"/>
                  <a:pt x="5005" y="0"/>
                </a:cubicBezTo>
                <a:cubicBezTo>
                  <a:pt x="7093" y="0"/>
                  <a:pt x="8890" y="1232"/>
                  <a:pt x="9693" y="3000"/>
                </a:cubicBezTo>
                <a:lnTo>
                  <a:pt x="9605" y="3041"/>
                </a:lnTo>
                <a:cubicBezTo>
                  <a:pt x="8817" y="1306"/>
                  <a:pt x="7053" y="97"/>
                  <a:pt x="5004" y="97"/>
                </a:cubicBezTo>
                <a:cubicBezTo>
                  <a:pt x="2220" y="97"/>
                  <a:pt x="72" y="2602"/>
                  <a:pt x="72" y="5354"/>
                </a:cubicBezTo>
                <a:lnTo>
                  <a:pt x="0" y="4808"/>
                </a:lnTo>
                <a:close/>
              </a:path>
            </a:pathLst>
          </a:custGeom>
          <a:gradFill>
            <a:gsLst>
              <a:gs pos="0">
                <a:schemeClr val="accent1">
                  <a:lumMod val="10000"/>
                  <a:lumOff val="90000"/>
                </a:schemeClr>
              </a:gs>
              <a:gs pos="0">
                <a:srgbClr val="7E6BC4"/>
              </a:gs>
              <a:gs pos="54000">
                <a:srgbClr val="EBC6FF">
                  <a:alpha val="43000"/>
                </a:srgbClr>
              </a:gs>
              <a:gs pos="100000">
                <a:srgbClr val="C3BEF0"/>
              </a:gs>
            </a:gsLst>
            <a:lin ang="2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25" name="组合 24"/>
          <p:cNvGrpSpPr/>
          <p:nvPr/>
        </p:nvGrpSpPr>
        <p:grpSpPr>
          <a:xfrm>
            <a:off x="5940935" y="2275205"/>
            <a:ext cx="540000" cy="540000"/>
            <a:chOff x="980" y="3997"/>
            <a:chExt cx="850" cy="850"/>
          </a:xfrm>
          <a:gradFill>
            <a:gsLst>
              <a:gs pos="0">
                <a:schemeClr val="accent1">
                  <a:lumMod val="5000"/>
                  <a:lumOff val="95000"/>
                </a:schemeClr>
              </a:gs>
              <a:gs pos="0">
                <a:srgbClr val="7E6BC4"/>
              </a:gs>
              <a:gs pos="50000">
                <a:srgbClr val="EBC6FF"/>
              </a:gs>
              <a:gs pos="100000">
                <a:srgbClr val="C3BEF0"/>
              </a:gs>
            </a:gsLst>
            <a:lin ang="2280000" scaled="0"/>
          </a:gradFill>
        </p:grpSpPr>
        <p:sp>
          <p:nvSpPr>
            <p:cNvPr id="27" name="流程图: 联系 26"/>
            <p:cNvSpPr/>
            <p:nvPr/>
          </p:nvSpPr>
          <p:spPr>
            <a:xfrm>
              <a:off x="980" y="3997"/>
              <a:ext cx="850" cy="850"/>
            </a:xfrm>
            <a:prstGeom prst="flowChartConnec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161" y="4132"/>
              <a:ext cx="488" cy="580"/>
            </a:xfrm>
            <a:prstGeom prst="rect">
              <a:avLst/>
            </a:prstGeom>
            <a:grpFill/>
          </p:spPr>
          <p:txBody>
            <a:bodyPr wrap="none" rtlCol="0">
              <a:spAutoFit/>
            </a:bodyPr>
            <a:lstStyle/>
            <a:p>
              <a:pPr algn="ctr"/>
              <a:r>
                <a:rPr lang="en-US" altLang="zh-CN" b="1">
                  <a:solidFill>
                    <a:schemeClr val="bg1"/>
                  </a:solidFill>
                </a:rPr>
                <a:t>1</a:t>
              </a:r>
            </a:p>
          </p:txBody>
        </p:sp>
      </p:grpSp>
      <p:sp>
        <p:nvSpPr>
          <p:cNvPr id="29" name="文本框 28"/>
          <p:cNvSpPr txBox="1"/>
          <p:nvPr/>
        </p:nvSpPr>
        <p:spPr>
          <a:xfrm>
            <a:off x="6773544" y="345758"/>
            <a:ext cx="1798955" cy="829945"/>
          </a:xfrm>
          <a:prstGeom prst="rect">
            <a:avLst/>
          </a:prstGeom>
          <a:noFill/>
        </p:spPr>
        <p:txBody>
          <a:bodyPr wrap="square" rtlCol="0">
            <a:spAutoFit/>
          </a:bodyPr>
          <a:lstStyle/>
          <a:p>
            <a:pPr algn="dist"/>
            <a:r>
              <a:rPr lang="zh-CN" altLang="en-US" sz="4800" dirty="0">
                <a:solidFill>
                  <a:srgbClr val="694B71"/>
                </a:solidFill>
                <a:latin typeface="微软雅黑" panose="020B0503020204020204" pitchFamily="34" charset="-122"/>
                <a:ea typeface="微软雅黑" panose="020B0503020204020204" pitchFamily="34" charset="-122"/>
                <a:sym typeface="+mn-ea"/>
              </a:rPr>
              <a:t>目录</a:t>
            </a:r>
            <a:endParaRPr lang="zh-CN" altLang="en-US" sz="4800" dirty="0">
              <a:solidFill>
                <a:srgbClr val="694B7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a:off x="6841343" y="1116033"/>
            <a:ext cx="2597808" cy="523220"/>
          </a:xfrm>
          <a:prstGeom prst="rect">
            <a:avLst/>
          </a:prstGeom>
          <a:noFill/>
        </p:spPr>
        <p:txBody>
          <a:bodyPr wrap="square" rtlCol="0">
            <a:spAutoFit/>
          </a:bodyPr>
          <a:lstStyle/>
          <a:p>
            <a:pPr algn="dist"/>
            <a:r>
              <a:rPr lang="en-US" altLang="zh-CN" sz="2800" dirty="0">
                <a:solidFill>
                  <a:srgbClr val="7C5886"/>
                </a:solidFill>
                <a:latin typeface="微软雅黑" panose="020B0503020204020204" pitchFamily="34" charset="-122"/>
                <a:ea typeface="微软雅黑" panose="020B0503020204020204" pitchFamily="34" charset="-122"/>
              </a:rPr>
              <a:t>CONTENT</a:t>
            </a:r>
          </a:p>
        </p:txBody>
      </p:sp>
      <p:grpSp>
        <p:nvGrpSpPr>
          <p:cNvPr id="31" name="组合 30"/>
          <p:cNvGrpSpPr/>
          <p:nvPr/>
        </p:nvGrpSpPr>
        <p:grpSpPr>
          <a:xfrm>
            <a:off x="5940935" y="3547360"/>
            <a:ext cx="540000" cy="539750"/>
            <a:chOff x="980" y="3997"/>
            <a:chExt cx="850" cy="850"/>
          </a:xfrm>
          <a:gradFill>
            <a:gsLst>
              <a:gs pos="0">
                <a:schemeClr val="accent1">
                  <a:lumMod val="5000"/>
                  <a:lumOff val="95000"/>
                </a:schemeClr>
              </a:gs>
              <a:gs pos="0">
                <a:srgbClr val="7E6BC4"/>
              </a:gs>
              <a:gs pos="50000">
                <a:srgbClr val="EBC6FF"/>
              </a:gs>
              <a:gs pos="100000">
                <a:srgbClr val="C3BEF0"/>
              </a:gs>
            </a:gsLst>
            <a:lin ang="2280000" scaled="0"/>
          </a:gradFill>
        </p:grpSpPr>
        <p:sp>
          <p:nvSpPr>
            <p:cNvPr id="32" name="流程图: 联系 31"/>
            <p:cNvSpPr/>
            <p:nvPr/>
          </p:nvSpPr>
          <p:spPr>
            <a:xfrm>
              <a:off x="980" y="3997"/>
              <a:ext cx="850" cy="850"/>
            </a:xfrm>
            <a:prstGeom prst="flowChartConnec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1161" y="4132"/>
              <a:ext cx="488" cy="580"/>
            </a:xfrm>
            <a:prstGeom prst="rect">
              <a:avLst/>
            </a:prstGeom>
            <a:grpFill/>
          </p:spPr>
          <p:txBody>
            <a:bodyPr wrap="none" rtlCol="0">
              <a:spAutoFit/>
            </a:bodyPr>
            <a:lstStyle/>
            <a:p>
              <a:pPr algn="ctr"/>
              <a:r>
                <a:rPr lang="en-US" altLang="zh-CN" b="1">
                  <a:solidFill>
                    <a:schemeClr val="bg1"/>
                  </a:solidFill>
                </a:rPr>
                <a:t>2</a:t>
              </a:r>
            </a:p>
          </p:txBody>
        </p:sp>
      </p:grpSp>
      <p:grpSp>
        <p:nvGrpSpPr>
          <p:cNvPr id="34" name="组合 33"/>
          <p:cNvGrpSpPr/>
          <p:nvPr/>
        </p:nvGrpSpPr>
        <p:grpSpPr>
          <a:xfrm>
            <a:off x="5940935" y="4819265"/>
            <a:ext cx="540000" cy="539750"/>
            <a:chOff x="980" y="3997"/>
            <a:chExt cx="850" cy="850"/>
          </a:xfrm>
          <a:gradFill>
            <a:gsLst>
              <a:gs pos="0">
                <a:schemeClr val="accent1">
                  <a:lumMod val="5000"/>
                  <a:lumOff val="95000"/>
                </a:schemeClr>
              </a:gs>
              <a:gs pos="0">
                <a:srgbClr val="7E6BC4"/>
              </a:gs>
              <a:gs pos="50000">
                <a:srgbClr val="EBC6FF"/>
              </a:gs>
              <a:gs pos="100000">
                <a:srgbClr val="C3BEF0"/>
              </a:gs>
            </a:gsLst>
            <a:lin ang="2280000" scaled="0"/>
          </a:gradFill>
        </p:grpSpPr>
        <p:sp>
          <p:nvSpPr>
            <p:cNvPr id="35" name="流程图: 联系 34"/>
            <p:cNvSpPr/>
            <p:nvPr/>
          </p:nvSpPr>
          <p:spPr>
            <a:xfrm>
              <a:off x="980" y="3997"/>
              <a:ext cx="850" cy="850"/>
            </a:xfrm>
            <a:prstGeom prst="flowChartConnector">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1161" y="4132"/>
              <a:ext cx="488" cy="580"/>
            </a:xfrm>
            <a:prstGeom prst="rect">
              <a:avLst/>
            </a:prstGeom>
            <a:grpFill/>
          </p:spPr>
          <p:txBody>
            <a:bodyPr wrap="none" rtlCol="0">
              <a:spAutoFit/>
            </a:bodyPr>
            <a:lstStyle/>
            <a:p>
              <a:pPr algn="ctr"/>
              <a:r>
                <a:rPr lang="en-US" altLang="zh-CN" b="1">
                  <a:solidFill>
                    <a:schemeClr val="bg1"/>
                  </a:solidFill>
                </a:rPr>
                <a:t>3</a:t>
              </a:r>
            </a:p>
          </p:txBody>
        </p:sp>
      </p:grpSp>
      <p:sp>
        <p:nvSpPr>
          <p:cNvPr id="6" name="文本框 5"/>
          <p:cNvSpPr txBox="1"/>
          <p:nvPr/>
        </p:nvSpPr>
        <p:spPr>
          <a:xfrm>
            <a:off x="6590665" y="2275205"/>
            <a:ext cx="3696335" cy="523220"/>
          </a:xfrm>
          <a:prstGeom prst="rect">
            <a:avLst/>
          </a:prstGeom>
          <a:noFill/>
        </p:spPr>
        <p:txBody>
          <a:bodyPr wrap="square" rtlCol="0">
            <a:spAutoFit/>
          </a:bodyPr>
          <a:lstStyle/>
          <a:p>
            <a:pPr algn="dist"/>
            <a:r>
              <a:rPr lang="zh-CN" altLang="en-US" sz="2800" dirty="0">
                <a:solidFill>
                  <a:srgbClr val="7C5886"/>
                </a:solidFill>
                <a:latin typeface="微软雅黑" panose="020B0503020204020204" pitchFamily="34" charset="-122"/>
                <a:ea typeface="微软雅黑" panose="020B0503020204020204" pitchFamily="34" charset="-122"/>
                <a:sym typeface="+mn-ea"/>
              </a:rPr>
              <a:t>请在此处输入标题</a:t>
            </a:r>
          </a:p>
        </p:txBody>
      </p:sp>
      <p:sp>
        <p:nvSpPr>
          <p:cNvPr id="20" name="文本框 19"/>
          <p:cNvSpPr txBox="1"/>
          <p:nvPr/>
        </p:nvSpPr>
        <p:spPr>
          <a:xfrm>
            <a:off x="6590664" y="4835795"/>
            <a:ext cx="3696335" cy="523220"/>
          </a:xfrm>
          <a:prstGeom prst="rect">
            <a:avLst/>
          </a:prstGeom>
          <a:noFill/>
        </p:spPr>
        <p:txBody>
          <a:bodyPr wrap="square" rtlCol="0">
            <a:spAutoFit/>
          </a:bodyPr>
          <a:lstStyle/>
          <a:p>
            <a:pPr algn="dist"/>
            <a:r>
              <a:rPr lang="zh-CN" altLang="en-US" sz="2800" dirty="0">
                <a:solidFill>
                  <a:srgbClr val="7C5886"/>
                </a:solidFill>
                <a:latin typeface="微软雅黑" panose="020B0503020204020204" pitchFamily="34" charset="-122"/>
                <a:ea typeface="微软雅黑" panose="020B0503020204020204" pitchFamily="34" charset="-122"/>
                <a:sym typeface="+mn-ea"/>
              </a:rPr>
              <a:t>请在此处输入标题</a:t>
            </a:r>
          </a:p>
        </p:txBody>
      </p:sp>
      <p:sp>
        <p:nvSpPr>
          <p:cNvPr id="21" name="文本框 20"/>
          <p:cNvSpPr txBox="1"/>
          <p:nvPr/>
        </p:nvSpPr>
        <p:spPr>
          <a:xfrm>
            <a:off x="6590664" y="3563890"/>
            <a:ext cx="3696335" cy="523220"/>
          </a:xfrm>
          <a:prstGeom prst="rect">
            <a:avLst/>
          </a:prstGeom>
          <a:noFill/>
        </p:spPr>
        <p:txBody>
          <a:bodyPr wrap="square" rtlCol="0">
            <a:spAutoFit/>
          </a:bodyPr>
          <a:lstStyle/>
          <a:p>
            <a:pPr algn="dist"/>
            <a:r>
              <a:rPr lang="zh-CN" altLang="en-US" sz="2800" dirty="0">
                <a:solidFill>
                  <a:srgbClr val="7C5886"/>
                </a:solidFill>
                <a:latin typeface="微软雅黑" panose="020B0503020204020204" pitchFamily="34" charset="-122"/>
                <a:ea typeface="微软雅黑" panose="020B0503020204020204" pitchFamily="34" charset="-122"/>
                <a:sym typeface="+mn-ea"/>
              </a:rPr>
              <a:t>请在此处输入标题</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30880" cy="1014730"/>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相关研究</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38" cy="919"/>
            </a:xfrm>
            <a:prstGeom prst="rect">
              <a:avLst/>
            </a:prstGeom>
            <a:noFill/>
          </p:spPr>
          <p:txBody>
            <a:bodyPr wrap="none" rtlCol="0">
              <a:spAutoFit/>
            </a:bodyPr>
            <a:lstStyle/>
            <a:p>
              <a:r>
                <a:rPr lang="en-US" altLang="zh-CN" sz="3200">
                  <a:solidFill>
                    <a:schemeClr val="bg1"/>
                  </a:solidFill>
                  <a:latin typeface="微软雅黑" panose="020B0503020204020204" pitchFamily="34" charset="-122"/>
                  <a:ea typeface="微软雅黑" panose="020B0503020204020204" pitchFamily="34" charset="-122"/>
                </a:rPr>
                <a:t>01</a:t>
              </a:r>
            </a:p>
          </p:txBody>
        </p:sp>
      </p:grpSp>
      <p:sp>
        <p:nvSpPr>
          <p:cNvPr id="13" name="文本框 12"/>
          <p:cNvSpPr txBox="1"/>
          <p:nvPr/>
        </p:nvSpPr>
        <p:spPr>
          <a:xfrm>
            <a:off x="4067810" y="4227695"/>
            <a:ext cx="4054475" cy="460375"/>
          </a:xfrm>
          <a:prstGeom prst="rect">
            <a:avLst/>
          </a:prstGeom>
          <a:noFill/>
        </p:spPr>
        <p:txBody>
          <a:bodyPr wrap="square" rtlCol="0">
            <a:spAutoFit/>
          </a:bodyPr>
          <a:lstStyle/>
          <a:p>
            <a:pPr algn="ctr"/>
            <a:r>
              <a:rPr lang="zh-CN" altLang="en-US" sz="2400" dirty="0">
                <a:solidFill>
                  <a:srgbClr val="694B71">
                    <a:alpha val="90000"/>
                  </a:srgbClr>
                </a:solidFill>
                <a:latin typeface="微软雅黑 Light" panose="020B0502040204020203" charset="-122"/>
                <a:ea typeface="微软雅黑 Light" panose="020B0502040204020203" charset="-122"/>
              </a:rPr>
              <a:t>请替换文字内容</a:t>
            </a:r>
          </a:p>
        </p:txBody>
      </p:sp>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pic>
        <p:nvPicPr>
          <p:cNvPr id="4" name="图片 3" descr="D:\Downloads\js452078-fig-0002c-m.jpgjs452078-fig-0002c-m"/>
          <p:cNvPicPr preferRelativeResize="0"/>
          <p:nvPr/>
        </p:nvPicPr>
        <p:blipFill>
          <a:blip r:embed="rId6"/>
          <a:srcRect/>
          <a:stretch>
            <a:fillRect/>
          </a:stretch>
        </p:blipFill>
        <p:spPr>
          <a:xfrm>
            <a:off x="885825" y="1954530"/>
            <a:ext cx="2623185" cy="2948940"/>
          </a:xfrm>
          <a:prstGeom prst="rect">
            <a:avLst/>
          </a:prstGeom>
        </p:spPr>
      </p:pic>
      <p:sp>
        <p:nvSpPr>
          <p:cNvPr id="17" name="标题 1"/>
          <p:cNvSpPr txBox="1"/>
          <p:nvPr>
            <p:custDataLst>
              <p:tags r:id="rId2"/>
            </p:custDataLst>
          </p:nvPr>
        </p:nvSpPr>
        <p:spPr>
          <a:xfrm>
            <a:off x="3695065" y="313055"/>
            <a:ext cx="498792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基于可穿戴传感器的系统</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88193"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sym typeface="+mn-ea"/>
              </a:rPr>
              <a:t>陀螺仪</a:t>
            </a:r>
          </a:p>
        </p:txBody>
      </p:sp>
      <p:sp>
        <p:nvSpPr>
          <p:cNvPr id="25" name="文本框 24"/>
          <p:cNvSpPr txBox="1"/>
          <p:nvPr/>
        </p:nvSpPr>
        <p:spPr>
          <a:xfrm>
            <a:off x="8793968"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气压传感器</a:t>
            </a:r>
          </a:p>
        </p:txBody>
      </p:sp>
      <p:sp>
        <p:nvSpPr>
          <p:cNvPr id="26" name="文本框 25"/>
          <p:cNvSpPr txBox="1"/>
          <p:nvPr/>
        </p:nvSpPr>
        <p:spPr>
          <a:xfrm>
            <a:off x="4766797" y="5044482"/>
            <a:ext cx="2658403" cy="534035"/>
          </a:xfrm>
          <a:prstGeom prst="rect">
            <a:avLst/>
          </a:prstGeom>
          <a:noFill/>
        </p:spPr>
        <p:txBody>
          <a:bodyPr wrap="square" rtlCol="0">
            <a:spAutoFit/>
          </a:bodyPr>
          <a:lstStyle/>
          <a:p>
            <a:pPr algn="ctr">
              <a:lnSpc>
                <a:spcPct val="120000"/>
              </a:lnSpc>
            </a:pPr>
            <a:r>
              <a:rPr lang="en-US" altLang="zh-CN" sz="2400" dirty="0">
                <a:solidFill>
                  <a:srgbClr val="775480"/>
                </a:solidFill>
                <a:latin typeface="微软雅黑 Light" panose="020B0502040204020203" charset="-122"/>
                <a:ea typeface="微软雅黑 Light" panose="020B0502040204020203" charset="-122"/>
              </a:rPr>
              <a:t>RFID</a:t>
            </a:r>
          </a:p>
        </p:txBody>
      </p:sp>
      <p:pic>
        <p:nvPicPr>
          <p:cNvPr id="5" name="图片 4"/>
          <p:cNvPicPr>
            <a:picLocks noChangeAspect="1"/>
          </p:cNvPicPr>
          <p:nvPr/>
        </p:nvPicPr>
        <p:blipFill>
          <a:blip r:embed="rId7"/>
          <a:stretch>
            <a:fillRect/>
          </a:stretch>
        </p:blipFill>
        <p:spPr>
          <a:xfrm>
            <a:off x="8255635" y="2282825"/>
            <a:ext cx="4043680" cy="2291715"/>
          </a:xfrm>
          <a:prstGeom prst="rect">
            <a:avLst/>
          </a:prstGeom>
        </p:spPr>
      </p:pic>
      <p:pic>
        <p:nvPicPr>
          <p:cNvPr id="6" name="图片 5"/>
          <p:cNvPicPr>
            <a:picLocks noChangeAspect="1"/>
          </p:cNvPicPr>
          <p:nvPr/>
        </p:nvPicPr>
        <p:blipFill>
          <a:blip r:embed="rId8"/>
          <a:stretch>
            <a:fillRect/>
          </a:stretch>
        </p:blipFill>
        <p:spPr>
          <a:xfrm>
            <a:off x="3588385" y="1954530"/>
            <a:ext cx="4429125" cy="2887980"/>
          </a:xfrm>
          <a:prstGeom prst="rect">
            <a:avLst/>
          </a:prstGeom>
        </p:spPr>
      </p:pic>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solidFill>
                  <a:srgbClr val="694B71"/>
                </a:solidFill>
                <a:latin typeface="微软雅黑" panose="020B0503020204020204" pitchFamily="34" charset="-122"/>
                <a:ea typeface="微软雅黑" panose="020B0503020204020204" pitchFamily="34" charset="-122"/>
                <a:sym typeface="+mn-ea"/>
              </a:rPr>
              <a:t>Limitation: These systems can only work when sensors are worn by the user. However, the always-on-body requirement makes the subject difficult to comply with,</a:t>
            </a:r>
            <a:endParaRPr lang="zh-CN" altLang="en-US" dirty="0">
              <a:solidFill>
                <a:srgbClr val="694B71"/>
              </a:solidFill>
              <a:latin typeface="微软雅黑" panose="020B0503020204020204" pitchFamily="34" charset="-122"/>
              <a:ea typeface="微软雅黑" panose="020B0503020204020204" pitchFamily="34" charset="-122"/>
            </a:endParaRPr>
          </a:p>
          <a:p>
            <a:endParaRPr lang="zh-CN" altLang="en-US"/>
          </a:p>
        </p:txBody>
      </p:sp>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49725" y="313055"/>
            <a:ext cx="389191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基于环境设备的检测</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88193"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sym typeface="+mn-ea"/>
              </a:rPr>
              <a:t>音频噪声</a:t>
            </a:r>
          </a:p>
        </p:txBody>
      </p:sp>
      <p:sp>
        <p:nvSpPr>
          <p:cNvPr id="25" name="文本框 24"/>
          <p:cNvSpPr txBox="1"/>
          <p:nvPr/>
        </p:nvSpPr>
        <p:spPr>
          <a:xfrm>
            <a:off x="8793968"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红外传感数据</a:t>
            </a:r>
          </a:p>
        </p:txBody>
      </p:sp>
      <p:sp>
        <p:nvSpPr>
          <p:cNvPr id="26" name="文本框 25"/>
          <p:cNvSpPr txBox="1"/>
          <p:nvPr/>
        </p:nvSpPr>
        <p:spPr>
          <a:xfrm>
            <a:off x="4766797" y="5044482"/>
            <a:ext cx="2658403" cy="534035"/>
          </a:xfrm>
          <a:prstGeom prst="rect">
            <a:avLst/>
          </a:prstGeom>
          <a:noFill/>
        </p:spPr>
        <p:txBody>
          <a:bodyPr wrap="square" rtlCol="0">
            <a:spAutoFit/>
          </a:bodyPr>
          <a:lstStyle/>
          <a:p>
            <a:pPr algn="ctr">
              <a:lnSpc>
                <a:spcPct val="120000"/>
              </a:lnSpc>
            </a:pPr>
            <a:r>
              <a:rPr lang="en-US" altLang="zh-CN" sz="2400" dirty="0">
                <a:solidFill>
                  <a:srgbClr val="775480"/>
                </a:solidFill>
                <a:latin typeface="微软雅黑 Light" panose="020B0502040204020203" charset="-122"/>
                <a:ea typeface="微软雅黑 Light" panose="020B0502040204020203" charset="-122"/>
              </a:rPr>
              <a:t>地板振动</a:t>
            </a:r>
          </a:p>
        </p:txBody>
      </p:sp>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solidFill>
                  <a:srgbClr val="694B71"/>
                </a:solidFill>
                <a:latin typeface="微软雅黑" panose="020B0503020204020204" pitchFamily="34" charset="-122"/>
                <a:ea typeface="微软雅黑" panose="020B0503020204020204" pitchFamily="34" charset="-122"/>
                <a:sym typeface="+mn-ea"/>
              </a:rPr>
              <a:t>Limitation: These systems can only work when sensors are worn by the user. However, the always-on-body requirement makes the subject difficult to comply with,</a:t>
            </a:r>
            <a:endParaRPr lang="zh-CN" altLang="en-US" dirty="0">
              <a:solidFill>
                <a:srgbClr val="694B71"/>
              </a:solidFill>
              <a:latin typeface="微软雅黑" panose="020B0503020204020204" pitchFamily="34" charset="-122"/>
              <a:ea typeface="微软雅黑" panose="020B0503020204020204" pitchFamily="34" charset="-122"/>
            </a:endParaRPr>
          </a:p>
          <a:p>
            <a:endParaRPr lang="zh-CN" altLang="en-US"/>
          </a:p>
        </p:txBody>
      </p:sp>
      <p:pic>
        <p:nvPicPr>
          <p:cNvPr id="8" name="图片 7" descr="1684511-fig-5-source-large"/>
          <p:cNvPicPr>
            <a:picLocks noChangeAspect="1"/>
          </p:cNvPicPr>
          <p:nvPr/>
        </p:nvPicPr>
        <p:blipFill>
          <a:blip r:embed="rId6"/>
          <a:stretch>
            <a:fillRect/>
          </a:stretch>
        </p:blipFill>
        <p:spPr>
          <a:xfrm>
            <a:off x="4230370" y="2331720"/>
            <a:ext cx="3923030" cy="2373630"/>
          </a:xfrm>
          <a:prstGeom prst="rect">
            <a:avLst/>
          </a:prstGeom>
        </p:spPr>
      </p:pic>
      <p:pic>
        <p:nvPicPr>
          <p:cNvPr id="2" name="图片 1"/>
          <p:cNvPicPr>
            <a:picLocks noChangeAspect="1"/>
          </p:cNvPicPr>
          <p:nvPr/>
        </p:nvPicPr>
        <p:blipFill>
          <a:blip r:embed="rId7"/>
          <a:stretch>
            <a:fillRect/>
          </a:stretch>
        </p:blipFill>
        <p:spPr>
          <a:xfrm>
            <a:off x="132715" y="2045335"/>
            <a:ext cx="3931285" cy="2955925"/>
          </a:xfrm>
          <a:prstGeom prst="rect">
            <a:avLst/>
          </a:prstGeom>
        </p:spPr>
      </p:pic>
      <p:pic>
        <p:nvPicPr>
          <p:cNvPr id="3" name="图片 2"/>
          <p:cNvPicPr>
            <a:picLocks noChangeAspect="1"/>
          </p:cNvPicPr>
          <p:nvPr/>
        </p:nvPicPr>
        <p:blipFill>
          <a:blip r:embed="rId8"/>
          <a:stretch>
            <a:fillRect/>
          </a:stretch>
        </p:blipFill>
        <p:spPr>
          <a:xfrm>
            <a:off x="8346440" y="1773555"/>
            <a:ext cx="3554095" cy="3082925"/>
          </a:xfrm>
          <a:prstGeom prst="rect">
            <a:avLst/>
          </a:prstGeom>
        </p:spPr>
      </p:pic>
    </p:spTree>
    <p:custDataLst>
      <p:tags r:id="rId1"/>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3325495" y="312420"/>
            <a:ext cx="5732780"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基于计算机视觉的跌倒检测系统</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5608955" y="1748790"/>
            <a:ext cx="6468745" cy="3817620"/>
          </a:xfrm>
          <a:prstGeom prst="rect">
            <a:avLst/>
          </a:prstGeom>
          <a:noFill/>
        </p:spPr>
        <p:txBody>
          <a:bodyPr wrap="square" rtlCol="0">
            <a:noAutofit/>
          </a:bodyPr>
          <a:lstStyle/>
          <a:p>
            <a:pPr algn="l">
              <a:lnSpc>
                <a:spcPct val="120000"/>
              </a:lnSpc>
            </a:pPr>
            <a:r>
              <a:rPr lang="en-US" altLang="zh-CN" sz="2400" dirty="0">
                <a:solidFill>
                  <a:srgbClr val="775480"/>
                </a:solidFill>
                <a:latin typeface="微软雅黑 Light" panose="020B0502040204020203" charset="-122"/>
                <a:ea typeface="微软雅黑 Light" panose="020B0502040204020203" charset="-122"/>
              </a:rPr>
              <a:t>使用安装在监控环境中的摄像头来捕获图像或视频序列以进行场景识别 通过使用活动分类算法，将跌倒活动与其他事件区分开来</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rPr>
              <a:t>红外 LED 和深度相机的最新进展扩大了其应用范围（例如，不受灯光照明的影响，甚至可以在黑暗的房间中工作）</a:t>
            </a:r>
          </a:p>
        </p:txBody>
      </p:sp>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solidFill>
                  <a:srgbClr val="694B71"/>
                </a:solidFill>
                <a:latin typeface="微软雅黑" panose="020B0503020204020204" pitchFamily="34" charset="-122"/>
                <a:ea typeface="微软雅黑" panose="020B0503020204020204" pitchFamily="34" charset="-122"/>
                <a:sym typeface="+mn-ea"/>
              </a:rPr>
              <a:t>Limitation: 关于隐私问题、对视线的要求以及实时处理的密集计算仍需解决</a:t>
            </a:r>
          </a:p>
          <a:p>
            <a:endParaRPr lang="zh-CN" altLang="en-US"/>
          </a:p>
        </p:txBody>
      </p:sp>
      <p:pic>
        <p:nvPicPr>
          <p:cNvPr id="9" name="图片 8"/>
          <p:cNvPicPr>
            <a:picLocks noChangeAspect="1"/>
          </p:cNvPicPr>
          <p:nvPr/>
        </p:nvPicPr>
        <p:blipFill>
          <a:blip r:embed="rId6"/>
          <a:stretch>
            <a:fillRect/>
          </a:stretch>
        </p:blipFill>
        <p:spPr>
          <a:xfrm>
            <a:off x="1478280" y="2332355"/>
            <a:ext cx="3303270" cy="2192655"/>
          </a:xfrm>
          <a:prstGeom prst="rect">
            <a:avLst/>
          </a:prstGeom>
        </p:spPr>
      </p:pic>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a:t>
            </a:r>
            <a:r>
              <a:rPr lang="en-US" altLang="zh-CN" sz="3200" dirty="0">
                <a:solidFill>
                  <a:srgbClr val="694B71"/>
                </a:solidFill>
                <a:latin typeface="微软雅黑" panose="020B0503020204020204" pitchFamily="34" charset="-122"/>
                <a:ea typeface="微软雅黑" panose="020B0503020204020204" pitchFamily="34" charset="-122"/>
              </a:rPr>
              <a:t>WIFI</a:t>
            </a:r>
            <a:r>
              <a:rPr lang="zh-CN" altLang="en-US" sz="3200" dirty="0">
                <a:solidFill>
                  <a:srgbClr val="694B71"/>
                </a:solidFill>
                <a:latin typeface="微软雅黑" panose="020B0503020204020204" pitchFamily="34" charset="-122"/>
                <a:ea typeface="微软雅黑" panose="020B0503020204020204" pitchFamily="34" charset="-122"/>
              </a:rPr>
              <a:t>和</a:t>
            </a:r>
            <a:r>
              <a:rPr lang="en-US" altLang="zh-CN" sz="3200" dirty="0">
                <a:solidFill>
                  <a:srgbClr val="694B71"/>
                </a:solidFill>
                <a:latin typeface="微软雅黑" panose="020B0503020204020204" pitchFamily="34" charset="-122"/>
                <a:ea typeface="微软雅黑" panose="020B0503020204020204" pitchFamily="34" charset="-122"/>
              </a:rPr>
              <a:t>CSI</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7652385" y="1748790"/>
            <a:ext cx="4378960" cy="3817620"/>
          </a:xfrm>
          <a:prstGeom prst="rect">
            <a:avLst/>
          </a:prstGeom>
          <a:noFill/>
        </p:spPr>
        <p:txBody>
          <a:bodyPr wrap="square" rtlCol="0">
            <a:noAutofit/>
          </a:bodyPr>
          <a:lstStyle/>
          <a:p>
            <a:pPr algn="l">
              <a:lnSpc>
                <a:spcPct val="120000"/>
              </a:lnSpc>
            </a:pPr>
            <a:r>
              <a:rPr lang="en-US" altLang="zh-CN" sz="2400" dirty="0">
                <a:solidFill>
                  <a:srgbClr val="775480"/>
                </a:solidFill>
                <a:latin typeface="微软雅黑 Light" panose="020B0502040204020203" charset="-122"/>
                <a:ea typeface="微软雅黑 Light" panose="020B0502040204020203" charset="-122"/>
              </a:rPr>
              <a:t>WiFi 信号强度 RSS </a:t>
            </a:r>
            <a:r>
              <a:rPr lang="zh-CN" altLang="en-US" sz="2400" dirty="0">
                <a:solidFill>
                  <a:srgbClr val="775480"/>
                </a:solidFill>
                <a:latin typeface="微软雅黑 Light" panose="020B0502040204020203" charset="-122"/>
                <a:ea typeface="微软雅黑 Light" panose="020B0502040204020203" charset="-122"/>
              </a:rPr>
              <a:t>（</a:t>
            </a:r>
            <a:r>
              <a:rPr lang="en-US" altLang="zh-CN" sz="2400" dirty="0">
                <a:solidFill>
                  <a:srgbClr val="775480"/>
                </a:solidFill>
                <a:latin typeface="微软雅黑 Light" panose="020B0502040204020203" charset="-122"/>
                <a:ea typeface="微软雅黑 Light" panose="020B0502040204020203" charset="-122"/>
              </a:rPr>
              <a:t>Received Signal Strength)</a:t>
            </a:r>
            <a:r>
              <a:rPr lang="zh-CN" altLang="en-US" sz="2400" dirty="0">
                <a:solidFill>
                  <a:srgbClr val="775480"/>
                </a:solidFill>
                <a:latin typeface="微软雅黑 Light" panose="020B0502040204020203" charset="-122"/>
                <a:ea typeface="微软雅黑 Light" panose="020B0502040204020203" charset="-122"/>
              </a:rPr>
              <a:t>）</a:t>
            </a:r>
            <a:r>
              <a:rPr lang="en-US" altLang="zh-CN" sz="2400" dirty="0">
                <a:solidFill>
                  <a:srgbClr val="775480"/>
                </a:solidFill>
                <a:latin typeface="微软雅黑 Light" panose="020B0502040204020203" charset="-122"/>
                <a:ea typeface="微软雅黑 Light" panose="020B0502040204020203" charset="-122"/>
              </a:rPr>
              <a:t>已被用于室内定位已有十多年的历史，但最近才有人用WIFI信号进行手势和活动识别。之前的研究中，有人用WIFI识别身体姿势，但使用的是专用仪器，收集的是专用射频信号，wifi商用设备无法使用。，</a:t>
            </a:r>
          </a:p>
        </p:txBody>
      </p:sp>
      <p:pic>
        <p:nvPicPr>
          <p:cNvPr id="2" name="图片 1"/>
          <p:cNvPicPr>
            <a:picLocks noChangeAspect="1"/>
          </p:cNvPicPr>
          <p:nvPr/>
        </p:nvPicPr>
        <p:blipFill>
          <a:blip r:embed="rId6"/>
          <a:stretch>
            <a:fillRect/>
          </a:stretch>
        </p:blipFill>
        <p:spPr>
          <a:xfrm>
            <a:off x="3000375" y="2177415"/>
            <a:ext cx="4721860" cy="4357370"/>
          </a:xfrm>
          <a:prstGeom prst="rect">
            <a:avLst/>
          </a:prstGeom>
        </p:spPr>
      </p:pic>
      <p:pic>
        <p:nvPicPr>
          <p:cNvPr id="3" name="图片 2"/>
          <p:cNvPicPr>
            <a:picLocks noChangeAspect="1"/>
          </p:cNvPicPr>
          <p:nvPr/>
        </p:nvPicPr>
        <p:blipFill>
          <a:blip r:embed="rId7"/>
          <a:stretch>
            <a:fillRect/>
          </a:stretch>
        </p:blipFill>
        <p:spPr>
          <a:xfrm>
            <a:off x="0" y="2177415"/>
            <a:ext cx="3356610" cy="3388995"/>
          </a:xfrm>
          <a:prstGeom prst="rect">
            <a:avLst/>
          </a:prstGeom>
        </p:spPr>
      </p:pic>
    </p:spTree>
    <p:custDataLst>
      <p:tags r:id="rId1"/>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49725" y="313055"/>
            <a:ext cx="389191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sym typeface="+mn-ea"/>
              </a:rPr>
              <a:t>基于</a:t>
            </a:r>
            <a:r>
              <a:rPr lang="en-US" altLang="zh-CN" sz="3200" dirty="0">
                <a:solidFill>
                  <a:srgbClr val="694B71"/>
                </a:solidFill>
                <a:latin typeface="微软雅黑" panose="020B0503020204020204" pitchFamily="34" charset="-122"/>
                <a:ea typeface="微软雅黑" panose="020B0503020204020204" pitchFamily="34" charset="-122"/>
                <a:sym typeface="+mn-ea"/>
              </a:rPr>
              <a:t>WIFI</a:t>
            </a:r>
            <a:r>
              <a:rPr lang="zh-CN" altLang="en-US" sz="3200" dirty="0">
                <a:solidFill>
                  <a:srgbClr val="694B71"/>
                </a:solidFill>
                <a:latin typeface="微软雅黑" panose="020B0503020204020204" pitchFamily="34" charset="-122"/>
                <a:ea typeface="微软雅黑" panose="020B0503020204020204" pitchFamily="34" charset="-122"/>
                <a:sym typeface="+mn-ea"/>
              </a:rPr>
              <a:t>和</a:t>
            </a:r>
            <a:r>
              <a:rPr lang="en-US" altLang="zh-CN" sz="3200" dirty="0">
                <a:solidFill>
                  <a:srgbClr val="694B71"/>
                </a:solidFill>
                <a:latin typeface="微软雅黑" panose="020B0503020204020204" pitchFamily="34" charset="-122"/>
                <a:ea typeface="微软雅黑" panose="020B0503020204020204" pitchFamily="34" charset="-122"/>
                <a:sym typeface="+mn-ea"/>
              </a:rPr>
              <a:t>CSI</a:t>
            </a:r>
            <a:endParaRPr lang="zh-CN" altLang="en-US" sz="3200" dirty="0">
              <a:solidFill>
                <a:srgbClr val="694B71"/>
              </a:solidFill>
              <a:latin typeface="微软雅黑" panose="020B0503020204020204" pitchFamily="34" charset="-122"/>
              <a:ea typeface="微软雅黑" panose="020B0503020204020204" pitchFamily="34" charset="-122"/>
            </a:endParaRP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954395" y="2180590"/>
            <a:ext cx="6096000" cy="2676525"/>
          </a:xfrm>
          <a:prstGeom prst="rect">
            <a:avLst/>
          </a:prstGeom>
          <a:noFill/>
        </p:spPr>
        <p:txBody>
          <a:bodyPr wrap="square" rtlCol="0" anchor="t">
            <a:spAutoFit/>
          </a:bodyPr>
          <a:lstStyle/>
          <a:p>
            <a:r>
              <a:rPr lang="zh-CN" altLang="en-US" sz="2400" dirty="0">
                <a:solidFill>
                  <a:srgbClr val="775480"/>
                </a:solidFill>
                <a:latin typeface="微软雅黑 Light" panose="020B0502040204020203" charset="-122"/>
                <a:ea typeface="微软雅黑 Light" panose="020B0502040204020203" charset="-122"/>
                <a:sym typeface="+mn-ea"/>
              </a:rPr>
              <a:t>商用设备</a:t>
            </a:r>
            <a:r>
              <a:rPr lang="en-US" altLang="zh-CN" sz="2400" dirty="0">
                <a:solidFill>
                  <a:srgbClr val="775480"/>
                </a:solidFill>
                <a:latin typeface="微软雅黑 Light" panose="020B0502040204020203" charset="-122"/>
                <a:ea typeface="微软雅黑 Light" panose="020B0502040204020203" charset="-122"/>
                <a:sym typeface="+mn-ea"/>
              </a:rPr>
              <a:t>唯一可用的是CSI,能在商用wifi设备上处理</a:t>
            </a:r>
          </a:p>
          <a:p>
            <a:r>
              <a:rPr lang="en-US" altLang="zh-CN" sz="2400" dirty="0">
                <a:solidFill>
                  <a:srgbClr val="775480"/>
                </a:solidFill>
                <a:latin typeface="微软雅黑 Light" panose="020B0502040204020203" charset="-122"/>
                <a:ea typeface="微软雅黑 Light" panose="020B0502040204020203" charset="-122"/>
                <a:sym typeface="+mn-ea"/>
              </a:rPr>
              <a:t>有人研究了移动人数与CSI的关系，实现了人群计数</a:t>
            </a:r>
          </a:p>
          <a:p>
            <a:r>
              <a:rPr lang="en-US" altLang="zh-CN" sz="2400" dirty="0">
                <a:solidFill>
                  <a:srgbClr val="775480"/>
                </a:solidFill>
                <a:latin typeface="微软雅黑 Light" panose="020B0502040204020203" charset="-122"/>
                <a:ea typeface="微软雅黑 Light" panose="020B0502040204020203" charset="-122"/>
                <a:sym typeface="+mn-ea"/>
              </a:rPr>
              <a:t>有人研究了商品NIC中的CSI在受控环境中提取人体呼吸和心率</a:t>
            </a:r>
          </a:p>
          <a:p>
            <a:r>
              <a:rPr lang="en-US" altLang="zh-CN" sz="2400" dirty="0">
                <a:solidFill>
                  <a:srgbClr val="775480"/>
                </a:solidFill>
                <a:latin typeface="微软雅黑 Light" panose="020B0502040204020203" charset="-122"/>
                <a:ea typeface="微软雅黑 Light" panose="020B0502040204020203" charset="-122"/>
                <a:sym typeface="+mn-ea"/>
              </a:rPr>
              <a:t>还有人用RSS和CSI</a:t>
            </a:r>
            <a:r>
              <a:rPr lang="zh-CN" altLang="en-US" sz="2400" dirty="0">
                <a:solidFill>
                  <a:srgbClr val="775480"/>
                </a:solidFill>
                <a:latin typeface="微软雅黑 Light" panose="020B0502040204020203" charset="-122"/>
                <a:ea typeface="微软雅黑 Light" panose="020B0502040204020203" charset="-122"/>
                <a:sym typeface="+mn-ea"/>
              </a:rPr>
              <a:t>共同</a:t>
            </a:r>
            <a:r>
              <a:rPr lang="en-US" altLang="zh-CN" sz="2400" dirty="0">
                <a:solidFill>
                  <a:srgbClr val="775480"/>
                </a:solidFill>
                <a:latin typeface="微软雅黑 Light" panose="020B0502040204020203" charset="-122"/>
                <a:ea typeface="微软雅黑 Light" panose="020B0502040204020203" charset="-122"/>
                <a:sym typeface="+mn-ea"/>
              </a:rPr>
              <a:t>来检测室内人体运动。</a:t>
            </a:r>
          </a:p>
        </p:txBody>
      </p:sp>
      <p:pic>
        <p:nvPicPr>
          <p:cNvPr id="5" name="图片 4"/>
          <p:cNvPicPr>
            <a:picLocks noChangeAspect="1"/>
          </p:cNvPicPr>
          <p:nvPr/>
        </p:nvPicPr>
        <p:blipFill>
          <a:blip r:embed="rId6"/>
          <a:stretch>
            <a:fillRect/>
          </a:stretch>
        </p:blipFill>
        <p:spPr>
          <a:xfrm>
            <a:off x="335915" y="2007870"/>
            <a:ext cx="5338445" cy="3800475"/>
          </a:xfrm>
          <a:prstGeom prst="rect">
            <a:avLst/>
          </a:prstGeom>
        </p:spPr>
      </p:pic>
      <p:sp>
        <p:nvSpPr>
          <p:cNvPr id="100" name="文本框 99"/>
          <p:cNvSpPr txBox="1"/>
          <p:nvPr/>
        </p:nvSpPr>
        <p:spPr>
          <a:xfrm>
            <a:off x="5954395" y="1534160"/>
            <a:ext cx="5995670" cy="3322955"/>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algn="l">
              <a:buClrTx/>
              <a:buSzTx/>
              <a:buFontTx/>
            </a:pPr>
            <a:r>
              <a:rPr lang="en-US" altLang="zh-CN" sz="2400" b="0" dirty="0">
                <a:solidFill>
                  <a:srgbClr val="775480"/>
                </a:solidFill>
                <a:latin typeface="微软雅黑 Light" panose="020B0502040204020203" charset="-122"/>
                <a:ea typeface="微软雅黑 Light" panose="020B0502040204020203" charset="-122"/>
              </a:rPr>
              <a:t>然而，上面这些都是基于预定义的活动的，但跌倒问题复杂得多，需要从大量日常活动中挑选出跌倒。这些日常活动无法预先定义或者收集以进行训练和测试。而且各种日常活动连续进行时，连续的wifi信号是没有中间标记的，确定目标活动的时间起点和终点以进一步分析是很难的</a:t>
            </a:r>
          </a:p>
          <a:p>
            <a:pPr algn="l">
              <a:buClrTx/>
              <a:buSzTx/>
              <a:buFontTx/>
            </a:pPr>
            <a:endParaRPr lang="en-US" altLang="zh-CN" sz="2400" b="0" dirty="0">
              <a:solidFill>
                <a:srgbClr val="775480"/>
              </a:solidFill>
              <a:latin typeface="微软雅黑 Light" panose="020B0502040204020203" charset="-122"/>
              <a:ea typeface="微软雅黑 Light" panose="020B0502040204020203" charset="-122"/>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ldLvl="0" animBg="1"/>
      <p:bldP spid="100"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49725" y="313055"/>
            <a:ext cx="389191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sym typeface="+mn-ea"/>
              </a:rPr>
              <a:t>基于</a:t>
            </a:r>
            <a:r>
              <a:rPr lang="en-US" altLang="zh-CN" sz="3200" dirty="0">
                <a:solidFill>
                  <a:srgbClr val="694B71"/>
                </a:solidFill>
                <a:latin typeface="微软雅黑" panose="020B0503020204020204" pitchFamily="34" charset="-122"/>
                <a:ea typeface="微软雅黑" panose="020B0503020204020204" pitchFamily="34" charset="-122"/>
                <a:sym typeface="+mn-ea"/>
              </a:rPr>
              <a:t>WIFI</a:t>
            </a:r>
            <a:r>
              <a:rPr lang="zh-CN" altLang="en-US" sz="3200" dirty="0">
                <a:solidFill>
                  <a:srgbClr val="694B71"/>
                </a:solidFill>
                <a:latin typeface="微软雅黑" panose="020B0503020204020204" pitchFamily="34" charset="-122"/>
                <a:ea typeface="微软雅黑" panose="020B0503020204020204" pitchFamily="34" charset="-122"/>
                <a:sym typeface="+mn-ea"/>
              </a:rPr>
              <a:t>和</a:t>
            </a:r>
            <a:r>
              <a:rPr lang="en-US" altLang="zh-CN" sz="3200" dirty="0">
                <a:solidFill>
                  <a:srgbClr val="694B71"/>
                </a:solidFill>
                <a:latin typeface="微软雅黑" panose="020B0503020204020204" pitchFamily="34" charset="-122"/>
                <a:ea typeface="微软雅黑" panose="020B0503020204020204" pitchFamily="34" charset="-122"/>
                <a:sym typeface="+mn-ea"/>
              </a:rPr>
              <a:t>CSI</a:t>
            </a:r>
            <a:endParaRPr lang="zh-CN" altLang="en-US" sz="3200" dirty="0">
              <a:solidFill>
                <a:srgbClr val="694B71"/>
              </a:solidFill>
              <a:latin typeface="微软雅黑" panose="020B0503020204020204" pitchFamily="34" charset="-122"/>
              <a:ea typeface="微软雅黑" panose="020B0503020204020204" pitchFamily="34" charset="-122"/>
            </a:endParaRP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954395" y="2180590"/>
            <a:ext cx="6096000" cy="2306955"/>
          </a:xfrm>
          <a:prstGeom prst="rect">
            <a:avLst/>
          </a:prstGeom>
          <a:noFill/>
        </p:spPr>
        <p:txBody>
          <a:bodyPr wrap="square" rtlCol="0" anchor="t">
            <a:spAutoFit/>
          </a:bodyPr>
          <a:lstStyle/>
          <a:p>
            <a:pPr algn="l">
              <a:buClrTx/>
              <a:buSzTx/>
              <a:buFontTx/>
            </a:pPr>
            <a:r>
              <a:rPr lang="en-US" altLang="zh-CN" sz="2400" dirty="0">
                <a:solidFill>
                  <a:srgbClr val="775480"/>
                </a:solidFill>
                <a:latin typeface="微软雅黑 Light" panose="020B0502040204020203" charset="-122"/>
                <a:ea typeface="微软雅黑 Light" panose="020B0502040204020203" charset="-122"/>
                <a:sym typeface="+mn-ea"/>
              </a:rPr>
              <a:t>其中也有利用wifi商用设备检测的工作</a:t>
            </a:r>
            <a:endParaRPr lang="en-US" altLang="zh-CN" sz="2400" b="0" dirty="0">
              <a:solidFill>
                <a:srgbClr val="775480"/>
              </a:solidFill>
              <a:latin typeface="微软雅黑 Light" panose="020B0502040204020203" charset="-122"/>
              <a:ea typeface="微软雅黑 Light" panose="020B0502040204020203" charset="-122"/>
            </a:endParaRPr>
          </a:p>
          <a:p>
            <a:pPr algn="l">
              <a:buClrTx/>
              <a:buSzTx/>
              <a:buFontTx/>
            </a:pPr>
            <a:r>
              <a:rPr lang="en-US" altLang="zh-CN" sz="2400" dirty="0">
                <a:solidFill>
                  <a:srgbClr val="775480"/>
                </a:solidFill>
                <a:latin typeface="微软雅黑 Light" panose="020B0502040204020203" charset="-122"/>
                <a:ea typeface="微软雅黑 Light" panose="020B0502040204020203" charset="-122"/>
                <a:sym typeface="+mn-ea"/>
              </a:rPr>
              <a:t>比如用CSI信息进行跌倒检测，但这项工作仅利用了 CSI 的振幅信息，并简化了问题，即受试者只能执行四种预定义的活动。当长者在家庭环境中正常生活，自然、持续地进行各种活动时，解决方案就会失败。</a:t>
            </a:r>
          </a:p>
        </p:txBody>
      </p:sp>
      <p:pic>
        <p:nvPicPr>
          <p:cNvPr id="2" name="图片 1"/>
          <p:cNvPicPr>
            <a:picLocks noChangeAspect="1"/>
          </p:cNvPicPr>
          <p:nvPr/>
        </p:nvPicPr>
        <p:blipFill>
          <a:blip r:embed="rId6"/>
          <a:stretch>
            <a:fillRect/>
          </a:stretch>
        </p:blipFill>
        <p:spPr>
          <a:xfrm>
            <a:off x="290195" y="1600200"/>
            <a:ext cx="5372100" cy="4543425"/>
          </a:xfrm>
          <a:prstGeom prst="rect">
            <a:avLst/>
          </a:prstGeom>
        </p:spPr>
      </p:pic>
    </p:spTree>
    <p:custDataLst>
      <p:tags r:id="rId1"/>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a:t>
            </a:r>
            <a:r>
              <a:rPr lang="en-US" altLang="zh-CN" sz="3200" dirty="0">
                <a:solidFill>
                  <a:srgbClr val="694B71"/>
                </a:solidFill>
                <a:latin typeface="微软雅黑" panose="020B0503020204020204" pitchFamily="34" charset="-122"/>
                <a:ea typeface="微软雅黑" panose="020B0503020204020204" pitchFamily="34" charset="-122"/>
              </a:rPr>
              <a:t>WIFI</a:t>
            </a:r>
            <a:r>
              <a:rPr lang="zh-CN" altLang="en-US" sz="3200" dirty="0">
                <a:solidFill>
                  <a:srgbClr val="694B71"/>
                </a:solidFill>
                <a:latin typeface="微软雅黑" panose="020B0503020204020204" pitchFamily="34" charset="-122"/>
                <a:ea typeface="微软雅黑" panose="020B0503020204020204" pitchFamily="34" charset="-122"/>
              </a:rPr>
              <a:t>和</a:t>
            </a:r>
            <a:r>
              <a:rPr lang="en-US" altLang="zh-CN" sz="3200" dirty="0">
                <a:solidFill>
                  <a:srgbClr val="694B71"/>
                </a:solidFill>
                <a:latin typeface="微软雅黑" panose="020B0503020204020204" pitchFamily="34" charset="-122"/>
                <a:ea typeface="微软雅黑" panose="020B0503020204020204" pitchFamily="34" charset="-122"/>
              </a:rPr>
              <a:t>CSI</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806450" y="1748790"/>
            <a:ext cx="11224895" cy="3817620"/>
          </a:xfrm>
          <a:prstGeom prst="rect">
            <a:avLst/>
          </a:prstGeom>
          <a:noFill/>
        </p:spPr>
        <p:txBody>
          <a:bodyPr wrap="square" rtlCol="0">
            <a:noAutofit/>
          </a:bodyPr>
          <a:lstStyle/>
          <a:p>
            <a:pPr algn="l">
              <a:lnSpc>
                <a:spcPct val="120000"/>
              </a:lnSpc>
            </a:pPr>
            <a:r>
              <a:rPr sz="2400" dirty="0">
                <a:solidFill>
                  <a:srgbClr val="775480"/>
                </a:solidFill>
                <a:latin typeface="微软雅黑 Light" panose="020B0502040204020203" charset="-122"/>
                <a:ea typeface="微软雅黑 Light" panose="020B0502040204020203" charset="-122"/>
              </a:rPr>
              <a:t>与以往的工作不同，在本文中，我们分别深入研究了 CSI 信息的幅度、相位和相位差与人体活动之间的关系，发现相位差是比幅度或相位更敏感的活动识别基信号。此外，我们发现了时频域下降的急剧功率曲线下降模式。通过利用有关相位差和功率曲线下降模式的发现，我们设计了一套信号处理技术来稳健地分割下降</a:t>
            </a:r>
            <a:r>
              <a:rPr lang="zh-CN" sz="2400" dirty="0">
                <a:solidFill>
                  <a:srgbClr val="775480"/>
                </a:solidFill>
                <a:latin typeface="微软雅黑 Light" panose="020B0502040204020203" charset="-122"/>
                <a:ea typeface="微软雅黑 Light" panose="020B0502040204020203" charset="-122"/>
              </a:rPr>
              <a:t>。</a:t>
            </a:r>
            <a:r>
              <a:rPr sz="2400" dirty="0">
                <a:solidFill>
                  <a:srgbClr val="775480"/>
                </a:solidFill>
                <a:latin typeface="微软雅黑 Light" panose="020B0502040204020203" charset="-122"/>
                <a:ea typeface="微软雅黑 Light" panose="020B0502040204020203" charset="-122"/>
              </a:rPr>
              <a:t>以及其他活动中的一些类似秋天的活动。然后，在仅分离跌倒和跌倒样活动的情况下，我们进一步从 CSI 的幅度和相位差中提取有效特征，以区分真实跌倒和其他跌倒样活动，使利用 WiFi 射频信号流的实时跌倒检测在真实家庭环境中可行。</a:t>
            </a:r>
          </a:p>
        </p:txBody>
      </p:sp>
    </p:spTree>
    <p:custDataLst>
      <p:tags r:id="rId1"/>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62432"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初步分析</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02</a:t>
              </a:r>
            </a:p>
          </p:txBody>
        </p:sp>
      </p:grpSp>
      <p:sp>
        <p:nvSpPr>
          <p:cNvPr id="13" name="文本框 12"/>
          <p:cNvSpPr txBox="1"/>
          <p:nvPr/>
        </p:nvSpPr>
        <p:spPr>
          <a:xfrm>
            <a:off x="4067810" y="4227695"/>
            <a:ext cx="4054475" cy="460375"/>
          </a:xfrm>
          <a:prstGeom prst="rect">
            <a:avLst/>
          </a:prstGeom>
          <a:noFill/>
        </p:spPr>
        <p:txBody>
          <a:bodyPr wrap="square" rtlCol="0">
            <a:spAutoFit/>
          </a:bodyPr>
          <a:lstStyle/>
          <a:p>
            <a:pPr algn="ctr"/>
            <a:r>
              <a:rPr lang="zh-CN" altLang="en-US" sz="2400" dirty="0">
                <a:solidFill>
                  <a:srgbClr val="694B71">
                    <a:alpha val="90000"/>
                  </a:srgbClr>
                </a:solidFill>
                <a:latin typeface="微软雅黑 Light" panose="020B0502040204020203" charset="-122"/>
                <a:ea typeface="微软雅黑 Light" panose="020B0502040204020203" charset="-122"/>
              </a:rPr>
              <a:t>请替换文字内容</a:t>
            </a:r>
          </a:p>
        </p:txBody>
      </p:sp>
    </p:spTree>
    <p:custDataLst>
      <p:tags r:id="rId1"/>
    </p:custDataLst>
    <p:extLst>
      <p:ext uri="{BB962C8B-B14F-4D97-AF65-F5344CB8AC3E}">
        <p14:creationId xmlns:p14="http://schemas.microsoft.com/office/powerpoint/2010/main" val="192362673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FD77694-7D45-43A3-9B6D-CF52F0242B0E}"/>
              </a:ext>
            </a:extLst>
          </p:cNvPr>
          <p:cNvSpPr/>
          <p:nvPr/>
        </p:nvSpPr>
        <p:spPr>
          <a:xfrm>
            <a:off x="6279560" y="6366832"/>
            <a:ext cx="5647266" cy="381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id="{AA37286D-F4D7-4466-B864-51D368699896}"/>
              </a:ext>
            </a:extLst>
          </p:cNvPr>
          <p:cNvSpPr/>
          <p:nvPr/>
        </p:nvSpPr>
        <p:spPr>
          <a:xfrm>
            <a:off x="6392334" y="1536553"/>
            <a:ext cx="5647266" cy="11389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标题 1"/>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初步分析</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5EC289D-0968-4AE5-87E6-6EB388CC3A18}"/>
              </a:ext>
            </a:extLst>
          </p:cNvPr>
          <p:cNvPicPr>
            <a:picLocks noChangeAspect="1"/>
          </p:cNvPicPr>
          <p:nvPr/>
        </p:nvPicPr>
        <p:blipFill>
          <a:blip r:embed="rId6"/>
          <a:stretch>
            <a:fillRect/>
          </a:stretch>
        </p:blipFill>
        <p:spPr>
          <a:xfrm>
            <a:off x="827830" y="1693913"/>
            <a:ext cx="4205784" cy="2008845"/>
          </a:xfrm>
          <a:prstGeom prst="rect">
            <a:avLst/>
          </a:prstGeom>
        </p:spPr>
      </p:pic>
      <p:sp>
        <p:nvSpPr>
          <p:cNvPr id="25" name="文本框 24">
            <a:extLst>
              <a:ext uri="{FF2B5EF4-FFF2-40B4-BE49-F238E27FC236}">
                <a16:creationId xmlns:a16="http://schemas.microsoft.com/office/drawing/2014/main" id="{AAC229A8-6DDC-4105-BBD9-83D701B457E7}"/>
              </a:ext>
            </a:extLst>
          </p:cNvPr>
          <p:cNvSpPr txBox="1"/>
          <p:nvPr/>
        </p:nvSpPr>
        <p:spPr>
          <a:xfrm>
            <a:off x="183560" y="3826341"/>
            <a:ext cx="5649432" cy="2862322"/>
          </a:xfrm>
          <a:prstGeom prst="rect">
            <a:avLst/>
          </a:prstGeom>
          <a:noFill/>
        </p:spPr>
        <p:txBody>
          <a:bodyPr wrap="square">
            <a:spAutoFit/>
          </a:bodyPr>
          <a:lstStyle/>
          <a:p>
            <a:r>
              <a:rPr lang="en-US" altLang="zh-CN" dirty="0">
                <a:solidFill>
                  <a:srgbClr val="333333"/>
                </a:solidFill>
                <a:latin typeface="Helvetica Neue"/>
              </a:rPr>
              <a:t>     </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信号通过</a:t>
            </a:r>
            <a:r>
              <a:rPr lang="zh-CN" altLang="en-US" b="1" i="0" dirty="0">
                <a:solidFill>
                  <a:srgbClr val="FF0000"/>
                </a:solidFill>
                <a:effectLst/>
                <a:latin typeface="Helvetica Neue"/>
              </a:rPr>
              <a:t>天花板、地面、墙壁、家具</a:t>
            </a:r>
            <a:r>
              <a:rPr lang="zh-CN" altLang="en-US" b="0" i="0" dirty="0">
                <a:solidFill>
                  <a:srgbClr val="333333"/>
                </a:solidFill>
                <a:effectLst/>
                <a:latin typeface="Helvetica Neue"/>
              </a:rPr>
              <a:t>等多条路径在物理空间中传播。</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     由于</a:t>
            </a:r>
            <a:r>
              <a:rPr lang="zh-CN" altLang="en-US" b="1" i="0" dirty="0">
                <a:solidFill>
                  <a:srgbClr val="333333"/>
                </a:solidFill>
                <a:effectLst/>
                <a:latin typeface="Helvetica Neue"/>
              </a:rPr>
              <a:t>物理空间</a:t>
            </a:r>
            <a:r>
              <a:rPr lang="zh-CN" altLang="en-US" b="0" i="0" dirty="0">
                <a:solidFill>
                  <a:srgbClr val="333333"/>
                </a:solidFill>
                <a:effectLst/>
                <a:latin typeface="Helvetica Neue"/>
              </a:rPr>
              <a:t>会限制无线信号的传播</a:t>
            </a:r>
            <a:r>
              <a:rPr lang="en-US" altLang="zh-CN" b="1" i="0" dirty="0">
                <a:solidFill>
                  <a:srgbClr val="333333"/>
                </a:solidFill>
                <a:effectLst/>
                <a:latin typeface="Helvetica Neue"/>
              </a:rPr>
              <a:t>(</a:t>
            </a:r>
            <a:r>
              <a:rPr lang="zh-CN" altLang="en-US" b="1" i="0" dirty="0">
                <a:solidFill>
                  <a:srgbClr val="FF0000"/>
                </a:solidFill>
                <a:effectLst/>
                <a:latin typeface="Helvetica Neue"/>
              </a:rPr>
              <a:t>触碰地面</a:t>
            </a:r>
            <a:r>
              <a:rPr lang="zh-CN" altLang="en-US" b="1" dirty="0">
                <a:solidFill>
                  <a:srgbClr val="FF0000"/>
                </a:solidFill>
                <a:latin typeface="Helvetica Neue"/>
              </a:rPr>
              <a:t>反射等</a:t>
            </a:r>
            <a:r>
              <a:rPr lang="en-US" altLang="zh-CN" b="1" i="0" dirty="0">
                <a:solidFill>
                  <a:srgbClr val="333333"/>
                </a:solidFill>
                <a:effectLst/>
                <a:latin typeface="Helvetica Neue"/>
              </a:rPr>
              <a:t>)</a:t>
            </a:r>
            <a:r>
              <a:rPr lang="zh-CN" altLang="en-US" dirty="0">
                <a:solidFill>
                  <a:srgbClr val="333333"/>
                </a:solidFill>
                <a:latin typeface="Helvetica Neue"/>
              </a:rPr>
              <a:t>，</a:t>
            </a:r>
            <a:r>
              <a:rPr lang="zh-CN" altLang="en-US" b="0" i="0" dirty="0">
                <a:solidFill>
                  <a:srgbClr val="333333"/>
                </a:solidFill>
                <a:effectLst/>
                <a:latin typeface="Helvetica Neue"/>
              </a:rPr>
              <a:t>当环境中有人员存在时，</a:t>
            </a:r>
            <a:r>
              <a:rPr lang="zh-CN" altLang="en-US" b="1" i="0" dirty="0">
                <a:solidFill>
                  <a:srgbClr val="333333"/>
                </a:solidFill>
                <a:effectLst/>
                <a:latin typeface="Helvetica Neue"/>
              </a:rPr>
              <a:t>人体散射（</a:t>
            </a:r>
            <a:r>
              <a:rPr lang="zh-CN" altLang="en-US" b="1" i="0" dirty="0">
                <a:solidFill>
                  <a:srgbClr val="FF0000"/>
                </a:solidFill>
                <a:effectLst/>
                <a:latin typeface="Helvetica Neue"/>
              </a:rPr>
              <a:t>衣服、肢体的等多个部位阻挡和反射</a:t>
            </a:r>
            <a:r>
              <a:rPr lang="zh-CN" altLang="en-US" b="1" i="0" dirty="0">
                <a:solidFill>
                  <a:srgbClr val="333333"/>
                </a:solidFill>
                <a:effectLst/>
                <a:latin typeface="Helvetica Neue"/>
              </a:rPr>
              <a:t>）</a:t>
            </a:r>
            <a:r>
              <a:rPr lang="zh-CN" altLang="en-US" b="0" i="0" dirty="0">
                <a:solidFill>
                  <a:srgbClr val="333333"/>
                </a:solidFill>
                <a:effectLst/>
                <a:latin typeface="Helvetica Neue"/>
              </a:rPr>
              <a:t>会引入额外的信号路径；因此，接收信号会包含能够表征人员存在对环境影响的信息和其传播环境的信息。</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     将物理空间（包括环境中的物体和人员）视为一个无线信道，</a:t>
            </a:r>
            <a:r>
              <a:rPr lang="zh-CN" altLang="en-US" b="1" i="0" dirty="0">
                <a:solidFill>
                  <a:srgbClr val="FF0000"/>
                </a:solidFill>
                <a:effectLst/>
                <a:latin typeface="Helvetica Neue"/>
              </a:rPr>
              <a:t>信道状态信息（</a:t>
            </a:r>
            <a:r>
              <a:rPr lang="en-US" altLang="zh-CN" b="1" i="0" dirty="0">
                <a:solidFill>
                  <a:srgbClr val="FF0000"/>
                </a:solidFill>
                <a:effectLst/>
                <a:latin typeface="Helvetica Neue"/>
              </a:rPr>
              <a:t>CSI</a:t>
            </a:r>
            <a:r>
              <a:rPr lang="zh-CN" altLang="en-US" b="1" i="0" dirty="0">
                <a:solidFill>
                  <a:srgbClr val="FF0000"/>
                </a:solidFill>
                <a:effectLst/>
                <a:latin typeface="Helvetica Neue"/>
              </a:rPr>
              <a:t>）</a:t>
            </a:r>
            <a:r>
              <a:rPr lang="zh-CN" altLang="en-US" b="1" i="0" dirty="0">
                <a:solidFill>
                  <a:srgbClr val="333333"/>
                </a:solidFill>
                <a:effectLst/>
                <a:latin typeface="Helvetica Neue"/>
              </a:rPr>
              <a:t>就描述了无线信号通过该信道时所受到的影响</a:t>
            </a:r>
            <a:r>
              <a:rPr lang="zh-CN" altLang="en-US" b="0" i="0" dirty="0">
                <a:solidFill>
                  <a:srgbClr val="333333"/>
                </a:solidFill>
                <a:effectLst/>
                <a:latin typeface="Helvetica Neue"/>
              </a:rPr>
              <a:t>。</a:t>
            </a:r>
            <a:endParaRPr lang="zh-CN" altLang="en-US" dirty="0"/>
          </a:p>
        </p:txBody>
      </p:sp>
      <p:sp>
        <p:nvSpPr>
          <p:cNvPr id="27" name="文本框 26">
            <a:extLst>
              <a:ext uri="{FF2B5EF4-FFF2-40B4-BE49-F238E27FC236}">
                <a16:creationId xmlns:a16="http://schemas.microsoft.com/office/drawing/2014/main" id="{64B0F30C-987E-4EEC-B8FC-8B836B30B85E}"/>
              </a:ext>
            </a:extLst>
          </p:cNvPr>
          <p:cNvSpPr txBox="1"/>
          <p:nvPr/>
        </p:nvSpPr>
        <p:spPr>
          <a:xfrm>
            <a:off x="183560" y="1158024"/>
            <a:ext cx="6096000" cy="369332"/>
          </a:xfrm>
          <a:prstGeom prst="rect">
            <a:avLst/>
          </a:prstGeom>
          <a:noFill/>
        </p:spPr>
        <p:txBody>
          <a:bodyPr wrap="square">
            <a:spAutoFit/>
          </a:bodyPr>
          <a:lstStyle/>
          <a:p>
            <a:pPr algn="l"/>
            <a:r>
              <a:rPr lang="en-US" altLang="zh-CN" b="1" i="0" dirty="0" err="1">
                <a:solidFill>
                  <a:srgbClr val="000000"/>
                </a:solidFill>
                <a:effectLst/>
                <a:latin typeface="Helvetica Neue"/>
              </a:rPr>
              <a:t>WiFi</a:t>
            </a:r>
            <a:r>
              <a:rPr lang="zh-CN" altLang="en-US" b="1" i="0" dirty="0">
                <a:solidFill>
                  <a:srgbClr val="000000"/>
                </a:solidFill>
                <a:effectLst/>
                <a:latin typeface="Helvetica Neue"/>
              </a:rPr>
              <a:t>信号的室内传播特性</a:t>
            </a:r>
          </a:p>
        </p:txBody>
      </p:sp>
      <p:sp>
        <p:nvSpPr>
          <p:cNvPr id="28" name="文本框 27">
            <a:extLst>
              <a:ext uri="{FF2B5EF4-FFF2-40B4-BE49-F238E27FC236}">
                <a16:creationId xmlns:a16="http://schemas.microsoft.com/office/drawing/2014/main" id="{9074DA04-888D-4F79-AB6C-AFDAD775A846}"/>
              </a:ext>
            </a:extLst>
          </p:cNvPr>
          <p:cNvSpPr txBox="1"/>
          <p:nvPr/>
        </p:nvSpPr>
        <p:spPr>
          <a:xfrm>
            <a:off x="6392334" y="1158024"/>
            <a:ext cx="6096000" cy="369332"/>
          </a:xfrm>
          <a:prstGeom prst="rect">
            <a:avLst/>
          </a:prstGeom>
          <a:noFill/>
        </p:spPr>
        <p:txBody>
          <a:bodyPr wrap="square">
            <a:spAutoFit/>
          </a:bodyPr>
          <a:lstStyle/>
          <a:p>
            <a:pPr algn="l"/>
            <a:r>
              <a:rPr lang="en-US" altLang="zh-CN" b="1" i="0" dirty="0">
                <a:solidFill>
                  <a:srgbClr val="000000"/>
                </a:solidFill>
                <a:effectLst/>
                <a:latin typeface="Helvetica Neue"/>
              </a:rPr>
              <a:t>CSI</a:t>
            </a:r>
            <a:r>
              <a:rPr lang="zh-CN" altLang="en-US" b="1" i="0" dirty="0">
                <a:solidFill>
                  <a:srgbClr val="000000"/>
                </a:solidFill>
                <a:effectLst/>
                <a:latin typeface="Helvetica Neue"/>
              </a:rPr>
              <a:t>的数学模型与</a:t>
            </a:r>
            <a:r>
              <a:rPr lang="en-US" altLang="zh-CN" b="1" i="0" dirty="0">
                <a:solidFill>
                  <a:srgbClr val="000000"/>
                </a:solidFill>
                <a:effectLst/>
                <a:latin typeface="Helvetica Neue"/>
              </a:rPr>
              <a:t>OFDM</a:t>
            </a:r>
            <a:r>
              <a:rPr lang="zh-CN" altLang="en-US" b="1" i="0" dirty="0">
                <a:solidFill>
                  <a:srgbClr val="000000"/>
                </a:solidFill>
                <a:effectLst/>
                <a:latin typeface="Helvetica Neue"/>
              </a:rPr>
              <a:t>子载波特性</a:t>
            </a:r>
          </a:p>
        </p:txBody>
      </p:sp>
      <p:sp>
        <p:nvSpPr>
          <p:cNvPr id="29" name="文本框 28">
            <a:extLst>
              <a:ext uri="{FF2B5EF4-FFF2-40B4-BE49-F238E27FC236}">
                <a16:creationId xmlns:a16="http://schemas.microsoft.com/office/drawing/2014/main" id="{87CC2C81-4808-410C-B472-BF74CB22BADF}"/>
              </a:ext>
            </a:extLst>
          </p:cNvPr>
          <p:cNvSpPr txBox="1"/>
          <p:nvPr/>
        </p:nvSpPr>
        <p:spPr>
          <a:xfrm>
            <a:off x="6129866" y="4880388"/>
            <a:ext cx="6038694" cy="1477328"/>
          </a:xfrm>
          <a:prstGeom prst="rect">
            <a:avLst/>
          </a:prstGeom>
          <a:noFill/>
        </p:spPr>
        <p:txBody>
          <a:bodyPr wrap="square">
            <a:spAutoFit/>
          </a:bodyPr>
          <a:lstStyle/>
          <a:p>
            <a:r>
              <a:rPr lang="en-US" altLang="zh-CN" b="0" i="0" dirty="0">
                <a:solidFill>
                  <a:srgbClr val="333333"/>
                </a:solidFill>
                <a:effectLst/>
                <a:latin typeface="Helvetica Neue"/>
              </a:rPr>
              <a:t>      </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标准在物理层采用</a:t>
            </a:r>
            <a:r>
              <a:rPr lang="zh-CN" altLang="en-US" b="1" i="0" dirty="0">
                <a:solidFill>
                  <a:srgbClr val="FF0000"/>
                </a:solidFill>
                <a:effectLst/>
                <a:latin typeface="Helvetica Neue"/>
              </a:rPr>
              <a:t>正交频分复用（</a:t>
            </a:r>
            <a:r>
              <a:rPr lang="en-US" altLang="zh-CN" b="1" i="0" dirty="0">
                <a:solidFill>
                  <a:srgbClr val="FF0000"/>
                </a:solidFill>
                <a:effectLst/>
                <a:latin typeface="Helvetica Neue"/>
              </a:rPr>
              <a:t>OFDM</a:t>
            </a:r>
            <a:r>
              <a:rPr lang="zh-CN" altLang="en-US" b="1" i="0" dirty="0">
                <a:solidFill>
                  <a:srgbClr val="FF0000"/>
                </a:solidFill>
                <a:effectLst/>
                <a:latin typeface="Helvetica Neue"/>
              </a:rPr>
              <a:t>）</a:t>
            </a:r>
            <a:r>
              <a:rPr lang="zh-CN" altLang="en-US" b="0" i="0" dirty="0">
                <a:solidFill>
                  <a:srgbClr val="333333"/>
                </a:solidFill>
                <a:effectLst/>
                <a:latin typeface="Helvetica Neue"/>
              </a:rPr>
              <a:t>技术，将其频谱带宽（</a:t>
            </a:r>
            <a:r>
              <a:rPr lang="en-US" altLang="zh-CN" b="0" i="0" dirty="0">
                <a:solidFill>
                  <a:srgbClr val="333333"/>
                </a:solidFill>
                <a:effectLst/>
                <a:latin typeface="Helvetica Neue"/>
              </a:rPr>
              <a:t>20 MHz</a:t>
            </a:r>
            <a:r>
              <a:rPr lang="zh-CN" altLang="en-US" b="0" i="0" dirty="0">
                <a:solidFill>
                  <a:srgbClr val="333333"/>
                </a:solidFill>
                <a:effectLst/>
                <a:latin typeface="Helvetica Neue"/>
              </a:rPr>
              <a:t>）划分为</a:t>
            </a:r>
            <a:r>
              <a:rPr lang="en-US" altLang="zh-CN" b="1" i="0" dirty="0">
                <a:solidFill>
                  <a:srgbClr val="333333"/>
                </a:solidFill>
                <a:effectLst/>
                <a:latin typeface="Helvetica Neue"/>
              </a:rPr>
              <a:t>56</a:t>
            </a:r>
            <a:r>
              <a:rPr lang="zh-CN" altLang="en-US" b="1" i="0" dirty="0">
                <a:solidFill>
                  <a:srgbClr val="333333"/>
                </a:solidFill>
                <a:effectLst/>
                <a:latin typeface="Helvetica Neue"/>
              </a:rPr>
              <a:t>个子频带</a:t>
            </a:r>
            <a:r>
              <a:rPr lang="en-US" altLang="zh-CN" b="1" dirty="0">
                <a:solidFill>
                  <a:srgbClr val="333333"/>
                </a:solidFill>
                <a:latin typeface="Helvetica Neue"/>
              </a:rPr>
              <a:t> / </a:t>
            </a:r>
            <a:r>
              <a:rPr lang="zh-CN" altLang="en-US" b="1" i="0" dirty="0">
                <a:solidFill>
                  <a:srgbClr val="333333"/>
                </a:solidFill>
                <a:effectLst/>
                <a:latin typeface="Helvetica Neue"/>
              </a:rPr>
              <a:t>波</a:t>
            </a:r>
            <a:r>
              <a:rPr lang="zh-CN" altLang="en-US" b="0" i="0" dirty="0">
                <a:solidFill>
                  <a:srgbClr val="333333"/>
                </a:solidFill>
                <a:effectLst/>
                <a:latin typeface="Helvetica Neue"/>
              </a:rPr>
              <a:t>，并通过这些子载波并行传输数字比特。</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      CSI</a:t>
            </a:r>
            <a:r>
              <a:rPr lang="zh-CN" altLang="en-US" b="0" i="0" dirty="0">
                <a:solidFill>
                  <a:srgbClr val="333333"/>
                </a:solidFill>
                <a:effectLst/>
                <a:latin typeface="Helvetica Neue"/>
              </a:rPr>
              <a:t>包含一组信道测量值，能够描述每个</a:t>
            </a:r>
            <a:r>
              <a:rPr lang="en-US" altLang="zh-CN" b="0" i="0" dirty="0">
                <a:solidFill>
                  <a:srgbClr val="333333"/>
                </a:solidFill>
                <a:effectLst/>
                <a:latin typeface="Helvetica Neue"/>
              </a:rPr>
              <a:t>OFDM</a:t>
            </a:r>
            <a:r>
              <a:rPr lang="zh-CN" altLang="en-US" b="0" i="0" dirty="0">
                <a:solidFill>
                  <a:srgbClr val="333333"/>
                </a:solidFill>
                <a:effectLst/>
                <a:latin typeface="Helvetica Neue"/>
              </a:rPr>
              <a:t>子载波的</a:t>
            </a:r>
            <a:r>
              <a:rPr lang="zh-CN" altLang="en-US" b="1" i="0" dirty="0">
                <a:solidFill>
                  <a:srgbClr val="FF0000"/>
                </a:solidFill>
                <a:effectLst/>
                <a:latin typeface="Helvetica Neue"/>
              </a:rPr>
              <a:t>幅度和相位</a:t>
            </a:r>
            <a:r>
              <a:rPr lang="zh-CN" altLang="en-US" b="0" i="0" dirty="0">
                <a:solidFill>
                  <a:srgbClr val="333333"/>
                </a:solidFill>
                <a:effectLst/>
                <a:latin typeface="Helvetica Neue"/>
              </a:rPr>
              <a:t>。单个子载波的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可表示为：</a:t>
            </a:r>
            <a:endParaRPr lang="en-US" altLang="zh-CN" b="0" i="0" dirty="0">
              <a:solidFill>
                <a:srgbClr val="333333"/>
              </a:solidFill>
              <a:effectLst/>
              <a:latin typeface="Helvetica Neue"/>
            </a:endParaRPr>
          </a:p>
        </p:txBody>
      </p:sp>
      <p:cxnSp>
        <p:nvCxnSpPr>
          <p:cNvPr id="3" name="直接连接符 2">
            <a:extLst>
              <a:ext uri="{FF2B5EF4-FFF2-40B4-BE49-F238E27FC236}">
                <a16:creationId xmlns:a16="http://schemas.microsoft.com/office/drawing/2014/main" id="{F15FFCBB-C5D7-4F05-A7F8-38C4395511CD}"/>
              </a:ext>
            </a:extLst>
          </p:cNvPr>
          <p:cNvCxnSpPr>
            <a:cxnSpLocks/>
          </p:cNvCxnSpPr>
          <p:nvPr/>
        </p:nvCxnSpPr>
        <p:spPr>
          <a:xfrm flipH="1" flipV="1">
            <a:off x="6050416" y="1143000"/>
            <a:ext cx="11720" cy="5562600"/>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3A3E3AE4-EB39-4BA2-AF19-8BC6C7B8BC41}"/>
              </a:ext>
            </a:extLst>
          </p:cNvPr>
          <p:cNvSpPr txBox="1"/>
          <p:nvPr/>
        </p:nvSpPr>
        <p:spPr>
          <a:xfrm>
            <a:off x="8413736" y="1495900"/>
            <a:ext cx="1512358" cy="461665"/>
          </a:xfrm>
          <a:prstGeom prst="rect">
            <a:avLst/>
          </a:prstGeom>
          <a:noFill/>
        </p:spPr>
        <p:txBody>
          <a:bodyPr wrap="square">
            <a:spAutoFit/>
          </a:bodyPr>
          <a:lstStyle/>
          <a:p>
            <a:r>
              <a:rPr lang="en-US" altLang="zh-CN" sz="2400" b="0" i="1" dirty="0">
                <a:solidFill>
                  <a:srgbClr val="333333"/>
                </a:solidFill>
                <a:effectLst/>
                <a:latin typeface="KaTeX_Math"/>
              </a:rPr>
              <a:t>Y</a:t>
            </a:r>
            <a:r>
              <a:rPr lang="en-US" altLang="zh-CN" sz="2400" b="0" dirty="0">
                <a:solidFill>
                  <a:srgbClr val="333333"/>
                </a:solidFill>
                <a:effectLst/>
                <a:latin typeface="KaTeX_Main"/>
              </a:rPr>
              <a:t>=</a:t>
            </a:r>
            <a:r>
              <a:rPr lang="en-US" altLang="zh-CN" sz="2400" b="0" i="1" dirty="0">
                <a:solidFill>
                  <a:srgbClr val="333333"/>
                </a:solidFill>
                <a:effectLst/>
                <a:latin typeface="KaTeX_Math"/>
              </a:rPr>
              <a:t>HX</a:t>
            </a:r>
            <a:r>
              <a:rPr lang="en-US" altLang="zh-CN" sz="2400" b="0" dirty="0">
                <a:solidFill>
                  <a:srgbClr val="333333"/>
                </a:solidFill>
                <a:effectLst/>
                <a:latin typeface="KaTeX_Main"/>
              </a:rPr>
              <a:t>+</a:t>
            </a:r>
            <a:r>
              <a:rPr lang="en-US" altLang="zh-CN" sz="2400" b="0" i="1" dirty="0">
                <a:solidFill>
                  <a:srgbClr val="333333"/>
                </a:solidFill>
                <a:effectLst/>
                <a:latin typeface="KaTeX_Math"/>
              </a:rPr>
              <a:t>N</a:t>
            </a:r>
            <a:endParaRPr lang="zh-CN" altLang="en-US" sz="2400" dirty="0"/>
          </a:p>
        </p:txBody>
      </p:sp>
      <p:sp>
        <p:nvSpPr>
          <p:cNvPr id="35" name="文本框 34">
            <a:extLst>
              <a:ext uri="{FF2B5EF4-FFF2-40B4-BE49-F238E27FC236}">
                <a16:creationId xmlns:a16="http://schemas.microsoft.com/office/drawing/2014/main" id="{1BD66C6F-A37A-4D03-A5E9-D4757C8B72BB}"/>
              </a:ext>
            </a:extLst>
          </p:cNvPr>
          <p:cNvSpPr txBox="1"/>
          <p:nvPr/>
        </p:nvSpPr>
        <p:spPr>
          <a:xfrm>
            <a:off x="6499194" y="1564783"/>
            <a:ext cx="1313394" cy="369332"/>
          </a:xfrm>
          <a:prstGeom prst="rect">
            <a:avLst/>
          </a:prstGeom>
          <a:noFill/>
        </p:spPr>
        <p:txBody>
          <a:bodyPr wrap="square">
            <a:spAutoFit/>
          </a:bodyPr>
          <a:lstStyle/>
          <a:p>
            <a:r>
              <a:rPr lang="zh-CN" altLang="en-US" b="0" i="0" dirty="0">
                <a:solidFill>
                  <a:srgbClr val="333333"/>
                </a:solidFill>
                <a:effectLst/>
                <a:latin typeface="Helvetica Neue"/>
              </a:rPr>
              <a:t>信道建模</a:t>
            </a:r>
            <a:endParaRPr lang="zh-CN" altLang="en-US" dirty="0"/>
          </a:p>
        </p:txBody>
      </p:sp>
      <p:sp>
        <p:nvSpPr>
          <p:cNvPr id="37" name="文本框 36">
            <a:extLst>
              <a:ext uri="{FF2B5EF4-FFF2-40B4-BE49-F238E27FC236}">
                <a16:creationId xmlns:a16="http://schemas.microsoft.com/office/drawing/2014/main" id="{291456A7-BB1B-4497-B8FB-C826DC0CB309}"/>
              </a:ext>
            </a:extLst>
          </p:cNvPr>
          <p:cNvSpPr txBox="1"/>
          <p:nvPr/>
        </p:nvSpPr>
        <p:spPr>
          <a:xfrm>
            <a:off x="6499194" y="2104125"/>
            <a:ext cx="5476364" cy="523220"/>
          </a:xfrm>
          <a:prstGeom prst="rect">
            <a:avLst/>
          </a:prstGeom>
          <a:noFill/>
        </p:spPr>
        <p:txBody>
          <a:bodyPr wrap="square">
            <a:spAutoFit/>
          </a:bodyPr>
          <a:lstStyle/>
          <a:p>
            <a:r>
              <a:rPr lang="zh-CN" altLang="en-US" sz="1400" b="0" i="1" dirty="0">
                <a:solidFill>
                  <a:srgbClr val="333333"/>
                </a:solidFill>
                <a:effectLst/>
                <a:latin typeface="Helvetica Neue"/>
              </a:rPr>
              <a:t>其中</a:t>
            </a:r>
            <a:r>
              <a:rPr lang="en-US" altLang="zh-CN" sz="1400" b="0" i="1" dirty="0">
                <a:solidFill>
                  <a:srgbClr val="333333"/>
                </a:solidFill>
                <a:effectLst/>
                <a:latin typeface="KaTeX_Main"/>
              </a:rPr>
              <a:t>Y</a:t>
            </a:r>
            <a:r>
              <a:rPr lang="zh-CN" altLang="en-US" sz="1400" b="0" i="1" dirty="0">
                <a:solidFill>
                  <a:srgbClr val="333333"/>
                </a:solidFill>
                <a:effectLst/>
                <a:latin typeface="Helvetica Neue"/>
              </a:rPr>
              <a:t>和</a:t>
            </a:r>
            <a:r>
              <a:rPr lang="en-US" altLang="zh-CN" sz="1400" b="0" i="1" dirty="0">
                <a:solidFill>
                  <a:srgbClr val="333333"/>
                </a:solidFill>
                <a:effectLst/>
                <a:latin typeface="KaTeX_Main"/>
              </a:rPr>
              <a:t>X</a:t>
            </a:r>
            <a:r>
              <a:rPr lang="zh-CN" altLang="en-US" sz="1400" b="0" i="1" dirty="0">
                <a:solidFill>
                  <a:srgbClr val="333333"/>
                </a:solidFill>
                <a:effectLst/>
                <a:latin typeface="Helvetica Neue"/>
              </a:rPr>
              <a:t>分别为接收信号向量和发射信号向量，</a:t>
            </a:r>
            <a:r>
              <a:rPr lang="en-US" altLang="zh-CN" sz="1400" b="0" i="1" dirty="0">
                <a:solidFill>
                  <a:srgbClr val="333333"/>
                </a:solidFill>
                <a:effectLst/>
                <a:latin typeface="KaTeX_Main"/>
              </a:rPr>
              <a:t>N</a:t>
            </a:r>
            <a:r>
              <a:rPr lang="zh-CN" altLang="en-US" sz="1400" b="0" i="1" dirty="0">
                <a:solidFill>
                  <a:srgbClr val="333333"/>
                </a:solidFill>
                <a:effectLst/>
                <a:latin typeface="Helvetica Neue"/>
              </a:rPr>
              <a:t>表示信道噪声向量，</a:t>
            </a:r>
            <a:r>
              <a:rPr lang="en-US" altLang="zh-CN" sz="1400" b="0" i="1" dirty="0">
                <a:solidFill>
                  <a:srgbClr val="333333"/>
                </a:solidFill>
                <a:effectLst/>
                <a:latin typeface="KaTeX_Math"/>
              </a:rPr>
              <a:t>H</a:t>
            </a:r>
            <a:r>
              <a:rPr lang="zh-CN" altLang="en-US" sz="1400" b="0" i="1" dirty="0">
                <a:solidFill>
                  <a:srgbClr val="333333"/>
                </a:solidFill>
                <a:effectLst/>
                <a:latin typeface="Helvetica Neue"/>
              </a:rPr>
              <a:t>为信道矩阵（以</a:t>
            </a:r>
            <a:r>
              <a:rPr lang="en-US" altLang="zh-CN" sz="1400" b="0" i="1" dirty="0">
                <a:solidFill>
                  <a:srgbClr val="333333"/>
                </a:solidFill>
                <a:effectLst/>
                <a:latin typeface="Helvetica Neue"/>
              </a:rPr>
              <a:t>CSI</a:t>
            </a:r>
            <a:r>
              <a:rPr lang="zh-CN" altLang="en-US" sz="1400" b="0" i="1" dirty="0">
                <a:solidFill>
                  <a:srgbClr val="333333"/>
                </a:solidFill>
                <a:effectLst/>
                <a:latin typeface="Helvetica Neue"/>
              </a:rPr>
              <a:t>的形式呈现）</a:t>
            </a:r>
            <a:endParaRPr lang="zh-CN" altLang="en-US" sz="1400" i="1" dirty="0"/>
          </a:p>
        </p:txBody>
      </p:sp>
      <p:pic>
        <p:nvPicPr>
          <p:cNvPr id="39" name="图片 38">
            <a:extLst>
              <a:ext uri="{FF2B5EF4-FFF2-40B4-BE49-F238E27FC236}">
                <a16:creationId xmlns:a16="http://schemas.microsoft.com/office/drawing/2014/main" id="{CA064F97-1D48-4DEA-84E7-874543CA0F3D}"/>
              </a:ext>
            </a:extLst>
          </p:cNvPr>
          <p:cNvPicPr>
            <a:picLocks noChangeAspect="1"/>
          </p:cNvPicPr>
          <p:nvPr/>
        </p:nvPicPr>
        <p:blipFill>
          <a:blip r:embed="rId7"/>
          <a:stretch>
            <a:fillRect/>
          </a:stretch>
        </p:blipFill>
        <p:spPr>
          <a:xfrm>
            <a:off x="7015614" y="2744902"/>
            <a:ext cx="4400706" cy="2108095"/>
          </a:xfrm>
          <a:prstGeom prst="rect">
            <a:avLst/>
          </a:prstGeom>
        </p:spPr>
      </p:pic>
      <mc:AlternateContent xmlns:mc="http://schemas.openxmlformats.org/markup-compatibility/2006">
        <mc:Choice xmlns:a14="http://schemas.microsoft.com/office/drawing/2010/main" Requires="a14">
          <p:sp>
            <p:nvSpPr>
              <p:cNvPr id="40" name="文本框 39">
                <a:extLst>
                  <a:ext uri="{FF2B5EF4-FFF2-40B4-BE49-F238E27FC236}">
                    <a16:creationId xmlns:a16="http://schemas.microsoft.com/office/drawing/2014/main" id="{67EDFC05-F622-4A23-AC96-E8C3B0FEABE5}"/>
                  </a:ext>
                </a:extLst>
              </p:cNvPr>
              <p:cNvSpPr txBox="1"/>
              <p:nvPr/>
            </p:nvSpPr>
            <p:spPr>
              <a:xfrm>
                <a:off x="6909580" y="6428286"/>
                <a:ext cx="1094595" cy="288990"/>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h</m:t>
                    </m:r>
                    <m:r>
                      <a:rPr lang="en-US" altLang="zh-CN"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h</m:t>
                        </m:r>
                      </m:e>
                    </m:d>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𝑗</m:t>
                        </m:r>
                        <m:r>
                          <a:rPr lang="zh-CN" altLang="en-US" b="0" i="1" smtClean="0">
                            <a:latin typeface="Cambria Math" panose="02040503050406030204" pitchFamily="18" charset="0"/>
                          </a:rPr>
                          <m:t>𝜗</m:t>
                        </m:r>
                      </m:sup>
                    </m:sSup>
                  </m:oMath>
                </a14:m>
                <a:r>
                  <a:rPr lang="en-US" altLang="zh-CN" i="1" dirty="0">
                    <a:solidFill>
                      <a:srgbClr val="333333"/>
                    </a:solidFill>
                    <a:latin typeface="KaTeX_Math"/>
                  </a:rPr>
                  <a:t> </a:t>
                </a:r>
                <a:endParaRPr lang="zh-CN" altLang="en-US" dirty="0"/>
              </a:p>
            </p:txBody>
          </p:sp>
        </mc:Choice>
        <mc:Fallback>
          <p:sp>
            <p:nvSpPr>
              <p:cNvPr id="40" name="文本框 39">
                <a:extLst>
                  <a:ext uri="{FF2B5EF4-FFF2-40B4-BE49-F238E27FC236}">
                    <a16:creationId xmlns:a16="http://schemas.microsoft.com/office/drawing/2014/main" id="{67EDFC05-F622-4A23-AC96-E8C3B0FEABE5}"/>
                  </a:ext>
                </a:extLst>
              </p:cNvPr>
              <p:cNvSpPr txBox="1">
                <a:spLocks noRot="1" noChangeAspect="1" noMove="1" noResize="1" noEditPoints="1" noAdjustHandles="1" noChangeArrowheads="1" noChangeShapeType="1" noTextEdit="1"/>
              </p:cNvSpPr>
              <p:nvPr/>
            </p:nvSpPr>
            <p:spPr>
              <a:xfrm>
                <a:off x="6909580" y="6428286"/>
                <a:ext cx="1094595" cy="288990"/>
              </a:xfrm>
              <a:prstGeom prst="rect">
                <a:avLst/>
              </a:prstGeom>
              <a:blipFill>
                <a:blip r:embed="rId8"/>
                <a:stretch>
                  <a:fillRect l="-7778" t="-8511" b="-8511"/>
                </a:stretch>
              </a:blipFill>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B9D0759A-0E03-49E9-A5BB-E1374F0AEE6A}"/>
              </a:ext>
            </a:extLst>
          </p:cNvPr>
          <p:cNvSpPr txBox="1"/>
          <p:nvPr/>
        </p:nvSpPr>
        <p:spPr>
          <a:xfrm>
            <a:off x="8181083" y="6372217"/>
            <a:ext cx="3316650" cy="369332"/>
          </a:xfrm>
          <a:prstGeom prst="rect">
            <a:avLst/>
          </a:prstGeom>
          <a:noFill/>
        </p:spPr>
        <p:txBody>
          <a:bodyPr wrap="square">
            <a:spAutoFit/>
          </a:bodyPr>
          <a:lstStyle/>
          <a:p>
            <a:r>
              <a:rPr lang="zh-CN" altLang="en-US" b="0" i="0" dirty="0">
                <a:solidFill>
                  <a:srgbClr val="333333"/>
                </a:solidFill>
                <a:effectLst/>
                <a:latin typeface="Helvetica Neue"/>
              </a:rPr>
              <a:t>其中</a:t>
            </a:r>
            <a:r>
              <a:rPr lang="en-US" altLang="zh-CN" b="0" dirty="0">
                <a:solidFill>
                  <a:srgbClr val="333333"/>
                </a:solidFill>
                <a:effectLst/>
                <a:latin typeface="KaTeX_Main"/>
              </a:rPr>
              <a:t>∣</a:t>
            </a:r>
            <a:r>
              <a:rPr lang="en-US" altLang="zh-CN" b="0" i="1" dirty="0">
                <a:solidFill>
                  <a:srgbClr val="333333"/>
                </a:solidFill>
                <a:effectLst/>
                <a:latin typeface="KaTeX_Math"/>
              </a:rPr>
              <a:t>h</a:t>
            </a:r>
            <a:r>
              <a:rPr lang="zh-CN" altLang="en-US" b="0" dirty="0">
                <a:solidFill>
                  <a:srgbClr val="333333"/>
                </a:solidFill>
                <a:effectLst/>
                <a:latin typeface="KaTeX_Main"/>
              </a:rPr>
              <a:t>∣</a:t>
            </a:r>
            <a:r>
              <a:rPr lang="zh-CN" altLang="en-US" b="0" i="0" dirty="0">
                <a:solidFill>
                  <a:srgbClr val="333333"/>
                </a:solidFill>
                <a:effectLst/>
                <a:latin typeface="Helvetica Neue"/>
              </a:rPr>
              <a:t>和</a:t>
            </a:r>
            <a:r>
              <a:rPr lang="en-US" altLang="zh-CN" b="0" i="1" dirty="0">
                <a:solidFill>
                  <a:srgbClr val="333333"/>
                </a:solidFill>
                <a:effectLst/>
                <a:latin typeface="KaTeX_Math"/>
              </a:rPr>
              <a:t>θ</a:t>
            </a:r>
            <a:r>
              <a:rPr lang="zh-CN" altLang="en-US" b="0" i="0" dirty="0">
                <a:solidFill>
                  <a:srgbClr val="333333"/>
                </a:solidFill>
                <a:effectLst/>
                <a:latin typeface="Helvetica Neue"/>
              </a:rPr>
              <a:t>分别为幅度和相位</a:t>
            </a:r>
            <a:endParaRPr lang="zh-CN" altLang="en-US" dirty="0"/>
          </a:p>
        </p:txBody>
      </p:sp>
    </p:spTree>
    <p:custDataLst>
      <p:tags r:id="rId1"/>
    </p:custDataLst>
    <p:extLst>
      <p:ext uri="{BB962C8B-B14F-4D97-AF65-F5344CB8AC3E}">
        <p14:creationId xmlns:p14="http://schemas.microsoft.com/office/powerpoint/2010/main" val="61143569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0B28935-36A0-4674-A2CD-9099504F5890}"/>
              </a:ext>
            </a:extLst>
          </p:cNvPr>
          <p:cNvSpPr txBox="1"/>
          <p:nvPr/>
        </p:nvSpPr>
        <p:spPr>
          <a:xfrm>
            <a:off x="177443" y="1201360"/>
            <a:ext cx="6333066" cy="369332"/>
          </a:xfrm>
          <a:prstGeom prst="rect">
            <a:avLst/>
          </a:prstGeom>
          <a:noFill/>
        </p:spPr>
        <p:txBody>
          <a:bodyPr wrap="square">
            <a:spAutoFit/>
          </a:bodyPr>
          <a:lstStyle/>
          <a:p>
            <a:pPr algn="l"/>
            <a:r>
              <a:rPr lang="zh-CN" altLang="en-US" b="1" i="0" dirty="0">
                <a:solidFill>
                  <a:srgbClr val="000000"/>
                </a:solidFill>
                <a:effectLst/>
                <a:latin typeface="Helvetica Neue"/>
              </a:rPr>
              <a:t>人体活动对</a:t>
            </a:r>
            <a:r>
              <a:rPr lang="en-US" altLang="zh-CN" b="1" i="0" dirty="0">
                <a:solidFill>
                  <a:srgbClr val="000000"/>
                </a:solidFill>
                <a:effectLst/>
                <a:latin typeface="Helvetica Neue"/>
              </a:rPr>
              <a:t>CSI</a:t>
            </a:r>
            <a:r>
              <a:rPr lang="zh-CN" altLang="en-US" b="1" i="0" dirty="0">
                <a:solidFill>
                  <a:srgbClr val="000000"/>
                </a:solidFill>
                <a:effectLst/>
                <a:latin typeface="Helvetica Neue"/>
              </a:rPr>
              <a:t>的影响</a:t>
            </a:r>
          </a:p>
        </p:txBody>
      </p:sp>
      <p:sp>
        <p:nvSpPr>
          <p:cNvPr id="8" name="文本框 7">
            <a:extLst>
              <a:ext uri="{FF2B5EF4-FFF2-40B4-BE49-F238E27FC236}">
                <a16:creationId xmlns:a16="http://schemas.microsoft.com/office/drawing/2014/main" id="{7D03FC45-E1FA-4403-9A44-C613348BCDB9}"/>
              </a:ext>
            </a:extLst>
          </p:cNvPr>
          <p:cNvSpPr txBox="1"/>
          <p:nvPr/>
        </p:nvSpPr>
        <p:spPr>
          <a:xfrm>
            <a:off x="177443" y="4316987"/>
            <a:ext cx="2078567" cy="923330"/>
          </a:xfrm>
          <a:prstGeom prst="rect">
            <a:avLst/>
          </a:prstGeom>
          <a:noFill/>
        </p:spPr>
        <p:txBody>
          <a:bodyPr wrap="square">
            <a:spAutoFit/>
          </a:bodyPr>
          <a:lstStyle/>
          <a:p>
            <a:r>
              <a:rPr lang="zh-CN" altLang="en-US" b="0" i="0" dirty="0">
                <a:solidFill>
                  <a:srgbClr val="333333"/>
                </a:solidFill>
                <a:effectLst/>
                <a:latin typeface="Helvetica Neue"/>
              </a:rPr>
              <a:t>如果环境中没有人员或人员无活动，</a:t>
            </a:r>
            <a:r>
              <a:rPr lang="zh-CN" altLang="en-US" b="1" i="0" dirty="0">
                <a:solidFill>
                  <a:srgbClr val="333333"/>
                </a:solidFill>
                <a:effectLst/>
                <a:latin typeface="Helvetica Neue"/>
              </a:rPr>
              <a:t>信道会相对稳定</a:t>
            </a:r>
            <a:r>
              <a:rPr lang="zh-CN" altLang="en-US" b="0" i="0" dirty="0">
                <a:solidFill>
                  <a:srgbClr val="333333"/>
                </a:solidFill>
                <a:effectLst/>
                <a:latin typeface="Helvetica Neue"/>
              </a:rPr>
              <a:t>。</a:t>
            </a:r>
            <a:endParaRPr lang="zh-CN" altLang="en-US" dirty="0"/>
          </a:p>
        </p:txBody>
      </p:sp>
      <p:sp>
        <p:nvSpPr>
          <p:cNvPr id="9" name="文本框 8">
            <a:extLst>
              <a:ext uri="{FF2B5EF4-FFF2-40B4-BE49-F238E27FC236}">
                <a16:creationId xmlns:a16="http://schemas.microsoft.com/office/drawing/2014/main" id="{DD7FE37C-2D30-4143-BCD5-ECC2C04E23C6}"/>
              </a:ext>
            </a:extLst>
          </p:cNvPr>
          <p:cNvSpPr txBox="1"/>
          <p:nvPr/>
        </p:nvSpPr>
        <p:spPr>
          <a:xfrm>
            <a:off x="6510509" y="1201360"/>
            <a:ext cx="6527800" cy="369332"/>
          </a:xfrm>
          <a:prstGeom prst="rect">
            <a:avLst/>
          </a:prstGeom>
          <a:noFill/>
        </p:spPr>
        <p:txBody>
          <a:bodyPr wrap="square">
            <a:spAutoFit/>
          </a:bodyPr>
          <a:lstStyle/>
          <a:p>
            <a:pPr algn="l"/>
            <a:r>
              <a:rPr lang="zh-CN" altLang="en-US" b="1" i="0" dirty="0">
                <a:solidFill>
                  <a:srgbClr val="000000"/>
                </a:solidFill>
                <a:effectLst/>
                <a:latin typeface="Helvetica Neue"/>
              </a:rPr>
              <a:t>目标跌倒活动类型</a:t>
            </a:r>
          </a:p>
        </p:txBody>
      </p:sp>
      <p:sp>
        <p:nvSpPr>
          <p:cNvPr id="10" name="文本框 9">
            <a:extLst>
              <a:ext uri="{FF2B5EF4-FFF2-40B4-BE49-F238E27FC236}">
                <a16:creationId xmlns:a16="http://schemas.microsoft.com/office/drawing/2014/main" id="{D71FD6C3-23CF-46F3-92CA-2248FFA066A0}"/>
              </a:ext>
            </a:extLst>
          </p:cNvPr>
          <p:cNvSpPr txBox="1"/>
          <p:nvPr/>
        </p:nvSpPr>
        <p:spPr>
          <a:xfrm>
            <a:off x="6253057" y="1938871"/>
            <a:ext cx="5303944" cy="646331"/>
          </a:xfrm>
          <a:prstGeom prst="rect">
            <a:avLst/>
          </a:prstGeom>
          <a:noFill/>
        </p:spPr>
        <p:txBody>
          <a:bodyPr wrap="square">
            <a:spAutoFit/>
          </a:bodyPr>
          <a:lstStyle/>
          <a:p>
            <a:r>
              <a:rPr lang="zh-CN" altLang="en-US" b="0" i="0" dirty="0">
                <a:solidFill>
                  <a:srgbClr val="333333"/>
                </a:solidFill>
                <a:effectLst/>
                <a:latin typeface="Helvetica Neue"/>
              </a:rPr>
              <a:t>老年人跌倒的方式多种多样，研究旨在检测与</a:t>
            </a:r>
            <a:r>
              <a:rPr lang="zh-CN" altLang="en-US" b="0" i="0" dirty="0">
                <a:solidFill>
                  <a:srgbClr val="FF0000"/>
                </a:solidFill>
                <a:effectLst/>
                <a:latin typeface="Helvetica Neue"/>
              </a:rPr>
              <a:t>两种过渡活动</a:t>
            </a:r>
            <a:r>
              <a:rPr lang="zh-CN" altLang="en-US" b="0" i="0" dirty="0">
                <a:solidFill>
                  <a:srgbClr val="333333"/>
                </a:solidFill>
                <a:effectLst/>
                <a:latin typeface="Helvetica Neue"/>
              </a:rPr>
              <a:t>相关的跌倒情况：</a:t>
            </a:r>
            <a:endParaRPr lang="zh-CN" altLang="en-US" b="1" dirty="0"/>
          </a:p>
        </p:txBody>
      </p:sp>
      <p:sp>
        <p:nvSpPr>
          <p:cNvPr id="11" name="标题 1">
            <a:extLst>
              <a:ext uri="{FF2B5EF4-FFF2-40B4-BE49-F238E27FC236}">
                <a16:creationId xmlns:a16="http://schemas.microsoft.com/office/drawing/2014/main" id="{B8B55E02-9F3E-4D41-9A05-7E73BD6334AD}"/>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初步分析</a:t>
            </a:r>
          </a:p>
        </p:txBody>
      </p:sp>
      <p:cxnSp>
        <p:nvCxnSpPr>
          <p:cNvPr id="12" name="直接连接符 11">
            <a:extLst>
              <a:ext uri="{FF2B5EF4-FFF2-40B4-BE49-F238E27FC236}">
                <a16:creationId xmlns:a16="http://schemas.microsoft.com/office/drawing/2014/main" id="{70A5B1D7-6A31-469B-87F8-BC3765EE3DF5}"/>
              </a:ext>
            </a:extLst>
          </p:cNvPr>
          <p:cNvCxnSpPr>
            <a:cxnSpLocks/>
          </p:cNvCxnSpPr>
          <p:nvPr/>
        </p:nvCxnSpPr>
        <p:spPr>
          <a:xfrm flipH="1" flipV="1">
            <a:off x="6050416" y="1143000"/>
            <a:ext cx="11720" cy="5562600"/>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6EC9E71E-E84F-4E2D-83AA-E11C3E6E8744}"/>
              </a:ext>
            </a:extLst>
          </p:cNvPr>
          <p:cNvPicPr>
            <a:picLocks noChangeAspect="1"/>
          </p:cNvPicPr>
          <p:nvPr/>
        </p:nvPicPr>
        <p:blipFill>
          <a:blip r:embed="rId6"/>
          <a:stretch>
            <a:fillRect/>
          </a:stretch>
        </p:blipFill>
        <p:spPr>
          <a:xfrm>
            <a:off x="793963" y="1776566"/>
            <a:ext cx="4205784" cy="2008845"/>
          </a:xfrm>
          <a:prstGeom prst="rect">
            <a:avLst/>
          </a:prstGeom>
        </p:spPr>
      </p:pic>
      <p:sp>
        <p:nvSpPr>
          <p:cNvPr id="15" name="文本框 14">
            <a:extLst>
              <a:ext uri="{FF2B5EF4-FFF2-40B4-BE49-F238E27FC236}">
                <a16:creationId xmlns:a16="http://schemas.microsoft.com/office/drawing/2014/main" id="{5B4ABA64-D4C6-4314-99D6-D3FA8FA11969}"/>
              </a:ext>
            </a:extLst>
          </p:cNvPr>
          <p:cNvSpPr txBox="1"/>
          <p:nvPr/>
        </p:nvSpPr>
        <p:spPr>
          <a:xfrm>
            <a:off x="6253057" y="2771103"/>
            <a:ext cx="5820410" cy="1200329"/>
          </a:xfrm>
          <a:prstGeom prst="rect">
            <a:avLst/>
          </a:prstGeom>
          <a:noFill/>
        </p:spPr>
        <p:txBody>
          <a:bodyPr wrap="square">
            <a:spAutoFit/>
          </a:bodyPr>
          <a:lstStyle/>
          <a:p>
            <a:r>
              <a:rPr lang="en-US" altLang="zh-CN" b="1" i="0" dirty="0">
                <a:solidFill>
                  <a:srgbClr val="333333"/>
                </a:solidFill>
                <a:effectLst/>
                <a:latin typeface="Helvetica Neue"/>
              </a:rPr>
              <a:t>1</a:t>
            </a:r>
            <a:r>
              <a:rPr lang="zh-CN" altLang="en-US" b="1" i="0" dirty="0">
                <a:solidFill>
                  <a:srgbClr val="333333"/>
                </a:solidFill>
                <a:effectLst/>
                <a:latin typeface="Helvetica Neue"/>
              </a:rPr>
              <a:t>）</a:t>
            </a:r>
            <a:r>
              <a:rPr lang="zh-CN" altLang="en-US" b="1" i="0" dirty="0">
                <a:solidFill>
                  <a:srgbClr val="FF0000"/>
                </a:solidFill>
                <a:effectLst/>
                <a:latin typeface="Helvetica Neue"/>
              </a:rPr>
              <a:t>站立跌倒</a:t>
            </a:r>
            <a:r>
              <a:rPr lang="zh-CN" altLang="en-US" b="0" i="0" dirty="0">
                <a:solidFill>
                  <a:srgbClr val="333333"/>
                </a:solidFill>
                <a:effectLst/>
                <a:latin typeface="Helvetica Neue"/>
              </a:rPr>
              <a:t>：指老年人从床或椅子上起身时发生的跌倒，例如老年人刚从椅子上站起来就摔倒；</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en-US" altLang="zh-CN" b="1" i="0" dirty="0">
                <a:solidFill>
                  <a:srgbClr val="333333"/>
                </a:solidFill>
                <a:effectLst/>
                <a:latin typeface="Helvetica Neue"/>
              </a:rPr>
              <a:t>2</a:t>
            </a:r>
            <a:r>
              <a:rPr lang="zh-CN" altLang="en-US" b="1" i="0" dirty="0">
                <a:solidFill>
                  <a:srgbClr val="333333"/>
                </a:solidFill>
                <a:effectLst/>
                <a:latin typeface="Helvetica Neue"/>
              </a:rPr>
              <a:t>）</a:t>
            </a:r>
            <a:r>
              <a:rPr lang="zh-CN" altLang="en-US" b="1" i="0" dirty="0">
                <a:solidFill>
                  <a:srgbClr val="FF0000"/>
                </a:solidFill>
                <a:effectLst/>
                <a:latin typeface="Helvetica Neue"/>
              </a:rPr>
              <a:t>行走跌倒</a:t>
            </a:r>
            <a:r>
              <a:rPr lang="zh-CN" altLang="en-US" b="1" i="0" dirty="0">
                <a:solidFill>
                  <a:srgbClr val="333333"/>
                </a:solidFill>
                <a:effectLst/>
                <a:latin typeface="Helvetica Neue"/>
              </a:rPr>
              <a:t>：</a:t>
            </a:r>
            <a:r>
              <a:rPr lang="zh-CN" altLang="en-US" b="0" i="0" dirty="0">
                <a:solidFill>
                  <a:srgbClr val="333333"/>
                </a:solidFill>
                <a:effectLst/>
                <a:latin typeface="Helvetica Neue"/>
              </a:rPr>
              <a:t>指老年人行走时发生的跌倒。</a:t>
            </a:r>
            <a:endParaRPr lang="zh-CN" altLang="en-US" dirty="0"/>
          </a:p>
        </p:txBody>
      </p:sp>
      <p:sp>
        <p:nvSpPr>
          <p:cNvPr id="18" name="文本框 17">
            <a:extLst>
              <a:ext uri="{FF2B5EF4-FFF2-40B4-BE49-F238E27FC236}">
                <a16:creationId xmlns:a16="http://schemas.microsoft.com/office/drawing/2014/main" id="{1EB19272-DB5A-446C-B2C7-6A2916905779}"/>
              </a:ext>
            </a:extLst>
          </p:cNvPr>
          <p:cNvSpPr txBox="1"/>
          <p:nvPr/>
        </p:nvSpPr>
        <p:spPr>
          <a:xfrm>
            <a:off x="6309015" y="4316987"/>
            <a:ext cx="5593214" cy="1754326"/>
          </a:xfrm>
          <a:prstGeom prst="rect">
            <a:avLst/>
          </a:prstGeom>
          <a:noFill/>
        </p:spPr>
        <p:txBody>
          <a:bodyPr wrap="square">
            <a:spAutoFit/>
          </a:bodyPr>
          <a:lstStyle/>
          <a:p>
            <a:r>
              <a:rPr lang="zh-CN" altLang="en-US" b="0" i="0" dirty="0">
                <a:solidFill>
                  <a:srgbClr val="333333"/>
                </a:solidFill>
                <a:effectLst/>
                <a:latin typeface="Helvetica Neue"/>
              </a:rPr>
              <a:t>根据</a:t>
            </a:r>
            <a:r>
              <a:rPr lang="en-US" altLang="zh-CN" b="0" i="0" dirty="0" err="1">
                <a:solidFill>
                  <a:srgbClr val="333333"/>
                </a:solidFill>
                <a:effectLst/>
                <a:latin typeface="Helvetica Neue"/>
              </a:rPr>
              <a:t>SignalQuest</a:t>
            </a:r>
            <a:r>
              <a:rPr lang="zh-CN" altLang="en-US" b="0" i="0" dirty="0">
                <a:solidFill>
                  <a:srgbClr val="333333"/>
                </a:solidFill>
                <a:effectLst/>
                <a:latin typeface="Helvetica Neue"/>
              </a:rPr>
              <a:t>关于老年人跌倒的研究</a:t>
            </a:r>
            <a:r>
              <a:rPr lang="en-US" altLang="zh-CN" b="0" i="0" dirty="0">
                <a:solidFill>
                  <a:srgbClr val="333333"/>
                </a:solidFill>
                <a:effectLst/>
                <a:latin typeface="Helvetica Neue"/>
              </a:rPr>
              <a:t>[38]</a:t>
            </a:r>
            <a:r>
              <a:rPr lang="zh-CN" altLang="en-US" b="0" i="0" dirty="0">
                <a:solidFill>
                  <a:srgbClr val="333333"/>
                </a:solidFill>
                <a:effectLst/>
                <a:latin typeface="Helvetica Neue"/>
              </a:rPr>
              <a:t>，</a:t>
            </a:r>
            <a:r>
              <a:rPr lang="en-US" altLang="zh-CN" b="0" i="0" dirty="0">
                <a:solidFill>
                  <a:srgbClr val="333333"/>
                </a:solidFill>
                <a:effectLst/>
                <a:latin typeface="Helvetica Neue"/>
              </a:rPr>
              <a:t>24%</a:t>
            </a:r>
            <a:r>
              <a:rPr lang="zh-CN" altLang="en-US" b="0" i="0" dirty="0">
                <a:solidFill>
                  <a:srgbClr val="333333"/>
                </a:solidFill>
                <a:effectLst/>
                <a:latin typeface="Helvetica Neue"/>
              </a:rPr>
              <a:t>的跌倒属于第一种情况，</a:t>
            </a:r>
            <a:r>
              <a:rPr lang="en-US" altLang="zh-CN" b="0" i="0" dirty="0">
                <a:solidFill>
                  <a:srgbClr val="333333"/>
                </a:solidFill>
                <a:effectLst/>
                <a:latin typeface="Helvetica Neue"/>
              </a:rPr>
              <a:t>39%</a:t>
            </a:r>
            <a:r>
              <a:rPr lang="zh-CN" altLang="en-US" b="0" i="0" dirty="0">
                <a:solidFill>
                  <a:srgbClr val="333333"/>
                </a:solidFill>
                <a:effectLst/>
                <a:latin typeface="Helvetica Neue"/>
              </a:rPr>
              <a:t>的跌倒属于第二种情况。</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i="0" dirty="0">
                <a:solidFill>
                  <a:srgbClr val="333333"/>
                </a:solidFill>
                <a:effectLst/>
                <a:latin typeface="Helvetica Neue"/>
              </a:rPr>
              <a:t>因此，本研究针对</a:t>
            </a:r>
            <a:r>
              <a:rPr lang="en-US" altLang="zh-CN" i="0" dirty="0">
                <a:solidFill>
                  <a:srgbClr val="333333"/>
                </a:solidFill>
                <a:effectLst/>
                <a:latin typeface="Helvetica Neue"/>
              </a:rPr>
              <a:t>63%</a:t>
            </a:r>
            <a:r>
              <a:rPr lang="zh-CN" altLang="en-US" i="0" dirty="0">
                <a:solidFill>
                  <a:srgbClr val="333333"/>
                </a:solidFill>
                <a:effectLst/>
                <a:latin typeface="Helvetica Neue"/>
              </a:rPr>
              <a:t>的跌倒场景，</a:t>
            </a:r>
            <a:r>
              <a:rPr lang="zh-CN" altLang="en-US" b="1" i="0" dirty="0">
                <a:solidFill>
                  <a:srgbClr val="333333"/>
                </a:solidFill>
                <a:effectLst/>
                <a:latin typeface="Helvetica Neue"/>
              </a:rPr>
              <a:t>其余跌倒类型（如下楼梯、户外活动时的跌倒）将在未来的工作中解决</a:t>
            </a:r>
            <a:r>
              <a:rPr lang="zh-CN" altLang="en-US" i="0" dirty="0">
                <a:solidFill>
                  <a:srgbClr val="333333"/>
                </a:solidFill>
                <a:effectLst/>
                <a:latin typeface="Helvetica Neue"/>
              </a:rPr>
              <a:t>。</a:t>
            </a:r>
            <a:endParaRPr lang="zh-CN" altLang="en-US" dirty="0"/>
          </a:p>
        </p:txBody>
      </p:sp>
      <p:sp>
        <p:nvSpPr>
          <p:cNvPr id="19" name="文本框 18">
            <a:extLst>
              <a:ext uri="{FF2B5EF4-FFF2-40B4-BE49-F238E27FC236}">
                <a16:creationId xmlns:a16="http://schemas.microsoft.com/office/drawing/2014/main" id="{935E8A90-B75C-475F-A807-7A17D8A3DFC3}"/>
              </a:ext>
            </a:extLst>
          </p:cNvPr>
          <p:cNvSpPr txBox="1"/>
          <p:nvPr/>
        </p:nvSpPr>
        <p:spPr>
          <a:xfrm>
            <a:off x="232106" y="5733046"/>
            <a:ext cx="5249690" cy="646331"/>
          </a:xfrm>
          <a:prstGeom prst="rect">
            <a:avLst/>
          </a:prstGeom>
          <a:noFill/>
        </p:spPr>
        <p:txBody>
          <a:bodyPr wrap="square">
            <a:spAutoFit/>
          </a:bodyPr>
          <a:lstStyle/>
          <a:p>
            <a:r>
              <a:rPr lang="zh-CN" altLang="en-US" b="0" i="0" dirty="0">
                <a:solidFill>
                  <a:srgbClr val="333333"/>
                </a:solidFill>
                <a:effectLst/>
                <a:latin typeface="Helvetica Neue"/>
              </a:rPr>
              <a:t>通过将不同的</a:t>
            </a:r>
            <a:r>
              <a:rPr lang="zh-CN" altLang="en-US" b="0" i="0" dirty="0">
                <a:solidFill>
                  <a:srgbClr val="FF0000"/>
                </a:solidFill>
                <a:effectLst/>
                <a:latin typeface="Helvetica Neue"/>
              </a:rPr>
              <a:t>信道失真模式</a:t>
            </a:r>
            <a:r>
              <a:rPr lang="zh-CN" altLang="en-US" b="0" i="0" dirty="0">
                <a:solidFill>
                  <a:srgbClr val="333333"/>
                </a:solidFill>
                <a:effectLst/>
                <a:latin typeface="Helvetica Neue"/>
              </a:rPr>
              <a:t>与对应的</a:t>
            </a:r>
            <a:r>
              <a:rPr lang="zh-CN" altLang="en-US" b="0" i="0" dirty="0">
                <a:solidFill>
                  <a:srgbClr val="FF0000"/>
                </a:solidFill>
                <a:effectLst/>
                <a:latin typeface="Helvetica Neue"/>
              </a:rPr>
              <a:t>人类活动</a:t>
            </a:r>
            <a:r>
              <a:rPr lang="zh-CN" altLang="en-US" b="0" i="0" dirty="0">
                <a:solidFill>
                  <a:srgbClr val="333333"/>
                </a:solidFill>
                <a:effectLst/>
                <a:latin typeface="Helvetica Neue"/>
              </a:rPr>
              <a:t>进行</a:t>
            </a:r>
            <a:r>
              <a:rPr lang="zh-CN" altLang="en-US" b="0" i="0" dirty="0">
                <a:solidFill>
                  <a:srgbClr val="FF0000"/>
                </a:solidFill>
                <a:effectLst/>
                <a:latin typeface="Helvetica Neue"/>
              </a:rPr>
              <a:t>映射</a:t>
            </a:r>
            <a:r>
              <a:rPr lang="zh-CN" altLang="en-US" b="0" i="0" dirty="0">
                <a:solidFill>
                  <a:srgbClr val="333333"/>
                </a:solidFill>
                <a:effectLst/>
                <a:latin typeface="Helvetica Neue"/>
              </a:rPr>
              <a:t>，即可实现人类活动的识别。</a:t>
            </a:r>
            <a:endParaRPr lang="zh-CN" altLang="en-US" dirty="0"/>
          </a:p>
        </p:txBody>
      </p:sp>
      <p:sp>
        <p:nvSpPr>
          <p:cNvPr id="24" name="文本框 23">
            <a:extLst>
              <a:ext uri="{FF2B5EF4-FFF2-40B4-BE49-F238E27FC236}">
                <a16:creationId xmlns:a16="http://schemas.microsoft.com/office/drawing/2014/main" id="{022581F6-DDC0-4E7F-8A52-FEE991FCA43B}"/>
              </a:ext>
            </a:extLst>
          </p:cNvPr>
          <p:cNvSpPr txBox="1"/>
          <p:nvPr/>
        </p:nvSpPr>
        <p:spPr>
          <a:xfrm>
            <a:off x="3083229" y="4340523"/>
            <a:ext cx="2679508" cy="1217383"/>
          </a:xfrm>
          <a:prstGeom prst="rect">
            <a:avLst/>
          </a:prstGeom>
          <a:noFill/>
        </p:spPr>
        <p:txBody>
          <a:bodyPr wrap="square">
            <a:spAutoFit/>
          </a:bodyPr>
          <a:lstStyle/>
          <a:p>
            <a:r>
              <a:rPr lang="zh-CN" altLang="en-US" b="0" i="0" dirty="0">
                <a:solidFill>
                  <a:srgbClr val="333333"/>
                </a:solidFill>
                <a:effectLst/>
                <a:latin typeface="Helvetica Neue"/>
              </a:rPr>
              <a:t>当人员</a:t>
            </a:r>
            <a:r>
              <a:rPr lang="zh-CN" altLang="en-US" b="1" i="0" dirty="0">
                <a:solidFill>
                  <a:srgbClr val="333333"/>
                </a:solidFill>
                <a:effectLst/>
                <a:latin typeface="Helvetica Neue"/>
              </a:rPr>
              <a:t>移动</a:t>
            </a:r>
            <a:r>
              <a:rPr lang="zh-CN" altLang="en-US" b="0" i="0" dirty="0">
                <a:solidFill>
                  <a:srgbClr val="333333"/>
                </a:solidFill>
                <a:effectLst/>
                <a:latin typeface="Helvetica Neue"/>
              </a:rPr>
              <a:t>时，散射信号会发生变化，导致明显的</a:t>
            </a:r>
            <a:r>
              <a:rPr lang="zh-CN" altLang="en-US" b="1" i="0" dirty="0">
                <a:solidFill>
                  <a:srgbClr val="FF0000"/>
                </a:solidFill>
                <a:effectLst/>
                <a:latin typeface="Helvetica Neue"/>
              </a:rPr>
              <a:t>信道失真</a:t>
            </a:r>
            <a:r>
              <a:rPr lang="zh-CN" altLang="en-US" b="0" i="0" dirty="0">
                <a:solidFill>
                  <a:srgbClr val="333333"/>
                </a:solidFill>
                <a:effectLst/>
                <a:latin typeface="Helvetica Neue"/>
              </a:rPr>
              <a:t>（包括</a:t>
            </a:r>
            <a:r>
              <a:rPr lang="zh-CN" altLang="en-US" b="1" i="0" dirty="0">
                <a:solidFill>
                  <a:srgbClr val="FF0000"/>
                </a:solidFill>
                <a:effectLst/>
                <a:latin typeface="Helvetica Neue"/>
              </a:rPr>
              <a:t>幅度衰减和相位偏移</a:t>
            </a:r>
            <a:r>
              <a:rPr lang="zh-CN" altLang="en-US" b="0" i="0" dirty="0">
                <a:solidFill>
                  <a:srgbClr val="333333"/>
                </a:solidFill>
                <a:effectLst/>
                <a:latin typeface="Helvetica Neue"/>
              </a:rPr>
              <a:t>）。</a:t>
            </a:r>
            <a:endParaRPr lang="zh-CN" altLang="en-US" dirty="0"/>
          </a:p>
        </p:txBody>
      </p:sp>
      <p:cxnSp>
        <p:nvCxnSpPr>
          <p:cNvPr id="14" name="直接箭头连接符 13">
            <a:extLst>
              <a:ext uri="{FF2B5EF4-FFF2-40B4-BE49-F238E27FC236}">
                <a16:creationId xmlns:a16="http://schemas.microsoft.com/office/drawing/2014/main" id="{0BAD22B1-EEF1-49C0-B864-2214A3530F6D}"/>
              </a:ext>
            </a:extLst>
          </p:cNvPr>
          <p:cNvCxnSpPr/>
          <p:nvPr/>
        </p:nvCxnSpPr>
        <p:spPr>
          <a:xfrm flipH="1">
            <a:off x="1126067" y="3149600"/>
            <a:ext cx="939800" cy="947744"/>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A3B5B24-F21C-4F27-8772-A52EE87C709D}"/>
              </a:ext>
            </a:extLst>
          </p:cNvPr>
          <p:cNvSpPr txBox="1"/>
          <p:nvPr/>
        </p:nvSpPr>
        <p:spPr>
          <a:xfrm>
            <a:off x="3085625" y="4036009"/>
            <a:ext cx="1803757" cy="369332"/>
          </a:xfrm>
          <a:prstGeom prst="rect">
            <a:avLst/>
          </a:prstGeom>
          <a:noFill/>
        </p:spPr>
        <p:txBody>
          <a:bodyPr wrap="square">
            <a:spAutoFit/>
          </a:bodyPr>
          <a:lstStyle/>
          <a:p>
            <a:pPr algn="l"/>
            <a:r>
              <a:rPr lang="zh-CN" altLang="en-US" b="1" dirty="0">
                <a:solidFill>
                  <a:srgbClr val="000000"/>
                </a:solidFill>
                <a:latin typeface="Helvetica Neue"/>
              </a:rPr>
              <a:t>动态环境</a:t>
            </a:r>
            <a:endParaRPr lang="zh-CN" altLang="en-US" b="1" i="0" dirty="0">
              <a:solidFill>
                <a:srgbClr val="000000"/>
              </a:solidFill>
              <a:effectLst/>
              <a:latin typeface="Helvetica Neue"/>
            </a:endParaRPr>
          </a:p>
        </p:txBody>
      </p:sp>
      <p:sp>
        <p:nvSpPr>
          <p:cNvPr id="26" name="文本框 25">
            <a:extLst>
              <a:ext uri="{FF2B5EF4-FFF2-40B4-BE49-F238E27FC236}">
                <a16:creationId xmlns:a16="http://schemas.microsoft.com/office/drawing/2014/main" id="{371BA135-F53F-4139-BB70-E0FDCDCB897D}"/>
              </a:ext>
            </a:extLst>
          </p:cNvPr>
          <p:cNvSpPr txBox="1"/>
          <p:nvPr/>
        </p:nvSpPr>
        <p:spPr>
          <a:xfrm>
            <a:off x="189428" y="4036009"/>
            <a:ext cx="1803757" cy="369332"/>
          </a:xfrm>
          <a:prstGeom prst="rect">
            <a:avLst/>
          </a:prstGeom>
          <a:noFill/>
        </p:spPr>
        <p:txBody>
          <a:bodyPr wrap="square">
            <a:spAutoFit/>
          </a:bodyPr>
          <a:lstStyle/>
          <a:p>
            <a:pPr algn="l"/>
            <a:r>
              <a:rPr lang="zh-CN" altLang="en-US" b="1" dirty="0">
                <a:solidFill>
                  <a:srgbClr val="000000"/>
                </a:solidFill>
                <a:latin typeface="Helvetica Neue"/>
              </a:rPr>
              <a:t>静态环境</a:t>
            </a:r>
            <a:endParaRPr lang="zh-CN" altLang="en-US" b="1" i="0" dirty="0">
              <a:solidFill>
                <a:srgbClr val="000000"/>
              </a:solidFill>
              <a:effectLst/>
              <a:latin typeface="Helvetica Neue"/>
            </a:endParaRPr>
          </a:p>
        </p:txBody>
      </p:sp>
    </p:spTree>
    <p:custDataLst>
      <p:tags r:id="rId1"/>
    </p:custDataLst>
    <p:extLst>
      <p:ext uri="{BB962C8B-B14F-4D97-AF65-F5344CB8AC3E}">
        <p14:creationId xmlns:p14="http://schemas.microsoft.com/office/powerpoint/2010/main" val="318433672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30880" cy="1014730"/>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实验研究</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03</a:t>
              </a:r>
            </a:p>
          </p:txBody>
        </p:sp>
      </p:grpSp>
      <p:sp>
        <p:nvSpPr>
          <p:cNvPr id="13" name="文本框 12"/>
          <p:cNvSpPr txBox="1"/>
          <p:nvPr/>
        </p:nvSpPr>
        <p:spPr>
          <a:xfrm>
            <a:off x="4067810" y="4227695"/>
            <a:ext cx="4054475" cy="460375"/>
          </a:xfrm>
          <a:prstGeom prst="rect">
            <a:avLst/>
          </a:prstGeom>
          <a:noFill/>
        </p:spPr>
        <p:txBody>
          <a:bodyPr wrap="square" rtlCol="0">
            <a:spAutoFit/>
          </a:bodyPr>
          <a:lstStyle/>
          <a:p>
            <a:pPr algn="ctr"/>
            <a:r>
              <a:rPr lang="zh-CN" altLang="en-US" sz="2400">
                <a:solidFill>
                  <a:srgbClr val="694B71">
                    <a:alpha val="90000"/>
                  </a:srgbClr>
                </a:solidFill>
                <a:latin typeface="微软雅黑 Light" panose="020B0502040204020203" charset="-122"/>
                <a:ea typeface="微软雅黑 Light" panose="020B0502040204020203" charset="-122"/>
              </a:rPr>
              <a:t>请替换文字内容</a:t>
            </a:r>
          </a:p>
        </p:txBody>
      </p:sp>
    </p:spTree>
    <p:custDataLst>
      <p:tags r:id="rId1"/>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6542-C156-CFB9-4E91-8889A3D8334D}"/>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465DAFB-FB8F-8C84-048D-67744C7F48C9}"/>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不同子载波和流的振幅</a:t>
            </a:r>
          </a:p>
          <a:p>
            <a:pPr algn="dist"/>
            <a:endParaRPr lang="en-US" altLang="zh-CN" sz="3100" dirty="0">
              <a:solidFill>
                <a:srgbClr val="694B71"/>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CF80F7C7-4062-9D49-1A60-B7848775F55C}"/>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4E9B5EB-E806-FDB8-1316-275FF6286ED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D367D94-A2C4-87BF-9124-CAE1A9236C0D}"/>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E3BB10DF-045E-D716-E5BF-0762B471D101}"/>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337EDAB-00CF-88D2-54A2-0D166EB56890}"/>
              </a:ext>
            </a:extLst>
          </p:cNvPr>
          <p:cNvSpPr txBox="1"/>
          <p:nvPr/>
        </p:nvSpPr>
        <p:spPr>
          <a:xfrm>
            <a:off x="806450" y="1748790"/>
            <a:ext cx="11224895"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由于我们只使用一个发射器天线和两个接收器天线，因此我们收集的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信息进一步分为两个无线流和每个流中的</a:t>
            </a:r>
            <a:r>
              <a:rPr lang="en-US" altLang="zh-CN" sz="2400" dirty="0">
                <a:solidFill>
                  <a:srgbClr val="775480"/>
                </a:solidFill>
                <a:latin typeface="微软雅黑 Light" panose="020B0502040204020203" charset="-122"/>
                <a:ea typeface="微软雅黑 Light" panose="020B0502040204020203" charset="-122"/>
              </a:rPr>
              <a:t> 30 </a:t>
            </a:r>
            <a:r>
              <a:rPr lang="zh-CN" altLang="zh-CN" sz="2400" dirty="0">
                <a:solidFill>
                  <a:srgbClr val="775480"/>
                </a:solidFill>
                <a:latin typeface="微软雅黑 Light" panose="020B0502040204020203" charset="-122"/>
                <a:ea typeface="微软雅黑 Light" panose="020B0502040204020203" charset="-122"/>
              </a:rPr>
              <a:t>个副载波。在这项研究中，我们进行了实验，以分别了解不同子载波和不同流的幅度如何变化。</a:t>
            </a:r>
            <a:r>
              <a:rPr lang="zh-CN" altLang="en-US" sz="2400" dirty="0">
                <a:solidFill>
                  <a:srgbClr val="775480"/>
                </a:solidFill>
                <a:latin typeface="微软雅黑 Light" panose="020B0502040204020203" charset="-122"/>
                <a:ea typeface="微软雅黑 Light" panose="020B0502040204020203" charset="-122"/>
              </a:rPr>
              <a:t>研究中发现，</a:t>
            </a:r>
            <a:r>
              <a:rPr lang="zh-CN" altLang="zh-CN" sz="2400" dirty="0">
                <a:solidFill>
                  <a:srgbClr val="775480"/>
                </a:solidFill>
                <a:latin typeface="微软雅黑 Light" panose="020B0502040204020203" charset="-122"/>
                <a:ea typeface="微软雅黑 Light" panose="020B0502040204020203" charset="-122"/>
              </a:rPr>
              <a:t>人类活动独立影响不同的流，而以类似的方式影响不同的副载波。此外，比起具有较大频率差距的两段副载波，相邻频率之间的副载波具有更多的相似性。基于这些观察结果，我们可以将相邻且连续副载波的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样本平均为一个信号值，以实现计算复杂性和功能之间的权衡。在这项工作的其余部分，我们将仅显示一个流中具有一个副载波的图形。</a:t>
            </a:r>
          </a:p>
        </p:txBody>
      </p:sp>
    </p:spTree>
    <p:custDataLst>
      <p:tags r:id="rId1"/>
    </p:custDataLst>
    <p:extLst>
      <p:ext uri="{BB962C8B-B14F-4D97-AF65-F5344CB8AC3E}">
        <p14:creationId xmlns:p14="http://schemas.microsoft.com/office/powerpoint/2010/main" val="384294763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16A0A-27E9-DA85-93BE-6480C46B1D49}"/>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4A3B94C-FD2F-1E4F-B736-2C88346E2DDD}"/>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不同子载波和流的振幅</a:t>
            </a:r>
          </a:p>
          <a:p>
            <a:pPr algn="dist"/>
            <a:endParaRPr lang="en-US" altLang="zh-CN" sz="3100" dirty="0">
              <a:solidFill>
                <a:srgbClr val="694B71"/>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E0BFD214-6B53-E620-8AB1-005F5186579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4334FEC-0E81-26D7-EB99-E5A96D083A86}"/>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07DDC3B-CE1D-4FE9-FD32-59F043E54E8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D78813E-8F68-42F2-653F-C979C357A919}"/>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55AEDC6-059B-98AA-F734-5D06783962FE}"/>
              </a:ext>
            </a:extLst>
          </p:cNvPr>
          <p:cNvSpPr txBox="1"/>
          <p:nvPr/>
        </p:nvSpPr>
        <p:spPr>
          <a:xfrm>
            <a:off x="806450" y="1748790"/>
            <a:ext cx="11224895"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由于我们只使用一个发射器天线和两个接收器天线，因此我们收集的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信息进一步分为两个无线流和每个流中的</a:t>
            </a:r>
            <a:r>
              <a:rPr lang="en-US" altLang="zh-CN" sz="2400" dirty="0">
                <a:solidFill>
                  <a:srgbClr val="775480"/>
                </a:solidFill>
                <a:latin typeface="微软雅黑 Light" panose="020B0502040204020203" charset="-122"/>
                <a:ea typeface="微软雅黑 Light" panose="020B0502040204020203" charset="-122"/>
              </a:rPr>
              <a:t> 30 </a:t>
            </a:r>
            <a:r>
              <a:rPr lang="zh-CN" altLang="zh-CN" sz="2400" dirty="0">
                <a:solidFill>
                  <a:srgbClr val="775480"/>
                </a:solidFill>
                <a:latin typeface="微软雅黑 Light" panose="020B0502040204020203" charset="-122"/>
                <a:ea typeface="微软雅黑 Light" panose="020B0502040204020203" charset="-122"/>
              </a:rPr>
              <a:t>个副载波。在这项研究中，我们进行了实验，以分别了解不同子载波和不同流的幅度如何变化。</a:t>
            </a:r>
            <a:r>
              <a:rPr lang="zh-CN" altLang="en-US" sz="2400" dirty="0">
                <a:solidFill>
                  <a:srgbClr val="775480"/>
                </a:solidFill>
                <a:latin typeface="微软雅黑 Light" panose="020B0502040204020203" charset="-122"/>
                <a:ea typeface="微软雅黑 Light" panose="020B0502040204020203" charset="-122"/>
              </a:rPr>
              <a:t>研究中发现，</a:t>
            </a:r>
            <a:r>
              <a:rPr lang="zh-CN" altLang="zh-CN" sz="2400" dirty="0">
                <a:solidFill>
                  <a:srgbClr val="775480"/>
                </a:solidFill>
                <a:latin typeface="微软雅黑 Light" panose="020B0502040204020203" charset="-122"/>
                <a:ea typeface="微软雅黑 Light" panose="020B0502040204020203" charset="-122"/>
              </a:rPr>
              <a:t>人类活动独立影响不同的流，而以类似的方式影响不同的副载波。此外，比起具有较大频率差距的两段副载波，相邻频率之间的副载波具有更多的相似性。基于这些观察结果，我们可以将相邻且连续副载波的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样本平均为一个信号值，以实现计算复杂性和功能之间的权衡。在这项工作的其余部分，我们将仅显示一个流中具有一个副载波的图形。</a:t>
            </a:r>
          </a:p>
        </p:txBody>
      </p:sp>
    </p:spTree>
    <p:custDataLst>
      <p:tags r:id="rId1"/>
    </p:custDataLst>
    <p:extLst>
      <p:ext uri="{BB962C8B-B14F-4D97-AF65-F5344CB8AC3E}">
        <p14:creationId xmlns:p14="http://schemas.microsoft.com/office/powerpoint/2010/main" val="339756496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15D8-2029-E052-A28F-BDDFC7C72E4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57108FF3-E90B-F7E4-B397-80104D8674B5}"/>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不同活动的影响</a:t>
            </a:r>
          </a:p>
        </p:txBody>
      </p:sp>
      <p:sp>
        <p:nvSpPr>
          <p:cNvPr id="20" name="矩形 19">
            <a:extLst>
              <a:ext uri="{FF2B5EF4-FFF2-40B4-BE49-F238E27FC236}">
                <a16:creationId xmlns:a16="http://schemas.microsoft.com/office/drawing/2014/main" id="{6981DE10-0A59-03E0-4B94-DAFBAE5E2F0D}"/>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A52F972-8D3D-E674-6B43-C58FC0F128FC}"/>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65A2101C-28B3-7622-122C-BB1A9D912A8A}"/>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DB1D57D-96E5-3A4F-D78C-CFA00D1E732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2CB71F97-25BC-FEBF-F765-77064255594A}"/>
              </a:ext>
            </a:extLst>
          </p:cNvPr>
          <p:cNvSpPr txBox="1"/>
          <p:nvPr/>
        </p:nvSpPr>
        <p:spPr>
          <a:xfrm>
            <a:off x="6536987" y="1748790"/>
            <a:ext cx="5494358"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我们将人类的日常活动大致分为两类：非运动活动和运动活动。</a:t>
            </a:r>
          </a:p>
          <a:p>
            <a:r>
              <a:rPr lang="zh-CN" altLang="en-US" sz="2400" dirty="0">
                <a:solidFill>
                  <a:srgbClr val="775480"/>
                </a:solidFill>
                <a:latin typeface="微软雅黑 Light" panose="020B0502040204020203" charset="-122"/>
                <a:ea typeface="微软雅黑 Light" panose="020B0502040204020203" charset="-122"/>
              </a:rPr>
              <a:t>非运动活动指那些静止的活动，比如站着，作者和躺着，运动活动包含走路，躺下，上半身肢体动作，捡东西等</a:t>
            </a:r>
            <a:endParaRPr lang="en-US" altLang="zh-C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实验中发现，执行非运动活动时，会引起</a:t>
            </a:r>
            <a:r>
              <a:rPr lang="en-US" altLang="zh-CN" sz="2400" dirty="0">
                <a:solidFill>
                  <a:srgbClr val="775480"/>
                </a:solidFill>
                <a:latin typeface="微软雅黑 Light" panose="020B0502040204020203" charset="-122"/>
                <a:ea typeface="微软雅黑 Light" panose="020B0502040204020203" charset="-122"/>
              </a:rPr>
              <a:t>CSI</a:t>
            </a:r>
            <a:r>
              <a:rPr lang="zh-CN" altLang="en-US" sz="2400" dirty="0">
                <a:solidFill>
                  <a:srgbClr val="775480"/>
                </a:solidFill>
                <a:latin typeface="微软雅黑 Light" panose="020B0502040204020203" charset="-122"/>
                <a:ea typeface="微软雅黑 Light" panose="020B0502040204020203" charset="-122"/>
              </a:rPr>
              <a:t>信号振幅的稳定变化模式</a:t>
            </a: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2" name="图片 1">
            <a:extLst>
              <a:ext uri="{FF2B5EF4-FFF2-40B4-BE49-F238E27FC236}">
                <a16:creationId xmlns:a16="http://schemas.microsoft.com/office/drawing/2014/main" id="{8EF8CFF4-CEBD-5D36-7C01-2BE0670E8959}"/>
              </a:ext>
            </a:extLst>
          </p:cNvPr>
          <p:cNvPicPr>
            <a:picLocks noChangeAspect="1"/>
          </p:cNvPicPr>
          <p:nvPr/>
        </p:nvPicPr>
        <p:blipFill>
          <a:blip r:embed="rId5"/>
          <a:stretch>
            <a:fillRect/>
          </a:stretch>
        </p:blipFill>
        <p:spPr>
          <a:xfrm>
            <a:off x="593210" y="1265147"/>
            <a:ext cx="5061804" cy="2161812"/>
          </a:xfrm>
          <a:prstGeom prst="rect">
            <a:avLst/>
          </a:prstGeom>
          <a:noFill/>
          <a:ln>
            <a:noFill/>
          </a:ln>
        </p:spPr>
      </p:pic>
      <p:pic>
        <p:nvPicPr>
          <p:cNvPr id="4" name="图片 3">
            <a:extLst>
              <a:ext uri="{FF2B5EF4-FFF2-40B4-BE49-F238E27FC236}">
                <a16:creationId xmlns:a16="http://schemas.microsoft.com/office/drawing/2014/main" id="{1D88057E-6474-D213-89B3-2F9EDD783CA7}"/>
              </a:ext>
            </a:extLst>
          </p:cNvPr>
          <p:cNvPicPr>
            <a:picLocks noChangeAspect="1"/>
          </p:cNvPicPr>
          <p:nvPr/>
        </p:nvPicPr>
        <p:blipFill>
          <a:blip r:embed="rId6"/>
          <a:stretch>
            <a:fillRect/>
          </a:stretch>
        </p:blipFill>
        <p:spPr>
          <a:xfrm>
            <a:off x="593209" y="3913321"/>
            <a:ext cx="5118337" cy="2244634"/>
          </a:xfrm>
          <a:prstGeom prst="rect">
            <a:avLst/>
          </a:prstGeom>
          <a:noFill/>
          <a:ln>
            <a:noFill/>
          </a:ln>
        </p:spPr>
      </p:pic>
    </p:spTree>
    <p:custDataLst>
      <p:tags r:id="rId1"/>
    </p:custDataLst>
    <p:extLst>
      <p:ext uri="{BB962C8B-B14F-4D97-AF65-F5344CB8AC3E}">
        <p14:creationId xmlns:p14="http://schemas.microsoft.com/office/powerpoint/2010/main" val="141664133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C241F-5889-49F0-3D44-DC4CE1DE45D4}"/>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709A7189-DDA7-66E4-AECE-22D5C2A8DFD6}"/>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不同活动的影响</a:t>
            </a:r>
          </a:p>
        </p:txBody>
      </p:sp>
      <p:sp>
        <p:nvSpPr>
          <p:cNvPr id="20" name="矩形 19">
            <a:extLst>
              <a:ext uri="{FF2B5EF4-FFF2-40B4-BE49-F238E27FC236}">
                <a16:creationId xmlns:a16="http://schemas.microsoft.com/office/drawing/2014/main" id="{01F97E8F-FFD5-A35B-0D8B-2D19BC4C26F3}"/>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B243196-DDA9-8C5C-6DA3-B8C27C526B96}"/>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82B19B4-AE01-625D-C136-5B255157C3C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CD96029-EE57-C0BF-D537-34F4169AF121}"/>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143551FC-D84D-0264-4A74-9FEDB9AF49D1}"/>
              </a:ext>
            </a:extLst>
          </p:cNvPr>
          <p:cNvSpPr txBox="1"/>
          <p:nvPr/>
        </p:nvSpPr>
        <p:spPr>
          <a:xfrm>
            <a:off x="6536987" y="1748790"/>
            <a:ext cx="5494358" cy="3817620"/>
          </a:xfrm>
          <a:prstGeom prst="rect">
            <a:avLst/>
          </a:prstGeom>
          <a:noFill/>
        </p:spPr>
        <p:txBody>
          <a:bodyPr wrap="square" rtlCol="0">
            <a:noAutofit/>
          </a:bodyPr>
          <a:lstStyle/>
          <a:p>
            <a:r>
              <a:rPr lang="zh-CN" altLang="en-US" sz="2400" dirty="0">
                <a:solidFill>
                  <a:srgbClr val="775480"/>
                </a:solidFill>
                <a:latin typeface="微软雅黑 Light" panose="020B0502040204020203" charset="-122"/>
                <a:ea typeface="微软雅黑 Light" panose="020B0502040204020203" charset="-122"/>
              </a:rPr>
              <a:t>同时还发现，站立的信号变化幅度坐着和躺着更加显著</a:t>
            </a:r>
            <a:endParaRPr lang="en-US" altLang="zh-CN" sz="2400" dirty="0">
              <a:solidFill>
                <a:srgbClr val="775480"/>
              </a:solidFill>
              <a:latin typeface="微软雅黑 Light" panose="020B0502040204020203" charset="-122"/>
              <a:ea typeface="微软雅黑 Light" panose="020B0502040204020203" charset="-122"/>
            </a:endParaRPr>
          </a:p>
          <a:p>
            <a:endParaRPr lang="en-US" altLang="zh-CN" sz="2400" dirty="0">
              <a:solidFill>
                <a:srgbClr val="775480"/>
              </a:solidFill>
              <a:latin typeface="微软雅黑 Light" panose="020B0502040204020203" charset="-122"/>
              <a:ea typeface="微软雅黑 Light" panose="020B0502040204020203" charset="-122"/>
            </a:endParaRP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E6F09988-64CB-C6C3-B3E9-D6EBA190B430}"/>
              </a:ext>
            </a:extLst>
          </p:cNvPr>
          <p:cNvPicPr>
            <a:picLocks noChangeAspect="1"/>
          </p:cNvPicPr>
          <p:nvPr/>
        </p:nvPicPr>
        <p:blipFill>
          <a:blip r:embed="rId5"/>
          <a:stretch>
            <a:fillRect/>
          </a:stretch>
        </p:blipFill>
        <p:spPr>
          <a:xfrm>
            <a:off x="456786" y="2431739"/>
            <a:ext cx="5639214" cy="2451721"/>
          </a:xfrm>
          <a:prstGeom prst="rect">
            <a:avLst/>
          </a:prstGeom>
          <a:noFill/>
          <a:ln>
            <a:noFill/>
          </a:ln>
        </p:spPr>
      </p:pic>
    </p:spTree>
    <p:custDataLst>
      <p:tags r:id="rId1"/>
    </p:custDataLst>
    <p:extLst>
      <p:ext uri="{BB962C8B-B14F-4D97-AF65-F5344CB8AC3E}">
        <p14:creationId xmlns:p14="http://schemas.microsoft.com/office/powerpoint/2010/main" val="293340881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4DDC2-64D5-A452-09DA-C24EFEE24D11}"/>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A0F566E0-1FDF-E344-7A1F-6A28367A3C02}"/>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不同活动的影响</a:t>
            </a:r>
          </a:p>
        </p:txBody>
      </p:sp>
      <p:sp>
        <p:nvSpPr>
          <p:cNvPr id="20" name="矩形 19">
            <a:extLst>
              <a:ext uri="{FF2B5EF4-FFF2-40B4-BE49-F238E27FC236}">
                <a16:creationId xmlns:a16="http://schemas.microsoft.com/office/drawing/2014/main" id="{5A98C7DB-7450-D7CB-137E-A7EBA870B25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1E19179-045F-1EBC-AA79-8697E63FDDDD}"/>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2CE60947-59B6-B58C-12BB-008F31D78E04}"/>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F212613-05B7-4A88-A08E-1AE6D15F07C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EF5D8BA-2633-3542-B00F-00155B495052}"/>
              </a:ext>
            </a:extLst>
          </p:cNvPr>
          <p:cNvSpPr txBox="1"/>
          <p:nvPr/>
        </p:nvSpPr>
        <p:spPr>
          <a:xfrm>
            <a:off x="6536987" y="1748790"/>
            <a:ext cx="5494358"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与导致相对稳定的信号变化的非运动活动，如行走、躺下、坐下和跌倒等运动活动表现出明显的信号变化</a:t>
            </a:r>
            <a:endParaRPr lang="en-US" altLang="zh-CN" sz="2400" dirty="0">
              <a:solidFill>
                <a:srgbClr val="775480"/>
              </a:solidFill>
              <a:latin typeface="微软雅黑 Light" panose="020B0502040204020203" charset="-122"/>
              <a:ea typeface="微软雅黑 Light" panose="020B0502040204020203" charset="-122"/>
            </a:endParaRPr>
          </a:p>
          <a:p>
            <a:r>
              <a:rPr lang="en-US" altLang="zh-CN" dirty="0">
                <a:solidFill>
                  <a:srgbClr val="8F6C8F"/>
                </a:solidFill>
              </a:rPr>
              <a:t>(d) Lie down, (e) Upper body activities, (f) Pickup, (g) Squat, (h) Walking, (</a:t>
            </a:r>
            <a:r>
              <a:rPr lang="en-US" altLang="zh-CN" dirty="0" err="1">
                <a:solidFill>
                  <a:srgbClr val="8F6C8F"/>
                </a:solidFill>
              </a:rPr>
              <a:t>i</a:t>
            </a:r>
            <a:r>
              <a:rPr lang="en-US" altLang="zh-CN" dirty="0">
                <a:solidFill>
                  <a:srgbClr val="8F6C8F"/>
                </a:solidFill>
              </a:rPr>
              <a:t>) Stand up, (j) Sit down, </a:t>
            </a:r>
            <a:r>
              <a:rPr lang="en-US" altLang="zh-CN" b="1" dirty="0">
                <a:solidFill>
                  <a:srgbClr val="8F6C8F"/>
                </a:solidFill>
              </a:rPr>
              <a:t>(k) Standing-Fall, and (l) Walking-Fall</a:t>
            </a:r>
            <a:r>
              <a:rPr lang="zh-CN" altLang="zh-CN" sz="2400" dirty="0">
                <a:solidFill>
                  <a:srgbClr val="8F6C8F"/>
                </a:solidFill>
              </a:rPr>
              <a:t> </a:t>
            </a:r>
            <a:r>
              <a:rPr lang="zh-CN" altLang="zh-CN" sz="2400" dirty="0">
                <a:solidFill>
                  <a:srgbClr val="8F6C8F"/>
                </a:solidFill>
                <a:latin typeface="微软雅黑 Light" panose="020B0502040204020203" charset="-122"/>
                <a:ea typeface="微软雅黑 Light" panose="020B0502040204020203" charset="-122"/>
              </a:rPr>
              <a:t> </a:t>
            </a:r>
            <a:endParaRPr lang="en-US" altLang="zh-CN" sz="2400" dirty="0">
              <a:solidFill>
                <a:srgbClr val="8F6C8F"/>
              </a:solidFill>
              <a:latin typeface="微软雅黑 Light" panose="020B0502040204020203" charset="-122"/>
              <a:ea typeface="微软雅黑 Light" panose="020B0502040204020203" charset="-122"/>
            </a:endParaRP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2" name="图片 1">
            <a:extLst>
              <a:ext uri="{FF2B5EF4-FFF2-40B4-BE49-F238E27FC236}">
                <a16:creationId xmlns:a16="http://schemas.microsoft.com/office/drawing/2014/main" id="{C5ECD1A8-F497-B66E-4B2F-0D9D0C5B5476}"/>
              </a:ext>
            </a:extLst>
          </p:cNvPr>
          <p:cNvPicPr>
            <a:picLocks noChangeAspect="1"/>
          </p:cNvPicPr>
          <p:nvPr/>
        </p:nvPicPr>
        <p:blipFill>
          <a:blip r:embed="rId5"/>
          <a:stretch>
            <a:fillRect/>
          </a:stretch>
        </p:blipFill>
        <p:spPr>
          <a:xfrm>
            <a:off x="256356" y="1748790"/>
            <a:ext cx="3760073" cy="1747208"/>
          </a:xfrm>
          <a:prstGeom prst="rect">
            <a:avLst/>
          </a:prstGeom>
          <a:noFill/>
          <a:ln>
            <a:noFill/>
          </a:ln>
        </p:spPr>
      </p:pic>
      <p:pic>
        <p:nvPicPr>
          <p:cNvPr id="4" name="图片 3">
            <a:extLst>
              <a:ext uri="{FF2B5EF4-FFF2-40B4-BE49-F238E27FC236}">
                <a16:creationId xmlns:a16="http://schemas.microsoft.com/office/drawing/2014/main" id="{D2F6449F-43F3-601E-303E-F4EF0AE5C3ED}"/>
              </a:ext>
            </a:extLst>
          </p:cNvPr>
          <p:cNvPicPr>
            <a:picLocks noChangeAspect="1"/>
          </p:cNvPicPr>
          <p:nvPr/>
        </p:nvPicPr>
        <p:blipFill>
          <a:blip r:embed="rId6"/>
          <a:stretch>
            <a:fillRect/>
          </a:stretch>
        </p:blipFill>
        <p:spPr>
          <a:xfrm>
            <a:off x="-281283" y="3849422"/>
            <a:ext cx="12754566" cy="2738390"/>
          </a:xfrm>
          <a:prstGeom prst="rect">
            <a:avLst/>
          </a:prstGeom>
          <a:noFill/>
          <a:ln>
            <a:noFill/>
          </a:ln>
        </p:spPr>
      </p:pic>
    </p:spTree>
    <p:custDataLst>
      <p:tags r:id="rId1"/>
    </p:custDataLst>
    <p:extLst>
      <p:ext uri="{BB962C8B-B14F-4D97-AF65-F5344CB8AC3E}">
        <p14:creationId xmlns:p14="http://schemas.microsoft.com/office/powerpoint/2010/main" val="241147565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43A08-B7C7-50F9-31C7-BCB102D5FD6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FC7ADF89-6193-C39A-308C-46FDCF7F458F}"/>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7B6EBEE9-B06F-5116-BAE4-245264B811B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0B5D303-B092-250A-9F1B-B959B9BDF3B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773948D-74F8-8896-E457-A18A76A474CA}"/>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64B5D8F-5F41-F0ED-2B82-8BA9DF23069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2803B248-AE32-EF12-60F7-189BA05EC017}"/>
              </a:ext>
            </a:extLst>
          </p:cNvPr>
          <p:cNvSpPr txBox="1"/>
          <p:nvPr/>
        </p:nvSpPr>
        <p:spPr>
          <a:xfrm>
            <a:off x="6536987" y="1748790"/>
            <a:ext cx="5494358"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我们还注意到，当受试者站立距离</a:t>
            </a:r>
            <a:r>
              <a:rPr lang="en-US" altLang="zh-CN" sz="2400" dirty="0">
                <a:solidFill>
                  <a:srgbClr val="775480"/>
                </a:solidFill>
                <a:latin typeface="微软雅黑 Light" panose="020B0502040204020203" charset="-122"/>
                <a:ea typeface="微软雅黑 Light" panose="020B0502040204020203" charset="-122"/>
              </a:rPr>
              <a:t> LOS </a:t>
            </a:r>
            <a:r>
              <a:rPr lang="zh-CN" altLang="zh-CN" sz="2400" dirty="0">
                <a:solidFill>
                  <a:srgbClr val="775480"/>
                </a:solidFill>
                <a:latin typeface="微软雅黑 Light" panose="020B0502040204020203" charset="-122"/>
                <a:ea typeface="微软雅黑 Light" panose="020B0502040204020203" charset="-122"/>
              </a:rPr>
              <a:t>路径较远时，站立的振幅变化会减小。因此，我们怀疑振幅是否能够可靠地区分站立姿势和其他非运动活动。这激发了我们在给出这个问题的答案之前对</a:t>
            </a:r>
            <a:r>
              <a:rPr lang="en-US" altLang="zh-CN" sz="2400" dirty="0">
                <a:solidFill>
                  <a:srgbClr val="775480"/>
                </a:solidFill>
                <a:latin typeface="微软雅黑 Light" panose="020B0502040204020203" charset="-122"/>
                <a:ea typeface="微软雅黑 Light" panose="020B0502040204020203" charset="-122"/>
              </a:rPr>
              <a:t> LOS/NLOS </a:t>
            </a:r>
            <a:r>
              <a:rPr lang="zh-CN" altLang="zh-CN" sz="2400" dirty="0">
                <a:solidFill>
                  <a:srgbClr val="775480"/>
                </a:solidFill>
                <a:latin typeface="微软雅黑 Light" panose="020B0502040204020203" charset="-122"/>
                <a:ea typeface="微软雅黑 Light" panose="020B0502040204020203" charset="-122"/>
              </a:rPr>
              <a:t>条件的影响进行全面分析。</a:t>
            </a:r>
            <a:endParaRPr lang="en-US" altLang="zh-CN" sz="2400" dirty="0">
              <a:solidFill>
                <a:srgbClr val="775480"/>
              </a:solidFill>
              <a:latin typeface="微软雅黑 Light" panose="020B0502040204020203" charset="-122"/>
              <a:ea typeface="微软雅黑 Light" panose="020B0502040204020203" charset="-122"/>
            </a:endParaRPr>
          </a:p>
          <a:p>
            <a:endParaRPr lang="en-US" altLang="zh-CN" sz="2400" dirty="0">
              <a:solidFill>
                <a:srgbClr val="775480"/>
              </a:solidFill>
              <a:latin typeface="微软雅黑 Light" panose="020B0502040204020203" charset="-122"/>
              <a:ea typeface="微软雅黑 Light" panose="020B0502040204020203" charset="-122"/>
            </a:endParaRPr>
          </a:p>
          <a:p>
            <a:r>
              <a:rPr lang="zh-CN" altLang="zh-CN" sz="2400" dirty="0">
                <a:solidFill>
                  <a:srgbClr val="775480"/>
                </a:solidFill>
                <a:latin typeface="微软雅黑 Light" panose="020B0502040204020203" charset="-122"/>
                <a:ea typeface="微软雅黑 Light" panose="020B0502040204020203" charset="-122"/>
              </a:rPr>
              <a:t>由于日常活动可能发生在室内环境中的不同位置，因此我们在</a:t>
            </a:r>
            <a:r>
              <a:rPr lang="en-US" altLang="zh-CN" sz="2400" dirty="0">
                <a:solidFill>
                  <a:srgbClr val="775480"/>
                </a:solidFill>
                <a:latin typeface="微软雅黑 Light" panose="020B0502040204020203" charset="-122"/>
                <a:ea typeface="微软雅黑 Light" panose="020B0502040204020203" charset="-122"/>
              </a:rPr>
              <a:t> LOS </a:t>
            </a:r>
            <a:r>
              <a:rPr lang="zh-CN" altLang="zh-CN" sz="2400" dirty="0">
                <a:solidFill>
                  <a:srgbClr val="775480"/>
                </a:solidFill>
                <a:latin typeface="微软雅黑 Light" panose="020B0502040204020203" charset="-122"/>
                <a:ea typeface="微软雅黑 Light" panose="020B0502040204020203" charset="-122"/>
              </a:rPr>
              <a:t>和</a:t>
            </a:r>
            <a:r>
              <a:rPr lang="en-US" altLang="zh-CN" sz="2400" dirty="0">
                <a:solidFill>
                  <a:srgbClr val="775480"/>
                </a:solidFill>
                <a:latin typeface="微软雅黑 Light" panose="020B0502040204020203" charset="-122"/>
                <a:ea typeface="微软雅黑 Light" panose="020B0502040204020203" charset="-122"/>
              </a:rPr>
              <a:t> NLOS </a:t>
            </a:r>
            <a:r>
              <a:rPr lang="zh-CN" altLang="zh-CN" sz="2400" dirty="0">
                <a:solidFill>
                  <a:srgbClr val="775480"/>
                </a:solidFill>
                <a:latin typeface="微软雅黑 Light" panose="020B0502040204020203" charset="-122"/>
                <a:ea typeface="微软雅黑 Light" panose="020B0502040204020203" charset="-122"/>
              </a:rPr>
              <a:t>条件下进行活动以了解其影响。 </a:t>
            </a: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29D5AC46-1256-21A6-97C4-52A56B570547}"/>
              </a:ext>
            </a:extLst>
          </p:cNvPr>
          <p:cNvPicPr>
            <a:picLocks noChangeAspect="1"/>
          </p:cNvPicPr>
          <p:nvPr/>
        </p:nvPicPr>
        <p:blipFill>
          <a:blip r:embed="rId5"/>
          <a:stretch>
            <a:fillRect/>
          </a:stretch>
        </p:blipFill>
        <p:spPr>
          <a:xfrm>
            <a:off x="0" y="1366477"/>
            <a:ext cx="6400800" cy="4262572"/>
          </a:xfrm>
          <a:prstGeom prst="rect">
            <a:avLst/>
          </a:prstGeom>
          <a:noFill/>
          <a:ln>
            <a:noFill/>
          </a:ln>
        </p:spPr>
      </p:pic>
    </p:spTree>
    <p:custDataLst>
      <p:tags r:id="rId1"/>
    </p:custDataLst>
    <p:extLst>
      <p:ext uri="{BB962C8B-B14F-4D97-AF65-F5344CB8AC3E}">
        <p14:creationId xmlns:p14="http://schemas.microsoft.com/office/powerpoint/2010/main" val="208736841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F1959-74AE-963C-B812-1F91EF81E46C}"/>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057BC9B-4DA4-831E-D183-D4098B72EC9A}"/>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740D8816-0552-084B-EDA5-9683FD82066F}"/>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CF50C4F-0141-0563-B214-EBBB8F1D641A}"/>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AC8441F-3293-7037-5CE0-0636321F1020}"/>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C241D66-A8E4-DE5E-1AD2-48BDC2883922}"/>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3EABBC2-97DF-43E6-8791-E1E06CC8AABF}"/>
              </a:ext>
            </a:extLst>
          </p:cNvPr>
          <p:cNvSpPr txBox="1"/>
          <p:nvPr/>
        </p:nvSpPr>
        <p:spPr>
          <a:xfrm>
            <a:off x="6697642" y="2301875"/>
            <a:ext cx="5494358" cy="921385"/>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一直到多远，站立和其他非运动活动的</a:t>
            </a:r>
            <a:r>
              <a:rPr lang="en-US" altLang="zh-CN" sz="2400" b="1" dirty="0">
                <a:solidFill>
                  <a:srgbClr val="775480"/>
                </a:solidFill>
                <a:latin typeface="微软雅黑 Light" panose="020B0502040204020203" charset="-122"/>
                <a:ea typeface="微软雅黑 Light" panose="020B0502040204020203" charset="-122"/>
              </a:rPr>
              <a:t>CSI</a:t>
            </a:r>
            <a:r>
              <a:rPr lang="zh-CN" altLang="zh-CN" sz="2400" b="1" dirty="0">
                <a:solidFill>
                  <a:srgbClr val="775480"/>
                </a:solidFill>
                <a:latin typeface="微软雅黑 Light" panose="020B0502040204020203" charset="-122"/>
                <a:ea typeface="微软雅黑 Light" panose="020B0502040204020203" charset="-122"/>
              </a:rPr>
              <a:t>振幅才会变得无法辨认？ </a:t>
            </a:r>
          </a:p>
        </p:txBody>
      </p:sp>
      <p:pic>
        <p:nvPicPr>
          <p:cNvPr id="2" name="图片 1">
            <a:extLst>
              <a:ext uri="{FF2B5EF4-FFF2-40B4-BE49-F238E27FC236}">
                <a16:creationId xmlns:a16="http://schemas.microsoft.com/office/drawing/2014/main" id="{81C4DC44-D473-ED2E-767A-79C652FDF1DE}"/>
              </a:ext>
            </a:extLst>
          </p:cNvPr>
          <p:cNvPicPr>
            <a:picLocks noChangeAspect="1"/>
          </p:cNvPicPr>
          <p:nvPr/>
        </p:nvPicPr>
        <p:blipFill>
          <a:blip r:embed="rId5"/>
          <a:stretch>
            <a:fillRect/>
          </a:stretch>
        </p:blipFill>
        <p:spPr>
          <a:xfrm>
            <a:off x="0" y="1952662"/>
            <a:ext cx="6674031" cy="3409876"/>
          </a:xfrm>
          <a:prstGeom prst="rect">
            <a:avLst/>
          </a:prstGeom>
          <a:noFill/>
          <a:ln>
            <a:noFill/>
          </a:ln>
        </p:spPr>
      </p:pic>
      <p:sp>
        <p:nvSpPr>
          <p:cNvPr id="4" name="文本框 3">
            <a:extLst>
              <a:ext uri="{FF2B5EF4-FFF2-40B4-BE49-F238E27FC236}">
                <a16:creationId xmlns:a16="http://schemas.microsoft.com/office/drawing/2014/main" id="{92BFC70E-0B77-D2AA-F1C9-EED1E39CE66E}"/>
              </a:ext>
            </a:extLst>
          </p:cNvPr>
          <p:cNvSpPr txBox="1"/>
          <p:nvPr/>
        </p:nvSpPr>
        <p:spPr>
          <a:xfrm>
            <a:off x="6697642" y="3604634"/>
            <a:ext cx="5494358" cy="921385"/>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一直到多远，运动活动和非运动活动的基本信号才会变得难以辨认？ </a:t>
            </a:r>
          </a:p>
        </p:txBody>
      </p:sp>
    </p:spTree>
    <p:custDataLst>
      <p:tags r:id="rId1"/>
    </p:custDataLst>
    <p:extLst>
      <p:ext uri="{BB962C8B-B14F-4D97-AF65-F5344CB8AC3E}">
        <p14:creationId xmlns:p14="http://schemas.microsoft.com/office/powerpoint/2010/main" val="42912086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7EFB6-15D0-1264-9A81-80A681E1922D}"/>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79997520-09BB-13F0-9CBB-EFD9BCF58392}"/>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F21C6E37-5EAF-C096-E549-A4B864384813}"/>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892C60E-84CA-076F-B709-B068AAD48AA2}"/>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427C4A5-6D99-58AD-3F13-20C65485D75B}"/>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6B96096C-A9DA-5BE3-B899-A58EE9299B3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0FF28EBD-457F-04AD-1041-CEFF4D43751E}"/>
              </a:ext>
            </a:extLst>
          </p:cNvPr>
          <p:cNvSpPr txBox="1"/>
          <p:nvPr/>
        </p:nvSpPr>
        <p:spPr>
          <a:xfrm>
            <a:off x="601642" y="1778910"/>
            <a:ext cx="11590358" cy="4562604"/>
          </a:xfrm>
          <a:prstGeom prst="rect">
            <a:avLst/>
          </a:prstGeom>
          <a:noFill/>
        </p:spPr>
        <p:txBody>
          <a:bodyPr wrap="square" rtlCol="0">
            <a:noAutofit/>
          </a:bodyPr>
          <a:lstStyle/>
          <a:p>
            <a:r>
              <a:rPr lang="zh-CN" altLang="en-US" sz="2400" dirty="0">
                <a:solidFill>
                  <a:srgbClr val="775480"/>
                </a:solidFill>
                <a:latin typeface="微软雅黑 Light" panose="020B0502040204020203" charset="-122"/>
                <a:ea typeface="微软雅黑 Light" panose="020B0502040204020203" charset="-122"/>
              </a:rPr>
              <a:t>需要进行实验，发现问题答案</a:t>
            </a:r>
            <a:r>
              <a:rPr lang="zh-CN" altLang="zh-CN" sz="2400" dirty="0">
                <a:solidFill>
                  <a:srgbClr val="775480"/>
                </a:solidFill>
                <a:latin typeface="微软雅黑 Light" panose="020B0502040204020203" charset="-122"/>
                <a:ea typeface="微软雅黑 Light" panose="020B0502040204020203" charset="-122"/>
              </a:rPr>
              <a:t>因房间设置和布局而略有不同。</a:t>
            </a:r>
            <a:endParaRPr lang="en-US" altLang="zh-C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第一个问题：</a:t>
            </a:r>
            <a:r>
              <a:rPr lang="zh-CN" altLang="zh-CN" sz="2400" dirty="0">
                <a:solidFill>
                  <a:srgbClr val="775480"/>
                </a:solidFill>
                <a:latin typeface="微软雅黑 Light" panose="020B0502040204020203" charset="-122"/>
                <a:ea typeface="微软雅黑 Light" panose="020B0502040204020203" charset="-122"/>
              </a:rPr>
              <a:t> </a:t>
            </a:r>
            <a:endParaRPr lang="en-US" altLang="zh-CN" sz="2400" dirty="0">
              <a:solidFill>
                <a:srgbClr val="775480"/>
              </a:solidFill>
              <a:latin typeface="微软雅黑 Light" panose="020B0502040204020203" charset="-122"/>
              <a:ea typeface="微软雅黑 Light" panose="020B0502040204020203" charset="-122"/>
            </a:endParaRPr>
          </a:p>
          <a:p>
            <a:r>
              <a:rPr lang="zh-CN" altLang="zh-CN" sz="2400" b="1" dirty="0">
                <a:solidFill>
                  <a:srgbClr val="775480"/>
                </a:solidFill>
                <a:latin typeface="微软雅黑 Light" panose="020B0502040204020203" charset="-122"/>
                <a:ea typeface="微软雅黑 Light" panose="020B0502040204020203" charset="-122"/>
              </a:rPr>
              <a:t>一直到多远，站立和其他非运动活动的</a:t>
            </a:r>
            <a:r>
              <a:rPr lang="en-US" altLang="zh-CN" sz="2400" b="1" dirty="0">
                <a:solidFill>
                  <a:srgbClr val="775480"/>
                </a:solidFill>
                <a:latin typeface="微软雅黑 Light" panose="020B0502040204020203" charset="-122"/>
                <a:ea typeface="微软雅黑 Light" panose="020B0502040204020203" charset="-122"/>
              </a:rPr>
              <a:t>CSI</a:t>
            </a:r>
            <a:r>
              <a:rPr lang="zh-CN" altLang="zh-CN" sz="2400" b="1" dirty="0">
                <a:solidFill>
                  <a:srgbClr val="775480"/>
                </a:solidFill>
                <a:latin typeface="微软雅黑 Light" panose="020B0502040204020203" charset="-122"/>
                <a:ea typeface="微软雅黑 Light" panose="020B0502040204020203" charset="-122"/>
              </a:rPr>
              <a:t>振幅才会变得无法辨认？ </a:t>
            </a:r>
          </a:p>
          <a:p>
            <a:r>
              <a:rPr lang="zh-CN" altLang="zh-CN" sz="2400" dirty="0">
                <a:solidFill>
                  <a:srgbClr val="775480"/>
                </a:solidFill>
                <a:latin typeface="微软雅黑 Light" panose="020B0502040204020203" charset="-122"/>
                <a:ea typeface="微软雅黑 Light" panose="020B0502040204020203" charset="-122"/>
              </a:rPr>
              <a:t>答案</a:t>
            </a:r>
            <a:r>
              <a:rPr lang="zh-CN" altLang="en-US"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在</a:t>
            </a:r>
            <a:r>
              <a:rPr lang="zh-CN" altLang="zh-CN" sz="2400" b="1" dirty="0">
                <a:solidFill>
                  <a:srgbClr val="775480"/>
                </a:solidFill>
                <a:latin typeface="微软雅黑 Light" panose="020B0502040204020203" charset="-122"/>
                <a:ea typeface="微软雅黑 Light" panose="020B0502040204020203" charset="-122"/>
              </a:rPr>
              <a:t>空旷的房间中约为</a:t>
            </a:r>
            <a:r>
              <a:rPr lang="en-US" altLang="zh-CN" sz="2400" b="1" dirty="0">
                <a:solidFill>
                  <a:srgbClr val="775480"/>
                </a:solidFill>
                <a:latin typeface="微软雅黑 Light" panose="020B0502040204020203" charset="-122"/>
                <a:ea typeface="微软雅黑 Light" panose="020B0502040204020203" charset="-122"/>
              </a:rPr>
              <a:t> 2 m</a:t>
            </a:r>
            <a:r>
              <a:rPr lang="zh-CN" altLang="zh-CN" sz="2400" b="1"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而当</a:t>
            </a:r>
            <a:r>
              <a:rPr lang="en-US" altLang="zh-CN" sz="2400" dirty="0">
                <a:solidFill>
                  <a:srgbClr val="775480"/>
                </a:solidFill>
                <a:latin typeface="微软雅黑 Light" panose="020B0502040204020203" charset="-122"/>
                <a:ea typeface="微软雅黑 Light" panose="020B0502040204020203" charset="-122"/>
              </a:rPr>
              <a:t>LOS</a:t>
            </a:r>
            <a:r>
              <a:rPr lang="zh-CN" altLang="zh-CN" sz="2400" dirty="0">
                <a:solidFill>
                  <a:srgbClr val="775480"/>
                </a:solidFill>
                <a:latin typeface="微软雅黑 Light" panose="020B0502040204020203" charset="-122"/>
                <a:ea typeface="微软雅黑 Light" panose="020B0502040204020203" charset="-122"/>
              </a:rPr>
              <a:t>路径之间存在一个高</a:t>
            </a:r>
            <a:r>
              <a:rPr lang="en-US" altLang="zh-CN" sz="2400" dirty="0">
                <a:solidFill>
                  <a:srgbClr val="775480"/>
                </a:solidFill>
                <a:latin typeface="微软雅黑 Light" panose="020B0502040204020203" charset="-122"/>
                <a:ea typeface="微软雅黑 Light" panose="020B0502040204020203" charset="-122"/>
              </a:rPr>
              <a:t> 1 </a:t>
            </a:r>
            <a:r>
              <a:rPr lang="zh-CN" altLang="zh-CN" sz="2400" dirty="0">
                <a:solidFill>
                  <a:srgbClr val="775480"/>
                </a:solidFill>
                <a:latin typeface="微软雅黑 Light" panose="020B0502040204020203" charset="-122"/>
                <a:ea typeface="微软雅黑 Light" panose="020B0502040204020203" charset="-122"/>
              </a:rPr>
              <a:t>米的木质桌子和放在其上的液晶显示屏作为障碍时，这个</a:t>
            </a:r>
            <a:r>
              <a:rPr lang="zh-CN" altLang="zh-CN" sz="2400" b="1" dirty="0">
                <a:solidFill>
                  <a:srgbClr val="775480"/>
                </a:solidFill>
                <a:latin typeface="微软雅黑 Light" panose="020B0502040204020203" charset="-122"/>
                <a:ea typeface="微软雅黑 Light" panose="020B0502040204020203" charset="-122"/>
              </a:rPr>
              <a:t>距离会下降到不到</a:t>
            </a:r>
            <a:r>
              <a:rPr lang="en-US" altLang="zh-CN" sz="2400" b="1" dirty="0">
                <a:solidFill>
                  <a:srgbClr val="775480"/>
                </a:solidFill>
                <a:latin typeface="微软雅黑 Light" panose="020B0502040204020203" charset="-122"/>
                <a:ea typeface="微软雅黑 Light" panose="020B0502040204020203" charset="-122"/>
              </a:rPr>
              <a:t> 1.5 </a:t>
            </a:r>
            <a:r>
              <a:rPr lang="zh-CN" altLang="zh-CN" sz="2400" b="1" dirty="0">
                <a:solidFill>
                  <a:srgbClr val="775480"/>
                </a:solidFill>
                <a:latin typeface="微软雅黑 Light" panose="020B0502040204020203" charset="-122"/>
                <a:ea typeface="微软雅黑 Light" panose="020B0502040204020203" charset="-122"/>
              </a:rPr>
              <a:t>米</a:t>
            </a:r>
            <a:r>
              <a:rPr lang="zh-CN" altLang="zh-CN" sz="2400" dirty="0">
                <a:solidFill>
                  <a:srgbClr val="775480"/>
                </a:solidFill>
                <a:latin typeface="微软雅黑 Light" panose="020B0502040204020203" charset="-122"/>
                <a:ea typeface="微软雅黑 Light" panose="020B0502040204020203" charset="-122"/>
              </a:rPr>
              <a:t>。 </a:t>
            </a:r>
            <a:endParaRPr lang="en-US" altLang="zh-CN" sz="2400" dirty="0">
              <a:solidFill>
                <a:srgbClr val="775480"/>
              </a:solidFill>
              <a:latin typeface="微软雅黑 Light" panose="020B0502040204020203" charset="-122"/>
              <a:ea typeface="微软雅黑 Light" panose="020B0502040204020203" charset="-122"/>
            </a:endParaRPr>
          </a:p>
          <a:p>
            <a:r>
              <a:rPr lang="zh-CN" altLang="zh-CN" sz="2400" dirty="0">
                <a:solidFill>
                  <a:srgbClr val="775480"/>
                </a:solidFill>
                <a:latin typeface="微软雅黑 Light" panose="020B0502040204020203" charset="-122"/>
                <a:ea typeface="微软雅黑 Light" panose="020B0502040204020203" charset="-122"/>
              </a:rPr>
              <a:t>考虑到视线通道（</a:t>
            </a:r>
            <a:r>
              <a:rPr lang="en-US" altLang="zh-CN" sz="2400" dirty="0">
                <a:solidFill>
                  <a:srgbClr val="775480"/>
                </a:solidFill>
                <a:latin typeface="微软雅黑 Light" panose="020B0502040204020203" charset="-122"/>
                <a:ea typeface="微软雅黑 Light" panose="020B0502040204020203" charset="-122"/>
              </a:rPr>
              <a:t>LOS</a:t>
            </a:r>
            <a:r>
              <a:rPr lang="zh-CN" altLang="zh-CN" sz="2400" dirty="0">
                <a:solidFill>
                  <a:srgbClr val="775480"/>
                </a:solidFill>
                <a:latin typeface="微软雅黑 Light" panose="020B0502040204020203" charset="-122"/>
                <a:ea typeface="微软雅黑 Light" panose="020B0502040204020203" charset="-122"/>
              </a:rPr>
              <a:t>）两侧的对称性，我们发现这种覆盖范围不足以满足普通房间的需要。</a:t>
            </a:r>
            <a:endParaRPr lang="en-US" altLang="zh-CN" sz="2400" dirty="0">
              <a:solidFill>
                <a:srgbClr val="775480"/>
              </a:solidFill>
              <a:latin typeface="微软雅黑 Light" panose="020B0502040204020203" charset="-122"/>
              <a:ea typeface="微软雅黑 Light" panose="020B0502040204020203" charset="-122"/>
            </a:endParaRPr>
          </a:p>
          <a:p>
            <a:r>
              <a:rPr lang="zh-CN" altLang="zh-CN" sz="2400" dirty="0">
                <a:solidFill>
                  <a:srgbClr val="775480"/>
                </a:solidFill>
                <a:latin typeface="微软雅黑 Light" panose="020B0502040204020203" charset="-122"/>
                <a:ea typeface="微软雅黑 Light" panose="020B0502040204020203" charset="-122"/>
              </a:rPr>
              <a:t>因此，我们得出结论：在普通的室内居住环境中，</a:t>
            </a:r>
            <a:r>
              <a:rPr lang="en-US" altLang="zh-CN" sz="2400" dirty="0">
                <a:solidFill>
                  <a:srgbClr val="775480"/>
                </a:solidFill>
                <a:latin typeface="微软雅黑 Light" panose="020B0502040204020203" charset="-122"/>
                <a:ea typeface="微软雅黑 Light" panose="020B0502040204020203" charset="-122"/>
              </a:rPr>
              <a:t>CSI </a:t>
            </a:r>
            <a:r>
              <a:rPr lang="zh-CN" altLang="zh-CN" sz="2400" dirty="0">
                <a:solidFill>
                  <a:srgbClr val="775480"/>
                </a:solidFill>
                <a:latin typeface="微软雅黑 Light" panose="020B0502040204020203" charset="-122"/>
                <a:ea typeface="微软雅黑 Light" panose="020B0502040204020203" charset="-122"/>
              </a:rPr>
              <a:t>幅度区分站立姿势与其他静止活动的能力</a:t>
            </a:r>
            <a:r>
              <a:rPr lang="zh-CN" altLang="zh-CN" sz="2400" b="1" dirty="0">
                <a:solidFill>
                  <a:srgbClr val="775480"/>
                </a:solidFill>
                <a:latin typeface="微软雅黑 Light" panose="020B0502040204020203" charset="-122"/>
                <a:ea typeface="微软雅黑 Light" panose="020B0502040204020203" charset="-122"/>
              </a:rPr>
              <a:t>相当有限且不可靠。</a:t>
            </a:r>
          </a:p>
          <a:p>
            <a:endParaRPr lang="zh-CN" altLang="zh-CN" sz="2400" b="1" dirty="0">
              <a:solidFill>
                <a:srgbClr val="775480"/>
              </a:solidFill>
              <a:latin typeface="微软雅黑 Light" panose="020B0502040204020203" charset="-122"/>
              <a:ea typeface="微软雅黑 Light" panose="020B0502040204020203" charset="-122"/>
            </a:endParaRPr>
          </a:p>
          <a:p>
            <a:endParaRPr lang="en-US" altLang="zh-CN" sz="2400" b="1"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1536866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4CBC9-038C-9771-3938-7C25E994F87C}"/>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B1CEE67A-4181-2C7D-7783-999A72533F30}"/>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62630B6C-41AF-75B2-FFFD-7E2F02D1225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9B90B39-4731-4C32-78E6-9C0017F5B19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12BEA8E1-DB2A-9323-F566-CC4FE54CDD7B}"/>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B8AA740F-11CC-8E10-4161-609CC622A5AA}"/>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765CB83-308E-F23A-2C29-1E37026525D3}"/>
              </a:ext>
            </a:extLst>
          </p:cNvPr>
          <p:cNvSpPr txBox="1"/>
          <p:nvPr/>
        </p:nvSpPr>
        <p:spPr>
          <a:xfrm>
            <a:off x="601642" y="1778910"/>
            <a:ext cx="11590358" cy="4562604"/>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一直到多远，运动活动和非运动活动的基本信号才会变得难以辨认？ </a:t>
            </a:r>
          </a:p>
          <a:p>
            <a:r>
              <a:rPr lang="zh-CN" altLang="zh-CN" sz="2400" dirty="0">
                <a:solidFill>
                  <a:srgbClr val="775480"/>
                </a:solidFill>
                <a:latin typeface="微软雅黑 Light" panose="020B0502040204020203" charset="-122"/>
                <a:ea typeface="微软雅黑 Light" panose="020B0502040204020203" charset="-122"/>
              </a:rPr>
              <a:t>答案</a:t>
            </a:r>
            <a:r>
              <a:rPr lang="zh-CN" altLang="en-US"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在</a:t>
            </a:r>
            <a:r>
              <a:rPr lang="zh-CN" altLang="zh-CN" sz="2400" b="1" dirty="0">
                <a:solidFill>
                  <a:srgbClr val="775480"/>
                </a:solidFill>
                <a:latin typeface="微软雅黑 Light" panose="020B0502040204020203" charset="-122"/>
                <a:ea typeface="微软雅黑 Light" panose="020B0502040204020203" charset="-122"/>
              </a:rPr>
              <a:t>空旷的房间中约为</a:t>
            </a:r>
            <a:r>
              <a:rPr lang="en-US" altLang="zh-CN" sz="2400" b="1" dirty="0">
                <a:solidFill>
                  <a:srgbClr val="775480"/>
                </a:solidFill>
                <a:latin typeface="微软雅黑 Light" panose="020B0502040204020203" charset="-122"/>
                <a:ea typeface="微软雅黑 Light" panose="020B0502040204020203" charset="-122"/>
              </a:rPr>
              <a:t> 5 m</a:t>
            </a:r>
            <a:r>
              <a:rPr lang="zh-CN" altLang="zh-CN" sz="2400" b="1" dirty="0">
                <a:solidFill>
                  <a:srgbClr val="775480"/>
                </a:solidFill>
                <a:latin typeface="微软雅黑 Light" panose="020B0502040204020203" charset="-122"/>
                <a:ea typeface="微软雅黑 Light" panose="020B0502040204020203" charset="-122"/>
              </a:rPr>
              <a:t>，若存在与前述相同的木质障碍物，则该距离下降到</a:t>
            </a:r>
            <a:r>
              <a:rPr lang="en-US" altLang="zh-CN" sz="2400" b="1" dirty="0">
                <a:solidFill>
                  <a:srgbClr val="775480"/>
                </a:solidFill>
                <a:latin typeface="微软雅黑 Light" panose="020B0502040204020203" charset="-122"/>
                <a:ea typeface="微软雅黑 Light" panose="020B0502040204020203" charset="-122"/>
              </a:rPr>
              <a:t> 4 </a:t>
            </a:r>
            <a:r>
              <a:rPr lang="zh-CN" altLang="zh-CN" sz="2400" b="1" dirty="0">
                <a:solidFill>
                  <a:srgbClr val="775480"/>
                </a:solidFill>
                <a:latin typeface="微软雅黑 Light" panose="020B0502040204020203" charset="-122"/>
                <a:ea typeface="微软雅黑 Light" panose="020B0502040204020203" charset="-122"/>
              </a:rPr>
              <a:t>米</a:t>
            </a:r>
            <a:endParaRPr lang="en-US" altLang="zh-CN" sz="2400" b="1" dirty="0">
              <a:solidFill>
                <a:srgbClr val="775480"/>
              </a:solidFill>
              <a:latin typeface="微软雅黑 Light" panose="020B0502040204020203" charset="-122"/>
              <a:ea typeface="微软雅黑 Light" panose="020B0502040204020203" charset="-122"/>
            </a:endParaRPr>
          </a:p>
          <a:p>
            <a:r>
              <a:rPr lang="zh-CN" altLang="zh-CN" sz="2400" b="1" dirty="0">
                <a:solidFill>
                  <a:srgbClr val="775480"/>
                </a:solidFill>
                <a:latin typeface="微软雅黑 Light" panose="020B0502040204020203" charset="-122"/>
                <a:ea typeface="微软雅黑 Light" panose="020B0502040204020203" charset="-122"/>
              </a:rPr>
              <a:t>即使在</a:t>
            </a:r>
            <a:r>
              <a:rPr lang="en-US" altLang="zh-CN" sz="2400" b="1" dirty="0">
                <a:solidFill>
                  <a:srgbClr val="775480"/>
                </a:solidFill>
                <a:latin typeface="微软雅黑 Light" panose="020B0502040204020203" charset="-122"/>
                <a:ea typeface="微软雅黑 Light" panose="020B0502040204020203" charset="-122"/>
              </a:rPr>
              <a:t> 4 </a:t>
            </a:r>
            <a:r>
              <a:rPr lang="zh-CN" altLang="zh-CN" sz="2400" b="1" dirty="0">
                <a:solidFill>
                  <a:srgbClr val="775480"/>
                </a:solidFill>
                <a:latin typeface="微软雅黑 Light" panose="020B0502040204020203" charset="-122"/>
                <a:ea typeface="微软雅黑 Light" panose="020B0502040204020203" charset="-122"/>
              </a:rPr>
              <a:t>米的情况下，其覆盖范围对于普通客厅来说也已经足够大。</a:t>
            </a:r>
            <a:br>
              <a:rPr lang="en-US" altLang="zh-CN" sz="2400" b="1" dirty="0">
                <a:solidFill>
                  <a:srgbClr val="775480"/>
                </a:solidFill>
                <a:latin typeface="微软雅黑 Light" panose="020B0502040204020203" charset="-122"/>
                <a:ea typeface="微软雅黑 Light" panose="020B0502040204020203" charset="-122"/>
              </a:rPr>
            </a:br>
            <a:r>
              <a:rPr lang="zh-CN" altLang="zh-CN" sz="2400" b="1" dirty="0">
                <a:solidFill>
                  <a:srgbClr val="775480"/>
                </a:solidFill>
                <a:latin typeface="微软雅黑 Light" panose="020B0502040204020203" charset="-122"/>
                <a:ea typeface="微软雅黑 Light" panose="020B0502040204020203" charset="-122"/>
              </a:rPr>
              <a:t>因此，</a:t>
            </a:r>
            <a:r>
              <a:rPr lang="en-US" altLang="zh-CN" sz="2400" b="1" dirty="0">
                <a:solidFill>
                  <a:srgbClr val="775480"/>
                </a:solidFill>
                <a:latin typeface="微软雅黑 Light" panose="020B0502040204020203" charset="-122"/>
                <a:ea typeface="微软雅黑 Light" panose="020B0502040204020203" charset="-122"/>
              </a:rPr>
              <a:t>CSI </a:t>
            </a:r>
            <a:r>
              <a:rPr lang="zh-CN" altLang="zh-CN" sz="2400" b="1" dirty="0">
                <a:solidFill>
                  <a:srgbClr val="775480"/>
                </a:solidFill>
                <a:latin typeface="微软雅黑 Light" panose="020B0502040204020203" charset="-122"/>
                <a:ea typeface="微软雅黑 Light" panose="020B0502040204020203" charset="-122"/>
              </a:rPr>
              <a:t>幅度区分运动活动与</a:t>
            </a:r>
            <a:r>
              <a:rPr lang="zh-CN" altLang="en-US" sz="2400" b="1" dirty="0">
                <a:solidFill>
                  <a:srgbClr val="775480"/>
                </a:solidFill>
                <a:latin typeface="微软雅黑 Light" panose="020B0502040204020203" charset="-122"/>
                <a:ea typeface="微软雅黑 Light" panose="020B0502040204020203" charset="-122"/>
              </a:rPr>
              <a:t>非静止</a:t>
            </a:r>
            <a:r>
              <a:rPr lang="zh-CN" altLang="zh-CN" sz="2400" b="1" dirty="0">
                <a:solidFill>
                  <a:srgbClr val="775480"/>
                </a:solidFill>
                <a:latin typeface="微软雅黑 Light" panose="020B0502040204020203" charset="-122"/>
                <a:ea typeface="微软雅黑 Light" panose="020B0502040204020203" charset="-122"/>
              </a:rPr>
              <a:t>活动的能力在普通客厅环境下是足够且可靠的。 </a:t>
            </a:r>
          </a:p>
          <a:p>
            <a:endParaRPr lang="en-US" altLang="zh-CN" sz="2400" b="1"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42321098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4817F-322F-589C-C0A2-4835443E941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E4FDE695-2C25-FCF1-3AD8-4EE7BC7AFF7B}"/>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不同设置下的跌倒</a:t>
            </a:r>
          </a:p>
        </p:txBody>
      </p:sp>
      <p:sp>
        <p:nvSpPr>
          <p:cNvPr id="20" name="矩形 19">
            <a:extLst>
              <a:ext uri="{FF2B5EF4-FFF2-40B4-BE49-F238E27FC236}">
                <a16:creationId xmlns:a16="http://schemas.microsoft.com/office/drawing/2014/main" id="{E37FF4AE-4D60-15D6-1965-00064AD0F8A8}"/>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ADC7586-31AC-2740-E724-82A72EFEEC9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0DA5A152-2969-C348-5F3A-859991B633C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7644BB77-FF5F-B031-011C-A894D501978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556CECF-6D8C-68EB-2BFE-23F502FE763B}"/>
              </a:ext>
            </a:extLst>
          </p:cNvPr>
          <p:cNvSpPr txBox="1"/>
          <p:nvPr/>
        </p:nvSpPr>
        <p:spPr>
          <a:xfrm>
            <a:off x="7626484" y="1778910"/>
            <a:ext cx="4565515" cy="3817620"/>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然后，我们关注在不同设置下发生的站立跌倒和行走跌倒，包括</a:t>
            </a:r>
            <a:r>
              <a:rPr lang="en-US" altLang="zh-CN" sz="2400" b="1" dirty="0">
                <a:solidFill>
                  <a:srgbClr val="775480"/>
                </a:solidFill>
                <a:latin typeface="微软雅黑 Light" panose="020B0502040204020203" charset="-122"/>
                <a:ea typeface="微软雅黑 Light" panose="020B0502040204020203" charset="-122"/>
              </a:rPr>
              <a:t> LOS </a:t>
            </a:r>
            <a:r>
              <a:rPr lang="zh-CN" altLang="zh-CN" sz="2400" b="1" dirty="0">
                <a:solidFill>
                  <a:srgbClr val="775480"/>
                </a:solidFill>
                <a:latin typeface="微软雅黑 Light" panose="020B0502040204020203" charset="-122"/>
                <a:ea typeface="微软雅黑 Light" panose="020B0502040204020203" charset="-122"/>
              </a:rPr>
              <a:t>和</a:t>
            </a:r>
            <a:r>
              <a:rPr lang="en-US" altLang="zh-CN" sz="2400" b="1" dirty="0">
                <a:solidFill>
                  <a:srgbClr val="775480"/>
                </a:solidFill>
                <a:latin typeface="微软雅黑 Light" panose="020B0502040204020203" charset="-122"/>
                <a:ea typeface="微软雅黑 Light" panose="020B0502040204020203" charset="-122"/>
              </a:rPr>
              <a:t> NLOS</a:t>
            </a:r>
            <a:r>
              <a:rPr lang="zh-CN" altLang="zh-CN" sz="2400" b="1" dirty="0">
                <a:solidFill>
                  <a:srgbClr val="775480"/>
                </a:solidFill>
                <a:latin typeface="微软雅黑 Light" panose="020B0502040204020203" charset="-122"/>
                <a:ea typeface="微软雅黑 Light" panose="020B0502040204020203" charset="-122"/>
              </a:rPr>
              <a:t>。 </a:t>
            </a:r>
            <a:endParaRPr lang="en-US" altLang="zh-CN" sz="2400" b="1" dirty="0">
              <a:solidFill>
                <a:srgbClr val="775480"/>
              </a:solidFill>
              <a:latin typeface="微软雅黑 Light" panose="020B0502040204020203" charset="-122"/>
              <a:ea typeface="微软雅黑 Light" panose="020B0502040204020203" charset="-122"/>
            </a:endParaRP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2" name="图片 1">
            <a:extLst>
              <a:ext uri="{FF2B5EF4-FFF2-40B4-BE49-F238E27FC236}">
                <a16:creationId xmlns:a16="http://schemas.microsoft.com/office/drawing/2014/main" id="{82EB034D-E891-70B4-5D32-E018EC8DAEB0}"/>
              </a:ext>
            </a:extLst>
          </p:cNvPr>
          <p:cNvPicPr>
            <a:picLocks noChangeAspect="1"/>
          </p:cNvPicPr>
          <p:nvPr/>
        </p:nvPicPr>
        <p:blipFill>
          <a:blip r:embed="rId5"/>
          <a:stretch>
            <a:fillRect/>
          </a:stretch>
        </p:blipFill>
        <p:spPr>
          <a:xfrm>
            <a:off x="0" y="1778910"/>
            <a:ext cx="7398256" cy="3937084"/>
          </a:xfrm>
          <a:prstGeom prst="rect">
            <a:avLst/>
          </a:prstGeom>
          <a:noFill/>
          <a:ln>
            <a:noFill/>
          </a:ln>
        </p:spPr>
      </p:pic>
    </p:spTree>
    <p:custDataLst>
      <p:tags r:id="rId1"/>
    </p:custDataLst>
    <p:extLst>
      <p:ext uri="{BB962C8B-B14F-4D97-AF65-F5344CB8AC3E}">
        <p14:creationId xmlns:p14="http://schemas.microsoft.com/office/powerpoint/2010/main" val="33311122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2AA4F-ABDE-64A5-40D8-006EB0CEC099}"/>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CF37B81-49F5-D3F0-0C33-A74B41327F89}"/>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不同设置下的跌倒</a:t>
            </a:r>
          </a:p>
        </p:txBody>
      </p:sp>
      <p:sp>
        <p:nvSpPr>
          <p:cNvPr id="20" name="矩形 19">
            <a:extLst>
              <a:ext uri="{FF2B5EF4-FFF2-40B4-BE49-F238E27FC236}">
                <a16:creationId xmlns:a16="http://schemas.microsoft.com/office/drawing/2014/main" id="{8FF70F1E-9E84-7F2C-3CDF-025971B017C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F473FBA-EA63-422C-E00A-45A6F16BABEF}"/>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38AEDE9-2679-920D-5677-72461DF5E14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4F5D0AF-5F14-99A4-CB2F-E61BBEDDAD59}"/>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A3C9AFC-BECB-1B10-81F8-603361092675}"/>
              </a:ext>
            </a:extLst>
          </p:cNvPr>
          <p:cNvSpPr txBox="1"/>
          <p:nvPr/>
        </p:nvSpPr>
        <p:spPr>
          <a:xfrm>
            <a:off x="6006844" y="1600200"/>
            <a:ext cx="6185156" cy="4799680"/>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先前的研究</a:t>
            </a:r>
            <a:r>
              <a:rPr lang="en-US" altLang="zh-CN" sz="2400" b="1" dirty="0">
                <a:solidFill>
                  <a:srgbClr val="775480"/>
                </a:solidFill>
                <a:latin typeface="微软雅黑 Light" panose="020B0502040204020203" charset="-122"/>
                <a:ea typeface="微软雅黑 Light" panose="020B0502040204020203" charset="-122"/>
              </a:rPr>
              <a:t> </a:t>
            </a:r>
            <a:r>
              <a:rPr lang="zh-CN" altLang="zh-CN" sz="2400" b="1" dirty="0">
                <a:solidFill>
                  <a:srgbClr val="775480"/>
                </a:solidFill>
                <a:latin typeface="微软雅黑 Light" panose="020B0502040204020203" charset="-122"/>
                <a:ea typeface="微软雅黑 Light" panose="020B0502040204020203" charset="-122"/>
              </a:rPr>
              <a:t>确实利用了上述特征来进行实时活动分割，并将其称为异常检测（</a:t>
            </a:r>
            <a:r>
              <a:rPr lang="en-US" altLang="zh-CN" sz="2400" b="1" dirty="0">
                <a:solidFill>
                  <a:srgbClr val="775480"/>
                </a:solidFill>
                <a:latin typeface="微软雅黑 Light" panose="020B0502040204020203" charset="-122"/>
                <a:ea typeface="微软雅黑 Light" panose="020B0502040204020203" charset="-122"/>
              </a:rPr>
              <a:t>Anomaly Detection</a:t>
            </a:r>
            <a:r>
              <a:rPr lang="zh-CN" altLang="zh-CN" sz="2400" b="1" dirty="0">
                <a:solidFill>
                  <a:srgbClr val="775480"/>
                </a:solidFill>
                <a:latin typeface="微软雅黑 Light" panose="020B0502040204020203" charset="-122"/>
                <a:ea typeface="微软雅黑 Light" panose="020B0502040204020203" charset="-122"/>
              </a:rPr>
              <a:t>）。</a:t>
            </a:r>
            <a:br>
              <a:rPr lang="en-US" altLang="zh-CN" sz="2400" b="1" dirty="0">
                <a:solidFill>
                  <a:srgbClr val="775480"/>
                </a:solidFill>
                <a:latin typeface="微软雅黑 Light" panose="020B0502040204020203" charset="-122"/>
                <a:ea typeface="微软雅黑 Light" panose="020B0502040204020203" charset="-122"/>
              </a:rPr>
            </a:br>
            <a:r>
              <a:rPr lang="zh-CN" altLang="zh-CN" sz="2400" b="1" dirty="0">
                <a:solidFill>
                  <a:srgbClr val="775480"/>
                </a:solidFill>
                <a:latin typeface="微软雅黑 Light" panose="020B0502040204020203" charset="-122"/>
                <a:ea typeface="微软雅黑 Light" panose="020B0502040204020203" charset="-122"/>
              </a:rPr>
              <a:t>然而，我们认为这种方法在两个方面过于简化了问题，从而限制了其实用性：</a:t>
            </a:r>
          </a:p>
          <a:p>
            <a:r>
              <a:rPr lang="zh-CN" altLang="zh-CN" sz="2400" b="1" dirty="0">
                <a:solidFill>
                  <a:srgbClr val="775480"/>
                </a:solidFill>
                <a:latin typeface="微软雅黑 Light" panose="020B0502040204020203" charset="-122"/>
                <a:ea typeface="微软雅黑 Light" panose="020B0502040204020203" charset="-122"/>
              </a:rPr>
              <a:t>首先，该方法假设受试者处于一个受控环境中，只执行少量预定义的活动。</a:t>
            </a:r>
          </a:p>
          <a:p>
            <a:r>
              <a:rPr lang="zh-CN" altLang="zh-CN" sz="2400" b="1" dirty="0">
                <a:solidFill>
                  <a:srgbClr val="775480"/>
                </a:solidFill>
                <a:latin typeface="微软雅黑 Light" panose="020B0502040204020203" charset="-122"/>
                <a:ea typeface="微软雅黑 Light" panose="020B0502040204020203" charset="-122"/>
              </a:rPr>
              <a:t>其次，该方法要求两个预定义活动之间必须有一个静止活动作为间隔。</a:t>
            </a:r>
            <a:endParaRPr lang="en-US" altLang="zh-CN" sz="2400" b="1" dirty="0">
              <a:solidFill>
                <a:srgbClr val="775480"/>
              </a:solidFill>
              <a:latin typeface="微软雅黑 Light" panose="020B0502040204020203" charset="-122"/>
              <a:ea typeface="微软雅黑 Light" panose="020B0502040204020203" charset="-122"/>
            </a:endParaRPr>
          </a:p>
          <a:p>
            <a:endParaRPr lang="en-US" altLang="zh-CN" sz="2400" b="1"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EE6DE85B-8A11-A60E-B1C6-9B469F519BAB}"/>
              </a:ext>
            </a:extLst>
          </p:cNvPr>
          <p:cNvPicPr>
            <a:picLocks noChangeAspect="1"/>
          </p:cNvPicPr>
          <p:nvPr/>
        </p:nvPicPr>
        <p:blipFill>
          <a:blip r:embed="rId5"/>
          <a:stretch>
            <a:fillRect/>
          </a:stretch>
        </p:blipFill>
        <p:spPr>
          <a:xfrm>
            <a:off x="290194" y="1600200"/>
            <a:ext cx="5546401" cy="4690839"/>
          </a:xfrm>
          <a:prstGeom prst="rect">
            <a:avLst/>
          </a:prstGeom>
        </p:spPr>
      </p:pic>
    </p:spTree>
    <p:custDataLst>
      <p:tags r:id="rId1"/>
    </p:custDataLst>
    <p:extLst>
      <p:ext uri="{BB962C8B-B14F-4D97-AF65-F5344CB8AC3E}">
        <p14:creationId xmlns:p14="http://schemas.microsoft.com/office/powerpoint/2010/main" val="118360546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190DE-7156-FCE8-4EBC-1712838FB294}"/>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4336EC85-C5C1-3BCE-5A72-F4CCC175816E}"/>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en-US" sz="3100" dirty="0">
                <a:solidFill>
                  <a:srgbClr val="694B71"/>
                </a:solidFill>
                <a:latin typeface="微软雅黑" panose="020B0503020204020204" pitchFamily="34" charset="-122"/>
                <a:ea typeface="微软雅黑" panose="020B0503020204020204" pitchFamily="34" charset="-122"/>
                <a:cs typeface="+mn-ea"/>
              </a:rPr>
              <a:t>        </a:t>
            </a:r>
            <a:r>
              <a:rPr lang="en-US" altLang="zh-CN" sz="3100" dirty="0">
                <a:solidFill>
                  <a:srgbClr val="694B71"/>
                </a:solidFill>
                <a:latin typeface="微软雅黑" panose="020B0503020204020204" pitchFamily="34" charset="-122"/>
                <a:ea typeface="微软雅黑" panose="020B0503020204020204" pitchFamily="34" charset="-122"/>
                <a:cs typeface="+mn-ea"/>
              </a:rPr>
              <a:t>CSI</a:t>
            </a:r>
            <a:r>
              <a:rPr lang="zh-CN" altLang="en-US" sz="3100" dirty="0">
                <a:solidFill>
                  <a:srgbClr val="694B71"/>
                </a:solidFill>
                <a:latin typeface="微软雅黑" panose="020B0503020204020204" pitchFamily="34" charset="-122"/>
                <a:ea typeface="微软雅黑" panose="020B0503020204020204" pitchFamily="34" charset="-122"/>
                <a:cs typeface="+mn-ea"/>
              </a:rPr>
              <a:t>振幅</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7AF29C16-2910-3913-02CF-E961AEBCA5CD}"/>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CFAC462-E532-1D49-4174-6836D092309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66389ED-5839-5E13-A8D7-1BE5EB20609F}"/>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BEEDF97-7D68-BAC2-4119-2227783ADF0C}"/>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BDE4C6E-495A-7854-C5BA-FB2CBC6842A9}"/>
              </a:ext>
            </a:extLst>
          </p:cNvPr>
          <p:cNvSpPr txBox="1"/>
          <p:nvPr/>
        </p:nvSpPr>
        <p:spPr>
          <a:xfrm>
            <a:off x="850596" y="2004817"/>
            <a:ext cx="10622604" cy="3785652"/>
          </a:xfrm>
          <a:prstGeom prst="rect">
            <a:avLst/>
          </a:prstGeom>
          <a:noFill/>
        </p:spPr>
        <p:txBody>
          <a:bodyPr wrap="square" rtlCol="0">
            <a:spAutoFit/>
          </a:bodyPr>
          <a:lstStyle/>
          <a:p>
            <a:r>
              <a:rPr lang="zh-CN" altLang="en-US" sz="2400" b="1" dirty="0">
                <a:solidFill>
                  <a:srgbClr val="775480"/>
                </a:solidFill>
                <a:latin typeface="微软雅黑 Light" panose="020B0502040204020203" charset="-122"/>
                <a:ea typeface="微软雅黑 Light" panose="020B0502040204020203" charset="-122"/>
              </a:rPr>
              <a:t>只看</a:t>
            </a:r>
            <a:r>
              <a:rPr lang="en-US" altLang="zh-CN" sz="2400" b="1" dirty="0">
                <a:solidFill>
                  <a:srgbClr val="775480"/>
                </a:solidFill>
                <a:latin typeface="微软雅黑 Light" panose="020B0502040204020203" charset="-122"/>
                <a:ea typeface="微软雅黑 Light" panose="020B0502040204020203" charset="-122"/>
              </a:rPr>
              <a:t>CSI</a:t>
            </a:r>
            <a:r>
              <a:rPr lang="zh-CN" altLang="en-US" sz="2400" b="1" dirty="0">
                <a:solidFill>
                  <a:srgbClr val="775480"/>
                </a:solidFill>
                <a:latin typeface="微软雅黑 Light" panose="020B0502040204020203" charset="-122"/>
                <a:ea typeface="微软雅黑 Light" panose="020B0502040204020203" charset="-122"/>
              </a:rPr>
              <a:t>振幅的局限：</a:t>
            </a:r>
            <a:endParaRPr lang="en-US" altLang="zh-CN" sz="2400" b="1" dirty="0">
              <a:solidFill>
                <a:srgbClr val="775480"/>
              </a:solidFill>
              <a:latin typeface="微软雅黑 Light" panose="020B0502040204020203" charset="-122"/>
              <a:ea typeface="微软雅黑 Light" panose="020B0502040204020203" charset="-122"/>
            </a:endParaRPr>
          </a:p>
          <a:p>
            <a:r>
              <a:rPr lang="en-US" altLang="zh-CN" sz="2400" b="1" dirty="0">
                <a:solidFill>
                  <a:srgbClr val="775480"/>
                </a:solidFill>
                <a:latin typeface="微软雅黑 Light" panose="020B0502040204020203" charset="-122"/>
                <a:ea typeface="微软雅黑 Light" panose="020B0502040204020203" charset="-122"/>
              </a:rPr>
              <a:t>1</a:t>
            </a:r>
            <a:r>
              <a:rPr lang="zh-CN" altLang="en-US" sz="2400" b="1" dirty="0">
                <a:solidFill>
                  <a:srgbClr val="775480"/>
                </a:solidFill>
                <a:latin typeface="微软雅黑 Light" panose="020B0502040204020203" charset="-122"/>
                <a:ea typeface="微软雅黑 Light" panose="020B0502040204020203" charset="-122"/>
              </a:rPr>
              <a:t>、</a:t>
            </a:r>
            <a:r>
              <a:rPr lang="zh-CN" altLang="zh-CN" sz="2400" b="1" dirty="0">
                <a:solidFill>
                  <a:srgbClr val="775480"/>
                </a:solidFill>
                <a:latin typeface="微软雅黑 Light" panose="020B0502040204020203" charset="-122"/>
                <a:ea typeface="微软雅黑 Light" panose="020B0502040204020203" charset="-122"/>
              </a:rPr>
              <a:t>只能判断人体受试者是否在进行运动活动</a:t>
            </a:r>
            <a:r>
              <a:rPr lang="zh-CN" altLang="en-US" sz="2400" b="1" dirty="0">
                <a:solidFill>
                  <a:srgbClr val="775480"/>
                </a:solidFill>
                <a:latin typeface="微软雅黑 Light" panose="020B0502040204020203" charset="-122"/>
                <a:ea typeface="微软雅黑 Light" panose="020B0502040204020203" charset="-122"/>
              </a:rPr>
              <a:t>，无法区分跌倒和其他运动活动</a:t>
            </a:r>
            <a:endParaRPr lang="en-US" altLang="zh-CN" sz="2400" b="1" dirty="0">
              <a:solidFill>
                <a:srgbClr val="775480"/>
              </a:solidFill>
              <a:latin typeface="微软雅黑 Light" panose="020B0502040204020203" charset="-122"/>
              <a:ea typeface="微软雅黑 Light" panose="020B0502040204020203" charset="-122"/>
            </a:endParaRPr>
          </a:p>
          <a:p>
            <a:r>
              <a:rPr lang="en-US" altLang="zh-CN" sz="2400" b="1" dirty="0">
                <a:solidFill>
                  <a:srgbClr val="775480"/>
                </a:solidFill>
                <a:latin typeface="微软雅黑 Light" panose="020B0502040204020203" charset="-122"/>
                <a:ea typeface="微软雅黑 Light" panose="020B0502040204020203" charset="-122"/>
              </a:rPr>
              <a:t>2</a:t>
            </a:r>
            <a:r>
              <a:rPr lang="zh-CN" altLang="en-US" sz="2400" b="1" dirty="0">
                <a:solidFill>
                  <a:srgbClr val="775480"/>
                </a:solidFill>
                <a:latin typeface="微软雅黑 Light" panose="020B0502040204020203" charset="-122"/>
                <a:ea typeface="微软雅黑 Light" panose="020B0502040204020203" charset="-122"/>
              </a:rPr>
              <a:t>、</a:t>
            </a:r>
            <a:r>
              <a:rPr lang="zh-CN" altLang="zh-CN" sz="2400" b="1" dirty="0">
                <a:solidFill>
                  <a:srgbClr val="775480"/>
                </a:solidFill>
                <a:latin typeface="微软雅黑 Light" panose="020B0502040204020203" charset="-122"/>
                <a:ea typeface="微软雅黑 Light" panose="020B0502040204020203" charset="-122"/>
              </a:rPr>
              <a:t>区分运动活动与静止活动的能力在普通客厅环境下是足够且可靠的</a:t>
            </a:r>
            <a:r>
              <a:rPr lang="zh-CN" altLang="en-US" sz="2400" b="1" dirty="0">
                <a:solidFill>
                  <a:srgbClr val="775480"/>
                </a:solidFill>
                <a:latin typeface="微软雅黑 Light" panose="020B0502040204020203" charset="-122"/>
                <a:ea typeface="微软雅黑 Light" panose="020B0502040204020203" charset="-122"/>
              </a:rPr>
              <a:t>，但</a:t>
            </a:r>
            <a:r>
              <a:rPr lang="en-US" altLang="zh-CN" sz="2400" b="1" dirty="0">
                <a:solidFill>
                  <a:srgbClr val="775480"/>
                </a:solidFill>
                <a:latin typeface="微软雅黑 Light" panose="020B0502040204020203" charset="-122"/>
                <a:ea typeface="微软雅黑 Light" panose="020B0502040204020203" charset="-122"/>
              </a:rPr>
              <a:t>CSI </a:t>
            </a:r>
            <a:r>
              <a:rPr lang="zh-CN" altLang="zh-CN" sz="2400" b="1" dirty="0">
                <a:solidFill>
                  <a:srgbClr val="775480"/>
                </a:solidFill>
                <a:latin typeface="微软雅黑 Light" panose="020B0502040204020203" charset="-122"/>
                <a:ea typeface="微软雅黑 Light" panose="020B0502040204020203" charset="-122"/>
              </a:rPr>
              <a:t>幅度区分站立姿势与其他静止活动的能力相当有限且不可靠。</a:t>
            </a:r>
            <a:endParaRPr lang="en-US" altLang="zh-CN" sz="2400" b="1" dirty="0">
              <a:solidFill>
                <a:srgbClr val="775480"/>
              </a:solidFill>
              <a:latin typeface="微软雅黑 Light" panose="020B0502040204020203" charset="-122"/>
              <a:ea typeface="微软雅黑 Light" panose="020B0502040204020203" charset="-122"/>
            </a:endParaRPr>
          </a:p>
          <a:p>
            <a:r>
              <a:rPr lang="en-US" altLang="zh-CN" sz="2400" b="1" dirty="0">
                <a:solidFill>
                  <a:srgbClr val="775480"/>
                </a:solidFill>
                <a:latin typeface="微软雅黑 Light" panose="020B0502040204020203" charset="-122"/>
                <a:ea typeface="微软雅黑 Light" panose="020B0502040204020203" charset="-122"/>
              </a:rPr>
              <a:t>3</a:t>
            </a:r>
            <a:r>
              <a:rPr lang="zh-CN" altLang="en-US" sz="2400" b="1" dirty="0">
                <a:solidFill>
                  <a:srgbClr val="775480"/>
                </a:solidFill>
                <a:latin typeface="微软雅黑 Light" panose="020B0502040204020203" charset="-122"/>
                <a:ea typeface="微软雅黑 Light" panose="020B0502040204020203" charset="-122"/>
              </a:rPr>
              <a:t>、对于人类实时活动的分割，由于需要受试人处于一个受控环境，只执行少量预定义的活动，且要求活动之间必须有间隔，</a:t>
            </a:r>
            <a:r>
              <a:rPr lang="zh-CN" altLang="zh-CN" sz="2400" b="1" dirty="0">
                <a:solidFill>
                  <a:srgbClr val="775480"/>
                </a:solidFill>
                <a:latin typeface="微软雅黑 Light" panose="020B0502040204020203" charset="-122"/>
                <a:ea typeface="微软雅黑 Light" panose="020B0502040204020203" charset="-122"/>
              </a:rPr>
              <a:t>无法以自然、连续的方式执行活动 </a:t>
            </a:r>
          </a:p>
          <a:p>
            <a:endParaRPr lang="en-US" altLang="zh-CN" sz="2400" b="1" dirty="0">
              <a:solidFill>
                <a:srgbClr val="775480"/>
              </a:solidFill>
              <a:latin typeface="微软雅黑 Light" panose="020B0502040204020203" charset="-122"/>
              <a:ea typeface="微软雅黑 Light" panose="020B0502040204020203" charset="-122"/>
            </a:endParaRPr>
          </a:p>
          <a:p>
            <a:r>
              <a:rPr lang="en-US" altLang="zh-CN" sz="2400" b="1" dirty="0">
                <a:solidFill>
                  <a:srgbClr val="775480"/>
                </a:solidFill>
                <a:latin typeface="微软雅黑 Light" panose="020B0502040204020203" charset="-122"/>
                <a:ea typeface="微软雅黑 Light" panose="020B0502040204020203" charset="-122"/>
              </a:rPr>
              <a:t>CSI </a:t>
            </a:r>
            <a:r>
              <a:rPr lang="zh-CN" altLang="zh-CN" sz="2400" b="1" dirty="0">
                <a:solidFill>
                  <a:srgbClr val="775480"/>
                </a:solidFill>
                <a:latin typeface="微软雅黑 Light" panose="020B0502040204020203" charset="-122"/>
                <a:ea typeface="微软雅黑 Light" panose="020B0502040204020203" charset="-122"/>
              </a:rPr>
              <a:t>幅度上的这些局限性促使我们进一步探索，看看是否能找到一种更合适的基础信号，用于活动分割和跌倒检测。 </a:t>
            </a:r>
            <a:endParaRPr lang="zh-CN" altLang="en-US" sz="2400" b="1"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396173740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2C3B5-DB4C-5332-1A41-FCF907B23A19}"/>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B7E2A540-EB13-6992-1A01-E839713F911E}"/>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F9AC0910-CF3A-0055-6713-E1604F2FF48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A185BF5-CBA2-6976-3FDE-595809698A64}"/>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3C73DA0-F6A3-F9DA-D9D0-6F45505F9D7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AD13671-2569-5E95-1DCA-B97C0DD6C84F}"/>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9EC3BAC-D3E5-99C8-D813-693DE2BA5C21}"/>
              </a:ext>
            </a:extLst>
          </p:cNvPr>
          <p:cNvSpPr txBox="1"/>
          <p:nvPr/>
        </p:nvSpPr>
        <p:spPr>
          <a:xfrm>
            <a:off x="850596" y="2004817"/>
            <a:ext cx="10622604" cy="1569660"/>
          </a:xfrm>
          <a:prstGeom prst="rect">
            <a:avLst/>
          </a:prstGeom>
          <a:noFill/>
        </p:spPr>
        <p:txBody>
          <a:bodyPr wrap="square" rtlCol="0">
            <a:spAutoFit/>
          </a:bodyPr>
          <a:lstStyle/>
          <a:p>
            <a:r>
              <a:rPr lang="zh-CN" altLang="zh-CN" sz="2400" b="1" dirty="0">
                <a:solidFill>
                  <a:srgbClr val="775480"/>
                </a:solidFill>
                <a:latin typeface="微软雅黑 Light" panose="020B0502040204020203" charset="-122"/>
                <a:ea typeface="微软雅黑 Light" panose="020B0502040204020203" charset="-122"/>
              </a:rPr>
              <a:t>由于人类活动会导致信道失真，从而也会导致信号相移，因此我们按照上一节的相同逻辑来研究人类活动与</a:t>
            </a:r>
            <a:r>
              <a:rPr lang="en-US" altLang="zh-CN" sz="2400" b="1" dirty="0">
                <a:solidFill>
                  <a:srgbClr val="775480"/>
                </a:solidFill>
                <a:latin typeface="微软雅黑 Light" panose="020B0502040204020203" charset="-122"/>
                <a:ea typeface="微软雅黑 Light" panose="020B0502040204020203" charset="-122"/>
              </a:rPr>
              <a:t> CSI </a:t>
            </a:r>
            <a:r>
              <a:rPr lang="zh-CN" altLang="zh-CN" sz="2400" b="1" dirty="0">
                <a:solidFill>
                  <a:srgbClr val="775480"/>
                </a:solidFill>
                <a:latin typeface="微软雅黑 Light" panose="020B0502040204020203" charset="-122"/>
                <a:ea typeface="微软雅黑 Light" panose="020B0502040204020203" charset="-122"/>
              </a:rPr>
              <a:t>相位信息之间的关系 </a:t>
            </a:r>
            <a:endParaRPr lang="en-US" altLang="zh-CN" sz="2400" b="1" dirty="0">
              <a:solidFill>
                <a:srgbClr val="775480"/>
              </a:solidFill>
              <a:latin typeface="微软雅黑 Light" panose="020B0502040204020203" charset="-122"/>
              <a:ea typeface="微软雅黑 Light" panose="020B0502040204020203" charset="-122"/>
            </a:endParaRPr>
          </a:p>
          <a:p>
            <a:endParaRPr lang="en-US" altLang="zh-CN" sz="2400" b="1" dirty="0">
              <a:solidFill>
                <a:srgbClr val="775480"/>
              </a:solidFill>
              <a:latin typeface="微软雅黑 Light" panose="020B0502040204020203" charset="-122"/>
              <a:ea typeface="微软雅黑 Light" panose="020B0502040204020203" charset="-122"/>
            </a:endParaRPr>
          </a:p>
          <a:p>
            <a:r>
              <a:rPr lang="zh-CN" altLang="en-US" sz="2400" b="1" dirty="0">
                <a:solidFill>
                  <a:srgbClr val="775480"/>
                </a:solidFill>
                <a:latin typeface="微软雅黑 Light" panose="020B0502040204020203" charset="-122"/>
                <a:ea typeface="微软雅黑 Light" panose="020B0502040204020203" charset="-122"/>
              </a:rPr>
              <a:t>每一条天线发射</a:t>
            </a:r>
            <a:r>
              <a:rPr lang="en-US" altLang="zh-CN" sz="2400" b="1" dirty="0">
                <a:solidFill>
                  <a:srgbClr val="775480"/>
                </a:solidFill>
                <a:latin typeface="微软雅黑 Light" panose="020B0502040204020203" charset="-122"/>
                <a:ea typeface="微软雅黑 Light" panose="020B0502040204020203" charset="-122"/>
              </a:rPr>
              <a:t>30</a:t>
            </a:r>
            <a:r>
              <a:rPr lang="zh-CN" altLang="en-US" sz="2400" b="1" dirty="0">
                <a:solidFill>
                  <a:srgbClr val="775480"/>
                </a:solidFill>
                <a:latin typeface="微软雅黑 Light" panose="020B0502040204020203" charset="-122"/>
                <a:ea typeface="微软雅黑 Light" panose="020B0502040204020203" charset="-122"/>
              </a:rPr>
              <a:t>条子载波，其中，每一条子载波</a:t>
            </a:r>
            <a:r>
              <a:rPr lang="en-US" altLang="zh-CN" sz="2400" b="1" i="1" dirty="0">
                <a:solidFill>
                  <a:srgbClr val="775480"/>
                </a:solidFill>
                <a:latin typeface="微软雅黑 Light" panose="020B0502040204020203" charset="-122"/>
                <a:ea typeface="微软雅黑 Light" panose="020B0502040204020203" charset="-122"/>
              </a:rPr>
              <a:t>f</a:t>
            </a:r>
            <a:r>
              <a:rPr lang="zh-CN" altLang="en-US" sz="2400" b="1" i="1" dirty="0">
                <a:solidFill>
                  <a:srgbClr val="775480"/>
                </a:solidFill>
                <a:latin typeface="微软雅黑 Light" panose="020B0502040204020203" charset="-122"/>
                <a:ea typeface="微软雅黑 Light" panose="020B0502040204020203" charset="-122"/>
              </a:rPr>
              <a:t> </a:t>
            </a:r>
            <a:r>
              <a:rPr lang="zh-CN" altLang="en-US" sz="2400" b="1" dirty="0">
                <a:solidFill>
                  <a:srgbClr val="775480"/>
                </a:solidFill>
                <a:latin typeface="微软雅黑 Light" panose="020B0502040204020203" charset="-122"/>
                <a:ea typeface="微软雅黑 Light" panose="020B0502040204020203" charset="-122"/>
              </a:rPr>
              <a:t>的 </a:t>
            </a:r>
            <a:r>
              <a:rPr lang="en-US" altLang="zh-CN" sz="2400" b="1" dirty="0">
                <a:solidFill>
                  <a:srgbClr val="775480"/>
                </a:solidFill>
                <a:latin typeface="微软雅黑 Light" panose="020B0502040204020203" charset="-122"/>
                <a:ea typeface="微软雅黑 Light" panose="020B0502040204020203" charset="-122"/>
              </a:rPr>
              <a:t>CSI </a:t>
            </a:r>
            <a:r>
              <a:rPr lang="zh-CN" altLang="en-US" sz="2400" b="1" dirty="0">
                <a:solidFill>
                  <a:srgbClr val="775480"/>
                </a:solidFill>
                <a:latin typeface="微软雅黑 Light" panose="020B0502040204020203" charset="-122"/>
                <a:ea typeface="微软雅黑 Light" panose="020B0502040204020203" charset="-122"/>
              </a:rPr>
              <a:t>测量相位</a:t>
            </a:r>
            <a:r>
              <a:rPr lang="en-US" altLang="zh-CN" sz="2400" b="1" dirty="0">
                <a:solidFill>
                  <a:srgbClr val="775480"/>
                </a:solidFill>
                <a:latin typeface="微软雅黑 Light" panose="020B0502040204020203" charset="-122"/>
                <a:ea typeface="微软雅黑 Light" panose="020B0502040204020203" charset="-122"/>
              </a:rPr>
              <a:t>·	1·</a:t>
            </a:r>
            <a:endParaRPr lang="zh-CN" altLang="en-US" sz="2400" b="1" dirty="0">
              <a:solidFill>
                <a:srgbClr val="775480"/>
              </a:solidFill>
              <a:latin typeface="微软雅黑 Light" panose="020B0502040204020203" charset="-122"/>
              <a:ea typeface="微软雅黑 Light" panose="020B0502040204020203" charset="-122"/>
            </a:endParaRPr>
          </a:p>
        </p:txBody>
      </p:sp>
      <p:pic>
        <p:nvPicPr>
          <p:cNvPr id="10" name="图片 9">
            <a:extLst>
              <a:ext uri="{FF2B5EF4-FFF2-40B4-BE49-F238E27FC236}">
                <a16:creationId xmlns:a16="http://schemas.microsoft.com/office/drawing/2014/main" id="{47761FA0-10B7-4AC8-A7E6-8E4E8372F8B4}"/>
              </a:ext>
            </a:extLst>
          </p:cNvPr>
          <p:cNvPicPr>
            <a:picLocks noChangeAspect="1"/>
          </p:cNvPicPr>
          <p:nvPr/>
        </p:nvPicPr>
        <p:blipFill>
          <a:blip r:embed="rId6"/>
          <a:stretch>
            <a:fillRect/>
          </a:stretch>
        </p:blipFill>
        <p:spPr>
          <a:xfrm>
            <a:off x="10397807" y="2819425"/>
            <a:ext cx="597602" cy="929603"/>
          </a:xfrm>
          <a:prstGeom prst="rect">
            <a:avLst/>
          </a:prstGeom>
          <a:noFill/>
          <a:ln>
            <a:noFill/>
          </a:ln>
        </p:spPr>
      </p:pic>
      <p:pic>
        <p:nvPicPr>
          <p:cNvPr id="11" name="图片 10">
            <a:extLst>
              <a:ext uri="{FF2B5EF4-FFF2-40B4-BE49-F238E27FC236}">
                <a16:creationId xmlns:a16="http://schemas.microsoft.com/office/drawing/2014/main" id="{B58D2989-64A6-3607-97A2-A36CEDBAA3EF}"/>
              </a:ext>
            </a:extLst>
          </p:cNvPr>
          <p:cNvPicPr>
            <a:picLocks noChangeAspect="1"/>
          </p:cNvPicPr>
          <p:nvPr/>
        </p:nvPicPr>
        <p:blipFill>
          <a:blip r:embed="rId7"/>
          <a:stretch>
            <a:fillRect/>
          </a:stretch>
        </p:blipFill>
        <p:spPr>
          <a:xfrm>
            <a:off x="3005873" y="3574477"/>
            <a:ext cx="4884482" cy="1072760"/>
          </a:xfrm>
          <a:prstGeom prst="rect">
            <a:avLst/>
          </a:prstGeom>
          <a:noFill/>
          <a:ln>
            <a:noFill/>
          </a:ln>
        </p:spPr>
      </p:pic>
      <p:graphicFrame>
        <p:nvGraphicFramePr>
          <p:cNvPr id="24" name="对象 23">
            <a:extLst>
              <a:ext uri="{FF2B5EF4-FFF2-40B4-BE49-F238E27FC236}">
                <a16:creationId xmlns:a16="http://schemas.microsoft.com/office/drawing/2014/main" id="{B3E7A7F2-9BC9-5C3F-B121-C08D25F4CC54}"/>
              </a:ext>
            </a:extLst>
          </p:cNvPr>
          <p:cNvGraphicFramePr>
            <a:graphicFrameLocks noChangeAspect="1"/>
          </p:cNvGraphicFramePr>
          <p:nvPr>
            <p:extLst>
              <p:ext uri="{D42A27DB-BD31-4B8C-83A1-F6EECF244321}">
                <p14:modId xmlns:p14="http://schemas.microsoft.com/office/powerpoint/2010/main" val="332283229"/>
              </p:ext>
            </p:extLst>
          </p:nvPr>
        </p:nvGraphicFramePr>
        <p:xfrm>
          <a:off x="1535518" y="4853182"/>
          <a:ext cx="8702675" cy="1928812"/>
        </p:xfrm>
        <a:graphic>
          <a:graphicData uri="http://schemas.openxmlformats.org/presentationml/2006/ole">
            <mc:AlternateContent xmlns:mc="http://schemas.openxmlformats.org/markup-compatibility/2006">
              <mc:Choice xmlns:v="urn:schemas-microsoft-com:vml" Requires="v">
                <p:oleObj spid="_x0000_s1151" name="文档" r:id="rId8" imgW="5270500" imgH="1168400" progId="Word.Document.12">
                  <p:embed/>
                </p:oleObj>
              </mc:Choice>
              <mc:Fallback>
                <p:oleObj name="文档" r:id="rId8" imgW="5270500" imgH="1168400" progId="Word.Document.12">
                  <p:embed/>
                  <p:pic>
                    <p:nvPicPr>
                      <p:cNvPr id="0" name=""/>
                      <p:cNvPicPr/>
                      <p:nvPr/>
                    </p:nvPicPr>
                    <p:blipFill>
                      <a:blip r:embed="rId9"/>
                      <a:stretch>
                        <a:fillRect/>
                      </a:stretch>
                    </p:blipFill>
                    <p:spPr>
                      <a:xfrm>
                        <a:off x="1535518" y="4853182"/>
                        <a:ext cx="8702675" cy="1928812"/>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13133083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9A3D-15A4-2AEC-D413-A44F2EB9F01D}"/>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D28000B5-2413-57EF-DD82-802152C8AF47}"/>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C6300071-384C-4C9E-9232-2DE8B8929B6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63C9D3C-83C1-DF71-EEE2-95C0AD670600}"/>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BB61E82-CED4-AA34-2AC1-280D6ED603C7}"/>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24EE315-7422-6B39-F7A3-0459EE2B7B2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a:extLst>
              <a:ext uri="{FF2B5EF4-FFF2-40B4-BE49-F238E27FC236}">
                <a16:creationId xmlns:a16="http://schemas.microsoft.com/office/drawing/2014/main" id="{29167F8D-E213-5DB4-E8FC-34B958574C77}"/>
              </a:ext>
            </a:extLst>
          </p:cNvPr>
          <p:cNvGraphicFramePr>
            <a:graphicFrameLocks noChangeAspect="1"/>
          </p:cNvGraphicFramePr>
          <p:nvPr>
            <p:extLst>
              <p:ext uri="{D42A27DB-BD31-4B8C-83A1-F6EECF244321}">
                <p14:modId xmlns:p14="http://schemas.microsoft.com/office/powerpoint/2010/main" val="4093803022"/>
              </p:ext>
            </p:extLst>
          </p:nvPr>
        </p:nvGraphicFramePr>
        <p:xfrm>
          <a:off x="512763" y="1651000"/>
          <a:ext cx="11166475" cy="2044700"/>
        </p:xfrm>
        <a:graphic>
          <a:graphicData uri="http://schemas.openxmlformats.org/presentationml/2006/ole">
            <mc:AlternateContent xmlns:mc="http://schemas.openxmlformats.org/markup-compatibility/2006">
              <mc:Choice xmlns:v="urn:schemas-microsoft-com:vml" Requires="v">
                <p:oleObj spid="_x0000_s2175" name="文档" r:id="rId6" imgW="5270500" imgH="965200" progId="Word.Document.12">
                  <p:embed/>
                </p:oleObj>
              </mc:Choice>
              <mc:Fallback>
                <p:oleObj name="文档" r:id="rId6" imgW="5270500" imgH="965200" progId="Word.Document.12">
                  <p:embed/>
                  <p:pic>
                    <p:nvPicPr>
                      <p:cNvPr id="0" name=""/>
                      <p:cNvPicPr/>
                      <p:nvPr/>
                    </p:nvPicPr>
                    <p:blipFill>
                      <a:blip r:embed="rId7"/>
                      <a:stretch>
                        <a:fillRect/>
                      </a:stretch>
                    </p:blipFill>
                    <p:spPr>
                      <a:xfrm>
                        <a:off x="512763" y="1651000"/>
                        <a:ext cx="11166475" cy="2044700"/>
                      </a:xfrm>
                      <a:prstGeom prst="rect">
                        <a:avLst/>
                      </a:prstGeom>
                    </p:spPr>
                  </p:pic>
                </p:oleObj>
              </mc:Fallback>
            </mc:AlternateContent>
          </a:graphicData>
        </a:graphic>
      </p:graphicFrame>
      <p:pic>
        <p:nvPicPr>
          <p:cNvPr id="6" name="图片 5">
            <a:extLst>
              <a:ext uri="{FF2B5EF4-FFF2-40B4-BE49-F238E27FC236}">
                <a16:creationId xmlns:a16="http://schemas.microsoft.com/office/drawing/2014/main" id="{063EE33A-78DC-6566-1FE3-A5A91F6BB0D9}"/>
              </a:ext>
            </a:extLst>
          </p:cNvPr>
          <p:cNvPicPr>
            <a:picLocks noChangeAspect="1"/>
          </p:cNvPicPr>
          <p:nvPr/>
        </p:nvPicPr>
        <p:blipFill>
          <a:blip r:embed="rId8"/>
          <a:stretch>
            <a:fillRect/>
          </a:stretch>
        </p:blipFill>
        <p:spPr>
          <a:xfrm>
            <a:off x="2379405" y="3695700"/>
            <a:ext cx="7433190" cy="1632523"/>
          </a:xfrm>
          <a:prstGeom prst="rect">
            <a:avLst/>
          </a:prstGeom>
          <a:noFill/>
          <a:ln>
            <a:noFill/>
          </a:ln>
        </p:spPr>
      </p:pic>
    </p:spTree>
    <p:custDataLst>
      <p:tags r:id="rId2"/>
    </p:custDataLst>
    <p:extLst>
      <p:ext uri="{BB962C8B-B14F-4D97-AF65-F5344CB8AC3E}">
        <p14:creationId xmlns:p14="http://schemas.microsoft.com/office/powerpoint/2010/main" val="31210904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0AC6C-13DE-51E7-086E-8898BA4F5A68}"/>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DC3683C3-88F6-FEA7-BD43-C75470FED39B}"/>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15A609E5-12EF-11BD-79EB-B677666FAE3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37E1776-2234-A59B-56E7-EC694929BC6E}"/>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E799930-6CCB-6FEF-D08B-20451798D9A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5062B3FA-2F37-E5D7-084F-A679701BD7EB}"/>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对象 3">
            <a:extLst>
              <a:ext uri="{FF2B5EF4-FFF2-40B4-BE49-F238E27FC236}">
                <a16:creationId xmlns:a16="http://schemas.microsoft.com/office/drawing/2014/main" id="{4F4A9C57-FC24-DD88-89B1-98E0F5F21775}"/>
              </a:ext>
            </a:extLst>
          </p:cNvPr>
          <p:cNvGraphicFramePr>
            <a:graphicFrameLocks noChangeAspect="1"/>
          </p:cNvGraphicFramePr>
          <p:nvPr>
            <p:extLst>
              <p:ext uri="{D42A27DB-BD31-4B8C-83A1-F6EECF244321}">
                <p14:modId xmlns:p14="http://schemas.microsoft.com/office/powerpoint/2010/main" val="2218624611"/>
              </p:ext>
            </p:extLst>
          </p:nvPr>
        </p:nvGraphicFramePr>
        <p:xfrm>
          <a:off x="656287" y="1442841"/>
          <a:ext cx="11166475" cy="2093714"/>
        </p:xfrm>
        <a:graphic>
          <a:graphicData uri="http://schemas.openxmlformats.org/presentationml/2006/ole">
            <mc:AlternateContent xmlns:mc="http://schemas.openxmlformats.org/markup-compatibility/2006">
              <mc:Choice xmlns:v="urn:schemas-microsoft-com:vml" Requires="v">
                <p:oleObj spid="_x0000_s3324" name="文档" r:id="rId6" imgW="5486400" imgH="1028700" progId="Word.Document.12">
                  <p:embed/>
                </p:oleObj>
              </mc:Choice>
              <mc:Fallback>
                <p:oleObj name="文档" r:id="rId6" imgW="5486400" imgH="1028700" progId="Word.Document.12">
                  <p:embed/>
                  <p:pic>
                    <p:nvPicPr>
                      <p:cNvPr id="4" name="对象 3">
                        <a:extLst>
                          <a:ext uri="{FF2B5EF4-FFF2-40B4-BE49-F238E27FC236}">
                            <a16:creationId xmlns:a16="http://schemas.microsoft.com/office/drawing/2014/main" id="{A2C8861C-E892-D962-F651-0B5A9FEA9CE2}"/>
                          </a:ext>
                        </a:extLst>
                      </p:cNvPr>
                      <p:cNvPicPr/>
                      <p:nvPr/>
                    </p:nvPicPr>
                    <p:blipFill>
                      <a:blip r:embed="rId7"/>
                      <a:stretch>
                        <a:fillRect/>
                      </a:stretch>
                    </p:blipFill>
                    <p:spPr>
                      <a:xfrm>
                        <a:off x="656287" y="1442841"/>
                        <a:ext cx="11166475" cy="2093714"/>
                      </a:xfrm>
                      <a:prstGeom prst="rect">
                        <a:avLst/>
                      </a:prstGeom>
                    </p:spPr>
                  </p:pic>
                </p:oleObj>
              </mc:Fallback>
            </mc:AlternateContent>
          </a:graphicData>
        </a:graphic>
      </p:graphicFrame>
      <p:pic>
        <p:nvPicPr>
          <p:cNvPr id="5" name="图片 4">
            <a:extLst>
              <a:ext uri="{FF2B5EF4-FFF2-40B4-BE49-F238E27FC236}">
                <a16:creationId xmlns:a16="http://schemas.microsoft.com/office/drawing/2014/main" id="{AEC9BF79-B51A-D7C1-8F50-CF3B34512FFF}"/>
              </a:ext>
            </a:extLst>
          </p:cNvPr>
          <p:cNvPicPr>
            <a:picLocks noChangeAspect="1"/>
          </p:cNvPicPr>
          <p:nvPr/>
        </p:nvPicPr>
        <p:blipFill>
          <a:blip r:embed="rId8"/>
          <a:stretch>
            <a:fillRect/>
          </a:stretch>
        </p:blipFill>
        <p:spPr>
          <a:xfrm>
            <a:off x="2493687" y="2695438"/>
            <a:ext cx="7336422" cy="1168464"/>
          </a:xfrm>
          <a:prstGeom prst="rect">
            <a:avLst/>
          </a:prstGeom>
          <a:noFill/>
          <a:ln>
            <a:noFill/>
          </a:ln>
        </p:spPr>
      </p:pic>
      <p:graphicFrame>
        <p:nvGraphicFramePr>
          <p:cNvPr id="10" name="对象 9">
            <a:extLst>
              <a:ext uri="{FF2B5EF4-FFF2-40B4-BE49-F238E27FC236}">
                <a16:creationId xmlns:a16="http://schemas.microsoft.com/office/drawing/2014/main" id="{C7F41523-E513-1261-D2E4-8AFB4FAA3933}"/>
              </a:ext>
            </a:extLst>
          </p:cNvPr>
          <p:cNvGraphicFramePr>
            <a:graphicFrameLocks noChangeAspect="1"/>
          </p:cNvGraphicFramePr>
          <p:nvPr>
            <p:extLst>
              <p:ext uri="{D42A27DB-BD31-4B8C-83A1-F6EECF244321}">
                <p14:modId xmlns:p14="http://schemas.microsoft.com/office/powerpoint/2010/main" val="2592779511"/>
              </p:ext>
            </p:extLst>
          </p:nvPr>
        </p:nvGraphicFramePr>
        <p:xfrm>
          <a:off x="609600" y="4199723"/>
          <a:ext cx="11259850" cy="1876642"/>
        </p:xfrm>
        <a:graphic>
          <a:graphicData uri="http://schemas.openxmlformats.org/presentationml/2006/ole">
            <mc:AlternateContent xmlns:mc="http://schemas.openxmlformats.org/markup-compatibility/2006">
              <mc:Choice xmlns:v="urn:schemas-microsoft-com:vml" Requires="v">
                <p:oleObj spid="_x0000_s3325" name="文档" r:id="rId9" imgW="5486400" imgH="914400" progId="Word.Document.12">
                  <p:embed/>
                </p:oleObj>
              </mc:Choice>
              <mc:Fallback>
                <p:oleObj name="文档" r:id="rId9" imgW="5486400" imgH="914400" progId="Word.Document.12">
                  <p:embed/>
                  <p:pic>
                    <p:nvPicPr>
                      <p:cNvPr id="0" name=""/>
                      <p:cNvPicPr/>
                      <p:nvPr/>
                    </p:nvPicPr>
                    <p:blipFill>
                      <a:blip r:embed="rId10"/>
                      <a:stretch>
                        <a:fillRect/>
                      </a:stretch>
                    </p:blipFill>
                    <p:spPr>
                      <a:xfrm>
                        <a:off x="609600" y="4199723"/>
                        <a:ext cx="11259850" cy="1876642"/>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120411193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76BB-7E62-8023-96C4-59D5096A5164}"/>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FFE317BC-87CC-9DF8-6E16-B8274D61F478}"/>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BFCB0A60-D9CE-B32E-FD80-FEFBF286F01F}"/>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23163CF-8CA7-3702-AC2D-82E2CAD36734}"/>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AE786A6-B182-F59C-7456-0CA2EBEF51A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F570015-2083-E2EE-7B3E-257FE0D0F29C}"/>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对象 8">
            <a:extLst>
              <a:ext uri="{FF2B5EF4-FFF2-40B4-BE49-F238E27FC236}">
                <a16:creationId xmlns:a16="http://schemas.microsoft.com/office/drawing/2014/main" id="{342C5D33-06D0-0778-74D7-4D25091E8158}"/>
              </a:ext>
            </a:extLst>
          </p:cNvPr>
          <p:cNvGraphicFramePr>
            <a:graphicFrameLocks noChangeAspect="1"/>
          </p:cNvGraphicFramePr>
          <p:nvPr>
            <p:extLst>
              <p:ext uri="{D42A27DB-BD31-4B8C-83A1-F6EECF244321}">
                <p14:modId xmlns:p14="http://schemas.microsoft.com/office/powerpoint/2010/main" val="4225961684"/>
              </p:ext>
            </p:extLst>
          </p:nvPr>
        </p:nvGraphicFramePr>
        <p:xfrm>
          <a:off x="706438" y="1470025"/>
          <a:ext cx="10779125" cy="1973263"/>
        </p:xfrm>
        <a:graphic>
          <a:graphicData uri="http://schemas.openxmlformats.org/presentationml/2006/ole">
            <mc:AlternateContent xmlns:mc="http://schemas.openxmlformats.org/markup-compatibility/2006">
              <mc:Choice xmlns:v="urn:schemas-microsoft-com:vml" Requires="v">
                <p:oleObj spid="_x0000_s4473" name="文档" r:id="rId6" imgW="5270500" imgH="965200" progId="Word.Document.12">
                  <p:embed/>
                </p:oleObj>
              </mc:Choice>
              <mc:Fallback>
                <p:oleObj name="文档" r:id="rId6" imgW="5270500" imgH="965200" progId="Word.Document.12">
                  <p:embed/>
                  <p:pic>
                    <p:nvPicPr>
                      <p:cNvPr id="0" name=""/>
                      <p:cNvPicPr/>
                      <p:nvPr/>
                    </p:nvPicPr>
                    <p:blipFill>
                      <a:blip r:embed="rId7"/>
                      <a:stretch>
                        <a:fillRect/>
                      </a:stretch>
                    </p:blipFill>
                    <p:spPr>
                      <a:xfrm>
                        <a:off x="706438" y="1470025"/>
                        <a:ext cx="10779125" cy="1973263"/>
                      </a:xfrm>
                      <a:prstGeom prst="rect">
                        <a:avLst/>
                      </a:prstGeom>
                    </p:spPr>
                  </p:pic>
                </p:oleObj>
              </mc:Fallback>
            </mc:AlternateContent>
          </a:graphicData>
        </a:graphic>
      </p:graphicFrame>
      <p:pic>
        <p:nvPicPr>
          <p:cNvPr id="11" name="图片 10">
            <a:extLst>
              <a:ext uri="{FF2B5EF4-FFF2-40B4-BE49-F238E27FC236}">
                <a16:creationId xmlns:a16="http://schemas.microsoft.com/office/drawing/2014/main" id="{0BE1A119-1CAF-760F-F1AB-8926DB729777}"/>
              </a:ext>
            </a:extLst>
          </p:cNvPr>
          <p:cNvPicPr>
            <a:picLocks noChangeAspect="1"/>
          </p:cNvPicPr>
          <p:nvPr/>
        </p:nvPicPr>
        <p:blipFill>
          <a:blip r:embed="rId8"/>
          <a:stretch>
            <a:fillRect/>
          </a:stretch>
        </p:blipFill>
        <p:spPr>
          <a:xfrm>
            <a:off x="4032720" y="3173086"/>
            <a:ext cx="4126560" cy="1212824"/>
          </a:xfrm>
          <a:prstGeom prst="rect">
            <a:avLst/>
          </a:prstGeom>
          <a:noFill/>
          <a:ln>
            <a:noFill/>
          </a:ln>
        </p:spPr>
      </p:pic>
      <p:graphicFrame>
        <p:nvGraphicFramePr>
          <p:cNvPr id="15" name="对象 14">
            <a:extLst>
              <a:ext uri="{FF2B5EF4-FFF2-40B4-BE49-F238E27FC236}">
                <a16:creationId xmlns:a16="http://schemas.microsoft.com/office/drawing/2014/main" id="{69337513-CB30-74AB-2CFB-BECF452967F4}"/>
              </a:ext>
            </a:extLst>
          </p:cNvPr>
          <p:cNvGraphicFramePr>
            <a:graphicFrameLocks noChangeAspect="1"/>
          </p:cNvGraphicFramePr>
          <p:nvPr>
            <p:extLst>
              <p:ext uri="{D42A27DB-BD31-4B8C-83A1-F6EECF244321}">
                <p14:modId xmlns:p14="http://schemas.microsoft.com/office/powerpoint/2010/main" val="3741619759"/>
              </p:ext>
            </p:extLst>
          </p:nvPr>
        </p:nvGraphicFramePr>
        <p:xfrm>
          <a:off x="706438" y="4229840"/>
          <a:ext cx="11485562" cy="1169826"/>
        </p:xfrm>
        <a:graphic>
          <a:graphicData uri="http://schemas.openxmlformats.org/presentationml/2006/ole">
            <mc:AlternateContent xmlns:mc="http://schemas.openxmlformats.org/markup-compatibility/2006">
              <mc:Choice xmlns:v="urn:schemas-microsoft-com:vml" Requires="v">
                <p:oleObj spid="_x0000_s4474" name="文档" r:id="rId9" imgW="5486400" imgH="558800" progId="Word.Document.12">
                  <p:embed/>
                </p:oleObj>
              </mc:Choice>
              <mc:Fallback>
                <p:oleObj name="文档" r:id="rId9" imgW="5486400" imgH="558800" progId="Word.Document.12">
                  <p:embed/>
                  <p:pic>
                    <p:nvPicPr>
                      <p:cNvPr id="0" name=""/>
                      <p:cNvPicPr/>
                      <p:nvPr/>
                    </p:nvPicPr>
                    <p:blipFill>
                      <a:blip r:embed="rId10"/>
                      <a:stretch>
                        <a:fillRect/>
                      </a:stretch>
                    </p:blipFill>
                    <p:spPr>
                      <a:xfrm>
                        <a:off x="706438" y="4229840"/>
                        <a:ext cx="11485562" cy="1169826"/>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048C88D4-E499-9589-7FA3-01ED0453E223}"/>
              </a:ext>
            </a:extLst>
          </p:cNvPr>
          <p:cNvGraphicFramePr>
            <a:graphicFrameLocks noChangeAspect="1"/>
          </p:cNvGraphicFramePr>
          <p:nvPr>
            <p:extLst>
              <p:ext uri="{D42A27DB-BD31-4B8C-83A1-F6EECF244321}">
                <p14:modId xmlns:p14="http://schemas.microsoft.com/office/powerpoint/2010/main" val="524588707"/>
              </p:ext>
            </p:extLst>
          </p:nvPr>
        </p:nvGraphicFramePr>
        <p:xfrm>
          <a:off x="706438" y="5757375"/>
          <a:ext cx="14770770" cy="603644"/>
        </p:xfrm>
        <a:graphic>
          <a:graphicData uri="http://schemas.openxmlformats.org/presentationml/2006/ole">
            <mc:AlternateContent xmlns:mc="http://schemas.openxmlformats.org/markup-compatibility/2006">
              <mc:Choice xmlns:v="urn:schemas-microsoft-com:vml" Requires="v">
                <p:oleObj spid="_x0000_s4475" name="文档" r:id="rId11" imgW="5486400" imgH="228600" progId="Word.Document.12">
                  <p:embed/>
                </p:oleObj>
              </mc:Choice>
              <mc:Fallback>
                <p:oleObj name="文档" r:id="rId11" imgW="5486400" imgH="228600" progId="Word.Document.12">
                  <p:embed/>
                  <p:pic>
                    <p:nvPicPr>
                      <p:cNvPr id="0" name=""/>
                      <p:cNvPicPr/>
                      <p:nvPr/>
                    </p:nvPicPr>
                    <p:blipFill>
                      <a:blip r:embed="rId12"/>
                      <a:stretch>
                        <a:fillRect/>
                      </a:stretch>
                    </p:blipFill>
                    <p:spPr>
                      <a:xfrm>
                        <a:off x="706438" y="5757375"/>
                        <a:ext cx="14770770" cy="603644"/>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90691069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90A6-E5E9-A984-E63A-871EC7705D46}"/>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7574FDF9-053E-229D-A9DD-09178CBB5030}"/>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D6356B55-543F-F0CB-A16F-0C7F901B4FB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69094C1-898C-4DBD-5A04-D516ABE4D5B1}"/>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0BB64DA1-2863-A135-5037-2C6F8192B6B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75E2578-97FE-B368-3519-AD4BF654526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B56C8BD0-7064-EFBA-6875-18A0B31B43D2}"/>
              </a:ext>
            </a:extLst>
          </p:cNvPr>
          <p:cNvPicPr>
            <a:picLocks noChangeAspect="1"/>
          </p:cNvPicPr>
          <p:nvPr/>
        </p:nvPicPr>
        <p:blipFill>
          <a:blip r:embed="rId6"/>
          <a:stretch>
            <a:fillRect/>
          </a:stretch>
        </p:blipFill>
        <p:spPr>
          <a:xfrm>
            <a:off x="2493687" y="2108351"/>
            <a:ext cx="7336422" cy="1168464"/>
          </a:xfrm>
          <a:prstGeom prst="rect">
            <a:avLst/>
          </a:prstGeom>
          <a:noFill/>
          <a:ln>
            <a:noFill/>
          </a:ln>
        </p:spPr>
      </p:pic>
      <p:sp>
        <p:nvSpPr>
          <p:cNvPr id="2" name="文本框 1">
            <a:extLst>
              <a:ext uri="{FF2B5EF4-FFF2-40B4-BE49-F238E27FC236}">
                <a16:creationId xmlns:a16="http://schemas.microsoft.com/office/drawing/2014/main" id="{3CE7F459-02C0-3A28-3902-C1817E5BC01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3" name="图片 2">
            <a:extLst>
              <a:ext uri="{FF2B5EF4-FFF2-40B4-BE49-F238E27FC236}">
                <a16:creationId xmlns:a16="http://schemas.microsoft.com/office/drawing/2014/main" id="{C40DF8F6-9B63-3373-A200-56B87A2F75AD}"/>
              </a:ext>
            </a:extLst>
          </p:cNvPr>
          <p:cNvPicPr>
            <a:picLocks noChangeAspect="1"/>
          </p:cNvPicPr>
          <p:nvPr/>
        </p:nvPicPr>
        <p:blipFill>
          <a:blip r:embed="rId7"/>
          <a:stretch>
            <a:fillRect/>
          </a:stretch>
        </p:blipFill>
        <p:spPr>
          <a:xfrm>
            <a:off x="3199201" y="1989396"/>
            <a:ext cx="5925394" cy="1364400"/>
          </a:xfrm>
          <a:prstGeom prst="rect">
            <a:avLst/>
          </a:prstGeom>
          <a:noFill/>
          <a:ln>
            <a:noFill/>
          </a:ln>
        </p:spPr>
      </p:pic>
      <p:graphicFrame>
        <p:nvGraphicFramePr>
          <p:cNvPr id="12" name="对象 11">
            <a:extLst>
              <a:ext uri="{FF2B5EF4-FFF2-40B4-BE49-F238E27FC236}">
                <a16:creationId xmlns:a16="http://schemas.microsoft.com/office/drawing/2014/main" id="{6D2E4968-D683-5DEE-4D24-D432469DC6F9}"/>
              </a:ext>
            </a:extLst>
          </p:cNvPr>
          <p:cNvGraphicFramePr>
            <a:graphicFrameLocks noChangeAspect="1"/>
          </p:cNvGraphicFramePr>
          <p:nvPr>
            <p:extLst>
              <p:ext uri="{D42A27DB-BD31-4B8C-83A1-F6EECF244321}">
                <p14:modId xmlns:p14="http://schemas.microsoft.com/office/powerpoint/2010/main" val="215391272"/>
              </p:ext>
            </p:extLst>
          </p:nvPr>
        </p:nvGraphicFramePr>
        <p:xfrm>
          <a:off x="611188" y="4379913"/>
          <a:ext cx="10968037" cy="1190625"/>
        </p:xfrm>
        <a:graphic>
          <a:graphicData uri="http://schemas.openxmlformats.org/presentationml/2006/ole">
            <mc:AlternateContent xmlns:mc="http://schemas.openxmlformats.org/markup-compatibility/2006">
              <mc:Choice xmlns:v="urn:schemas-microsoft-com:vml" Requires="v">
                <p:oleObj spid="_x0000_s5247" name="文档" r:id="rId8" imgW="5270500" imgH="571500" progId="Word.Document.12">
                  <p:embed/>
                </p:oleObj>
              </mc:Choice>
              <mc:Fallback>
                <p:oleObj name="文档" r:id="rId8" imgW="5270500" imgH="571500" progId="Word.Document.12">
                  <p:embed/>
                  <p:pic>
                    <p:nvPicPr>
                      <p:cNvPr id="0" name=""/>
                      <p:cNvPicPr/>
                      <p:nvPr/>
                    </p:nvPicPr>
                    <p:blipFill>
                      <a:blip r:embed="rId9"/>
                      <a:stretch>
                        <a:fillRect/>
                      </a:stretch>
                    </p:blipFill>
                    <p:spPr>
                      <a:xfrm>
                        <a:off x="611188" y="4379913"/>
                        <a:ext cx="10968037" cy="1190625"/>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30001937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E3923-F07A-5F20-19A1-9F4DC37C885E}"/>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6AD268F3-AD7C-5177-CFCE-112135F7AE6A}"/>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0EDE50A3-6C3E-EA91-7DC9-8889A26CAE4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9E3B138-A206-E146-2D12-B7E09F175E9E}"/>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0E8AF66-0D53-2A8C-EB2D-BC12ABABACCA}"/>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E4AEA93-B09A-C94A-06FE-55AE35C2197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F3EBD573-41AF-D213-532F-8CADFE34615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4" name="图片 3">
            <a:extLst>
              <a:ext uri="{FF2B5EF4-FFF2-40B4-BE49-F238E27FC236}">
                <a16:creationId xmlns:a16="http://schemas.microsoft.com/office/drawing/2014/main" id="{C4E1B7D5-2FA6-D446-4AE8-74506DBA7C5F}"/>
              </a:ext>
            </a:extLst>
          </p:cNvPr>
          <p:cNvPicPr>
            <a:picLocks noChangeAspect="1"/>
          </p:cNvPicPr>
          <p:nvPr/>
        </p:nvPicPr>
        <p:blipFill>
          <a:blip r:embed="rId5"/>
          <a:stretch>
            <a:fillRect/>
          </a:stretch>
        </p:blipFill>
        <p:spPr>
          <a:xfrm>
            <a:off x="1507617" y="1239478"/>
            <a:ext cx="9176766" cy="3504700"/>
          </a:xfrm>
          <a:prstGeom prst="rect">
            <a:avLst/>
          </a:prstGeom>
          <a:noFill/>
          <a:ln>
            <a:noFill/>
          </a:ln>
        </p:spPr>
      </p:pic>
      <p:pic>
        <p:nvPicPr>
          <p:cNvPr id="6" name="图片 5">
            <a:extLst>
              <a:ext uri="{FF2B5EF4-FFF2-40B4-BE49-F238E27FC236}">
                <a16:creationId xmlns:a16="http://schemas.microsoft.com/office/drawing/2014/main" id="{2C9D09A3-6C24-B78A-F127-4A423FF32A4D}"/>
              </a:ext>
            </a:extLst>
          </p:cNvPr>
          <p:cNvPicPr>
            <a:picLocks noChangeAspect="1"/>
          </p:cNvPicPr>
          <p:nvPr/>
        </p:nvPicPr>
        <p:blipFill>
          <a:blip r:embed="rId6"/>
          <a:stretch>
            <a:fillRect/>
          </a:stretch>
        </p:blipFill>
        <p:spPr>
          <a:xfrm>
            <a:off x="5938784" y="4870827"/>
            <a:ext cx="5925394" cy="1364400"/>
          </a:xfrm>
          <a:prstGeom prst="rect">
            <a:avLst/>
          </a:prstGeom>
          <a:noFill/>
          <a:ln>
            <a:noFill/>
          </a:ln>
        </p:spPr>
      </p:pic>
      <p:pic>
        <p:nvPicPr>
          <p:cNvPr id="7" name="图片 6">
            <a:extLst>
              <a:ext uri="{FF2B5EF4-FFF2-40B4-BE49-F238E27FC236}">
                <a16:creationId xmlns:a16="http://schemas.microsoft.com/office/drawing/2014/main" id="{C4C83E04-02B8-C593-D10D-4B36AB74781F}"/>
              </a:ext>
            </a:extLst>
          </p:cNvPr>
          <p:cNvPicPr>
            <a:picLocks noChangeAspect="1"/>
          </p:cNvPicPr>
          <p:nvPr/>
        </p:nvPicPr>
        <p:blipFill>
          <a:blip r:embed="rId7"/>
          <a:stretch>
            <a:fillRect/>
          </a:stretch>
        </p:blipFill>
        <p:spPr>
          <a:xfrm>
            <a:off x="196042" y="4838755"/>
            <a:ext cx="5899958" cy="1295785"/>
          </a:xfrm>
          <a:prstGeom prst="rect">
            <a:avLst/>
          </a:prstGeom>
          <a:noFill/>
          <a:ln>
            <a:noFill/>
          </a:ln>
        </p:spPr>
      </p:pic>
    </p:spTree>
    <p:custDataLst>
      <p:tags r:id="rId1"/>
    </p:custDataLst>
    <p:extLst>
      <p:ext uri="{BB962C8B-B14F-4D97-AF65-F5344CB8AC3E}">
        <p14:creationId xmlns:p14="http://schemas.microsoft.com/office/powerpoint/2010/main" val="392826602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47C0-6B20-F33E-EA04-B78AD7D975F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6CE81565-F347-C3B3-1E5E-7DEB8670CEBD}"/>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zh-CN" sz="3100" dirty="0">
                <a:solidFill>
                  <a:srgbClr val="694B71"/>
                </a:solidFill>
                <a:latin typeface="微软雅黑" panose="020B0503020204020204" pitchFamily="34" charset="-122"/>
                <a:ea typeface="微软雅黑" panose="020B0503020204020204" pitchFamily="34" charset="-122"/>
                <a:cs typeface="+mn-ea"/>
              </a:rPr>
              <a:t>不同子载波与天线流间的相位差  </a:t>
            </a:r>
          </a:p>
        </p:txBody>
      </p:sp>
      <p:sp>
        <p:nvSpPr>
          <p:cNvPr id="20" name="矩形 19">
            <a:extLst>
              <a:ext uri="{FF2B5EF4-FFF2-40B4-BE49-F238E27FC236}">
                <a16:creationId xmlns:a16="http://schemas.microsoft.com/office/drawing/2014/main" id="{00C5C10D-23F2-076E-25D4-D46FA21DC44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149C647-E2E9-98B8-5CCC-8ECFF089EBE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2BC1EBF-F8A1-8D01-4F6E-4B4BC6E25F7F}"/>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15F449A-E18F-35F6-4126-C680DF9E1CE6}"/>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44BA7AF-8B73-84FB-A4B3-D3EBA269916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247A29F4-E9E2-9586-21B5-68881EBDEBE2}"/>
              </a:ext>
            </a:extLst>
          </p:cNvPr>
          <p:cNvSpPr txBox="1"/>
          <p:nvPr/>
        </p:nvSpPr>
        <p:spPr>
          <a:xfrm>
            <a:off x="738708" y="2116130"/>
            <a:ext cx="10714584" cy="2308324"/>
          </a:xfrm>
          <a:prstGeom prst="rect">
            <a:avLst/>
          </a:prstGeom>
          <a:noFill/>
        </p:spPr>
        <p:txBody>
          <a:bodyPr wrap="square">
            <a:spAutoFit/>
          </a:bodyPr>
          <a:lstStyle/>
          <a:p>
            <a:pPr>
              <a:buNone/>
            </a:pPr>
            <a:r>
              <a:rPr lang="zh-CN" altLang="zh-CN" sz="2400" dirty="0">
                <a:solidFill>
                  <a:srgbClr val="775480"/>
                </a:solidFill>
                <a:latin typeface="微软雅黑 Light" panose="020B0502040204020203" charset="-122"/>
                <a:ea typeface="微软雅黑 Light" panose="020B0502040204020203" charset="-122"/>
              </a:rPr>
              <a:t>我们对相位差的观察与幅度类似：</a:t>
            </a:r>
          </a:p>
          <a:p>
            <a:pPr>
              <a:buNone/>
            </a:pPr>
            <a:r>
              <a:rPr lang="zh-CN" altLang="zh-CN" sz="2400" dirty="0">
                <a:solidFill>
                  <a:srgbClr val="775480"/>
                </a:solidFill>
                <a:latin typeface="微软雅黑 Light" panose="020B0502040204020203" charset="-122"/>
                <a:ea typeface="微软雅黑 Light" panose="020B0502040204020203" charset="-122"/>
              </a:rPr>
              <a:t>不同子载波受到人体活动的影响方式相似；</a:t>
            </a:r>
          </a:p>
          <a:p>
            <a:pPr>
              <a:buNone/>
            </a:pPr>
            <a:r>
              <a:rPr lang="zh-CN" altLang="zh-CN" sz="2400" dirty="0">
                <a:solidFill>
                  <a:srgbClr val="775480"/>
                </a:solidFill>
                <a:latin typeface="微软雅黑 Light" panose="020B0502040204020203" charset="-122"/>
                <a:ea typeface="微软雅黑 Light" panose="020B0502040204020203" charset="-122"/>
              </a:rPr>
              <a:t>相邻子载波的表现也非常接近。</a:t>
            </a:r>
          </a:p>
          <a:p>
            <a:pPr>
              <a:buNone/>
            </a:pPr>
            <a:r>
              <a:rPr lang="zh-CN" altLang="zh-CN" sz="2400" dirty="0">
                <a:solidFill>
                  <a:srgbClr val="775480"/>
                </a:solidFill>
                <a:latin typeface="微软雅黑 Light" panose="020B0502040204020203" charset="-122"/>
                <a:ea typeface="微软雅黑 Light" panose="020B0502040204020203" charset="-122"/>
              </a:rPr>
              <a:t>从</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流的角度看，</a:t>
            </a:r>
            <a:r>
              <a:rPr lang="zh-CN" altLang="zh-CN" sz="2400" b="1" dirty="0">
                <a:solidFill>
                  <a:srgbClr val="775480"/>
                </a:solidFill>
                <a:latin typeface="微软雅黑 Light" panose="020B0502040204020203" charset="-122"/>
                <a:ea typeface="微软雅黑 Light" panose="020B0502040204020203" charset="-122"/>
              </a:rPr>
              <a:t>两根天线间相位差的方差等于各自方差之和</a:t>
            </a:r>
            <a:r>
              <a:rPr lang="zh-CN" altLang="zh-CN" sz="2400" dirty="0">
                <a:solidFill>
                  <a:srgbClr val="775480"/>
                </a:solidFill>
                <a:latin typeface="微软雅黑 Light" panose="020B0502040204020203" charset="-122"/>
                <a:ea typeface="微软雅黑 Light" panose="020B0502040204020203" charset="-122"/>
              </a:rPr>
              <a:t>，这意味着，相位差信号比振幅信号对环境变化更加敏感。因此，</a:t>
            </a:r>
            <a:r>
              <a:rPr lang="en-US" altLang="zh-CN" sz="2400" dirty="0">
                <a:solidFill>
                  <a:srgbClr val="775480"/>
                </a:solidFill>
                <a:latin typeface="微软雅黑 Light" panose="020B0502040204020203" charset="-122"/>
                <a:ea typeface="微软雅黑 Light" panose="020B0502040204020203" charset="-122"/>
              </a:rPr>
              <a:t>CSI </a:t>
            </a:r>
            <a:r>
              <a:rPr lang="zh-CN" altLang="zh-CN" sz="2400" dirty="0">
                <a:solidFill>
                  <a:srgbClr val="775480"/>
                </a:solidFill>
                <a:latin typeface="微软雅黑 Light" panose="020B0502040204020203" charset="-122"/>
                <a:ea typeface="微软雅黑 Light" panose="020B0502040204020203" charset="-122"/>
              </a:rPr>
              <a:t>的相位差相较于幅度，更适合作为表征人体活动的基础信号（</a:t>
            </a:r>
            <a:r>
              <a:rPr lang="en-US" altLang="zh-CN" sz="2400" dirty="0">
                <a:solidFill>
                  <a:srgbClr val="775480"/>
                </a:solidFill>
                <a:latin typeface="微软雅黑 Light" panose="020B0502040204020203" charset="-122"/>
                <a:ea typeface="微软雅黑 Light" panose="020B0502040204020203" charset="-122"/>
              </a:rPr>
              <a:t>base signal</a:t>
            </a:r>
            <a:r>
              <a:rPr lang="zh-CN" altLang="zh-CN" sz="2400" dirty="0">
                <a:solidFill>
                  <a:srgbClr val="775480"/>
                </a:solidFill>
                <a:latin typeface="微软雅黑 Light" panose="020B0502040204020203" charset="-122"/>
                <a:ea typeface="微软雅黑 Light" panose="020B0502040204020203" charset="-122"/>
              </a:rPr>
              <a:t>）</a:t>
            </a:r>
          </a:p>
        </p:txBody>
      </p:sp>
    </p:spTree>
    <p:custDataLst>
      <p:tags r:id="rId1"/>
    </p:custDataLst>
    <p:extLst>
      <p:ext uri="{BB962C8B-B14F-4D97-AF65-F5344CB8AC3E}">
        <p14:creationId xmlns:p14="http://schemas.microsoft.com/office/powerpoint/2010/main" val="128028949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2A3E4-1C02-7F68-03C1-BE032A5C758E}"/>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6EB79E9-EB4E-CCDC-D073-3D7C34C42A26}"/>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zh-CN" sz="3100" dirty="0">
                <a:solidFill>
                  <a:srgbClr val="694B71"/>
                </a:solidFill>
                <a:latin typeface="微软雅黑" panose="020B0503020204020204" pitchFamily="34" charset="-122"/>
                <a:ea typeface="微软雅黑" panose="020B0503020204020204" pitchFamily="34" charset="-122"/>
                <a:cs typeface="+mn-ea"/>
              </a:rPr>
              <a:t>不同人类活动的影响  </a:t>
            </a:r>
          </a:p>
        </p:txBody>
      </p:sp>
      <p:sp>
        <p:nvSpPr>
          <p:cNvPr id="20" name="矩形 19">
            <a:extLst>
              <a:ext uri="{FF2B5EF4-FFF2-40B4-BE49-F238E27FC236}">
                <a16:creationId xmlns:a16="http://schemas.microsoft.com/office/drawing/2014/main" id="{32D4B9DE-7C4C-0AF0-9DF6-006A7C2395D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6198B5B-A496-3AFD-ABC6-D4A6A26E7688}"/>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92FA4C5-F1DB-DBBA-15D5-21026ED7DDA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EB07DCF2-70C5-9761-B379-0F4FBD538C24}"/>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5F8319B-7607-1987-FAE1-DF463B9E2160}"/>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B6356BB7-5AC9-05C9-BA4D-704BB6C0908E}"/>
              </a:ext>
            </a:extLst>
          </p:cNvPr>
          <p:cNvSpPr txBox="1"/>
          <p:nvPr/>
        </p:nvSpPr>
        <p:spPr>
          <a:xfrm>
            <a:off x="553977" y="1550327"/>
            <a:ext cx="10714584" cy="830997"/>
          </a:xfrm>
          <a:prstGeom prst="rect">
            <a:avLst/>
          </a:prstGeom>
          <a:noFill/>
        </p:spPr>
        <p:txBody>
          <a:bodyPr wrap="square">
            <a:spAutoFit/>
          </a:bodyPr>
          <a:lstStyle/>
          <a:p>
            <a:pPr>
              <a:buNone/>
            </a:pPr>
            <a:r>
              <a:rPr lang="zh-CN" altLang="zh-CN" sz="2400" dirty="0">
                <a:solidFill>
                  <a:srgbClr val="775480"/>
                </a:solidFill>
                <a:latin typeface="微软雅黑 Light" panose="020B0502040204020203" charset="-122"/>
                <a:ea typeface="微软雅黑 Light" panose="020B0502040204020203" charset="-122"/>
              </a:rPr>
              <a:t>现在我们分别观察由非运动活动和运动活动引起的相位差。</a:t>
            </a:r>
          </a:p>
          <a:p>
            <a:pPr>
              <a:buNone/>
            </a:pP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4BC4869E-A95C-CD1D-FB10-EDAF15E15A9A}"/>
              </a:ext>
            </a:extLst>
          </p:cNvPr>
          <p:cNvPicPr>
            <a:picLocks noChangeAspect="1"/>
          </p:cNvPicPr>
          <p:nvPr/>
        </p:nvPicPr>
        <p:blipFill>
          <a:blip r:embed="rId5"/>
          <a:stretch>
            <a:fillRect/>
          </a:stretch>
        </p:blipFill>
        <p:spPr>
          <a:xfrm>
            <a:off x="-21182" y="2240503"/>
            <a:ext cx="12213182" cy="1909275"/>
          </a:xfrm>
          <a:prstGeom prst="rect">
            <a:avLst/>
          </a:prstGeom>
          <a:noFill/>
          <a:ln>
            <a:noFill/>
          </a:ln>
        </p:spPr>
      </p:pic>
      <p:sp>
        <p:nvSpPr>
          <p:cNvPr id="7" name="文本框 6">
            <a:extLst>
              <a:ext uri="{FF2B5EF4-FFF2-40B4-BE49-F238E27FC236}">
                <a16:creationId xmlns:a16="http://schemas.microsoft.com/office/drawing/2014/main" id="{8E50F933-73C9-C083-0C9C-E0F3722ED75F}"/>
              </a:ext>
            </a:extLst>
          </p:cNvPr>
          <p:cNvSpPr txBox="1"/>
          <p:nvPr/>
        </p:nvSpPr>
        <p:spPr>
          <a:xfrm>
            <a:off x="532609" y="4251594"/>
            <a:ext cx="11149317" cy="2308324"/>
          </a:xfrm>
          <a:prstGeom prst="rect">
            <a:avLst/>
          </a:prstGeom>
          <a:noFill/>
        </p:spPr>
        <p:txBody>
          <a:bodyPr wrap="square">
            <a:spAutoFit/>
          </a:bodyPr>
          <a:lstStyle/>
          <a:p>
            <a:pPr>
              <a:buNone/>
            </a:pPr>
            <a:r>
              <a:rPr lang="zh-CN" altLang="zh-CN" sz="2400" dirty="0">
                <a:solidFill>
                  <a:srgbClr val="775480"/>
                </a:solidFill>
                <a:latin typeface="微软雅黑 Light" panose="020B0502040204020203" charset="-122"/>
                <a:ea typeface="微软雅黑 Light" panose="020B0502040204020203" charset="-122"/>
              </a:rPr>
              <a:t>坐着和躺着等不动的活动导致时域中相对稳定的信号变化模式。但有一项新的观察结果是，</a:t>
            </a:r>
            <a:r>
              <a:rPr lang="en-US" altLang="zh-CN" sz="2400" dirty="0">
                <a:solidFill>
                  <a:srgbClr val="775480"/>
                </a:solidFill>
                <a:latin typeface="微软雅黑 Light" panose="020B0502040204020203" charset="-122"/>
                <a:ea typeface="微软雅黑 Light" panose="020B0502040204020203" charset="-122"/>
              </a:rPr>
              <a:t>CSI </a:t>
            </a:r>
            <a:r>
              <a:rPr lang="zh-CN" altLang="zh-CN" sz="2400" dirty="0">
                <a:solidFill>
                  <a:srgbClr val="775480"/>
                </a:solidFill>
                <a:latin typeface="微软雅黑 Light" panose="020B0502040204020203" charset="-122"/>
                <a:ea typeface="微软雅黑 Light" panose="020B0502040204020203" charset="-122"/>
              </a:rPr>
              <a:t>相位差信号随着人体的微小运动而波动。</a:t>
            </a:r>
          </a:p>
          <a:p>
            <a:pPr>
              <a:buNone/>
            </a:pPr>
            <a:r>
              <a:rPr lang="zh-CN" altLang="zh-CN" sz="2400" dirty="0">
                <a:solidFill>
                  <a:srgbClr val="775480"/>
                </a:solidFill>
                <a:latin typeface="微软雅黑 Light" panose="020B0502040204020203" charset="-122"/>
                <a:ea typeface="微软雅黑 Light" panose="020B0502040204020203" charset="-122"/>
              </a:rPr>
              <a:t>具体来说，站立时的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相位差与坐卧时相比表现出明显的波动，我们可以看到它们之间的模式之间存在明显的差异。正如我们还注意到的原因，当一个主体远离</a:t>
            </a:r>
            <a:r>
              <a:rPr lang="en-US" altLang="zh-CN" sz="2400" dirty="0">
                <a:solidFill>
                  <a:srgbClr val="775480"/>
                </a:solidFill>
                <a:latin typeface="微软雅黑 Light" panose="020B0502040204020203" charset="-122"/>
                <a:ea typeface="微软雅黑 Light" panose="020B0502040204020203" charset="-122"/>
              </a:rPr>
              <a:t> LOS </a:t>
            </a:r>
            <a:r>
              <a:rPr lang="zh-CN" altLang="zh-CN" sz="2400" dirty="0">
                <a:solidFill>
                  <a:srgbClr val="775480"/>
                </a:solidFill>
                <a:latin typeface="微软雅黑 Light" panose="020B0502040204020203" charset="-122"/>
                <a:ea typeface="微软雅黑 Light" panose="020B0502040204020203" charset="-122"/>
              </a:rPr>
              <a:t>路径，分辨的边界变得模糊。因此，我们不能急于得出相位差可以可靠地区分站立活动和其他非运动动活动的结论。</a:t>
            </a:r>
          </a:p>
        </p:txBody>
      </p:sp>
    </p:spTree>
    <p:custDataLst>
      <p:tags r:id="rId1"/>
    </p:custDataLst>
    <p:extLst>
      <p:ext uri="{BB962C8B-B14F-4D97-AF65-F5344CB8AC3E}">
        <p14:creationId xmlns:p14="http://schemas.microsoft.com/office/powerpoint/2010/main" val="19725185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D63A0-C7D2-6E01-513D-A8174C098CFB}"/>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835E9E8-9CC2-1278-E769-623B220D6304}"/>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zh-CN" sz="3100" dirty="0">
                <a:solidFill>
                  <a:srgbClr val="694B71"/>
                </a:solidFill>
                <a:latin typeface="微软雅黑" panose="020B0503020204020204" pitchFamily="34" charset="-122"/>
                <a:ea typeface="微软雅黑" panose="020B0503020204020204" pitchFamily="34" charset="-122"/>
                <a:cs typeface="+mn-ea"/>
              </a:rPr>
              <a:t>不同人类活动的影响  </a:t>
            </a:r>
          </a:p>
        </p:txBody>
      </p:sp>
      <p:sp>
        <p:nvSpPr>
          <p:cNvPr id="20" name="矩形 19">
            <a:extLst>
              <a:ext uri="{FF2B5EF4-FFF2-40B4-BE49-F238E27FC236}">
                <a16:creationId xmlns:a16="http://schemas.microsoft.com/office/drawing/2014/main" id="{CA12273B-1D32-5FDF-8A93-5C3A44BED48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A7DFBCC-2CC9-A1CE-EF6C-5DB72FDC3CA5}"/>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81AEC55-CEC5-2141-1F81-D46048982E4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C7A91B2-D3F6-2214-0DBC-3F23202ACE9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4061509-CA3A-CB48-ABDA-66B78D122605}"/>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6CA37BE7-D42A-36D4-AA75-1A4C3CE49D3E}"/>
              </a:ext>
            </a:extLst>
          </p:cNvPr>
          <p:cNvSpPr txBox="1"/>
          <p:nvPr/>
        </p:nvSpPr>
        <p:spPr>
          <a:xfrm>
            <a:off x="532609" y="1433084"/>
            <a:ext cx="10714584" cy="1569660"/>
          </a:xfrm>
          <a:prstGeom prst="rect">
            <a:avLst/>
          </a:prstGeom>
          <a:noFill/>
        </p:spPr>
        <p:txBody>
          <a:bodyPr wrap="square">
            <a:spAutoFit/>
          </a:bodyPr>
          <a:lstStyle/>
          <a:p>
            <a:pPr>
              <a:buNone/>
            </a:pPr>
            <a:r>
              <a:rPr lang="zh-CN" altLang="en-US" sz="2400" dirty="0">
                <a:solidFill>
                  <a:srgbClr val="775480"/>
                </a:solidFill>
                <a:latin typeface="微软雅黑 Light" panose="020B0502040204020203" charset="-122"/>
                <a:ea typeface="微软雅黑 Light" panose="020B0502040204020203" charset="-122"/>
              </a:rPr>
              <a:t>运动：与非活动运动相比，运动活动导致时域中更明显的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信号波动，如图 </a:t>
            </a:r>
            <a:r>
              <a:rPr lang="en-US" altLang="zh-CN" sz="2400" dirty="0">
                <a:solidFill>
                  <a:srgbClr val="775480"/>
                </a:solidFill>
                <a:latin typeface="微软雅黑 Light" panose="020B0502040204020203" charset="-122"/>
                <a:ea typeface="微软雅黑 Light" panose="020B0502040204020203" charset="-122"/>
              </a:rPr>
              <a:t>6</a:t>
            </a:r>
            <a:r>
              <a:rPr lang="en" altLang="zh-CN" sz="2400" dirty="0">
                <a:solidFill>
                  <a:srgbClr val="775480"/>
                </a:solidFill>
                <a:latin typeface="微软雅黑 Light" panose="020B0502040204020203" charset="-122"/>
                <a:ea typeface="微软雅黑 Light" panose="020B0502040204020203" charset="-122"/>
              </a:rPr>
              <a:t>d -</a:t>
            </a:r>
            <a:r>
              <a:rPr lang="zh-CN" altLang="en-US" sz="2400" dirty="0">
                <a:solidFill>
                  <a:srgbClr val="775480"/>
                </a:solidFill>
                <a:latin typeface="微软雅黑 Light" panose="020B0502040204020203" charset="-122"/>
                <a:ea typeface="微软雅黑 Light" panose="020B0502040204020203" charset="-122"/>
              </a:rPr>
              <a:t>图 </a:t>
            </a:r>
            <a:r>
              <a:rPr lang="en-US" altLang="zh-CN" sz="2400" dirty="0">
                <a:solidFill>
                  <a:srgbClr val="775480"/>
                </a:solidFill>
                <a:latin typeface="微软雅黑 Light" panose="020B0502040204020203" charset="-122"/>
                <a:ea typeface="微软雅黑 Light" panose="020B0502040204020203" charset="-122"/>
              </a:rPr>
              <a:t>6</a:t>
            </a:r>
            <a:r>
              <a:rPr lang="en" altLang="zh-CN" sz="2400" dirty="0">
                <a:solidFill>
                  <a:srgbClr val="775480"/>
                </a:solidFill>
                <a:latin typeface="微软雅黑 Light" panose="020B0502040204020203" charset="-122"/>
                <a:ea typeface="微软雅黑 Light" panose="020B0502040204020203" charset="-122"/>
              </a:rPr>
              <a:t>l </a:t>
            </a:r>
            <a:r>
              <a:rPr lang="zh-CN" altLang="en-US" sz="2400" dirty="0">
                <a:solidFill>
                  <a:srgbClr val="775480"/>
                </a:solidFill>
                <a:latin typeface="微软雅黑 Light" panose="020B0502040204020203" charset="-122"/>
                <a:ea typeface="微软雅黑 Light" panose="020B0502040204020203" charset="-122"/>
              </a:rPr>
              <a:t>所示。和</a:t>
            </a:r>
            <a:r>
              <a:rPr lang="en-US" altLang="zh-CN" sz="2400" dirty="0">
                <a:solidFill>
                  <a:srgbClr val="775480"/>
                </a:solidFill>
                <a:latin typeface="微软雅黑 Light" panose="020B0502040204020203" charset="-122"/>
                <a:ea typeface="微软雅黑 Light" panose="020B0502040204020203" charset="-122"/>
              </a:rPr>
              <a:t>CSI</a:t>
            </a:r>
            <a:r>
              <a:rPr lang="zh-CN" altLang="en-US" sz="2400" dirty="0">
                <a:solidFill>
                  <a:srgbClr val="775480"/>
                </a:solidFill>
                <a:latin typeface="微软雅黑 Light" panose="020B0502040204020203" charset="-122"/>
                <a:ea typeface="微软雅黑 Light" panose="020B0502040204020203" charset="-122"/>
              </a:rPr>
              <a:t>振幅一样，仍然没有明显的模式来区分真正的跌倒和其他非跌倒的日常活动。</a:t>
            </a:r>
          </a:p>
          <a:p>
            <a:pPr>
              <a:buNone/>
            </a:pP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4" name="图片 3">
            <a:extLst>
              <a:ext uri="{FF2B5EF4-FFF2-40B4-BE49-F238E27FC236}">
                <a16:creationId xmlns:a16="http://schemas.microsoft.com/office/drawing/2014/main" id="{321CB506-9113-2BF4-E10A-5DED251382EF}"/>
              </a:ext>
            </a:extLst>
          </p:cNvPr>
          <p:cNvPicPr>
            <a:picLocks noChangeAspect="1"/>
          </p:cNvPicPr>
          <p:nvPr/>
        </p:nvPicPr>
        <p:blipFill>
          <a:blip r:embed="rId5"/>
          <a:stretch>
            <a:fillRect/>
          </a:stretch>
        </p:blipFill>
        <p:spPr>
          <a:xfrm>
            <a:off x="4834804" y="2143827"/>
            <a:ext cx="2881040" cy="1467906"/>
          </a:xfrm>
          <a:prstGeom prst="rect">
            <a:avLst/>
          </a:prstGeom>
        </p:spPr>
      </p:pic>
      <p:pic>
        <p:nvPicPr>
          <p:cNvPr id="6" name="图片 5">
            <a:extLst>
              <a:ext uri="{FF2B5EF4-FFF2-40B4-BE49-F238E27FC236}">
                <a16:creationId xmlns:a16="http://schemas.microsoft.com/office/drawing/2014/main" id="{008F9045-3273-609B-F5EF-92C291D1A7CF}"/>
              </a:ext>
            </a:extLst>
          </p:cNvPr>
          <p:cNvPicPr>
            <a:picLocks noChangeAspect="1"/>
          </p:cNvPicPr>
          <p:nvPr/>
        </p:nvPicPr>
        <p:blipFill>
          <a:blip r:embed="rId6"/>
          <a:stretch>
            <a:fillRect/>
          </a:stretch>
        </p:blipFill>
        <p:spPr>
          <a:xfrm>
            <a:off x="0" y="3611733"/>
            <a:ext cx="12627138" cy="2696064"/>
          </a:xfrm>
          <a:prstGeom prst="rect">
            <a:avLst/>
          </a:prstGeom>
        </p:spPr>
      </p:pic>
      <p:sp>
        <p:nvSpPr>
          <p:cNvPr id="9" name="文本框 8">
            <a:extLst>
              <a:ext uri="{FF2B5EF4-FFF2-40B4-BE49-F238E27FC236}">
                <a16:creationId xmlns:a16="http://schemas.microsoft.com/office/drawing/2014/main" id="{B2F7BB56-24AE-B746-32DA-834F10E75BA4}"/>
              </a:ext>
            </a:extLst>
          </p:cNvPr>
          <p:cNvSpPr txBox="1"/>
          <p:nvPr/>
        </p:nvSpPr>
        <p:spPr>
          <a:xfrm>
            <a:off x="2057399" y="6270455"/>
            <a:ext cx="10408298" cy="646331"/>
          </a:xfrm>
          <a:prstGeom prst="rect">
            <a:avLst/>
          </a:prstGeom>
          <a:noFill/>
        </p:spPr>
        <p:txBody>
          <a:bodyPr wrap="square">
            <a:spAutoFit/>
          </a:bodyPr>
          <a:lstStyle/>
          <a:p>
            <a:pPr>
              <a:buNone/>
            </a:pPr>
            <a:r>
              <a:rPr lang="en" altLang="zh-CN" dirty="0">
                <a:solidFill>
                  <a:srgbClr val="1A1718"/>
                </a:solidFill>
                <a:effectLst/>
                <a:latin typeface="Helvetica" pitchFamily="2" charset="0"/>
              </a:rPr>
              <a:t>(d) Lie down, (e) Upper body activities, (f) Pickup, (g) Squat, (h)</a:t>
            </a:r>
          </a:p>
          <a:p>
            <a:pPr>
              <a:buNone/>
            </a:pPr>
            <a:r>
              <a:rPr lang="en" altLang="zh-CN" dirty="0">
                <a:solidFill>
                  <a:srgbClr val="1A1718"/>
                </a:solidFill>
                <a:effectLst/>
                <a:latin typeface="Helvetica" pitchFamily="2" charset="0"/>
              </a:rPr>
              <a:t>Walking, (</a:t>
            </a:r>
            <a:r>
              <a:rPr lang="en" altLang="zh-CN" dirty="0" err="1">
                <a:solidFill>
                  <a:srgbClr val="1A1718"/>
                </a:solidFill>
                <a:effectLst/>
                <a:latin typeface="Helvetica" pitchFamily="2" charset="0"/>
              </a:rPr>
              <a:t>i</a:t>
            </a:r>
            <a:r>
              <a:rPr lang="en" altLang="zh-CN" dirty="0">
                <a:solidFill>
                  <a:srgbClr val="1A1718"/>
                </a:solidFill>
                <a:effectLst/>
                <a:latin typeface="Helvetica" pitchFamily="2" charset="0"/>
              </a:rPr>
              <a:t>) Stand up, (j) Sit down, (k) Standing-Fall, and (l) Walking-Fall.</a:t>
            </a:r>
          </a:p>
        </p:txBody>
      </p:sp>
    </p:spTree>
    <p:custDataLst>
      <p:tags r:id="rId1"/>
    </p:custDataLst>
    <p:extLst>
      <p:ext uri="{BB962C8B-B14F-4D97-AF65-F5344CB8AC3E}">
        <p14:creationId xmlns:p14="http://schemas.microsoft.com/office/powerpoint/2010/main" val="228626504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05EF4-ABD8-C62E-3010-E03A6D7E5F71}"/>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68A42D0-C8DE-CC85-CA23-3C15581394AF}"/>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en" altLang="zh-CN" sz="3100" dirty="0">
                <a:solidFill>
                  <a:srgbClr val="694B71"/>
                </a:solidFill>
                <a:latin typeface="微软雅黑" panose="020B0503020204020204" pitchFamily="34" charset="-122"/>
                <a:ea typeface="微软雅黑" panose="020B0503020204020204" pitchFamily="34" charset="-122"/>
                <a:cs typeface="+mn-ea"/>
              </a:rPr>
              <a:t>LOS </a:t>
            </a:r>
            <a:r>
              <a:rPr lang="zh-CN" altLang="en-US" sz="3100" dirty="0">
                <a:solidFill>
                  <a:srgbClr val="694B71"/>
                </a:solidFill>
                <a:latin typeface="微软雅黑" panose="020B0503020204020204" pitchFamily="34" charset="-122"/>
                <a:ea typeface="微软雅黑" panose="020B0503020204020204" pitchFamily="34" charset="-122"/>
                <a:cs typeface="+mn-ea"/>
              </a:rPr>
              <a:t>和 </a:t>
            </a:r>
            <a:r>
              <a:rPr lang="en" altLang="zh-CN" sz="3100" dirty="0">
                <a:solidFill>
                  <a:srgbClr val="694B71"/>
                </a:solidFill>
                <a:latin typeface="微软雅黑" panose="020B0503020204020204" pitchFamily="34" charset="-122"/>
                <a:ea typeface="微软雅黑" panose="020B0503020204020204" pitchFamily="34" charset="-122"/>
                <a:cs typeface="+mn-ea"/>
              </a:rPr>
              <a:t>NLOS </a:t>
            </a:r>
            <a:r>
              <a:rPr lang="zh-CN" altLang="en-US" sz="3100" dirty="0">
                <a:solidFill>
                  <a:srgbClr val="694B71"/>
                </a:solidFill>
                <a:latin typeface="微软雅黑" panose="020B0503020204020204" pitchFamily="34" charset="-122"/>
                <a:ea typeface="微软雅黑" panose="020B0503020204020204" pitchFamily="34" charset="-122"/>
                <a:cs typeface="+mn-ea"/>
              </a:rPr>
              <a:t>条件下的活动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485259A6-E178-832F-7452-BB0E022982B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93EA08C-0F05-3116-3BA3-9EE20B728835}"/>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FC68309-DE58-29B3-835E-58D9D9CBE0C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0D27EB9-F5FF-3368-0D41-5E35B674000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E4A2799-9D1C-7CD4-0CAD-F196D2F21CC8}"/>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99B75BAE-E7E1-B698-3872-39E77949D3E7}"/>
              </a:ext>
            </a:extLst>
          </p:cNvPr>
          <p:cNvSpPr txBox="1"/>
          <p:nvPr/>
        </p:nvSpPr>
        <p:spPr>
          <a:xfrm>
            <a:off x="532609" y="1433084"/>
            <a:ext cx="10714584" cy="1200329"/>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和振幅一样，从 </a:t>
            </a:r>
            <a:r>
              <a:rPr lang="en" altLang="zh-CN" sz="2400" dirty="0">
                <a:solidFill>
                  <a:srgbClr val="775480"/>
                </a:solidFill>
                <a:latin typeface="微软雅黑 Light" panose="020B0502040204020203" charset="-122"/>
                <a:ea typeface="微软雅黑 Light" panose="020B0502040204020203" charset="-122"/>
              </a:rPr>
              <a:t>LOS </a:t>
            </a:r>
            <a:r>
              <a:rPr lang="zh-CN" altLang="en-US" sz="2400" dirty="0">
                <a:solidFill>
                  <a:srgbClr val="775480"/>
                </a:solidFill>
                <a:latin typeface="微软雅黑 Light" panose="020B0502040204020203" charset="-122"/>
                <a:ea typeface="微软雅黑 Light" panose="020B0502040204020203" charset="-122"/>
              </a:rPr>
              <a:t>到 </a:t>
            </a:r>
            <a:r>
              <a:rPr lang="en" altLang="zh-CN" sz="2400" dirty="0">
                <a:solidFill>
                  <a:srgbClr val="775480"/>
                </a:solidFill>
                <a:latin typeface="微软雅黑 Light" panose="020B0502040204020203" charset="-122"/>
                <a:ea typeface="微软雅黑 Light" panose="020B0502040204020203" charset="-122"/>
              </a:rPr>
              <a:t>NLOS </a:t>
            </a:r>
            <a:r>
              <a:rPr lang="zh-CN" altLang="en-US" sz="2400" dirty="0">
                <a:solidFill>
                  <a:srgbClr val="775480"/>
                </a:solidFill>
                <a:latin typeface="微软雅黑 Light" panose="020B0502040204020203" charset="-122"/>
                <a:ea typeface="微软雅黑 Light" panose="020B0502040204020203" charset="-122"/>
              </a:rPr>
              <a:t>条件，人类活动引起的相位差变化会变弱。</a:t>
            </a:r>
          </a:p>
          <a:p>
            <a:endParaRPr lang="zh-CN" altLang="en-US" sz="2400" dirty="0">
              <a:solidFill>
                <a:srgbClr val="775480"/>
              </a:solidFill>
              <a:latin typeface="微软雅黑 Light" panose="020B0502040204020203" charset="-122"/>
              <a:ea typeface="微软雅黑 Light" panose="020B0502040204020203" charset="-122"/>
            </a:endParaRPr>
          </a:p>
          <a:p>
            <a:pPr>
              <a:buNone/>
            </a:pP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21457961-7303-37AA-9886-FE7EF543E912}"/>
              </a:ext>
            </a:extLst>
          </p:cNvPr>
          <p:cNvPicPr>
            <a:picLocks noChangeAspect="1"/>
          </p:cNvPicPr>
          <p:nvPr/>
        </p:nvPicPr>
        <p:blipFill>
          <a:blip r:embed="rId5"/>
          <a:stretch>
            <a:fillRect/>
          </a:stretch>
        </p:blipFill>
        <p:spPr>
          <a:xfrm>
            <a:off x="2354362" y="2118684"/>
            <a:ext cx="7071077" cy="4739316"/>
          </a:xfrm>
          <a:prstGeom prst="rect">
            <a:avLst/>
          </a:prstGeom>
          <a:noFill/>
          <a:ln>
            <a:noFill/>
          </a:ln>
        </p:spPr>
      </p:pic>
    </p:spTree>
    <p:custDataLst>
      <p:tags r:id="rId1"/>
    </p:custDataLst>
    <p:extLst>
      <p:ext uri="{BB962C8B-B14F-4D97-AF65-F5344CB8AC3E}">
        <p14:creationId xmlns:p14="http://schemas.microsoft.com/office/powerpoint/2010/main" val="112670625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CDCF-7351-2C46-EDFB-0B91D2CD5A21}"/>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A200040-D7E4-0371-25C2-8CF09F716063}"/>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en" altLang="zh-CN" sz="3100" dirty="0">
                <a:solidFill>
                  <a:srgbClr val="694B71"/>
                </a:solidFill>
                <a:latin typeface="微软雅黑" panose="020B0503020204020204" pitchFamily="34" charset="-122"/>
                <a:ea typeface="微软雅黑" panose="020B0503020204020204" pitchFamily="34" charset="-122"/>
                <a:cs typeface="+mn-ea"/>
              </a:rPr>
              <a:t>LOS </a:t>
            </a:r>
            <a:r>
              <a:rPr lang="zh-CN" altLang="en-US" sz="3100" dirty="0">
                <a:solidFill>
                  <a:srgbClr val="694B71"/>
                </a:solidFill>
                <a:latin typeface="微软雅黑" panose="020B0503020204020204" pitchFamily="34" charset="-122"/>
                <a:ea typeface="微软雅黑" panose="020B0503020204020204" pitchFamily="34" charset="-122"/>
                <a:cs typeface="+mn-ea"/>
              </a:rPr>
              <a:t>和 </a:t>
            </a:r>
            <a:r>
              <a:rPr lang="en" altLang="zh-CN" sz="3100" dirty="0">
                <a:solidFill>
                  <a:srgbClr val="694B71"/>
                </a:solidFill>
                <a:latin typeface="微软雅黑" panose="020B0503020204020204" pitchFamily="34" charset="-122"/>
                <a:ea typeface="微软雅黑" panose="020B0503020204020204" pitchFamily="34" charset="-122"/>
                <a:cs typeface="+mn-ea"/>
              </a:rPr>
              <a:t>NLOS </a:t>
            </a:r>
            <a:r>
              <a:rPr lang="zh-CN" altLang="en-US" sz="3100" dirty="0">
                <a:solidFill>
                  <a:srgbClr val="694B71"/>
                </a:solidFill>
                <a:latin typeface="微软雅黑" panose="020B0503020204020204" pitchFamily="34" charset="-122"/>
                <a:ea typeface="微软雅黑" panose="020B0503020204020204" pitchFamily="34" charset="-122"/>
                <a:cs typeface="+mn-ea"/>
              </a:rPr>
              <a:t>条件下的活动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0CD66864-DEC4-3FB4-410C-A7A076BEF59B}"/>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4732E12-57D6-BAB2-49C7-523F6468FF2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E554B89-CC98-92C4-1D98-88F4A6A4ECC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6E3CB0-F3B7-029D-921B-025EDD0B22B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0A92A4C9-B3EF-3520-15EA-6A33880F514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8" name="文本框 7">
            <a:extLst>
              <a:ext uri="{FF2B5EF4-FFF2-40B4-BE49-F238E27FC236}">
                <a16:creationId xmlns:a16="http://schemas.microsoft.com/office/drawing/2014/main" id="{AA97D861-59FE-B7AB-BB4A-88D0E03D65B4}"/>
              </a:ext>
            </a:extLst>
          </p:cNvPr>
          <p:cNvSpPr txBox="1"/>
          <p:nvPr/>
        </p:nvSpPr>
        <p:spPr>
          <a:xfrm>
            <a:off x="343295" y="1524782"/>
            <a:ext cx="11040052" cy="4154984"/>
          </a:xfrm>
          <a:prstGeom prst="rect">
            <a:avLst/>
          </a:prstGeom>
          <a:noFill/>
        </p:spPr>
        <p:txBody>
          <a:bodyPr wrap="square">
            <a:spAutoFit/>
          </a:bodyPr>
          <a:lstStyle/>
          <a:p>
            <a:pPr>
              <a:buNone/>
            </a:pPr>
            <a:r>
              <a:rPr lang="zh-CN" altLang="zh-CN" sz="2400" dirty="0">
                <a:solidFill>
                  <a:srgbClr val="775480"/>
                </a:solidFill>
                <a:latin typeface="微软雅黑 Light" panose="020B0502040204020203" charset="-122"/>
                <a:ea typeface="微软雅黑 Light" panose="020B0502040204020203" charset="-122"/>
              </a:rPr>
              <a:t>现在我们回答那两个问题，现在轮到相位差。</a:t>
            </a:r>
            <a:endParaRPr lang="en-US" altLang="zh-CN" sz="2400" dirty="0">
              <a:solidFill>
                <a:srgbClr val="775480"/>
              </a:solidFill>
              <a:latin typeface="微软雅黑 Light" panose="020B0502040204020203" charset="-122"/>
              <a:ea typeface="微软雅黑 Light" panose="020B0502040204020203" charset="-122"/>
            </a:endParaRPr>
          </a:p>
          <a:p>
            <a:pPr>
              <a:buNone/>
            </a:pPr>
            <a:endParaRPr lang="zh-CN" altLang="zh-CN" sz="2400" dirty="0">
              <a:solidFill>
                <a:srgbClr val="775480"/>
              </a:solidFill>
              <a:latin typeface="微软雅黑 Light" panose="020B0502040204020203" charset="-122"/>
              <a:ea typeface="微软雅黑 Light" panose="020B0502040204020203" charset="-122"/>
            </a:endParaRPr>
          </a:p>
          <a:p>
            <a:pPr>
              <a:buNone/>
            </a:pPr>
            <a:r>
              <a:rPr lang="zh-CN" altLang="zh-CN" sz="2400" b="1" dirty="0">
                <a:solidFill>
                  <a:srgbClr val="775480"/>
                </a:solidFill>
                <a:latin typeface="微软雅黑 Light" panose="020B0502040204020203" charset="-122"/>
                <a:ea typeface="微软雅黑 Light" panose="020B0502040204020203" charset="-122"/>
              </a:rPr>
              <a:t>一直到多远，站立和其他非运动活动的</a:t>
            </a:r>
            <a:r>
              <a:rPr lang="en-US" altLang="zh-CN" sz="2400" b="1" dirty="0">
                <a:solidFill>
                  <a:srgbClr val="775480"/>
                </a:solidFill>
                <a:latin typeface="微软雅黑 Light" panose="020B0502040204020203" charset="-122"/>
                <a:ea typeface="微软雅黑 Light" panose="020B0502040204020203" charset="-122"/>
              </a:rPr>
              <a:t>CSI</a:t>
            </a:r>
            <a:r>
              <a:rPr lang="zh-CN" altLang="en-US" sz="2400" b="1" dirty="0">
                <a:solidFill>
                  <a:srgbClr val="775480"/>
                </a:solidFill>
                <a:latin typeface="微软雅黑 Light" panose="020B0502040204020203" charset="-122"/>
                <a:ea typeface="微软雅黑 Light" panose="020B0502040204020203" charset="-122"/>
              </a:rPr>
              <a:t>相位差</a:t>
            </a:r>
            <a:r>
              <a:rPr lang="zh-CN" altLang="zh-CN" sz="2400" b="1" dirty="0">
                <a:solidFill>
                  <a:srgbClr val="775480"/>
                </a:solidFill>
                <a:latin typeface="微软雅黑 Light" panose="020B0502040204020203" charset="-122"/>
                <a:ea typeface="微软雅黑 Light" panose="020B0502040204020203" charset="-122"/>
              </a:rPr>
              <a:t>才会变得无法辨认？</a:t>
            </a:r>
            <a:endParaRPr lang="en-US" altLang="zh-CN" sz="2400" b="1" dirty="0">
              <a:solidFill>
                <a:srgbClr val="775480"/>
              </a:solidFill>
              <a:latin typeface="微软雅黑 Light" panose="020B0502040204020203" charset="-122"/>
              <a:ea typeface="微软雅黑 Light" panose="020B0502040204020203" charset="-122"/>
            </a:endParaRPr>
          </a:p>
          <a:p>
            <a:pPr>
              <a:buNone/>
            </a:pPr>
            <a:r>
              <a:rPr lang="zh-CN" altLang="zh-CN" sz="2400" b="1" dirty="0">
                <a:solidFill>
                  <a:srgbClr val="775480"/>
                </a:solidFill>
                <a:latin typeface="微软雅黑 Light" panose="020B0502040204020203" charset="-122"/>
                <a:ea typeface="微软雅黑 Light" panose="020B0502040204020203" charset="-122"/>
              </a:rPr>
              <a:t> </a:t>
            </a:r>
          </a:p>
          <a:p>
            <a:pPr>
              <a:buNone/>
            </a:pPr>
            <a:r>
              <a:rPr lang="zh-CN" altLang="en-US" sz="2400" dirty="0">
                <a:solidFill>
                  <a:srgbClr val="775480"/>
                </a:solidFill>
                <a:latin typeface="微软雅黑 Light" panose="020B0502040204020203" charset="-122"/>
                <a:ea typeface="微软雅黑 Light" panose="020B0502040204020203" charset="-122"/>
              </a:rPr>
              <a:t>同样的设置，这个答案</a:t>
            </a:r>
            <a:r>
              <a:rPr lang="zh-CN" altLang="zh-CN" sz="2400" dirty="0">
                <a:solidFill>
                  <a:srgbClr val="775480"/>
                </a:solidFill>
                <a:latin typeface="微软雅黑 Light" panose="020B0502040204020203" charset="-122"/>
                <a:ea typeface="微软雅黑 Light" panose="020B0502040204020203" charset="-122"/>
              </a:rPr>
              <a:t>在干净空旷的环境中约为</a:t>
            </a:r>
            <a:r>
              <a:rPr lang="en-US" altLang="zh-CN" sz="2400" dirty="0">
                <a:solidFill>
                  <a:srgbClr val="775480"/>
                </a:solidFill>
                <a:latin typeface="微软雅黑 Light" panose="020B0502040204020203" charset="-122"/>
                <a:ea typeface="微软雅黑 Light" panose="020B0502040204020203" charset="-122"/>
              </a:rPr>
              <a:t> 3.5 m</a:t>
            </a:r>
            <a:r>
              <a:rPr lang="zh-CN" altLang="zh-CN" sz="2400" dirty="0">
                <a:solidFill>
                  <a:srgbClr val="775480"/>
                </a:solidFill>
                <a:latin typeface="微软雅黑 Light" panose="020B0502040204020203" charset="-122"/>
                <a:ea typeface="微软雅黑 Light" panose="020B0502040204020203" charset="-122"/>
              </a:rPr>
              <a:t>，</a:t>
            </a:r>
            <a:r>
              <a:rPr lang="zh-CN" altLang="en-US" sz="2400" dirty="0">
                <a:solidFill>
                  <a:srgbClr val="775480"/>
                </a:solidFill>
                <a:latin typeface="微软雅黑 Light" panose="020B0502040204020203" charset="-122"/>
                <a:ea typeface="微软雅黑 Light" panose="020B0502040204020203" charset="-122"/>
              </a:rPr>
              <a:t>在放置同样的</a:t>
            </a:r>
            <a:r>
              <a:rPr lang="zh-CN" altLang="zh-CN" sz="2400" dirty="0">
                <a:solidFill>
                  <a:srgbClr val="775480"/>
                </a:solidFill>
                <a:latin typeface="微软雅黑 Light" panose="020B0502040204020203" charset="-122"/>
                <a:ea typeface="微软雅黑 Light" panose="020B0502040204020203" charset="-122"/>
              </a:rPr>
              <a:t>障碍物时这个距离下降到</a:t>
            </a:r>
            <a:r>
              <a:rPr lang="en-US" altLang="zh-CN" sz="2400" dirty="0">
                <a:solidFill>
                  <a:srgbClr val="775480"/>
                </a:solidFill>
                <a:latin typeface="微软雅黑 Light" panose="020B0502040204020203" charset="-122"/>
                <a:ea typeface="微软雅黑 Light" panose="020B0502040204020203" charset="-122"/>
              </a:rPr>
              <a:t> 3 m</a:t>
            </a:r>
            <a:r>
              <a:rPr lang="zh-CN" altLang="en-US" sz="2400" dirty="0">
                <a:solidFill>
                  <a:srgbClr val="775480"/>
                </a:solidFill>
                <a:latin typeface="微软雅黑 Light" panose="020B0502040204020203" charset="-122"/>
                <a:ea typeface="微软雅黑 Light" panose="020B0502040204020203" charset="-122"/>
              </a:rPr>
              <a:t>。</a:t>
            </a:r>
            <a:endParaRPr lang="en-US" altLang="zh-CN" sz="2400" dirty="0">
              <a:solidFill>
                <a:srgbClr val="775480"/>
              </a:solidFill>
              <a:latin typeface="微软雅黑 Light" panose="020B0502040204020203" charset="-122"/>
              <a:ea typeface="微软雅黑 Light" panose="020B0502040204020203" charset="-122"/>
            </a:endParaRPr>
          </a:p>
          <a:p>
            <a:pPr>
              <a:buNone/>
            </a:pPr>
            <a:r>
              <a:rPr lang="zh-CN" altLang="en-US" sz="2400" dirty="0">
                <a:solidFill>
                  <a:srgbClr val="775480"/>
                </a:solidFill>
                <a:latin typeface="微软雅黑 Light" panose="020B0502040204020203" charset="-122"/>
                <a:ea typeface="微软雅黑 Light" panose="020B0502040204020203" charset="-122"/>
              </a:rPr>
              <a:t>回顾之前的振幅，这两个数字分别是</a:t>
            </a:r>
            <a:r>
              <a:rPr lang="en-US" altLang="zh-CN" sz="2400" dirty="0">
                <a:solidFill>
                  <a:srgbClr val="775480"/>
                </a:solidFill>
                <a:latin typeface="微软雅黑 Light" panose="020B0502040204020203" charset="-122"/>
                <a:ea typeface="微软雅黑 Light" panose="020B0502040204020203" charset="-122"/>
              </a:rPr>
              <a:t>2m</a:t>
            </a:r>
            <a:r>
              <a:rPr lang="zh-CN" altLang="en-US" sz="2400" dirty="0">
                <a:solidFill>
                  <a:srgbClr val="775480"/>
                </a:solidFill>
                <a:latin typeface="微软雅黑 Light" panose="020B0502040204020203" charset="-122"/>
                <a:ea typeface="微软雅黑 Light" panose="020B0502040204020203" charset="-122"/>
              </a:rPr>
              <a:t>和</a:t>
            </a:r>
            <a:r>
              <a:rPr lang="en-US" altLang="zh-CN" sz="2400" dirty="0">
                <a:solidFill>
                  <a:srgbClr val="775480"/>
                </a:solidFill>
                <a:latin typeface="微软雅黑 Light" panose="020B0502040204020203" charset="-122"/>
                <a:ea typeface="微软雅黑 Light" panose="020B0502040204020203" charset="-122"/>
              </a:rPr>
              <a:t>1.5m</a:t>
            </a:r>
          </a:p>
          <a:p>
            <a:pPr>
              <a:buNone/>
            </a:pPr>
            <a:r>
              <a:rPr lang="zh-CN" altLang="zh-CN" sz="2400" dirty="0">
                <a:solidFill>
                  <a:srgbClr val="775480"/>
                </a:solidFill>
                <a:latin typeface="微软雅黑 Light" panose="020B0502040204020203" charset="-122"/>
                <a:ea typeface="微软雅黑 Light" panose="020B0502040204020203" charset="-122"/>
              </a:rPr>
              <a:t>与</a:t>
            </a:r>
            <a:r>
              <a:rPr lang="zh-CN" altLang="en-US" sz="2400" dirty="0">
                <a:solidFill>
                  <a:srgbClr val="775480"/>
                </a:solidFill>
                <a:latin typeface="微软雅黑 Light" panose="020B0502040204020203" charset="-122"/>
                <a:ea typeface="微软雅黑 Light" panose="020B0502040204020203" charset="-122"/>
              </a:rPr>
              <a:t>振幅</a:t>
            </a:r>
            <a:r>
              <a:rPr lang="zh-CN" altLang="zh-CN" sz="2400" dirty="0">
                <a:solidFill>
                  <a:srgbClr val="775480"/>
                </a:solidFill>
                <a:latin typeface="微软雅黑 Light" panose="020B0502040204020203" charset="-122"/>
                <a:ea typeface="微软雅黑 Light" panose="020B0502040204020203" charset="-122"/>
              </a:rPr>
              <a:t>相比，</a:t>
            </a:r>
            <a:r>
              <a:rPr lang="en-US" altLang="zh-CN" sz="2400" dirty="0">
                <a:solidFill>
                  <a:srgbClr val="775480"/>
                </a:solidFill>
                <a:latin typeface="微软雅黑 Light" panose="020B0502040204020203" charset="-122"/>
                <a:ea typeface="微软雅黑 Light" panose="020B0502040204020203" charset="-122"/>
              </a:rPr>
              <a:t>LOS </a:t>
            </a:r>
            <a:r>
              <a:rPr lang="zh-CN" altLang="zh-CN" sz="2400" dirty="0">
                <a:solidFill>
                  <a:srgbClr val="775480"/>
                </a:solidFill>
                <a:latin typeface="微软雅黑 Light" panose="020B0502040204020203" charset="-122"/>
                <a:ea typeface="微软雅黑 Light" panose="020B0502040204020203" charset="-122"/>
              </a:rPr>
              <a:t>和</a:t>
            </a:r>
            <a:r>
              <a:rPr lang="en-US" altLang="zh-CN" sz="2400" dirty="0">
                <a:solidFill>
                  <a:srgbClr val="775480"/>
                </a:solidFill>
                <a:latin typeface="微软雅黑 Light" panose="020B0502040204020203" charset="-122"/>
                <a:ea typeface="微软雅黑 Light" panose="020B0502040204020203" charset="-122"/>
              </a:rPr>
              <a:t> NLOS </a:t>
            </a:r>
            <a:r>
              <a:rPr lang="zh-CN" altLang="zh-CN" sz="2400" dirty="0">
                <a:solidFill>
                  <a:srgbClr val="775480"/>
                </a:solidFill>
                <a:latin typeface="微软雅黑 Light" panose="020B0502040204020203" charset="-122"/>
                <a:ea typeface="微软雅黑 Light" panose="020B0502040204020203" charset="-122"/>
              </a:rPr>
              <a:t>场景下站立姿势的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相位差方差似乎都被放大了，站立信号模式与</a:t>
            </a:r>
            <a:r>
              <a:rPr lang="zh-CN" altLang="en-US" sz="2400" dirty="0">
                <a:solidFill>
                  <a:srgbClr val="775480"/>
                </a:solidFill>
                <a:latin typeface="微软雅黑 Light" panose="020B0502040204020203" charset="-122"/>
                <a:ea typeface="微软雅黑 Light" panose="020B0502040204020203" charset="-122"/>
              </a:rPr>
              <a:t>其他</a:t>
            </a:r>
            <a:r>
              <a:rPr lang="zh-CN" altLang="zh-CN" sz="2400" dirty="0">
                <a:solidFill>
                  <a:srgbClr val="775480"/>
                </a:solidFill>
                <a:latin typeface="微软雅黑 Light" panose="020B0502040204020203" charset="-122"/>
                <a:ea typeface="微软雅黑 Light" panose="020B0502040204020203" charset="-122"/>
              </a:rPr>
              <a:t>非运动活动信号模式之间的差异变得更加清晰。</a:t>
            </a:r>
          </a:p>
          <a:p>
            <a:pPr>
              <a:buNone/>
            </a:pPr>
            <a:r>
              <a:rPr lang="zh-CN" altLang="zh-CN" sz="2400" dirty="0">
                <a:solidFill>
                  <a:srgbClr val="775480"/>
                </a:solidFill>
                <a:latin typeface="微软雅黑 Light" panose="020B0502040204020203" charset="-122"/>
                <a:ea typeface="微软雅黑 Light" panose="020B0502040204020203" charset="-122"/>
              </a:rPr>
              <a:t>由于可辨识的覆盖范围对于标准尺寸的房间来说已经足够了，我们认为两个天线上的相位差可以作为区分躺着（坐着）和站着的健壮的基础信号。</a:t>
            </a:r>
          </a:p>
        </p:txBody>
      </p:sp>
    </p:spTree>
    <p:custDataLst>
      <p:tags r:id="rId1"/>
    </p:custDataLst>
    <p:extLst>
      <p:ext uri="{BB962C8B-B14F-4D97-AF65-F5344CB8AC3E}">
        <p14:creationId xmlns:p14="http://schemas.microsoft.com/office/powerpoint/2010/main" val="871375489"/>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18A12-85F1-E4E7-BDC6-864DCB6696DB}"/>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75DA9D7-D7E4-CC09-83B7-2AFACF46C24D}"/>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en" altLang="zh-CN" sz="3100" dirty="0">
                <a:solidFill>
                  <a:srgbClr val="694B71"/>
                </a:solidFill>
                <a:latin typeface="微软雅黑" panose="020B0503020204020204" pitchFamily="34" charset="-122"/>
                <a:ea typeface="微软雅黑" panose="020B0503020204020204" pitchFamily="34" charset="-122"/>
                <a:cs typeface="+mn-ea"/>
              </a:rPr>
              <a:t>LOS </a:t>
            </a:r>
            <a:r>
              <a:rPr lang="zh-CN" altLang="en-US" sz="3100" dirty="0">
                <a:solidFill>
                  <a:srgbClr val="694B71"/>
                </a:solidFill>
                <a:latin typeface="微软雅黑" panose="020B0503020204020204" pitchFamily="34" charset="-122"/>
                <a:ea typeface="微软雅黑" panose="020B0503020204020204" pitchFamily="34" charset="-122"/>
                <a:cs typeface="+mn-ea"/>
              </a:rPr>
              <a:t>和 </a:t>
            </a:r>
            <a:r>
              <a:rPr lang="en" altLang="zh-CN" sz="3100" dirty="0">
                <a:solidFill>
                  <a:srgbClr val="694B71"/>
                </a:solidFill>
                <a:latin typeface="微软雅黑" panose="020B0503020204020204" pitchFamily="34" charset="-122"/>
                <a:ea typeface="微软雅黑" panose="020B0503020204020204" pitchFamily="34" charset="-122"/>
                <a:cs typeface="+mn-ea"/>
              </a:rPr>
              <a:t>NLOS </a:t>
            </a:r>
            <a:r>
              <a:rPr lang="zh-CN" altLang="en-US" sz="3100" dirty="0">
                <a:solidFill>
                  <a:srgbClr val="694B71"/>
                </a:solidFill>
                <a:latin typeface="微软雅黑" panose="020B0503020204020204" pitchFamily="34" charset="-122"/>
                <a:ea typeface="微软雅黑" panose="020B0503020204020204" pitchFamily="34" charset="-122"/>
                <a:cs typeface="+mn-ea"/>
              </a:rPr>
              <a:t>条件下的活动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2A473E2E-C287-9BF7-4DAA-BD69594BCDD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1E3C435-2ADE-94D8-D4C6-2C3DBEC2632A}"/>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1D84B4A-2325-5DE9-8D3D-41404F5DD23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7D7B474-476C-220F-2CB5-8D8E83949A2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2C44B622-3FFD-994E-3301-04E4D45B75FD}"/>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8" name="文本框 7">
            <a:extLst>
              <a:ext uri="{FF2B5EF4-FFF2-40B4-BE49-F238E27FC236}">
                <a16:creationId xmlns:a16="http://schemas.microsoft.com/office/drawing/2014/main" id="{FACB2924-A268-35DA-8895-C03F5609B4B1}"/>
              </a:ext>
            </a:extLst>
          </p:cNvPr>
          <p:cNvSpPr txBox="1"/>
          <p:nvPr/>
        </p:nvSpPr>
        <p:spPr>
          <a:xfrm>
            <a:off x="399279" y="1894114"/>
            <a:ext cx="11040052" cy="3046988"/>
          </a:xfrm>
          <a:prstGeom prst="rect">
            <a:avLst/>
          </a:prstGeom>
          <a:noFill/>
        </p:spPr>
        <p:txBody>
          <a:bodyPr wrap="square">
            <a:spAutoFit/>
          </a:bodyPr>
          <a:lstStyle/>
          <a:p>
            <a:pPr>
              <a:buNone/>
            </a:pPr>
            <a:r>
              <a:rPr lang="zh-CN" altLang="en-US" sz="2400" dirty="0">
                <a:solidFill>
                  <a:srgbClr val="775480"/>
                </a:solidFill>
                <a:latin typeface="微软雅黑 Light" panose="020B0502040204020203" charset="-122"/>
                <a:ea typeface="微软雅黑 Light" panose="020B0502040204020203" charset="-122"/>
              </a:rPr>
              <a:t>第二个问题：</a:t>
            </a:r>
            <a:endParaRPr lang="en-US" altLang="zh-CN" sz="2400" dirty="0">
              <a:solidFill>
                <a:srgbClr val="775480"/>
              </a:solidFill>
              <a:latin typeface="微软雅黑 Light" panose="020B0502040204020203" charset="-122"/>
              <a:ea typeface="微软雅黑 Light" panose="020B0502040204020203" charset="-122"/>
            </a:endParaRPr>
          </a:p>
          <a:p>
            <a:pPr>
              <a:buNone/>
            </a:pPr>
            <a:endParaRPr lang="zh-CN" altLang="zh-CN" sz="2400" dirty="0">
              <a:solidFill>
                <a:srgbClr val="775480"/>
              </a:solidFill>
              <a:latin typeface="微软雅黑 Light" panose="020B0502040204020203" charset="-122"/>
              <a:ea typeface="微软雅黑 Light" panose="020B0502040204020203" charset="-122"/>
            </a:endParaRPr>
          </a:p>
          <a:p>
            <a:pPr>
              <a:buNone/>
            </a:pPr>
            <a:r>
              <a:rPr lang="zh-CN" altLang="en-US" sz="2400" b="1" dirty="0">
                <a:solidFill>
                  <a:srgbClr val="775480"/>
                </a:solidFill>
                <a:latin typeface="微软雅黑 Light" panose="020B0502040204020203" charset="-122"/>
                <a:ea typeface="微软雅黑 Light" panose="020B0502040204020203" charset="-122"/>
              </a:rPr>
              <a:t>一直到多远，运动活动和非运动活动的基本信号才会变得难以辨认？ </a:t>
            </a:r>
          </a:p>
          <a:p>
            <a:pPr>
              <a:buNone/>
            </a:pPr>
            <a:r>
              <a:rPr lang="zh-CN" altLang="zh-CN" sz="2400" b="1" dirty="0">
                <a:solidFill>
                  <a:srgbClr val="775480"/>
                </a:solidFill>
                <a:latin typeface="微软雅黑 Light" panose="020B0502040204020203" charset="-122"/>
                <a:ea typeface="微软雅黑 Light" panose="020B0502040204020203" charset="-122"/>
              </a:rPr>
              <a:t> </a:t>
            </a:r>
          </a:p>
          <a:p>
            <a:r>
              <a:rPr lang="zh-CN" altLang="zh-CN" sz="2400" dirty="0">
                <a:solidFill>
                  <a:srgbClr val="775480"/>
                </a:solidFill>
                <a:latin typeface="微软雅黑 Light" panose="020B0502040204020203" charset="-122"/>
                <a:ea typeface="微软雅黑 Light" panose="020B0502040204020203" charset="-122"/>
              </a:rPr>
              <a:t>第二个问题的答案是</a:t>
            </a:r>
            <a:r>
              <a:rPr lang="zh-CN" altLang="en-US"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当</a:t>
            </a:r>
            <a:r>
              <a:rPr lang="en-US" altLang="zh-CN" sz="2400" dirty="0">
                <a:solidFill>
                  <a:srgbClr val="775480"/>
                </a:solidFill>
                <a:latin typeface="微软雅黑 Light" panose="020B0502040204020203" charset="-122"/>
                <a:ea typeface="微软雅黑 Light" panose="020B0502040204020203" charset="-122"/>
              </a:rPr>
              <a:t>LOS </a:t>
            </a:r>
            <a:r>
              <a:rPr lang="zh-CN" altLang="zh-CN" sz="2400" dirty="0">
                <a:solidFill>
                  <a:srgbClr val="775480"/>
                </a:solidFill>
                <a:latin typeface="微软雅黑 Light" panose="020B0502040204020203" charset="-122"/>
                <a:ea typeface="微软雅黑 Light" panose="020B0502040204020203" charset="-122"/>
              </a:rPr>
              <a:t>路径上没有障碍物时，距离为</a:t>
            </a:r>
            <a:r>
              <a:rPr lang="en-US" altLang="zh-CN" sz="2400" dirty="0">
                <a:solidFill>
                  <a:srgbClr val="775480"/>
                </a:solidFill>
                <a:latin typeface="微软雅黑 Light" panose="020B0502040204020203" charset="-122"/>
                <a:ea typeface="微软雅黑 Light" panose="020B0502040204020203" charset="-122"/>
              </a:rPr>
              <a:t> 6 m</a:t>
            </a:r>
            <a:r>
              <a:rPr lang="zh-CN" altLang="zh-CN" sz="2400" dirty="0">
                <a:solidFill>
                  <a:srgbClr val="775480"/>
                </a:solidFill>
                <a:latin typeface="微软雅黑 Light" panose="020B0502040204020203" charset="-122"/>
                <a:ea typeface="微软雅黑 Light" panose="020B0502040204020203" charset="-122"/>
              </a:rPr>
              <a:t>，但用同一张桌子作为障碍物，它下降到</a:t>
            </a:r>
            <a:r>
              <a:rPr lang="en-US" altLang="zh-CN" sz="2400" dirty="0">
                <a:solidFill>
                  <a:srgbClr val="775480"/>
                </a:solidFill>
                <a:latin typeface="微软雅黑 Light" panose="020B0502040204020203" charset="-122"/>
                <a:ea typeface="微软雅黑 Light" panose="020B0502040204020203" charset="-122"/>
              </a:rPr>
              <a:t> 5 m</a:t>
            </a:r>
            <a:r>
              <a:rPr lang="zh-CN" altLang="zh-CN" sz="2400" dirty="0">
                <a:solidFill>
                  <a:srgbClr val="775480"/>
                </a:solidFill>
                <a:latin typeface="微软雅黑 Light" panose="020B0502040204020203" charset="-122"/>
                <a:ea typeface="微软雅黑 Light" panose="020B0502040204020203" charset="-122"/>
              </a:rPr>
              <a:t>。考虑到</a:t>
            </a:r>
            <a:r>
              <a:rPr lang="en-US" altLang="zh-CN" sz="2400" dirty="0">
                <a:solidFill>
                  <a:srgbClr val="775480"/>
                </a:solidFill>
                <a:latin typeface="微软雅黑 Light" panose="020B0502040204020203" charset="-122"/>
                <a:ea typeface="微软雅黑 Light" panose="020B0502040204020203" charset="-122"/>
              </a:rPr>
              <a:t> LOS </a:t>
            </a:r>
            <a:r>
              <a:rPr lang="zh-CN" altLang="zh-CN" sz="2400" dirty="0">
                <a:solidFill>
                  <a:srgbClr val="775480"/>
                </a:solidFill>
                <a:latin typeface="微软雅黑 Light" panose="020B0502040204020203" charset="-122"/>
                <a:ea typeface="微软雅黑 Light" panose="020B0502040204020203" charset="-122"/>
              </a:rPr>
              <a:t>路径两侧的对称性</a:t>
            </a:r>
            <a:r>
              <a:rPr lang="zh-CN" altLang="en-US" sz="2400" dirty="0">
                <a:solidFill>
                  <a:srgbClr val="775480"/>
                </a:solidFill>
                <a:latin typeface="微软雅黑 Light" panose="020B0502040204020203" charset="-122"/>
                <a:ea typeface="微软雅黑 Light" panose="020B0502040204020203" charset="-122"/>
              </a:rPr>
              <a:t>。</a:t>
            </a:r>
            <a:endParaRPr lang="en-US" altLang="zh-C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同样对比振幅的 </a:t>
            </a:r>
            <a:r>
              <a:rPr lang="en-US" altLang="zh-CN" sz="2400" dirty="0">
                <a:solidFill>
                  <a:srgbClr val="775480"/>
                </a:solidFill>
                <a:latin typeface="微软雅黑 Light" panose="020B0502040204020203" charset="-122"/>
                <a:ea typeface="微软雅黑 Light" panose="020B0502040204020203" charset="-122"/>
              </a:rPr>
              <a:t>5</a:t>
            </a:r>
            <a:r>
              <a:rPr lang="zh-CN" altLang="en-US" sz="2400" dirty="0">
                <a:solidFill>
                  <a:srgbClr val="775480"/>
                </a:solidFill>
                <a:latin typeface="微软雅黑 Light" panose="020B0502040204020203" charset="-122"/>
                <a:ea typeface="微软雅黑 Light" panose="020B0502040204020203" charset="-122"/>
              </a:rPr>
              <a:t> </a:t>
            </a:r>
            <a:r>
              <a:rPr lang="en-US" altLang="zh-CN" sz="2400" dirty="0">
                <a:solidFill>
                  <a:srgbClr val="775480"/>
                </a:solidFill>
                <a:latin typeface="微软雅黑 Light" panose="020B0502040204020203" charset="-122"/>
                <a:ea typeface="微软雅黑 Light" panose="020B0502040204020203" charset="-122"/>
              </a:rPr>
              <a:t>m</a:t>
            </a:r>
            <a:r>
              <a:rPr lang="zh-CN" altLang="en-US" sz="2400" dirty="0">
                <a:solidFill>
                  <a:srgbClr val="775480"/>
                </a:solidFill>
                <a:latin typeface="微软雅黑 Light" panose="020B0502040204020203" charset="-122"/>
                <a:ea typeface="微软雅黑 Light" panose="020B0502040204020203" charset="-122"/>
              </a:rPr>
              <a:t> 和 </a:t>
            </a:r>
            <a:r>
              <a:rPr lang="en-US" altLang="zh-CN" sz="2400" dirty="0">
                <a:solidFill>
                  <a:srgbClr val="775480"/>
                </a:solidFill>
                <a:latin typeface="微软雅黑 Light" panose="020B0502040204020203" charset="-122"/>
                <a:ea typeface="微软雅黑 Light" panose="020B0502040204020203" charset="-122"/>
              </a:rPr>
              <a:t>4</a:t>
            </a:r>
            <a:r>
              <a:rPr lang="zh-CN" altLang="en-US" sz="2400" dirty="0">
                <a:solidFill>
                  <a:srgbClr val="775480"/>
                </a:solidFill>
                <a:latin typeface="微软雅黑 Light" panose="020B0502040204020203" charset="-122"/>
                <a:ea typeface="微软雅黑 Light" panose="020B0502040204020203" charset="-122"/>
              </a:rPr>
              <a:t> </a:t>
            </a:r>
            <a:r>
              <a:rPr lang="en-US" altLang="zh-CN" sz="2400" dirty="0">
                <a:solidFill>
                  <a:srgbClr val="775480"/>
                </a:solidFill>
                <a:latin typeface="微软雅黑 Light" panose="020B0502040204020203" charset="-122"/>
                <a:ea typeface="微软雅黑 Light" panose="020B0502040204020203" charset="-122"/>
              </a:rPr>
              <a:t>m</a:t>
            </a:r>
            <a:r>
              <a:rPr lang="zh-CN" altLang="en-US"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我们得出结论，相位差也是比幅度更好的基础信号，可以区分公共客厅中的运动活动和非运动运动活动。</a:t>
            </a:r>
          </a:p>
        </p:txBody>
      </p:sp>
    </p:spTree>
    <p:custDataLst>
      <p:tags r:id="rId1"/>
    </p:custDataLst>
    <p:extLst>
      <p:ext uri="{BB962C8B-B14F-4D97-AF65-F5344CB8AC3E}">
        <p14:creationId xmlns:p14="http://schemas.microsoft.com/office/powerpoint/2010/main" val="173428968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02F9-12B7-1259-BF3F-9F7D55D0D137}"/>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F3C9C9BF-AB52-5797-72C0-AFB22859382F}"/>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不同场景下的跌倒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66BC3B11-D082-E14B-8483-5D2DAE72DA3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984373B-F57B-A139-263B-0D7FCB12ADCF}"/>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A8EC45B-1C0A-278E-D6B2-E555A20513D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73C045DC-5089-96E0-07BB-546751BF910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EEDF94D-70D9-06F1-4BA0-96388DB552CE}"/>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3" name="图片 2">
            <a:extLst>
              <a:ext uri="{FF2B5EF4-FFF2-40B4-BE49-F238E27FC236}">
                <a16:creationId xmlns:a16="http://schemas.microsoft.com/office/drawing/2014/main" id="{BE24AA06-B20E-348F-FB45-7A4904BABDE3}"/>
              </a:ext>
            </a:extLst>
          </p:cNvPr>
          <p:cNvPicPr>
            <a:picLocks noChangeAspect="1"/>
          </p:cNvPicPr>
          <p:nvPr/>
        </p:nvPicPr>
        <p:blipFill>
          <a:blip r:embed="rId5"/>
          <a:stretch>
            <a:fillRect/>
          </a:stretch>
        </p:blipFill>
        <p:spPr>
          <a:xfrm>
            <a:off x="0" y="1714650"/>
            <a:ext cx="8115529" cy="4323148"/>
          </a:xfrm>
          <a:prstGeom prst="rect">
            <a:avLst/>
          </a:prstGeom>
          <a:noFill/>
          <a:ln>
            <a:noFill/>
          </a:ln>
        </p:spPr>
      </p:pic>
      <p:sp>
        <p:nvSpPr>
          <p:cNvPr id="5" name="文本框 4">
            <a:extLst>
              <a:ext uri="{FF2B5EF4-FFF2-40B4-BE49-F238E27FC236}">
                <a16:creationId xmlns:a16="http://schemas.microsoft.com/office/drawing/2014/main" id="{9F77B926-A686-69B5-8BFE-D51F407CA775}"/>
              </a:ext>
            </a:extLst>
          </p:cNvPr>
          <p:cNvSpPr txBox="1"/>
          <p:nvPr/>
        </p:nvSpPr>
        <p:spPr>
          <a:xfrm>
            <a:off x="8115529" y="1862223"/>
            <a:ext cx="4208105" cy="4524315"/>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随着时间的推移，大多数人类活动，如行走、跑步、站立和跌倒，都会导致明显的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波动。只有几个非运动活动，比如静坐和躺着，会产生非常稳定的信号模式。在我们之前的工作中发现，只有当人们跌倒、躺下和坐下时，相位差的变化模式才表现出从波动状态到稳定状态的明显转变，然后利用</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相位差的状态转变进行实时活动分割。 </a:t>
            </a:r>
            <a:endParaRPr lang="zh-CN" altLang="en-US"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74153806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58608-078A-D7E8-9833-BF792761C51A}"/>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A74CECF-1E48-BC25-03FD-EF151DB1B035}"/>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不同场景下的跌倒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F09BB170-ABAE-4C35-8E43-8FFEFA08916C}"/>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65CFA61A-137F-CE84-DE23-8089F714EB7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CD4C255-32B6-22FD-2DEE-3C803B616A57}"/>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F832672-F63A-DC32-674E-21BE2E7B12B1}"/>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F293E28-3579-36F4-A4C2-127D88FABEFB}"/>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3" name="图片 2">
            <a:extLst>
              <a:ext uri="{FF2B5EF4-FFF2-40B4-BE49-F238E27FC236}">
                <a16:creationId xmlns:a16="http://schemas.microsoft.com/office/drawing/2014/main" id="{B13A2383-CF7E-4B15-F9EE-02514D2DFAD6}"/>
              </a:ext>
            </a:extLst>
          </p:cNvPr>
          <p:cNvPicPr>
            <a:picLocks noChangeAspect="1"/>
          </p:cNvPicPr>
          <p:nvPr/>
        </p:nvPicPr>
        <p:blipFill>
          <a:blip r:embed="rId5"/>
          <a:stretch>
            <a:fillRect/>
          </a:stretch>
        </p:blipFill>
        <p:spPr>
          <a:xfrm>
            <a:off x="0" y="1714650"/>
            <a:ext cx="7333861" cy="3906753"/>
          </a:xfrm>
          <a:prstGeom prst="rect">
            <a:avLst/>
          </a:prstGeom>
          <a:noFill/>
          <a:ln>
            <a:noFill/>
          </a:ln>
        </p:spPr>
      </p:pic>
      <p:sp>
        <p:nvSpPr>
          <p:cNvPr id="5" name="文本框 4">
            <a:extLst>
              <a:ext uri="{FF2B5EF4-FFF2-40B4-BE49-F238E27FC236}">
                <a16:creationId xmlns:a16="http://schemas.microsoft.com/office/drawing/2014/main" id="{B3B5B1CC-C50C-E93F-6A07-CED284262F6E}"/>
              </a:ext>
            </a:extLst>
          </p:cNvPr>
          <p:cNvSpPr txBox="1"/>
          <p:nvPr/>
        </p:nvSpPr>
        <p:spPr>
          <a:xfrm>
            <a:off x="7333861" y="1125666"/>
            <a:ext cx="4989773" cy="5632311"/>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通过广泛的实验，</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相位差变化模式的状态转换被证明是时域中的一个稳健特征，可以从连续接收的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流中分割所有跌倒活动。然而，除了跌倒、躺下和坐下之外，许多“原地”活动也可能引起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差的状态转换，从而导致很多活动被分割。这里的“原地”是指受试者在躺着或坐着时进行某些肢体运动。发生这种转换时，受试者完成某些原地活动（例如吃饭、写作或打电话）并返回不动姿势。由于就地活动种类不同，很难将所有这些活动收集起来进行训练和测试以进行分类。</a:t>
            </a:r>
          </a:p>
          <a:p>
            <a:endParaRPr lang="zh-CN" altLang="en-US"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30162798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DAC30-E722-B6B4-8877-BF8546865CD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E1A8134A-9955-5A2C-45D2-E89E8C043E1C}"/>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8C9D93AC-949F-C247-5872-B422CAEEE25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F9427B4-BFAB-2F10-05B6-6C74B49304B6}"/>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CA94231-6C6D-EB21-A97E-DB9E4FA9660D}"/>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A63E15-368D-EC4F-8B7E-AC256701478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FA1E3A70-D3DD-8A5A-2087-A3FAAEDE917B}"/>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0F077A67-F82D-2B80-0BE9-CAC0C1B34072}"/>
              </a:ext>
            </a:extLst>
          </p:cNvPr>
          <p:cNvSpPr txBox="1"/>
          <p:nvPr/>
        </p:nvSpPr>
        <p:spPr>
          <a:xfrm>
            <a:off x="376334" y="1524782"/>
            <a:ext cx="11439331" cy="830997"/>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为了提取对跌倒分割与检测更有效的特征，我们进一步使用短时傅里叶变换绘制出不同日常活动对应的 </a:t>
            </a:r>
            <a:r>
              <a:rPr lang="en-US" altLang="zh-CN" sz="2400" dirty="0">
                <a:solidFill>
                  <a:srgbClr val="775480"/>
                </a:solidFill>
                <a:latin typeface="微软雅黑 Light" panose="020B0502040204020203" charset="-122"/>
                <a:ea typeface="微软雅黑 Light" panose="020B0502040204020203" charset="-122"/>
              </a:rPr>
              <a:t>CSI </a:t>
            </a:r>
            <a:r>
              <a:rPr lang="zh-CN" altLang="zh-CN" sz="2400" dirty="0">
                <a:solidFill>
                  <a:srgbClr val="775480"/>
                </a:solidFill>
                <a:latin typeface="微软雅黑 Light" panose="020B0502040204020203" charset="-122"/>
                <a:ea typeface="微软雅黑 Light" panose="020B0502040204020203" charset="-122"/>
              </a:rPr>
              <a:t>相位差信号频谱图 </a:t>
            </a:r>
            <a:endParaRPr lang="zh-CN" altLang="en-US" sz="2400" dirty="0">
              <a:solidFill>
                <a:srgbClr val="775480"/>
              </a:solidFill>
              <a:latin typeface="微软雅黑 Light" panose="020B0502040204020203" charset="-122"/>
              <a:ea typeface="微软雅黑 Light" panose="020B0502040204020203" charset="-122"/>
            </a:endParaRPr>
          </a:p>
        </p:txBody>
      </p:sp>
      <p:pic>
        <p:nvPicPr>
          <p:cNvPr id="8" name="图片 7">
            <a:extLst>
              <a:ext uri="{FF2B5EF4-FFF2-40B4-BE49-F238E27FC236}">
                <a16:creationId xmlns:a16="http://schemas.microsoft.com/office/drawing/2014/main" id="{7CEC4E25-B0F9-BE32-A591-BA53F7A8D4D7}"/>
              </a:ext>
            </a:extLst>
          </p:cNvPr>
          <p:cNvPicPr>
            <a:picLocks noChangeAspect="1"/>
          </p:cNvPicPr>
          <p:nvPr/>
        </p:nvPicPr>
        <p:blipFill>
          <a:blip r:embed="rId5"/>
          <a:stretch>
            <a:fillRect/>
          </a:stretch>
        </p:blipFill>
        <p:spPr>
          <a:xfrm>
            <a:off x="-1" y="2886440"/>
            <a:ext cx="12192001" cy="2025804"/>
          </a:xfrm>
          <a:prstGeom prst="rect">
            <a:avLst/>
          </a:prstGeom>
        </p:spPr>
      </p:pic>
      <p:sp>
        <p:nvSpPr>
          <p:cNvPr id="9" name="文本框 8">
            <a:extLst>
              <a:ext uri="{FF2B5EF4-FFF2-40B4-BE49-F238E27FC236}">
                <a16:creationId xmlns:a16="http://schemas.microsoft.com/office/drawing/2014/main" id="{BC21F944-BC55-4315-0AE5-8081330CCFBF}"/>
              </a:ext>
            </a:extLst>
          </p:cNvPr>
          <p:cNvSpPr txBox="1"/>
          <p:nvPr/>
        </p:nvSpPr>
        <p:spPr>
          <a:xfrm>
            <a:off x="376334" y="5333218"/>
            <a:ext cx="11439331" cy="830997"/>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有趣的是，不同的活动具有不同的功率谱特征，并且在功率谱中起主要作用的频率范围呈现出一定的规律性。 </a:t>
            </a:r>
          </a:p>
        </p:txBody>
      </p:sp>
    </p:spTree>
    <p:custDataLst>
      <p:tags r:id="rId1"/>
    </p:custDataLst>
    <p:extLst>
      <p:ext uri="{BB962C8B-B14F-4D97-AF65-F5344CB8AC3E}">
        <p14:creationId xmlns:p14="http://schemas.microsoft.com/office/powerpoint/2010/main" val="379813828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DDC16-44C0-81FA-5664-DA8EC3B8C5B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4EFF7D27-65DF-88B1-EBBE-45B6C37BCE7D}"/>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C9F9BBB2-9078-ABFE-D9A8-D1449109DAC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0EEF045-F1C0-A01B-0BE8-056FD2047A25}"/>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24F69576-0D4A-532C-7FA6-D234AC3EDC0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0810D37-657E-EEF5-FD20-F5B63D65E496}"/>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D17813A-85F4-A300-5721-63C7E092431D}"/>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ABEC4675-F9ED-C0D9-1056-23FECD1AD5F0}"/>
              </a:ext>
            </a:extLst>
          </p:cNvPr>
          <p:cNvSpPr txBox="1"/>
          <p:nvPr/>
        </p:nvSpPr>
        <p:spPr>
          <a:xfrm>
            <a:off x="1524000" y="4844920"/>
            <a:ext cx="9144000" cy="1200329"/>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静坐（</a:t>
            </a:r>
            <a:r>
              <a:rPr lang="en-US" altLang="zh-CN" sz="2400" dirty="0">
                <a:solidFill>
                  <a:srgbClr val="775480"/>
                </a:solidFill>
                <a:latin typeface="微软雅黑 Light" panose="020B0502040204020203" charset="-122"/>
                <a:ea typeface="微软雅黑 Light" panose="020B0502040204020203" charset="-122"/>
              </a:rPr>
              <a:t>0-4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11-14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27-30 </a:t>
            </a:r>
            <a:r>
              <a:rPr lang="zh-CN" altLang="en-US" sz="2400" dirty="0">
                <a:solidFill>
                  <a:srgbClr val="775480"/>
                </a:solidFill>
                <a:latin typeface="微软雅黑 Light" panose="020B0502040204020203" charset="-122"/>
                <a:ea typeface="微软雅黑 Light" panose="020B0502040204020203" charset="-122"/>
              </a:rPr>
              <a:t>秒）和静卧（</a:t>
            </a:r>
            <a:r>
              <a:rPr lang="en-US" altLang="zh-CN" sz="2400" dirty="0">
                <a:solidFill>
                  <a:srgbClr val="775480"/>
                </a:solidFill>
                <a:latin typeface="微软雅黑 Light" panose="020B0502040204020203" charset="-122"/>
                <a:ea typeface="微软雅黑 Light" panose="020B0502040204020203" charset="-122"/>
              </a:rPr>
              <a:t>68-72 </a:t>
            </a:r>
            <a:r>
              <a:rPr lang="zh-CN" altLang="en-US" sz="2400" dirty="0">
                <a:solidFill>
                  <a:srgbClr val="775480"/>
                </a:solidFill>
                <a:latin typeface="微软雅黑 Light" panose="020B0502040204020203" charset="-122"/>
                <a:ea typeface="微软雅黑 Light" panose="020B0502040204020203" charset="-122"/>
              </a:rPr>
              <a:t>秒）等非运动姿势的功率谱特征较弱，因为没有任何明显的身体运动。</a:t>
            </a:r>
          </a:p>
          <a:p>
            <a:endParaRPr lang="zh-CN" altLang="en-US"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97F79F6C-C0A4-FA87-C8AB-767551C34024}"/>
              </a:ext>
            </a:extLst>
          </p:cNvPr>
          <p:cNvPicPr>
            <a:picLocks noChangeAspect="1"/>
          </p:cNvPicPr>
          <p:nvPr/>
        </p:nvPicPr>
        <p:blipFill>
          <a:blip r:embed="rId5"/>
          <a:stretch>
            <a:fillRect/>
          </a:stretch>
        </p:blipFill>
        <p:spPr>
          <a:xfrm>
            <a:off x="0" y="1391401"/>
            <a:ext cx="1921580" cy="3142584"/>
          </a:xfrm>
          <a:prstGeom prst="rect">
            <a:avLst/>
          </a:prstGeom>
        </p:spPr>
      </p:pic>
      <p:pic>
        <p:nvPicPr>
          <p:cNvPr id="4" name="图片 3">
            <a:extLst>
              <a:ext uri="{FF2B5EF4-FFF2-40B4-BE49-F238E27FC236}">
                <a16:creationId xmlns:a16="http://schemas.microsoft.com/office/drawing/2014/main" id="{28FF8BCE-3F77-8776-8C8E-F3A6744295EF}"/>
              </a:ext>
            </a:extLst>
          </p:cNvPr>
          <p:cNvPicPr>
            <a:picLocks noChangeAspect="1"/>
          </p:cNvPicPr>
          <p:nvPr/>
        </p:nvPicPr>
        <p:blipFill>
          <a:blip r:embed="rId6"/>
          <a:stretch>
            <a:fillRect/>
          </a:stretch>
        </p:blipFill>
        <p:spPr>
          <a:xfrm>
            <a:off x="2983080" y="1264617"/>
            <a:ext cx="1878743" cy="3315430"/>
          </a:xfrm>
          <a:prstGeom prst="rect">
            <a:avLst/>
          </a:prstGeom>
        </p:spPr>
      </p:pic>
      <p:pic>
        <p:nvPicPr>
          <p:cNvPr id="5" name="图片 4">
            <a:extLst>
              <a:ext uri="{FF2B5EF4-FFF2-40B4-BE49-F238E27FC236}">
                <a16:creationId xmlns:a16="http://schemas.microsoft.com/office/drawing/2014/main" id="{69842B06-7A34-6378-2946-3B42307569CF}"/>
              </a:ext>
            </a:extLst>
          </p:cNvPr>
          <p:cNvPicPr>
            <a:picLocks noChangeAspect="1"/>
          </p:cNvPicPr>
          <p:nvPr/>
        </p:nvPicPr>
        <p:blipFill>
          <a:blip r:embed="rId7"/>
          <a:stretch>
            <a:fillRect/>
          </a:stretch>
        </p:blipFill>
        <p:spPr>
          <a:xfrm>
            <a:off x="6571466" y="1352106"/>
            <a:ext cx="1902610" cy="2807735"/>
          </a:xfrm>
          <a:prstGeom prst="rect">
            <a:avLst/>
          </a:prstGeom>
        </p:spPr>
      </p:pic>
      <p:pic>
        <p:nvPicPr>
          <p:cNvPr id="7" name="图片 6">
            <a:extLst>
              <a:ext uri="{FF2B5EF4-FFF2-40B4-BE49-F238E27FC236}">
                <a16:creationId xmlns:a16="http://schemas.microsoft.com/office/drawing/2014/main" id="{38B37799-4B19-9E92-C80E-6AEECBFADCD9}"/>
              </a:ext>
            </a:extLst>
          </p:cNvPr>
          <p:cNvPicPr>
            <a:picLocks noChangeAspect="1"/>
          </p:cNvPicPr>
          <p:nvPr/>
        </p:nvPicPr>
        <p:blipFill>
          <a:blip r:embed="rId8"/>
          <a:stretch>
            <a:fillRect/>
          </a:stretch>
        </p:blipFill>
        <p:spPr>
          <a:xfrm>
            <a:off x="9319488" y="1203123"/>
            <a:ext cx="1878744" cy="3299258"/>
          </a:xfrm>
          <a:prstGeom prst="rect">
            <a:avLst/>
          </a:prstGeom>
        </p:spPr>
      </p:pic>
    </p:spTree>
    <p:custDataLst>
      <p:tags r:id="rId1"/>
    </p:custDataLst>
    <p:extLst>
      <p:ext uri="{BB962C8B-B14F-4D97-AF65-F5344CB8AC3E}">
        <p14:creationId xmlns:p14="http://schemas.microsoft.com/office/powerpoint/2010/main" val="49346545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1F1FD-585A-78CB-E111-A48A1EE4B310}"/>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1EFB1487-D279-0244-9F9C-AF91BE4CC404}"/>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D59A37CE-1A1E-FE1E-566C-0BBAD0DAD15C}"/>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C50EEAA-490D-AA81-D179-2AE226C0E2C0}"/>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92AF78D-9628-FE32-EF89-0EB68BC97E0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6264E137-30C4-70D0-F2F8-CFCC53F5018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5812E4E9-595D-F250-8067-FCB523FA4BF2}"/>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00AB57E5-3183-F94F-C69D-0CFB2E552E35}"/>
              </a:ext>
            </a:extLst>
          </p:cNvPr>
          <p:cNvSpPr txBox="1"/>
          <p:nvPr/>
        </p:nvSpPr>
        <p:spPr>
          <a:xfrm>
            <a:off x="1247192" y="5148552"/>
            <a:ext cx="9697616" cy="830997"/>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坐着打电话（</a:t>
            </a:r>
            <a:r>
              <a:rPr lang="en-US" altLang="zh-CN" sz="2400" dirty="0">
                <a:solidFill>
                  <a:srgbClr val="775480"/>
                </a:solidFill>
                <a:latin typeface="微软雅黑 Light" panose="020B0502040204020203" charset="-122"/>
                <a:ea typeface="微软雅黑 Light" panose="020B0502040204020203" charset="-122"/>
              </a:rPr>
              <a:t>4-10 </a:t>
            </a:r>
            <a:r>
              <a:rPr lang="zh-CN" altLang="en-US" sz="2400" dirty="0">
                <a:solidFill>
                  <a:srgbClr val="775480"/>
                </a:solidFill>
                <a:latin typeface="微软雅黑 Light" panose="020B0502040204020203" charset="-122"/>
                <a:ea typeface="微软雅黑 Light" panose="020B0502040204020203" charset="-122"/>
              </a:rPr>
              <a:t>秒）和站立（</a:t>
            </a:r>
            <a:r>
              <a:rPr lang="en-US" altLang="zh-CN" sz="2400" dirty="0">
                <a:solidFill>
                  <a:srgbClr val="775480"/>
                </a:solidFill>
                <a:latin typeface="微软雅黑 Light" panose="020B0502040204020203" charset="-122"/>
                <a:ea typeface="微软雅黑 Light" panose="020B0502040204020203" charset="-122"/>
              </a:rPr>
              <a:t>36-41 </a:t>
            </a:r>
            <a:r>
              <a:rPr lang="zh-CN" altLang="en-US" sz="2400" dirty="0">
                <a:solidFill>
                  <a:srgbClr val="775480"/>
                </a:solidFill>
                <a:latin typeface="微软雅黑 Light" panose="020B0502040204020203" charset="-122"/>
                <a:ea typeface="微软雅黑 Light" panose="020B0502040204020203" charset="-122"/>
              </a:rPr>
              <a:t>秒）等“原地”活动具有温和的功率谱，主要由低频分量 （</a:t>
            </a:r>
            <a:r>
              <a:rPr lang="en-US" altLang="zh-CN" sz="2400" dirty="0">
                <a:solidFill>
                  <a:srgbClr val="775480"/>
                </a:solidFill>
                <a:latin typeface="微软雅黑 Light" panose="020B0502040204020203" charset="-122"/>
                <a:ea typeface="微软雅黑 Light" panose="020B0502040204020203" charset="-122"/>
              </a:rPr>
              <a:t>&lt;5</a:t>
            </a:r>
            <a:r>
              <a:rPr lang="en" altLang="zh-CN" sz="2400" dirty="0">
                <a:solidFill>
                  <a:srgbClr val="775480"/>
                </a:solidFill>
                <a:latin typeface="微软雅黑 Light" panose="020B0502040204020203" charset="-122"/>
                <a:ea typeface="微软雅黑 Light" panose="020B0502040204020203" charset="-122"/>
              </a:rPr>
              <a:t>Hz</a:t>
            </a:r>
            <a:r>
              <a:rPr lang="zh-CN" altLang="en" sz="2400" dirty="0">
                <a:solidFill>
                  <a:srgbClr val="775480"/>
                </a:solidFill>
                <a:latin typeface="微软雅黑 Light" panose="020B0502040204020203" charset="-122"/>
                <a:ea typeface="微软雅黑 Light" panose="020B0502040204020203" charset="-122"/>
              </a:rPr>
              <a:t>） </a:t>
            </a:r>
            <a:r>
              <a:rPr lang="zh-CN" altLang="en-US" sz="2400" dirty="0">
                <a:solidFill>
                  <a:srgbClr val="775480"/>
                </a:solidFill>
                <a:latin typeface="微软雅黑 Light" panose="020B0502040204020203" charset="-122"/>
                <a:ea typeface="微软雅黑 Light" panose="020B0502040204020203" charset="-122"/>
              </a:rPr>
              <a:t>贡献，这些分量主要由肢体运动产生 </a:t>
            </a:r>
          </a:p>
        </p:txBody>
      </p:sp>
      <p:pic>
        <p:nvPicPr>
          <p:cNvPr id="8" name="图片 7">
            <a:extLst>
              <a:ext uri="{FF2B5EF4-FFF2-40B4-BE49-F238E27FC236}">
                <a16:creationId xmlns:a16="http://schemas.microsoft.com/office/drawing/2014/main" id="{DBDE68D3-5C76-D8E0-8C3F-BCA2DE7DDCA0}"/>
              </a:ext>
            </a:extLst>
          </p:cNvPr>
          <p:cNvPicPr>
            <a:picLocks noChangeAspect="1"/>
          </p:cNvPicPr>
          <p:nvPr/>
        </p:nvPicPr>
        <p:blipFill>
          <a:blip r:embed="rId5"/>
          <a:stretch>
            <a:fillRect/>
          </a:stretch>
        </p:blipFill>
        <p:spPr>
          <a:xfrm>
            <a:off x="1952610" y="1448713"/>
            <a:ext cx="2281607" cy="3107706"/>
          </a:xfrm>
          <a:prstGeom prst="rect">
            <a:avLst/>
          </a:prstGeom>
        </p:spPr>
      </p:pic>
      <p:pic>
        <p:nvPicPr>
          <p:cNvPr id="9" name="图片 8">
            <a:extLst>
              <a:ext uri="{FF2B5EF4-FFF2-40B4-BE49-F238E27FC236}">
                <a16:creationId xmlns:a16="http://schemas.microsoft.com/office/drawing/2014/main" id="{8AC74548-132F-8E05-B6AD-130E98D37239}"/>
              </a:ext>
            </a:extLst>
          </p:cNvPr>
          <p:cNvPicPr>
            <a:picLocks noChangeAspect="1"/>
          </p:cNvPicPr>
          <p:nvPr/>
        </p:nvPicPr>
        <p:blipFill>
          <a:blip r:embed="rId6"/>
          <a:stretch>
            <a:fillRect/>
          </a:stretch>
        </p:blipFill>
        <p:spPr>
          <a:xfrm>
            <a:off x="7372697" y="1503696"/>
            <a:ext cx="2016740" cy="3056296"/>
          </a:xfrm>
          <a:prstGeom prst="rect">
            <a:avLst/>
          </a:prstGeom>
        </p:spPr>
      </p:pic>
    </p:spTree>
    <p:custDataLst>
      <p:tags r:id="rId1"/>
    </p:custDataLst>
    <p:extLst>
      <p:ext uri="{BB962C8B-B14F-4D97-AF65-F5344CB8AC3E}">
        <p14:creationId xmlns:p14="http://schemas.microsoft.com/office/powerpoint/2010/main" val="289820878"/>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27B21-5594-251C-FEDD-4F8EA0B00520}"/>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78CE9B0-1807-EF53-7DCA-C71C317ED8F6}"/>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BB149229-3AE1-2004-96F5-18B6EF4D1B8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F39323D-93AD-4D0D-FFF9-CCAA92F8E0DF}"/>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BE38E15-EFD8-CEDF-3453-49C019EB737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9A0719C-C812-EA39-FD50-E419B196CA6F}"/>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9000322-C81A-33FE-5DDB-F32A5BEEC870}"/>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E4F9E6F4-38AD-481F-F9FE-4762E722F0AF}"/>
              </a:ext>
            </a:extLst>
          </p:cNvPr>
          <p:cNvSpPr txBox="1"/>
          <p:nvPr/>
        </p:nvSpPr>
        <p:spPr>
          <a:xfrm>
            <a:off x="1247192" y="4982284"/>
            <a:ext cx="9697616" cy="1569660"/>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所有运动活动，如行走（</a:t>
            </a:r>
            <a:r>
              <a:rPr lang="en-US" altLang="zh-CN" sz="2400" dirty="0">
                <a:solidFill>
                  <a:srgbClr val="775480"/>
                </a:solidFill>
                <a:latin typeface="微软雅黑 Light" panose="020B0502040204020203" charset="-122"/>
                <a:ea typeface="微软雅黑 Light" panose="020B0502040204020203" charset="-122"/>
              </a:rPr>
              <a:t>17-21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33-36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41-46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61-65 </a:t>
            </a:r>
            <a:r>
              <a:rPr lang="zh-CN" altLang="en-US" sz="2400" dirty="0">
                <a:solidFill>
                  <a:srgbClr val="775480"/>
                </a:solidFill>
                <a:latin typeface="微软雅黑 Light" panose="020B0502040204020203" charset="-122"/>
                <a:ea typeface="微软雅黑 Light" panose="020B0502040204020203" charset="-122"/>
              </a:rPr>
              <a:t>秒）、站起来（</a:t>
            </a:r>
            <a:r>
              <a:rPr lang="en-US" altLang="zh-CN" sz="2400" dirty="0">
                <a:solidFill>
                  <a:srgbClr val="775480"/>
                </a:solidFill>
                <a:latin typeface="微软雅黑 Light" panose="020B0502040204020203" charset="-122"/>
                <a:ea typeface="微软雅黑 Light" panose="020B0502040204020203" charset="-122"/>
              </a:rPr>
              <a:t>14-17 </a:t>
            </a:r>
            <a:r>
              <a:rPr lang="zh-CN" altLang="en-US" sz="2400" dirty="0">
                <a:solidFill>
                  <a:srgbClr val="775480"/>
                </a:solidFill>
                <a:latin typeface="微软雅黑 Light" panose="020B0502040204020203" charset="-122"/>
                <a:ea typeface="微软雅黑 Light" panose="020B0502040204020203" charset="-122"/>
              </a:rPr>
              <a:t>秒）、跳跃（</a:t>
            </a:r>
            <a:r>
              <a:rPr lang="en-US" altLang="zh-CN" sz="2400" dirty="0">
                <a:solidFill>
                  <a:srgbClr val="775480"/>
                </a:solidFill>
                <a:latin typeface="微软雅黑 Light" panose="020B0502040204020203" charset="-122"/>
                <a:ea typeface="微软雅黑 Light" panose="020B0502040204020203" charset="-122"/>
              </a:rPr>
              <a:t>53-61 </a:t>
            </a:r>
            <a:r>
              <a:rPr lang="zh-CN" altLang="en-US" sz="2400" dirty="0">
                <a:solidFill>
                  <a:srgbClr val="775480"/>
                </a:solidFill>
                <a:latin typeface="微软雅黑 Light" panose="020B0502040204020203" charset="-122"/>
                <a:ea typeface="微软雅黑 Light" panose="020B0502040204020203" charset="-122"/>
              </a:rPr>
              <a:t>秒）、转身和坐下（</a:t>
            </a:r>
            <a:r>
              <a:rPr lang="en-US" altLang="zh-CN" sz="2400" dirty="0">
                <a:solidFill>
                  <a:srgbClr val="775480"/>
                </a:solidFill>
                <a:latin typeface="微软雅黑 Light" panose="020B0502040204020203" charset="-122"/>
                <a:ea typeface="微软雅黑 Light" panose="020B0502040204020203" charset="-122"/>
              </a:rPr>
              <a:t>21-26 </a:t>
            </a:r>
            <a:r>
              <a:rPr lang="zh-CN" altLang="en-US" sz="2400" dirty="0">
                <a:solidFill>
                  <a:srgbClr val="775480"/>
                </a:solidFill>
                <a:latin typeface="微软雅黑 Light" panose="020B0502040204020203" charset="-122"/>
                <a:ea typeface="微软雅黑 Light" panose="020B0502040204020203" charset="-122"/>
              </a:rPr>
              <a:t>秒）和跌倒（</a:t>
            </a:r>
            <a:r>
              <a:rPr lang="en-US" altLang="zh-CN" sz="2400" dirty="0">
                <a:solidFill>
                  <a:srgbClr val="775480"/>
                </a:solidFill>
                <a:latin typeface="微软雅黑 Light" panose="020B0502040204020203" charset="-122"/>
                <a:ea typeface="微软雅黑 Light" panose="020B0502040204020203" charset="-122"/>
              </a:rPr>
              <a:t>66-68 </a:t>
            </a:r>
            <a:r>
              <a:rPr lang="zh-CN" altLang="en-US" sz="2400" dirty="0">
                <a:solidFill>
                  <a:srgbClr val="775480"/>
                </a:solidFill>
                <a:latin typeface="微软雅黑 Light" panose="020B0502040204020203" charset="-122"/>
                <a:ea typeface="微软雅黑 Light" panose="020B0502040204020203" charset="-122"/>
              </a:rPr>
              <a:t>秒）具有强大的功率谱，包括由肢体和躯干运动产生的低频 </a:t>
            </a:r>
            <a:r>
              <a:rPr lang="en-US" altLang="zh-CN" sz="2400" dirty="0">
                <a:solidFill>
                  <a:srgbClr val="775480"/>
                </a:solidFill>
                <a:latin typeface="微软雅黑 Light" panose="020B0502040204020203" charset="-122"/>
                <a:ea typeface="微软雅黑 Light" panose="020B0502040204020203" charset="-122"/>
              </a:rPr>
              <a:t>[0</a:t>
            </a:r>
            <a:r>
              <a:rPr lang="zh-CN" altLang="en-US" sz="2400" dirty="0">
                <a:solidFill>
                  <a:srgbClr val="775480"/>
                </a:solidFill>
                <a:latin typeface="微软雅黑 Light" panose="020B0502040204020203" charset="-122"/>
                <a:ea typeface="微软雅黑 Light" panose="020B0502040204020203" charset="-122"/>
              </a:rPr>
              <a:t>， </a:t>
            </a:r>
            <a:r>
              <a:rPr lang="en-US" altLang="zh-CN" sz="2400" dirty="0">
                <a:solidFill>
                  <a:srgbClr val="775480"/>
                </a:solidFill>
                <a:latin typeface="微软雅黑 Light" panose="020B0502040204020203" charset="-122"/>
                <a:ea typeface="微软雅黑 Light" panose="020B0502040204020203" charset="-122"/>
              </a:rPr>
              <a:t>5 </a:t>
            </a:r>
            <a:r>
              <a:rPr lang="en" altLang="zh-CN" sz="2400" dirty="0">
                <a:solidFill>
                  <a:srgbClr val="775480"/>
                </a:solidFill>
                <a:latin typeface="微软雅黑 Light" panose="020B0502040204020203" charset="-122"/>
                <a:ea typeface="微软雅黑 Light" panose="020B0502040204020203" charset="-122"/>
              </a:rPr>
              <a:t>Hz] </a:t>
            </a:r>
            <a:r>
              <a:rPr lang="zh-CN" altLang="en-US" sz="2400" dirty="0">
                <a:solidFill>
                  <a:srgbClr val="775480"/>
                </a:solidFill>
                <a:latin typeface="微软雅黑 Light" panose="020B0502040204020203" charset="-122"/>
                <a:ea typeface="微软雅黑 Light" panose="020B0502040204020203" charset="-122"/>
              </a:rPr>
              <a:t>和高频分量（</a:t>
            </a:r>
            <a:r>
              <a:rPr lang="en-US" altLang="zh-CN" sz="2400" dirty="0">
                <a:solidFill>
                  <a:srgbClr val="775480"/>
                </a:solidFill>
                <a:latin typeface="微软雅黑 Light" panose="020B0502040204020203" charset="-122"/>
                <a:ea typeface="微软雅黑 Light" panose="020B0502040204020203" charset="-122"/>
              </a:rPr>
              <a:t>&gt;5 </a:t>
            </a:r>
            <a:r>
              <a:rPr lang="en" altLang="zh-CN" sz="2400" dirty="0">
                <a:solidFill>
                  <a:srgbClr val="775480"/>
                </a:solidFill>
                <a:latin typeface="微软雅黑 Light" panose="020B0502040204020203" charset="-122"/>
                <a:ea typeface="微软雅黑 Light" panose="020B0502040204020203" charset="-122"/>
              </a:rPr>
              <a:t>Hz</a:t>
            </a:r>
            <a:r>
              <a:rPr lang="zh-CN" altLang="en" sz="2400" dirty="0">
                <a:solidFill>
                  <a:srgbClr val="775480"/>
                </a:solidFill>
                <a:latin typeface="微软雅黑 Light" panose="020B0502040204020203" charset="-122"/>
                <a:ea typeface="微软雅黑 Light" panose="020B0502040204020203" charset="-122"/>
              </a:rPr>
              <a:t>） </a:t>
            </a:r>
            <a:endParaRPr lang="zh-CN" altLang="en-US"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B9F22B4F-2AC3-9F5C-E1A6-3FBB9E9BCDA7}"/>
              </a:ext>
            </a:extLst>
          </p:cNvPr>
          <p:cNvPicPr>
            <a:picLocks noChangeAspect="1"/>
          </p:cNvPicPr>
          <p:nvPr/>
        </p:nvPicPr>
        <p:blipFill>
          <a:blip r:embed="rId5"/>
          <a:stretch>
            <a:fillRect/>
          </a:stretch>
        </p:blipFill>
        <p:spPr>
          <a:xfrm>
            <a:off x="306163" y="1289292"/>
            <a:ext cx="1918434" cy="3323798"/>
          </a:xfrm>
          <a:prstGeom prst="rect">
            <a:avLst/>
          </a:prstGeom>
        </p:spPr>
      </p:pic>
      <p:pic>
        <p:nvPicPr>
          <p:cNvPr id="4" name="图片 3">
            <a:extLst>
              <a:ext uri="{FF2B5EF4-FFF2-40B4-BE49-F238E27FC236}">
                <a16:creationId xmlns:a16="http://schemas.microsoft.com/office/drawing/2014/main" id="{ACCDF2D2-7341-9D09-D0AB-3D8B73BC32DF}"/>
              </a:ext>
            </a:extLst>
          </p:cNvPr>
          <p:cNvPicPr>
            <a:picLocks noChangeAspect="1"/>
          </p:cNvPicPr>
          <p:nvPr/>
        </p:nvPicPr>
        <p:blipFill>
          <a:blip r:embed="rId6"/>
          <a:stretch>
            <a:fillRect/>
          </a:stretch>
        </p:blipFill>
        <p:spPr>
          <a:xfrm>
            <a:off x="2481851" y="1289292"/>
            <a:ext cx="1838223" cy="3313639"/>
          </a:xfrm>
          <a:prstGeom prst="rect">
            <a:avLst/>
          </a:prstGeom>
        </p:spPr>
      </p:pic>
      <p:pic>
        <p:nvPicPr>
          <p:cNvPr id="5" name="图片 4">
            <a:extLst>
              <a:ext uri="{FF2B5EF4-FFF2-40B4-BE49-F238E27FC236}">
                <a16:creationId xmlns:a16="http://schemas.microsoft.com/office/drawing/2014/main" id="{7E4A79FC-DB4E-FA18-9897-BDEF95B27B7B}"/>
              </a:ext>
            </a:extLst>
          </p:cNvPr>
          <p:cNvPicPr>
            <a:picLocks noChangeAspect="1"/>
          </p:cNvPicPr>
          <p:nvPr/>
        </p:nvPicPr>
        <p:blipFill>
          <a:blip r:embed="rId7"/>
          <a:stretch>
            <a:fillRect/>
          </a:stretch>
        </p:blipFill>
        <p:spPr>
          <a:xfrm>
            <a:off x="4475676" y="1363710"/>
            <a:ext cx="1387149" cy="3425838"/>
          </a:xfrm>
          <a:prstGeom prst="rect">
            <a:avLst/>
          </a:prstGeom>
        </p:spPr>
      </p:pic>
      <p:pic>
        <p:nvPicPr>
          <p:cNvPr id="7" name="图片 6">
            <a:extLst>
              <a:ext uri="{FF2B5EF4-FFF2-40B4-BE49-F238E27FC236}">
                <a16:creationId xmlns:a16="http://schemas.microsoft.com/office/drawing/2014/main" id="{45349352-4363-5169-3A34-F48DE0545568}"/>
              </a:ext>
            </a:extLst>
          </p:cNvPr>
          <p:cNvPicPr>
            <a:picLocks noChangeAspect="1"/>
          </p:cNvPicPr>
          <p:nvPr/>
        </p:nvPicPr>
        <p:blipFill>
          <a:blip r:embed="rId8"/>
          <a:stretch>
            <a:fillRect/>
          </a:stretch>
        </p:blipFill>
        <p:spPr>
          <a:xfrm>
            <a:off x="6325897" y="1480820"/>
            <a:ext cx="2949736" cy="2930582"/>
          </a:xfrm>
          <a:prstGeom prst="rect">
            <a:avLst/>
          </a:prstGeom>
        </p:spPr>
      </p:pic>
      <p:pic>
        <p:nvPicPr>
          <p:cNvPr id="10" name="图片 9">
            <a:extLst>
              <a:ext uri="{FF2B5EF4-FFF2-40B4-BE49-F238E27FC236}">
                <a16:creationId xmlns:a16="http://schemas.microsoft.com/office/drawing/2014/main" id="{D06B73A8-BED4-B59E-87FC-932D2C5B76B7}"/>
              </a:ext>
            </a:extLst>
          </p:cNvPr>
          <p:cNvPicPr>
            <a:picLocks noChangeAspect="1"/>
          </p:cNvPicPr>
          <p:nvPr/>
        </p:nvPicPr>
        <p:blipFill>
          <a:blip r:embed="rId9"/>
          <a:stretch>
            <a:fillRect/>
          </a:stretch>
        </p:blipFill>
        <p:spPr>
          <a:xfrm>
            <a:off x="9738705" y="1483518"/>
            <a:ext cx="1128349" cy="3129572"/>
          </a:xfrm>
          <a:prstGeom prst="rect">
            <a:avLst/>
          </a:prstGeom>
        </p:spPr>
      </p:pic>
    </p:spTree>
    <p:custDataLst>
      <p:tags r:id="rId1"/>
    </p:custDataLst>
    <p:extLst>
      <p:ext uri="{BB962C8B-B14F-4D97-AF65-F5344CB8AC3E}">
        <p14:creationId xmlns:p14="http://schemas.microsoft.com/office/powerpoint/2010/main" val="178110397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B730-48A0-219D-3CC6-1A711818FCB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E3342AC-7E33-59F8-D203-08056761CB15}"/>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C20E1AD1-4633-D859-2618-E9A12056BD0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24D5025-CAAB-3944-C5F3-23A4A015657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393323A-366C-FD52-60AA-1675CF78415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0FCEA75-0E2A-3C26-B7F2-5D1863F9431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05E719E-DA9E-056B-4990-360F72949A45}"/>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13C53135-E9D0-5A49-B1F8-9A7E0AFFAEF6}"/>
              </a:ext>
            </a:extLst>
          </p:cNvPr>
          <p:cNvSpPr txBox="1"/>
          <p:nvPr/>
        </p:nvSpPr>
        <p:spPr>
          <a:xfrm>
            <a:off x="1247192" y="4982284"/>
            <a:ext cx="9697616" cy="1569660"/>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虽然跌倒（</a:t>
            </a:r>
            <a:r>
              <a:rPr lang="en-US" altLang="zh-CN" sz="2400" dirty="0">
                <a:solidFill>
                  <a:srgbClr val="775480"/>
                </a:solidFill>
                <a:latin typeface="微软雅黑 Light" panose="020B0502040204020203" charset="-122"/>
                <a:ea typeface="微软雅黑 Light" panose="020B0502040204020203" charset="-122"/>
              </a:rPr>
              <a:t>falling</a:t>
            </a:r>
            <a:r>
              <a:rPr lang="zh-CN" altLang="en-US" sz="2400" dirty="0">
                <a:solidFill>
                  <a:srgbClr val="775480"/>
                </a:solidFill>
                <a:latin typeface="微软雅黑 Light" panose="020B0502040204020203" charset="-122"/>
                <a:ea typeface="微软雅黑 Light" panose="020B0502040204020203" charset="-122"/>
              </a:rPr>
              <a:t>）以及坐下</a:t>
            </a:r>
            <a:r>
              <a:rPr lang="en-US" altLang="zh-CN" sz="2400" dirty="0">
                <a:solidFill>
                  <a:srgbClr val="775480"/>
                </a:solidFill>
                <a:latin typeface="微软雅黑 Light" panose="020B0502040204020203" charset="-122"/>
                <a:ea typeface="微软雅黑 Light" panose="020B0502040204020203" charset="-122"/>
              </a:rPr>
              <a:t>/</a:t>
            </a:r>
            <a:r>
              <a:rPr lang="zh-CN" altLang="en-US" sz="2400" dirty="0">
                <a:solidFill>
                  <a:srgbClr val="775480"/>
                </a:solidFill>
                <a:latin typeface="微软雅黑 Light" panose="020B0502040204020203" charset="-122"/>
                <a:ea typeface="微软雅黑 Light" panose="020B0502040204020203" charset="-122"/>
              </a:rPr>
              <a:t>躺下（</a:t>
            </a:r>
            <a:r>
              <a:rPr lang="en-US" altLang="zh-CN" sz="2400" dirty="0">
                <a:solidFill>
                  <a:srgbClr val="775480"/>
                </a:solidFill>
                <a:latin typeface="微软雅黑 Light" panose="020B0502040204020203" charset="-122"/>
                <a:ea typeface="微软雅黑 Light" panose="020B0502040204020203" charset="-122"/>
              </a:rPr>
              <a:t>sitting/lying down</a:t>
            </a:r>
            <a:r>
              <a:rPr lang="zh-CN" altLang="en-US" sz="2400" dirty="0">
                <a:solidFill>
                  <a:srgbClr val="775480"/>
                </a:solidFill>
                <a:latin typeface="微软雅黑 Light" panose="020B0502040204020203" charset="-122"/>
                <a:ea typeface="微软雅黑 Light" panose="020B0502040204020203" charset="-122"/>
              </a:rPr>
              <a:t>）活动的功率谱表现出一个从高频到低频的急剧功率下降（例如在 </a:t>
            </a:r>
            <a:r>
              <a:rPr lang="en-US" altLang="zh-CN" sz="2400" dirty="0">
                <a:solidFill>
                  <a:srgbClr val="775480"/>
                </a:solidFill>
                <a:latin typeface="微软雅黑 Light" panose="020B0502040204020203" charset="-122"/>
                <a:ea typeface="微软雅黑 Light" panose="020B0502040204020203" charset="-122"/>
              </a:rPr>
              <a:t>68 s</a:t>
            </a:r>
            <a:r>
              <a:rPr lang="zh-CN" altLang="en-US" sz="2400" dirty="0">
                <a:solidFill>
                  <a:srgbClr val="775480"/>
                </a:solidFill>
                <a:latin typeface="微软雅黑 Light" panose="020B0502040204020203" charset="-122"/>
                <a:ea typeface="微软雅黑 Light" panose="020B0502040204020203" charset="-122"/>
              </a:rPr>
              <a:t>、</a:t>
            </a:r>
            <a:r>
              <a:rPr lang="en-US" altLang="zh-CN" sz="2400" dirty="0">
                <a:solidFill>
                  <a:srgbClr val="775480"/>
                </a:solidFill>
                <a:latin typeface="微软雅黑 Light" panose="020B0502040204020203" charset="-122"/>
                <a:ea typeface="微软雅黑 Light" panose="020B0502040204020203" charset="-122"/>
              </a:rPr>
              <a:t>25 s </a:t>
            </a:r>
            <a:r>
              <a:rPr lang="zh-CN" altLang="en-US" sz="2400" dirty="0">
                <a:solidFill>
                  <a:srgbClr val="775480"/>
                </a:solidFill>
                <a:latin typeface="微软雅黑 Light" panose="020B0502040204020203" charset="-122"/>
                <a:ea typeface="微软雅黑 Light" panose="020B0502040204020203" charset="-122"/>
              </a:rPr>
              <a:t>处），但“就地”活动不会导致功率谱突然下降，因为“就地”活动的功率曲线主要位于低频范围（</a:t>
            </a:r>
            <a:r>
              <a:rPr lang="en-US" altLang="zh-CN" sz="2400" dirty="0">
                <a:solidFill>
                  <a:srgbClr val="775480"/>
                </a:solidFill>
                <a:latin typeface="微软雅黑 Light" panose="020B0502040204020203" charset="-122"/>
                <a:ea typeface="微软雅黑 Light" panose="020B0502040204020203" charset="-122"/>
              </a:rPr>
              <a:t>&lt;5 Hz</a:t>
            </a:r>
            <a:r>
              <a:rPr lang="zh-CN" altLang="en-US" sz="2400" dirty="0">
                <a:solidFill>
                  <a:srgbClr val="775480"/>
                </a:solidFill>
                <a:latin typeface="微软雅黑 Light" panose="020B0502040204020203" charset="-122"/>
                <a:ea typeface="微软雅黑 Light" panose="020B0502040204020203" charset="-122"/>
              </a:rPr>
              <a:t>）。</a:t>
            </a:r>
          </a:p>
        </p:txBody>
      </p:sp>
      <p:pic>
        <p:nvPicPr>
          <p:cNvPr id="8" name="图片 7">
            <a:extLst>
              <a:ext uri="{FF2B5EF4-FFF2-40B4-BE49-F238E27FC236}">
                <a16:creationId xmlns:a16="http://schemas.microsoft.com/office/drawing/2014/main" id="{0E717553-3961-B308-9AC8-6B45F9454681}"/>
              </a:ext>
            </a:extLst>
          </p:cNvPr>
          <p:cNvPicPr>
            <a:picLocks noChangeAspect="1"/>
          </p:cNvPicPr>
          <p:nvPr/>
        </p:nvPicPr>
        <p:blipFill>
          <a:blip r:embed="rId5"/>
          <a:stretch>
            <a:fillRect/>
          </a:stretch>
        </p:blipFill>
        <p:spPr>
          <a:xfrm>
            <a:off x="459792" y="1234306"/>
            <a:ext cx="2745234" cy="3542238"/>
          </a:xfrm>
          <a:prstGeom prst="rect">
            <a:avLst/>
          </a:prstGeom>
        </p:spPr>
      </p:pic>
      <p:pic>
        <p:nvPicPr>
          <p:cNvPr id="9" name="图片 8">
            <a:extLst>
              <a:ext uri="{FF2B5EF4-FFF2-40B4-BE49-F238E27FC236}">
                <a16:creationId xmlns:a16="http://schemas.microsoft.com/office/drawing/2014/main" id="{CAA39492-25BA-4063-0C28-8D5FC5B9D53D}"/>
              </a:ext>
            </a:extLst>
          </p:cNvPr>
          <p:cNvPicPr>
            <a:picLocks noChangeAspect="1"/>
          </p:cNvPicPr>
          <p:nvPr/>
        </p:nvPicPr>
        <p:blipFill>
          <a:blip r:embed="rId6"/>
          <a:stretch>
            <a:fillRect/>
          </a:stretch>
        </p:blipFill>
        <p:spPr>
          <a:xfrm>
            <a:off x="3445720" y="1537555"/>
            <a:ext cx="2650280" cy="3251762"/>
          </a:xfrm>
          <a:prstGeom prst="rect">
            <a:avLst/>
          </a:prstGeom>
        </p:spPr>
      </p:pic>
      <p:pic>
        <p:nvPicPr>
          <p:cNvPr id="11" name="图片 10">
            <a:extLst>
              <a:ext uri="{FF2B5EF4-FFF2-40B4-BE49-F238E27FC236}">
                <a16:creationId xmlns:a16="http://schemas.microsoft.com/office/drawing/2014/main" id="{6AD80A29-3643-CA2A-0B32-632845D0F9E4}"/>
              </a:ext>
            </a:extLst>
          </p:cNvPr>
          <p:cNvPicPr>
            <a:picLocks noChangeAspect="1"/>
          </p:cNvPicPr>
          <p:nvPr/>
        </p:nvPicPr>
        <p:blipFill>
          <a:blip r:embed="rId7"/>
          <a:stretch>
            <a:fillRect/>
          </a:stretch>
        </p:blipFill>
        <p:spPr>
          <a:xfrm>
            <a:off x="8105600" y="1450009"/>
            <a:ext cx="3408376" cy="3067538"/>
          </a:xfrm>
          <a:prstGeom prst="rect">
            <a:avLst/>
          </a:prstGeom>
        </p:spPr>
      </p:pic>
    </p:spTree>
    <p:custDataLst>
      <p:tags r:id="rId1"/>
    </p:custDataLst>
    <p:extLst>
      <p:ext uri="{BB962C8B-B14F-4D97-AF65-F5344CB8AC3E}">
        <p14:creationId xmlns:p14="http://schemas.microsoft.com/office/powerpoint/2010/main" val="3719038881"/>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3D0D-2EB5-D3F1-4EE6-7E4642F9FD0C}"/>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CB95D7F7-5F6E-C0F1-5434-E327E998CDC3}"/>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E65C99A0-24FA-0BAE-E9F4-EC4906F3EE8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F514281-B866-D11D-9D97-F887D133966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5FDED1FD-FD12-3DB3-2781-56979DA0A489}"/>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15966C9-EF42-A003-FFE5-5EEF8BC21BD2}"/>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4A30D28-48B1-31E1-CE66-6F8844D06E9A}"/>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C5C4E86A-D997-D7A8-C2AC-272DF0995F4D}"/>
              </a:ext>
            </a:extLst>
          </p:cNvPr>
          <p:cNvSpPr txBox="1"/>
          <p:nvPr/>
        </p:nvSpPr>
        <p:spPr>
          <a:xfrm>
            <a:off x="962608" y="1720428"/>
            <a:ext cx="10266783" cy="2677656"/>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因此，通过检测</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相位差变化模式的状态转换以及剧烈的功率谱下降模式，我们可以稳健地排除</a:t>
            </a:r>
            <a:r>
              <a:rPr lang="en-US" altLang="zh-CN" sz="2400" dirty="0">
                <a:solidFill>
                  <a:srgbClr val="775480"/>
                </a:solidFill>
                <a:latin typeface="微软雅黑 Light" panose="020B0502040204020203" charset="-122"/>
                <a:ea typeface="微软雅黑 Light" panose="020B0502040204020203" charset="-122"/>
              </a:rPr>
              <a:t>“</a:t>
            </a:r>
            <a:r>
              <a:rPr lang="zh-CN" altLang="en-US" sz="2400" dirty="0">
                <a:solidFill>
                  <a:srgbClr val="775480"/>
                </a:solidFill>
                <a:latin typeface="微软雅黑 Light" panose="020B0502040204020203" charset="-122"/>
                <a:ea typeface="微软雅黑 Light" panose="020B0502040204020203" charset="-122"/>
              </a:rPr>
              <a:t>就地</a:t>
            </a:r>
            <a:r>
              <a:rPr lang="en-US" altLang="zh-CN"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活动，但仅能分割出跌倒和一些其他非跌倒活动（即躺下和坐着）。我们将其他一些非跌倒活动称为类似跌倒的活动。</a:t>
            </a:r>
            <a:endParaRPr lang="en-US" altLang="zh-CN" sz="2400" dirty="0">
              <a:solidFill>
                <a:srgbClr val="775480"/>
              </a:solidFill>
              <a:latin typeface="微软雅黑 Light" panose="020B0502040204020203" charset="-122"/>
              <a:ea typeface="微软雅黑 Light" panose="020B0502040204020203" charset="-122"/>
            </a:endParaRPr>
          </a:p>
          <a:p>
            <a:endParaRPr lang="en-US" altLang="zh-C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放大跌倒和类似跌倒活动的功率谱曲线，可以注意到，虽然跌倒和类似跌倒的活动最终都会以急剧的功率谱下降结束，但跌倒通常表现出比类似跌倒活动更剧烈的功率谱下降模式。 </a:t>
            </a:r>
            <a:r>
              <a:rPr lang="zh-CN" altLang="zh-CN" sz="2400" dirty="0">
                <a:solidFill>
                  <a:srgbClr val="775480"/>
                </a:solidFill>
                <a:latin typeface="微软雅黑 Light" panose="020B0502040204020203" charset="-122"/>
                <a:ea typeface="微软雅黑 Light" panose="020B0502040204020203" charset="-122"/>
              </a:rPr>
              <a:t> </a:t>
            </a:r>
            <a:endParaRPr lang="zh-CN" altLang="en-US"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1755754918"/>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C340-F832-8F51-A064-D8EF338CE08A}"/>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8E2EAAB-3A6A-4FF2-3919-21FE2AEBBB52}"/>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CC5AA862-283B-2ABB-44F8-43A34FBB1AF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860BF81-FDE5-64AD-9180-7E67617BD149}"/>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0AAA03F-2550-8673-1181-9A6E01E626B8}"/>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F86F594-4CE6-0011-2F56-2ECE6E59761C}"/>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54AEB537-E2F6-8EA8-230B-17D924C0F79D}"/>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1AEE7C79-A0E1-4889-ECD3-33CC45529A18}"/>
              </a:ext>
            </a:extLst>
          </p:cNvPr>
          <p:cNvSpPr txBox="1"/>
          <p:nvPr/>
        </p:nvSpPr>
        <p:spPr>
          <a:xfrm>
            <a:off x="6475444" y="1720428"/>
            <a:ext cx="5505235" cy="3785652"/>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我们可以看到，跌倒显示出从高频到低频分量的明显突然功率下降，而坐下活动仅显示出轻微的功率下降。跌倒的这种独特特征可能是由于受试者无法控制的状态造成的，因为当一个人跌倒时，她会失去对身体的控制，并在撞到地板之前经历一个加速的移动阶段。当受试者撞到地板时，身体的移动速度会从高变为零，而没有像其他类似跌倒的活动（例如坐下）那样受控的减速阶段。</a:t>
            </a:r>
          </a:p>
        </p:txBody>
      </p:sp>
      <p:pic>
        <p:nvPicPr>
          <p:cNvPr id="3" name="图片 2">
            <a:extLst>
              <a:ext uri="{FF2B5EF4-FFF2-40B4-BE49-F238E27FC236}">
                <a16:creationId xmlns:a16="http://schemas.microsoft.com/office/drawing/2014/main" id="{3092F021-1B47-71DF-91AA-CDE8BC6A5C6B}"/>
              </a:ext>
            </a:extLst>
          </p:cNvPr>
          <p:cNvPicPr>
            <a:picLocks noChangeAspect="1"/>
          </p:cNvPicPr>
          <p:nvPr/>
        </p:nvPicPr>
        <p:blipFill>
          <a:blip r:embed="rId5"/>
          <a:stretch>
            <a:fillRect/>
          </a:stretch>
        </p:blipFill>
        <p:spPr>
          <a:xfrm>
            <a:off x="211320" y="1821478"/>
            <a:ext cx="2745234" cy="3542238"/>
          </a:xfrm>
          <a:prstGeom prst="rect">
            <a:avLst/>
          </a:prstGeom>
        </p:spPr>
      </p:pic>
      <p:pic>
        <p:nvPicPr>
          <p:cNvPr id="4" name="图片 3">
            <a:extLst>
              <a:ext uri="{FF2B5EF4-FFF2-40B4-BE49-F238E27FC236}">
                <a16:creationId xmlns:a16="http://schemas.microsoft.com/office/drawing/2014/main" id="{330AB6E3-65A8-65A9-4191-21276DCB7258}"/>
              </a:ext>
            </a:extLst>
          </p:cNvPr>
          <p:cNvPicPr>
            <a:picLocks noChangeAspect="1"/>
          </p:cNvPicPr>
          <p:nvPr/>
        </p:nvPicPr>
        <p:blipFill>
          <a:blip r:embed="rId6"/>
          <a:stretch>
            <a:fillRect/>
          </a:stretch>
        </p:blipFill>
        <p:spPr>
          <a:xfrm>
            <a:off x="3445720" y="1966716"/>
            <a:ext cx="2652430" cy="3254400"/>
          </a:xfrm>
          <a:prstGeom prst="rect">
            <a:avLst/>
          </a:prstGeom>
        </p:spPr>
      </p:pic>
    </p:spTree>
    <p:custDataLst>
      <p:tags r:id="rId1"/>
    </p:custDataLst>
    <p:extLst>
      <p:ext uri="{BB962C8B-B14F-4D97-AF65-F5344CB8AC3E}">
        <p14:creationId xmlns:p14="http://schemas.microsoft.com/office/powerpoint/2010/main" val="173981296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157F1-117F-56F7-5336-32F3B920A44D}"/>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B2CF35C5-E857-C505-42B2-3D2670D0754A}"/>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41B3A743-158C-A237-DA52-60033EB7C2F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E1B8321-9CF6-04E5-4258-44BB49C38FDA}"/>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766657F-CB63-619D-F5B6-CACD09A7D048}"/>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5712A8-662E-58E0-7BDF-870A9E0D3B9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D9F83D8-17C5-7934-6B63-2A9BC861D581}"/>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A4F6CC0B-2D49-5847-ED4F-006FE9D3EEDE}"/>
              </a:ext>
            </a:extLst>
          </p:cNvPr>
          <p:cNvSpPr txBox="1"/>
          <p:nvPr/>
        </p:nvSpPr>
        <p:spPr>
          <a:xfrm>
            <a:off x="597159" y="2472276"/>
            <a:ext cx="11364859" cy="1569660"/>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然而，我们也注意到，随着类下跌活动速度的增加，这种差距变得越来越小，即，一些快速类似跌倒活动的功率谱下降模式看起来与跌倒相似。特别是，当类似坠落的活动速度增加到与跌倒相当的速度时，我们不再能够仅通过比较功率曲线下降模式来区分差异。</a:t>
            </a:r>
          </a:p>
        </p:txBody>
      </p:sp>
    </p:spTree>
    <p:custDataLst>
      <p:tags r:id="rId1"/>
    </p:custDataLst>
    <p:extLst>
      <p:ext uri="{BB962C8B-B14F-4D97-AF65-F5344CB8AC3E}">
        <p14:creationId xmlns:p14="http://schemas.microsoft.com/office/powerpoint/2010/main" val="2034079953"/>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1549-0B3E-E657-E0A5-BE83AA2CC8B0}"/>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42BE91CA-688A-8CDB-DA75-94BEDFD26B02}"/>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小结</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16307C05-28F9-DBD8-EDFD-28D164B927F5}"/>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2C1D625-0D9A-0D79-48A2-C20E3D27DF6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3D017C3-AE55-5659-2B4C-2AC7701F5F5B}"/>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AF873F-2A70-F0FB-1973-529129E34E6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DF11200-CEA4-A5CD-787A-369AE9AEC0A2}"/>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F63B941F-A443-0FF5-4ABD-C961CDED1610}"/>
              </a:ext>
            </a:extLst>
          </p:cNvPr>
          <p:cNvSpPr txBox="1"/>
          <p:nvPr/>
        </p:nvSpPr>
        <p:spPr>
          <a:xfrm>
            <a:off x="413570" y="1720428"/>
            <a:ext cx="11364859" cy="2677656"/>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在本节中，我们通过大量实验研究了不同人体活动对室内环境中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幅度与相位差的影响。</a:t>
            </a:r>
          </a:p>
          <a:p>
            <a:r>
              <a:rPr lang="zh-CN" altLang="en-US" sz="2400" dirty="0">
                <a:solidFill>
                  <a:srgbClr val="775480"/>
                </a:solidFill>
                <a:latin typeface="微软雅黑 Light" panose="020B0502040204020203" charset="-122"/>
                <a:ea typeface="微软雅黑 Light" panose="020B0502040204020203" charset="-122"/>
              </a:rPr>
              <a:t>先前的研究主要利用</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幅度信息，因此我们首先从幅度入手，发现：</a:t>
            </a:r>
            <a:br>
              <a:rPr lang="zh-CN" altLang="en-US" sz="2400" dirty="0">
                <a:solidFill>
                  <a:srgbClr val="775480"/>
                </a:solidFill>
                <a:latin typeface="微软雅黑 Light" panose="020B0502040204020203" charset="-122"/>
                <a:ea typeface="微软雅黑 Light" panose="020B0502040204020203" charset="-122"/>
              </a:rPr>
            </a:b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幅度只能区分一个人是否在进行运动活动，</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这在先前研究所作的简化假设下可用于活动分割（</a:t>
            </a:r>
            <a:r>
              <a:rPr lang="en" altLang="zh-CN" sz="2400" dirty="0">
                <a:solidFill>
                  <a:srgbClr val="775480"/>
                </a:solidFill>
                <a:latin typeface="微软雅黑 Light" panose="020B0502040204020203" charset="-122"/>
                <a:ea typeface="微软雅黑 Light" panose="020B0502040204020203" charset="-122"/>
              </a:rPr>
              <a:t>activity segmentation</a:t>
            </a:r>
            <a:r>
              <a:rPr lang="zh-CN" altLang="en" sz="2400" dirty="0">
                <a:solidFill>
                  <a:srgbClr val="775480"/>
                </a:solidFill>
                <a:latin typeface="微软雅黑 Light" panose="020B0502040204020203" charset="-122"/>
                <a:ea typeface="微软雅黑 Light" panose="020B0502040204020203" charset="-122"/>
              </a:rPr>
              <a:t>）。</a:t>
            </a:r>
            <a:br>
              <a:rPr lang="zh-CN" altLang="en"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但在实际中，当人类进行自然且连续的日常活动时，</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幅度的表现并不好。</a:t>
            </a:r>
          </a:p>
          <a:p>
            <a:r>
              <a:rPr lang="zh-CN" altLang="en-US" sz="2400" dirty="0">
                <a:solidFill>
                  <a:srgbClr val="775480"/>
                </a:solidFill>
                <a:latin typeface="微软雅黑 Light" panose="020B0502040204020203" charset="-122"/>
                <a:ea typeface="微软雅黑 Light" panose="020B0502040204020203" charset="-122"/>
              </a:rPr>
              <a:t>幅度的局限性促使我们进一步探索</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相位信息在人体活动识别中的潜力。 </a:t>
            </a:r>
            <a:endParaRPr lang="zh-CN" altLang="zh-CN"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4227974307"/>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575F1-E3EA-E10C-416F-87C4B6C2A8E7}"/>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9B072E0-11C8-7231-51FE-291BEEBC410E}"/>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小结</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E826516A-D4D6-DBAE-C70E-43F60672297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25822E5-BA44-E024-6663-74CB9C1F3DE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604F9CA-0AAB-288A-ABE7-38625B63178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5F464A3-6782-417C-B921-EAC740A3D82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56C730A-45CF-0386-68F7-2D15F85AFA9F}"/>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764C2F71-6F68-522C-B13D-A1F3C5562CFF}"/>
              </a:ext>
            </a:extLst>
          </p:cNvPr>
          <p:cNvSpPr txBox="1"/>
          <p:nvPr/>
        </p:nvSpPr>
        <p:spPr>
          <a:xfrm>
            <a:off x="413570" y="1720428"/>
            <a:ext cx="11364859" cy="2677656"/>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然而，我们观察到商用 </a:t>
            </a:r>
            <a:r>
              <a:rPr lang="en" altLang="zh-CN" sz="2400" dirty="0" err="1">
                <a:solidFill>
                  <a:srgbClr val="775480"/>
                </a:solidFill>
                <a:latin typeface="微软雅黑 Light" panose="020B0502040204020203" charset="-122"/>
                <a:ea typeface="微软雅黑 Light" panose="020B0502040204020203" charset="-122"/>
              </a:rPr>
              <a:t>WiFi</a:t>
            </a:r>
            <a:r>
              <a:rPr lang="en" altLang="zh-CN" sz="2400" dirty="0">
                <a:solidFill>
                  <a:srgbClr val="775480"/>
                </a:solidFill>
                <a:latin typeface="微软雅黑 Light" panose="020B0502040204020203" charset="-122"/>
                <a:ea typeface="微软雅黑 Light" panose="020B0502040204020203" charset="-122"/>
              </a:rPr>
              <a:t> </a:t>
            </a:r>
            <a:r>
              <a:rPr lang="zh-CN" altLang="en-US" sz="2400" dirty="0">
                <a:solidFill>
                  <a:srgbClr val="775480"/>
                </a:solidFill>
                <a:latin typeface="微软雅黑 Light" panose="020B0502040204020203" charset="-122"/>
                <a:ea typeface="微软雅黑 Light" panose="020B0502040204020203" charset="-122"/>
              </a:rPr>
              <a:t>设备提供的原始相位数据随机分布，无法直接使用。</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在分析原因后，我们采用两根接收天线间的相位差进行相位校准。</a:t>
            </a:r>
            <a:endParaRPr lang="zh-CN" altLang="e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有趣的是，我们发现：</a:t>
            </a:r>
          </a:p>
          <a:p>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相位差比幅度对环境变化更敏感；</a:t>
            </a:r>
          </a:p>
          <a:p>
            <a:r>
              <a:rPr lang="zh-CN" altLang="en-US" sz="2400" dirty="0">
                <a:solidFill>
                  <a:srgbClr val="775480"/>
                </a:solidFill>
                <a:latin typeface="微软雅黑 Light" panose="020B0502040204020203" charset="-122"/>
                <a:ea typeface="微软雅黑 Light" panose="020B0502040204020203" charset="-122"/>
              </a:rPr>
              <a:t>它能够区分站立姿势与其他静止活动（如坐着、躺着）。</a:t>
            </a:r>
          </a:p>
          <a:p>
            <a:r>
              <a:rPr lang="zh-CN" altLang="en-US" sz="2400" dirty="0">
                <a:solidFill>
                  <a:srgbClr val="775480"/>
                </a:solidFill>
                <a:latin typeface="微软雅黑 Light" panose="020B0502040204020203" charset="-122"/>
                <a:ea typeface="微软雅黑 Light" panose="020B0502040204020203" charset="-122"/>
              </a:rPr>
              <a:t>基于这一发现，我们在之前的工作中提出了一种基于状态转变的简单分割方法，</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试图在连续的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数据流中，仅分离出跌倒（</a:t>
            </a:r>
            <a:r>
              <a:rPr lang="en" altLang="zh-CN" sz="2400" dirty="0">
                <a:solidFill>
                  <a:srgbClr val="775480"/>
                </a:solidFill>
                <a:latin typeface="微软雅黑 Light" panose="020B0502040204020203" charset="-122"/>
                <a:ea typeface="微软雅黑 Light" panose="020B0502040204020203" charset="-122"/>
              </a:rPr>
              <a:t>fall</a:t>
            </a:r>
            <a:r>
              <a:rPr lang="zh-CN" altLang="en" sz="2400" dirty="0">
                <a:solidFill>
                  <a:srgbClr val="775480"/>
                </a:solidFill>
                <a:latin typeface="微软雅黑 Light" panose="020B0502040204020203" charset="-122"/>
                <a:ea typeface="微软雅黑 Light" panose="020B0502040204020203" charset="-122"/>
              </a:rPr>
              <a:t>）</a:t>
            </a:r>
            <a:r>
              <a:rPr lang="zh-CN" altLang="en-US" sz="2400" dirty="0">
                <a:solidFill>
                  <a:srgbClr val="775480"/>
                </a:solidFill>
                <a:latin typeface="微软雅黑 Light" panose="020B0502040204020203" charset="-122"/>
                <a:ea typeface="微软雅黑 Light" panose="020B0502040204020203" charset="-122"/>
              </a:rPr>
              <a:t>及跌倒类活动（如坐下、躺下）。</a:t>
            </a:r>
          </a:p>
        </p:txBody>
      </p:sp>
    </p:spTree>
    <p:custDataLst>
      <p:tags r:id="rId1"/>
    </p:custDataLst>
    <p:extLst>
      <p:ext uri="{BB962C8B-B14F-4D97-AF65-F5344CB8AC3E}">
        <p14:creationId xmlns:p14="http://schemas.microsoft.com/office/powerpoint/2010/main" val="365303041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F758-F7EF-1C4A-837F-038C8441698E}"/>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C6825576-ACA6-D476-9EBC-BF31E53F022F}"/>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小结</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D9EDF4AA-0E4F-EC83-98E4-56118FDF8A2A}"/>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58A7582-CB2C-C590-726B-77F3C6E9512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4F78C00-0C33-E57B-9AF5-8D09F5FD1956}"/>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30FAE9A-5559-094F-FAD4-8280653B09B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0A4B5E1B-1EF8-F3FE-7FDB-CF22D0C41701}"/>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A6F4FF3C-8262-80AE-CB9B-37DB4C1D6F47}"/>
              </a:ext>
            </a:extLst>
          </p:cNvPr>
          <p:cNvSpPr txBox="1"/>
          <p:nvPr/>
        </p:nvSpPr>
        <p:spPr>
          <a:xfrm>
            <a:off x="413570" y="1720428"/>
            <a:ext cx="11364859" cy="3785652"/>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但我们发现，一些“原地”活动也可能被误分为跌倒类活动，</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从而导致跌倒检测准确性下降。</a:t>
            </a:r>
          </a:p>
          <a:p>
            <a:r>
              <a:rPr lang="zh-CN" altLang="en-US" sz="2400" dirty="0">
                <a:solidFill>
                  <a:srgbClr val="775480"/>
                </a:solidFill>
                <a:latin typeface="微软雅黑 Light" panose="020B0502040204020203" charset="-122"/>
                <a:ea typeface="微软雅黑 Light" panose="020B0502040204020203" charset="-122"/>
              </a:rPr>
              <a:t>幸运的是，我们进一步发现：</a:t>
            </a:r>
          </a:p>
          <a:p>
            <a:r>
              <a:rPr lang="zh-CN" altLang="en-US" sz="2400" dirty="0">
                <a:solidFill>
                  <a:srgbClr val="775480"/>
                </a:solidFill>
                <a:latin typeface="微软雅黑 Light" panose="020B0502040204020203" charset="-122"/>
                <a:ea typeface="微软雅黑 Light" panose="020B0502040204020203" charset="-122"/>
              </a:rPr>
              <a:t>跌倒及跌倒类活动的功率谱特征会出现明显的高频→低频急剧衰减模式；</a:t>
            </a:r>
          </a:p>
          <a:p>
            <a:r>
              <a:rPr lang="zh-CN" altLang="en-US" sz="2400" dirty="0">
                <a:solidFill>
                  <a:srgbClr val="775480"/>
                </a:solidFill>
                <a:latin typeface="微软雅黑 Light" panose="020B0502040204020203" charset="-122"/>
                <a:ea typeface="微软雅黑 Light" panose="020B0502040204020203" charset="-122"/>
              </a:rPr>
              <a:t>而“原地”活动不会出现这种特征。</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此外，跌倒与跌倒类活动之间的功率谱下降模式也存在明显差异。</a:t>
            </a:r>
          </a:p>
          <a:p>
            <a:r>
              <a:rPr lang="zh-CN" altLang="en-US" sz="2400" dirty="0">
                <a:solidFill>
                  <a:srgbClr val="775480"/>
                </a:solidFill>
                <a:latin typeface="微软雅黑 Light" panose="020B0502040204020203" charset="-122"/>
                <a:ea typeface="微软雅黑 Light" panose="020B0502040204020203" charset="-122"/>
              </a:rPr>
              <a:t>因此，通过结合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相位差方差的状态转变与功率谱急剧衰减模式，</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我们不仅解决了“原地”活动带来的分割误判问题，</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还为更精确的跌倒检测提供了新的判别依据。</a:t>
            </a:r>
          </a:p>
          <a:p>
            <a:endParaRPr lang="zh-CN" altLang="en-US"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161110587"/>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080064" y="2882130"/>
            <a:ext cx="4031873"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框架与方法</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05</a:t>
              </a:r>
            </a:p>
          </p:txBody>
        </p:sp>
      </p:grpSp>
      <p:sp>
        <p:nvSpPr>
          <p:cNvPr id="13" name="文本框 12"/>
          <p:cNvSpPr txBox="1"/>
          <p:nvPr/>
        </p:nvSpPr>
        <p:spPr>
          <a:xfrm>
            <a:off x="4067810" y="4227695"/>
            <a:ext cx="4054475" cy="460375"/>
          </a:xfrm>
          <a:prstGeom prst="rect">
            <a:avLst/>
          </a:prstGeom>
          <a:noFill/>
        </p:spPr>
        <p:txBody>
          <a:bodyPr wrap="square" rtlCol="0">
            <a:spAutoFit/>
          </a:bodyPr>
          <a:lstStyle/>
          <a:p>
            <a:pPr algn="ctr"/>
            <a:r>
              <a:rPr lang="zh-CN" altLang="en-US" sz="2400" dirty="0">
                <a:solidFill>
                  <a:srgbClr val="694B71">
                    <a:alpha val="90000"/>
                  </a:srgbClr>
                </a:solidFill>
                <a:latin typeface="微软雅黑 Light" panose="020B0502040204020203" charset="-122"/>
                <a:ea typeface="微软雅黑 Light" panose="020B0502040204020203" charset="-122"/>
              </a:rPr>
              <a:t>请替换文字内容</a:t>
            </a:r>
          </a:p>
        </p:txBody>
      </p:sp>
    </p:spTree>
    <p:custDataLst>
      <p:tags r:id="rId1"/>
    </p:custDataLst>
    <p:extLst>
      <p:ext uri="{BB962C8B-B14F-4D97-AF65-F5344CB8AC3E}">
        <p14:creationId xmlns:p14="http://schemas.microsoft.com/office/powerpoint/2010/main" val="1323802892"/>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9" name="文本框 8">
            <a:extLst>
              <a:ext uri="{FF2B5EF4-FFF2-40B4-BE49-F238E27FC236}">
                <a16:creationId xmlns:a16="http://schemas.microsoft.com/office/drawing/2014/main" id="{E656B8A2-B379-4540-B414-3D9BC66D29E8}"/>
              </a:ext>
            </a:extLst>
          </p:cNvPr>
          <p:cNvSpPr txBox="1"/>
          <p:nvPr/>
        </p:nvSpPr>
        <p:spPr>
          <a:xfrm>
            <a:off x="285588" y="1222932"/>
            <a:ext cx="6096000" cy="461665"/>
          </a:xfrm>
          <a:prstGeom prst="rect">
            <a:avLst/>
          </a:prstGeom>
          <a:noFill/>
        </p:spPr>
        <p:txBody>
          <a:bodyPr wrap="square">
            <a:spAutoFit/>
          </a:bodyPr>
          <a:lstStyle/>
          <a:p>
            <a:pPr algn="l"/>
            <a:r>
              <a:rPr lang="en-US" altLang="zh-CN" sz="2400" b="1" i="0" dirty="0">
                <a:solidFill>
                  <a:srgbClr val="000000"/>
                </a:solidFill>
                <a:effectLst/>
                <a:latin typeface="Helvetica Neue"/>
              </a:rPr>
              <a:t>RT-Fall</a:t>
            </a:r>
            <a:r>
              <a:rPr lang="zh-CN" altLang="en-US" sz="2400" b="1" i="0" dirty="0">
                <a:solidFill>
                  <a:srgbClr val="000000"/>
                </a:solidFill>
                <a:effectLst/>
                <a:latin typeface="Helvetica Neue"/>
              </a:rPr>
              <a:t>系统概述</a:t>
            </a:r>
          </a:p>
        </p:txBody>
      </p:sp>
      <p:sp>
        <p:nvSpPr>
          <p:cNvPr id="10" name="文本框 9">
            <a:extLst>
              <a:ext uri="{FF2B5EF4-FFF2-40B4-BE49-F238E27FC236}">
                <a16:creationId xmlns:a16="http://schemas.microsoft.com/office/drawing/2014/main" id="{93EFC558-8A6C-4C0C-B420-9C6DE103E03B}"/>
              </a:ext>
            </a:extLst>
          </p:cNvPr>
          <p:cNvSpPr txBox="1"/>
          <p:nvPr/>
        </p:nvSpPr>
        <p:spPr>
          <a:xfrm>
            <a:off x="7508756" y="1706726"/>
            <a:ext cx="4204175" cy="3970318"/>
          </a:xfrm>
          <a:prstGeom prst="rect">
            <a:avLst/>
          </a:prstGeom>
          <a:noFill/>
          <a:ln w="28575">
            <a:solidFill>
              <a:srgbClr val="00B050"/>
            </a:solidFill>
            <a:prstDash val="dash"/>
          </a:ln>
        </p:spPr>
        <p:txBody>
          <a:bodyPr wrap="square">
            <a:spAutoFit/>
          </a:bodyPr>
          <a:lstStyle/>
          <a:p>
            <a:r>
              <a:rPr lang="zh-CN" altLang="en-US" b="0" i="0" dirty="0">
                <a:solidFill>
                  <a:srgbClr val="333333"/>
                </a:solidFill>
                <a:effectLst/>
                <a:latin typeface="Helvetica Neue"/>
              </a:rPr>
              <a:t>系统以</a:t>
            </a:r>
            <a:r>
              <a:rPr lang="en-US" altLang="zh-CN" b="0" i="0" dirty="0">
                <a:solidFill>
                  <a:srgbClr val="FF0000"/>
                </a:solidFill>
                <a:effectLst/>
                <a:latin typeface="Helvetica Neue"/>
              </a:rPr>
              <a:t>CSI</a:t>
            </a:r>
            <a:r>
              <a:rPr lang="zh-CN" altLang="en-US" b="0" i="0" dirty="0">
                <a:solidFill>
                  <a:srgbClr val="FF0000"/>
                </a:solidFill>
                <a:effectLst/>
                <a:latin typeface="Helvetica Neue"/>
              </a:rPr>
              <a:t>信号流作为输入</a:t>
            </a:r>
            <a:r>
              <a:rPr lang="zh-CN" altLang="en-US" b="0" i="0" dirty="0">
                <a:solidFill>
                  <a:srgbClr val="333333"/>
                </a:solidFill>
                <a:effectLst/>
                <a:latin typeface="Helvetica Neue"/>
              </a:rPr>
              <a:t>，这些信号流由商用</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设备（如</a:t>
            </a:r>
            <a:r>
              <a:rPr lang="en-US" altLang="zh-CN" b="0" i="0" dirty="0">
                <a:solidFill>
                  <a:srgbClr val="333333"/>
                </a:solidFill>
                <a:effectLst/>
                <a:latin typeface="Helvetica Neue"/>
              </a:rPr>
              <a:t>Intel 5300</a:t>
            </a:r>
            <a:r>
              <a:rPr lang="zh-CN" altLang="en-US" b="0" i="0" dirty="0">
                <a:solidFill>
                  <a:srgbClr val="333333"/>
                </a:solidFill>
                <a:effectLst/>
                <a:latin typeface="Helvetica Neue"/>
              </a:rPr>
              <a:t>网卡）的两根接收天线采集。</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每个</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信号流包含一个无线流中</a:t>
            </a:r>
            <a:r>
              <a:rPr lang="en-US" altLang="zh-CN" b="0" i="0" dirty="0">
                <a:solidFill>
                  <a:srgbClr val="333333"/>
                </a:solidFill>
                <a:effectLst/>
                <a:latin typeface="Helvetica Neue"/>
              </a:rPr>
              <a:t>30</a:t>
            </a:r>
            <a:r>
              <a:rPr lang="zh-CN" altLang="en-US" b="0" i="0" dirty="0">
                <a:solidFill>
                  <a:srgbClr val="333333"/>
                </a:solidFill>
                <a:effectLst/>
                <a:latin typeface="Helvetica Neue"/>
              </a:rPr>
              <a:t>个子载波的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在实验中，</a:t>
            </a:r>
            <a:r>
              <a:rPr lang="zh-CN" altLang="en-US" b="0" i="0" dirty="0">
                <a:solidFill>
                  <a:srgbClr val="FF0000"/>
                </a:solidFill>
                <a:effectLst/>
                <a:latin typeface="Helvetica Neue"/>
              </a:rPr>
              <a:t>发射端使用</a:t>
            </a:r>
            <a:r>
              <a:rPr lang="en-US" altLang="zh-CN" b="0" i="0" dirty="0">
                <a:solidFill>
                  <a:srgbClr val="FF0000"/>
                </a:solidFill>
                <a:effectLst/>
                <a:latin typeface="Helvetica Neue"/>
              </a:rPr>
              <a:t>1</a:t>
            </a:r>
            <a:r>
              <a:rPr lang="zh-CN" altLang="en-US" b="0" i="0" dirty="0">
                <a:solidFill>
                  <a:srgbClr val="FF0000"/>
                </a:solidFill>
                <a:effectLst/>
                <a:latin typeface="Helvetica Neue"/>
              </a:rPr>
              <a:t>根天线、接收端使用</a:t>
            </a:r>
            <a:r>
              <a:rPr lang="en-US" altLang="zh-CN" b="0" i="0" dirty="0">
                <a:solidFill>
                  <a:srgbClr val="FF0000"/>
                </a:solidFill>
                <a:effectLst/>
                <a:latin typeface="Helvetica Neue"/>
              </a:rPr>
              <a:t>2</a:t>
            </a:r>
            <a:r>
              <a:rPr lang="zh-CN" altLang="en-US" b="0" i="0" dirty="0">
                <a:solidFill>
                  <a:srgbClr val="FF0000"/>
                </a:solidFill>
                <a:effectLst/>
                <a:latin typeface="Helvetica Neue"/>
              </a:rPr>
              <a:t>根天线</a:t>
            </a:r>
            <a:r>
              <a:rPr lang="zh-CN" altLang="en-US" b="0" i="0" dirty="0">
                <a:solidFill>
                  <a:srgbClr val="333333"/>
                </a:solidFill>
                <a:effectLst/>
                <a:latin typeface="Helvetica Neue"/>
              </a:rPr>
              <a:t>，因此共采集两个</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a:t>
            </a:r>
            <a:r>
              <a:rPr lang="zh-CN" altLang="en-US" dirty="0">
                <a:solidFill>
                  <a:srgbClr val="333333"/>
                </a:solidFill>
                <a:latin typeface="Helvetica Neue"/>
              </a:rPr>
              <a:t>（</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的采样率设置为</a:t>
            </a:r>
            <a:r>
              <a:rPr lang="en-US" altLang="zh-CN" b="0" i="0" dirty="0">
                <a:solidFill>
                  <a:srgbClr val="333333"/>
                </a:solidFill>
                <a:effectLst/>
                <a:latin typeface="Helvetica Neue"/>
              </a:rPr>
              <a:t>100</a:t>
            </a:r>
            <a:r>
              <a:rPr lang="zh-CN" altLang="en-US" b="0" i="0" dirty="0">
                <a:solidFill>
                  <a:srgbClr val="333333"/>
                </a:solidFill>
                <a:effectLst/>
                <a:latin typeface="Helvetica Neue"/>
              </a:rPr>
              <a:t>包</a:t>
            </a:r>
            <a:r>
              <a:rPr lang="en-US" altLang="zh-CN" b="0" i="0" dirty="0">
                <a:solidFill>
                  <a:srgbClr val="333333"/>
                </a:solidFill>
                <a:effectLst/>
                <a:latin typeface="Helvetica Neue"/>
              </a:rPr>
              <a:t>/</a:t>
            </a:r>
            <a:r>
              <a:rPr lang="zh-CN" altLang="en-US" b="0" i="0" dirty="0">
                <a:solidFill>
                  <a:srgbClr val="333333"/>
                </a:solidFill>
                <a:effectLst/>
                <a:latin typeface="Helvetica Neue"/>
              </a:rPr>
              <a:t>秒）</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系统可利用这些链路中现有通信流量的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测量值；如果网络流量不足，系统也可生成周期性流量用于测量。</a:t>
            </a:r>
            <a:endParaRPr lang="zh-CN" altLang="en-US" dirty="0"/>
          </a:p>
        </p:txBody>
      </p:sp>
      <p:pic>
        <p:nvPicPr>
          <p:cNvPr id="11" name="图片 10">
            <a:extLst>
              <a:ext uri="{FF2B5EF4-FFF2-40B4-BE49-F238E27FC236}">
                <a16:creationId xmlns:a16="http://schemas.microsoft.com/office/drawing/2014/main" id="{FDE215AE-F35A-4B8A-B1B4-DCD0AA3DF222}"/>
              </a:ext>
            </a:extLst>
          </p:cNvPr>
          <p:cNvPicPr>
            <a:picLocks noChangeAspect="1"/>
          </p:cNvPicPr>
          <p:nvPr/>
        </p:nvPicPr>
        <p:blipFill>
          <a:blip r:embed="rId6"/>
          <a:stretch>
            <a:fillRect/>
          </a:stretch>
        </p:blipFill>
        <p:spPr>
          <a:xfrm>
            <a:off x="810520" y="1992495"/>
            <a:ext cx="6337626" cy="2063856"/>
          </a:xfrm>
          <a:prstGeom prst="rect">
            <a:avLst/>
          </a:prstGeom>
        </p:spPr>
      </p:pic>
      <p:sp>
        <p:nvSpPr>
          <p:cNvPr id="13" name="文本框 12">
            <a:extLst>
              <a:ext uri="{FF2B5EF4-FFF2-40B4-BE49-F238E27FC236}">
                <a16:creationId xmlns:a16="http://schemas.microsoft.com/office/drawing/2014/main" id="{52545F33-C89B-4D98-A20B-C961E7F38F73}"/>
              </a:ext>
            </a:extLst>
          </p:cNvPr>
          <p:cNvSpPr txBox="1"/>
          <p:nvPr/>
        </p:nvSpPr>
        <p:spPr>
          <a:xfrm>
            <a:off x="736015" y="4364249"/>
            <a:ext cx="1928284" cy="1754326"/>
          </a:xfrm>
          <a:prstGeom prst="rect">
            <a:avLst/>
          </a:prstGeom>
          <a:noFill/>
        </p:spPr>
        <p:txBody>
          <a:bodyPr wrap="square">
            <a:spAutoFit/>
          </a:bodyPr>
          <a:lstStyle/>
          <a:p>
            <a:r>
              <a:rPr lang="zh-CN" altLang="en-US" b="0" i="0" dirty="0">
                <a:solidFill>
                  <a:srgbClr val="333333"/>
                </a:solidFill>
                <a:effectLst/>
                <a:latin typeface="Helvetica Neue"/>
              </a:rPr>
              <a:t>处理</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突发传输导致的</a:t>
            </a:r>
            <a:r>
              <a:rPr lang="zh-CN" altLang="en-US" b="1" i="0" dirty="0">
                <a:solidFill>
                  <a:srgbClr val="FF0000"/>
                </a:solidFill>
                <a:effectLst/>
                <a:latin typeface="Helvetica Neue"/>
              </a:rPr>
              <a:t>数据包到达不均匀</a:t>
            </a:r>
            <a:r>
              <a:rPr lang="zh-CN" altLang="en-US" b="0" i="0" dirty="0">
                <a:solidFill>
                  <a:srgbClr val="333333"/>
                </a:solidFill>
                <a:effectLst/>
                <a:latin typeface="Helvetica Neue"/>
              </a:rPr>
              <a:t>问题，</a:t>
            </a:r>
            <a:r>
              <a:rPr lang="zh-CN" altLang="en-US" b="1" i="0" dirty="0">
                <a:solidFill>
                  <a:srgbClr val="FF0000"/>
                </a:solidFill>
                <a:effectLst/>
                <a:latin typeface="Helvetica Neue"/>
              </a:rPr>
              <a:t>过滤</a:t>
            </a:r>
            <a:r>
              <a:rPr lang="zh-CN" altLang="en-US" b="0" i="0" dirty="0">
                <a:solidFill>
                  <a:srgbClr val="333333"/>
                </a:solidFill>
                <a:effectLst/>
                <a:latin typeface="Helvetica Neue"/>
              </a:rPr>
              <a:t>对跌倒分割和检测无帮助的</a:t>
            </a:r>
            <a:r>
              <a:rPr lang="zh-CN" altLang="en-US" b="1" i="0" dirty="0">
                <a:solidFill>
                  <a:srgbClr val="FF0000"/>
                </a:solidFill>
                <a:effectLst/>
                <a:latin typeface="Helvetica Neue"/>
              </a:rPr>
              <a:t>信号噪声</a:t>
            </a:r>
            <a:r>
              <a:rPr lang="zh-CN" altLang="en-US" b="0" i="0" dirty="0">
                <a:solidFill>
                  <a:srgbClr val="333333"/>
                </a:solidFill>
                <a:effectLst/>
                <a:latin typeface="Helvetica Neue"/>
              </a:rPr>
              <a:t>。</a:t>
            </a:r>
            <a:endParaRPr lang="zh-CN" altLang="en-US" dirty="0"/>
          </a:p>
        </p:txBody>
      </p:sp>
      <p:sp>
        <p:nvSpPr>
          <p:cNvPr id="15" name="文本框 14">
            <a:extLst>
              <a:ext uri="{FF2B5EF4-FFF2-40B4-BE49-F238E27FC236}">
                <a16:creationId xmlns:a16="http://schemas.microsoft.com/office/drawing/2014/main" id="{A675523B-3AF1-45A1-83C3-78E6D16435A5}"/>
              </a:ext>
            </a:extLst>
          </p:cNvPr>
          <p:cNvSpPr txBox="1"/>
          <p:nvPr/>
        </p:nvSpPr>
        <p:spPr>
          <a:xfrm>
            <a:off x="3024909" y="4476715"/>
            <a:ext cx="1753161" cy="1200329"/>
          </a:xfrm>
          <a:prstGeom prst="rect">
            <a:avLst/>
          </a:prstGeom>
          <a:noFill/>
        </p:spPr>
        <p:txBody>
          <a:bodyPr wrap="square">
            <a:spAutoFit/>
          </a:bodyPr>
          <a:lstStyle/>
          <a:p>
            <a:r>
              <a:rPr lang="zh-CN" altLang="en-US" b="0" i="0" dirty="0">
                <a:solidFill>
                  <a:srgbClr val="333333"/>
                </a:solidFill>
                <a:effectLst/>
                <a:latin typeface="Helvetica Neue"/>
              </a:rPr>
              <a:t>从连续接收的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流中</a:t>
            </a:r>
            <a:r>
              <a:rPr lang="zh-CN" altLang="en-US" b="1" i="0" dirty="0">
                <a:solidFill>
                  <a:srgbClr val="FF0000"/>
                </a:solidFill>
                <a:effectLst/>
                <a:latin typeface="Helvetica Neue"/>
              </a:rPr>
              <a:t>分割出跌倒和类跌倒活动</a:t>
            </a:r>
            <a:endParaRPr lang="zh-CN" altLang="en-US" b="1" dirty="0">
              <a:solidFill>
                <a:srgbClr val="FF0000"/>
              </a:solidFill>
            </a:endParaRPr>
          </a:p>
        </p:txBody>
      </p:sp>
      <p:sp>
        <p:nvSpPr>
          <p:cNvPr id="17" name="文本框 16">
            <a:extLst>
              <a:ext uri="{FF2B5EF4-FFF2-40B4-BE49-F238E27FC236}">
                <a16:creationId xmlns:a16="http://schemas.microsoft.com/office/drawing/2014/main" id="{D4B4CD04-C47D-4D2D-825B-A8489A3537AC}"/>
              </a:ext>
            </a:extLst>
          </p:cNvPr>
          <p:cNvSpPr txBox="1"/>
          <p:nvPr/>
        </p:nvSpPr>
        <p:spPr>
          <a:xfrm>
            <a:off x="5449265" y="4657561"/>
            <a:ext cx="1598695" cy="646331"/>
          </a:xfrm>
          <a:prstGeom prst="rect">
            <a:avLst/>
          </a:prstGeom>
          <a:noFill/>
        </p:spPr>
        <p:txBody>
          <a:bodyPr wrap="square">
            <a:spAutoFit/>
          </a:bodyPr>
          <a:lstStyle/>
          <a:p>
            <a:r>
              <a:rPr lang="zh-CN" altLang="en-US" b="1" i="0" dirty="0">
                <a:solidFill>
                  <a:srgbClr val="FF0000"/>
                </a:solidFill>
                <a:effectLst/>
                <a:latin typeface="Helvetica Neue"/>
              </a:rPr>
              <a:t>将跌倒与类跌倒活动区分开。</a:t>
            </a:r>
            <a:endParaRPr lang="zh-CN" altLang="en-US" b="1" dirty="0">
              <a:solidFill>
                <a:srgbClr val="FF0000"/>
              </a:solidFill>
            </a:endParaRPr>
          </a:p>
        </p:txBody>
      </p:sp>
      <p:cxnSp>
        <p:nvCxnSpPr>
          <p:cNvPr id="12" name="直接箭头连接符 11">
            <a:extLst>
              <a:ext uri="{FF2B5EF4-FFF2-40B4-BE49-F238E27FC236}">
                <a16:creationId xmlns:a16="http://schemas.microsoft.com/office/drawing/2014/main" id="{DEE50EE7-5DCB-4A2E-B5D4-6A8A2E95F2E6}"/>
              </a:ext>
            </a:extLst>
          </p:cNvPr>
          <p:cNvCxnSpPr>
            <a:cxnSpLocks/>
            <a:endCxn id="13" idx="0"/>
          </p:cNvCxnSpPr>
          <p:nvPr/>
        </p:nvCxnSpPr>
        <p:spPr>
          <a:xfrm flipH="1">
            <a:off x="1700157" y="3581400"/>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92B914BF-03FE-4D5A-B55B-A0A0D3A93DAB}"/>
              </a:ext>
            </a:extLst>
          </p:cNvPr>
          <p:cNvCxnSpPr>
            <a:cxnSpLocks/>
          </p:cNvCxnSpPr>
          <p:nvPr/>
        </p:nvCxnSpPr>
        <p:spPr>
          <a:xfrm flipH="1">
            <a:off x="3901490" y="3581400"/>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9E3BB81A-513F-477D-BB13-7CFF72122D19}"/>
              </a:ext>
            </a:extLst>
          </p:cNvPr>
          <p:cNvCxnSpPr>
            <a:cxnSpLocks/>
          </p:cNvCxnSpPr>
          <p:nvPr/>
        </p:nvCxnSpPr>
        <p:spPr>
          <a:xfrm flipH="1">
            <a:off x="6102823" y="3581399"/>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94308701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8" name="文本框 7">
            <a:extLst>
              <a:ext uri="{FF2B5EF4-FFF2-40B4-BE49-F238E27FC236}">
                <a16:creationId xmlns:a16="http://schemas.microsoft.com/office/drawing/2014/main" id="{B00D64FB-7593-45ED-93E1-574FDB9AD995}"/>
              </a:ext>
            </a:extLst>
          </p:cNvPr>
          <p:cNvSpPr txBox="1"/>
          <p:nvPr/>
        </p:nvSpPr>
        <p:spPr>
          <a:xfrm>
            <a:off x="233632" y="1181216"/>
            <a:ext cx="2890568" cy="478251"/>
          </a:xfrm>
          <a:prstGeom prst="rect">
            <a:avLst/>
          </a:prstGeom>
          <a:noFill/>
        </p:spPr>
        <p:txBody>
          <a:bodyPr wrap="square">
            <a:spAutoFit/>
          </a:bodyPr>
          <a:lstStyle/>
          <a:p>
            <a:pPr algn="l"/>
            <a:r>
              <a:rPr lang="zh-CN" altLang="en-US" sz="2400" b="1" i="0" dirty="0">
                <a:solidFill>
                  <a:srgbClr val="000000"/>
                </a:solidFill>
                <a:effectLst/>
                <a:latin typeface="Helvetica Neue"/>
              </a:rPr>
              <a:t>信号预处理</a:t>
            </a:r>
          </a:p>
        </p:txBody>
      </p:sp>
      <p:sp>
        <p:nvSpPr>
          <p:cNvPr id="10" name="文本框 9">
            <a:extLst>
              <a:ext uri="{FF2B5EF4-FFF2-40B4-BE49-F238E27FC236}">
                <a16:creationId xmlns:a16="http://schemas.microsoft.com/office/drawing/2014/main" id="{FAB4C619-7C8A-4B36-ABE9-996FB3248C52}"/>
              </a:ext>
            </a:extLst>
          </p:cNvPr>
          <p:cNvSpPr txBox="1"/>
          <p:nvPr/>
        </p:nvSpPr>
        <p:spPr>
          <a:xfrm>
            <a:off x="2730557" y="5057638"/>
            <a:ext cx="3201881" cy="1200329"/>
          </a:xfrm>
          <a:prstGeom prst="rect">
            <a:avLst/>
          </a:prstGeom>
          <a:noFill/>
        </p:spPr>
        <p:txBody>
          <a:bodyPr wrap="square">
            <a:spAutoFit/>
          </a:bodyPr>
          <a:lstStyle/>
          <a:p>
            <a:pPr algn="l"/>
            <a:r>
              <a:rPr lang="zh-CN" altLang="en-US" b="0" i="0" dirty="0">
                <a:solidFill>
                  <a:srgbClr val="333333"/>
                </a:solidFill>
                <a:effectLst/>
                <a:latin typeface="Helvetica Neue"/>
              </a:rPr>
              <a:t>采用</a:t>
            </a:r>
            <a:r>
              <a:rPr lang="zh-CN" altLang="en-US" b="1" i="0" dirty="0">
                <a:solidFill>
                  <a:srgbClr val="FF0000"/>
                </a:solidFill>
                <a:effectLst/>
                <a:latin typeface="Helvetica Neue"/>
              </a:rPr>
              <a:t>一维线性插值（两点确定一条直线）</a:t>
            </a:r>
            <a:r>
              <a:rPr lang="zh-CN" altLang="en-US" b="0" i="0" dirty="0">
                <a:solidFill>
                  <a:srgbClr val="333333"/>
                </a:solidFill>
                <a:effectLst/>
                <a:latin typeface="Helvetica Neue"/>
              </a:rPr>
              <a:t>算法，对原始</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读数进行处理，获得</a:t>
            </a:r>
            <a:r>
              <a:rPr lang="zh-CN" altLang="en-US" b="1" i="0" dirty="0">
                <a:solidFill>
                  <a:srgbClr val="FF0000"/>
                </a:solidFill>
                <a:effectLst/>
                <a:latin typeface="Helvetica Neue"/>
              </a:rPr>
              <a:t>均匀分布的样本。</a:t>
            </a:r>
          </a:p>
        </p:txBody>
      </p:sp>
      <p:sp>
        <p:nvSpPr>
          <p:cNvPr id="12" name="文本框 11">
            <a:extLst>
              <a:ext uri="{FF2B5EF4-FFF2-40B4-BE49-F238E27FC236}">
                <a16:creationId xmlns:a16="http://schemas.microsoft.com/office/drawing/2014/main" id="{86FF6D59-726D-4B84-99AA-CAA3C216AD6F}"/>
              </a:ext>
            </a:extLst>
          </p:cNvPr>
          <p:cNvSpPr txBox="1"/>
          <p:nvPr/>
        </p:nvSpPr>
        <p:spPr>
          <a:xfrm>
            <a:off x="233632" y="1654470"/>
            <a:ext cx="5698806" cy="369332"/>
          </a:xfrm>
          <a:prstGeom prst="rect">
            <a:avLst/>
          </a:prstGeom>
          <a:noFill/>
        </p:spPr>
        <p:txBody>
          <a:bodyPr wrap="square">
            <a:spAutoFit/>
          </a:bodyPr>
          <a:lstStyle/>
          <a:p>
            <a:pPr algn="l"/>
            <a:r>
              <a:rPr lang="zh-CN" altLang="en-US" b="1" i="0" dirty="0">
                <a:solidFill>
                  <a:srgbClr val="000000"/>
                </a:solidFill>
                <a:effectLst/>
                <a:latin typeface="Helvetica Neue"/>
              </a:rPr>
              <a:t>插值</a:t>
            </a:r>
          </a:p>
        </p:txBody>
      </p:sp>
      <p:sp>
        <p:nvSpPr>
          <p:cNvPr id="14" name="文本框 13">
            <a:extLst>
              <a:ext uri="{FF2B5EF4-FFF2-40B4-BE49-F238E27FC236}">
                <a16:creationId xmlns:a16="http://schemas.microsoft.com/office/drawing/2014/main" id="{358DB830-A85B-49DC-BCF0-16FB4B8BABDD}"/>
              </a:ext>
            </a:extLst>
          </p:cNvPr>
          <p:cNvSpPr txBox="1"/>
          <p:nvPr/>
        </p:nvSpPr>
        <p:spPr>
          <a:xfrm>
            <a:off x="221355" y="2226173"/>
            <a:ext cx="6281045" cy="923330"/>
          </a:xfrm>
          <a:prstGeom prst="rect">
            <a:avLst/>
          </a:prstGeom>
          <a:noFill/>
        </p:spPr>
        <p:txBody>
          <a:bodyPr wrap="square">
            <a:spAutoFit/>
          </a:bodyPr>
          <a:lstStyle/>
          <a:p>
            <a:r>
              <a:rPr lang="en-US" altLang="zh-CN" dirty="0" err="1">
                <a:solidFill>
                  <a:srgbClr val="333333"/>
                </a:solidFill>
                <a:latin typeface="Helvetica Neue"/>
              </a:rPr>
              <a:t>WiFi</a:t>
            </a:r>
            <a:r>
              <a:rPr lang="en-US" altLang="zh-CN" dirty="0">
                <a:solidFill>
                  <a:srgbClr val="333333"/>
                </a:solidFill>
                <a:latin typeface="Helvetica Neue"/>
              </a:rPr>
              <a:t> </a:t>
            </a:r>
            <a:r>
              <a:rPr lang="zh-CN" altLang="en-US" dirty="0">
                <a:solidFill>
                  <a:srgbClr val="333333"/>
                </a:solidFill>
                <a:latin typeface="Helvetica Neue"/>
              </a:rPr>
              <a:t>信道采用</a:t>
            </a:r>
            <a:r>
              <a:rPr lang="zh-CN" altLang="en-US" dirty="0">
                <a:solidFill>
                  <a:srgbClr val="FF0000"/>
                </a:solidFill>
                <a:latin typeface="Helvetica Neue"/>
              </a:rPr>
              <a:t>“多设备共享”随机接入</a:t>
            </a:r>
            <a:r>
              <a:rPr lang="zh-CN" altLang="en-US" dirty="0">
                <a:solidFill>
                  <a:srgbClr val="333333"/>
                </a:solidFill>
                <a:latin typeface="Helvetica Neue"/>
              </a:rPr>
              <a:t>机制，导致接收的 </a:t>
            </a:r>
            <a:r>
              <a:rPr lang="en-US" altLang="zh-CN" dirty="0">
                <a:solidFill>
                  <a:srgbClr val="333333"/>
                </a:solidFill>
                <a:latin typeface="Helvetica Neue"/>
              </a:rPr>
              <a:t>CSI </a:t>
            </a:r>
            <a:r>
              <a:rPr lang="zh-CN" altLang="en-US" dirty="0">
                <a:solidFill>
                  <a:srgbClr val="333333"/>
                </a:solidFill>
                <a:latin typeface="Helvetica Neue"/>
              </a:rPr>
              <a:t>数据包在</a:t>
            </a:r>
            <a:r>
              <a:rPr lang="zh-CN" altLang="en-US" dirty="0">
                <a:solidFill>
                  <a:srgbClr val="FF0000"/>
                </a:solidFill>
                <a:latin typeface="Helvetica Neue"/>
              </a:rPr>
              <a:t>时间上分布不均匀</a:t>
            </a:r>
            <a:r>
              <a:rPr lang="zh-CN" altLang="en-US" dirty="0">
                <a:solidFill>
                  <a:srgbClr val="333333"/>
                </a:solidFill>
                <a:latin typeface="Helvetica Neue"/>
              </a:rPr>
              <a:t>，直接影响后续跌倒检测，具体有两大问题：</a:t>
            </a:r>
          </a:p>
        </p:txBody>
      </p:sp>
      <p:sp>
        <p:nvSpPr>
          <p:cNvPr id="16" name="文本框 15">
            <a:extLst>
              <a:ext uri="{FF2B5EF4-FFF2-40B4-BE49-F238E27FC236}">
                <a16:creationId xmlns:a16="http://schemas.microsoft.com/office/drawing/2014/main" id="{0AE62D97-C14D-4546-A0F4-94ED389F7F16}"/>
              </a:ext>
            </a:extLst>
          </p:cNvPr>
          <p:cNvSpPr txBox="1"/>
          <p:nvPr/>
        </p:nvSpPr>
        <p:spPr>
          <a:xfrm>
            <a:off x="233632" y="3274444"/>
            <a:ext cx="5955501" cy="1477328"/>
          </a:xfrm>
          <a:prstGeom prst="rect">
            <a:avLst/>
          </a:prstGeom>
          <a:noFill/>
        </p:spPr>
        <p:txBody>
          <a:bodyPr wrap="square">
            <a:spAutoFit/>
          </a:bodyPr>
          <a:lstStyle/>
          <a:p>
            <a:r>
              <a:rPr lang="en-US" altLang="zh-CN" b="0" i="0" dirty="0">
                <a:solidFill>
                  <a:srgbClr val="333333"/>
                </a:solidFill>
                <a:effectLst/>
                <a:latin typeface="Helvetica Neue"/>
              </a:rPr>
              <a:t>1</a:t>
            </a:r>
            <a:r>
              <a:rPr lang="zh-CN" altLang="en-US" b="0" i="0" dirty="0">
                <a:solidFill>
                  <a:srgbClr val="333333"/>
                </a:solidFill>
                <a:effectLst/>
                <a:latin typeface="Helvetica Neue"/>
              </a:rPr>
              <a:t>）跌倒期间采集的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读数可能不连续，给特征提取带来困难；</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en-US" altLang="zh-CN" b="0" i="0" dirty="0">
                <a:solidFill>
                  <a:srgbClr val="333333"/>
                </a:solidFill>
                <a:effectLst/>
                <a:latin typeface="Helvetica Neue"/>
              </a:rPr>
              <a:t>2</a:t>
            </a:r>
            <a:r>
              <a:rPr lang="zh-CN" altLang="en-US" b="0" i="0" dirty="0">
                <a:solidFill>
                  <a:srgbClr val="333333"/>
                </a:solidFill>
                <a:effectLst/>
                <a:latin typeface="Helvetica Neue"/>
              </a:rPr>
              <a:t>）时域中不均匀的样本会影响时频分析，无法获取准确的频谱图。</a:t>
            </a:r>
            <a:endParaRPr lang="zh-CN" altLang="en-US" dirty="0"/>
          </a:p>
        </p:txBody>
      </p:sp>
      <p:pic>
        <p:nvPicPr>
          <p:cNvPr id="6" name="图片 5">
            <a:extLst>
              <a:ext uri="{FF2B5EF4-FFF2-40B4-BE49-F238E27FC236}">
                <a16:creationId xmlns:a16="http://schemas.microsoft.com/office/drawing/2014/main" id="{4D55170E-2D23-473F-9C1D-3AA98AC8DD03}"/>
              </a:ext>
            </a:extLst>
          </p:cNvPr>
          <p:cNvPicPr>
            <a:picLocks noChangeAspect="1"/>
          </p:cNvPicPr>
          <p:nvPr/>
        </p:nvPicPr>
        <p:blipFill>
          <a:blip r:embed="rId6"/>
          <a:stretch>
            <a:fillRect/>
          </a:stretch>
        </p:blipFill>
        <p:spPr>
          <a:xfrm>
            <a:off x="847514" y="4876713"/>
            <a:ext cx="1658619" cy="1624700"/>
          </a:xfrm>
          <a:prstGeom prst="rect">
            <a:avLst/>
          </a:prstGeom>
        </p:spPr>
      </p:pic>
      <p:sp>
        <p:nvSpPr>
          <p:cNvPr id="24" name="文本框 23">
            <a:extLst>
              <a:ext uri="{FF2B5EF4-FFF2-40B4-BE49-F238E27FC236}">
                <a16:creationId xmlns:a16="http://schemas.microsoft.com/office/drawing/2014/main" id="{37FF2593-822D-4237-8837-BF8DCC6CB1EF}"/>
              </a:ext>
            </a:extLst>
          </p:cNvPr>
          <p:cNvSpPr txBox="1"/>
          <p:nvPr/>
        </p:nvSpPr>
        <p:spPr>
          <a:xfrm>
            <a:off x="905933" y="6445579"/>
            <a:ext cx="1998134" cy="369332"/>
          </a:xfrm>
          <a:prstGeom prst="rect">
            <a:avLst/>
          </a:prstGeom>
          <a:noFill/>
        </p:spPr>
        <p:txBody>
          <a:bodyPr wrap="square">
            <a:spAutoFit/>
          </a:bodyPr>
          <a:lstStyle/>
          <a:p>
            <a:r>
              <a:rPr lang="zh-CN" altLang="en-US" b="1" i="0" dirty="0">
                <a:effectLst/>
                <a:latin typeface="Helvetica Neue"/>
              </a:rPr>
              <a:t>一维线性插值</a:t>
            </a:r>
            <a:endParaRPr lang="zh-CN" altLang="en-US" b="1" dirty="0"/>
          </a:p>
        </p:txBody>
      </p:sp>
      <p:sp>
        <p:nvSpPr>
          <p:cNvPr id="25" name="文本框 24">
            <a:extLst>
              <a:ext uri="{FF2B5EF4-FFF2-40B4-BE49-F238E27FC236}">
                <a16:creationId xmlns:a16="http://schemas.microsoft.com/office/drawing/2014/main" id="{80FFBE3C-17A6-4B24-8C3D-D14D5C4E3C1E}"/>
              </a:ext>
            </a:extLst>
          </p:cNvPr>
          <p:cNvSpPr txBox="1"/>
          <p:nvPr/>
        </p:nvSpPr>
        <p:spPr>
          <a:xfrm>
            <a:off x="6787630" y="1654470"/>
            <a:ext cx="7196666" cy="369332"/>
          </a:xfrm>
          <a:prstGeom prst="rect">
            <a:avLst/>
          </a:prstGeom>
          <a:noFill/>
        </p:spPr>
        <p:txBody>
          <a:bodyPr wrap="square">
            <a:spAutoFit/>
          </a:bodyPr>
          <a:lstStyle/>
          <a:p>
            <a:pPr algn="l"/>
            <a:r>
              <a:rPr lang="zh-CN" altLang="en-US" b="1" i="0" dirty="0">
                <a:solidFill>
                  <a:srgbClr val="000000"/>
                </a:solidFill>
                <a:effectLst/>
                <a:latin typeface="Helvetica Neue"/>
              </a:rPr>
              <a:t>带通滤波</a:t>
            </a:r>
          </a:p>
        </p:txBody>
      </p:sp>
      <p:pic>
        <p:nvPicPr>
          <p:cNvPr id="18" name="图片 17">
            <a:extLst>
              <a:ext uri="{FF2B5EF4-FFF2-40B4-BE49-F238E27FC236}">
                <a16:creationId xmlns:a16="http://schemas.microsoft.com/office/drawing/2014/main" id="{3CF28657-639C-4FB0-9F53-B37D3F3FBD7A}"/>
              </a:ext>
            </a:extLst>
          </p:cNvPr>
          <p:cNvPicPr>
            <a:picLocks noChangeAspect="1"/>
          </p:cNvPicPr>
          <p:nvPr/>
        </p:nvPicPr>
        <p:blipFill>
          <a:blip r:embed="rId7"/>
          <a:stretch>
            <a:fillRect/>
          </a:stretch>
        </p:blipFill>
        <p:spPr>
          <a:xfrm>
            <a:off x="7084073" y="2990584"/>
            <a:ext cx="4436339" cy="1331441"/>
          </a:xfrm>
          <a:prstGeom prst="rect">
            <a:avLst/>
          </a:prstGeom>
        </p:spPr>
      </p:pic>
      <p:sp>
        <p:nvSpPr>
          <p:cNvPr id="26" name="文本框 25">
            <a:extLst>
              <a:ext uri="{FF2B5EF4-FFF2-40B4-BE49-F238E27FC236}">
                <a16:creationId xmlns:a16="http://schemas.microsoft.com/office/drawing/2014/main" id="{879B7B35-8305-4264-B425-172E02C51D1C}"/>
              </a:ext>
            </a:extLst>
          </p:cNvPr>
          <p:cNvSpPr txBox="1"/>
          <p:nvPr/>
        </p:nvSpPr>
        <p:spPr>
          <a:xfrm>
            <a:off x="6788305" y="2182969"/>
            <a:ext cx="5182340" cy="646331"/>
          </a:xfrm>
          <a:prstGeom prst="rect">
            <a:avLst/>
          </a:prstGeom>
          <a:noFill/>
        </p:spPr>
        <p:txBody>
          <a:bodyPr wrap="square">
            <a:spAutoFit/>
          </a:bodyPr>
          <a:lstStyle/>
          <a:p>
            <a:r>
              <a:rPr lang="zh-CN" altLang="en-US" b="0" i="0" dirty="0">
                <a:solidFill>
                  <a:srgbClr val="333333"/>
                </a:solidFill>
                <a:effectLst/>
                <a:latin typeface="Helvetica Neue"/>
              </a:rPr>
              <a:t>插值后的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信号流会被输入</a:t>
            </a:r>
            <a:r>
              <a:rPr lang="zh-CN" altLang="en-US" b="1" i="0" dirty="0">
                <a:solidFill>
                  <a:srgbClr val="333333"/>
                </a:solidFill>
                <a:effectLst/>
                <a:latin typeface="Helvetica Neue"/>
              </a:rPr>
              <a:t>带通滤波器</a:t>
            </a:r>
            <a:r>
              <a:rPr lang="zh-CN" altLang="en-US" b="0" i="0" dirty="0">
                <a:solidFill>
                  <a:srgbClr val="333333"/>
                </a:solidFill>
                <a:effectLst/>
                <a:latin typeface="Helvetica Neue"/>
              </a:rPr>
              <a:t>，以进一步</a:t>
            </a:r>
            <a:r>
              <a:rPr lang="zh-CN" altLang="en-US" b="1" i="0" dirty="0">
                <a:solidFill>
                  <a:srgbClr val="FF0000"/>
                </a:solidFill>
                <a:effectLst/>
                <a:latin typeface="Helvetica Neue"/>
              </a:rPr>
              <a:t>滤除无关的信号频率成分</a:t>
            </a:r>
            <a:r>
              <a:rPr lang="zh-CN" altLang="en-US" b="0" i="0" dirty="0">
                <a:solidFill>
                  <a:srgbClr val="333333"/>
                </a:solidFill>
                <a:effectLst/>
                <a:latin typeface="Helvetica Neue"/>
              </a:rPr>
              <a:t>。</a:t>
            </a:r>
            <a:endParaRPr lang="zh-CN" altLang="en-US" dirty="0"/>
          </a:p>
        </p:txBody>
      </p:sp>
      <p:sp>
        <p:nvSpPr>
          <p:cNvPr id="28" name="文本框 27">
            <a:extLst>
              <a:ext uri="{FF2B5EF4-FFF2-40B4-BE49-F238E27FC236}">
                <a16:creationId xmlns:a16="http://schemas.microsoft.com/office/drawing/2014/main" id="{FA0950FF-00FF-45A4-AA9F-56139D804034}"/>
              </a:ext>
            </a:extLst>
          </p:cNvPr>
          <p:cNvSpPr txBox="1"/>
          <p:nvPr/>
        </p:nvSpPr>
        <p:spPr>
          <a:xfrm>
            <a:off x="6787630" y="4351865"/>
            <a:ext cx="5105782" cy="1499342"/>
          </a:xfrm>
          <a:prstGeom prst="rect">
            <a:avLst/>
          </a:prstGeom>
          <a:noFill/>
        </p:spPr>
        <p:txBody>
          <a:bodyPr wrap="square">
            <a:spAutoFit/>
          </a:bodyPr>
          <a:lstStyle/>
          <a:p>
            <a:pPr algn="l"/>
            <a:r>
              <a:rPr lang="zh-CN" altLang="en-US" b="1" dirty="0">
                <a:solidFill>
                  <a:srgbClr val="333333"/>
                </a:solidFill>
                <a:latin typeface="Helvetica Neue"/>
              </a:rPr>
              <a:t>干扰活动（呼吸、轻微移动）</a:t>
            </a:r>
            <a:r>
              <a:rPr lang="zh-CN" altLang="en-US" dirty="0">
                <a:solidFill>
                  <a:srgbClr val="333333"/>
                </a:solidFill>
                <a:latin typeface="Helvetica Neue"/>
              </a:rPr>
              <a:t>速度远低于跌倒，信号频率低</a:t>
            </a:r>
            <a:endParaRPr lang="en-US" altLang="zh-CN" dirty="0">
              <a:solidFill>
                <a:srgbClr val="333333"/>
              </a:solidFill>
              <a:latin typeface="Helvetica Neue"/>
            </a:endParaRPr>
          </a:p>
          <a:p>
            <a:pPr algn="l"/>
            <a:endParaRPr lang="en-US" altLang="zh-CN" dirty="0">
              <a:solidFill>
                <a:srgbClr val="000000"/>
              </a:solidFill>
              <a:latin typeface="Inter"/>
            </a:endParaRPr>
          </a:p>
          <a:p>
            <a:pPr algn="l"/>
            <a:r>
              <a:rPr lang="zh-CN" altLang="en-US" dirty="0">
                <a:solidFill>
                  <a:srgbClr val="333333"/>
                </a:solidFill>
                <a:latin typeface="Helvetica Neue"/>
              </a:rPr>
              <a:t>实验验证：</a:t>
            </a:r>
            <a:r>
              <a:rPr lang="en-US" altLang="zh-CN" b="1" dirty="0">
                <a:solidFill>
                  <a:srgbClr val="FF0000"/>
                </a:solidFill>
                <a:latin typeface="Helvetica Neue"/>
              </a:rPr>
              <a:t>[5, 10 Hz] </a:t>
            </a:r>
            <a:r>
              <a:rPr lang="zh-CN" altLang="en-US" dirty="0">
                <a:solidFill>
                  <a:srgbClr val="333333"/>
                </a:solidFill>
                <a:latin typeface="Helvetica Neue"/>
              </a:rPr>
              <a:t>频率范围能最精准地表征</a:t>
            </a:r>
            <a:r>
              <a:rPr lang="zh-CN" altLang="en-US" b="1" dirty="0">
                <a:solidFill>
                  <a:srgbClr val="FF0000"/>
                </a:solidFill>
                <a:latin typeface="Helvetica Neue"/>
              </a:rPr>
              <a:t>跌倒 </a:t>
            </a:r>
            <a:r>
              <a:rPr lang="en-US" altLang="zh-CN" b="1" dirty="0">
                <a:solidFill>
                  <a:srgbClr val="FF0000"/>
                </a:solidFill>
                <a:latin typeface="Helvetica Neue"/>
              </a:rPr>
              <a:t>/ </a:t>
            </a:r>
            <a:r>
              <a:rPr lang="zh-CN" altLang="en-US" b="1" dirty="0">
                <a:solidFill>
                  <a:srgbClr val="FF0000"/>
                </a:solidFill>
                <a:latin typeface="Helvetica Neue"/>
              </a:rPr>
              <a:t>类跌倒</a:t>
            </a:r>
            <a:r>
              <a:rPr lang="zh-CN" altLang="en-US" dirty="0">
                <a:solidFill>
                  <a:srgbClr val="333333"/>
                </a:solidFill>
                <a:latin typeface="Helvetica Neue"/>
              </a:rPr>
              <a:t>活动特征</a:t>
            </a:r>
          </a:p>
        </p:txBody>
      </p:sp>
      <p:cxnSp>
        <p:nvCxnSpPr>
          <p:cNvPr id="32" name="直接连接符 31">
            <a:extLst>
              <a:ext uri="{FF2B5EF4-FFF2-40B4-BE49-F238E27FC236}">
                <a16:creationId xmlns:a16="http://schemas.microsoft.com/office/drawing/2014/main" id="{09148BE7-90C5-409D-96F6-00AF0EFA9299}"/>
              </a:ext>
            </a:extLst>
          </p:cNvPr>
          <p:cNvCxnSpPr>
            <a:cxnSpLocks/>
          </p:cNvCxnSpPr>
          <p:nvPr/>
        </p:nvCxnSpPr>
        <p:spPr>
          <a:xfrm>
            <a:off x="6318354" y="1391285"/>
            <a:ext cx="0" cy="5423626"/>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82595620"/>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8" name="文本框 7">
            <a:extLst>
              <a:ext uri="{FF2B5EF4-FFF2-40B4-BE49-F238E27FC236}">
                <a16:creationId xmlns:a16="http://schemas.microsoft.com/office/drawing/2014/main" id="{2B1C8FB3-0307-4B28-96D1-62A6C1C11084}"/>
              </a:ext>
            </a:extLst>
          </p:cNvPr>
          <p:cNvSpPr txBox="1"/>
          <p:nvPr/>
        </p:nvSpPr>
        <p:spPr>
          <a:xfrm>
            <a:off x="135467" y="1203231"/>
            <a:ext cx="6096000" cy="461665"/>
          </a:xfrm>
          <a:prstGeom prst="rect">
            <a:avLst/>
          </a:prstGeom>
          <a:noFill/>
        </p:spPr>
        <p:txBody>
          <a:bodyPr wrap="square">
            <a:spAutoFit/>
          </a:bodyPr>
          <a:lstStyle/>
          <a:p>
            <a:pPr algn="l"/>
            <a:r>
              <a:rPr lang="zh-CN" altLang="en-US" sz="2400" b="1" i="0" dirty="0">
                <a:solidFill>
                  <a:srgbClr val="000000"/>
                </a:solidFill>
                <a:effectLst/>
                <a:latin typeface="Helvetica Neue"/>
              </a:rPr>
              <a:t>活动分割</a:t>
            </a:r>
          </a:p>
        </p:txBody>
      </p:sp>
      <p:pic>
        <p:nvPicPr>
          <p:cNvPr id="14" name="图片 13">
            <a:extLst>
              <a:ext uri="{FF2B5EF4-FFF2-40B4-BE49-F238E27FC236}">
                <a16:creationId xmlns:a16="http://schemas.microsoft.com/office/drawing/2014/main" id="{B465412F-CB38-4D64-924E-271799D8CD44}"/>
              </a:ext>
            </a:extLst>
          </p:cNvPr>
          <p:cNvPicPr>
            <a:picLocks noChangeAspect="1"/>
          </p:cNvPicPr>
          <p:nvPr/>
        </p:nvPicPr>
        <p:blipFill>
          <a:blip r:embed="rId6"/>
          <a:stretch>
            <a:fillRect/>
          </a:stretch>
        </p:blipFill>
        <p:spPr>
          <a:xfrm>
            <a:off x="264761" y="2335898"/>
            <a:ext cx="5901627" cy="2950814"/>
          </a:xfrm>
          <a:prstGeom prst="rect">
            <a:avLst/>
          </a:prstGeom>
        </p:spPr>
      </p:pic>
      <p:sp>
        <p:nvSpPr>
          <p:cNvPr id="19" name="文本框 18">
            <a:extLst>
              <a:ext uri="{FF2B5EF4-FFF2-40B4-BE49-F238E27FC236}">
                <a16:creationId xmlns:a16="http://schemas.microsoft.com/office/drawing/2014/main" id="{EB0116B1-4123-4C66-8010-F3D06F421BBA}"/>
              </a:ext>
            </a:extLst>
          </p:cNvPr>
          <p:cNvSpPr txBox="1"/>
          <p:nvPr/>
        </p:nvSpPr>
        <p:spPr>
          <a:xfrm>
            <a:off x="321734" y="1815731"/>
            <a:ext cx="4516966" cy="369332"/>
          </a:xfrm>
          <a:prstGeom prst="rect">
            <a:avLst/>
          </a:prstGeom>
          <a:noFill/>
        </p:spPr>
        <p:txBody>
          <a:bodyPr wrap="square">
            <a:spAutoFit/>
          </a:bodyPr>
          <a:lstStyle/>
          <a:p>
            <a:pPr algn="l"/>
            <a:r>
              <a:rPr lang="zh-CN" altLang="en-US" b="1" i="0" dirty="0">
                <a:solidFill>
                  <a:srgbClr val="000000"/>
                </a:solidFill>
                <a:effectLst/>
                <a:latin typeface="Inter"/>
              </a:rPr>
              <a:t>自动识别跌倒 </a:t>
            </a:r>
            <a:r>
              <a:rPr lang="en-US" altLang="zh-CN" b="1" i="0" dirty="0">
                <a:solidFill>
                  <a:srgbClr val="000000"/>
                </a:solidFill>
                <a:effectLst/>
                <a:latin typeface="Inter"/>
              </a:rPr>
              <a:t>/ </a:t>
            </a:r>
            <a:r>
              <a:rPr lang="zh-CN" altLang="en-US" b="1" i="0" dirty="0">
                <a:solidFill>
                  <a:srgbClr val="000000"/>
                </a:solidFill>
                <a:effectLst/>
                <a:latin typeface="Inter"/>
              </a:rPr>
              <a:t>类跌倒活动的 “结束点”</a:t>
            </a:r>
          </a:p>
        </p:txBody>
      </p:sp>
      <p:sp>
        <p:nvSpPr>
          <p:cNvPr id="26" name="文本框 25">
            <a:extLst>
              <a:ext uri="{FF2B5EF4-FFF2-40B4-BE49-F238E27FC236}">
                <a16:creationId xmlns:a16="http://schemas.microsoft.com/office/drawing/2014/main" id="{9B7DC889-0392-4C44-88D3-EEC40CFACD0C}"/>
              </a:ext>
            </a:extLst>
          </p:cNvPr>
          <p:cNvSpPr txBox="1"/>
          <p:nvPr/>
        </p:nvSpPr>
        <p:spPr>
          <a:xfrm>
            <a:off x="135467" y="2462338"/>
            <a:ext cx="338666" cy="1015663"/>
          </a:xfrm>
          <a:prstGeom prst="rect">
            <a:avLst/>
          </a:prstGeom>
          <a:noFill/>
        </p:spPr>
        <p:txBody>
          <a:bodyPr wrap="square">
            <a:spAutoFit/>
          </a:bodyPr>
          <a:lstStyle/>
          <a:p>
            <a:r>
              <a:rPr lang="zh-CN" altLang="en-US" sz="1200" b="1" dirty="0">
                <a:solidFill>
                  <a:srgbClr val="FF0000"/>
                </a:solidFill>
              </a:rPr>
              <a:t>相位差信号</a:t>
            </a:r>
          </a:p>
        </p:txBody>
      </p:sp>
      <p:sp>
        <p:nvSpPr>
          <p:cNvPr id="27" name="文本框 26">
            <a:extLst>
              <a:ext uri="{FF2B5EF4-FFF2-40B4-BE49-F238E27FC236}">
                <a16:creationId xmlns:a16="http://schemas.microsoft.com/office/drawing/2014/main" id="{19A11418-D934-4208-AA46-50A0E91900ED}"/>
              </a:ext>
            </a:extLst>
          </p:cNvPr>
          <p:cNvSpPr txBox="1"/>
          <p:nvPr/>
        </p:nvSpPr>
        <p:spPr>
          <a:xfrm>
            <a:off x="135467" y="3668207"/>
            <a:ext cx="283455" cy="1015663"/>
          </a:xfrm>
          <a:prstGeom prst="rect">
            <a:avLst/>
          </a:prstGeom>
          <a:noFill/>
        </p:spPr>
        <p:txBody>
          <a:bodyPr wrap="square">
            <a:spAutoFit/>
          </a:bodyPr>
          <a:lstStyle/>
          <a:p>
            <a:r>
              <a:rPr lang="zh-CN" altLang="en-US" sz="1200" b="1" i="0" dirty="0">
                <a:solidFill>
                  <a:srgbClr val="FF0000"/>
                </a:solidFill>
                <a:effectLst/>
                <a:latin typeface="Inter"/>
              </a:rPr>
              <a:t>信号标准差</a:t>
            </a:r>
            <a:endParaRPr lang="zh-CN" altLang="en-US" sz="1200" b="1" dirty="0">
              <a:solidFill>
                <a:srgbClr val="FF0000"/>
              </a:solidFill>
            </a:endParaRPr>
          </a:p>
        </p:txBody>
      </p:sp>
      <p:cxnSp>
        <p:nvCxnSpPr>
          <p:cNvPr id="29" name="直接箭头连接符 28">
            <a:extLst>
              <a:ext uri="{FF2B5EF4-FFF2-40B4-BE49-F238E27FC236}">
                <a16:creationId xmlns:a16="http://schemas.microsoft.com/office/drawing/2014/main" id="{AD91671A-DE82-47F7-BFBF-7A511A6E5E44}"/>
              </a:ext>
            </a:extLst>
          </p:cNvPr>
          <p:cNvCxnSpPr>
            <a:cxnSpLocks/>
          </p:cNvCxnSpPr>
          <p:nvPr/>
        </p:nvCxnSpPr>
        <p:spPr>
          <a:xfrm flipH="1">
            <a:off x="501278" y="4649665"/>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A6EF2B3-BE45-4D2B-A1D7-21DB0267176E}"/>
              </a:ext>
            </a:extLst>
          </p:cNvPr>
          <p:cNvCxnSpPr>
            <a:cxnSpLocks/>
          </p:cNvCxnSpPr>
          <p:nvPr/>
        </p:nvCxnSpPr>
        <p:spPr>
          <a:xfrm>
            <a:off x="1100666" y="4649665"/>
            <a:ext cx="0"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7FB6EA05-D5CC-41F1-8173-D9EF23CE5372}"/>
              </a:ext>
            </a:extLst>
          </p:cNvPr>
          <p:cNvSpPr txBox="1"/>
          <p:nvPr/>
        </p:nvSpPr>
        <p:spPr>
          <a:xfrm>
            <a:off x="52340" y="5246085"/>
            <a:ext cx="843586" cy="461666"/>
          </a:xfrm>
          <a:prstGeom prst="rect">
            <a:avLst/>
          </a:prstGeom>
          <a:noFill/>
        </p:spPr>
        <p:txBody>
          <a:bodyPr wrap="square">
            <a:spAutoFit/>
          </a:bodyPr>
          <a:lstStyle/>
          <a:p>
            <a:r>
              <a:rPr lang="zh-CN" altLang="en-US" sz="1200" b="1" i="0" dirty="0">
                <a:solidFill>
                  <a:srgbClr val="FF0000"/>
                </a:solidFill>
                <a:effectLst/>
                <a:latin typeface="Inter"/>
              </a:rPr>
              <a:t>原始信号的标准差</a:t>
            </a:r>
            <a:endParaRPr lang="zh-CN" altLang="en-US" sz="1200" b="1" dirty="0">
              <a:solidFill>
                <a:srgbClr val="FF0000"/>
              </a:solidFill>
            </a:endParaRPr>
          </a:p>
        </p:txBody>
      </p:sp>
      <p:sp>
        <p:nvSpPr>
          <p:cNvPr id="34" name="文本框 33">
            <a:extLst>
              <a:ext uri="{FF2B5EF4-FFF2-40B4-BE49-F238E27FC236}">
                <a16:creationId xmlns:a16="http://schemas.microsoft.com/office/drawing/2014/main" id="{C0C32882-04F5-434B-AAC9-57B060CF7DFE}"/>
              </a:ext>
            </a:extLst>
          </p:cNvPr>
          <p:cNvSpPr txBox="1"/>
          <p:nvPr/>
        </p:nvSpPr>
        <p:spPr>
          <a:xfrm>
            <a:off x="885686" y="5193456"/>
            <a:ext cx="678447" cy="600164"/>
          </a:xfrm>
          <a:prstGeom prst="rect">
            <a:avLst/>
          </a:prstGeom>
          <a:noFill/>
        </p:spPr>
        <p:txBody>
          <a:bodyPr wrap="square">
            <a:spAutoFit/>
          </a:bodyPr>
          <a:lstStyle/>
          <a:p>
            <a:r>
              <a:rPr lang="zh-CN" altLang="en-US" sz="1100" b="1" dirty="0">
                <a:solidFill>
                  <a:srgbClr val="FF0000"/>
                </a:solidFill>
                <a:latin typeface="Inter"/>
              </a:rPr>
              <a:t>滤波后</a:t>
            </a:r>
            <a:r>
              <a:rPr lang="zh-CN" altLang="en-US" sz="1100" b="1" i="0" dirty="0">
                <a:solidFill>
                  <a:srgbClr val="FF0000"/>
                </a:solidFill>
                <a:effectLst/>
                <a:latin typeface="Inter"/>
              </a:rPr>
              <a:t>信号的标准差</a:t>
            </a:r>
            <a:endParaRPr lang="zh-CN" altLang="en-US" sz="1100" b="1" dirty="0">
              <a:solidFill>
                <a:srgbClr val="FF0000"/>
              </a:solidFill>
            </a:endParaRPr>
          </a:p>
        </p:txBody>
      </p:sp>
      <p:sp>
        <p:nvSpPr>
          <p:cNvPr id="35" name="文本框 34">
            <a:extLst>
              <a:ext uri="{FF2B5EF4-FFF2-40B4-BE49-F238E27FC236}">
                <a16:creationId xmlns:a16="http://schemas.microsoft.com/office/drawing/2014/main" id="{0FFBB06D-346B-44D6-931C-E4321AEF1FEE}"/>
              </a:ext>
            </a:extLst>
          </p:cNvPr>
          <p:cNvSpPr txBox="1"/>
          <p:nvPr/>
        </p:nvSpPr>
        <p:spPr>
          <a:xfrm>
            <a:off x="1528700" y="5159870"/>
            <a:ext cx="1469917" cy="461665"/>
          </a:xfrm>
          <a:prstGeom prst="rect">
            <a:avLst/>
          </a:prstGeom>
          <a:noFill/>
        </p:spPr>
        <p:txBody>
          <a:bodyPr wrap="square">
            <a:spAutoFit/>
          </a:bodyPr>
          <a:lstStyle/>
          <a:p>
            <a:r>
              <a:rPr lang="zh-CN" altLang="en-US" sz="1200" b="1" dirty="0">
                <a:solidFill>
                  <a:srgbClr val="FF0000"/>
                </a:solidFill>
                <a:latin typeface="Inter"/>
              </a:rPr>
              <a:t>滤波后</a:t>
            </a:r>
            <a:r>
              <a:rPr lang="zh-CN" altLang="en-US" sz="1200" b="1" i="0" dirty="0">
                <a:solidFill>
                  <a:srgbClr val="FF0000"/>
                </a:solidFill>
                <a:effectLst/>
                <a:latin typeface="Inter"/>
              </a:rPr>
              <a:t>信号从波动到稳定的时间点</a:t>
            </a:r>
            <a:endParaRPr lang="zh-CN" altLang="en-US" sz="1200" b="1" dirty="0">
              <a:solidFill>
                <a:srgbClr val="FF0000"/>
              </a:solidFill>
            </a:endParaRPr>
          </a:p>
        </p:txBody>
      </p:sp>
      <p:sp>
        <p:nvSpPr>
          <p:cNvPr id="36" name="文本框 35">
            <a:extLst>
              <a:ext uri="{FF2B5EF4-FFF2-40B4-BE49-F238E27FC236}">
                <a16:creationId xmlns:a16="http://schemas.microsoft.com/office/drawing/2014/main" id="{42D1755E-86B1-4F66-B3C1-42C1D46E9BC1}"/>
              </a:ext>
            </a:extLst>
          </p:cNvPr>
          <p:cNvSpPr txBox="1"/>
          <p:nvPr/>
        </p:nvSpPr>
        <p:spPr>
          <a:xfrm>
            <a:off x="2907888" y="5173413"/>
            <a:ext cx="1390776" cy="461665"/>
          </a:xfrm>
          <a:prstGeom prst="rect">
            <a:avLst/>
          </a:prstGeom>
          <a:noFill/>
        </p:spPr>
        <p:txBody>
          <a:bodyPr wrap="square">
            <a:spAutoFit/>
          </a:bodyPr>
          <a:lstStyle/>
          <a:p>
            <a:r>
              <a:rPr lang="zh-CN" altLang="en-US" sz="1200" b="1" i="0" dirty="0">
                <a:solidFill>
                  <a:srgbClr val="FF0000"/>
                </a:solidFill>
                <a:effectLst/>
                <a:latin typeface="Inter"/>
              </a:rPr>
              <a:t>原始信号从波动到稳定的时间点</a:t>
            </a:r>
            <a:endParaRPr lang="zh-CN" altLang="en-US" sz="1200" b="1" dirty="0">
              <a:solidFill>
                <a:srgbClr val="FF0000"/>
              </a:solidFill>
            </a:endParaRPr>
          </a:p>
        </p:txBody>
      </p:sp>
      <p:cxnSp>
        <p:nvCxnSpPr>
          <p:cNvPr id="37" name="直接箭头连接符 36">
            <a:extLst>
              <a:ext uri="{FF2B5EF4-FFF2-40B4-BE49-F238E27FC236}">
                <a16:creationId xmlns:a16="http://schemas.microsoft.com/office/drawing/2014/main" id="{D3EFC7D6-49FE-4556-BB25-DA609EC0F560}"/>
              </a:ext>
            </a:extLst>
          </p:cNvPr>
          <p:cNvCxnSpPr>
            <a:cxnSpLocks/>
          </p:cNvCxnSpPr>
          <p:nvPr/>
        </p:nvCxnSpPr>
        <p:spPr>
          <a:xfrm flipH="1">
            <a:off x="2131399" y="4492253"/>
            <a:ext cx="219734" cy="67963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A31C924C-224C-4A1E-9DC6-851F7E940D2E}"/>
              </a:ext>
            </a:extLst>
          </p:cNvPr>
          <p:cNvCxnSpPr>
            <a:cxnSpLocks/>
          </p:cNvCxnSpPr>
          <p:nvPr/>
        </p:nvCxnSpPr>
        <p:spPr>
          <a:xfrm>
            <a:off x="2586615" y="4492253"/>
            <a:ext cx="626978" cy="66622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E69A71E7-082C-4D61-B4EB-6675E45A3E21}"/>
              </a:ext>
            </a:extLst>
          </p:cNvPr>
          <p:cNvSpPr txBox="1"/>
          <p:nvPr/>
        </p:nvSpPr>
        <p:spPr>
          <a:xfrm>
            <a:off x="6295682" y="2514045"/>
            <a:ext cx="5566833" cy="2308324"/>
          </a:xfrm>
          <a:prstGeom prst="rect">
            <a:avLst/>
          </a:prstGeom>
          <a:noFill/>
        </p:spPr>
        <p:txBody>
          <a:bodyPr wrap="square">
            <a:spAutoFit/>
          </a:bodyPr>
          <a:lstStyle/>
          <a:p>
            <a:r>
              <a:rPr lang="zh-CN" altLang="en-US" b="0" i="0" dirty="0">
                <a:solidFill>
                  <a:srgbClr val="333333"/>
                </a:solidFill>
                <a:effectLst/>
                <a:latin typeface="Helvetica Neue"/>
              </a:rPr>
              <a:t>首先，计算原始相位差信号流和滤波后相位差信号流的均值</a:t>
            </a:r>
            <a:r>
              <a:rPr lang="en-US" altLang="zh-CN" b="0" i="1" dirty="0">
                <a:solidFill>
                  <a:srgbClr val="333333"/>
                </a:solidFill>
                <a:effectLst/>
                <a:latin typeface="KaTeX_Math"/>
              </a:rPr>
              <a:t>μ</a:t>
            </a:r>
            <a:r>
              <a:rPr lang="zh-CN" altLang="en-US" b="0" i="0" dirty="0">
                <a:solidFill>
                  <a:srgbClr val="333333"/>
                </a:solidFill>
                <a:effectLst/>
                <a:latin typeface="Helvetica Neue"/>
              </a:rPr>
              <a:t>和标准化标准差</a:t>
            </a:r>
            <a:r>
              <a:rPr lang="en-US" altLang="zh-CN" b="0" i="1" dirty="0">
                <a:solidFill>
                  <a:srgbClr val="333333"/>
                </a:solidFill>
                <a:effectLst/>
                <a:latin typeface="KaTeX_Math"/>
              </a:rPr>
              <a:t>σ</a:t>
            </a:r>
            <a:r>
              <a:rPr lang="zh-CN" altLang="en-US" b="0" i="1" dirty="0">
                <a:solidFill>
                  <a:srgbClr val="333333"/>
                </a:solidFill>
                <a:effectLst/>
                <a:latin typeface="KaTeX_Math"/>
              </a:rPr>
              <a:t>；</a:t>
            </a:r>
            <a:endParaRPr lang="en-US" altLang="zh-CN" b="0" i="1" dirty="0">
              <a:solidFill>
                <a:srgbClr val="333333"/>
              </a:solidFill>
              <a:effectLst/>
              <a:latin typeface="KaTeX_Math"/>
            </a:endParaRPr>
          </a:p>
          <a:p>
            <a:endParaRPr lang="en-US" altLang="zh-CN" dirty="0"/>
          </a:p>
          <a:p>
            <a:r>
              <a:rPr lang="zh-CN" altLang="en-US" dirty="0"/>
              <a:t>然后，寻找信号流</a:t>
            </a:r>
            <a:r>
              <a:rPr lang="zh-CN" altLang="en-US" b="0" i="0" dirty="0">
                <a:solidFill>
                  <a:srgbClr val="333333"/>
                </a:solidFill>
                <a:effectLst/>
                <a:latin typeface="Helvetica Neue"/>
              </a:rPr>
              <a:t>从波动状态到稳定状态（信号标准差从大于标准差</a:t>
            </a:r>
            <a:r>
              <a:rPr lang="en-US" altLang="zh-CN" b="0" i="1" dirty="0">
                <a:solidFill>
                  <a:srgbClr val="333333"/>
                </a:solidFill>
                <a:effectLst/>
                <a:latin typeface="KaTeX_Math"/>
              </a:rPr>
              <a:t>σ </a:t>
            </a:r>
            <a:r>
              <a:rPr lang="zh-CN" altLang="en-US" b="0" dirty="0">
                <a:solidFill>
                  <a:srgbClr val="333333"/>
                </a:solidFill>
                <a:effectLst/>
                <a:latin typeface="KaTeX_Math"/>
              </a:rPr>
              <a:t>到小于</a:t>
            </a:r>
            <a:r>
              <a:rPr lang="zh-CN" altLang="en-US" b="0" dirty="0">
                <a:solidFill>
                  <a:srgbClr val="333333"/>
                </a:solidFill>
                <a:effectLst/>
                <a:latin typeface="Helvetica Neue"/>
              </a:rPr>
              <a:t>标准差</a:t>
            </a:r>
            <a:r>
              <a:rPr lang="en-US" altLang="zh-CN" b="0" i="1" dirty="0">
                <a:solidFill>
                  <a:srgbClr val="333333"/>
                </a:solidFill>
                <a:effectLst/>
                <a:latin typeface="KaTeX_Math"/>
              </a:rPr>
              <a:t>σ </a:t>
            </a:r>
            <a:r>
              <a:rPr lang="zh-CN" altLang="en-US" b="0" i="0" dirty="0">
                <a:solidFill>
                  <a:srgbClr val="333333"/>
                </a:solidFill>
                <a:effectLst/>
                <a:latin typeface="Helvetica Neue"/>
              </a:rPr>
              <a:t>）的过渡时间点；</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dirty="0">
                <a:solidFill>
                  <a:srgbClr val="333333"/>
                </a:solidFill>
                <a:latin typeface="Helvetica Neue"/>
              </a:rPr>
              <a:t>最后，根据两种信号均完成</a:t>
            </a:r>
            <a:r>
              <a:rPr lang="zh-CN" altLang="en-US" b="0" i="0" dirty="0">
                <a:solidFill>
                  <a:srgbClr val="333333"/>
                </a:solidFill>
                <a:effectLst/>
                <a:latin typeface="Helvetica Neue"/>
              </a:rPr>
              <a:t>从波动状态到稳定状态的最终时间点记作活动结束时间点</a:t>
            </a:r>
            <a:endParaRPr lang="zh-CN" altLang="en-US" dirty="0"/>
          </a:p>
        </p:txBody>
      </p:sp>
      <p:cxnSp>
        <p:nvCxnSpPr>
          <p:cNvPr id="45" name="直接箭头连接符 44">
            <a:extLst>
              <a:ext uri="{FF2B5EF4-FFF2-40B4-BE49-F238E27FC236}">
                <a16:creationId xmlns:a16="http://schemas.microsoft.com/office/drawing/2014/main" id="{29BF43F7-209F-4CAF-BA12-E395310836A8}"/>
              </a:ext>
            </a:extLst>
          </p:cNvPr>
          <p:cNvCxnSpPr>
            <a:cxnSpLocks/>
          </p:cNvCxnSpPr>
          <p:nvPr/>
        </p:nvCxnSpPr>
        <p:spPr>
          <a:xfrm flipV="1">
            <a:off x="2603726" y="3293334"/>
            <a:ext cx="0" cy="88270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AB8D9ECD-4955-4F02-B499-6C0EC50586A7}"/>
              </a:ext>
            </a:extLst>
          </p:cNvPr>
          <p:cNvSpPr txBox="1"/>
          <p:nvPr/>
        </p:nvSpPr>
        <p:spPr>
          <a:xfrm>
            <a:off x="635538" y="5848927"/>
            <a:ext cx="11061700" cy="923330"/>
          </a:xfrm>
          <a:prstGeom prst="rect">
            <a:avLst/>
          </a:prstGeom>
          <a:noFill/>
          <a:ln w="19050">
            <a:solidFill>
              <a:srgbClr val="00B0F0"/>
            </a:solidFill>
            <a:prstDash val="dash"/>
          </a:ln>
        </p:spPr>
        <p:txBody>
          <a:bodyPr wrap="square">
            <a:spAutoFit/>
          </a:bodyPr>
          <a:lstStyle/>
          <a:p>
            <a:r>
              <a:rPr lang="zh-CN" altLang="en-US" b="1" i="0" dirty="0">
                <a:effectLst/>
                <a:latin typeface="Inter"/>
              </a:rPr>
              <a:t>“双信号状态过渡检测” </a:t>
            </a:r>
            <a:r>
              <a:rPr lang="zh-CN" altLang="en-US" dirty="0">
                <a:latin typeface="Inter"/>
              </a:rPr>
              <a:t>：</a:t>
            </a:r>
            <a:r>
              <a:rPr lang="zh-CN" altLang="en-US" b="0" i="0" dirty="0">
                <a:solidFill>
                  <a:srgbClr val="FF0000"/>
                </a:solidFill>
                <a:effectLst/>
                <a:latin typeface="Inter"/>
              </a:rPr>
              <a:t>跌倒和类跌倒</a:t>
            </a:r>
            <a:r>
              <a:rPr lang="zh-CN" altLang="en-US" b="0" i="0" dirty="0">
                <a:effectLst/>
                <a:latin typeface="Inter"/>
              </a:rPr>
              <a:t>活动的</a:t>
            </a:r>
            <a:r>
              <a:rPr lang="zh-CN" altLang="en-US" b="1" i="0" dirty="0">
                <a:solidFill>
                  <a:srgbClr val="FF0000"/>
                </a:solidFill>
                <a:effectLst/>
                <a:latin typeface="Inter"/>
              </a:rPr>
              <a:t>唯一共性</a:t>
            </a:r>
            <a:r>
              <a:rPr lang="zh-CN" altLang="en-US" b="0" i="0" dirty="0">
                <a:effectLst/>
                <a:latin typeface="Inter"/>
              </a:rPr>
              <a:t>是：</a:t>
            </a:r>
            <a:r>
              <a:rPr lang="zh-CN" altLang="en-US" b="1" i="0" dirty="0">
                <a:solidFill>
                  <a:srgbClr val="000000"/>
                </a:solidFill>
                <a:effectLst/>
                <a:latin typeface="Inter"/>
              </a:rPr>
              <a:t>既会</a:t>
            </a:r>
            <a:r>
              <a:rPr lang="zh-CN" altLang="en-US" b="1" i="0" dirty="0">
                <a:solidFill>
                  <a:srgbClr val="FF0000"/>
                </a:solidFill>
                <a:effectLst/>
                <a:latin typeface="Inter"/>
              </a:rPr>
              <a:t>触发原始信号的状态过渡</a:t>
            </a:r>
            <a:r>
              <a:rPr lang="zh-CN" altLang="en-US" b="1" i="0" dirty="0">
                <a:solidFill>
                  <a:srgbClr val="000000"/>
                </a:solidFill>
                <a:effectLst/>
                <a:latin typeface="Inter"/>
              </a:rPr>
              <a:t>，也会伴随尖锐功率谱下降（</a:t>
            </a:r>
            <a:r>
              <a:rPr lang="zh-CN" altLang="en-US" b="1" i="0" dirty="0">
                <a:solidFill>
                  <a:srgbClr val="FF0000"/>
                </a:solidFill>
                <a:effectLst/>
                <a:latin typeface="Inter"/>
              </a:rPr>
              <a:t>滤波后信号同步过渡</a:t>
            </a:r>
            <a:r>
              <a:rPr lang="zh-CN" altLang="en-US" b="1" i="0" dirty="0">
                <a:solidFill>
                  <a:srgbClr val="000000"/>
                </a:solidFill>
                <a:effectLst/>
                <a:latin typeface="Inter"/>
              </a:rPr>
              <a:t>，</a:t>
            </a:r>
            <a:r>
              <a:rPr lang="en-US" altLang="zh-CN" b="1" dirty="0" err="1">
                <a:solidFill>
                  <a:srgbClr val="000000"/>
                </a:solidFill>
                <a:latin typeface="Inter"/>
              </a:rPr>
              <a:t>Δt</a:t>
            </a:r>
            <a:r>
              <a:rPr lang="en-US" altLang="zh-CN" b="1" dirty="0">
                <a:solidFill>
                  <a:srgbClr val="000000"/>
                </a:solidFill>
                <a:latin typeface="Inter"/>
              </a:rPr>
              <a:t> </a:t>
            </a:r>
            <a:r>
              <a:rPr lang="zh-CN" altLang="en-US" b="1" dirty="0">
                <a:solidFill>
                  <a:srgbClr val="000000"/>
                </a:solidFill>
                <a:latin typeface="Inter"/>
              </a:rPr>
              <a:t>越短，说明信号功率谱从高频到低频的下降越陡峭）</a:t>
            </a:r>
            <a:r>
              <a:rPr lang="zh-CN" altLang="en-US" b="0" i="0" dirty="0">
                <a:effectLst/>
                <a:latin typeface="Inter"/>
              </a:rPr>
              <a:t>；而原地活动（打电话）、单纯站立等无关活动，只会满足其中一个条件，因此被双信号逻辑排除。</a:t>
            </a:r>
            <a:endParaRPr lang="zh-CN" altLang="en-US" dirty="0"/>
          </a:p>
        </p:txBody>
      </p:sp>
      <p:sp>
        <p:nvSpPr>
          <p:cNvPr id="52" name="椭圆 51">
            <a:extLst>
              <a:ext uri="{FF2B5EF4-FFF2-40B4-BE49-F238E27FC236}">
                <a16:creationId xmlns:a16="http://schemas.microsoft.com/office/drawing/2014/main" id="{4CA275C5-9823-46DA-956D-3E5A2463569D}"/>
              </a:ext>
            </a:extLst>
          </p:cNvPr>
          <p:cNvSpPr/>
          <p:nvPr/>
        </p:nvSpPr>
        <p:spPr>
          <a:xfrm>
            <a:off x="1237677" y="3116246"/>
            <a:ext cx="188075" cy="15241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53D41CC9-2D11-40A6-B96A-17AE9ED7A664}"/>
              </a:ext>
            </a:extLst>
          </p:cNvPr>
          <p:cNvSpPr/>
          <p:nvPr/>
        </p:nvSpPr>
        <p:spPr>
          <a:xfrm>
            <a:off x="3213593" y="3101925"/>
            <a:ext cx="188075" cy="15241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F5F678EF-4CEA-479A-9D15-1529499635E6}"/>
              </a:ext>
            </a:extLst>
          </p:cNvPr>
          <p:cNvSpPr txBox="1"/>
          <p:nvPr/>
        </p:nvSpPr>
        <p:spPr>
          <a:xfrm>
            <a:off x="680734" y="3514318"/>
            <a:ext cx="2282831" cy="307777"/>
          </a:xfrm>
          <a:prstGeom prst="rect">
            <a:avLst/>
          </a:prstGeom>
          <a:noFill/>
        </p:spPr>
        <p:txBody>
          <a:bodyPr wrap="square">
            <a:spAutoFit/>
          </a:bodyPr>
          <a:lstStyle/>
          <a:p>
            <a:r>
              <a:rPr lang="zh-CN" altLang="en-US" sz="1400" b="1" dirty="0">
                <a:solidFill>
                  <a:srgbClr val="00B050"/>
                </a:solidFill>
              </a:rPr>
              <a:t>单一观测原始信号</a:t>
            </a:r>
          </a:p>
        </p:txBody>
      </p:sp>
      <p:sp>
        <p:nvSpPr>
          <p:cNvPr id="66" name="文本框 65">
            <a:extLst>
              <a:ext uri="{FF2B5EF4-FFF2-40B4-BE49-F238E27FC236}">
                <a16:creationId xmlns:a16="http://schemas.microsoft.com/office/drawing/2014/main" id="{510670E9-76C5-49A7-BEA9-55319AA6A029}"/>
              </a:ext>
            </a:extLst>
          </p:cNvPr>
          <p:cNvSpPr txBox="1"/>
          <p:nvPr/>
        </p:nvSpPr>
        <p:spPr>
          <a:xfrm>
            <a:off x="2640285" y="3534774"/>
            <a:ext cx="2282831" cy="307777"/>
          </a:xfrm>
          <a:prstGeom prst="rect">
            <a:avLst/>
          </a:prstGeom>
          <a:noFill/>
        </p:spPr>
        <p:txBody>
          <a:bodyPr wrap="square">
            <a:spAutoFit/>
          </a:bodyPr>
          <a:lstStyle/>
          <a:p>
            <a:r>
              <a:rPr lang="zh-CN" altLang="en-US" sz="1400" b="1" dirty="0">
                <a:solidFill>
                  <a:srgbClr val="00B050"/>
                </a:solidFill>
              </a:rPr>
              <a:t>单一观测滤波后信号</a:t>
            </a:r>
          </a:p>
        </p:txBody>
      </p:sp>
    </p:spTree>
    <p:custDataLst>
      <p:tags r:id="rId1"/>
    </p:custDataLst>
    <p:extLst>
      <p:ext uri="{BB962C8B-B14F-4D97-AF65-F5344CB8AC3E}">
        <p14:creationId xmlns:p14="http://schemas.microsoft.com/office/powerpoint/2010/main" val="35768685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ppt_x"/>
                                          </p:val>
                                        </p:tav>
                                        <p:tav tm="100000">
                                          <p:val>
                                            <p:strVal val="#ppt_x"/>
                                          </p:val>
                                        </p:tav>
                                      </p:tavLst>
                                    </p:anim>
                                    <p:anim calcmode="lin" valueType="num">
                                      <p:cBhvr additive="base">
                                        <p:cTn id="8" dur="500" fill="hold"/>
                                        <p:tgtEl>
                                          <p:spTgt spid="6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5"/>
                                        </p:tgtEl>
                                        <p:attrNameLst>
                                          <p:attrName>style.visibility</p:attrName>
                                        </p:attrNameLst>
                                      </p:cBhvr>
                                      <p:to>
                                        <p:strVal val="visible"/>
                                      </p:to>
                                    </p:set>
                                    <p:anim calcmode="lin" valueType="num">
                                      <p:cBhvr additive="base">
                                        <p:cTn id="15" dur="500" fill="hold"/>
                                        <p:tgtEl>
                                          <p:spTgt spid="65"/>
                                        </p:tgtEl>
                                        <p:attrNameLst>
                                          <p:attrName>ppt_x</p:attrName>
                                        </p:attrNameLst>
                                      </p:cBhvr>
                                      <p:tavLst>
                                        <p:tav tm="0">
                                          <p:val>
                                            <p:strVal val="#ppt_x"/>
                                          </p:val>
                                        </p:tav>
                                        <p:tav tm="100000">
                                          <p:val>
                                            <p:strVal val="#ppt_x"/>
                                          </p:val>
                                        </p:tav>
                                      </p:tavLst>
                                    </p:anim>
                                    <p:anim calcmode="lin" valueType="num">
                                      <p:cBhvr additive="base">
                                        <p:cTn id="16" dur="500" fill="hold"/>
                                        <p:tgtEl>
                                          <p:spTgt spid="6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ppt_x"/>
                                          </p:val>
                                        </p:tav>
                                        <p:tav tm="100000">
                                          <p:val>
                                            <p:strVal val="#ppt_x"/>
                                          </p:val>
                                        </p:tav>
                                      </p:tavLst>
                                    </p:anim>
                                    <p:anim calcmode="lin" valueType="num">
                                      <p:cBhvr additive="base">
                                        <p:cTn id="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65" grpId="0"/>
      <p:bldP spid="66" grpId="0"/>
    </p:bldLst>
  </p:timing>
</p:sld>
</file>

<file path=ppt/slides/slide62.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9" name="文本框 8">
            <a:extLst>
              <a:ext uri="{FF2B5EF4-FFF2-40B4-BE49-F238E27FC236}">
                <a16:creationId xmlns:a16="http://schemas.microsoft.com/office/drawing/2014/main" id="{B2E5E3B3-CA98-4C18-9D8B-ECFC2A81E12E}"/>
              </a:ext>
            </a:extLst>
          </p:cNvPr>
          <p:cNvSpPr txBox="1"/>
          <p:nvPr/>
        </p:nvSpPr>
        <p:spPr>
          <a:xfrm>
            <a:off x="224711" y="1690670"/>
            <a:ext cx="5023909" cy="369332"/>
          </a:xfrm>
          <a:prstGeom prst="rect">
            <a:avLst/>
          </a:prstGeom>
          <a:noFill/>
        </p:spPr>
        <p:txBody>
          <a:bodyPr wrap="square">
            <a:spAutoFit/>
          </a:bodyPr>
          <a:lstStyle/>
          <a:p>
            <a:pPr algn="l"/>
            <a:r>
              <a:rPr lang="zh-CN" altLang="en-US" b="1" i="0" dirty="0">
                <a:solidFill>
                  <a:srgbClr val="000000"/>
                </a:solidFill>
                <a:effectLst/>
                <a:latin typeface="Inter"/>
              </a:rPr>
              <a:t>确定活动 “起始点”</a:t>
            </a:r>
            <a:r>
              <a:rPr lang="en-US" altLang="zh-CN" b="1" i="0" dirty="0">
                <a:solidFill>
                  <a:srgbClr val="000000"/>
                </a:solidFill>
                <a:effectLst/>
                <a:latin typeface="Inter"/>
              </a:rPr>
              <a:t>—— </a:t>
            </a:r>
            <a:r>
              <a:rPr lang="zh-CN" altLang="en-US" b="1" i="0" dirty="0">
                <a:solidFill>
                  <a:srgbClr val="000000"/>
                </a:solidFill>
                <a:effectLst/>
                <a:latin typeface="Inter"/>
              </a:rPr>
              <a:t>选择回溯窗口大小</a:t>
            </a:r>
          </a:p>
        </p:txBody>
      </p:sp>
      <p:sp>
        <p:nvSpPr>
          <p:cNvPr id="10" name="文本框 9">
            <a:extLst>
              <a:ext uri="{FF2B5EF4-FFF2-40B4-BE49-F238E27FC236}">
                <a16:creationId xmlns:a16="http://schemas.microsoft.com/office/drawing/2014/main" id="{A3098A18-1731-4E07-AD5D-82E9F7558853}"/>
              </a:ext>
            </a:extLst>
          </p:cNvPr>
          <p:cNvSpPr txBox="1"/>
          <p:nvPr/>
        </p:nvSpPr>
        <p:spPr>
          <a:xfrm>
            <a:off x="135467" y="1203231"/>
            <a:ext cx="6096000" cy="461665"/>
          </a:xfrm>
          <a:prstGeom prst="rect">
            <a:avLst/>
          </a:prstGeom>
          <a:noFill/>
        </p:spPr>
        <p:txBody>
          <a:bodyPr wrap="square">
            <a:spAutoFit/>
          </a:bodyPr>
          <a:lstStyle/>
          <a:p>
            <a:pPr algn="l"/>
            <a:r>
              <a:rPr lang="zh-CN" altLang="en-US" sz="2400" b="1" i="0" dirty="0">
                <a:solidFill>
                  <a:srgbClr val="000000"/>
                </a:solidFill>
                <a:effectLst/>
                <a:latin typeface="Helvetica Neue"/>
              </a:rPr>
              <a:t>活动分割</a:t>
            </a:r>
          </a:p>
        </p:txBody>
      </p:sp>
      <p:pic>
        <p:nvPicPr>
          <p:cNvPr id="11" name="图片 10">
            <a:extLst>
              <a:ext uri="{FF2B5EF4-FFF2-40B4-BE49-F238E27FC236}">
                <a16:creationId xmlns:a16="http://schemas.microsoft.com/office/drawing/2014/main" id="{30B5D0CF-6884-48C9-86C2-301F7AF4F33A}"/>
              </a:ext>
            </a:extLst>
          </p:cNvPr>
          <p:cNvPicPr>
            <a:picLocks noChangeAspect="1"/>
          </p:cNvPicPr>
          <p:nvPr/>
        </p:nvPicPr>
        <p:blipFill>
          <a:blip r:embed="rId6"/>
          <a:stretch>
            <a:fillRect/>
          </a:stretch>
        </p:blipFill>
        <p:spPr>
          <a:xfrm>
            <a:off x="223908" y="2038520"/>
            <a:ext cx="7074684" cy="3537343"/>
          </a:xfrm>
          <a:prstGeom prst="rect">
            <a:avLst/>
          </a:prstGeom>
        </p:spPr>
      </p:pic>
      <p:sp>
        <p:nvSpPr>
          <p:cNvPr id="12" name="文本框 11">
            <a:extLst>
              <a:ext uri="{FF2B5EF4-FFF2-40B4-BE49-F238E27FC236}">
                <a16:creationId xmlns:a16="http://schemas.microsoft.com/office/drawing/2014/main" id="{7F2DDDE1-F20A-4869-9576-7EA8605BC3E0}"/>
              </a:ext>
            </a:extLst>
          </p:cNvPr>
          <p:cNvSpPr txBox="1"/>
          <p:nvPr/>
        </p:nvSpPr>
        <p:spPr>
          <a:xfrm>
            <a:off x="7564572" y="1918818"/>
            <a:ext cx="4450205" cy="953921"/>
          </a:xfrm>
          <a:prstGeom prst="rect">
            <a:avLst/>
          </a:prstGeom>
          <a:noFill/>
        </p:spPr>
        <p:txBody>
          <a:bodyPr wrap="square">
            <a:spAutoFit/>
          </a:bodyPr>
          <a:lstStyle/>
          <a:p>
            <a:r>
              <a:rPr lang="zh-CN" altLang="en-US" b="0" i="0" dirty="0">
                <a:solidFill>
                  <a:srgbClr val="333333"/>
                </a:solidFill>
                <a:effectLst/>
                <a:latin typeface="Helvetica Neue"/>
              </a:rPr>
              <a:t>为了区分跌倒与类跌倒活动，</a:t>
            </a:r>
            <a:r>
              <a:rPr lang="zh-CN" altLang="en-US" b="0" i="0" dirty="0">
                <a:solidFill>
                  <a:srgbClr val="FF0000"/>
                </a:solidFill>
                <a:effectLst/>
                <a:latin typeface="Helvetica Neue"/>
              </a:rPr>
              <a:t>需要确定合适的回溯窗口大小</a:t>
            </a:r>
            <a:r>
              <a:rPr lang="zh-CN" altLang="en-US" b="0" i="0" dirty="0">
                <a:solidFill>
                  <a:srgbClr val="333333"/>
                </a:solidFill>
                <a:effectLst/>
                <a:latin typeface="Helvetica Neue"/>
              </a:rPr>
              <a:t>，以采集训练数据样本，实现精确的跌倒检测。</a:t>
            </a:r>
            <a:endParaRPr lang="en-US" altLang="zh-CN" b="0" i="0" dirty="0">
              <a:solidFill>
                <a:srgbClr val="333333"/>
              </a:solidFill>
              <a:effectLst/>
              <a:latin typeface="Helvetica Neue"/>
            </a:endParaRPr>
          </a:p>
        </p:txBody>
      </p:sp>
      <p:sp>
        <p:nvSpPr>
          <p:cNvPr id="13" name="椭圆 12">
            <a:extLst>
              <a:ext uri="{FF2B5EF4-FFF2-40B4-BE49-F238E27FC236}">
                <a16:creationId xmlns:a16="http://schemas.microsoft.com/office/drawing/2014/main" id="{CA92CCCB-EB97-4133-BFED-AFE9539B420B}"/>
              </a:ext>
            </a:extLst>
          </p:cNvPr>
          <p:cNvSpPr/>
          <p:nvPr/>
        </p:nvSpPr>
        <p:spPr>
          <a:xfrm>
            <a:off x="6392333" y="2117426"/>
            <a:ext cx="482600" cy="3081107"/>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26F36816-F29D-4B13-8673-DD060FEACD69}"/>
              </a:ext>
            </a:extLst>
          </p:cNvPr>
          <p:cNvSpPr/>
          <p:nvPr/>
        </p:nvSpPr>
        <p:spPr>
          <a:xfrm>
            <a:off x="2700867" y="2086223"/>
            <a:ext cx="482600" cy="3081107"/>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B8E1C2A-7BFA-49DE-9FB2-2D1CE0C6B384}"/>
              </a:ext>
            </a:extLst>
          </p:cNvPr>
          <p:cNvSpPr txBox="1"/>
          <p:nvPr/>
        </p:nvSpPr>
        <p:spPr>
          <a:xfrm>
            <a:off x="1831164" y="5069662"/>
            <a:ext cx="1043023" cy="276999"/>
          </a:xfrm>
          <a:prstGeom prst="rect">
            <a:avLst/>
          </a:prstGeom>
          <a:noFill/>
        </p:spPr>
        <p:txBody>
          <a:bodyPr wrap="square">
            <a:spAutoFit/>
          </a:bodyPr>
          <a:lstStyle/>
          <a:p>
            <a:r>
              <a:rPr lang="zh-CN" altLang="en-US" sz="1200" b="1" dirty="0">
                <a:solidFill>
                  <a:srgbClr val="FF0000"/>
                </a:solidFill>
              </a:rPr>
              <a:t>类跌倒活动</a:t>
            </a:r>
          </a:p>
        </p:txBody>
      </p:sp>
      <p:sp>
        <p:nvSpPr>
          <p:cNvPr id="16" name="文本框 15">
            <a:extLst>
              <a:ext uri="{FF2B5EF4-FFF2-40B4-BE49-F238E27FC236}">
                <a16:creationId xmlns:a16="http://schemas.microsoft.com/office/drawing/2014/main" id="{E7FF24A8-AF45-4E7D-ACC1-BE3236836884}"/>
              </a:ext>
            </a:extLst>
          </p:cNvPr>
          <p:cNvSpPr txBox="1"/>
          <p:nvPr/>
        </p:nvSpPr>
        <p:spPr>
          <a:xfrm>
            <a:off x="5702694" y="5069662"/>
            <a:ext cx="1043023" cy="276999"/>
          </a:xfrm>
          <a:prstGeom prst="rect">
            <a:avLst/>
          </a:prstGeom>
          <a:noFill/>
        </p:spPr>
        <p:txBody>
          <a:bodyPr wrap="square">
            <a:spAutoFit/>
          </a:bodyPr>
          <a:lstStyle/>
          <a:p>
            <a:r>
              <a:rPr lang="zh-CN" altLang="en-US" sz="1200" b="1" dirty="0">
                <a:solidFill>
                  <a:srgbClr val="FF0000"/>
                </a:solidFill>
              </a:rPr>
              <a:t>跌倒活动</a:t>
            </a:r>
          </a:p>
        </p:txBody>
      </p:sp>
      <p:cxnSp>
        <p:nvCxnSpPr>
          <p:cNvPr id="17" name="直接箭头连接符 16">
            <a:extLst>
              <a:ext uri="{FF2B5EF4-FFF2-40B4-BE49-F238E27FC236}">
                <a16:creationId xmlns:a16="http://schemas.microsoft.com/office/drawing/2014/main" id="{9FF70E13-DCCC-459F-B1D4-FB49240A4769}"/>
              </a:ext>
            </a:extLst>
          </p:cNvPr>
          <p:cNvCxnSpPr>
            <a:cxnSpLocks/>
          </p:cNvCxnSpPr>
          <p:nvPr/>
        </p:nvCxnSpPr>
        <p:spPr>
          <a:xfrm flipH="1">
            <a:off x="2387228" y="4432615"/>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2382678E-91BB-47A8-8818-7E2AA59AC5A7}"/>
              </a:ext>
            </a:extLst>
          </p:cNvPr>
          <p:cNvCxnSpPr>
            <a:cxnSpLocks/>
          </p:cNvCxnSpPr>
          <p:nvPr/>
        </p:nvCxnSpPr>
        <p:spPr>
          <a:xfrm flipH="1">
            <a:off x="6011974" y="4443030"/>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22D07EDE-9A93-4B25-A446-8304321C67FD}"/>
              </a:ext>
            </a:extLst>
          </p:cNvPr>
          <p:cNvSpPr txBox="1"/>
          <p:nvPr/>
        </p:nvSpPr>
        <p:spPr>
          <a:xfrm>
            <a:off x="7585738" y="2972986"/>
            <a:ext cx="4450205" cy="1754326"/>
          </a:xfrm>
          <a:prstGeom prst="rect">
            <a:avLst/>
          </a:prstGeom>
          <a:noFill/>
        </p:spPr>
        <p:txBody>
          <a:bodyPr wrap="square">
            <a:spAutoFit/>
          </a:bodyPr>
          <a:lstStyle/>
          <a:p>
            <a:pPr algn="l"/>
            <a:r>
              <a:rPr lang="zh-CN" altLang="en-US" b="0" i="0" dirty="0">
                <a:solidFill>
                  <a:srgbClr val="000000"/>
                </a:solidFill>
                <a:effectLst/>
                <a:latin typeface="Inter"/>
              </a:rPr>
              <a:t>前期跌倒检测工作中，窗口大小</a:t>
            </a:r>
            <a:r>
              <a:rPr lang="zh-CN" altLang="en-US" b="1" i="0" dirty="0">
                <a:solidFill>
                  <a:srgbClr val="000000"/>
                </a:solidFill>
                <a:effectLst/>
                <a:latin typeface="Inter"/>
              </a:rPr>
              <a:t>因传感器 </a:t>
            </a:r>
            <a:r>
              <a:rPr lang="en-US" altLang="zh-CN" b="1" i="0" dirty="0">
                <a:solidFill>
                  <a:srgbClr val="000000"/>
                </a:solidFill>
                <a:effectLst/>
                <a:latin typeface="Inter"/>
              </a:rPr>
              <a:t>/ </a:t>
            </a:r>
            <a:r>
              <a:rPr lang="zh-CN" altLang="en-US" b="1" i="0" dirty="0">
                <a:solidFill>
                  <a:srgbClr val="000000"/>
                </a:solidFill>
                <a:effectLst/>
                <a:latin typeface="Inter"/>
              </a:rPr>
              <a:t>方法不同，</a:t>
            </a:r>
            <a:r>
              <a:rPr lang="zh-CN" altLang="en-US" b="0" i="0" dirty="0">
                <a:solidFill>
                  <a:srgbClr val="000000"/>
                </a:solidFill>
                <a:effectLst/>
                <a:latin typeface="Inter"/>
              </a:rPr>
              <a:t>差异较大：</a:t>
            </a:r>
          </a:p>
          <a:p>
            <a:pPr algn="l">
              <a:buFont typeface="Arial" panose="020B0604020202020204" pitchFamily="34" charset="0"/>
              <a:buChar char="•"/>
            </a:pPr>
            <a:r>
              <a:rPr lang="en-US" altLang="zh-CN" b="0" i="0" dirty="0">
                <a:solidFill>
                  <a:srgbClr val="000000"/>
                </a:solidFill>
                <a:effectLst/>
                <a:latin typeface="Inter"/>
              </a:rPr>
              <a:t>0.32 </a:t>
            </a:r>
            <a:r>
              <a:rPr lang="zh-CN" altLang="en-US" b="0" i="0" dirty="0">
                <a:solidFill>
                  <a:srgbClr val="000000"/>
                </a:solidFill>
                <a:effectLst/>
                <a:latin typeface="Inter"/>
              </a:rPr>
              <a:t>秒 （适用于高采样率的加速度计传感器）；</a:t>
            </a:r>
          </a:p>
          <a:p>
            <a:pPr algn="l">
              <a:buFont typeface="Arial" panose="020B0604020202020204" pitchFamily="34" charset="0"/>
              <a:buChar char="•"/>
            </a:pPr>
            <a:r>
              <a:rPr lang="en-US" altLang="zh-CN" b="0" i="0" dirty="0">
                <a:solidFill>
                  <a:srgbClr val="000000"/>
                </a:solidFill>
                <a:effectLst/>
                <a:latin typeface="Inter"/>
              </a:rPr>
              <a:t>1 </a:t>
            </a:r>
            <a:r>
              <a:rPr lang="zh-CN" altLang="en-US" b="0" i="0" dirty="0">
                <a:solidFill>
                  <a:srgbClr val="000000"/>
                </a:solidFill>
                <a:effectLst/>
                <a:latin typeface="Inter"/>
              </a:rPr>
              <a:t>秒 （适用于简单动作识别场景）；</a:t>
            </a:r>
          </a:p>
          <a:p>
            <a:pPr algn="l">
              <a:buFont typeface="Arial" panose="020B0604020202020204" pitchFamily="34" charset="0"/>
              <a:buChar char="•"/>
            </a:pPr>
            <a:r>
              <a:rPr lang="en-US" altLang="zh-CN" b="0" i="0" dirty="0">
                <a:solidFill>
                  <a:srgbClr val="000000"/>
                </a:solidFill>
                <a:effectLst/>
                <a:latin typeface="Inter"/>
              </a:rPr>
              <a:t>10 </a:t>
            </a:r>
            <a:r>
              <a:rPr lang="zh-CN" altLang="en-US" b="0" i="0" dirty="0">
                <a:solidFill>
                  <a:srgbClr val="000000"/>
                </a:solidFill>
                <a:effectLst/>
                <a:latin typeface="Inter"/>
              </a:rPr>
              <a:t>秒 （适用于慢节奏活动监测）。</a:t>
            </a:r>
          </a:p>
        </p:txBody>
      </p:sp>
      <p:sp>
        <p:nvSpPr>
          <p:cNvPr id="25" name="文本框 24">
            <a:extLst>
              <a:ext uri="{FF2B5EF4-FFF2-40B4-BE49-F238E27FC236}">
                <a16:creationId xmlns:a16="http://schemas.microsoft.com/office/drawing/2014/main" id="{57B25408-6BFD-4931-9EDF-2C25CE4E9D51}"/>
              </a:ext>
            </a:extLst>
          </p:cNvPr>
          <p:cNvSpPr txBox="1"/>
          <p:nvPr/>
        </p:nvSpPr>
        <p:spPr>
          <a:xfrm>
            <a:off x="4222570" y="5534481"/>
            <a:ext cx="3578808" cy="646331"/>
          </a:xfrm>
          <a:prstGeom prst="rect">
            <a:avLst/>
          </a:prstGeom>
          <a:noFill/>
        </p:spPr>
        <p:txBody>
          <a:bodyPr wrap="square">
            <a:spAutoFit/>
          </a:bodyPr>
          <a:lstStyle/>
          <a:p>
            <a:r>
              <a:rPr lang="zh-CN" altLang="en-US" b="0" i="0" dirty="0">
                <a:effectLst/>
                <a:latin typeface="Inter"/>
              </a:rPr>
              <a:t>如</a:t>
            </a:r>
            <a:r>
              <a:rPr lang="zh-CN" altLang="en-US" b="1" i="0" dirty="0">
                <a:solidFill>
                  <a:srgbClr val="FF0000"/>
                </a:solidFill>
                <a:effectLst/>
                <a:latin typeface="Inter"/>
              </a:rPr>
              <a:t>跌倒结束点</a:t>
            </a:r>
            <a:r>
              <a:rPr lang="zh-CN" altLang="en-US" b="0" i="0" dirty="0">
                <a:effectLst/>
                <a:latin typeface="Inter"/>
              </a:rPr>
              <a:t>，前 </a:t>
            </a:r>
            <a:r>
              <a:rPr lang="en-US" altLang="zh-CN" b="0" i="0" dirty="0">
                <a:effectLst/>
                <a:latin typeface="Inter"/>
              </a:rPr>
              <a:t>2 </a:t>
            </a:r>
            <a:r>
              <a:rPr lang="zh-CN" altLang="en-US" b="0" i="0" dirty="0">
                <a:effectLst/>
                <a:latin typeface="Inter"/>
              </a:rPr>
              <a:t>秒是倒地动态，后 </a:t>
            </a:r>
            <a:r>
              <a:rPr lang="en-US" altLang="zh-CN" b="0" i="0" dirty="0">
                <a:effectLst/>
                <a:latin typeface="Inter"/>
              </a:rPr>
              <a:t>1 </a:t>
            </a:r>
            <a:r>
              <a:rPr lang="zh-CN" altLang="en-US" b="0" i="0" dirty="0">
                <a:effectLst/>
                <a:latin typeface="Inter"/>
              </a:rPr>
              <a:t>秒是躺平静态（图</a:t>
            </a:r>
            <a:r>
              <a:rPr lang="en-US" altLang="zh-CN" b="0" i="0" dirty="0">
                <a:effectLst/>
                <a:latin typeface="Inter"/>
              </a:rPr>
              <a:t>a</a:t>
            </a:r>
            <a:r>
              <a:rPr lang="zh-CN" altLang="en-US" b="0" i="0" dirty="0">
                <a:effectLst/>
                <a:latin typeface="Inter"/>
              </a:rPr>
              <a:t>）</a:t>
            </a:r>
            <a:endParaRPr lang="zh-CN" altLang="en-US" dirty="0"/>
          </a:p>
        </p:txBody>
      </p:sp>
      <p:sp>
        <p:nvSpPr>
          <p:cNvPr id="26" name="文本框 25">
            <a:extLst>
              <a:ext uri="{FF2B5EF4-FFF2-40B4-BE49-F238E27FC236}">
                <a16:creationId xmlns:a16="http://schemas.microsoft.com/office/drawing/2014/main" id="{4468F939-2E28-4428-AB28-BCAB4F769115}"/>
              </a:ext>
            </a:extLst>
          </p:cNvPr>
          <p:cNvSpPr txBox="1"/>
          <p:nvPr/>
        </p:nvSpPr>
        <p:spPr>
          <a:xfrm>
            <a:off x="430895" y="5531874"/>
            <a:ext cx="3578808" cy="646331"/>
          </a:xfrm>
          <a:prstGeom prst="rect">
            <a:avLst/>
          </a:prstGeom>
          <a:noFill/>
        </p:spPr>
        <p:txBody>
          <a:bodyPr wrap="square">
            <a:spAutoFit/>
          </a:bodyPr>
          <a:lstStyle/>
          <a:p>
            <a:r>
              <a:rPr lang="zh-CN" altLang="en-US" b="0" i="0" dirty="0">
                <a:effectLst/>
                <a:latin typeface="Inter"/>
              </a:rPr>
              <a:t>如</a:t>
            </a:r>
            <a:r>
              <a:rPr lang="zh-CN" altLang="en-US" b="1" i="0" dirty="0">
                <a:solidFill>
                  <a:srgbClr val="FF0000"/>
                </a:solidFill>
                <a:effectLst/>
                <a:latin typeface="Inter"/>
              </a:rPr>
              <a:t>类跌倒结束点</a:t>
            </a:r>
            <a:r>
              <a:rPr lang="zh-CN" altLang="en-US" b="0" i="0" dirty="0">
                <a:effectLst/>
                <a:latin typeface="Inter"/>
              </a:rPr>
              <a:t>，前 </a:t>
            </a:r>
            <a:r>
              <a:rPr lang="en-US" altLang="zh-CN" b="0" i="0" dirty="0">
                <a:effectLst/>
                <a:latin typeface="Inter"/>
              </a:rPr>
              <a:t>2 </a:t>
            </a:r>
            <a:r>
              <a:rPr lang="zh-CN" altLang="en-US" b="0" i="0" dirty="0">
                <a:effectLst/>
                <a:latin typeface="Inter"/>
              </a:rPr>
              <a:t>秒是</a:t>
            </a:r>
            <a:r>
              <a:rPr lang="zh-CN" altLang="en-US" dirty="0">
                <a:latin typeface="Inter"/>
              </a:rPr>
              <a:t>坐下</a:t>
            </a:r>
            <a:r>
              <a:rPr lang="zh-CN" altLang="en-US" b="0" i="0" dirty="0">
                <a:effectLst/>
                <a:latin typeface="Inter"/>
              </a:rPr>
              <a:t>动态，后 </a:t>
            </a:r>
            <a:r>
              <a:rPr lang="en-US" altLang="zh-CN" b="0" i="0" dirty="0">
                <a:effectLst/>
                <a:latin typeface="Inter"/>
              </a:rPr>
              <a:t>1 </a:t>
            </a:r>
            <a:r>
              <a:rPr lang="zh-CN" altLang="en-US" b="0" i="0" dirty="0">
                <a:effectLst/>
                <a:latin typeface="Inter"/>
              </a:rPr>
              <a:t>秒是坐好静态（图</a:t>
            </a:r>
            <a:r>
              <a:rPr lang="en-US" altLang="zh-CN" b="0" i="0" dirty="0">
                <a:effectLst/>
                <a:latin typeface="Inter"/>
              </a:rPr>
              <a:t>a</a:t>
            </a:r>
            <a:r>
              <a:rPr lang="zh-CN" altLang="en-US" b="0" i="0" dirty="0">
                <a:effectLst/>
                <a:latin typeface="Inter"/>
              </a:rPr>
              <a:t>）</a:t>
            </a:r>
            <a:endParaRPr lang="zh-CN" altLang="en-US" dirty="0"/>
          </a:p>
        </p:txBody>
      </p:sp>
      <p:sp>
        <p:nvSpPr>
          <p:cNvPr id="27" name="文本框 26">
            <a:extLst>
              <a:ext uri="{FF2B5EF4-FFF2-40B4-BE49-F238E27FC236}">
                <a16:creationId xmlns:a16="http://schemas.microsoft.com/office/drawing/2014/main" id="{2CBFECF6-640B-443B-BCBD-F1794BA29FD9}"/>
              </a:ext>
            </a:extLst>
          </p:cNvPr>
          <p:cNvSpPr txBox="1"/>
          <p:nvPr/>
        </p:nvSpPr>
        <p:spPr>
          <a:xfrm>
            <a:off x="130135" y="6223098"/>
            <a:ext cx="12061865" cy="369332"/>
          </a:xfrm>
          <a:prstGeom prst="rect">
            <a:avLst/>
          </a:prstGeom>
          <a:solidFill>
            <a:schemeClr val="accent3">
              <a:lumMod val="20000"/>
              <a:lumOff val="80000"/>
            </a:schemeClr>
          </a:solidFill>
        </p:spPr>
        <p:txBody>
          <a:bodyPr wrap="square">
            <a:spAutoFit/>
          </a:bodyPr>
          <a:lstStyle/>
          <a:p>
            <a:r>
              <a:rPr lang="zh-CN" altLang="en-US" b="1" i="0" dirty="0">
                <a:solidFill>
                  <a:srgbClr val="333333"/>
                </a:solidFill>
                <a:effectLst/>
                <a:latin typeface="Helvetica Neue"/>
              </a:rPr>
              <a:t>确定</a:t>
            </a:r>
            <a:r>
              <a:rPr lang="zh-CN" altLang="en-US" b="1" i="0" dirty="0">
                <a:solidFill>
                  <a:srgbClr val="FF0000"/>
                </a:solidFill>
                <a:effectLst/>
                <a:latin typeface="Helvetica Neue"/>
              </a:rPr>
              <a:t>最佳窗口大小为</a:t>
            </a:r>
            <a:r>
              <a:rPr lang="en-US" altLang="zh-CN" b="1" i="0" dirty="0">
                <a:solidFill>
                  <a:srgbClr val="FF0000"/>
                </a:solidFill>
                <a:effectLst/>
                <a:latin typeface="Helvetica Neue"/>
              </a:rPr>
              <a:t>3</a:t>
            </a:r>
            <a:r>
              <a:rPr lang="zh-CN" altLang="en-US" b="1" i="0" dirty="0">
                <a:solidFill>
                  <a:srgbClr val="FF0000"/>
                </a:solidFill>
                <a:effectLst/>
                <a:latin typeface="Helvetica Neue"/>
              </a:rPr>
              <a:t>秒</a:t>
            </a:r>
            <a:r>
              <a:rPr lang="en-US" altLang="zh-CN" b="1" i="0" dirty="0">
                <a:solidFill>
                  <a:srgbClr val="333333"/>
                </a:solidFill>
                <a:effectLst/>
                <a:latin typeface="Helvetica Neue"/>
              </a:rPr>
              <a:t>——</a:t>
            </a:r>
            <a:r>
              <a:rPr lang="zh-CN" altLang="en-US" b="1" i="0" dirty="0">
                <a:solidFill>
                  <a:srgbClr val="333333"/>
                </a:solidFill>
                <a:effectLst/>
                <a:latin typeface="Helvetica Neue"/>
              </a:rPr>
              <a:t>包含结束点前</a:t>
            </a:r>
            <a:r>
              <a:rPr lang="en-US" altLang="zh-CN" b="1" i="0" dirty="0">
                <a:solidFill>
                  <a:srgbClr val="333333"/>
                </a:solidFill>
                <a:effectLst/>
                <a:latin typeface="Helvetica Neue"/>
              </a:rPr>
              <a:t>2</a:t>
            </a:r>
            <a:r>
              <a:rPr lang="zh-CN" altLang="en-US" b="1" i="0" dirty="0">
                <a:solidFill>
                  <a:srgbClr val="333333"/>
                </a:solidFill>
                <a:effectLst/>
                <a:latin typeface="Helvetica Neue"/>
              </a:rPr>
              <a:t>秒和结束点后</a:t>
            </a:r>
            <a:r>
              <a:rPr lang="en-US" altLang="zh-CN" b="1" i="0" dirty="0">
                <a:solidFill>
                  <a:srgbClr val="333333"/>
                </a:solidFill>
                <a:effectLst/>
                <a:latin typeface="Helvetica Neue"/>
              </a:rPr>
              <a:t>1</a:t>
            </a:r>
            <a:r>
              <a:rPr lang="zh-CN" altLang="en-US" b="1" i="0" dirty="0">
                <a:solidFill>
                  <a:srgbClr val="333333"/>
                </a:solidFill>
                <a:effectLst/>
                <a:latin typeface="Helvetica Neue"/>
              </a:rPr>
              <a:t>秒的信号片段，该片段可完整表征分割出的活动流（图</a:t>
            </a:r>
            <a:r>
              <a:rPr lang="en-US" altLang="zh-CN" b="1" dirty="0">
                <a:solidFill>
                  <a:srgbClr val="333333"/>
                </a:solidFill>
                <a:latin typeface="Helvetica Neue"/>
              </a:rPr>
              <a:t>b</a:t>
            </a:r>
            <a:r>
              <a:rPr lang="zh-CN" altLang="en-US" b="1" i="0" dirty="0">
                <a:solidFill>
                  <a:srgbClr val="333333"/>
                </a:solidFill>
                <a:effectLst/>
                <a:latin typeface="Helvetica Neue"/>
              </a:rPr>
              <a:t>）</a:t>
            </a:r>
            <a:endParaRPr lang="zh-CN" altLang="en-US" dirty="0"/>
          </a:p>
        </p:txBody>
      </p:sp>
    </p:spTree>
    <p:custDataLst>
      <p:tags r:id="rId1"/>
    </p:custDataLst>
    <p:extLst>
      <p:ext uri="{BB962C8B-B14F-4D97-AF65-F5344CB8AC3E}">
        <p14:creationId xmlns:p14="http://schemas.microsoft.com/office/powerpoint/2010/main" val="38866070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12" name="文本框 11">
            <a:extLst>
              <a:ext uri="{FF2B5EF4-FFF2-40B4-BE49-F238E27FC236}">
                <a16:creationId xmlns:a16="http://schemas.microsoft.com/office/drawing/2014/main" id="{48076F80-6549-45A2-BE28-A814922C9950}"/>
              </a:ext>
            </a:extLst>
          </p:cNvPr>
          <p:cNvSpPr txBox="1"/>
          <p:nvPr/>
        </p:nvSpPr>
        <p:spPr>
          <a:xfrm>
            <a:off x="163437" y="1131554"/>
            <a:ext cx="1480244" cy="461665"/>
          </a:xfrm>
          <a:prstGeom prst="rect">
            <a:avLst/>
          </a:prstGeom>
          <a:noFill/>
        </p:spPr>
        <p:txBody>
          <a:bodyPr wrap="square">
            <a:spAutoFit/>
          </a:bodyPr>
          <a:lstStyle/>
          <a:p>
            <a:pPr algn="l"/>
            <a:r>
              <a:rPr lang="zh-CN" altLang="en-US" sz="2400" b="1" i="0" dirty="0">
                <a:solidFill>
                  <a:srgbClr val="000000"/>
                </a:solidFill>
                <a:effectLst/>
                <a:latin typeface="Helvetica Neue"/>
              </a:rPr>
              <a:t>跌倒检测</a:t>
            </a:r>
          </a:p>
        </p:txBody>
      </p:sp>
      <p:sp>
        <p:nvSpPr>
          <p:cNvPr id="13" name="文本框 12">
            <a:extLst>
              <a:ext uri="{FF2B5EF4-FFF2-40B4-BE49-F238E27FC236}">
                <a16:creationId xmlns:a16="http://schemas.microsoft.com/office/drawing/2014/main" id="{A59E0164-99D1-4907-8E98-52A711AFB193}"/>
              </a:ext>
            </a:extLst>
          </p:cNvPr>
          <p:cNvSpPr txBox="1"/>
          <p:nvPr/>
        </p:nvSpPr>
        <p:spPr>
          <a:xfrm>
            <a:off x="1775142" y="1206619"/>
            <a:ext cx="10375413" cy="369332"/>
          </a:xfrm>
          <a:prstGeom prst="rect">
            <a:avLst/>
          </a:prstGeom>
          <a:noFill/>
        </p:spPr>
        <p:txBody>
          <a:bodyPr wrap="square">
            <a:spAutoFit/>
          </a:bodyPr>
          <a:lstStyle/>
          <a:p>
            <a:r>
              <a:rPr lang="zh-CN" altLang="en-US" b="0" i="0" dirty="0">
                <a:solidFill>
                  <a:srgbClr val="333333"/>
                </a:solidFill>
                <a:effectLst/>
                <a:latin typeface="Helvetica Neue"/>
              </a:rPr>
              <a:t>通过 “特征提取 </a:t>
            </a:r>
            <a:r>
              <a:rPr lang="en-US" altLang="zh-CN" b="0" i="0" dirty="0">
                <a:solidFill>
                  <a:srgbClr val="333333"/>
                </a:solidFill>
                <a:effectLst/>
                <a:latin typeface="Helvetica Neue"/>
              </a:rPr>
              <a:t>+ SVM </a:t>
            </a:r>
            <a:r>
              <a:rPr lang="zh-CN" altLang="en-US" b="0" i="0" dirty="0">
                <a:solidFill>
                  <a:srgbClr val="333333"/>
                </a:solidFill>
                <a:effectLst/>
                <a:latin typeface="Helvetica Neue"/>
              </a:rPr>
              <a:t>分类”，最终实现 “跌倒” 与 “类跌倒活动（坐下、躺下）” 的精准区分</a:t>
            </a:r>
            <a:endParaRPr lang="zh-CN" altLang="en-US" b="1" dirty="0"/>
          </a:p>
        </p:txBody>
      </p:sp>
      <p:sp>
        <p:nvSpPr>
          <p:cNvPr id="14" name="文本框 13">
            <a:extLst>
              <a:ext uri="{FF2B5EF4-FFF2-40B4-BE49-F238E27FC236}">
                <a16:creationId xmlns:a16="http://schemas.microsoft.com/office/drawing/2014/main" id="{A35D5AA5-E0EC-44F1-8276-FA480351E25B}"/>
              </a:ext>
            </a:extLst>
          </p:cNvPr>
          <p:cNvSpPr txBox="1"/>
          <p:nvPr/>
        </p:nvSpPr>
        <p:spPr>
          <a:xfrm>
            <a:off x="178850" y="1725328"/>
            <a:ext cx="5205950" cy="369332"/>
          </a:xfrm>
          <a:prstGeom prst="rect">
            <a:avLst/>
          </a:prstGeom>
          <a:noFill/>
        </p:spPr>
        <p:txBody>
          <a:bodyPr wrap="square">
            <a:spAutoFit/>
          </a:bodyPr>
          <a:lstStyle/>
          <a:p>
            <a:pPr algn="l"/>
            <a:r>
              <a:rPr lang="zh-CN" altLang="en-US" b="1" i="0" dirty="0">
                <a:solidFill>
                  <a:srgbClr val="000000"/>
                </a:solidFill>
                <a:effectLst/>
                <a:latin typeface="Helvetica Neue"/>
              </a:rPr>
              <a:t>特征提取</a:t>
            </a:r>
          </a:p>
        </p:txBody>
      </p:sp>
      <p:sp>
        <p:nvSpPr>
          <p:cNvPr id="15" name="文本框 14">
            <a:extLst>
              <a:ext uri="{FF2B5EF4-FFF2-40B4-BE49-F238E27FC236}">
                <a16:creationId xmlns:a16="http://schemas.microsoft.com/office/drawing/2014/main" id="{7FDAC8AE-B99D-4E8E-8BD1-625C3BB4DF00}"/>
              </a:ext>
            </a:extLst>
          </p:cNvPr>
          <p:cNvSpPr txBox="1"/>
          <p:nvPr/>
        </p:nvSpPr>
        <p:spPr>
          <a:xfrm>
            <a:off x="179104" y="2078097"/>
            <a:ext cx="6097604" cy="1477328"/>
          </a:xfrm>
          <a:prstGeom prst="rect">
            <a:avLst/>
          </a:prstGeom>
          <a:noFill/>
        </p:spPr>
        <p:txBody>
          <a:bodyPr wrap="square">
            <a:spAutoFit/>
          </a:bodyPr>
          <a:lstStyle/>
          <a:p>
            <a:r>
              <a:rPr lang="zh-CN" altLang="en-US" dirty="0">
                <a:solidFill>
                  <a:srgbClr val="333333"/>
                </a:solidFill>
                <a:latin typeface="Helvetica Neue"/>
              </a:rPr>
              <a:t>从</a:t>
            </a:r>
            <a:r>
              <a:rPr lang="en-US" altLang="zh-CN" b="0" i="0" dirty="0">
                <a:solidFill>
                  <a:srgbClr val="333333"/>
                </a:solidFill>
                <a:effectLst/>
                <a:latin typeface="Helvetica Neue"/>
              </a:rPr>
              <a:t>CSI</a:t>
            </a:r>
            <a:r>
              <a:rPr lang="zh-CN" altLang="en-US" b="0" i="0" dirty="0">
                <a:solidFill>
                  <a:srgbClr val="333333"/>
                </a:solidFill>
                <a:effectLst/>
                <a:latin typeface="Helvetica Neue"/>
              </a:rPr>
              <a:t>流中提取了以下</a:t>
            </a:r>
            <a:r>
              <a:rPr lang="en-US" altLang="zh-CN" b="1" i="0" dirty="0">
                <a:solidFill>
                  <a:srgbClr val="333333"/>
                </a:solidFill>
                <a:effectLst/>
                <a:latin typeface="Helvetica Neue"/>
              </a:rPr>
              <a:t>8</a:t>
            </a:r>
            <a:r>
              <a:rPr lang="zh-CN" altLang="en-US" b="1" i="0" dirty="0">
                <a:solidFill>
                  <a:srgbClr val="333333"/>
                </a:solidFill>
                <a:effectLst/>
                <a:latin typeface="Helvetica Neue"/>
              </a:rPr>
              <a:t>类用于活动分类的特征</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a:t>
            </a:r>
            <a:r>
              <a:rPr lang="en-US" altLang="zh-CN" b="0" i="0" dirty="0">
                <a:solidFill>
                  <a:srgbClr val="333333"/>
                </a:solidFill>
                <a:effectLst/>
                <a:latin typeface="Helvetica Neue"/>
              </a:rPr>
              <a:t>1</a:t>
            </a:r>
            <a:r>
              <a:rPr lang="zh-CN" altLang="en-US" b="0" i="0" dirty="0">
                <a:solidFill>
                  <a:srgbClr val="333333"/>
                </a:solidFill>
                <a:effectLst/>
                <a:latin typeface="Helvetica Neue"/>
              </a:rPr>
              <a:t>）</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的标准化标准差（</a:t>
            </a:r>
            <a:r>
              <a:rPr lang="en-US" altLang="zh-CN" b="0" i="0" dirty="0">
                <a:solidFill>
                  <a:srgbClr val="333333"/>
                </a:solidFill>
                <a:effectLst/>
                <a:latin typeface="Helvetica Neue"/>
              </a:rPr>
              <a:t>STD</a:t>
            </a:r>
            <a:r>
              <a:rPr lang="zh-CN" altLang="en-US" b="0" i="0" dirty="0">
                <a:solidFill>
                  <a:srgbClr val="333333"/>
                </a:solidFill>
                <a:effectLst/>
                <a:latin typeface="Helvetica Neue"/>
              </a:rPr>
              <a:t>）；（</a:t>
            </a:r>
            <a:r>
              <a:rPr lang="en-US" altLang="zh-CN" b="0" i="0" dirty="0">
                <a:solidFill>
                  <a:srgbClr val="333333"/>
                </a:solidFill>
                <a:effectLst/>
                <a:latin typeface="Helvetica Neue"/>
              </a:rPr>
              <a:t>2</a:t>
            </a:r>
            <a:r>
              <a:rPr lang="zh-CN" altLang="en-US" b="0" i="0" dirty="0">
                <a:solidFill>
                  <a:srgbClr val="333333"/>
                </a:solidFill>
                <a:effectLst/>
                <a:latin typeface="Helvetica Neue"/>
              </a:rPr>
              <a:t>）中位数绝对偏差（</a:t>
            </a:r>
            <a:r>
              <a:rPr lang="en-US" altLang="zh-CN" b="0" i="0" dirty="0">
                <a:solidFill>
                  <a:srgbClr val="333333"/>
                </a:solidFill>
                <a:effectLst/>
                <a:latin typeface="Helvetica Neue"/>
              </a:rPr>
              <a:t>MAD</a:t>
            </a:r>
            <a:r>
              <a:rPr lang="zh-CN" altLang="en-US" b="0" i="0" dirty="0">
                <a:solidFill>
                  <a:srgbClr val="333333"/>
                </a:solidFill>
                <a:effectLst/>
                <a:latin typeface="Helvetica Neue"/>
              </a:rPr>
              <a:t>）；（</a:t>
            </a:r>
            <a:r>
              <a:rPr lang="en-US" altLang="zh-CN" b="0" i="0" dirty="0">
                <a:solidFill>
                  <a:srgbClr val="333333"/>
                </a:solidFill>
                <a:effectLst/>
                <a:latin typeface="Helvetica Neue"/>
              </a:rPr>
              <a:t>3</a:t>
            </a:r>
            <a:r>
              <a:rPr lang="zh-CN" altLang="en-US" b="0" i="0" dirty="0">
                <a:solidFill>
                  <a:srgbClr val="333333"/>
                </a:solidFill>
                <a:effectLst/>
                <a:latin typeface="Helvetica Neue"/>
              </a:rPr>
              <a:t>）信号强度偏移量；（</a:t>
            </a:r>
            <a:r>
              <a:rPr lang="en-US" altLang="zh-CN" b="0" i="0" dirty="0">
                <a:solidFill>
                  <a:srgbClr val="333333"/>
                </a:solidFill>
                <a:effectLst/>
                <a:latin typeface="Helvetica Neue"/>
              </a:rPr>
              <a:t>4</a:t>
            </a:r>
            <a:r>
              <a:rPr lang="zh-CN" altLang="en-US" b="0" i="0" dirty="0">
                <a:solidFill>
                  <a:srgbClr val="333333"/>
                </a:solidFill>
                <a:effectLst/>
                <a:latin typeface="Helvetica Neue"/>
              </a:rPr>
              <a:t>）四分位距（</a:t>
            </a:r>
            <a:r>
              <a:rPr lang="en-US" altLang="zh-CN" b="0" i="0" dirty="0">
                <a:solidFill>
                  <a:srgbClr val="333333"/>
                </a:solidFill>
                <a:effectLst/>
                <a:latin typeface="Helvetica Neue"/>
              </a:rPr>
              <a:t>IR</a:t>
            </a:r>
            <a:r>
              <a:rPr lang="zh-CN" altLang="en-US" b="0" i="0" dirty="0">
                <a:solidFill>
                  <a:srgbClr val="333333"/>
                </a:solidFill>
                <a:effectLst/>
                <a:latin typeface="Helvetica Neue"/>
              </a:rPr>
              <a:t>）；（</a:t>
            </a:r>
            <a:r>
              <a:rPr lang="en-US" altLang="zh-CN" b="0" i="0" dirty="0">
                <a:solidFill>
                  <a:srgbClr val="333333"/>
                </a:solidFill>
                <a:effectLst/>
                <a:latin typeface="Helvetica Neue"/>
              </a:rPr>
              <a:t>5</a:t>
            </a:r>
            <a:r>
              <a:rPr lang="zh-CN" altLang="en-US" b="0" i="0" dirty="0">
                <a:solidFill>
                  <a:srgbClr val="333333"/>
                </a:solidFill>
                <a:effectLst/>
                <a:latin typeface="Helvetica Neue"/>
              </a:rPr>
              <a:t>）信号熵；（</a:t>
            </a:r>
            <a:r>
              <a:rPr lang="en-US" altLang="zh-CN" b="0" i="0" dirty="0">
                <a:solidFill>
                  <a:srgbClr val="333333"/>
                </a:solidFill>
                <a:effectLst/>
                <a:latin typeface="Helvetica Neue"/>
              </a:rPr>
              <a:t>6</a:t>
            </a:r>
            <a:r>
              <a:rPr lang="zh-CN" altLang="en-US" b="0" i="0" dirty="0">
                <a:solidFill>
                  <a:srgbClr val="333333"/>
                </a:solidFill>
                <a:effectLst/>
                <a:latin typeface="Helvetica Neue"/>
              </a:rPr>
              <a:t>）信号变化速度；</a:t>
            </a:r>
            <a:r>
              <a:rPr lang="zh-CN" altLang="en-US" b="1" i="0" dirty="0">
                <a:solidFill>
                  <a:srgbClr val="FF0000"/>
                </a:solidFill>
                <a:effectLst/>
                <a:latin typeface="Helvetica Neue"/>
              </a:rPr>
              <a:t>（</a:t>
            </a:r>
            <a:r>
              <a:rPr lang="en-US" altLang="zh-CN" b="1" i="0" dirty="0">
                <a:solidFill>
                  <a:srgbClr val="FF0000"/>
                </a:solidFill>
                <a:effectLst/>
                <a:latin typeface="Helvetica Neue"/>
              </a:rPr>
              <a:t>7</a:t>
            </a:r>
            <a:r>
              <a:rPr lang="zh-CN" altLang="en-US" b="1" i="0" dirty="0">
                <a:solidFill>
                  <a:srgbClr val="FF0000"/>
                </a:solidFill>
                <a:effectLst/>
                <a:latin typeface="Helvetica Neue"/>
              </a:rPr>
              <a:t>）时间滞后（</a:t>
            </a:r>
            <a:r>
              <a:rPr lang="en-US" altLang="zh-CN" b="1" i="0" dirty="0" err="1">
                <a:solidFill>
                  <a:srgbClr val="FF0000"/>
                </a:solidFill>
                <a:effectLst/>
                <a:latin typeface="Helvetica Neue"/>
              </a:rPr>
              <a:t>TimeLag</a:t>
            </a:r>
            <a:r>
              <a:rPr lang="zh-CN" altLang="en-US" b="1" i="0" dirty="0">
                <a:solidFill>
                  <a:srgbClr val="FF0000"/>
                </a:solidFill>
                <a:effectLst/>
                <a:latin typeface="Helvetica Neue"/>
              </a:rPr>
              <a:t>）；（</a:t>
            </a:r>
            <a:r>
              <a:rPr lang="en-US" altLang="zh-CN" b="1" i="0" dirty="0">
                <a:solidFill>
                  <a:srgbClr val="FF0000"/>
                </a:solidFill>
                <a:effectLst/>
                <a:latin typeface="Helvetica Neue"/>
              </a:rPr>
              <a:t>8</a:t>
            </a:r>
            <a:r>
              <a:rPr lang="zh-CN" altLang="en-US" b="1" i="0" dirty="0">
                <a:solidFill>
                  <a:srgbClr val="FF0000"/>
                </a:solidFill>
                <a:effectLst/>
                <a:latin typeface="Helvetica Neue"/>
              </a:rPr>
              <a:t>）功率下降比（</a:t>
            </a:r>
            <a:r>
              <a:rPr lang="en-US" altLang="zh-CN" b="1" i="0" dirty="0">
                <a:solidFill>
                  <a:srgbClr val="FF0000"/>
                </a:solidFill>
                <a:effectLst/>
                <a:latin typeface="Helvetica Neue"/>
              </a:rPr>
              <a:t>PDR</a:t>
            </a:r>
            <a:r>
              <a:rPr lang="zh-CN" altLang="en-US" b="1" i="0" dirty="0">
                <a:solidFill>
                  <a:srgbClr val="FF0000"/>
                </a:solidFill>
                <a:effectLst/>
                <a:latin typeface="Helvetica Neue"/>
              </a:rPr>
              <a:t>）（新特征）</a:t>
            </a:r>
            <a:r>
              <a:rPr lang="zh-CN" altLang="en-US" b="0" i="0" dirty="0">
                <a:solidFill>
                  <a:srgbClr val="333333"/>
                </a:solidFill>
                <a:effectLst/>
                <a:latin typeface="Helvetica Neue"/>
              </a:rPr>
              <a:t>。</a:t>
            </a:r>
          </a:p>
        </p:txBody>
      </p:sp>
      <p:sp>
        <p:nvSpPr>
          <p:cNvPr id="19" name="文本框 18">
            <a:extLst>
              <a:ext uri="{FF2B5EF4-FFF2-40B4-BE49-F238E27FC236}">
                <a16:creationId xmlns:a16="http://schemas.microsoft.com/office/drawing/2014/main" id="{6C35AD77-16C5-45EE-992B-3BDF1754A597}"/>
              </a:ext>
            </a:extLst>
          </p:cNvPr>
          <p:cNvSpPr txBox="1"/>
          <p:nvPr/>
        </p:nvSpPr>
        <p:spPr>
          <a:xfrm>
            <a:off x="6483415" y="1711171"/>
            <a:ext cx="7382932" cy="369332"/>
          </a:xfrm>
          <a:prstGeom prst="rect">
            <a:avLst/>
          </a:prstGeom>
          <a:noFill/>
        </p:spPr>
        <p:txBody>
          <a:bodyPr wrap="square">
            <a:spAutoFit/>
          </a:bodyPr>
          <a:lstStyle/>
          <a:p>
            <a:pPr algn="l"/>
            <a:r>
              <a:rPr lang="en-US" altLang="zh-CN" b="1" i="0" dirty="0">
                <a:solidFill>
                  <a:srgbClr val="000000"/>
                </a:solidFill>
                <a:effectLst/>
                <a:latin typeface="Helvetica Neue"/>
              </a:rPr>
              <a:t>SVM</a:t>
            </a:r>
            <a:r>
              <a:rPr lang="zh-CN" altLang="en-US" b="1" i="0" dirty="0">
                <a:solidFill>
                  <a:srgbClr val="000000"/>
                </a:solidFill>
                <a:effectLst/>
                <a:latin typeface="Helvetica Neue"/>
              </a:rPr>
              <a:t>分类器</a:t>
            </a:r>
          </a:p>
        </p:txBody>
      </p:sp>
      <p:grpSp>
        <p:nvGrpSpPr>
          <p:cNvPr id="6" name="组合 5">
            <a:extLst>
              <a:ext uri="{FF2B5EF4-FFF2-40B4-BE49-F238E27FC236}">
                <a16:creationId xmlns:a16="http://schemas.microsoft.com/office/drawing/2014/main" id="{DD09B820-C813-43EE-AC6A-E3B307C950AE}"/>
              </a:ext>
            </a:extLst>
          </p:cNvPr>
          <p:cNvGrpSpPr/>
          <p:nvPr/>
        </p:nvGrpSpPr>
        <p:grpSpPr>
          <a:xfrm>
            <a:off x="422902" y="3606917"/>
            <a:ext cx="5084104" cy="1445183"/>
            <a:chOff x="422902" y="3716118"/>
            <a:chExt cx="5084104" cy="1445183"/>
          </a:xfrm>
        </p:grpSpPr>
        <p:sp>
          <p:nvSpPr>
            <p:cNvPr id="24" name="文本框 23">
              <a:extLst>
                <a:ext uri="{FF2B5EF4-FFF2-40B4-BE49-F238E27FC236}">
                  <a16:creationId xmlns:a16="http://schemas.microsoft.com/office/drawing/2014/main" id="{85A603B8-DA1E-4F70-B80A-BA60F04EE35F}"/>
                </a:ext>
              </a:extLst>
            </p:cNvPr>
            <p:cNvSpPr txBox="1"/>
            <p:nvPr/>
          </p:nvSpPr>
          <p:spPr>
            <a:xfrm>
              <a:off x="1512522" y="3716118"/>
              <a:ext cx="3994484" cy="369332"/>
            </a:xfrm>
            <a:prstGeom prst="rect">
              <a:avLst/>
            </a:prstGeom>
            <a:noFill/>
          </p:spPr>
          <p:txBody>
            <a:bodyPr wrap="square">
              <a:spAutoFit/>
            </a:bodyPr>
            <a:lstStyle/>
            <a:p>
              <a:pPr algn="l"/>
              <a:r>
                <a:rPr lang="zh-CN" altLang="en-US" b="1" i="0" dirty="0">
                  <a:solidFill>
                    <a:srgbClr val="000000"/>
                  </a:solidFill>
                  <a:effectLst/>
                  <a:latin typeface="Inter"/>
                </a:rPr>
                <a:t>时间滞后（</a:t>
              </a:r>
              <a:r>
                <a:rPr lang="en-US" altLang="zh-CN" b="1" i="0" dirty="0" err="1">
                  <a:solidFill>
                    <a:srgbClr val="000000"/>
                  </a:solidFill>
                  <a:effectLst/>
                  <a:latin typeface="Inter"/>
                </a:rPr>
                <a:t>TimeLag</a:t>
              </a:r>
              <a:r>
                <a:rPr lang="zh-CN" altLang="en-US" b="1" i="0" dirty="0">
                  <a:solidFill>
                    <a:srgbClr val="000000"/>
                  </a:solidFill>
                  <a:effectLst/>
                  <a:latin typeface="Inter"/>
                </a:rPr>
                <a:t>）</a:t>
              </a:r>
            </a:p>
          </p:txBody>
        </p:sp>
        <p:pic>
          <p:nvPicPr>
            <p:cNvPr id="4" name="图片 3">
              <a:extLst>
                <a:ext uri="{FF2B5EF4-FFF2-40B4-BE49-F238E27FC236}">
                  <a16:creationId xmlns:a16="http://schemas.microsoft.com/office/drawing/2014/main" id="{3F6860D2-A73A-432A-BD04-CABC0E91FEE7}"/>
                </a:ext>
              </a:extLst>
            </p:cNvPr>
            <p:cNvPicPr>
              <a:picLocks noChangeAspect="1"/>
            </p:cNvPicPr>
            <p:nvPr/>
          </p:nvPicPr>
          <p:blipFill>
            <a:blip r:embed="rId6"/>
            <a:stretch>
              <a:fillRect/>
            </a:stretch>
          </p:blipFill>
          <p:spPr>
            <a:xfrm>
              <a:off x="422902" y="3750236"/>
              <a:ext cx="1024725" cy="1367041"/>
            </a:xfrm>
            <a:prstGeom prst="rect">
              <a:avLst/>
            </a:prstGeom>
          </p:spPr>
        </p:pic>
        <p:sp>
          <p:nvSpPr>
            <p:cNvPr id="25" name="文本框 24">
              <a:extLst>
                <a:ext uri="{FF2B5EF4-FFF2-40B4-BE49-F238E27FC236}">
                  <a16:creationId xmlns:a16="http://schemas.microsoft.com/office/drawing/2014/main" id="{717E175B-4BE1-4F98-B70F-6FF168485D6E}"/>
                </a:ext>
              </a:extLst>
            </p:cNvPr>
            <p:cNvSpPr txBox="1"/>
            <p:nvPr/>
          </p:nvSpPr>
          <p:spPr>
            <a:xfrm>
              <a:off x="1512522" y="3960972"/>
              <a:ext cx="3658142" cy="1200329"/>
            </a:xfrm>
            <a:prstGeom prst="rect">
              <a:avLst/>
            </a:prstGeom>
            <a:noFill/>
          </p:spPr>
          <p:txBody>
            <a:bodyPr wrap="square">
              <a:spAutoFit/>
            </a:bodyPr>
            <a:lstStyle/>
            <a:p>
              <a:r>
                <a:rPr lang="zh-CN" altLang="en-US" b="0" i="0" dirty="0">
                  <a:solidFill>
                    <a:srgbClr val="333333"/>
                  </a:solidFill>
                  <a:effectLst/>
                  <a:latin typeface="Helvetica Neue"/>
                </a:rPr>
                <a:t>该特征</a:t>
              </a:r>
              <a:r>
                <a:rPr lang="zh-CN" altLang="en-US" b="1" i="0" dirty="0">
                  <a:solidFill>
                    <a:srgbClr val="333333"/>
                  </a:solidFill>
                  <a:effectLst/>
                  <a:latin typeface="Helvetica Neue"/>
                </a:rPr>
                <a:t>基于跌倒和类跌倒活动在信号功率谱上的差异</a:t>
              </a:r>
              <a:r>
                <a:rPr lang="zh-CN" altLang="en-US" b="0" i="0" dirty="0">
                  <a:solidFill>
                    <a:srgbClr val="333333"/>
                  </a:solidFill>
                  <a:effectLst/>
                  <a:latin typeface="Helvetica Neue"/>
                </a:rPr>
                <a:t>提出，</a:t>
              </a:r>
              <a:r>
                <a:rPr lang="zh-CN" altLang="en-US" b="1" i="0" dirty="0">
                  <a:solidFill>
                    <a:srgbClr val="333333"/>
                  </a:solidFill>
                  <a:effectLst/>
                  <a:latin typeface="Helvetica Neue"/>
                </a:rPr>
                <a:t>表征带通滤波后相位差与原始相位差状态过渡点的</a:t>
              </a:r>
              <a:r>
                <a:rPr lang="zh-CN" altLang="en-US" b="1" i="0" dirty="0">
                  <a:solidFill>
                    <a:srgbClr val="FF0000"/>
                  </a:solidFill>
                  <a:effectLst/>
                  <a:latin typeface="Helvetica Neue"/>
                </a:rPr>
                <a:t>时间延迟。</a:t>
              </a:r>
              <a:endParaRPr lang="zh-CN" altLang="en-US" b="1" dirty="0">
                <a:solidFill>
                  <a:srgbClr val="FF0000"/>
                </a:solidFill>
              </a:endParaRPr>
            </a:p>
          </p:txBody>
        </p:sp>
      </p:grpSp>
      <p:sp>
        <p:nvSpPr>
          <p:cNvPr id="27" name="文本框 26">
            <a:extLst>
              <a:ext uri="{FF2B5EF4-FFF2-40B4-BE49-F238E27FC236}">
                <a16:creationId xmlns:a16="http://schemas.microsoft.com/office/drawing/2014/main" id="{43629117-7075-4F85-9612-74DC55194C5D}"/>
              </a:ext>
            </a:extLst>
          </p:cNvPr>
          <p:cNvSpPr txBox="1"/>
          <p:nvPr/>
        </p:nvSpPr>
        <p:spPr>
          <a:xfrm>
            <a:off x="405152" y="5115178"/>
            <a:ext cx="4274556" cy="369332"/>
          </a:xfrm>
          <a:prstGeom prst="rect">
            <a:avLst/>
          </a:prstGeom>
          <a:noFill/>
        </p:spPr>
        <p:txBody>
          <a:bodyPr wrap="square">
            <a:spAutoFit/>
          </a:bodyPr>
          <a:lstStyle/>
          <a:p>
            <a:r>
              <a:rPr lang="zh-CN" altLang="en-US" b="1" i="0" dirty="0">
                <a:solidFill>
                  <a:srgbClr val="000000"/>
                </a:solidFill>
                <a:effectLst/>
                <a:latin typeface="Helvetica Neue"/>
              </a:rPr>
              <a:t>功率下降比（</a:t>
            </a:r>
            <a:r>
              <a:rPr lang="en-US" altLang="zh-CN" b="1" i="0" dirty="0">
                <a:solidFill>
                  <a:srgbClr val="000000"/>
                </a:solidFill>
                <a:effectLst/>
                <a:latin typeface="Helvetica Neue"/>
              </a:rPr>
              <a:t>PDR</a:t>
            </a:r>
            <a:r>
              <a:rPr lang="zh-CN" altLang="en-US" b="1" i="0" dirty="0">
                <a:solidFill>
                  <a:srgbClr val="000000"/>
                </a:solidFill>
                <a:effectLst/>
                <a:latin typeface="Helvetica Neue"/>
              </a:rPr>
              <a:t>）</a:t>
            </a:r>
            <a:endParaRPr lang="zh-CN" altLang="en-US" dirty="0"/>
          </a:p>
        </p:txBody>
      </p:sp>
      <p:pic>
        <p:nvPicPr>
          <p:cNvPr id="29" name="图片 28">
            <a:extLst>
              <a:ext uri="{FF2B5EF4-FFF2-40B4-BE49-F238E27FC236}">
                <a16:creationId xmlns:a16="http://schemas.microsoft.com/office/drawing/2014/main" id="{D698C1D3-417D-4D35-B8F1-A38AAD8AD4BC}"/>
              </a:ext>
            </a:extLst>
          </p:cNvPr>
          <p:cNvPicPr>
            <a:picLocks noChangeAspect="1"/>
          </p:cNvPicPr>
          <p:nvPr/>
        </p:nvPicPr>
        <p:blipFill>
          <a:blip r:embed="rId7"/>
          <a:stretch>
            <a:fillRect/>
          </a:stretch>
        </p:blipFill>
        <p:spPr>
          <a:xfrm>
            <a:off x="422903" y="5485075"/>
            <a:ext cx="3165482" cy="584803"/>
          </a:xfrm>
          <a:prstGeom prst="rect">
            <a:avLst/>
          </a:prstGeom>
        </p:spPr>
      </p:pic>
      <p:sp>
        <p:nvSpPr>
          <p:cNvPr id="31" name="文本框 30">
            <a:extLst>
              <a:ext uri="{FF2B5EF4-FFF2-40B4-BE49-F238E27FC236}">
                <a16:creationId xmlns:a16="http://schemas.microsoft.com/office/drawing/2014/main" id="{5CE68EFD-C07F-4ED7-94ED-318334FFED50}"/>
              </a:ext>
            </a:extLst>
          </p:cNvPr>
          <p:cNvSpPr txBox="1"/>
          <p:nvPr/>
        </p:nvSpPr>
        <p:spPr>
          <a:xfrm>
            <a:off x="329101" y="6142391"/>
            <a:ext cx="4666412" cy="2031325"/>
          </a:xfrm>
          <a:prstGeom prst="rect">
            <a:avLst/>
          </a:prstGeom>
          <a:noFill/>
        </p:spPr>
        <p:txBody>
          <a:bodyPr wrap="square">
            <a:spAutoFit/>
          </a:bodyPr>
          <a:lstStyle/>
          <a:p>
            <a:r>
              <a:rPr lang="zh-CN" altLang="en-US" b="0" i="0" dirty="0">
                <a:solidFill>
                  <a:srgbClr val="333333"/>
                </a:solidFill>
                <a:effectLst/>
                <a:latin typeface="Helvetica Neue"/>
              </a:rPr>
              <a:t>计算结束点前后</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秒的累积功率，将</a:t>
            </a:r>
            <a:r>
              <a:rPr lang="en-US" altLang="zh-CN" b="0" i="0" dirty="0">
                <a:solidFill>
                  <a:srgbClr val="333333"/>
                </a:solidFill>
                <a:effectLst/>
                <a:latin typeface="Helvetica Neue"/>
              </a:rPr>
              <a:t>1</a:t>
            </a:r>
            <a:r>
              <a:rPr lang="zh-CN" altLang="en-US" b="0" i="0" dirty="0">
                <a:solidFill>
                  <a:srgbClr val="333333"/>
                </a:solidFill>
                <a:effectLst/>
                <a:latin typeface="Helvetica Neue"/>
              </a:rPr>
              <a:t>秒内的功率损失除以结束点前</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秒的累积功率，即为功率下降比。其中，</a:t>
            </a:r>
            <a:r>
              <a:rPr lang="en-US" altLang="zh-CN" b="0" dirty="0" err="1">
                <a:solidFill>
                  <a:srgbClr val="333333"/>
                </a:solidFill>
                <a:effectLst/>
                <a:latin typeface="KaTeX_Main"/>
              </a:rPr>
              <a:t>t^</a:t>
            </a:r>
            <a:r>
              <a:rPr lang="en-US" altLang="zh-CN" b="0" i="1" dirty="0" err="1">
                <a:solidFill>
                  <a:srgbClr val="333333"/>
                </a:solidFill>
                <a:effectLst/>
                <a:latin typeface="KaTeX_Math"/>
              </a:rPr>
              <a:t>t</a:t>
            </a:r>
            <a:r>
              <a:rPr lang="en-US" altLang="zh-CN" b="0" dirty="0">
                <a:solidFill>
                  <a:srgbClr val="333333"/>
                </a:solidFill>
                <a:effectLst/>
                <a:latin typeface="KaTeX_Main"/>
              </a:rPr>
              <a:t>^</a:t>
            </a:r>
            <a:r>
              <a:rPr lang="zh-CN" altLang="en-US" b="0" i="0" dirty="0">
                <a:solidFill>
                  <a:srgbClr val="333333"/>
                </a:solidFill>
                <a:effectLst/>
                <a:latin typeface="Helvetica Neue"/>
              </a:rPr>
              <a:t>为结束点，</a:t>
            </a:r>
            <a:r>
              <a:rPr lang="en-US" altLang="zh-CN" b="0" dirty="0">
                <a:solidFill>
                  <a:srgbClr val="333333"/>
                </a:solidFill>
                <a:effectLst/>
                <a:latin typeface="KaTeX_Main"/>
              </a:rPr>
              <a:t>t^−1</a:t>
            </a:r>
            <a:r>
              <a:rPr lang="en-US" altLang="zh-CN" b="0" i="1" dirty="0">
                <a:solidFill>
                  <a:srgbClr val="333333"/>
                </a:solidFill>
                <a:effectLst/>
                <a:latin typeface="KaTeX_Math"/>
              </a:rPr>
              <a:t>t</a:t>
            </a:r>
            <a:r>
              <a:rPr lang="en-US" altLang="zh-CN" b="0" dirty="0">
                <a:solidFill>
                  <a:srgbClr val="333333"/>
                </a:solidFill>
                <a:effectLst/>
                <a:latin typeface="KaTeX_Main"/>
              </a:rPr>
              <a:t>^−1​</a:t>
            </a:r>
            <a:r>
              <a:rPr lang="zh-CN" altLang="en-US" b="0" i="0" dirty="0">
                <a:solidFill>
                  <a:srgbClr val="333333"/>
                </a:solidFill>
                <a:effectLst/>
                <a:latin typeface="Helvetica Neue"/>
              </a:rPr>
              <a:t>为</a:t>
            </a:r>
            <a:r>
              <a:rPr lang="en-US" altLang="zh-CN" b="0" dirty="0" err="1">
                <a:solidFill>
                  <a:srgbClr val="333333"/>
                </a:solidFill>
                <a:effectLst/>
                <a:latin typeface="KaTeX_Main"/>
              </a:rPr>
              <a:t>t^</a:t>
            </a:r>
            <a:r>
              <a:rPr lang="en-US" altLang="zh-CN" b="0" i="1" dirty="0" err="1">
                <a:solidFill>
                  <a:srgbClr val="333333"/>
                </a:solidFill>
                <a:effectLst/>
                <a:latin typeface="KaTeX_Math"/>
              </a:rPr>
              <a:t>t</a:t>
            </a:r>
            <a:r>
              <a:rPr lang="en-US" altLang="zh-CN" b="0" dirty="0">
                <a:solidFill>
                  <a:srgbClr val="333333"/>
                </a:solidFill>
                <a:effectLst/>
                <a:latin typeface="KaTeX_Main"/>
              </a:rPr>
              <a:t>^</a:t>
            </a:r>
            <a:r>
              <a:rPr lang="zh-CN" altLang="en-US" b="0" i="0" dirty="0">
                <a:solidFill>
                  <a:srgbClr val="333333"/>
                </a:solidFill>
                <a:effectLst/>
                <a:latin typeface="Helvetica Neue"/>
              </a:rPr>
              <a:t>前</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秒的时刻，</a:t>
            </a:r>
            <a:r>
              <a:rPr lang="en-US" altLang="zh-CN" b="0" dirty="0">
                <a:solidFill>
                  <a:srgbClr val="333333"/>
                </a:solidFill>
                <a:effectLst/>
                <a:latin typeface="KaTeX_Main"/>
              </a:rPr>
              <a:t>t^+1</a:t>
            </a:r>
            <a:r>
              <a:rPr lang="en-US" altLang="zh-CN" b="0" i="1" dirty="0">
                <a:solidFill>
                  <a:srgbClr val="333333"/>
                </a:solidFill>
                <a:effectLst/>
                <a:latin typeface="KaTeX_Math"/>
              </a:rPr>
              <a:t>t</a:t>
            </a:r>
            <a:r>
              <a:rPr lang="en-US" altLang="zh-CN" b="0" dirty="0">
                <a:solidFill>
                  <a:srgbClr val="333333"/>
                </a:solidFill>
                <a:effectLst/>
                <a:latin typeface="KaTeX_Main"/>
              </a:rPr>
              <a:t>^+1​</a:t>
            </a:r>
            <a:r>
              <a:rPr lang="zh-CN" altLang="en-US" b="0" i="0" dirty="0">
                <a:solidFill>
                  <a:srgbClr val="333333"/>
                </a:solidFill>
                <a:effectLst/>
                <a:latin typeface="Helvetica Neue"/>
              </a:rPr>
              <a:t>为</a:t>
            </a:r>
            <a:r>
              <a:rPr lang="en-US" altLang="zh-CN" b="0" dirty="0" err="1">
                <a:solidFill>
                  <a:srgbClr val="333333"/>
                </a:solidFill>
                <a:effectLst/>
                <a:latin typeface="KaTeX_Main"/>
              </a:rPr>
              <a:t>t^</a:t>
            </a:r>
            <a:r>
              <a:rPr lang="en-US" altLang="zh-CN" b="0" i="1" dirty="0" err="1">
                <a:solidFill>
                  <a:srgbClr val="333333"/>
                </a:solidFill>
                <a:effectLst/>
                <a:latin typeface="KaTeX_Math"/>
              </a:rPr>
              <a:t>t</a:t>
            </a:r>
            <a:r>
              <a:rPr lang="en-US" altLang="zh-CN" b="0" dirty="0">
                <a:solidFill>
                  <a:srgbClr val="333333"/>
                </a:solidFill>
                <a:effectLst/>
                <a:latin typeface="KaTeX_Main"/>
              </a:rPr>
              <a:t>^</a:t>
            </a:r>
            <a:r>
              <a:rPr lang="zh-CN" altLang="en-US" b="0" i="0" dirty="0">
                <a:solidFill>
                  <a:srgbClr val="333333"/>
                </a:solidFill>
                <a:effectLst/>
                <a:latin typeface="Helvetica Neue"/>
              </a:rPr>
              <a:t>后</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秒的时刻；</a:t>
            </a:r>
            <a:r>
              <a:rPr lang="en-US" altLang="zh-CN" b="0" dirty="0" err="1">
                <a:solidFill>
                  <a:srgbClr val="333333"/>
                </a:solidFill>
                <a:effectLst/>
                <a:latin typeface="KaTeX_Main"/>
              </a:rPr>
              <a:t>fl</a:t>
            </a:r>
            <a:r>
              <a:rPr lang="en-US" altLang="zh-CN" b="0" i="1" dirty="0" err="1">
                <a:solidFill>
                  <a:srgbClr val="333333"/>
                </a:solidFill>
                <a:effectLst/>
                <a:latin typeface="KaTeX_Math"/>
              </a:rPr>
              <a:t>fl</a:t>
            </a:r>
            <a:r>
              <a:rPr lang="zh-CN" altLang="en-US" b="0" dirty="0">
                <a:solidFill>
                  <a:srgbClr val="333333"/>
                </a:solidFill>
                <a:effectLst/>
                <a:latin typeface="KaTeX_Main"/>
              </a:rPr>
              <a:t>​</a:t>
            </a:r>
            <a:r>
              <a:rPr lang="zh-CN" altLang="en-US" b="0" i="0" dirty="0">
                <a:solidFill>
                  <a:srgbClr val="333333"/>
                </a:solidFill>
                <a:effectLst/>
                <a:latin typeface="Helvetica Neue"/>
              </a:rPr>
              <a:t>和</a:t>
            </a:r>
            <a:r>
              <a:rPr lang="en-US" altLang="zh-CN" b="0" dirty="0" err="1">
                <a:solidFill>
                  <a:srgbClr val="333333"/>
                </a:solidFill>
                <a:effectLst/>
                <a:latin typeface="KaTeX_Main"/>
              </a:rPr>
              <a:t>fh</a:t>
            </a:r>
            <a:r>
              <a:rPr lang="en-US" altLang="zh-CN" b="0" i="1" dirty="0" err="1">
                <a:solidFill>
                  <a:srgbClr val="333333"/>
                </a:solidFill>
                <a:effectLst/>
                <a:latin typeface="KaTeX_Math"/>
              </a:rPr>
              <a:t>fh</a:t>
            </a:r>
            <a:r>
              <a:rPr lang="zh-CN" altLang="en-US" b="0" dirty="0">
                <a:solidFill>
                  <a:srgbClr val="333333"/>
                </a:solidFill>
                <a:effectLst/>
                <a:latin typeface="KaTeX_Main"/>
              </a:rPr>
              <a:t>​</a:t>
            </a:r>
            <a:r>
              <a:rPr lang="zh-CN" altLang="en-US" b="0" i="0" dirty="0">
                <a:solidFill>
                  <a:srgbClr val="333333"/>
                </a:solidFill>
                <a:effectLst/>
                <a:latin typeface="Helvetica Neue"/>
              </a:rPr>
              <a:t>分别为频率范围的下限和上限（</a:t>
            </a:r>
            <a:r>
              <a:rPr lang="en-US" altLang="zh-CN" b="0" i="0" dirty="0">
                <a:solidFill>
                  <a:srgbClr val="333333"/>
                </a:solidFill>
                <a:effectLst/>
                <a:latin typeface="Helvetica Neue"/>
              </a:rPr>
              <a:t>[0, 50 Hz]</a:t>
            </a:r>
            <a:r>
              <a:rPr lang="zh-CN" altLang="en-US" b="0" i="0" dirty="0">
                <a:solidFill>
                  <a:srgbClr val="333333"/>
                </a:solidFill>
                <a:effectLst/>
                <a:latin typeface="Helvetica Neue"/>
              </a:rPr>
              <a:t>）；</a:t>
            </a:r>
            <a:r>
              <a:rPr lang="en-US" altLang="zh-CN" b="0" dirty="0" err="1">
                <a:solidFill>
                  <a:srgbClr val="333333"/>
                </a:solidFill>
                <a:effectLst/>
                <a:latin typeface="KaTeX_Main"/>
              </a:rPr>
              <a:t>et,f</a:t>
            </a:r>
            <a:r>
              <a:rPr lang="en-US" altLang="zh-CN" b="0" i="1" dirty="0" err="1">
                <a:solidFill>
                  <a:srgbClr val="333333"/>
                </a:solidFill>
                <a:effectLst/>
                <a:latin typeface="KaTeX_Math"/>
              </a:rPr>
              <a:t>et</a:t>
            </a:r>
            <a:r>
              <a:rPr lang="en-US" altLang="zh-CN" b="0" dirty="0" err="1">
                <a:solidFill>
                  <a:srgbClr val="333333"/>
                </a:solidFill>
                <a:effectLst/>
                <a:latin typeface="KaTeX_Main"/>
              </a:rPr>
              <a:t>,</a:t>
            </a:r>
            <a:r>
              <a:rPr lang="en-US" altLang="zh-CN" b="0" i="1" dirty="0" err="1">
                <a:solidFill>
                  <a:srgbClr val="333333"/>
                </a:solidFill>
                <a:effectLst/>
                <a:latin typeface="KaTeX_Math"/>
              </a:rPr>
              <a:t>f</a:t>
            </a:r>
            <a:r>
              <a:rPr lang="zh-CN" altLang="en-US" b="0" dirty="0">
                <a:solidFill>
                  <a:srgbClr val="333333"/>
                </a:solidFill>
                <a:effectLst/>
                <a:latin typeface="KaTeX_Main"/>
              </a:rPr>
              <a:t>​</a:t>
            </a:r>
            <a:r>
              <a:rPr lang="zh-CN" altLang="en-US" b="0" i="0" dirty="0">
                <a:solidFill>
                  <a:srgbClr val="333333"/>
                </a:solidFill>
                <a:effectLst/>
                <a:latin typeface="Helvetica Neue"/>
              </a:rPr>
              <a:t>为时刻</a:t>
            </a:r>
            <a:r>
              <a:rPr lang="en-US" altLang="zh-CN" b="0" dirty="0" err="1">
                <a:solidFill>
                  <a:srgbClr val="333333"/>
                </a:solidFill>
                <a:effectLst/>
                <a:latin typeface="KaTeX_Main"/>
              </a:rPr>
              <a:t>t</a:t>
            </a:r>
            <a:r>
              <a:rPr lang="en-US" altLang="zh-CN" b="0" i="1" dirty="0" err="1">
                <a:solidFill>
                  <a:srgbClr val="333333"/>
                </a:solidFill>
                <a:effectLst/>
                <a:latin typeface="KaTeX_Math"/>
              </a:rPr>
              <a:t>t</a:t>
            </a:r>
            <a:r>
              <a:rPr lang="zh-CN" altLang="en-US" b="0" i="0" dirty="0">
                <a:solidFill>
                  <a:srgbClr val="333333"/>
                </a:solidFill>
                <a:effectLst/>
                <a:latin typeface="Helvetica Neue"/>
              </a:rPr>
              <a:t>、频率</a:t>
            </a:r>
            <a:r>
              <a:rPr lang="en-US" altLang="zh-CN" b="0" dirty="0">
                <a:solidFill>
                  <a:srgbClr val="333333"/>
                </a:solidFill>
                <a:effectLst/>
                <a:latin typeface="KaTeX_Main"/>
              </a:rPr>
              <a:t>f</a:t>
            </a:r>
            <a:r>
              <a:rPr lang="en-US" altLang="zh-CN" b="0" i="1" dirty="0">
                <a:solidFill>
                  <a:srgbClr val="333333"/>
                </a:solidFill>
                <a:effectLst/>
                <a:latin typeface="KaTeX_Math"/>
              </a:rPr>
              <a:t>f</a:t>
            </a:r>
            <a:r>
              <a:rPr lang="zh-CN" altLang="en-US" b="0" i="0" dirty="0">
                <a:solidFill>
                  <a:srgbClr val="333333"/>
                </a:solidFill>
                <a:effectLst/>
                <a:latin typeface="Helvetica Neue"/>
              </a:rPr>
              <a:t>处的功率强度；</a:t>
            </a:r>
            <a:r>
              <a:rPr lang="en-US" altLang="zh-CN" b="0" dirty="0" err="1">
                <a:solidFill>
                  <a:srgbClr val="333333"/>
                </a:solidFill>
                <a:effectLst/>
                <a:latin typeface="KaTeX_Main"/>
              </a:rPr>
              <a:t>ωf</a:t>
            </a:r>
            <a:r>
              <a:rPr lang="en-US" altLang="zh-CN" b="0" i="1" dirty="0" err="1">
                <a:solidFill>
                  <a:srgbClr val="333333"/>
                </a:solidFill>
                <a:effectLst/>
                <a:latin typeface="KaTeX_Math"/>
              </a:rPr>
              <a:t>ωf</a:t>
            </a:r>
            <a:r>
              <a:rPr lang="zh-CN" altLang="en-US" b="0" dirty="0">
                <a:solidFill>
                  <a:srgbClr val="333333"/>
                </a:solidFill>
                <a:effectLst/>
                <a:latin typeface="KaTeX_Main"/>
              </a:rPr>
              <a:t>​</a:t>
            </a:r>
            <a:r>
              <a:rPr lang="zh-CN" altLang="en-US" b="0" i="0" dirty="0">
                <a:solidFill>
                  <a:srgbClr val="333333"/>
                </a:solidFill>
                <a:effectLst/>
                <a:latin typeface="Helvetica Neue"/>
              </a:rPr>
              <a:t>为每个频率</a:t>
            </a:r>
            <a:r>
              <a:rPr lang="en-US" altLang="zh-CN" b="0" dirty="0">
                <a:solidFill>
                  <a:srgbClr val="333333"/>
                </a:solidFill>
                <a:effectLst/>
                <a:latin typeface="KaTeX_Main"/>
              </a:rPr>
              <a:t>f</a:t>
            </a:r>
            <a:r>
              <a:rPr lang="en-US" altLang="zh-CN" b="0" i="1" dirty="0">
                <a:solidFill>
                  <a:srgbClr val="333333"/>
                </a:solidFill>
                <a:effectLst/>
                <a:latin typeface="KaTeX_Math"/>
              </a:rPr>
              <a:t>f</a:t>
            </a:r>
            <a:r>
              <a:rPr lang="zh-CN" altLang="en-US" b="0" i="0" dirty="0">
                <a:solidFill>
                  <a:srgbClr val="333333"/>
                </a:solidFill>
                <a:effectLst/>
                <a:latin typeface="Helvetica Neue"/>
              </a:rPr>
              <a:t>的权重向量。</a:t>
            </a:r>
            <a:endParaRPr lang="zh-CN" altLang="en-US" dirty="0"/>
          </a:p>
        </p:txBody>
      </p:sp>
      <p:sp>
        <p:nvSpPr>
          <p:cNvPr id="32" name="矩形 31">
            <a:extLst>
              <a:ext uri="{FF2B5EF4-FFF2-40B4-BE49-F238E27FC236}">
                <a16:creationId xmlns:a16="http://schemas.microsoft.com/office/drawing/2014/main" id="{37A2C456-36E2-4E72-BB89-E83A8256AAFF}"/>
              </a:ext>
            </a:extLst>
          </p:cNvPr>
          <p:cNvSpPr/>
          <p:nvPr/>
        </p:nvSpPr>
        <p:spPr>
          <a:xfrm>
            <a:off x="372567" y="3585437"/>
            <a:ext cx="4798098" cy="1466664"/>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DF8A737A-2048-4CE1-991C-8BD0639ECF86}"/>
              </a:ext>
            </a:extLst>
          </p:cNvPr>
          <p:cNvSpPr/>
          <p:nvPr/>
        </p:nvSpPr>
        <p:spPr>
          <a:xfrm>
            <a:off x="370313" y="5131017"/>
            <a:ext cx="4798098" cy="2940460"/>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FADEA095-F284-4F99-9B63-F1D57BE1E40B}"/>
              </a:ext>
            </a:extLst>
          </p:cNvPr>
          <p:cNvSpPr txBox="1"/>
          <p:nvPr/>
        </p:nvSpPr>
        <p:spPr>
          <a:xfrm>
            <a:off x="6483415" y="2117931"/>
            <a:ext cx="5461537" cy="923330"/>
          </a:xfrm>
          <a:prstGeom prst="rect">
            <a:avLst/>
          </a:prstGeom>
          <a:noFill/>
        </p:spPr>
        <p:txBody>
          <a:bodyPr wrap="square">
            <a:spAutoFit/>
          </a:bodyPr>
          <a:lstStyle/>
          <a:p>
            <a:pPr algn="l"/>
            <a:r>
              <a:rPr lang="zh-CN" altLang="en-US" b="0" i="0" dirty="0">
                <a:solidFill>
                  <a:srgbClr val="000000"/>
                </a:solidFill>
                <a:effectLst/>
                <a:latin typeface="Inter"/>
              </a:rPr>
              <a:t>将提取的</a:t>
            </a:r>
            <a:r>
              <a:rPr lang="en-US" altLang="zh-CN" b="0" i="0" dirty="0">
                <a:solidFill>
                  <a:srgbClr val="000000"/>
                </a:solidFill>
                <a:effectLst/>
                <a:latin typeface="Inter"/>
              </a:rPr>
              <a:t>8</a:t>
            </a:r>
            <a:r>
              <a:rPr lang="zh-CN" altLang="en-US" b="0" i="0" dirty="0">
                <a:solidFill>
                  <a:srgbClr val="000000"/>
                </a:solidFill>
                <a:effectLst/>
                <a:latin typeface="Inter"/>
              </a:rPr>
              <a:t>类特征输入</a:t>
            </a:r>
            <a:r>
              <a:rPr lang="en-US" altLang="zh-CN" b="1" i="0" dirty="0">
                <a:solidFill>
                  <a:srgbClr val="000000"/>
                </a:solidFill>
                <a:effectLst/>
                <a:latin typeface="Inter"/>
              </a:rPr>
              <a:t>SVM</a:t>
            </a:r>
            <a:r>
              <a:rPr lang="zh-CN" altLang="en-US" b="1" i="0" dirty="0">
                <a:solidFill>
                  <a:srgbClr val="000000"/>
                </a:solidFill>
                <a:effectLst/>
                <a:latin typeface="Inter"/>
              </a:rPr>
              <a:t>模型</a:t>
            </a:r>
            <a:r>
              <a:rPr lang="zh-CN" altLang="en-US" b="0" i="0" dirty="0">
                <a:solidFill>
                  <a:srgbClr val="000000"/>
                </a:solidFill>
                <a:effectLst/>
                <a:latin typeface="Inter"/>
              </a:rPr>
              <a:t>，仅区分两类样本：</a:t>
            </a:r>
          </a:p>
          <a:p>
            <a:pPr algn="l"/>
            <a:r>
              <a:rPr lang="zh-CN" altLang="en-US" b="0" i="0" dirty="0">
                <a:solidFill>
                  <a:srgbClr val="FF0000"/>
                </a:solidFill>
                <a:effectLst/>
                <a:latin typeface="Helvetica Neue"/>
              </a:rPr>
              <a:t>目标类（即跌倒）</a:t>
            </a:r>
            <a:r>
              <a:rPr lang="zh-CN" altLang="en-US" b="0" i="0" dirty="0">
                <a:solidFill>
                  <a:srgbClr val="333333"/>
                </a:solidFill>
                <a:effectLst/>
                <a:latin typeface="Helvetica Neue"/>
              </a:rPr>
              <a:t>和</a:t>
            </a:r>
            <a:r>
              <a:rPr lang="zh-CN" altLang="en-US" b="0" i="0" dirty="0">
                <a:solidFill>
                  <a:srgbClr val="FF0000"/>
                </a:solidFill>
                <a:effectLst/>
                <a:latin typeface="Helvetica Neue"/>
              </a:rPr>
              <a:t>非目标类</a:t>
            </a:r>
            <a:r>
              <a:rPr lang="zh-CN" altLang="en-US" b="0" i="0" dirty="0">
                <a:solidFill>
                  <a:srgbClr val="333333"/>
                </a:solidFill>
                <a:effectLst/>
                <a:latin typeface="Helvetica Neue"/>
              </a:rPr>
              <a:t>（即</a:t>
            </a:r>
            <a:r>
              <a:rPr lang="zh-CN" altLang="en-US" b="0" i="0" dirty="0">
                <a:effectLst/>
                <a:latin typeface="Inter"/>
              </a:rPr>
              <a:t>坐下、躺下等</a:t>
            </a:r>
            <a:r>
              <a:rPr lang="zh-CN" altLang="en-US" b="0" i="0" dirty="0">
                <a:solidFill>
                  <a:srgbClr val="FF0000"/>
                </a:solidFill>
                <a:effectLst/>
                <a:latin typeface="Helvetica Neue"/>
              </a:rPr>
              <a:t>类跌倒活动</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p:txBody>
      </p:sp>
      <p:sp>
        <p:nvSpPr>
          <p:cNvPr id="38" name="文本框 37">
            <a:extLst>
              <a:ext uri="{FF2B5EF4-FFF2-40B4-BE49-F238E27FC236}">
                <a16:creationId xmlns:a16="http://schemas.microsoft.com/office/drawing/2014/main" id="{3D97EB9A-877E-4B1E-BB24-990C89C10646}"/>
              </a:ext>
            </a:extLst>
          </p:cNvPr>
          <p:cNvSpPr txBox="1"/>
          <p:nvPr/>
        </p:nvSpPr>
        <p:spPr>
          <a:xfrm>
            <a:off x="6483414" y="3179370"/>
            <a:ext cx="5529482" cy="1200329"/>
          </a:xfrm>
          <a:prstGeom prst="rect">
            <a:avLst/>
          </a:prstGeom>
          <a:noFill/>
        </p:spPr>
        <p:txBody>
          <a:bodyPr wrap="square">
            <a:spAutoFit/>
          </a:bodyPr>
          <a:lstStyle/>
          <a:p>
            <a:r>
              <a:rPr lang="zh-CN" altLang="en-US" b="0" i="0" dirty="0">
                <a:solidFill>
                  <a:srgbClr val="333333"/>
                </a:solidFill>
                <a:effectLst/>
                <a:latin typeface="Helvetica Neue"/>
              </a:rPr>
              <a:t>利用</a:t>
            </a:r>
            <a:r>
              <a:rPr lang="en-US" altLang="zh-CN" b="0" i="0" dirty="0" err="1">
                <a:solidFill>
                  <a:srgbClr val="333333"/>
                </a:solidFill>
                <a:effectLst/>
                <a:latin typeface="Helvetica Neue"/>
              </a:rPr>
              <a:t>LibSVM</a:t>
            </a:r>
            <a:r>
              <a:rPr lang="zh-CN" altLang="en-US" b="0" i="0" dirty="0">
                <a:solidFill>
                  <a:srgbClr val="333333"/>
                </a:solidFill>
                <a:effectLst/>
                <a:latin typeface="Helvetica Neue"/>
              </a:rPr>
              <a:t>构建</a:t>
            </a:r>
            <a:r>
              <a:rPr lang="en-US" altLang="zh-CN" b="1" i="1" dirty="0">
                <a:solidFill>
                  <a:srgbClr val="333333"/>
                </a:solidFill>
                <a:effectLst/>
                <a:latin typeface="KaTeX_Math"/>
              </a:rPr>
              <a:t>ν</a:t>
            </a:r>
            <a:r>
              <a:rPr lang="en-US" altLang="zh-CN" b="1" i="0" dirty="0">
                <a:solidFill>
                  <a:srgbClr val="333333"/>
                </a:solidFill>
                <a:effectLst/>
                <a:latin typeface="Helvetica Neue"/>
              </a:rPr>
              <a:t>-SVM</a:t>
            </a:r>
            <a:r>
              <a:rPr lang="zh-CN" altLang="en-US" b="1" i="0" dirty="0">
                <a:solidFill>
                  <a:srgbClr val="333333"/>
                </a:solidFill>
                <a:effectLst/>
                <a:latin typeface="Helvetica Neue"/>
              </a:rPr>
              <a:t>分类模型</a:t>
            </a:r>
            <a:r>
              <a:rPr lang="zh-CN" altLang="en-US" b="0" i="0" dirty="0">
                <a:solidFill>
                  <a:srgbClr val="333333"/>
                </a:solidFill>
                <a:effectLst/>
                <a:latin typeface="Helvetica Neue"/>
              </a:rPr>
              <a:t>，选择高斯径向基函数（</a:t>
            </a:r>
            <a:r>
              <a:rPr lang="en-US" altLang="zh-CN" b="0" i="0" dirty="0">
                <a:solidFill>
                  <a:srgbClr val="333333"/>
                </a:solidFill>
                <a:effectLst/>
                <a:latin typeface="Helvetica Neue"/>
              </a:rPr>
              <a:t>RBF</a:t>
            </a:r>
            <a:r>
              <a:rPr lang="zh-CN" altLang="en-US" b="0" i="0" dirty="0">
                <a:solidFill>
                  <a:srgbClr val="333333"/>
                </a:solidFill>
                <a:effectLst/>
                <a:latin typeface="Helvetica Neue"/>
              </a:rPr>
              <a:t>）作为核函数</a:t>
            </a:r>
            <a:r>
              <a:rPr lang="zh-CN" altLang="en-US" b="1" i="0" dirty="0">
                <a:solidFill>
                  <a:srgbClr val="333333"/>
                </a:solidFill>
                <a:effectLst/>
                <a:latin typeface="Helvetica Neue"/>
              </a:rPr>
              <a:t>（解决非线性分类问题）</a:t>
            </a:r>
            <a:r>
              <a:rPr lang="zh-CN" altLang="en-US" b="0" i="0" dirty="0">
                <a:solidFill>
                  <a:srgbClr val="333333"/>
                </a:solidFill>
                <a:effectLst/>
                <a:latin typeface="Helvetica Neue"/>
              </a:rPr>
              <a:t>，并将参数</a:t>
            </a:r>
            <a:r>
              <a:rPr lang="en-US" altLang="zh-CN" b="0" i="1" dirty="0">
                <a:solidFill>
                  <a:srgbClr val="333333"/>
                </a:solidFill>
                <a:effectLst/>
                <a:latin typeface="KaTeX_Math"/>
              </a:rPr>
              <a:t>ν</a:t>
            </a:r>
            <a:r>
              <a:rPr lang="zh-CN" altLang="en-US" b="0" i="0" dirty="0">
                <a:solidFill>
                  <a:srgbClr val="333333"/>
                </a:solidFill>
                <a:effectLst/>
                <a:latin typeface="Helvetica Neue"/>
              </a:rPr>
              <a:t>设置为</a:t>
            </a:r>
            <a:r>
              <a:rPr lang="en-US" altLang="zh-CN" b="0" i="0" dirty="0">
                <a:solidFill>
                  <a:srgbClr val="333333"/>
                </a:solidFill>
                <a:effectLst/>
                <a:latin typeface="Helvetica Neue"/>
              </a:rPr>
              <a:t>0.5</a:t>
            </a:r>
            <a:r>
              <a:rPr lang="zh-CN" altLang="en-US" b="0" i="0" dirty="0">
                <a:solidFill>
                  <a:srgbClr val="333333"/>
                </a:solidFill>
                <a:effectLst/>
                <a:latin typeface="Helvetica Neue"/>
              </a:rPr>
              <a:t>（该参数表示训练误差比例的上限和支持向量比例的下限），其他参数采用默认值。</a:t>
            </a:r>
            <a:endParaRPr lang="zh-CN" altLang="en-US" dirty="0"/>
          </a:p>
        </p:txBody>
      </p:sp>
      <p:sp>
        <p:nvSpPr>
          <p:cNvPr id="40" name="文本框 39">
            <a:extLst>
              <a:ext uri="{FF2B5EF4-FFF2-40B4-BE49-F238E27FC236}">
                <a16:creationId xmlns:a16="http://schemas.microsoft.com/office/drawing/2014/main" id="{F5F6103A-E815-4930-9F26-2EBA8450A098}"/>
              </a:ext>
            </a:extLst>
          </p:cNvPr>
          <p:cNvSpPr txBox="1"/>
          <p:nvPr/>
        </p:nvSpPr>
        <p:spPr>
          <a:xfrm>
            <a:off x="6541972" y="4517808"/>
            <a:ext cx="5608583" cy="1508105"/>
          </a:xfrm>
          <a:prstGeom prst="rect">
            <a:avLst/>
          </a:prstGeom>
          <a:noFill/>
        </p:spPr>
        <p:txBody>
          <a:bodyPr wrap="square">
            <a:spAutoFit/>
          </a:bodyPr>
          <a:lstStyle/>
          <a:p>
            <a:r>
              <a:rPr lang="zh-CN" altLang="en-US" sz="2000" b="1" i="0" dirty="0">
                <a:effectLst/>
                <a:latin typeface="Inter"/>
              </a:rPr>
              <a:t>训练过程</a:t>
            </a:r>
            <a:endParaRPr lang="en-US" altLang="zh-CN" sz="2000" b="1" i="0" dirty="0">
              <a:effectLst/>
              <a:latin typeface="Inter"/>
            </a:endParaRPr>
          </a:p>
          <a:p>
            <a:r>
              <a:rPr lang="zh-CN" altLang="en-US" b="0" i="0" dirty="0">
                <a:effectLst/>
                <a:latin typeface="Inter"/>
              </a:rPr>
              <a:t>用已标记的 “跌倒 </a:t>
            </a:r>
            <a:r>
              <a:rPr lang="en-US" altLang="zh-CN" b="0" i="0" dirty="0">
                <a:effectLst/>
                <a:latin typeface="Inter"/>
              </a:rPr>
              <a:t>/ </a:t>
            </a:r>
            <a:r>
              <a:rPr lang="zh-CN" altLang="en-US" b="0" i="0" dirty="0">
                <a:effectLst/>
                <a:latin typeface="Inter"/>
              </a:rPr>
              <a:t>类跌倒活动” 特征数据训练模型，确定分类边界；</a:t>
            </a:r>
            <a:endParaRPr lang="en-US" altLang="zh-CN" b="0" i="0" dirty="0">
              <a:effectLst/>
              <a:latin typeface="Inter"/>
            </a:endParaRPr>
          </a:p>
          <a:p>
            <a:r>
              <a:rPr lang="zh-CN" altLang="en-US" b="0" i="0" dirty="0">
                <a:effectLst/>
                <a:latin typeface="Inter"/>
              </a:rPr>
              <a:t>结合用户反馈（如纠正误判），重新标记错误样本并更新模型，持续提升精度。</a:t>
            </a:r>
            <a:endParaRPr lang="zh-CN" altLang="en-US" dirty="0"/>
          </a:p>
        </p:txBody>
      </p:sp>
      <p:cxnSp>
        <p:nvCxnSpPr>
          <p:cNvPr id="41" name="直接连接符 40">
            <a:extLst>
              <a:ext uri="{FF2B5EF4-FFF2-40B4-BE49-F238E27FC236}">
                <a16:creationId xmlns:a16="http://schemas.microsoft.com/office/drawing/2014/main" id="{9E22A00B-471C-4DE2-86F9-1B351CBBD724}"/>
              </a:ext>
            </a:extLst>
          </p:cNvPr>
          <p:cNvCxnSpPr>
            <a:cxnSpLocks/>
          </p:cNvCxnSpPr>
          <p:nvPr/>
        </p:nvCxnSpPr>
        <p:spPr>
          <a:xfrm>
            <a:off x="6276708" y="1711171"/>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36781308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Tree>
    <p:custDataLst>
      <p:tags r:id="rId1"/>
    </p:custDataLst>
    <p:extLst>
      <p:ext uri="{BB962C8B-B14F-4D97-AF65-F5344CB8AC3E}">
        <p14:creationId xmlns:p14="http://schemas.microsoft.com/office/powerpoint/2010/main" val="1313025830"/>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30880" cy="1014730"/>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相关研究</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06</a:t>
              </a:r>
            </a:p>
          </p:txBody>
        </p:sp>
      </p:grpSp>
      <p:sp>
        <p:nvSpPr>
          <p:cNvPr id="13" name="文本框 12"/>
          <p:cNvSpPr txBox="1"/>
          <p:nvPr/>
        </p:nvSpPr>
        <p:spPr>
          <a:xfrm>
            <a:off x="4067810" y="4227695"/>
            <a:ext cx="4054475" cy="460375"/>
          </a:xfrm>
          <a:prstGeom prst="rect">
            <a:avLst/>
          </a:prstGeom>
          <a:noFill/>
        </p:spPr>
        <p:txBody>
          <a:bodyPr wrap="square" rtlCol="0">
            <a:spAutoFit/>
          </a:bodyPr>
          <a:lstStyle/>
          <a:p>
            <a:pPr algn="ctr"/>
            <a:r>
              <a:rPr lang="zh-CN" altLang="en-US" sz="2400" dirty="0">
                <a:solidFill>
                  <a:srgbClr val="694B71">
                    <a:alpha val="90000"/>
                  </a:srgbClr>
                </a:solidFill>
                <a:latin typeface="微软雅黑 Light" panose="020B0502040204020203" charset="-122"/>
                <a:ea typeface="微软雅黑 Light" panose="020B0502040204020203" charset="-122"/>
              </a:rPr>
              <a:t>请替换文字内容</a:t>
            </a:r>
          </a:p>
        </p:txBody>
      </p:sp>
    </p:spTree>
    <p:custDataLst>
      <p:tags r:id="rId1"/>
    </p:custDataLst>
    <p:extLst>
      <p:ext uri="{BB962C8B-B14F-4D97-AF65-F5344CB8AC3E}">
        <p14:creationId xmlns:p14="http://schemas.microsoft.com/office/powerpoint/2010/main" val="4075992862"/>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初步分析</a:t>
            </a:r>
          </a:p>
        </p:txBody>
      </p:sp>
    </p:spTree>
    <p:custDataLst>
      <p:tags r:id="rId1"/>
    </p:custDataLst>
    <p:extLst>
      <p:ext uri="{BB962C8B-B14F-4D97-AF65-F5344CB8AC3E}">
        <p14:creationId xmlns:p14="http://schemas.microsoft.com/office/powerpoint/2010/main" val="4005070799"/>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DOC_GUID" val="{a430a092-4c0f-4c48-9dc9-eb6f5ee1d15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86617"/>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86617"/>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INDEX" val="20186617"/>
  <p:tag name="KSO_WM_TEMPLATE_CATEGORY" val="custom"/>
  <p:tag name="KSO_WM_TEMPLATE_THUMBS_INDEX" val="1、2、3、4、5、6、7、8、9、10、11、12、13、14、15"/>
  <p:tag name="KSO_WM_TEMPLATE_TOPIC_ID" val="2869567"/>
  <p:tag name="KSO_WM_TEMPLATE_OUTLINE_ID" val="5"/>
  <p:tag name="KSO_WM_TEMPLATE_SCENE_ID" val="1"/>
  <p:tag name="KSO_WM_TEMPLATE_JOB_ID" val="5"/>
  <p:tag name="KSO_WM_TEMPLATE_TOPIC_DEFAULT" val="0"/>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08"/>
  <p:tag name="KSO_WM_SLIDE_INDEX" val="1"/>
  <p:tag name="KSO_WM_SLIDE_ITEM_CNT" val="3"/>
  <p:tag name="KSO_WM_SLIDE_LAYOUT" val="a_b_d"/>
  <p:tag name="KSO_WM_SLIDE_LAYOUT_CNT" val="1_1_1"/>
  <p:tag name="KSO_WM_SLIDE_TYPE" val="title"/>
  <p:tag name="KSO_WM_TAG_VERSION" val="1.0"/>
  <p:tag name="KSO_WM_SLIDE_MODEL_TYPE" val="cover"/>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617"/>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08"/>
  <p:tag name="KSO_WM_SLIDE_INDEX" val="1"/>
  <p:tag name="KSO_WM_SLIDE_ITEM_CNT" val="3"/>
  <p:tag name="KSO_WM_SLIDE_LAYOUT" val="a_b_d"/>
  <p:tag name="KSO_WM_SLIDE_LAYOUT_CNT" val="1_1_1"/>
  <p:tag name="KSO_WM_SLIDE_TYPE" val="title"/>
  <p:tag name="KSO_WM_TAG_VERSION" val="1.0"/>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2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0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heme/theme1.xml><?xml version="1.0" encoding="utf-8"?>
<a:theme xmlns:a="http://schemas.openxmlformats.org/drawingml/2006/main" name="Office 主题​​">
  <a:themeElements>
    <a:clrScheme name="20186615">
      <a:dk1>
        <a:srgbClr val="000000"/>
      </a:dk1>
      <a:lt1>
        <a:srgbClr val="FFFFFF"/>
      </a:lt1>
      <a:dk2>
        <a:srgbClr val="0BA0BD"/>
      </a:dk2>
      <a:lt2>
        <a:srgbClr val="E6E4E4"/>
      </a:lt2>
      <a:accent1>
        <a:srgbClr val="E85955"/>
      </a:accent1>
      <a:accent2>
        <a:srgbClr val="DE9138"/>
      </a:accent2>
      <a:accent3>
        <a:srgbClr val="F8B62D"/>
      </a:accent3>
      <a:accent4>
        <a:srgbClr val="B1BE4D"/>
      </a:accent4>
      <a:accent5>
        <a:srgbClr val="559DB4"/>
      </a:accent5>
      <a:accent6>
        <a:srgbClr val="C4AF8F"/>
      </a:accent6>
      <a:hlink>
        <a:srgbClr val="0563C1"/>
      </a:hlink>
      <a:folHlink>
        <a:srgbClr val="954D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TotalTime>
  <Words>6503</Words>
  <Application>Microsoft Office PowerPoint</Application>
  <PresentationFormat>宽屏</PresentationFormat>
  <Paragraphs>336</Paragraphs>
  <Slides>66</Slides>
  <Notes>54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78" baseType="lpstr">
      <vt:lpstr>Helvetica Neue</vt:lpstr>
      <vt:lpstr>Inter</vt:lpstr>
      <vt:lpstr>KaTeX_Main</vt:lpstr>
      <vt:lpstr>KaTeX_Math</vt:lpstr>
      <vt:lpstr>微软雅黑</vt:lpstr>
      <vt:lpstr>微软雅黑 Light</vt:lpstr>
      <vt:lpstr>Arial</vt:lpstr>
      <vt:lpstr>Calibri</vt:lpstr>
      <vt:lpstr>Cambria Math</vt:lpstr>
      <vt:lpstr>Helvetica</vt:lpstr>
      <vt:lpstr>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 欣琪</dc:creator>
  <cp:lastModifiedBy>王锦鸿</cp:lastModifiedBy>
  <cp:revision>162</cp:revision>
  <dcterms:created xsi:type="dcterms:W3CDTF">2019-03-24T15:19:00Z</dcterms:created>
  <dcterms:modified xsi:type="dcterms:W3CDTF">2025-10-16T06:21:04Z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2052-11.8.2.12195</vt:lpwstr>
  </property>
  <property fmtid="{D5CDD505-2E9C-101B-9397-08002B2CF9AE}" pid="3" name="ICV">
    <vt:lpwstr>4B55492A4D5946159BFF1B442633507F</vt:lpwstr>
  </property>
</Properties>
</file>