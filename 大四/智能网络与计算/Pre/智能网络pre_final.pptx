
<file path=[Content_Types].xml><?xml version="1.0" encoding="utf-8"?>
<Types xmlns="http://schemas.openxmlformats.org/package/2006/content-types">
  <Default Extension="bin" ContentType="application/vnd.openxmlformats-officedocument.oleObject"/>
  <Default Extension="docx" ContentType="application/vnd.openxmlformats-officedocument.wordprocessingml.documen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heme/theme2.xml" ContentType="application/vnd.openxmlformats-officedocument.theme+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1.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notesSlides/notesSlide2.xml" ContentType="application/vnd.openxmlformats-officedocument.presentationml.notesSlide+xml"/>
  <Override PartName="/ppt/tags/tag95.xml" ContentType="application/vnd.openxmlformats-officedocument.presentationml.tags+xml"/>
  <Override PartName="/ppt/tags/tag96.xml" ContentType="application/vnd.openxmlformats-officedocument.presentationml.tags+xml"/>
  <Override PartName="/ppt/notesSlides/notesSlide3.xml" ContentType="application/vnd.openxmlformats-officedocument.presentationml.notesSlide+xml"/>
  <Override PartName="/ppt/tags/tag97.xml" ContentType="application/vnd.openxmlformats-officedocument.presentationml.tags+xml"/>
  <Override PartName="/ppt/tags/tag98.xml" ContentType="application/vnd.openxmlformats-officedocument.presentationml.tags+xml"/>
  <Override PartName="/ppt/notesSlides/notesSlide4.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notesSlides/notesSlide5.xml" ContentType="application/vnd.openxmlformats-officedocument.presentationml.notesSlide+xml"/>
  <Override PartName="/ppt/tags/tag101.xml" ContentType="application/vnd.openxmlformats-officedocument.presentationml.tags+xml"/>
  <Override PartName="/ppt/tags/tag102.xml" ContentType="application/vnd.openxmlformats-officedocument.presentationml.tags+xml"/>
  <Override PartName="/ppt/notesSlides/notesSlide6.xml" ContentType="application/vnd.openxmlformats-officedocument.presentationml.notesSlide+xml"/>
  <Override PartName="/ppt/tags/tag103.xml" ContentType="application/vnd.openxmlformats-officedocument.presentationml.tags+xml"/>
  <Override PartName="/ppt/tags/tag104.xml" ContentType="application/vnd.openxmlformats-officedocument.presentationml.tags+xml"/>
  <Override PartName="/ppt/notesSlides/notesSlide7.xml" ContentType="application/vnd.openxmlformats-officedocument.presentationml.notesSlide+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notesSlides/notesSlide8.xml" ContentType="application/vnd.openxmlformats-officedocument.presentationml.notesSlide+xml"/>
  <Override PartName="/ppt/tags/tag108.xml" ContentType="application/vnd.openxmlformats-officedocument.presentationml.tags+xml"/>
  <Override PartName="/ppt/tags/tag109.xml" ContentType="application/vnd.openxmlformats-officedocument.presentationml.tags+xml"/>
  <Override PartName="/ppt/notesSlides/notesSlide9.xml" ContentType="application/vnd.openxmlformats-officedocument.presentationml.notesSlide+xml"/>
  <Override PartName="/ppt/tags/tag110.xml" ContentType="application/vnd.openxmlformats-officedocument.presentationml.tags+xml"/>
  <Override PartName="/ppt/notesSlides/notesSlide10.xml" ContentType="application/vnd.openxmlformats-officedocument.presentationml.notesSlide+xml"/>
  <Override PartName="/ppt/tags/tag111.xml" ContentType="application/vnd.openxmlformats-officedocument.presentationml.tags+xml"/>
  <Override PartName="/ppt/tags/tag112.xml" ContentType="application/vnd.openxmlformats-officedocument.presentationml.tags+xml"/>
  <Override PartName="/ppt/notesSlides/notesSlide11.xml" ContentType="application/vnd.openxmlformats-officedocument.presentationml.notesSlide+xml"/>
  <Override PartName="/ppt/tags/tag113.xml" ContentType="application/vnd.openxmlformats-officedocument.presentationml.tags+xml"/>
  <Override PartName="/ppt/tags/tag114.xml" ContentType="application/vnd.openxmlformats-officedocument.presentationml.tags+xml"/>
  <Override PartName="/ppt/notesSlides/notesSlide12.xml" ContentType="application/vnd.openxmlformats-officedocument.presentationml.notesSlide+xml"/>
  <Override PartName="/ppt/tags/tag115.xml" ContentType="application/vnd.openxmlformats-officedocument.presentationml.tags+xml"/>
  <Override PartName="/ppt/tags/tag116.xml" ContentType="application/vnd.openxmlformats-officedocument.presentationml.tags+xml"/>
  <Override PartName="/ppt/notesSlides/notesSlide13.xml" ContentType="application/vnd.openxmlformats-officedocument.presentationml.notesSlide+xml"/>
  <Override PartName="/ppt/tags/tag117.xml" ContentType="application/vnd.openxmlformats-officedocument.presentationml.tags+xml"/>
  <Override PartName="/ppt/tags/tag118.xml" ContentType="application/vnd.openxmlformats-officedocument.presentationml.tags+xml"/>
  <Override PartName="/ppt/notesSlides/notesSlide14.xml" ContentType="application/vnd.openxmlformats-officedocument.presentationml.notesSlide+xml"/>
  <Override PartName="/ppt/tags/tag119.xml" ContentType="application/vnd.openxmlformats-officedocument.presentationml.tags+xml"/>
  <Override PartName="/ppt/tags/tag120.xml" ContentType="application/vnd.openxmlformats-officedocument.presentationml.tags+xml"/>
  <Override PartName="/ppt/notesSlides/notesSlide15.xml" ContentType="application/vnd.openxmlformats-officedocument.presentationml.notesSlide+xml"/>
  <Override PartName="/ppt/tags/tag121.xml" ContentType="application/vnd.openxmlformats-officedocument.presentationml.tags+xml"/>
  <Override PartName="/ppt/tags/tag122.xml" ContentType="application/vnd.openxmlformats-officedocument.presentationml.tags+xml"/>
  <Override PartName="/ppt/notesSlides/notesSlide16.xml" ContentType="application/vnd.openxmlformats-officedocument.presentationml.notesSlide+xml"/>
  <Override PartName="/ppt/tags/tag123.xml" ContentType="application/vnd.openxmlformats-officedocument.presentationml.tags+xml"/>
  <Override PartName="/ppt/tags/tag124.xml" ContentType="application/vnd.openxmlformats-officedocument.presentationml.tags+xml"/>
  <Override PartName="/ppt/notesSlides/notesSlide17.xml" ContentType="application/vnd.openxmlformats-officedocument.presentationml.notesSlide+xml"/>
  <Override PartName="/ppt/tags/tag125.xml" ContentType="application/vnd.openxmlformats-officedocument.presentationml.tags+xml"/>
  <Override PartName="/ppt/tags/tag126.xml" ContentType="application/vnd.openxmlformats-officedocument.presentationml.tags+xml"/>
  <Override PartName="/ppt/notesSlides/notesSlide18.xml" ContentType="application/vnd.openxmlformats-officedocument.presentationml.notesSlide+xml"/>
  <Override PartName="/ppt/tags/tag127.xml" ContentType="application/vnd.openxmlformats-officedocument.presentationml.tags+xml"/>
  <Override PartName="/ppt/tags/tag128.xml" ContentType="application/vnd.openxmlformats-officedocument.presentationml.tags+xml"/>
  <Override PartName="/ppt/notesSlides/notesSlide19.xml" ContentType="application/vnd.openxmlformats-officedocument.presentationml.notesSlide+xml"/>
  <Override PartName="/ppt/tags/tag129.xml" ContentType="application/vnd.openxmlformats-officedocument.presentationml.tags+xml"/>
  <Override PartName="/ppt/tags/tag130.xml" ContentType="application/vnd.openxmlformats-officedocument.presentationml.tags+xml"/>
  <Override PartName="/ppt/notesSlides/notesSlide20.xml" ContentType="application/vnd.openxmlformats-officedocument.presentationml.notesSlide+xml"/>
  <Override PartName="/ppt/tags/tag131.xml" ContentType="application/vnd.openxmlformats-officedocument.presentationml.tags+xml"/>
  <Override PartName="/ppt/tags/tag132.xml" ContentType="application/vnd.openxmlformats-officedocument.presentationml.tags+xml"/>
  <Override PartName="/ppt/notesSlides/notesSlide21.xml" ContentType="application/vnd.openxmlformats-officedocument.presentationml.notesSlide+xml"/>
  <Override PartName="/ppt/tags/tag133.xml" ContentType="application/vnd.openxmlformats-officedocument.presentationml.tags+xml"/>
  <Override PartName="/ppt/tags/tag134.xml" ContentType="application/vnd.openxmlformats-officedocument.presentationml.tags+xml"/>
  <Override PartName="/ppt/notesSlides/notesSlide22.xml" ContentType="application/vnd.openxmlformats-officedocument.presentationml.notesSlide+xml"/>
  <Override PartName="/ppt/tags/tag135.xml" ContentType="application/vnd.openxmlformats-officedocument.presentationml.tags+xml"/>
  <Override PartName="/ppt/tags/tag136.xml" ContentType="application/vnd.openxmlformats-officedocument.presentationml.tags+xml"/>
  <Override PartName="/ppt/notesSlides/notesSlide23.xml" ContentType="application/vnd.openxmlformats-officedocument.presentationml.notesSlide+xml"/>
  <Override PartName="/ppt/tags/tag137.xml" ContentType="application/vnd.openxmlformats-officedocument.presentationml.tags+xml"/>
  <Override PartName="/ppt/tags/tag138.xml" ContentType="application/vnd.openxmlformats-officedocument.presentationml.tags+xml"/>
  <Override PartName="/ppt/notesSlides/notesSlide24.xml" ContentType="application/vnd.openxmlformats-officedocument.presentationml.notesSlide+xml"/>
  <Override PartName="/ppt/tags/tag139.xml" ContentType="application/vnd.openxmlformats-officedocument.presentationml.tags+xml"/>
  <Override PartName="/ppt/tags/tag140.xml" ContentType="application/vnd.openxmlformats-officedocument.presentationml.tags+xml"/>
  <Override PartName="/ppt/notesSlides/notesSlide25.xml" ContentType="application/vnd.openxmlformats-officedocument.presentationml.notesSlide+xml"/>
  <Override PartName="/ppt/tags/tag141.xml" ContentType="application/vnd.openxmlformats-officedocument.presentationml.tags+xml"/>
  <Override PartName="/ppt/tags/tag142.xml" ContentType="application/vnd.openxmlformats-officedocument.presentationml.tags+xml"/>
  <Override PartName="/ppt/notesSlides/notesSlide26.xml" ContentType="application/vnd.openxmlformats-officedocument.presentationml.notesSlide+xml"/>
  <Override PartName="/ppt/tags/tag143.xml" ContentType="application/vnd.openxmlformats-officedocument.presentationml.tags+xml"/>
  <Override PartName="/ppt/tags/tag144.xml" ContentType="application/vnd.openxmlformats-officedocument.presentationml.tags+xml"/>
  <Override PartName="/ppt/notesSlides/notesSlide27.xml" ContentType="application/vnd.openxmlformats-officedocument.presentationml.notesSlide+xml"/>
  <Override PartName="/ppt/tags/tag145.xml" ContentType="application/vnd.openxmlformats-officedocument.presentationml.tags+xml"/>
  <Override PartName="/ppt/tags/tag146.xml" ContentType="application/vnd.openxmlformats-officedocument.presentationml.tags+xml"/>
  <Override PartName="/ppt/notesSlides/notesSlide28.xml" ContentType="application/vnd.openxmlformats-officedocument.presentationml.notesSlide+xml"/>
  <Override PartName="/ppt/tags/tag147.xml" ContentType="application/vnd.openxmlformats-officedocument.presentationml.tags+xml"/>
  <Override PartName="/ppt/tags/tag148.xml" ContentType="application/vnd.openxmlformats-officedocument.presentationml.tags+xml"/>
  <Override PartName="/ppt/notesSlides/notesSlide29.xml" ContentType="application/vnd.openxmlformats-officedocument.presentationml.notesSlide+xml"/>
  <Override PartName="/ppt/tags/tag149.xml" ContentType="application/vnd.openxmlformats-officedocument.presentationml.tags+xml"/>
  <Override PartName="/ppt/tags/tag150.xml" ContentType="application/vnd.openxmlformats-officedocument.presentationml.tags+xml"/>
  <Override PartName="/ppt/notesSlides/notesSlide30.xml" ContentType="application/vnd.openxmlformats-officedocument.presentationml.notesSlide+xml"/>
  <Override PartName="/ppt/tags/tag151.xml" ContentType="application/vnd.openxmlformats-officedocument.presentationml.tags+xml"/>
  <Override PartName="/ppt/tags/tag152.xml" ContentType="application/vnd.openxmlformats-officedocument.presentationml.tags+xml"/>
  <Override PartName="/ppt/notesSlides/notesSlide31.xml" ContentType="application/vnd.openxmlformats-officedocument.presentationml.notesSlide+xml"/>
  <Override PartName="/ppt/tags/tag153.xml" ContentType="application/vnd.openxmlformats-officedocument.presentationml.tags+xml"/>
  <Override PartName="/ppt/tags/tag154.xml" ContentType="application/vnd.openxmlformats-officedocument.presentationml.tags+xml"/>
  <Override PartName="/ppt/notesSlides/notesSlide32.xml" ContentType="application/vnd.openxmlformats-officedocument.presentationml.notesSlide+xml"/>
  <Override PartName="/ppt/tags/tag155.xml" ContentType="application/vnd.openxmlformats-officedocument.presentationml.tags+xml"/>
  <Override PartName="/ppt/tags/tag156.xml" ContentType="application/vnd.openxmlformats-officedocument.presentationml.tags+xml"/>
  <Override PartName="/ppt/notesSlides/notesSlide33.xml" ContentType="application/vnd.openxmlformats-officedocument.presentationml.notesSlide+xml"/>
  <Override PartName="/ppt/tags/tag157.xml" ContentType="application/vnd.openxmlformats-officedocument.presentationml.tags+xml"/>
  <Override PartName="/ppt/tags/tag158.xml" ContentType="application/vnd.openxmlformats-officedocument.presentationml.tags+xml"/>
  <Override PartName="/ppt/notesSlides/notesSlide34.xml" ContentType="application/vnd.openxmlformats-officedocument.presentationml.notesSlide+xml"/>
  <Override PartName="/ppt/tags/tag159.xml" ContentType="application/vnd.openxmlformats-officedocument.presentationml.tags+xml"/>
  <Override PartName="/ppt/tags/tag160.xml" ContentType="application/vnd.openxmlformats-officedocument.presentationml.tags+xml"/>
  <Override PartName="/ppt/notesSlides/notesSlide35.xml" ContentType="application/vnd.openxmlformats-officedocument.presentationml.notesSlide+xml"/>
  <Override PartName="/ppt/tags/tag161.xml" ContentType="application/vnd.openxmlformats-officedocument.presentationml.tags+xml"/>
  <Override PartName="/ppt/tags/tag162.xml" ContentType="application/vnd.openxmlformats-officedocument.presentationml.tags+xml"/>
  <Override PartName="/ppt/notesSlides/notesSlide36.xml" ContentType="application/vnd.openxmlformats-officedocument.presentationml.notesSlide+xml"/>
  <Override PartName="/ppt/tags/tag163.xml" ContentType="application/vnd.openxmlformats-officedocument.presentationml.tags+xml"/>
  <Override PartName="/ppt/tags/tag164.xml" ContentType="application/vnd.openxmlformats-officedocument.presentationml.tags+xml"/>
  <Override PartName="/ppt/notesSlides/notesSlide37.xml" ContentType="application/vnd.openxmlformats-officedocument.presentationml.notesSlide+xml"/>
  <Override PartName="/ppt/tags/tag165.xml" ContentType="application/vnd.openxmlformats-officedocument.presentationml.tags+xml"/>
  <Override PartName="/ppt/tags/tag166.xml" ContentType="application/vnd.openxmlformats-officedocument.presentationml.tags+xml"/>
  <Override PartName="/ppt/notesSlides/notesSlide38.xml" ContentType="application/vnd.openxmlformats-officedocument.presentationml.notesSlide+xml"/>
  <Override PartName="/ppt/tags/tag167.xml" ContentType="application/vnd.openxmlformats-officedocument.presentationml.tags+xml"/>
  <Override PartName="/ppt/tags/tag168.xml" ContentType="application/vnd.openxmlformats-officedocument.presentationml.tags+xml"/>
  <Override PartName="/ppt/notesSlides/notesSlide39.xml" ContentType="application/vnd.openxmlformats-officedocument.presentationml.notesSlide+xml"/>
  <Override PartName="/ppt/tags/tag169.xml" ContentType="application/vnd.openxmlformats-officedocument.presentationml.tags+xml"/>
  <Override PartName="/ppt/tags/tag170.xml" ContentType="application/vnd.openxmlformats-officedocument.presentationml.tags+xml"/>
  <Override PartName="/ppt/notesSlides/notesSlide40.xml" ContentType="application/vnd.openxmlformats-officedocument.presentationml.notesSlide+xml"/>
  <Override PartName="/ppt/tags/tag171.xml" ContentType="application/vnd.openxmlformats-officedocument.presentationml.tags+xml"/>
  <Override PartName="/ppt/tags/tag172.xml" ContentType="application/vnd.openxmlformats-officedocument.presentationml.tags+xml"/>
  <Override PartName="/ppt/notesSlides/notesSlide41.xml" ContentType="application/vnd.openxmlformats-officedocument.presentationml.notesSlide+xml"/>
  <Override PartName="/ppt/tags/tag173.xml" ContentType="application/vnd.openxmlformats-officedocument.presentationml.tags+xml"/>
  <Override PartName="/ppt/tags/tag174.xml" ContentType="application/vnd.openxmlformats-officedocument.presentationml.tags+xml"/>
  <Override PartName="/ppt/notesSlides/notesSlide42.xml" ContentType="application/vnd.openxmlformats-officedocument.presentationml.notesSlide+xml"/>
  <Override PartName="/ppt/tags/tag175.xml" ContentType="application/vnd.openxmlformats-officedocument.presentationml.tags+xml"/>
  <Override PartName="/ppt/tags/tag176.xml" ContentType="application/vnd.openxmlformats-officedocument.presentationml.tags+xml"/>
  <Override PartName="/ppt/notesSlides/notesSlide43.xml" ContentType="application/vnd.openxmlformats-officedocument.presentationml.notesSlide+xml"/>
  <Override PartName="/ppt/tags/tag177.xml" ContentType="application/vnd.openxmlformats-officedocument.presentationml.tags+xml"/>
  <Override PartName="/ppt/tags/tag178.xml" ContentType="application/vnd.openxmlformats-officedocument.presentationml.tags+xml"/>
  <Override PartName="/ppt/notesSlides/notesSlide44.xml" ContentType="application/vnd.openxmlformats-officedocument.presentationml.notesSlide+xml"/>
  <Override PartName="/ppt/tags/tag179.xml" ContentType="application/vnd.openxmlformats-officedocument.presentationml.tags+xml"/>
  <Override PartName="/ppt/tags/tag180.xml" ContentType="application/vnd.openxmlformats-officedocument.presentationml.tags+xml"/>
  <Override PartName="/ppt/notesSlides/notesSlide45.xml" ContentType="application/vnd.openxmlformats-officedocument.presentationml.notesSlide+xml"/>
  <Override PartName="/ppt/tags/tag181.xml" ContentType="application/vnd.openxmlformats-officedocument.presentationml.tags+xml"/>
  <Override PartName="/ppt/tags/tag182.xml" ContentType="application/vnd.openxmlformats-officedocument.presentationml.tags+xml"/>
  <Override PartName="/ppt/notesSlides/notesSlide46.xml" ContentType="application/vnd.openxmlformats-officedocument.presentationml.notesSlide+xml"/>
  <Override PartName="/ppt/tags/tag183.xml" ContentType="application/vnd.openxmlformats-officedocument.presentationml.tags+xml"/>
  <Override PartName="/ppt/tags/tag184.xml" ContentType="application/vnd.openxmlformats-officedocument.presentationml.tags+xml"/>
  <Override PartName="/ppt/notesSlides/notesSlide47.xml" ContentType="application/vnd.openxmlformats-officedocument.presentationml.notesSlide+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notesSlides/notesSlide48.xml" ContentType="application/vnd.openxmlformats-officedocument.presentationml.notesSlide+xml"/>
  <Override PartName="/ppt/tags/tag188.xml" ContentType="application/vnd.openxmlformats-officedocument.presentationml.tags+xml"/>
  <Override PartName="/ppt/tags/tag189.xml" ContentType="application/vnd.openxmlformats-officedocument.presentationml.tags+xml"/>
  <Override PartName="/ppt/notesSlides/notesSlide49.xml" ContentType="application/vnd.openxmlformats-officedocument.presentationml.notesSlide+xml"/>
  <Override PartName="/ppt/tags/tag190.xml" ContentType="application/vnd.openxmlformats-officedocument.presentationml.tags+xml"/>
  <Override PartName="/ppt/tags/tag191.xml" ContentType="application/vnd.openxmlformats-officedocument.presentationml.tags+xml"/>
  <Override PartName="/ppt/notesSlides/notesSlide50.xml" ContentType="application/vnd.openxmlformats-officedocument.presentationml.notesSlide+xml"/>
  <Override PartName="/ppt/tags/tag192.xml" ContentType="application/vnd.openxmlformats-officedocument.presentationml.tags+xml"/>
  <Override PartName="/ppt/tags/tag193.xml" ContentType="application/vnd.openxmlformats-officedocument.presentationml.tags+xml"/>
  <Override PartName="/ppt/notesSlides/notesSlide51.xml" ContentType="application/vnd.openxmlformats-officedocument.presentationml.notesSlide+xml"/>
  <Override PartName="/ppt/tags/tag194.xml" ContentType="application/vnd.openxmlformats-officedocument.presentationml.tags+xml"/>
  <Override PartName="/ppt/tags/tag195.xml" ContentType="application/vnd.openxmlformats-officedocument.presentationml.tags+xml"/>
  <Override PartName="/ppt/notesSlides/notesSlide52.xml" ContentType="application/vnd.openxmlformats-officedocument.presentationml.notesSlide+xml"/>
  <Override PartName="/ppt/tags/tag196.xml" ContentType="application/vnd.openxmlformats-officedocument.presentationml.tags+xml"/>
  <Override PartName="/ppt/notesSlides/notesSlide53.xml" ContentType="application/vnd.openxmlformats-officedocument.presentationml.notesSlide+xml"/>
  <Override PartName="/ppt/tags/tag197.xml" ContentType="application/vnd.openxmlformats-officedocument.presentationml.tags+xml"/>
  <Override PartName="/ppt/tags/tag198.xml" ContentType="application/vnd.openxmlformats-officedocument.presentationml.tags+xml"/>
  <Override PartName="/ppt/notesSlides/notesSlide54.xml" ContentType="application/vnd.openxmlformats-officedocument.presentationml.notesSlide+xml"/>
  <Override PartName="/ppt/tags/tag199.xml" ContentType="application/vnd.openxmlformats-officedocument.presentationml.tags+xml"/>
  <Override PartName="/ppt/tags/tag200.xml" ContentType="application/vnd.openxmlformats-officedocument.presentationml.tags+xml"/>
  <Override PartName="/ppt/notesSlides/notesSlide55.xml" ContentType="application/vnd.openxmlformats-officedocument.presentationml.notesSlide+xml"/>
  <Override PartName="/ppt/tags/tag201.xml" ContentType="application/vnd.openxmlformats-officedocument.presentationml.tags+xml"/>
  <Override PartName="/ppt/tags/tag202.xml" ContentType="application/vnd.openxmlformats-officedocument.presentationml.tags+xml"/>
  <Override PartName="/ppt/notesSlides/notesSlide56.xml" ContentType="application/vnd.openxmlformats-officedocument.presentationml.notesSlide+xml"/>
  <Override PartName="/ppt/tags/tag203.xml" ContentType="application/vnd.openxmlformats-officedocument.presentationml.tags+xml"/>
  <Override PartName="/ppt/tags/tag204.xml" ContentType="application/vnd.openxmlformats-officedocument.presentationml.tags+xml"/>
  <Override PartName="/ppt/notesSlides/notesSlide57.xml" ContentType="application/vnd.openxmlformats-officedocument.presentationml.notesSlide+xml"/>
  <Override PartName="/ppt/tags/tag205.xml" ContentType="application/vnd.openxmlformats-officedocument.presentationml.tags+xml"/>
  <Override PartName="/ppt/tags/tag206.xml" ContentType="application/vnd.openxmlformats-officedocument.presentationml.tags+xml"/>
  <Override PartName="/ppt/notesSlides/notesSlide58.xml" ContentType="application/vnd.openxmlformats-officedocument.presentationml.notesSlide+xml"/>
  <Override PartName="/ppt/tags/tag207.xml" ContentType="application/vnd.openxmlformats-officedocument.presentationml.tags+xml"/>
  <Override PartName="/ppt/tags/tag208.xml" ContentType="application/vnd.openxmlformats-officedocument.presentationml.tags+xml"/>
  <Override PartName="/ppt/notesSlides/notesSlide59.xml" ContentType="application/vnd.openxmlformats-officedocument.presentationml.notesSlide+xml"/>
  <Override PartName="/ppt/tags/tag209.xml" ContentType="application/vnd.openxmlformats-officedocument.presentationml.tags+xml"/>
  <Override PartName="/ppt/tags/tag210.xml" ContentType="application/vnd.openxmlformats-officedocument.presentationml.tags+xml"/>
  <Override PartName="/ppt/notesSlides/notesSlide60.xml" ContentType="application/vnd.openxmlformats-officedocument.presentationml.notesSlide+xml"/>
  <Override PartName="/ppt/tags/tag211.xml" ContentType="application/vnd.openxmlformats-officedocument.presentationml.tags+xml"/>
  <Override PartName="/ppt/tags/tag212.xml" ContentType="application/vnd.openxmlformats-officedocument.presentationml.tags+xml"/>
  <Override PartName="/ppt/notesSlides/notesSlide61.xml" ContentType="application/vnd.openxmlformats-officedocument.presentationml.notesSlide+xml"/>
  <Override PartName="/ppt/tags/tag213.xml" ContentType="application/vnd.openxmlformats-officedocument.presentationml.tags+xml"/>
  <Override PartName="/ppt/notesSlides/notesSlide62.xml" ContentType="application/vnd.openxmlformats-officedocument.presentationml.notesSlide+xml"/>
  <Override PartName="/ppt/tags/tag214.xml" ContentType="application/vnd.openxmlformats-officedocument.presentationml.tags+xml"/>
  <Override PartName="/ppt/tags/tag215.xml" ContentType="application/vnd.openxmlformats-officedocument.presentationml.tags+xml"/>
  <Override PartName="/ppt/notesSlides/notesSlide63.xml" ContentType="application/vnd.openxmlformats-officedocument.presentationml.notesSlide+xml"/>
  <Override PartName="/ppt/tags/tag216.xml" ContentType="application/vnd.openxmlformats-officedocument.presentationml.tags+xml"/>
  <Override PartName="/ppt/tags/tag217.xml" ContentType="application/vnd.openxmlformats-officedocument.presentationml.tags+xml"/>
  <Override PartName="/ppt/notesSlides/notesSlide64.xml" ContentType="application/vnd.openxmlformats-officedocument.presentationml.notesSlide+xml"/>
  <Override PartName="/ppt/tags/tag218.xml" ContentType="application/vnd.openxmlformats-officedocument.presentationml.tags+xml"/>
  <Override PartName="/ppt/notesSlides/notesSlide65.xml" ContentType="application/vnd.openxmlformats-officedocument.presentationml.notesSlide+xml"/>
  <Override PartName="/ppt/tags/tag219.xml" ContentType="application/vnd.openxmlformats-officedocument.presentationml.tags+xml"/>
  <Override PartName="/ppt/tags/tag220.xml" ContentType="application/vnd.openxmlformats-officedocument.presentationml.tags+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8"/>
  </p:notesMasterIdLst>
  <p:sldIdLst>
    <p:sldId id="258" r:id="rId2"/>
    <p:sldId id="286" r:id="rId3"/>
    <p:sldId id="287" r:id="rId4"/>
    <p:sldId id="288" r:id="rId5"/>
    <p:sldId id="290" r:id="rId6"/>
    <p:sldId id="291" r:id="rId7"/>
    <p:sldId id="292" r:id="rId8"/>
    <p:sldId id="264" r:id="rId9"/>
    <p:sldId id="293" r:id="rId10"/>
    <p:sldId id="294" r:id="rId11"/>
    <p:sldId id="295" r:id="rId12"/>
    <p:sldId id="296" r:id="rId13"/>
    <p:sldId id="297" r:id="rId14"/>
    <p:sldId id="299" r:id="rId15"/>
    <p:sldId id="298" r:id="rId16"/>
    <p:sldId id="338" r:id="rId17"/>
    <p:sldId id="339" r:id="rId18"/>
    <p:sldId id="341" r:id="rId19"/>
    <p:sldId id="300" r:id="rId20"/>
    <p:sldId id="301" r:id="rId21"/>
    <p:sldId id="302" r:id="rId22"/>
    <p:sldId id="303" r:id="rId23"/>
    <p:sldId id="304" r:id="rId24"/>
    <p:sldId id="305" r:id="rId25"/>
    <p:sldId id="306" r:id="rId26"/>
    <p:sldId id="307" r:id="rId27"/>
    <p:sldId id="308" r:id="rId28"/>
    <p:sldId id="309" r:id="rId29"/>
    <p:sldId id="310" r:id="rId30"/>
    <p:sldId id="311" r:id="rId31"/>
    <p:sldId id="313" r:id="rId32"/>
    <p:sldId id="312" r:id="rId33"/>
    <p:sldId id="314" r:id="rId34"/>
    <p:sldId id="315" r:id="rId35"/>
    <p:sldId id="316" r:id="rId36"/>
    <p:sldId id="317" r:id="rId37"/>
    <p:sldId id="318" r:id="rId38"/>
    <p:sldId id="319" r:id="rId39"/>
    <p:sldId id="320" r:id="rId40"/>
    <p:sldId id="321" r:id="rId41"/>
    <p:sldId id="322" r:id="rId42"/>
    <p:sldId id="323" r:id="rId43"/>
    <p:sldId id="324" r:id="rId44"/>
    <p:sldId id="325" r:id="rId45"/>
    <p:sldId id="326" r:id="rId46"/>
    <p:sldId id="327" r:id="rId47"/>
    <p:sldId id="328" r:id="rId48"/>
    <p:sldId id="329" r:id="rId49"/>
    <p:sldId id="330" r:id="rId50"/>
    <p:sldId id="331" r:id="rId51"/>
    <p:sldId id="332" r:id="rId52"/>
    <p:sldId id="333" r:id="rId53"/>
    <p:sldId id="334" r:id="rId54"/>
    <p:sldId id="335" r:id="rId55"/>
    <p:sldId id="336" r:id="rId56"/>
    <p:sldId id="337" r:id="rId57"/>
    <p:sldId id="343" r:id="rId58"/>
    <p:sldId id="344" r:id="rId59"/>
    <p:sldId id="345" r:id="rId60"/>
    <p:sldId id="346" r:id="rId61"/>
    <p:sldId id="349" r:id="rId62"/>
    <p:sldId id="347" r:id="rId63"/>
    <p:sldId id="342" r:id="rId64"/>
    <p:sldId id="340" r:id="rId65"/>
    <p:sldId id="354" r:id="rId66"/>
    <p:sldId id="355" r:id="rId67"/>
    <p:sldId id="357" r:id="rId68"/>
    <p:sldId id="356" r:id="rId69"/>
    <p:sldId id="358" r:id="rId70"/>
    <p:sldId id="359" r:id="rId71"/>
    <p:sldId id="360" r:id="rId72"/>
    <p:sldId id="350" r:id="rId73"/>
    <p:sldId id="352" r:id="rId74"/>
    <p:sldId id="361" r:id="rId75"/>
    <p:sldId id="351" r:id="rId76"/>
    <p:sldId id="353" r:id="rId77"/>
  </p:sldIdLst>
  <p:sldSz cx="12192000" cy="6858000"/>
  <p:notesSz cx="6858000" cy="9144000"/>
  <p:custDataLst>
    <p:tags r:id="rId7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6">
          <p15:clr>
            <a:srgbClr val="A4A3A4"/>
          </p15:clr>
        </p15:guide>
        <p15:guide id="2" pos="3574">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王锦鸿" initials="王锦鸿" lastIdx="1" clrIdx="0">
    <p:extLst>
      <p:ext uri="{19B8F6BF-5375-455C-9EA6-DF929625EA0E}">
        <p15:presenceInfo xmlns:p15="http://schemas.microsoft.com/office/powerpoint/2012/main" userId="王锦鸿"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694B71"/>
    <a:srgbClr val="8F6C8F"/>
    <a:srgbClr val="955BA5"/>
    <a:srgbClr val="CC64AA"/>
    <a:srgbClr val="C993B7"/>
    <a:srgbClr val="7C5886"/>
    <a:srgbClr val="DCBBE3"/>
    <a:srgbClr val="C54B48"/>
    <a:srgbClr val="D4CFF3"/>
    <a:srgbClr val="C0B4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68" autoAdjust="0"/>
    <p:restoredTop sz="85544" autoAdjust="0"/>
  </p:normalViewPr>
  <p:slideViewPr>
    <p:cSldViewPr snapToGrid="0">
      <p:cViewPr varScale="1">
        <p:scale>
          <a:sx n="84" d="100"/>
          <a:sy n="84" d="100"/>
        </p:scale>
        <p:origin x="1096" y="72"/>
      </p:cViewPr>
      <p:guideLst>
        <p:guide orient="horz" pos="2216"/>
        <p:guide pos="3574"/>
      </p:guideLst>
    </p:cSldViewPr>
  </p:slideViewPr>
  <p:outlineViewPr>
    <p:cViewPr>
      <p:scale>
        <a:sx n="33" d="100"/>
        <a:sy n="33" d="100"/>
      </p:scale>
      <p:origin x="0" y="-284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tags" Target="tags/tag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7.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0.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image" Target="../media/image41.e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image" Target="../media/image45.emf"/><Relationship Id="rId1" Type="http://schemas.openxmlformats.org/officeDocument/2006/relationships/image" Target="../media/image4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48.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2025/10/16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t>陀螺仪：</a:t>
            </a:r>
            <a:r>
              <a:rPr lang="en-US" altLang="zh-CN" dirty="0"/>
              <a:t> 该研究通过优化算法来提高跌倒检测的准确性。具体来说，研究人员利用加速度计和陀螺仪的数据，结合机器学习技术，开发了一种能够区分跌倒和其他日常活动的算法。这种算法通过分析传感器数据中的特征，如加速度的变化率和陀螺仪的旋转角度，来判断是否发生了跌倒</a:t>
            </a:r>
          </a:p>
          <a:p>
            <a:r>
              <a:rPr lang="zh-CN" altLang="en-US" dirty="0"/>
              <a:t>气压传感器：</a:t>
            </a:r>
          </a:p>
          <a:p>
            <a:r>
              <a:rPr lang="zh-CN" altLang="en-US" dirty="0"/>
              <a:t>气压传感器：该研究提出了一种结合气压计和三轴加速度计的跌倒检测算法。气压计可以检测到跌倒过程中气压的快速变化，而三轴加速度计则可以捕捉到加速度的变化。通过结合这两种传感器的数据，算法能够更准确地识别跌倒事件。</a:t>
            </a:r>
          </a:p>
          <a:p>
            <a:r>
              <a:rPr lang="en-US" altLang="zh-CN" dirty="0"/>
              <a:t>RFID</a:t>
            </a:r>
            <a:r>
              <a:rPr lang="zh-CN" altLang="en-US" dirty="0"/>
              <a:t>：该研究提出了一种基于室内 RFID 的步态监测系统，用于检测跌倒事件。系统通过在室内环境中部署 RFID 标签和读取器，实时监测人体的运动轨迹和步态特征。具体来说，RFID 标签被放置在受试者的衣物上，而读取器则安装在室内环境中，用于捕捉标签的信号。通过分析这些信号的变化，系统能够识别出跌倒事件。</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音频噪声：</a:t>
            </a:r>
            <a:r>
              <a:rPr lang="en-US" altLang="zh-CN"/>
              <a:t> 该研究提出了一种基于麦克风阵列的跌倒检测系统，利用多个麦克风捕捉声音信号，并通过信号处理和模式识别技术来检测跌倒事件。具体来说，该系统通过分析声音信号的特征，如声音的强度、频率和持续时间，来区分跌倒和其他日常活动</a:t>
            </a:r>
          </a:p>
          <a:p>
            <a:r>
              <a:rPr lang="zh-CN" altLang="en-US"/>
              <a:t>地板振动：该研究提出了一种基于地板振动的被动跌倒检测系统。系统通过在地板上安装传感器，捕捉人体跌倒时产生的振动信号。这些传感器能够检测到跌倒事件的振动特征，并通过信号处理和模式识别技术来区分跌倒和其他日常活动。</a:t>
            </a:r>
          </a:p>
          <a:p>
            <a:r>
              <a:rPr lang="zh-CN" altLang="en-US"/>
              <a:t>红外数据：该研究提出了一种基于红外天花板传感器网络的跌倒检测系统。系统通过在天花板上安装多个红外传感器，实时监测人体的运动轨迹和行为模式。这些传感器能够捕捉到人体的热辐射信号，并通过信号处理和模式识别技术来区分跌倒和其他日常活动</a:t>
            </a:r>
          </a:p>
          <a:p>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Figure 6 展示了图 1 中手势的频率-时间多普勒轮廓（Frequency-time Doppler profiles）。WiSee 系统通过将这些轮廓分割成正多普勒频移和负多普勒频移的序列来唯一识别每个手势。</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Y. Liu, and J. Cao, “Non-invasive detection of moving and stationary human with wifi,’ IEEE J. Selected Areas Commun., vol. 33, no. 11, pp. 2329–2342, 2015. </a:t>
            </a:r>
            <a:r>
              <a:rPr lang="zh-CN" altLang="en-US"/>
              <a:t>人体移动时，由</a:t>
            </a:r>
            <a:r>
              <a:rPr lang="en-US" altLang="zh-CN"/>
              <a:t>CSI</a:t>
            </a:r>
            <a:r>
              <a:rPr lang="zh-CN" altLang="en-US"/>
              <a:t>的信号包络的波动更大</a:t>
            </a:r>
            <a:r>
              <a:rPr lang="en-US" altLang="zh-CN"/>
              <a:t>dB</a:t>
            </a:r>
            <a:r>
              <a:rPr lang="zh-CN" altLang="en-US"/>
              <a:t>单位</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extLst>
      <p:ext uri="{BB962C8B-B14F-4D97-AF65-F5344CB8AC3E}">
        <p14:creationId xmlns:p14="http://schemas.microsoft.com/office/powerpoint/2010/main" val="18067251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extLst>
      <p:ext uri="{BB962C8B-B14F-4D97-AF65-F5344CB8AC3E}">
        <p14:creationId xmlns:p14="http://schemas.microsoft.com/office/powerpoint/2010/main" val="39419256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1CA4D-16C3-B1F5-DEA0-D24819DDA1E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D535DFD-8B49-7609-4499-DC23581881FE}"/>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F4854180-2E16-A740-8ECB-522E27EB205B}"/>
              </a:ext>
            </a:extLst>
          </p:cNvPr>
          <p:cNvSpPr>
            <a:spLocks noGrp="1"/>
          </p:cNvSpPr>
          <p:nvPr>
            <p:ph type="body" idx="3"/>
          </p:nvPr>
        </p:nvSpPr>
        <p:spPr/>
        <p:txBody>
          <a:bodyPr/>
          <a:lstStyle/>
          <a:p>
            <a:endParaRPr lang="en-US" altLang="zh-CN"/>
          </a:p>
        </p:txBody>
      </p:sp>
    </p:spTree>
    <p:extLst>
      <p:ext uri="{BB962C8B-B14F-4D97-AF65-F5344CB8AC3E}">
        <p14:creationId xmlns:p14="http://schemas.microsoft.com/office/powerpoint/2010/main" val="22712033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5F87A-1777-09FA-CBE8-A5C7BB173D7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A342232-A444-1F6F-5174-A59AB0F744D4}"/>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397F12C2-D91C-434D-FA6F-EC31BFDA0DFC}"/>
              </a:ext>
            </a:extLst>
          </p:cNvPr>
          <p:cNvSpPr>
            <a:spLocks noGrp="1"/>
          </p:cNvSpPr>
          <p:nvPr>
            <p:ph type="body" idx="3"/>
          </p:nvPr>
        </p:nvSpPr>
        <p:spPr/>
        <p:txBody>
          <a:bodyPr/>
          <a:lstStyle/>
          <a:p>
            <a:endParaRPr lang="en-US" altLang="zh-CN"/>
          </a:p>
        </p:txBody>
      </p:sp>
    </p:spTree>
    <p:extLst>
      <p:ext uri="{BB962C8B-B14F-4D97-AF65-F5344CB8AC3E}">
        <p14:creationId xmlns:p14="http://schemas.microsoft.com/office/powerpoint/2010/main" val="29209702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E65C8-10DE-A7AC-1615-6A9DA103520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B422139-2308-F6A4-9684-E5CF6992E34F}"/>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13ECB83C-883F-173B-193C-559CEF787FCA}"/>
              </a:ext>
            </a:extLst>
          </p:cNvPr>
          <p:cNvSpPr>
            <a:spLocks noGrp="1"/>
          </p:cNvSpPr>
          <p:nvPr>
            <p:ph type="body" idx="3"/>
          </p:nvPr>
        </p:nvSpPr>
        <p:spPr/>
        <p:txBody>
          <a:bodyPr/>
          <a:lstStyle/>
          <a:p>
            <a:endParaRPr lang="en-US" altLang="zh-CN"/>
          </a:p>
        </p:txBody>
      </p:sp>
    </p:spTree>
    <p:extLst>
      <p:ext uri="{BB962C8B-B14F-4D97-AF65-F5344CB8AC3E}">
        <p14:creationId xmlns:p14="http://schemas.microsoft.com/office/powerpoint/2010/main" val="40425267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025B2-5E75-B56B-E3F1-DCDEDA79859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20602E2-ABB9-3B44-CB76-9EF2D42E1F3F}"/>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D5E0A6A3-35DF-3DED-5723-321008E48317}"/>
              </a:ext>
            </a:extLst>
          </p:cNvPr>
          <p:cNvSpPr>
            <a:spLocks noGrp="1"/>
          </p:cNvSpPr>
          <p:nvPr>
            <p:ph type="body" idx="3"/>
          </p:nvPr>
        </p:nvSpPr>
        <p:spPr/>
        <p:txBody>
          <a:bodyPr/>
          <a:lstStyle/>
          <a:p>
            <a:endParaRPr lang="en-US" altLang="zh-CN"/>
          </a:p>
        </p:txBody>
      </p:sp>
    </p:spTree>
    <p:extLst>
      <p:ext uri="{BB962C8B-B14F-4D97-AF65-F5344CB8AC3E}">
        <p14:creationId xmlns:p14="http://schemas.microsoft.com/office/powerpoint/2010/main" val="27899550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21CAD-DCD5-37A4-8C27-DD1B2BC31A8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324EED9-9EEA-C43B-2B04-9D9F138516DA}"/>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7D94EF65-BCE2-06B4-DF51-A698F92E7A78}"/>
              </a:ext>
            </a:extLst>
          </p:cNvPr>
          <p:cNvSpPr>
            <a:spLocks noGrp="1"/>
          </p:cNvSpPr>
          <p:nvPr>
            <p:ph type="body" idx="3"/>
          </p:nvPr>
        </p:nvSpPr>
        <p:spPr/>
        <p:txBody>
          <a:bodyPr/>
          <a:lstStyle/>
          <a:p>
            <a:r>
              <a:rPr lang="zh-CN" altLang="zh-CN" sz="1200" kern="1200" dirty="0">
                <a:solidFill>
                  <a:schemeClr val="tx1"/>
                </a:solidFill>
                <a:effectLst/>
                <a:latin typeface="+mn-lt"/>
                <a:ea typeface="+mn-ea"/>
                <a:cs typeface="+mn-cs"/>
              </a:rPr>
              <a:t>为了将跌倒与其他活动区分开来，我们首先试图找到跌倒的一些独特之处。不幸的是，振幅的变化和振幅的轮廓</a:t>
            </a:r>
            <a:r>
              <a:rPr lang="zh-CN" altLang="zh-CN" sz="1200" b="1" kern="1200" dirty="0">
                <a:solidFill>
                  <a:schemeClr val="tx1"/>
                </a:solidFill>
                <a:effectLst/>
                <a:latin typeface="+mn-lt"/>
                <a:ea typeface="+mn-ea"/>
                <a:cs typeface="+mn-cs"/>
              </a:rPr>
              <a:t>都没有显示出清晰的模式</a:t>
            </a:r>
            <a:r>
              <a:rPr lang="zh-CN" altLang="zh-CN" sz="1200" kern="1200" dirty="0">
                <a:solidFill>
                  <a:schemeClr val="tx1"/>
                </a:solidFill>
                <a:effectLst/>
                <a:latin typeface="+mn-lt"/>
                <a:ea typeface="+mn-ea"/>
                <a:cs typeface="+mn-cs"/>
              </a:rPr>
              <a:t>，无法使跌倒与其他活动区分开来。因此，</a:t>
            </a:r>
            <a:r>
              <a:rPr lang="zh-CN" altLang="zh-CN" sz="1200" b="1" kern="1200" dirty="0">
                <a:solidFill>
                  <a:schemeClr val="tx1"/>
                </a:solidFill>
                <a:effectLst/>
                <a:latin typeface="+mn-lt"/>
                <a:ea typeface="+mn-ea"/>
                <a:cs typeface="+mn-cs"/>
              </a:rPr>
              <a:t>振幅只能判断人体受试者是否在进行运动活动</a:t>
            </a:r>
            <a:r>
              <a:rPr lang="zh-CN" altLang="zh-CN" sz="1200" kern="1200" dirty="0">
                <a:solidFill>
                  <a:schemeClr val="tx1"/>
                </a:solidFill>
                <a:effectLst/>
                <a:latin typeface="+mn-lt"/>
                <a:ea typeface="+mn-ea"/>
                <a:cs typeface="+mn-cs"/>
              </a:rPr>
              <a:t>。</a:t>
            </a:r>
            <a:r>
              <a:rPr lang="zh-CN" altLang="zh-CN" dirty="0">
                <a:effectLst/>
              </a:rPr>
              <a:t> </a:t>
            </a:r>
            <a:endParaRPr lang="en-US" altLang="zh-CN" dirty="0"/>
          </a:p>
        </p:txBody>
      </p:sp>
    </p:spTree>
    <p:extLst>
      <p:ext uri="{BB962C8B-B14F-4D97-AF65-F5344CB8AC3E}">
        <p14:creationId xmlns:p14="http://schemas.microsoft.com/office/powerpoint/2010/main" val="13920415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04961-829F-8BA0-F260-4A7E05ED7AB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46D14E9-DCEB-66E4-8C9D-66B9A0B2ABA1}"/>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582F34C5-01C3-4891-7D33-586ECCF989E1}"/>
              </a:ext>
            </a:extLst>
          </p:cNvPr>
          <p:cNvSpPr>
            <a:spLocks noGrp="1"/>
          </p:cNvSpPr>
          <p:nvPr>
            <p:ph type="body" idx="3"/>
          </p:nvPr>
        </p:nvSpPr>
        <p:spPr/>
        <p:txBody>
          <a:bodyPr/>
          <a:lstStyle/>
          <a:p>
            <a:r>
              <a:rPr lang="zh-CN" altLang="zh-CN" sz="1200" kern="1200" dirty="0">
                <a:solidFill>
                  <a:schemeClr val="tx1"/>
                </a:solidFill>
                <a:effectLst/>
                <a:latin typeface="+mn-lt"/>
                <a:ea typeface="+mn-ea"/>
                <a:cs typeface="+mn-cs"/>
              </a:rPr>
              <a:t>运动引起的</a:t>
            </a:r>
            <a:r>
              <a:rPr lang="zh-CN" altLang="zh-CN" sz="1200" b="1" kern="1200" dirty="0">
                <a:solidFill>
                  <a:schemeClr val="tx1"/>
                </a:solidFill>
                <a:effectLst/>
                <a:latin typeface="+mn-lt"/>
                <a:ea typeface="+mn-ea"/>
                <a:cs typeface="+mn-cs"/>
              </a:rPr>
              <a:t>振幅变化幅度在从</a:t>
            </a:r>
            <a:r>
              <a:rPr lang="en-US" altLang="zh-CN" sz="1200" b="1" kern="1200" dirty="0">
                <a:solidFill>
                  <a:schemeClr val="tx1"/>
                </a:solidFill>
                <a:effectLst/>
                <a:latin typeface="+mn-lt"/>
                <a:ea typeface="+mn-ea"/>
                <a:cs typeface="+mn-cs"/>
              </a:rPr>
              <a:t> LOS </a:t>
            </a:r>
            <a:r>
              <a:rPr lang="zh-CN" altLang="zh-CN" sz="1200" b="1" kern="1200" dirty="0">
                <a:solidFill>
                  <a:schemeClr val="tx1"/>
                </a:solidFill>
                <a:effectLst/>
                <a:latin typeface="+mn-lt"/>
                <a:ea typeface="+mn-ea"/>
                <a:cs typeface="+mn-cs"/>
              </a:rPr>
              <a:t>到</a:t>
            </a:r>
            <a:r>
              <a:rPr lang="en-US" altLang="zh-CN" sz="1200" b="1" kern="1200" dirty="0">
                <a:solidFill>
                  <a:schemeClr val="tx1"/>
                </a:solidFill>
                <a:effectLst/>
                <a:latin typeface="+mn-lt"/>
                <a:ea typeface="+mn-ea"/>
                <a:cs typeface="+mn-cs"/>
              </a:rPr>
              <a:t> NLOS </a:t>
            </a:r>
            <a:r>
              <a:rPr lang="zh-CN" altLang="zh-CN" sz="1200" b="1" kern="1200" dirty="0">
                <a:solidFill>
                  <a:schemeClr val="tx1"/>
                </a:solidFill>
                <a:effectLst/>
                <a:latin typeface="+mn-lt"/>
                <a:ea typeface="+mn-ea"/>
                <a:cs typeface="+mn-cs"/>
              </a:rPr>
              <a:t>的条件下变小</a:t>
            </a:r>
            <a:r>
              <a:rPr lang="zh-CN" altLang="zh-CN" sz="1200" kern="1200" dirty="0">
                <a:solidFill>
                  <a:schemeClr val="tx1"/>
                </a:solidFill>
                <a:effectLst/>
                <a:latin typeface="+mn-lt"/>
                <a:ea typeface="+mn-ea"/>
                <a:cs typeface="+mn-cs"/>
              </a:rPr>
              <a:t>。这是意料之中的，因为信号传播会受到路径损耗的影响。</a:t>
            </a:r>
            <a:r>
              <a:rPr lang="zh-CN" altLang="zh-CN" dirty="0">
                <a:effectLst/>
              </a:rPr>
              <a:t> </a:t>
            </a:r>
            <a:endParaRPr lang="en-US" altLang="zh-CN" dirty="0"/>
          </a:p>
        </p:txBody>
      </p:sp>
    </p:spTree>
    <p:extLst>
      <p:ext uri="{BB962C8B-B14F-4D97-AF65-F5344CB8AC3E}">
        <p14:creationId xmlns:p14="http://schemas.microsoft.com/office/powerpoint/2010/main" val="11941231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9CDE9-AAB5-F0D4-D8C2-E23AF9FC635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FAEECFD-C718-F1CD-FB07-20CFCD4289A8}"/>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5C9A355A-A33F-66D2-574D-4B54BB6EE391}"/>
              </a:ext>
            </a:extLst>
          </p:cNvPr>
          <p:cNvSpPr>
            <a:spLocks noGrp="1"/>
          </p:cNvSpPr>
          <p:nvPr>
            <p:ph type="body" idx="3"/>
          </p:nvPr>
        </p:nvSpPr>
        <p:spPr/>
        <p:txBody>
          <a:bodyPr/>
          <a:lstStyle/>
          <a:p>
            <a:r>
              <a:rPr lang="zh-CN" altLang="zh-CN" sz="1200" kern="1200" dirty="0">
                <a:solidFill>
                  <a:schemeClr val="tx1"/>
                </a:solidFill>
                <a:effectLst/>
                <a:latin typeface="+mn-lt"/>
                <a:ea typeface="+mn-ea"/>
                <a:cs typeface="+mn-cs"/>
              </a:rPr>
              <a:t>如图</a:t>
            </a:r>
            <a:r>
              <a:rPr lang="en-US" altLang="zh-CN" sz="1200" kern="1200" dirty="0">
                <a:solidFill>
                  <a:schemeClr val="tx1"/>
                </a:solidFill>
                <a:effectLst/>
                <a:latin typeface="+mn-lt"/>
                <a:ea typeface="+mn-ea"/>
                <a:cs typeface="+mn-cs"/>
              </a:rPr>
              <a:t> 1 </a:t>
            </a:r>
            <a:r>
              <a:rPr lang="zh-CN" altLang="zh-CN" sz="1200" kern="1200" dirty="0">
                <a:solidFill>
                  <a:schemeClr val="tx1"/>
                </a:solidFill>
                <a:effectLst/>
                <a:latin typeface="+mn-lt"/>
                <a:ea typeface="+mn-ea"/>
                <a:cs typeface="+mn-cs"/>
              </a:rPr>
              <a:t>中的红线所示，随着人体的运动，来自人体的散射路径不断变化。随着人体与</a:t>
            </a:r>
            <a:r>
              <a:rPr lang="en-US" altLang="zh-CN" sz="1200" kern="1200" dirty="0">
                <a:solidFill>
                  <a:schemeClr val="tx1"/>
                </a:solidFill>
                <a:effectLst/>
                <a:latin typeface="+mn-lt"/>
                <a:ea typeface="+mn-ea"/>
                <a:cs typeface="+mn-cs"/>
              </a:rPr>
              <a:t> LOS </a:t>
            </a:r>
            <a:r>
              <a:rPr lang="zh-CN" altLang="zh-CN" sz="1200" kern="1200" dirty="0">
                <a:solidFill>
                  <a:schemeClr val="tx1"/>
                </a:solidFill>
                <a:effectLst/>
                <a:latin typeface="+mn-lt"/>
                <a:ea typeface="+mn-ea"/>
                <a:cs typeface="+mn-cs"/>
              </a:rPr>
              <a:t>路径距离的增大，这些散射功率迅速减小，直到它们变得太弱而无法与环境噪声区分开来。</a:t>
            </a:r>
            <a:r>
              <a:rPr lang="zh-CN" altLang="zh-CN" dirty="0">
                <a:effectLst/>
              </a:rPr>
              <a:t> </a:t>
            </a:r>
            <a:endParaRPr lang="en-US" altLang="zh-CN" dirty="0">
              <a:effectLst/>
            </a:endParaRPr>
          </a:p>
          <a:p>
            <a:r>
              <a:rPr lang="zh-CN" altLang="en-US" dirty="0">
                <a:effectLst/>
              </a:rPr>
              <a:t>很自然地，提出两个问题：</a:t>
            </a:r>
            <a:endParaRPr lang="en-US" altLang="zh-CN" dirty="0"/>
          </a:p>
        </p:txBody>
      </p:sp>
    </p:spTree>
    <p:extLst>
      <p:ext uri="{BB962C8B-B14F-4D97-AF65-F5344CB8AC3E}">
        <p14:creationId xmlns:p14="http://schemas.microsoft.com/office/powerpoint/2010/main" val="2578471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B787E-DCB3-3C58-83F8-6E23A46AA05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FF174A3-FAD8-3DA6-379B-2BB2D5E83ABE}"/>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211455F5-5BBB-1BD5-EA8B-3412F13C9149}"/>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16941523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812CE-4CFD-AAB9-A9B1-1D9F26BF4AB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FE5C31F-DC0B-CA9A-A458-E61FA5A0855A}"/>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D74D5D77-5CDE-CC26-9F88-8AF0450D8D44}"/>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6659705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A6524-5C0A-6B30-197F-926F2349F76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4248D77-3150-CE9B-C428-A27FF03C0751}"/>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E5B57DE2-6CEF-EF28-49F1-152EBE7835EB}"/>
              </a:ext>
            </a:extLst>
          </p:cNvPr>
          <p:cNvSpPr>
            <a:spLocks noGrp="1"/>
          </p:cNvSpPr>
          <p:nvPr>
            <p:ph type="body" idx="3"/>
          </p:nvPr>
        </p:nvSpPr>
        <p:spPr/>
        <p:txBody>
          <a:bodyPr/>
          <a:lstStyle/>
          <a:p>
            <a:r>
              <a:rPr lang="zh-CN" altLang="zh-CN" sz="1200" kern="1200" dirty="0">
                <a:solidFill>
                  <a:schemeClr val="tx1"/>
                </a:solidFill>
                <a:effectLst/>
                <a:latin typeface="+mn-lt"/>
                <a:ea typeface="+mn-ea"/>
                <a:cs typeface="+mn-cs"/>
              </a:rPr>
              <a:t>在所有跌落中，</a:t>
            </a:r>
            <a:r>
              <a:rPr lang="zh-CN" altLang="zh-CN" sz="1200" b="1" kern="1200" dirty="0">
                <a:solidFill>
                  <a:schemeClr val="tx1"/>
                </a:solidFill>
                <a:effectLst/>
                <a:latin typeface="+mn-lt"/>
                <a:ea typeface="+mn-ea"/>
                <a:cs typeface="+mn-cs"/>
              </a:rPr>
              <a:t>振幅变化幅度都显示出从波动状态到稳定状态的明显转变。</a:t>
            </a:r>
            <a:r>
              <a:rPr lang="zh-CN" altLang="zh-CN" sz="1200" kern="1200" dirty="0">
                <a:solidFill>
                  <a:schemeClr val="tx1"/>
                </a:solidFill>
                <a:effectLst/>
                <a:latin typeface="+mn-lt"/>
                <a:ea typeface="+mn-ea"/>
                <a:cs typeface="+mn-cs"/>
              </a:rPr>
              <a:t>这是意料之中的，因为跌倒通常最终会以一动不动的姿势（例如，躺在地板</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沙发上）结束，从而导致相对稳定的信号变化模式。看来我们可以</a:t>
            </a:r>
            <a:r>
              <a:rPr lang="zh-CN" altLang="zh-CN" sz="1200" b="1" kern="1200" dirty="0">
                <a:solidFill>
                  <a:schemeClr val="tx1"/>
                </a:solidFill>
                <a:effectLst/>
                <a:latin typeface="+mn-lt"/>
                <a:ea typeface="+mn-ea"/>
                <a:cs typeface="+mn-cs"/>
              </a:rPr>
              <a:t>将过渡用作实时活动分割的功能</a:t>
            </a:r>
            <a:r>
              <a:rPr lang="zh-CN" altLang="zh-CN" sz="1200" kern="1200" dirty="0">
                <a:solidFill>
                  <a:schemeClr val="tx1"/>
                </a:solidFill>
                <a:effectLst/>
                <a:latin typeface="+mn-lt"/>
                <a:ea typeface="+mn-ea"/>
                <a:cs typeface="+mn-cs"/>
              </a:rPr>
              <a:t>。不幸的是，由于许多人类日常活动最终都可能导致某种不动的活动，从所有这些活动组合中挑出真正的跌倒是非常困难的，甚至是不可能的。</a:t>
            </a:r>
            <a:r>
              <a:rPr lang="zh-CN" altLang="zh-CN" dirty="0">
                <a:effectLst/>
              </a:rPr>
              <a:t> </a:t>
            </a:r>
            <a:endParaRPr lang="en-US" altLang="zh-CN" dirty="0"/>
          </a:p>
        </p:txBody>
      </p:sp>
    </p:spTree>
    <p:extLst>
      <p:ext uri="{BB962C8B-B14F-4D97-AF65-F5344CB8AC3E}">
        <p14:creationId xmlns:p14="http://schemas.microsoft.com/office/powerpoint/2010/main" val="19330081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0A11FE-5550-6499-1ABC-2FB1BB83794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EE32768-A547-D1B3-62CF-F409CCB412D7}"/>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5CD2B72D-CE40-AF56-2D91-427D983AD022}"/>
              </a:ext>
            </a:extLst>
          </p:cNvPr>
          <p:cNvSpPr>
            <a:spLocks noGrp="1"/>
          </p:cNvSpPr>
          <p:nvPr>
            <p:ph type="body" idx="3"/>
          </p:nvPr>
        </p:nvSpPr>
        <p:spPr/>
        <p:txBody>
          <a:bodyPr/>
          <a:lstStyle/>
          <a:p>
            <a:r>
              <a:rPr lang="zh-CN" altLang="en-US" sz="1200" b="1" dirty="0">
                <a:solidFill>
                  <a:srgbClr val="775480"/>
                </a:solidFill>
                <a:latin typeface="微软雅黑 Light" panose="020B0502040204020203" charset="-122"/>
                <a:ea typeface="微软雅黑 Light" panose="020B0502040204020203" charset="-122"/>
              </a:rPr>
              <a:t>首先：</a:t>
            </a:r>
            <a:r>
              <a:rPr lang="zh-CN" altLang="zh-CN" sz="1200" b="1" dirty="0">
                <a:solidFill>
                  <a:srgbClr val="775480"/>
                </a:solidFill>
                <a:latin typeface="微软雅黑 Light" panose="020B0502040204020203" charset="-122"/>
                <a:ea typeface="微软雅黑 Light" panose="020B0502040204020203" charset="-122"/>
              </a:rPr>
              <a:t>因此，当执行各种未定义的人体活动时，系统将会失效</a:t>
            </a:r>
            <a:endParaRPr lang="en-US" altLang="zh-CN" sz="1200" b="1" dirty="0">
              <a:solidFill>
                <a:srgbClr val="775480"/>
              </a:solidFill>
              <a:latin typeface="微软雅黑 Light" panose="020B0502040204020203" charset="-122"/>
              <a:ea typeface="微软雅黑 Light" panose="020B0502040204020203" charset="-122"/>
            </a:endParaRPr>
          </a:p>
          <a:p>
            <a:endParaRPr lang="en-US" altLang="zh-CN" sz="1200" b="1" dirty="0">
              <a:solidFill>
                <a:srgbClr val="775480"/>
              </a:solidFill>
              <a:latin typeface="微软雅黑 Light" panose="020B0502040204020203" charset="-122"/>
              <a:ea typeface="微软雅黑 Light" panose="020B0502040204020203" charset="-122"/>
            </a:endParaRPr>
          </a:p>
          <a:p>
            <a:r>
              <a:rPr lang="zh-CN" altLang="en-US" sz="1200" b="1" dirty="0">
                <a:solidFill>
                  <a:srgbClr val="775480"/>
                </a:solidFill>
                <a:latin typeface="微软雅黑 Light" panose="020B0502040204020203" charset="-122"/>
                <a:ea typeface="微软雅黑 Light" panose="020B0502040204020203" charset="-122"/>
              </a:rPr>
              <a:t>其次：</a:t>
            </a:r>
            <a:r>
              <a:rPr lang="zh-CN" altLang="zh-CN" sz="1200" b="1" dirty="0">
                <a:solidFill>
                  <a:srgbClr val="775480"/>
                </a:solidFill>
                <a:latin typeface="微软雅黑 Light" panose="020B0502040204020203" charset="-122"/>
                <a:ea typeface="微软雅黑 Light" panose="020B0502040204020203" charset="-122"/>
              </a:rPr>
              <a:t>换句话说，受试者无法以自然、连续的方式执行活动。例如，一个人不能直接从坐姿起身并开始行走，而必须先起身、站立一段时间，然后再行走。</a:t>
            </a:r>
          </a:p>
          <a:p>
            <a:endParaRPr lang="en-US" altLang="zh-CN" sz="1200" b="1" dirty="0">
              <a:solidFill>
                <a:srgbClr val="775480"/>
              </a:solidFill>
              <a:latin typeface="微软雅黑 Light" panose="020B0502040204020203" charset="-122"/>
              <a:ea typeface="微软雅黑 Light" panose="020B0502040204020203" charset="-122"/>
            </a:endParaRPr>
          </a:p>
          <a:p>
            <a:endParaRPr lang="en-US" altLang="zh-CN" dirty="0"/>
          </a:p>
        </p:txBody>
      </p:sp>
    </p:spTree>
    <p:extLst>
      <p:ext uri="{BB962C8B-B14F-4D97-AF65-F5344CB8AC3E}">
        <p14:creationId xmlns:p14="http://schemas.microsoft.com/office/powerpoint/2010/main" val="33374731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2DEBA-F716-ECC3-E99C-3A8F2DB9547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CE69E0B-3068-0894-D6FC-9A4C0FB99A1E}"/>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923B4346-5E1E-513C-9951-F00807F19D21}"/>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21100672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91E4C-8412-CC89-2A04-BAB43C26CD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27B592E-BC7F-1487-2742-1646E3E22626}"/>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DD499B89-0102-41FB-CE07-FC40CEE0BE07}"/>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16457301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4108B3-F579-06EE-63AE-3C7D5CAA0C7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E418948-F4C8-54FE-D8DC-AB93CC5B3A64}"/>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21571CA1-D0C0-627F-4665-A8DC6C0E627D}"/>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95609044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DAFC9-BDDB-2AC8-351B-0CC17A52112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E5F38B0-5CAC-271F-1D57-CC35AAC2A27C}"/>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B63DC54C-C0C7-3319-657C-AC88E3E23A4A}"/>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5833817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E2AED-6CE7-55E9-0B23-8A3AE6565EC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7452F47-0135-3BEF-A1CE-C5747F1D2436}"/>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787D621B-739A-8427-8F60-D813A95456AE}"/>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214178668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8199F-BA3D-7B76-3527-ECA5D8514B7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2B32435-433A-4783-D9EF-E5659B106223}"/>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FBE32661-00F8-6710-76E6-7A76BF91E5F7}"/>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12118725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819F4-363C-83A6-FFD4-7AF079D47A3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846D064-B7F0-A0AA-5875-0540802E8273}"/>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20ACAFC0-79FF-151D-EFDB-F850ACE35B0C}"/>
              </a:ext>
            </a:extLst>
          </p:cNvPr>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b="1" kern="1200" dirty="0">
                <a:solidFill>
                  <a:schemeClr val="tx1"/>
                </a:solidFill>
                <a:effectLst/>
                <a:latin typeface="+mn-lt"/>
                <a:ea typeface="+mn-ea"/>
                <a:cs typeface="+mn-cs"/>
              </a:rPr>
              <a:t>无人存在环境下的原始随机分布相位</a:t>
            </a:r>
            <a:r>
              <a:rPr lang="zh-CN" altLang="zh-CN" sz="1200" kern="1200" dirty="0">
                <a:solidFill>
                  <a:schemeClr val="tx1"/>
                </a:solidFill>
                <a:effectLst/>
                <a:latin typeface="+mn-lt"/>
                <a:ea typeface="+mn-ea"/>
                <a:cs typeface="+mn-cs"/>
              </a:rPr>
              <a:t>以及</a:t>
            </a:r>
            <a:r>
              <a:rPr lang="zh-CN" altLang="zh-CN" sz="1200" b="1" kern="1200" dirty="0">
                <a:solidFill>
                  <a:schemeClr val="tx1"/>
                </a:solidFill>
                <a:effectLst/>
                <a:latin typeface="+mn-lt"/>
                <a:ea typeface="+mn-ea"/>
                <a:cs typeface="+mn-cs"/>
              </a:rPr>
              <a:t>相位差</a:t>
            </a:r>
            <a:r>
              <a:rPr lang="zh-CN" altLang="en-US" sz="1200" b="1"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可以看到，通过计算</a:t>
            </a:r>
            <a:r>
              <a:rPr lang="zh-CN" altLang="zh-CN" sz="1200" b="1" kern="1200" dirty="0">
                <a:solidFill>
                  <a:schemeClr val="tx1"/>
                </a:solidFill>
                <a:effectLst/>
                <a:latin typeface="+mn-lt"/>
                <a:ea typeface="+mn-ea"/>
                <a:cs typeface="+mn-cs"/>
              </a:rPr>
              <a:t>两天线之间的相位差</a:t>
            </a:r>
            <a:r>
              <a:rPr lang="zh-CN" altLang="zh-CN" sz="1200" kern="1200" dirty="0">
                <a:solidFill>
                  <a:schemeClr val="tx1"/>
                </a:solidFill>
                <a:effectLst/>
                <a:latin typeface="+mn-lt"/>
                <a:ea typeface="+mn-ea"/>
                <a:cs typeface="+mn-cs"/>
              </a:rPr>
              <a:t>，原本随机分布的相位可以得到</a:t>
            </a:r>
            <a:r>
              <a:rPr lang="zh-CN" altLang="zh-CN" sz="1200" b="1" kern="1200" dirty="0">
                <a:solidFill>
                  <a:schemeClr val="tx1"/>
                </a:solidFill>
                <a:effectLst/>
                <a:latin typeface="+mn-lt"/>
                <a:ea typeface="+mn-ea"/>
                <a:cs typeface="+mn-cs"/>
              </a:rPr>
              <a:t>有效校准</a:t>
            </a:r>
            <a:r>
              <a:rPr lang="zh-CN" altLang="zh-CN" sz="1200" kern="1200" dirty="0">
                <a:solidFill>
                  <a:schemeClr val="tx1"/>
                </a:solidFill>
                <a:effectLst/>
                <a:latin typeface="+mn-lt"/>
                <a:ea typeface="+mn-ea"/>
                <a:cs typeface="+mn-cs"/>
              </a:rPr>
              <a:t>。</a:t>
            </a:r>
          </a:p>
          <a:p>
            <a:endParaRPr lang="en-US" altLang="zh-CN" dirty="0"/>
          </a:p>
        </p:txBody>
      </p:sp>
    </p:spTree>
    <p:extLst>
      <p:ext uri="{BB962C8B-B14F-4D97-AF65-F5344CB8AC3E}">
        <p14:creationId xmlns:p14="http://schemas.microsoft.com/office/powerpoint/2010/main" val="15881926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04E45-BCFB-C9E8-9FFD-F4E4A194589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AC92D81-4363-8662-8C0C-DE17DF8A777B}"/>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BA2631DE-6107-96CD-D976-914FCDA0AD87}"/>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1700491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6E6A5D-270B-9099-3A71-CF314C7EB98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ED627B2-45D2-743C-A4CC-C12B169AC3AA}"/>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8476D8DA-12B1-B9E5-2077-A57663A212A8}"/>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0518426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9EE1B5-43D7-71E6-5C03-A6A3F291FE9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62018DB-591C-080D-306F-6F4AF66610DC}"/>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108FB24A-7C9A-79C6-464B-BBA1B4E72C2D}"/>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67823184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69FF8-0B1F-848E-2297-47624ECF8E9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4A78B5B-9766-0B86-7C16-8798A13D0AA0}"/>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51B54314-8E81-5D1B-CAA4-83636BDB242F}"/>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2438970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B3749-0673-B477-55F5-BDDE189480F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CDAA709-0FB6-68B7-1530-6B0FDEC0C590}"/>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E08CCA9C-9B01-97A5-20DD-970814543617}"/>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24719808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B4CA3A-0FF4-674D-A0DE-83972A6518C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75B67A5-F824-B536-161C-0491D9A3EDD0}"/>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CEE3784A-337E-A748-DCEA-12D57911F006}"/>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9601203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774D9-6928-2066-845A-43415D74796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27A14F-2046-DABA-414B-297A5B443C11}"/>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D0071E19-9024-D184-7111-1C5669BB2019}"/>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9874306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AD1B1-3C2D-65C0-FD7E-4F4C7A0D72A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884510C-1706-A12B-E5B5-B621E3A97836}"/>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0E7CEB6E-87E4-F98D-C5FC-344607E2480E}"/>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9986474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A40EA-50A9-9F2B-08FE-16D3E4DAEE0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90F33FC-B357-B681-982E-5B89306758BE}"/>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5A71B359-F966-7BDD-7C46-E4135FB9747B}"/>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317579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58282-9129-E572-AC21-E90DEC701D4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494F993-5505-8611-201F-8E71453B691B}"/>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4D38FB49-97C5-BC49-8838-EAE7348172E0}"/>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31390515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60D7A-1294-3E5A-D16D-40B550A6367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BAFAECE-116B-0964-83F0-AE6D190C3294}"/>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BDC6BD45-DF62-CB57-EC1E-05750C0B32A9}"/>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47104339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C89A9-F3AA-A29B-F961-E9762B0BF60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BD83561-606B-FCA3-B0A2-3DFB647AD25C}"/>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DD759000-9796-A068-34FF-2EA6242CEE82}"/>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7239834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0C588-032D-8DA3-41AF-D769E6F35D4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DBF0916-6715-B3B1-B199-9FF4B85BD9AF}"/>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8E5BE9D8-D3E3-3D5A-4930-A0485B6A5D6C}"/>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04020063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87203-6C1B-74C0-9DCD-737EEEA7486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1BABA2B-B808-5F2E-D5ED-001CDA5888B5}"/>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70FC4814-77B9-F6A1-E2B0-366F7EF149FF}"/>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11843987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603E6-E689-4423-972E-DBC0FBF55E0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647555F-77CE-F9FE-CA0E-455178876228}"/>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DADB5BE8-3FEE-1F9F-EF6B-29F30F5AFD0F}"/>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226518215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AEDDA-AFF2-812A-0B7D-138E189E6E6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0B4BAF6-3804-F94E-B2D4-B657FB5E783D}"/>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C6C94EEE-27AE-FF41-22B9-0D0D9F392DAF}"/>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29526782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3CE0C-7DDA-0A2D-E2BD-2B44AA2F06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A38AF90-66C8-780F-D3B6-626B5351E14E}"/>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4A7ACFCE-5BF1-E178-A827-3B28EC546B01}"/>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46377047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D1500E-2153-6660-86AA-0589891FD1F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8E0C5C8-1525-3682-1855-54420B93DD39}"/>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FC197E2F-F1F9-447B-5F86-DA05DB024A59}"/>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79028858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0D56A-C982-8792-F10D-DF896AC7FE2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093953C-0FDC-B0E0-D6F8-DD5CAF3FF67B}"/>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FF0334FC-265F-08FB-AA30-5482B0B3DBF5}"/>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238049810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i="0" dirty="0">
                <a:solidFill>
                  <a:srgbClr val="333333"/>
                </a:solidFill>
                <a:effectLst/>
                <a:latin typeface="Helvetica Neue"/>
              </a:rPr>
              <a:t>在确定跌倒和类跌倒活动的起始点和结束点后，即可分离出这些活动对应的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相位差和幅度信息。跌倒检测模块的目标是将跌倒与类跌倒活动区分开。</a:t>
            </a:r>
            <a:endParaRPr lang="zh-CN" altLang="en-US" dirty="0"/>
          </a:p>
          <a:p>
            <a:endParaRPr lang="en-US" altLang="zh-CN" dirty="0"/>
          </a:p>
        </p:txBody>
      </p:sp>
    </p:spTree>
    <p:extLst>
      <p:ext uri="{BB962C8B-B14F-4D97-AF65-F5344CB8AC3E}">
        <p14:creationId xmlns:p14="http://schemas.microsoft.com/office/powerpoint/2010/main" val="210339379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extLst>
      <p:ext uri="{BB962C8B-B14F-4D97-AF65-F5344CB8AC3E}">
        <p14:creationId xmlns:p14="http://schemas.microsoft.com/office/powerpoint/2010/main" val="5722568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extLst>
      <p:ext uri="{BB962C8B-B14F-4D97-AF65-F5344CB8AC3E}">
        <p14:creationId xmlns:p14="http://schemas.microsoft.com/office/powerpoint/2010/main" val="126069456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p>
        </p:txBody>
      </p:sp>
    </p:spTree>
    <p:extLst>
      <p:ext uri="{BB962C8B-B14F-4D97-AF65-F5344CB8AC3E}">
        <p14:creationId xmlns:p14="http://schemas.microsoft.com/office/powerpoint/2010/main" val="381391539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pPr algn="l"/>
            <a:r>
              <a:rPr lang="zh-CN" altLang="en-US" b="0" i="0" dirty="0">
                <a:solidFill>
                  <a:srgbClr val="333333"/>
                </a:solidFill>
                <a:effectLst/>
                <a:latin typeface="Helvetica Neue"/>
              </a:rPr>
              <a:t>本研究的前</a:t>
            </a:r>
            <a:r>
              <a:rPr lang="en-US" altLang="zh-CN" b="0" i="0" dirty="0">
                <a:solidFill>
                  <a:srgbClr val="333333"/>
                </a:solidFill>
                <a:effectLst/>
                <a:latin typeface="Helvetica Neue"/>
              </a:rPr>
              <a:t>6</a:t>
            </a:r>
            <a:r>
              <a:rPr lang="zh-CN" altLang="en-US" b="0" i="0" dirty="0">
                <a:solidFill>
                  <a:srgbClr val="333333"/>
                </a:solidFill>
                <a:effectLst/>
                <a:latin typeface="Helvetica Neue"/>
              </a:rPr>
              <a:t>类特征从</a:t>
            </a:r>
            <a:r>
              <a:rPr lang="en-US" altLang="zh-CN" b="0" i="0" dirty="0">
                <a:solidFill>
                  <a:srgbClr val="333333"/>
                </a:solidFill>
                <a:effectLst/>
                <a:latin typeface="Helvetica Neue"/>
              </a:rPr>
              <a:t>CSI</a:t>
            </a:r>
            <a:r>
              <a:rPr lang="zh-CN" altLang="en-US" b="0" i="0" dirty="0">
                <a:solidFill>
                  <a:srgbClr val="333333"/>
                </a:solidFill>
                <a:effectLst/>
                <a:latin typeface="Helvetica Neue"/>
              </a:rPr>
              <a:t>幅度和相位差中提取，两类新特征仅从相位差中提取，这</a:t>
            </a:r>
            <a:r>
              <a:rPr lang="en-US" altLang="zh-CN" b="0" i="0" dirty="0">
                <a:solidFill>
                  <a:srgbClr val="333333"/>
                </a:solidFill>
                <a:effectLst/>
                <a:latin typeface="Helvetica Neue"/>
              </a:rPr>
              <a:t>8</a:t>
            </a:r>
            <a:r>
              <a:rPr lang="zh-CN" altLang="en-US" b="0" i="0" dirty="0">
                <a:solidFill>
                  <a:srgbClr val="333333"/>
                </a:solidFill>
                <a:effectLst/>
                <a:latin typeface="Helvetica Neue"/>
              </a:rPr>
              <a:t>类特征共同构成支持向量机（</a:t>
            </a:r>
            <a:r>
              <a:rPr lang="en-US" altLang="zh-CN" b="0" i="0" dirty="0">
                <a:solidFill>
                  <a:srgbClr val="333333"/>
                </a:solidFill>
                <a:effectLst/>
                <a:latin typeface="Helvetica Neue"/>
              </a:rPr>
              <a:t>SVM</a:t>
            </a:r>
            <a:r>
              <a:rPr lang="zh-CN" altLang="en-US" b="0" i="0" dirty="0">
                <a:solidFill>
                  <a:srgbClr val="333333"/>
                </a:solidFill>
                <a:effectLst/>
                <a:latin typeface="Helvetica Neue"/>
              </a:rPr>
              <a:t>）分类器的输入。</a:t>
            </a:r>
            <a:endParaRPr lang="en-US" altLang="zh-CN" b="0" i="0" dirty="0">
              <a:solidFill>
                <a:srgbClr val="333333"/>
              </a:solidFill>
              <a:effectLst/>
              <a:latin typeface="Helvetica Neue"/>
            </a:endParaRPr>
          </a:p>
          <a:p>
            <a:pPr algn="l"/>
            <a:endParaRPr lang="en-US" altLang="zh-CN" b="0" i="0" dirty="0">
              <a:solidFill>
                <a:srgbClr val="333333"/>
              </a:solidFill>
              <a:effectLst/>
              <a:latin typeface="Helvetica Neue"/>
            </a:endParaRPr>
          </a:p>
          <a:p>
            <a:pPr algn="l"/>
            <a:r>
              <a:rPr lang="zh-CN" altLang="en-US" b="0" i="0" dirty="0">
                <a:solidFill>
                  <a:srgbClr val="333333"/>
                </a:solidFill>
                <a:effectLst/>
                <a:latin typeface="Helvetica Neue"/>
              </a:rPr>
              <a:t>为解决非线性分类问题，分类器通过核函数将输入样本映射到高维特征空间，并在变换后的特征空间中寻找最大间隔超平面。</a:t>
            </a:r>
            <a:endParaRPr lang="en-US" altLang="zh-CN" b="0" i="0" dirty="0">
              <a:solidFill>
                <a:srgbClr val="333333"/>
              </a:solidFill>
              <a:effectLst/>
              <a:latin typeface="Helvetica Neue"/>
            </a:endParaRPr>
          </a:p>
          <a:p>
            <a:pPr algn="l"/>
            <a:endParaRPr lang="en-US" altLang="zh-CN" dirty="0">
              <a:solidFill>
                <a:srgbClr val="333333"/>
              </a:solidFill>
              <a:latin typeface="Helvetica Neue"/>
            </a:endParaRPr>
          </a:p>
          <a:p>
            <a:pPr algn="l"/>
            <a:r>
              <a:rPr lang="en-US" altLang="zh-CN" b="0" i="0" dirty="0">
                <a:solidFill>
                  <a:srgbClr val="333333"/>
                </a:solidFill>
                <a:effectLst/>
                <a:latin typeface="Helvetica Neue"/>
              </a:rPr>
              <a:t>SVM</a:t>
            </a:r>
            <a:r>
              <a:rPr lang="zh-CN" altLang="en-US" b="0" i="0" dirty="0">
                <a:solidFill>
                  <a:srgbClr val="333333"/>
                </a:solidFill>
                <a:effectLst/>
                <a:latin typeface="Helvetica Neue"/>
              </a:rPr>
              <a:t>分类器需要训练数据集和测试数据集：在分类模型构建过程中，首先在活动分割阶段从连续捕获的</a:t>
            </a:r>
            <a:r>
              <a:rPr lang="en-US" altLang="zh-CN" b="0" i="0" dirty="0" err="1">
                <a:solidFill>
                  <a:srgbClr val="333333"/>
                </a:solidFill>
                <a:effectLst/>
                <a:latin typeface="Helvetica Neue"/>
              </a:rPr>
              <a:t>WiFi</a:t>
            </a:r>
            <a:r>
              <a:rPr lang="zh-CN" altLang="en-US" b="0" i="0" dirty="0">
                <a:solidFill>
                  <a:srgbClr val="333333"/>
                </a:solidFill>
                <a:effectLst/>
                <a:latin typeface="Helvetica Neue"/>
              </a:rPr>
              <a:t>无线信号流中分割出跌倒和类跌倒活动并进行标记，然后将提取的特征及其对应的标记输入</a:t>
            </a:r>
            <a:r>
              <a:rPr lang="en-US" altLang="zh-CN" b="0" i="0" dirty="0">
                <a:solidFill>
                  <a:srgbClr val="333333"/>
                </a:solidFill>
                <a:effectLst/>
                <a:latin typeface="Helvetica Neue"/>
              </a:rPr>
              <a:t>SVM</a:t>
            </a:r>
            <a:r>
              <a:rPr lang="zh-CN" altLang="en-US" b="0" i="0" dirty="0">
                <a:solidFill>
                  <a:srgbClr val="333333"/>
                </a:solidFill>
                <a:effectLst/>
                <a:latin typeface="Helvetica Neue"/>
              </a:rPr>
              <a:t>分类器，构建分类模型；在实时跌倒检测过程中，记录分类结果和数据样本，结合用户反馈，对错误分类结果进行重新标记，并及时触发模型更新过程以更新分类模型。研究人员利用</a:t>
            </a:r>
            <a:r>
              <a:rPr lang="en-US" altLang="zh-CN" b="0" i="0" dirty="0" err="1">
                <a:solidFill>
                  <a:srgbClr val="333333"/>
                </a:solidFill>
                <a:effectLst/>
                <a:latin typeface="Helvetica Neue"/>
              </a:rPr>
              <a:t>LibSVM</a:t>
            </a:r>
            <a:r>
              <a:rPr lang="en-US" altLang="zh-CN" b="0" i="0" dirty="0">
                <a:solidFill>
                  <a:srgbClr val="333333"/>
                </a:solidFill>
                <a:effectLst/>
                <a:latin typeface="Helvetica Neue"/>
              </a:rPr>
              <a:t>[48]</a:t>
            </a:r>
            <a:r>
              <a:rPr lang="zh-CN" altLang="en-US" b="0" i="0" dirty="0">
                <a:solidFill>
                  <a:srgbClr val="333333"/>
                </a:solidFill>
                <a:effectLst/>
                <a:latin typeface="Helvetica Neue"/>
              </a:rPr>
              <a:t>构建</a:t>
            </a:r>
            <a:r>
              <a:rPr lang="en-US" altLang="zh-CN" b="0" i="0" dirty="0" err="1">
                <a:solidFill>
                  <a:srgbClr val="333333"/>
                </a:solidFill>
                <a:effectLst/>
                <a:latin typeface="KaTeX_Main"/>
              </a:rPr>
              <a:t>ν</a:t>
            </a:r>
            <a:r>
              <a:rPr lang="en-US" altLang="zh-CN" b="0" i="1" dirty="0" err="1">
                <a:solidFill>
                  <a:srgbClr val="333333"/>
                </a:solidFill>
                <a:effectLst/>
                <a:latin typeface="KaTeX_Math"/>
              </a:rPr>
              <a:t>ν</a:t>
            </a:r>
            <a:r>
              <a:rPr lang="en-US" altLang="zh-CN" b="0" i="0" dirty="0">
                <a:solidFill>
                  <a:srgbClr val="333333"/>
                </a:solidFill>
                <a:effectLst/>
                <a:latin typeface="Helvetica Neue"/>
              </a:rPr>
              <a:t>-SVM</a:t>
            </a:r>
            <a:r>
              <a:rPr lang="zh-CN" altLang="en-US" b="0" i="0" dirty="0">
                <a:solidFill>
                  <a:srgbClr val="333333"/>
                </a:solidFill>
                <a:effectLst/>
                <a:latin typeface="Helvetica Neue"/>
              </a:rPr>
              <a:t>分类模型，选择高斯径向基函数（</a:t>
            </a:r>
            <a:r>
              <a:rPr lang="en-US" altLang="zh-CN" b="0" i="0" dirty="0">
                <a:solidFill>
                  <a:srgbClr val="333333"/>
                </a:solidFill>
                <a:effectLst/>
                <a:latin typeface="Helvetica Neue"/>
              </a:rPr>
              <a:t>RBF</a:t>
            </a:r>
            <a:r>
              <a:rPr lang="zh-CN" altLang="en-US" b="0" i="0" dirty="0">
                <a:solidFill>
                  <a:srgbClr val="333333"/>
                </a:solidFill>
                <a:effectLst/>
                <a:latin typeface="Helvetica Neue"/>
              </a:rPr>
              <a:t>）作为核函数，并将参数</a:t>
            </a:r>
            <a:r>
              <a:rPr lang="en-US" altLang="zh-CN" b="0" i="0" dirty="0" err="1">
                <a:solidFill>
                  <a:srgbClr val="333333"/>
                </a:solidFill>
                <a:effectLst/>
                <a:latin typeface="KaTeX_Main"/>
              </a:rPr>
              <a:t>ν</a:t>
            </a:r>
            <a:r>
              <a:rPr lang="en-US" altLang="zh-CN" b="0" i="1" dirty="0" err="1">
                <a:solidFill>
                  <a:srgbClr val="333333"/>
                </a:solidFill>
                <a:effectLst/>
                <a:latin typeface="KaTeX_Math"/>
              </a:rPr>
              <a:t>ν</a:t>
            </a:r>
            <a:r>
              <a:rPr lang="zh-CN" altLang="en-US" b="0" i="0" dirty="0">
                <a:solidFill>
                  <a:srgbClr val="333333"/>
                </a:solidFill>
                <a:effectLst/>
                <a:latin typeface="Helvetica Neue"/>
              </a:rPr>
              <a:t>设置为</a:t>
            </a:r>
            <a:r>
              <a:rPr lang="en-US" altLang="zh-CN" b="0" i="0" dirty="0">
                <a:solidFill>
                  <a:srgbClr val="333333"/>
                </a:solidFill>
                <a:effectLst/>
                <a:latin typeface="Helvetica Neue"/>
              </a:rPr>
              <a:t>0.5</a:t>
            </a:r>
            <a:r>
              <a:rPr lang="zh-CN" altLang="en-US" b="0" i="0" dirty="0">
                <a:solidFill>
                  <a:srgbClr val="333333"/>
                </a:solidFill>
                <a:effectLst/>
                <a:latin typeface="Helvetica Neue"/>
              </a:rPr>
              <a:t>（该参数表示训练误差比例的上限和支持向量比例的下限），其他参数采用默认值。</a:t>
            </a:r>
          </a:p>
          <a:p>
            <a:endParaRPr lang="en-US" altLang="zh-CN" dirty="0"/>
          </a:p>
        </p:txBody>
      </p:sp>
    </p:spTree>
    <p:extLst>
      <p:ext uri="{BB962C8B-B14F-4D97-AF65-F5344CB8AC3E}">
        <p14:creationId xmlns:p14="http://schemas.microsoft.com/office/powerpoint/2010/main" val="34145305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63</a:t>
            </a:fld>
            <a:endParaRPr lang="zh-CN" altLang="en-US"/>
          </a:p>
        </p:txBody>
      </p:sp>
    </p:spTree>
    <p:extLst>
      <p:ext uri="{BB962C8B-B14F-4D97-AF65-F5344CB8AC3E}">
        <p14:creationId xmlns:p14="http://schemas.microsoft.com/office/powerpoint/2010/main" val="309959654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282430129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54719-4BCF-23A5-DD99-21233BB1647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56FBBB9-C00C-1B58-3E39-93BA9571EDAA}"/>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6FF60EF8-D632-CFE2-951B-F69D5AA7962C}"/>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401614597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A2658-7B8A-C4B4-4F69-38DC7F9F954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B270622-794D-D6C7-7261-DD5714E4B38B}"/>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81E659AB-2BA0-20A8-4248-733FC856F03F}"/>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307080308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70F774-AD37-0CCA-08E2-DC25B7D6DFA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F3686A6-16AD-D1BD-34B8-64968EFC1DE6}"/>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9F5181CB-EA5A-C6FB-EBAA-317F7AB2F3F1}"/>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226785209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F1ED30-5C8B-43F8-98E3-48001E1D788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F65A6E0-6243-6A51-7819-61CD17ADBFEE}"/>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AF4194B6-B2FF-4259-88FB-DFBFAAC9494C}"/>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260767903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A4046-1406-9CE3-4BEE-BCA08762BBD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7E0B6F6-B3FB-B27A-5FFF-0D541E945482}"/>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FC1723FB-B46C-65C9-41D6-989816DE5681}"/>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231449566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FD6CA-3B72-42F2-3BF5-1D531E39149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4DA0FC6-3124-D3C1-4E43-7BE657C736FB}"/>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4D883343-ADD0-9A2C-37FB-0C516FFD5498}"/>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411810053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305D5-9A38-2CCB-3B77-652803401D3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5C59807-342D-FC89-5F99-A71B1DFAEB84}"/>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3953234A-5514-4171-EB3D-AAFD4AB41A54}"/>
              </a:ext>
            </a:extLst>
          </p:cNvPr>
          <p:cNvSpPr>
            <a:spLocks noGrp="1"/>
          </p:cNvSpPr>
          <p:nvPr>
            <p:ph type="body" idx="3"/>
          </p:nvPr>
        </p:nvSpPr>
        <p:spPr/>
        <p:txBody>
          <a:bodyPr/>
          <a:lstStyle/>
          <a:p>
            <a:endParaRPr lang="en-US" altLang="zh-CN" dirty="0"/>
          </a:p>
        </p:txBody>
      </p:sp>
    </p:spTree>
    <p:extLst>
      <p:ext uri="{BB962C8B-B14F-4D97-AF65-F5344CB8AC3E}">
        <p14:creationId xmlns:p14="http://schemas.microsoft.com/office/powerpoint/2010/main" val="195404969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72</a:t>
            </a:fld>
            <a:endParaRPr lang="zh-CN" altLang="en-US"/>
          </a:p>
        </p:txBody>
      </p:sp>
    </p:spTree>
    <p:extLst>
      <p:ext uri="{BB962C8B-B14F-4D97-AF65-F5344CB8AC3E}">
        <p14:creationId xmlns:p14="http://schemas.microsoft.com/office/powerpoint/2010/main" val="95874844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A7B10-DEEC-2B95-77D3-4E45060B412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4F8B45C-136C-5C1B-41EE-5FFFF2808ABA}"/>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5D31B7D1-0C35-48CC-9ECB-58634175F560}"/>
              </a:ext>
            </a:extLst>
          </p:cNvPr>
          <p:cNvSpPr>
            <a:spLocks noGrp="1"/>
          </p:cNvSpPr>
          <p:nvPr>
            <p:ph type="body" idx="3"/>
          </p:nvPr>
        </p:nvSpPr>
        <p:spPr/>
        <p:txBody>
          <a:bodyPr/>
          <a:lstStyle/>
          <a:p>
            <a:endParaRPr lang="en-US" altLang="zh-CN"/>
          </a:p>
        </p:txBody>
      </p:sp>
    </p:spTree>
    <p:extLst>
      <p:ext uri="{BB962C8B-B14F-4D97-AF65-F5344CB8AC3E}">
        <p14:creationId xmlns:p14="http://schemas.microsoft.com/office/powerpoint/2010/main" val="201093051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0C969-8CEB-A3D6-328E-1E99C41170B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0C43679-5465-0464-F6D8-0AF137C7FF81}"/>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BB945663-003E-E432-7012-2395AC943616}"/>
              </a:ext>
            </a:extLst>
          </p:cNvPr>
          <p:cNvSpPr>
            <a:spLocks noGrp="1"/>
          </p:cNvSpPr>
          <p:nvPr>
            <p:ph type="body" idx="3"/>
          </p:nvPr>
        </p:nvSpPr>
        <p:spPr/>
        <p:txBody>
          <a:bodyPr/>
          <a:lstStyle/>
          <a:p>
            <a:endParaRPr lang="en-US" altLang="zh-CN"/>
          </a:p>
        </p:txBody>
      </p:sp>
    </p:spTree>
    <p:extLst>
      <p:ext uri="{BB962C8B-B14F-4D97-AF65-F5344CB8AC3E}">
        <p14:creationId xmlns:p14="http://schemas.microsoft.com/office/powerpoint/2010/main" val="320075498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A6837353-30EB-4A48-80EB-173D804AEFBD}" type="slidenum">
              <a:rPr lang="zh-CN" altLang="en-US" smtClean="0"/>
              <a:t>75</a:t>
            </a:fld>
            <a:endParaRPr lang="zh-CN" altLang="en-US"/>
          </a:p>
        </p:txBody>
      </p:sp>
    </p:spTree>
    <p:extLst>
      <p:ext uri="{BB962C8B-B14F-4D97-AF65-F5344CB8AC3E}">
        <p14:creationId xmlns:p14="http://schemas.microsoft.com/office/powerpoint/2010/main" val="301938341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EC606-6243-9A7E-E078-A0265FBF9C1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F97921B-947A-7793-9E93-77E22D72E0F3}"/>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6C83A93A-1DBF-0870-7E17-2FB5A4A34DF5}"/>
              </a:ext>
            </a:extLst>
          </p:cNvPr>
          <p:cNvSpPr>
            <a:spLocks noGrp="1"/>
          </p:cNvSpPr>
          <p:nvPr>
            <p:ph type="body" idx="3"/>
          </p:nvPr>
        </p:nvSpPr>
        <p:spPr/>
        <p:txBody>
          <a:bodyPr/>
          <a:lstStyle/>
          <a:p>
            <a:endParaRPr lang="en-US" altLang="zh-CN"/>
          </a:p>
        </p:txBody>
      </p:sp>
    </p:spTree>
    <p:extLst>
      <p:ext uri="{BB962C8B-B14F-4D97-AF65-F5344CB8AC3E}">
        <p14:creationId xmlns:p14="http://schemas.microsoft.com/office/powerpoint/2010/main" val="3609858554"/>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5.xml"/><Relationship Id="rId3" Type="http://schemas.openxmlformats.org/officeDocument/2006/relationships/tags" Target="../tags/tag10.xml"/><Relationship Id="rId7" Type="http://schemas.openxmlformats.org/officeDocument/2006/relationships/tags" Target="../tags/tag14.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tags" Target="../tags/tag13.xml"/><Relationship Id="rId5" Type="http://schemas.openxmlformats.org/officeDocument/2006/relationships/tags" Target="../tags/tag12.xml"/><Relationship Id="rId10" Type="http://schemas.openxmlformats.org/officeDocument/2006/relationships/image" Target="../media/image2.png"/><Relationship Id="rId4" Type="http://schemas.openxmlformats.org/officeDocument/2006/relationships/tags" Target="../tags/tag11.xml"/><Relationship Id="rId9"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8" Type="http://schemas.openxmlformats.org/officeDocument/2006/relationships/tags" Target="../tags/tag23.xml"/><Relationship Id="rId13" Type="http://schemas.openxmlformats.org/officeDocument/2006/relationships/image" Target="../media/image4.png"/><Relationship Id="rId3" Type="http://schemas.openxmlformats.org/officeDocument/2006/relationships/tags" Target="../tags/tag18.xml"/><Relationship Id="rId7" Type="http://schemas.openxmlformats.org/officeDocument/2006/relationships/tags" Target="../tags/tag22.xml"/><Relationship Id="rId12" Type="http://schemas.openxmlformats.org/officeDocument/2006/relationships/image" Target="../media/image3.pn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slideMaster" Target="../slideMasters/slideMaster1.xml"/><Relationship Id="rId5" Type="http://schemas.openxmlformats.org/officeDocument/2006/relationships/tags" Target="../tags/tag20.xml"/><Relationship Id="rId10" Type="http://schemas.openxmlformats.org/officeDocument/2006/relationships/tags" Target="../tags/tag25.xml"/><Relationship Id="rId4" Type="http://schemas.openxmlformats.org/officeDocument/2006/relationships/tags" Target="../tags/tag19.xml"/><Relationship Id="rId9" Type="http://schemas.openxmlformats.org/officeDocument/2006/relationships/tags" Target="../tags/tag24.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3.xml"/><Relationship Id="rId3" Type="http://schemas.openxmlformats.org/officeDocument/2006/relationships/tags" Target="../tags/tag28.xml"/><Relationship Id="rId7" Type="http://schemas.openxmlformats.org/officeDocument/2006/relationships/tags" Target="../tags/tag32.xml"/><Relationship Id="rId12" Type="http://schemas.openxmlformats.org/officeDocument/2006/relationships/image" Target="../media/image4.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tags" Target="../tags/tag31.xml"/><Relationship Id="rId11" Type="http://schemas.openxmlformats.org/officeDocument/2006/relationships/image" Target="../media/image3.png"/><Relationship Id="rId5" Type="http://schemas.openxmlformats.org/officeDocument/2006/relationships/tags" Target="../tags/tag30.xml"/><Relationship Id="rId10" Type="http://schemas.openxmlformats.org/officeDocument/2006/relationships/slideMaster" Target="../slideMasters/slideMaster1.xml"/><Relationship Id="rId4" Type="http://schemas.openxmlformats.org/officeDocument/2006/relationships/tags" Target="../tags/tag29.xml"/><Relationship Id="rId9" Type="http://schemas.openxmlformats.org/officeDocument/2006/relationships/tags" Target="../tags/tag34.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37.xml"/><Relationship Id="rId7" Type="http://schemas.openxmlformats.org/officeDocument/2006/relationships/slideMaster" Target="../slideMasters/slideMaster1.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48.xml"/><Relationship Id="rId3" Type="http://schemas.openxmlformats.org/officeDocument/2006/relationships/tags" Target="../tags/tag43.xml"/><Relationship Id="rId7" Type="http://schemas.openxmlformats.org/officeDocument/2006/relationships/tags" Target="../tags/tag47.xml"/><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tags" Target="../tags/tag46.xml"/><Relationship Id="rId5" Type="http://schemas.openxmlformats.org/officeDocument/2006/relationships/tags" Target="../tags/tag45.xml"/><Relationship Id="rId4" Type="http://schemas.openxmlformats.org/officeDocument/2006/relationships/tags" Target="../tags/tag44.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slideMaster" Target="../slideMasters/slideMaster1.xml"/><Relationship Id="rId4" Type="http://schemas.openxmlformats.org/officeDocument/2006/relationships/tags" Target="../tags/tag52.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58.xml"/><Relationship Id="rId7" Type="http://schemas.openxmlformats.org/officeDocument/2006/relationships/slideMaster" Target="../slideMasters/slideMaster1.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slideMaster" Target="../slideMasters/slideMaster1.xml"/><Relationship Id="rId5" Type="http://schemas.openxmlformats.org/officeDocument/2006/relationships/tags" Target="../tags/tag66.xml"/><Relationship Id="rId4" Type="http://schemas.openxmlformats.org/officeDocument/2006/relationships/tags" Target="../tags/tag65.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tags" Target="../tags/tag67.xml"/><Relationship Id="rId5" Type="http://schemas.openxmlformats.org/officeDocument/2006/relationships/slideMaster" Target="../slideMasters/slideMaster1.xml"/><Relationship Id="rId4" Type="http://schemas.openxmlformats.org/officeDocument/2006/relationships/tags" Target="../tags/tag70.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73.xml"/><Relationship Id="rId7" Type="http://schemas.openxmlformats.org/officeDocument/2006/relationships/slideMaster" Target="../slideMasters/slideMaster1.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2" name="图片 1"/>
          <p:cNvPicPr>
            <a:picLocks noChangeAspect="1"/>
          </p:cNvPicPr>
          <p:nvPr>
            <p:custDataLst>
              <p:tags r:id="rId1"/>
            </p:custDataLst>
          </p:nvPr>
        </p:nvPicPr>
        <p:blipFill>
          <a:blip r:embed="rId10"/>
          <a:stretch>
            <a:fillRect/>
          </a:stretch>
        </p:blipFill>
        <p:spPr>
          <a:xfrm>
            <a:off x="0" y="2560320"/>
            <a:ext cx="12192000" cy="4297680"/>
          </a:xfrm>
          <a:prstGeom prst="rect">
            <a:avLst/>
          </a:prstGeom>
        </p:spPr>
      </p:pic>
      <p:sp>
        <p:nvSpPr>
          <p:cNvPr id="9802" name="标题 1"/>
          <p:cNvSpPr>
            <a:spLocks noGrp="1"/>
          </p:cNvSpPr>
          <p:nvPr>
            <p:ph type="ctrTitle" hasCustomPrompt="1"/>
            <p:custDataLst>
              <p:tags r:id="rId2"/>
            </p:custDataLst>
          </p:nvPr>
        </p:nvSpPr>
        <p:spPr>
          <a:xfrm>
            <a:off x="668622" y="950006"/>
            <a:ext cx="5893621" cy="1089529"/>
          </a:xfrm>
        </p:spPr>
        <p:txBody>
          <a:bodyPr anchor="b" anchorCtr="0">
            <a:normAutofit/>
          </a:bodyPr>
          <a:lstStyle>
            <a:lvl1pPr algn="l">
              <a:lnSpc>
                <a:spcPct val="90000"/>
              </a:lnSpc>
              <a:defRPr sz="4000">
                <a:solidFill>
                  <a:schemeClr val="tx1"/>
                </a:solidFill>
              </a:defRPr>
            </a:lvl1pPr>
          </a:lstStyle>
          <a:p>
            <a:r>
              <a:rPr lang="zh-CN" altLang="en-US" dirty="0"/>
              <a:t>单击此处编辑标题</a:t>
            </a:r>
          </a:p>
        </p:txBody>
      </p:sp>
      <p:sp>
        <p:nvSpPr>
          <p:cNvPr id="9801" name="副标题 2"/>
          <p:cNvSpPr>
            <a:spLocks noGrp="1"/>
          </p:cNvSpPr>
          <p:nvPr>
            <p:ph type="subTitle" idx="1" hasCustomPrompt="1"/>
            <p:custDataLst>
              <p:tags r:id="rId3"/>
            </p:custDataLst>
          </p:nvPr>
        </p:nvSpPr>
        <p:spPr>
          <a:xfrm>
            <a:off x="668622" y="2147484"/>
            <a:ext cx="5893621" cy="412835"/>
          </a:xfrm>
        </p:spPr>
        <p:txBody>
          <a:bodyPr anchor="t" anchorCtr="0">
            <a:normAutofit/>
          </a:bodyPr>
          <a:lstStyle>
            <a:lvl1pPr marL="0" indent="0" algn="l">
              <a:lnSpc>
                <a:spcPct val="90000"/>
              </a:lnSpc>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4" name="文本占位符 3"/>
          <p:cNvSpPr>
            <a:spLocks noGrp="1"/>
          </p:cNvSpPr>
          <p:nvPr>
            <p:ph type="body" sz="quarter" idx="10" hasCustomPrompt="1"/>
            <p:custDataLst>
              <p:tags r:id="rId4"/>
            </p:custDataLst>
          </p:nvPr>
        </p:nvSpPr>
        <p:spPr>
          <a:xfrm>
            <a:off x="668338" y="4438650"/>
            <a:ext cx="3691789" cy="324000"/>
          </a:xfrm>
        </p:spPr>
        <p:txBody>
          <a:bodyPr anchor="ctr" anchorCtr="0">
            <a:normAutofit/>
          </a:bodyPr>
          <a:lstStyle>
            <a:lvl1pPr marL="0" indent="0">
              <a:buNone/>
              <a:defRPr sz="1800"/>
            </a:lvl1pPr>
          </a:lstStyle>
          <a:p>
            <a:pPr lvl="0"/>
            <a:r>
              <a:rPr lang="zh-CN" altLang="en-US" dirty="0"/>
              <a:t>单击此处编辑副标题</a:t>
            </a:r>
          </a:p>
        </p:txBody>
      </p:sp>
      <p:sp>
        <p:nvSpPr>
          <p:cNvPr id="6" name="文本占位符 5"/>
          <p:cNvSpPr>
            <a:spLocks noGrp="1"/>
          </p:cNvSpPr>
          <p:nvPr>
            <p:ph type="body" sz="quarter" idx="11" hasCustomPrompt="1"/>
            <p:custDataLst>
              <p:tags r:id="rId5"/>
            </p:custDataLst>
          </p:nvPr>
        </p:nvSpPr>
        <p:spPr>
          <a:xfrm>
            <a:off x="668338" y="4806296"/>
            <a:ext cx="3691789" cy="324000"/>
          </a:xfrm>
        </p:spPr>
        <p:txBody>
          <a:bodyPr anchor="ctr" anchorCtr="0">
            <a:normAutofit/>
          </a:bodyPr>
          <a:lstStyle>
            <a:lvl1pPr marL="0" indent="0">
              <a:buNone/>
              <a:defRPr sz="1800"/>
            </a:lvl1pPr>
          </a:lstStyle>
          <a:p>
            <a:pPr lvl="0"/>
            <a:r>
              <a:rPr lang="zh-CN" altLang="en-US" dirty="0"/>
              <a:t>单击此处编辑副标题</a:t>
            </a:r>
          </a:p>
        </p:txBody>
      </p:sp>
      <p:sp>
        <p:nvSpPr>
          <p:cNvPr id="3" name="日期占位符 2"/>
          <p:cNvSpPr>
            <a:spLocks noGrp="1"/>
          </p:cNvSpPr>
          <p:nvPr>
            <p:ph type="dt" sz="half" idx="12"/>
            <p:custDataLst>
              <p:tags r:id="rId6"/>
            </p:custDataLst>
          </p:nvPr>
        </p:nvSpPr>
        <p:spPr/>
        <p:txBody>
          <a:bodyPr/>
          <a:lstStyle/>
          <a:p>
            <a:fld id="{760FBDFE-C587-4B4C-A407-44438C67B59E}" type="datetimeFigureOut">
              <a:rPr lang="zh-CN" altLang="en-US" smtClean="0"/>
              <a:t>2025/10/16</a:t>
            </a:fld>
            <a:endParaRPr lang="zh-CN" altLang="en-US"/>
          </a:p>
        </p:txBody>
      </p:sp>
      <p:sp>
        <p:nvSpPr>
          <p:cNvPr id="5" name="页脚占位符 4"/>
          <p:cNvSpPr>
            <a:spLocks noGrp="1"/>
          </p:cNvSpPr>
          <p:nvPr>
            <p:ph type="ftr" sz="quarter" idx="13"/>
            <p:custDataLst>
              <p:tags r:id="rId7"/>
            </p:custDataLst>
          </p:nvPr>
        </p:nvSpPr>
        <p:spPr/>
        <p:txBody>
          <a:bodyPr/>
          <a:lstStyle/>
          <a:p>
            <a:endParaRPr lang="zh-CN" altLang="en-US" dirty="0"/>
          </a:p>
        </p:txBody>
      </p:sp>
      <p:sp>
        <p:nvSpPr>
          <p:cNvPr id="7" name="灯片编号占位符 6"/>
          <p:cNvSpPr>
            <a:spLocks noGrp="1"/>
          </p:cNvSpPr>
          <p:nvPr>
            <p:ph type="sldNum" sz="quarter" idx="14"/>
            <p:custDataLst>
              <p:tags r:id="rId8"/>
            </p:custDataLst>
          </p:nvPr>
        </p:nvSpPr>
        <p:spPr/>
        <p:txBody>
          <a:bodyPr/>
          <a:lstStyle/>
          <a:p>
            <a:fld id="{49AE70B2-8BF9-45C0-BB95-33D1B9D3A854}" type="slidenum">
              <a:rPr lang="zh-CN" altLang="en-US" smtClean="0"/>
              <a:t>‹#›</a:t>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12" name="组合 11"/>
          <p:cNvGrpSpPr/>
          <p:nvPr>
            <p:custDataLst>
              <p:tags r:id="rId1"/>
            </p:custDataLst>
          </p:nvPr>
        </p:nvGrpSpPr>
        <p:grpSpPr>
          <a:xfrm>
            <a:off x="0" y="5571111"/>
            <a:ext cx="12192000" cy="1286889"/>
            <a:chOff x="0" y="5571111"/>
            <a:chExt cx="12192000" cy="1286889"/>
          </a:xfrm>
        </p:grpSpPr>
        <p:pic>
          <p:nvPicPr>
            <p:cNvPr id="10" name="图片 9"/>
            <p:cNvPicPr>
              <a:picLocks noChangeAspect="1"/>
            </p:cNvPicPr>
            <p:nvPr>
              <p:custDataLst>
                <p:tags r:id="rId9"/>
              </p:custDataLst>
            </p:nvPr>
          </p:nvPicPr>
          <p:blipFill>
            <a:blip r:embed="rId12"/>
            <a:stretch>
              <a:fillRect/>
            </a:stretch>
          </p:blipFill>
          <p:spPr>
            <a:xfrm>
              <a:off x="9960600" y="5571111"/>
              <a:ext cx="2184535" cy="1209295"/>
            </a:xfrm>
            <a:prstGeom prst="rect">
              <a:avLst/>
            </a:prstGeom>
          </p:spPr>
        </p:pic>
        <p:sp>
          <p:nvSpPr>
            <p:cNvPr id="11" name="矩形 10"/>
            <p:cNvSpPr/>
            <p:nvPr>
              <p:custDataLst>
                <p:tags r:id="rId10"/>
              </p:custDataLst>
            </p:nvPr>
          </p:nvSpPr>
          <p:spPr>
            <a:xfrm>
              <a:off x="0" y="6780406"/>
              <a:ext cx="12192000" cy="77594"/>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grpSp>
      <p:cxnSp>
        <p:nvCxnSpPr>
          <p:cNvPr id="7" name="直接连接符 6"/>
          <p:cNvCxnSpPr/>
          <p:nvPr>
            <p:custDataLst>
              <p:tags r:id="rId2"/>
            </p:custDataLst>
          </p:nvPr>
        </p:nvCxnSpPr>
        <p:spPr>
          <a:xfrm>
            <a:off x="140087" y="731501"/>
            <a:ext cx="11911825" cy="11854"/>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custDataLst>
              <p:tags r:id="rId3"/>
            </p:custDataLst>
          </p:nvPr>
        </p:nvPicPr>
        <p:blipFill>
          <a:blip r:embed="rId13"/>
          <a:stretch>
            <a:fillRect/>
          </a:stretch>
        </p:blipFill>
        <p:spPr>
          <a:xfrm>
            <a:off x="237893" y="10930"/>
            <a:ext cx="460644" cy="732425"/>
          </a:xfrm>
          <a:prstGeom prst="rect">
            <a:avLst/>
          </a:prstGeom>
        </p:spPr>
      </p:pic>
      <p:sp>
        <p:nvSpPr>
          <p:cNvPr id="2" name="标题 1"/>
          <p:cNvSpPr>
            <a:spLocks noGrp="1"/>
          </p:cNvSpPr>
          <p:nvPr>
            <p:ph type="title"/>
            <p:custDataLst>
              <p:tags r:id="rId4"/>
            </p:custDataLst>
          </p:nvPr>
        </p:nvSpPr>
        <p:spPr>
          <a:xfrm>
            <a:off x="876000" y="334800"/>
            <a:ext cx="10440000" cy="1368000"/>
          </a:xfrm>
        </p:spPr>
        <p:txBody>
          <a:bodyPr>
            <a:normAutofit/>
          </a:bodyPr>
          <a:lstStyle>
            <a:lvl1pPr>
              <a:defRPr sz="4000">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custDataLst>
              <p:tags r:id="rId5"/>
            </p:custDataLst>
          </p:nvPr>
        </p:nvSpPr>
        <p:spPr>
          <a:xfrm>
            <a:off x="876000" y="1852295"/>
            <a:ext cx="10440000" cy="4320000"/>
          </a:xfrm>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6"/>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t>2025/10/16</a:t>
            </a:fld>
            <a:endParaRPr lang="zh-CN" altLang="en-US" dirty="0"/>
          </a:p>
        </p:txBody>
      </p:sp>
      <p:sp>
        <p:nvSpPr>
          <p:cNvPr id="5" name="页脚占位符 4"/>
          <p:cNvSpPr>
            <a:spLocks noGrp="1"/>
          </p:cNvSpPr>
          <p:nvPr>
            <p:ph type="ftr" sz="quarter" idx="11"/>
            <p:custDataLst>
              <p:tags r:id="rId7"/>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12"/>
            <p:custDataLst>
              <p:tags r:id="rId8"/>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grpSp>
        <p:nvGrpSpPr>
          <p:cNvPr id="6" name="组合 5"/>
          <p:cNvGrpSpPr/>
          <p:nvPr>
            <p:custDataLst>
              <p:tags r:id="rId1"/>
            </p:custDataLst>
          </p:nvPr>
        </p:nvGrpSpPr>
        <p:grpSpPr>
          <a:xfrm>
            <a:off x="2292272" y="3615832"/>
            <a:ext cx="7607455" cy="971515"/>
            <a:chOff x="2305980" y="3602344"/>
            <a:chExt cx="7607455" cy="971515"/>
          </a:xfrm>
        </p:grpSpPr>
        <p:cxnSp>
          <p:nvCxnSpPr>
            <p:cNvPr id="4" name="直接连接符 3"/>
            <p:cNvCxnSpPr/>
            <p:nvPr>
              <p:custDataLst>
                <p:tags r:id="rId7"/>
              </p:custDataLst>
            </p:nvPr>
          </p:nvCxnSpPr>
          <p:spPr>
            <a:xfrm>
              <a:off x="2305980" y="4573859"/>
              <a:ext cx="7607455" cy="0"/>
            </a:xfrm>
            <a:prstGeom prst="line">
              <a:avLst/>
            </a:prstGeom>
            <a:ln>
              <a:solidFill>
                <a:schemeClr val="accent5">
                  <a:lumMod val="50000"/>
                </a:schemeClr>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custDataLst>
                <p:tags r:id="rId8"/>
              </p:custDataLst>
            </p:nvPr>
          </p:nvPicPr>
          <p:blipFill>
            <a:blip r:embed="rId11"/>
            <a:stretch>
              <a:fillRect/>
            </a:stretch>
          </p:blipFill>
          <p:spPr>
            <a:xfrm>
              <a:off x="8719748" y="4002548"/>
              <a:ext cx="1024217" cy="566977"/>
            </a:xfrm>
            <a:prstGeom prst="rect">
              <a:avLst/>
            </a:prstGeom>
          </p:spPr>
        </p:pic>
        <p:pic>
          <p:nvPicPr>
            <p:cNvPr id="3" name="图片 2"/>
            <p:cNvPicPr>
              <a:picLocks noChangeAspect="1"/>
            </p:cNvPicPr>
            <p:nvPr>
              <p:custDataLst>
                <p:tags r:id="rId9"/>
              </p:custDataLst>
            </p:nvPr>
          </p:nvPicPr>
          <p:blipFill>
            <a:blip r:embed="rId12"/>
            <a:stretch>
              <a:fillRect/>
            </a:stretch>
          </p:blipFill>
          <p:spPr>
            <a:xfrm>
              <a:off x="2483459" y="3602344"/>
              <a:ext cx="609653" cy="969348"/>
            </a:xfrm>
            <a:prstGeom prst="rect">
              <a:avLst/>
            </a:prstGeom>
          </p:spPr>
        </p:pic>
      </p:grpSp>
      <p:sp>
        <p:nvSpPr>
          <p:cNvPr id="11" name="标题 1"/>
          <p:cNvSpPr>
            <a:spLocks noGrp="1"/>
          </p:cNvSpPr>
          <p:nvPr>
            <p:ph type="title" hasCustomPrompt="1"/>
            <p:custDataLst>
              <p:tags r:id="rId2"/>
            </p:custDataLst>
          </p:nvPr>
        </p:nvSpPr>
        <p:spPr>
          <a:xfrm>
            <a:off x="3270591" y="3813721"/>
            <a:ext cx="5271678" cy="716834"/>
          </a:xfrm>
          <a:prstGeom prst="rect">
            <a:avLst/>
          </a:prstGeom>
        </p:spPr>
        <p:txBody>
          <a:bodyPr anchor="b" anchorCtr="0">
            <a:normAutofit/>
          </a:bodyPr>
          <a:lstStyle>
            <a:lvl1pPr algn="ctr">
              <a:defRPr sz="3600" b="1">
                <a:solidFill>
                  <a:schemeClr val="tx1"/>
                </a:solidFill>
              </a:defRPr>
            </a:lvl1pPr>
          </a:lstStyle>
          <a:p>
            <a:r>
              <a:rPr lang="zh-CN" altLang="en-US" dirty="0"/>
              <a:t>单击此处编辑标题</a:t>
            </a:r>
          </a:p>
        </p:txBody>
      </p:sp>
      <p:sp>
        <p:nvSpPr>
          <p:cNvPr id="17" name="文本占位符 2"/>
          <p:cNvSpPr>
            <a:spLocks noGrp="1"/>
          </p:cNvSpPr>
          <p:nvPr>
            <p:ph type="body" idx="1" hasCustomPrompt="1"/>
            <p:custDataLst>
              <p:tags r:id="rId3"/>
            </p:custDataLst>
          </p:nvPr>
        </p:nvSpPr>
        <p:spPr>
          <a:xfrm>
            <a:off x="3270591" y="4644140"/>
            <a:ext cx="5271678" cy="1297689"/>
          </a:xfrm>
          <a:prstGeom prst="rect">
            <a:avLst/>
          </a:prstGeom>
        </p:spPr>
        <p:txBody>
          <a:bodyPr anchor="t">
            <a:normAutofit/>
          </a:bodyPr>
          <a:lstStyle>
            <a:lvl1pPr marL="0" indent="0" algn="ctr">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单击此处编辑副标题</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2025/10/16</a:t>
            </a:fld>
            <a:endParaRPr lang="zh-CN" altLang="en-US"/>
          </a:p>
        </p:txBody>
      </p:sp>
      <p:sp>
        <p:nvSpPr>
          <p:cNvPr id="7" name="页脚占位符 6"/>
          <p:cNvSpPr>
            <a:spLocks noGrp="1"/>
          </p:cNvSpPr>
          <p:nvPr>
            <p:ph type="ftr" sz="quarter" idx="11"/>
            <p:custDataLst>
              <p:tags r:id="rId5"/>
            </p:custDataLst>
          </p:nvPr>
        </p:nvSpPr>
        <p:spPr/>
        <p:txBody>
          <a:bodyPr/>
          <a:lstStyle/>
          <a:p>
            <a:endParaRPr lang="zh-CN" altLang="en-US" dirty="0"/>
          </a:p>
        </p:txBody>
      </p:sp>
      <p:sp>
        <p:nvSpPr>
          <p:cNvPr id="8" name="灯片编号占位符 7"/>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lvl1pPr>
              <a:defRPr sz="4000"/>
            </a:lvl1pPr>
          </a:lstStyle>
          <a:p>
            <a:r>
              <a:rPr lang="zh-CN" altLang="en-US" dirty="0"/>
              <a:t>单击此处编辑母版标题样式</a:t>
            </a:r>
          </a:p>
        </p:txBody>
      </p:sp>
      <p:sp>
        <p:nvSpPr>
          <p:cNvPr id="3" name="内容占位符 2"/>
          <p:cNvSpPr>
            <a:spLocks noGrp="1"/>
          </p:cNvSpPr>
          <p:nvPr>
            <p:ph sz="half" idx="1"/>
            <p:custDataLst>
              <p:tags r:id="rId2"/>
            </p:custDataLst>
          </p:nvPr>
        </p:nvSpPr>
        <p:spPr>
          <a:xfrm>
            <a:off x="874712" y="1854200"/>
            <a:ext cx="5112000" cy="4321175"/>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custDataLst>
              <p:tags r:id="rId3"/>
            </p:custDataLst>
          </p:nvPr>
        </p:nvSpPr>
        <p:spPr>
          <a:xfrm>
            <a:off x="6198600" y="1854200"/>
            <a:ext cx="5112000" cy="4321175"/>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2025/10/16</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874800" y="334800"/>
            <a:ext cx="10440000" cy="1368000"/>
          </a:xfrm>
        </p:spPr>
        <p:txBody>
          <a:bodyPr>
            <a:normAutofit/>
          </a:bodyPr>
          <a:lstStyle>
            <a:lvl1pPr>
              <a:defRPr sz="4000"/>
            </a:lvl1pPr>
          </a:lstStyle>
          <a:p>
            <a:r>
              <a:rPr lang="zh-CN" altLang="en-US" dirty="0"/>
              <a:t>单击此处编辑母版标题样式</a:t>
            </a:r>
          </a:p>
        </p:txBody>
      </p:sp>
      <p:sp>
        <p:nvSpPr>
          <p:cNvPr id="3" name="文本占位符 2"/>
          <p:cNvSpPr>
            <a:spLocks noGrp="1"/>
          </p:cNvSpPr>
          <p:nvPr>
            <p:ph type="body" idx="1"/>
            <p:custDataLst>
              <p:tags r:id="rId2"/>
            </p:custDataLst>
          </p:nvPr>
        </p:nvSpPr>
        <p:spPr>
          <a:xfrm>
            <a:off x="874713" y="1854298"/>
            <a:ext cx="5112000" cy="7200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4" name="内容占位符 3"/>
          <p:cNvSpPr>
            <a:spLocks noGrp="1"/>
          </p:cNvSpPr>
          <p:nvPr>
            <p:ph sz="half" idx="2"/>
            <p:custDataLst>
              <p:tags r:id="rId3"/>
            </p:custDataLst>
          </p:nvPr>
        </p:nvSpPr>
        <p:spPr>
          <a:xfrm>
            <a:off x="874712" y="2716271"/>
            <a:ext cx="5112000" cy="34560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文本占位符 4"/>
          <p:cNvSpPr>
            <a:spLocks noGrp="1"/>
          </p:cNvSpPr>
          <p:nvPr>
            <p:ph type="body" sz="quarter" idx="3"/>
            <p:custDataLst>
              <p:tags r:id="rId4"/>
            </p:custDataLst>
          </p:nvPr>
        </p:nvSpPr>
        <p:spPr>
          <a:xfrm>
            <a:off x="6195764" y="1854298"/>
            <a:ext cx="5112000" cy="7200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6" name="内容占位符 5"/>
          <p:cNvSpPr>
            <a:spLocks noGrp="1"/>
          </p:cNvSpPr>
          <p:nvPr>
            <p:ph sz="quarter" idx="4"/>
            <p:custDataLst>
              <p:tags r:id="rId5"/>
            </p:custDataLst>
          </p:nvPr>
        </p:nvSpPr>
        <p:spPr>
          <a:xfrm>
            <a:off x="6195760" y="2716271"/>
            <a:ext cx="5112001" cy="34560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2025/10/16</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normAutofit/>
          </a:bodyPr>
          <a:lstStyle>
            <a:lvl1pPr>
              <a:defRPr sz="4000"/>
            </a:lvl1pPr>
          </a:lstStyle>
          <a:p>
            <a:r>
              <a:rPr lang="zh-CN" altLang="en-US" dirty="0"/>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2025/10/16</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2025/10/16</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874800" y="334800"/>
            <a:ext cx="4176000" cy="1620000"/>
          </a:xfrm>
        </p:spPr>
        <p:txBody>
          <a:bodyPr anchor="t" anchorCtr="0">
            <a:normAutofit/>
          </a:bodyPr>
          <a:lstStyle>
            <a:lvl1pPr>
              <a:defRPr sz="4000"/>
            </a:lvl1pPr>
          </a:lstStyle>
          <a:p>
            <a:r>
              <a:rPr lang="zh-CN" altLang="en-US" dirty="0"/>
              <a:t>单击此处编辑母版标题样式</a:t>
            </a:r>
          </a:p>
        </p:txBody>
      </p:sp>
      <p:sp>
        <p:nvSpPr>
          <p:cNvPr id="3" name="图片占位符 2"/>
          <p:cNvSpPr>
            <a:spLocks noGrp="1" noChangeAspect="1"/>
          </p:cNvSpPr>
          <p:nvPr>
            <p:ph type="pic" idx="1"/>
            <p:custDataLst>
              <p:tags r:id="rId2"/>
            </p:custDataLst>
          </p:nvPr>
        </p:nvSpPr>
        <p:spPr>
          <a:xfrm>
            <a:off x="5193525" y="334800"/>
            <a:ext cx="6120000" cy="5832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custDataLst>
              <p:tags r:id="rId3"/>
            </p:custDataLst>
          </p:nvPr>
        </p:nvSpPr>
        <p:spPr>
          <a:xfrm>
            <a:off x="874800" y="2111473"/>
            <a:ext cx="4176000" cy="40536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t>2025/10/16</a:t>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1"/>
            </p:custDataLst>
          </p:nvPr>
        </p:nvSpPr>
        <p:spPr>
          <a:xfrm>
            <a:off x="9795909" y="333375"/>
            <a:ext cx="1512000" cy="5832000"/>
          </a:xfrm>
        </p:spPr>
        <p:txBody>
          <a:bodyPr vert="eaVert">
            <a:normAutofit/>
          </a:bodyPr>
          <a:lstStyle>
            <a:lvl1pPr>
              <a:defRPr sz="3600"/>
            </a:lvl1pPr>
          </a:lstStyle>
          <a:p>
            <a:r>
              <a:rPr lang="zh-CN" altLang="en-US" dirty="0"/>
              <a:t>单击此处编辑母版标题样式</a:t>
            </a:r>
          </a:p>
        </p:txBody>
      </p:sp>
      <p:sp>
        <p:nvSpPr>
          <p:cNvPr id="3" name="竖排文字占位符 2"/>
          <p:cNvSpPr>
            <a:spLocks noGrp="1"/>
          </p:cNvSpPr>
          <p:nvPr>
            <p:ph type="body" orient="vert" idx="1"/>
            <p:custDataLst>
              <p:tags r:id="rId2"/>
            </p:custDataLst>
          </p:nvPr>
        </p:nvSpPr>
        <p:spPr>
          <a:xfrm>
            <a:off x="874800" y="334800"/>
            <a:ext cx="8784000" cy="5832000"/>
          </a:xfr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2025/10/16</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2025/10/16</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874713" y="333375"/>
            <a:ext cx="10440000" cy="5832475"/>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13" name="Freeform 2200"/>
          <p:cNvSpPr/>
          <p:nvPr>
            <p:custDataLst>
              <p:tags r:id="rId1"/>
            </p:custDataLst>
          </p:nvPr>
        </p:nvSpPr>
        <p:spPr bwMode="auto">
          <a:xfrm>
            <a:off x="3838065" y="4810252"/>
            <a:ext cx="4515870" cy="17750"/>
          </a:xfrm>
          <a:custGeom>
            <a:avLst/>
            <a:gdLst>
              <a:gd name="T0" fmla="*/ 5940 w 5953"/>
              <a:gd name="T1" fmla="*/ 24 h 24"/>
              <a:gd name="T2" fmla="*/ 13 w 5953"/>
              <a:gd name="T3" fmla="*/ 24 h 24"/>
              <a:gd name="T4" fmla="*/ 0 w 5953"/>
              <a:gd name="T5" fmla="*/ 12 h 24"/>
              <a:gd name="T6" fmla="*/ 13 w 5953"/>
              <a:gd name="T7" fmla="*/ 0 h 24"/>
              <a:gd name="T8" fmla="*/ 5940 w 5953"/>
              <a:gd name="T9" fmla="*/ 0 h 24"/>
              <a:gd name="T10" fmla="*/ 5953 w 5953"/>
              <a:gd name="T11" fmla="*/ 12 h 24"/>
              <a:gd name="T12" fmla="*/ 5940 w 5953"/>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5953" h="24">
                <a:moveTo>
                  <a:pt x="5940" y="24"/>
                </a:moveTo>
                <a:cubicBezTo>
                  <a:pt x="13" y="24"/>
                  <a:pt x="13" y="24"/>
                  <a:pt x="13" y="24"/>
                </a:cubicBezTo>
                <a:cubicBezTo>
                  <a:pt x="6" y="24"/>
                  <a:pt x="0" y="19"/>
                  <a:pt x="0" y="12"/>
                </a:cubicBezTo>
                <a:cubicBezTo>
                  <a:pt x="0" y="6"/>
                  <a:pt x="6" y="0"/>
                  <a:pt x="13" y="0"/>
                </a:cubicBezTo>
                <a:cubicBezTo>
                  <a:pt x="5940" y="0"/>
                  <a:pt x="5940" y="0"/>
                  <a:pt x="5940" y="0"/>
                </a:cubicBezTo>
                <a:cubicBezTo>
                  <a:pt x="5947" y="0"/>
                  <a:pt x="5953" y="6"/>
                  <a:pt x="5953" y="12"/>
                </a:cubicBezTo>
                <a:cubicBezTo>
                  <a:pt x="5953" y="19"/>
                  <a:pt x="5947" y="24"/>
                  <a:pt x="5940" y="24"/>
                </a:cubicBezTo>
                <a:close/>
              </a:path>
            </a:pathLst>
          </a:custGeom>
          <a:solidFill>
            <a:schemeClr val="accent1">
              <a:lumMod val="50000"/>
            </a:schemeClr>
          </a:solidFill>
          <a:ln>
            <a:solidFill>
              <a:schemeClr val="accent5">
                <a:lumMod val="50000"/>
              </a:schemeClr>
            </a:solidFill>
          </a:ln>
        </p:spPr>
        <p:txBody>
          <a:bodyPr vert="horz" wrap="square" lIns="91440" tIns="45720" rIns="91440" bIns="45720" numCol="1" anchor="t" anchorCtr="0" compatLnSpc="1"/>
          <a:lstStyle/>
          <a:p>
            <a:endParaRPr lang="zh-CN" altLang="en-US"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custDataLst>
              <p:tags r:id="rId2"/>
            </p:custDataLst>
          </p:nvPr>
        </p:nvPicPr>
        <p:blipFill>
          <a:blip r:embed="rId8"/>
          <a:stretch>
            <a:fillRect/>
          </a:stretch>
        </p:blipFill>
        <p:spPr>
          <a:xfrm>
            <a:off x="3838065" y="1125202"/>
            <a:ext cx="4511431" cy="2261812"/>
          </a:xfrm>
          <a:prstGeom prst="rect">
            <a:avLst/>
          </a:prstGeom>
        </p:spPr>
      </p:pic>
      <p:sp>
        <p:nvSpPr>
          <p:cNvPr id="11" name="标题 1"/>
          <p:cNvSpPr>
            <a:spLocks noGrp="1"/>
          </p:cNvSpPr>
          <p:nvPr>
            <p:ph type="ctrTitle" hasCustomPrompt="1"/>
            <p:custDataLst>
              <p:tags r:id="rId3"/>
            </p:custDataLst>
          </p:nvPr>
        </p:nvSpPr>
        <p:spPr>
          <a:xfrm>
            <a:off x="3609975" y="3457292"/>
            <a:ext cx="4972050" cy="1310878"/>
          </a:xfrm>
          <a:prstGeom prst="rect">
            <a:avLst/>
          </a:prstGeom>
        </p:spPr>
        <p:txBody>
          <a:bodyPr anchor="b">
            <a:noAutofit/>
          </a:bodyPr>
          <a:lstStyle>
            <a:lvl1pPr marL="0" indent="0" algn="ctr">
              <a:lnSpc>
                <a:spcPct val="90000"/>
              </a:lnSpc>
              <a:buFont typeface="Arial" panose="020B0604020202020204" pitchFamily="34" charset="0"/>
              <a:buNone/>
              <a:defRPr sz="6000">
                <a:solidFill>
                  <a:schemeClr val="tx1"/>
                </a:solidFill>
                <a:latin typeface="微软雅黑" panose="020B0503020204020204" pitchFamily="34" charset="-122"/>
                <a:ea typeface="微软雅黑" panose="020B0503020204020204" pitchFamily="34" charset="-122"/>
              </a:defRPr>
            </a:lvl1pPr>
          </a:lstStyle>
          <a:p>
            <a:r>
              <a:rPr lang="zh-CN" altLang="en-US" dirty="0"/>
              <a:t>单击编辑标题</a:t>
            </a:r>
          </a:p>
        </p:txBody>
      </p:sp>
      <p:sp>
        <p:nvSpPr>
          <p:cNvPr id="5" name="日期占位符 4"/>
          <p:cNvSpPr>
            <a:spLocks noGrp="1"/>
          </p:cNvSpPr>
          <p:nvPr>
            <p:ph type="dt" sz="half" idx="12"/>
            <p:custDataLst>
              <p:tags r:id="rId4"/>
            </p:custDataLst>
          </p:nvPr>
        </p:nvSpPr>
        <p:spPr/>
        <p:txBody>
          <a:bodyPr/>
          <a:lstStyle>
            <a:lvl1pPr>
              <a:defRPr>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t>2025/10/16</a:t>
            </a:fld>
            <a:endParaRPr lang="zh-CN" altLang="en-US" dirty="0"/>
          </a:p>
        </p:txBody>
      </p:sp>
      <p:sp>
        <p:nvSpPr>
          <p:cNvPr id="6" name="页脚占位符 5"/>
          <p:cNvSpPr>
            <a:spLocks noGrp="1"/>
          </p:cNvSpPr>
          <p:nvPr>
            <p:ph type="ftr" sz="quarter" idx="13"/>
            <p:custDataLst>
              <p:tags r:id="rId5"/>
            </p:custDataLst>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14"/>
            <p:custDataLst>
              <p:tags r:id="rId6"/>
            </p:custDataLst>
          </p:nvPr>
        </p:nvSpPr>
        <p:spPr/>
        <p:txBody>
          <a:bodyPr/>
          <a:lstStyle>
            <a:lvl1pPr>
              <a:defRPr>
                <a:latin typeface="微软雅黑" panose="020B0503020204020204" pitchFamily="34" charset="-122"/>
                <a:ea typeface="微软雅黑" panose="020B0503020204020204" pitchFamily="34" charset="-122"/>
              </a:defRPr>
            </a:lvl1pPr>
          </a:lstStyle>
          <a:p>
            <a:fld id="{49AE70B2-8BF9-45C0-BB95-33D1B9D3A854}" type="slidenum">
              <a:rPr lang="zh-CN" altLang="en-US" smtClean="0"/>
              <a:t>‹#›</a:t>
            </a:fld>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60FBDFE-C587-4B4C-A407-44438C67B59E}" type="datetimeFigureOut">
              <a:rPr lang="zh-CN" altLang="en-US" smtClean="0"/>
              <a:t>2025/10/16</a:t>
            </a:fld>
            <a:endParaRPr lang="zh-CN" altLang="en-US" dirty="0"/>
          </a:p>
        </p:txBody>
      </p:sp>
      <p:sp>
        <p:nvSpPr>
          <p:cNvPr id="4" name="页脚占位符 3"/>
          <p:cNvSpPr>
            <a:spLocks noGrp="1"/>
          </p:cNvSpPr>
          <p:nvPr>
            <p:ph type="ftr" sz="quarter" idx="1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19" Type="http://schemas.openxmlformats.org/officeDocument/2006/relationships/tags" Target="../tags/tag7.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lum/>
          </a:blip>
          <a:srcRect/>
          <a:tile tx="0" ty="0" sx="100000" sy="100000" flip="none" algn="tl"/>
        </a:blip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876000" y="333375"/>
            <a:ext cx="10440000" cy="1366838"/>
          </a:xfrm>
          <a:prstGeom prst="rect">
            <a:avLst/>
          </a:prstGeom>
        </p:spPr>
        <p:txBody>
          <a:bodyPr vert="horz" lIns="91440" tIns="45720" rIns="91440" bIns="46800" rtlCol="0" anchor="b">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876000" y="1854000"/>
            <a:ext cx="10440000" cy="4320000"/>
          </a:xfrm>
          <a:prstGeom prst="rect">
            <a:avLst/>
          </a:prstGeom>
        </p:spPr>
        <p:txBody>
          <a:bodyPr vert="horz" lIns="91440" tIns="45720" rIns="9144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879742" y="6349833"/>
            <a:ext cx="2700000" cy="316800"/>
          </a:xfrm>
          <a:prstGeom prst="rect">
            <a:avLst/>
          </a:prstGeom>
        </p:spPr>
        <p:txBody>
          <a:bodyPr vert="horz" lIns="91440" tIns="45720" rIns="91440" bIns="46800" rtlCol="0" anchor="ctr">
            <a:normAutofit/>
          </a:bodyPr>
          <a:lstStyle>
            <a:lvl1pPr algn="l">
              <a:defRPr sz="1200">
                <a:solidFill>
                  <a:schemeClr val="tx1">
                    <a:tint val="75000"/>
                  </a:schemeClr>
                </a:solidFill>
                <a:latin typeface="微软雅黑" panose="020B0503020204020204" pitchFamily="34" charset="-122"/>
                <a:ea typeface="微软雅黑" panose="020B0503020204020204" pitchFamily="34" charset="-122"/>
              </a:defRPr>
            </a:lvl1pPr>
          </a:lstStyle>
          <a:p>
            <a:fld id="{760FBDFE-C587-4B4C-A407-44438C67B59E}" type="datetimeFigureOut">
              <a:rPr lang="zh-CN" altLang="en-US" smtClean="0"/>
              <a:t>2025/10/16</a:t>
            </a:fld>
            <a:endParaRPr lang="zh-CN" altLang="en-US" dirty="0"/>
          </a:p>
        </p:txBody>
      </p:sp>
      <p:sp>
        <p:nvSpPr>
          <p:cNvPr id="5" name="页脚占位符 4"/>
          <p:cNvSpPr>
            <a:spLocks noGrp="1"/>
          </p:cNvSpPr>
          <p:nvPr>
            <p:ph type="ftr" sz="quarter" idx="3"/>
            <p:custDataLst>
              <p:tags r:id="rId17"/>
            </p:custDataLst>
          </p:nvPr>
        </p:nvSpPr>
        <p:spPr>
          <a:xfrm>
            <a:off x="4116000" y="6349833"/>
            <a:ext cx="3960000" cy="316800"/>
          </a:xfrm>
          <a:prstGeom prst="rect">
            <a:avLst/>
          </a:prstGeom>
        </p:spPr>
        <p:txBody>
          <a:bodyPr vert="horz" lIns="91440" tIns="45720" rIns="91440" bIns="46800" rtlCol="0" anchor="ctr">
            <a:normAutofit/>
          </a:bodyPr>
          <a:lstStyle>
            <a:lvl1pPr algn="ctr">
              <a:defRPr sz="1200">
                <a:solidFill>
                  <a:schemeClr val="tx1">
                    <a:tint val="75000"/>
                  </a:schemeClr>
                </a:solidFill>
                <a:latin typeface="微软雅黑" panose="020B0503020204020204" pitchFamily="34" charset="-122"/>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610600" y="6349833"/>
            <a:ext cx="2700000" cy="316800"/>
          </a:xfrm>
          <a:prstGeom prst="rect">
            <a:avLst/>
          </a:prstGeom>
        </p:spPr>
        <p:txBody>
          <a:bodyPr vert="horz" lIns="91440" tIns="45720" rIns="91440" bIns="46800" rtlCol="0" anchor="ctr">
            <a:normAutofit/>
          </a:bodyPr>
          <a:lstStyle>
            <a:lvl1pPr algn="r">
              <a:defRPr sz="1200">
                <a:solidFill>
                  <a:schemeClr val="tx1">
                    <a:tint val="75000"/>
                  </a:schemeClr>
                </a:solidFill>
                <a:latin typeface="微软雅黑" panose="020B0503020204020204" pitchFamily="34" charset="-122"/>
                <a:ea typeface="微软雅黑" panose="020B0503020204020204" pitchFamily="34" charset="-122"/>
              </a:defRPr>
            </a:lvl1pPr>
          </a:lstStyle>
          <a:p>
            <a:fld id="{49AE70B2-8BF9-45C0-BB95-33D1B9D3A854}" type="slidenum">
              <a:rPr lang="zh-CN" altLang="en-US" smtClean="0"/>
              <a:t>‹#›</a:t>
            </a:fld>
            <a:endParaRPr lang="zh-CN" altLang="en-US" dirty="0"/>
          </a:p>
        </p:txBody>
      </p:sp>
      <p:sp>
        <p:nvSpPr>
          <p:cNvPr id="7" name="KSO_TEMPLATE" hidden="1"/>
          <p:cNvSpPr/>
          <p:nvPr>
            <p:custDataLst>
              <p:tags r:id="rId19"/>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12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7.xml"/><Relationship Id="rId1" Type="http://schemas.openxmlformats.org/officeDocument/2006/relationships/tags" Target="../tags/tag77.xml"/></Relationships>
</file>

<file path=ppt/slides/_rels/slide2.xml.rels><?xml version="1.0" encoding="UTF-8" standalone="yes"?>
<Relationships xmlns="http://schemas.openxmlformats.org/package/2006/relationships"><Relationship Id="rId8" Type="http://schemas.openxmlformats.org/officeDocument/2006/relationships/image" Target="../media/image11.jpeg"/><Relationship Id="rId3" Type="http://schemas.openxmlformats.org/officeDocument/2006/relationships/slideLayout" Target="../slideLayouts/slideLayout12.xml"/><Relationship Id="rId7" Type="http://schemas.openxmlformats.org/officeDocument/2006/relationships/image" Target="../media/image10.png"/><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5.png"/><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image" Target="../media/image14.GIF"/><Relationship Id="rId5" Type="http://schemas.openxmlformats.org/officeDocument/2006/relationships/image" Target="../media/image13.jpeg"/><Relationship Id="rId4" Type="http://schemas.openxmlformats.org/officeDocument/2006/relationships/image" Target="../media/image12.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3.xml"/><Relationship Id="rId1" Type="http://schemas.openxmlformats.org/officeDocument/2006/relationships/tags" Target="../tags/tag82.xml"/><Relationship Id="rId4" Type="http://schemas.openxmlformats.org/officeDocument/2006/relationships/image" Target="../media/image16.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5.xml"/><Relationship Id="rId1" Type="http://schemas.openxmlformats.org/officeDocument/2006/relationships/tags" Target="../tags/tag84.xml"/><Relationship Id="rId4" Type="http://schemas.openxmlformats.org/officeDocument/2006/relationships/image" Target="../media/image12.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7.xml"/><Relationship Id="rId1" Type="http://schemas.openxmlformats.org/officeDocument/2006/relationships/tags" Target="../tags/tag86.xml"/><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9.xml"/><Relationship Id="rId1" Type="http://schemas.openxmlformats.org/officeDocument/2006/relationships/tags" Target="../tags/tag88.xml"/><Relationship Id="rId4" Type="http://schemas.openxmlformats.org/officeDocument/2006/relationships/image" Target="../media/image12.jpeg"/></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slideLayout" Target="../slideLayouts/slideLayout7.xml"/><Relationship Id="rId1" Type="http://schemas.openxmlformats.org/officeDocument/2006/relationships/tags" Target="../tags/tag90.xml"/></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slideLayout" Target="../slideLayouts/slideLayout7.xml"/><Relationship Id="rId7" Type="http://schemas.openxmlformats.org/officeDocument/2006/relationships/image" Target="../media/image18.png"/><Relationship Id="rId2" Type="http://schemas.openxmlformats.org/officeDocument/2006/relationships/tags" Target="../tags/tag92.xml"/><Relationship Id="rId1" Type="http://schemas.openxmlformats.org/officeDocument/2006/relationships/tags" Target="../tags/tag91.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slideLayout" Target="../slideLayouts/slideLayout7.xml"/><Relationship Id="rId7" Type="http://schemas.openxmlformats.org/officeDocument/2006/relationships/image" Target="../media/image20.png"/><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image" Target="../media/image14.GIF"/><Relationship Id="rId5" Type="http://schemas.openxmlformats.org/officeDocument/2006/relationships/image" Target="../media/image12.jpeg"/><Relationship Id="rId4"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image" Target="../media/image15.png"/><Relationship Id="rId5" Type="http://schemas.openxmlformats.org/officeDocument/2006/relationships/image" Target="../media/image12.jpeg"/><Relationship Id="rId4" Type="http://schemas.openxmlformats.org/officeDocument/2006/relationships/notesSlide" Target="../notesSlides/notesSlide3.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23.png"/><Relationship Id="rId2" Type="http://schemas.openxmlformats.org/officeDocument/2006/relationships/tags" Target="../tags/tag98.xml"/><Relationship Id="rId1" Type="http://schemas.openxmlformats.org/officeDocument/2006/relationships/tags" Target="../tags/tag97.xml"/><Relationship Id="rId6" Type="http://schemas.openxmlformats.org/officeDocument/2006/relationships/image" Target="../media/image22.png"/><Relationship Id="rId5" Type="http://schemas.openxmlformats.org/officeDocument/2006/relationships/image" Target="../media/image12.jpeg"/><Relationship Id="rId4" Type="http://schemas.openxmlformats.org/officeDocument/2006/relationships/notesSlide" Target="../notesSlides/notesSlide4.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00.xml"/><Relationship Id="rId1" Type="http://schemas.openxmlformats.org/officeDocument/2006/relationships/tags" Target="../tags/tag99.xml"/><Relationship Id="rId6" Type="http://schemas.openxmlformats.org/officeDocument/2006/relationships/image" Target="../media/image24.png"/><Relationship Id="rId5" Type="http://schemas.openxmlformats.org/officeDocument/2006/relationships/image" Target="../media/image12.jpeg"/><Relationship Id="rId4" Type="http://schemas.openxmlformats.org/officeDocument/2006/relationships/notesSlide" Target="../notesSlides/notesSlide5.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02.xml"/><Relationship Id="rId1" Type="http://schemas.openxmlformats.org/officeDocument/2006/relationships/tags" Target="../tags/tag101.xml"/><Relationship Id="rId6" Type="http://schemas.openxmlformats.org/officeDocument/2006/relationships/image" Target="../media/image25.png"/><Relationship Id="rId5" Type="http://schemas.openxmlformats.org/officeDocument/2006/relationships/image" Target="../media/image12.jpeg"/><Relationship Id="rId4" Type="http://schemas.openxmlformats.org/officeDocument/2006/relationships/notesSlide" Target="../notesSlides/notesSlide6.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04.xml"/><Relationship Id="rId1" Type="http://schemas.openxmlformats.org/officeDocument/2006/relationships/tags" Target="../tags/tag103.xml"/><Relationship Id="rId5" Type="http://schemas.openxmlformats.org/officeDocument/2006/relationships/image" Target="../media/image12.jpeg"/><Relationship Id="rId4" Type="http://schemas.openxmlformats.org/officeDocument/2006/relationships/notesSlide" Target="../notesSlides/notesSlide7.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slideLayout" Target="../slideLayouts/slideLayout7.xml"/><Relationship Id="rId1" Type="http://schemas.openxmlformats.org/officeDocument/2006/relationships/tags" Target="../tags/tag105.xml"/></Relationships>
</file>

<file path=ppt/slides/_rels/slide17.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slideLayout" Target="../slideLayouts/slideLayout7.xml"/><Relationship Id="rId7" Type="http://schemas.openxmlformats.org/officeDocument/2006/relationships/image" Target="../media/image27.png"/><Relationship Id="rId2" Type="http://schemas.openxmlformats.org/officeDocument/2006/relationships/tags" Target="../tags/tag107.xml"/><Relationship Id="rId1" Type="http://schemas.openxmlformats.org/officeDocument/2006/relationships/tags" Target="../tags/tag106.xml"/><Relationship Id="rId6" Type="http://schemas.openxmlformats.org/officeDocument/2006/relationships/image" Target="../media/image26.png"/><Relationship Id="rId5" Type="http://schemas.openxmlformats.org/officeDocument/2006/relationships/image" Target="../media/image12.jpeg"/><Relationship Id="rId4"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image" Target="../media/image26.png"/><Relationship Id="rId5" Type="http://schemas.openxmlformats.org/officeDocument/2006/relationships/image" Target="../media/image12.jpeg"/><Relationship Id="rId4"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110.xml"/><Relationship Id="rId4" Type="http://schemas.openxmlformats.org/officeDocument/2006/relationships/image" Target="../media/image17.jpe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12.xml"/><Relationship Id="rId1" Type="http://schemas.openxmlformats.org/officeDocument/2006/relationships/tags" Target="../tags/tag111.xml"/><Relationship Id="rId4"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14.xml"/><Relationship Id="rId1" Type="http://schemas.openxmlformats.org/officeDocument/2006/relationships/tags" Target="../tags/tag113.xml"/><Relationship Id="rId4"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16.xml"/><Relationship Id="rId1" Type="http://schemas.openxmlformats.org/officeDocument/2006/relationships/tags" Target="../tags/tag115.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notesSlide" Target="../notesSlides/notesSlide13.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18.xml"/><Relationship Id="rId1" Type="http://schemas.openxmlformats.org/officeDocument/2006/relationships/tags" Target="../tags/tag117.xml"/><Relationship Id="rId5" Type="http://schemas.openxmlformats.org/officeDocument/2006/relationships/image" Target="../media/image30.png"/><Relationship Id="rId4"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notesSlide" Target="../notesSlides/notesSlide15.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2.xml"/><Relationship Id="rId1" Type="http://schemas.openxmlformats.org/officeDocument/2006/relationships/tags" Target="../tags/tag121.xml"/><Relationship Id="rId5" Type="http://schemas.openxmlformats.org/officeDocument/2006/relationships/image" Target="../media/image34.png"/><Relationship Id="rId4"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4.xml"/><Relationship Id="rId1" Type="http://schemas.openxmlformats.org/officeDocument/2006/relationships/tags" Target="../tags/tag123.xml"/><Relationship Id="rId5" Type="http://schemas.openxmlformats.org/officeDocument/2006/relationships/image" Target="../media/image35.png"/><Relationship Id="rId4"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6.xml"/><Relationship Id="rId1" Type="http://schemas.openxmlformats.org/officeDocument/2006/relationships/tags" Target="../tags/tag125.xml"/><Relationship Id="rId4"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28.xml"/><Relationship Id="rId1" Type="http://schemas.openxmlformats.org/officeDocument/2006/relationships/tags" Target="../tags/tag127.xml"/><Relationship Id="rId4"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0.xml"/><Relationship Id="rId1" Type="http://schemas.openxmlformats.org/officeDocument/2006/relationships/tags" Target="../tags/tag129.xml"/><Relationship Id="rId5" Type="http://schemas.openxmlformats.org/officeDocument/2006/relationships/image" Target="../media/image36.png"/><Relationship Id="rId4"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2.xml"/><Relationship Id="rId1" Type="http://schemas.openxmlformats.org/officeDocument/2006/relationships/tags" Target="../tags/tag131.xml"/><Relationship Id="rId5" Type="http://schemas.openxmlformats.org/officeDocument/2006/relationships/image" Target="../media/image25.png"/><Relationship Id="rId4"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34.xml"/><Relationship Id="rId1" Type="http://schemas.openxmlformats.org/officeDocument/2006/relationships/tags" Target="../tags/tag133.xml"/><Relationship Id="rId4"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8" Type="http://schemas.openxmlformats.org/officeDocument/2006/relationships/package" Target="../embeddings/Microsoft_Word_Document.docx"/><Relationship Id="rId3" Type="http://schemas.openxmlformats.org/officeDocument/2006/relationships/tags" Target="../tags/tag136.xml"/><Relationship Id="rId7" Type="http://schemas.openxmlformats.org/officeDocument/2006/relationships/image" Target="../media/image39.png"/><Relationship Id="rId2" Type="http://schemas.openxmlformats.org/officeDocument/2006/relationships/tags" Target="../tags/tag135.xml"/><Relationship Id="rId1" Type="http://schemas.openxmlformats.org/officeDocument/2006/relationships/vmlDrawing" Target="../drawings/vmlDrawing1.vml"/><Relationship Id="rId6" Type="http://schemas.openxmlformats.org/officeDocument/2006/relationships/image" Target="../media/image38.png"/><Relationship Id="rId5" Type="http://schemas.openxmlformats.org/officeDocument/2006/relationships/notesSlide" Target="../notesSlides/notesSlide23.xml"/><Relationship Id="rId4" Type="http://schemas.openxmlformats.org/officeDocument/2006/relationships/slideLayout" Target="../slideLayouts/slideLayout7.xml"/><Relationship Id="rId9" Type="http://schemas.openxmlformats.org/officeDocument/2006/relationships/image" Target="../media/image37.emf"/></Relationships>
</file>

<file path=ppt/slides/_rels/slide33.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tags" Target="../tags/tag138.xml"/><Relationship Id="rId7" Type="http://schemas.openxmlformats.org/officeDocument/2006/relationships/image" Target="../media/image40.emf"/><Relationship Id="rId2" Type="http://schemas.openxmlformats.org/officeDocument/2006/relationships/tags" Target="../tags/tag137.xml"/><Relationship Id="rId1" Type="http://schemas.openxmlformats.org/officeDocument/2006/relationships/vmlDrawing" Target="../drawings/vmlDrawing2.vml"/><Relationship Id="rId6" Type="http://schemas.openxmlformats.org/officeDocument/2006/relationships/package" Target="../embeddings/Microsoft_Word_Document1.docx"/><Relationship Id="rId5" Type="http://schemas.openxmlformats.org/officeDocument/2006/relationships/notesSlide" Target="../notesSlides/notesSlide24.xml"/><Relationship Id="rId4"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tags" Target="../tags/tag140.xml"/><Relationship Id="rId7" Type="http://schemas.openxmlformats.org/officeDocument/2006/relationships/image" Target="../media/image41.emf"/><Relationship Id="rId2" Type="http://schemas.openxmlformats.org/officeDocument/2006/relationships/tags" Target="../tags/tag139.xml"/><Relationship Id="rId1" Type="http://schemas.openxmlformats.org/officeDocument/2006/relationships/vmlDrawing" Target="../drawings/vmlDrawing3.vml"/><Relationship Id="rId6" Type="http://schemas.openxmlformats.org/officeDocument/2006/relationships/oleObject" Target="../embeddings/oleObject1.bin"/><Relationship Id="rId5" Type="http://schemas.openxmlformats.org/officeDocument/2006/relationships/notesSlide" Target="../notesSlides/notesSlide25.xml"/><Relationship Id="rId10" Type="http://schemas.openxmlformats.org/officeDocument/2006/relationships/image" Target="../media/image42.emf"/><Relationship Id="rId4" Type="http://schemas.openxmlformats.org/officeDocument/2006/relationships/slideLayout" Target="../slideLayouts/slideLayout7.xml"/><Relationship Id="rId9" Type="http://schemas.openxmlformats.org/officeDocument/2006/relationships/package" Target="../embeddings/Microsoft_Word_Document2.docx"/></Relationships>
</file>

<file path=ppt/slides/_rels/slide35.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tags" Target="../tags/tag142.xml"/><Relationship Id="rId7" Type="http://schemas.openxmlformats.org/officeDocument/2006/relationships/image" Target="../media/image44.emf"/><Relationship Id="rId12" Type="http://schemas.openxmlformats.org/officeDocument/2006/relationships/image" Target="../media/image46.emf"/><Relationship Id="rId2" Type="http://schemas.openxmlformats.org/officeDocument/2006/relationships/tags" Target="../tags/tag141.xml"/><Relationship Id="rId1" Type="http://schemas.openxmlformats.org/officeDocument/2006/relationships/vmlDrawing" Target="../drawings/vmlDrawing4.vml"/><Relationship Id="rId6" Type="http://schemas.openxmlformats.org/officeDocument/2006/relationships/package" Target="../embeddings/Microsoft_Word_Document3.docx"/><Relationship Id="rId11" Type="http://schemas.openxmlformats.org/officeDocument/2006/relationships/package" Target="../embeddings/Microsoft_Word_Document5.docx"/><Relationship Id="rId5" Type="http://schemas.openxmlformats.org/officeDocument/2006/relationships/notesSlide" Target="../notesSlides/notesSlide26.xml"/><Relationship Id="rId10" Type="http://schemas.openxmlformats.org/officeDocument/2006/relationships/image" Target="../media/image45.emf"/><Relationship Id="rId4" Type="http://schemas.openxmlformats.org/officeDocument/2006/relationships/slideLayout" Target="../slideLayouts/slideLayout7.xml"/><Relationship Id="rId9" Type="http://schemas.openxmlformats.org/officeDocument/2006/relationships/package" Target="../embeddings/Microsoft_Word_Document4.docx"/></Relationships>
</file>

<file path=ppt/slides/_rels/slide36.xml.rels><?xml version="1.0" encoding="UTF-8" standalone="yes"?>
<Relationships xmlns="http://schemas.openxmlformats.org/package/2006/relationships"><Relationship Id="rId8" Type="http://schemas.openxmlformats.org/officeDocument/2006/relationships/package" Target="../embeddings/Microsoft_Word_Document6.docx"/><Relationship Id="rId3" Type="http://schemas.openxmlformats.org/officeDocument/2006/relationships/tags" Target="../tags/tag144.xml"/><Relationship Id="rId7" Type="http://schemas.openxmlformats.org/officeDocument/2006/relationships/image" Target="../media/image49.png"/><Relationship Id="rId2" Type="http://schemas.openxmlformats.org/officeDocument/2006/relationships/tags" Target="../tags/tag143.xml"/><Relationship Id="rId1" Type="http://schemas.openxmlformats.org/officeDocument/2006/relationships/vmlDrawing" Target="../drawings/vmlDrawing5.vml"/><Relationship Id="rId6" Type="http://schemas.openxmlformats.org/officeDocument/2006/relationships/image" Target="../media/image43.png"/><Relationship Id="rId5" Type="http://schemas.openxmlformats.org/officeDocument/2006/relationships/notesSlide" Target="../notesSlides/notesSlide27.xml"/><Relationship Id="rId4" Type="http://schemas.openxmlformats.org/officeDocument/2006/relationships/slideLayout" Target="../slideLayouts/slideLayout7.xml"/><Relationship Id="rId9" Type="http://schemas.openxmlformats.org/officeDocument/2006/relationships/image" Target="../media/image48.emf"/></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39.png"/><Relationship Id="rId2" Type="http://schemas.openxmlformats.org/officeDocument/2006/relationships/tags" Target="../tags/tag146.xml"/><Relationship Id="rId1" Type="http://schemas.openxmlformats.org/officeDocument/2006/relationships/tags" Target="../tags/tag145.xml"/><Relationship Id="rId6" Type="http://schemas.openxmlformats.org/officeDocument/2006/relationships/image" Target="../media/image49.png"/><Relationship Id="rId5" Type="http://schemas.openxmlformats.org/officeDocument/2006/relationships/image" Target="../media/image50.png"/><Relationship Id="rId4"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48.xml"/><Relationship Id="rId1" Type="http://schemas.openxmlformats.org/officeDocument/2006/relationships/tags" Target="../tags/tag147.xml"/><Relationship Id="rId4" Type="http://schemas.openxmlformats.org/officeDocument/2006/relationships/notesSlide" Target="../notesSlides/notesSlide29.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50.xml"/><Relationship Id="rId1" Type="http://schemas.openxmlformats.org/officeDocument/2006/relationships/tags" Target="../tags/tag149.xml"/><Relationship Id="rId5" Type="http://schemas.openxmlformats.org/officeDocument/2006/relationships/image" Target="../media/image51.png"/><Relationship Id="rId4" Type="http://schemas.openxmlformats.org/officeDocument/2006/relationships/notesSlide" Target="../notesSlides/notesSlide30.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52.xml"/><Relationship Id="rId1" Type="http://schemas.openxmlformats.org/officeDocument/2006/relationships/tags" Target="../tags/tag151.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notesSlide" Target="../notesSlides/notesSlide31.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54.xml"/><Relationship Id="rId1" Type="http://schemas.openxmlformats.org/officeDocument/2006/relationships/tags" Target="../tags/tag153.xml"/><Relationship Id="rId5" Type="http://schemas.openxmlformats.org/officeDocument/2006/relationships/image" Target="../media/image54.png"/><Relationship Id="rId4" Type="http://schemas.openxmlformats.org/officeDocument/2006/relationships/notesSlide" Target="../notesSlides/notesSlide32.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56.xml"/><Relationship Id="rId1" Type="http://schemas.openxmlformats.org/officeDocument/2006/relationships/tags" Target="../tags/tag155.xml"/><Relationship Id="rId4" Type="http://schemas.openxmlformats.org/officeDocument/2006/relationships/notesSlide" Target="../notesSlides/notesSlide33.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58.xml"/><Relationship Id="rId1" Type="http://schemas.openxmlformats.org/officeDocument/2006/relationships/tags" Target="../tags/tag157.xml"/><Relationship Id="rId4" Type="http://schemas.openxmlformats.org/officeDocument/2006/relationships/notesSlide" Target="../notesSlides/notesSlide34.xml"/></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60.xml"/><Relationship Id="rId1" Type="http://schemas.openxmlformats.org/officeDocument/2006/relationships/tags" Target="../tags/tag159.xml"/><Relationship Id="rId5" Type="http://schemas.openxmlformats.org/officeDocument/2006/relationships/image" Target="../media/image55.png"/><Relationship Id="rId4" Type="http://schemas.openxmlformats.org/officeDocument/2006/relationships/notesSlide" Target="../notesSlides/notesSlide35.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62.xml"/><Relationship Id="rId1" Type="http://schemas.openxmlformats.org/officeDocument/2006/relationships/tags" Target="../tags/tag161.xml"/><Relationship Id="rId5" Type="http://schemas.openxmlformats.org/officeDocument/2006/relationships/image" Target="../media/image55.png"/><Relationship Id="rId4" Type="http://schemas.openxmlformats.org/officeDocument/2006/relationships/notesSlide" Target="../notesSlides/notesSlide36.xml"/></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64.xml"/><Relationship Id="rId1" Type="http://schemas.openxmlformats.org/officeDocument/2006/relationships/tags" Target="../tags/tag163.xml"/><Relationship Id="rId5" Type="http://schemas.openxmlformats.org/officeDocument/2006/relationships/image" Target="../media/image56.png"/><Relationship Id="rId4" Type="http://schemas.openxmlformats.org/officeDocument/2006/relationships/notesSlide" Target="../notesSlides/notesSlide37.xml"/></Relationships>
</file>

<file path=ppt/slides/_rels/slide47.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slideLayout" Target="../slideLayouts/slideLayout7.xml"/><Relationship Id="rId7" Type="http://schemas.openxmlformats.org/officeDocument/2006/relationships/image" Target="../media/image59.png"/><Relationship Id="rId2" Type="http://schemas.openxmlformats.org/officeDocument/2006/relationships/tags" Target="../tags/tag166.xml"/><Relationship Id="rId1" Type="http://schemas.openxmlformats.org/officeDocument/2006/relationships/tags" Target="../tags/tag165.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notesSlide" Target="../notesSlides/notesSlide38.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68.xml"/><Relationship Id="rId1" Type="http://schemas.openxmlformats.org/officeDocument/2006/relationships/tags" Target="../tags/tag167.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notesSlide" Target="../notesSlides/notesSlide39.xml"/></Relationships>
</file>

<file path=ppt/slides/_rels/slide49.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slideLayout" Target="../slideLayouts/slideLayout7.xml"/><Relationship Id="rId7" Type="http://schemas.openxmlformats.org/officeDocument/2006/relationships/image" Target="../media/image65.png"/><Relationship Id="rId2" Type="http://schemas.openxmlformats.org/officeDocument/2006/relationships/tags" Target="../tags/tag170.xml"/><Relationship Id="rId1" Type="http://schemas.openxmlformats.org/officeDocument/2006/relationships/tags" Target="../tags/tag169.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notesSlide" Target="../notesSlides/notesSlide40.xml"/><Relationship Id="rId9" Type="http://schemas.openxmlformats.org/officeDocument/2006/relationships/image" Target="../media/image67.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70.png"/><Relationship Id="rId2" Type="http://schemas.openxmlformats.org/officeDocument/2006/relationships/tags" Target="../tags/tag172.xml"/><Relationship Id="rId1" Type="http://schemas.openxmlformats.org/officeDocument/2006/relationships/tags" Target="../tags/tag171.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notesSlide" Target="../notesSlides/notesSlide41.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74.xml"/><Relationship Id="rId1" Type="http://schemas.openxmlformats.org/officeDocument/2006/relationships/tags" Target="../tags/tag173.xml"/><Relationship Id="rId4" Type="http://schemas.openxmlformats.org/officeDocument/2006/relationships/notesSlide" Target="../notesSlides/notesSlide42.xml"/></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76.xml"/><Relationship Id="rId1" Type="http://schemas.openxmlformats.org/officeDocument/2006/relationships/tags" Target="../tags/tag175.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notesSlide" Target="../notesSlides/notesSlide43.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78.xml"/><Relationship Id="rId1" Type="http://schemas.openxmlformats.org/officeDocument/2006/relationships/tags" Target="../tags/tag177.xml"/><Relationship Id="rId4" Type="http://schemas.openxmlformats.org/officeDocument/2006/relationships/notesSlide" Target="../notesSlides/notesSlide44.xml"/></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80.xml"/><Relationship Id="rId1" Type="http://schemas.openxmlformats.org/officeDocument/2006/relationships/tags" Target="../tags/tag179.xml"/><Relationship Id="rId4" Type="http://schemas.openxmlformats.org/officeDocument/2006/relationships/notesSlide" Target="../notesSlides/notesSlide45.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82.xml"/><Relationship Id="rId1" Type="http://schemas.openxmlformats.org/officeDocument/2006/relationships/tags" Target="../tags/tag181.xml"/><Relationship Id="rId4" Type="http://schemas.openxmlformats.org/officeDocument/2006/relationships/notesSlide" Target="../notesSlides/notesSlide46.xm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84.xml"/><Relationship Id="rId1" Type="http://schemas.openxmlformats.org/officeDocument/2006/relationships/tags" Target="../tags/tag183.xml"/><Relationship Id="rId4" Type="http://schemas.openxmlformats.org/officeDocument/2006/relationships/notesSlide" Target="../notesSlides/notesSlide47.xml"/></Relationships>
</file>

<file path=ppt/slides/_rels/slide5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slideLayout" Target="../slideLayouts/slideLayout7.xml"/><Relationship Id="rId1" Type="http://schemas.openxmlformats.org/officeDocument/2006/relationships/tags" Target="../tags/tag185.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87.xml"/><Relationship Id="rId1" Type="http://schemas.openxmlformats.org/officeDocument/2006/relationships/tags" Target="../tags/tag186.xml"/><Relationship Id="rId6" Type="http://schemas.openxmlformats.org/officeDocument/2006/relationships/image" Target="../media/image71.png"/><Relationship Id="rId5" Type="http://schemas.openxmlformats.org/officeDocument/2006/relationships/image" Target="../media/image12.jpeg"/><Relationship Id="rId4" Type="http://schemas.openxmlformats.org/officeDocument/2006/relationships/notesSlide" Target="../notesSlides/notesSlide48.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73.png"/><Relationship Id="rId2" Type="http://schemas.openxmlformats.org/officeDocument/2006/relationships/tags" Target="../tags/tag189.xml"/><Relationship Id="rId1" Type="http://schemas.openxmlformats.org/officeDocument/2006/relationships/tags" Target="../tags/tag188.xml"/><Relationship Id="rId6" Type="http://schemas.openxmlformats.org/officeDocument/2006/relationships/image" Target="../media/image72.png"/><Relationship Id="rId5" Type="http://schemas.openxmlformats.org/officeDocument/2006/relationships/image" Target="../media/image12.jpeg"/><Relationship Id="rId4" Type="http://schemas.openxmlformats.org/officeDocument/2006/relationships/notesSlide" Target="../notesSlides/notesSlide49.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91.xml"/><Relationship Id="rId1" Type="http://schemas.openxmlformats.org/officeDocument/2006/relationships/tags" Target="../tags/tag190.xml"/><Relationship Id="rId6" Type="http://schemas.openxmlformats.org/officeDocument/2006/relationships/image" Target="../media/image74.png"/><Relationship Id="rId5" Type="http://schemas.openxmlformats.org/officeDocument/2006/relationships/image" Target="../media/image12.jpeg"/><Relationship Id="rId4" Type="http://schemas.openxmlformats.org/officeDocument/2006/relationships/notesSlide" Target="../notesSlides/notesSlide50.xml"/></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75.png"/><Relationship Id="rId2" Type="http://schemas.openxmlformats.org/officeDocument/2006/relationships/tags" Target="../tags/tag193.xml"/><Relationship Id="rId1" Type="http://schemas.openxmlformats.org/officeDocument/2006/relationships/tags" Target="../tags/tag192.xml"/><Relationship Id="rId6" Type="http://schemas.openxmlformats.org/officeDocument/2006/relationships/image" Target="../media/image74.png"/><Relationship Id="rId5" Type="http://schemas.openxmlformats.org/officeDocument/2006/relationships/image" Target="../media/image12.jpeg"/><Relationship Id="rId4" Type="http://schemas.openxmlformats.org/officeDocument/2006/relationships/notesSlide" Target="../notesSlides/notesSlide51.xml"/></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77.png"/><Relationship Id="rId2" Type="http://schemas.openxmlformats.org/officeDocument/2006/relationships/tags" Target="../tags/tag195.xml"/><Relationship Id="rId1" Type="http://schemas.openxmlformats.org/officeDocument/2006/relationships/tags" Target="../tags/tag194.xml"/><Relationship Id="rId6" Type="http://schemas.openxmlformats.org/officeDocument/2006/relationships/image" Target="../media/image76.png"/><Relationship Id="rId5" Type="http://schemas.openxmlformats.org/officeDocument/2006/relationships/image" Target="../media/image12.jpeg"/><Relationship Id="rId4" Type="http://schemas.openxmlformats.org/officeDocument/2006/relationships/notesSlide" Target="../notesSlides/notesSlide52.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7.xml"/><Relationship Id="rId1" Type="http://schemas.openxmlformats.org/officeDocument/2006/relationships/tags" Target="../tags/tag196.xml"/><Relationship Id="rId4" Type="http://schemas.openxmlformats.org/officeDocument/2006/relationships/image" Target="../media/image17.jpe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98.xml"/><Relationship Id="rId1" Type="http://schemas.openxmlformats.org/officeDocument/2006/relationships/tags" Target="../tags/tag197.xml"/><Relationship Id="rId6" Type="http://schemas.openxmlformats.org/officeDocument/2006/relationships/image" Target="../media/image78.png"/><Relationship Id="rId5" Type="http://schemas.openxmlformats.org/officeDocument/2006/relationships/image" Target="../media/image12.jpeg"/><Relationship Id="rId4" Type="http://schemas.openxmlformats.org/officeDocument/2006/relationships/notesSlide" Target="../notesSlides/notesSlide54.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00.xml"/><Relationship Id="rId1" Type="http://schemas.openxmlformats.org/officeDocument/2006/relationships/tags" Target="../tags/tag199.xml"/><Relationship Id="rId6" Type="http://schemas.openxmlformats.org/officeDocument/2006/relationships/image" Target="../media/image79.png"/><Relationship Id="rId5" Type="http://schemas.openxmlformats.org/officeDocument/2006/relationships/image" Target="../media/image12.jpeg"/><Relationship Id="rId4" Type="http://schemas.openxmlformats.org/officeDocument/2006/relationships/notesSlide" Target="../notesSlides/notesSlide55.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02.xml"/><Relationship Id="rId1" Type="http://schemas.openxmlformats.org/officeDocument/2006/relationships/tags" Target="../tags/tag201.xml"/><Relationship Id="rId6" Type="http://schemas.openxmlformats.org/officeDocument/2006/relationships/image" Target="../media/image78.png"/><Relationship Id="rId5" Type="http://schemas.openxmlformats.org/officeDocument/2006/relationships/image" Target="../media/image12.jpeg"/><Relationship Id="rId4" Type="http://schemas.openxmlformats.org/officeDocument/2006/relationships/notesSlide" Target="../notesSlides/notesSlide56.xml"/></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image" Target="../media/image80.png"/><Relationship Id="rId5" Type="http://schemas.openxmlformats.org/officeDocument/2006/relationships/image" Target="../media/image12.jpeg"/><Relationship Id="rId4" Type="http://schemas.openxmlformats.org/officeDocument/2006/relationships/notesSlide" Target="../notesSlides/notesSlide57.xml"/></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06.xml"/><Relationship Id="rId1" Type="http://schemas.openxmlformats.org/officeDocument/2006/relationships/tags" Target="../tags/tag205.xml"/><Relationship Id="rId6" Type="http://schemas.openxmlformats.org/officeDocument/2006/relationships/image" Target="../media/image81.png"/><Relationship Id="rId5" Type="http://schemas.openxmlformats.org/officeDocument/2006/relationships/image" Target="../media/image12.jpeg"/><Relationship Id="rId4" Type="http://schemas.openxmlformats.org/officeDocument/2006/relationships/notesSlide" Target="../notesSlides/notesSlide58.xml"/></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08.xml"/><Relationship Id="rId1" Type="http://schemas.openxmlformats.org/officeDocument/2006/relationships/tags" Target="../tags/tag207.xml"/><Relationship Id="rId6" Type="http://schemas.openxmlformats.org/officeDocument/2006/relationships/image" Target="../media/image82.png"/><Relationship Id="rId5" Type="http://schemas.openxmlformats.org/officeDocument/2006/relationships/image" Target="../media/image12.jpeg"/><Relationship Id="rId4" Type="http://schemas.openxmlformats.org/officeDocument/2006/relationships/notesSlide" Target="../notesSlides/notesSlide59.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10.xml"/><Relationship Id="rId1" Type="http://schemas.openxmlformats.org/officeDocument/2006/relationships/tags" Target="../tags/tag209.xml"/><Relationship Id="rId6" Type="http://schemas.openxmlformats.org/officeDocument/2006/relationships/image" Target="../media/image83.png"/><Relationship Id="rId5" Type="http://schemas.openxmlformats.org/officeDocument/2006/relationships/image" Target="../media/image12.jpeg"/><Relationship Id="rId4" Type="http://schemas.openxmlformats.org/officeDocument/2006/relationships/notesSlide" Target="../notesSlides/notesSlide60.xml"/></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12.xml"/><Relationship Id="rId1" Type="http://schemas.openxmlformats.org/officeDocument/2006/relationships/tags" Target="../tags/tag211.xml"/><Relationship Id="rId6" Type="http://schemas.openxmlformats.org/officeDocument/2006/relationships/image" Target="../media/image84.png"/><Relationship Id="rId5" Type="http://schemas.openxmlformats.org/officeDocument/2006/relationships/image" Target="../media/image12.jpeg"/><Relationship Id="rId4" Type="http://schemas.openxmlformats.org/officeDocument/2006/relationships/notesSlide" Target="../notesSlides/notesSlide61.xm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7.xml"/><Relationship Id="rId1" Type="http://schemas.openxmlformats.org/officeDocument/2006/relationships/tags" Target="../tags/tag213.xml"/><Relationship Id="rId4" Type="http://schemas.openxmlformats.org/officeDocument/2006/relationships/image" Target="../media/image17.jpeg"/></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15.xml"/><Relationship Id="rId1" Type="http://schemas.openxmlformats.org/officeDocument/2006/relationships/tags" Target="../tags/tag214.xml"/><Relationship Id="rId6" Type="http://schemas.openxmlformats.org/officeDocument/2006/relationships/image" Target="../media/image85.png"/><Relationship Id="rId5" Type="http://schemas.openxmlformats.org/officeDocument/2006/relationships/image" Target="../media/image12.jpeg"/><Relationship Id="rId4" Type="http://schemas.openxmlformats.org/officeDocument/2006/relationships/notesSlide" Target="../notesSlides/notesSlide63.xml"/></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17.xml"/><Relationship Id="rId1" Type="http://schemas.openxmlformats.org/officeDocument/2006/relationships/tags" Target="../tags/tag216.xml"/><Relationship Id="rId6" Type="http://schemas.openxmlformats.org/officeDocument/2006/relationships/image" Target="../media/image86.png"/><Relationship Id="rId5" Type="http://schemas.openxmlformats.org/officeDocument/2006/relationships/image" Target="../media/image12.jpeg"/><Relationship Id="rId4" Type="http://schemas.openxmlformats.org/officeDocument/2006/relationships/notesSlide" Target="../notesSlides/notesSlide64.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7.xml"/><Relationship Id="rId1" Type="http://schemas.openxmlformats.org/officeDocument/2006/relationships/tags" Target="../tags/tag218.xml"/><Relationship Id="rId4" Type="http://schemas.openxmlformats.org/officeDocument/2006/relationships/image" Target="../media/image17.jpeg"/></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20.xml"/><Relationship Id="rId1" Type="http://schemas.openxmlformats.org/officeDocument/2006/relationships/tags" Target="../tags/tag219.xml"/><Relationship Id="rId5" Type="http://schemas.openxmlformats.org/officeDocument/2006/relationships/image" Target="../media/image12.jpeg"/><Relationship Id="rId4" Type="http://schemas.openxmlformats.org/officeDocument/2006/relationships/notesSlide" Target="../notesSlides/notesSlide6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65000"/>
            <a:lum/>
          </a:blip>
          <a:srcRect/>
          <a:stretch>
            <a:fillRect/>
          </a:stretch>
        </a:blipFill>
        <a:effectLst/>
      </p:bgPr>
    </p:bg>
    <p:spTree>
      <p:nvGrpSpPr>
        <p:cNvPr id="1" name=""/>
        <p:cNvGrpSpPr/>
        <p:nvPr/>
      </p:nvGrpSpPr>
      <p:grpSpPr>
        <a:xfrm>
          <a:off x="0" y="0"/>
          <a:ext cx="0" cy="0"/>
          <a:chOff x="0" y="0"/>
          <a:chExt cx="0" cy="0"/>
        </a:xfrm>
      </p:grpSpPr>
      <p:sp>
        <p:nvSpPr>
          <p:cNvPr id="3" name="文本框 2"/>
          <p:cNvSpPr txBox="1"/>
          <p:nvPr/>
        </p:nvSpPr>
        <p:spPr>
          <a:xfrm>
            <a:off x="110002" y="2152037"/>
            <a:ext cx="11971995" cy="1200329"/>
          </a:xfrm>
          <a:prstGeom prst="rect">
            <a:avLst/>
          </a:prstGeom>
          <a:noFill/>
        </p:spPr>
        <p:txBody>
          <a:bodyPr wrap="square" rtlCol="0">
            <a:spAutoFit/>
          </a:bodyPr>
          <a:lstStyle/>
          <a:p>
            <a:pPr algn="ctr"/>
            <a:r>
              <a:rPr lang="en-US" altLang="zh-CN" sz="3600" b="1" dirty="0"/>
              <a:t>RT-Fall: A Real-Time and Contactless </a:t>
            </a:r>
          </a:p>
          <a:p>
            <a:pPr algn="ctr"/>
            <a:r>
              <a:rPr lang="en-US" altLang="zh-CN" sz="3600" b="1" dirty="0"/>
              <a:t>Fall Detection System with Commodity </a:t>
            </a:r>
            <a:r>
              <a:rPr lang="en-US" altLang="zh-CN" sz="3600" b="1" dirty="0" err="1"/>
              <a:t>WiFi</a:t>
            </a:r>
            <a:r>
              <a:rPr lang="en-US" altLang="zh-CN" sz="3600" b="1" dirty="0"/>
              <a:t> Devices</a:t>
            </a:r>
            <a:endParaRPr lang="zh-CN" altLang="en-US" sz="3600" b="1" dirty="0">
              <a:ln>
                <a:noFill/>
              </a:ln>
              <a:solidFill>
                <a:srgbClr val="775480"/>
              </a:solidFill>
              <a:effectLst/>
              <a:latin typeface="微软雅黑 Light" panose="020B0502040204020203" charset="-122"/>
              <a:ea typeface="微软雅黑 Light" panose="020B0502040204020203" charset="-122"/>
            </a:endParaRPr>
          </a:p>
        </p:txBody>
      </p:sp>
      <p:sp>
        <p:nvSpPr>
          <p:cNvPr id="6" name="斜纹 5"/>
          <p:cNvSpPr/>
          <p:nvPr/>
        </p:nvSpPr>
        <p:spPr>
          <a:xfrm rot="10800000">
            <a:off x="296545" y="4958715"/>
            <a:ext cx="2995930" cy="1899285"/>
          </a:xfrm>
          <a:prstGeom prst="diagStripe">
            <a:avLst>
              <a:gd name="adj" fmla="val 82113"/>
            </a:avLst>
          </a:prstGeom>
          <a:gradFill>
            <a:gsLst>
              <a:gs pos="0">
                <a:schemeClr val="accent1">
                  <a:lumMod val="5000"/>
                  <a:lumOff val="95000"/>
                </a:schemeClr>
              </a:gs>
              <a:gs pos="0">
                <a:srgbClr val="BA9FC0"/>
              </a:gs>
              <a:gs pos="83000">
                <a:srgbClr val="EBC6FF"/>
              </a:gs>
              <a:gs pos="100000">
                <a:srgbClr val="BA9FC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 name="斜纹 11"/>
          <p:cNvSpPr/>
          <p:nvPr/>
        </p:nvSpPr>
        <p:spPr>
          <a:xfrm>
            <a:off x="0" y="4958715"/>
            <a:ext cx="2995930" cy="1899285"/>
          </a:xfrm>
          <a:prstGeom prst="diagStripe">
            <a:avLst>
              <a:gd name="adj" fmla="val 82113"/>
            </a:avLst>
          </a:prstGeom>
          <a:gradFill>
            <a:gsLst>
              <a:gs pos="0">
                <a:schemeClr val="accent1">
                  <a:lumMod val="5000"/>
                  <a:lumOff val="95000"/>
                </a:schemeClr>
              </a:gs>
              <a:gs pos="0">
                <a:srgbClr val="BA9FC0"/>
              </a:gs>
              <a:gs pos="83000">
                <a:srgbClr val="EBC6FF"/>
              </a:gs>
              <a:gs pos="100000">
                <a:srgbClr val="BA9FC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4" name="组合 3"/>
          <p:cNvGrpSpPr/>
          <p:nvPr/>
        </p:nvGrpSpPr>
        <p:grpSpPr>
          <a:xfrm>
            <a:off x="8886825" y="0"/>
            <a:ext cx="3305175" cy="1898650"/>
            <a:chOff x="13995" y="0"/>
            <a:chExt cx="5205" cy="2990"/>
          </a:xfrm>
        </p:grpSpPr>
        <p:sp>
          <p:nvSpPr>
            <p:cNvPr id="13" name="斜纹 12"/>
            <p:cNvSpPr/>
            <p:nvPr/>
          </p:nvSpPr>
          <p:spPr>
            <a:xfrm>
              <a:off x="13995" y="0"/>
              <a:ext cx="4718" cy="2991"/>
            </a:xfrm>
            <a:prstGeom prst="diagStripe">
              <a:avLst>
                <a:gd name="adj" fmla="val 82113"/>
              </a:avLst>
            </a:prstGeom>
            <a:gradFill>
              <a:gsLst>
                <a:gs pos="0">
                  <a:schemeClr val="accent1">
                    <a:lumMod val="5000"/>
                    <a:lumOff val="95000"/>
                  </a:schemeClr>
                </a:gs>
                <a:gs pos="0">
                  <a:srgbClr val="BA9FC0"/>
                </a:gs>
                <a:gs pos="0">
                  <a:srgbClr val="EBC6FF"/>
                </a:gs>
                <a:gs pos="100000">
                  <a:srgbClr val="BA9FC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斜纹 13"/>
            <p:cNvSpPr/>
            <p:nvPr/>
          </p:nvSpPr>
          <p:spPr>
            <a:xfrm rot="10800000">
              <a:off x="14482" y="0"/>
              <a:ext cx="4718" cy="2991"/>
            </a:xfrm>
            <a:prstGeom prst="diagStripe">
              <a:avLst>
                <a:gd name="adj" fmla="val 82113"/>
              </a:avLst>
            </a:prstGeom>
            <a:gradFill>
              <a:gsLst>
                <a:gs pos="0">
                  <a:schemeClr val="accent1">
                    <a:lumMod val="5000"/>
                    <a:lumOff val="95000"/>
                  </a:schemeClr>
                </a:gs>
                <a:gs pos="0">
                  <a:srgbClr val="BA9FC0"/>
                </a:gs>
                <a:gs pos="0">
                  <a:srgbClr val="EBC6FF"/>
                </a:gs>
                <a:gs pos="100000">
                  <a:srgbClr val="BA9FC0"/>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sp>
        <p:nvSpPr>
          <p:cNvPr id="16" name="文本框 15"/>
          <p:cNvSpPr txBox="1"/>
          <p:nvPr/>
        </p:nvSpPr>
        <p:spPr>
          <a:xfrm>
            <a:off x="4065534" y="3705443"/>
            <a:ext cx="3688830" cy="584775"/>
          </a:xfrm>
          <a:prstGeom prst="rect">
            <a:avLst/>
          </a:prstGeom>
          <a:noFill/>
        </p:spPr>
        <p:txBody>
          <a:bodyPr wrap="none" rtlCol="0">
            <a:spAutoFit/>
          </a:bodyPr>
          <a:lstStyle/>
          <a:p>
            <a:pPr algn="ctr"/>
            <a:r>
              <a:rPr lang="zh-CN" altLang="en-US" sz="3200" b="1" dirty="0">
                <a:latin typeface="微软雅黑 Light" panose="020B0502040204020203" charset="-122"/>
                <a:ea typeface="微软雅黑 Light" panose="020B0502040204020203" charset="-122"/>
                <a:cs typeface="微软雅黑 Light" panose="020B0502040204020203" charset="-122"/>
              </a:rPr>
              <a:t>王培鸿 </a:t>
            </a:r>
            <a:r>
              <a:rPr lang="en-US" altLang="zh-CN" sz="3200" b="1" dirty="0">
                <a:latin typeface="微软雅黑 Light" panose="020B0502040204020203" charset="-122"/>
                <a:ea typeface="微软雅黑 Light" panose="020B0502040204020203" charset="-122"/>
                <a:cs typeface="微软雅黑 Light" panose="020B0502040204020203" charset="-122"/>
              </a:rPr>
              <a:t>2022152021</a:t>
            </a:r>
          </a:p>
        </p:txBody>
      </p:sp>
      <p:grpSp>
        <p:nvGrpSpPr>
          <p:cNvPr id="11" name="组合 10"/>
          <p:cNvGrpSpPr/>
          <p:nvPr/>
        </p:nvGrpSpPr>
        <p:grpSpPr>
          <a:xfrm>
            <a:off x="205946" y="193738"/>
            <a:ext cx="2096408" cy="605580"/>
            <a:chOff x="3854450" y="4787900"/>
            <a:chExt cx="4462463" cy="1289050"/>
          </a:xfrm>
          <a:solidFill>
            <a:srgbClr val="694B71"/>
          </a:solidFill>
        </p:grpSpPr>
        <p:sp>
          <p:nvSpPr>
            <p:cNvPr id="17" name="Freeform 5"/>
            <p:cNvSpPr/>
            <p:nvPr/>
          </p:nvSpPr>
          <p:spPr bwMode="auto">
            <a:xfrm>
              <a:off x="7772400" y="5827713"/>
              <a:ext cx="112713" cy="158750"/>
            </a:xfrm>
            <a:custGeom>
              <a:avLst/>
              <a:gdLst>
                <a:gd name="T0" fmla="*/ 0 w 20"/>
                <a:gd name="T1" fmla="*/ 16 h 28"/>
                <a:gd name="T2" fmla="*/ 0 w 20"/>
                <a:gd name="T3" fmla="*/ 16 h 28"/>
                <a:gd name="T4" fmla="*/ 1 w 20"/>
                <a:gd name="T5" fmla="*/ 17 h 28"/>
                <a:gd name="T6" fmla="*/ 10 w 20"/>
                <a:gd name="T7" fmla="*/ 27 h 28"/>
                <a:gd name="T8" fmla="*/ 16 w 20"/>
                <a:gd name="T9" fmla="*/ 22 h 28"/>
                <a:gd name="T10" fmla="*/ 0 w 20"/>
                <a:gd name="T11" fmla="*/ 8 h 28"/>
                <a:gd name="T12" fmla="*/ 9 w 20"/>
                <a:gd name="T13" fmla="*/ 0 h 28"/>
                <a:gd name="T14" fmla="*/ 16 w 20"/>
                <a:gd name="T15" fmla="*/ 2 h 28"/>
                <a:gd name="T16" fmla="*/ 17 w 20"/>
                <a:gd name="T17" fmla="*/ 1 h 28"/>
                <a:gd name="T18" fmla="*/ 18 w 20"/>
                <a:gd name="T19" fmla="*/ 2 h 28"/>
                <a:gd name="T20" fmla="*/ 18 w 20"/>
                <a:gd name="T21" fmla="*/ 9 h 28"/>
                <a:gd name="T22" fmla="*/ 18 w 20"/>
                <a:gd name="T23" fmla="*/ 10 h 28"/>
                <a:gd name="T24" fmla="*/ 18 w 20"/>
                <a:gd name="T25" fmla="*/ 11 h 28"/>
                <a:gd name="T26" fmla="*/ 17 w 20"/>
                <a:gd name="T27" fmla="*/ 8 h 28"/>
                <a:gd name="T28" fmla="*/ 9 w 20"/>
                <a:gd name="T29" fmla="*/ 2 h 28"/>
                <a:gd name="T30" fmla="*/ 4 w 20"/>
                <a:gd name="T31" fmla="*/ 6 h 28"/>
                <a:gd name="T32" fmla="*/ 20 w 20"/>
                <a:gd name="T33" fmla="*/ 19 h 28"/>
                <a:gd name="T34" fmla="*/ 9 w 20"/>
                <a:gd name="T35" fmla="*/ 28 h 28"/>
                <a:gd name="T36" fmla="*/ 2 w 20"/>
                <a:gd name="T37" fmla="*/ 26 h 28"/>
                <a:gd name="T38" fmla="*/ 0 w 20"/>
                <a:gd name="T39" fmla="*/ 28 h 28"/>
                <a:gd name="T40" fmla="*/ 0 w 20"/>
                <a:gd name="T41" fmla="*/ 27 h 28"/>
                <a:gd name="T42" fmla="*/ 0 w 20"/>
                <a:gd name="T43"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 h="28">
                  <a:moveTo>
                    <a:pt x="0" y="16"/>
                  </a:moveTo>
                  <a:cubicBezTo>
                    <a:pt x="0" y="16"/>
                    <a:pt x="0" y="16"/>
                    <a:pt x="0" y="16"/>
                  </a:cubicBezTo>
                  <a:cubicBezTo>
                    <a:pt x="1" y="16"/>
                    <a:pt x="1" y="16"/>
                    <a:pt x="1" y="17"/>
                  </a:cubicBezTo>
                  <a:cubicBezTo>
                    <a:pt x="2" y="22"/>
                    <a:pt x="4" y="27"/>
                    <a:pt x="10" y="27"/>
                  </a:cubicBezTo>
                  <a:cubicBezTo>
                    <a:pt x="13" y="27"/>
                    <a:pt x="16" y="25"/>
                    <a:pt x="16" y="22"/>
                  </a:cubicBezTo>
                  <a:cubicBezTo>
                    <a:pt x="16" y="14"/>
                    <a:pt x="0" y="18"/>
                    <a:pt x="0" y="8"/>
                  </a:cubicBezTo>
                  <a:cubicBezTo>
                    <a:pt x="0" y="4"/>
                    <a:pt x="4" y="0"/>
                    <a:pt x="9" y="0"/>
                  </a:cubicBezTo>
                  <a:cubicBezTo>
                    <a:pt x="13" y="0"/>
                    <a:pt x="15" y="2"/>
                    <a:pt x="16" y="2"/>
                  </a:cubicBezTo>
                  <a:cubicBezTo>
                    <a:pt x="17" y="2"/>
                    <a:pt x="16" y="1"/>
                    <a:pt x="17" y="1"/>
                  </a:cubicBezTo>
                  <a:cubicBezTo>
                    <a:pt x="17" y="1"/>
                    <a:pt x="18" y="1"/>
                    <a:pt x="18" y="2"/>
                  </a:cubicBezTo>
                  <a:cubicBezTo>
                    <a:pt x="18" y="9"/>
                    <a:pt x="18" y="9"/>
                    <a:pt x="18" y="9"/>
                  </a:cubicBezTo>
                  <a:cubicBezTo>
                    <a:pt x="18" y="10"/>
                    <a:pt x="18" y="10"/>
                    <a:pt x="18" y="10"/>
                  </a:cubicBezTo>
                  <a:cubicBezTo>
                    <a:pt x="18" y="10"/>
                    <a:pt x="18" y="11"/>
                    <a:pt x="18" y="11"/>
                  </a:cubicBezTo>
                  <a:cubicBezTo>
                    <a:pt x="18" y="11"/>
                    <a:pt x="18" y="10"/>
                    <a:pt x="17" y="8"/>
                  </a:cubicBezTo>
                  <a:cubicBezTo>
                    <a:pt x="15" y="4"/>
                    <a:pt x="13" y="2"/>
                    <a:pt x="9" y="2"/>
                  </a:cubicBezTo>
                  <a:cubicBezTo>
                    <a:pt x="6" y="2"/>
                    <a:pt x="4" y="3"/>
                    <a:pt x="4" y="6"/>
                  </a:cubicBezTo>
                  <a:cubicBezTo>
                    <a:pt x="4" y="12"/>
                    <a:pt x="20" y="8"/>
                    <a:pt x="20" y="19"/>
                  </a:cubicBezTo>
                  <a:cubicBezTo>
                    <a:pt x="20" y="24"/>
                    <a:pt x="15" y="28"/>
                    <a:pt x="9" y="28"/>
                  </a:cubicBezTo>
                  <a:cubicBezTo>
                    <a:pt x="6" y="28"/>
                    <a:pt x="4" y="26"/>
                    <a:pt x="2" y="26"/>
                  </a:cubicBezTo>
                  <a:cubicBezTo>
                    <a:pt x="1" y="26"/>
                    <a:pt x="1" y="28"/>
                    <a:pt x="0" y="28"/>
                  </a:cubicBezTo>
                  <a:cubicBezTo>
                    <a:pt x="0" y="28"/>
                    <a:pt x="0" y="28"/>
                    <a:pt x="0" y="27"/>
                  </a:cubicBezTo>
                  <a:lnTo>
                    <a:pt x="0" y="16"/>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8" name="Freeform 6"/>
            <p:cNvSpPr/>
            <p:nvPr/>
          </p:nvSpPr>
          <p:spPr bwMode="auto">
            <a:xfrm>
              <a:off x="7435850" y="5832475"/>
              <a:ext cx="134938" cy="153988"/>
            </a:xfrm>
            <a:custGeom>
              <a:avLst/>
              <a:gdLst>
                <a:gd name="T0" fmla="*/ 4 w 24"/>
                <a:gd name="T1" fmla="*/ 3 h 27"/>
                <a:gd name="T2" fmla="*/ 0 w 24"/>
                <a:gd name="T3" fmla="*/ 0 h 27"/>
                <a:gd name="T4" fmla="*/ 1 w 24"/>
                <a:gd name="T5" fmla="*/ 0 h 27"/>
                <a:gd name="T6" fmla="*/ 7 w 24"/>
                <a:gd name="T7" fmla="*/ 0 h 27"/>
                <a:gd name="T8" fmla="*/ 21 w 24"/>
                <a:gd name="T9" fmla="*/ 0 h 27"/>
                <a:gd name="T10" fmla="*/ 23 w 24"/>
                <a:gd name="T11" fmla="*/ 7 h 27"/>
                <a:gd name="T12" fmla="*/ 23 w 24"/>
                <a:gd name="T13" fmla="*/ 8 h 27"/>
                <a:gd name="T14" fmla="*/ 22 w 24"/>
                <a:gd name="T15" fmla="*/ 9 h 27"/>
                <a:gd name="T16" fmla="*/ 21 w 24"/>
                <a:gd name="T17" fmla="*/ 5 h 27"/>
                <a:gd name="T18" fmla="*/ 11 w 24"/>
                <a:gd name="T19" fmla="*/ 1 h 27"/>
                <a:gd name="T20" fmla="*/ 9 w 24"/>
                <a:gd name="T21" fmla="*/ 1 h 27"/>
                <a:gd name="T22" fmla="*/ 9 w 24"/>
                <a:gd name="T23" fmla="*/ 12 h 27"/>
                <a:gd name="T24" fmla="*/ 10 w 24"/>
                <a:gd name="T25" fmla="*/ 12 h 27"/>
                <a:gd name="T26" fmla="*/ 15 w 24"/>
                <a:gd name="T27" fmla="*/ 7 h 27"/>
                <a:gd name="T28" fmla="*/ 16 w 24"/>
                <a:gd name="T29" fmla="*/ 6 h 27"/>
                <a:gd name="T30" fmla="*/ 16 w 24"/>
                <a:gd name="T31" fmla="*/ 7 h 27"/>
                <a:gd name="T32" fmla="*/ 16 w 24"/>
                <a:gd name="T33" fmla="*/ 19 h 27"/>
                <a:gd name="T34" fmla="*/ 16 w 24"/>
                <a:gd name="T35" fmla="*/ 19 h 27"/>
                <a:gd name="T36" fmla="*/ 15 w 24"/>
                <a:gd name="T37" fmla="*/ 18 h 27"/>
                <a:gd name="T38" fmla="*/ 10 w 24"/>
                <a:gd name="T39" fmla="*/ 14 h 27"/>
                <a:gd name="T40" fmla="*/ 9 w 24"/>
                <a:gd name="T41" fmla="*/ 14 h 27"/>
                <a:gd name="T42" fmla="*/ 9 w 24"/>
                <a:gd name="T43" fmla="*/ 23 h 27"/>
                <a:gd name="T44" fmla="*/ 13 w 24"/>
                <a:gd name="T45" fmla="*/ 25 h 27"/>
                <a:gd name="T46" fmla="*/ 23 w 24"/>
                <a:gd name="T47" fmla="*/ 17 h 27"/>
                <a:gd name="T48" fmla="*/ 24 w 24"/>
                <a:gd name="T49" fmla="*/ 16 h 27"/>
                <a:gd name="T50" fmla="*/ 24 w 24"/>
                <a:gd name="T51" fmla="*/ 17 h 27"/>
                <a:gd name="T52" fmla="*/ 24 w 24"/>
                <a:gd name="T53" fmla="*/ 18 h 27"/>
                <a:gd name="T54" fmla="*/ 22 w 24"/>
                <a:gd name="T55" fmla="*/ 27 h 27"/>
                <a:gd name="T56" fmla="*/ 7 w 24"/>
                <a:gd name="T57" fmla="*/ 27 h 27"/>
                <a:gd name="T58" fmla="*/ 1 w 24"/>
                <a:gd name="T59" fmla="*/ 27 h 27"/>
                <a:gd name="T60" fmla="*/ 0 w 24"/>
                <a:gd name="T61" fmla="*/ 26 h 27"/>
                <a:gd name="T62" fmla="*/ 4 w 24"/>
                <a:gd name="T63" fmla="*/ 23 h 27"/>
                <a:gd name="T64" fmla="*/ 4 w 24"/>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7">
                  <a:moveTo>
                    <a:pt x="4" y="3"/>
                  </a:moveTo>
                  <a:cubicBezTo>
                    <a:pt x="4" y="0"/>
                    <a:pt x="0" y="1"/>
                    <a:pt x="0" y="0"/>
                  </a:cubicBezTo>
                  <a:cubicBezTo>
                    <a:pt x="0" y="0"/>
                    <a:pt x="0" y="0"/>
                    <a:pt x="1" y="0"/>
                  </a:cubicBezTo>
                  <a:cubicBezTo>
                    <a:pt x="3" y="0"/>
                    <a:pt x="5" y="0"/>
                    <a:pt x="7" y="0"/>
                  </a:cubicBezTo>
                  <a:cubicBezTo>
                    <a:pt x="11" y="0"/>
                    <a:pt x="16" y="0"/>
                    <a:pt x="21" y="0"/>
                  </a:cubicBezTo>
                  <a:cubicBezTo>
                    <a:pt x="23" y="7"/>
                    <a:pt x="23" y="7"/>
                    <a:pt x="23" y="7"/>
                  </a:cubicBezTo>
                  <a:cubicBezTo>
                    <a:pt x="23" y="8"/>
                    <a:pt x="23" y="8"/>
                    <a:pt x="23" y="8"/>
                  </a:cubicBezTo>
                  <a:cubicBezTo>
                    <a:pt x="23" y="9"/>
                    <a:pt x="23" y="9"/>
                    <a:pt x="22" y="9"/>
                  </a:cubicBezTo>
                  <a:cubicBezTo>
                    <a:pt x="22" y="9"/>
                    <a:pt x="22" y="8"/>
                    <a:pt x="21" y="5"/>
                  </a:cubicBezTo>
                  <a:cubicBezTo>
                    <a:pt x="19" y="2"/>
                    <a:pt x="16" y="1"/>
                    <a:pt x="11" y="1"/>
                  </a:cubicBezTo>
                  <a:cubicBezTo>
                    <a:pt x="9" y="1"/>
                    <a:pt x="9" y="1"/>
                    <a:pt x="9" y="1"/>
                  </a:cubicBezTo>
                  <a:cubicBezTo>
                    <a:pt x="9" y="12"/>
                    <a:pt x="9" y="12"/>
                    <a:pt x="9" y="12"/>
                  </a:cubicBezTo>
                  <a:cubicBezTo>
                    <a:pt x="10" y="12"/>
                    <a:pt x="10" y="12"/>
                    <a:pt x="10" y="12"/>
                  </a:cubicBezTo>
                  <a:cubicBezTo>
                    <a:pt x="13" y="12"/>
                    <a:pt x="15" y="10"/>
                    <a:pt x="15" y="7"/>
                  </a:cubicBezTo>
                  <a:cubicBezTo>
                    <a:pt x="15" y="6"/>
                    <a:pt x="15" y="6"/>
                    <a:pt x="16" y="6"/>
                  </a:cubicBezTo>
                  <a:cubicBezTo>
                    <a:pt x="16" y="6"/>
                    <a:pt x="16" y="6"/>
                    <a:pt x="16" y="7"/>
                  </a:cubicBezTo>
                  <a:cubicBezTo>
                    <a:pt x="16" y="19"/>
                    <a:pt x="16" y="19"/>
                    <a:pt x="16" y="19"/>
                  </a:cubicBezTo>
                  <a:cubicBezTo>
                    <a:pt x="16" y="19"/>
                    <a:pt x="16" y="19"/>
                    <a:pt x="16" y="19"/>
                  </a:cubicBezTo>
                  <a:cubicBezTo>
                    <a:pt x="15" y="19"/>
                    <a:pt x="15" y="19"/>
                    <a:pt x="15" y="18"/>
                  </a:cubicBezTo>
                  <a:cubicBezTo>
                    <a:pt x="15" y="15"/>
                    <a:pt x="13" y="14"/>
                    <a:pt x="10" y="14"/>
                  </a:cubicBezTo>
                  <a:cubicBezTo>
                    <a:pt x="9" y="14"/>
                    <a:pt x="9" y="14"/>
                    <a:pt x="9" y="14"/>
                  </a:cubicBezTo>
                  <a:cubicBezTo>
                    <a:pt x="9" y="23"/>
                    <a:pt x="9" y="23"/>
                    <a:pt x="9" y="23"/>
                  </a:cubicBezTo>
                  <a:cubicBezTo>
                    <a:pt x="9" y="25"/>
                    <a:pt x="11" y="25"/>
                    <a:pt x="13" y="25"/>
                  </a:cubicBezTo>
                  <a:cubicBezTo>
                    <a:pt x="18" y="25"/>
                    <a:pt x="22" y="21"/>
                    <a:pt x="23" y="17"/>
                  </a:cubicBezTo>
                  <a:cubicBezTo>
                    <a:pt x="24" y="17"/>
                    <a:pt x="24" y="16"/>
                    <a:pt x="24" y="16"/>
                  </a:cubicBezTo>
                  <a:cubicBezTo>
                    <a:pt x="24" y="16"/>
                    <a:pt x="24" y="17"/>
                    <a:pt x="24" y="17"/>
                  </a:cubicBezTo>
                  <a:cubicBezTo>
                    <a:pt x="24" y="17"/>
                    <a:pt x="24" y="18"/>
                    <a:pt x="24" y="18"/>
                  </a:cubicBezTo>
                  <a:cubicBezTo>
                    <a:pt x="22" y="27"/>
                    <a:pt x="22" y="27"/>
                    <a:pt x="22" y="27"/>
                  </a:cubicBezTo>
                  <a:cubicBezTo>
                    <a:pt x="17" y="27"/>
                    <a:pt x="12" y="27"/>
                    <a:pt x="7" y="27"/>
                  </a:cubicBezTo>
                  <a:cubicBezTo>
                    <a:pt x="5" y="27"/>
                    <a:pt x="3" y="27"/>
                    <a:pt x="1" y="27"/>
                  </a:cubicBezTo>
                  <a:cubicBezTo>
                    <a:pt x="0" y="27"/>
                    <a:pt x="0" y="27"/>
                    <a:pt x="0" y="26"/>
                  </a:cubicBezTo>
                  <a:cubicBezTo>
                    <a:pt x="0" y="25"/>
                    <a:pt x="4" y="27"/>
                    <a:pt x="4" y="23"/>
                  </a:cubicBezTo>
                  <a:lnTo>
                    <a:pt x="4"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9" name="Freeform 7"/>
            <p:cNvSpPr/>
            <p:nvPr/>
          </p:nvSpPr>
          <p:spPr bwMode="auto">
            <a:xfrm>
              <a:off x="6999288" y="5832475"/>
              <a:ext cx="161925" cy="158750"/>
            </a:xfrm>
            <a:custGeom>
              <a:avLst/>
              <a:gdLst>
                <a:gd name="T0" fmla="*/ 7 w 29"/>
                <a:gd name="T1" fmla="*/ 21 h 28"/>
                <a:gd name="T2" fmla="*/ 9 w 29"/>
                <a:gd name="T3" fmla="*/ 26 h 28"/>
                <a:gd name="T4" fmla="*/ 11 w 29"/>
                <a:gd name="T5" fmla="*/ 26 h 28"/>
                <a:gd name="T6" fmla="*/ 11 w 29"/>
                <a:gd name="T7" fmla="*/ 27 h 28"/>
                <a:gd name="T8" fmla="*/ 5 w 29"/>
                <a:gd name="T9" fmla="*/ 27 h 28"/>
                <a:gd name="T10" fmla="*/ 1 w 29"/>
                <a:gd name="T11" fmla="*/ 27 h 28"/>
                <a:gd name="T12" fmla="*/ 0 w 29"/>
                <a:gd name="T13" fmla="*/ 26 h 28"/>
                <a:gd name="T14" fmla="*/ 2 w 29"/>
                <a:gd name="T15" fmla="*/ 26 h 28"/>
                <a:gd name="T16" fmla="*/ 5 w 29"/>
                <a:gd name="T17" fmla="*/ 21 h 28"/>
                <a:gd name="T18" fmla="*/ 5 w 29"/>
                <a:gd name="T19" fmla="*/ 3 h 28"/>
                <a:gd name="T20" fmla="*/ 1 w 29"/>
                <a:gd name="T21" fmla="*/ 1 h 28"/>
                <a:gd name="T22" fmla="*/ 0 w 29"/>
                <a:gd name="T23" fmla="*/ 0 h 28"/>
                <a:gd name="T24" fmla="*/ 1 w 29"/>
                <a:gd name="T25" fmla="*/ 0 h 28"/>
                <a:gd name="T26" fmla="*/ 5 w 29"/>
                <a:gd name="T27" fmla="*/ 0 h 28"/>
                <a:gd name="T28" fmla="*/ 9 w 29"/>
                <a:gd name="T29" fmla="*/ 0 h 28"/>
                <a:gd name="T30" fmla="*/ 22 w 29"/>
                <a:gd name="T31" fmla="*/ 15 h 28"/>
                <a:gd name="T32" fmla="*/ 22 w 29"/>
                <a:gd name="T33" fmla="*/ 16 h 28"/>
                <a:gd name="T34" fmla="*/ 22 w 29"/>
                <a:gd name="T35" fmla="*/ 6 h 28"/>
                <a:gd name="T36" fmla="*/ 20 w 29"/>
                <a:gd name="T37" fmla="*/ 1 h 28"/>
                <a:gd name="T38" fmla="*/ 17 w 29"/>
                <a:gd name="T39" fmla="*/ 0 h 28"/>
                <a:gd name="T40" fmla="*/ 18 w 29"/>
                <a:gd name="T41" fmla="*/ 0 h 28"/>
                <a:gd name="T42" fmla="*/ 24 w 29"/>
                <a:gd name="T43" fmla="*/ 0 h 28"/>
                <a:gd name="T44" fmla="*/ 28 w 29"/>
                <a:gd name="T45" fmla="*/ 0 h 28"/>
                <a:gd name="T46" fmla="*/ 29 w 29"/>
                <a:gd name="T47" fmla="*/ 0 h 28"/>
                <a:gd name="T48" fmla="*/ 27 w 29"/>
                <a:gd name="T49" fmla="*/ 1 h 28"/>
                <a:gd name="T50" fmla="*/ 24 w 29"/>
                <a:gd name="T51" fmla="*/ 6 h 28"/>
                <a:gd name="T52" fmla="*/ 24 w 29"/>
                <a:gd name="T53" fmla="*/ 26 h 28"/>
                <a:gd name="T54" fmla="*/ 24 w 29"/>
                <a:gd name="T55" fmla="*/ 28 h 28"/>
                <a:gd name="T56" fmla="*/ 23 w 29"/>
                <a:gd name="T57" fmla="*/ 27 h 28"/>
                <a:gd name="T58" fmla="*/ 7 w 29"/>
                <a:gd name="T59" fmla="*/ 7 h 28"/>
                <a:gd name="T60" fmla="*/ 7 w 29"/>
                <a:gd name="T61" fmla="*/ 6 h 28"/>
                <a:gd name="T62" fmla="*/ 7 w 29"/>
                <a:gd name="T63"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28">
                  <a:moveTo>
                    <a:pt x="7" y="21"/>
                  </a:moveTo>
                  <a:cubicBezTo>
                    <a:pt x="7" y="24"/>
                    <a:pt x="8" y="25"/>
                    <a:pt x="9" y="26"/>
                  </a:cubicBezTo>
                  <a:cubicBezTo>
                    <a:pt x="10" y="26"/>
                    <a:pt x="11" y="26"/>
                    <a:pt x="11" y="26"/>
                  </a:cubicBezTo>
                  <a:cubicBezTo>
                    <a:pt x="11" y="27"/>
                    <a:pt x="11" y="27"/>
                    <a:pt x="11" y="27"/>
                  </a:cubicBezTo>
                  <a:cubicBezTo>
                    <a:pt x="10" y="27"/>
                    <a:pt x="7" y="27"/>
                    <a:pt x="5" y="27"/>
                  </a:cubicBezTo>
                  <a:cubicBezTo>
                    <a:pt x="3" y="27"/>
                    <a:pt x="2" y="27"/>
                    <a:pt x="1" y="27"/>
                  </a:cubicBezTo>
                  <a:cubicBezTo>
                    <a:pt x="0" y="27"/>
                    <a:pt x="0" y="27"/>
                    <a:pt x="0" y="26"/>
                  </a:cubicBezTo>
                  <a:cubicBezTo>
                    <a:pt x="0" y="26"/>
                    <a:pt x="1" y="26"/>
                    <a:pt x="2" y="26"/>
                  </a:cubicBezTo>
                  <a:cubicBezTo>
                    <a:pt x="3" y="25"/>
                    <a:pt x="5" y="24"/>
                    <a:pt x="5" y="21"/>
                  </a:cubicBezTo>
                  <a:cubicBezTo>
                    <a:pt x="5" y="3"/>
                    <a:pt x="5" y="3"/>
                    <a:pt x="5" y="3"/>
                  </a:cubicBezTo>
                  <a:cubicBezTo>
                    <a:pt x="3" y="1"/>
                    <a:pt x="2" y="1"/>
                    <a:pt x="1" y="1"/>
                  </a:cubicBezTo>
                  <a:cubicBezTo>
                    <a:pt x="0" y="1"/>
                    <a:pt x="0" y="1"/>
                    <a:pt x="0" y="0"/>
                  </a:cubicBezTo>
                  <a:cubicBezTo>
                    <a:pt x="0" y="0"/>
                    <a:pt x="0" y="0"/>
                    <a:pt x="1" y="0"/>
                  </a:cubicBezTo>
                  <a:cubicBezTo>
                    <a:pt x="2" y="0"/>
                    <a:pt x="3" y="0"/>
                    <a:pt x="5" y="0"/>
                  </a:cubicBezTo>
                  <a:cubicBezTo>
                    <a:pt x="9" y="0"/>
                    <a:pt x="9" y="0"/>
                    <a:pt x="9" y="0"/>
                  </a:cubicBezTo>
                  <a:cubicBezTo>
                    <a:pt x="22" y="15"/>
                    <a:pt x="22" y="15"/>
                    <a:pt x="22" y="15"/>
                  </a:cubicBezTo>
                  <a:cubicBezTo>
                    <a:pt x="22" y="16"/>
                    <a:pt x="22" y="16"/>
                    <a:pt x="22" y="16"/>
                  </a:cubicBezTo>
                  <a:cubicBezTo>
                    <a:pt x="22" y="6"/>
                    <a:pt x="22" y="6"/>
                    <a:pt x="22" y="6"/>
                  </a:cubicBezTo>
                  <a:cubicBezTo>
                    <a:pt x="22" y="3"/>
                    <a:pt x="21" y="2"/>
                    <a:pt x="20" y="1"/>
                  </a:cubicBezTo>
                  <a:cubicBezTo>
                    <a:pt x="19" y="1"/>
                    <a:pt x="17" y="1"/>
                    <a:pt x="17" y="0"/>
                  </a:cubicBezTo>
                  <a:cubicBezTo>
                    <a:pt x="17" y="0"/>
                    <a:pt x="18" y="0"/>
                    <a:pt x="18" y="0"/>
                  </a:cubicBezTo>
                  <a:cubicBezTo>
                    <a:pt x="19" y="0"/>
                    <a:pt x="22" y="0"/>
                    <a:pt x="24" y="0"/>
                  </a:cubicBezTo>
                  <a:cubicBezTo>
                    <a:pt x="25" y="0"/>
                    <a:pt x="27" y="0"/>
                    <a:pt x="28" y="0"/>
                  </a:cubicBezTo>
                  <a:cubicBezTo>
                    <a:pt x="29" y="0"/>
                    <a:pt x="29" y="0"/>
                    <a:pt x="29" y="0"/>
                  </a:cubicBezTo>
                  <a:cubicBezTo>
                    <a:pt x="29" y="1"/>
                    <a:pt x="28" y="1"/>
                    <a:pt x="27" y="1"/>
                  </a:cubicBezTo>
                  <a:cubicBezTo>
                    <a:pt x="26" y="2"/>
                    <a:pt x="24" y="3"/>
                    <a:pt x="24" y="6"/>
                  </a:cubicBezTo>
                  <a:cubicBezTo>
                    <a:pt x="24" y="26"/>
                    <a:pt x="24" y="26"/>
                    <a:pt x="24" y="26"/>
                  </a:cubicBezTo>
                  <a:cubicBezTo>
                    <a:pt x="24" y="27"/>
                    <a:pt x="24" y="28"/>
                    <a:pt x="24" y="28"/>
                  </a:cubicBezTo>
                  <a:cubicBezTo>
                    <a:pt x="24" y="28"/>
                    <a:pt x="23" y="27"/>
                    <a:pt x="23" y="27"/>
                  </a:cubicBezTo>
                  <a:cubicBezTo>
                    <a:pt x="7" y="7"/>
                    <a:pt x="7" y="7"/>
                    <a:pt x="7" y="7"/>
                  </a:cubicBezTo>
                  <a:cubicBezTo>
                    <a:pt x="7" y="6"/>
                    <a:pt x="7" y="6"/>
                    <a:pt x="7" y="6"/>
                  </a:cubicBezTo>
                  <a:lnTo>
                    <a:pt x="7" y="21"/>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0" name="Freeform 8"/>
            <p:cNvSpPr/>
            <p:nvPr/>
          </p:nvSpPr>
          <p:spPr bwMode="auto">
            <a:xfrm>
              <a:off x="5440363" y="5827713"/>
              <a:ext cx="112713" cy="158750"/>
            </a:xfrm>
            <a:custGeom>
              <a:avLst/>
              <a:gdLst>
                <a:gd name="T0" fmla="*/ 0 w 20"/>
                <a:gd name="T1" fmla="*/ 16 h 28"/>
                <a:gd name="T2" fmla="*/ 1 w 20"/>
                <a:gd name="T3" fmla="*/ 16 h 28"/>
                <a:gd name="T4" fmla="*/ 1 w 20"/>
                <a:gd name="T5" fmla="*/ 17 h 28"/>
                <a:gd name="T6" fmla="*/ 10 w 20"/>
                <a:gd name="T7" fmla="*/ 27 h 28"/>
                <a:gd name="T8" fmla="*/ 16 w 20"/>
                <a:gd name="T9" fmla="*/ 22 h 28"/>
                <a:gd name="T10" fmla="*/ 0 w 20"/>
                <a:gd name="T11" fmla="*/ 8 h 28"/>
                <a:gd name="T12" fmla="*/ 9 w 20"/>
                <a:gd name="T13" fmla="*/ 0 h 28"/>
                <a:gd name="T14" fmla="*/ 16 w 20"/>
                <a:gd name="T15" fmla="*/ 2 h 28"/>
                <a:gd name="T16" fmla="*/ 17 w 20"/>
                <a:gd name="T17" fmla="*/ 1 h 28"/>
                <a:gd name="T18" fmla="*/ 18 w 20"/>
                <a:gd name="T19" fmla="*/ 2 h 28"/>
                <a:gd name="T20" fmla="*/ 19 w 20"/>
                <a:gd name="T21" fmla="*/ 9 h 28"/>
                <a:gd name="T22" fmla="*/ 19 w 20"/>
                <a:gd name="T23" fmla="*/ 10 h 28"/>
                <a:gd name="T24" fmla="*/ 18 w 20"/>
                <a:gd name="T25" fmla="*/ 11 h 28"/>
                <a:gd name="T26" fmla="*/ 17 w 20"/>
                <a:gd name="T27" fmla="*/ 8 h 28"/>
                <a:gd name="T28" fmla="*/ 9 w 20"/>
                <a:gd name="T29" fmla="*/ 2 h 28"/>
                <a:gd name="T30" fmla="*/ 4 w 20"/>
                <a:gd name="T31" fmla="*/ 6 h 28"/>
                <a:gd name="T32" fmla="*/ 20 w 20"/>
                <a:gd name="T33" fmla="*/ 19 h 28"/>
                <a:gd name="T34" fmla="*/ 10 w 20"/>
                <a:gd name="T35" fmla="*/ 28 h 28"/>
                <a:gd name="T36" fmla="*/ 2 w 20"/>
                <a:gd name="T37" fmla="*/ 26 h 28"/>
                <a:gd name="T38" fmla="*/ 1 w 20"/>
                <a:gd name="T39" fmla="*/ 28 h 28"/>
                <a:gd name="T40" fmla="*/ 0 w 20"/>
                <a:gd name="T41" fmla="*/ 27 h 28"/>
                <a:gd name="T42" fmla="*/ 0 w 20"/>
                <a:gd name="T43"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 h="28">
                  <a:moveTo>
                    <a:pt x="0" y="16"/>
                  </a:moveTo>
                  <a:cubicBezTo>
                    <a:pt x="0" y="16"/>
                    <a:pt x="0" y="16"/>
                    <a:pt x="1" y="16"/>
                  </a:cubicBezTo>
                  <a:cubicBezTo>
                    <a:pt x="1" y="16"/>
                    <a:pt x="1" y="16"/>
                    <a:pt x="1" y="17"/>
                  </a:cubicBezTo>
                  <a:cubicBezTo>
                    <a:pt x="2" y="22"/>
                    <a:pt x="5" y="27"/>
                    <a:pt x="10" y="27"/>
                  </a:cubicBezTo>
                  <a:cubicBezTo>
                    <a:pt x="13" y="27"/>
                    <a:pt x="16" y="25"/>
                    <a:pt x="16" y="22"/>
                  </a:cubicBezTo>
                  <a:cubicBezTo>
                    <a:pt x="16" y="14"/>
                    <a:pt x="0" y="18"/>
                    <a:pt x="0" y="8"/>
                  </a:cubicBezTo>
                  <a:cubicBezTo>
                    <a:pt x="0" y="4"/>
                    <a:pt x="4" y="0"/>
                    <a:pt x="9" y="0"/>
                  </a:cubicBezTo>
                  <a:cubicBezTo>
                    <a:pt x="13" y="0"/>
                    <a:pt x="15" y="2"/>
                    <a:pt x="16" y="2"/>
                  </a:cubicBezTo>
                  <a:cubicBezTo>
                    <a:pt x="17" y="2"/>
                    <a:pt x="17" y="1"/>
                    <a:pt x="17" y="1"/>
                  </a:cubicBezTo>
                  <a:cubicBezTo>
                    <a:pt x="18" y="1"/>
                    <a:pt x="18" y="1"/>
                    <a:pt x="18" y="2"/>
                  </a:cubicBezTo>
                  <a:cubicBezTo>
                    <a:pt x="19" y="9"/>
                    <a:pt x="19" y="9"/>
                    <a:pt x="19" y="9"/>
                  </a:cubicBezTo>
                  <a:cubicBezTo>
                    <a:pt x="19" y="10"/>
                    <a:pt x="19" y="10"/>
                    <a:pt x="19" y="10"/>
                  </a:cubicBezTo>
                  <a:cubicBezTo>
                    <a:pt x="19" y="10"/>
                    <a:pt x="19" y="11"/>
                    <a:pt x="18" y="11"/>
                  </a:cubicBezTo>
                  <a:cubicBezTo>
                    <a:pt x="18" y="11"/>
                    <a:pt x="18" y="10"/>
                    <a:pt x="17" y="8"/>
                  </a:cubicBezTo>
                  <a:cubicBezTo>
                    <a:pt x="16" y="4"/>
                    <a:pt x="13" y="2"/>
                    <a:pt x="9" y="2"/>
                  </a:cubicBezTo>
                  <a:cubicBezTo>
                    <a:pt x="7" y="2"/>
                    <a:pt x="4" y="3"/>
                    <a:pt x="4" y="6"/>
                  </a:cubicBezTo>
                  <a:cubicBezTo>
                    <a:pt x="4" y="12"/>
                    <a:pt x="20" y="8"/>
                    <a:pt x="20" y="19"/>
                  </a:cubicBezTo>
                  <a:cubicBezTo>
                    <a:pt x="20" y="24"/>
                    <a:pt x="16" y="28"/>
                    <a:pt x="10" y="28"/>
                  </a:cubicBezTo>
                  <a:cubicBezTo>
                    <a:pt x="6" y="28"/>
                    <a:pt x="4" y="26"/>
                    <a:pt x="2" y="26"/>
                  </a:cubicBezTo>
                  <a:cubicBezTo>
                    <a:pt x="1" y="26"/>
                    <a:pt x="1" y="28"/>
                    <a:pt x="1" y="28"/>
                  </a:cubicBezTo>
                  <a:cubicBezTo>
                    <a:pt x="0" y="28"/>
                    <a:pt x="0" y="28"/>
                    <a:pt x="0" y="27"/>
                  </a:cubicBezTo>
                  <a:lnTo>
                    <a:pt x="0" y="16"/>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1" name="Freeform 9"/>
            <p:cNvSpPr/>
            <p:nvPr/>
          </p:nvSpPr>
          <p:spPr bwMode="auto">
            <a:xfrm>
              <a:off x="5580063" y="5832475"/>
              <a:ext cx="157163" cy="153988"/>
            </a:xfrm>
            <a:custGeom>
              <a:avLst/>
              <a:gdLst>
                <a:gd name="T0" fmla="*/ 3 w 28"/>
                <a:gd name="T1" fmla="*/ 3 h 27"/>
                <a:gd name="T2" fmla="*/ 0 w 28"/>
                <a:gd name="T3" fmla="*/ 0 h 27"/>
                <a:gd name="T4" fmla="*/ 1 w 28"/>
                <a:gd name="T5" fmla="*/ 0 h 27"/>
                <a:gd name="T6" fmla="*/ 6 w 28"/>
                <a:gd name="T7" fmla="*/ 0 h 27"/>
                <a:gd name="T8" fmla="*/ 12 w 28"/>
                <a:gd name="T9" fmla="*/ 0 h 27"/>
                <a:gd name="T10" fmla="*/ 12 w 28"/>
                <a:gd name="T11" fmla="*/ 0 h 27"/>
                <a:gd name="T12" fmla="*/ 9 w 28"/>
                <a:gd name="T13" fmla="*/ 3 h 27"/>
                <a:gd name="T14" fmla="*/ 9 w 28"/>
                <a:gd name="T15" fmla="*/ 12 h 27"/>
                <a:gd name="T16" fmla="*/ 19 w 28"/>
                <a:gd name="T17" fmla="*/ 12 h 27"/>
                <a:gd name="T18" fmla="*/ 19 w 28"/>
                <a:gd name="T19" fmla="*/ 3 h 27"/>
                <a:gd name="T20" fmla="*/ 16 w 28"/>
                <a:gd name="T21" fmla="*/ 0 h 27"/>
                <a:gd name="T22" fmla="*/ 17 w 28"/>
                <a:gd name="T23" fmla="*/ 0 h 27"/>
                <a:gd name="T24" fmla="*/ 22 w 28"/>
                <a:gd name="T25" fmla="*/ 0 h 27"/>
                <a:gd name="T26" fmla="*/ 28 w 28"/>
                <a:gd name="T27" fmla="*/ 0 h 27"/>
                <a:gd name="T28" fmla="*/ 28 w 28"/>
                <a:gd name="T29" fmla="*/ 0 h 27"/>
                <a:gd name="T30" fmla="*/ 25 w 28"/>
                <a:gd name="T31" fmla="*/ 3 h 27"/>
                <a:gd name="T32" fmla="*/ 25 w 28"/>
                <a:gd name="T33" fmla="*/ 23 h 27"/>
                <a:gd name="T34" fmla="*/ 28 w 28"/>
                <a:gd name="T35" fmla="*/ 26 h 27"/>
                <a:gd name="T36" fmla="*/ 28 w 28"/>
                <a:gd name="T37" fmla="*/ 27 h 27"/>
                <a:gd name="T38" fmla="*/ 22 w 28"/>
                <a:gd name="T39" fmla="*/ 27 h 27"/>
                <a:gd name="T40" fmla="*/ 17 w 28"/>
                <a:gd name="T41" fmla="*/ 27 h 27"/>
                <a:gd name="T42" fmla="*/ 16 w 28"/>
                <a:gd name="T43" fmla="*/ 26 h 27"/>
                <a:gd name="T44" fmla="*/ 19 w 28"/>
                <a:gd name="T45" fmla="*/ 23 h 27"/>
                <a:gd name="T46" fmla="*/ 19 w 28"/>
                <a:gd name="T47" fmla="*/ 14 h 27"/>
                <a:gd name="T48" fmla="*/ 9 w 28"/>
                <a:gd name="T49" fmla="*/ 14 h 27"/>
                <a:gd name="T50" fmla="*/ 9 w 28"/>
                <a:gd name="T51" fmla="*/ 23 h 27"/>
                <a:gd name="T52" fmla="*/ 12 w 28"/>
                <a:gd name="T53" fmla="*/ 26 h 27"/>
                <a:gd name="T54" fmla="*/ 12 w 28"/>
                <a:gd name="T55" fmla="*/ 27 h 27"/>
                <a:gd name="T56" fmla="*/ 6 w 28"/>
                <a:gd name="T57" fmla="*/ 27 h 27"/>
                <a:gd name="T58" fmla="*/ 1 w 28"/>
                <a:gd name="T59" fmla="*/ 27 h 27"/>
                <a:gd name="T60" fmla="*/ 0 w 28"/>
                <a:gd name="T61" fmla="*/ 26 h 27"/>
                <a:gd name="T62" fmla="*/ 3 w 28"/>
                <a:gd name="T63" fmla="*/ 23 h 27"/>
                <a:gd name="T64" fmla="*/ 3 w 28"/>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 h="27">
                  <a:moveTo>
                    <a:pt x="3" y="3"/>
                  </a:moveTo>
                  <a:cubicBezTo>
                    <a:pt x="3" y="0"/>
                    <a:pt x="0" y="1"/>
                    <a:pt x="0" y="0"/>
                  </a:cubicBezTo>
                  <a:cubicBezTo>
                    <a:pt x="0" y="0"/>
                    <a:pt x="0" y="0"/>
                    <a:pt x="1" y="0"/>
                  </a:cubicBezTo>
                  <a:cubicBezTo>
                    <a:pt x="3" y="0"/>
                    <a:pt x="5" y="0"/>
                    <a:pt x="6" y="0"/>
                  </a:cubicBezTo>
                  <a:cubicBezTo>
                    <a:pt x="8" y="0"/>
                    <a:pt x="10" y="0"/>
                    <a:pt x="12" y="0"/>
                  </a:cubicBezTo>
                  <a:cubicBezTo>
                    <a:pt x="12" y="0"/>
                    <a:pt x="12" y="0"/>
                    <a:pt x="12" y="0"/>
                  </a:cubicBezTo>
                  <a:cubicBezTo>
                    <a:pt x="12" y="1"/>
                    <a:pt x="9" y="0"/>
                    <a:pt x="9" y="3"/>
                  </a:cubicBezTo>
                  <a:cubicBezTo>
                    <a:pt x="9" y="12"/>
                    <a:pt x="9" y="12"/>
                    <a:pt x="9" y="12"/>
                  </a:cubicBezTo>
                  <a:cubicBezTo>
                    <a:pt x="19" y="12"/>
                    <a:pt x="19" y="12"/>
                    <a:pt x="19" y="12"/>
                  </a:cubicBezTo>
                  <a:cubicBezTo>
                    <a:pt x="19" y="3"/>
                    <a:pt x="19" y="3"/>
                    <a:pt x="19" y="3"/>
                  </a:cubicBezTo>
                  <a:cubicBezTo>
                    <a:pt x="19" y="0"/>
                    <a:pt x="16" y="1"/>
                    <a:pt x="16" y="0"/>
                  </a:cubicBezTo>
                  <a:cubicBezTo>
                    <a:pt x="16" y="0"/>
                    <a:pt x="16" y="0"/>
                    <a:pt x="17" y="0"/>
                  </a:cubicBezTo>
                  <a:cubicBezTo>
                    <a:pt x="19" y="0"/>
                    <a:pt x="21" y="0"/>
                    <a:pt x="22" y="0"/>
                  </a:cubicBezTo>
                  <a:cubicBezTo>
                    <a:pt x="24" y="0"/>
                    <a:pt x="26" y="0"/>
                    <a:pt x="28" y="0"/>
                  </a:cubicBezTo>
                  <a:cubicBezTo>
                    <a:pt x="28" y="0"/>
                    <a:pt x="28" y="0"/>
                    <a:pt x="28" y="0"/>
                  </a:cubicBezTo>
                  <a:cubicBezTo>
                    <a:pt x="28" y="1"/>
                    <a:pt x="25" y="0"/>
                    <a:pt x="25" y="3"/>
                  </a:cubicBezTo>
                  <a:cubicBezTo>
                    <a:pt x="25" y="23"/>
                    <a:pt x="25" y="23"/>
                    <a:pt x="25" y="23"/>
                  </a:cubicBezTo>
                  <a:cubicBezTo>
                    <a:pt x="25" y="27"/>
                    <a:pt x="28" y="25"/>
                    <a:pt x="28" y="26"/>
                  </a:cubicBezTo>
                  <a:cubicBezTo>
                    <a:pt x="28" y="27"/>
                    <a:pt x="28" y="27"/>
                    <a:pt x="28" y="27"/>
                  </a:cubicBezTo>
                  <a:cubicBezTo>
                    <a:pt x="26" y="27"/>
                    <a:pt x="24" y="27"/>
                    <a:pt x="22" y="27"/>
                  </a:cubicBezTo>
                  <a:cubicBezTo>
                    <a:pt x="21" y="27"/>
                    <a:pt x="19" y="27"/>
                    <a:pt x="17" y="27"/>
                  </a:cubicBezTo>
                  <a:cubicBezTo>
                    <a:pt x="16" y="27"/>
                    <a:pt x="16" y="27"/>
                    <a:pt x="16" y="26"/>
                  </a:cubicBezTo>
                  <a:cubicBezTo>
                    <a:pt x="16" y="25"/>
                    <a:pt x="19" y="27"/>
                    <a:pt x="19" y="23"/>
                  </a:cubicBezTo>
                  <a:cubicBezTo>
                    <a:pt x="19" y="14"/>
                    <a:pt x="19" y="14"/>
                    <a:pt x="19" y="14"/>
                  </a:cubicBezTo>
                  <a:cubicBezTo>
                    <a:pt x="9" y="14"/>
                    <a:pt x="9" y="14"/>
                    <a:pt x="9" y="14"/>
                  </a:cubicBezTo>
                  <a:cubicBezTo>
                    <a:pt x="9" y="23"/>
                    <a:pt x="9" y="23"/>
                    <a:pt x="9" y="23"/>
                  </a:cubicBezTo>
                  <a:cubicBezTo>
                    <a:pt x="9" y="27"/>
                    <a:pt x="12" y="25"/>
                    <a:pt x="12" y="26"/>
                  </a:cubicBezTo>
                  <a:cubicBezTo>
                    <a:pt x="12" y="27"/>
                    <a:pt x="12" y="27"/>
                    <a:pt x="12" y="27"/>
                  </a:cubicBezTo>
                  <a:cubicBezTo>
                    <a:pt x="10" y="27"/>
                    <a:pt x="8"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2" name="Freeform 10"/>
            <p:cNvSpPr/>
            <p:nvPr/>
          </p:nvSpPr>
          <p:spPr bwMode="auto">
            <a:xfrm>
              <a:off x="5765800" y="5832475"/>
              <a:ext cx="134938" cy="153988"/>
            </a:xfrm>
            <a:custGeom>
              <a:avLst/>
              <a:gdLst>
                <a:gd name="T0" fmla="*/ 3 w 24"/>
                <a:gd name="T1" fmla="*/ 3 h 27"/>
                <a:gd name="T2" fmla="*/ 0 w 24"/>
                <a:gd name="T3" fmla="*/ 0 h 27"/>
                <a:gd name="T4" fmla="*/ 1 w 24"/>
                <a:gd name="T5" fmla="*/ 0 h 27"/>
                <a:gd name="T6" fmla="*/ 6 w 24"/>
                <a:gd name="T7" fmla="*/ 0 h 27"/>
                <a:gd name="T8" fmla="*/ 20 w 24"/>
                <a:gd name="T9" fmla="*/ 0 h 27"/>
                <a:gd name="T10" fmla="*/ 22 w 24"/>
                <a:gd name="T11" fmla="*/ 7 h 27"/>
                <a:gd name="T12" fmla="*/ 22 w 24"/>
                <a:gd name="T13" fmla="*/ 8 h 27"/>
                <a:gd name="T14" fmla="*/ 22 w 24"/>
                <a:gd name="T15" fmla="*/ 9 h 27"/>
                <a:gd name="T16" fmla="*/ 20 w 24"/>
                <a:gd name="T17" fmla="*/ 5 h 27"/>
                <a:gd name="T18" fmla="*/ 11 w 24"/>
                <a:gd name="T19" fmla="*/ 1 h 27"/>
                <a:gd name="T20" fmla="*/ 9 w 24"/>
                <a:gd name="T21" fmla="*/ 1 h 27"/>
                <a:gd name="T22" fmla="*/ 9 w 24"/>
                <a:gd name="T23" fmla="*/ 12 h 27"/>
                <a:gd name="T24" fmla="*/ 10 w 24"/>
                <a:gd name="T25" fmla="*/ 12 h 27"/>
                <a:gd name="T26" fmla="*/ 15 w 24"/>
                <a:gd name="T27" fmla="*/ 7 h 27"/>
                <a:gd name="T28" fmla="*/ 15 w 24"/>
                <a:gd name="T29" fmla="*/ 6 h 27"/>
                <a:gd name="T30" fmla="*/ 16 w 24"/>
                <a:gd name="T31" fmla="*/ 7 h 27"/>
                <a:gd name="T32" fmla="*/ 16 w 24"/>
                <a:gd name="T33" fmla="*/ 19 h 27"/>
                <a:gd name="T34" fmla="*/ 15 w 24"/>
                <a:gd name="T35" fmla="*/ 19 h 27"/>
                <a:gd name="T36" fmla="*/ 15 w 24"/>
                <a:gd name="T37" fmla="*/ 18 h 27"/>
                <a:gd name="T38" fmla="*/ 10 w 24"/>
                <a:gd name="T39" fmla="*/ 14 h 27"/>
                <a:gd name="T40" fmla="*/ 9 w 24"/>
                <a:gd name="T41" fmla="*/ 14 h 27"/>
                <a:gd name="T42" fmla="*/ 9 w 24"/>
                <a:gd name="T43" fmla="*/ 23 h 27"/>
                <a:gd name="T44" fmla="*/ 12 w 24"/>
                <a:gd name="T45" fmla="*/ 25 h 27"/>
                <a:gd name="T46" fmla="*/ 23 w 24"/>
                <a:gd name="T47" fmla="*/ 17 h 27"/>
                <a:gd name="T48" fmla="*/ 23 w 24"/>
                <a:gd name="T49" fmla="*/ 16 h 27"/>
                <a:gd name="T50" fmla="*/ 24 w 24"/>
                <a:gd name="T51" fmla="*/ 17 h 27"/>
                <a:gd name="T52" fmla="*/ 24 w 24"/>
                <a:gd name="T53" fmla="*/ 18 h 27"/>
                <a:gd name="T54" fmla="*/ 22 w 24"/>
                <a:gd name="T55" fmla="*/ 27 h 27"/>
                <a:gd name="T56" fmla="*/ 6 w 24"/>
                <a:gd name="T57" fmla="*/ 27 h 27"/>
                <a:gd name="T58" fmla="*/ 1 w 24"/>
                <a:gd name="T59" fmla="*/ 27 h 27"/>
                <a:gd name="T60" fmla="*/ 0 w 24"/>
                <a:gd name="T61" fmla="*/ 26 h 27"/>
                <a:gd name="T62" fmla="*/ 3 w 24"/>
                <a:gd name="T63" fmla="*/ 23 h 27"/>
                <a:gd name="T64" fmla="*/ 3 w 24"/>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7">
                  <a:moveTo>
                    <a:pt x="3" y="3"/>
                  </a:moveTo>
                  <a:cubicBezTo>
                    <a:pt x="3" y="0"/>
                    <a:pt x="0" y="1"/>
                    <a:pt x="0" y="0"/>
                  </a:cubicBezTo>
                  <a:cubicBezTo>
                    <a:pt x="0" y="0"/>
                    <a:pt x="0" y="0"/>
                    <a:pt x="1" y="0"/>
                  </a:cubicBezTo>
                  <a:cubicBezTo>
                    <a:pt x="3" y="0"/>
                    <a:pt x="5" y="0"/>
                    <a:pt x="6" y="0"/>
                  </a:cubicBezTo>
                  <a:cubicBezTo>
                    <a:pt x="11" y="0"/>
                    <a:pt x="16" y="0"/>
                    <a:pt x="20" y="0"/>
                  </a:cubicBezTo>
                  <a:cubicBezTo>
                    <a:pt x="22" y="7"/>
                    <a:pt x="22" y="7"/>
                    <a:pt x="22" y="7"/>
                  </a:cubicBezTo>
                  <a:cubicBezTo>
                    <a:pt x="22" y="8"/>
                    <a:pt x="22" y="8"/>
                    <a:pt x="22" y="8"/>
                  </a:cubicBezTo>
                  <a:cubicBezTo>
                    <a:pt x="22" y="9"/>
                    <a:pt x="22" y="9"/>
                    <a:pt x="22" y="9"/>
                  </a:cubicBezTo>
                  <a:cubicBezTo>
                    <a:pt x="22" y="9"/>
                    <a:pt x="22" y="8"/>
                    <a:pt x="20" y="5"/>
                  </a:cubicBezTo>
                  <a:cubicBezTo>
                    <a:pt x="18" y="2"/>
                    <a:pt x="16" y="1"/>
                    <a:pt x="11" y="1"/>
                  </a:cubicBezTo>
                  <a:cubicBezTo>
                    <a:pt x="9" y="1"/>
                    <a:pt x="9" y="1"/>
                    <a:pt x="9" y="1"/>
                  </a:cubicBezTo>
                  <a:cubicBezTo>
                    <a:pt x="9" y="12"/>
                    <a:pt x="9" y="12"/>
                    <a:pt x="9" y="12"/>
                  </a:cubicBezTo>
                  <a:cubicBezTo>
                    <a:pt x="10" y="12"/>
                    <a:pt x="10" y="12"/>
                    <a:pt x="10" y="12"/>
                  </a:cubicBezTo>
                  <a:cubicBezTo>
                    <a:pt x="13" y="12"/>
                    <a:pt x="15" y="10"/>
                    <a:pt x="15" y="7"/>
                  </a:cubicBezTo>
                  <a:cubicBezTo>
                    <a:pt x="15" y="6"/>
                    <a:pt x="15" y="6"/>
                    <a:pt x="15" y="6"/>
                  </a:cubicBezTo>
                  <a:cubicBezTo>
                    <a:pt x="16" y="6"/>
                    <a:pt x="16" y="6"/>
                    <a:pt x="16" y="7"/>
                  </a:cubicBezTo>
                  <a:cubicBezTo>
                    <a:pt x="16" y="19"/>
                    <a:pt x="16" y="19"/>
                    <a:pt x="16" y="19"/>
                  </a:cubicBezTo>
                  <a:cubicBezTo>
                    <a:pt x="16" y="19"/>
                    <a:pt x="16" y="19"/>
                    <a:pt x="15" y="19"/>
                  </a:cubicBezTo>
                  <a:cubicBezTo>
                    <a:pt x="15" y="19"/>
                    <a:pt x="15" y="19"/>
                    <a:pt x="15" y="18"/>
                  </a:cubicBezTo>
                  <a:cubicBezTo>
                    <a:pt x="15" y="15"/>
                    <a:pt x="13" y="14"/>
                    <a:pt x="10" y="14"/>
                  </a:cubicBezTo>
                  <a:cubicBezTo>
                    <a:pt x="9" y="14"/>
                    <a:pt x="9" y="14"/>
                    <a:pt x="9" y="14"/>
                  </a:cubicBezTo>
                  <a:cubicBezTo>
                    <a:pt x="9" y="23"/>
                    <a:pt x="9" y="23"/>
                    <a:pt x="9" y="23"/>
                  </a:cubicBezTo>
                  <a:cubicBezTo>
                    <a:pt x="9" y="25"/>
                    <a:pt x="10" y="25"/>
                    <a:pt x="12" y="25"/>
                  </a:cubicBezTo>
                  <a:cubicBezTo>
                    <a:pt x="17" y="25"/>
                    <a:pt x="22" y="21"/>
                    <a:pt x="23" y="17"/>
                  </a:cubicBezTo>
                  <a:cubicBezTo>
                    <a:pt x="23" y="17"/>
                    <a:pt x="23" y="16"/>
                    <a:pt x="23" y="16"/>
                  </a:cubicBezTo>
                  <a:cubicBezTo>
                    <a:pt x="24" y="16"/>
                    <a:pt x="24" y="17"/>
                    <a:pt x="24" y="17"/>
                  </a:cubicBezTo>
                  <a:cubicBezTo>
                    <a:pt x="24" y="17"/>
                    <a:pt x="24" y="18"/>
                    <a:pt x="24" y="18"/>
                  </a:cubicBezTo>
                  <a:cubicBezTo>
                    <a:pt x="22" y="27"/>
                    <a:pt x="22" y="27"/>
                    <a:pt x="22" y="27"/>
                  </a:cubicBezTo>
                  <a:cubicBezTo>
                    <a:pt x="17" y="27"/>
                    <a:pt x="12"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 name="Freeform 11"/>
            <p:cNvSpPr/>
            <p:nvPr/>
          </p:nvSpPr>
          <p:spPr bwMode="auto">
            <a:xfrm>
              <a:off x="5916613" y="5832475"/>
              <a:ext cx="163513" cy="158750"/>
            </a:xfrm>
            <a:custGeom>
              <a:avLst/>
              <a:gdLst>
                <a:gd name="T0" fmla="*/ 7 w 29"/>
                <a:gd name="T1" fmla="*/ 21 h 28"/>
                <a:gd name="T2" fmla="*/ 10 w 29"/>
                <a:gd name="T3" fmla="*/ 26 h 28"/>
                <a:gd name="T4" fmla="*/ 12 w 29"/>
                <a:gd name="T5" fmla="*/ 26 h 28"/>
                <a:gd name="T6" fmla="*/ 11 w 29"/>
                <a:gd name="T7" fmla="*/ 27 h 28"/>
                <a:gd name="T8" fmla="*/ 5 w 29"/>
                <a:gd name="T9" fmla="*/ 27 h 28"/>
                <a:gd name="T10" fmla="*/ 1 w 29"/>
                <a:gd name="T11" fmla="*/ 27 h 28"/>
                <a:gd name="T12" fmla="*/ 0 w 29"/>
                <a:gd name="T13" fmla="*/ 26 h 28"/>
                <a:gd name="T14" fmla="*/ 2 w 29"/>
                <a:gd name="T15" fmla="*/ 26 h 28"/>
                <a:gd name="T16" fmla="*/ 5 w 29"/>
                <a:gd name="T17" fmla="*/ 21 h 28"/>
                <a:gd name="T18" fmla="*/ 5 w 29"/>
                <a:gd name="T19" fmla="*/ 3 h 28"/>
                <a:gd name="T20" fmla="*/ 1 w 29"/>
                <a:gd name="T21" fmla="*/ 1 h 28"/>
                <a:gd name="T22" fmla="*/ 0 w 29"/>
                <a:gd name="T23" fmla="*/ 0 h 28"/>
                <a:gd name="T24" fmla="*/ 1 w 29"/>
                <a:gd name="T25" fmla="*/ 0 h 28"/>
                <a:gd name="T26" fmla="*/ 5 w 29"/>
                <a:gd name="T27" fmla="*/ 0 h 28"/>
                <a:gd name="T28" fmla="*/ 9 w 29"/>
                <a:gd name="T29" fmla="*/ 0 h 28"/>
                <a:gd name="T30" fmla="*/ 22 w 29"/>
                <a:gd name="T31" fmla="*/ 15 h 28"/>
                <a:gd name="T32" fmla="*/ 22 w 29"/>
                <a:gd name="T33" fmla="*/ 16 h 28"/>
                <a:gd name="T34" fmla="*/ 22 w 29"/>
                <a:gd name="T35" fmla="*/ 6 h 28"/>
                <a:gd name="T36" fmla="*/ 20 w 29"/>
                <a:gd name="T37" fmla="*/ 1 h 28"/>
                <a:gd name="T38" fmla="*/ 18 w 29"/>
                <a:gd name="T39" fmla="*/ 0 h 28"/>
                <a:gd name="T40" fmla="*/ 18 w 29"/>
                <a:gd name="T41" fmla="*/ 0 h 28"/>
                <a:gd name="T42" fmla="*/ 24 w 29"/>
                <a:gd name="T43" fmla="*/ 0 h 28"/>
                <a:gd name="T44" fmla="*/ 28 w 29"/>
                <a:gd name="T45" fmla="*/ 0 h 28"/>
                <a:gd name="T46" fmla="*/ 29 w 29"/>
                <a:gd name="T47" fmla="*/ 0 h 28"/>
                <a:gd name="T48" fmla="*/ 27 w 29"/>
                <a:gd name="T49" fmla="*/ 1 h 28"/>
                <a:gd name="T50" fmla="*/ 24 w 29"/>
                <a:gd name="T51" fmla="*/ 6 h 28"/>
                <a:gd name="T52" fmla="*/ 24 w 29"/>
                <a:gd name="T53" fmla="*/ 26 h 28"/>
                <a:gd name="T54" fmla="*/ 24 w 29"/>
                <a:gd name="T55" fmla="*/ 28 h 28"/>
                <a:gd name="T56" fmla="*/ 23 w 29"/>
                <a:gd name="T57" fmla="*/ 27 h 28"/>
                <a:gd name="T58" fmla="*/ 7 w 29"/>
                <a:gd name="T59" fmla="*/ 7 h 28"/>
                <a:gd name="T60" fmla="*/ 7 w 29"/>
                <a:gd name="T61" fmla="*/ 6 h 28"/>
                <a:gd name="T62" fmla="*/ 7 w 29"/>
                <a:gd name="T63"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28">
                  <a:moveTo>
                    <a:pt x="7" y="21"/>
                  </a:moveTo>
                  <a:cubicBezTo>
                    <a:pt x="7" y="24"/>
                    <a:pt x="8" y="25"/>
                    <a:pt x="10" y="26"/>
                  </a:cubicBezTo>
                  <a:cubicBezTo>
                    <a:pt x="11" y="26"/>
                    <a:pt x="12" y="26"/>
                    <a:pt x="12" y="26"/>
                  </a:cubicBezTo>
                  <a:cubicBezTo>
                    <a:pt x="12" y="27"/>
                    <a:pt x="12" y="27"/>
                    <a:pt x="11" y="27"/>
                  </a:cubicBezTo>
                  <a:cubicBezTo>
                    <a:pt x="10" y="27"/>
                    <a:pt x="7" y="27"/>
                    <a:pt x="5" y="27"/>
                  </a:cubicBezTo>
                  <a:cubicBezTo>
                    <a:pt x="4" y="27"/>
                    <a:pt x="2" y="27"/>
                    <a:pt x="1" y="27"/>
                  </a:cubicBezTo>
                  <a:cubicBezTo>
                    <a:pt x="0" y="27"/>
                    <a:pt x="0" y="27"/>
                    <a:pt x="0" y="26"/>
                  </a:cubicBezTo>
                  <a:cubicBezTo>
                    <a:pt x="0" y="26"/>
                    <a:pt x="1" y="26"/>
                    <a:pt x="2" y="26"/>
                  </a:cubicBezTo>
                  <a:cubicBezTo>
                    <a:pt x="4" y="25"/>
                    <a:pt x="5" y="24"/>
                    <a:pt x="5" y="21"/>
                  </a:cubicBezTo>
                  <a:cubicBezTo>
                    <a:pt x="5" y="3"/>
                    <a:pt x="5" y="3"/>
                    <a:pt x="5" y="3"/>
                  </a:cubicBezTo>
                  <a:cubicBezTo>
                    <a:pt x="3" y="1"/>
                    <a:pt x="2" y="1"/>
                    <a:pt x="1" y="1"/>
                  </a:cubicBezTo>
                  <a:cubicBezTo>
                    <a:pt x="0" y="1"/>
                    <a:pt x="0" y="1"/>
                    <a:pt x="0" y="0"/>
                  </a:cubicBezTo>
                  <a:cubicBezTo>
                    <a:pt x="0" y="0"/>
                    <a:pt x="0" y="0"/>
                    <a:pt x="1" y="0"/>
                  </a:cubicBezTo>
                  <a:cubicBezTo>
                    <a:pt x="2" y="0"/>
                    <a:pt x="3" y="0"/>
                    <a:pt x="5" y="0"/>
                  </a:cubicBezTo>
                  <a:cubicBezTo>
                    <a:pt x="9" y="0"/>
                    <a:pt x="9" y="0"/>
                    <a:pt x="9" y="0"/>
                  </a:cubicBezTo>
                  <a:cubicBezTo>
                    <a:pt x="22" y="15"/>
                    <a:pt x="22" y="15"/>
                    <a:pt x="22" y="15"/>
                  </a:cubicBezTo>
                  <a:cubicBezTo>
                    <a:pt x="22" y="16"/>
                    <a:pt x="22" y="16"/>
                    <a:pt x="22" y="16"/>
                  </a:cubicBezTo>
                  <a:cubicBezTo>
                    <a:pt x="22" y="6"/>
                    <a:pt x="22" y="6"/>
                    <a:pt x="22" y="6"/>
                  </a:cubicBezTo>
                  <a:cubicBezTo>
                    <a:pt x="22" y="3"/>
                    <a:pt x="21" y="2"/>
                    <a:pt x="20" y="1"/>
                  </a:cubicBezTo>
                  <a:cubicBezTo>
                    <a:pt x="19" y="1"/>
                    <a:pt x="18" y="1"/>
                    <a:pt x="18" y="0"/>
                  </a:cubicBezTo>
                  <a:cubicBezTo>
                    <a:pt x="18" y="0"/>
                    <a:pt x="18" y="0"/>
                    <a:pt x="18" y="0"/>
                  </a:cubicBezTo>
                  <a:cubicBezTo>
                    <a:pt x="20" y="0"/>
                    <a:pt x="22" y="0"/>
                    <a:pt x="24" y="0"/>
                  </a:cubicBezTo>
                  <a:cubicBezTo>
                    <a:pt x="26" y="0"/>
                    <a:pt x="27" y="0"/>
                    <a:pt x="28" y="0"/>
                  </a:cubicBezTo>
                  <a:cubicBezTo>
                    <a:pt x="29" y="0"/>
                    <a:pt x="29" y="0"/>
                    <a:pt x="29" y="0"/>
                  </a:cubicBezTo>
                  <a:cubicBezTo>
                    <a:pt x="29" y="1"/>
                    <a:pt x="28" y="1"/>
                    <a:pt x="27" y="1"/>
                  </a:cubicBezTo>
                  <a:cubicBezTo>
                    <a:pt x="26" y="2"/>
                    <a:pt x="24" y="3"/>
                    <a:pt x="24" y="6"/>
                  </a:cubicBezTo>
                  <a:cubicBezTo>
                    <a:pt x="24" y="26"/>
                    <a:pt x="24" y="26"/>
                    <a:pt x="24" y="26"/>
                  </a:cubicBezTo>
                  <a:cubicBezTo>
                    <a:pt x="24" y="27"/>
                    <a:pt x="24" y="28"/>
                    <a:pt x="24" y="28"/>
                  </a:cubicBezTo>
                  <a:cubicBezTo>
                    <a:pt x="24" y="28"/>
                    <a:pt x="23" y="27"/>
                    <a:pt x="23" y="27"/>
                  </a:cubicBezTo>
                  <a:cubicBezTo>
                    <a:pt x="7" y="7"/>
                    <a:pt x="7" y="7"/>
                    <a:pt x="7" y="7"/>
                  </a:cubicBezTo>
                  <a:cubicBezTo>
                    <a:pt x="7" y="6"/>
                    <a:pt x="7" y="6"/>
                    <a:pt x="7" y="6"/>
                  </a:cubicBezTo>
                  <a:lnTo>
                    <a:pt x="7" y="21"/>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4" name="Freeform 12"/>
            <p:cNvSpPr/>
            <p:nvPr/>
          </p:nvSpPr>
          <p:spPr bwMode="auto">
            <a:xfrm>
              <a:off x="6096000" y="5832475"/>
              <a:ext cx="119063" cy="153988"/>
            </a:xfrm>
            <a:custGeom>
              <a:avLst/>
              <a:gdLst>
                <a:gd name="T0" fmla="*/ 10 w 21"/>
                <a:gd name="T1" fmla="*/ 25 h 27"/>
                <a:gd name="T2" fmla="*/ 19 w 21"/>
                <a:gd name="T3" fmla="*/ 21 h 27"/>
                <a:gd name="T4" fmla="*/ 21 w 21"/>
                <a:gd name="T5" fmla="*/ 16 h 27"/>
                <a:gd name="T6" fmla="*/ 21 w 21"/>
                <a:gd name="T7" fmla="*/ 17 h 27"/>
                <a:gd name="T8" fmla="*/ 21 w 21"/>
                <a:gd name="T9" fmla="*/ 18 h 27"/>
                <a:gd name="T10" fmla="*/ 19 w 21"/>
                <a:gd name="T11" fmla="*/ 27 h 27"/>
                <a:gd name="T12" fmla="*/ 10 w 21"/>
                <a:gd name="T13" fmla="*/ 27 h 27"/>
                <a:gd name="T14" fmla="*/ 0 w 21"/>
                <a:gd name="T15" fmla="*/ 27 h 27"/>
                <a:gd name="T16" fmla="*/ 0 w 21"/>
                <a:gd name="T17" fmla="*/ 26 h 27"/>
                <a:gd name="T18" fmla="*/ 0 w 21"/>
                <a:gd name="T19" fmla="*/ 25 h 27"/>
                <a:gd name="T20" fmla="*/ 14 w 21"/>
                <a:gd name="T21" fmla="*/ 2 h 27"/>
                <a:gd name="T22" fmla="*/ 12 w 21"/>
                <a:gd name="T23" fmla="*/ 2 h 27"/>
                <a:gd name="T24" fmla="*/ 3 w 21"/>
                <a:gd name="T25" fmla="*/ 5 h 27"/>
                <a:gd name="T26" fmla="*/ 1 w 21"/>
                <a:gd name="T27" fmla="*/ 9 h 27"/>
                <a:gd name="T28" fmla="*/ 1 w 21"/>
                <a:gd name="T29" fmla="*/ 8 h 27"/>
                <a:gd name="T30" fmla="*/ 1 w 21"/>
                <a:gd name="T31" fmla="*/ 7 h 27"/>
                <a:gd name="T32" fmla="*/ 3 w 21"/>
                <a:gd name="T33" fmla="*/ 0 h 27"/>
                <a:gd name="T34" fmla="*/ 12 w 21"/>
                <a:gd name="T35" fmla="*/ 0 h 27"/>
                <a:gd name="T36" fmla="*/ 21 w 21"/>
                <a:gd name="T37" fmla="*/ 0 h 27"/>
                <a:gd name="T38" fmla="*/ 21 w 21"/>
                <a:gd name="T39" fmla="*/ 0 h 27"/>
                <a:gd name="T40" fmla="*/ 21 w 21"/>
                <a:gd name="T41" fmla="*/ 1 h 27"/>
                <a:gd name="T42" fmla="*/ 7 w 21"/>
                <a:gd name="T43" fmla="*/ 25 h 27"/>
                <a:gd name="T44" fmla="*/ 10 w 21"/>
                <a:gd name="T45" fmla="*/ 2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27">
                  <a:moveTo>
                    <a:pt x="10" y="25"/>
                  </a:moveTo>
                  <a:cubicBezTo>
                    <a:pt x="16" y="25"/>
                    <a:pt x="17" y="24"/>
                    <a:pt x="19" y="21"/>
                  </a:cubicBezTo>
                  <a:cubicBezTo>
                    <a:pt x="20" y="19"/>
                    <a:pt x="20" y="16"/>
                    <a:pt x="21" y="16"/>
                  </a:cubicBezTo>
                  <a:cubicBezTo>
                    <a:pt x="21" y="16"/>
                    <a:pt x="21" y="17"/>
                    <a:pt x="21" y="17"/>
                  </a:cubicBezTo>
                  <a:cubicBezTo>
                    <a:pt x="21" y="17"/>
                    <a:pt x="21" y="18"/>
                    <a:pt x="21" y="18"/>
                  </a:cubicBezTo>
                  <a:cubicBezTo>
                    <a:pt x="19" y="27"/>
                    <a:pt x="19" y="27"/>
                    <a:pt x="19" y="27"/>
                  </a:cubicBezTo>
                  <a:cubicBezTo>
                    <a:pt x="16" y="27"/>
                    <a:pt x="13" y="27"/>
                    <a:pt x="10" y="27"/>
                  </a:cubicBezTo>
                  <a:cubicBezTo>
                    <a:pt x="7" y="27"/>
                    <a:pt x="3" y="27"/>
                    <a:pt x="0" y="27"/>
                  </a:cubicBezTo>
                  <a:cubicBezTo>
                    <a:pt x="0" y="27"/>
                    <a:pt x="0" y="27"/>
                    <a:pt x="0" y="26"/>
                  </a:cubicBezTo>
                  <a:cubicBezTo>
                    <a:pt x="0" y="26"/>
                    <a:pt x="0" y="26"/>
                    <a:pt x="0" y="25"/>
                  </a:cubicBezTo>
                  <a:cubicBezTo>
                    <a:pt x="14" y="2"/>
                    <a:pt x="14" y="2"/>
                    <a:pt x="14" y="2"/>
                  </a:cubicBezTo>
                  <a:cubicBezTo>
                    <a:pt x="12" y="2"/>
                    <a:pt x="12" y="2"/>
                    <a:pt x="12" y="2"/>
                  </a:cubicBezTo>
                  <a:cubicBezTo>
                    <a:pt x="6" y="2"/>
                    <a:pt x="5" y="2"/>
                    <a:pt x="3" y="5"/>
                  </a:cubicBezTo>
                  <a:cubicBezTo>
                    <a:pt x="2" y="8"/>
                    <a:pt x="2" y="9"/>
                    <a:pt x="1" y="9"/>
                  </a:cubicBezTo>
                  <a:cubicBezTo>
                    <a:pt x="1" y="9"/>
                    <a:pt x="1" y="9"/>
                    <a:pt x="1" y="8"/>
                  </a:cubicBezTo>
                  <a:cubicBezTo>
                    <a:pt x="1" y="8"/>
                    <a:pt x="1" y="8"/>
                    <a:pt x="1" y="7"/>
                  </a:cubicBezTo>
                  <a:cubicBezTo>
                    <a:pt x="3" y="0"/>
                    <a:pt x="3" y="0"/>
                    <a:pt x="3" y="0"/>
                  </a:cubicBezTo>
                  <a:cubicBezTo>
                    <a:pt x="6" y="0"/>
                    <a:pt x="9" y="0"/>
                    <a:pt x="12" y="0"/>
                  </a:cubicBezTo>
                  <a:cubicBezTo>
                    <a:pt x="15" y="0"/>
                    <a:pt x="18" y="0"/>
                    <a:pt x="21" y="0"/>
                  </a:cubicBezTo>
                  <a:cubicBezTo>
                    <a:pt x="21" y="0"/>
                    <a:pt x="21" y="0"/>
                    <a:pt x="21" y="0"/>
                  </a:cubicBezTo>
                  <a:cubicBezTo>
                    <a:pt x="21" y="0"/>
                    <a:pt x="21" y="1"/>
                    <a:pt x="21" y="1"/>
                  </a:cubicBezTo>
                  <a:cubicBezTo>
                    <a:pt x="7" y="25"/>
                    <a:pt x="7" y="25"/>
                    <a:pt x="7" y="25"/>
                  </a:cubicBezTo>
                  <a:lnTo>
                    <a:pt x="10" y="2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5" name="Freeform 13"/>
            <p:cNvSpPr/>
            <p:nvPr/>
          </p:nvSpPr>
          <p:spPr bwMode="auto">
            <a:xfrm>
              <a:off x="6837363" y="5832475"/>
              <a:ext cx="150813" cy="153988"/>
            </a:xfrm>
            <a:custGeom>
              <a:avLst/>
              <a:gdLst>
                <a:gd name="T0" fmla="*/ 23 w 27"/>
                <a:gd name="T1" fmla="*/ 18 h 27"/>
                <a:gd name="T2" fmla="*/ 13 w 27"/>
                <a:gd name="T3" fmla="*/ 27 h 27"/>
                <a:gd name="T4" fmla="*/ 3 w 27"/>
                <a:gd name="T5" fmla="*/ 20 h 27"/>
                <a:gd name="T6" fmla="*/ 3 w 27"/>
                <a:gd name="T7" fmla="*/ 3 h 27"/>
                <a:gd name="T8" fmla="*/ 0 w 27"/>
                <a:gd name="T9" fmla="*/ 0 h 27"/>
                <a:gd name="T10" fmla="*/ 1 w 27"/>
                <a:gd name="T11" fmla="*/ 0 h 27"/>
                <a:gd name="T12" fmla="*/ 6 w 27"/>
                <a:gd name="T13" fmla="*/ 0 h 27"/>
                <a:gd name="T14" fmla="*/ 12 w 27"/>
                <a:gd name="T15" fmla="*/ 0 h 27"/>
                <a:gd name="T16" fmla="*/ 12 w 27"/>
                <a:gd name="T17" fmla="*/ 0 h 27"/>
                <a:gd name="T18" fmla="*/ 9 w 27"/>
                <a:gd name="T19" fmla="*/ 3 h 27"/>
                <a:gd name="T20" fmla="*/ 9 w 27"/>
                <a:gd name="T21" fmla="*/ 20 h 27"/>
                <a:gd name="T22" fmla="*/ 15 w 27"/>
                <a:gd name="T23" fmla="*/ 26 h 27"/>
                <a:gd name="T24" fmla="*/ 21 w 27"/>
                <a:gd name="T25" fmla="*/ 19 h 27"/>
                <a:gd name="T26" fmla="*/ 21 w 27"/>
                <a:gd name="T27" fmla="*/ 7 h 27"/>
                <a:gd name="T28" fmla="*/ 18 w 27"/>
                <a:gd name="T29" fmla="*/ 1 h 27"/>
                <a:gd name="T30" fmla="*/ 17 w 27"/>
                <a:gd name="T31" fmla="*/ 0 h 27"/>
                <a:gd name="T32" fmla="*/ 17 w 27"/>
                <a:gd name="T33" fmla="*/ 0 h 27"/>
                <a:gd name="T34" fmla="*/ 22 w 27"/>
                <a:gd name="T35" fmla="*/ 0 h 27"/>
                <a:gd name="T36" fmla="*/ 27 w 27"/>
                <a:gd name="T37" fmla="*/ 0 h 27"/>
                <a:gd name="T38" fmla="*/ 27 w 27"/>
                <a:gd name="T39" fmla="*/ 0 h 27"/>
                <a:gd name="T40" fmla="*/ 26 w 27"/>
                <a:gd name="T41" fmla="*/ 1 h 27"/>
                <a:gd name="T42" fmla="*/ 23 w 27"/>
                <a:gd name="T43" fmla="*/ 7 h 27"/>
                <a:gd name="T44" fmla="*/ 23 w 27"/>
                <a:gd name="T45" fmla="*/ 18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7" h="27">
                  <a:moveTo>
                    <a:pt x="23" y="18"/>
                  </a:moveTo>
                  <a:cubicBezTo>
                    <a:pt x="23" y="24"/>
                    <a:pt x="19" y="27"/>
                    <a:pt x="13" y="27"/>
                  </a:cubicBezTo>
                  <a:cubicBezTo>
                    <a:pt x="7" y="27"/>
                    <a:pt x="3" y="24"/>
                    <a:pt x="3" y="20"/>
                  </a:cubicBezTo>
                  <a:cubicBezTo>
                    <a:pt x="3" y="3"/>
                    <a:pt x="3" y="3"/>
                    <a:pt x="3" y="3"/>
                  </a:cubicBezTo>
                  <a:cubicBezTo>
                    <a:pt x="3" y="0"/>
                    <a:pt x="0" y="1"/>
                    <a:pt x="0" y="0"/>
                  </a:cubicBezTo>
                  <a:cubicBezTo>
                    <a:pt x="0" y="0"/>
                    <a:pt x="0" y="0"/>
                    <a:pt x="1" y="0"/>
                  </a:cubicBezTo>
                  <a:cubicBezTo>
                    <a:pt x="3" y="0"/>
                    <a:pt x="5" y="0"/>
                    <a:pt x="6" y="0"/>
                  </a:cubicBezTo>
                  <a:cubicBezTo>
                    <a:pt x="8" y="0"/>
                    <a:pt x="10" y="0"/>
                    <a:pt x="12" y="0"/>
                  </a:cubicBezTo>
                  <a:cubicBezTo>
                    <a:pt x="12" y="0"/>
                    <a:pt x="12" y="0"/>
                    <a:pt x="12" y="0"/>
                  </a:cubicBezTo>
                  <a:cubicBezTo>
                    <a:pt x="12" y="1"/>
                    <a:pt x="9" y="0"/>
                    <a:pt x="9" y="3"/>
                  </a:cubicBezTo>
                  <a:cubicBezTo>
                    <a:pt x="9" y="20"/>
                    <a:pt x="9" y="20"/>
                    <a:pt x="9" y="20"/>
                  </a:cubicBezTo>
                  <a:cubicBezTo>
                    <a:pt x="9" y="24"/>
                    <a:pt x="12" y="26"/>
                    <a:pt x="15" y="26"/>
                  </a:cubicBezTo>
                  <a:cubicBezTo>
                    <a:pt x="18" y="26"/>
                    <a:pt x="21" y="23"/>
                    <a:pt x="21" y="19"/>
                  </a:cubicBezTo>
                  <a:cubicBezTo>
                    <a:pt x="21" y="7"/>
                    <a:pt x="21" y="7"/>
                    <a:pt x="21" y="7"/>
                  </a:cubicBezTo>
                  <a:cubicBezTo>
                    <a:pt x="21" y="3"/>
                    <a:pt x="20" y="1"/>
                    <a:pt x="18" y="1"/>
                  </a:cubicBezTo>
                  <a:cubicBezTo>
                    <a:pt x="17" y="1"/>
                    <a:pt x="17" y="1"/>
                    <a:pt x="17" y="0"/>
                  </a:cubicBezTo>
                  <a:cubicBezTo>
                    <a:pt x="17" y="0"/>
                    <a:pt x="17" y="0"/>
                    <a:pt x="17" y="0"/>
                  </a:cubicBezTo>
                  <a:cubicBezTo>
                    <a:pt x="18" y="0"/>
                    <a:pt x="21" y="0"/>
                    <a:pt x="22" y="0"/>
                  </a:cubicBezTo>
                  <a:cubicBezTo>
                    <a:pt x="24" y="0"/>
                    <a:pt x="26" y="0"/>
                    <a:pt x="27" y="0"/>
                  </a:cubicBezTo>
                  <a:cubicBezTo>
                    <a:pt x="27" y="0"/>
                    <a:pt x="27" y="0"/>
                    <a:pt x="27" y="0"/>
                  </a:cubicBezTo>
                  <a:cubicBezTo>
                    <a:pt x="27" y="1"/>
                    <a:pt x="26" y="1"/>
                    <a:pt x="26" y="1"/>
                  </a:cubicBezTo>
                  <a:cubicBezTo>
                    <a:pt x="24" y="1"/>
                    <a:pt x="23" y="3"/>
                    <a:pt x="23" y="7"/>
                  </a:cubicBezTo>
                  <a:lnTo>
                    <a:pt x="23" y="18"/>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6" name="Freeform 14"/>
            <p:cNvSpPr/>
            <p:nvPr/>
          </p:nvSpPr>
          <p:spPr bwMode="auto">
            <a:xfrm>
              <a:off x="7178675" y="5832475"/>
              <a:ext cx="73025" cy="153988"/>
            </a:xfrm>
            <a:custGeom>
              <a:avLst/>
              <a:gdLst>
                <a:gd name="T0" fmla="*/ 3 w 13"/>
                <a:gd name="T1" fmla="*/ 3 h 27"/>
                <a:gd name="T2" fmla="*/ 0 w 13"/>
                <a:gd name="T3" fmla="*/ 0 h 27"/>
                <a:gd name="T4" fmla="*/ 1 w 13"/>
                <a:gd name="T5" fmla="*/ 0 h 27"/>
                <a:gd name="T6" fmla="*/ 6 w 13"/>
                <a:gd name="T7" fmla="*/ 0 h 27"/>
                <a:gd name="T8" fmla="*/ 12 w 13"/>
                <a:gd name="T9" fmla="*/ 0 h 27"/>
                <a:gd name="T10" fmla="*/ 13 w 13"/>
                <a:gd name="T11" fmla="*/ 0 h 27"/>
                <a:gd name="T12" fmla="*/ 9 w 13"/>
                <a:gd name="T13" fmla="*/ 3 h 27"/>
                <a:gd name="T14" fmla="*/ 9 w 13"/>
                <a:gd name="T15" fmla="*/ 23 h 27"/>
                <a:gd name="T16" fmla="*/ 13 w 13"/>
                <a:gd name="T17" fmla="*/ 26 h 27"/>
                <a:gd name="T18" fmla="*/ 12 w 13"/>
                <a:gd name="T19" fmla="*/ 27 h 27"/>
                <a:gd name="T20" fmla="*/ 6 w 13"/>
                <a:gd name="T21" fmla="*/ 27 h 27"/>
                <a:gd name="T22" fmla="*/ 1 w 13"/>
                <a:gd name="T23" fmla="*/ 27 h 27"/>
                <a:gd name="T24" fmla="*/ 0 w 13"/>
                <a:gd name="T25" fmla="*/ 26 h 27"/>
                <a:gd name="T26" fmla="*/ 3 w 13"/>
                <a:gd name="T27" fmla="*/ 23 h 27"/>
                <a:gd name="T28" fmla="*/ 3 w 13"/>
                <a:gd name="T29"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 h="27">
                  <a:moveTo>
                    <a:pt x="3" y="3"/>
                  </a:moveTo>
                  <a:cubicBezTo>
                    <a:pt x="3" y="0"/>
                    <a:pt x="0" y="1"/>
                    <a:pt x="0" y="0"/>
                  </a:cubicBezTo>
                  <a:cubicBezTo>
                    <a:pt x="0" y="0"/>
                    <a:pt x="0" y="0"/>
                    <a:pt x="1" y="0"/>
                  </a:cubicBezTo>
                  <a:cubicBezTo>
                    <a:pt x="3" y="0"/>
                    <a:pt x="5" y="0"/>
                    <a:pt x="6" y="0"/>
                  </a:cubicBezTo>
                  <a:cubicBezTo>
                    <a:pt x="8" y="0"/>
                    <a:pt x="10" y="0"/>
                    <a:pt x="12" y="0"/>
                  </a:cubicBezTo>
                  <a:cubicBezTo>
                    <a:pt x="12" y="0"/>
                    <a:pt x="13" y="0"/>
                    <a:pt x="13" y="0"/>
                  </a:cubicBezTo>
                  <a:cubicBezTo>
                    <a:pt x="13" y="1"/>
                    <a:pt x="9" y="0"/>
                    <a:pt x="9" y="3"/>
                  </a:cubicBezTo>
                  <a:cubicBezTo>
                    <a:pt x="9" y="23"/>
                    <a:pt x="9" y="23"/>
                    <a:pt x="9" y="23"/>
                  </a:cubicBezTo>
                  <a:cubicBezTo>
                    <a:pt x="9" y="27"/>
                    <a:pt x="13" y="25"/>
                    <a:pt x="13" y="26"/>
                  </a:cubicBezTo>
                  <a:cubicBezTo>
                    <a:pt x="13" y="27"/>
                    <a:pt x="12" y="27"/>
                    <a:pt x="12" y="27"/>
                  </a:cubicBezTo>
                  <a:cubicBezTo>
                    <a:pt x="10" y="27"/>
                    <a:pt x="8"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7" name="Freeform 15"/>
            <p:cNvSpPr/>
            <p:nvPr/>
          </p:nvSpPr>
          <p:spPr bwMode="auto">
            <a:xfrm>
              <a:off x="7267575" y="5832475"/>
              <a:ext cx="157163" cy="153988"/>
            </a:xfrm>
            <a:custGeom>
              <a:avLst/>
              <a:gdLst>
                <a:gd name="T0" fmla="*/ 20 w 28"/>
                <a:gd name="T1" fmla="*/ 7 h 27"/>
                <a:gd name="T2" fmla="*/ 20 w 28"/>
                <a:gd name="T3" fmla="*/ 4 h 27"/>
                <a:gd name="T4" fmla="*/ 17 w 28"/>
                <a:gd name="T5" fmla="*/ 0 h 27"/>
                <a:gd name="T6" fmla="*/ 18 w 28"/>
                <a:gd name="T7" fmla="*/ 0 h 27"/>
                <a:gd name="T8" fmla="*/ 21 w 28"/>
                <a:gd name="T9" fmla="*/ 0 h 27"/>
                <a:gd name="T10" fmla="*/ 27 w 28"/>
                <a:gd name="T11" fmla="*/ 0 h 27"/>
                <a:gd name="T12" fmla="*/ 28 w 28"/>
                <a:gd name="T13" fmla="*/ 0 h 27"/>
                <a:gd name="T14" fmla="*/ 23 w 28"/>
                <a:gd name="T15" fmla="*/ 6 h 27"/>
                <a:gd name="T16" fmla="*/ 14 w 28"/>
                <a:gd name="T17" fmla="*/ 26 h 27"/>
                <a:gd name="T18" fmla="*/ 13 w 28"/>
                <a:gd name="T19" fmla="*/ 27 h 27"/>
                <a:gd name="T20" fmla="*/ 13 w 28"/>
                <a:gd name="T21" fmla="*/ 26 h 27"/>
                <a:gd name="T22" fmla="*/ 3 w 28"/>
                <a:gd name="T23" fmla="*/ 3 h 27"/>
                <a:gd name="T24" fmla="*/ 0 w 28"/>
                <a:gd name="T25" fmla="*/ 0 h 27"/>
                <a:gd name="T26" fmla="*/ 0 w 28"/>
                <a:gd name="T27" fmla="*/ 0 h 27"/>
                <a:gd name="T28" fmla="*/ 6 w 28"/>
                <a:gd name="T29" fmla="*/ 0 h 27"/>
                <a:gd name="T30" fmla="*/ 11 w 28"/>
                <a:gd name="T31" fmla="*/ 0 h 27"/>
                <a:gd name="T32" fmla="*/ 12 w 28"/>
                <a:gd name="T33" fmla="*/ 0 h 27"/>
                <a:gd name="T34" fmla="*/ 9 w 28"/>
                <a:gd name="T35" fmla="*/ 2 h 27"/>
                <a:gd name="T36" fmla="*/ 10 w 28"/>
                <a:gd name="T37" fmla="*/ 4 h 27"/>
                <a:gd name="T38" fmla="*/ 15 w 28"/>
                <a:gd name="T39" fmla="*/ 18 h 27"/>
                <a:gd name="T40" fmla="*/ 20 w 28"/>
                <a:gd name="T41" fmla="*/ 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8" h="27">
                  <a:moveTo>
                    <a:pt x="20" y="7"/>
                  </a:moveTo>
                  <a:cubicBezTo>
                    <a:pt x="20" y="6"/>
                    <a:pt x="20" y="5"/>
                    <a:pt x="20" y="4"/>
                  </a:cubicBezTo>
                  <a:cubicBezTo>
                    <a:pt x="20" y="0"/>
                    <a:pt x="17" y="1"/>
                    <a:pt x="17" y="0"/>
                  </a:cubicBezTo>
                  <a:cubicBezTo>
                    <a:pt x="17" y="0"/>
                    <a:pt x="17" y="0"/>
                    <a:pt x="18" y="0"/>
                  </a:cubicBezTo>
                  <a:cubicBezTo>
                    <a:pt x="19" y="0"/>
                    <a:pt x="20" y="0"/>
                    <a:pt x="21" y="0"/>
                  </a:cubicBezTo>
                  <a:cubicBezTo>
                    <a:pt x="23" y="0"/>
                    <a:pt x="25" y="0"/>
                    <a:pt x="27" y="0"/>
                  </a:cubicBezTo>
                  <a:cubicBezTo>
                    <a:pt x="27" y="0"/>
                    <a:pt x="28" y="0"/>
                    <a:pt x="28" y="0"/>
                  </a:cubicBezTo>
                  <a:cubicBezTo>
                    <a:pt x="28" y="2"/>
                    <a:pt x="25" y="0"/>
                    <a:pt x="23" y="6"/>
                  </a:cubicBezTo>
                  <a:cubicBezTo>
                    <a:pt x="14" y="26"/>
                    <a:pt x="14" y="26"/>
                    <a:pt x="14" y="26"/>
                  </a:cubicBezTo>
                  <a:cubicBezTo>
                    <a:pt x="14" y="27"/>
                    <a:pt x="14" y="27"/>
                    <a:pt x="13" y="27"/>
                  </a:cubicBezTo>
                  <a:cubicBezTo>
                    <a:pt x="13" y="27"/>
                    <a:pt x="13" y="27"/>
                    <a:pt x="13" y="26"/>
                  </a:cubicBezTo>
                  <a:cubicBezTo>
                    <a:pt x="3" y="3"/>
                    <a:pt x="3" y="3"/>
                    <a:pt x="3" y="3"/>
                  </a:cubicBezTo>
                  <a:cubicBezTo>
                    <a:pt x="2" y="0"/>
                    <a:pt x="0" y="1"/>
                    <a:pt x="0" y="0"/>
                  </a:cubicBezTo>
                  <a:cubicBezTo>
                    <a:pt x="0" y="0"/>
                    <a:pt x="0" y="0"/>
                    <a:pt x="0" y="0"/>
                  </a:cubicBezTo>
                  <a:cubicBezTo>
                    <a:pt x="2" y="0"/>
                    <a:pt x="4" y="0"/>
                    <a:pt x="6" y="0"/>
                  </a:cubicBezTo>
                  <a:cubicBezTo>
                    <a:pt x="8" y="0"/>
                    <a:pt x="9" y="0"/>
                    <a:pt x="11" y="0"/>
                  </a:cubicBezTo>
                  <a:cubicBezTo>
                    <a:pt x="12" y="0"/>
                    <a:pt x="12" y="0"/>
                    <a:pt x="12" y="0"/>
                  </a:cubicBezTo>
                  <a:cubicBezTo>
                    <a:pt x="12" y="1"/>
                    <a:pt x="9" y="0"/>
                    <a:pt x="9" y="2"/>
                  </a:cubicBezTo>
                  <a:cubicBezTo>
                    <a:pt x="9" y="3"/>
                    <a:pt x="10" y="3"/>
                    <a:pt x="10" y="4"/>
                  </a:cubicBezTo>
                  <a:cubicBezTo>
                    <a:pt x="15" y="18"/>
                    <a:pt x="15" y="18"/>
                    <a:pt x="15" y="18"/>
                  </a:cubicBezTo>
                  <a:lnTo>
                    <a:pt x="20" y="7"/>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8" name="Freeform 16"/>
            <p:cNvSpPr>
              <a:spLocks noEditPoints="1"/>
            </p:cNvSpPr>
            <p:nvPr/>
          </p:nvSpPr>
          <p:spPr bwMode="auto">
            <a:xfrm>
              <a:off x="7599363" y="5832475"/>
              <a:ext cx="157163" cy="153988"/>
            </a:xfrm>
            <a:custGeom>
              <a:avLst/>
              <a:gdLst>
                <a:gd name="T0" fmla="*/ 14 w 28"/>
                <a:gd name="T1" fmla="*/ 17 h 27"/>
                <a:gd name="T2" fmla="*/ 9 w 28"/>
                <a:gd name="T3" fmla="*/ 14 h 27"/>
                <a:gd name="T4" fmla="*/ 9 w 28"/>
                <a:gd name="T5" fmla="*/ 23 h 27"/>
                <a:gd name="T6" fmla="*/ 13 w 28"/>
                <a:gd name="T7" fmla="*/ 26 h 27"/>
                <a:gd name="T8" fmla="*/ 12 w 28"/>
                <a:gd name="T9" fmla="*/ 27 h 27"/>
                <a:gd name="T10" fmla="*/ 6 w 28"/>
                <a:gd name="T11" fmla="*/ 27 h 27"/>
                <a:gd name="T12" fmla="*/ 1 w 28"/>
                <a:gd name="T13" fmla="*/ 27 h 27"/>
                <a:gd name="T14" fmla="*/ 0 w 28"/>
                <a:gd name="T15" fmla="*/ 26 h 27"/>
                <a:gd name="T16" fmla="*/ 4 w 28"/>
                <a:gd name="T17" fmla="*/ 23 h 27"/>
                <a:gd name="T18" fmla="*/ 4 w 28"/>
                <a:gd name="T19" fmla="*/ 3 h 27"/>
                <a:gd name="T20" fmla="*/ 0 w 28"/>
                <a:gd name="T21" fmla="*/ 0 h 27"/>
                <a:gd name="T22" fmla="*/ 1 w 28"/>
                <a:gd name="T23" fmla="*/ 0 h 27"/>
                <a:gd name="T24" fmla="*/ 6 w 28"/>
                <a:gd name="T25" fmla="*/ 0 h 27"/>
                <a:gd name="T26" fmla="*/ 13 w 28"/>
                <a:gd name="T27" fmla="*/ 0 h 27"/>
                <a:gd name="T28" fmla="*/ 23 w 28"/>
                <a:gd name="T29" fmla="*/ 7 h 27"/>
                <a:gd name="T30" fmla="*/ 13 w 28"/>
                <a:gd name="T31" fmla="*/ 14 h 27"/>
                <a:gd name="T32" fmla="*/ 13 w 28"/>
                <a:gd name="T33" fmla="*/ 14 h 27"/>
                <a:gd name="T34" fmla="*/ 21 w 28"/>
                <a:gd name="T35" fmla="*/ 18 h 27"/>
                <a:gd name="T36" fmla="*/ 24 w 28"/>
                <a:gd name="T37" fmla="*/ 24 h 27"/>
                <a:gd name="T38" fmla="*/ 28 w 28"/>
                <a:gd name="T39" fmla="*/ 26 h 27"/>
                <a:gd name="T40" fmla="*/ 28 w 28"/>
                <a:gd name="T41" fmla="*/ 27 h 27"/>
                <a:gd name="T42" fmla="*/ 23 w 28"/>
                <a:gd name="T43" fmla="*/ 27 h 27"/>
                <a:gd name="T44" fmla="*/ 19 w 28"/>
                <a:gd name="T45" fmla="*/ 27 h 27"/>
                <a:gd name="T46" fmla="*/ 14 w 28"/>
                <a:gd name="T47" fmla="*/ 17 h 27"/>
                <a:gd name="T48" fmla="*/ 9 w 28"/>
                <a:gd name="T49" fmla="*/ 12 h 27"/>
                <a:gd name="T50" fmla="*/ 11 w 28"/>
                <a:gd name="T51" fmla="*/ 12 h 27"/>
                <a:gd name="T52" fmla="*/ 17 w 28"/>
                <a:gd name="T53" fmla="*/ 7 h 27"/>
                <a:gd name="T54" fmla="*/ 12 w 28"/>
                <a:gd name="T55" fmla="*/ 2 h 27"/>
                <a:gd name="T56" fmla="*/ 9 w 28"/>
                <a:gd name="T57" fmla="*/ 2 h 27"/>
                <a:gd name="T58" fmla="*/ 9 w 28"/>
                <a:gd name="T59"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 h="27">
                  <a:moveTo>
                    <a:pt x="14" y="17"/>
                  </a:moveTo>
                  <a:cubicBezTo>
                    <a:pt x="13" y="15"/>
                    <a:pt x="12" y="14"/>
                    <a:pt x="9" y="14"/>
                  </a:cubicBezTo>
                  <a:cubicBezTo>
                    <a:pt x="9" y="23"/>
                    <a:pt x="9" y="23"/>
                    <a:pt x="9" y="23"/>
                  </a:cubicBezTo>
                  <a:cubicBezTo>
                    <a:pt x="9" y="27"/>
                    <a:pt x="13" y="25"/>
                    <a:pt x="13" y="26"/>
                  </a:cubicBezTo>
                  <a:cubicBezTo>
                    <a:pt x="13" y="27"/>
                    <a:pt x="13" y="27"/>
                    <a:pt x="12" y="27"/>
                  </a:cubicBezTo>
                  <a:cubicBezTo>
                    <a:pt x="10" y="27"/>
                    <a:pt x="8" y="27"/>
                    <a:pt x="6" y="27"/>
                  </a:cubicBezTo>
                  <a:cubicBezTo>
                    <a:pt x="5" y="27"/>
                    <a:pt x="3" y="27"/>
                    <a:pt x="1" y="27"/>
                  </a:cubicBezTo>
                  <a:cubicBezTo>
                    <a:pt x="0" y="27"/>
                    <a:pt x="0" y="27"/>
                    <a:pt x="0" y="26"/>
                  </a:cubicBezTo>
                  <a:cubicBezTo>
                    <a:pt x="0" y="25"/>
                    <a:pt x="4" y="27"/>
                    <a:pt x="4" y="23"/>
                  </a:cubicBezTo>
                  <a:cubicBezTo>
                    <a:pt x="4" y="3"/>
                    <a:pt x="4" y="3"/>
                    <a:pt x="4" y="3"/>
                  </a:cubicBezTo>
                  <a:cubicBezTo>
                    <a:pt x="4" y="0"/>
                    <a:pt x="0" y="1"/>
                    <a:pt x="0" y="0"/>
                  </a:cubicBezTo>
                  <a:cubicBezTo>
                    <a:pt x="0" y="0"/>
                    <a:pt x="0" y="0"/>
                    <a:pt x="1" y="0"/>
                  </a:cubicBezTo>
                  <a:cubicBezTo>
                    <a:pt x="3" y="0"/>
                    <a:pt x="5" y="0"/>
                    <a:pt x="6" y="0"/>
                  </a:cubicBezTo>
                  <a:cubicBezTo>
                    <a:pt x="8" y="0"/>
                    <a:pt x="10" y="0"/>
                    <a:pt x="13" y="0"/>
                  </a:cubicBezTo>
                  <a:cubicBezTo>
                    <a:pt x="19" y="0"/>
                    <a:pt x="23" y="3"/>
                    <a:pt x="23" y="7"/>
                  </a:cubicBezTo>
                  <a:cubicBezTo>
                    <a:pt x="23" y="10"/>
                    <a:pt x="21" y="13"/>
                    <a:pt x="13" y="14"/>
                  </a:cubicBezTo>
                  <a:cubicBezTo>
                    <a:pt x="13" y="14"/>
                    <a:pt x="13" y="14"/>
                    <a:pt x="13" y="14"/>
                  </a:cubicBezTo>
                  <a:cubicBezTo>
                    <a:pt x="17" y="14"/>
                    <a:pt x="19" y="15"/>
                    <a:pt x="21" y="18"/>
                  </a:cubicBezTo>
                  <a:cubicBezTo>
                    <a:pt x="24" y="24"/>
                    <a:pt x="24" y="24"/>
                    <a:pt x="24" y="24"/>
                  </a:cubicBezTo>
                  <a:cubicBezTo>
                    <a:pt x="25" y="27"/>
                    <a:pt x="28" y="25"/>
                    <a:pt x="28" y="26"/>
                  </a:cubicBezTo>
                  <a:cubicBezTo>
                    <a:pt x="28" y="27"/>
                    <a:pt x="28" y="27"/>
                    <a:pt x="28" y="27"/>
                  </a:cubicBezTo>
                  <a:cubicBezTo>
                    <a:pt x="26" y="27"/>
                    <a:pt x="25" y="27"/>
                    <a:pt x="23" y="27"/>
                  </a:cubicBezTo>
                  <a:cubicBezTo>
                    <a:pt x="19" y="27"/>
                    <a:pt x="19" y="27"/>
                    <a:pt x="19" y="27"/>
                  </a:cubicBezTo>
                  <a:lnTo>
                    <a:pt x="14" y="17"/>
                  </a:lnTo>
                  <a:close/>
                  <a:moveTo>
                    <a:pt x="9" y="12"/>
                  </a:moveTo>
                  <a:cubicBezTo>
                    <a:pt x="11" y="12"/>
                    <a:pt x="11" y="12"/>
                    <a:pt x="11" y="12"/>
                  </a:cubicBezTo>
                  <a:cubicBezTo>
                    <a:pt x="15" y="12"/>
                    <a:pt x="17" y="10"/>
                    <a:pt x="17" y="7"/>
                  </a:cubicBezTo>
                  <a:cubicBezTo>
                    <a:pt x="17" y="3"/>
                    <a:pt x="15" y="2"/>
                    <a:pt x="12" y="2"/>
                  </a:cubicBezTo>
                  <a:cubicBezTo>
                    <a:pt x="9" y="2"/>
                    <a:pt x="9" y="2"/>
                    <a:pt x="9" y="2"/>
                  </a:cubicBezTo>
                  <a:lnTo>
                    <a:pt x="9" y="12"/>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9" name="Freeform 17"/>
            <p:cNvSpPr/>
            <p:nvPr/>
          </p:nvSpPr>
          <p:spPr bwMode="auto">
            <a:xfrm>
              <a:off x="7913688" y="5832475"/>
              <a:ext cx="66675" cy="153988"/>
            </a:xfrm>
            <a:custGeom>
              <a:avLst/>
              <a:gdLst>
                <a:gd name="T0" fmla="*/ 3 w 12"/>
                <a:gd name="T1" fmla="*/ 3 h 27"/>
                <a:gd name="T2" fmla="*/ 0 w 12"/>
                <a:gd name="T3" fmla="*/ 0 h 27"/>
                <a:gd name="T4" fmla="*/ 0 w 12"/>
                <a:gd name="T5" fmla="*/ 0 h 27"/>
                <a:gd name="T6" fmla="*/ 6 w 12"/>
                <a:gd name="T7" fmla="*/ 0 h 27"/>
                <a:gd name="T8" fmla="*/ 11 w 12"/>
                <a:gd name="T9" fmla="*/ 0 h 27"/>
                <a:gd name="T10" fmla="*/ 12 w 12"/>
                <a:gd name="T11" fmla="*/ 0 h 27"/>
                <a:gd name="T12" fmla="*/ 9 w 12"/>
                <a:gd name="T13" fmla="*/ 3 h 27"/>
                <a:gd name="T14" fmla="*/ 9 w 12"/>
                <a:gd name="T15" fmla="*/ 23 h 27"/>
                <a:gd name="T16" fmla="*/ 12 w 12"/>
                <a:gd name="T17" fmla="*/ 26 h 27"/>
                <a:gd name="T18" fmla="*/ 11 w 12"/>
                <a:gd name="T19" fmla="*/ 27 h 27"/>
                <a:gd name="T20" fmla="*/ 6 w 12"/>
                <a:gd name="T21" fmla="*/ 27 h 27"/>
                <a:gd name="T22" fmla="*/ 0 w 12"/>
                <a:gd name="T23" fmla="*/ 27 h 27"/>
                <a:gd name="T24" fmla="*/ 0 w 12"/>
                <a:gd name="T25" fmla="*/ 26 h 27"/>
                <a:gd name="T26" fmla="*/ 3 w 12"/>
                <a:gd name="T27" fmla="*/ 23 h 27"/>
                <a:gd name="T28" fmla="*/ 3 w 12"/>
                <a:gd name="T29"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 h="27">
                  <a:moveTo>
                    <a:pt x="3" y="3"/>
                  </a:moveTo>
                  <a:cubicBezTo>
                    <a:pt x="3" y="0"/>
                    <a:pt x="0" y="1"/>
                    <a:pt x="0" y="0"/>
                  </a:cubicBezTo>
                  <a:cubicBezTo>
                    <a:pt x="0" y="0"/>
                    <a:pt x="0" y="0"/>
                    <a:pt x="0" y="0"/>
                  </a:cubicBezTo>
                  <a:cubicBezTo>
                    <a:pt x="2" y="0"/>
                    <a:pt x="4" y="0"/>
                    <a:pt x="6" y="0"/>
                  </a:cubicBezTo>
                  <a:cubicBezTo>
                    <a:pt x="7" y="0"/>
                    <a:pt x="9" y="0"/>
                    <a:pt x="11" y="0"/>
                  </a:cubicBezTo>
                  <a:cubicBezTo>
                    <a:pt x="12" y="0"/>
                    <a:pt x="12" y="0"/>
                    <a:pt x="12" y="0"/>
                  </a:cubicBezTo>
                  <a:cubicBezTo>
                    <a:pt x="12" y="1"/>
                    <a:pt x="9" y="0"/>
                    <a:pt x="9" y="3"/>
                  </a:cubicBezTo>
                  <a:cubicBezTo>
                    <a:pt x="9" y="23"/>
                    <a:pt x="9" y="23"/>
                    <a:pt x="9" y="23"/>
                  </a:cubicBezTo>
                  <a:cubicBezTo>
                    <a:pt x="9" y="27"/>
                    <a:pt x="12" y="25"/>
                    <a:pt x="12" y="26"/>
                  </a:cubicBezTo>
                  <a:cubicBezTo>
                    <a:pt x="12" y="27"/>
                    <a:pt x="12" y="27"/>
                    <a:pt x="11" y="27"/>
                  </a:cubicBezTo>
                  <a:cubicBezTo>
                    <a:pt x="9" y="27"/>
                    <a:pt x="7" y="27"/>
                    <a:pt x="6" y="27"/>
                  </a:cubicBezTo>
                  <a:cubicBezTo>
                    <a:pt x="4" y="27"/>
                    <a:pt x="2" y="27"/>
                    <a:pt x="0"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0" name="Freeform 18"/>
            <p:cNvSpPr/>
            <p:nvPr/>
          </p:nvSpPr>
          <p:spPr bwMode="auto">
            <a:xfrm>
              <a:off x="8002588" y="5827713"/>
              <a:ext cx="134938" cy="158750"/>
            </a:xfrm>
            <a:custGeom>
              <a:avLst/>
              <a:gdLst>
                <a:gd name="T0" fmla="*/ 9 w 24"/>
                <a:gd name="T1" fmla="*/ 2 h 28"/>
                <a:gd name="T2" fmla="*/ 0 w 24"/>
                <a:gd name="T3" fmla="*/ 10 h 28"/>
                <a:gd name="T4" fmla="*/ 0 w 24"/>
                <a:gd name="T5" fmla="*/ 10 h 28"/>
                <a:gd name="T6" fmla="*/ 0 w 24"/>
                <a:gd name="T7" fmla="*/ 8 h 28"/>
                <a:gd name="T8" fmla="*/ 1 w 24"/>
                <a:gd name="T9" fmla="*/ 1 h 28"/>
                <a:gd name="T10" fmla="*/ 1 w 24"/>
                <a:gd name="T11" fmla="*/ 0 h 28"/>
                <a:gd name="T12" fmla="*/ 2 w 24"/>
                <a:gd name="T13" fmla="*/ 1 h 28"/>
                <a:gd name="T14" fmla="*/ 3 w 24"/>
                <a:gd name="T15" fmla="*/ 1 h 28"/>
                <a:gd name="T16" fmla="*/ 21 w 24"/>
                <a:gd name="T17" fmla="*/ 1 h 28"/>
                <a:gd name="T18" fmla="*/ 22 w 24"/>
                <a:gd name="T19" fmla="*/ 1 h 28"/>
                <a:gd name="T20" fmla="*/ 22 w 24"/>
                <a:gd name="T21" fmla="*/ 0 h 28"/>
                <a:gd name="T22" fmla="*/ 23 w 24"/>
                <a:gd name="T23" fmla="*/ 1 h 28"/>
                <a:gd name="T24" fmla="*/ 24 w 24"/>
                <a:gd name="T25" fmla="*/ 8 h 28"/>
                <a:gd name="T26" fmla="*/ 24 w 24"/>
                <a:gd name="T27" fmla="*/ 10 h 28"/>
                <a:gd name="T28" fmla="*/ 24 w 24"/>
                <a:gd name="T29" fmla="*/ 10 h 28"/>
                <a:gd name="T30" fmla="*/ 15 w 24"/>
                <a:gd name="T31" fmla="*/ 2 h 28"/>
                <a:gd name="T32" fmla="*/ 15 w 24"/>
                <a:gd name="T33" fmla="*/ 24 h 28"/>
                <a:gd name="T34" fmla="*/ 18 w 24"/>
                <a:gd name="T35" fmla="*/ 27 h 28"/>
                <a:gd name="T36" fmla="*/ 19 w 24"/>
                <a:gd name="T37" fmla="*/ 27 h 28"/>
                <a:gd name="T38" fmla="*/ 18 w 24"/>
                <a:gd name="T39" fmla="*/ 28 h 28"/>
                <a:gd name="T40" fmla="*/ 12 w 24"/>
                <a:gd name="T41" fmla="*/ 28 h 28"/>
                <a:gd name="T42" fmla="*/ 6 w 24"/>
                <a:gd name="T43" fmla="*/ 28 h 28"/>
                <a:gd name="T44" fmla="*/ 5 w 24"/>
                <a:gd name="T45" fmla="*/ 27 h 28"/>
                <a:gd name="T46" fmla="*/ 6 w 24"/>
                <a:gd name="T47" fmla="*/ 27 h 28"/>
                <a:gd name="T48" fmla="*/ 9 w 24"/>
                <a:gd name="T49" fmla="*/ 24 h 28"/>
                <a:gd name="T50" fmla="*/ 9 w 24"/>
                <a:gd name="T51" fmla="*/ 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 h="28">
                  <a:moveTo>
                    <a:pt x="9" y="2"/>
                  </a:moveTo>
                  <a:cubicBezTo>
                    <a:pt x="1" y="5"/>
                    <a:pt x="1" y="10"/>
                    <a:pt x="0" y="10"/>
                  </a:cubicBezTo>
                  <a:cubicBezTo>
                    <a:pt x="0" y="10"/>
                    <a:pt x="0" y="10"/>
                    <a:pt x="0" y="10"/>
                  </a:cubicBezTo>
                  <a:cubicBezTo>
                    <a:pt x="0" y="10"/>
                    <a:pt x="0" y="9"/>
                    <a:pt x="0" y="8"/>
                  </a:cubicBezTo>
                  <a:cubicBezTo>
                    <a:pt x="1" y="1"/>
                    <a:pt x="1" y="1"/>
                    <a:pt x="1" y="1"/>
                  </a:cubicBezTo>
                  <a:cubicBezTo>
                    <a:pt x="1" y="0"/>
                    <a:pt x="1" y="0"/>
                    <a:pt x="1" y="0"/>
                  </a:cubicBezTo>
                  <a:cubicBezTo>
                    <a:pt x="2" y="0"/>
                    <a:pt x="2" y="0"/>
                    <a:pt x="2" y="1"/>
                  </a:cubicBezTo>
                  <a:cubicBezTo>
                    <a:pt x="2" y="1"/>
                    <a:pt x="3" y="1"/>
                    <a:pt x="3" y="1"/>
                  </a:cubicBezTo>
                  <a:cubicBezTo>
                    <a:pt x="21" y="1"/>
                    <a:pt x="21" y="1"/>
                    <a:pt x="21" y="1"/>
                  </a:cubicBezTo>
                  <a:cubicBezTo>
                    <a:pt x="21" y="1"/>
                    <a:pt x="22" y="1"/>
                    <a:pt x="22" y="1"/>
                  </a:cubicBezTo>
                  <a:cubicBezTo>
                    <a:pt x="22" y="0"/>
                    <a:pt x="22" y="0"/>
                    <a:pt x="22" y="0"/>
                  </a:cubicBezTo>
                  <a:cubicBezTo>
                    <a:pt x="22" y="0"/>
                    <a:pt x="23" y="0"/>
                    <a:pt x="23" y="1"/>
                  </a:cubicBezTo>
                  <a:cubicBezTo>
                    <a:pt x="24" y="8"/>
                    <a:pt x="24" y="8"/>
                    <a:pt x="24" y="8"/>
                  </a:cubicBezTo>
                  <a:cubicBezTo>
                    <a:pt x="24" y="9"/>
                    <a:pt x="24" y="10"/>
                    <a:pt x="24" y="10"/>
                  </a:cubicBezTo>
                  <a:cubicBezTo>
                    <a:pt x="24" y="10"/>
                    <a:pt x="24" y="10"/>
                    <a:pt x="24" y="10"/>
                  </a:cubicBezTo>
                  <a:cubicBezTo>
                    <a:pt x="23" y="10"/>
                    <a:pt x="23" y="5"/>
                    <a:pt x="15" y="2"/>
                  </a:cubicBezTo>
                  <a:cubicBezTo>
                    <a:pt x="15" y="24"/>
                    <a:pt x="15" y="24"/>
                    <a:pt x="15" y="24"/>
                  </a:cubicBezTo>
                  <a:cubicBezTo>
                    <a:pt x="15" y="26"/>
                    <a:pt x="16" y="27"/>
                    <a:pt x="18" y="27"/>
                  </a:cubicBezTo>
                  <a:cubicBezTo>
                    <a:pt x="18" y="27"/>
                    <a:pt x="19" y="27"/>
                    <a:pt x="19" y="27"/>
                  </a:cubicBezTo>
                  <a:cubicBezTo>
                    <a:pt x="19" y="28"/>
                    <a:pt x="18" y="28"/>
                    <a:pt x="18" y="28"/>
                  </a:cubicBezTo>
                  <a:cubicBezTo>
                    <a:pt x="16" y="28"/>
                    <a:pt x="14" y="28"/>
                    <a:pt x="12" y="28"/>
                  </a:cubicBezTo>
                  <a:cubicBezTo>
                    <a:pt x="10" y="28"/>
                    <a:pt x="8" y="28"/>
                    <a:pt x="6" y="28"/>
                  </a:cubicBezTo>
                  <a:cubicBezTo>
                    <a:pt x="5" y="28"/>
                    <a:pt x="5" y="28"/>
                    <a:pt x="5" y="27"/>
                  </a:cubicBezTo>
                  <a:cubicBezTo>
                    <a:pt x="5" y="27"/>
                    <a:pt x="5" y="27"/>
                    <a:pt x="6" y="27"/>
                  </a:cubicBezTo>
                  <a:cubicBezTo>
                    <a:pt x="8" y="27"/>
                    <a:pt x="9" y="26"/>
                    <a:pt x="9" y="24"/>
                  </a:cubicBezTo>
                  <a:lnTo>
                    <a:pt x="9" y="2"/>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1" name="Freeform 19"/>
            <p:cNvSpPr/>
            <p:nvPr/>
          </p:nvSpPr>
          <p:spPr bwMode="auto">
            <a:xfrm>
              <a:off x="8148638" y="5832475"/>
              <a:ext cx="146050" cy="153988"/>
            </a:xfrm>
            <a:custGeom>
              <a:avLst/>
              <a:gdLst>
                <a:gd name="T0" fmla="*/ 15 w 26"/>
                <a:gd name="T1" fmla="*/ 12 h 27"/>
                <a:gd name="T2" fmla="*/ 18 w 26"/>
                <a:gd name="T3" fmla="*/ 8 h 27"/>
                <a:gd name="T4" fmla="*/ 19 w 26"/>
                <a:gd name="T5" fmla="*/ 3 h 27"/>
                <a:gd name="T6" fmla="*/ 17 w 26"/>
                <a:gd name="T7" fmla="*/ 0 h 27"/>
                <a:gd name="T8" fmla="*/ 18 w 26"/>
                <a:gd name="T9" fmla="*/ 0 h 27"/>
                <a:gd name="T10" fmla="*/ 22 w 26"/>
                <a:gd name="T11" fmla="*/ 0 h 27"/>
                <a:gd name="T12" fmla="*/ 26 w 26"/>
                <a:gd name="T13" fmla="*/ 0 h 27"/>
                <a:gd name="T14" fmla="*/ 26 w 26"/>
                <a:gd name="T15" fmla="*/ 0 h 27"/>
                <a:gd name="T16" fmla="*/ 21 w 26"/>
                <a:gd name="T17" fmla="*/ 6 h 27"/>
                <a:gd name="T18" fmla="*/ 16 w 26"/>
                <a:gd name="T19" fmla="*/ 14 h 27"/>
                <a:gd name="T20" fmla="*/ 16 w 26"/>
                <a:gd name="T21" fmla="*/ 23 h 27"/>
                <a:gd name="T22" fmla="*/ 19 w 26"/>
                <a:gd name="T23" fmla="*/ 26 h 27"/>
                <a:gd name="T24" fmla="*/ 18 w 26"/>
                <a:gd name="T25" fmla="*/ 27 h 27"/>
                <a:gd name="T26" fmla="*/ 13 w 26"/>
                <a:gd name="T27" fmla="*/ 27 h 27"/>
                <a:gd name="T28" fmla="*/ 8 w 26"/>
                <a:gd name="T29" fmla="*/ 27 h 27"/>
                <a:gd name="T30" fmla="*/ 7 w 26"/>
                <a:gd name="T31" fmla="*/ 26 h 27"/>
                <a:gd name="T32" fmla="*/ 10 w 26"/>
                <a:gd name="T33" fmla="*/ 23 h 27"/>
                <a:gd name="T34" fmla="*/ 10 w 26"/>
                <a:gd name="T35" fmla="*/ 15 h 27"/>
                <a:gd name="T36" fmla="*/ 4 w 26"/>
                <a:gd name="T37" fmla="*/ 3 h 27"/>
                <a:gd name="T38" fmla="*/ 0 w 26"/>
                <a:gd name="T39" fmla="*/ 0 h 27"/>
                <a:gd name="T40" fmla="*/ 1 w 26"/>
                <a:gd name="T41" fmla="*/ 0 h 27"/>
                <a:gd name="T42" fmla="*/ 6 w 26"/>
                <a:gd name="T43" fmla="*/ 0 h 27"/>
                <a:gd name="T44" fmla="*/ 12 w 26"/>
                <a:gd name="T45" fmla="*/ 0 h 27"/>
                <a:gd name="T46" fmla="*/ 13 w 26"/>
                <a:gd name="T47" fmla="*/ 0 h 27"/>
                <a:gd name="T48" fmla="*/ 10 w 26"/>
                <a:gd name="T49" fmla="*/ 2 h 27"/>
                <a:gd name="T50" fmla="*/ 11 w 26"/>
                <a:gd name="T51" fmla="*/ 5 h 27"/>
                <a:gd name="T52" fmla="*/ 15 w 26"/>
                <a:gd name="T53" fmla="*/ 12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6" h="27">
                  <a:moveTo>
                    <a:pt x="15" y="12"/>
                  </a:moveTo>
                  <a:cubicBezTo>
                    <a:pt x="18" y="8"/>
                    <a:pt x="18" y="8"/>
                    <a:pt x="18" y="8"/>
                  </a:cubicBezTo>
                  <a:cubicBezTo>
                    <a:pt x="19" y="6"/>
                    <a:pt x="19" y="4"/>
                    <a:pt x="19" y="3"/>
                  </a:cubicBezTo>
                  <a:cubicBezTo>
                    <a:pt x="19" y="1"/>
                    <a:pt x="17" y="1"/>
                    <a:pt x="17" y="0"/>
                  </a:cubicBezTo>
                  <a:cubicBezTo>
                    <a:pt x="17" y="0"/>
                    <a:pt x="17" y="0"/>
                    <a:pt x="18" y="0"/>
                  </a:cubicBezTo>
                  <a:cubicBezTo>
                    <a:pt x="19" y="0"/>
                    <a:pt x="20" y="0"/>
                    <a:pt x="22" y="0"/>
                  </a:cubicBezTo>
                  <a:cubicBezTo>
                    <a:pt x="23" y="0"/>
                    <a:pt x="25" y="0"/>
                    <a:pt x="26" y="0"/>
                  </a:cubicBezTo>
                  <a:cubicBezTo>
                    <a:pt x="26" y="0"/>
                    <a:pt x="26" y="0"/>
                    <a:pt x="26" y="0"/>
                  </a:cubicBezTo>
                  <a:cubicBezTo>
                    <a:pt x="26" y="1"/>
                    <a:pt x="24" y="0"/>
                    <a:pt x="21" y="6"/>
                  </a:cubicBezTo>
                  <a:cubicBezTo>
                    <a:pt x="16" y="14"/>
                    <a:pt x="16" y="14"/>
                    <a:pt x="16" y="14"/>
                  </a:cubicBezTo>
                  <a:cubicBezTo>
                    <a:pt x="16" y="23"/>
                    <a:pt x="16" y="23"/>
                    <a:pt x="16" y="23"/>
                  </a:cubicBezTo>
                  <a:cubicBezTo>
                    <a:pt x="16" y="27"/>
                    <a:pt x="19" y="25"/>
                    <a:pt x="19" y="26"/>
                  </a:cubicBezTo>
                  <a:cubicBezTo>
                    <a:pt x="19" y="27"/>
                    <a:pt x="19" y="27"/>
                    <a:pt x="18" y="27"/>
                  </a:cubicBezTo>
                  <a:cubicBezTo>
                    <a:pt x="16" y="27"/>
                    <a:pt x="15" y="27"/>
                    <a:pt x="13" y="27"/>
                  </a:cubicBezTo>
                  <a:cubicBezTo>
                    <a:pt x="11" y="27"/>
                    <a:pt x="10" y="27"/>
                    <a:pt x="8" y="27"/>
                  </a:cubicBezTo>
                  <a:cubicBezTo>
                    <a:pt x="7" y="27"/>
                    <a:pt x="7" y="27"/>
                    <a:pt x="7" y="26"/>
                  </a:cubicBezTo>
                  <a:cubicBezTo>
                    <a:pt x="7" y="25"/>
                    <a:pt x="10" y="27"/>
                    <a:pt x="10" y="23"/>
                  </a:cubicBezTo>
                  <a:cubicBezTo>
                    <a:pt x="10" y="15"/>
                    <a:pt x="10" y="15"/>
                    <a:pt x="10" y="15"/>
                  </a:cubicBezTo>
                  <a:cubicBezTo>
                    <a:pt x="4" y="3"/>
                    <a:pt x="4" y="3"/>
                    <a:pt x="4" y="3"/>
                  </a:cubicBezTo>
                  <a:cubicBezTo>
                    <a:pt x="2" y="0"/>
                    <a:pt x="0" y="1"/>
                    <a:pt x="0" y="0"/>
                  </a:cubicBezTo>
                  <a:cubicBezTo>
                    <a:pt x="0" y="0"/>
                    <a:pt x="0" y="0"/>
                    <a:pt x="1" y="0"/>
                  </a:cubicBezTo>
                  <a:cubicBezTo>
                    <a:pt x="3" y="0"/>
                    <a:pt x="4" y="0"/>
                    <a:pt x="6" y="0"/>
                  </a:cubicBezTo>
                  <a:cubicBezTo>
                    <a:pt x="8" y="0"/>
                    <a:pt x="10" y="0"/>
                    <a:pt x="12" y="0"/>
                  </a:cubicBezTo>
                  <a:cubicBezTo>
                    <a:pt x="12" y="0"/>
                    <a:pt x="13" y="0"/>
                    <a:pt x="13" y="0"/>
                  </a:cubicBezTo>
                  <a:cubicBezTo>
                    <a:pt x="13" y="1"/>
                    <a:pt x="10" y="0"/>
                    <a:pt x="10" y="2"/>
                  </a:cubicBezTo>
                  <a:cubicBezTo>
                    <a:pt x="10" y="3"/>
                    <a:pt x="10" y="4"/>
                    <a:pt x="11" y="5"/>
                  </a:cubicBezTo>
                  <a:lnTo>
                    <a:pt x="15" y="12"/>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2" name="Freeform 20"/>
            <p:cNvSpPr/>
            <p:nvPr/>
          </p:nvSpPr>
          <p:spPr bwMode="auto">
            <a:xfrm>
              <a:off x="6242050" y="5832475"/>
              <a:ext cx="157163" cy="153988"/>
            </a:xfrm>
            <a:custGeom>
              <a:avLst/>
              <a:gdLst>
                <a:gd name="T0" fmla="*/ 3 w 28"/>
                <a:gd name="T1" fmla="*/ 3 h 27"/>
                <a:gd name="T2" fmla="*/ 0 w 28"/>
                <a:gd name="T3" fmla="*/ 0 h 27"/>
                <a:gd name="T4" fmla="*/ 1 w 28"/>
                <a:gd name="T5" fmla="*/ 0 h 27"/>
                <a:gd name="T6" fmla="*/ 6 w 28"/>
                <a:gd name="T7" fmla="*/ 0 h 27"/>
                <a:gd name="T8" fmla="*/ 12 w 28"/>
                <a:gd name="T9" fmla="*/ 0 h 27"/>
                <a:gd name="T10" fmla="*/ 12 w 28"/>
                <a:gd name="T11" fmla="*/ 0 h 27"/>
                <a:gd name="T12" fmla="*/ 9 w 28"/>
                <a:gd name="T13" fmla="*/ 3 h 27"/>
                <a:gd name="T14" fmla="*/ 9 w 28"/>
                <a:gd name="T15" fmla="*/ 12 h 27"/>
                <a:gd name="T16" fmla="*/ 19 w 28"/>
                <a:gd name="T17" fmla="*/ 12 h 27"/>
                <a:gd name="T18" fmla="*/ 19 w 28"/>
                <a:gd name="T19" fmla="*/ 3 h 27"/>
                <a:gd name="T20" fmla="*/ 16 w 28"/>
                <a:gd name="T21" fmla="*/ 0 h 27"/>
                <a:gd name="T22" fmla="*/ 17 w 28"/>
                <a:gd name="T23" fmla="*/ 0 h 27"/>
                <a:gd name="T24" fmla="*/ 22 w 28"/>
                <a:gd name="T25" fmla="*/ 0 h 27"/>
                <a:gd name="T26" fmla="*/ 28 w 28"/>
                <a:gd name="T27" fmla="*/ 0 h 27"/>
                <a:gd name="T28" fmla="*/ 28 w 28"/>
                <a:gd name="T29" fmla="*/ 0 h 27"/>
                <a:gd name="T30" fmla="*/ 25 w 28"/>
                <a:gd name="T31" fmla="*/ 3 h 27"/>
                <a:gd name="T32" fmla="*/ 25 w 28"/>
                <a:gd name="T33" fmla="*/ 23 h 27"/>
                <a:gd name="T34" fmla="*/ 28 w 28"/>
                <a:gd name="T35" fmla="*/ 26 h 27"/>
                <a:gd name="T36" fmla="*/ 28 w 28"/>
                <a:gd name="T37" fmla="*/ 27 h 27"/>
                <a:gd name="T38" fmla="*/ 22 w 28"/>
                <a:gd name="T39" fmla="*/ 27 h 27"/>
                <a:gd name="T40" fmla="*/ 17 w 28"/>
                <a:gd name="T41" fmla="*/ 27 h 27"/>
                <a:gd name="T42" fmla="*/ 16 w 28"/>
                <a:gd name="T43" fmla="*/ 26 h 27"/>
                <a:gd name="T44" fmla="*/ 19 w 28"/>
                <a:gd name="T45" fmla="*/ 23 h 27"/>
                <a:gd name="T46" fmla="*/ 19 w 28"/>
                <a:gd name="T47" fmla="*/ 14 h 27"/>
                <a:gd name="T48" fmla="*/ 9 w 28"/>
                <a:gd name="T49" fmla="*/ 14 h 27"/>
                <a:gd name="T50" fmla="*/ 9 w 28"/>
                <a:gd name="T51" fmla="*/ 23 h 27"/>
                <a:gd name="T52" fmla="*/ 12 w 28"/>
                <a:gd name="T53" fmla="*/ 26 h 27"/>
                <a:gd name="T54" fmla="*/ 12 w 28"/>
                <a:gd name="T55" fmla="*/ 27 h 27"/>
                <a:gd name="T56" fmla="*/ 6 w 28"/>
                <a:gd name="T57" fmla="*/ 27 h 27"/>
                <a:gd name="T58" fmla="*/ 1 w 28"/>
                <a:gd name="T59" fmla="*/ 27 h 27"/>
                <a:gd name="T60" fmla="*/ 0 w 28"/>
                <a:gd name="T61" fmla="*/ 26 h 27"/>
                <a:gd name="T62" fmla="*/ 3 w 28"/>
                <a:gd name="T63" fmla="*/ 23 h 27"/>
                <a:gd name="T64" fmla="*/ 3 w 28"/>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8" h="27">
                  <a:moveTo>
                    <a:pt x="3" y="3"/>
                  </a:moveTo>
                  <a:cubicBezTo>
                    <a:pt x="3" y="0"/>
                    <a:pt x="0" y="1"/>
                    <a:pt x="0" y="0"/>
                  </a:cubicBezTo>
                  <a:cubicBezTo>
                    <a:pt x="0" y="0"/>
                    <a:pt x="0" y="0"/>
                    <a:pt x="1" y="0"/>
                  </a:cubicBezTo>
                  <a:cubicBezTo>
                    <a:pt x="3" y="0"/>
                    <a:pt x="5" y="0"/>
                    <a:pt x="6" y="0"/>
                  </a:cubicBezTo>
                  <a:cubicBezTo>
                    <a:pt x="8" y="0"/>
                    <a:pt x="10" y="0"/>
                    <a:pt x="12" y="0"/>
                  </a:cubicBezTo>
                  <a:cubicBezTo>
                    <a:pt x="12" y="0"/>
                    <a:pt x="12" y="0"/>
                    <a:pt x="12" y="0"/>
                  </a:cubicBezTo>
                  <a:cubicBezTo>
                    <a:pt x="12" y="1"/>
                    <a:pt x="9" y="0"/>
                    <a:pt x="9" y="3"/>
                  </a:cubicBezTo>
                  <a:cubicBezTo>
                    <a:pt x="9" y="12"/>
                    <a:pt x="9" y="12"/>
                    <a:pt x="9" y="12"/>
                  </a:cubicBezTo>
                  <a:cubicBezTo>
                    <a:pt x="19" y="12"/>
                    <a:pt x="19" y="12"/>
                    <a:pt x="19" y="12"/>
                  </a:cubicBezTo>
                  <a:cubicBezTo>
                    <a:pt x="19" y="3"/>
                    <a:pt x="19" y="3"/>
                    <a:pt x="19" y="3"/>
                  </a:cubicBezTo>
                  <a:cubicBezTo>
                    <a:pt x="19" y="0"/>
                    <a:pt x="16" y="1"/>
                    <a:pt x="16" y="0"/>
                  </a:cubicBezTo>
                  <a:cubicBezTo>
                    <a:pt x="16" y="0"/>
                    <a:pt x="16" y="0"/>
                    <a:pt x="17" y="0"/>
                  </a:cubicBezTo>
                  <a:cubicBezTo>
                    <a:pt x="19" y="0"/>
                    <a:pt x="21" y="0"/>
                    <a:pt x="22" y="0"/>
                  </a:cubicBezTo>
                  <a:cubicBezTo>
                    <a:pt x="24" y="0"/>
                    <a:pt x="26" y="0"/>
                    <a:pt x="28" y="0"/>
                  </a:cubicBezTo>
                  <a:cubicBezTo>
                    <a:pt x="28" y="0"/>
                    <a:pt x="28" y="0"/>
                    <a:pt x="28" y="0"/>
                  </a:cubicBezTo>
                  <a:cubicBezTo>
                    <a:pt x="28" y="1"/>
                    <a:pt x="25" y="0"/>
                    <a:pt x="25" y="3"/>
                  </a:cubicBezTo>
                  <a:cubicBezTo>
                    <a:pt x="25" y="23"/>
                    <a:pt x="25" y="23"/>
                    <a:pt x="25" y="23"/>
                  </a:cubicBezTo>
                  <a:cubicBezTo>
                    <a:pt x="25" y="27"/>
                    <a:pt x="28" y="25"/>
                    <a:pt x="28" y="26"/>
                  </a:cubicBezTo>
                  <a:cubicBezTo>
                    <a:pt x="28" y="27"/>
                    <a:pt x="28" y="27"/>
                    <a:pt x="28" y="27"/>
                  </a:cubicBezTo>
                  <a:cubicBezTo>
                    <a:pt x="26" y="27"/>
                    <a:pt x="24" y="27"/>
                    <a:pt x="22" y="27"/>
                  </a:cubicBezTo>
                  <a:cubicBezTo>
                    <a:pt x="21" y="27"/>
                    <a:pt x="19" y="27"/>
                    <a:pt x="17" y="27"/>
                  </a:cubicBezTo>
                  <a:cubicBezTo>
                    <a:pt x="16" y="27"/>
                    <a:pt x="16" y="27"/>
                    <a:pt x="16" y="26"/>
                  </a:cubicBezTo>
                  <a:cubicBezTo>
                    <a:pt x="16" y="25"/>
                    <a:pt x="19" y="27"/>
                    <a:pt x="19" y="23"/>
                  </a:cubicBezTo>
                  <a:cubicBezTo>
                    <a:pt x="19" y="14"/>
                    <a:pt x="19" y="14"/>
                    <a:pt x="19" y="14"/>
                  </a:cubicBezTo>
                  <a:cubicBezTo>
                    <a:pt x="9" y="14"/>
                    <a:pt x="9" y="14"/>
                    <a:pt x="9" y="14"/>
                  </a:cubicBezTo>
                  <a:cubicBezTo>
                    <a:pt x="9" y="23"/>
                    <a:pt x="9" y="23"/>
                    <a:pt x="9" y="23"/>
                  </a:cubicBezTo>
                  <a:cubicBezTo>
                    <a:pt x="9" y="27"/>
                    <a:pt x="12" y="25"/>
                    <a:pt x="12" y="26"/>
                  </a:cubicBezTo>
                  <a:cubicBezTo>
                    <a:pt x="12" y="27"/>
                    <a:pt x="12" y="27"/>
                    <a:pt x="12" y="27"/>
                  </a:cubicBezTo>
                  <a:cubicBezTo>
                    <a:pt x="10" y="27"/>
                    <a:pt x="8"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3" name="Freeform 21"/>
            <p:cNvSpPr/>
            <p:nvPr/>
          </p:nvSpPr>
          <p:spPr bwMode="auto">
            <a:xfrm>
              <a:off x="6427788" y="5832475"/>
              <a:ext cx="133350" cy="153988"/>
            </a:xfrm>
            <a:custGeom>
              <a:avLst/>
              <a:gdLst>
                <a:gd name="T0" fmla="*/ 3 w 24"/>
                <a:gd name="T1" fmla="*/ 3 h 27"/>
                <a:gd name="T2" fmla="*/ 0 w 24"/>
                <a:gd name="T3" fmla="*/ 0 h 27"/>
                <a:gd name="T4" fmla="*/ 1 w 24"/>
                <a:gd name="T5" fmla="*/ 0 h 27"/>
                <a:gd name="T6" fmla="*/ 6 w 24"/>
                <a:gd name="T7" fmla="*/ 0 h 27"/>
                <a:gd name="T8" fmla="*/ 20 w 24"/>
                <a:gd name="T9" fmla="*/ 0 h 27"/>
                <a:gd name="T10" fmla="*/ 22 w 24"/>
                <a:gd name="T11" fmla="*/ 7 h 27"/>
                <a:gd name="T12" fmla="*/ 22 w 24"/>
                <a:gd name="T13" fmla="*/ 8 h 27"/>
                <a:gd name="T14" fmla="*/ 22 w 24"/>
                <a:gd name="T15" fmla="*/ 9 h 27"/>
                <a:gd name="T16" fmla="*/ 20 w 24"/>
                <a:gd name="T17" fmla="*/ 5 h 27"/>
                <a:gd name="T18" fmla="*/ 11 w 24"/>
                <a:gd name="T19" fmla="*/ 1 h 27"/>
                <a:gd name="T20" fmla="*/ 9 w 24"/>
                <a:gd name="T21" fmla="*/ 1 h 27"/>
                <a:gd name="T22" fmla="*/ 9 w 24"/>
                <a:gd name="T23" fmla="*/ 12 h 27"/>
                <a:gd name="T24" fmla="*/ 10 w 24"/>
                <a:gd name="T25" fmla="*/ 12 h 27"/>
                <a:gd name="T26" fmla="*/ 15 w 24"/>
                <a:gd name="T27" fmla="*/ 7 h 27"/>
                <a:gd name="T28" fmla="*/ 15 w 24"/>
                <a:gd name="T29" fmla="*/ 6 h 27"/>
                <a:gd name="T30" fmla="*/ 16 w 24"/>
                <a:gd name="T31" fmla="*/ 7 h 27"/>
                <a:gd name="T32" fmla="*/ 16 w 24"/>
                <a:gd name="T33" fmla="*/ 19 h 27"/>
                <a:gd name="T34" fmla="*/ 15 w 24"/>
                <a:gd name="T35" fmla="*/ 19 h 27"/>
                <a:gd name="T36" fmla="*/ 15 w 24"/>
                <a:gd name="T37" fmla="*/ 18 h 27"/>
                <a:gd name="T38" fmla="*/ 10 w 24"/>
                <a:gd name="T39" fmla="*/ 14 h 27"/>
                <a:gd name="T40" fmla="*/ 9 w 24"/>
                <a:gd name="T41" fmla="*/ 14 h 27"/>
                <a:gd name="T42" fmla="*/ 9 w 24"/>
                <a:gd name="T43" fmla="*/ 23 h 27"/>
                <a:gd name="T44" fmla="*/ 12 w 24"/>
                <a:gd name="T45" fmla="*/ 25 h 27"/>
                <a:gd name="T46" fmla="*/ 23 w 24"/>
                <a:gd name="T47" fmla="*/ 17 h 27"/>
                <a:gd name="T48" fmla="*/ 23 w 24"/>
                <a:gd name="T49" fmla="*/ 16 h 27"/>
                <a:gd name="T50" fmla="*/ 24 w 24"/>
                <a:gd name="T51" fmla="*/ 17 h 27"/>
                <a:gd name="T52" fmla="*/ 24 w 24"/>
                <a:gd name="T53" fmla="*/ 18 h 27"/>
                <a:gd name="T54" fmla="*/ 22 w 24"/>
                <a:gd name="T55" fmla="*/ 27 h 27"/>
                <a:gd name="T56" fmla="*/ 6 w 24"/>
                <a:gd name="T57" fmla="*/ 27 h 27"/>
                <a:gd name="T58" fmla="*/ 1 w 24"/>
                <a:gd name="T59" fmla="*/ 27 h 27"/>
                <a:gd name="T60" fmla="*/ 0 w 24"/>
                <a:gd name="T61" fmla="*/ 26 h 27"/>
                <a:gd name="T62" fmla="*/ 3 w 24"/>
                <a:gd name="T63" fmla="*/ 23 h 27"/>
                <a:gd name="T64" fmla="*/ 3 w 24"/>
                <a:gd name="T65" fmla="*/ 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7">
                  <a:moveTo>
                    <a:pt x="3" y="3"/>
                  </a:moveTo>
                  <a:cubicBezTo>
                    <a:pt x="3" y="0"/>
                    <a:pt x="0" y="1"/>
                    <a:pt x="0" y="0"/>
                  </a:cubicBezTo>
                  <a:cubicBezTo>
                    <a:pt x="0" y="0"/>
                    <a:pt x="0" y="0"/>
                    <a:pt x="1" y="0"/>
                  </a:cubicBezTo>
                  <a:cubicBezTo>
                    <a:pt x="3" y="0"/>
                    <a:pt x="5" y="0"/>
                    <a:pt x="6" y="0"/>
                  </a:cubicBezTo>
                  <a:cubicBezTo>
                    <a:pt x="11" y="0"/>
                    <a:pt x="16" y="0"/>
                    <a:pt x="20" y="0"/>
                  </a:cubicBezTo>
                  <a:cubicBezTo>
                    <a:pt x="22" y="7"/>
                    <a:pt x="22" y="7"/>
                    <a:pt x="22" y="7"/>
                  </a:cubicBezTo>
                  <a:cubicBezTo>
                    <a:pt x="22" y="8"/>
                    <a:pt x="22" y="8"/>
                    <a:pt x="22" y="8"/>
                  </a:cubicBezTo>
                  <a:cubicBezTo>
                    <a:pt x="22" y="9"/>
                    <a:pt x="22" y="9"/>
                    <a:pt x="22" y="9"/>
                  </a:cubicBezTo>
                  <a:cubicBezTo>
                    <a:pt x="22" y="9"/>
                    <a:pt x="22" y="8"/>
                    <a:pt x="20" y="5"/>
                  </a:cubicBezTo>
                  <a:cubicBezTo>
                    <a:pt x="18" y="2"/>
                    <a:pt x="16" y="1"/>
                    <a:pt x="11" y="1"/>
                  </a:cubicBezTo>
                  <a:cubicBezTo>
                    <a:pt x="9" y="1"/>
                    <a:pt x="9" y="1"/>
                    <a:pt x="9" y="1"/>
                  </a:cubicBezTo>
                  <a:cubicBezTo>
                    <a:pt x="9" y="12"/>
                    <a:pt x="9" y="12"/>
                    <a:pt x="9" y="12"/>
                  </a:cubicBezTo>
                  <a:cubicBezTo>
                    <a:pt x="10" y="12"/>
                    <a:pt x="10" y="12"/>
                    <a:pt x="10" y="12"/>
                  </a:cubicBezTo>
                  <a:cubicBezTo>
                    <a:pt x="13" y="12"/>
                    <a:pt x="15" y="10"/>
                    <a:pt x="15" y="7"/>
                  </a:cubicBezTo>
                  <a:cubicBezTo>
                    <a:pt x="15" y="6"/>
                    <a:pt x="15" y="6"/>
                    <a:pt x="15" y="6"/>
                  </a:cubicBezTo>
                  <a:cubicBezTo>
                    <a:pt x="16" y="6"/>
                    <a:pt x="16" y="6"/>
                    <a:pt x="16" y="7"/>
                  </a:cubicBezTo>
                  <a:cubicBezTo>
                    <a:pt x="16" y="19"/>
                    <a:pt x="16" y="19"/>
                    <a:pt x="16" y="19"/>
                  </a:cubicBezTo>
                  <a:cubicBezTo>
                    <a:pt x="16" y="19"/>
                    <a:pt x="16" y="19"/>
                    <a:pt x="15" y="19"/>
                  </a:cubicBezTo>
                  <a:cubicBezTo>
                    <a:pt x="15" y="19"/>
                    <a:pt x="15" y="19"/>
                    <a:pt x="15" y="18"/>
                  </a:cubicBezTo>
                  <a:cubicBezTo>
                    <a:pt x="15" y="15"/>
                    <a:pt x="13" y="14"/>
                    <a:pt x="10" y="14"/>
                  </a:cubicBezTo>
                  <a:cubicBezTo>
                    <a:pt x="9" y="14"/>
                    <a:pt x="9" y="14"/>
                    <a:pt x="9" y="14"/>
                  </a:cubicBezTo>
                  <a:cubicBezTo>
                    <a:pt x="9" y="23"/>
                    <a:pt x="9" y="23"/>
                    <a:pt x="9" y="23"/>
                  </a:cubicBezTo>
                  <a:cubicBezTo>
                    <a:pt x="9" y="25"/>
                    <a:pt x="10" y="25"/>
                    <a:pt x="12" y="25"/>
                  </a:cubicBezTo>
                  <a:cubicBezTo>
                    <a:pt x="17" y="25"/>
                    <a:pt x="22" y="21"/>
                    <a:pt x="23" y="17"/>
                  </a:cubicBezTo>
                  <a:cubicBezTo>
                    <a:pt x="23" y="17"/>
                    <a:pt x="23" y="16"/>
                    <a:pt x="23" y="16"/>
                  </a:cubicBezTo>
                  <a:cubicBezTo>
                    <a:pt x="24" y="16"/>
                    <a:pt x="24" y="17"/>
                    <a:pt x="24" y="17"/>
                  </a:cubicBezTo>
                  <a:cubicBezTo>
                    <a:pt x="24" y="17"/>
                    <a:pt x="24" y="18"/>
                    <a:pt x="24" y="18"/>
                  </a:cubicBezTo>
                  <a:cubicBezTo>
                    <a:pt x="22" y="27"/>
                    <a:pt x="22" y="27"/>
                    <a:pt x="22" y="27"/>
                  </a:cubicBezTo>
                  <a:cubicBezTo>
                    <a:pt x="17" y="27"/>
                    <a:pt x="12" y="27"/>
                    <a:pt x="6" y="27"/>
                  </a:cubicBezTo>
                  <a:cubicBezTo>
                    <a:pt x="5" y="27"/>
                    <a:pt x="3" y="27"/>
                    <a:pt x="1" y="27"/>
                  </a:cubicBezTo>
                  <a:cubicBezTo>
                    <a:pt x="0" y="27"/>
                    <a:pt x="0" y="27"/>
                    <a:pt x="0" y="26"/>
                  </a:cubicBezTo>
                  <a:cubicBezTo>
                    <a:pt x="0" y="25"/>
                    <a:pt x="3" y="27"/>
                    <a:pt x="3" y="23"/>
                  </a:cubicBezTo>
                  <a:lnTo>
                    <a:pt x="3"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4" name="Freeform 22"/>
            <p:cNvSpPr/>
            <p:nvPr/>
          </p:nvSpPr>
          <p:spPr bwMode="auto">
            <a:xfrm>
              <a:off x="6578600" y="5832475"/>
              <a:ext cx="163513" cy="158750"/>
            </a:xfrm>
            <a:custGeom>
              <a:avLst/>
              <a:gdLst>
                <a:gd name="T0" fmla="*/ 7 w 29"/>
                <a:gd name="T1" fmla="*/ 21 h 28"/>
                <a:gd name="T2" fmla="*/ 10 w 29"/>
                <a:gd name="T3" fmla="*/ 26 h 28"/>
                <a:gd name="T4" fmla="*/ 12 w 29"/>
                <a:gd name="T5" fmla="*/ 26 h 28"/>
                <a:gd name="T6" fmla="*/ 11 w 29"/>
                <a:gd name="T7" fmla="*/ 27 h 28"/>
                <a:gd name="T8" fmla="*/ 5 w 29"/>
                <a:gd name="T9" fmla="*/ 27 h 28"/>
                <a:gd name="T10" fmla="*/ 1 w 29"/>
                <a:gd name="T11" fmla="*/ 27 h 28"/>
                <a:gd name="T12" fmla="*/ 0 w 29"/>
                <a:gd name="T13" fmla="*/ 26 h 28"/>
                <a:gd name="T14" fmla="*/ 2 w 29"/>
                <a:gd name="T15" fmla="*/ 26 h 28"/>
                <a:gd name="T16" fmla="*/ 5 w 29"/>
                <a:gd name="T17" fmla="*/ 21 h 28"/>
                <a:gd name="T18" fmla="*/ 5 w 29"/>
                <a:gd name="T19" fmla="*/ 3 h 28"/>
                <a:gd name="T20" fmla="*/ 1 w 29"/>
                <a:gd name="T21" fmla="*/ 1 h 28"/>
                <a:gd name="T22" fmla="*/ 0 w 29"/>
                <a:gd name="T23" fmla="*/ 0 h 28"/>
                <a:gd name="T24" fmla="*/ 1 w 29"/>
                <a:gd name="T25" fmla="*/ 0 h 28"/>
                <a:gd name="T26" fmla="*/ 5 w 29"/>
                <a:gd name="T27" fmla="*/ 0 h 28"/>
                <a:gd name="T28" fmla="*/ 9 w 29"/>
                <a:gd name="T29" fmla="*/ 0 h 28"/>
                <a:gd name="T30" fmla="*/ 22 w 29"/>
                <a:gd name="T31" fmla="*/ 15 h 28"/>
                <a:gd name="T32" fmla="*/ 22 w 29"/>
                <a:gd name="T33" fmla="*/ 16 h 28"/>
                <a:gd name="T34" fmla="*/ 22 w 29"/>
                <a:gd name="T35" fmla="*/ 6 h 28"/>
                <a:gd name="T36" fmla="*/ 20 w 29"/>
                <a:gd name="T37" fmla="*/ 1 h 28"/>
                <a:gd name="T38" fmla="*/ 18 w 29"/>
                <a:gd name="T39" fmla="*/ 0 h 28"/>
                <a:gd name="T40" fmla="*/ 18 w 29"/>
                <a:gd name="T41" fmla="*/ 0 h 28"/>
                <a:gd name="T42" fmla="*/ 24 w 29"/>
                <a:gd name="T43" fmla="*/ 0 h 28"/>
                <a:gd name="T44" fmla="*/ 28 w 29"/>
                <a:gd name="T45" fmla="*/ 0 h 28"/>
                <a:gd name="T46" fmla="*/ 29 w 29"/>
                <a:gd name="T47" fmla="*/ 0 h 28"/>
                <a:gd name="T48" fmla="*/ 27 w 29"/>
                <a:gd name="T49" fmla="*/ 1 h 28"/>
                <a:gd name="T50" fmla="*/ 24 w 29"/>
                <a:gd name="T51" fmla="*/ 6 h 28"/>
                <a:gd name="T52" fmla="*/ 24 w 29"/>
                <a:gd name="T53" fmla="*/ 26 h 28"/>
                <a:gd name="T54" fmla="*/ 24 w 29"/>
                <a:gd name="T55" fmla="*/ 28 h 28"/>
                <a:gd name="T56" fmla="*/ 23 w 29"/>
                <a:gd name="T57" fmla="*/ 27 h 28"/>
                <a:gd name="T58" fmla="*/ 7 w 29"/>
                <a:gd name="T59" fmla="*/ 7 h 28"/>
                <a:gd name="T60" fmla="*/ 7 w 29"/>
                <a:gd name="T61" fmla="*/ 6 h 28"/>
                <a:gd name="T62" fmla="*/ 7 w 29"/>
                <a:gd name="T63" fmla="*/ 2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9" h="28">
                  <a:moveTo>
                    <a:pt x="7" y="21"/>
                  </a:moveTo>
                  <a:cubicBezTo>
                    <a:pt x="7" y="24"/>
                    <a:pt x="8" y="25"/>
                    <a:pt x="10" y="26"/>
                  </a:cubicBezTo>
                  <a:cubicBezTo>
                    <a:pt x="11" y="26"/>
                    <a:pt x="12" y="26"/>
                    <a:pt x="12" y="26"/>
                  </a:cubicBezTo>
                  <a:cubicBezTo>
                    <a:pt x="12" y="27"/>
                    <a:pt x="12" y="27"/>
                    <a:pt x="11" y="27"/>
                  </a:cubicBezTo>
                  <a:cubicBezTo>
                    <a:pt x="10" y="27"/>
                    <a:pt x="7" y="27"/>
                    <a:pt x="5" y="27"/>
                  </a:cubicBezTo>
                  <a:cubicBezTo>
                    <a:pt x="4" y="27"/>
                    <a:pt x="2" y="27"/>
                    <a:pt x="1" y="27"/>
                  </a:cubicBezTo>
                  <a:cubicBezTo>
                    <a:pt x="0" y="27"/>
                    <a:pt x="0" y="27"/>
                    <a:pt x="0" y="26"/>
                  </a:cubicBezTo>
                  <a:cubicBezTo>
                    <a:pt x="0" y="26"/>
                    <a:pt x="1" y="26"/>
                    <a:pt x="2" y="26"/>
                  </a:cubicBezTo>
                  <a:cubicBezTo>
                    <a:pt x="4" y="25"/>
                    <a:pt x="5" y="24"/>
                    <a:pt x="5" y="21"/>
                  </a:cubicBezTo>
                  <a:cubicBezTo>
                    <a:pt x="5" y="3"/>
                    <a:pt x="5" y="3"/>
                    <a:pt x="5" y="3"/>
                  </a:cubicBezTo>
                  <a:cubicBezTo>
                    <a:pt x="3" y="1"/>
                    <a:pt x="2" y="1"/>
                    <a:pt x="1" y="1"/>
                  </a:cubicBezTo>
                  <a:cubicBezTo>
                    <a:pt x="0" y="1"/>
                    <a:pt x="0" y="1"/>
                    <a:pt x="0" y="0"/>
                  </a:cubicBezTo>
                  <a:cubicBezTo>
                    <a:pt x="0" y="0"/>
                    <a:pt x="0" y="0"/>
                    <a:pt x="1" y="0"/>
                  </a:cubicBezTo>
                  <a:cubicBezTo>
                    <a:pt x="2" y="0"/>
                    <a:pt x="3" y="0"/>
                    <a:pt x="5" y="0"/>
                  </a:cubicBezTo>
                  <a:cubicBezTo>
                    <a:pt x="9" y="0"/>
                    <a:pt x="9" y="0"/>
                    <a:pt x="9" y="0"/>
                  </a:cubicBezTo>
                  <a:cubicBezTo>
                    <a:pt x="22" y="15"/>
                    <a:pt x="22" y="15"/>
                    <a:pt x="22" y="15"/>
                  </a:cubicBezTo>
                  <a:cubicBezTo>
                    <a:pt x="22" y="16"/>
                    <a:pt x="22" y="16"/>
                    <a:pt x="22" y="16"/>
                  </a:cubicBezTo>
                  <a:cubicBezTo>
                    <a:pt x="22" y="6"/>
                    <a:pt x="22" y="6"/>
                    <a:pt x="22" y="6"/>
                  </a:cubicBezTo>
                  <a:cubicBezTo>
                    <a:pt x="22" y="3"/>
                    <a:pt x="21" y="2"/>
                    <a:pt x="20" y="1"/>
                  </a:cubicBezTo>
                  <a:cubicBezTo>
                    <a:pt x="19" y="1"/>
                    <a:pt x="18" y="1"/>
                    <a:pt x="18" y="0"/>
                  </a:cubicBezTo>
                  <a:cubicBezTo>
                    <a:pt x="18" y="0"/>
                    <a:pt x="18" y="0"/>
                    <a:pt x="18" y="0"/>
                  </a:cubicBezTo>
                  <a:cubicBezTo>
                    <a:pt x="20" y="0"/>
                    <a:pt x="22" y="0"/>
                    <a:pt x="24" y="0"/>
                  </a:cubicBezTo>
                  <a:cubicBezTo>
                    <a:pt x="26" y="0"/>
                    <a:pt x="27" y="0"/>
                    <a:pt x="28" y="0"/>
                  </a:cubicBezTo>
                  <a:cubicBezTo>
                    <a:pt x="29" y="0"/>
                    <a:pt x="29" y="0"/>
                    <a:pt x="29" y="0"/>
                  </a:cubicBezTo>
                  <a:cubicBezTo>
                    <a:pt x="29" y="1"/>
                    <a:pt x="28" y="1"/>
                    <a:pt x="27" y="1"/>
                  </a:cubicBezTo>
                  <a:cubicBezTo>
                    <a:pt x="26" y="2"/>
                    <a:pt x="24" y="3"/>
                    <a:pt x="24" y="6"/>
                  </a:cubicBezTo>
                  <a:cubicBezTo>
                    <a:pt x="24" y="26"/>
                    <a:pt x="24" y="26"/>
                    <a:pt x="24" y="26"/>
                  </a:cubicBezTo>
                  <a:cubicBezTo>
                    <a:pt x="24" y="27"/>
                    <a:pt x="24" y="28"/>
                    <a:pt x="24" y="28"/>
                  </a:cubicBezTo>
                  <a:cubicBezTo>
                    <a:pt x="24" y="28"/>
                    <a:pt x="23" y="27"/>
                    <a:pt x="23" y="27"/>
                  </a:cubicBezTo>
                  <a:cubicBezTo>
                    <a:pt x="7" y="7"/>
                    <a:pt x="7" y="7"/>
                    <a:pt x="7" y="7"/>
                  </a:cubicBezTo>
                  <a:cubicBezTo>
                    <a:pt x="7" y="6"/>
                    <a:pt x="7" y="6"/>
                    <a:pt x="7" y="6"/>
                  </a:cubicBezTo>
                  <a:lnTo>
                    <a:pt x="7" y="21"/>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5" name="Freeform 23"/>
            <p:cNvSpPr/>
            <p:nvPr/>
          </p:nvSpPr>
          <p:spPr bwMode="auto">
            <a:xfrm>
              <a:off x="5614988" y="5475288"/>
              <a:ext cx="117475" cy="136525"/>
            </a:xfrm>
            <a:custGeom>
              <a:avLst/>
              <a:gdLst>
                <a:gd name="T0" fmla="*/ 11 w 21"/>
                <a:gd name="T1" fmla="*/ 2 h 24"/>
                <a:gd name="T2" fmla="*/ 1 w 21"/>
                <a:gd name="T3" fmla="*/ 13 h 24"/>
                <a:gd name="T4" fmla="*/ 11 w 21"/>
                <a:gd name="T5" fmla="*/ 24 h 24"/>
                <a:gd name="T6" fmla="*/ 14 w 21"/>
                <a:gd name="T7" fmla="*/ 22 h 24"/>
                <a:gd name="T8" fmla="*/ 21 w 21"/>
                <a:gd name="T9" fmla="*/ 9 h 24"/>
                <a:gd name="T10" fmla="*/ 21 w 21"/>
                <a:gd name="T11" fmla="*/ 8 h 24"/>
                <a:gd name="T12" fmla="*/ 11 w 21"/>
                <a:gd name="T13" fmla="*/ 2 h 24"/>
              </a:gdLst>
              <a:ahLst/>
              <a:cxnLst>
                <a:cxn ang="0">
                  <a:pos x="T0" y="T1"/>
                </a:cxn>
                <a:cxn ang="0">
                  <a:pos x="T2" y="T3"/>
                </a:cxn>
                <a:cxn ang="0">
                  <a:pos x="T4" y="T5"/>
                </a:cxn>
                <a:cxn ang="0">
                  <a:pos x="T6" y="T7"/>
                </a:cxn>
                <a:cxn ang="0">
                  <a:pos x="T8" y="T9"/>
                </a:cxn>
                <a:cxn ang="0">
                  <a:pos x="T10" y="T11"/>
                </a:cxn>
                <a:cxn ang="0">
                  <a:pos x="T12" y="T13"/>
                </a:cxn>
              </a:cxnLst>
              <a:rect l="0" t="0" r="r" b="b"/>
              <a:pathLst>
                <a:path w="21" h="24">
                  <a:moveTo>
                    <a:pt x="11" y="2"/>
                  </a:moveTo>
                  <a:cubicBezTo>
                    <a:pt x="6" y="4"/>
                    <a:pt x="2" y="9"/>
                    <a:pt x="1" y="13"/>
                  </a:cubicBezTo>
                  <a:cubicBezTo>
                    <a:pt x="0" y="20"/>
                    <a:pt x="6" y="22"/>
                    <a:pt x="11" y="24"/>
                  </a:cubicBezTo>
                  <a:cubicBezTo>
                    <a:pt x="12" y="24"/>
                    <a:pt x="13" y="24"/>
                    <a:pt x="14" y="22"/>
                  </a:cubicBezTo>
                  <a:cubicBezTo>
                    <a:pt x="15" y="17"/>
                    <a:pt x="17" y="13"/>
                    <a:pt x="21" y="9"/>
                  </a:cubicBezTo>
                  <a:cubicBezTo>
                    <a:pt x="21" y="8"/>
                    <a:pt x="21" y="8"/>
                    <a:pt x="21" y="8"/>
                  </a:cubicBezTo>
                  <a:cubicBezTo>
                    <a:pt x="20" y="1"/>
                    <a:pt x="15" y="0"/>
                    <a:pt x="11" y="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6" name="Freeform 24"/>
            <p:cNvSpPr/>
            <p:nvPr/>
          </p:nvSpPr>
          <p:spPr bwMode="auto">
            <a:xfrm>
              <a:off x="5440363" y="5140325"/>
              <a:ext cx="146050" cy="442913"/>
            </a:xfrm>
            <a:custGeom>
              <a:avLst/>
              <a:gdLst>
                <a:gd name="T0" fmla="*/ 20 w 26"/>
                <a:gd name="T1" fmla="*/ 52 h 78"/>
                <a:gd name="T2" fmla="*/ 18 w 26"/>
                <a:gd name="T3" fmla="*/ 25 h 78"/>
                <a:gd name="T4" fmla="*/ 22 w 26"/>
                <a:gd name="T5" fmla="*/ 7 h 78"/>
                <a:gd name="T6" fmla="*/ 10 w 26"/>
                <a:gd name="T7" fmla="*/ 4 h 78"/>
                <a:gd name="T8" fmla="*/ 1 w 26"/>
                <a:gd name="T9" fmla="*/ 48 h 78"/>
                <a:gd name="T10" fmla="*/ 11 w 26"/>
                <a:gd name="T11" fmla="*/ 78 h 78"/>
                <a:gd name="T12" fmla="*/ 25 w 26"/>
                <a:gd name="T13" fmla="*/ 51 h 78"/>
                <a:gd name="T14" fmla="*/ 20 w 26"/>
                <a:gd name="T15" fmla="*/ 52 h 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 h="78">
                  <a:moveTo>
                    <a:pt x="20" y="52"/>
                  </a:moveTo>
                  <a:cubicBezTo>
                    <a:pt x="14" y="49"/>
                    <a:pt x="17" y="30"/>
                    <a:pt x="18" y="25"/>
                  </a:cubicBezTo>
                  <a:cubicBezTo>
                    <a:pt x="20" y="20"/>
                    <a:pt x="22" y="12"/>
                    <a:pt x="22" y="7"/>
                  </a:cubicBezTo>
                  <a:cubicBezTo>
                    <a:pt x="17" y="0"/>
                    <a:pt x="15" y="1"/>
                    <a:pt x="10" y="4"/>
                  </a:cubicBezTo>
                  <a:cubicBezTo>
                    <a:pt x="0" y="17"/>
                    <a:pt x="1" y="30"/>
                    <a:pt x="1" y="48"/>
                  </a:cubicBezTo>
                  <a:cubicBezTo>
                    <a:pt x="2" y="57"/>
                    <a:pt x="2" y="73"/>
                    <a:pt x="11" y="78"/>
                  </a:cubicBezTo>
                  <a:cubicBezTo>
                    <a:pt x="19" y="77"/>
                    <a:pt x="26" y="60"/>
                    <a:pt x="25" y="51"/>
                  </a:cubicBezTo>
                  <a:cubicBezTo>
                    <a:pt x="24" y="47"/>
                    <a:pt x="23" y="52"/>
                    <a:pt x="20" y="5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7" name="Freeform 25"/>
            <p:cNvSpPr/>
            <p:nvPr/>
          </p:nvSpPr>
          <p:spPr bwMode="auto">
            <a:xfrm>
              <a:off x="5614988" y="4902200"/>
              <a:ext cx="323850" cy="782638"/>
            </a:xfrm>
            <a:custGeom>
              <a:avLst/>
              <a:gdLst>
                <a:gd name="T0" fmla="*/ 44 w 58"/>
                <a:gd name="T1" fmla="*/ 72 h 138"/>
                <a:gd name="T2" fmla="*/ 48 w 58"/>
                <a:gd name="T3" fmla="*/ 70 h 138"/>
                <a:gd name="T4" fmla="*/ 50 w 58"/>
                <a:gd name="T5" fmla="*/ 62 h 138"/>
                <a:gd name="T6" fmla="*/ 48 w 58"/>
                <a:gd name="T7" fmla="*/ 62 h 138"/>
                <a:gd name="T8" fmla="*/ 32 w 58"/>
                <a:gd name="T9" fmla="*/ 58 h 138"/>
                <a:gd name="T10" fmla="*/ 42 w 58"/>
                <a:gd name="T11" fmla="*/ 40 h 138"/>
                <a:gd name="T12" fmla="*/ 38 w 58"/>
                <a:gd name="T13" fmla="*/ 33 h 138"/>
                <a:gd name="T14" fmla="*/ 39 w 58"/>
                <a:gd name="T15" fmla="*/ 32 h 138"/>
                <a:gd name="T16" fmla="*/ 48 w 58"/>
                <a:gd name="T17" fmla="*/ 23 h 138"/>
                <a:gd name="T18" fmla="*/ 54 w 58"/>
                <a:gd name="T19" fmla="*/ 16 h 138"/>
                <a:gd name="T20" fmla="*/ 48 w 58"/>
                <a:gd name="T21" fmla="*/ 1 h 138"/>
                <a:gd name="T22" fmla="*/ 34 w 58"/>
                <a:gd name="T23" fmla="*/ 2 h 138"/>
                <a:gd name="T24" fmla="*/ 24 w 58"/>
                <a:gd name="T25" fmla="*/ 8 h 138"/>
                <a:gd name="T26" fmla="*/ 22 w 58"/>
                <a:gd name="T27" fmla="*/ 10 h 138"/>
                <a:gd name="T28" fmla="*/ 28 w 58"/>
                <a:gd name="T29" fmla="*/ 18 h 138"/>
                <a:gd name="T30" fmla="*/ 41 w 58"/>
                <a:gd name="T31" fmla="*/ 13 h 138"/>
                <a:gd name="T32" fmla="*/ 41 w 58"/>
                <a:gd name="T33" fmla="*/ 15 h 138"/>
                <a:gd name="T34" fmla="*/ 41 w 58"/>
                <a:gd name="T35" fmla="*/ 15 h 138"/>
                <a:gd name="T36" fmla="*/ 29 w 58"/>
                <a:gd name="T37" fmla="*/ 30 h 138"/>
                <a:gd name="T38" fmla="*/ 30 w 58"/>
                <a:gd name="T39" fmla="*/ 46 h 138"/>
                <a:gd name="T40" fmla="*/ 29 w 58"/>
                <a:gd name="T41" fmla="*/ 51 h 138"/>
                <a:gd name="T42" fmla="*/ 18 w 58"/>
                <a:gd name="T43" fmla="*/ 65 h 138"/>
                <a:gd name="T44" fmla="*/ 12 w 58"/>
                <a:gd name="T45" fmla="*/ 72 h 138"/>
                <a:gd name="T46" fmla="*/ 11 w 58"/>
                <a:gd name="T47" fmla="*/ 73 h 138"/>
                <a:gd name="T48" fmla="*/ 0 w 58"/>
                <a:gd name="T49" fmla="*/ 84 h 138"/>
                <a:gd name="T50" fmla="*/ 0 w 58"/>
                <a:gd name="T51" fmla="*/ 85 h 138"/>
                <a:gd name="T52" fmla="*/ 11 w 58"/>
                <a:gd name="T53" fmla="*/ 89 h 138"/>
                <a:gd name="T54" fmla="*/ 13 w 58"/>
                <a:gd name="T55" fmla="*/ 89 h 138"/>
                <a:gd name="T56" fmla="*/ 14 w 58"/>
                <a:gd name="T57" fmla="*/ 89 h 138"/>
                <a:gd name="T58" fmla="*/ 14 w 58"/>
                <a:gd name="T59" fmla="*/ 88 h 138"/>
                <a:gd name="T60" fmla="*/ 14 w 58"/>
                <a:gd name="T61" fmla="*/ 87 h 138"/>
                <a:gd name="T62" fmla="*/ 27 w 58"/>
                <a:gd name="T63" fmla="*/ 77 h 138"/>
                <a:gd name="T64" fmla="*/ 28 w 58"/>
                <a:gd name="T65" fmla="*/ 114 h 138"/>
                <a:gd name="T66" fmla="*/ 25 w 58"/>
                <a:gd name="T67" fmla="*/ 115 h 138"/>
                <a:gd name="T68" fmla="*/ 25 w 58"/>
                <a:gd name="T69" fmla="*/ 116 h 138"/>
                <a:gd name="T70" fmla="*/ 22 w 58"/>
                <a:gd name="T71" fmla="*/ 120 h 138"/>
                <a:gd name="T72" fmla="*/ 22 w 58"/>
                <a:gd name="T73" fmla="*/ 120 h 138"/>
                <a:gd name="T74" fmla="*/ 30 w 58"/>
                <a:gd name="T75" fmla="*/ 138 h 138"/>
                <a:gd name="T76" fmla="*/ 39 w 58"/>
                <a:gd name="T77" fmla="*/ 126 h 138"/>
                <a:gd name="T78" fmla="*/ 39 w 58"/>
                <a:gd name="T79" fmla="*/ 74 h 138"/>
                <a:gd name="T80" fmla="*/ 44 w 58"/>
                <a:gd name="T81"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8" h="138">
                  <a:moveTo>
                    <a:pt x="44" y="72"/>
                  </a:moveTo>
                  <a:cubicBezTo>
                    <a:pt x="45" y="71"/>
                    <a:pt x="47" y="71"/>
                    <a:pt x="48" y="70"/>
                  </a:cubicBezTo>
                  <a:cubicBezTo>
                    <a:pt x="51" y="68"/>
                    <a:pt x="54" y="66"/>
                    <a:pt x="50" y="62"/>
                  </a:cubicBezTo>
                  <a:cubicBezTo>
                    <a:pt x="50" y="62"/>
                    <a:pt x="49" y="62"/>
                    <a:pt x="48" y="62"/>
                  </a:cubicBezTo>
                  <a:cubicBezTo>
                    <a:pt x="42" y="62"/>
                    <a:pt x="32" y="66"/>
                    <a:pt x="32" y="58"/>
                  </a:cubicBezTo>
                  <a:cubicBezTo>
                    <a:pt x="35" y="53"/>
                    <a:pt x="42" y="45"/>
                    <a:pt x="42" y="40"/>
                  </a:cubicBezTo>
                  <a:cubicBezTo>
                    <a:pt x="38" y="38"/>
                    <a:pt x="38" y="37"/>
                    <a:pt x="38" y="33"/>
                  </a:cubicBezTo>
                  <a:cubicBezTo>
                    <a:pt x="39" y="33"/>
                    <a:pt x="39" y="33"/>
                    <a:pt x="39" y="32"/>
                  </a:cubicBezTo>
                  <a:cubicBezTo>
                    <a:pt x="42" y="30"/>
                    <a:pt x="45" y="27"/>
                    <a:pt x="48" y="23"/>
                  </a:cubicBezTo>
                  <a:cubicBezTo>
                    <a:pt x="50" y="21"/>
                    <a:pt x="52" y="18"/>
                    <a:pt x="54" y="16"/>
                  </a:cubicBezTo>
                  <a:cubicBezTo>
                    <a:pt x="58" y="6"/>
                    <a:pt x="54" y="2"/>
                    <a:pt x="48" y="1"/>
                  </a:cubicBezTo>
                  <a:cubicBezTo>
                    <a:pt x="44" y="0"/>
                    <a:pt x="38" y="1"/>
                    <a:pt x="34" y="2"/>
                  </a:cubicBezTo>
                  <a:cubicBezTo>
                    <a:pt x="32" y="3"/>
                    <a:pt x="24" y="6"/>
                    <a:pt x="24" y="8"/>
                  </a:cubicBezTo>
                  <a:cubicBezTo>
                    <a:pt x="23" y="9"/>
                    <a:pt x="22" y="9"/>
                    <a:pt x="22" y="10"/>
                  </a:cubicBezTo>
                  <a:cubicBezTo>
                    <a:pt x="19" y="16"/>
                    <a:pt x="22" y="18"/>
                    <a:pt x="28" y="18"/>
                  </a:cubicBezTo>
                  <a:cubicBezTo>
                    <a:pt x="31" y="17"/>
                    <a:pt x="37" y="8"/>
                    <a:pt x="41" y="13"/>
                  </a:cubicBezTo>
                  <a:cubicBezTo>
                    <a:pt x="41" y="13"/>
                    <a:pt x="40" y="14"/>
                    <a:pt x="41" y="15"/>
                  </a:cubicBezTo>
                  <a:cubicBezTo>
                    <a:pt x="40" y="15"/>
                    <a:pt x="41" y="15"/>
                    <a:pt x="41" y="15"/>
                  </a:cubicBezTo>
                  <a:cubicBezTo>
                    <a:pt x="39" y="19"/>
                    <a:pt x="31" y="27"/>
                    <a:pt x="29" y="30"/>
                  </a:cubicBezTo>
                  <a:cubicBezTo>
                    <a:pt x="26" y="35"/>
                    <a:pt x="30" y="40"/>
                    <a:pt x="30" y="46"/>
                  </a:cubicBezTo>
                  <a:cubicBezTo>
                    <a:pt x="30" y="48"/>
                    <a:pt x="29" y="49"/>
                    <a:pt x="29" y="51"/>
                  </a:cubicBezTo>
                  <a:cubicBezTo>
                    <a:pt x="25" y="55"/>
                    <a:pt x="22" y="62"/>
                    <a:pt x="18" y="65"/>
                  </a:cubicBezTo>
                  <a:cubicBezTo>
                    <a:pt x="16" y="67"/>
                    <a:pt x="13" y="70"/>
                    <a:pt x="12" y="72"/>
                  </a:cubicBezTo>
                  <a:cubicBezTo>
                    <a:pt x="12" y="72"/>
                    <a:pt x="11" y="73"/>
                    <a:pt x="11" y="73"/>
                  </a:cubicBezTo>
                  <a:cubicBezTo>
                    <a:pt x="7" y="77"/>
                    <a:pt x="4" y="81"/>
                    <a:pt x="0" y="84"/>
                  </a:cubicBezTo>
                  <a:cubicBezTo>
                    <a:pt x="0" y="84"/>
                    <a:pt x="0" y="85"/>
                    <a:pt x="0" y="85"/>
                  </a:cubicBezTo>
                  <a:cubicBezTo>
                    <a:pt x="2" y="87"/>
                    <a:pt x="7" y="88"/>
                    <a:pt x="11" y="89"/>
                  </a:cubicBezTo>
                  <a:cubicBezTo>
                    <a:pt x="12" y="89"/>
                    <a:pt x="12" y="89"/>
                    <a:pt x="13" y="89"/>
                  </a:cubicBezTo>
                  <a:cubicBezTo>
                    <a:pt x="13" y="89"/>
                    <a:pt x="14" y="89"/>
                    <a:pt x="14" y="89"/>
                  </a:cubicBezTo>
                  <a:cubicBezTo>
                    <a:pt x="14" y="88"/>
                    <a:pt x="14" y="88"/>
                    <a:pt x="14" y="88"/>
                  </a:cubicBezTo>
                  <a:cubicBezTo>
                    <a:pt x="14" y="88"/>
                    <a:pt x="14" y="87"/>
                    <a:pt x="14" y="87"/>
                  </a:cubicBezTo>
                  <a:cubicBezTo>
                    <a:pt x="18" y="82"/>
                    <a:pt x="20" y="78"/>
                    <a:pt x="27" y="77"/>
                  </a:cubicBezTo>
                  <a:cubicBezTo>
                    <a:pt x="27" y="78"/>
                    <a:pt x="27" y="84"/>
                    <a:pt x="28" y="114"/>
                  </a:cubicBezTo>
                  <a:cubicBezTo>
                    <a:pt x="27" y="114"/>
                    <a:pt x="28" y="114"/>
                    <a:pt x="25" y="115"/>
                  </a:cubicBezTo>
                  <a:cubicBezTo>
                    <a:pt x="25" y="115"/>
                    <a:pt x="25" y="116"/>
                    <a:pt x="25" y="116"/>
                  </a:cubicBezTo>
                  <a:cubicBezTo>
                    <a:pt x="23" y="117"/>
                    <a:pt x="22" y="118"/>
                    <a:pt x="22" y="120"/>
                  </a:cubicBezTo>
                  <a:cubicBezTo>
                    <a:pt x="22" y="120"/>
                    <a:pt x="22" y="120"/>
                    <a:pt x="22" y="120"/>
                  </a:cubicBezTo>
                  <a:cubicBezTo>
                    <a:pt x="22" y="127"/>
                    <a:pt x="23" y="133"/>
                    <a:pt x="30" y="138"/>
                  </a:cubicBezTo>
                  <a:cubicBezTo>
                    <a:pt x="35" y="137"/>
                    <a:pt x="37" y="131"/>
                    <a:pt x="39" y="126"/>
                  </a:cubicBezTo>
                  <a:cubicBezTo>
                    <a:pt x="39" y="119"/>
                    <a:pt x="39" y="119"/>
                    <a:pt x="39" y="74"/>
                  </a:cubicBezTo>
                  <a:cubicBezTo>
                    <a:pt x="41" y="73"/>
                    <a:pt x="42" y="72"/>
                    <a:pt x="44" y="7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8" name="Freeform 26"/>
            <p:cNvSpPr/>
            <p:nvPr/>
          </p:nvSpPr>
          <p:spPr bwMode="auto">
            <a:xfrm>
              <a:off x="5843588" y="5413375"/>
              <a:ext cx="141288" cy="152400"/>
            </a:xfrm>
            <a:custGeom>
              <a:avLst/>
              <a:gdLst>
                <a:gd name="T0" fmla="*/ 8 w 25"/>
                <a:gd name="T1" fmla="*/ 1 h 27"/>
                <a:gd name="T2" fmla="*/ 7 w 25"/>
                <a:gd name="T3" fmla="*/ 1 h 27"/>
                <a:gd name="T4" fmla="*/ 6 w 25"/>
                <a:gd name="T5" fmla="*/ 10 h 27"/>
                <a:gd name="T6" fmla="*/ 0 w 25"/>
                <a:gd name="T7" fmla="*/ 25 h 27"/>
                <a:gd name="T8" fmla="*/ 0 w 25"/>
                <a:gd name="T9" fmla="*/ 26 h 27"/>
                <a:gd name="T10" fmla="*/ 3 w 25"/>
                <a:gd name="T11" fmla="*/ 27 h 27"/>
                <a:gd name="T12" fmla="*/ 7 w 25"/>
                <a:gd name="T13" fmla="*/ 26 h 27"/>
                <a:gd name="T14" fmla="*/ 23 w 25"/>
                <a:gd name="T15" fmla="*/ 11 h 27"/>
                <a:gd name="T16" fmla="*/ 8 w 25"/>
                <a:gd name="T17" fmla="*/ 1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 h="27">
                  <a:moveTo>
                    <a:pt x="8" y="1"/>
                  </a:moveTo>
                  <a:cubicBezTo>
                    <a:pt x="8" y="1"/>
                    <a:pt x="8" y="1"/>
                    <a:pt x="7" y="1"/>
                  </a:cubicBezTo>
                  <a:cubicBezTo>
                    <a:pt x="4" y="3"/>
                    <a:pt x="2" y="7"/>
                    <a:pt x="6" y="10"/>
                  </a:cubicBezTo>
                  <a:cubicBezTo>
                    <a:pt x="8" y="18"/>
                    <a:pt x="2" y="20"/>
                    <a:pt x="0" y="25"/>
                  </a:cubicBezTo>
                  <a:cubicBezTo>
                    <a:pt x="0" y="25"/>
                    <a:pt x="0" y="26"/>
                    <a:pt x="0" y="26"/>
                  </a:cubicBezTo>
                  <a:cubicBezTo>
                    <a:pt x="1" y="26"/>
                    <a:pt x="2" y="27"/>
                    <a:pt x="3" y="27"/>
                  </a:cubicBezTo>
                  <a:cubicBezTo>
                    <a:pt x="4" y="27"/>
                    <a:pt x="6" y="26"/>
                    <a:pt x="7" y="26"/>
                  </a:cubicBezTo>
                  <a:cubicBezTo>
                    <a:pt x="15" y="24"/>
                    <a:pt x="25" y="21"/>
                    <a:pt x="23" y="11"/>
                  </a:cubicBezTo>
                  <a:cubicBezTo>
                    <a:pt x="19" y="2"/>
                    <a:pt x="15" y="0"/>
                    <a:pt x="8" y="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9" name="Freeform 27"/>
            <p:cNvSpPr/>
            <p:nvPr/>
          </p:nvSpPr>
          <p:spPr bwMode="auto">
            <a:xfrm>
              <a:off x="5435600" y="4975225"/>
              <a:ext cx="144463" cy="136525"/>
            </a:xfrm>
            <a:custGeom>
              <a:avLst/>
              <a:gdLst>
                <a:gd name="T0" fmla="*/ 14 w 26"/>
                <a:gd name="T1" fmla="*/ 24 h 24"/>
                <a:gd name="T2" fmla="*/ 25 w 26"/>
                <a:gd name="T3" fmla="*/ 20 h 24"/>
                <a:gd name="T4" fmla="*/ 25 w 26"/>
                <a:gd name="T5" fmla="*/ 20 h 24"/>
                <a:gd name="T6" fmla="*/ 25 w 26"/>
                <a:gd name="T7" fmla="*/ 19 h 24"/>
                <a:gd name="T8" fmla="*/ 22 w 26"/>
                <a:gd name="T9" fmla="*/ 7 h 24"/>
                <a:gd name="T10" fmla="*/ 14 w 26"/>
                <a:gd name="T11" fmla="*/ 24 h 24"/>
              </a:gdLst>
              <a:ahLst/>
              <a:cxnLst>
                <a:cxn ang="0">
                  <a:pos x="T0" y="T1"/>
                </a:cxn>
                <a:cxn ang="0">
                  <a:pos x="T2" y="T3"/>
                </a:cxn>
                <a:cxn ang="0">
                  <a:pos x="T4" y="T5"/>
                </a:cxn>
                <a:cxn ang="0">
                  <a:pos x="T6" y="T7"/>
                </a:cxn>
                <a:cxn ang="0">
                  <a:pos x="T8" y="T9"/>
                </a:cxn>
                <a:cxn ang="0">
                  <a:pos x="T10" y="T11"/>
                </a:cxn>
              </a:cxnLst>
              <a:rect l="0" t="0" r="r" b="b"/>
              <a:pathLst>
                <a:path w="26" h="24">
                  <a:moveTo>
                    <a:pt x="14" y="24"/>
                  </a:moveTo>
                  <a:cubicBezTo>
                    <a:pt x="20" y="24"/>
                    <a:pt x="21" y="24"/>
                    <a:pt x="25" y="20"/>
                  </a:cubicBezTo>
                  <a:cubicBezTo>
                    <a:pt x="25" y="20"/>
                    <a:pt x="25" y="20"/>
                    <a:pt x="25" y="20"/>
                  </a:cubicBezTo>
                  <a:cubicBezTo>
                    <a:pt x="25" y="20"/>
                    <a:pt x="25" y="20"/>
                    <a:pt x="25" y="19"/>
                  </a:cubicBezTo>
                  <a:cubicBezTo>
                    <a:pt x="26" y="13"/>
                    <a:pt x="23" y="8"/>
                    <a:pt x="22" y="7"/>
                  </a:cubicBezTo>
                  <a:cubicBezTo>
                    <a:pt x="9" y="0"/>
                    <a:pt x="0" y="17"/>
                    <a:pt x="14" y="24"/>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0" name="Freeform 28"/>
            <p:cNvSpPr/>
            <p:nvPr/>
          </p:nvSpPr>
          <p:spPr bwMode="auto">
            <a:xfrm>
              <a:off x="5603875" y="5032375"/>
              <a:ext cx="106363" cy="114300"/>
            </a:xfrm>
            <a:custGeom>
              <a:avLst/>
              <a:gdLst>
                <a:gd name="T0" fmla="*/ 9 w 19"/>
                <a:gd name="T1" fmla="*/ 20 h 20"/>
                <a:gd name="T2" fmla="*/ 11 w 19"/>
                <a:gd name="T3" fmla="*/ 19 h 20"/>
                <a:gd name="T4" fmla="*/ 13 w 19"/>
                <a:gd name="T5" fmla="*/ 18 h 20"/>
                <a:gd name="T6" fmla="*/ 16 w 19"/>
                <a:gd name="T7" fmla="*/ 1 h 20"/>
                <a:gd name="T8" fmla="*/ 13 w 19"/>
                <a:gd name="T9" fmla="*/ 0 h 20"/>
                <a:gd name="T10" fmla="*/ 9 w 19"/>
                <a:gd name="T11" fmla="*/ 20 h 20"/>
              </a:gdLst>
              <a:ahLst/>
              <a:cxnLst>
                <a:cxn ang="0">
                  <a:pos x="T0" y="T1"/>
                </a:cxn>
                <a:cxn ang="0">
                  <a:pos x="T2" y="T3"/>
                </a:cxn>
                <a:cxn ang="0">
                  <a:pos x="T4" y="T5"/>
                </a:cxn>
                <a:cxn ang="0">
                  <a:pos x="T6" y="T7"/>
                </a:cxn>
                <a:cxn ang="0">
                  <a:pos x="T8" y="T9"/>
                </a:cxn>
                <a:cxn ang="0">
                  <a:pos x="T10" y="T11"/>
                </a:cxn>
              </a:cxnLst>
              <a:rect l="0" t="0" r="r" b="b"/>
              <a:pathLst>
                <a:path w="19" h="20">
                  <a:moveTo>
                    <a:pt x="9" y="20"/>
                  </a:moveTo>
                  <a:cubicBezTo>
                    <a:pt x="10" y="20"/>
                    <a:pt x="10" y="20"/>
                    <a:pt x="11" y="19"/>
                  </a:cubicBezTo>
                  <a:cubicBezTo>
                    <a:pt x="12" y="19"/>
                    <a:pt x="12" y="18"/>
                    <a:pt x="13" y="18"/>
                  </a:cubicBezTo>
                  <a:cubicBezTo>
                    <a:pt x="16" y="13"/>
                    <a:pt x="19" y="5"/>
                    <a:pt x="16" y="1"/>
                  </a:cubicBezTo>
                  <a:cubicBezTo>
                    <a:pt x="15" y="0"/>
                    <a:pt x="14" y="0"/>
                    <a:pt x="13" y="0"/>
                  </a:cubicBezTo>
                  <a:cubicBezTo>
                    <a:pt x="6" y="1"/>
                    <a:pt x="0" y="14"/>
                    <a:pt x="9" y="20"/>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1" name="Freeform 29"/>
            <p:cNvSpPr/>
            <p:nvPr/>
          </p:nvSpPr>
          <p:spPr bwMode="auto">
            <a:xfrm>
              <a:off x="6230938" y="5043488"/>
              <a:ext cx="212725" cy="504825"/>
            </a:xfrm>
            <a:custGeom>
              <a:avLst/>
              <a:gdLst>
                <a:gd name="T0" fmla="*/ 33 w 38"/>
                <a:gd name="T1" fmla="*/ 59 h 89"/>
                <a:gd name="T2" fmla="*/ 24 w 38"/>
                <a:gd name="T3" fmla="*/ 44 h 89"/>
                <a:gd name="T4" fmla="*/ 38 w 38"/>
                <a:gd name="T5" fmla="*/ 30 h 89"/>
                <a:gd name="T6" fmla="*/ 38 w 38"/>
                <a:gd name="T7" fmla="*/ 30 h 89"/>
                <a:gd name="T8" fmla="*/ 38 w 38"/>
                <a:gd name="T9" fmla="*/ 30 h 89"/>
                <a:gd name="T10" fmla="*/ 38 w 38"/>
                <a:gd name="T11" fmla="*/ 30 h 89"/>
                <a:gd name="T12" fmla="*/ 38 w 38"/>
                <a:gd name="T13" fmla="*/ 30 h 89"/>
                <a:gd name="T14" fmla="*/ 38 w 38"/>
                <a:gd name="T15" fmla="*/ 30 h 89"/>
                <a:gd name="T16" fmla="*/ 38 w 38"/>
                <a:gd name="T17" fmla="*/ 30 h 89"/>
                <a:gd name="T18" fmla="*/ 38 w 38"/>
                <a:gd name="T19" fmla="*/ 30 h 89"/>
                <a:gd name="T20" fmla="*/ 38 w 38"/>
                <a:gd name="T21" fmla="*/ 30 h 89"/>
                <a:gd name="T22" fmla="*/ 38 w 38"/>
                <a:gd name="T23" fmla="*/ 30 h 89"/>
                <a:gd name="T24" fmla="*/ 38 w 38"/>
                <a:gd name="T25" fmla="*/ 29 h 89"/>
                <a:gd name="T26" fmla="*/ 38 w 38"/>
                <a:gd name="T27" fmla="*/ 29 h 89"/>
                <a:gd name="T28" fmla="*/ 38 w 38"/>
                <a:gd name="T29" fmla="*/ 29 h 89"/>
                <a:gd name="T30" fmla="*/ 38 w 38"/>
                <a:gd name="T31" fmla="*/ 29 h 89"/>
                <a:gd name="T32" fmla="*/ 38 w 38"/>
                <a:gd name="T33" fmla="*/ 29 h 89"/>
                <a:gd name="T34" fmla="*/ 38 w 38"/>
                <a:gd name="T35" fmla="*/ 29 h 89"/>
                <a:gd name="T36" fmla="*/ 38 w 38"/>
                <a:gd name="T37" fmla="*/ 29 h 89"/>
                <a:gd name="T38" fmla="*/ 38 w 38"/>
                <a:gd name="T39" fmla="*/ 29 h 89"/>
                <a:gd name="T40" fmla="*/ 38 w 38"/>
                <a:gd name="T41" fmla="*/ 29 h 89"/>
                <a:gd name="T42" fmla="*/ 38 w 38"/>
                <a:gd name="T43" fmla="*/ 29 h 89"/>
                <a:gd name="T44" fmla="*/ 38 w 38"/>
                <a:gd name="T45" fmla="*/ 29 h 89"/>
                <a:gd name="T46" fmla="*/ 38 w 38"/>
                <a:gd name="T47" fmla="*/ 29 h 89"/>
                <a:gd name="T48" fmla="*/ 38 w 38"/>
                <a:gd name="T49" fmla="*/ 29 h 89"/>
                <a:gd name="T50" fmla="*/ 38 w 38"/>
                <a:gd name="T51" fmla="*/ 29 h 89"/>
                <a:gd name="T52" fmla="*/ 38 w 38"/>
                <a:gd name="T53" fmla="*/ 29 h 89"/>
                <a:gd name="T54" fmla="*/ 38 w 38"/>
                <a:gd name="T55" fmla="*/ 29 h 89"/>
                <a:gd name="T56" fmla="*/ 38 w 38"/>
                <a:gd name="T57" fmla="*/ 29 h 89"/>
                <a:gd name="T58" fmla="*/ 38 w 38"/>
                <a:gd name="T59" fmla="*/ 29 h 89"/>
                <a:gd name="T60" fmla="*/ 38 w 38"/>
                <a:gd name="T61" fmla="*/ 29 h 89"/>
                <a:gd name="T62" fmla="*/ 38 w 38"/>
                <a:gd name="T63" fmla="*/ 29 h 89"/>
                <a:gd name="T64" fmla="*/ 38 w 38"/>
                <a:gd name="T65" fmla="*/ 28 h 89"/>
                <a:gd name="T66" fmla="*/ 38 w 38"/>
                <a:gd name="T67" fmla="*/ 28 h 89"/>
                <a:gd name="T68" fmla="*/ 38 w 38"/>
                <a:gd name="T69" fmla="*/ 28 h 89"/>
                <a:gd name="T70" fmla="*/ 29 w 38"/>
                <a:gd name="T71" fmla="*/ 19 h 89"/>
                <a:gd name="T72" fmla="*/ 17 w 38"/>
                <a:gd name="T73" fmla="*/ 8 h 89"/>
                <a:gd name="T74" fmla="*/ 3 w 38"/>
                <a:gd name="T75" fmla="*/ 37 h 89"/>
                <a:gd name="T76" fmla="*/ 7 w 38"/>
                <a:gd name="T77" fmla="*/ 68 h 89"/>
                <a:gd name="T78" fmla="*/ 37 w 38"/>
                <a:gd name="T79" fmla="*/ 57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8" h="89">
                  <a:moveTo>
                    <a:pt x="33" y="58"/>
                  </a:moveTo>
                  <a:cubicBezTo>
                    <a:pt x="33" y="58"/>
                    <a:pt x="33" y="58"/>
                    <a:pt x="33" y="59"/>
                  </a:cubicBezTo>
                  <a:cubicBezTo>
                    <a:pt x="30" y="61"/>
                    <a:pt x="26" y="69"/>
                    <a:pt x="22" y="70"/>
                  </a:cubicBezTo>
                  <a:cubicBezTo>
                    <a:pt x="21" y="61"/>
                    <a:pt x="23" y="52"/>
                    <a:pt x="24" y="44"/>
                  </a:cubicBezTo>
                  <a:cubicBezTo>
                    <a:pt x="26" y="39"/>
                    <a:pt x="27" y="39"/>
                    <a:pt x="32" y="37"/>
                  </a:cubicBezTo>
                  <a:cubicBezTo>
                    <a:pt x="35" y="35"/>
                    <a:pt x="37" y="33"/>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30"/>
                    <a:pt x="38" y="30"/>
                    <a:pt x="38" y="30"/>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9"/>
                    <a:pt x="38" y="29"/>
                    <a:pt x="38" y="29"/>
                  </a:cubicBezTo>
                  <a:cubicBezTo>
                    <a:pt x="38" y="28"/>
                    <a:pt x="38" y="28"/>
                    <a:pt x="38" y="28"/>
                  </a:cubicBezTo>
                  <a:cubicBezTo>
                    <a:pt x="38" y="28"/>
                    <a:pt x="38" y="28"/>
                    <a:pt x="38" y="28"/>
                  </a:cubicBezTo>
                  <a:cubicBezTo>
                    <a:pt x="38" y="28"/>
                    <a:pt x="38" y="28"/>
                    <a:pt x="38" y="28"/>
                  </a:cubicBezTo>
                  <a:cubicBezTo>
                    <a:pt x="38" y="28"/>
                    <a:pt x="38" y="28"/>
                    <a:pt x="38" y="28"/>
                  </a:cubicBezTo>
                  <a:cubicBezTo>
                    <a:pt x="38" y="28"/>
                    <a:pt x="38" y="28"/>
                    <a:pt x="38" y="28"/>
                  </a:cubicBezTo>
                  <a:cubicBezTo>
                    <a:pt x="38" y="28"/>
                    <a:pt x="38" y="28"/>
                    <a:pt x="38" y="28"/>
                  </a:cubicBezTo>
                  <a:cubicBezTo>
                    <a:pt x="37" y="21"/>
                    <a:pt x="35" y="20"/>
                    <a:pt x="29" y="19"/>
                  </a:cubicBezTo>
                  <a:cubicBezTo>
                    <a:pt x="28" y="14"/>
                    <a:pt x="29" y="9"/>
                    <a:pt x="28" y="4"/>
                  </a:cubicBezTo>
                  <a:cubicBezTo>
                    <a:pt x="25" y="0"/>
                    <a:pt x="19" y="5"/>
                    <a:pt x="17" y="8"/>
                  </a:cubicBezTo>
                  <a:cubicBezTo>
                    <a:pt x="10" y="13"/>
                    <a:pt x="15" y="20"/>
                    <a:pt x="14" y="29"/>
                  </a:cubicBezTo>
                  <a:cubicBezTo>
                    <a:pt x="11" y="31"/>
                    <a:pt x="6" y="34"/>
                    <a:pt x="3" y="37"/>
                  </a:cubicBezTo>
                  <a:cubicBezTo>
                    <a:pt x="0" y="45"/>
                    <a:pt x="1" y="47"/>
                    <a:pt x="9" y="50"/>
                  </a:cubicBezTo>
                  <a:cubicBezTo>
                    <a:pt x="10" y="54"/>
                    <a:pt x="7" y="64"/>
                    <a:pt x="7" y="68"/>
                  </a:cubicBezTo>
                  <a:cubicBezTo>
                    <a:pt x="7" y="74"/>
                    <a:pt x="6" y="85"/>
                    <a:pt x="13" y="89"/>
                  </a:cubicBezTo>
                  <a:cubicBezTo>
                    <a:pt x="21" y="87"/>
                    <a:pt x="38" y="67"/>
                    <a:pt x="37" y="57"/>
                  </a:cubicBezTo>
                  <a:cubicBezTo>
                    <a:pt x="36" y="57"/>
                    <a:pt x="35" y="57"/>
                    <a:pt x="33" y="58"/>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2" name="Freeform 30"/>
            <p:cNvSpPr/>
            <p:nvPr/>
          </p:nvSpPr>
          <p:spPr bwMode="auto">
            <a:xfrm>
              <a:off x="6443663" y="5140325"/>
              <a:ext cx="101600" cy="352425"/>
            </a:xfrm>
            <a:custGeom>
              <a:avLst/>
              <a:gdLst>
                <a:gd name="T0" fmla="*/ 4 w 18"/>
                <a:gd name="T1" fmla="*/ 10 h 62"/>
                <a:gd name="T2" fmla="*/ 3 w 18"/>
                <a:gd name="T3" fmla="*/ 43 h 62"/>
                <a:gd name="T4" fmla="*/ 0 w 18"/>
                <a:gd name="T5" fmla="*/ 57 h 62"/>
                <a:gd name="T6" fmla="*/ 0 w 18"/>
                <a:gd name="T7" fmla="*/ 59 h 62"/>
                <a:gd name="T8" fmla="*/ 1 w 18"/>
                <a:gd name="T9" fmla="*/ 62 h 62"/>
                <a:gd name="T10" fmla="*/ 10 w 18"/>
                <a:gd name="T11" fmla="*/ 56 h 62"/>
                <a:gd name="T12" fmla="*/ 16 w 18"/>
                <a:gd name="T13" fmla="*/ 9 h 62"/>
                <a:gd name="T14" fmla="*/ 4 w 18"/>
                <a:gd name="T15" fmla="*/ 1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62">
                  <a:moveTo>
                    <a:pt x="4" y="10"/>
                  </a:moveTo>
                  <a:cubicBezTo>
                    <a:pt x="5" y="21"/>
                    <a:pt x="5" y="32"/>
                    <a:pt x="3" y="43"/>
                  </a:cubicBezTo>
                  <a:cubicBezTo>
                    <a:pt x="2" y="47"/>
                    <a:pt x="0" y="52"/>
                    <a:pt x="0" y="57"/>
                  </a:cubicBezTo>
                  <a:cubicBezTo>
                    <a:pt x="0" y="57"/>
                    <a:pt x="0" y="58"/>
                    <a:pt x="0" y="59"/>
                  </a:cubicBezTo>
                  <a:cubicBezTo>
                    <a:pt x="0" y="60"/>
                    <a:pt x="0" y="61"/>
                    <a:pt x="1" y="62"/>
                  </a:cubicBezTo>
                  <a:cubicBezTo>
                    <a:pt x="4" y="62"/>
                    <a:pt x="7" y="60"/>
                    <a:pt x="10" y="56"/>
                  </a:cubicBezTo>
                  <a:cubicBezTo>
                    <a:pt x="16" y="43"/>
                    <a:pt x="18" y="23"/>
                    <a:pt x="16" y="9"/>
                  </a:cubicBezTo>
                  <a:cubicBezTo>
                    <a:pt x="13" y="0"/>
                    <a:pt x="7" y="4"/>
                    <a:pt x="4" y="10"/>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3" name="Freeform 31"/>
            <p:cNvSpPr/>
            <p:nvPr/>
          </p:nvSpPr>
          <p:spPr bwMode="auto">
            <a:xfrm>
              <a:off x="6640513" y="4999038"/>
              <a:ext cx="84138" cy="681038"/>
            </a:xfrm>
            <a:custGeom>
              <a:avLst/>
              <a:gdLst>
                <a:gd name="T0" fmla="*/ 11 w 15"/>
                <a:gd name="T1" fmla="*/ 2 h 120"/>
                <a:gd name="T2" fmla="*/ 2 w 15"/>
                <a:gd name="T3" fmla="*/ 4 h 120"/>
                <a:gd name="T4" fmla="*/ 2 w 15"/>
                <a:gd name="T5" fmla="*/ 6 h 120"/>
                <a:gd name="T6" fmla="*/ 2 w 15"/>
                <a:gd name="T7" fmla="*/ 113 h 120"/>
                <a:gd name="T8" fmla="*/ 4 w 15"/>
                <a:gd name="T9" fmla="*/ 120 h 120"/>
                <a:gd name="T10" fmla="*/ 15 w 15"/>
                <a:gd name="T11" fmla="*/ 107 h 120"/>
                <a:gd name="T12" fmla="*/ 15 w 15"/>
                <a:gd name="T13" fmla="*/ 69 h 120"/>
                <a:gd name="T14" fmla="*/ 15 w 15"/>
                <a:gd name="T15" fmla="*/ 55 h 120"/>
                <a:gd name="T16" fmla="*/ 15 w 15"/>
                <a:gd name="T17" fmla="*/ 6 h 120"/>
                <a:gd name="T18" fmla="*/ 11 w 15"/>
                <a:gd name="T19" fmla="*/ 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 h="120">
                  <a:moveTo>
                    <a:pt x="11" y="2"/>
                  </a:moveTo>
                  <a:cubicBezTo>
                    <a:pt x="7" y="0"/>
                    <a:pt x="5" y="2"/>
                    <a:pt x="2" y="4"/>
                  </a:cubicBezTo>
                  <a:cubicBezTo>
                    <a:pt x="2" y="5"/>
                    <a:pt x="2" y="6"/>
                    <a:pt x="2" y="6"/>
                  </a:cubicBezTo>
                  <a:cubicBezTo>
                    <a:pt x="3" y="41"/>
                    <a:pt x="4" y="77"/>
                    <a:pt x="2" y="113"/>
                  </a:cubicBezTo>
                  <a:cubicBezTo>
                    <a:pt x="1" y="116"/>
                    <a:pt x="0" y="118"/>
                    <a:pt x="4" y="120"/>
                  </a:cubicBezTo>
                  <a:cubicBezTo>
                    <a:pt x="12" y="120"/>
                    <a:pt x="13" y="116"/>
                    <a:pt x="15" y="107"/>
                  </a:cubicBezTo>
                  <a:cubicBezTo>
                    <a:pt x="15" y="99"/>
                    <a:pt x="15" y="69"/>
                    <a:pt x="15" y="69"/>
                  </a:cubicBezTo>
                  <a:cubicBezTo>
                    <a:pt x="15" y="66"/>
                    <a:pt x="15" y="56"/>
                    <a:pt x="15" y="55"/>
                  </a:cubicBezTo>
                  <a:cubicBezTo>
                    <a:pt x="15" y="26"/>
                    <a:pt x="15" y="26"/>
                    <a:pt x="15" y="6"/>
                  </a:cubicBezTo>
                  <a:cubicBezTo>
                    <a:pt x="14" y="4"/>
                    <a:pt x="13" y="3"/>
                    <a:pt x="11" y="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4" name="Freeform 32"/>
            <p:cNvSpPr/>
            <p:nvPr/>
          </p:nvSpPr>
          <p:spPr bwMode="auto">
            <a:xfrm>
              <a:off x="6538913" y="5157788"/>
              <a:ext cx="101600" cy="260350"/>
            </a:xfrm>
            <a:custGeom>
              <a:avLst/>
              <a:gdLst>
                <a:gd name="T0" fmla="*/ 15 w 18"/>
                <a:gd name="T1" fmla="*/ 3 h 46"/>
                <a:gd name="T2" fmla="*/ 6 w 18"/>
                <a:gd name="T3" fmla="*/ 16 h 46"/>
                <a:gd name="T4" fmla="*/ 8 w 18"/>
                <a:gd name="T5" fmla="*/ 46 h 46"/>
                <a:gd name="T6" fmla="*/ 13 w 18"/>
                <a:gd name="T7" fmla="*/ 44 h 46"/>
                <a:gd name="T8" fmla="*/ 18 w 18"/>
                <a:gd name="T9" fmla="*/ 6 h 46"/>
                <a:gd name="T10" fmla="*/ 15 w 18"/>
                <a:gd name="T11" fmla="*/ 3 h 46"/>
              </a:gdLst>
              <a:ahLst/>
              <a:cxnLst>
                <a:cxn ang="0">
                  <a:pos x="T0" y="T1"/>
                </a:cxn>
                <a:cxn ang="0">
                  <a:pos x="T2" y="T3"/>
                </a:cxn>
                <a:cxn ang="0">
                  <a:pos x="T4" y="T5"/>
                </a:cxn>
                <a:cxn ang="0">
                  <a:pos x="T6" y="T7"/>
                </a:cxn>
                <a:cxn ang="0">
                  <a:pos x="T8" y="T9"/>
                </a:cxn>
                <a:cxn ang="0">
                  <a:pos x="T10" y="T11"/>
                </a:cxn>
              </a:cxnLst>
              <a:rect l="0" t="0" r="r" b="b"/>
              <a:pathLst>
                <a:path w="18" h="46">
                  <a:moveTo>
                    <a:pt x="15" y="3"/>
                  </a:moveTo>
                  <a:cubicBezTo>
                    <a:pt x="9" y="0"/>
                    <a:pt x="8" y="11"/>
                    <a:pt x="6" y="16"/>
                  </a:cubicBezTo>
                  <a:cubicBezTo>
                    <a:pt x="5" y="22"/>
                    <a:pt x="0" y="42"/>
                    <a:pt x="8" y="46"/>
                  </a:cubicBezTo>
                  <a:cubicBezTo>
                    <a:pt x="10" y="46"/>
                    <a:pt x="12" y="45"/>
                    <a:pt x="13" y="44"/>
                  </a:cubicBezTo>
                  <a:cubicBezTo>
                    <a:pt x="18" y="32"/>
                    <a:pt x="17" y="18"/>
                    <a:pt x="18" y="6"/>
                  </a:cubicBezTo>
                  <a:cubicBezTo>
                    <a:pt x="17" y="5"/>
                    <a:pt x="16" y="4"/>
                    <a:pt x="15" y="3"/>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5" name="Freeform 33"/>
            <p:cNvSpPr/>
            <p:nvPr/>
          </p:nvSpPr>
          <p:spPr bwMode="auto">
            <a:xfrm>
              <a:off x="7262813" y="5356225"/>
              <a:ext cx="285750" cy="255588"/>
            </a:xfrm>
            <a:custGeom>
              <a:avLst/>
              <a:gdLst>
                <a:gd name="T0" fmla="*/ 37 w 51"/>
                <a:gd name="T1" fmla="*/ 29 h 45"/>
                <a:gd name="T2" fmla="*/ 36 w 51"/>
                <a:gd name="T3" fmla="*/ 29 h 45"/>
                <a:gd name="T4" fmla="*/ 36 w 51"/>
                <a:gd name="T5" fmla="*/ 28 h 45"/>
                <a:gd name="T6" fmla="*/ 35 w 51"/>
                <a:gd name="T7" fmla="*/ 28 h 45"/>
                <a:gd name="T8" fmla="*/ 29 w 51"/>
                <a:gd name="T9" fmla="*/ 23 h 45"/>
                <a:gd name="T10" fmla="*/ 27 w 51"/>
                <a:gd name="T11" fmla="*/ 22 h 45"/>
                <a:gd name="T12" fmla="*/ 24 w 51"/>
                <a:gd name="T13" fmla="*/ 19 h 45"/>
                <a:gd name="T14" fmla="*/ 22 w 51"/>
                <a:gd name="T15" fmla="*/ 17 h 45"/>
                <a:gd name="T16" fmla="*/ 18 w 51"/>
                <a:gd name="T17" fmla="*/ 14 h 45"/>
                <a:gd name="T18" fmla="*/ 18 w 51"/>
                <a:gd name="T19" fmla="*/ 14 h 45"/>
                <a:gd name="T20" fmla="*/ 13 w 51"/>
                <a:gd name="T21" fmla="*/ 8 h 45"/>
                <a:gd name="T22" fmla="*/ 7 w 51"/>
                <a:gd name="T23" fmla="*/ 0 h 45"/>
                <a:gd name="T24" fmla="*/ 1 w 51"/>
                <a:gd name="T25" fmla="*/ 6 h 45"/>
                <a:gd name="T26" fmla="*/ 13 w 51"/>
                <a:gd name="T27" fmla="*/ 28 h 45"/>
                <a:gd name="T28" fmla="*/ 32 w 51"/>
                <a:gd name="T29" fmla="*/ 44 h 45"/>
                <a:gd name="T30" fmla="*/ 50 w 51"/>
                <a:gd name="T31" fmla="*/ 39 h 45"/>
                <a:gd name="T32" fmla="*/ 50 w 51"/>
                <a:gd name="T33" fmla="*/ 36 h 45"/>
                <a:gd name="T34" fmla="*/ 37 w 51"/>
                <a:gd name="T35" fmla="*/ 29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1" h="45">
                  <a:moveTo>
                    <a:pt x="37" y="29"/>
                  </a:moveTo>
                  <a:cubicBezTo>
                    <a:pt x="37" y="29"/>
                    <a:pt x="36" y="29"/>
                    <a:pt x="36" y="29"/>
                  </a:cubicBezTo>
                  <a:cubicBezTo>
                    <a:pt x="35" y="28"/>
                    <a:pt x="36" y="28"/>
                    <a:pt x="36" y="28"/>
                  </a:cubicBezTo>
                  <a:cubicBezTo>
                    <a:pt x="35" y="28"/>
                    <a:pt x="35" y="28"/>
                    <a:pt x="35" y="28"/>
                  </a:cubicBezTo>
                  <a:cubicBezTo>
                    <a:pt x="33" y="27"/>
                    <a:pt x="30" y="24"/>
                    <a:pt x="29" y="23"/>
                  </a:cubicBezTo>
                  <a:cubicBezTo>
                    <a:pt x="29" y="23"/>
                    <a:pt x="27" y="22"/>
                    <a:pt x="27" y="22"/>
                  </a:cubicBezTo>
                  <a:cubicBezTo>
                    <a:pt x="25" y="21"/>
                    <a:pt x="25" y="20"/>
                    <a:pt x="24" y="19"/>
                  </a:cubicBezTo>
                  <a:cubicBezTo>
                    <a:pt x="23" y="18"/>
                    <a:pt x="23" y="18"/>
                    <a:pt x="22" y="17"/>
                  </a:cubicBezTo>
                  <a:cubicBezTo>
                    <a:pt x="20" y="16"/>
                    <a:pt x="19" y="15"/>
                    <a:pt x="18" y="14"/>
                  </a:cubicBezTo>
                  <a:cubicBezTo>
                    <a:pt x="18" y="14"/>
                    <a:pt x="18" y="14"/>
                    <a:pt x="18" y="14"/>
                  </a:cubicBezTo>
                  <a:cubicBezTo>
                    <a:pt x="16" y="11"/>
                    <a:pt x="14" y="9"/>
                    <a:pt x="13" y="8"/>
                  </a:cubicBezTo>
                  <a:cubicBezTo>
                    <a:pt x="11" y="5"/>
                    <a:pt x="9" y="3"/>
                    <a:pt x="7" y="0"/>
                  </a:cubicBezTo>
                  <a:cubicBezTo>
                    <a:pt x="3" y="0"/>
                    <a:pt x="0" y="2"/>
                    <a:pt x="1" y="6"/>
                  </a:cubicBezTo>
                  <a:cubicBezTo>
                    <a:pt x="3" y="14"/>
                    <a:pt x="7" y="21"/>
                    <a:pt x="13" y="28"/>
                  </a:cubicBezTo>
                  <a:cubicBezTo>
                    <a:pt x="18" y="35"/>
                    <a:pt x="25" y="41"/>
                    <a:pt x="32" y="44"/>
                  </a:cubicBezTo>
                  <a:cubicBezTo>
                    <a:pt x="39" y="44"/>
                    <a:pt x="45" y="45"/>
                    <a:pt x="50" y="39"/>
                  </a:cubicBezTo>
                  <a:cubicBezTo>
                    <a:pt x="50" y="38"/>
                    <a:pt x="51" y="37"/>
                    <a:pt x="50" y="36"/>
                  </a:cubicBezTo>
                  <a:cubicBezTo>
                    <a:pt x="45" y="33"/>
                    <a:pt x="41" y="31"/>
                    <a:pt x="37" y="29"/>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6" name="Freeform 34"/>
            <p:cNvSpPr/>
            <p:nvPr/>
          </p:nvSpPr>
          <p:spPr bwMode="auto">
            <a:xfrm>
              <a:off x="7016750" y="4999038"/>
              <a:ext cx="392113" cy="595313"/>
            </a:xfrm>
            <a:custGeom>
              <a:avLst/>
              <a:gdLst>
                <a:gd name="T0" fmla="*/ 57 w 70"/>
                <a:gd name="T1" fmla="*/ 41 h 105"/>
                <a:gd name="T2" fmla="*/ 68 w 70"/>
                <a:gd name="T3" fmla="*/ 25 h 105"/>
                <a:gd name="T4" fmla="*/ 60 w 70"/>
                <a:gd name="T5" fmla="*/ 19 h 105"/>
                <a:gd name="T6" fmla="*/ 57 w 70"/>
                <a:gd name="T7" fmla="*/ 21 h 105"/>
                <a:gd name="T8" fmla="*/ 52 w 70"/>
                <a:gd name="T9" fmla="*/ 24 h 105"/>
                <a:gd name="T10" fmla="*/ 51 w 70"/>
                <a:gd name="T11" fmla="*/ 8 h 105"/>
                <a:gd name="T12" fmla="*/ 41 w 70"/>
                <a:gd name="T13" fmla="*/ 0 h 105"/>
                <a:gd name="T14" fmla="*/ 39 w 70"/>
                <a:gd name="T15" fmla="*/ 9 h 105"/>
                <a:gd name="T16" fmla="*/ 39 w 70"/>
                <a:gd name="T17" fmla="*/ 28 h 105"/>
                <a:gd name="T18" fmla="*/ 18 w 70"/>
                <a:gd name="T19" fmla="*/ 39 h 105"/>
                <a:gd name="T20" fmla="*/ 14 w 70"/>
                <a:gd name="T21" fmla="*/ 49 h 105"/>
                <a:gd name="T22" fmla="*/ 28 w 70"/>
                <a:gd name="T23" fmla="*/ 54 h 105"/>
                <a:gd name="T24" fmla="*/ 27 w 70"/>
                <a:gd name="T25" fmla="*/ 62 h 105"/>
                <a:gd name="T26" fmla="*/ 21 w 70"/>
                <a:gd name="T27" fmla="*/ 76 h 105"/>
                <a:gd name="T28" fmla="*/ 1 w 70"/>
                <a:gd name="T29" fmla="*/ 96 h 105"/>
                <a:gd name="T30" fmla="*/ 0 w 70"/>
                <a:gd name="T31" fmla="*/ 98 h 105"/>
                <a:gd name="T32" fmla="*/ 8 w 70"/>
                <a:gd name="T33" fmla="*/ 105 h 105"/>
                <a:gd name="T34" fmla="*/ 20 w 70"/>
                <a:gd name="T35" fmla="*/ 102 h 105"/>
                <a:gd name="T36" fmla="*/ 39 w 70"/>
                <a:gd name="T37" fmla="*/ 67 h 105"/>
                <a:gd name="T38" fmla="*/ 39 w 70"/>
                <a:gd name="T39" fmla="*/ 66 h 105"/>
                <a:gd name="T40" fmla="*/ 50 w 70"/>
                <a:gd name="T41" fmla="*/ 44 h 105"/>
                <a:gd name="T42" fmla="*/ 57 w 70"/>
                <a:gd name="T43" fmla="*/ 4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0" h="105">
                  <a:moveTo>
                    <a:pt x="57" y="41"/>
                  </a:moveTo>
                  <a:cubicBezTo>
                    <a:pt x="63" y="38"/>
                    <a:pt x="70" y="36"/>
                    <a:pt x="68" y="25"/>
                  </a:cubicBezTo>
                  <a:cubicBezTo>
                    <a:pt x="65" y="21"/>
                    <a:pt x="64" y="20"/>
                    <a:pt x="60" y="19"/>
                  </a:cubicBezTo>
                  <a:cubicBezTo>
                    <a:pt x="59" y="20"/>
                    <a:pt x="58" y="20"/>
                    <a:pt x="57" y="21"/>
                  </a:cubicBezTo>
                  <a:cubicBezTo>
                    <a:pt x="53" y="23"/>
                    <a:pt x="52" y="24"/>
                    <a:pt x="52" y="24"/>
                  </a:cubicBezTo>
                  <a:cubicBezTo>
                    <a:pt x="51" y="18"/>
                    <a:pt x="51" y="13"/>
                    <a:pt x="51" y="8"/>
                  </a:cubicBezTo>
                  <a:cubicBezTo>
                    <a:pt x="48" y="1"/>
                    <a:pt x="47" y="0"/>
                    <a:pt x="41" y="0"/>
                  </a:cubicBezTo>
                  <a:cubicBezTo>
                    <a:pt x="36" y="1"/>
                    <a:pt x="31" y="6"/>
                    <a:pt x="39" y="9"/>
                  </a:cubicBezTo>
                  <a:cubicBezTo>
                    <a:pt x="42" y="12"/>
                    <a:pt x="41" y="25"/>
                    <a:pt x="39" y="28"/>
                  </a:cubicBezTo>
                  <a:cubicBezTo>
                    <a:pt x="32" y="32"/>
                    <a:pt x="25" y="35"/>
                    <a:pt x="18" y="39"/>
                  </a:cubicBezTo>
                  <a:cubicBezTo>
                    <a:pt x="15" y="42"/>
                    <a:pt x="14" y="45"/>
                    <a:pt x="14" y="49"/>
                  </a:cubicBezTo>
                  <a:cubicBezTo>
                    <a:pt x="16" y="59"/>
                    <a:pt x="21" y="52"/>
                    <a:pt x="28" y="54"/>
                  </a:cubicBezTo>
                  <a:cubicBezTo>
                    <a:pt x="29" y="55"/>
                    <a:pt x="28" y="61"/>
                    <a:pt x="27" y="62"/>
                  </a:cubicBezTo>
                  <a:cubicBezTo>
                    <a:pt x="27" y="65"/>
                    <a:pt x="22" y="75"/>
                    <a:pt x="21" y="76"/>
                  </a:cubicBezTo>
                  <a:cubicBezTo>
                    <a:pt x="19" y="84"/>
                    <a:pt x="7" y="92"/>
                    <a:pt x="1" y="96"/>
                  </a:cubicBezTo>
                  <a:cubicBezTo>
                    <a:pt x="1" y="96"/>
                    <a:pt x="0" y="97"/>
                    <a:pt x="0" y="98"/>
                  </a:cubicBezTo>
                  <a:cubicBezTo>
                    <a:pt x="0" y="103"/>
                    <a:pt x="4" y="105"/>
                    <a:pt x="8" y="105"/>
                  </a:cubicBezTo>
                  <a:cubicBezTo>
                    <a:pt x="13" y="105"/>
                    <a:pt x="16" y="105"/>
                    <a:pt x="20" y="102"/>
                  </a:cubicBezTo>
                  <a:cubicBezTo>
                    <a:pt x="27" y="91"/>
                    <a:pt x="34" y="79"/>
                    <a:pt x="39" y="67"/>
                  </a:cubicBezTo>
                  <a:cubicBezTo>
                    <a:pt x="39" y="67"/>
                    <a:pt x="39" y="66"/>
                    <a:pt x="39" y="66"/>
                  </a:cubicBezTo>
                  <a:cubicBezTo>
                    <a:pt x="41" y="59"/>
                    <a:pt x="46" y="50"/>
                    <a:pt x="50" y="44"/>
                  </a:cubicBezTo>
                  <a:cubicBezTo>
                    <a:pt x="52" y="43"/>
                    <a:pt x="54" y="42"/>
                    <a:pt x="57" y="4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7" name="Freeform 35"/>
            <p:cNvSpPr/>
            <p:nvPr/>
          </p:nvSpPr>
          <p:spPr bwMode="auto">
            <a:xfrm>
              <a:off x="7951788" y="4906963"/>
              <a:ext cx="90488" cy="239713"/>
            </a:xfrm>
            <a:custGeom>
              <a:avLst/>
              <a:gdLst>
                <a:gd name="T0" fmla="*/ 5 w 16"/>
                <a:gd name="T1" fmla="*/ 42 h 42"/>
                <a:gd name="T2" fmla="*/ 9 w 16"/>
                <a:gd name="T3" fmla="*/ 41 h 42"/>
                <a:gd name="T4" fmla="*/ 11 w 16"/>
                <a:gd name="T5" fmla="*/ 37 h 42"/>
                <a:gd name="T6" fmla="*/ 16 w 16"/>
                <a:gd name="T7" fmla="*/ 10 h 42"/>
                <a:gd name="T8" fmla="*/ 14 w 16"/>
                <a:gd name="T9" fmla="*/ 1 h 42"/>
                <a:gd name="T10" fmla="*/ 9 w 16"/>
                <a:gd name="T11" fmla="*/ 2 h 42"/>
                <a:gd name="T12" fmla="*/ 7 w 16"/>
                <a:gd name="T13" fmla="*/ 5 h 42"/>
                <a:gd name="T14" fmla="*/ 2 w 16"/>
                <a:gd name="T15" fmla="*/ 29 h 42"/>
                <a:gd name="T16" fmla="*/ 5 w 16"/>
                <a:gd name="T17" fmla="*/ 4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42">
                  <a:moveTo>
                    <a:pt x="5" y="42"/>
                  </a:moveTo>
                  <a:cubicBezTo>
                    <a:pt x="7" y="42"/>
                    <a:pt x="8" y="42"/>
                    <a:pt x="9" y="41"/>
                  </a:cubicBezTo>
                  <a:cubicBezTo>
                    <a:pt x="10" y="40"/>
                    <a:pt x="11" y="39"/>
                    <a:pt x="11" y="37"/>
                  </a:cubicBezTo>
                  <a:cubicBezTo>
                    <a:pt x="13" y="28"/>
                    <a:pt x="15" y="20"/>
                    <a:pt x="16" y="10"/>
                  </a:cubicBezTo>
                  <a:cubicBezTo>
                    <a:pt x="16" y="7"/>
                    <a:pt x="15" y="4"/>
                    <a:pt x="14" y="1"/>
                  </a:cubicBezTo>
                  <a:cubicBezTo>
                    <a:pt x="11" y="0"/>
                    <a:pt x="9" y="1"/>
                    <a:pt x="9" y="2"/>
                  </a:cubicBezTo>
                  <a:cubicBezTo>
                    <a:pt x="8" y="3"/>
                    <a:pt x="7" y="4"/>
                    <a:pt x="7" y="5"/>
                  </a:cubicBezTo>
                  <a:cubicBezTo>
                    <a:pt x="5" y="13"/>
                    <a:pt x="3" y="21"/>
                    <a:pt x="2" y="29"/>
                  </a:cubicBezTo>
                  <a:cubicBezTo>
                    <a:pt x="2" y="34"/>
                    <a:pt x="0" y="39"/>
                    <a:pt x="5" y="4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8" name="Freeform 36"/>
            <p:cNvSpPr/>
            <p:nvPr/>
          </p:nvSpPr>
          <p:spPr bwMode="auto">
            <a:xfrm>
              <a:off x="7907338" y="4845050"/>
              <a:ext cx="392113" cy="425450"/>
            </a:xfrm>
            <a:custGeom>
              <a:avLst/>
              <a:gdLst>
                <a:gd name="T0" fmla="*/ 31 w 70"/>
                <a:gd name="T1" fmla="*/ 43 h 75"/>
                <a:gd name="T2" fmla="*/ 31 w 70"/>
                <a:gd name="T3" fmla="*/ 49 h 75"/>
                <a:gd name="T4" fmla="*/ 29 w 70"/>
                <a:gd name="T5" fmla="*/ 52 h 75"/>
                <a:gd name="T6" fmla="*/ 27 w 70"/>
                <a:gd name="T7" fmla="*/ 55 h 75"/>
                <a:gd name="T8" fmla="*/ 20 w 70"/>
                <a:gd name="T9" fmla="*/ 59 h 75"/>
                <a:gd name="T10" fmla="*/ 16 w 70"/>
                <a:gd name="T11" fmla="*/ 62 h 75"/>
                <a:gd name="T12" fmla="*/ 4 w 70"/>
                <a:gd name="T13" fmla="*/ 69 h 75"/>
                <a:gd name="T14" fmla="*/ 4 w 70"/>
                <a:gd name="T15" fmla="*/ 69 h 75"/>
                <a:gd name="T16" fmla="*/ 0 w 70"/>
                <a:gd name="T17" fmla="*/ 71 h 75"/>
                <a:gd name="T18" fmla="*/ 4 w 70"/>
                <a:gd name="T19" fmla="*/ 73 h 75"/>
                <a:gd name="T20" fmla="*/ 9 w 70"/>
                <a:gd name="T21" fmla="*/ 72 h 75"/>
                <a:gd name="T22" fmla="*/ 17 w 70"/>
                <a:gd name="T23" fmla="*/ 69 h 75"/>
                <a:gd name="T24" fmla="*/ 33 w 70"/>
                <a:gd name="T25" fmla="*/ 64 h 75"/>
                <a:gd name="T26" fmla="*/ 48 w 70"/>
                <a:gd name="T27" fmla="*/ 61 h 75"/>
                <a:gd name="T28" fmla="*/ 53 w 70"/>
                <a:gd name="T29" fmla="*/ 62 h 75"/>
                <a:gd name="T30" fmla="*/ 46 w 70"/>
                <a:gd name="T31" fmla="*/ 73 h 75"/>
                <a:gd name="T32" fmla="*/ 49 w 70"/>
                <a:gd name="T33" fmla="*/ 75 h 75"/>
                <a:gd name="T34" fmla="*/ 70 w 70"/>
                <a:gd name="T35" fmla="*/ 62 h 75"/>
                <a:gd name="T36" fmla="*/ 57 w 70"/>
                <a:gd name="T37" fmla="*/ 50 h 75"/>
                <a:gd name="T38" fmla="*/ 46 w 70"/>
                <a:gd name="T39" fmla="*/ 51 h 75"/>
                <a:gd name="T40" fmla="*/ 36 w 70"/>
                <a:gd name="T41" fmla="*/ 53 h 75"/>
                <a:gd name="T42" fmla="*/ 43 w 70"/>
                <a:gd name="T43" fmla="*/ 47 h 75"/>
                <a:gd name="T44" fmla="*/ 39 w 70"/>
                <a:gd name="T45" fmla="*/ 40 h 75"/>
                <a:gd name="T46" fmla="*/ 49 w 70"/>
                <a:gd name="T47" fmla="*/ 30 h 75"/>
                <a:gd name="T48" fmla="*/ 45 w 70"/>
                <a:gd name="T49" fmla="*/ 26 h 75"/>
                <a:gd name="T50" fmla="*/ 41 w 70"/>
                <a:gd name="T51" fmla="*/ 24 h 75"/>
                <a:gd name="T52" fmla="*/ 47 w 70"/>
                <a:gd name="T53" fmla="*/ 19 h 75"/>
                <a:gd name="T54" fmla="*/ 47 w 70"/>
                <a:gd name="T55" fmla="*/ 3 h 75"/>
                <a:gd name="T56" fmla="*/ 36 w 70"/>
                <a:gd name="T57" fmla="*/ 4 h 75"/>
                <a:gd name="T58" fmla="*/ 36 w 70"/>
                <a:gd name="T59" fmla="*/ 4 h 75"/>
                <a:gd name="T60" fmla="*/ 36 w 70"/>
                <a:gd name="T61" fmla="*/ 16 h 75"/>
                <a:gd name="T62" fmla="*/ 33 w 70"/>
                <a:gd name="T63" fmla="*/ 17 h 75"/>
                <a:gd name="T64" fmla="*/ 31 w 70"/>
                <a:gd name="T65" fmla="*/ 19 h 75"/>
                <a:gd name="T66" fmla="*/ 30 w 70"/>
                <a:gd name="T67" fmla="*/ 27 h 75"/>
                <a:gd name="T68" fmla="*/ 29 w 70"/>
                <a:gd name="T69" fmla="*/ 29 h 75"/>
                <a:gd name="T70" fmla="*/ 25 w 70"/>
                <a:gd name="T71" fmla="*/ 40 h 75"/>
                <a:gd name="T72" fmla="*/ 31 w 70"/>
                <a:gd name="T73" fmla="*/ 43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0" h="75">
                  <a:moveTo>
                    <a:pt x="31" y="43"/>
                  </a:moveTo>
                  <a:cubicBezTo>
                    <a:pt x="32" y="44"/>
                    <a:pt x="31" y="48"/>
                    <a:pt x="31" y="49"/>
                  </a:cubicBezTo>
                  <a:cubicBezTo>
                    <a:pt x="31" y="50"/>
                    <a:pt x="30" y="51"/>
                    <a:pt x="29" y="52"/>
                  </a:cubicBezTo>
                  <a:cubicBezTo>
                    <a:pt x="29" y="52"/>
                    <a:pt x="27" y="54"/>
                    <a:pt x="27" y="55"/>
                  </a:cubicBezTo>
                  <a:cubicBezTo>
                    <a:pt x="24" y="58"/>
                    <a:pt x="23" y="57"/>
                    <a:pt x="20" y="59"/>
                  </a:cubicBezTo>
                  <a:cubicBezTo>
                    <a:pt x="19" y="60"/>
                    <a:pt x="17" y="61"/>
                    <a:pt x="16" y="62"/>
                  </a:cubicBezTo>
                  <a:cubicBezTo>
                    <a:pt x="13" y="65"/>
                    <a:pt x="9" y="66"/>
                    <a:pt x="4" y="69"/>
                  </a:cubicBezTo>
                  <a:cubicBezTo>
                    <a:pt x="4" y="69"/>
                    <a:pt x="4" y="69"/>
                    <a:pt x="4" y="69"/>
                  </a:cubicBezTo>
                  <a:cubicBezTo>
                    <a:pt x="3" y="69"/>
                    <a:pt x="2" y="71"/>
                    <a:pt x="0" y="71"/>
                  </a:cubicBezTo>
                  <a:cubicBezTo>
                    <a:pt x="0" y="73"/>
                    <a:pt x="2" y="74"/>
                    <a:pt x="4" y="73"/>
                  </a:cubicBezTo>
                  <a:cubicBezTo>
                    <a:pt x="6" y="73"/>
                    <a:pt x="8" y="72"/>
                    <a:pt x="9" y="72"/>
                  </a:cubicBezTo>
                  <a:cubicBezTo>
                    <a:pt x="12" y="71"/>
                    <a:pt x="14" y="70"/>
                    <a:pt x="17" y="69"/>
                  </a:cubicBezTo>
                  <a:cubicBezTo>
                    <a:pt x="22" y="67"/>
                    <a:pt x="27" y="65"/>
                    <a:pt x="33" y="64"/>
                  </a:cubicBezTo>
                  <a:cubicBezTo>
                    <a:pt x="36" y="64"/>
                    <a:pt x="43" y="62"/>
                    <a:pt x="48" y="61"/>
                  </a:cubicBezTo>
                  <a:cubicBezTo>
                    <a:pt x="50" y="61"/>
                    <a:pt x="51" y="62"/>
                    <a:pt x="53" y="62"/>
                  </a:cubicBezTo>
                  <a:cubicBezTo>
                    <a:pt x="55" y="67"/>
                    <a:pt x="48" y="71"/>
                    <a:pt x="46" y="73"/>
                  </a:cubicBezTo>
                  <a:cubicBezTo>
                    <a:pt x="46" y="74"/>
                    <a:pt x="48" y="74"/>
                    <a:pt x="49" y="75"/>
                  </a:cubicBezTo>
                  <a:cubicBezTo>
                    <a:pt x="57" y="74"/>
                    <a:pt x="68" y="73"/>
                    <a:pt x="70" y="62"/>
                  </a:cubicBezTo>
                  <a:cubicBezTo>
                    <a:pt x="70" y="52"/>
                    <a:pt x="63" y="51"/>
                    <a:pt x="57" y="50"/>
                  </a:cubicBezTo>
                  <a:cubicBezTo>
                    <a:pt x="55" y="50"/>
                    <a:pt x="51" y="50"/>
                    <a:pt x="46" y="51"/>
                  </a:cubicBezTo>
                  <a:cubicBezTo>
                    <a:pt x="43" y="51"/>
                    <a:pt x="37" y="53"/>
                    <a:pt x="36" y="53"/>
                  </a:cubicBezTo>
                  <a:cubicBezTo>
                    <a:pt x="38" y="51"/>
                    <a:pt x="41" y="49"/>
                    <a:pt x="43" y="47"/>
                  </a:cubicBezTo>
                  <a:cubicBezTo>
                    <a:pt x="43" y="43"/>
                    <a:pt x="41" y="43"/>
                    <a:pt x="39" y="40"/>
                  </a:cubicBezTo>
                  <a:cubicBezTo>
                    <a:pt x="37" y="32"/>
                    <a:pt x="46" y="35"/>
                    <a:pt x="49" y="30"/>
                  </a:cubicBezTo>
                  <a:cubicBezTo>
                    <a:pt x="49" y="28"/>
                    <a:pt x="47" y="27"/>
                    <a:pt x="45" y="26"/>
                  </a:cubicBezTo>
                  <a:cubicBezTo>
                    <a:pt x="43" y="25"/>
                    <a:pt x="42" y="24"/>
                    <a:pt x="41" y="24"/>
                  </a:cubicBezTo>
                  <a:cubicBezTo>
                    <a:pt x="41" y="20"/>
                    <a:pt x="44" y="20"/>
                    <a:pt x="47" y="19"/>
                  </a:cubicBezTo>
                  <a:cubicBezTo>
                    <a:pt x="52" y="16"/>
                    <a:pt x="49" y="7"/>
                    <a:pt x="47" y="3"/>
                  </a:cubicBezTo>
                  <a:cubicBezTo>
                    <a:pt x="44" y="1"/>
                    <a:pt x="37" y="0"/>
                    <a:pt x="36" y="4"/>
                  </a:cubicBezTo>
                  <a:cubicBezTo>
                    <a:pt x="36" y="4"/>
                    <a:pt x="36" y="4"/>
                    <a:pt x="36" y="4"/>
                  </a:cubicBezTo>
                  <a:cubicBezTo>
                    <a:pt x="37" y="8"/>
                    <a:pt x="38" y="11"/>
                    <a:pt x="36" y="16"/>
                  </a:cubicBezTo>
                  <a:cubicBezTo>
                    <a:pt x="35" y="16"/>
                    <a:pt x="34" y="16"/>
                    <a:pt x="33" y="17"/>
                  </a:cubicBezTo>
                  <a:cubicBezTo>
                    <a:pt x="32" y="17"/>
                    <a:pt x="31" y="18"/>
                    <a:pt x="31" y="19"/>
                  </a:cubicBezTo>
                  <a:cubicBezTo>
                    <a:pt x="30" y="22"/>
                    <a:pt x="31" y="26"/>
                    <a:pt x="30" y="27"/>
                  </a:cubicBezTo>
                  <a:cubicBezTo>
                    <a:pt x="30" y="28"/>
                    <a:pt x="29" y="29"/>
                    <a:pt x="29" y="29"/>
                  </a:cubicBezTo>
                  <a:cubicBezTo>
                    <a:pt x="27" y="32"/>
                    <a:pt x="24" y="36"/>
                    <a:pt x="25" y="40"/>
                  </a:cubicBezTo>
                  <a:cubicBezTo>
                    <a:pt x="26" y="43"/>
                    <a:pt x="29" y="40"/>
                    <a:pt x="31" y="43"/>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9" name="Freeform 37"/>
            <p:cNvSpPr/>
            <p:nvPr/>
          </p:nvSpPr>
          <p:spPr bwMode="auto">
            <a:xfrm>
              <a:off x="7856538" y="4941888"/>
              <a:ext cx="95250" cy="209550"/>
            </a:xfrm>
            <a:custGeom>
              <a:avLst/>
              <a:gdLst>
                <a:gd name="T0" fmla="*/ 10 w 17"/>
                <a:gd name="T1" fmla="*/ 37 h 37"/>
                <a:gd name="T2" fmla="*/ 13 w 17"/>
                <a:gd name="T3" fmla="*/ 37 h 37"/>
                <a:gd name="T4" fmla="*/ 16 w 17"/>
                <a:gd name="T5" fmla="*/ 35 h 37"/>
                <a:gd name="T6" fmla="*/ 13 w 17"/>
                <a:gd name="T7" fmla="*/ 28 h 37"/>
                <a:gd name="T8" fmla="*/ 13 w 17"/>
                <a:gd name="T9" fmla="*/ 28 h 37"/>
                <a:gd name="T10" fmla="*/ 13 w 17"/>
                <a:gd name="T11" fmla="*/ 18 h 37"/>
                <a:gd name="T12" fmla="*/ 17 w 17"/>
                <a:gd name="T13" fmla="*/ 8 h 37"/>
                <a:gd name="T14" fmla="*/ 14 w 17"/>
                <a:gd name="T15" fmla="*/ 0 h 37"/>
                <a:gd name="T16" fmla="*/ 13 w 17"/>
                <a:gd name="T17" fmla="*/ 0 h 37"/>
                <a:gd name="T18" fmla="*/ 5 w 17"/>
                <a:gd name="T19" fmla="*/ 7 h 37"/>
                <a:gd name="T20" fmla="*/ 2 w 17"/>
                <a:gd name="T21" fmla="*/ 15 h 37"/>
                <a:gd name="T22" fmla="*/ 2 w 17"/>
                <a:gd name="T23" fmla="*/ 31 h 37"/>
                <a:gd name="T24" fmla="*/ 10 w 17"/>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7" h="37">
                  <a:moveTo>
                    <a:pt x="10" y="37"/>
                  </a:moveTo>
                  <a:cubicBezTo>
                    <a:pt x="11" y="37"/>
                    <a:pt x="12" y="37"/>
                    <a:pt x="13" y="37"/>
                  </a:cubicBezTo>
                  <a:cubicBezTo>
                    <a:pt x="14" y="37"/>
                    <a:pt x="15" y="36"/>
                    <a:pt x="16" y="35"/>
                  </a:cubicBezTo>
                  <a:cubicBezTo>
                    <a:pt x="16" y="32"/>
                    <a:pt x="14" y="30"/>
                    <a:pt x="13" y="28"/>
                  </a:cubicBezTo>
                  <a:cubicBezTo>
                    <a:pt x="13" y="28"/>
                    <a:pt x="13" y="28"/>
                    <a:pt x="13" y="28"/>
                  </a:cubicBezTo>
                  <a:cubicBezTo>
                    <a:pt x="12" y="24"/>
                    <a:pt x="13" y="21"/>
                    <a:pt x="13" y="18"/>
                  </a:cubicBezTo>
                  <a:cubicBezTo>
                    <a:pt x="14" y="15"/>
                    <a:pt x="16" y="12"/>
                    <a:pt x="17" y="8"/>
                  </a:cubicBezTo>
                  <a:cubicBezTo>
                    <a:pt x="17" y="3"/>
                    <a:pt x="17" y="1"/>
                    <a:pt x="14" y="0"/>
                  </a:cubicBezTo>
                  <a:cubicBezTo>
                    <a:pt x="14" y="0"/>
                    <a:pt x="14" y="0"/>
                    <a:pt x="13" y="0"/>
                  </a:cubicBezTo>
                  <a:cubicBezTo>
                    <a:pt x="8" y="0"/>
                    <a:pt x="7" y="2"/>
                    <a:pt x="5" y="7"/>
                  </a:cubicBezTo>
                  <a:cubicBezTo>
                    <a:pt x="4" y="9"/>
                    <a:pt x="3" y="12"/>
                    <a:pt x="2" y="15"/>
                  </a:cubicBezTo>
                  <a:cubicBezTo>
                    <a:pt x="1" y="20"/>
                    <a:pt x="0" y="26"/>
                    <a:pt x="2" y="31"/>
                  </a:cubicBezTo>
                  <a:cubicBezTo>
                    <a:pt x="4" y="34"/>
                    <a:pt x="6" y="36"/>
                    <a:pt x="10" y="37"/>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0" name="Freeform 38"/>
            <p:cNvSpPr/>
            <p:nvPr/>
          </p:nvSpPr>
          <p:spPr bwMode="auto">
            <a:xfrm>
              <a:off x="7862888" y="5270500"/>
              <a:ext cx="454025" cy="442913"/>
            </a:xfrm>
            <a:custGeom>
              <a:avLst/>
              <a:gdLst>
                <a:gd name="T0" fmla="*/ 50 w 81"/>
                <a:gd name="T1" fmla="*/ 29 h 78"/>
                <a:gd name="T2" fmla="*/ 41 w 81"/>
                <a:gd name="T3" fmla="*/ 28 h 78"/>
                <a:gd name="T4" fmla="*/ 39 w 81"/>
                <a:gd name="T5" fmla="*/ 26 h 78"/>
                <a:gd name="T6" fmla="*/ 41 w 81"/>
                <a:gd name="T7" fmla="*/ 22 h 78"/>
                <a:gd name="T8" fmla="*/ 46 w 81"/>
                <a:gd name="T9" fmla="*/ 15 h 78"/>
                <a:gd name="T10" fmla="*/ 41 w 81"/>
                <a:gd name="T11" fmla="*/ 2 h 78"/>
                <a:gd name="T12" fmla="*/ 40 w 81"/>
                <a:gd name="T13" fmla="*/ 1 h 78"/>
                <a:gd name="T14" fmla="*/ 33 w 81"/>
                <a:gd name="T15" fmla="*/ 0 h 78"/>
                <a:gd name="T16" fmla="*/ 26 w 81"/>
                <a:gd name="T17" fmla="*/ 2 h 78"/>
                <a:gd name="T18" fmla="*/ 25 w 81"/>
                <a:gd name="T19" fmla="*/ 6 h 78"/>
                <a:gd name="T20" fmla="*/ 32 w 81"/>
                <a:gd name="T21" fmla="*/ 9 h 78"/>
                <a:gd name="T22" fmla="*/ 35 w 81"/>
                <a:gd name="T23" fmla="*/ 15 h 78"/>
                <a:gd name="T24" fmla="*/ 32 w 81"/>
                <a:gd name="T25" fmla="*/ 30 h 78"/>
                <a:gd name="T26" fmla="*/ 25 w 81"/>
                <a:gd name="T27" fmla="*/ 32 h 78"/>
                <a:gd name="T28" fmla="*/ 15 w 81"/>
                <a:gd name="T29" fmla="*/ 37 h 78"/>
                <a:gd name="T30" fmla="*/ 12 w 81"/>
                <a:gd name="T31" fmla="*/ 38 h 78"/>
                <a:gd name="T32" fmla="*/ 1 w 81"/>
                <a:gd name="T33" fmla="*/ 39 h 78"/>
                <a:gd name="T34" fmla="*/ 0 w 81"/>
                <a:gd name="T35" fmla="*/ 39 h 78"/>
                <a:gd name="T36" fmla="*/ 1 w 81"/>
                <a:gd name="T37" fmla="*/ 43 h 78"/>
                <a:gd name="T38" fmla="*/ 8 w 81"/>
                <a:gd name="T39" fmla="*/ 47 h 78"/>
                <a:gd name="T40" fmla="*/ 14 w 81"/>
                <a:gd name="T41" fmla="*/ 46 h 78"/>
                <a:gd name="T42" fmla="*/ 25 w 81"/>
                <a:gd name="T43" fmla="*/ 43 h 78"/>
                <a:gd name="T44" fmla="*/ 36 w 81"/>
                <a:gd name="T45" fmla="*/ 44 h 78"/>
                <a:gd name="T46" fmla="*/ 32 w 81"/>
                <a:gd name="T47" fmla="*/ 60 h 78"/>
                <a:gd name="T48" fmla="*/ 25 w 81"/>
                <a:gd name="T49" fmla="*/ 58 h 78"/>
                <a:gd name="T50" fmla="*/ 25 w 81"/>
                <a:gd name="T51" fmla="*/ 58 h 78"/>
                <a:gd name="T52" fmla="*/ 19 w 81"/>
                <a:gd name="T53" fmla="*/ 53 h 78"/>
                <a:gd name="T54" fmla="*/ 20 w 81"/>
                <a:gd name="T55" fmla="*/ 67 h 78"/>
                <a:gd name="T56" fmla="*/ 25 w 81"/>
                <a:gd name="T57" fmla="*/ 76 h 78"/>
                <a:gd name="T58" fmla="*/ 28 w 81"/>
                <a:gd name="T59" fmla="*/ 78 h 78"/>
                <a:gd name="T60" fmla="*/ 41 w 81"/>
                <a:gd name="T61" fmla="*/ 69 h 78"/>
                <a:gd name="T62" fmla="*/ 41 w 81"/>
                <a:gd name="T63" fmla="*/ 69 h 78"/>
                <a:gd name="T64" fmla="*/ 41 w 81"/>
                <a:gd name="T65" fmla="*/ 68 h 78"/>
                <a:gd name="T66" fmla="*/ 48 w 81"/>
                <a:gd name="T67" fmla="*/ 42 h 78"/>
                <a:gd name="T68" fmla="*/ 63 w 81"/>
                <a:gd name="T69" fmla="*/ 41 h 78"/>
                <a:gd name="T70" fmla="*/ 70 w 81"/>
                <a:gd name="T71" fmla="*/ 44 h 78"/>
                <a:gd name="T72" fmla="*/ 76 w 81"/>
                <a:gd name="T73" fmla="*/ 27 h 78"/>
                <a:gd name="T74" fmla="*/ 50 w 81"/>
                <a:gd name="T75" fmla="*/ 29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78">
                  <a:moveTo>
                    <a:pt x="50" y="29"/>
                  </a:moveTo>
                  <a:cubicBezTo>
                    <a:pt x="46" y="29"/>
                    <a:pt x="43" y="30"/>
                    <a:pt x="41" y="28"/>
                  </a:cubicBezTo>
                  <a:cubicBezTo>
                    <a:pt x="40" y="27"/>
                    <a:pt x="40" y="27"/>
                    <a:pt x="39" y="26"/>
                  </a:cubicBezTo>
                  <a:cubicBezTo>
                    <a:pt x="39" y="25"/>
                    <a:pt x="40" y="23"/>
                    <a:pt x="41" y="22"/>
                  </a:cubicBezTo>
                  <a:cubicBezTo>
                    <a:pt x="42" y="20"/>
                    <a:pt x="45" y="17"/>
                    <a:pt x="46" y="15"/>
                  </a:cubicBezTo>
                  <a:cubicBezTo>
                    <a:pt x="48" y="7"/>
                    <a:pt x="46" y="6"/>
                    <a:pt x="41" y="2"/>
                  </a:cubicBezTo>
                  <a:cubicBezTo>
                    <a:pt x="40" y="1"/>
                    <a:pt x="40" y="1"/>
                    <a:pt x="40" y="1"/>
                  </a:cubicBezTo>
                  <a:cubicBezTo>
                    <a:pt x="38" y="0"/>
                    <a:pt x="35" y="0"/>
                    <a:pt x="33" y="0"/>
                  </a:cubicBezTo>
                  <a:cubicBezTo>
                    <a:pt x="33" y="0"/>
                    <a:pt x="27" y="0"/>
                    <a:pt x="26" y="2"/>
                  </a:cubicBezTo>
                  <a:cubicBezTo>
                    <a:pt x="26" y="3"/>
                    <a:pt x="26" y="5"/>
                    <a:pt x="25" y="6"/>
                  </a:cubicBezTo>
                  <a:cubicBezTo>
                    <a:pt x="25" y="7"/>
                    <a:pt x="30" y="6"/>
                    <a:pt x="32" y="9"/>
                  </a:cubicBezTo>
                  <a:cubicBezTo>
                    <a:pt x="34" y="11"/>
                    <a:pt x="35" y="12"/>
                    <a:pt x="35" y="15"/>
                  </a:cubicBezTo>
                  <a:cubicBezTo>
                    <a:pt x="31" y="21"/>
                    <a:pt x="29" y="23"/>
                    <a:pt x="32" y="30"/>
                  </a:cubicBezTo>
                  <a:cubicBezTo>
                    <a:pt x="30" y="31"/>
                    <a:pt x="27" y="31"/>
                    <a:pt x="25" y="32"/>
                  </a:cubicBezTo>
                  <a:cubicBezTo>
                    <a:pt x="18" y="35"/>
                    <a:pt x="16" y="36"/>
                    <a:pt x="15" y="37"/>
                  </a:cubicBezTo>
                  <a:cubicBezTo>
                    <a:pt x="14" y="37"/>
                    <a:pt x="12" y="37"/>
                    <a:pt x="12" y="38"/>
                  </a:cubicBezTo>
                  <a:cubicBezTo>
                    <a:pt x="11" y="38"/>
                    <a:pt x="10" y="38"/>
                    <a:pt x="1" y="39"/>
                  </a:cubicBezTo>
                  <a:cubicBezTo>
                    <a:pt x="1" y="39"/>
                    <a:pt x="0" y="39"/>
                    <a:pt x="0" y="39"/>
                  </a:cubicBezTo>
                  <a:cubicBezTo>
                    <a:pt x="0" y="40"/>
                    <a:pt x="0" y="41"/>
                    <a:pt x="1" y="43"/>
                  </a:cubicBezTo>
                  <a:cubicBezTo>
                    <a:pt x="3" y="46"/>
                    <a:pt x="4" y="46"/>
                    <a:pt x="8" y="47"/>
                  </a:cubicBezTo>
                  <a:cubicBezTo>
                    <a:pt x="8" y="47"/>
                    <a:pt x="13" y="47"/>
                    <a:pt x="14" y="46"/>
                  </a:cubicBezTo>
                  <a:cubicBezTo>
                    <a:pt x="18" y="46"/>
                    <a:pt x="21" y="44"/>
                    <a:pt x="25" y="43"/>
                  </a:cubicBezTo>
                  <a:cubicBezTo>
                    <a:pt x="29" y="43"/>
                    <a:pt x="34" y="43"/>
                    <a:pt x="36" y="44"/>
                  </a:cubicBezTo>
                  <a:cubicBezTo>
                    <a:pt x="37" y="48"/>
                    <a:pt x="34" y="56"/>
                    <a:pt x="32" y="60"/>
                  </a:cubicBezTo>
                  <a:cubicBezTo>
                    <a:pt x="29" y="63"/>
                    <a:pt x="27" y="62"/>
                    <a:pt x="25" y="58"/>
                  </a:cubicBezTo>
                  <a:cubicBezTo>
                    <a:pt x="25" y="58"/>
                    <a:pt x="25" y="58"/>
                    <a:pt x="25" y="58"/>
                  </a:cubicBezTo>
                  <a:cubicBezTo>
                    <a:pt x="23" y="53"/>
                    <a:pt x="23" y="52"/>
                    <a:pt x="19" y="53"/>
                  </a:cubicBezTo>
                  <a:cubicBezTo>
                    <a:pt x="18" y="57"/>
                    <a:pt x="19" y="62"/>
                    <a:pt x="20" y="67"/>
                  </a:cubicBezTo>
                  <a:cubicBezTo>
                    <a:pt x="21" y="72"/>
                    <a:pt x="21" y="74"/>
                    <a:pt x="25" y="76"/>
                  </a:cubicBezTo>
                  <a:cubicBezTo>
                    <a:pt x="25" y="77"/>
                    <a:pt x="26" y="77"/>
                    <a:pt x="28" y="78"/>
                  </a:cubicBezTo>
                  <a:cubicBezTo>
                    <a:pt x="34" y="77"/>
                    <a:pt x="37" y="75"/>
                    <a:pt x="41" y="69"/>
                  </a:cubicBezTo>
                  <a:cubicBezTo>
                    <a:pt x="41" y="69"/>
                    <a:pt x="41" y="69"/>
                    <a:pt x="41" y="69"/>
                  </a:cubicBezTo>
                  <a:cubicBezTo>
                    <a:pt x="41" y="68"/>
                    <a:pt x="41" y="69"/>
                    <a:pt x="41" y="68"/>
                  </a:cubicBezTo>
                  <a:cubicBezTo>
                    <a:pt x="46" y="60"/>
                    <a:pt x="49" y="52"/>
                    <a:pt x="48" y="42"/>
                  </a:cubicBezTo>
                  <a:cubicBezTo>
                    <a:pt x="50" y="40"/>
                    <a:pt x="60" y="40"/>
                    <a:pt x="63" y="41"/>
                  </a:cubicBezTo>
                  <a:cubicBezTo>
                    <a:pt x="65" y="42"/>
                    <a:pt x="68" y="42"/>
                    <a:pt x="70" y="44"/>
                  </a:cubicBezTo>
                  <a:cubicBezTo>
                    <a:pt x="76" y="44"/>
                    <a:pt x="81" y="34"/>
                    <a:pt x="76" y="27"/>
                  </a:cubicBezTo>
                  <a:cubicBezTo>
                    <a:pt x="67" y="25"/>
                    <a:pt x="59" y="27"/>
                    <a:pt x="50" y="29"/>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1" name="Freeform 39"/>
            <p:cNvSpPr/>
            <p:nvPr/>
          </p:nvSpPr>
          <p:spPr bwMode="auto">
            <a:xfrm>
              <a:off x="7767638" y="5180013"/>
              <a:ext cx="117475" cy="209550"/>
            </a:xfrm>
            <a:custGeom>
              <a:avLst/>
              <a:gdLst>
                <a:gd name="T0" fmla="*/ 18 w 21"/>
                <a:gd name="T1" fmla="*/ 21 h 37"/>
                <a:gd name="T2" fmla="*/ 19 w 21"/>
                <a:gd name="T3" fmla="*/ 2 h 37"/>
                <a:gd name="T4" fmla="*/ 18 w 21"/>
                <a:gd name="T5" fmla="*/ 2 h 37"/>
                <a:gd name="T6" fmla="*/ 4 w 21"/>
                <a:gd name="T7" fmla="*/ 18 h 37"/>
                <a:gd name="T8" fmla="*/ 11 w 21"/>
                <a:gd name="T9" fmla="*/ 37 h 37"/>
                <a:gd name="T10" fmla="*/ 18 w 21"/>
                <a:gd name="T11" fmla="*/ 24 h 37"/>
                <a:gd name="T12" fmla="*/ 18 w 21"/>
                <a:gd name="T13" fmla="*/ 21 h 37"/>
              </a:gdLst>
              <a:ahLst/>
              <a:cxnLst>
                <a:cxn ang="0">
                  <a:pos x="T0" y="T1"/>
                </a:cxn>
                <a:cxn ang="0">
                  <a:pos x="T2" y="T3"/>
                </a:cxn>
                <a:cxn ang="0">
                  <a:pos x="T4" y="T5"/>
                </a:cxn>
                <a:cxn ang="0">
                  <a:pos x="T6" y="T7"/>
                </a:cxn>
                <a:cxn ang="0">
                  <a:pos x="T8" y="T9"/>
                </a:cxn>
                <a:cxn ang="0">
                  <a:pos x="T10" y="T11"/>
                </a:cxn>
                <a:cxn ang="0">
                  <a:pos x="T12" y="T13"/>
                </a:cxn>
              </a:cxnLst>
              <a:rect l="0" t="0" r="r" b="b"/>
              <a:pathLst>
                <a:path w="21" h="37">
                  <a:moveTo>
                    <a:pt x="18" y="21"/>
                  </a:moveTo>
                  <a:cubicBezTo>
                    <a:pt x="19" y="15"/>
                    <a:pt x="21" y="6"/>
                    <a:pt x="19" y="2"/>
                  </a:cubicBezTo>
                  <a:cubicBezTo>
                    <a:pt x="18" y="2"/>
                    <a:pt x="18" y="2"/>
                    <a:pt x="18" y="2"/>
                  </a:cubicBezTo>
                  <a:cubicBezTo>
                    <a:pt x="12" y="0"/>
                    <a:pt x="6" y="14"/>
                    <a:pt x="4" y="18"/>
                  </a:cubicBezTo>
                  <a:cubicBezTo>
                    <a:pt x="2" y="29"/>
                    <a:pt x="0" y="33"/>
                    <a:pt x="11" y="37"/>
                  </a:cubicBezTo>
                  <a:cubicBezTo>
                    <a:pt x="16" y="35"/>
                    <a:pt x="17" y="29"/>
                    <a:pt x="18" y="24"/>
                  </a:cubicBezTo>
                  <a:cubicBezTo>
                    <a:pt x="18" y="23"/>
                    <a:pt x="18" y="22"/>
                    <a:pt x="18" y="2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2" name="Freeform 40"/>
            <p:cNvSpPr/>
            <p:nvPr/>
          </p:nvSpPr>
          <p:spPr bwMode="auto">
            <a:xfrm>
              <a:off x="5664200" y="5089525"/>
              <a:ext cx="90488" cy="141288"/>
            </a:xfrm>
            <a:custGeom>
              <a:avLst/>
              <a:gdLst>
                <a:gd name="T0" fmla="*/ 2 w 16"/>
                <a:gd name="T1" fmla="*/ 14 h 25"/>
                <a:gd name="T2" fmla="*/ 2 w 16"/>
                <a:gd name="T3" fmla="*/ 14 h 25"/>
                <a:gd name="T4" fmla="*/ 2 w 16"/>
                <a:gd name="T5" fmla="*/ 14 h 25"/>
                <a:gd name="T6" fmla="*/ 1 w 16"/>
                <a:gd name="T7" fmla="*/ 15 h 25"/>
                <a:gd name="T8" fmla="*/ 1 w 16"/>
                <a:gd name="T9" fmla="*/ 21 h 25"/>
                <a:gd name="T10" fmla="*/ 1 w 16"/>
                <a:gd name="T11" fmla="*/ 21 h 25"/>
                <a:gd name="T12" fmla="*/ 1 w 16"/>
                <a:gd name="T13" fmla="*/ 21 h 25"/>
                <a:gd name="T14" fmla="*/ 2 w 16"/>
                <a:gd name="T15" fmla="*/ 22 h 25"/>
                <a:gd name="T16" fmla="*/ 3 w 16"/>
                <a:gd name="T17" fmla="*/ 23 h 25"/>
                <a:gd name="T18" fmla="*/ 3 w 16"/>
                <a:gd name="T19" fmla="*/ 23 h 25"/>
                <a:gd name="T20" fmla="*/ 3 w 16"/>
                <a:gd name="T21" fmla="*/ 23 h 25"/>
                <a:gd name="T22" fmla="*/ 3 w 16"/>
                <a:gd name="T23" fmla="*/ 23 h 25"/>
                <a:gd name="T24" fmla="*/ 3 w 16"/>
                <a:gd name="T25" fmla="*/ 23 h 25"/>
                <a:gd name="T26" fmla="*/ 7 w 16"/>
                <a:gd name="T27" fmla="*/ 25 h 25"/>
                <a:gd name="T28" fmla="*/ 16 w 16"/>
                <a:gd name="T29" fmla="*/ 10 h 25"/>
                <a:gd name="T30" fmla="*/ 2 w 16"/>
                <a:gd name="T31" fmla="*/ 14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 h="25">
                  <a:moveTo>
                    <a:pt x="2" y="14"/>
                  </a:moveTo>
                  <a:cubicBezTo>
                    <a:pt x="2" y="14"/>
                    <a:pt x="2" y="14"/>
                    <a:pt x="2" y="14"/>
                  </a:cubicBezTo>
                  <a:cubicBezTo>
                    <a:pt x="2" y="14"/>
                    <a:pt x="2" y="14"/>
                    <a:pt x="2" y="14"/>
                  </a:cubicBezTo>
                  <a:cubicBezTo>
                    <a:pt x="2" y="14"/>
                    <a:pt x="1" y="15"/>
                    <a:pt x="1" y="15"/>
                  </a:cubicBezTo>
                  <a:cubicBezTo>
                    <a:pt x="0" y="18"/>
                    <a:pt x="0" y="20"/>
                    <a:pt x="1" y="21"/>
                  </a:cubicBezTo>
                  <a:cubicBezTo>
                    <a:pt x="1" y="21"/>
                    <a:pt x="1" y="21"/>
                    <a:pt x="1" y="21"/>
                  </a:cubicBezTo>
                  <a:cubicBezTo>
                    <a:pt x="1" y="21"/>
                    <a:pt x="1" y="21"/>
                    <a:pt x="1" y="21"/>
                  </a:cubicBezTo>
                  <a:cubicBezTo>
                    <a:pt x="1" y="22"/>
                    <a:pt x="2" y="22"/>
                    <a:pt x="2" y="22"/>
                  </a:cubicBezTo>
                  <a:cubicBezTo>
                    <a:pt x="2" y="22"/>
                    <a:pt x="2" y="22"/>
                    <a:pt x="3" y="23"/>
                  </a:cubicBezTo>
                  <a:cubicBezTo>
                    <a:pt x="3" y="23"/>
                    <a:pt x="3" y="23"/>
                    <a:pt x="3" y="23"/>
                  </a:cubicBezTo>
                  <a:cubicBezTo>
                    <a:pt x="3" y="23"/>
                    <a:pt x="3" y="23"/>
                    <a:pt x="3" y="23"/>
                  </a:cubicBezTo>
                  <a:cubicBezTo>
                    <a:pt x="3" y="23"/>
                    <a:pt x="3" y="23"/>
                    <a:pt x="3" y="23"/>
                  </a:cubicBezTo>
                  <a:cubicBezTo>
                    <a:pt x="3" y="23"/>
                    <a:pt x="3" y="23"/>
                    <a:pt x="3" y="23"/>
                  </a:cubicBezTo>
                  <a:cubicBezTo>
                    <a:pt x="4" y="23"/>
                    <a:pt x="5" y="24"/>
                    <a:pt x="7" y="25"/>
                  </a:cubicBezTo>
                  <a:cubicBezTo>
                    <a:pt x="13" y="23"/>
                    <a:pt x="15" y="17"/>
                    <a:pt x="16" y="10"/>
                  </a:cubicBezTo>
                  <a:cubicBezTo>
                    <a:pt x="15" y="0"/>
                    <a:pt x="5" y="8"/>
                    <a:pt x="2" y="14"/>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3" name="Freeform 41"/>
            <p:cNvSpPr/>
            <p:nvPr/>
          </p:nvSpPr>
          <p:spPr bwMode="auto">
            <a:xfrm>
              <a:off x="4525963" y="4856163"/>
              <a:ext cx="112713" cy="125413"/>
            </a:xfrm>
            <a:custGeom>
              <a:avLst/>
              <a:gdLst>
                <a:gd name="T0" fmla="*/ 14 w 20"/>
                <a:gd name="T1" fmla="*/ 16 h 22"/>
                <a:gd name="T2" fmla="*/ 7 w 20"/>
                <a:gd name="T3" fmla="*/ 21 h 22"/>
                <a:gd name="T4" fmla="*/ 0 w 20"/>
                <a:gd name="T5" fmla="*/ 15 h 22"/>
                <a:gd name="T6" fmla="*/ 2 w 20"/>
                <a:gd name="T7" fmla="*/ 3 h 22"/>
                <a:gd name="T8" fmla="*/ 0 w 20"/>
                <a:gd name="T9" fmla="*/ 1 h 22"/>
                <a:gd name="T10" fmla="*/ 1 w 20"/>
                <a:gd name="T11" fmla="*/ 0 h 22"/>
                <a:gd name="T12" fmla="*/ 5 w 20"/>
                <a:gd name="T13" fmla="*/ 1 h 22"/>
                <a:gd name="T14" fmla="*/ 9 w 20"/>
                <a:gd name="T15" fmla="*/ 2 h 22"/>
                <a:gd name="T16" fmla="*/ 9 w 20"/>
                <a:gd name="T17" fmla="*/ 2 h 22"/>
                <a:gd name="T18" fmla="*/ 6 w 20"/>
                <a:gd name="T19" fmla="*/ 4 h 22"/>
                <a:gd name="T20" fmla="*/ 4 w 20"/>
                <a:gd name="T21" fmla="*/ 16 h 22"/>
                <a:gd name="T22" fmla="*/ 8 w 20"/>
                <a:gd name="T23" fmla="*/ 20 h 22"/>
                <a:gd name="T24" fmla="*/ 14 w 20"/>
                <a:gd name="T25" fmla="*/ 16 h 22"/>
                <a:gd name="T26" fmla="*/ 15 w 20"/>
                <a:gd name="T27" fmla="*/ 8 h 22"/>
                <a:gd name="T28" fmla="*/ 14 w 20"/>
                <a:gd name="T29" fmla="*/ 3 h 22"/>
                <a:gd name="T30" fmla="*/ 13 w 20"/>
                <a:gd name="T31" fmla="*/ 3 h 22"/>
                <a:gd name="T32" fmla="*/ 13 w 20"/>
                <a:gd name="T33" fmla="*/ 2 h 22"/>
                <a:gd name="T34" fmla="*/ 16 w 20"/>
                <a:gd name="T35" fmla="*/ 3 h 22"/>
                <a:gd name="T36" fmla="*/ 19 w 20"/>
                <a:gd name="T37" fmla="*/ 3 h 22"/>
                <a:gd name="T38" fmla="*/ 19 w 20"/>
                <a:gd name="T39" fmla="*/ 4 h 22"/>
                <a:gd name="T40" fmla="*/ 19 w 20"/>
                <a:gd name="T41" fmla="*/ 4 h 22"/>
                <a:gd name="T42" fmla="*/ 16 w 20"/>
                <a:gd name="T43" fmla="*/ 8 h 22"/>
                <a:gd name="T44" fmla="*/ 14 w 20"/>
                <a:gd name="T45" fmla="*/ 16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 h="22">
                  <a:moveTo>
                    <a:pt x="14" y="16"/>
                  </a:moveTo>
                  <a:cubicBezTo>
                    <a:pt x="14" y="20"/>
                    <a:pt x="11" y="22"/>
                    <a:pt x="7" y="21"/>
                  </a:cubicBezTo>
                  <a:cubicBezTo>
                    <a:pt x="2" y="20"/>
                    <a:pt x="0" y="18"/>
                    <a:pt x="0" y="15"/>
                  </a:cubicBezTo>
                  <a:cubicBezTo>
                    <a:pt x="2" y="3"/>
                    <a:pt x="2" y="3"/>
                    <a:pt x="2" y="3"/>
                  </a:cubicBezTo>
                  <a:cubicBezTo>
                    <a:pt x="3" y="1"/>
                    <a:pt x="0" y="1"/>
                    <a:pt x="0" y="1"/>
                  </a:cubicBezTo>
                  <a:cubicBezTo>
                    <a:pt x="0" y="0"/>
                    <a:pt x="0" y="0"/>
                    <a:pt x="1" y="0"/>
                  </a:cubicBezTo>
                  <a:cubicBezTo>
                    <a:pt x="2" y="1"/>
                    <a:pt x="4" y="1"/>
                    <a:pt x="5" y="1"/>
                  </a:cubicBezTo>
                  <a:cubicBezTo>
                    <a:pt x="6" y="1"/>
                    <a:pt x="7" y="1"/>
                    <a:pt x="9" y="2"/>
                  </a:cubicBezTo>
                  <a:cubicBezTo>
                    <a:pt x="9" y="2"/>
                    <a:pt x="9" y="2"/>
                    <a:pt x="9" y="2"/>
                  </a:cubicBezTo>
                  <a:cubicBezTo>
                    <a:pt x="9" y="3"/>
                    <a:pt x="7" y="1"/>
                    <a:pt x="6" y="4"/>
                  </a:cubicBezTo>
                  <a:cubicBezTo>
                    <a:pt x="4" y="16"/>
                    <a:pt x="4" y="16"/>
                    <a:pt x="4" y="16"/>
                  </a:cubicBezTo>
                  <a:cubicBezTo>
                    <a:pt x="4" y="18"/>
                    <a:pt x="6" y="20"/>
                    <a:pt x="8" y="20"/>
                  </a:cubicBezTo>
                  <a:cubicBezTo>
                    <a:pt x="11" y="21"/>
                    <a:pt x="13" y="19"/>
                    <a:pt x="14" y="16"/>
                  </a:cubicBezTo>
                  <a:cubicBezTo>
                    <a:pt x="15" y="8"/>
                    <a:pt x="15" y="8"/>
                    <a:pt x="15" y="8"/>
                  </a:cubicBezTo>
                  <a:cubicBezTo>
                    <a:pt x="15" y="5"/>
                    <a:pt x="15" y="4"/>
                    <a:pt x="14" y="3"/>
                  </a:cubicBezTo>
                  <a:cubicBezTo>
                    <a:pt x="13" y="3"/>
                    <a:pt x="13" y="3"/>
                    <a:pt x="13" y="3"/>
                  </a:cubicBezTo>
                  <a:cubicBezTo>
                    <a:pt x="13" y="2"/>
                    <a:pt x="13" y="2"/>
                    <a:pt x="13" y="2"/>
                  </a:cubicBezTo>
                  <a:cubicBezTo>
                    <a:pt x="14" y="2"/>
                    <a:pt x="15" y="3"/>
                    <a:pt x="16" y="3"/>
                  </a:cubicBezTo>
                  <a:cubicBezTo>
                    <a:pt x="17" y="3"/>
                    <a:pt x="18" y="3"/>
                    <a:pt x="19" y="3"/>
                  </a:cubicBezTo>
                  <a:cubicBezTo>
                    <a:pt x="19" y="3"/>
                    <a:pt x="20" y="3"/>
                    <a:pt x="19" y="4"/>
                  </a:cubicBezTo>
                  <a:cubicBezTo>
                    <a:pt x="19" y="4"/>
                    <a:pt x="19" y="4"/>
                    <a:pt x="19" y="4"/>
                  </a:cubicBezTo>
                  <a:cubicBezTo>
                    <a:pt x="17" y="4"/>
                    <a:pt x="16" y="5"/>
                    <a:pt x="16" y="8"/>
                  </a:cubicBezTo>
                  <a:lnTo>
                    <a:pt x="14" y="16"/>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4" name="Freeform 42"/>
            <p:cNvSpPr/>
            <p:nvPr/>
          </p:nvSpPr>
          <p:spPr bwMode="auto">
            <a:xfrm>
              <a:off x="4627563" y="4884738"/>
              <a:ext cx="146050" cy="142875"/>
            </a:xfrm>
            <a:custGeom>
              <a:avLst/>
              <a:gdLst>
                <a:gd name="T0" fmla="*/ 5 w 26"/>
                <a:gd name="T1" fmla="*/ 15 h 25"/>
                <a:gd name="T2" fmla="*/ 5 w 26"/>
                <a:gd name="T3" fmla="*/ 19 h 25"/>
                <a:gd name="T4" fmla="*/ 6 w 26"/>
                <a:gd name="T5" fmla="*/ 20 h 25"/>
                <a:gd name="T6" fmla="*/ 6 w 26"/>
                <a:gd name="T7" fmla="*/ 20 h 25"/>
                <a:gd name="T8" fmla="*/ 3 w 26"/>
                <a:gd name="T9" fmla="*/ 19 h 25"/>
                <a:gd name="T10" fmla="*/ 0 w 26"/>
                <a:gd name="T11" fmla="*/ 18 h 25"/>
                <a:gd name="T12" fmla="*/ 0 w 26"/>
                <a:gd name="T13" fmla="*/ 17 h 25"/>
                <a:gd name="T14" fmla="*/ 1 w 26"/>
                <a:gd name="T15" fmla="*/ 17 h 25"/>
                <a:gd name="T16" fmla="*/ 4 w 26"/>
                <a:gd name="T17" fmla="*/ 15 h 25"/>
                <a:gd name="T18" fmla="*/ 9 w 26"/>
                <a:gd name="T19" fmla="*/ 4 h 25"/>
                <a:gd name="T20" fmla="*/ 8 w 26"/>
                <a:gd name="T21" fmla="*/ 1 h 25"/>
                <a:gd name="T22" fmla="*/ 7 w 26"/>
                <a:gd name="T23" fmla="*/ 0 h 25"/>
                <a:gd name="T24" fmla="*/ 8 w 26"/>
                <a:gd name="T25" fmla="*/ 0 h 25"/>
                <a:gd name="T26" fmla="*/ 10 w 26"/>
                <a:gd name="T27" fmla="*/ 1 h 25"/>
                <a:gd name="T28" fmla="*/ 13 w 26"/>
                <a:gd name="T29" fmla="*/ 3 h 25"/>
                <a:gd name="T30" fmla="*/ 17 w 26"/>
                <a:gd name="T31" fmla="*/ 18 h 25"/>
                <a:gd name="T32" fmla="*/ 17 w 26"/>
                <a:gd name="T33" fmla="*/ 18 h 25"/>
                <a:gd name="T34" fmla="*/ 21 w 26"/>
                <a:gd name="T35" fmla="*/ 11 h 25"/>
                <a:gd name="T36" fmla="*/ 21 w 26"/>
                <a:gd name="T37" fmla="*/ 7 h 25"/>
                <a:gd name="T38" fmla="*/ 19 w 26"/>
                <a:gd name="T39" fmla="*/ 6 h 25"/>
                <a:gd name="T40" fmla="*/ 20 w 26"/>
                <a:gd name="T41" fmla="*/ 6 h 25"/>
                <a:gd name="T42" fmla="*/ 23 w 26"/>
                <a:gd name="T43" fmla="*/ 7 h 25"/>
                <a:gd name="T44" fmla="*/ 26 w 26"/>
                <a:gd name="T45" fmla="*/ 8 h 25"/>
                <a:gd name="T46" fmla="*/ 26 w 26"/>
                <a:gd name="T47" fmla="*/ 9 h 25"/>
                <a:gd name="T48" fmla="*/ 24 w 26"/>
                <a:gd name="T49" fmla="*/ 8 h 25"/>
                <a:gd name="T50" fmla="*/ 21 w 26"/>
                <a:gd name="T51" fmla="*/ 11 h 25"/>
                <a:gd name="T52" fmla="*/ 15 w 26"/>
                <a:gd name="T53" fmla="*/ 24 h 25"/>
                <a:gd name="T54" fmla="*/ 15 w 26"/>
                <a:gd name="T55" fmla="*/ 25 h 25"/>
                <a:gd name="T56" fmla="*/ 14 w 26"/>
                <a:gd name="T57" fmla="*/ 24 h 25"/>
                <a:gd name="T58" fmla="*/ 10 w 26"/>
                <a:gd name="T59" fmla="*/ 5 h 25"/>
                <a:gd name="T60" fmla="*/ 9 w 26"/>
                <a:gd name="T61" fmla="*/ 5 h 25"/>
                <a:gd name="T62" fmla="*/ 5 w 26"/>
                <a:gd name="T63" fmla="*/ 1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6" h="25">
                  <a:moveTo>
                    <a:pt x="5" y="15"/>
                  </a:moveTo>
                  <a:cubicBezTo>
                    <a:pt x="4" y="17"/>
                    <a:pt x="4" y="18"/>
                    <a:pt x="5" y="19"/>
                  </a:cubicBezTo>
                  <a:cubicBezTo>
                    <a:pt x="6" y="20"/>
                    <a:pt x="6" y="20"/>
                    <a:pt x="6" y="20"/>
                  </a:cubicBezTo>
                  <a:cubicBezTo>
                    <a:pt x="6" y="20"/>
                    <a:pt x="6" y="20"/>
                    <a:pt x="6" y="20"/>
                  </a:cubicBezTo>
                  <a:cubicBezTo>
                    <a:pt x="5" y="20"/>
                    <a:pt x="4" y="19"/>
                    <a:pt x="3" y="19"/>
                  </a:cubicBezTo>
                  <a:cubicBezTo>
                    <a:pt x="2" y="18"/>
                    <a:pt x="1" y="18"/>
                    <a:pt x="0" y="18"/>
                  </a:cubicBezTo>
                  <a:cubicBezTo>
                    <a:pt x="0" y="18"/>
                    <a:pt x="0" y="17"/>
                    <a:pt x="0" y="17"/>
                  </a:cubicBezTo>
                  <a:cubicBezTo>
                    <a:pt x="0" y="17"/>
                    <a:pt x="0" y="17"/>
                    <a:pt x="1" y="17"/>
                  </a:cubicBezTo>
                  <a:cubicBezTo>
                    <a:pt x="2" y="17"/>
                    <a:pt x="3" y="17"/>
                    <a:pt x="4" y="15"/>
                  </a:cubicBezTo>
                  <a:cubicBezTo>
                    <a:pt x="9" y="4"/>
                    <a:pt x="9" y="4"/>
                    <a:pt x="9" y="4"/>
                  </a:cubicBezTo>
                  <a:cubicBezTo>
                    <a:pt x="9" y="2"/>
                    <a:pt x="8" y="1"/>
                    <a:pt x="8" y="1"/>
                  </a:cubicBezTo>
                  <a:cubicBezTo>
                    <a:pt x="7" y="1"/>
                    <a:pt x="7" y="1"/>
                    <a:pt x="7" y="0"/>
                  </a:cubicBezTo>
                  <a:cubicBezTo>
                    <a:pt x="7" y="0"/>
                    <a:pt x="7" y="0"/>
                    <a:pt x="8" y="0"/>
                  </a:cubicBezTo>
                  <a:cubicBezTo>
                    <a:pt x="8" y="0"/>
                    <a:pt x="9" y="1"/>
                    <a:pt x="10" y="1"/>
                  </a:cubicBezTo>
                  <a:cubicBezTo>
                    <a:pt x="13" y="3"/>
                    <a:pt x="13" y="3"/>
                    <a:pt x="13" y="3"/>
                  </a:cubicBezTo>
                  <a:cubicBezTo>
                    <a:pt x="17" y="18"/>
                    <a:pt x="17" y="18"/>
                    <a:pt x="17" y="18"/>
                  </a:cubicBezTo>
                  <a:cubicBezTo>
                    <a:pt x="17" y="18"/>
                    <a:pt x="17" y="18"/>
                    <a:pt x="17" y="18"/>
                  </a:cubicBezTo>
                  <a:cubicBezTo>
                    <a:pt x="21" y="11"/>
                    <a:pt x="21" y="11"/>
                    <a:pt x="21" y="11"/>
                  </a:cubicBezTo>
                  <a:cubicBezTo>
                    <a:pt x="22" y="9"/>
                    <a:pt x="21" y="7"/>
                    <a:pt x="21" y="7"/>
                  </a:cubicBezTo>
                  <a:cubicBezTo>
                    <a:pt x="20" y="6"/>
                    <a:pt x="19" y="6"/>
                    <a:pt x="19" y="6"/>
                  </a:cubicBezTo>
                  <a:cubicBezTo>
                    <a:pt x="19" y="6"/>
                    <a:pt x="20" y="5"/>
                    <a:pt x="20" y="6"/>
                  </a:cubicBezTo>
                  <a:cubicBezTo>
                    <a:pt x="21" y="6"/>
                    <a:pt x="22" y="6"/>
                    <a:pt x="23" y="7"/>
                  </a:cubicBezTo>
                  <a:cubicBezTo>
                    <a:pt x="24" y="7"/>
                    <a:pt x="25" y="8"/>
                    <a:pt x="26" y="8"/>
                  </a:cubicBezTo>
                  <a:cubicBezTo>
                    <a:pt x="26" y="8"/>
                    <a:pt x="26" y="8"/>
                    <a:pt x="26" y="9"/>
                  </a:cubicBezTo>
                  <a:cubicBezTo>
                    <a:pt x="26" y="9"/>
                    <a:pt x="25" y="8"/>
                    <a:pt x="24" y="8"/>
                  </a:cubicBezTo>
                  <a:cubicBezTo>
                    <a:pt x="23" y="8"/>
                    <a:pt x="22" y="9"/>
                    <a:pt x="21" y="11"/>
                  </a:cubicBezTo>
                  <a:cubicBezTo>
                    <a:pt x="15" y="24"/>
                    <a:pt x="15" y="24"/>
                    <a:pt x="15" y="24"/>
                  </a:cubicBezTo>
                  <a:cubicBezTo>
                    <a:pt x="15" y="25"/>
                    <a:pt x="15" y="25"/>
                    <a:pt x="15" y="25"/>
                  </a:cubicBezTo>
                  <a:cubicBezTo>
                    <a:pt x="15" y="25"/>
                    <a:pt x="15" y="24"/>
                    <a:pt x="14" y="24"/>
                  </a:cubicBezTo>
                  <a:cubicBezTo>
                    <a:pt x="10" y="5"/>
                    <a:pt x="10" y="5"/>
                    <a:pt x="10" y="5"/>
                  </a:cubicBezTo>
                  <a:cubicBezTo>
                    <a:pt x="9" y="5"/>
                    <a:pt x="9" y="5"/>
                    <a:pt x="9" y="5"/>
                  </a:cubicBezTo>
                  <a:lnTo>
                    <a:pt x="5" y="1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5" name="Freeform 43"/>
            <p:cNvSpPr/>
            <p:nvPr/>
          </p:nvSpPr>
          <p:spPr bwMode="auto">
            <a:xfrm>
              <a:off x="4740275" y="4953000"/>
              <a:ext cx="100013" cy="114300"/>
            </a:xfrm>
            <a:custGeom>
              <a:avLst/>
              <a:gdLst>
                <a:gd name="T0" fmla="*/ 12 w 18"/>
                <a:gd name="T1" fmla="*/ 3 h 20"/>
                <a:gd name="T2" fmla="*/ 11 w 18"/>
                <a:gd name="T3" fmla="*/ 0 h 20"/>
                <a:gd name="T4" fmla="*/ 11 w 18"/>
                <a:gd name="T5" fmla="*/ 0 h 20"/>
                <a:gd name="T6" fmla="*/ 15 w 18"/>
                <a:gd name="T7" fmla="*/ 2 h 20"/>
                <a:gd name="T8" fmla="*/ 18 w 18"/>
                <a:gd name="T9" fmla="*/ 5 h 20"/>
                <a:gd name="T10" fmla="*/ 18 w 18"/>
                <a:gd name="T11" fmla="*/ 5 h 20"/>
                <a:gd name="T12" fmla="*/ 15 w 18"/>
                <a:gd name="T13" fmla="*/ 5 h 20"/>
                <a:gd name="T14" fmla="*/ 6 w 18"/>
                <a:gd name="T15" fmla="*/ 17 h 20"/>
                <a:gd name="T16" fmla="*/ 7 w 18"/>
                <a:gd name="T17" fmla="*/ 20 h 20"/>
                <a:gd name="T18" fmla="*/ 7 w 18"/>
                <a:gd name="T19" fmla="*/ 20 h 20"/>
                <a:gd name="T20" fmla="*/ 3 w 18"/>
                <a:gd name="T21" fmla="*/ 18 h 20"/>
                <a:gd name="T22" fmla="*/ 0 w 18"/>
                <a:gd name="T23" fmla="*/ 16 h 20"/>
                <a:gd name="T24" fmla="*/ 0 w 18"/>
                <a:gd name="T25" fmla="*/ 15 h 20"/>
                <a:gd name="T26" fmla="*/ 3 w 18"/>
                <a:gd name="T27" fmla="*/ 15 h 20"/>
                <a:gd name="T28" fmla="*/ 12 w 18"/>
                <a:gd name="T29" fmla="*/ 3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8" h="20">
                  <a:moveTo>
                    <a:pt x="12" y="3"/>
                  </a:moveTo>
                  <a:cubicBezTo>
                    <a:pt x="13" y="1"/>
                    <a:pt x="10" y="1"/>
                    <a:pt x="11" y="0"/>
                  </a:cubicBezTo>
                  <a:cubicBezTo>
                    <a:pt x="11" y="0"/>
                    <a:pt x="11" y="0"/>
                    <a:pt x="11" y="0"/>
                  </a:cubicBezTo>
                  <a:cubicBezTo>
                    <a:pt x="13" y="1"/>
                    <a:pt x="14" y="2"/>
                    <a:pt x="15" y="2"/>
                  </a:cubicBezTo>
                  <a:cubicBezTo>
                    <a:pt x="15" y="3"/>
                    <a:pt x="17" y="4"/>
                    <a:pt x="18" y="5"/>
                  </a:cubicBezTo>
                  <a:cubicBezTo>
                    <a:pt x="18" y="5"/>
                    <a:pt x="18" y="5"/>
                    <a:pt x="18" y="5"/>
                  </a:cubicBezTo>
                  <a:cubicBezTo>
                    <a:pt x="18" y="6"/>
                    <a:pt x="16" y="4"/>
                    <a:pt x="15" y="5"/>
                  </a:cubicBezTo>
                  <a:cubicBezTo>
                    <a:pt x="6" y="17"/>
                    <a:pt x="6" y="17"/>
                    <a:pt x="6" y="17"/>
                  </a:cubicBezTo>
                  <a:cubicBezTo>
                    <a:pt x="5" y="19"/>
                    <a:pt x="8" y="20"/>
                    <a:pt x="7" y="20"/>
                  </a:cubicBezTo>
                  <a:cubicBezTo>
                    <a:pt x="7" y="20"/>
                    <a:pt x="7" y="20"/>
                    <a:pt x="7" y="20"/>
                  </a:cubicBezTo>
                  <a:cubicBezTo>
                    <a:pt x="5" y="19"/>
                    <a:pt x="4" y="19"/>
                    <a:pt x="3" y="18"/>
                  </a:cubicBezTo>
                  <a:cubicBezTo>
                    <a:pt x="3" y="17"/>
                    <a:pt x="1" y="17"/>
                    <a:pt x="0" y="16"/>
                  </a:cubicBezTo>
                  <a:cubicBezTo>
                    <a:pt x="0" y="15"/>
                    <a:pt x="0" y="15"/>
                    <a:pt x="0" y="15"/>
                  </a:cubicBezTo>
                  <a:cubicBezTo>
                    <a:pt x="0" y="14"/>
                    <a:pt x="2" y="17"/>
                    <a:pt x="3" y="15"/>
                  </a:cubicBezTo>
                  <a:lnTo>
                    <a:pt x="12" y="3"/>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6" name="Freeform 44"/>
            <p:cNvSpPr/>
            <p:nvPr/>
          </p:nvSpPr>
          <p:spPr bwMode="auto">
            <a:xfrm>
              <a:off x="4824413" y="4999038"/>
              <a:ext cx="117475" cy="119063"/>
            </a:xfrm>
            <a:custGeom>
              <a:avLst/>
              <a:gdLst>
                <a:gd name="T0" fmla="*/ 14 w 21"/>
                <a:gd name="T1" fmla="*/ 14 h 21"/>
                <a:gd name="T2" fmla="*/ 16 w 21"/>
                <a:gd name="T3" fmla="*/ 13 h 21"/>
                <a:gd name="T4" fmla="*/ 16 w 21"/>
                <a:gd name="T5" fmla="*/ 10 h 21"/>
                <a:gd name="T6" fmla="*/ 17 w 21"/>
                <a:gd name="T7" fmla="*/ 10 h 21"/>
                <a:gd name="T8" fmla="*/ 19 w 21"/>
                <a:gd name="T9" fmla="*/ 12 h 21"/>
                <a:gd name="T10" fmla="*/ 21 w 21"/>
                <a:gd name="T11" fmla="*/ 14 h 21"/>
                <a:gd name="T12" fmla="*/ 21 w 21"/>
                <a:gd name="T13" fmla="*/ 15 h 21"/>
                <a:gd name="T14" fmla="*/ 16 w 21"/>
                <a:gd name="T15" fmla="*/ 15 h 21"/>
                <a:gd name="T16" fmla="*/ 1 w 21"/>
                <a:gd name="T17" fmla="*/ 20 h 21"/>
                <a:gd name="T18" fmla="*/ 0 w 21"/>
                <a:gd name="T19" fmla="*/ 21 h 21"/>
                <a:gd name="T20" fmla="*/ 0 w 21"/>
                <a:gd name="T21" fmla="*/ 20 h 21"/>
                <a:gd name="T22" fmla="*/ 7 w 21"/>
                <a:gd name="T23" fmla="*/ 4 h 21"/>
                <a:gd name="T24" fmla="*/ 7 w 21"/>
                <a:gd name="T25" fmla="*/ 0 h 21"/>
                <a:gd name="T26" fmla="*/ 8 w 21"/>
                <a:gd name="T27" fmla="*/ 0 h 21"/>
                <a:gd name="T28" fmla="*/ 10 w 21"/>
                <a:gd name="T29" fmla="*/ 3 h 21"/>
                <a:gd name="T30" fmla="*/ 13 w 21"/>
                <a:gd name="T31" fmla="*/ 6 h 21"/>
                <a:gd name="T32" fmla="*/ 13 w 21"/>
                <a:gd name="T33" fmla="*/ 7 h 21"/>
                <a:gd name="T34" fmla="*/ 11 w 21"/>
                <a:gd name="T35" fmla="*/ 6 h 21"/>
                <a:gd name="T36" fmla="*/ 10 w 21"/>
                <a:gd name="T37" fmla="*/ 7 h 21"/>
                <a:gd name="T38" fmla="*/ 5 w 21"/>
                <a:gd name="T39" fmla="*/ 18 h 21"/>
                <a:gd name="T40" fmla="*/ 14 w 21"/>
                <a:gd name="T41" fmla="*/ 14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1" h="21">
                  <a:moveTo>
                    <a:pt x="14" y="14"/>
                  </a:moveTo>
                  <a:cubicBezTo>
                    <a:pt x="15" y="14"/>
                    <a:pt x="15" y="14"/>
                    <a:pt x="16" y="13"/>
                  </a:cubicBezTo>
                  <a:cubicBezTo>
                    <a:pt x="18" y="12"/>
                    <a:pt x="16" y="10"/>
                    <a:pt x="16" y="10"/>
                  </a:cubicBezTo>
                  <a:cubicBezTo>
                    <a:pt x="16" y="10"/>
                    <a:pt x="17" y="10"/>
                    <a:pt x="17" y="10"/>
                  </a:cubicBezTo>
                  <a:cubicBezTo>
                    <a:pt x="17" y="11"/>
                    <a:pt x="18" y="11"/>
                    <a:pt x="19" y="12"/>
                  </a:cubicBezTo>
                  <a:cubicBezTo>
                    <a:pt x="19" y="13"/>
                    <a:pt x="20" y="13"/>
                    <a:pt x="21" y="14"/>
                  </a:cubicBezTo>
                  <a:cubicBezTo>
                    <a:pt x="21" y="14"/>
                    <a:pt x="21" y="15"/>
                    <a:pt x="21" y="15"/>
                  </a:cubicBezTo>
                  <a:cubicBezTo>
                    <a:pt x="20" y="15"/>
                    <a:pt x="20" y="13"/>
                    <a:pt x="16" y="15"/>
                  </a:cubicBezTo>
                  <a:cubicBezTo>
                    <a:pt x="1" y="20"/>
                    <a:pt x="1" y="20"/>
                    <a:pt x="1" y="20"/>
                  </a:cubicBezTo>
                  <a:cubicBezTo>
                    <a:pt x="0" y="21"/>
                    <a:pt x="0" y="21"/>
                    <a:pt x="0" y="21"/>
                  </a:cubicBezTo>
                  <a:cubicBezTo>
                    <a:pt x="0" y="20"/>
                    <a:pt x="0" y="20"/>
                    <a:pt x="0" y="20"/>
                  </a:cubicBezTo>
                  <a:cubicBezTo>
                    <a:pt x="7" y="4"/>
                    <a:pt x="7" y="4"/>
                    <a:pt x="7" y="4"/>
                  </a:cubicBezTo>
                  <a:cubicBezTo>
                    <a:pt x="8" y="1"/>
                    <a:pt x="7" y="1"/>
                    <a:pt x="7" y="0"/>
                  </a:cubicBezTo>
                  <a:cubicBezTo>
                    <a:pt x="7" y="0"/>
                    <a:pt x="7" y="0"/>
                    <a:pt x="8" y="0"/>
                  </a:cubicBezTo>
                  <a:cubicBezTo>
                    <a:pt x="9" y="1"/>
                    <a:pt x="9" y="2"/>
                    <a:pt x="10" y="3"/>
                  </a:cubicBezTo>
                  <a:cubicBezTo>
                    <a:pt x="11" y="4"/>
                    <a:pt x="12" y="5"/>
                    <a:pt x="13" y="6"/>
                  </a:cubicBezTo>
                  <a:cubicBezTo>
                    <a:pt x="13" y="6"/>
                    <a:pt x="13" y="6"/>
                    <a:pt x="13" y="7"/>
                  </a:cubicBezTo>
                  <a:cubicBezTo>
                    <a:pt x="13" y="7"/>
                    <a:pt x="12" y="5"/>
                    <a:pt x="11" y="6"/>
                  </a:cubicBezTo>
                  <a:cubicBezTo>
                    <a:pt x="11" y="6"/>
                    <a:pt x="10" y="7"/>
                    <a:pt x="10" y="7"/>
                  </a:cubicBezTo>
                  <a:cubicBezTo>
                    <a:pt x="5" y="18"/>
                    <a:pt x="5" y="18"/>
                    <a:pt x="5" y="18"/>
                  </a:cubicBezTo>
                  <a:lnTo>
                    <a:pt x="14" y="14"/>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7" name="Freeform 45"/>
            <p:cNvSpPr/>
            <p:nvPr/>
          </p:nvSpPr>
          <p:spPr bwMode="auto">
            <a:xfrm>
              <a:off x="4862513" y="5094288"/>
              <a:ext cx="134938" cy="136525"/>
            </a:xfrm>
            <a:custGeom>
              <a:avLst/>
              <a:gdLst>
                <a:gd name="T0" fmla="*/ 15 w 24"/>
                <a:gd name="T1" fmla="*/ 4 h 24"/>
                <a:gd name="T2" fmla="*/ 16 w 24"/>
                <a:gd name="T3" fmla="*/ 1 h 24"/>
                <a:gd name="T4" fmla="*/ 16 w 24"/>
                <a:gd name="T5" fmla="*/ 1 h 24"/>
                <a:gd name="T6" fmla="*/ 18 w 24"/>
                <a:gd name="T7" fmla="*/ 4 h 24"/>
                <a:gd name="T8" fmla="*/ 24 w 24"/>
                <a:gd name="T9" fmla="*/ 13 h 24"/>
                <a:gd name="T10" fmla="*/ 20 w 24"/>
                <a:gd name="T11" fmla="*/ 17 h 24"/>
                <a:gd name="T12" fmla="*/ 19 w 24"/>
                <a:gd name="T13" fmla="*/ 17 h 24"/>
                <a:gd name="T14" fmla="*/ 19 w 24"/>
                <a:gd name="T15" fmla="*/ 17 h 24"/>
                <a:gd name="T16" fmla="*/ 20 w 24"/>
                <a:gd name="T17" fmla="*/ 15 h 24"/>
                <a:gd name="T18" fmla="*/ 20 w 24"/>
                <a:gd name="T19" fmla="*/ 8 h 24"/>
                <a:gd name="T20" fmla="*/ 19 w 24"/>
                <a:gd name="T21" fmla="*/ 6 h 24"/>
                <a:gd name="T22" fmla="*/ 12 w 24"/>
                <a:gd name="T23" fmla="*/ 10 h 24"/>
                <a:gd name="T24" fmla="*/ 12 w 24"/>
                <a:gd name="T25" fmla="*/ 11 h 24"/>
                <a:gd name="T26" fmla="*/ 17 w 24"/>
                <a:gd name="T27" fmla="*/ 12 h 24"/>
                <a:gd name="T28" fmla="*/ 18 w 24"/>
                <a:gd name="T29" fmla="*/ 12 h 24"/>
                <a:gd name="T30" fmla="*/ 18 w 24"/>
                <a:gd name="T31" fmla="*/ 13 h 24"/>
                <a:gd name="T32" fmla="*/ 10 w 24"/>
                <a:gd name="T33" fmla="*/ 17 h 24"/>
                <a:gd name="T34" fmla="*/ 10 w 24"/>
                <a:gd name="T35" fmla="*/ 17 h 24"/>
                <a:gd name="T36" fmla="*/ 10 w 24"/>
                <a:gd name="T37" fmla="*/ 16 h 24"/>
                <a:gd name="T38" fmla="*/ 12 w 24"/>
                <a:gd name="T39" fmla="*/ 11 h 24"/>
                <a:gd name="T40" fmla="*/ 11 w 24"/>
                <a:gd name="T41" fmla="*/ 11 h 24"/>
                <a:gd name="T42" fmla="*/ 5 w 24"/>
                <a:gd name="T43" fmla="*/ 14 h 24"/>
                <a:gd name="T44" fmla="*/ 5 w 24"/>
                <a:gd name="T45" fmla="*/ 17 h 24"/>
                <a:gd name="T46" fmla="*/ 14 w 24"/>
                <a:gd name="T47" fmla="*/ 21 h 24"/>
                <a:gd name="T48" fmla="*/ 15 w 24"/>
                <a:gd name="T49" fmla="*/ 21 h 24"/>
                <a:gd name="T50" fmla="*/ 15 w 24"/>
                <a:gd name="T51" fmla="*/ 21 h 24"/>
                <a:gd name="T52" fmla="*/ 14 w 24"/>
                <a:gd name="T53" fmla="*/ 22 h 24"/>
                <a:gd name="T54" fmla="*/ 8 w 24"/>
                <a:gd name="T55" fmla="*/ 24 h 24"/>
                <a:gd name="T56" fmla="*/ 2 w 24"/>
                <a:gd name="T57" fmla="*/ 14 h 24"/>
                <a:gd name="T58" fmla="*/ 0 w 24"/>
                <a:gd name="T59" fmla="*/ 11 h 24"/>
                <a:gd name="T60" fmla="*/ 0 w 24"/>
                <a:gd name="T61" fmla="*/ 10 h 24"/>
                <a:gd name="T62" fmla="*/ 3 w 24"/>
                <a:gd name="T63" fmla="*/ 11 h 24"/>
                <a:gd name="T64" fmla="*/ 15 w 24"/>
                <a:gd name="T65" fmla="*/ 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4">
                  <a:moveTo>
                    <a:pt x="15" y="4"/>
                  </a:moveTo>
                  <a:cubicBezTo>
                    <a:pt x="17" y="2"/>
                    <a:pt x="15" y="1"/>
                    <a:pt x="16" y="1"/>
                  </a:cubicBezTo>
                  <a:cubicBezTo>
                    <a:pt x="16" y="0"/>
                    <a:pt x="16" y="0"/>
                    <a:pt x="16" y="1"/>
                  </a:cubicBezTo>
                  <a:cubicBezTo>
                    <a:pt x="17" y="2"/>
                    <a:pt x="18" y="3"/>
                    <a:pt x="18" y="4"/>
                  </a:cubicBezTo>
                  <a:cubicBezTo>
                    <a:pt x="20" y="7"/>
                    <a:pt x="22" y="10"/>
                    <a:pt x="24" y="13"/>
                  </a:cubicBezTo>
                  <a:cubicBezTo>
                    <a:pt x="20" y="17"/>
                    <a:pt x="20" y="17"/>
                    <a:pt x="20" y="17"/>
                  </a:cubicBezTo>
                  <a:cubicBezTo>
                    <a:pt x="19" y="17"/>
                    <a:pt x="19" y="17"/>
                    <a:pt x="19" y="17"/>
                  </a:cubicBezTo>
                  <a:cubicBezTo>
                    <a:pt x="19" y="17"/>
                    <a:pt x="19" y="17"/>
                    <a:pt x="19" y="17"/>
                  </a:cubicBezTo>
                  <a:cubicBezTo>
                    <a:pt x="19" y="17"/>
                    <a:pt x="19" y="17"/>
                    <a:pt x="20" y="15"/>
                  </a:cubicBezTo>
                  <a:cubicBezTo>
                    <a:pt x="21" y="13"/>
                    <a:pt x="21" y="11"/>
                    <a:pt x="20" y="8"/>
                  </a:cubicBezTo>
                  <a:cubicBezTo>
                    <a:pt x="19" y="6"/>
                    <a:pt x="19" y="6"/>
                    <a:pt x="19" y="6"/>
                  </a:cubicBezTo>
                  <a:cubicBezTo>
                    <a:pt x="12" y="10"/>
                    <a:pt x="12" y="10"/>
                    <a:pt x="12" y="10"/>
                  </a:cubicBezTo>
                  <a:cubicBezTo>
                    <a:pt x="12" y="11"/>
                    <a:pt x="12" y="11"/>
                    <a:pt x="12" y="11"/>
                  </a:cubicBezTo>
                  <a:cubicBezTo>
                    <a:pt x="13" y="13"/>
                    <a:pt x="15" y="13"/>
                    <a:pt x="17" y="12"/>
                  </a:cubicBezTo>
                  <a:cubicBezTo>
                    <a:pt x="18" y="12"/>
                    <a:pt x="18" y="12"/>
                    <a:pt x="18" y="12"/>
                  </a:cubicBezTo>
                  <a:cubicBezTo>
                    <a:pt x="18" y="12"/>
                    <a:pt x="18" y="13"/>
                    <a:pt x="18" y="13"/>
                  </a:cubicBezTo>
                  <a:cubicBezTo>
                    <a:pt x="10" y="17"/>
                    <a:pt x="10" y="17"/>
                    <a:pt x="10" y="17"/>
                  </a:cubicBezTo>
                  <a:cubicBezTo>
                    <a:pt x="10" y="17"/>
                    <a:pt x="10" y="17"/>
                    <a:pt x="10" y="17"/>
                  </a:cubicBezTo>
                  <a:cubicBezTo>
                    <a:pt x="10" y="17"/>
                    <a:pt x="10" y="17"/>
                    <a:pt x="10" y="16"/>
                  </a:cubicBezTo>
                  <a:cubicBezTo>
                    <a:pt x="12" y="15"/>
                    <a:pt x="13" y="13"/>
                    <a:pt x="12" y="11"/>
                  </a:cubicBezTo>
                  <a:cubicBezTo>
                    <a:pt x="11" y="11"/>
                    <a:pt x="11" y="11"/>
                    <a:pt x="11" y="11"/>
                  </a:cubicBezTo>
                  <a:cubicBezTo>
                    <a:pt x="5" y="14"/>
                    <a:pt x="5" y="14"/>
                    <a:pt x="5" y="14"/>
                  </a:cubicBezTo>
                  <a:cubicBezTo>
                    <a:pt x="4" y="15"/>
                    <a:pt x="4" y="16"/>
                    <a:pt x="5" y="17"/>
                  </a:cubicBezTo>
                  <a:cubicBezTo>
                    <a:pt x="7" y="21"/>
                    <a:pt x="11" y="22"/>
                    <a:pt x="14" y="21"/>
                  </a:cubicBezTo>
                  <a:cubicBezTo>
                    <a:pt x="14" y="21"/>
                    <a:pt x="15" y="21"/>
                    <a:pt x="15" y="21"/>
                  </a:cubicBezTo>
                  <a:cubicBezTo>
                    <a:pt x="15" y="21"/>
                    <a:pt x="15" y="21"/>
                    <a:pt x="15" y="21"/>
                  </a:cubicBezTo>
                  <a:cubicBezTo>
                    <a:pt x="14" y="21"/>
                    <a:pt x="14" y="22"/>
                    <a:pt x="14" y="22"/>
                  </a:cubicBezTo>
                  <a:cubicBezTo>
                    <a:pt x="8" y="24"/>
                    <a:pt x="8" y="24"/>
                    <a:pt x="8" y="24"/>
                  </a:cubicBezTo>
                  <a:cubicBezTo>
                    <a:pt x="6" y="21"/>
                    <a:pt x="4" y="17"/>
                    <a:pt x="2" y="14"/>
                  </a:cubicBezTo>
                  <a:cubicBezTo>
                    <a:pt x="1" y="13"/>
                    <a:pt x="1" y="12"/>
                    <a:pt x="0" y="11"/>
                  </a:cubicBezTo>
                  <a:cubicBezTo>
                    <a:pt x="0" y="10"/>
                    <a:pt x="0" y="10"/>
                    <a:pt x="0" y="10"/>
                  </a:cubicBezTo>
                  <a:cubicBezTo>
                    <a:pt x="1" y="10"/>
                    <a:pt x="1" y="12"/>
                    <a:pt x="3" y="11"/>
                  </a:cubicBezTo>
                  <a:lnTo>
                    <a:pt x="15" y="4"/>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8" name="Freeform 46"/>
            <p:cNvSpPr>
              <a:spLocks noEditPoints="1"/>
            </p:cNvSpPr>
            <p:nvPr/>
          </p:nvSpPr>
          <p:spPr bwMode="auto">
            <a:xfrm>
              <a:off x="4919663" y="5219700"/>
              <a:ext cx="122238" cy="141288"/>
            </a:xfrm>
            <a:custGeom>
              <a:avLst/>
              <a:gdLst>
                <a:gd name="T0" fmla="*/ 9 w 22"/>
                <a:gd name="T1" fmla="*/ 13 h 25"/>
                <a:gd name="T2" fmla="*/ 10 w 22"/>
                <a:gd name="T3" fmla="*/ 9 h 25"/>
                <a:gd name="T4" fmla="*/ 4 w 22"/>
                <a:gd name="T5" fmla="*/ 11 h 25"/>
                <a:gd name="T6" fmla="*/ 3 w 22"/>
                <a:gd name="T7" fmla="*/ 14 h 25"/>
                <a:gd name="T8" fmla="*/ 2 w 22"/>
                <a:gd name="T9" fmla="*/ 14 h 25"/>
                <a:gd name="T10" fmla="*/ 1 w 22"/>
                <a:gd name="T11" fmla="*/ 10 h 25"/>
                <a:gd name="T12" fmla="*/ 0 w 22"/>
                <a:gd name="T13" fmla="*/ 6 h 25"/>
                <a:gd name="T14" fmla="*/ 0 w 22"/>
                <a:gd name="T15" fmla="*/ 6 h 25"/>
                <a:gd name="T16" fmla="*/ 3 w 22"/>
                <a:gd name="T17" fmla="*/ 7 h 25"/>
                <a:gd name="T18" fmla="*/ 17 w 22"/>
                <a:gd name="T19" fmla="*/ 3 h 25"/>
                <a:gd name="T20" fmla="*/ 18 w 22"/>
                <a:gd name="T21" fmla="*/ 0 h 25"/>
                <a:gd name="T22" fmla="*/ 18 w 22"/>
                <a:gd name="T23" fmla="*/ 1 h 25"/>
                <a:gd name="T24" fmla="*/ 19 w 22"/>
                <a:gd name="T25" fmla="*/ 5 h 25"/>
                <a:gd name="T26" fmla="*/ 21 w 22"/>
                <a:gd name="T27" fmla="*/ 9 h 25"/>
                <a:gd name="T28" fmla="*/ 18 w 22"/>
                <a:gd name="T29" fmla="*/ 17 h 25"/>
                <a:gd name="T30" fmla="*/ 11 w 22"/>
                <a:gd name="T31" fmla="*/ 12 h 25"/>
                <a:gd name="T32" fmla="*/ 11 w 22"/>
                <a:gd name="T33" fmla="*/ 12 h 25"/>
                <a:gd name="T34" fmla="*/ 10 w 22"/>
                <a:gd name="T35" fmla="*/ 18 h 25"/>
                <a:gd name="T36" fmla="*/ 7 w 22"/>
                <a:gd name="T37" fmla="*/ 21 h 25"/>
                <a:gd name="T38" fmla="*/ 6 w 22"/>
                <a:gd name="T39" fmla="*/ 25 h 25"/>
                <a:gd name="T40" fmla="*/ 5 w 22"/>
                <a:gd name="T41" fmla="*/ 25 h 25"/>
                <a:gd name="T42" fmla="*/ 4 w 22"/>
                <a:gd name="T43" fmla="*/ 22 h 25"/>
                <a:gd name="T44" fmla="*/ 4 w 22"/>
                <a:gd name="T45" fmla="*/ 19 h 25"/>
                <a:gd name="T46" fmla="*/ 9 w 22"/>
                <a:gd name="T47" fmla="*/ 13 h 25"/>
                <a:gd name="T48" fmla="*/ 11 w 22"/>
                <a:gd name="T49" fmla="*/ 9 h 25"/>
                <a:gd name="T50" fmla="*/ 11 w 22"/>
                <a:gd name="T51" fmla="*/ 10 h 25"/>
                <a:gd name="T52" fmla="*/ 17 w 22"/>
                <a:gd name="T53" fmla="*/ 13 h 25"/>
                <a:gd name="T54" fmla="*/ 20 w 22"/>
                <a:gd name="T55" fmla="*/ 8 h 25"/>
                <a:gd name="T56" fmla="*/ 19 w 22"/>
                <a:gd name="T57" fmla="*/ 7 h 25"/>
                <a:gd name="T58" fmla="*/ 11 w 22"/>
                <a:gd name="T59" fmla="*/ 9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 h="25">
                  <a:moveTo>
                    <a:pt x="9" y="13"/>
                  </a:moveTo>
                  <a:cubicBezTo>
                    <a:pt x="11" y="12"/>
                    <a:pt x="11" y="11"/>
                    <a:pt x="10" y="9"/>
                  </a:cubicBezTo>
                  <a:cubicBezTo>
                    <a:pt x="4" y="11"/>
                    <a:pt x="4" y="11"/>
                    <a:pt x="4" y="11"/>
                  </a:cubicBezTo>
                  <a:cubicBezTo>
                    <a:pt x="2" y="12"/>
                    <a:pt x="3" y="14"/>
                    <a:pt x="3" y="14"/>
                  </a:cubicBezTo>
                  <a:cubicBezTo>
                    <a:pt x="2" y="14"/>
                    <a:pt x="2" y="14"/>
                    <a:pt x="2" y="14"/>
                  </a:cubicBezTo>
                  <a:cubicBezTo>
                    <a:pt x="2" y="12"/>
                    <a:pt x="1" y="11"/>
                    <a:pt x="1" y="10"/>
                  </a:cubicBezTo>
                  <a:cubicBezTo>
                    <a:pt x="1" y="9"/>
                    <a:pt x="0" y="8"/>
                    <a:pt x="0" y="6"/>
                  </a:cubicBezTo>
                  <a:cubicBezTo>
                    <a:pt x="0" y="6"/>
                    <a:pt x="0" y="6"/>
                    <a:pt x="0" y="6"/>
                  </a:cubicBezTo>
                  <a:cubicBezTo>
                    <a:pt x="1" y="5"/>
                    <a:pt x="0" y="8"/>
                    <a:pt x="3" y="7"/>
                  </a:cubicBezTo>
                  <a:cubicBezTo>
                    <a:pt x="17" y="3"/>
                    <a:pt x="17" y="3"/>
                    <a:pt x="17" y="3"/>
                  </a:cubicBezTo>
                  <a:cubicBezTo>
                    <a:pt x="19" y="3"/>
                    <a:pt x="17" y="1"/>
                    <a:pt x="18" y="0"/>
                  </a:cubicBezTo>
                  <a:cubicBezTo>
                    <a:pt x="18" y="0"/>
                    <a:pt x="18" y="0"/>
                    <a:pt x="18" y="1"/>
                  </a:cubicBezTo>
                  <a:cubicBezTo>
                    <a:pt x="19" y="2"/>
                    <a:pt x="19" y="4"/>
                    <a:pt x="19" y="5"/>
                  </a:cubicBezTo>
                  <a:cubicBezTo>
                    <a:pt x="20" y="6"/>
                    <a:pt x="20" y="7"/>
                    <a:pt x="21" y="9"/>
                  </a:cubicBezTo>
                  <a:cubicBezTo>
                    <a:pt x="22" y="13"/>
                    <a:pt x="21" y="17"/>
                    <a:pt x="18" y="17"/>
                  </a:cubicBezTo>
                  <a:cubicBezTo>
                    <a:pt x="16" y="18"/>
                    <a:pt x="13" y="17"/>
                    <a:pt x="11" y="12"/>
                  </a:cubicBezTo>
                  <a:cubicBezTo>
                    <a:pt x="11" y="12"/>
                    <a:pt x="11" y="12"/>
                    <a:pt x="11" y="12"/>
                  </a:cubicBezTo>
                  <a:cubicBezTo>
                    <a:pt x="12" y="15"/>
                    <a:pt x="12" y="16"/>
                    <a:pt x="10" y="18"/>
                  </a:cubicBezTo>
                  <a:cubicBezTo>
                    <a:pt x="7" y="21"/>
                    <a:pt x="7" y="21"/>
                    <a:pt x="7" y="21"/>
                  </a:cubicBezTo>
                  <a:cubicBezTo>
                    <a:pt x="5" y="23"/>
                    <a:pt x="6" y="24"/>
                    <a:pt x="6" y="25"/>
                  </a:cubicBezTo>
                  <a:cubicBezTo>
                    <a:pt x="6" y="25"/>
                    <a:pt x="5" y="25"/>
                    <a:pt x="5" y="25"/>
                  </a:cubicBezTo>
                  <a:cubicBezTo>
                    <a:pt x="5" y="24"/>
                    <a:pt x="5" y="23"/>
                    <a:pt x="4" y="22"/>
                  </a:cubicBezTo>
                  <a:cubicBezTo>
                    <a:pt x="4" y="19"/>
                    <a:pt x="4" y="19"/>
                    <a:pt x="4" y="19"/>
                  </a:cubicBezTo>
                  <a:lnTo>
                    <a:pt x="9" y="13"/>
                  </a:lnTo>
                  <a:close/>
                  <a:moveTo>
                    <a:pt x="11" y="9"/>
                  </a:moveTo>
                  <a:cubicBezTo>
                    <a:pt x="11" y="10"/>
                    <a:pt x="11" y="10"/>
                    <a:pt x="11" y="10"/>
                  </a:cubicBezTo>
                  <a:cubicBezTo>
                    <a:pt x="12" y="13"/>
                    <a:pt x="14" y="14"/>
                    <a:pt x="17" y="13"/>
                  </a:cubicBezTo>
                  <a:cubicBezTo>
                    <a:pt x="20" y="13"/>
                    <a:pt x="21" y="11"/>
                    <a:pt x="20" y="8"/>
                  </a:cubicBezTo>
                  <a:cubicBezTo>
                    <a:pt x="19" y="7"/>
                    <a:pt x="19" y="7"/>
                    <a:pt x="19" y="7"/>
                  </a:cubicBezTo>
                  <a:lnTo>
                    <a:pt x="11" y="9"/>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9" name="Freeform 47"/>
            <p:cNvSpPr/>
            <p:nvPr/>
          </p:nvSpPr>
          <p:spPr bwMode="auto">
            <a:xfrm>
              <a:off x="4946650" y="5367338"/>
              <a:ext cx="112713" cy="85725"/>
            </a:xfrm>
            <a:custGeom>
              <a:avLst/>
              <a:gdLst>
                <a:gd name="T0" fmla="*/ 8 w 20"/>
                <a:gd name="T1" fmla="*/ 0 h 15"/>
                <a:gd name="T2" fmla="*/ 9 w 20"/>
                <a:gd name="T3" fmla="*/ 0 h 15"/>
                <a:gd name="T4" fmla="*/ 8 w 20"/>
                <a:gd name="T5" fmla="*/ 1 h 15"/>
                <a:gd name="T6" fmla="*/ 1 w 20"/>
                <a:gd name="T7" fmla="*/ 7 h 15"/>
                <a:gd name="T8" fmla="*/ 5 w 20"/>
                <a:gd name="T9" fmla="*/ 12 h 15"/>
                <a:gd name="T10" fmla="*/ 14 w 20"/>
                <a:gd name="T11" fmla="*/ 0 h 15"/>
                <a:gd name="T12" fmla="*/ 20 w 20"/>
                <a:gd name="T13" fmla="*/ 6 h 15"/>
                <a:gd name="T14" fmla="*/ 19 w 20"/>
                <a:gd name="T15" fmla="*/ 11 h 15"/>
                <a:gd name="T16" fmla="*/ 20 w 20"/>
                <a:gd name="T17" fmla="*/ 12 h 15"/>
                <a:gd name="T18" fmla="*/ 19 w 20"/>
                <a:gd name="T19" fmla="*/ 12 h 15"/>
                <a:gd name="T20" fmla="*/ 14 w 20"/>
                <a:gd name="T21" fmla="*/ 13 h 15"/>
                <a:gd name="T22" fmla="*/ 13 w 20"/>
                <a:gd name="T23" fmla="*/ 13 h 15"/>
                <a:gd name="T24" fmla="*/ 13 w 20"/>
                <a:gd name="T25" fmla="*/ 13 h 15"/>
                <a:gd name="T26" fmla="*/ 15 w 20"/>
                <a:gd name="T27" fmla="*/ 12 h 15"/>
                <a:gd name="T28" fmla="*/ 19 w 20"/>
                <a:gd name="T29" fmla="*/ 6 h 15"/>
                <a:gd name="T30" fmla="*/ 16 w 20"/>
                <a:gd name="T31" fmla="*/ 3 h 15"/>
                <a:gd name="T32" fmla="*/ 7 w 20"/>
                <a:gd name="T33" fmla="*/ 14 h 15"/>
                <a:gd name="T34" fmla="*/ 0 w 20"/>
                <a:gd name="T35" fmla="*/ 7 h 15"/>
                <a:gd name="T36" fmla="*/ 1 w 20"/>
                <a:gd name="T37" fmla="*/ 2 h 15"/>
                <a:gd name="T38" fmla="*/ 0 w 20"/>
                <a:gd name="T39" fmla="*/ 1 h 15"/>
                <a:gd name="T40" fmla="*/ 0 w 20"/>
                <a:gd name="T41" fmla="*/ 1 h 15"/>
                <a:gd name="T42" fmla="*/ 8 w 20"/>
                <a:gd name="T43"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 h="15">
                  <a:moveTo>
                    <a:pt x="8" y="0"/>
                  </a:moveTo>
                  <a:cubicBezTo>
                    <a:pt x="9" y="0"/>
                    <a:pt x="9" y="0"/>
                    <a:pt x="9" y="0"/>
                  </a:cubicBezTo>
                  <a:cubicBezTo>
                    <a:pt x="9" y="1"/>
                    <a:pt x="8" y="1"/>
                    <a:pt x="8" y="1"/>
                  </a:cubicBezTo>
                  <a:cubicBezTo>
                    <a:pt x="4" y="2"/>
                    <a:pt x="1" y="3"/>
                    <a:pt x="1" y="7"/>
                  </a:cubicBezTo>
                  <a:cubicBezTo>
                    <a:pt x="1" y="10"/>
                    <a:pt x="2" y="12"/>
                    <a:pt x="5" y="12"/>
                  </a:cubicBezTo>
                  <a:cubicBezTo>
                    <a:pt x="10" y="11"/>
                    <a:pt x="7" y="0"/>
                    <a:pt x="14" y="0"/>
                  </a:cubicBezTo>
                  <a:cubicBezTo>
                    <a:pt x="17" y="0"/>
                    <a:pt x="20" y="3"/>
                    <a:pt x="20" y="6"/>
                  </a:cubicBezTo>
                  <a:cubicBezTo>
                    <a:pt x="20" y="9"/>
                    <a:pt x="19" y="10"/>
                    <a:pt x="19" y="11"/>
                  </a:cubicBezTo>
                  <a:cubicBezTo>
                    <a:pt x="19" y="12"/>
                    <a:pt x="20" y="11"/>
                    <a:pt x="20" y="12"/>
                  </a:cubicBezTo>
                  <a:cubicBezTo>
                    <a:pt x="20" y="12"/>
                    <a:pt x="20" y="12"/>
                    <a:pt x="19" y="12"/>
                  </a:cubicBezTo>
                  <a:cubicBezTo>
                    <a:pt x="14" y="13"/>
                    <a:pt x="14" y="13"/>
                    <a:pt x="14" y="13"/>
                  </a:cubicBezTo>
                  <a:cubicBezTo>
                    <a:pt x="14" y="13"/>
                    <a:pt x="13" y="13"/>
                    <a:pt x="13" y="13"/>
                  </a:cubicBezTo>
                  <a:cubicBezTo>
                    <a:pt x="13" y="13"/>
                    <a:pt x="13" y="13"/>
                    <a:pt x="13" y="13"/>
                  </a:cubicBezTo>
                  <a:cubicBezTo>
                    <a:pt x="13" y="13"/>
                    <a:pt x="14" y="13"/>
                    <a:pt x="15" y="12"/>
                  </a:cubicBezTo>
                  <a:cubicBezTo>
                    <a:pt x="18" y="11"/>
                    <a:pt x="20" y="9"/>
                    <a:pt x="19" y="6"/>
                  </a:cubicBezTo>
                  <a:cubicBezTo>
                    <a:pt x="19" y="4"/>
                    <a:pt x="18" y="2"/>
                    <a:pt x="16" y="3"/>
                  </a:cubicBezTo>
                  <a:cubicBezTo>
                    <a:pt x="12" y="3"/>
                    <a:pt x="15" y="14"/>
                    <a:pt x="7" y="14"/>
                  </a:cubicBezTo>
                  <a:cubicBezTo>
                    <a:pt x="3" y="15"/>
                    <a:pt x="0" y="12"/>
                    <a:pt x="0" y="7"/>
                  </a:cubicBezTo>
                  <a:cubicBezTo>
                    <a:pt x="0" y="5"/>
                    <a:pt x="1" y="3"/>
                    <a:pt x="1" y="2"/>
                  </a:cubicBezTo>
                  <a:cubicBezTo>
                    <a:pt x="1" y="1"/>
                    <a:pt x="0" y="1"/>
                    <a:pt x="0" y="1"/>
                  </a:cubicBezTo>
                  <a:cubicBezTo>
                    <a:pt x="0" y="1"/>
                    <a:pt x="0" y="1"/>
                    <a:pt x="0" y="1"/>
                  </a:cubicBezTo>
                  <a:lnTo>
                    <a:pt x="8" y="0"/>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0" name="Freeform 48"/>
            <p:cNvSpPr/>
            <p:nvPr/>
          </p:nvSpPr>
          <p:spPr bwMode="auto">
            <a:xfrm>
              <a:off x="4941888" y="5468938"/>
              <a:ext cx="111125" cy="63500"/>
            </a:xfrm>
            <a:custGeom>
              <a:avLst/>
              <a:gdLst>
                <a:gd name="T0" fmla="*/ 18 w 20"/>
                <a:gd name="T1" fmla="*/ 5 h 11"/>
                <a:gd name="T2" fmla="*/ 20 w 20"/>
                <a:gd name="T3" fmla="*/ 2 h 11"/>
                <a:gd name="T4" fmla="*/ 20 w 20"/>
                <a:gd name="T5" fmla="*/ 3 h 11"/>
                <a:gd name="T6" fmla="*/ 20 w 20"/>
                <a:gd name="T7" fmla="*/ 7 h 11"/>
                <a:gd name="T8" fmla="*/ 19 w 20"/>
                <a:gd name="T9" fmla="*/ 11 h 11"/>
                <a:gd name="T10" fmla="*/ 19 w 20"/>
                <a:gd name="T11" fmla="*/ 11 h 11"/>
                <a:gd name="T12" fmla="*/ 17 w 20"/>
                <a:gd name="T13" fmla="*/ 9 h 11"/>
                <a:gd name="T14" fmla="*/ 3 w 20"/>
                <a:gd name="T15" fmla="*/ 7 h 11"/>
                <a:gd name="T16" fmla="*/ 1 w 20"/>
                <a:gd name="T17" fmla="*/ 9 h 11"/>
                <a:gd name="T18" fmla="*/ 0 w 20"/>
                <a:gd name="T19" fmla="*/ 8 h 11"/>
                <a:gd name="T20" fmla="*/ 1 w 20"/>
                <a:gd name="T21" fmla="*/ 4 h 11"/>
                <a:gd name="T22" fmla="*/ 1 w 20"/>
                <a:gd name="T23" fmla="*/ 1 h 11"/>
                <a:gd name="T24" fmla="*/ 2 w 20"/>
                <a:gd name="T25" fmla="*/ 0 h 11"/>
                <a:gd name="T26" fmla="*/ 3 w 20"/>
                <a:gd name="T27" fmla="*/ 3 h 11"/>
                <a:gd name="T28" fmla="*/ 18 w 20"/>
                <a:gd name="T29" fmla="*/ 5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0" h="11">
                  <a:moveTo>
                    <a:pt x="18" y="5"/>
                  </a:moveTo>
                  <a:cubicBezTo>
                    <a:pt x="20" y="5"/>
                    <a:pt x="19" y="2"/>
                    <a:pt x="20" y="2"/>
                  </a:cubicBezTo>
                  <a:cubicBezTo>
                    <a:pt x="20" y="3"/>
                    <a:pt x="20" y="3"/>
                    <a:pt x="20" y="3"/>
                  </a:cubicBezTo>
                  <a:cubicBezTo>
                    <a:pt x="20" y="5"/>
                    <a:pt x="20" y="6"/>
                    <a:pt x="20" y="7"/>
                  </a:cubicBezTo>
                  <a:cubicBezTo>
                    <a:pt x="20" y="8"/>
                    <a:pt x="20" y="9"/>
                    <a:pt x="19" y="11"/>
                  </a:cubicBezTo>
                  <a:cubicBezTo>
                    <a:pt x="19" y="11"/>
                    <a:pt x="19" y="11"/>
                    <a:pt x="19" y="11"/>
                  </a:cubicBezTo>
                  <a:cubicBezTo>
                    <a:pt x="18" y="11"/>
                    <a:pt x="20" y="9"/>
                    <a:pt x="17" y="9"/>
                  </a:cubicBezTo>
                  <a:cubicBezTo>
                    <a:pt x="3" y="7"/>
                    <a:pt x="3" y="7"/>
                    <a:pt x="3" y="7"/>
                  </a:cubicBezTo>
                  <a:cubicBezTo>
                    <a:pt x="1" y="6"/>
                    <a:pt x="1" y="9"/>
                    <a:pt x="1" y="9"/>
                  </a:cubicBezTo>
                  <a:cubicBezTo>
                    <a:pt x="0" y="9"/>
                    <a:pt x="0" y="9"/>
                    <a:pt x="0" y="8"/>
                  </a:cubicBezTo>
                  <a:cubicBezTo>
                    <a:pt x="1" y="7"/>
                    <a:pt x="1" y="6"/>
                    <a:pt x="1" y="4"/>
                  </a:cubicBezTo>
                  <a:cubicBezTo>
                    <a:pt x="1" y="3"/>
                    <a:pt x="1" y="2"/>
                    <a:pt x="1" y="1"/>
                  </a:cubicBezTo>
                  <a:cubicBezTo>
                    <a:pt x="1" y="0"/>
                    <a:pt x="2" y="0"/>
                    <a:pt x="2" y="0"/>
                  </a:cubicBezTo>
                  <a:cubicBezTo>
                    <a:pt x="3" y="0"/>
                    <a:pt x="1" y="2"/>
                    <a:pt x="3" y="3"/>
                  </a:cubicBezTo>
                  <a:lnTo>
                    <a:pt x="18" y="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1" name="Freeform 49"/>
            <p:cNvSpPr/>
            <p:nvPr/>
          </p:nvSpPr>
          <p:spPr bwMode="auto">
            <a:xfrm>
              <a:off x="4919663" y="5554663"/>
              <a:ext cx="122238" cy="101600"/>
            </a:xfrm>
            <a:custGeom>
              <a:avLst/>
              <a:gdLst>
                <a:gd name="T0" fmla="*/ 19 w 22"/>
                <a:gd name="T1" fmla="*/ 8 h 18"/>
                <a:gd name="T2" fmla="*/ 16 w 22"/>
                <a:gd name="T3" fmla="*/ 0 h 18"/>
                <a:gd name="T4" fmla="*/ 16 w 22"/>
                <a:gd name="T5" fmla="*/ 0 h 18"/>
                <a:gd name="T6" fmla="*/ 17 w 22"/>
                <a:gd name="T7" fmla="*/ 1 h 18"/>
                <a:gd name="T8" fmla="*/ 22 w 22"/>
                <a:gd name="T9" fmla="*/ 3 h 18"/>
                <a:gd name="T10" fmla="*/ 22 w 22"/>
                <a:gd name="T11" fmla="*/ 4 h 18"/>
                <a:gd name="T12" fmla="*/ 22 w 22"/>
                <a:gd name="T13" fmla="*/ 4 h 18"/>
                <a:gd name="T14" fmla="*/ 21 w 22"/>
                <a:gd name="T15" fmla="*/ 5 h 18"/>
                <a:gd name="T16" fmla="*/ 17 w 22"/>
                <a:gd name="T17" fmla="*/ 17 h 18"/>
                <a:gd name="T18" fmla="*/ 17 w 22"/>
                <a:gd name="T19" fmla="*/ 17 h 18"/>
                <a:gd name="T20" fmla="*/ 18 w 22"/>
                <a:gd name="T21" fmla="*/ 18 h 18"/>
                <a:gd name="T22" fmla="*/ 17 w 22"/>
                <a:gd name="T23" fmla="*/ 18 h 18"/>
                <a:gd name="T24" fmla="*/ 12 w 22"/>
                <a:gd name="T25" fmla="*/ 17 h 18"/>
                <a:gd name="T26" fmla="*/ 11 w 22"/>
                <a:gd name="T27" fmla="*/ 17 h 18"/>
                <a:gd name="T28" fmla="*/ 11 w 22"/>
                <a:gd name="T29" fmla="*/ 17 h 18"/>
                <a:gd name="T30" fmla="*/ 18 w 22"/>
                <a:gd name="T31" fmla="*/ 12 h 18"/>
                <a:gd name="T32" fmla="*/ 3 w 22"/>
                <a:gd name="T33" fmla="*/ 7 h 18"/>
                <a:gd name="T34" fmla="*/ 1 w 22"/>
                <a:gd name="T35" fmla="*/ 9 h 18"/>
                <a:gd name="T36" fmla="*/ 0 w 22"/>
                <a:gd name="T37" fmla="*/ 9 h 18"/>
                <a:gd name="T38" fmla="*/ 0 w 22"/>
                <a:gd name="T39" fmla="*/ 9 h 18"/>
                <a:gd name="T40" fmla="*/ 1 w 22"/>
                <a:gd name="T41" fmla="*/ 4 h 18"/>
                <a:gd name="T42" fmla="*/ 3 w 22"/>
                <a:gd name="T43" fmla="*/ 0 h 18"/>
                <a:gd name="T44" fmla="*/ 3 w 22"/>
                <a:gd name="T45" fmla="*/ 0 h 18"/>
                <a:gd name="T46" fmla="*/ 3 w 22"/>
                <a:gd name="T47" fmla="*/ 1 h 18"/>
                <a:gd name="T48" fmla="*/ 5 w 22"/>
                <a:gd name="T49" fmla="*/ 3 h 18"/>
                <a:gd name="T50" fmla="*/ 19 w 22"/>
                <a:gd name="T51" fmla="*/ 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2" h="18">
                  <a:moveTo>
                    <a:pt x="19" y="8"/>
                  </a:moveTo>
                  <a:cubicBezTo>
                    <a:pt x="20" y="3"/>
                    <a:pt x="16" y="1"/>
                    <a:pt x="16" y="0"/>
                  </a:cubicBezTo>
                  <a:cubicBezTo>
                    <a:pt x="16" y="0"/>
                    <a:pt x="16" y="0"/>
                    <a:pt x="16" y="0"/>
                  </a:cubicBezTo>
                  <a:cubicBezTo>
                    <a:pt x="16" y="0"/>
                    <a:pt x="17" y="0"/>
                    <a:pt x="17" y="1"/>
                  </a:cubicBezTo>
                  <a:cubicBezTo>
                    <a:pt x="22" y="3"/>
                    <a:pt x="22" y="3"/>
                    <a:pt x="22" y="3"/>
                  </a:cubicBezTo>
                  <a:cubicBezTo>
                    <a:pt x="22" y="3"/>
                    <a:pt x="22" y="4"/>
                    <a:pt x="22" y="4"/>
                  </a:cubicBezTo>
                  <a:cubicBezTo>
                    <a:pt x="22" y="4"/>
                    <a:pt x="22" y="4"/>
                    <a:pt x="22" y="4"/>
                  </a:cubicBezTo>
                  <a:cubicBezTo>
                    <a:pt x="22" y="4"/>
                    <a:pt x="22" y="4"/>
                    <a:pt x="21" y="5"/>
                  </a:cubicBezTo>
                  <a:cubicBezTo>
                    <a:pt x="17" y="17"/>
                    <a:pt x="17" y="17"/>
                    <a:pt x="17" y="17"/>
                  </a:cubicBezTo>
                  <a:cubicBezTo>
                    <a:pt x="17" y="17"/>
                    <a:pt x="17" y="17"/>
                    <a:pt x="17" y="17"/>
                  </a:cubicBezTo>
                  <a:cubicBezTo>
                    <a:pt x="18" y="17"/>
                    <a:pt x="18" y="18"/>
                    <a:pt x="18" y="18"/>
                  </a:cubicBezTo>
                  <a:cubicBezTo>
                    <a:pt x="17" y="18"/>
                    <a:pt x="17" y="18"/>
                    <a:pt x="17" y="18"/>
                  </a:cubicBezTo>
                  <a:cubicBezTo>
                    <a:pt x="12" y="17"/>
                    <a:pt x="12" y="17"/>
                    <a:pt x="12" y="17"/>
                  </a:cubicBezTo>
                  <a:cubicBezTo>
                    <a:pt x="11" y="17"/>
                    <a:pt x="11" y="17"/>
                    <a:pt x="11" y="17"/>
                  </a:cubicBezTo>
                  <a:cubicBezTo>
                    <a:pt x="11" y="17"/>
                    <a:pt x="11" y="17"/>
                    <a:pt x="11" y="17"/>
                  </a:cubicBezTo>
                  <a:cubicBezTo>
                    <a:pt x="11" y="16"/>
                    <a:pt x="15" y="17"/>
                    <a:pt x="18" y="12"/>
                  </a:cubicBezTo>
                  <a:cubicBezTo>
                    <a:pt x="3" y="7"/>
                    <a:pt x="3" y="7"/>
                    <a:pt x="3" y="7"/>
                  </a:cubicBezTo>
                  <a:cubicBezTo>
                    <a:pt x="2" y="7"/>
                    <a:pt x="1" y="7"/>
                    <a:pt x="1" y="9"/>
                  </a:cubicBezTo>
                  <a:cubicBezTo>
                    <a:pt x="1" y="9"/>
                    <a:pt x="0" y="9"/>
                    <a:pt x="0" y="9"/>
                  </a:cubicBezTo>
                  <a:cubicBezTo>
                    <a:pt x="0" y="9"/>
                    <a:pt x="0" y="9"/>
                    <a:pt x="0" y="9"/>
                  </a:cubicBezTo>
                  <a:cubicBezTo>
                    <a:pt x="0" y="7"/>
                    <a:pt x="1" y="6"/>
                    <a:pt x="1" y="4"/>
                  </a:cubicBezTo>
                  <a:cubicBezTo>
                    <a:pt x="2" y="3"/>
                    <a:pt x="2" y="2"/>
                    <a:pt x="3" y="0"/>
                  </a:cubicBezTo>
                  <a:cubicBezTo>
                    <a:pt x="3" y="0"/>
                    <a:pt x="3" y="0"/>
                    <a:pt x="3" y="0"/>
                  </a:cubicBezTo>
                  <a:cubicBezTo>
                    <a:pt x="3" y="0"/>
                    <a:pt x="3" y="0"/>
                    <a:pt x="3" y="1"/>
                  </a:cubicBezTo>
                  <a:cubicBezTo>
                    <a:pt x="3" y="2"/>
                    <a:pt x="3" y="3"/>
                    <a:pt x="5" y="3"/>
                  </a:cubicBezTo>
                  <a:lnTo>
                    <a:pt x="19" y="8"/>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2" name="Freeform 50"/>
            <p:cNvSpPr/>
            <p:nvPr/>
          </p:nvSpPr>
          <p:spPr bwMode="auto">
            <a:xfrm>
              <a:off x="4868863" y="5656263"/>
              <a:ext cx="128588" cy="125413"/>
            </a:xfrm>
            <a:custGeom>
              <a:avLst/>
              <a:gdLst>
                <a:gd name="T0" fmla="*/ 10 w 23"/>
                <a:gd name="T1" fmla="*/ 10 h 22"/>
                <a:gd name="T2" fmla="*/ 12 w 23"/>
                <a:gd name="T3" fmla="*/ 14 h 22"/>
                <a:gd name="T4" fmla="*/ 14 w 23"/>
                <a:gd name="T5" fmla="*/ 17 h 22"/>
                <a:gd name="T6" fmla="*/ 17 w 23"/>
                <a:gd name="T7" fmla="*/ 16 h 22"/>
                <a:gd name="T8" fmla="*/ 17 w 23"/>
                <a:gd name="T9" fmla="*/ 17 h 22"/>
                <a:gd name="T10" fmla="*/ 15 w 23"/>
                <a:gd name="T11" fmla="*/ 19 h 22"/>
                <a:gd name="T12" fmla="*/ 14 w 23"/>
                <a:gd name="T13" fmla="*/ 21 h 22"/>
                <a:gd name="T14" fmla="*/ 13 w 23"/>
                <a:gd name="T15" fmla="*/ 22 h 22"/>
                <a:gd name="T16" fmla="*/ 12 w 23"/>
                <a:gd name="T17" fmla="*/ 16 h 22"/>
                <a:gd name="T18" fmla="*/ 9 w 23"/>
                <a:gd name="T19" fmla="*/ 10 h 22"/>
                <a:gd name="T20" fmla="*/ 3 w 23"/>
                <a:gd name="T21" fmla="*/ 7 h 22"/>
                <a:gd name="T22" fmla="*/ 0 w 23"/>
                <a:gd name="T23" fmla="*/ 8 h 22"/>
                <a:gd name="T24" fmla="*/ 0 w 23"/>
                <a:gd name="T25" fmla="*/ 7 h 22"/>
                <a:gd name="T26" fmla="*/ 2 w 23"/>
                <a:gd name="T27" fmla="*/ 4 h 22"/>
                <a:gd name="T28" fmla="*/ 4 w 23"/>
                <a:gd name="T29" fmla="*/ 0 h 22"/>
                <a:gd name="T30" fmla="*/ 5 w 23"/>
                <a:gd name="T31" fmla="*/ 0 h 22"/>
                <a:gd name="T32" fmla="*/ 5 w 23"/>
                <a:gd name="T33" fmla="*/ 3 h 22"/>
                <a:gd name="T34" fmla="*/ 11 w 23"/>
                <a:gd name="T35" fmla="*/ 6 h 22"/>
                <a:gd name="T36" fmla="*/ 20 w 23"/>
                <a:gd name="T37" fmla="*/ 7 h 22"/>
                <a:gd name="T38" fmla="*/ 23 w 23"/>
                <a:gd name="T39" fmla="*/ 6 h 22"/>
                <a:gd name="T40" fmla="*/ 23 w 23"/>
                <a:gd name="T41" fmla="*/ 6 h 22"/>
                <a:gd name="T42" fmla="*/ 21 w 23"/>
                <a:gd name="T43" fmla="*/ 10 h 22"/>
                <a:gd name="T44" fmla="*/ 19 w 23"/>
                <a:gd name="T45" fmla="*/ 13 h 22"/>
                <a:gd name="T46" fmla="*/ 18 w 23"/>
                <a:gd name="T47" fmla="*/ 13 h 22"/>
                <a:gd name="T48" fmla="*/ 18 w 23"/>
                <a:gd name="T49" fmla="*/ 11 h 22"/>
                <a:gd name="T50" fmla="*/ 17 w 23"/>
                <a:gd name="T51" fmla="*/ 11 h 22"/>
                <a:gd name="T52" fmla="*/ 10 w 23"/>
                <a:gd name="T53" fmla="*/ 1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3" h="22">
                  <a:moveTo>
                    <a:pt x="10" y="10"/>
                  </a:moveTo>
                  <a:cubicBezTo>
                    <a:pt x="12" y="14"/>
                    <a:pt x="12" y="14"/>
                    <a:pt x="12" y="14"/>
                  </a:cubicBezTo>
                  <a:cubicBezTo>
                    <a:pt x="12" y="15"/>
                    <a:pt x="13" y="16"/>
                    <a:pt x="14" y="17"/>
                  </a:cubicBezTo>
                  <a:cubicBezTo>
                    <a:pt x="16" y="18"/>
                    <a:pt x="16" y="16"/>
                    <a:pt x="17" y="16"/>
                  </a:cubicBezTo>
                  <a:cubicBezTo>
                    <a:pt x="17" y="16"/>
                    <a:pt x="17" y="17"/>
                    <a:pt x="17" y="17"/>
                  </a:cubicBezTo>
                  <a:cubicBezTo>
                    <a:pt x="16" y="18"/>
                    <a:pt x="16" y="18"/>
                    <a:pt x="15" y="19"/>
                  </a:cubicBezTo>
                  <a:cubicBezTo>
                    <a:pt x="15" y="20"/>
                    <a:pt x="14" y="21"/>
                    <a:pt x="14" y="21"/>
                  </a:cubicBezTo>
                  <a:cubicBezTo>
                    <a:pt x="14" y="22"/>
                    <a:pt x="14" y="22"/>
                    <a:pt x="13" y="22"/>
                  </a:cubicBezTo>
                  <a:cubicBezTo>
                    <a:pt x="13" y="21"/>
                    <a:pt x="14" y="21"/>
                    <a:pt x="12" y="16"/>
                  </a:cubicBezTo>
                  <a:cubicBezTo>
                    <a:pt x="9" y="10"/>
                    <a:pt x="9" y="10"/>
                    <a:pt x="9" y="10"/>
                  </a:cubicBezTo>
                  <a:cubicBezTo>
                    <a:pt x="3" y="7"/>
                    <a:pt x="3" y="7"/>
                    <a:pt x="3" y="7"/>
                  </a:cubicBezTo>
                  <a:cubicBezTo>
                    <a:pt x="1" y="5"/>
                    <a:pt x="1" y="8"/>
                    <a:pt x="0" y="8"/>
                  </a:cubicBezTo>
                  <a:cubicBezTo>
                    <a:pt x="0" y="7"/>
                    <a:pt x="0" y="7"/>
                    <a:pt x="0" y="7"/>
                  </a:cubicBezTo>
                  <a:cubicBezTo>
                    <a:pt x="1" y="6"/>
                    <a:pt x="2" y="5"/>
                    <a:pt x="2" y="4"/>
                  </a:cubicBezTo>
                  <a:cubicBezTo>
                    <a:pt x="3" y="3"/>
                    <a:pt x="4" y="1"/>
                    <a:pt x="4" y="0"/>
                  </a:cubicBezTo>
                  <a:cubicBezTo>
                    <a:pt x="5" y="0"/>
                    <a:pt x="5" y="0"/>
                    <a:pt x="5" y="0"/>
                  </a:cubicBezTo>
                  <a:cubicBezTo>
                    <a:pt x="6" y="0"/>
                    <a:pt x="3" y="2"/>
                    <a:pt x="5" y="3"/>
                  </a:cubicBezTo>
                  <a:cubicBezTo>
                    <a:pt x="11" y="6"/>
                    <a:pt x="11" y="6"/>
                    <a:pt x="11" y="6"/>
                  </a:cubicBezTo>
                  <a:cubicBezTo>
                    <a:pt x="20" y="7"/>
                    <a:pt x="20" y="7"/>
                    <a:pt x="20" y="7"/>
                  </a:cubicBezTo>
                  <a:cubicBezTo>
                    <a:pt x="23" y="7"/>
                    <a:pt x="23" y="5"/>
                    <a:pt x="23" y="6"/>
                  </a:cubicBezTo>
                  <a:cubicBezTo>
                    <a:pt x="23" y="6"/>
                    <a:pt x="23" y="6"/>
                    <a:pt x="23" y="6"/>
                  </a:cubicBezTo>
                  <a:cubicBezTo>
                    <a:pt x="23" y="7"/>
                    <a:pt x="22" y="8"/>
                    <a:pt x="21" y="10"/>
                  </a:cubicBezTo>
                  <a:cubicBezTo>
                    <a:pt x="20" y="11"/>
                    <a:pt x="20" y="12"/>
                    <a:pt x="19" y="13"/>
                  </a:cubicBezTo>
                  <a:cubicBezTo>
                    <a:pt x="19" y="13"/>
                    <a:pt x="19" y="13"/>
                    <a:pt x="18" y="13"/>
                  </a:cubicBezTo>
                  <a:cubicBezTo>
                    <a:pt x="18" y="13"/>
                    <a:pt x="20" y="12"/>
                    <a:pt x="18" y="11"/>
                  </a:cubicBezTo>
                  <a:cubicBezTo>
                    <a:pt x="18" y="11"/>
                    <a:pt x="17" y="11"/>
                    <a:pt x="17" y="11"/>
                  </a:cubicBezTo>
                  <a:lnTo>
                    <a:pt x="10" y="10"/>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3" name="Freeform 51"/>
            <p:cNvSpPr/>
            <p:nvPr/>
          </p:nvSpPr>
          <p:spPr bwMode="auto">
            <a:xfrm>
              <a:off x="4005263" y="5662613"/>
              <a:ext cx="128588" cy="112713"/>
            </a:xfrm>
            <a:custGeom>
              <a:avLst/>
              <a:gdLst>
                <a:gd name="T0" fmla="*/ 16 w 23"/>
                <a:gd name="T1" fmla="*/ 15 h 20"/>
                <a:gd name="T2" fmla="*/ 15 w 23"/>
                <a:gd name="T3" fmla="*/ 15 h 20"/>
                <a:gd name="T4" fmla="*/ 16 w 23"/>
                <a:gd name="T5" fmla="*/ 14 h 20"/>
                <a:gd name="T6" fmla="*/ 19 w 23"/>
                <a:gd name="T7" fmla="*/ 5 h 20"/>
                <a:gd name="T8" fmla="*/ 13 w 23"/>
                <a:gd name="T9" fmla="*/ 3 h 20"/>
                <a:gd name="T10" fmla="*/ 11 w 23"/>
                <a:gd name="T11" fmla="*/ 18 h 20"/>
                <a:gd name="T12" fmla="*/ 3 w 23"/>
                <a:gd name="T13" fmla="*/ 16 h 20"/>
                <a:gd name="T14" fmla="*/ 1 w 23"/>
                <a:gd name="T15" fmla="*/ 11 h 20"/>
                <a:gd name="T16" fmla="*/ 0 w 23"/>
                <a:gd name="T17" fmla="*/ 11 h 20"/>
                <a:gd name="T18" fmla="*/ 0 w 23"/>
                <a:gd name="T19" fmla="*/ 10 h 20"/>
                <a:gd name="T20" fmla="*/ 4 w 23"/>
                <a:gd name="T21" fmla="*/ 7 h 20"/>
                <a:gd name="T22" fmla="*/ 5 w 23"/>
                <a:gd name="T23" fmla="*/ 6 h 20"/>
                <a:gd name="T24" fmla="*/ 5 w 23"/>
                <a:gd name="T25" fmla="*/ 7 h 20"/>
                <a:gd name="T26" fmla="*/ 4 w 23"/>
                <a:gd name="T27" fmla="*/ 8 h 20"/>
                <a:gd name="T28" fmla="*/ 3 w 23"/>
                <a:gd name="T29" fmla="*/ 16 h 20"/>
                <a:gd name="T30" fmla="*/ 8 w 23"/>
                <a:gd name="T31" fmla="*/ 17 h 20"/>
                <a:gd name="T32" fmla="*/ 10 w 23"/>
                <a:gd name="T33" fmla="*/ 2 h 20"/>
                <a:gd name="T34" fmla="*/ 19 w 23"/>
                <a:gd name="T35" fmla="*/ 5 h 20"/>
                <a:gd name="T36" fmla="*/ 21 w 23"/>
                <a:gd name="T37" fmla="*/ 10 h 20"/>
                <a:gd name="T38" fmla="*/ 23 w 23"/>
                <a:gd name="T39" fmla="*/ 10 h 20"/>
                <a:gd name="T40" fmla="*/ 22 w 23"/>
                <a:gd name="T41" fmla="*/ 11 h 20"/>
                <a:gd name="T42" fmla="*/ 16 w 23"/>
                <a:gd name="T43" fmla="*/ 15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 h="20">
                  <a:moveTo>
                    <a:pt x="16" y="15"/>
                  </a:moveTo>
                  <a:cubicBezTo>
                    <a:pt x="16" y="15"/>
                    <a:pt x="16" y="15"/>
                    <a:pt x="15" y="15"/>
                  </a:cubicBezTo>
                  <a:cubicBezTo>
                    <a:pt x="15" y="15"/>
                    <a:pt x="16" y="15"/>
                    <a:pt x="16" y="14"/>
                  </a:cubicBezTo>
                  <a:cubicBezTo>
                    <a:pt x="19" y="12"/>
                    <a:pt x="21" y="8"/>
                    <a:pt x="19" y="5"/>
                  </a:cubicBezTo>
                  <a:cubicBezTo>
                    <a:pt x="17" y="3"/>
                    <a:pt x="15" y="2"/>
                    <a:pt x="13" y="3"/>
                  </a:cubicBezTo>
                  <a:cubicBezTo>
                    <a:pt x="8" y="6"/>
                    <a:pt x="17" y="14"/>
                    <a:pt x="11" y="18"/>
                  </a:cubicBezTo>
                  <a:cubicBezTo>
                    <a:pt x="8" y="20"/>
                    <a:pt x="5" y="19"/>
                    <a:pt x="3" y="16"/>
                  </a:cubicBezTo>
                  <a:cubicBezTo>
                    <a:pt x="1" y="14"/>
                    <a:pt x="1" y="12"/>
                    <a:pt x="1" y="11"/>
                  </a:cubicBezTo>
                  <a:cubicBezTo>
                    <a:pt x="0" y="11"/>
                    <a:pt x="0" y="11"/>
                    <a:pt x="0" y="11"/>
                  </a:cubicBezTo>
                  <a:cubicBezTo>
                    <a:pt x="0" y="11"/>
                    <a:pt x="0" y="11"/>
                    <a:pt x="0" y="10"/>
                  </a:cubicBezTo>
                  <a:cubicBezTo>
                    <a:pt x="4" y="7"/>
                    <a:pt x="4" y="7"/>
                    <a:pt x="4" y="7"/>
                  </a:cubicBezTo>
                  <a:cubicBezTo>
                    <a:pt x="5" y="7"/>
                    <a:pt x="5" y="7"/>
                    <a:pt x="5" y="6"/>
                  </a:cubicBezTo>
                  <a:cubicBezTo>
                    <a:pt x="5" y="6"/>
                    <a:pt x="5" y="6"/>
                    <a:pt x="5" y="7"/>
                  </a:cubicBezTo>
                  <a:cubicBezTo>
                    <a:pt x="5" y="7"/>
                    <a:pt x="5" y="7"/>
                    <a:pt x="4" y="8"/>
                  </a:cubicBezTo>
                  <a:cubicBezTo>
                    <a:pt x="2" y="11"/>
                    <a:pt x="2" y="13"/>
                    <a:pt x="3" y="16"/>
                  </a:cubicBezTo>
                  <a:cubicBezTo>
                    <a:pt x="4" y="17"/>
                    <a:pt x="6" y="18"/>
                    <a:pt x="8" y="17"/>
                  </a:cubicBezTo>
                  <a:cubicBezTo>
                    <a:pt x="12" y="14"/>
                    <a:pt x="3" y="6"/>
                    <a:pt x="10" y="2"/>
                  </a:cubicBezTo>
                  <a:cubicBezTo>
                    <a:pt x="13" y="0"/>
                    <a:pt x="17" y="1"/>
                    <a:pt x="19" y="5"/>
                  </a:cubicBezTo>
                  <a:cubicBezTo>
                    <a:pt x="21" y="7"/>
                    <a:pt x="20" y="9"/>
                    <a:pt x="21" y="10"/>
                  </a:cubicBezTo>
                  <a:cubicBezTo>
                    <a:pt x="22" y="11"/>
                    <a:pt x="22" y="10"/>
                    <a:pt x="23" y="10"/>
                  </a:cubicBezTo>
                  <a:cubicBezTo>
                    <a:pt x="23" y="10"/>
                    <a:pt x="23" y="11"/>
                    <a:pt x="22" y="11"/>
                  </a:cubicBezTo>
                  <a:lnTo>
                    <a:pt x="16" y="1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4" name="Freeform 52"/>
            <p:cNvSpPr/>
            <p:nvPr/>
          </p:nvSpPr>
          <p:spPr bwMode="auto">
            <a:xfrm>
              <a:off x="3938588" y="5526088"/>
              <a:ext cx="139700" cy="141288"/>
            </a:xfrm>
            <a:custGeom>
              <a:avLst/>
              <a:gdLst>
                <a:gd name="T0" fmla="*/ 8 w 25"/>
                <a:gd name="T1" fmla="*/ 22 h 25"/>
                <a:gd name="T2" fmla="*/ 7 w 25"/>
                <a:gd name="T3" fmla="*/ 25 h 25"/>
                <a:gd name="T4" fmla="*/ 6 w 25"/>
                <a:gd name="T5" fmla="*/ 25 h 25"/>
                <a:gd name="T6" fmla="*/ 5 w 25"/>
                <a:gd name="T7" fmla="*/ 21 h 25"/>
                <a:gd name="T8" fmla="*/ 4 w 25"/>
                <a:gd name="T9" fmla="*/ 17 h 25"/>
                <a:gd name="T10" fmla="*/ 4 w 25"/>
                <a:gd name="T11" fmla="*/ 17 h 25"/>
                <a:gd name="T12" fmla="*/ 7 w 25"/>
                <a:gd name="T13" fmla="*/ 18 h 25"/>
                <a:gd name="T14" fmla="*/ 13 w 25"/>
                <a:gd name="T15" fmla="*/ 16 h 25"/>
                <a:gd name="T16" fmla="*/ 10 w 25"/>
                <a:gd name="T17" fmla="*/ 9 h 25"/>
                <a:gd name="T18" fmla="*/ 4 w 25"/>
                <a:gd name="T19" fmla="*/ 11 h 25"/>
                <a:gd name="T20" fmla="*/ 3 w 25"/>
                <a:gd name="T21" fmla="*/ 14 h 25"/>
                <a:gd name="T22" fmla="*/ 3 w 25"/>
                <a:gd name="T23" fmla="*/ 14 h 25"/>
                <a:gd name="T24" fmla="*/ 1 w 25"/>
                <a:gd name="T25" fmla="*/ 10 h 25"/>
                <a:gd name="T26" fmla="*/ 0 w 25"/>
                <a:gd name="T27" fmla="*/ 7 h 25"/>
                <a:gd name="T28" fmla="*/ 0 w 25"/>
                <a:gd name="T29" fmla="*/ 6 h 25"/>
                <a:gd name="T30" fmla="*/ 3 w 25"/>
                <a:gd name="T31" fmla="*/ 8 h 25"/>
                <a:gd name="T32" fmla="*/ 17 w 25"/>
                <a:gd name="T33" fmla="*/ 3 h 25"/>
                <a:gd name="T34" fmla="*/ 18 w 25"/>
                <a:gd name="T35" fmla="*/ 0 h 25"/>
                <a:gd name="T36" fmla="*/ 18 w 25"/>
                <a:gd name="T37" fmla="*/ 0 h 25"/>
                <a:gd name="T38" fmla="*/ 19 w 25"/>
                <a:gd name="T39" fmla="*/ 4 h 25"/>
                <a:gd name="T40" fmla="*/ 21 w 25"/>
                <a:gd name="T41" fmla="*/ 8 h 25"/>
                <a:gd name="T42" fmla="*/ 21 w 25"/>
                <a:gd name="T43" fmla="*/ 9 h 25"/>
                <a:gd name="T44" fmla="*/ 18 w 25"/>
                <a:gd name="T45" fmla="*/ 7 h 25"/>
                <a:gd name="T46" fmla="*/ 11 w 25"/>
                <a:gd name="T47" fmla="*/ 9 h 25"/>
                <a:gd name="T48" fmla="*/ 13 w 25"/>
                <a:gd name="T49" fmla="*/ 16 h 25"/>
                <a:gd name="T50" fmla="*/ 20 w 25"/>
                <a:gd name="T51" fmla="*/ 14 h 25"/>
                <a:gd name="T52" fmla="*/ 21 w 25"/>
                <a:gd name="T53" fmla="*/ 11 h 25"/>
                <a:gd name="T54" fmla="*/ 22 w 25"/>
                <a:gd name="T55" fmla="*/ 11 h 25"/>
                <a:gd name="T56" fmla="*/ 23 w 25"/>
                <a:gd name="T57" fmla="*/ 15 h 25"/>
                <a:gd name="T58" fmla="*/ 24 w 25"/>
                <a:gd name="T59" fmla="*/ 19 h 25"/>
                <a:gd name="T60" fmla="*/ 24 w 25"/>
                <a:gd name="T61" fmla="*/ 19 h 25"/>
                <a:gd name="T62" fmla="*/ 22 w 25"/>
                <a:gd name="T63" fmla="*/ 18 h 25"/>
                <a:gd name="T64" fmla="*/ 8 w 25"/>
                <a:gd name="T65" fmla="*/ 22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5" h="25">
                  <a:moveTo>
                    <a:pt x="8" y="22"/>
                  </a:moveTo>
                  <a:cubicBezTo>
                    <a:pt x="6" y="23"/>
                    <a:pt x="8" y="25"/>
                    <a:pt x="7" y="25"/>
                  </a:cubicBezTo>
                  <a:cubicBezTo>
                    <a:pt x="7" y="25"/>
                    <a:pt x="6" y="25"/>
                    <a:pt x="6" y="25"/>
                  </a:cubicBezTo>
                  <a:cubicBezTo>
                    <a:pt x="6" y="24"/>
                    <a:pt x="5" y="22"/>
                    <a:pt x="5" y="21"/>
                  </a:cubicBezTo>
                  <a:cubicBezTo>
                    <a:pt x="5" y="20"/>
                    <a:pt x="4" y="19"/>
                    <a:pt x="4" y="17"/>
                  </a:cubicBezTo>
                  <a:cubicBezTo>
                    <a:pt x="4" y="17"/>
                    <a:pt x="4" y="17"/>
                    <a:pt x="4" y="17"/>
                  </a:cubicBezTo>
                  <a:cubicBezTo>
                    <a:pt x="5" y="17"/>
                    <a:pt x="4" y="19"/>
                    <a:pt x="7" y="18"/>
                  </a:cubicBezTo>
                  <a:cubicBezTo>
                    <a:pt x="13" y="16"/>
                    <a:pt x="13" y="16"/>
                    <a:pt x="13" y="16"/>
                  </a:cubicBezTo>
                  <a:cubicBezTo>
                    <a:pt x="10" y="9"/>
                    <a:pt x="10" y="9"/>
                    <a:pt x="10" y="9"/>
                  </a:cubicBezTo>
                  <a:cubicBezTo>
                    <a:pt x="4" y="11"/>
                    <a:pt x="4" y="11"/>
                    <a:pt x="4" y="11"/>
                  </a:cubicBezTo>
                  <a:cubicBezTo>
                    <a:pt x="2" y="12"/>
                    <a:pt x="4" y="14"/>
                    <a:pt x="3" y="14"/>
                  </a:cubicBezTo>
                  <a:cubicBezTo>
                    <a:pt x="3" y="14"/>
                    <a:pt x="3" y="14"/>
                    <a:pt x="3" y="14"/>
                  </a:cubicBezTo>
                  <a:cubicBezTo>
                    <a:pt x="2" y="13"/>
                    <a:pt x="2" y="11"/>
                    <a:pt x="1" y="10"/>
                  </a:cubicBezTo>
                  <a:cubicBezTo>
                    <a:pt x="1" y="9"/>
                    <a:pt x="1" y="8"/>
                    <a:pt x="0" y="7"/>
                  </a:cubicBezTo>
                  <a:cubicBezTo>
                    <a:pt x="0" y="6"/>
                    <a:pt x="0" y="6"/>
                    <a:pt x="0" y="6"/>
                  </a:cubicBezTo>
                  <a:cubicBezTo>
                    <a:pt x="1" y="6"/>
                    <a:pt x="1" y="8"/>
                    <a:pt x="3" y="8"/>
                  </a:cubicBezTo>
                  <a:cubicBezTo>
                    <a:pt x="17" y="3"/>
                    <a:pt x="17" y="3"/>
                    <a:pt x="17" y="3"/>
                  </a:cubicBezTo>
                  <a:cubicBezTo>
                    <a:pt x="19" y="2"/>
                    <a:pt x="17" y="0"/>
                    <a:pt x="18" y="0"/>
                  </a:cubicBezTo>
                  <a:cubicBezTo>
                    <a:pt x="18" y="0"/>
                    <a:pt x="18" y="0"/>
                    <a:pt x="18" y="0"/>
                  </a:cubicBezTo>
                  <a:cubicBezTo>
                    <a:pt x="19" y="2"/>
                    <a:pt x="19" y="3"/>
                    <a:pt x="19" y="4"/>
                  </a:cubicBezTo>
                  <a:cubicBezTo>
                    <a:pt x="20" y="5"/>
                    <a:pt x="20" y="7"/>
                    <a:pt x="21" y="8"/>
                  </a:cubicBezTo>
                  <a:cubicBezTo>
                    <a:pt x="21" y="8"/>
                    <a:pt x="21" y="8"/>
                    <a:pt x="21" y="9"/>
                  </a:cubicBezTo>
                  <a:cubicBezTo>
                    <a:pt x="20" y="9"/>
                    <a:pt x="20" y="6"/>
                    <a:pt x="18" y="7"/>
                  </a:cubicBezTo>
                  <a:cubicBezTo>
                    <a:pt x="11" y="9"/>
                    <a:pt x="11" y="9"/>
                    <a:pt x="11" y="9"/>
                  </a:cubicBezTo>
                  <a:cubicBezTo>
                    <a:pt x="13" y="16"/>
                    <a:pt x="13" y="16"/>
                    <a:pt x="13" y="16"/>
                  </a:cubicBezTo>
                  <a:cubicBezTo>
                    <a:pt x="20" y="14"/>
                    <a:pt x="20" y="14"/>
                    <a:pt x="20" y="14"/>
                  </a:cubicBezTo>
                  <a:cubicBezTo>
                    <a:pt x="22" y="13"/>
                    <a:pt x="21" y="11"/>
                    <a:pt x="21" y="11"/>
                  </a:cubicBezTo>
                  <a:cubicBezTo>
                    <a:pt x="22" y="11"/>
                    <a:pt x="22" y="11"/>
                    <a:pt x="22" y="11"/>
                  </a:cubicBezTo>
                  <a:cubicBezTo>
                    <a:pt x="22" y="13"/>
                    <a:pt x="23" y="14"/>
                    <a:pt x="23" y="15"/>
                  </a:cubicBezTo>
                  <a:cubicBezTo>
                    <a:pt x="23" y="16"/>
                    <a:pt x="24" y="17"/>
                    <a:pt x="24" y="19"/>
                  </a:cubicBezTo>
                  <a:cubicBezTo>
                    <a:pt x="25" y="19"/>
                    <a:pt x="24" y="19"/>
                    <a:pt x="24" y="19"/>
                  </a:cubicBezTo>
                  <a:cubicBezTo>
                    <a:pt x="24" y="20"/>
                    <a:pt x="24" y="17"/>
                    <a:pt x="22" y="18"/>
                  </a:cubicBezTo>
                  <a:lnTo>
                    <a:pt x="8" y="22"/>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5" name="Freeform 53"/>
            <p:cNvSpPr/>
            <p:nvPr/>
          </p:nvSpPr>
          <p:spPr bwMode="auto">
            <a:xfrm>
              <a:off x="3927475" y="5407025"/>
              <a:ext cx="111125" cy="101600"/>
            </a:xfrm>
            <a:custGeom>
              <a:avLst/>
              <a:gdLst>
                <a:gd name="T0" fmla="*/ 3 w 20"/>
                <a:gd name="T1" fmla="*/ 16 h 18"/>
                <a:gd name="T2" fmla="*/ 1 w 20"/>
                <a:gd name="T3" fmla="*/ 18 h 18"/>
                <a:gd name="T4" fmla="*/ 0 w 20"/>
                <a:gd name="T5" fmla="*/ 18 h 18"/>
                <a:gd name="T6" fmla="*/ 0 w 20"/>
                <a:gd name="T7" fmla="*/ 14 h 18"/>
                <a:gd name="T8" fmla="*/ 0 w 20"/>
                <a:gd name="T9" fmla="*/ 4 h 18"/>
                <a:gd name="T10" fmla="*/ 5 w 20"/>
                <a:gd name="T11" fmla="*/ 2 h 18"/>
                <a:gd name="T12" fmla="*/ 6 w 20"/>
                <a:gd name="T13" fmla="*/ 2 h 18"/>
                <a:gd name="T14" fmla="*/ 6 w 20"/>
                <a:gd name="T15" fmla="*/ 2 h 18"/>
                <a:gd name="T16" fmla="*/ 4 w 20"/>
                <a:gd name="T17" fmla="*/ 3 h 18"/>
                <a:gd name="T18" fmla="*/ 1 w 20"/>
                <a:gd name="T19" fmla="*/ 10 h 18"/>
                <a:gd name="T20" fmla="*/ 1 w 20"/>
                <a:gd name="T21" fmla="*/ 12 h 18"/>
                <a:gd name="T22" fmla="*/ 9 w 20"/>
                <a:gd name="T23" fmla="*/ 11 h 18"/>
                <a:gd name="T24" fmla="*/ 9 w 20"/>
                <a:gd name="T25" fmla="*/ 11 h 18"/>
                <a:gd name="T26" fmla="*/ 5 w 20"/>
                <a:gd name="T27" fmla="*/ 7 h 18"/>
                <a:gd name="T28" fmla="*/ 5 w 20"/>
                <a:gd name="T29" fmla="*/ 7 h 18"/>
                <a:gd name="T30" fmla="*/ 5 w 20"/>
                <a:gd name="T31" fmla="*/ 7 h 18"/>
                <a:gd name="T32" fmla="*/ 13 w 20"/>
                <a:gd name="T33" fmla="*/ 6 h 18"/>
                <a:gd name="T34" fmla="*/ 14 w 20"/>
                <a:gd name="T35" fmla="*/ 6 h 18"/>
                <a:gd name="T36" fmla="*/ 13 w 20"/>
                <a:gd name="T37" fmla="*/ 7 h 18"/>
                <a:gd name="T38" fmla="*/ 10 w 20"/>
                <a:gd name="T39" fmla="*/ 10 h 18"/>
                <a:gd name="T40" fmla="*/ 10 w 20"/>
                <a:gd name="T41" fmla="*/ 11 h 18"/>
                <a:gd name="T42" fmla="*/ 17 w 20"/>
                <a:gd name="T43" fmla="*/ 11 h 18"/>
                <a:gd name="T44" fmla="*/ 19 w 20"/>
                <a:gd name="T45" fmla="*/ 8 h 18"/>
                <a:gd name="T46" fmla="*/ 12 w 20"/>
                <a:gd name="T47" fmla="*/ 1 h 18"/>
                <a:gd name="T48" fmla="*/ 11 w 20"/>
                <a:gd name="T49" fmla="*/ 1 h 18"/>
                <a:gd name="T50" fmla="*/ 12 w 20"/>
                <a:gd name="T51" fmla="*/ 0 h 18"/>
                <a:gd name="T52" fmla="*/ 13 w 20"/>
                <a:gd name="T53" fmla="*/ 0 h 18"/>
                <a:gd name="T54" fmla="*/ 19 w 20"/>
                <a:gd name="T55" fmla="*/ 1 h 18"/>
                <a:gd name="T56" fmla="*/ 19 w 20"/>
                <a:gd name="T57" fmla="*/ 13 h 18"/>
                <a:gd name="T58" fmla="*/ 20 w 20"/>
                <a:gd name="T59" fmla="*/ 17 h 18"/>
                <a:gd name="T60" fmla="*/ 19 w 20"/>
                <a:gd name="T61" fmla="*/ 17 h 18"/>
                <a:gd name="T62" fmla="*/ 17 w 20"/>
                <a:gd name="T63" fmla="*/ 15 h 18"/>
                <a:gd name="T64" fmla="*/ 3 w 20"/>
                <a:gd name="T65" fmla="*/ 1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0" h="18">
                  <a:moveTo>
                    <a:pt x="3" y="16"/>
                  </a:moveTo>
                  <a:cubicBezTo>
                    <a:pt x="0" y="16"/>
                    <a:pt x="2" y="18"/>
                    <a:pt x="1" y="18"/>
                  </a:cubicBezTo>
                  <a:cubicBezTo>
                    <a:pt x="1" y="18"/>
                    <a:pt x="0" y="18"/>
                    <a:pt x="0" y="18"/>
                  </a:cubicBezTo>
                  <a:cubicBezTo>
                    <a:pt x="0" y="16"/>
                    <a:pt x="0" y="15"/>
                    <a:pt x="0" y="14"/>
                  </a:cubicBezTo>
                  <a:cubicBezTo>
                    <a:pt x="0" y="10"/>
                    <a:pt x="0" y="7"/>
                    <a:pt x="0" y="4"/>
                  </a:cubicBezTo>
                  <a:cubicBezTo>
                    <a:pt x="5" y="2"/>
                    <a:pt x="5" y="2"/>
                    <a:pt x="5" y="2"/>
                  </a:cubicBezTo>
                  <a:cubicBezTo>
                    <a:pt x="5" y="2"/>
                    <a:pt x="6" y="2"/>
                    <a:pt x="6" y="2"/>
                  </a:cubicBezTo>
                  <a:cubicBezTo>
                    <a:pt x="6" y="2"/>
                    <a:pt x="6" y="2"/>
                    <a:pt x="6" y="2"/>
                  </a:cubicBezTo>
                  <a:cubicBezTo>
                    <a:pt x="6" y="2"/>
                    <a:pt x="6" y="2"/>
                    <a:pt x="4" y="3"/>
                  </a:cubicBezTo>
                  <a:cubicBezTo>
                    <a:pt x="2" y="5"/>
                    <a:pt x="1" y="7"/>
                    <a:pt x="1" y="10"/>
                  </a:cubicBezTo>
                  <a:cubicBezTo>
                    <a:pt x="1" y="12"/>
                    <a:pt x="1" y="12"/>
                    <a:pt x="1" y="12"/>
                  </a:cubicBezTo>
                  <a:cubicBezTo>
                    <a:pt x="9" y="11"/>
                    <a:pt x="9" y="11"/>
                    <a:pt x="9" y="11"/>
                  </a:cubicBezTo>
                  <a:cubicBezTo>
                    <a:pt x="9" y="11"/>
                    <a:pt x="9" y="11"/>
                    <a:pt x="9" y="11"/>
                  </a:cubicBezTo>
                  <a:cubicBezTo>
                    <a:pt x="9" y="9"/>
                    <a:pt x="7" y="7"/>
                    <a:pt x="5" y="7"/>
                  </a:cubicBezTo>
                  <a:cubicBezTo>
                    <a:pt x="5" y="7"/>
                    <a:pt x="5" y="7"/>
                    <a:pt x="5" y="7"/>
                  </a:cubicBezTo>
                  <a:cubicBezTo>
                    <a:pt x="4" y="7"/>
                    <a:pt x="5" y="7"/>
                    <a:pt x="5" y="7"/>
                  </a:cubicBezTo>
                  <a:cubicBezTo>
                    <a:pt x="13" y="6"/>
                    <a:pt x="13" y="6"/>
                    <a:pt x="13" y="6"/>
                  </a:cubicBezTo>
                  <a:cubicBezTo>
                    <a:pt x="14" y="6"/>
                    <a:pt x="14" y="6"/>
                    <a:pt x="14" y="6"/>
                  </a:cubicBezTo>
                  <a:cubicBezTo>
                    <a:pt x="14" y="7"/>
                    <a:pt x="14" y="7"/>
                    <a:pt x="13" y="7"/>
                  </a:cubicBezTo>
                  <a:cubicBezTo>
                    <a:pt x="11" y="7"/>
                    <a:pt x="9" y="9"/>
                    <a:pt x="10" y="10"/>
                  </a:cubicBezTo>
                  <a:cubicBezTo>
                    <a:pt x="10" y="11"/>
                    <a:pt x="10" y="11"/>
                    <a:pt x="10" y="11"/>
                  </a:cubicBezTo>
                  <a:cubicBezTo>
                    <a:pt x="17" y="11"/>
                    <a:pt x="17" y="11"/>
                    <a:pt x="17" y="11"/>
                  </a:cubicBezTo>
                  <a:cubicBezTo>
                    <a:pt x="18" y="11"/>
                    <a:pt x="19" y="10"/>
                    <a:pt x="19" y="8"/>
                  </a:cubicBezTo>
                  <a:cubicBezTo>
                    <a:pt x="18" y="4"/>
                    <a:pt x="15" y="2"/>
                    <a:pt x="12" y="1"/>
                  </a:cubicBezTo>
                  <a:cubicBezTo>
                    <a:pt x="12" y="1"/>
                    <a:pt x="11" y="1"/>
                    <a:pt x="11" y="1"/>
                  </a:cubicBezTo>
                  <a:cubicBezTo>
                    <a:pt x="11" y="1"/>
                    <a:pt x="12" y="0"/>
                    <a:pt x="12" y="0"/>
                  </a:cubicBezTo>
                  <a:cubicBezTo>
                    <a:pt x="12" y="0"/>
                    <a:pt x="12" y="0"/>
                    <a:pt x="13" y="0"/>
                  </a:cubicBezTo>
                  <a:cubicBezTo>
                    <a:pt x="19" y="1"/>
                    <a:pt x="19" y="1"/>
                    <a:pt x="19" y="1"/>
                  </a:cubicBezTo>
                  <a:cubicBezTo>
                    <a:pt x="19" y="5"/>
                    <a:pt x="19" y="9"/>
                    <a:pt x="19" y="13"/>
                  </a:cubicBezTo>
                  <a:cubicBezTo>
                    <a:pt x="19" y="14"/>
                    <a:pt x="20" y="15"/>
                    <a:pt x="20" y="17"/>
                  </a:cubicBezTo>
                  <a:cubicBezTo>
                    <a:pt x="20" y="17"/>
                    <a:pt x="19" y="17"/>
                    <a:pt x="19" y="17"/>
                  </a:cubicBezTo>
                  <a:cubicBezTo>
                    <a:pt x="18" y="17"/>
                    <a:pt x="19" y="15"/>
                    <a:pt x="17" y="15"/>
                  </a:cubicBezTo>
                  <a:lnTo>
                    <a:pt x="3" y="16"/>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6" name="Freeform 54"/>
            <p:cNvSpPr/>
            <p:nvPr/>
          </p:nvSpPr>
          <p:spPr bwMode="auto">
            <a:xfrm>
              <a:off x="3927475" y="5253038"/>
              <a:ext cx="128588" cy="136525"/>
            </a:xfrm>
            <a:custGeom>
              <a:avLst/>
              <a:gdLst>
                <a:gd name="T0" fmla="*/ 15 w 23"/>
                <a:gd name="T1" fmla="*/ 19 h 24"/>
                <a:gd name="T2" fmla="*/ 19 w 23"/>
                <a:gd name="T3" fmla="*/ 18 h 24"/>
                <a:gd name="T4" fmla="*/ 20 w 23"/>
                <a:gd name="T5" fmla="*/ 17 h 24"/>
                <a:gd name="T6" fmla="*/ 20 w 23"/>
                <a:gd name="T7" fmla="*/ 17 h 24"/>
                <a:gd name="T8" fmla="*/ 20 w 23"/>
                <a:gd name="T9" fmla="*/ 21 h 24"/>
                <a:gd name="T10" fmla="*/ 19 w 23"/>
                <a:gd name="T11" fmla="*/ 24 h 24"/>
                <a:gd name="T12" fmla="*/ 18 w 23"/>
                <a:gd name="T13" fmla="*/ 24 h 24"/>
                <a:gd name="T14" fmla="*/ 18 w 23"/>
                <a:gd name="T15" fmla="*/ 22 h 24"/>
                <a:gd name="T16" fmla="*/ 15 w 23"/>
                <a:gd name="T17" fmla="*/ 20 h 24"/>
                <a:gd name="T18" fmla="*/ 3 w 23"/>
                <a:gd name="T19" fmla="*/ 17 h 24"/>
                <a:gd name="T20" fmla="*/ 1 w 23"/>
                <a:gd name="T21" fmla="*/ 19 h 24"/>
                <a:gd name="T22" fmla="*/ 0 w 23"/>
                <a:gd name="T23" fmla="*/ 20 h 24"/>
                <a:gd name="T24" fmla="*/ 0 w 23"/>
                <a:gd name="T25" fmla="*/ 20 h 24"/>
                <a:gd name="T26" fmla="*/ 1 w 23"/>
                <a:gd name="T27" fmla="*/ 17 h 24"/>
                <a:gd name="T28" fmla="*/ 2 w 23"/>
                <a:gd name="T29" fmla="*/ 14 h 24"/>
                <a:gd name="T30" fmla="*/ 16 w 23"/>
                <a:gd name="T31" fmla="*/ 6 h 24"/>
                <a:gd name="T32" fmla="*/ 16 w 23"/>
                <a:gd name="T33" fmla="*/ 6 h 24"/>
                <a:gd name="T34" fmla="*/ 8 w 23"/>
                <a:gd name="T35" fmla="*/ 5 h 24"/>
                <a:gd name="T36" fmla="*/ 4 w 23"/>
                <a:gd name="T37" fmla="*/ 6 h 24"/>
                <a:gd name="T38" fmla="*/ 3 w 23"/>
                <a:gd name="T39" fmla="*/ 7 h 24"/>
                <a:gd name="T40" fmla="*/ 3 w 23"/>
                <a:gd name="T41" fmla="*/ 6 h 24"/>
                <a:gd name="T42" fmla="*/ 4 w 23"/>
                <a:gd name="T43" fmla="*/ 3 h 24"/>
                <a:gd name="T44" fmla="*/ 4 w 23"/>
                <a:gd name="T45" fmla="*/ 0 h 24"/>
                <a:gd name="T46" fmla="*/ 5 w 23"/>
                <a:gd name="T47" fmla="*/ 0 h 24"/>
                <a:gd name="T48" fmla="*/ 5 w 23"/>
                <a:gd name="T49" fmla="*/ 1 h 24"/>
                <a:gd name="T50" fmla="*/ 8 w 23"/>
                <a:gd name="T51" fmla="*/ 4 h 24"/>
                <a:gd name="T52" fmla="*/ 22 w 23"/>
                <a:gd name="T53" fmla="*/ 7 h 24"/>
                <a:gd name="T54" fmla="*/ 23 w 23"/>
                <a:gd name="T55" fmla="*/ 7 h 24"/>
                <a:gd name="T56" fmla="*/ 22 w 23"/>
                <a:gd name="T57" fmla="*/ 8 h 24"/>
                <a:gd name="T58" fmla="*/ 4 w 23"/>
                <a:gd name="T59" fmla="*/ 17 h 24"/>
                <a:gd name="T60" fmla="*/ 4 w 23"/>
                <a:gd name="T61" fmla="*/ 17 h 24"/>
                <a:gd name="T62" fmla="*/ 15 w 23"/>
                <a:gd name="T63" fmla="*/ 1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3" h="24">
                  <a:moveTo>
                    <a:pt x="15" y="19"/>
                  </a:moveTo>
                  <a:cubicBezTo>
                    <a:pt x="18" y="20"/>
                    <a:pt x="19" y="19"/>
                    <a:pt x="19" y="18"/>
                  </a:cubicBezTo>
                  <a:cubicBezTo>
                    <a:pt x="20" y="18"/>
                    <a:pt x="20" y="17"/>
                    <a:pt x="20" y="17"/>
                  </a:cubicBezTo>
                  <a:cubicBezTo>
                    <a:pt x="20" y="17"/>
                    <a:pt x="20" y="17"/>
                    <a:pt x="20" y="17"/>
                  </a:cubicBezTo>
                  <a:cubicBezTo>
                    <a:pt x="20" y="18"/>
                    <a:pt x="20" y="19"/>
                    <a:pt x="20" y="21"/>
                  </a:cubicBezTo>
                  <a:cubicBezTo>
                    <a:pt x="19" y="22"/>
                    <a:pt x="19" y="23"/>
                    <a:pt x="19" y="24"/>
                  </a:cubicBezTo>
                  <a:cubicBezTo>
                    <a:pt x="19" y="24"/>
                    <a:pt x="19" y="24"/>
                    <a:pt x="18" y="24"/>
                  </a:cubicBezTo>
                  <a:cubicBezTo>
                    <a:pt x="18" y="24"/>
                    <a:pt x="18" y="23"/>
                    <a:pt x="18" y="22"/>
                  </a:cubicBezTo>
                  <a:cubicBezTo>
                    <a:pt x="18" y="21"/>
                    <a:pt x="17" y="20"/>
                    <a:pt x="15" y="20"/>
                  </a:cubicBezTo>
                  <a:cubicBezTo>
                    <a:pt x="3" y="17"/>
                    <a:pt x="3" y="17"/>
                    <a:pt x="3" y="17"/>
                  </a:cubicBezTo>
                  <a:cubicBezTo>
                    <a:pt x="2" y="18"/>
                    <a:pt x="1" y="19"/>
                    <a:pt x="1" y="19"/>
                  </a:cubicBezTo>
                  <a:cubicBezTo>
                    <a:pt x="1" y="20"/>
                    <a:pt x="1" y="20"/>
                    <a:pt x="0" y="20"/>
                  </a:cubicBezTo>
                  <a:cubicBezTo>
                    <a:pt x="0" y="20"/>
                    <a:pt x="0" y="20"/>
                    <a:pt x="0" y="20"/>
                  </a:cubicBezTo>
                  <a:cubicBezTo>
                    <a:pt x="0" y="19"/>
                    <a:pt x="1" y="18"/>
                    <a:pt x="1" y="17"/>
                  </a:cubicBezTo>
                  <a:cubicBezTo>
                    <a:pt x="2" y="14"/>
                    <a:pt x="2" y="14"/>
                    <a:pt x="2" y="14"/>
                  </a:cubicBezTo>
                  <a:cubicBezTo>
                    <a:pt x="16" y="6"/>
                    <a:pt x="16" y="6"/>
                    <a:pt x="16" y="6"/>
                  </a:cubicBezTo>
                  <a:cubicBezTo>
                    <a:pt x="16" y="6"/>
                    <a:pt x="16" y="6"/>
                    <a:pt x="16" y="6"/>
                  </a:cubicBezTo>
                  <a:cubicBezTo>
                    <a:pt x="8" y="5"/>
                    <a:pt x="8" y="5"/>
                    <a:pt x="8" y="5"/>
                  </a:cubicBezTo>
                  <a:cubicBezTo>
                    <a:pt x="6" y="4"/>
                    <a:pt x="5" y="5"/>
                    <a:pt x="4" y="6"/>
                  </a:cubicBezTo>
                  <a:cubicBezTo>
                    <a:pt x="4" y="6"/>
                    <a:pt x="4" y="7"/>
                    <a:pt x="3" y="7"/>
                  </a:cubicBezTo>
                  <a:cubicBezTo>
                    <a:pt x="3" y="7"/>
                    <a:pt x="3" y="7"/>
                    <a:pt x="3" y="6"/>
                  </a:cubicBezTo>
                  <a:cubicBezTo>
                    <a:pt x="3" y="6"/>
                    <a:pt x="4" y="4"/>
                    <a:pt x="4" y="3"/>
                  </a:cubicBezTo>
                  <a:cubicBezTo>
                    <a:pt x="4" y="2"/>
                    <a:pt x="4" y="1"/>
                    <a:pt x="4" y="0"/>
                  </a:cubicBezTo>
                  <a:cubicBezTo>
                    <a:pt x="4" y="0"/>
                    <a:pt x="5" y="0"/>
                    <a:pt x="5" y="0"/>
                  </a:cubicBezTo>
                  <a:cubicBezTo>
                    <a:pt x="5" y="0"/>
                    <a:pt x="5" y="1"/>
                    <a:pt x="5" y="1"/>
                  </a:cubicBezTo>
                  <a:cubicBezTo>
                    <a:pt x="5" y="2"/>
                    <a:pt x="6" y="3"/>
                    <a:pt x="8" y="4"/>
                  </a:cubicBezTo>
                  <a:cubicBezTo>
                    <a:pt x="22" y="7"/>
                    <a:pt x="22" y="7"/>
                    <a:pt x="22" y="7"/>
                  </a:cubicBezTo>
                  <a:cubicBezTo>
                    <a:pt x="23" y="7"/>
                    <a:pt x="23" y="7"/>
                    <a:pt x="23" y="7"/>
                  </a:cubicBezTo>
                  <a:cubicBezTo>
                    <a:pt x="23" y="8"/>
                    <a:pt x="23" y="8"/>
                    <a:pt x="22" y="8"/>
                  </a:cubicBezTo>
                  <a:cubicBezTo>
                    <a:pt x="4" y="17"/>
                    <a:pt x="4" y="17"/>
                    <a:pt x="4" y="17"/>
                  </a:cubicBezTo>
                  <a:cubicBezTo>
                    <a:pt x="4" y="17"/>
                    <a:pt x="4" y="17"/>
                    <a:pt x="4" y="17"/>
                  </a:cubicBezTo>
                  <a:lnTo>
                    <a:pt x="15" y="19"/>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7" name="Freeform 55"/>
            <p:cNvSpPr/>
            <p:nvPr/>
          </p:nvSpPr>
          <p:spPr bwMode="auto">
            <a:xfrm>
              <a:off x="3965575" y="5151438"/>
              <a:ext cx="123825" cy="125413"/>
            </a:xfrm>
            <a:custGeom>
              <a:avLst/>
              <a:gdLst>
                <a:gd name="T0" fmla="*/ 19 w 22"/>
                <a:gd name="T1" fmla="*/ 15 h 22"/>
                <a:gd name="T2" fmla="*/ 19 w 22"/>
                <a:gd name="T3" fmla="*/ 8 h 22"/>
                <a:gd name="T4" fmla="*/ 16 w 22"/>
                <a:gd name="T5" fmla="*/ 5 h 22"/>
                <a:gd name="T6" fmla="*/ 17 w 22"/>
                <a:gd name="T7" fmla="*/ 5 h 22"/>
                <a:gd name="T8" fmla="*/ 18 w 22"/>
                <a:gd name="T9" fmla="*/ 6 h 22"/>
                <a:gd name="T10" fmla="*/ 22 w 22"/>
                <a:gd name="T11" fmla="*/ 9 h 22"/>
                <a:gd name="T12" fmla="*/ 19 w 22"/>
                <a:gd name="T13" fmla="*/ 16 h 22"/>
                <a:gd name="T14" fmla="*/ 17 w 22"/>
                <a:gd name="T15" fmla="*/ 22 h 22"/>
                <a:gd name="T16" fmla="*/ 16 w 22"/>
                <a:gd name="T17" fmla="*/ 22 h 22"/>
                <a:gd name="T18" fmla="*/ 16 w 22"/>
                <a:gd name="T19" fmla="*/ 21 h 22"/>
                <a:gd name="T20" fmla="*/ 4 w 22"/>
                <a:gd name="T21" fmla="*/ 4 h 22"/>
                <a:gd name="T22" fmla="*/ 4 w 22"/>
                <a:gd name="T23" fmla="*/ 6 h 22"/>
                <a:gd name="T24" fmla="*/ 4 w 22"/>
                <a:gd name="T25" fmla="*/ 13 h 22"/>
                <a:gd name="T26" fmla="*/ 5 w 22"/>
                <a:gd name="T27" fmla="*/ 15 h 22"/>
                <a:gd name="T28" fmla="*/ 5 w 22"/>
                <a:gd name="T29" fmla="*/ 16 h 22"/>
                <a:gd name="T30" fmla="*/ 4 w 22"/>
                <a:gd name="T31" fmla="*/ 15 h 22"/>
                <a:gd name="T32" fmla="*/ 0 w 22"/>
                <a:gd name="T33" fmla="*/ 12 h 22"/>
                <a:gd name="T34" fmla="*/ 3 w 22"/>
                <a:gd name="T35" fmla="*/ 6 h 22"/>
                <a:gd name="T36" fmla="*/ 5 w 22"/>
                <a:gd name="T37" fmla="*/ 0 h 22"/>
                <a:gd name="T38" fmla="*/ 6 w 22"/>
                <a:gd name="T39" fmla="*/ 0 h 22"/>
                <a:gd name="T40" fmla="*/ 6 w 22"/>
                <a:gd name="T41" fmla="*/ 1 h 22"/>
                <a:gd name="T42" fmla="*/ 18 w 22"/>
                <a:gd name="T43" fmla="*/ 17 h 22"/>
                <a:gd name="T44" fmla="*/ 19 w 22"/>
                <a:gd name="T45" fmla="*/ 15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2" h="22">
                  <a:moveTo>
                    <a:pt x="19" y="15"/>
                  </a:moveTo>
                  <a:cubicBezTo>
                    <a:pt x="20" y="12"/>
                    <a:pt x="20" y="10"/>
                    <a:pt x="19" y="8"/>
                  </a:cubicBezTo>
                  <a:cubicBezTo>
                    <a:pt x="18" y="6"/>
                    <a:pt x="16" y="6"/>
                    <a:pt x="16" y="5"/>
                  </a:cubicBezTo>
                  <a:cubicBezTo>
                    <a:pt x="16" y="5"/>
                    <a:pt x="16" y="5"/>
                    <a:pt x="17" y="5"/>
                  </a:cubicBezTo>
                  <a:cubicBezTo>
                    <a:pt x="17" y="5"/>
                    <a:pt x="17" y="5"/>
                    <a:pt x="18" y="6"/>
                  </a:cubicBezTo>
                  <a:cubicBezTo>
                    <a:pt x="22" y="9"/>
                    <a:pt x="22" y="9"/>
                    <a:pt x="22" y="9"/>
                  </a:cubicBezTo>
                  <a:cubicBezTo>
                    <a:pt x="21" y="11"/>
                    <a:pt x="20" y="13"/>
                    <a:pt x="19" y="16"/>
                  </a:cubicBezTo>
                  <a:cubicBezTo>
                    <a:pt x="18" y="18"/>
                    <a:pt x="18" y="20"/>
                    <a:pt x="17" y="22"/>
                  </a:cubicBezTo>
                  <a:cubicBezTo>
                    <a:pt x="16" y="22"/>
                    <a:pt x="16" y="22"/>
                    <a:pt x="16" y="22"/>
                  </a:cubicBezTo>
                  <a:cubicBezTo>
                    <a:pt x="16" y="22"/>
                    <a:pt x="16" y="22"/>
                    <a:pt x="16" y="21"/>
                  </a:cubicBezTo>
                  <a:cubicBezTo>
                    <a:pt x="4" y="4"/>
                    <a:pt x="4" y="4"/>
                    <a:pt x="4" y="4"/>
                  </a:cubicBezTo>
                  <a:cubicBezTo>
                    <a:pt x="4" y="6"/>
                    <a:pt x="4" y="6"/>
                    <a:pt x="4" y="6"/>
                  </a:cubicBezTo>
                  <a:cubicBezTo>
                    <a:pt x="2" y="9"/>
                    <a:pt x="2" y="11"/>
                    <a:pt x="4" y="13"/>
                  </a:cubicBezTo>
                  <a:cubicBezTo>
                    <a:pt x="5" y="15"/>
                    <a:pt x="5" y="15"/>
                    <a:pt x="5" y="15"/>
                  </a:cubicBezTo>
                  <a:cubicBezTo>
                    <a:pt x="5" y="16"/>
                    <a:pt x="5" y="16"/>
                    <a:pt x="5" y="16"/>
                  </a:cubicBezTo>
                  <a:cubicBezTo>
                    <a:pt x="5" y="16"/>
                    <a:pt x="5" y="15"/>
                    <a:pt x="4" y="15"/>
                  </a:cubicBezTo>
                  <a:cubicBezTo>
                    <a:pt x="0" y="12"/>
                    <a:pt x="0" y="12"/>
                    <a:pt x="0" y="12"/>
                  </a:cubicBezTo>
                  <a:cubicBezTo>
                    <a:pt x="1" y="10"/>
                    <a:pt x="2" y="8"/>
                    <a:pt x="3" y="6"/>
                  </a:cubicBezTo>
                  <a:cubicBezTo>
                    <a:pt x="4" y="4"/>
                    <a:pt x="5" y="2"/>
                    <a:pt x="5" y="0"/>
                  </a:cubicBezTo>
                  <a:cubicBezTo>
                    <a:pt x="6" y="0"/>
                    <a:pt x="6" y="0"/>
                    <a:pt x="6" y="0"/>
                  </a:cubicBezTo>
                  <a:cubicBezTo>
                    <a:pt x="6" y="0"/>
                    <a:pt x="6" y="0"/>
                    <a:pt x="6" y="1"/>
                  </a:cubicBezTo>
                  <a:cubicBezTo>
                    <a:pt x="18" y="17"/>
                    <a:pt x="18" y="17"/>
                    <a:pt x="18" y="17"/>
                  </a:cubicBezTo>
                  <a:lnTo>
                    <a:pt x="19" y="1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8" name="Freeform 56"/>
            <p:cNvSpPr/>
            <p:nvPr/>
          </p:nvSpPr>
          <p:spPr bwMode="auto">
            <a:xfrm>
              <a:off x="4016375" y="5032375"/>
              <a:ext cx="150813" cy="153988"/>
            </a:xfrm>
            <a:custGeom>
              <a:avLst/>
              <a:gdLst>
                <a:gd name="T0" fmla="*/ 3 w 27"/>
                <a:gd name="T1" fmla="*/ 15 h 27"/>
                <a:gd name="T2" fmla="*/ 0 w 27"/>
                <a:gd name="T3" fmla="*/ 16 h 27"/>
                <a:gd name="T4" fmla="*/ 0 w 27"/>
                <a:gd name="T5" fmla="*/ 15 h 27"/>
                <a:gd name="T6" fmla="*/ 3 w 27"/>
                <a:gd name="T7" fmla="*/ 12 h 27"/>
                <a:gd name="T8" fmla="*/ 5 w 27"/>
                <a:gd name="T9" fmla="*/ 9 h 27"/>
                <a:gd name="T10" fmla="*/ 6 w 27"/>
                <a:gd name="T11" fmla="*/ 9 h 27"/>
                <a:gd name="T12" fmla="*/ 6 w 27"/>
                <a:gd name="T13" fmla="*/ 12 h 27"/>
                <a:gd name="T14" fmla="*/ 11 w 27"/>
                <a:gd name="T15" fmla="*/ 16 h 27"/>
                <a:gd name="T16" fmla="*/ 15 w 27"/>
                <a:gd name="T17" fmla="*/ 10 h 27"/>
                <a:gd name="T18" fmla="*/ 10 w 27"/>
                <a:gd name="T19" fmla="*/ 6 h 27"/>
                <a:gd name="T20" fmla="*/ 7 w 27"/>
                <a:gd name="T21" fmla="*/ 7 h 27"/>
                <a:gd name="T22" fmla="*/ 7 w 27"/>
                <a:gd name="T23" fmla="*/ 6 h 27"/>
                <a:gd name="T24" fmla="*/ 10 w 27"/>
                <a:gd name="T25" fmla="*/ 3 h 27"/>
                <a:gd name="T26" fmla="*/ 12 w 27"/>
                <a:gd name="T27" fmla="*/ 0 h 27"/>
                <a:gd name="T28" fmla="*/ 13 w 27"/>
                <a:gd name="T29" fmla="*/ 0 h 27"/>
                <a:gd name="T30" fmla="*/ 13 w 27"/>
                <a:gd name="T31" fmla="*/ 3 h 27"/>
                <a:gd name="T32" fmla="*/ 24 w 27"/>
                <a:gd name="T33" fmla="*/ 12 h 27"/>
                <a:gd name="T34" fmla="*/ 27 w 27"/>
                <a:gd name="T35" fmla="*/ 11 h 27"/>
                <a:gd name="T36" fmla="*/ 27 w 27"/>
                <a:gd name="T37" fmla="*/ 12 h 27"/>
                <a:gd name="T38" fmla="*/ 25 w 27"/>
                <a:gd name="T39" fmla="*/ 15 h 27"/>
                <a:gd name="T40" fmla="*/ 22 w 27"/>
                <a:gd name="T41" fmla="*/ 18 h 27"/>
                <a:gd name="T42" fmla="*/ 22 w 27"/>
                <a:gd name="T43" fmla="*/ 18 h 27"/>
                <a:gd name="T44" fmla="*/ 22 w 27"/>
                <a:gd name="T45" fmla="*/ 15 h 27"/>
                <a:gd name="T46" fmla="*/ 16 w 27"/>
                <a:gd name="T47" fmla="*/ 11 h 27"/>
                <a:gd name="T48" fmla="*/ 11 w 27"/>
                <a:gd name="T49" fmla="*/ 16 h 27"/>
                <a:gd name="T50" fmla="*/ 17 w 27"/>
                <a:gd name="T51" fmla="*/ 21 h 27"/>
                <a:gd name="T52" fmla="*/ 20 w 27"/>
                <a:gd name="T53" fmla="*/ 20 h 27"/>
                <a:gd name="T54" fmla="*/ 20 w 27"/>
                <a:gd name="T55" fmla="*/ 21 h 27"/>
                <a:gd name="T56" fmla="*/ 17 w 27"/>
                <a:gd name="T57" fmla="*/ 24 h 27"/>
                <a:gd name="T58" fmla="*/ 15 w 27"/>
                <a:gd name="T59" fmla="*/ 27 h 27"/>
                <a:gd name="T60" fmla="*/ 14 w 27"/>
                <a:gd name="T61" fmla="*/ 27 h 27"/>
                <a:gd name="T62" fmla="*/ 14 w 27"/>
                <a:gd name="T63" fmla="*/ 24 h 27"/>
                <a:gd name="T64" fmla="*/ 3 w 27"/>
                <a:gd name="T65" fmla="*/ 15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7" h="27">
                  <a:moveTo>
                    <a:pt x="3" y="15"/>
                  </a:moveTo>
                  <a:cubicBezTo>
                    <a:pt x="1" y="14"/>
                    <a:pt x="1" y="16"/>
                    <a:pt x="0" y="16"/>
                  </a:cubicBezTo>
                  <a:cubicBezTo>
                    <a:pt x="0" y="16"/>
                    <a:pt x="0" y="15"/>
                    <a:pt x="0" y="15"/>
                  </a:cubicBezTo>
                  <a:cubicBezTo>
                    <a:pt x="1" y="14"/>
                    <a:pt x="2" y="13"/>
                    <a:pt x="3" y="12"/>
                  </a:cubicBezTo>
                  <a:cubicBezTo>
                    <a:pt x="3" y="11"/>
                    <a:pt x="4" y="10"/>
                    <a:pt x="5" y="9"/>
                  </a:cubicBezTo>
                  <a:cubicBezTo>
                    <a:pt x="5" y="9"/>
                    <a:pt x="5" y="9"/>
                    <a:pt x="6" y="9"/>
                  </a:cubicBezTo>
                  <a:cubicBezTo>
                    <a:pt x="6" y="9"/>
                    <a:pt x="4" y="10"/>
                    <a:pt x="6" y="12"/>
                  </a:cubicBezTo>
                  <a:cubicBezTo>
                    <a:pt x="11" y="16"/>
                    <a:pt x="11" y="16"/>
                    <a:pt x="11" y="16"/>
                  </a:cubicBezTo>
                  <a:cubicBezTo>
                    <a:pt x="15" y="10"/>
                    <a:pt x="15" y="10"/>
                    <a:pt x="15" y="10"/>
                  </a:cubicBezTo>
                  <a:cubicBezTo>
                    <a:pt x="10" y="6"/>
                    <a:pt x="10" y="6"/>
                    <a:pt x="10" y="6"/>
                  </a:cubicBezTo>
                  <a:cubicBezTo>
                    <a:pt x="8" y="5"/>
                    <a:pt x="8" y="7"/>
                    <a:pt x="7" y="7"/>
                  </a:cubicBezTo>
                  <a:cubicBezTo>
                    <a:pt x="7" y="7"/>
                    <a:pt x="7" y="6"/>
                    <a:pt x="7" y="6"/>
                  </a:cubicBezTo>
                  <a:cubicBezTo>
                    <a:pt x="8" y="5"/>
                    <a:pt x="9" y="4"/>
                    <a:pt x="10" y="3"/>
                  </a:cubicBezTo>
                  <a:cubicBezTo>
                    <a:pt x="10" y="2"/>
                    <a:pt x="11" y="1"/>
                    <a:pt x="12" y="0"/>
                  </a:cubicBezTo>
                  <a:cubicBezTo>
                    <a:pt x="12" y="0"/>
                    <a:pt x="13" y="0"/>
                    <a:pt x="13" y="0"/>
                  </a:cubicBezTo>
                  <a:cubicBezTo>
                    <a:pt x="13" y="0"/>
                    <a:pt x="11" y="1"/>
                    <a:pt x="13" y="3"/>
                  </a:cubicBezTo>
                  <a:cubicBezTo>
                    <a:pt x="24" y="12"/>
                    <a:pt x="24" y="12"/>
                    <a:pt x="24" y="12"/>
                  </a:cubicBezTo>
                  <a:cubicBezTo>
                    <a:pt x="26" y="13"/>
                    <a:pt x="27" y="11"/>
                    <a:pt x="27" y="11"/>
                  </a:cubicBezTo>
                  <a:cubicBezTo>
                    <a:pt x="27" y="11"/>
                    <a:pt x="27" y="12"/>
                    <a:pt x="27" y="12"/>
                  </a:cubicBezTo>
                  <a:cubicBezTo>
                    <a:pt x="26" y="13"/>
                    <a:pt x="25" y="14"/>
                    <a:pt x="25" y="15"/>
                  </a:cubicBezTo>
                  <a:cubicBezTo>
                    <a:pt x="24" y="16"/>
                    <a:pt x="23" y="17"/>
                    <a:pt x="22" y="18"/>
                  </a:cubicBezTo>
                  <a:cubicBezTo>
                    <a:pt x="22" y="18"/>
                    <a:pt x="22" y="18"/>
                    <a:pt x="22" y="18"/>
                  </a:cubicBezTo>
                  <a:cubicBezTo>
                    <a:pt x="21" y="18"/>
                    <a:pt x="23" y="17"/>
                    <a:pt x="22" y="15"/>
                  </a:cubicBezTo>
                  <a:cubicBezTo>
                    <a:pt x="16" y="11"/>
                    <a:pt x="16" y="11"/>
                    <a:pt x="16" y="11"/>
                  </a:cubicBezTo>
                  <a:cubicBezTo>
                    <a:pt x="11" y="16"/>
                    <a:pt x="11" y="16"/>
                    <a:pt x="11" y="16"/>
                  </a:cubicBezTo>
                  <a:cubicBezTo>
                    <a:pt x="17" y="21"/>
                    <a:pt x="17" y="21"/>
                    <a:pt x="17" y="21"/>
                  </a:cubicBezTo>
                  <a:cubicBezTo>
                    <a:pt x="19" y="22"/>
                    <a:pt x="19" y="20"/>
                    <a:pt x="20" y="20"/>
                  </a:cubicBezTo>
                  <a:cubicBezTo>
                    <a:pt x="20" y="20"/>
                    <a:pt x="20" y="21"/>
                    <a:pt x="20" y="21"/>
                  </a:cubicBezTo>
                  <a:cubicBezTo>
                    <a:pt x="19" y="22"/>
                    <a:pt x="18" y="23"/>
                    <a:pt x="17" y="24"/>
                  </a:cubicBezTo>
                  <a:cubicBezTo>
                    <a:pt x="17" y="25"/>
                    <a:pt x="16" y="26"/>
                    <a:pt x="15" y="27"/>
                  </a:cubicBezTo>
                  <a:cubicBezTo>
                    <a:pt x="15" y="27"/>
                    <a:pt x="15" y="27"/>
                    <a:pt x="14" y="27"/>
                  </a:cubicBezTo>
                  <a:cubicBezTo>
                    <a:pt x="14" y="27"/>
                    <a:pt x="16" y="26"/>
                    <a:pt x="14" y="24"/>
                  </a:cubicBezTo>
                  <a:lnTo>
                    <a:pt x="3" y="15"/>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9" name="Freeform 57"/>
            <p:cNvSpPr/>
            <p:nvPr/>
          </p:nvSpPr>
          <p:spPr bwMode="auto">
            <a:xfrm>
              <a:off x="4122738" y="4946650"/>
              <a:ext cx="134938" cy="136525"/>
            </a:xfrm>
            <a:custGeom>
              <a:avLst/>
              <a:gdLst>
                <a:gd name="T0" fmla="*/ 3 w 24"/>
                <a:gd name="T1" fmla="*/ 9 h 24"/>
                <a:gd name="T2" fmla="*/ 0 w 24"/>
                <a:gd name="T3" fmla="*/ 9 h 24"/>
                <a:gd name="T4" fmla="*/ 1 w 24"/>
                <a:gd name="T5" fmla="*/ 8 h 24"/>
                <a:gd name="T6" fmla="*/ 4 w 24"/>
                <a:gd name="T7" fmla="*/ 6 h 24"/>
                <a:gd name="T8" fmla="*/ 12 w 24"/>
                <a:gd name="T9" fmla="*/ 0 h 24"/>
                <a:gd name="T10" fmla="*/ 16 w 24"/>
                <a:gd name="T11" fmla="*/ 4 h 24"/>
                <a:gd name="T12" fmla="*/ 17 w 24"/>
                <a:gd name="T13" fmla="*/ 4 h 24"/>
                <a:gd name="T14" fmla="*/ 17 w 24"/>
                <a:gd name="T15" fmla="*/ 4 h 24"/>
                <a:gd name="T16" fmla="*/ 14 w 24"/>
                <a:gd name="T17" fmla="*/ 3 h 24"/>
                <a:gd name="T18" fmla="*/ 7 w 24"/>
                <a:gd name="T19" fmla="*/ 4 h 24"/>
                <a:gd name="T20" fmla="*/ 6 w 24"/>
                <a:gd name="T21" fmla="*/ 5 h 24"/>
                <a:gd name="T22" fmla="*/ 11 w 24"/>
                <a:gd name="T23" fmla="*/ 12 h 24"/>
                <a:gd name="T24" fmla="*/ 11 w 24"/>
                <a:gd name="T25" fmla="*/ 11 h 24"/>
                <a:gd name="T26" fmla="*/ 12 w 24"/>
                <a:gd name="T27" fmla="*/ 7 h 24"/>
                <a:gd name="T28" fmla="*/ 12 w 24"/>
                <a:gd name="T29" fmla="*/ 6 h 24"/>
                <a:gd name="T30" fmla="*/ 12 w 24"/>
                <a:gd name="T31" fmla="*/ 6 h 24"/>
                <a:gd name="T32" fmla="*/ 17 w 24"/>
                <a:gd name="T33" fmla="*/ 13 h 24"/>
                <a:gd name="T34" fmla="*/ 17 w 24"/>
                <a:gd name="T35" fmla="*/ 13 h 24"/>
                <a:gd name="T36" fmla="*/ 17 w 24"/>
                <a:gd name="T37" fmla="*/ 13 h 24"/>
                <a:gd name="T38" fmla="*/ 11 w 24"/>
                <a:gd name="T39" fmla="*/ 12 h 24"/>
                <a:gd name="T40" fmla="*/ 11 w 24"/>
                <a:gd name="T41" fmla="*/ 12 h 24"/>
                <a:gd name="T42" fmla="*/ 15 w 24"/>
                <a:gd name="T43" fmla="*/ 18 h 24"/>
                <a:gd name="T44" fmla="*/ 18 w 24"/>
                <a:gd name="T45" fmla="*/ 18 h 24"/>
                <a:gd name="T46" fmla="*/ 21 w 24"/>
                <a:gd name="T47" fmla="*/ 9 h 24"/>
                <a:gd name="T48" fmla="*/ 21 w 24"/>
                <a:gd name="T49" fmla="*/ 8 h 24"/>
                <a:gd name="T50" fmla="*/ 21 w 24"/>
                <a:gd name="T51" fmla="*/ 8 h 24"/>
                <a:gd name="T52" fmla="*/ 22 w 24"/>
                <a:gd name="T53" fmla="*/ 9 h 24"/>
                <a:gd name="T54" fmla="*/ 24 w 24"/>
                <a:gd name="T55" fmla="*/ 15 h 24"/>
                <a:gd name="T56" fmla="*/ 15 w 24"/>
                <a:gd name="T57" fmla="*/ 21 h 24"/>
                <a:gd name="T58" fmla="*/ 12 w 24"/>
                <a:gd name="T59" fmla="*/ 24 h 24"/>
                <a:gd name="T60" fmla="*/ 11 w 24"/>
                <a:gd name="T61" fmla="*/ 24 h 24"/>
                <a:gd name="T62" fmla="*/ 12 w 24"/>
                <a:gd name="T63" fmla="*/ 21 h 24"/>
                <a:gd name="T64" fmla="*/ 3 w 24"/>
                <a:gd name="T65" fmla="*/ 9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 h="24">
                  <a:moveTo>
                    <a:pt x="3" y="9"/>
                  </a:moveTo>
                  <a:cubicBezTo>
                    <a:pt x="2" y="7"/>
                    <a:pt x="1" y="9"/>
                    <a:pt x="0" y="9"/>
                  </a:cubicBezTo>
                  <a:cubicBezTo>
                    <a:pt x="0" y="9"/>
                    <a:pt x="0" y="8"/>
                    <a:pt x="1" y="8"/>
                  </a:cubicBezTo>
                  <a:cubicBezTo>
                    <a:pt x="2" y="7"/>
                    <a:pt x="3" y="7"/>
                    <a:pt x="4" y="6"/>
                  </a:cubicBezTo>
                  <a:cubicBezTo>
                    <a:pt x="7" y="4"/>
                    <a:pt x="9" y="2"/>
                    <a:pt x="12" y="0"/>
                  </a:cubicBezTo>
                  <a:cubicBezTo>
                    <a:pt x="16" y="4"/>
                    <a:pt x="16" y="4"/>
                    <a:pt x="16" y="4"/>
                  </a:cubicBezTo>
                  <a:cubicBezTo>
                    <a:pt x="17" y="4"/>
                    <a:pt x="17" y="4"/>
                    <a:pt x="17" y="4"/>
                  </a:cubicBezTo>
                  <a:cubicBezTo>
                    <a:pt x="17" y="4"/>
                    <a:pt x="17" y="4"/>
                    <a:pt x="17" y="4"/>
                  </a:cubicBezTo>
                  <a:cubicBezTo>
                    <a:pt x="17" y="5"/>
                    <a:pt x="16" y="4"/>
                    <a:pt x="14" y="3"/>
                  </a:cubicBezTo>
                  <a:cubicBezTo>
                    <a:pt x="12" y="2"/>
                    <a:pt x="10" y="2"/>
                    <a:pt x="7" y="4"/>
                  </a:cubicBezTo>
                  <a:cubicBezTo>
                    <a:pt x="6" y="5"/>
                    <a:pt x="6" y="5"/>
                    <a:pt x="6" y="5"/>
                  </a:cubicBezTo>
                  <a:cubicBezTo>
                    <a:pt x="11" y="12"/>
                    <a:pt x="11" y="12"/>
                    <a:pt x="11" y="12"/>
                  </a:cubicBezTo>
                  <a:cubicBezTo>
                    <a:pt x="11" y="11"/>
                    <a:pt x="11" y="11"/>
                    <a:pt x="11" y="11"/>
                  </a:cubicBezTo>
                  <a:cubicBezTo>
                    <a:pt x="13" y="10"/>
                    <a:pt x="13" y="8"/>
                    <a:pt x="12" y="7"/>
                  </a:cubicBezTo>
                  <a:cubicBezTo>
                    <a:pt x="12" y="6"/>
                    <a:pt x="12" y="6"/>
                    <a:pt x="12" y="6"/>
                  </a:cubicBezTo>
                  <a:cubicBezTo>
                    <a:pt x="12" y="6"/>
                    <a:pt x="12" y="6"/>
                    <a:pt x="12" y="6"/>
                  </a:cubicBezTo>
                  <a:cubicBezTo>
                    <a:pt x="17" y="13"/>
                    <a:pt x="17" y="13"/>
                    <a:pt x="17" y="13"/>
                  </a:cubicBezTo>
                  <a:cubicBezTo>
                    <a:pt x="17" y="13"/>
                    <a:pt x="17" y="13"/>
                    <a:pt x="17" y="13"/>
                  </a:cubicBezTo>
                  <a:cubicBezTo>
                    <a:pt x="17" y="14"/>
                    <a:pt x="17" y="13"/>
                    <a:pt x="17" y="13"/>
                  </a:cubicBezTo>
                  <a:cubicBezTo>
                    <a:pt x="15" y="11"/>
                    <a:pt x="13" y="11"/>
                    <a:pt x="11" y="12"/>
                  </a:cubicBezTo>
                  <a:cubicBezTo>
                    <a:pt x="11" y="12"/>
                    <a:pt x="11" y="12"/>
                    <a:pt x="11" y="12"/>
                  </a:cubicBezTo>
                  <a:cubicBezTo>
                    <a:pt x="15" y="18"/>
                    <a:pt x="15" y="18"/>
                    <a:pt x="15" y="18"/>
                  </a:cubicBezTo>
                  <a:cubicBezTo>
                    <a:pt x="16" y="19"/>
                    <a:pt x="17" y="19"/>
                    <a:pt x="18" y="18"/>
                  </a:cubicBezTo>
                  <a:cubicBezTo>
                    <a:pt x="22" y="16"/>
                    <a:pt x="22" y="12"/>
                    <a:pt x="21" y="9"/>
                  </a:cubicBezTo>
                  <a:cubicBezTo>
                    <a:pt x="21" y="9"/>
                    <a:pt x="21" y="8"/>
                    <a:pt x="21" y="8"/>
                  </a:cubicBezTo>
                  <a:cubicBezTo>
                    <a:pt x="21" y="8"/>
                    <a:pt x="21" y="8"/>
                    <a:pt x="21" y="8"/>
                  </a:cubicBezTo>
                  <a:cubicBezTo>
                    <a:pt x="21" y="9"/>
                    <a:pt x="21" y="9"/>
                    <a:pt x="22" y="9"/>
                  </a:cubicBezTo>
                  <a:cubicBezTo>
                    <a:pt x="24" y="15"/>
                    <a:pt x="24" y="15"/>
                    <a:pt x="24" y="15"/>
                  </a:cubicBezTo>
                  <a:cubicBezTo>
                    <a:pt x="21" y="17"/>
                    <a:pt x="18" y="19"/>
                    <a:pt x="15" y="21"/>
                  </a:cubicBezTo>
                  <a:cubicBezTo>
                    <a:pt x="14" y="22"/>
                    <a:pt x="13" y="23"/>
                    <a:pt x="12" y="24"/>
                  </a:cubicBezTo>
                  <a:cubicBezTo>
                    <a:pt x="11" y="24"/>
                    <a:pt x="11" y="24"/>
                    <a:pt x="11" y="24"/>
                  </a:cubicBezTo>
                  <a:cubicBezTo>
                    <a:pt x="11" y="23"/>
                    <a:pt x="13" y="23"/>
                    <a:pt x="12" y="21"/>
                  </a:cubicBezTo>
                  <a:lnTo>
                    <a:pt x="3" y="9"/>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0" name="Freeform 58"/>
            <p:cNvSpPr/>
            <p:nvPr/>
          </p:nvSpPr>
          <p:spPr bwMode="auto">
            <a:xfrm>
              <a:off x="4240213" y="4879975"/>
              <a:ext cx="130175" cy="141288"/>
            </a:xfrm>
            <a:custGeom>
              <a:avLst/>
              <a:gdLst>
                <a:gd name="T0" fmla="*/ 8 w 23"/>
                <a:gd name="T1" fmla="*/ 19 h 25"/>
                <a:gd name="T2" fmla="*/ 11 w 23"/>
                <a:gd name="T3" fmla="*/ 22 h 25"/>
                <a:gd name="T4" fmla="*/ 13 w 23"/>
                <a:gd name="T5" fmla="*/ 22 h 25"/>
                <a:gd name="T6" fmla="*/ 13 w 23"/>
                <a:gd name="T7" fmla="*/ 22 h 25"/>
                <a:gd name="T8" fmla="*/ 10 w 23"/>
                <a:gd name="T9" fmla="*/ 23 h 25"/>
                <a:gd name="T10" fmla="*/ 7 w 23"/>
                <a:gd name="T11" fmla="*/ 25 h 25"/>
                <a:gd name="T12" fmla="*/ 6 w 23"/>
                <a:gd name="T13" fmla="*/ 24 h 25"/>
                <a:gd name="T14" fmla="*/ 7 w 23"/>
                <a:gd name="T15" fmla="*/ 23 h 25"/>
                <a:gd name="T16" fmla="*/ 8 w 23"/>
                <a:gd name="T17" fmla="*/ 19 h 25"/>
                <a:gd name="T18" fmla="*/ 3 w 23"/>
                <a:gd name="T19" fmla="*/ 8 h 25"/>
                <a:gd name="T20" fmla="*/ 0 w 23"/>
                <a:gd name="T21" fmla="*/ 7 h 25"/>
                <a:gd name="T22" fmla="*/ 0 w 23"/>
                <a:gd name="T23" fmla="*/ 7 h 25"/>
                <a:gd name="T24" fmla="*/ 0 w 23"/>
                <a:gd name="T25" fmla="*/ 7 h 25"/>
                <a:gd name="T26" fmla="*/ 3 w 23"/>
                <a:gd name="T27" fmla="*/ 6 h 25"/>
                <a:gd name="T28" fmla="*/ 6 w 23"/>
                <a:gd name="T29" fmla="*/ 5 h 25"/>
                <a:gd name="T30" fmla="*/ 20 w 23"/>
                <a:gd name="T31" fmla="*/ 13 h 25"/>
                <a:gd name="T32" fmla="*/ 20 w 23"/>
                <a:gd name="T33" fmla="*/ 13 h 25"/>
                <a:gd name="T34" fmla="*/ 17 w 23"/>
                <a:gd name="T35" fmla="*/ 5 h 25"/>
                <a:gd name="T36" fmla="*/ 14 w 23"/>
                <a:gd name="T37" fmla="*/ 2 h 25"/>
                <a:gd name="T38" fmla="*/ 12 w 23"/>
                <a:gd name="T39" fmla="*/ 2 h 25"/>
                <a:gd name="T40" fmla="*/ 12 w 23"/>
                <a:gd name="T41" fmla="*/ 2 h 25"/>
                <a:gd name="T42" fmla="*/ 15 w 23"/>
                <a:gd name="T43" fmla="*/ 1 h 25"/>
                <a:gd name="T44" fmla="*/ 18 w 23"/>
                <a:gd name="T45" fmla="*/ 0 h 25"/>
                <a:gd name="T46" fmla="*/ 19 w 23"/>
                <a:gd name="T47" fmla="*/ 0 h 25"/>
                <a:gd name="T48" fmla="*/ 18 w 23"/>
                <a:gd name="T49" fmla="*/ 1 h 25"/>
                <a:gd name="T50" fmla="*/ 17 w 23"/>
                <a:gd name="T51" fmla="*/ 5 h 25"/>
                <a:gd name="T52" fmla="*/ 22 w 23"/>
                <a:gd name="T53" fmla="*/ 18 h 25"/>
                <a:gd name="T54" fmla="*/ 23 w 23"/>
                <a:gd name="T55" fmla="*/ 19 h 25"/>
                <a:gd name="T56" fmla="*/ 22 w 23"/>
                <a:gd name="T57" fmla="*/ 19 h 25"/>
                <a:gd name="T58" fmla="*/ 4 w 23"/>
                <a:gd name="T59" fmla="*/ 9 h 25"/>
                <a:gd name="T60" fmla="*/ 4 w 23"/>
                <a:gd name="T61" fmla="*/ 9 h 25"/>
                <a:gd name="T62" fmla="*/ 8 w 23"/>
                <a:gd name="T63" fmla="*/ 19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3" h="25">
                  <a:moveTo>
                    <a:pt x="8" y="19"/>
                  </a:moveTo>
                  <a:cubicBezTo>
                    <a:pt x="9" y="21"/>
                    <a:pt x="10" y="22"/>
                    <a:pt x="11" y="22"/>
                  </a:cubicBezTo>
                  <a:cubicBezTo>
                    <a:pt x="12" y="22"/>
                    <a:pt x="13" y="21"/>
                    <a:pt x="13" y="22"/>
                  </a:cubicBezTo>
                  <a:cubicBezTo>
                    <a:pt x="13" y="22"/>
                    <a:pt x="13" y="22"/>
                    <a:pt x="13" y="22"/>
                  </a:cubicBezTo>
                  <a:cubicBezTo>
                    <a:pt x="12" y="23"/>
                    <a:pt x="11" y="23"/>
                    <a:pt x="10" y="23"/>
                  </a:cubicBezTo>
                  <a:cubicBezTo>
                    <a:pt x="9" y="24"/>
                    <a:pt x="8" y="24"/>
                    <a:pt x="7" y="25"/>
                  </a:cubicBezTo>
                  <a:cubicBezTo>
                    <a:pt x="6" y="25"/>
                    <a:pt x="6" y="25"/>
                    <a:pt x="6" y="24"/>
                  </a:cubicBezTo>
                  <a:cubicBezTo>
                    <a:pt x="6" y="24"/>
                    <a:pt x="7" y="24"/>
                    <a:pt x="7" y="23"/>
                  </a:cubicBezTo>
                  <a:cubicBezTo>
                    <a:pt x="8" y="23"/>
                    <a:pt x="9" y="22"/>
                    <a:pt x="8" y="19"/>
                  </a:cubicBezTo>
                  <a:cubicBezTo>
                    <a:pt x="3" y="8"/>
                    <a:pt x="3" y="8"/>
                    <a:pt x="3" y="8"/>
                  </a:cubicBezTo>
                  <a:cubicBezTo>
                    <a:pt x="2" y="7"/>
                    <a:pt x="1" y="7"/>
                    <a:pt x="0" y="7"/>
                  </a:cubicBezTo>
                  <a:cubicBezTo>
                    <a:pt x="0" y="7"/>
                    <a:pt x="0" y="7"/>
                    <a:pt x="0" y="7"/>
                  </a:cubicBezTo>
                  <a:cubicBezTo>
                    <a:pt x="0" y="7"/>
                    <a:pt x="0" y="7"/>
                    <a:pt x="0" y="7"/>
                  </a:cubicBezTo>
                  <a:cubicBezTo>
                    <a:pt x="1" y="6"/>
                    <a:pt x="2" y="6"/>
                    <a:pt x="3" y="6"/>
                  </a:cubicBezTo>
                  <a:cubicBezTo>
                    <a:pt x="6" y="5"/>
                    <a:pt x="6" y="5"/>
                    <a:pt x="6" y="5"/>
                  </a:cubicBezTo>
                  <a:cubicBezTo>
                    <a:pt x="20" y="13"/>
                    <a:pt x="20" y="13"/>
                    <a:pt x="20" y="13"/>
                  </a:cubicBezTo>
                  <a:cubicBezTo>
                    <a:pt x="20" y="13"/>
                    <a:pt x="20" y="13"/>
                    <a:pt x="20" y="13"/>
                  </a:cubicBezTo>
                  <a:cubicBezTo>
                    <a:pt x="17" y="5"/>
                    <a:pt x="17" y="5"/>
                    <a:pt x="17" y="5"/>
                  </a:cubicBezTo>
                  <a:cubicBezTo>
                    <a:pt x="16" y="3"/>
                    <a:pt x="15" y="2"/>
                    <a:pt x="14" y="2"/>
                  </a:cubicBezTo>
                  <a:cubicBezTo>
                    <a:pt x="13" y="2"/>
                    <a:pt x="12" y="3"/>
                    <a:pt x="12" y="2"/>
                  </a:cubicBezTo>
                  <a:cubicBezTo>
                    <a:pt x="12" y="2"/>
                    <a:pt x="12" y="2"/>
                    <a:pt x="12" y="2"/>
                  </a:cubicBezTo>
                  <a:cubicBezTo>
                    <a:pt x="13" y="2"/>
                    <a:pt x="14" y="1"/>
                    <a:pt x="15" y="1"/>
                  </a:cubicBezTo>
                  <a:cubicBezTo>
                    <a:pt x="17" y="0"/>
                    <a:pt x="18" y="0"/>
                    <a:pt x="18" y="0"/>
                  </a:cubicBezTo>
                  <a:cubicBezTo>
                    <a:pt x="19" y="0"/>
                    <a:pt x="19" y="0"/>
                    <a:pt x="19" y="0"/>
                  </a:cubicBezTo>
                  <a:cubicBezTo>
                    <a:pt x="19" y="0"/>
                    <a:pt x="18" y="0"/>
                    <a:pt x="18" y="1"/>
                  </a:cubicBezTo>
                  <a:cubicBezTo>
                    <a:pt x="17" y="1"/>
                    <a:pt x="17" y="3"/>
                    <a:pt x="17" y="5"/>
                  </a:cubicBezTo>
                  <a:cubicBezTo>
                    <a:pt x="22" y="18"/>
                    <a:pt x="22" y="18"/>
                    <a:pt x="22" y="18"/>
                  </a:cubicBezTo>
                  <a:cubicBezTo>
                    <a:pt x="23" y="19"/>
                    <a:pt x="23" y="19"/>
                    <a:pt x="23" y="19"/>
                  </a:cubicBezTo>
                  <a:cubicBezTo>
                    <a:pt x="22" y="19"/>
                    <a:pt x="22" y="19"/>
                    <a:pt x="22" y="19"/>
                  </a:cubicBezTo>
                  <a:cubicBezTo>
                    <a:pt x="4" y="9"/>
                    <a:pt x="4" y="9"/>
                    <a:pt x="4" y="9"/>
                  </a:cubicBezTo>
                  <a:cubicBezTo>
                    <a:pt x="4" y="9"/>
                    <a:pt x="4" y="9"/>
                    <a:pt x="4" y="9"/>
                  </a:cubicBezTo>
                  <a:lnTo>
                    <a:pt x="8" y="19"/>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1" name="Oval 59"/>
            <p:cNvSpPr>
              <a:spLocks noChangeArrowheads="1"/>
            </p:cNvSpPr>
            <p:nvPr/>
          </p:nvSpPr>
          <p:spPr bwMode="auto">
            <a:xfrm>
              <a:off x="4195763" y="5861050"/>
              <a:ext cx="28575" cy="28575"/>
            </a:xfrm>
            <a:prstGeom prst="ellipse">
              <a:avLst/>
            </a:pr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2" name="Oval 60"/>
            <p:cNvSpPr>
              <a:spLocks noChangeArrowheads="1"/>
            </p:cNvSpPr>
            <p:nvPr/>
          </p:nvSpPr>
          <p:spPr bwMode="auto">
            <a:xfrm>
              <a:off x="4756150" y="5861050"/>
              <a:ext cx="28575" cy="28575"/>
            </a:xfrm>
            <a:prstGeom prst="ellipse">
              <a:avLst/>
            </a:pr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3" name="Freeform 61"/>
            <p:cNvSpPr>
              <a:spLocks noEditPoints="1"/>
            </p:cNvSpPr>
            <p:nvPr/>
          </p:nvSpPr>
          <p:spPr bwMode="auto">
            <a:xfrm>
              <a:off x="3854450" y="4787900"/>
              <a:ext cx="1271588" cy="1289050"/>
            </a:xfrm>
            <a:custGeom>
              <a:avLst/>
              <a:gdLst>
                <a:gd name="T0" fmla="*/ 114 w 227"/>
                <a:gd name="T1" fmla="*/ 227 h 227"/>
                <a:gd name="T2" fmla="*/ 70 w 227"/>
                <a:gd name="T3" fmla="*/ 218 h 227"/>
                <a:gd name="T4" fmla="*/ 34 w 227"/>
                <a:gd name="T5" fmla="*/ 194 h 227"/>
                <a:gd name="T6" fmla="*/ 9 w 227"/>
                <a:gd name="T7" fmla="*/ 158 h 227"/>
                <a:gd name="T8" fmla="*/ 0 w 227"/>
                <a:gd name="T9" fmla="*/ 114 h 227"/>
                <a:gd name="T10" fmla="*/ 9 w 227"/>
                <a:gd name="T11" fmla="*/ 69 h 227"/>
                <a:gd name="T12" fmla="*/ 34 w 227"/>
                <a:gd name="T13" fmla="*/ 33 h 227"/>
                <a:gd name="T14" fmla="*/ 70 w 227"/>
                <a:gd name="T15" fmla="*/ 9 h 227"/>
                <a:gd name="T16" fmla="*/ 114 w 227"/>
                <a:gd name="T17" fmla="*/ 0 h 227"/>
                <a:gd name="T18" fmla="*/ 158 w 227"/>
                <a:gd name="T19" fmla="*/ 9 h 227"/>
                <a:gd name="T20" fmla="*/ 194 w 227"/>
                <a:gd name="T21" fmla="*/ 33 h 227"/>
                <a:gd name="T22" fmla="*/ 218 w 227"/>
                <a:gd name="T23" fmla="*/ 69 h 227"/>
                <a:gd name="T24" fmla="*/ 227 w 227"/>
                <a:gd name="T25" fmla="*/ 114 h 227"/>
                <a:gd name="T26" fmla="*/ 218 w 227"/>
                <a:gd name="T27" fmla="*/ 158 h 227"/>
                <a:gd name="T28" fmla="*/ 194 w 227"/>
                <a:gd name="T29" fmla="*/ 194 h 227"/>
                <a:gd name="T30" fmla="*/ 158 w 227"/>
                <a:gd name="T31" fmla="*/ 218 h 227"/>
                <a:gd name="T32" fmla="*/ 114 w 227"/>
                <a:gd name="T33" fmla="*/ 227 h 227"/>
                <a:gd name="T34" fmla="*/ 114 w 227"/>
                <a:gd name="T35" fmla="*/ 5 h 227"/>
                <a:gd name="T36" fmla="*/ 6 w 227"/>
                <a:gd name="T37" fmla="*/ 114 h 227"/>
                <a:gd name="T38" fmla="*/ 114 w 227"/>
                <a:gd name="T39" fmla="*/ 222 h 227"/>
                <a:gd name="T40" fmla="*/ 222 w 227"/>
                <a:gd name="T41" fmla="*/ 114 h 227"/>
                <a:gd name="T42" fmla="*/ 114 w 227"/>
                <a:gd name="T43" fmla="*/ 5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27" h="227">
                  <a:moveTo>
                    <a:pt x="114" y="227"/>
                  </a:moveTo>
                  <a:cubicBezTo>
                    <a:pt x="98" y="227"/>
                    <a:pt x="84" y="224"/>
                    <a:pt x="70" y="218"/>
                  </a:cubicBezTo>
                  <a:cubicBezTo>
                    <a:pt x="56" y="212"/>
                    <a:pt x="44" y="204"/>
                    <a:pt x="34" y="194"/>
                  </a:cubicBezTo>
                  <a:cubicBezTo>
                    <a:pt x="23" y="183"/>
                    <a:pt x="15" y="171"/>
                    <a:pt x="9" y="158"/>
                  </a:cubicBezTo>
                  <a:cubicBezTo>
                    <a:pt x="3" y="144"/>
                    <a:pt x="0" y="129"/>
                    <a:pt x="0" y="114"/>
                  </a:cubicBezTo>
                  <a:cubicBezTo>
                    <a:pt x="0" y="98"/>
                    <a:pt x="3" y="83"/>
                    <a:pt x="9" y="69"/>
                  </a:cubicBezTo>
                  <a:cubicBezTo>
                    <a:pt x="15" y="56"/>
                    <a:pt x="23" y="44"/>
                    <a:pt x="34" y="33"/>
                  </a:cubicBezTo>
                  <a:cubicBezTo>
                    <a:pt x="44" y="23"/>
                    <a:pt x="56" y="15"/>
                    <a:pt x="70" y="9"/>
                  </a:cubicBezTo>
                  <a:cubicBezTo>
                    <a:pt x="84" y="3"/>
                    <a:pt x="98" y="0"/>
                    <a:pt x="114" y="0"/>
                  </a:cubicBezTo>
                  <a:cubicBezTo>
                    <a:pt x="129" y="0"/>
                    <a:pt x="144" y="3"/>
                    <a:pt x="158" y="9"/>
                  </a:cubicBezTo>
                  <a:cubicBezTo>
                    <a:pt x="171" y="15"/>
                    <a:pt x="184" y="23"/>
                    <a:pt x="194" y="33"/>
                  </a:cubicBezTo>
                  <a:cubicBezTo>
                    <a:pt x="204" y="44"/>
                    <a:pt x="213" y="56"/>
                    <a:pt x="218" y="69"/>
                  </a:cubicBezTo>
                  <a:cubicBezTo>
                    <a:pt x="224" y="83"/>
                    <a:pt x="227" y="98"/>
                    <a:pt x="227" y="114"/>
                  </a:cubicBezTo>
                  <a:cubicBezTo>
                    <a:pt x="227" y="129"/>
                    <a:pt x="224" y="144"/>
                    <a:pt x="218" y="158"/>
                  </a:cubicBezTo>
                  <a:cubicBezTo>
                    <a:pt x="213" y="171"/>
                    <a:pt x="204" y="183"/>
                    <a:pt x="194" y="194"/>
                  </a:cubicBezTo>
                  <a:cubicBezTo>
                    <a:pt x="184" y="204"/>
                    <a:pt x="171" y="212"/>
                    <a:pt x="158" y="218"/>
                  </a:cubicBezTo>
                  <a:cubicBezTo>
                    <a:pt x="144" y="224"/>
                    <a:pt x="129" y="227"/>
                    <a:pt x="114" y="227"/>
                  </a:cubicBezTo>
                  <a:close/>
                  <a:moveTo>
                    <a:pt x="114" y="5"/>
                  </a:moveTo>
                  <a:cubicBezTo>
                    <a:pt x="54" y="5"/>
                    <a:pt x="6" y="54"/>
                    <a:pt x="6" y="114"/>
                  </a:cubicBezTo>
                  <a:cubicBezTo>
                    <a:pt x="6" y="173"/>
                    <a:pt x="54" y="222"/>
                    <a:pt x="114" y="222"/>
                  </a:cubicBezTo>
                  <a:cubicBezTo>
                    <a:pt x="173" y="222"/>
                    <a:pt x="222" y="173"/>
                    <a:pt x="222" y="114"/>
                  </a:cubicBezTo>
                  <a:cubicBezTo>
                    <a:pt x="222" y="54"/>
                    <a:pt x="173" y="5"/>
                    <a:pt x="114" y="5"/>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4" name="Freeform 62"/>
            <p:cNvSpPr/>
            <p:nvPr/>
          </p:nvSpPr>
          <p:spPr bwMode="auto">
            <a:xfrm>
              <a:off x="4279900" y="5867400"/>
              <a:ext cx="73025" cy="119063"/>
            </a:xfrm>
            <a:custGeom>
              <a:avLst/>
              <a:gdLst>
                <a:gd name="T0" fmla="*/ 8 w 13"/>
                <a:gd name="T1" fmla="*/ 17 h 21"/>
                <a:gd name="T2" fmla="*/ 10 w 13"/>
                <a:gd name="T3" fmla="*/ 20 h 21"/>
                <a:gd name="T4" fmla="*/ 11 w 13"/>
                <a:gd name="T5" fmla="*/ 21 h 21"/>
                <a:gd name="T6" fmla="*/ 11 w 13"/>
                <a:gd name="T7" fmla="*/ 21 h 21"/>
                <a:gd name="T8" fmla="*/ 5 w 13"/>
                <a:gd name="T9" fmla="*/ 19 h 21"/>
                <a:gd name="T10" fmla="*/ 0 w 13"/>
                <a:gd name="T11" fmla="*/ 17 h 21"/>
                <a:gd name="T12" fmla="*/ 0 w 13"/>
                <a:gd name="T13" fmla="*/ 17 h 21"/>
                <a:gd name="T14" fmla="*/ 2 w 13"/>
                <a:gd name="T15" fmla="*/ 17 h 21"/>
                <a:gd name="T16" fmla="*/ 4 w 13"/>
                <a:gd name="T17" fmla="*/ 16 h 21"/>
                <a:gd name="T18" fmla="*/ 9 w 13"/>
                <a:gd name="T19" fmla="*/ 3 h 21"/>
                <a:gd name="T20" fmla="*/ 8 w 13"/>
                <a:gd name="T21" fmla="*/ 2 h 21"/>
                <a:gd name="T22" fmla="*/ 4 w 13"/>
                <a:gd name="T23" fmla="*/ 1 h 21"/>
                <a:gd name="T24" fmla="*/ 4 w 13"/>
                <a:gd name="T25" fmla="*/ 1 h 21"/>
                <a:gd name="T26" fmla="*/ 7 w 13"/>
                <a:gd name="T27" fmla="*/ 1 h 21"/>
                <a:gd name="T28" fmla="*/ 13 w 13"/>
                <a:gd name="T29" fmla="*/ 1 h 21"/>
                <a:gd name="T30" fmla="*/ 13 w 13"/>
                <a:gd name="T31" fmla="*/ 2 h 21"/>
                <a:gd name="T32" fmla="*/ 8 w 13"/>
                <a:gd name="T33"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 h="21">
                  <a:moveTo>
                    <a:pt x="8" y="17"/>
                  </a:moveTo>
                  <a:cubicBezTo>
                    <a:pt x="8" y="18"/>
                    <a:pt x="8" y="19"/>
                    <a:pt x="10" y="20"/>
                  </a:cubicBezTo>
                  <a:cubicBezTo>
                    <a:pt x="11" y="20"/>
                    <a:pt x="11" y="20"/>
                    <a:pt x="11" y="21"/>
                  </a:cubicBezTo>
                  <a:cubicBezTo>
                    <a:pt x="11" y="21"/>
                    <a:pt x="11" y="21"/>
                    <a:pt x="11" y="21"/>
                  </a:cubicBezTo>
                  <a:cubicBezTo>
                    <a:pt x="9" y="20"/>
                    <a:pt x="7" y="20"/>
                    <a:pt x="5" y="19"/>
                  </a:cubicBezTo>
                  <a:cubicBezTo>
                    <a:pt x="4" y="18"/>
                    <a:pt x="2" y="18"/>
                    <a:pt x="0" y="17"/>
                  </a:cubicBezTo>
                  <a:cubicBezTo>
                    <a:pt x="0" y="17"/>
                    <a:pt x="0" y="17"/>
                    <a:pt x="0" y="17"/>
                  </a:cubicBezTo>
                  <a:cubicBezTo>
                    <a:pt x="0" y="16"/>
                    <a:pt x="0" y="16"/>
                    <a:pt x="2" y="17"/>
                  </a:cubicBezTo>
                  <a:cubicBezTo>
                    <a:pt x="3" y="17"/>
                    <a:pt x="4" y="17"/>
                    <a:pt x="4" y="16"/>
                  </a:cubicBezTo>
                  <a:cubicBezTo>
                    <a:pt x="9" y="3"/>
                    <a:pt x="9" y="3"/>
                    <a:pt x="9" y="3"/>
                  </a:cubicBezTo>
                  <a:cubicBezTo>
                    <a:pt x="9" y="3"/>
                    <a:pt x="9" y="3"/>
                    <a:pt x="8" y="2"/>
                  </a:cubicBezTo>
                  <a:cubicBezTo>
                    <a:pt x="4" y="1"/>
                    <a:pt x="4" y="1"/>
                    <a:pt x="4" y="1"/>
                  </a:cubicBezTo>
                  <a:cubicBezTo>
                    <a:pt x="4" y="1"/>
                    <a:pt x="4" y="1"/>
                    <a:pt x="4" y="1"/>
                  </a:cubicBezTo>
                  <a:cubicBezTo>
                    <a:pt x="4" y="0"/>
                    <a:pt x="5" y="1"/>
                    <a:pt x="7" y="1"/>
                  </a:cubicBezTo>
                  <a:cubicBezTo>
                    <a:pt x="11" y="2"/>
                    <a:pt x="13" y="1"/>
                    <a:pt x="13" y="1"/>
                  </a:cubicBezTo>
                  <a:cubicBezTo>
                    <a:pt x="13" y="1"/>
                    <a:pt x="13" y="1"/>
                    <a:pt x="13" y="2"/>
                  </a:cubicBezTo>
                  <a:lnTo>
                    <a:pt x="8" y="17"/>
                  </a:ln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5" name="Freeform 63"/>
            <p:cNvSpPr>
              <a:spLocks noEditPoints="1"/>
            </p:cNvSpPr>
            <p:nvPr/>
          </p:nvSpPr>
          <p:spPr bwMode="auto">
            <a:xfrm>
              <a:off x="4392613" y="5889625"/>
              <a:ext cx="84138" cy="107950"/>
            </a:xfrm>
            <a:custGeom>
              <a:avLst/>
              <a:gdLst>
                <a:gd name="T0" fmla="*/ 8 w 15"/>
                <a:gd name="T1" fmla="*/ 0 h 19"/>
                <a:gd name="T2" fmla="*/ 14 w 15"/>
                <a:gd name="T3" fmla="*/ 9 h 19"/>
                <a:gd name="T4" fmla="*/ 2 w 15"/>
                <a:gd name="T5" fmla="*/ 19 h 19"/>
                <a:gd name="T6" fmla="*/ 2 w 15"/>
                <a:gd name="T7" fmla="*/ 19 h 19"/>
                <a:gd name="T8" fmla="*/ 10 w 15"/>
                <a:gd name="T9" fmla="*/ 11 h 19"/>
                <a:gd name="T10" fmla="*/ 6 w 15"/>
                <a:gd name="T11" fmla="*/ 12 h 19"/>
                <a:gd name="T12" fmla="*/ 0 w 15"/>
                <a:gd name="T13" fmla="*/ 5 h 19"/>
                <a:gd name="T14" fmla="*/ 8 w 15"/>
                <a:gd name="T15" fmla="*/ 0 h 19"/>
                <a:gd name="T16" fmla="*/ 7 w 15"/>
                <a:gd name="T17" fmla="*/ 11 h 19"/>
                <a:gd name="T18" fmla="*/ 10 w 15"/>
                <a:gd name="T19" fmla="*/ 10 h 19"/>
                <a:gd name="T20" fmla="*/ 11 w 15"/>
                <a:gd name="T21" fmla="*/ 7 h 19"/>
                <a:gd name="T22" fmla="*/ 8 w 15"/>
                <a:gd name="T23" fmla="*/ 1 h 19"/>
                <a:gd name="T24" fmla="*/ 4 w 15"/>
                <a:gd name="T25" fmla="*/ 6 h 19"/>
                <a:gd name="T26" fmla="*/ 7 w 15"/>
                <a:gd name="T27" fmla="*/ 11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5" h="19">
                  <a:moveTo>
                    <a:pt x="8" y="0"/>
                  </a:moveTo>
                  <a:cubicBezTo>
                    <a:pt x="12" y="1"/>
                    <a:pt x="15" y="4"/>
                    <a:pt x="14" y="9"/>
                  </a:cubicBezTo>
                  <a:cubicBezTo>
                    <a:pt x="13" y="17"/>
                    <a:pt x="3" y="19"/>
                    <a:pt x="2" y="19"/>
                  </a:cubicBezTo>
                  <a:cubicBezTo>
                    <a:pt x="2" y="19"/>
                    <a:pt x="1" y="19"/>
                    <a:pt x="2" y="19"/>
                  </a:cubicBezTo>
                  <a:cubicBezTo>
                    <a:pt x="2" y="18"/>
                    <a:pt x="7" y="18"/>
                    <a:pt x="10" y="11"/>
                  </a:cubicBezTo>
                  <a:cubicBezTo>
                    <a:pt x="9" y="11"/>
                    <a:pt x="7" y="12"/>
                    <a:pt x="6" y="12"/>
                  </a:cubicBezTo>
                  <a:cubicBezTo>
                    <a:pt x="1" y="11"/>
                    <a:pt x="0" y="8"/>
                    <a:pt x="0" y="5"/>
                  </a:cubicBezTo>
                  <a:cubicBezTo>
                    <a:pt x="0" y="2"/>
                    <a:pt x="3" y="0"/>
                    <a:pt x="8" y="0"/>
                  </a:cubicBezTo>
                  <a:close/>
                  <a:moveTo>
                    <a:pt x="7" y="11"/>
                  </a:moveTo>
                  <a:cubicBezTo>
                    <a:pt x="8" y="11"/>
                    <a:pt x="10" y="10"/>
                    <a:pt x="10" y="10"/>
                  </a:cubicBezTo>
                  <a:cubicBezTo>
                    <a:pt x="10" y="10"/>
                    <a:pt x="10" y="9"/>
                    <a:pt x="11" y="7"/>
                  </a:cubicBezTo>
                  <a:cubicBezTo>
                    <a:pt x="11" y="2"/>
                    <a:pt x="10" y="1"/>
                    <a:pt x="8" y="1"/>
                  </a:cubicBezTo>
                  <a:cubicBezTo>
                    <a:pt x="6" y="0"/>
                    <a:pt x="4" y="1"/>
                    <a:pt x="4" y="6"/>
                  </a:cubicBezTo>
                  <a:cubicBezTo>
                    <a:pt x="3" y="9"/>
                    <a:pt x="5" y="11"/>
                    <a:pt x="7" y="1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6" name="Freeform 64"/>
            <p:cNvSpPr>
              <a:spLocks noEditPoints="1"/>
            </p:cNvSpPr>
            <p:nvPr/>
          </p:nvSpPr>
          <p:spPr bwMode="auto">
            <a:xfrm>
              <a:off x="4503738" y="5889625"/>
              <a:ext cx="79375" cy="112713"/>
            </a:xfrm>
            <a:custGeom>
              <a:avLst/>
              <a:gdLst>
                <a:gd name="T0" fmla="*/ 3 w 14"/>
                <a:gd name="T1" fmla="*/ 10 h 20"/>
                <a:gd name="T2" fmla="*/ 0 w 14"/>
                <a:gd name="T3" fmla="*/ 6 h 20"/>
                <a:gd name="T4" fmla="*/ 6 w 14"/>
                <a:gd name="T5" fmla="*/ 0 h 20"/>
                <a:gd name="T6" fmla="*/ 12 w 14"/>
                <a:gd name="T7" fmla="*/ 4 h 20"/>
                <a:gd name="T8" fmla="*/ 10 w 14"/>
                <a:gd name="T9" fmla="*/ 8 h 20"/>
                <a:gd name="T10" fmla="*/ 14 w 14"/>
                <a:gd name="T11" fmla="*/ 13 h 20"/>
                <a:gd name="T12" fmla="*/ 7 w 14"/>
                <a:gd name="T13" fmla="*/ 20 h 20"/>
                <a:gd name="T14" fmla="*/ 0 w 14"/>
                <a:gd name="T15" fmla="*/ 15 h 20"/>
                <a:gd name="T16" fmla="*/ 3 w 14"/>
                <a:gd name="T17" fmla="*/ 10 h 20"/>
                <a:gd name="T18" fmla="*/ 7 w 14"/>
                <a:gd name="T19" fmla="*/ 19 h 20"/>
                <a:gd name="T20" fmla="*/ 11 w 14"/>
                <a:gd name="T21" fmla="*/ 15 h 20"/>
                <a:gd name="T22" fmla="*/ 7 w 14"/>
                <a:gd name="T23" fmla="*/ 12 h 20"/>
                <a:gd name="T24" fmla="*/ 3 w 14"/>
                <a:gd name="T25" fmla="*/ 11 h 20"/>
                <a:gd name="T26" fmla="*/ 2 w 14"/>
                <a:gd name="T27" fmla="*/ 15 h 20"/>
                <a:gd name="T28" fmla="*/ 7 w 14"/>
                <a:gd name="T29" fmla="*/ 19 h 20"/>
                <a:gd name="T30" fmla="*/ 6 w 14"/>
                <a:gd name="T31" fmla="*/ 1 h 20"/>
                <a:gd name="T32" fmla="*/ 3 w 14"/>
                <a:gd name="T33" fmla="*/ 4 h 20"/>
                <a:gd name="T34" fmla="*/ 10 w 14"/>
                <a:gd name="T35" fmla="*/ 8 h 20"/>
                <a:gd name="T36" fmla="*/ 11 w 14"/>
                <a:gd name="T37" fmla="*/ 5 h 20"/>
                <a:gd name="T38" fmla="*/ 6 w 14"/>
                <a:gd name="T39" fmla="*/ 1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 h="20">
                  <a:moveTo>
                    <a:pt x="3" y="10"/>
                  </a:moveTo>
                  <a:cubicBezTo>
                    <a:pt x="1" y="9"/>
                    <a:pt x="0" y="8"/>
                    <a:pt x="0" y="6"/>
                  </a:cubicBezTo>
                  <a:cubicBezTo>
                    <a:pt x="0" y="3"/>
                    <a:pt x="2" y="1"/>
                    <a:pt x="6" y="0"/>
                  </a:cubicBezTo>
                  <a:cubicBezTo>
                    <a:pt x="9" y="0"/>
                    <a:pt x="12" y="2"/>
                    <a:pt x="12" y="4"/>
                  </a:cubicBezTo>
                  <a:cubicBezTo>
                    <a:pt x="12" y="6"/>
                    <a:pt x="12" y="7"/>
                    <a:pt x="10" y="8"/>
                  </a:cubicBezTo>
                  <a:cubicBezTo>
                    <a:pt x="13" y="9"/>
                    <a:pt x="14" y="11"/>
                    <a:pt x="14" y="13"/>
                  </a:cubicBezTo>
                  <a:cubicBezTo>
                    <a:pt x="14" y="17"/>
                    <a:pt x="11" y="19"/>
                    <a:pt x="7" y="20"/>
                  </a:cubicBezTo>
                  <a:cubicBezTo>
                    <a:pt x="3" y="20"/>
                    <a:pt x="0" y="18"/>
                    <a:pt x="0" y="15"/>
                  </a:cubicBezTo>
                  <a:cubicBezTo>
                    <a:pt x="0" y="14"/>
                    <a:pt x="1" y="12"/>
                    <a:pt x="3" y="10"/>
                  </a:cubicBezTo>
                  <a:close/>
                  <a:moveTo>
                    <a:pt x="7" y="19"/>
                  </a:moveTo>
                  <a:cubicBezTo>
                    <a:pt x="10" y="19"/>
                    <a:pt x="11" y="17"/>
                    <a:pt x="11" y="15"/>
                  </a:cubicBezTo>
                  <a:cubicBezTo>
                    <a:pt x="11" y="14"/>
                    <a:pt x="10" y="12"/>
                    <a:pt x="7" y="12"/>
                  </a:cubicBezTo>
                  <a:cubicBezTo>
                    <a:pt x="4" y="11"/>
                    <a:pt x="4" y="10"/>
                    <a:pt x="3" y="11"/>
                  </a:cubicBezTo>
                  <a:cubicBezTo>
                    <a:pt x="3" y="11"/>
                    <a:pt x="1" y="12"/>
                    <a:pt x="2" y="15"/>
                  </a:cubicBezTo>
                  <a:cubicBezTo>
                    <a:pt x="2" y="18"/>
                    <a:pt x="4" y="20"/>
                    <a:pt x="7" y="19"/>
                  </a:cubicBezTo>
                  <a:close/>
                  <a:moveTo>
                    <a:pt x="6" y="1"/>
                  </a:moveTo>
                  <a:cubicBezTo>
                    <a:pt x="4" y="1"/>
                    <a:pt x="3" y="2"/>
                    <a:pt x="3" y="4"/>
                  </a:cubicBezTo>
                  <a:cubicBezTo>
                    <a:pt x="4" y="7"/>
                    <a:pt x="8" y="8"/>
                    <a:pt x="10" y="8"/>
                  </a:cubicBezTo>
                  <a:cubicBezTo>
                    <a:pt x="11" y="8"/>
                    <a:pt x="11" y="7"/>
                    <a:pt x="11" y="5"/>
                  </a:cubicBezTo>
                  <a:cubicBezTo>
                    <a:pt x="11" y="2"/>
                    <a:pt x="9" y="1"/>
                    <a:pt x="6" y="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7" name="Freeform 65"/>
            <p:cNvSpPr/>
            <p:nvPr/>
          </p:nvSpPr>
          <p:spPr bwMode="auto">
            <a:xfrm>
              <a:off x="4605338" y="5867400"/>
              <a:ext cx="88900" cy="119063"/>
            </a:xfrm>
            <a:custGeom>
              <a:avLst/>
              <a:gdLst>
                <a:gd name="T0" fmla="*/ 11 w 16"/>
                <a:gd name="T1" fmla="*/ 7 h 21"/>
                <a:gd name="T2" fmla="*/ 15 w 16"/>
                <a:gd name="T3" fmla="*/ 11 h 21"/>
                <a:gd name="T4" fmla="*/ 10 w 16"/>
                <a:gd name="T5" fmla="*/ 20 h 21"/>
                <a:gd name="T6" fmla="*/ 2 w 16"/>
                <a:gd name="T7" fmla="*/ 18 h 21"/>
                <a:gd name="T8" fmla="*/ 4 w 16"/>
                <a:gd name="T9" fmla="*/ 16 h 21"/>
                <a:gd name="T10" fmla="*/ 6 w 16"/>
                <a:gd name="T11" fmla="*/ 18 h 21"/>
                <a:gd name="T12" fmla="*/ 10 w 16"/>
                <a:gd name="T13" fmla="*/ 19 h 21"/>
                <a:gd name="T14" fmla="*/ 12 w 16"/>
                <a:gd name="T15" fmla="*/ 14 h 21"/>
                <a:gd name="T16" fmla="*/ 8 w 16"/>
                <a:gd name="T17" fmla="*/ 10 h 21"/>
                <a:gd name="T18" fmla="*/ 5 w 16"/>
                <a:gd name="T19" fmla="*/ 11 h 21"/>
                <a:gd name="T20" fmla="*/ 8 w 16"/>
                <a:gd name="T21" fmla="*/ 9 h 21"/>
                <a:gd name="T22" fmla="*/ 8 w 16"/>
                <a:gd name="T23" fmla="*/ 6 h 21"/>
                <a:gd name="T24" fmla="*/ 3 w 16"/>
                <a:gd name="T25" fmla="*/ 4 h 21"/>
                <a:gd name="T26" fmla="*/ 0 w 16"/>
                <a:gd name="T27" fmla="*/ 7 h 21"/>
                <a:gd name="T28" fmla="*/ 0 w 16"/>
                <a:gd name="T29" fmla="*/ 7 h 21"/>
                <a:gd name="T30" fmla="*/ 5 w 16"/>
                <a:gd name="T31" fmla="*/ 1 h 21"/>
                <a:gd name="T32" fmla="*/ 11 w 16"/>
                <a:gd name="T33" fmla="*/ 4 h 21"/>
                <a:gd name="T34" fmla="*/ 11 w 16"/>
                <a:gd name="T35" fmla="*/ 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 h="21">
                  <a:moveTo>
                    <a:pt x="11" y="7"/>
                  </a:moveTo>
                  <a:cubicBezTo>
                    <a:pt x="13" y="8"/>
                    <a:pt x="14" y="9"/>
                    <a:pt x="15" y="11"/>
                  </a:cubicBezTo>
                  <a:cubicBezTo>
                    <a:pt x="16" y="15"/>
                    <a:pt x="14" y="19"/>
                    <a:pt x="10" y="20"/>
                  </a:cubicBezTo>
                  <a:cubicBezTo>
                    <a:pt x="6" y="21"/>
                    <a:pt x="3" y="20"/>
                    <a:pt x="2" y="18"/>
                  </a:cubicBezTo>
                  <a:cubicBezTo>
                    <a:pt x="2" y="17"/>
                    <a:pt x="2" y="16"/>
                    <a:pt x="4" y="16"/>
                  </a:cubicBezTo>
                  <a:cubicBezTo>
                    <a:pt x="5" y="15"/>
                    <a:pt x="6" y="16"/>
                    <a:pt x="6" y="18"/>
                  </a:cubicBezTo>
                  <a:cubicBezTo>
                    <a:pt x="7" y="19"/>
                    <a:pt x="8" y="20"/>
                    <a:pt x="10" y="19"/>
                  </a:cubicBezTo>
                  <a:cubicBezTo>
                    <a:pt x="12" y="19"/>
                    <a:pt x="13" y="17"/>
                    <a:pt x="12" y="14"/>
                  </a:cubicBezTo>
                  <a:cubicBezTo>
                    <a:pt x="11" y="12"/>
                    <a:pt x="9" y="10"/>
                    <a:pt x="8" y="10"/>
                  </a:cubicBezTo>
                  <a:cubicBezTo>
                    <a:pt x="7" y="10"/>
                    <a:pt x="5" y="11"/>
                    <a:pt x="5" y="11"/>
                  </a:cubicBezTo>
                  <a:cubicBezTo>
                    <a:pt x="5" y="10"/>
                    <a:pt x="6" y="10"/>
                    <a:pt x="8" y="9"/>
                  </a:cubicBezTo>
                  <a:cubicBezTo>
                    <a:pt x="8" y="8"/>
                    <a:pt x="8" y="7"/>
                    <a:pt x="8" y="6"/>
                  </a:cubicBezTo>
                  <a:cubicBezTo>
                    <a:pt x="7" y="4"/>
                    <a:pt x="6" y="3"/>
                    <a:pt x="3" y="4"/>
                  </a:cubicBezTo>
                  <a:cubicBezTo>
                    <a:pt x="1" y="4"/>
                    <a:pt x="1" y="7"/>
                    <a:pt x="0" y="7"/>
                  </a:cubicBezTo>
                  <a:cubicBezTo>
                    <a:pt x="0" y="7"/>
                    <a:pt x="0" y="7"/>
                    <a:pt x="0" y="7"/>
                  </a:cubicBezTo>
                  <a:cubicBezTo>
                    <a:pt x="0" y="6"/>
                    <a:pt x="1" y="2"/>
                    <a:pt x="5" y="1"/>
                  </a:cubicBezTo>
                  <a:cubicBezTo>
                    <a:pt x="7" y="0"/>
                    <a:pt x="10" y="1"/>
                    <a:pt x="11" y="4"/>
                  </a:cubicBezTo>
                  <a:cubicBezTo>
                    <a:pt x="12" y="5"/>
                    <a:pt x="11" y="6"/>
                    <a:pt x="11" y="7"/>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8" name="Freeform 66"/>
            <p:cNvSpPr/>
            <p:nvPr/>
          </p:nvSpPr>
          <p:spPr bwMode="auto">
            <a:xfrm>
              <a:off x="4375150" y="5480050"/>
              <a:ext cx="22225" cy="6350"/>
            </a:xfrm>
            <a:custGeom>
              <a:avLst/>
              <a:gdLst>
                <a:gd name="T0" fmla="*/ 1 w 4"/>
                <a:gd name="T1" fmla="*/ 1 h 1"/>
                <a:gd name="T2" fmla="*/ 2 w 4"/>
                <a:gd name="T3" fmla="*/ 1 h 1"/>
                <a:gd name="T4" fmla="*/ 4 w 4"/>
                <a:gd name="T5" fmla="*/ 1 h 1"/>
                <a:gd name="T6" fmla="*/ 4 w 4"/>
                <a:gd name="T7" fmla="*/ 1 h 1"/>
                <a:gd name="T8" fmla="*/ 2 w 4"/>
                <a:gd name="T9" fmla="*/ 0 h 1"/>
                <a:gd name="T10" fmla="*/ 0 w 4"/>
                <a:gd name="T11" fmla="*/ 1 h 1"/>
                <a:gd name="T12" fmla="*/ 1 w 4"/>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4" h="1">
                  <a:moveTo>
                    <a:pt x="1" y="1"/>
                  </a:moveTo>
                  <a:cubicBezTo>
                    <a:pt x="2" y="1"/>
                    <a:pt x="2" y="1"/>
                    <a:pt x="2" y="1"/>
                  </a:cubicBezTo>
                  <a:cubicBezTo>
                    <a:pt x="3" y="1"/>
                    <a:pt x="3" y="1"/>
                    <a:pt x="4" y="1"/>
                  </a:cubicBezTo>
                  <a:cubicBezTo>
                    <a:pt x="4" y="1"/>
                    <a:pt x="4" y="1"/>
                    <a:pt x="4" y="1"/>
                  </a:cubicBezTo>
                  <a:cubicBezTo>
                    <a:pt x="4" y="0"/>
                    <a:pt x="3" y="0"/>
                    <a:pt x="2" y="0"/>
                  </a:cubicBezTo>
                  <a:cubicBezTo>
                    <a:pt x="2" y="0"/>
                    <a:pt x="0" y="0"/>
                    <a:pt x="0" y="1"/>
                  </a:cubicBezTo>
                  <a:cubicBezTo>
                    <a:pt x="0" y="1"/>
                    <a:pt x="1" y="1"/>
                    <a:pt x="1" y="1"/>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9" name="Freeform 67"/>
            <p:cNvSpPr/>
            <p:nvPr/>
          </p:nvSpPr>
          <p:spPr bwMode="auto">
            <a:xfrm>
              <a:off x="4346575" y="5554663"/>
              <a:ext cx="73025" cy="17463"/>
            </a:xfrm>
            <a:custGeom>
              <a:avLst/>
              <a:gdLst>
                <a:gd name="T0" fmla="*/ 13 w 13"/>
                <a:gd name="T1" fmla="*/ 2 h 3"/>
                <a:gd name="T2" fmla="*/ 9 w 13"/>
                <a:gd name="T3" fmla="*/ 1 h 3"/>
                <a:gd name="T4" fmla="*/ 1 w 13"/>
                <a:gd name="T5" fmla="*/ 1 h 3"/>
                <a:gd name="T6" fmla="*/ 0 w 13"/>
                <a:gd name="T7" fmla="*/ 2 h 3"/>
                <a:gd name="T8" fmla="*/ 6 w 13"/>
                <a:gd name="T9" fmla="*/ 3 h 3"/>
                <a:gd name="T10" fmla="*/ 8 w 13"/>
                <a:gd name="T11" fmla="*/ 3 h 3"/>
                <a:gd name="T12" fmla="*/ 13 w 13"/>
                <a:gd name="T13" fmla="*/ 2 h 3"/>
              </a:gdLst>
              <a:ahLst/>
              <a:cxnLst>
                <a:cxn ang="0">
                  <a:pos x="T0" y="T1"/>
                </a:cxn>
                <a:cxn ang="0">
                  <a:pos x="T2" y="T3"/>
                </a:cxn>
                <a:cxn ang="0">
                  <a:pos x="T4" y="T5"/>
                </a:cxn>
                <a:cxn ang="0">
                  <a:pos x="T6" y="T7"/>
                </a:cxn>
                <a:cxn ang="0">
                  <a:pos x="T8" y="T9"/>
                </a:cxn>
                <a:cxn ang="0">
                  <a:pos x="T10" y="T11"/>
                </a:cxn>
                <a:cxn ang="0">
                  <a:pos x="T12" y="T13"/>
                </a:cxn>
              </a:cxnLst>
              <a:rect l="0" t="0" r="r" b="b"/>
              <a:pathLst>
                <a:path w="13" h="3">
                  <a:moveTo>
                    <a:pt x="13" y="2"/>
                  </a:moveTo>
                  <a:cubicBezTo>
                    <a:pt x="13" y="0"/>
                    <a:pt x="13" y="1"/>
                    <a:pt x="9" y="1"/>
                  </a:cubicBezTo>
                  <a:cubicBezTo>
                    <a:pt x="8" y="1"/>
                    <a:pt x="2" y="1"/>
                    <a:pt x="1" y="1"/>
                  </a:cubicBezTo>
                  <a:cubicBezTo>
                    <a:pt x="0" y="1"/>
                    <a:pt x="0" y="2"/>
                    <a:pt x="0" y="2"/>
                  </a:cubicBezTo>
                  <a:cubicBezTo>
                    <a:pt x="0" y="3"/>
                    <a:pt x="0" y="3"/>
                    <a:pt x="6" y="3"/>
                  </a:cubicBezTo>
                  <a:cubicBezTo>
                    <a:pt x="8" y="3"/>
                    <a:pt x="8" y="3"/>
                    <a:pt x="8" y="3"/>
                  </a:cubicBezTo>
                  <a:cubicBezTo>
                    <a:pt x="12" y="3"/>
                    <a:pt x="12" y="3"/>
                    <a:pt x="13" y="2"/>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0" name="Freeform 68"/>
            <p:cNvSpPr>
              <a:spLocks noEditPoints="1"/>
            </p:cNvSpPr>
            <p:nvPr/>
          </p:nvSpPr>
          <p:spPr bwMode="auto">
            <a:xfrm>
              <a:off x="4106863" y="5043488"/>
              <a:ext cx="766763" cy="777875"/>
            </a:xfrm>
            <a:custGeom>
              <a:avLst/>
              <a:gdLst>
                <a:gd name="T0" fmla="*/ 137 w 137"/>
                <a:gd name="T1" fmla="*/ 42 h 137"/>
                <a:gd name="T2" fmla="*/ 91 w 137"/>
                <a:gd name="T3" fmla="*/ 1 h 137"/>
                <a:gd name="T4" fmla="*/ 50 w 137"/>
                <a:gd name="T5" fmla="*/ 4 h 137"/>
                <a:gd name="T6" fmla="*/ 42 w 137"/>
                <a:gd name="T7" fmla="*/ 0 h 137"/>
                <a:gd name="T8" fmla="*/ 20 w 137"/>
                <a:gd name="T9" fmla="*/ 43 h 137"/>
                <a:gd name="T10" fmla="*/ 2 w 137"/>
                <a:gd name="T11" fmla="*/ 64 h 137"/>
                <a:gd name="T12" fmla="*/ 20 w 137"/>
                <a:gd name="T13" fmla="*/ 67 h 137"/>
                <a:gd name="T14" fmla="*/ 2 w 137"/>
                <a:gd name="T15" fmla="*/ 88 h 137"/>
                <a:gd name="T16" fmla="*/ 21 w 137"/>
                <a:gd name="T17" fmla="*/ 87 h 137"/>
                <a:gd name="T18" fmla="*/ 47 w 137"/>
                <a:gd name="T19" fmla="*/ 121 h 137"/>
                <a:gd name="T20" fmla="*/ 42 w 137"/>
                <a:gd name="T21" fmla="*/ 137 h 137"/>
                <a:gd name="T22" fmla="*/ 63 w 137"/>
                <a:gd name="T23" fmla="*/ 121 h 137"/>
                <a:gd name="T24" fmla="*/ 74 w 137"/>
                <a:gd name="T25" fmla="*/ 119 h 137"/>
                <a:gd name="T26" fmla="*/ 84 w 137"/>
                <a:gd name="T27" fmla="*/ 119 h 137"/>
                <a:gd name="T28" fmla="*/ 118 w 137"/>
                <a:gd name="T29" fmla="*/ 94 h 137"/>
                <a:gd name="T30" fmla="*/ 136 w 137"/>
                <a:gd name="T31" fmla="*/ 98 h 137"/>
                <a:gd name="T32" fmla="*/ 116 w 137"/>
                <a:gd name="T33" fmla="*/ 66 h 137"/>
                <a:gd name="T34" fmla="*/ 137 w 137"/>
                <a:gd name="T35" fmla="*/ 88 h 137"/>
                <a:gd name="T36" fmla="*/ 116 w 137"/>
                <a:gd name="T37" fmla="*/ 41 h 137"/>
                <a:gd name="T38" fmla="*/ 103 w 137"/>
                <a:gd name="T39" fmla="*/ 44 h 137"/>
                <a:gd name="T40" fmla="*/ 80 w 137"/>
                <a:gd name="T41" fmla="*/ 35 h 137"/>
                <a:gd name="T42" fmla="*/ 80 w 137"/>
                <a:gd name="T43" fmla="*/ 35 h 137"/>
                <a:gd name="T44" fmla="*/ 79 w 137"/>
                <a:gd name="T45" fmla="*/ 52 h 137"/>
                <a:gd name="T46" fmla="*/ 77 w 137"/>
                <a:gd name="T47" fmla="*/ 53 h 137"/>
                <a:gd name="T48" fmla="*/ 73 w 137"/>
                <a:gd name="T49" fmla="*/ 34 h 137"/>
                <a:gd name="T50" fmla="*/ 73 w 137"/>
                <a:gd name="T51" fmla="*/ 59 h 137"/>
                <a:gd name="T52" fmla="*/ 53 w 137"/>
                <a:gd name="T53" fmla="*/ 104 h 137"/>
                <a:gd name="T54" fmla="*/ 39 w 137"/>
                <a:gd name="T55" fmla="*/ 100 h 137"/>
                <a:gd name="T56" fmla="*/ 39 w 137"/>
                <a:gd name="T57" fmla="*/ 92 h 137"/>
                <a:gd name="T58" fmla="*/ 61 w 137"/>
                <a:gd name="T59" fmla="*/ 98 h 137"/>
                <a:gd name="T60" fmla="*/ 32 w 137"/>
                <a:gd name="T61" fmla="*/ 94 h 137"/>
                <a:gd name="T62" fmla="*/ 40 w 137"/>
                <a:gd name="T63" fmla="*/ 77 h 137"/>
                <a:gd name="T64" fmla="*/ 34 w 137"/>
                <a:gd name="T65" fmla="*/ 83 h 137"/>
                <a:gd name="T66" fmla="*/ 45 w 137"/>
                <a:gd name="T67" fmla="*/ 73 h 137"/>
                <a:gd name="T68" fmla="*/ 53 w 137"/>
                <a:gd name="T69" fmla="*/ 75 h 137"/>
                <a:gd name="T70" fmla="*/ 54 w 137"/>
                <a:gd name="T71" fmla="*/ 83 h 137"/>
                <a:gd name="T72" fmla="*/ 44 w 137"/>
                <a:gd name="T73" fmla="*/ 78 h 137"/>
                <a:gd name="T74" fmla="*/ 60 w 137"/>
                <a:gd name="T75" fmla="*/ 81 h 137"/>
                <a:gd name="T76" fmla="*/ 58 w 137"/>
                <a:gd name="T77" fmla="*/ 74 h 137"/>
                <a:gd name="T78" fmla="*/ 50 w 137"/>
                <a:gd name="T79" fmla="*/ 56 h 137"/>
                <a:gd name="T80" fmla="*/ 37 w 137"/>
                <a:gd name="T81" fmla="*/ 45 h 137"/>
                <a:gd name="T82" fmla="*/ 49 w 137"/>
                <a:gd name="T83" fmla="*/ 32 h 137"/>
                <a:gd name="T84" fmla="*/ 61 w 137"/>
                <a:gd name="T85" fmla="*/ 42 h 137"/>
                <a:gd name="T86" fmla="*/ 52 w 137"/>
                <a:gd name="T87" fmla="*/ 21 h 137"/>
                <a:gd name="T88" fmla="*/ 79 w 137"/>
                <a:gd name="T89" fmla="*/ 97 h 137"/>
                <a:gd name="T90" fmla="*/ 75 w 137"/>
                <a:gd name="T91" fmla="*/ 97 h 137"/>
                <a:gd name="T92" fmla="*/ 75 w 137"/>
                <a:gd name="T93" fmla="*/ 88 h 137"/>
                <a:gd name="T94" fmla="*/ 84 w 137"/>
                <a:gd name="T95" fmla="*/ 78 h 137"/>
                <a:gd name="T96" fmla="*/ 85 w 137"/>
                <a:gd name="T97" fmla="*/ 98 h 137"/>
                <a:gd name="T98" fmla="*/ 91 w 137"/>
                <a:gd name="T99" fmla="*/ 73 h 137"/>
                <a:gd name="T100" fmla="*/ 98 w 137"/>
                <a:gd name="T101" fmla="*/ 107 h 137"/>
                <a:gd name="T102" fmla="*/ 97 w 137"/>
                <a:gd name="T103" fmla="*/ 72 h 137"/>
                <a:gd name="T104" fmla="*/ 104 w 137"/>
                <a:gd name="T105" fmla="*/ 102 h 137"/>
                <a:gd name="T106" fmla="*/ 102 w 137"/>
                <a:gd name="T107" fmla="*/ 72 h 137"/>
                <a:gd name="T108" fmla="*/ 96 w 137"/>
                <a:gd name="T109" fmla="*/ 66 h 137"/>
                <a:gd name="T110" fmla="*/ 83 w 137"/>
                <a:gd name="T111" fmla="*/ 68 h 137"/>
                <a:gd name="T112" fmla="*/ 86 w 137"/>
                <a:gd name="T113" fmla="*/ 47 h 137"/>
                <a:gd name="T114" fmla="*/ 105 w 137"/>
                <a:gd name="T115" fmla="*/ 47 h 137"/>
                <a:gd name="T116" fmla="*/ 106 w 137"/>
                <a:gd name="T117" fmla="*/ 6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37" h="137">
                  <a:moveTo>
                    <a:pt x="116" y="39"/>
                  </a:moveTo>
                  <a:cubicBezTo>
                    <a:pt x="116" y="40"/>
                    <a:pt x="117" y="42"/>
                    <a:pt x="118" y="43"/>
                  </a:cubicBezTo>
                  <a:cubicBezTo>
                    <a:pt x="118" y="43"/>
                    <a:pt x="118" y="43"/>
                    <a:pt x="118" y="43"/>
                  </a:cubicBezTo>
                  <a:cubicBezTo>
                    <a:pt x="136" y="61"/>
                    <a:pt x="136" y="61"/>
                    <a:pt x="136" y="61"/>
                  </a:cubicBezTo>
                  <a:cubicBezTo>
                    <a:pt x="136" y="61"/>
                    <a:pt x="136" y="61"/>
                    <a:pt x="136" y="61"/>
                  </a:cubicBezTo>
                  <a:cubicBezTo>
                    <a:pt x="137" y="61"/>
                    <a:pt x="137" y="63"/>
                    <a:pt x="137" y="64"/>
                  </a:cubicBezTo>
                  <a:cubicBezTo>
                    <a:pt x="137" y="42"/>
                    <a:pt x="137" y="42"/>
                    <a:pt x="137" y="42"/>
                  </a:cubicBezTo>
                  <a:cubicBezTo>
                    <a:pt x="137" y="41"/>
                    <a:pt x="137" y="39"/>
                    <a:pt x="136" y="39"/>
                  </a:cubicBezTo>
                  <a:cubicBezTo>
                    <a:pt x="99" y="1"/>
                    <a:pt x="99" y="1"/>
                    <a:pt x="99" y="1"/>
                  </a:cubicBezTo>
                  <a:cubicBezTo>
                    <a:pt x="98" y="0"/>
                    <a:pt x="96" y="0"/>
                    <a:pt x="95" y="0"/>
                  </a:cubicBezTo>
                  <a:cubicBezTo>
                    <a:pt x="93" y="0"/>
                    <a:pt x="93" y="0"/>
                    <a:pt x="93" y="0"/>
                  </a:cubicBezTo>
                  <a:cubicBezTo>
                    <a:pt x="93" y="0"/>
                    <a:pt x="93" y="0"/>
                    <a:pt x="93" y="0"/>
                  </a:cubicBezTo>
                  <a:cubicBezTo>
                    <a:pt x="93" y="0"/>
                    <a:pt x="93" y="0"/>
                    <a:pt x="93" y="0"/>
                  </a:cubicBezTo>
                  <a:cubicBezTo>
                    <a:pt x="92" y="0"/>
                    <a:pt x="91" y="0"/>
                    <a:pt x="91" y="1"/>
                  </a:cubicBezTo>
                  <a:cubicBezTo>
                    <a:pt x="91" y="19"/>
                    <a:pt x="91" y="19"/>
                    <a:pt x="91" y="19"/>
                  </a:cubicBezTo>
                  <a:cubicBezTo>
                    <a:pt x="91" y="20"/>
                    <a:pt x="90" y="21"/>
                    <a:pt x="89" y="21"/>
                  </a:cubicBezTo>
                  <a:cubicBezTo>
                    <a:pt x="87" y="21"/>
                    <a:pt x="87" y="21"/>
                    <a:pt x="87" y="21"/>
                  </a:cubicBezTo>
                  <a:cubicBezTo>
                    <a:pt x="87" y="4"/>
                    <a:pt x="87" y="4"/>
                    <a:pt x="87" y="4"/>
                  </a:cubicBezTo>
                  <a:cubicBezTo>
                    <a:pt x="87" y="2"/>
                    <a:pt x="85" y="0"/>
                    <a:pt x="83" y="0"/>
                  </a:cubicBezTo>
                  <a:cubicBezTo>
                    <a:pt x="54" y="0"/>
                    <a:pt x="54" y="0"/>
                    <a:pt x="54" y="0"/>
                  </a:cubicBezTo>
                  <a:cubicBezTo>
                    <a:pt x="52" y="0"/>
                    <a:pt x="50" y="2"/>
                    <a:pt x="50" y="4"/>
                  </a:cubicBezTo>
                  <a:cubicBezTo>
                    <a:pt x="50" y="21"/>
                    <a:pt x="50" y="21"/>
                    <a:pt x="50" y="21"/>
                  </a:cubicBezTo>
                  <a:cubicBezTo>
                    <a:pt x="48" y="21"/>
                    <a:pt x="48" y="21"/>
                    <a:pt x="48" y="21"/>
                  </a:cubicBezTo>
                  <a:cubicBezTo>
                    <a:pt x="47" y="21"/>
                    <a:pt x="46" y="20"/>
                    <a:pt x="46" y="19"/>
                  </a:cubicBezTo>
                  <a:cubicBezTo>
                    <a:pt x="46" y="1"/>
                    <a:pt x="46" y="1"/>
                    <a:pt x="46" y="1"/>
                  </a:cubicBezTo>
                  <a:cubicBezTo>
                    <a:pt x="46" y="0"/>
                    <a:pt x="46" y="0"/>
                    <a:pt x="45" y="0"/>
                  </a:cubicBezTo>
                  <a:cubicBezTo>
                    <a:pt x="45" y="0"/>
                    <a:pt x="45" y="0"/>
                    <a:pt x="45" y="0"/>
                  </a:cubicBezTo>
                  <a:cubicBezTo>
                    <a:pt x="42" y="0"/>
                    <a:pt x="42" y="0"/>
                    <a:pt x="42" y="0"/>
                  </a:cubicBezTo>
                  <a:cubicBezTo>
                    <a:pt x="41" y="0"/>
                    <a:pt x="40" y="0"/>
                    <a:pt x="39" y="1"/>
                  </a:cubicBezTo>
                  <a:cubicBezTo>
                    <a:pt x="2" y="39"/>
                    <a:pt x="2" y="39"/>
                    <a:pt x="2" y="39"/>
                  </a:cubicBezTo>
                  <a:cubicBezTo>
                    <a:pt x="1" y="39"/>
                    <a:pt x="0" y="41"/>
                    <a:pt x="0" y="42"/>
                  </a:cubicBezTo>
                  <a:cubicBezTo>
                    <a:pt x="0" y="64"/>
                    <a:pt x="0" y="64"/>
                    <a:pt x="0" y="64"/>
                  </a:cubicBezTo>
                  <a:cubicBezTo>
                    <a:pt x="0" y="63"/>
                    <a:pt x="1" y="61"/>
                    <a:pt x="2" y="61"/>
                  </a:cubicBezTo>
                  <a:cubicBezTo>
                    <a:pt x="2" y="61"/>
                    <a:pt x="2" y="61"/>
                    <a:pt x="2" y="61"/>
                  </a:cubicBezTo>
                  <a:cubicBezTo>
                    <a:pt x="20" y="43"/>
                    <a:pt x="20" y="43"/>
                    <a:pt x="20" y="43"/>
                  </a:cubicBezTo>
                  <a:cubicBezTo>
                    <a:pt x="20" y="43"/>
                    <a:pt x="20" y="43"/>
                    <a:pt x="20" y="43"/>
                  </a:cubicBezTo>
                  <a:cubicBezTo>
                    <a:pt x="21" y="42"/>
                    <a:pt x="21" y="40"/>
                    <a:pt x="21" y="39"/>
                  </a:cubicBezTo>
                  <a:cubicBezTo>
                    <a:pt x="21" y="41"/>
                    <a:pt x="21" y="41"/>
                    <a:pt x="21" y="41"/>
                  </a:cubicBezTo>
                  <a:cubicBezTo>
                    <a:pt x="21" y="43"/>
                    <a:pt x="21" y="43"/>
                    <a:pt x="21" y="43"/>
                  </a:cubicBezTo>
                  <a:cubicBezTo>
                    <a:pt x="21" y="44"/>
                    <a:pt x="21" y="45"/>
                    <a:pt x="20" y="46"/>
                  </a:cubicBezTo>
                  <a:cubicBezTo>
                    <a:pt x="20" y="46"/>
                    <a:pt x="20" y="46"/>
                    <a:pt x="20" y="46"/>
                  </a:cubicBezTo>
                  <a:cubicBezTo>
                    <a:pt x="2" y="64"/>
                    <a:pt x="2" y="64"/>
                    <a:pt x="2" y="64"/>
                  </a:cubicBezTo>
                  <a:cubicBezTo>
                    <a:pt x="2" y="64"/>
                    <a:pt x="2" y="64"/>
                    <a:pt x="2" y="64"/>
                  </a:cubicBezTo>
                  <a:cubicBezTo>
                    <a:pt x="1" y="65"/>
                    <a:pt x="0" y="66"/>
                    <a:pt x="0" y="68"/>
                  </a:cubicBezTo>
                  <a:cubicBezTo>
                    <a:pt x="0" y="88"/>
                    <a:pt x="0" y="88"/>
                    <a:pt x="0" y="88"/>
                  </a:cubicBezTo>
                  <a:cubicBezTo>
                    <a:pt x="0" y="87"/>
                    <a:pt x="1" y="85"/>
                    <a:pt x="2" y="84"/>
                  </a:cubicBezTo>
                  <a:cubicBezTo>
                    <a:pt x="2" y="84"/>
                    <a:pt x="2" y="84"/>
                    <a:pt x="2" y="84"/>
                  </a:cubicBezTo>
                  <a:cubicBezTo>
                    <a:pt x="20" y="67"/>
                    <a:pt x="20" y="67"/>
                    <a:pt x="20" y="67"/>
                  </a:cubicBezTo>
                  <a:cubicBezTo>
                    <a:pt x="20" y="67"/>
                    <a:pt x="20" y="67"/>
                    <a:pt x="20" y="67"/>
                  </a:cubicBezTo>
                  <a:cubicBezTo>
                    <a:pt x="21" y="66"/>
                    <a:pt x="21" y="64"/>
                    <a:pt x="21" y="63"/>
                  </a:cubicBezTo>
                  <a:cubicBezTo>
                    <a:pt x="21" y="65"/>
                    <a:pt x="21" y="65"/>
                    <a:pt x="21" y="65"/>
                  </a:cubicBezTo>
                  <a:cubicBezTo>
                    <a:pt x="21" y="66"/>
                    <a:pt x="21" y="66"/>
                    <a:pt x="21" y="66"/>
                  </a:cubicBezTo>
                  <a:cubicBezTo>
                    <a:pt x="21" y="68"/>
                    <a:pt x="21" y="69"/>
                    <a:pt x="20" y="70"/>
                  </a:cubicBezTo>
                  <a:cubicBezTo>
                    <a:pt x="20" y="70"/>
                    <a:pt x="20" y="70"/>
                    <a:pt x="20" y="70"/>
                  </a:cubicBezTo>
                  <a:cubicBezTo>
                    <a:pt x="2" y="88"/>
                    <a:pt x="2" y="88"/>
                    <a:pt x="2" y="88"/>
                  </a:cubicBezTo>
                  <a:cubicBezTo>
                    <a:pt x="2" y="88"/>
                    <a:pt x="2" y="88"/>
                    <a:pt x="2" y="88"/>
                  </a:cubicBezTo>
                  <a:cubicBezTo>
                    <a:pt x="1" y="89"/>
                    <a:pt x="0" y="90"/>
                    <a:pt x="0" y="92"/>
                  </a:cubicBezTo>
                  <a:cubicBezTo>
                    <a:pt x="0" y="95"/>
                    <a:pt x="0" y="95"/>
                    <a:pt x="0" y="95"/>
                  </a:cubicBezTo>
                  <a:cubicBezTo>
                    <a:pt x="0" y="96"/>
                    <a:pt x="1" y="97"/>
                    <a:pt x="2" y="98"/>
                  </a:cubicBezTo>
                  <a:cubicBezTo>
                    <a:pt x="7" y="103"/>
                    <a:pt x="7" y="103"/>
                    <a:pt x="7" y="103"/>
                  </a:cubicBezTo>
                  <a:cubicBezTo>
                    <a:pt x="20" y="91"/>
                    <a:pt x="20" y="91"/>
                    <a:pt x="20" y="91"/>
                  </a:cubicBezTo>
                  <a:cubicBezTo>
                    <a:pt x="20" y="91"/>
                    <a:pt x="20" y="91"/>
                    <a:pt x="20" y="91"/>
                  </a:cubicBezTo>
                  <a:cubicBezTo>
                    <a:pt x="21" y="90"/>
                    <a:pt x="21" y="88"/>
                    <a:pt x="21" y="87"/>
                  </a:cubicBezTo>
                  <a:cubicBezTo>
                    <a:pt x="21" y="89"/>
                    <a:pt x="21" y="89"/>
                    <a:pt x="21" y="89"/>
                  </a:cubicBezTo>
                  <a:cubicBezTo>
                    <a:pt x="21" y="90"/>
                    <a:pt x="21" y="90"/>
                    <a:pt x="21" y="90"/>
                  </a:cubicBezTo>
                  <a:cubicBezTo>
                    <a:pt x="21" y="92"/>
                    <a:pt x="21" y="93"/>
                    <a:pt x="20" y="94"/>
                  </a:cubicBezTo>
                  <a:cubicBezTo>
                    <a:pt x="20" y="94"/>
                    <a:pt x="20" y="94"/>
                    <a:pt x="20" y="94"/>
                  </a:cubicBezTo>
                  <a:cubicBezTo>
                    <a:pt x="9" y="105"/>
                    <a:pt x="9" y="105"/>
                    <a:pt x="9" y="105"/>
                  </a:cubicBezTo>
                  <a:cubicBezTo>
                    <a:pt x="39" y="135"/>
                    <a:pt x="39" y="135"/>
                    <a:pt x="39" y="135"/>
                  </a:cubicBezTo>
                  <a:cubicBezTo>
                    <a:pt x="47" y="121"/>
                    <a:pt x="47" y="121"/>
                    <a:pt x="47" y="121"/>
                  </a:cubicBezTo>
                  <a:cubicBezTo>
                    <a:pt x="48" y="119"/>
                    <a:pt x="49" y="119"/>
                    <a:pt x="51" y="119"/>
                  </a:cubicBezTo>
                  <a:cubicBezTo>
                    <a:pt x="52" y="119"/>
                    <a:pt x="52" y="119"/>
                    <a:pt x="52" y="119"/>
                  </a:cubicBezTo>
                  <a:cubicBezTo>
                    <a:pt x="54" y="119"/>
                    <a:pt x="54" y="119"/>
                    <a:pt x="54" y="119"/>
                  </a:cubicBezTo>
                  <a:cubicBezTo>
                    <a:pt x="52" y="119"/>
                    <a:pt x="51" y="119"/>
                    <a:pt x="50" y="121"/>
                  </a:cubicBezTo>
                  <a:cubicBezTo>
                    <a:pt x="50" y="121"/>
                    <a:pt x="50" y="121"/>
                    <a:pt x="50" y="121"/>
                  </a:cubicBezTo>
                  <a:cubicBezTo>
                    <a:pt x="41" y="137"/>
                    <a:pt x="41" y="137"/>
                    <a:pt x="41" y="137"/>
                  </a:cubicBezTo>
                  <a:cubicBezTo>
                    <a:pt x="42" y="137"/>
                    <a:pt x="42" y="137"/>
                    <a:pt x="42" y="137"/>
                  </a:cubicBezTo>
                  <a:cubicBezTo>
                    <a:pt x="58" y="137"/>
                    <a:pt x="58" y="137"/>
                    <a:pt x="58" y="137"/>
                  </a:cubicBezTo>
                  <a:cubicBezTo>
                    <a:pt x="61" y="121"/>
                    <a:pt x="61" y="121"/>
                    <a:pt x="61" y="121"/>
                  </a:cubicBezTo>
                  <a:cubicBezTo>
                    <a:pt x="61" y="119"/>
                    <a:pt x="62" y="119"/>
                    <a:pt x="63" y="119"/>
                  </a:cubicBezTo>
                  <a:cubicBezTo>
                    <a:pt x="63" y="119"/>
                    <a:pt x="63" y="119"/>
                    <a:pt x="63" y="119"/>
                  </a:cubicBezTo>
                  <a:cubicBezTo>
                    <a:pt x="64" y="119"/>
                    <a:pt x="64" y="119"/>
                    <a:pt x="64" y="119"/>
                  </a:cubicBezTo>
                  <a:cubicBezTo>
                    <a:pt x="66" y="119"/>
                    <a:pt x="66" y="119"/>
                    <a:pt x="66" y="119"/>
                  </a:cubicBezTo>
                  <a:cubicBezTo>
                    <a:pt x="65" y="119"/>
                    <a:pt x="64" y="119"/>
                    <a:pt x="63" y="121"/>
                  </a:cubicBezTo>
                  <a:cubicBezTo>
                    <a:pt x="60" y="137"/>
                    <a:pt x="60" y="137"/>
                    <a:pt x="60" y="137"/>
                  </a:cubicBezTo>
                  <a:cubicBezTo>
                    <a:pt x="77" y="137"/>
                    <a:pt x="77" y="137"/>
                    <a:pt x="77" y="137"/>
                  </a:cubicBezTo>
                  <a:cubicBezTo>
                    <a:pt x="74" y="121"/>
                    <a:pt x="74" y="121"/>
                    <a:pt x="74" y="121"/>
                  </a:cubicBezTo>
                  <a:cubicBezTo>
                    <a:pt x="74" y="119"/>
                    <a:pt x="73" y="119"/>
                    <a:pt x="72" y="119"/>
                  </a:cubicBezTo>
                  <a:cubicBezTo>
                    <a:pt x="74" y="119"/>
                    <a:pt x="74" y="119"/>
                    <a:pt x="74" y="119"/>
                  </a:cubicBezTo>
                  <a:cubicBezTo>
                    <a:pt x="74" y="119"/>
                    <a:pt x="74" y="119"/>
                    <a:pt x="74" y="119"/>
                  </a:cubicBezTo>
                  <a:cubicBezTo>
                    <a:pt x="74" y="119"/>
                    <a:pt x="74" y="119"/>
                    <a:pt x="74" y="119"/>
                  </a:cubicBezTo>
                  <a:cubicBezTo>
                    <a:pt x="76" y="119"/>
                    <a:pt x="77" y="119"/>
                    <a:pt x="77" y="121"/>
                  </a:cubicBezTo>
                  <a:cubicBezTo>
                    <a:pt x="80" y="137"/>
                    <a:pt x="80" y="137"/>
                    <a:pt x="80" y="137"/>
                  </a:cubicBezTo>
                  <a:cubicBezTo>
                    <a:pt x="95" y="137"/>
                    <a:pt x="95" y="137"/>
                    <a:pt x="95" y="137"/>
                  </a:cubicBezTo>
                  <a:cubicBezTo>
                    <a:pt x="96" y="137"/>
                    <a:pt x="96" y="137"/>
                    <a:pt x="97" y="137"/>
                  </a:cubicBezTo>
                  <a:cubicBezTo>
                    <a:pt x="88" y="121"/>
                    <a:pt x="88" y="121"/>
                    <a:pt x="88" y="121"/>
                  </a:cubicBezTo>
                  <a:cubicBezTo>
                    <a:pt x="88" y="121"/>
                    <a:pt x="88" y="121"/>
                    <a:pt x="88" y="121"/>
                  </a:cubicBezTo>
                  <a:cubicBezTo>
                    <a:pt x="87" y="119"/>
                    <a:pt x="86" y="119"/>
                    <a:pt x="84" y="119"/>
                  </a:cubicBezTo>
                  <a:cubicBezTo>
                    <a:pt x="86" y="119"/>
                    <a:pt x="86" y="119"/>
                    <a:pt x="86" y="119"/>
                  </a:cubicBezTo>
                  <a:cubicBezTo>
                    <a:pt x="87" y="119"/>
                    <a:pt x="87" y="119"/>
                    <a:pt x="87" y="119"/>
                  </a:cubicBezTo>
                  <a:cubicBezTo>
                    <a:pt x="89" y="119"/>
                    <a:pt x="90" y="119"/>
                    <a:pt x="91" y="121"/>
                  </a:cubicBezTo>
                  <a:cubicBezTo>
                    <a:pt x="99" y="135"/>
                    <a:pt x="99" y="135"/>
                    <a:pt x="99" y="135"/>
                  </a:cubicBezTo>
                  <a:cubicBezTo>
                    <a:pt x="129" y="105"/>
                    <a:pt x="129" y="105"/>
                    <a:pt x="129" y="105"/>
                  </a:cubicBezTo>
                  <a:cubicBezTo>
                    <a:pt x="118" y="94"/>
                    <a:pt x="118" y="94"/>
                    <a:pt x="118" y="94"/>
                  </a:cubicBezTo>
                  <a:cubicBezTo>
                    <a:pt x="118" y="94"/>
                    <a:pt x="118" y="94"/>
                    <a:pt x="118" y="94"/>
                  </a:cubicBezTo>
                  <a:cubicBezTo>
                    <a:pt x="117" y="93"/>
                    <a:pt x="116" y="92"/>
                    <a:pt x="116" y="90"/>
                  </a:cubicBezTo>
                  <a:cubicBezTo>
                    <a:pt x="116" y="89"/>
                    <a:pt x="116" y="89"/>
                    <a:pt x="116" y="89"/>
                  </a:cubicBezTo>
                  <a:cubicBezTo>
                    <a:pt x="116" y="87"/>
                    <a:pt x="116" y="87"/>
                    <a:pt x="116" y="87"/>
                  </a:cubicBezTo>
                  <a:cubicBezTo>
                    <a:pt x="116" y="88"/>
                    <a:pt x="117" y="90"/>
                    <a:pt x="118" y="91"/>
                  </a:cubicBezTo>
                  <a:cubicBezTo>
                    <a:pt x="118" y="91"/>
                    <a:pt x="118" y="91"/>
                    <a:pt x="118" y="91"/>
                  </a:cubicBezTo>
                  <a:cubicBezTo>
                    <a:pt x="131" y="103"/>
                    <a:pt x="131" y="103"/>
                    <a:pt x="131" y="103"/>
                  </a:cubicBezTo>
                  <a:cubicBezTo>
                    <a:pt x="136" y="98"/>
                    <a:pt x="136" y="98"/>
                    <a:pt x="136" y="98"/>
                  </a:cubicBezTo>
                  <a:cubicBezTo>
                    <a:pt x="137" y="97"/>
                    <a:pt x="137" y="96"/>
                    <a:pt x="137" y="95"/>
                  </a:cubicBezTo>
                  <a:cubicBezTo>
                    <a:pt x="137" y="92"/>
                    <a:pt x="137" y="92"/>
                    <a:pt x="137" y="92"/>
                  </a:cubicBezTo>
                  <a:cubicBezTo>
                    <a:pt x="137" y="90"/>
                    <a:pt x="137" y="89"/>
                    <a:pt x="136" y="88"/>
                  </a:cubicBezTo>
                  <a:cubicBezTo>
                    <a:pt x="136" y="88"/>
                    <a:pt x="136" y="88"/>
                    <a:pt x="136" y="88"/>
                  </a:cubicBezTo>
                  <a:cubicBezTo>
                    <a:pt x="118" y="70"/>
                    <a:pt x="118" y="70"/>
                    <a:pt x="118" y="70"/>
                  </a:cubicBezTo>
                  <a:cubicBezTo>
                    <a:pt x="118" y="70"/>
                    <a:pt x="118" y="70"/>
                    <a:pt x="118" y="70"/>
                  </a:cubicBezTo>
                  <a:cubicBezTo>
                    <a:pt x="117" y="69"/>
                    <a:pt x="116" y="68"/>
                    <a:pt x="116" y="66"/>
                  </a:cubicBezTo>
                  <a:cubicBezTo>
                    <a:pt x="116" y="65"/>
                    <a:pt x="116" y="65"/>
                    <a:pt x="116" y="65"/>
                  </a:cubicBezTo>
                  <a:cubicBezTo>
                    <a:pt x="116" y="63"/>
                    <a:pt x="116" y="63"/>
                    <a:pt x="116" y="63"/>
                  </a:cubicBezTo>
                  <a:cubicBezTo>
                    <a:pt x="116" y="64"/>
                    <a:pt x="117" y="66"/>
                    <a:pt x="118" y="67"/>
                  </a:cubicBezTo>
                  <a:cubicBezTo>
                    <a:pt x="118" y="67"/>
                    <a:pt x="118" y="67"/>
                    <a:pt x="118" y="67"/>
                  </a:cubicBezTo>
                  <a:cubicBezTo>
                    <a:pt x="136" y="84"/>
                    <a:pt x="136" y="84"/>
                    <a:pt x="136" y="84"/>
                  </a:cubicBezTo>
                  <a:cubicBezTo>
                    <a:pt x="136" y="84"/>
                    <a:pt x="136" y="84"/>
                    <a:pt x="136" y="84"/>
                  </a:cubicBezTo>
                  <a:cubicBezTo>
                    <a:pt x="137" y="85"/>
                    <a:pt x="137" y="87"/>
                    <a:pt x="137" y="88"/>
                  </a:cubicBezTo>
                  <a:cubicBezTo>
                    <a:pt x="137" y="68"/>
                    <a:pt x="137" y="68"/>
                    <a:pt x="137" y="68"/>
                  </a:cubicBezTo>
                  <a:cubicBezTo>
                    <a:pt x="137" y="66"/>
                    <a:pt x="137" y="65"/>
                    <a:pt x="136" y="64"/>
                  </a:cubicBezTo>
                  <a:cubicBezTo>
                    <a:pt x="136" y="64"/>
                    <a:pt x="136" y="64"/>
                    <a:pt x="136" y="64"/>
                  </a:cubicBezTo>
                  <a:cubicBezTo>
                    <a:pt x="118" y="46"/>
                    <a:pt x="118" y="46"/>
                    <a:pt x="118" y="46"/>
                  </a:cubicBezTo>
                  <a:cubicBezTo>
                    <a:pt x="118" y="46"/>
                    <a:pt x="118" y="46"/>
                    <a:pt x="118" y="46"/>
                  </a:cubicBezTo>
                  <a:cubicBezTo>
                    <a:pt x="117" y="45"/>
                    <a:pt x="116" y="44"/>
                    <a:pt x="116" y="43"/>
                  </a:cubicBezTo>
                  <a:cubicBezTo>
                    <a:pt x="116" y="41"/>
                    <a:pt x="116" y="41"/>
                    <a:pt x="116" y="41"/>
                  </a:cubicBezTo>
                  <a:lnTo>
                    <a:pt x="116" y="39"/>
                  </a:lnTo>
                  <a:close/>
                  <a:moveTo>
                    <a:pt x="83" y="40"/>
                  </a:moveTo>
                  <a:cubicBezTo>
                    <a:pt x="84" y="35"/>
                    <a:pt x="84" y="35"/>
                    <a:pt x="87" y="34"/>
                  </a:cubicBezTo>
                  <a:cubicBezTo>
                    <a:pt x="91" y="33"/>
                    <a:pt x="93" y="33"/>
                    <a:pt x="95" y="33"/>
                  </a:cubicBezTo>
                  <a:cubicBezTo>
                    <a:pt x="97" y="33"/>
                    <a:pt x="101" y="33"/>
                    <a:pt x="105" y="34"/>
                  </a:cubicBezTo>
                  <a:cubicBezTo>
                    <a:pt x="106" y="35"/>
                    <a:pt x="106" y="36"/>
                    <a:pt x="106" y="42"/>
                  </a:cubicBezTo>
                  <a:cubicBezTo>
                    <a:pt x="106" y="44"/>
                    <a:pt x="105" y="44"/>
                    <a:pt x="103" y="44"/>
                  </a:cubicBezTo>
                  <a:cubicBezTo>
                    <a:pt x="101" y="44"/>
                    <a:pt x="100" y="44"/>
                    <a:pt x="97" y="44"/>
                  </a:cubicBezTo>
                  <a:cubicBezTo>
                    <a:pt x="96" y="42"/>
                    <a:pt x="95" y="37"/>
                    <a:pt x="94" y="38"/>
                  </a:cubicBezTo>
                  <a:cubicBezTo>
                    <a:pt x="93" y="38"/>
                    <a:pt x="94" y="38"/>
                    <a:pt x="92" y="41"/>
                  </a:cubicBezTo>
                  <a:cubicBezTo>
                    <a:pt x="92" y="41"/>
                    <a:pt x="91" y="43"/>
                    <a:pt x="91" y="43"/>
                  </a:cubicBezTo>
                  <a:cubicBezTo>
                    <a:pt x="89" y="44"/>
                    <a:pt x="87" y="44"/>
                    <a:pt x="85" y="44"/>
                  </a:cubicBezTo>
                  <a:cubicBezTo>
                    <a:pt x="83" y="44"/>
                    <a:pt x="83" y="43"/>
                    <a:pt x="83" y="40"/>
                  </a:cubicBezTo>
                  <a:close/>
                  <a:moveTo>
                    <a:pt x="80" y="35"/>
                  </a:moveTo>
                  <a:cubicBezTo>
                    <a:pt x="80" y="34"/>
                    <a:pt x="80" y="34"/>
                    <a:pt x="80" y="34"/>
                  </a:cubicBezTo>
                  <a:cubicBezTo>
                    <a:pt x="82" y="34"/>
                    <a:pt x="82" y="34"/>
                    <a:pt x="82" y="35"/>
                  </a:cubicBezTo>
                  <a:cubicBezTo>
                    <a:pt x="82" y="36"/>
                    <a:pt x="82" y="39"/>
                    <a:pt x="82" y="41"/>
                  </a:cubicBezTo>
                  <a:cubicBezTo>
                    <a:pt x="82" y="43"/>
                    <a:pt x="82" y="45"/>
                    <a:pt x="81" y="46"/>
                  </a:cubicBezTo>
                  <a:cubicBezTo>
                    <a:pt x="80" y="46"/>
                    <a:pt x="79" y="46"/>
                    <a:pt x="79" y="45"/>
                  </a:cubicBezTo>
                  <a:cubicBezTo>
                    <a:pt x="79" y="44"/>
                    <a:pt x="79" y="43"/>
                    <a:pt x="80" y="42"/>
                  </a:cubicBezTo>
                  <a:cubicBezTo>
                    <a:pt x="80" y="40"/>
                    <a:pt x="80" y="37"/>
                    <a:pt x="80" y="35"/>
                  </a:cubicBezTo>
                  <a:close/>
                  <a:moveTo>
                    <a:pt x="80" y="49"/>
                  </a:moveTo>
                  <a:cubicBezTo>
                    <a:pt x="82" y="50"/>
                    <a:pt x="82" y="54"/>
                    <a:pt x="82" y="54"/>
                  </a:cubicBezTo>
                  <a:cubicBezTo>
                    <a:pt x="82" y="55"/>
                    <a:pt x="82" y="59"/>
                    <a:pt x="82" y="60"/>
                  </a:cubicBezTo>
                  <a:cubicBezTo>
                    <a:pt x="82" y="61"/>
                    <a:pt x="82" y="62"/>
                    <a:pt x="82" y="63"/>
                  </a:cubicBezTo>
                  <a:cubicBezTo>
                    <a:pt x="81" y="63"/>
                    <a:pt x="81" y="63"/>
                    <a:pt x="80" y="63"/>
                  </a:cubicBezTo>
                  <a:cubicBezTo>
                    <a:pt x="79" y="63"/>
                    <a:pt x="79" y="59"/>
                    <a:pt x="79" y="58"/>
                  </a:cubicBezTo>
                  <a:cubicBezTo>
                    <a:pt x="79" y="57"/>
                    <a:pt x="79" y="54"/>
                    <a:pt x="79" y="52"/>
                  </a:cubicBezTo>
                  <a:cubicBezTo>
                    <a:pt x="78" y="49"/>
                    <a:pt x="79" y="50"/>
                    <a:pt x="80" y="49"/>
                  </a:cubicBezTo>
                  <a:close/>
                  <a:moveTo>
                    <a:pt x="75" y="47"/>
                  </a:moveTo>
                  <a:cubicBezTo>
                    <a:pt x="75" y="45"/>
                    <a:pt x="76" y="39"/>
                    <a:pt x="75" y="37"/>
                  </a:cubicBezTo>
                  <a:cubicBezTo>
                    <a:pt x="76" y="36"/>
                    <a:pt x="75" y="35"/>
                    <a:pt x="76" y="34"/>
                  </a:cubicBezTo>
                  <a:cubicBezTo>
                    <a:pt x="76" y="33"/>
                    <a:pt x="76" y="33"/>
                    <a:pt x="77" y="33"/>
                  </a:cubicBezTo>
                  <a:cubicBezTo>
                    <a:pt x="79" y="33"/>
                    <a:pt x="78" y="38"/>
                    <a:pt x="78" y="38"/>
                  </a:cubicBezTo>
                  <a:cubicBezTo>
                    <a:pt x="78" y="42"/>
                    <a:pt x="77" y="51"/>
                    <a:pt x="77" y="53"/>
                  </a:cubicBezTo>
                  <a:cubicBezTo>
                    <a:pt x="77" y="57"/>
                    <a:pt x="78" y="67"/>
                    <a:pt x="77" y="68"/>
                  </a:cubicBezTo>
                  <a:cubicBezTo>
                    <a:pt x="77" y="68"/>
                    <a:pt x="76" y="69"/>
                    <a:pt x="76" y="68"/>
                  </a:cubicBezTo>
                  <a:cubicBezTo>
                    <a:pt x="75" y="65"/>
                    <a:pt x="75" y="61"/>
                    <a:pt x="74" y="57"/>
                  </a:cubicBezTo>
                  <a:cubicBezTo>
                    <a:pt x="74" y="53"/>
                    <a:pt x="75" y="49"/>
                    <a:pt x="75" y="47"/>
                  </a:cubicBezTo>
                  <a:close/>
                  <a:moveTo>
                    <a:pt x="71" y="41"/>
                  </a:moveTo>
                  <a:cubicBezTo>
                    <a:pt x="72" y="38"/>
                    <a:pt x="71" y="35"/>
                    <a:pt x="72" y="35"/>
                  </a:cubicBezTo>
                  <a:cubicBezTo>
                    <a:pt x="72" y="34"/>
                    <a:pt x="73" y="34"/>
                    <a:pt x="73" y="34"/>
                  </a:cubicBezTo>
                  <a:cubicBezTo>
                    <a:pt x="74" y="35"/>
                    <a:pt x="75" y="44"/>
                    <a:pt x="72" y="46"/>
                  </a:cubicBezTo>
                  <a:cubicBezTo>
                    <a:pt x="72" y="46"/>
                    <a:pt x="71" y="46"/>
                    <a:pt x="71" y="45"/>
                  </a:cubicBezTo>
                  <a:cubicBezTo>
                    <a:pt x="70" y="45"/>
                    <a:pt x="71" y="43"/>
                    <a:pt x="71" y="41"/>
                  </a:cubicBezTo>
                  <a:close/>
                  <a:moveTo>
                    <a:pt x="70" y="53"/>
                  </a:moveTo>
                  <a:cubicBezTo>
                    <a:pt x="70" y="49"/>
                    <a:pt x="70" y="49"/>
                    <a:pt x="71" y="48"/>
                  </a:cubicBezTo>
                  <a:cubicBezTo>
                    <a:pt x="72" y="47"/>
                    <a:pt x="73" y="48"/>
                    <a:pt x="73" y="48"/>
                  </a:cubicBezTo>
                  <a:cubicBezTo>
                    <a:pt x="74" y="50"/>
                    <a:pt x="73" y="56"/>
                    <a:pt x="73" y="59"/>
                  </a:cubicBezTo>
                  <a:cubicBezTo>
                    <a:pt x="72" y="61"/>
                    <a:pt x="73" y="64"/>
                    <a:pt x="72" y="65"/>
                  </a:cubicBezTo>
                  <a:cubicBezTo>
                    <a:pt x="71" y="65"/>
                    <a:pt x="70" y="65"/>
                    <a:pt x="70" y="64"/>
                  </a:cubicBezTo>
                  <a:cubicBezTo>
                    <a:pt x="70" y="61"/>
                    <a:pt x="70" y="53"/>
                    <a:pt x="70" y="53"/>
                  </a:cubicBezTo>
                  <a:close/>
                  <a:moveTo>
                    <a:pt x="67" y="96"/>
                  </a:moveTo>
                  <a:cubicBezTo>
                    <a:pt x="67" y="101"/>
                    <a:pt x="66" y="101"/>
                    <a:pt x="63" y="101"/>
                  </a:cubicBezTo>
                  <a:cubicBezTo>
                    <a:pt x="60" y="101"/>
                    <a:pt x="53" y="101"/>
                    <a:pt x="53" y="101"/>
                  </a:cubicBezTo>
                  <a:cubicBezTo>
                    <a:pt x="53" y="101"/>
                    <a:pt x="53" y="103"/>
                    <a:pt x="53" y="104"/>
                  </a:cubicBezTo>
                  <a:cubicBezTo>
                    <a:pt x="53" y="106"/>
                    <a:pt x="54" y="106"/>
                    <a:pt x="47" y="107"/>
                  </a:cubicBezTo>
                  <a:cubicBezTo>
                    <a:pt x="45" y="107"/>
                    <a:pt x="34" y="107"/>
                    <a:pt x="33" y="105"/>
                  </a:cubicBezTo>
                  <a:cubicBezTo>
                    <a:pt x="32" y="104"/>
                    <a:pt x="31" y="102"/>
                    <a:pt x="32" y="100"/>
                  </a:cubicBezTo>
                  <a:cubicBezTo>
                    <a:pt x="33" y="101"/>
                    <a:pt x="35" y="102"/>
                    <a:pt x="38" y="103"/>
                  </a:cubicBezTo>
                  <a:cubicBezTo>
                    <a:pt x="41" y="104"/>
                    <a:pt x="45" y="104"/>
                    <a:pt x="48" y="104"/>
                  </a:cubicBezTo>
                  <a:cubicBezTo>
                    <a:pt x="49" y="103"/>
                    <a:pt x="49" y="103"/>
                    <a:pt x="49" y="101"/>
                  </a:cubicBezTo>
                  <a:cubicBezTo>
                    <a:pt x="44" y="101"/>
                    <a:pt x="41" y="100"/>
                    <a:pt x="39" y="100"/>
                  </a:cubicBezTo>
                  <a:cubicBezTo>
                    <a:pt x="37" y="100"/>
                    <a:pt x="37" y="100"/>
                    <a:pt x="37" y="99"/>
                  </a:cubicBezTo>
                  <a:cubicBezTo>
                    <a:pt x="37" y="97"/>
                    <a:pt x="37" y="97"/>
                    <a:pt x="39" y="97"/>
                  </a:cubicBezTo>
                  <a:cubicBezTo>
                    <a:pt x="40" y="97"/>
                    <a:pt x="42" y="98"/>
                    <a:pt x="45" y="98"/>
                  </a:cubicBezTo>
                  <a:cubicBezTo>
                    <a:pt x="47" y="98"/>
                    <a:pt x="49" y="98"/>
                    <a:pt x="49" y="98"/>
                  </a:cubicBezTo>
                  <a:cubicBezTo>
                    <a:pt x="49" y="95"/>
                    <a:pt x="49" y="95"/>
                    <a:pt x="49" y="95"/>
                  </a:cubicBezTo>
                  <a:cubicBezTo>
                    <a:pt x="49" y="95"/>
                    <a:pt x="45" y="95"/>
                    <a:pt x="44" y="95"/>
                  </a:cubicBezTo>
                  <a:cubicBezTo>
                    <a:pt x="39" y="95"/>
                    <a:pt x="40" y="94"/>
                    <a:pt x="39" y="92"/>
                  </a:cubicBezTo>
                  <a:cubicBezTo>
                    <a:pt x="40" y="88"/>
                    <a:pt x="40" y="89"/>
                    <a:pt x="43" y="89"/>
                  </a:cubicBezTo>
                  <a:cubicBezTo>
                    <a:pt x="46" y="89"/>
                    <a:pt x="55" y="89"/>
                    <a:pt x="57" y="89"/>
                  </a:cubicBezTo>
                  <a:cubicBezTo>
                    <a:pt x="60" y="89"/>
                    <a:pt x="60" y="89"/>
                    <a:pt x="60" y="92"/>
                  </a:cubicBezTo>
                  <a:cubicBezTo>
                    <a:pt x="60" y="94"/>
                    <a:pt x="60" y="95"/>
                    <a:pt x="57" y="95"/>
                  </a:cubicBezTo>
                  <a:cubicBezTo>
                    <a:pt x="56" y="95"/>
                    <a:pt x="53" y="95"/>
                    <a:pt x="53" y="95"/>
                  </a:cubicBezTo>
                  <a:cubicBezTo>
                    <a:pt x="53" y="98"/>
                    <a:pt x="53" y="98"/>
                    <a:pt x="53" y="98"/>
                  </a:cubicBezTo>
                  <a:cubicBezTo>
                    <a:pt x="61" y="98"/>
                    <a:pt x="61" y="98"/>
                    <a:pt x="61" y="98"/>
                  </a:cubicBezTo>
                  <a:cubicBezTo>
                    <a:pt x="61" y="98"/>
                    <a:pt x="63" y="98"/>
                    <a:pt x="63" y="95"/>
                  </a:cubicBezTo>
                  <a:cubicBezTo>
                    <a:pt x="63" y="93"/>
                    <a:pt x="64" y="90"/>
                    <a:pt x="64" y="90"/>
                  </a:cubicBezTo>
                  <a:cubicBezTo>
                    <a:pt x="64" y="90"/>
                    <a:pt x="64" y="87"/>
                    <a:pt x="61" y="87"/>
                  </a:cubicBezTo>
                  <a:cubicBezTo>
                    <a:pt x="59" y="87"/>
                    <a:pt x="46" y="87"/>
                    <a:pt x="41" y="87"/>
                  </a:cubicBezTo>
                  <a:cubicBezTo>
                    <a:pt x="37" y="87"/>
                    <a:pt x="37" y="88"/>
                    <a:pt x="36" y="89"/>
                  </a:cubicBezTo>
                  <a:cubicBezTo>
                    <a:pt x="36" y="91"/>
                    <a:pt x="36" y="97"/>
                    <a:pt x="34" y="97"/>
                  </a:cubicBezTo>
                  <a:cubicBezTo>
                    <a:pt x="31" y="96"/>
                    <a:pt x="32" y="96"/>
                    <a:pt x="32" y="94"/>
                  </a:cubicBezTo>
                  <a:cubicBezTo>
                    <a:pt x="32" y="92"/>
                    <a:pt x="33" y="89"/>
                    <a:pt x="33" y="87"/>
                  </a:cubicBezTo>
                  <a:cubicBezTo>
                    <a:pt x="34" y="85"/>
                    <a:pt x="34" y="84"/>
                    <a:pt x="44" y="84"/>
                  </a:cubicBezTo>
                  <a:cubicBezTo>
                    <a:pt x="49" y="84"/>
                    <a:pt x="62" y="84"/>
                    <a:pt x="62" y="84"/>
                  </a:cubicBezTo>
                  <a:cubicBezTo>
                    <a:pt x="65" y="84"/>
                    <a:pt x="66" y="84"/>
                    <a:pt x="67" y="87"/>
                  </a:cubicBezTo>
                  <a:cubicBezTo>
                    <a:pt x="67" y="92"/>
                    <a:pt x="67" y="93"/>
                    <a:pt x="67" y="96"/>
                  </a:cubicBezTo>
                  <a:close/>
                  <a:moveTo>
                    <a:pt x="37" y="76"/>
                  </a:moveTo>
                  <a:cubicBezTo>
                    <a:pt x="37" y="77"/>
                    <a:pt x="38" y="77"/>
                    <a:pt x="40" y="77"/>
                  </a:cubicBezTo>
                  <a:cubicBezTo>
                    <a:pt x="42" y="77"/>
                    <a:pt x="42" y="76"/>
                    <a:pt x="42" y="78"/>
                  </a:cubicBezTo>
                  <a:cubicBezTo>
                    <a:pt x="42" y="78"/>
                    <a:pt x="42" y="79"/>
                    <a:pt x="41" y="79"/>
                  </a:cubicBezTo>
                  <a:cubicBezTo>
                    <a:pt x="36" y="79"/>
                    <a:pt x="37" y="79"/>
                    <a:pt x="37" y="80"/>
                  </a:cubicBezTo>
                  <a:cubicBezTo>
                    <a:pt x="37" y="81"/>
                    <a:pt x="37" y="81"/>
                    <a:pt x="40" y="80"/>
                  </a:cubicBezTo>
                  <a:cubicBezTo>
                    <a:pt x="42" y="80"/>
                    <a:pt x="42" y="80"/>
                    <a:pt x="42" y="81"/>
                  </a:cubicBezTo>
                  <a:cubicBezTo>
                    <a:pt x="43" y="82"/>
                    <a:pt x="42" y="83"/>
                    <a:pt x="42" y="83"/>
                  </a:cubicBezTo>
                  <a:cubicBezTo>
                    <a:pt x="41" y="83"/>
                    <a:pt x="36" y="83"/>
                    <a:pt x="34" y="83"/>
                  </a:cubicBezTo>
                  <a:cubicBezTo>
                    <a:pt x="33" y="83"/>
                    <a:pt x="33" y="83"/>
                    <a:pt x="33" y="80"/>
                  </a:cubicBezTo>
                  <a:cubicBezTo>
                    <a:pt x="33" y="78"/>
                    <a:pt x="33" y="75"/>
                    <a:pt x="34" y="73"/>
                  </a:cubicBezTo>
                  <a:cubicBezTo>
                    <a:pt x="35" y="72"/>
                    <a:pt x="35" y="72"/>
                    <a:pt x="40" y="72"/>
                  </a:cubicBezTo>
                  <a:cubicBezTo>
                    <a:pt x="43" y="72"/>
                    <a:pt x="43" y="72"/>
                    <a:pt x="43" y="74"/>
                  </a:cubicBezTo>
                  <a:cubicBezTo>
                    <a:pt x="43" y="74"/>
                    <a:pt x="43" y="74"/>
                    <a:pt x="38" y="75"/>
                  </a:cubicBezTo>
                  <a:cubicBezTo>
                    <a:pt x="36" y="75"/>
                    <a:pt x="37" y="75"/>
                    <a:pt x="37" y="76"/>
                  </a:cubicBezTo>
                  <a:close/>
                  <a:moveTo>
                    <a:pt x="45" y="73"/>
                  </a:moveTo>
                  <a:cubicBezTo>
                    <a:pt x="44" y="73"/>
                    <a:pt x="45" y="72"/>
                    <a:pt x="46" y="72"/>
                  </a:cubicBezTo>
                  <a:cubicBezTo>
                    <a:pt x="46" y="72"/>
                    <a:pt x="48" y="73"/>
                    <a:pt x="49" y="73"/>
                  </a:cubicBezTo>
                  <a:cubicBezTo>
                    <a:pt x="49" y="73"/>
                    <a:pt x="50" y="73"/>
                    <a:pt x="50" y="74"/>
                  </a:cubicBezTo>
                  <a:cubicBezTo>
                    <a:pt x="51" y="74"/>
                    <a:pt x="51" y="74"/>
                    <a:pt x="51" y="73"/>
                  </a:cubicBezTo>
                  <a:cubicBezTo>
                    <a:pt x="52" y="73"/>
                    <a:pt x="54" y="72"/>
                    <a:pt x="55" y="72"/>
                  </a:cubicBezTo>
                  <a:cubicBezTo>
                    <a:pt x="55" y="72"/>
                    <a:pt x="56" y="73"/>
                    <a:pt x="56" y="74"/>
                  </a:cubicBezTo>
                  <a:cubicBezTo>
                    <a:pt x="55" y="74"/>
                    <a:pt x="54" y="75"/>
                    <a:pt x="53" y="75"/>
                  </a:cubicBezTo>
                  <a:cubicBezTo>
                    <a:pt x="54" y="76"/>
                    <a:pt x="54" y="76"/>
                    <a:pt x="55" y="76"/>
                  </a:cubicBezTo>
                  <a:cubicBezTo>
                    <a:pt x="56" y="77"/>
                    <a:pt x="56" y="77"/>
                    <a:pt x="56" y="78"/>
                  </a:cubicBezTo>
                  <a:cubicBezTo>
                    <a:pt x="56" y="78"/>
                    <a:pt x="55" y="79"/>
                    <a:pt x="55" y="79"/>
                  </a:cubicBezTo>
                  <a:cubicBezTo>
                    <a:pt x="54" y="79"/>
                    <a:pt x="54" y="80"/>
                    <a:pt x="53" y="80"/>
                  </a:cubicBezTo>
                  <a:cubicBezTo>
                    <a:pt x="54" y="80"/>
                    <a:pt x="54" y="80"/>
                    <a:pt x="55" y="81"/>
                  </a:cubicBezTo>
                  <a:cubicBezTo>
                    <a:pt x="57" y="82"/>
                    <a:pt x="57" y="81"/>
                    <a:pt x="56" y="83"/>
                  </a:cubicBezTo>
                  <a:cubicBezTo>
                    <a:pt x="55" y="84"/>
                    <a:pt x="54" y="83"/>
                    <a:pt x="54" y="83"/>
                  </a:cubicBezTo>
                  <a:cubicBezTo>
                    <a:pt x="53" y="83"/>
                    <a:pt x="52" y="82"/>
                    <a:pt x="50" y="81"/>
                  </a:cubicBezTo>
                  <a:cubicBezTo>
                    <a:pt x="49" y="82"/>
                    <a:pt x="48" y="82"/>
                    <a:pt x="47" y="83"/>
                  </a:cubicBezTo>
                  <a:cubicBezTo>
                    <a:pt x="46" y="84"/>
                    <a:pt x="45" y="84"/>
                    <a:pt x="45" y="83"/>
                  </a:cubicBezTo>
                  <a:cubicBezTo>
                    <a:pt x="44" y="82"/>
                    <a:pt x="44" y="82"/>
                    <a:pt x="46" y="81"/>
                  </a:cubicBezTo>
                  <a:cubicBezTo>
                    <a:pt x="46" y="81"/>
                    <a:pt x="47" y="80"/>
                    <a:pt x="47" y="80"/>
                  </a:cubicBezTo>
                  <a:cubicBezTo>
                    <a:pt x="47" y="80"/>
                    <a:pt x="46" y="79"/>
                    <a:pt x="45" y="79"/>
                  </a:cubicBezTo>
                  <a:cubicBezTo>
                    <a:pt x="45" y="79"/>
                    <a:pt x="44" y="78"/>
                    <a:pt x="44" y="78"/>
                  </a:cubicBezTo>
                  <a:cubicBezTo>
                    <a:pt x="44" y="77"/>
                    <a:pt x="44" y="77"/>
                    <a:pt x="46" y="76"/>
                  </a:cubicBezTo>
                  <a:cubicBezTo>
                    <a:pt x="46" y="76"/>
                    <a:pt x="47" y="75"/>
                    <a:pt x="47" y="75"/>
                  </a:cubicBezTo>
                  <a:cubicBezTo>
                    <a:pt x="46" y="75"/>
                    <a:pt x="45" y="74"/>
                    <a:pt x="45" y="73"/>
                  </a:cubicBezTo>
                  <a:close/>
                  <a:moveTo>
                    <a:pt x="66" y="83"/>
                  </a:moveTo>
                  <a:cubicBezTo>
                    <a:pt x="65" y="83"/>
                    <a:pt x="59" y="83"/>
                    <a:pt x="58" y="83"/>
                  </a:cubicBezTo>
                  <a:cubicBezTo>
                    <a:pt x="58" y="83"/>
                    <a:pt x="58" y="83"/>
                    <a:pt x="58" y="82"/>
                  </a:cubicBezTo>
                  <a:cubicBezTo>
                    <a:pt x="58" y="81"/>
                    <a:pt x="58" y="81"/>
                    <a:pt x="60" y="81"/>
                  </a:cubicBezTo>
                  <a:cubicBezTo>
                    <a:pt x="62" y="81"/>
                    <a:pt x="64" y="81"/>
                    <a:pt x="64" y="80"/>
                  </a:cubicBezTo>
                  <a:cubicBezTo>
                    <a:pt x="64" y="79"/>
                    <a:pt x="63" y="79"/>
                    <a:pt x="60" y="79"/>
                  </a:cubicBezTo>
                  <a:cubicBezTo>
                    <a:pt x="58" y="79"/>
                    <a:pt x="58" y="79"/>
                    <a:pt x="58" y="78"/>
                  </a:cubicBezTo>
                  <a:cubicBezTo>
                    <a:pt x="58" y="77"/>
                    <a:pt x="58" y="77"/>
                    <a:pt x="59" y="76"/>
                  </a:cubicBezTo>
                  <a:cubicBezTo>
                    <a:pt x="62" y="76"/>
                    <a:pt x="64" y="76"/>
                    <a:pt x="64" y="76"/>
                  </a:cubicBezTo>
                  <a:cubicBezTo>
                    <a:pt x="64" y="75"/>
                    <a:pt x="64" y="75"/>
                    <a:pt x="62" y="75"/>
                  </a:cubicBezTo>
                  <a:cubicBezTo>
                    <a:pt x="58" y="75"/>
                    <a:pt x="58" y="75"/>
                    <a:pt x="58" y="74"/>
                  </a:cubicBezTo>
                  <a:cubicBezTo>
                    <a:pt x="58" y="73"/>
                    <a:pt x="57" y="72"/>
                    <a:pt x="60" y="72"/>
                  </a:cubicBezTo>
                  <a:cubicBezTo>
                    <a:pt x="63" y="72"/>
                    <a:pt x="66" y="72"/>
                    <a:pt x="66" y="73"/>
                  </a:cubicBezTo>
                  <a:cubicBezTo>
                    <a:pt x="67" y="75"/>
                    <a:pt x="67" y="77"/>
                    <a:pt x="67" y="80"/>
                  </a:cubicBezTo>
                  <a:cubicBezTo>
                    <a:pt x="67" y="83"/>
                    <a:pt x="67" y="83"/>
                    <a:pt x="66" y="83"/>
                  </a:cubicBezTo>
                  <a:close/>
                  <a:moveTo>
                    <a:pt x="65" y="69"/>
                  </a:moveTo>
                  <a:cubicBezTo>
                    <a:pt x="64" y="70"/>
                    <a:pt x="60" y="64"/>
                    <a:pt x="58" y="61"/>
                  </a:cubicBezTo>
                  <a:cubicBezTo>
                    <a:pt x="57" y="59"/>
                    <a:pt x="53" y="56"/>
                    <a:pt x="50" y="56"/>
                  </a:cubicBezTo>
                  <a:cubicBezTo>
                    <a:pt x="45" y="56"/>
                    <a:pt x="38" y="64"/>
                    <a:pt x="37" y="67"/>
                  </a:cubicBezTo>
                  <a:cubicBezTo>
                    <a:pt x="36" y="69"/>
                    <a:pt x="35" y="70"/>
                    <a:pt x="33" y="69"/>
                  </a:cubicBezTo>
                  <a:cubicBezTo>
                    <a:pt x="32" y="68"/>
                    <a:pt x="32" y="68"/>
                    <a:pt x="33" y="66"/>
                  </a:cubicBezTo>
                  <a:cubicBezTo>
                    <a:pt x="34" y="63"/>
                    <a:pt x="40" y="56"/>
                    <a:pt x="43" y="55"/>
                  </a:cubicBezTo>
                  <a:cubicBezTo>
                    <a:pt x="45" y="52"/>
                    <a:pt x="46" y="52"/>
                    <a:pt x="47" y="49"/>
                  </a:cubicBezTo>
                  <a:cubicBezTo>
                    <a:pt x="47" y="43"/>
                    <a:pt x="47" y="42"/>
                    <a:pt x="46" y="42"/>
                  </a:cubicBezTo>
                  <a:cubicBezTo>
                    <a:pt x="44" y="41"/>
                    <a:pt x="37" y="40"/>
                    <a:pt x="37" y="45"/>
                  </a:cubicBezTo>
                  <a:cubicBezTo>
                    <a:pt x="36" y="49"/>
                    <a:pt x="36" y="50"/>
                    <a:pt x="36" y="52"/>
                  </a:cubicBezTo>
                  <a:cubicBezTo>
                    <a:pt x="36" y="54"/>
                    <a:pt x="36" y="54"/>
                    <a:pt x="34" y="54"/>
                  </a:cubicBezTo>
                  <a:cubicBezTo>
                    <a:pt x="33" y="54"/>
                    <a:pt x="33" y="46"/>
                    <a:pt x="33" y="41"/>
                  </a:cubicBezTo>
                  <a:cubicBezTo>
                    <a:pt x="34" y="38"/>
                    <a:pt x="36" y="39"/>
                    <a:pt x="39" y="38"/>
                  </a:cubicBezTo>
                  <a:cubicBezTo>
                    <a:pt x="41" y="38"/>
                    <a:pt x="43" y="38"/>
                    <a:pt x="44" y="38"/>
                  </a:cubicBezTo>
                  <a:cubicBezTo>
                    <a:pt x="46" y="38"/>
                    <a:pt x="47" y="37"/>
                    <a:pt x="47" y="35"/>
                  </a:cubicBezTo>
                  <a:cubicBezTo>
                    <a:pt x="47" y="33"/>
                    <a:pt x="48" y="33"/>
                    <a:pt x="49" y="32"/>
                  </a:cubicBezTo>
                  <a:cubicBezTo>
                    <a:pt x="51" y="32"/>
                    <a:pt x="51" y="33"/>
                    <a:pt x="51" y="35"/>
                  </a:cubicBezTo>
                  <a:cubicBezTo>
                    <a:pt x="52" y="37"/>
                    <a:pt x="51" y="38"/>
                    <a:pt x="54" y="38"/>
                  </a:cubicBezTo>
                  <a:cubicBezTo>
                    <a:pt x="57" y="38"/>
                    <a:pt x="60" y="38"/>
                    <a:pt x="61" y="38"/>
                  </a:cubicBezTo>
                  <a:cubicBezTo>
                    <a:pt x="64" y="38"/>
                    <a:pt x="66" y="38"/>
                    <a:pt x="66" y="43"/>
                  </a:cubicBezTo>
                  <a:cubicBezTo>
                    <a:pt x="66" y="47"/>
                    <a:pt x="67" y="50"/>
                    <a:pt x="66" y="52"/>
                  </a:cubicBezTo>
                  <a:cubicBezTo>
                    <a:pt x="65" y="52"/>
                    <a:pt x="64" y="53"/>
                    <a:pt x="63" y="53"/>
                  </a:cubicBezTo>
                  <a:cubicBezTo>
                    <a:pt x="62" y="52"/>
                    <a:pt x="64" y="44"/>
                    <a:pt x="61" y="42"/>
                  </a:cubicBezTo>
                  <a:cubicBezTo>
                    <a:pt x="59" y="41"/>
                    <a:pt x="54" y="41"/>
                    <a:pt x="52" y="42"/>
                  </a:cubicBezTo>
                  <a:cubicBezTo>
                    <a:pt x="51" y="43"/>
                    <a:pt x="51" y="46"/>
                    <a:pt x="51" y="48"/>
                  </a:cubicBezTo>
                  <a:cubicBezTo>
                    <a:pt x="51" y="50"/>
                    <a:pt x="51" y="51"/>
                    <a:pt x="55" y="54"/>
                  </a:cubicBezTo>
                  <a:cubicBezTo>
                    <a:pt x="58" y="56"/>
                    <a:pt x="62" y="60"/>
                    <a:pt x="65" y="64"/>
                  </a:cubicBezTo>
                  <a:cubicBezTo>
                    <a:pt x="67" y="66"/>
                    <a:pt x="69" y="68"/>
                    <a:pt x="65" y="69"/>
                  </a:cubicBezTo>
                  <a:close/>
                  <a:moveTo>
                    <a:pt x="67" y="21"/>
                  </a:moveTo>
                  <a:cubicBezTo>
                    <a:pt x="52" y="21"/>
                    <a:pt x="52" y="21"/>
                    <a:pt x="52" y="21"/>
                  </a:cubicBezTo>
                  <a:cubicBezTo>
                    <a:pt x="52" y="19"/>
                    <a:pt x="53" y="17"/>
                    <a:pt x="56" y="17"/>
                  </a:cubicBezTo>
                  <a:cubicBezTo>
                    <a:pt x="65" y="17"/>
                    <a:pt x="65" y="17"/>
                    <a:pt x="65" y="17"/>
                  </a:cubicBezTo>
                  <a:cubicBezTo>
                    <a:pt x="67" y="17"/>
                    <a:pt x="67" y="18"/>
                    <a:pt x="67" y="19"/>
                  </a:cubicBezTo>
                  <a:lnTo>
                    <a:pt x="67" y="21"/>
                  </a:lnTo>
                  <a:close/>
                  <a:moveTo>
                    <a:pt x="83" y="89"/>
                  </a:moveTo>
                  <a:cubicBezTo>
                    <a:pt x="82" y="90"/>
                    <a:pt x="80" y="90"/>
                    <a:pt x="79" y="91"/>
                  </a:cubicBezTo>
                  <a:cubicBezTo>
                    <a:pt x="79" y="92"/>
                    <a:pt x="79" y="97"/>
                    <a:pt x="79" y="97"/>
                  </a:cubicBezTo>
                  <a:cubicBezTo>
                    <a:pt x="80" y="98"/>
                    <a:pt x="81" y="97"/>
                    <a:pt x="82" y="97"/>
                  </a:cubicBezTo>
                  <a:cubicBezTo>
                    <a:pt x="84" y="97"/>
                    <a:pt x="84" y="101"/>
                    <a:pt x="83" y="101"/>
                  </a:cubicBezTo>
                  <a:cubicBezTo>
                    <a:pt x="82" y="101"/>
                    <a:pt x="79" y="102"/>
                    <a:pt x="77" y="102"/>
                  </a:cubicBezTo>
                  <a:cubicBezTo>
                    <a:pt x="75" y="102"/>
                    <a:pt x="74" y="102"/>
                    <a:pt x="72" y="102"/>
                  </a:cubicBezTo>
                  <a:cubicBezTo>
                    <a:pt x="70" y="102"/>
                    <a:pt x="70" y="101"/>
                    <a:pt x="70" y="100"/>
                  </a:cubicBezTo>
                  <a:cubicBezTo>
                    <a:pt x="70" y="99"/>
                    <a:pt x="70" y="98"/>
                    <a:pt x="71" y="98"/>
                  </a:cubicBezTo>
                  <a:cubicBezTo>
                    <a:pt x="73" y="98"/>
                    <a:pt x="74" y="98"/>
                    <a:pt x="75" y="97"/>
                  </a:cubicBezTo>
                  <a:cubicBezTo>
                    <a:pt x="76" y="97"/>
                    <a:pt x="75" y="95"/>
                    <a:pt x="75" y="93"/>
                  </a:cubicBezTo>
                  <a:cubicBezTo>
                    <a:pt x="75" y="92"/>
                    <a:pt x="76" y="91"/>
                    <a:pt x="74" y="91"/>
                  </a:cubicBezTo>
                  <a:cubicBezTo>
                    <a:pt x="71" y="92"/>
                    <a:pt x="71" y="92"/>
                    <a:pt x="71" y="88"/>
                  </a:cubicBezTo>
                  <a:cubicBezTo>
                    <a:pt x="71" y="86"/>
                    <a:pt x="71" y="85"/>
                    <a:pt x="71" y="83"/>
                  </a:cubicBezTo>
                  <a:cubicBezTo>
                    <a:pt x="71" y="81"/>
                    <a:pt x="71" y="80"/>
                    <a:pt x="73" y="80"/>
                  </a:cubicBezTo>
                  <a:cubicBezTo>
                    <a:pt x="75" y="79"/>
                    <a:pt x="74" y="83"/>
                    <a:pt x="74" y="85"/>
                  </a:cubicBezTo>
                  <a:cubicBezTo>
                    <a:pt x="74" y="86"/>
                    <a:pt x="74" y="88"/>
                    <a:pt x="75" y="88"/>
                  </a:cubicBezTo>
                  <a:cubicBezTo>
                    <a:pt x="77" y="88"/>
                    <a:pt x="76" y="83"/>
                    <a:pt x="76" y="79"/>
                  </a:cubicBezTo>
                  <a:cubicBezTo>
                    <a:pt x="76" y="76"/>
                    <a:pt x="75" y="75"/>
                    <a:pt x="77" y="74"/>
                  </a:cubicBezTo>
                  <a:cubicBezTo>
                    <a:pt x="79" y="74"/>
                    <a:pt x="79" y="75"/>
                    <a:pt x="79" y="77"/>
                  </a:cubicBezTo>
                  <a:cubicBezTo>
                    <a:pt x="79" y="79"/>
                    <a:pt x="79" y="87"/>
                    <a:pt x="80" y="87"/>
                  </a:cubicBezTo>
                  <a:cubicBezTo>
                    <a:pt x="82" y="87"/>
                    <a:pt x="81" y="80"/>
                    <a:pt x="81" y="79"/>
                  </a:cubicBezTo>
                  <a:cubicBezTo>
                    <a:pt x="81" y="77"/>
                    <a:pt x="81" y="77"/>
                    <a:pt x="83" y="77"/>
                  </a:cubicBezTo>
                  <a:cubicBezTo>
                    <a:pt x="84" y="76"/>
                    <a:pt x="84" y="76"/>
                    <a:pt x="84" y="78"/>
                  </a:cubicBezTo>
                  <a:cubicBezTo>
                    <a:pt x="85" y="79"/>
                    <a:pt x="85" y="81"/>
                    <a:pt x="85" y="82"/>
                  </a:cubicBezTo>
                  <a:cubicBezTo>
                    <a:pt x="84" y="84"/>
                    <a:pt x="84" y="85"/>
                    <a:pt x="84" y="86"/>
                  </a:cubicBezTo>
                  <a:cubicBezTo>
                    <a:pt x="84" y="88"/>
                    <a:pt x="83" y="89"/>
                    <a:pt x="83" y="89"/>
                  </a:cubicBezTo>
                  <a:close/>
                  <a:moveTo>
                    <a:pt x="91" y="107"/>
                  </a:moveTo>
                  <a:cubicBezTo>
                    <a:pt x="90" y="107"/>
                    <a:pt x="89" y="107"/>
                    <a:pt x="88" y="107"/>
                  </a:cubicBezTo>
                  <a:cubicBezTo>
                    <a:pt x="87" y="107"/>
                    <a:pt x="87" y="106"/>
                    <a:pt x="86" y="103"/>
                  </a:cubicBezTo>
                  <a:cubicBezTo>
                    <a:pt x="86" y="102"/>
                    <a:pt x="85" y="101"/>
                    <a:pt x="85" y="98"/>
                  </a:cubicBezTo>
                  <a:cubicBezTo>
                    <a:pt x="85" y="95"/>
                    <a:pt x="84" y="92"/>
                    <a:pt x="85" y="90"/>
                  </a:cubicBezTo>
                  <a:cubicBezTo>
                    <a:pt x="85" y="89"/>
                    <a:pt x="86" y="87"/>
                    <a:pt x="87" y="86"/>
                  </a:cubicBezTo>
                  <a:cubicBezTo>
                    <a:pt x="87" y="85"/>
                    <a:pt x="88" y="84"/>
                    <a:pt x="88" y="81"/>
                  </a:cubicBezTo>
                  <a:cubicBezTo>
                    <a:pt x="89" y="79"/>
                    <a:pt x="89" y="79"/>
                    <a:pt x="88" y="77"/>
                  </a:cubicBezTo>
                  <a:cubicBezTo>
                    <a:pt x="88" y="76"/>
                    <a:pt x="88" y="75"/>
                    <a:pt x="87" y="74"/>
                  </a:cubicBezTo>
                  <a:cubicBezTo>
                    <a:pt x="87" y="72"/>
                    <a:pt x="86" y="72"/>
                    <a:pt x="88" y="71"/>
                  </a:cubicBezTo>
                  <a:cubicBezTo>
                    <a:pt x="90" y="71"/>
                    <a:pt x="90" y="71"/>
                    <a:pt x="91" y="73"/>
                  </a:cubicBezTo>
                  <a:cubicBezTo>
                    <a:pt x="92" y="76"/>
                    <a:pt x="92" y="77"/>
                    <a:pt x="92" y="77"/>
                  </a:cubicBezTo>
                  <a:cubicBezTo>
                    <a:pt x="92" y="79"/>
                    <a:pt x="92" y="82"/>
                    <a:pt x="90" y="86"/>
                  </a:cubicBezTo>
                  <a:cubicBezTo>
                    <a:pt x="89" y="89"/>
                    <a:pt x="88" y="91"/>
                    <a:pt x="88" y="94"/>
                  </a:cubicBezTo>
                  <a:cubicBezTo>
                    <a:pt x="88" y="98"/>
                    <a:pt x="89" y="102"/>
                    <a:pt x="90" y="103"/>
                  </a:cubicBezTo>
                  <a:cubicBezTo>
                    <a:pt x="90" y="104"/>
                    <a:pt x="92" y="107"/>
                    <a:pt x="91" y="107"/>
                  </a:cubicBezTo>
                  <a:close/>
                  <a:moveTo>
                    <a:pt x="97" y="102"/>
                  </a:moveTo>
                  <a:cubicBezTo>
                    <a:pt x="97" y="104"/>
                    <a:pt x="99" y="106"/>
                    <a:pt x="98" y="107"/>
                  </a:cubicBezTo>
                  <a:cubicBezTo>
                    <a:pt x="97" y="107"/>
                    <a:pt x="95" y="107"/>
                    <a:pt x="95" y="106"/>
                  </a:cubicBezTo>
                  <a:cubicBezTo>
                    <a:pt x="94" y="105"/>
                    <a:pt x="93" y="103"/>
                    <a:pt x="92" y="100"/>
                  </a:cubicBezTo>
                  <a:cubicBezTo>
                    <a:pt x="92" y="96"/>
                    <a:pt x="92" y="94"/>
                    <a:pt x="92" y="91"/>
                  </a:cubicBezTo>
                  <a:cubicBezTo>
                    <a:pt x="93" y="86"/>
                    <a:pt x="96" y="85"/>
                    <a:pt x="96" y="81"/>
                  </a:cubicBezTo>
                  <a:cubicBezTo>
                    <a:pt x="96" y="78"/>
                    <a:pt x="96" y="77"/>
                    <a:pt x="95" y="76"/>
                  </a:cubicBezTo>
                  <a:cubicBezTo>
                    <a:pt x="95" y="74"/>
                    <a:pt x="93" y="71"/>
                    <a:pt x="95" y="71"/>
                  </a:cubicBezTo>
                  <a:cubicBezTo>
                    <a:pt x="97" y="71"/>
                    <a:pt x="97" y="72"/>
                    <a:pt x="97" y="72"/>
                  </a:cubicBezTo>
                  <a:cubicBezTo>
                    <a:pt x="98" y="73"/>
                    <a:pt x="100" y="76"/>
                    <a:pt x="100" y="78"/>
                  </a:cubicBezTo>
                  <a:cubicBezTo>
                    <a:pt x="100" y="81"/>
                    <a:pt x="99" y="84"/>
                    <a:pt x="98" y="87"/>
                  </a:cubicBezTo>
                  <a:cubicBezTo>
                    <a:pt x="96" y="90"/>
                    <a:pt x="95" y="91"/>
                    <a:pt x="95" y="94"/>
                  </a:cubicBezTo>
                  <a:cubicBezTo>
                    <a:pt x="96" y="96"/>
                    <a:pt x="96" y="98"/>
                    <a:pt x="97" y="102"/>
                  </a:cubicBezTo>
                  <a:close/>
                  <a:moveTo>
                    <a:pt x="106" y="84"/>
                  </a:moveTo>
                  <a:cubicBezTo>
                    <a:pt x="104" y="89"/>
                    <a:pt x="103" y="88"/>
                    <a:pt x="102" y="93"/>
                  </a:cubicBezTo>
                  <a:cubicBezTo>
                    <a:pt x="102" y="95"/>
                    <a:pt x="103" y="100"/>
                    <a:pt x="104" y="102"/>
                  </a:cubicBezTo>
                  <a:cubicBezTo>
                    <a:pt x="104" y="103"/>
                    <a:pt x="106" y="106"/>
                    <a:pt x="105" y="106"/>
                  </a:cubicBezTo>
                  <a:cubicBezTo>
                    <a:pt x="104" y="107"/>
                    <a:pt x="102" y="106"/>
                    <a:pt x="102" y="106"/>
                  </a:cubicBezTo>
                  <a:cubicBezTo>
                    <a:pt x="101" y="105"/>
                    <a:pt x="100" y="102"/>
                    <a:pt x="100" y="101"/>
                  </a:cubicBezTo>
                  <a:cubicBezTo>
                    <a:pt x="99" y="98"/>
                    <a:pt x="98" y="92"/>
                    <a:pt x="100" y="88"/>
                  </a:cubicBezTo>
                  <a:cubicBezTo>
                    <a:pt x="101" y="87"/>
                    <a:pt x="102" y="85"/>
                    <a:pt x="103" y="81"/>
                  </a:cubicBezTo>
                  <a:cubicBezTo>
                    <a:pt x="103" y="77"/>
                    <a:pt x="102" y="76"/>
                    <a:pt x="102" y="74"/>
                  </a:cubicBezTo>
                  <a:cubicBezTo>
                    <a:pt x="101" y="73"/>
                    <a:pt x="100" y="72"/>
                    <a:pt x="102" y="72"/>
                  </a:cubicBezTo>
                  <a:cubicBezTo>
                    <a:pt x="105" y="72"/>
                    <a:pt x="105" y="73"/>
                    <a:pt x="106" y="75"/>
                  </a:cubicBezTo>
                  <a:cubicBezTo>
                    <a:pt x="106" y="78"/>
                    <a:pt x="106" y="79"/>
                    <a:pt x="106" y="84"/>
                  </a:cubicBezTo>
                  <a:close/>
                  <a:moveTo>
                    <a:pt x="105" y="67"/>
                  </a:moveTo>
                  <a:cubicBezTo>
                    <a:pt x="103" y="68"/>
                    <a:pt x="103" y="67"/>
                    <a:pt x="103" y="64"/>
                  </a:cubicBezTo>
                  <a:cubicBezTo>
                    <a:pt x="103" y="63"/>
                    <a:pt x="103" y="57"/>
                    <a:pt x="101" y="56"/>
                  </a:cubicBezTo>
                  <a:cubicBezTo>
                    <a:pt x="99" y="55"/>
                    <a:pt x="97" y="55"/>
                    <a:pt x="96" y="56"/>
                  </a:cubicBezTo>
                  <a:cubicBezTo>
                    <a:pt x="96" y="56"/>
                    <a:pt x="96" y="66"/>
                    <a:pt x="96" y="66"/>
                  </a:cubicBezTo>
                  <a:cubicBezTo>
                    <a:pt x="96" y="69"/>
                    <a:pt x="95" y="68"/>
                    <a:pt x="94" y="68"/>
                  </a:cubicBezTo>
                  <a:cubicBezTo>
                    <a:pt x="92" y="67"/>
                    <a:pt x="92" y="66"/>
                    <a:pt x="92" y="65"/>
                  </a:cubicBezTo>
                  <a:cubicBezTo>
                    <a:pt x="92" y="63"/>
                    <a:pt x="92" y="56"/>
                    <a:pt x="92" y="56"/>
                  </a:cubicBezTo>
                  <a:cubicBezTo>
                    <a:pt x="92" y="56"/>
                    <a:pt x="88" y="55"/>
                    <a:pt x="87" y="59"/>
                  </a:cubicBezTo>
                  <a:cubicBezTo>
                    <a:pt x="87" y="63"/>
                    <a:pt x="86" y="65"/>
                    <a:pt x="86" y="66"/>
                  </a:cubicBezTo>
                  <a:cubicBezTo>
                    <a:pt x="86" y="67"/>
                    <a:pt x="86" y="67"/>
                    <a:pt x="86" y="67"/>
                  </a:cubicBezTo>
                  <a:cubicBezTo>
                    <a:pt x="85" y="68"/>
                    <a:pt x="84" y="68"/>
                    <a:pt x="83" y="68"/>
                  </a:cubicBezTo>
                  <a:cubicBezTo>
                    <a:pt x="83" y="66"/>
                    <a:pt x="83" y="64"/>
                    <a:pt x="84" y="62"/>
                  </a:cubicBezTo>
                  <a:cubicBezTo>
                    <a:pt x="84" y="59"/>
                    <a:pt x="85" y="57"/>
                    <a:pt x="85" y="55"/>
                  </a:cubicBezTo>
                  <a:cubicBezTo>
                    <a:pt x="86" y="54"/>
                    <a:pt x="89" y="53"/>
                    <a:pt x="92" y="52"/>
                  </a:cubicBezTo>
                  <a:cubicBezTo>
                    <a:pt x="93" y="52"/>
                    <a:pt x="93" y="50"/>
                    <a:pt x="92" y="50"/>
                  </a:cubicBezTo>
                  <a:cubicBezTo>
                    <a:pt x="91" y="49"/>
                    <a:pt x="89" y="50"/>
                    <a:pt x="87" y="50"/>
                  </a:cubicBezTo>
                  <a:cubicBezTo>
                    <a:pt x="86" y="50"/>
                    <a:pt x="85" y="51"/>
                    <a:pt x="84" y="49"/>
                  </a:cubicBezTo>
                  <a:cubicBezTo>
                    <a:pt x="84" y="48"/>
                    <a:pt x="84" y="47"/>
                    <a:pt x="86" y="47"/>
                  </a:cubicBezTo>
                  <a:cubicBezTo>
                    <a:pt x="90" y="47"/>
                    <a:pt x="90" y="47"/>
                    <a:pt x="90" y="47"/>
                  </a:cubicBezTo>
                  <a:cubicBezTo>
                    <a:pt x="90" y="47"/>
                    <a:pt x="92" y="47"/>
                    <a:pt x="92" y="46"/>
                  </a:cubicBezTo>
                  <a:cubicBezTo>
                    <a:pt x="92" y="46"/>
                    <a:pt x="93" y="44"/>
                    <a:pt x="93" y="43"/>
                  </a:cubicBezTo>
                  <a:cubicBezTo>
                    <a:pt x="93" y="43"/>
                    <a:pt x="94" y="43"/>
                    <a:pt x="95" y="43"/>
                  </a:cubicBezTo>
                  <a:cubicBezTo>
                    <a:pt x="96" y="44"/>
                    <a:pt x="96" y="44"/>
                    <a:pt x="96" y="45"/>
                  </a:cubicBezTo>
                  <a:cubicBezTo>
                    <a:pt x="96" y="46"/>
                    <a:pt x="96" y="46"/>
                    <a:pt x="100" y="46"/>
                  </a:cubicBezTo>
                  <a:cubicBezTo>
                    <a:pt x="103" y="46"/>
                    <a:pt x="105" y="46"/>
                    <a:pt x="105" y="47"/>
                  </a:cubicBezTo>
                  <a:cubicBezTo>
                    <a:pt x="105" y="48"/>
                    <a:pt x="105" y="49"/>
                    <a:pt x="105" y="49"/>
                  </a:cubicBezTo>
                  <a:cubicBezTo>
                    <a:pt x="105" y="50"/>
                    <a:pt x="104" y="49"/>
                    <a:pt x="102" y="50"/>
                  </a:cubicBezTo>
                  <a:cubicBezTo>
                    <a:pt x="100" y="50"/>
                    <a:pt x="97" y="50"/>
                    <a:pt x="96" y="50"/>
                  </a:cubicBezTo>
                  <a:cubicBezTo>
                    <a:pt x="96" y="50"/>
                    <a:pt x="96" y="51"/>
                    <a:pt x="96" y="51"/>
                  </a:cubicBezTo>
                  <a:cubicBezTo>
                    <a:pt x="96" y="52"/>
                    <a:pt x="96" y="52"/>
                    <a:pt x="98" y="52"/>
                  </a:cubicBezTo>
                  <a:cubicBezTo>
                    <a:pt x="105" y="54"/>
                    <a:pt x="105" y="54"/>
                    <a:pt x="106" y="58"/>
                  </a:cubicBezTo>
                  <a:cubicBezTo>
                    <a:pt x="106" y="62"/>
                    <a:pt x="106" y="64"/>
                    <a:pt x="106" y="65"/>
                  </a:cubicBezTo>
                  <a:cubicBezTo>
                    <a:pt x="106" y="66"/>
                    <a:pt x="107" y="67"/>
                    <a:pt x="105" y="67"/>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1" name="Freeform 69"/>
            <p:cNvSpPr/>
            <p:nvPr/>
          </p:nvSpPr>
          <p:spPr bwMode="auto">
            <a:xfrm>
              <a:off x="4656138" y="5248275"/>
              <a:ext cx="26988" cy="28575"/>
            </a:xfrm>
            <a:custGeom>
              <a:avLst/>
              <a:gdLst>
                <a:gd name="T0" fmla="*/ 3 w 5"/>
                <a:gd name="T1" fmla="*/ 5 h 5"/>
                <a:gd name="T2" fmla="*/ 4 w 5"/>
                <a:gd name="T3" fmla="*/ 5 h 5"/>
                <a:gd name="T4" fmla="*/ 5 w 5"/>
                <a:gd name="T5" fmla="*/ 1 h 5"/>
                <a:gd name="T6" fmla="*/ 1 w 5"/>
                <a:gd name="T7" fmla="*/ 0 h 5"/>
                <a:gd name="T8" fmla="*/ 0 w 5"/>
                <a:gd name="T9" fmla="*/ 1 h 5"/>
                <a:gd name="T10" fmla="*/ 3 w 5"/>
                <a:gd name="T11" fmla="*/ 5 h 5"/>
              </a:gdLst>
              <a:ahLst/>
              <a:cxnLst>
                <a:cxn ang="0">
                  <a:pos x="T0" y="T1"/>
                </a:cxn>
                <a:cxn ang="0">
                  <a:pos x="T2" y="T3"/>
                </a:cxn>
                <a:cxn ang="0">
                  <a:pos x="T4" y="T5"/>
                </a:cxn>
                <a:cxn ang="0">
                  <a:pos x="T6" y="T7"/>
                </a:cxn>
                <a:cxn ang="0">
                  <a:pos x="T8" y="T9"/>
                </a:cxn>
                <a:cxn ang="0">
                  <a:pos x="T10" y="T11"/>
                </a:cxn>
              </a:cxnLst>
              <a:rect l="0" t="0" r="r" b="b"/>
              <a:pathLst>
                <a:path w="5" h="5">
                  <a:moveTo>
                    <a:pt x="3" y="5"/>
                  </a:moveTo>
                  <a:cubicBezTo>
                    <a:pt x="4" y="5"/>
                    <a:pt x="4" y="5"/>
                    <a:pt x="4" y="5"/>
                  </a:cubicBezTo>
                  <a:cubicBezTo>
                    <a:pt x="5" y="4"/>
                    <a:pt x="5" y="3"/>
                    <a:pt x="5" y="1"/>
                  </a:cubicBezTo>
                  <a:cubicBezTo>
                    <a:pt x="4" y="0"/>
                    <a:pt x="3" y="0"/>
                    <a:pt x="1" y="0"/>
                  </a:cubicBezTo>
                  <a:cubicBezTo>
                    <a:pt x="1" y="0"/>
                    <a:pt x="0" y="0"/>
                    <a:pt x="0" y="1"/>
                  </a:cubicBezTo>
                  <a:cubicBezTo>
                    <a:pt x="1" y="5"/>
                    <a:pt x="1" y="4"/>
                    <a:pt x="3" y="5"/>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2" name="Freeform 70"/>
            <p:cNvSpPr/>
            <p:nvPr/>
          </p:nvSpPr>
          <p:spPr bwMode="auto">
            <a:xfrm>
              <a:off x="4587875" y="5253038"/>
              <a:ext cx="28575" cy="23813"/>
            </a:xfrm>
            <a:custGeom>
              <a:avLst/>
              <a:gdLst>
                <a:gd name="T0" fmla="*/ 1 w 5"/>
                <a:gd name="T1" fmla="*/ 4 h 4"/>
                <a:gd name="T2" fmla="*/ 2 w 5"/>
                <a:gd name="T3" fmla="*/ 4 h 4"/>
                <a:gd name="T4" fmla="*/ 5 w 5"/>
                <a:gd name="T5" fmla="*/ 0 h 4"/>
                <a:gd name="T6" fmla="*/ 2 w 5"/>
                <a:gd name="T7" fmla="*/ 0 h 4"/>
                <a:gd name="T8" fmla="*/ 1 w 5"/>
                <a:gd name="T9" fmla="*/ 1 h 4"/>
                <a:gd name="T10" fmla="*/ 1 w 5"/>
                <a:gd name="T11" fmla="*/ 4 h 4"/>
              </a:gdLst>
              <a:ahLst/>
              <a:cxnLst>
                <a:cxn ang="0">
                  <a:pos x="T0" y="T1"/>
                </a:cxn>
                <a:cxn ang="0">
                  <a:pos x="T2" y="T3"/>
                </a:cxn>
                <a:cxn ang="0">
                  <a:pos x="T4" y="T5"/>
                </a:cxn>
                <a:cxn ang="0">
                  <a:pos x="T6" y="T7"/>
                </a:cxn>
                <a:cxn ang="0">
                  <a:pos x="T8" y="T9"/>
                </a:cxn>
                <a:cxn ang="0">
                  <a:pos x="T10" y="T11"/>
                </a:cxn>
              </a:cxnLst>
              <a:rect l="0" t="0" r="r" b="b"/>
              <a:pathLst>
                <a:path w="5" h="4">
                  <a:moveTo>
                    <a:pt x="1" y="4"/>
                  </a:moveTo>
                  <a:cubicBezTo>
                    <a:pt x="2" y="4"/>
                    <a:pt x="2" y="4"/>
                    <a:pt x="2" y="4"/>
                  </a:cubicBezTo>
                  <a:cubicBezTo>
                    <a:pt x="4" y="4"/>
                    <a:pt x="4" y="2"/>
                    <a:pt x="5" y="0"/>
                  </a:cubicBezTo>
                  <a:cubicBezTo>
                    <a:pt x="5" y="0"/>
                    <a:pt x="3" y="0"/>
                    <a:pt x="2" y="0"/>
                  </a:cubicBezTo>
                  <a:cubicBezTo>
                    <a:pt x="1" y="0"/>
                    <a:pt x="1" y="0"/>
                    <a:pt x="1" y="1"/>
                  </a:cubicBezTo>
                  <a:cubicBezTo>
                    <a:pt x="0" y="2"/>
                    <a:pt x="0" y="4"/>
                    <a:pt x="1" y="4"/>
                  </a:cubicBezTo>
                  <a:close/>
                </a:path>
              </a:pathLst>
            </a:custGeom>
            <a:grp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83" name="文本框 82">
            <a:extLst>
              <a:ext uri="{FF2B5EF4-FFF2-40B4-BE49-F238E27FC236}">
                <a16:creationId xmlns:a16="http://schemas.microsoft.com/office/drawing/2014/main" id="{1A2E149E-9968-4998-9BE9-AC5195A8005E}"/>
              </a:ext>
            </a:extLst>
          </p:cNvPr>
          <p:cNvSpPr txBox="1"/>
          <p:nvPr/>
        </p:nvSpPr>
        <p:spPr>
          <a:xfrm>
            <a:off x="2861949" y="4216332"/>
            <a:ext cx="6096000" cy="584775"/>
          </a:xfrm>
          <a:prstGeom prst="rect">
            <a:avLst/>
          </a:prstGeom>
          <a:noFill/>
        </p:spPr>
        <p:txBody>
          <a:bodyPr wrap="square">
            <a:spAutoFit/>
          </a:bodyPr>
          <a:lstStyle/>
          <a:p>
            <a:pPr algn="ctr"/>
            <a:r>
              <a:rPr lang="zh-CN" altLang="en-US" sz="3200" b="1" dirty="0">
                <a:latin typeface="微软雅黑 Light" panose="020B0502040204020203" charset="-122"/>
                <a:ea typeface="微软雅黑 Light" panose="020B0502040204020203" charset="-122"/>
              </a:rPr>
              <a:t>廖悦成 </a:t>
            </a:r>
            <a:r>
              <a:rPr lang="en-US" altLang="zh-CN" sz="3200" b="1" dirty="0">
                <a:latin typeface="微软雅黑 Light" panose="020B0502040204020203" charset="-122"/>
                <a:ea typeface="微软雅黑 Light" panose="020B0502040204020203" charset="-122"/>
              </a:rPr>
              <a:t>2022150128</a:t>
            </a:r>
            <a:r>
              <a:rPr lang="zh-CN" altLang="en-US" sz="1800" dirty="0">
                <a:solidFill>
                  <a:srgbClr val="694B71"/>
                </a:solidFill>
                <a:latin typeface="微软雅黑 Light" panose="020B0502040204020203" charset="-122"/>
                <a:ea typeface="微软雅黑 Light" panose="020B0502040204020203" charset="-122"/>
                <a:cs typeface="微软雅黑 Light" panose="020B0502040204020203" charset="-122"/>
              </a:rPr>
              <a:t> </a:t>
            </a:r>
            <a:endParaRPr lang="en-US" altLang="zh-CN" sz="1800" dirty="0">
              <a:solidFill>
                <a:srgbClr val="694B71"/>
              </a:solidFill>
              <a:latin typeface="微软雅黑 Light" panose="020B0502040204020203" charset="-122"/>
              <a:ea typeface="微软雅黑 Light" panose="020B0502040204020203" charset="-122"/>
              <a:cs typeface="微软雅黑 Light" panose="020B0502040204020203" charset="-122"/>
            </a:endParaRPr>
          </a:p>
        </p:txBody>
      </p:sp>
      <p:sp>
        <p:nvSpPr>
          <p:cNvPr id="84" name="文本框 83">
            <a:extLst>
              <a:ext uri="{FF2B5EF4-FFF2-40B4-BE49-F238E27FC236}">
                <a16:creationId xmlns:a16="http://schemas.microsoft.com/office/drawing/2014/main" id="{27705903-3300-4C56-ADE1-FA6D05BD0B03}"/>
              </a:ext>
            </a:extLst>
          </p:cNvPr>
          <p:cNvSpPr txBox="1"/>
          <p:nvPr/>
        </p:nvSpPr>
        <p:spPr>
          <a:xfrm>
            <a:off x="2766060" y="4727221"/>
            <a:ext cx="6096000" cy="584775"/>
          </a:xfrm>
          <a:prstGeom prst="rect">
            <a:avLst/>
          </a:prstGeom>
          <a:noFill/>
        </p:spPr>
        <p:txBody>
          <a:bodyPr wrap="square">
            <a:spAutoFit/>
          </a:bodyPr>
          <a:lstStyle/>
          <a:p>
            <a:pPr algn="ctr"/>
            <a:r>
              <a:rPr lang="zh-CN" altLang="en-US" sz="3200" b="1" dirty="0">
                <a:latin typeface="微软雅黑 Light" panose="020B0502040204020203" charset="-122"/>
                <a:ea typeface="微软雅黑 Light" panose="020B0502040204020203" charset="-122"/>
              </a:rPr>
              <a:t> 李伟超 </a:t>
            </a:r>
            <a:r>
              <a:rPr lang="en-US" altLang="zh-CN" sz="3200" b="1" dirty="0">
                <a:latin typeface="微软雅黑 Light" panose="020B0502040204020203" charset="-122"/>
                <a:ea typeface="微软雅黑 Light" panose="020B0502040204020203" charset="-122"/>
              </a:rPr>
              <a:t>2023110019 </a:t>
            </a:r>
            <a:endParaRPr lang="zh-CN" altLang="en-US" sz="3200" b="1" dirty="0">
              <a:latin typeface="微软雅黑 Light" panose="020B0502040204020203" charset="-122"/>
              <a:ea typeface="微软雅黑 Light" panose="020B0502040204020203" charset="-122"/>
            </a:endParaRPr>
          </a:p>
        </p:txBody>
      </p:sp>
    </p:spTree>
    <p:custDataLst>
      <p:tags r:id="rId1"/>
    </p:custData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97000"/>
            <a:lum/>
          </a:blip>
          <a:srcRect/>
          <a:stretch>
            <a:fillRect l="-5000" r="-5000"/>
          </a:stretch>
        </a:blipFill>
        <a:effectLst/>
      </p:bgPr>
    </p:bg>
    <p:spTree>
      <p:nvGrpSpPr>
        <p:cNvPr id="1" name=""/>
        <p:cNvGrpSpPr/>
        <p:nvPr/>
      </p:nvGrpSpPr>
      <p:grpSpPr>
        <a:xfrm>
          <a:off x="0" y="0"/>
          <a:ext cx="0" cy="0"/>
          <a:chOff x="0" y="0"/>
          <a:chExt cx="0" cy="0"/>
        </a:xfrm>
      </p:grpSpPr>
      <p:sp>
        <p:nvSpPr>
          <p:cNvPr id="5" name="矩形 4"/>
          <p:cNvSpPr/>
          <p:nvPr/>
        </p:nvSpPr>
        <p:spPr>
          <a:xfrm>
            <a:off x="0" y="0"/>
            <a:ext cx="6096000"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descr="浑天仪1"/>
          <p:cNvPicPr>
            <a:picLocks noChangeAspect="1"/>
          </p:cNvPicPr>
          <p:nvPr/>
        </p:nvPicPr>
        <p:blipFill>
          <a:blip r:embed="rId5"/>
          <a:stretch>
            <a:fillRect/>
          </a:stretch>
        </p:blipFill>
        <p:spPr>
          <a:xfrm>
            <a:off x="552133" y="5126355"/>
            <a:ext cx="544195" cy="746760"/>
          </a:xfrm>
          <a:prstGeom prst="rect">
            <a:avLst/>
          </a:prstGeom>
        </p:spPr>
      </p:pic>
      <p:pic>
        <p:nvPicPr>
          <p:cNvPr id="7" name="图片 6" descr="日晷荔枝红2"/>
          <p:cNvPicPr>
            <a:picLocks noChangeAspect="1"/>
          </p:cNvPicPr>
          <p:nvPr/>
        </p:nvPicPr>
        <p:blipFill>
          <a:blip r:embed="rId6"/>
          <a:stretch>
            <a:fillRect/>
          </a:stretch>
        </p:blipFill>
        <p:spPr>
          <a:xfrm>
            <a:off x="382270" y="3594735"/>
            <a:ext cx="883920" cy="530860"/>
          </a:xfrm>
          <a:prstGeom prst="rect">
            <a:avLst/>
          </a:prstGeom>
        </p:spPr>
      </p:pic>
      <p:pic>
        <p:nvPicPr>
          <p:cNvPr id="8" name="图片 7" descr="仰望星空3"/>
          <p:cNvPicPr>
            <a:picLocks noChangeAspect="1"/>
          </p:cNvPicPr>
          <p:nvPr/>
        </p:nvPicPr>
        <p:blipFill>
          <a:blip r:embed="rId7"/>
          <a:stretch>
            <a:fillRect/>
          </a:stretch>
        </p:blipFill>
        <p:spPr>
          <a:xfrm>
            <a:off x="607695" y="1819275"/>
            <a:ext cx="433070" cy="774700"/>
          </a:xfrm>
          <a:prstGeom prst="rect">
            <a:avLst/>
          </a:prstGeom>
        </p:spPr>
      </p:pic>
      <p:sp>
        <p:nvSpPr>
          <p:cNvPr id="10" name="文本框 9"/>
          <p:cNvSpPr txBox="1"/>
          <p:nvPr/>
        </p:nvSpPr>
        <p:spPr>
          <a:xfrm>
            <a:off x="1660671" y="1865986"/>
            <a:ext cx="3457087" cy="681355"/>
          </a:xfrm>
          <a:prstGeom prst="rect">
            <a:avLst/>
          </a:prstGeom>
          <a:noFill/>
        </p:spPr>
        <p:txBody>
          <a:bodyPr wrap="square" rtlCol="0">
            <a:spAutoFit/>
          </a:bodyPr>
          <a:lstStyle/>
          <a:p>
            <a:pPr algn="ctr">
              <a:lnSpc>
                <a:spcPct val="120000"/>
              </a:lnSpc>
            </a:pPr>
            <a:r>
              <a:rPr lang="zh-CN" altLang="en-US" sz="1600" dirty="0">
                <a:solidFill>
                  <a:srgbClr val="775480"/>
                </a:solidFill>
                <a:latin typeface="微软雅黑 Light" panose="020B0502040204020203" charset="-122"/>
                <a:ea typeface="微软雅黑 Light" panose="020B0502040204020203" charset="-122"/>
                <a:sym typeface="+mn-ea"/>
              </a:rPr>
              <a:t>每年每 3 名 65 岁及以上的成年人中就有 1 人跌倒[</a:t>
            </a:r>
          </a:p>
        </p:txBody>
      </p:sp>
      <p:sp>
        <p:nvSpPr>
          <p:cNvPr id="11" name="文本框 10"/>
          <p:cNvSpPr txBox="1"/>
          <p:nvPr/>
        </p:nvSpPr>
        <p:spPr>
          <a:xfrm>
            <a:off x="1545590" y="3429000"/>
            <a:ext cx="3916680" cy="975995"/>
          </a:xfrm>
          <a:prstGeom prst="rect">
            <a:avLst/>
          </a:prstGeom>
          <a:noFill/>
        </p:spPr>
        <p:txBody>
          <a:bodyPr wrap="square" rtlCol="0">
            <a:spAutoFit/>
          </a:bodyPr>
          <a:lstStyle/>
          <a:p>
            <a:pPr algn="ctr">
              <a:lnSpc>
                <a:spcPct val="120000"/>
              </a:lnSpc>
            </a:pPr>
            <a:r>
              <a:rPr lang="zh-CN" altLang="en-US" sz="1600" dirty="0">
                <a:solidFill>
                  <a:srgbClr val="775480"/>
                </a:solidFill>
                <a:latin typeface="微软雅黑 Light" panose="020B0502040204020203" charset="-122"/>
                <a:ea typeface="微软雅黑 Light" panose="020B0502040204020203" charset="-122"/>
                <a:sym typeface="+mn-ea"/>
              </a:rPr>
              <a:t>在 2000 例老年人跌倒中，美国医疗保健系统损失了超过 190 亿美元，2010 年这一数字增加到 300 亿美元[2]。</a:t>
            </a:r>
          </a:p>
        </p:txBody>
      </p:sp>
      <p:sp>
        <p:nvSpPr>
          <p:cNvPr id="12" name="文本框 11"/>
          <p:cNvSpPr txBox="1"/>
          <p:nvPr/>
        </p:nvSpPr>
        <p:spPr>
          <a:xfrm>
            <a:off x="1315720" y="4897120"/>
            <a:ext cx="4376420" cy="975995"/>
          </a:xfrm>
          <a:prstGeom prst="rect">
            <a:avLst/>
          </a:prstGeom>
          <a:noFill/>
        </p:spPr>
        <p:txBody>
          <a:bodyPr wrap="square" rtlCol="0">
            <a:spAutoFit/>
          </a:bodyPr>
          <a:lstStyle/>
          <a:p>
            <a:pPr algn="ctr">
              <a:lnSpc>
                <a:spcPct val="120000"/>
              </a:lnSpc>
            </a:pPr>
            <a:r>
              <a:rPr lang="zh-CN" altLang="en-US" sz="1600" dirty="0">
                <a:solidFill>
                  <a:srgbClr val="775480"/>
                </a:solidFill>
                <a:latin typeface="微软雅黑 Light" panose="020B0502040204020203" charset="-122"/>
                <a:ea typeface="微软雅黑 Light" panose="020B0502040204020203" charset="-122"/>
                <a:sym typeface="+mn-ea"/>
              </a:rPr>
              <a:t>大多数老年人在跌倒后无法自行站起来</a:t>
            </a:r>
            <a:r>
              <a:rPr lang="en-US" altLang="zh-CN" sz="1600" dirty="0">
                <a:solidFill>
                  <a:srgbClr val="775480"/>
                </a:solidFill>
                <a:latin typeface="微软雅黑 Light" panose="020B0502040204020203" charset="-122"/>
                <a:ea typeface="微软雅黑 Light" panose="020B0502040204020203" charset="-122"/>
                <a:sym typeface="+mn-ea"/>
              </a:rPr>
              <a:t> </a:t>
            </a:r>
          </a:p>
          <a:p>
            <a:pPr algn="ctr">
              <a:lnSpc>
                <a:spcPct val="120000"/>
              </a:lnSpc>
            </a:pPr>
            <a:r>
              <a:rPr lang="zh-CN" altLang="en-US" sz="1600" dirty="0">
                <a:solidFill>
                  <a:srgbClr val="775480"/>
                </a:solidFill>
                <a:latin typeface="微软雅黑 Light" panose="020B0502040204020203" charset="-122"/>
                <a:ea typeface="微软雅黑 Light" panose="020B0502040204020203" charset="-122"/>
                <a:sym typeface="+mn-ea"/>
              </a:rPr>
              <a:t>跌倒后延误就医会增加死亡风险，</a:t>
            </a:r>
          </a:p>
          <a:p>
            <a:pPr algn="ctr">
              <a:lnSpc>
                <a:spcPct val="120000"/>
              </a:lnSpc>
            </a:pPr>
            <a:r>
              <a:rPr lang="zh-CN" altLang="en-US" sz="1600" dirty="0">
                <a:solidFill>
                  <a:srgbClr val="775480"/>
                </a:solidFill>
                <a:latin typeface="微软雅黑 Light" panose="020B0502040204020203" charset="-122"/>
                <a:ea typeface="微软雅黑 Light" panose="020B0502040204020203" charset="-122"/>
                <a:sym typeface="+mn-ea"/>
              </a:rPr>
              <a:t>跌倒还会对老年人造成心理伤害</a:t>
            </a:r>
          </a:p>
        </p:txBody>
      </p:sp>
      <p:sp>
        <p:nvSpPr>
          <p:cNvPr id="13" name="标题 1"/>
          <p:cNvSpPr txBox="1"/>
          <p:nvPr>
            <p:custDataLst>
              <p:tags r:id="rId2"/>
            </p:custDataLst>
          </p:nvPr>
        </p:nvSpPr>
        <p:spPr>
          <a:xfrm>
            <a:off x="3854938" y="269240"/>
            <a:ext cx="4482123"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en-US" sz="3200" dirty="0">
                <a:solidFill>
                  <a:srgbClr val="694B71"/>
                </a:solidFill>
                <a:latin typeface="微软雅黑" panose="020B0503020204020204" pitchFamily="34" charset="-122"/>
                <a:ea typeface="微软雅黑" panose="020B0503020204020204" pitchFamily="34" charset="-122"/>
              </a:rPr>
              <a:t>跌倒问题很严峻</a:t>
            </a:r>
          </a:p>
        </p:txBody>
      </p:sp>
      <p:sp>
        <p:nvSpPr>
          <p:cNvPr id="14" name="矩形 13"/>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8603615" y="62130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 name="图片 15" descr="gettyimages-1183001120-2048x2048"/>
          <p:cNvPicPr>
            <a:picLocks noChangeAspect="1"/>
          </p:cNvPicPr>
          <p:nvPr/>
        </p:nvPicPr>
        <p:blipFill>
          <a:blip r:embed="rId8"/>
          <a:stretch>
            <a:fillRect/>
          </a:stretch>
        </p:blipFill>
        <p:spPr>
          <a:xfrm>
            <a:off x="6096000" y="1581150"/>
            <a:ext cx="6242050" cy="4166870"/>
          </a:xfrm>
          <a:prstGeom prst="rect">
            <a:avLst/>
          </a:prstGeom>
        </p:spPr>
      </p:pic>
      <p:sp>
        <p:nvSpPr>
          <p:cNvPr id="19" name="文本框 18"/>
          <p:cNvSpPr txBox="1"/>
          <p:nvPr/>
        </p:nvSpPr>
        <p:spPr>
          <a:xfrm>
            <a:off x="1545590" y="3208020"/>
            <a:ext cx="9571355" cy="1304290"/>
          </a:xfrm>
          <a:prstGeom prst="rect">
            <a:avLst/>
          </a:prstGeom>
        </p:spPr>
        <p:style>
          <a:lnRef idx="2">
            <a:schemeClr val="accent1"/>
          </a:lnRef>
          <a:fillRef idx="1">
            <a:schemeClr val="lt1"/>
          </a:fillRef>
          <a:effectRef idx="0">
            <a:schemeClr val="accent1"/>
          </a:effectRef>
          <a:fontRef idx="minor">
            <a:schemeClr val="dk1"/>
          </a:fontRef>
        </p:style>
        <p:txBody>
          <a:bodyPr wrap="square" rtlCol="0">
            <a:noAutofit/>
          </a:bodyPr>
          <a:lstStyle/>
          <a:p>
            <a:r>
              <a:rPr lang="zh-CN" altLang="en-US" sz="5400">
                <a:ln>
                  <a:solidFill>
                    <a:sysClr val="windowText" lastClr="000000"/>
                  </a:solidFill>
                </a:ln>
                <a:solidFill>
                  <a:schemeClr val="tx1"/>
                </a:solidFill>
              </a:rPr>
              <a:t>因此，检测老人跌倒很有必要</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4">
            <a:alphaModFix amt="25000"/>
          </a:blip>
          <a:stretch>
            <a:fillRect l="-5000" r="-5000"/>
          </a:stretch>
        </a:blipFill>
        <a:effectLst/>
      </p:bgPr>
    </p:bg>
    <p:spTree>
      <p:nvGrpSpPr>
        <p:cNvPr id="1" name=""/>
        <p:cNvGrpSpPr/>
        <p:nvPr/>
      </p:nvGrpSpPr>
      <p:grpSpPr>
        <a:xfrm>
          <a:off x="0" y="0"/>
          <a:ext cx="0" cy="0"/>
          <a:chOff x="0" y="0"/>
          <a:chExt cx="0" cy="0"/>
        </a:xfrm>
      </p:grpSpPr>
      <p:pic>
        <p:nvPicPr>
          <p:cNvPr id="4" name="图片 3" descr="D:\Downloads\js452078-fig-0002c-m.jpgjs452078-fig-0002c-m"/>
          <p:cNvPicPr preferRelativeResize="0"/>
          <p:nvPr/>
        </p:nvPicPr>
        <p:blipFill>
          <a:blip r:embed="rId5"/>
          <a:srcRect/>
          <a:stretch>
            <a:fillRect/>
          </a:stretch>
        </p:blipFill>
        <p:spPr>
          <a:xfrm>
            <a:off x="885825" y="1954530"/>
            <a:ext cx="2623185" cy="2948940"/>
          </a:xfrm>
          <a:prstGeom prst="rect">
            <a:avLst/>
          </a:prstGeom>
        </p:spPr>
      </p:pic>
      <p:sp>
        <p:nvSpPr>
          <p:cNvPr id="17" name="标题 1"/>
          <p:cNvSpPr txBox="1"/>
          <p:nvPr>
            <p:custDataLst>
              <p:tags r:id="rId2"/>
            </p:custDataLst>
          </p:nvPr>
        </p:nvSpPr>
        <p:spPr>
          <a:xfrm>
            <a:off x="3854938" y="269240"/>
            <a:ext cx="4482123"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en-US" sz="3200" dirty="0">
                <a:solidFill>
                  <a:srgbClr val="694B71"/>
                </a:solidFill>
                <a:latin typeface="微软雅黑" panose="020B0503020204020204" pitchFamily="34" charset="-122"/>
                <a:ea typeface="微软雅黑" panose="020B0503020204020204" pitchFamily="34" charset="-122"/>
              </a:rPr>
              <a:t>目前的跌倒检测方法</a:t>
            </a:r>
          </a:p>
        </p:txBody>
      </p:sp>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688193" y="5044482"/>
            <a:ext cx="2658403" cy="460375"/>
          </a:xfrm>
          <a:prstGeom prst="rect">
            <a:avLst/>
          </a:prstGeom>
          <a:noFill/>
        </p:spPr>
        <p:txBody>
          <a:bodyPr wrap="square" rtlCol="0">
            <a:spAutoFit/>
          </a:bodyPr>
          <a:lstStyle/>
          <a:p>
            <a:pPr algn="ctr">
              <a:lnSpc>
                <a:spcPct val="120000"/>
              </a:lnSpc>
            </a:pPr>
            <a:r>
              <a:rPr lang="zh-CN" altLang="en-US" sz="2000" dirty="0">
                <a:solidFill>
                  <a:srgbClr val="775480"/>
                </a:solidFill>
                <a:latin typeface="微软雅黑 Light" panose="020B0502040204020203" charset="-122"/>
                <a:ea typeface="微软雅黑 Light" panose="020B0502040204020203" charset="-122"/>
                <a:sym typeface="+mn-ea"/>
              </a:rPr>
              <a:t>可穿戴传感器</a:t>
            </a:r>
          </a:p>
        </p:txBody>
      </p:sp>
      <p:sp>
        <p:nvSpPr>
          <p:cNvPr id="25" name="文本框 24"/>
          <p:cNvSpPr txBox="1"/>
          <p:nvPr/>
        </p:nvSpPr>
        <p:spPr>
          <a:xfrm>
            <a:off x="8793968" y="5044482"/>
            <a:ext cx="2658403" cy="977265"/>
          </a:xfrm>
          <a:prstGeom prst="rect">
            <a:avLst/>
          </a:prstGeom>
          <a:noFill/>
        </p:spPr>
        <p:txBody>
          <a:bodyPr wrap="square" rtlCol="0">
            <a:spAutoFit/>
          </a:bodyPr>
          <a:lstStyle/>
          <a:p>
            <a:pPr algn="ctr">
              <a:lnSpc>
                <a:spcPct val="120000"/>
              </a:lnSpc>
            </a:pPr>
            <a:r>
              <a:rPr lang="zh-CN" altLang="en-US" sz="2400" dirty="0">
                <a:solidFill>
                  <a:srgbClr val="775480"/>
                </a:solidFill>
                <a:latin typeface="微软雅黑 Light" panose="020B0502040204020203" charset="-122"/>
                <a:ea typeface="微软雅黑 Light" panose="020B0502040204020203" charset="-122"/>
              </a:rPr>
              <a:t>基于计算机视觉的检测</a:t>
            </a:r>
          </a:p>
        </p:txBody>
      </p:sp>
      <p:sp>
        <p:nvSpPr>
          <p:cNvPr id="26" name="文本框 25"/>
          <p:cNvSpPr txBox="1"/>
          <p:nvPr/>
        </p:nvSpPr>
        <p:spPr>
          <a:xfrm>
            <a:off x="4766797" y="5044482"/>
            <a:ext cx="2658403" cy="1420495"/>
          </a:xfrm>
          <a:prstGeom prst="rect">
            <a:avLst/>
          </a:prstGeom>
          <a:noFill/>
        </p:spPr>
        <p:txBody>
          <a:bodyPr wrap="square" rtlCol="0">
            <a:spAutoFit/>
          </a:bodyPr>
          <a:lstStyle/>
          <a:p>
            <a:pPr algn="ctr">
              <a:lnSpc>
                <a:spcPct val="120000"/>
              </a:lnSpc>
            </a:pPr>
            <a:r>
              <a:rPr lang="zh-CN" altLang="en-US" sz="2400" dirty="0">
                <a:solidFill>
                  <a:srgbClr val="775480"/>
                </a:solidFill>
                <a:latin typeface="微软雅黑 Light" panose="020B0502040204020203" charset="-122"/>
                <a:ea typeface="微软雅黑 Light" panose="020B0502040204020203" charset="-122"/>
              </a:rPr>
              <a:t>环境检测（跌倒发出的噪音，地板产生的震动）</a:t>
            </a:r>
          </a:p>
        </p:txBody>
      </p:sp>
      <p:pic>
        <p:nvPicPr>
          <p:cNvPr id="8" name="图片 7" descr="1684511-fig-5-source-large"/>
          <p:cNvPicPr>
            <a:picLocks noChangeAspect="1"/>
          </p:cNvPicPr>
          <p:nvPr/>
        </p:nvPicPr>
        <p:blipFill>
          <a:blip r:embed="rId6"/>
          <a:stretch>
            <a:fillRect/>
          </a:stretch>
        </p:blipFill>
        <p:spPr>
          <a:xfrm>
            <a:off x="4134485" y="2242185"/>
            <a:ext cx="3923030" cy="2373630"/>
          </a:xfrm>
          <a:prstGeom prst="rect">
            <a:avLst/>
          </a:prstGeom>
        </p:spPr>
      </p:pic>
      <p:pic>
        <p:nvPicPr>
          <p:cNvPr id="9" name="图片 8"/>
          <p:cNvPicPr>
            <a:picLocks noChangeAspect="1"/>
          </p:cNvPicPr>
          <p:nvPr/>
        </p:nvPicPr>
        <p:blipFill>
          <a:blip r:embed="rId7"/>
          <a:stretch>
            <a:fillRect/>
          </a:stretch>
        </p:blipFill>
        <p:spPr>
          <a:xfrm>
            <a:off x="8682990" y="2423160"/>
            <a:ext cx="3303270" cy="2192655"/>
          </a:xfrm>
          <a:prstGeom prst="rect">
            <a:avLst/>
          </a:prstGeom>
        </p:spPr>
      </p:pic>
      <p:sp>
        <p:nvSpPr>
          <p:cNvPr id="11" name="文本框 10"/>
          <p:cNvSpPr txBox="1"/>
          <p:nvPr/>
        </p:nvSpPr>
        <p:spPr>
          <a:xfrm>
            <a:off x="2942590" y="1202055"/>
            <a:ext cx="6306185" cy="534035"/>
          </a:xfrm>
          <a:prstGeom prst="rect">
            <a:avLst/>
          </a:prstGeom>
          <a:noFill/>
        </p:spPr>
        <p:txBody>
          <a:bodyPr wrap="square" rtlCol="0">
            <a:spAutoFit/>
          </a:bodyPr>
          <a:lstStyle/>
          <a:p>
            <a:pPr algn="ctr">
              <a:lnSpc>
                <a:spcPct val="120000"/>
              </a:lnSpc>
            </a:pPr>
            <a:r>
              <a:rPr lang="zh-CN" altLang="en-US" sz="2400" dirty="0">
                <a:solidFill>
                  <a:srgbClr val="775480"/>
                </a:solidFill>
                <a:latin typeface="微软雅黑 Light" panose="020B0502040204020203" charset="-122"/>
                <a:ea typeface="微软雅黑 Light" panose="020B0502040204020203" charset="-122"/>
              </a:rPr>
              <a:t>然而，这些方法都有他们各自的限制</a:t>
            </a: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1" grpId="1"/>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68000"/>
            <a:lum/>
          </a:blip>
          <a:srcRect/>
          <a:stretch>
            <a:fillRect l="-5000" r="-5000"/>
          </a:stretch>
        </a:blipFill>
        <a:effectLst/>
      </p:bgPr>
    </p:bg>
    <p:spTree>
      <p:nvGrpSpPr>
        <p:cNvPr id="1" name=""/>
        <p:cNvGrpSpPr/>
        <p:nvPr/>
      </p:nvGrpSpPr>
      <p:grpSpPr>
        <a:xfrm>
          <a:off x="0" y="0"/>
          <a:ext cx="0" cy="0"/>
          <a:chOff x="0" y="0"/>
          <a:chExt cx="0" cy="0"/>
        </a:xfrm>
      </p:grpSpPr>
      <p:sp>
        <p:nvSpPr>
          <p:cNvPr id="4" name="椭圆 3"/>
          <p:cNvSpPr/>
          <p:nvPr/>
        </p:nvSpPr>
        <p:spPr>
          <a:xfrm>
            <a:off x="3235960" y="5833745"/>
            <a:ext cx="720000" cy="720000"/>
          </a:xfrm>
          <a:prstGeom prst="ellipse">
            <a:avLst/>
          </a:prstGeom>
          <a:solidFill>
            <a:srgbClr val="C3BEF0">
              <a:alpha val="78000"/>
            </a:srgbClr>
          </a:solidFill>
          <a:ln>
            <a:solidFill>
              <a:srgbClr val="D8C7F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8135620" y="5833745"/>
            <a:ext cx="288000" cy="288000"/>
          </a:xfrm>
          <a:prstGeom prst="ellipse">
            <a:avLst/>
          </a:prstGeom>
          <a:solidFill>
            <a:srgbClr val="EBC6FF">
              <a:alpha val="39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椭圆 9"/>
          <p:cNvSpPr/>
          <p:nvPr/>
        </p:nvSpPr>
        <p:spPr>
          <a:xfrm>
            <a:off x="7579995" y="6191250"/>
            <a:ext cx="360000" cy="360000"/>
          </a:xfrm>
          <a:prstGeom prst="ellipse">
            <a:avLst/>
          </a:prstGeom>
          <a:solidFill>
            <a:srgbClr val="C3BEF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任意多边形 51"/>
          <p:cNvSpPr/>
          <p:nvPr/>
        </p:nvSpPr>
        <p:spPr>
          <a:xfrm>
            <a:off x="10031730" y="0"/>
            <a:ext cx="2160000" cy="216000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894" h="2837">
                <a:moveTo>
                  <a:pt x="0" y="0"/>
                </a:moveTo>
                <a:lnTo>
                  <a:pt x="2894" y="0"/>
                </a:lnTo>
                <a:lnTo>
                  <a:pt x="2894" y="2836"/>
                </a:lnTo>
                <a:lnTo>
                  <a:pt x="2871" y="2837"/>
                </a:lnTo>
                <a:cubicBezTo>
                  <a:pt x="2859" y="2837"/>
                  <a:pt x="2847" y="2837"/>
                  <a:pt x="2835" y="2837"/>
                </a:cubicBezTo>
                <a:cubicBezTo>
                  <a:pt x="1269" y="2837"/>
                  <a:pt x="0" y="1568"/>
                  <a:pt x="0" y="3"/>
                </a:cubicBezTo>
                <a:lnTo>
                  <a:pt x="0" y="0"/>
                </a:lnTo>
                <a:close/>
              </a:path>
            </a:pathLst>
          </a:custGeom>
          <a:solidFill>
            <a:srgbClr val="DCBBE3">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4" name="椭圆 53"/>
          <p:cNvSpPr/>
          <p:nvPr/>
        </p:nvSpPr>
        <p:spPr>
          <a:xfrm>
            <a:off x="11616055" y="2500630"/>
            <a:ext cx="360000" cy="360000"/>
          </a:xfrm>
          <a:prstGeom prst="ellipse">
            <a:avLst/>
          </a:prstGeom>
          <a:solidFill>
            <a:srgbClr val="BA9FC0">
              <a:alpha val="7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10852150" y="1637665"/>
            <a:ext cx="763905" cy="773430"/>
          </a:xfrm>
          <a:prstGeom prst="ellipse">
            <a:avLst/>
          </a:prstGeom>
          <a:solidFill>
            <a:srgbClr val="C3BEF0">
              <a:alpha val="64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弦形 57"/>
          <p:cNvSpPr/>
          <p:nvPr/>
        </p:nvSpPr>
        <p:spPr>
          <a:xfrm rot="10800000">
            <a:off x="-1259525" y="1311275"/>
            <a:ext cx="2520000" cy="2521585"/>
          </a:xfrm>
          <a:prstGeom prst="chord">
            <a:avLst>
              <a:gd name="adj1" fmla="val 5369053"/>
              <a:gd name="adj2" fmla="val 16200000"/>
            </a:avLst>
          </a:prstGeom>
          <a:solidFill>
            <a:srgbClr val="D4CF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标题 1"/>
          <p:cNvSpPr txBox="1"/>
          <p:nvPr>
            <p:custDataLst>
              <p:tags r:id="rId2"/>
            </p:custDataLst>
          </p:nvPr>
        </p:nvSpPr>
        <p:spPr>
          <a:xfrm>
            <a:off x="3854938" y="269240"/>
            <a:ext cx="4482123"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en-US" sz="3200" dirty="0">
                <a:solidFill>
                  <a:srgbClr val="694B71"/>
                </a:solidFill>
                <a:latin typeface="微软雅黑" panose="020B0503020204020204" pitchFamily="34" charset="-122"/>
                <a:ea typeface="微软雅黑" panose="020B0503020204020204" pitchFamily="34" charset="-122"/>
              </a:rPr>
              <a:t>无线技术的应用</a:t>
            </a:r>
          </a:p>
        </p:txBody>
      </p:sp>
      <p:sp>
        <p:nvSpPr>
          <p:cNvPr id="17" name="矩形 16"/>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燕尾形 14"/>
          <p:cNvSpPr/>
          <p:nvPr/>
        </p:nvSpPr>
        <p:spPr>
          <a:xfrm>
            <a:off x="7744720" y="2248626"/>
            <a:ext cx="828675" cy="1038225"/>
          </a:xfrm>
          <a:prstGeom prst="chevron">
            <a:avLst/>
          </a:prstGeom>
          <a:solidFill>
            <a:srgbClr val="BA9F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燕尾形 15"/>
          <p:cNvSpPr/>
          <p:nvPr/>
        </p:nvSpPr>
        <p:spPr>
          <a:xfrm>
            <a:off x="3735781" y="2248626"/>
            <a:ext cx="828675" cy="1038225"/>
          </a:xfrm>
          <a:prstGeom prst="chevron">
            <a:avLst/>
          </a:prstGeom>
          <a:solidFill>
            <a:srgbClr val="DCBB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文本框 22"/>
          <p:cNvSpPr txBox="1"/>
          <p:nvPr/>
        </p:nvSpPr>
        <p:spPr>
          <a:xfrm>
            <a:off x="768200" y="2169251"/>
            <a:ext cx="2658403" cy="245110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lnSpc>
                <a:spcPct val="120000"/>
              </a:lnSpc>
            </a:pPr>
            <a:r>
              <a:rPr lang="zh-CN" altLang="en-US" sz="1600" dirty="0">
                <a:solidFill>
                  <a:srgbClr val="694B71"/>
                </a:solidFill>
                <a:latin typeface="微软雅黑 Light" panose="020B0502040204020203" charset="-122"/>
                <a:ea typeface="微软雅黑 Light" panose="020B0502040204020203" charset="-122"/>
                <a:sym typeface="+mn-ea"/>
              </a:rPr>
              <a:t>商用 WiFi 设备上公开的物理层信道状态信息（</a:t>
            </a:r>
            <a:r>
              <a:rPr lang="en-US" altLang="zh-CN" sz="1600" dirty="0">
                <a:solidFill>
                  <a:srgbClr val="694B71"/>
                </a:solidFill>
                <a:latin typeface="微软雅黑 Light" panose="020B0502040204020203" charset="-122"/>
                <a:ea typeface="微软雅黑 Light" panose="020B0502040204020203" charset="-122"/>
                <a:sym typeface="+mn-ea"/>
              </a:rPr>
              <a:t>Channel State Information </a:t>
            </a:r>
            <a:r>
              <a:rPr lang="zh-CN" altLang="en-US" sz="1600" dirty="0">
                <a:solidFill>
                  <a:srgbClr val="694B71"/>
                </a:solidFill>
                <a:latin typeface="微软雅黑 Light" panose="020B0502040204020203" charset="-122"/>
                <a:ea typeface="微软雅黑 Light" panose="020B0502040204020203" charset="-122"/>
                <a:sym typeface="+mn-ea"/>
              </a:rPr>
              <a:t>，CSI）揭示了 OFDM 子载波粒度的多径信道特征[21]，这比传统的 MAC 层 RSS（接收信号强度）要细得多。</a:t>
            </a:r>
          </a:p>
        </p:txBody>
      </p:sp>
      <p:sp>
        <p:nvSpPr>
          <p:cNvPr id="25" name="文本框 24"/>
          <p:cNvSpPr txBox="1"/>
          <p:nvPr/>
        </p:nvSpPr>
        <p:spPr>
          <a:xfrm>
            <a:off x="1493516" y="1154521"/>
            <a:ext cx="1207770" cy="830997"/>
          </a:xfrm>
          <a:prstGeom prst="rect">
            <a:avLst/>
          </a:prstGeom>
          <a:noFill/>
        </p:spPr>
        <p:txBody>
          <a:bodyPr wrap="square" rtlCol="0">
            <a:spAutoFit/>
          </a:bodyPr>
          <a:lstStyle/>
          <a:p>
            <a:r>
              <a:rPr lang="en-US" altLang="zh-CN" sz="4800" b="1" dirty="0">
                <a:solidFill>
                  <a:srgbClr val="8F6C8F">
                    <a:alpha val="60000"/>
                  </a:srgbClr>
                </a:solidFill>
                <a:latin typeface="微软雅黑" panose="020B0503020204020204" pitchFamily="34" charset="-122"/>
                <a:ea typeface="微软雅黑" panose="020B0503020204020204" pitchFamily="34" charset="-122"/>
              </a:rPr>
              <a:t>01</a:t>
            </a:r>
          </a:p>
        </p:txBody>
      </p:sp>
      <p:sp>
        <p:nvSpPr>
          <p:cNvPr id="26" name="文本框 25"/>
          <p:cNvSpPr txBox="1"/>
          <p:nvPr/>
        </p:nvSpPr>
        <p:spPr>
          <a:xfrm>
            <a:off x="5596255" y="1154521"/>
            <a:ext cx="1207770" cy="830997"/>
          </a:xfrm>
          <a:prstGeom prst="rect">
            <a:avLst/>
          </a:prstGeom>
          <a:noFill/>
        </p:spPr>
        <p:txBody>
          <a:bodyPr wrap="square" rtlCol="0">
            <a:spAutoFit/>
          </a:bodyPr>
          <a:lstStyle/>
          <a:p>
            <a:r>
              <a:rPr lang="en-US" altLang="zh-CN" sz="4800" b="1" dirty="0">
                <a:solidFill>
                  <a:srgbClr val="8F6C8F">
                    <a:alpha val="60000"/>
                  </a:srgbClr>
                </a:solidFill>
                <a:latin typeface="微软雅黑" panose="020B0503020204020204" pitchFamily="34" charset="-122"/>
                <a:ea typeface="微软雅黑" panose="020B0503020204020204" pitchFamily="34" charset="-122"/>
              </a:rPr>
              <a:t>02</a:t>
            </a:r>
          </a:p>
        </p:txBody>
      </p:sp>
      <p:sp>
        <p:nvSpPr>
          <p:cNvPr id="27" name="文本框 26"/>
          <p:cNvSpPr txBox="1"/>
          <p:nvPr/>
        </p:nvSpPr>
        <p:spPr>
          <a:xfrm>
            <a:off x="9698994" y="1166189"/>
            <a:ext cx="1207770" cy="830997"/>
          </a:xfrm>
          <a:prstGeom prst="rect">
            <a:avLst/>
          </a:prstGeom>
          <a:noFill/>
        </p:spPr>
        <p:txBody>
          <a:bodyPr wrap="square" rtlCol="0">
            <a:spAutoFit/>
          </a:bodyPr>
          <a:lstStyle/>
          <a:p>
            <a:r>
              <a:rPr lang="en-US" altLang="zh-CN" sz="4800" b="1" dirty="0">
                <a:solidFill>
                  <a:srgbClr val="8F6C8F">
                    <a:alpha val="60000"/>
                  </a:srgbClr>
                </a:solidFill>
                <a:latin typeface="微软雅黑" panose="020B0503020204020204" pitchFamily="34" charset="-122"/>
                <a:ea typeface="微软雅黑" panose="020B0503020204020204" pitchFamily="34" charset="-122"/>
              </a:rPr>
              <a:t>03</a:t>
            </a:r>
          </a:p>
        </p:txBody>
      </p:sp>
      <p:sp>
        <p:nvSpPr>
          <p:cNvPr id="29" name="文本框 28"/>
          <p:cNvSpPr txBox="1"/>
          <p:nvPr/>
        </p:nvSpPr>
        <p:spPr>
          <a:xfrm>
            <a:off x="4870939" y="2169251"/>
            <a:ext cx="2658403" cy="215582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lnSpc>
                <a:spcPct val="120000"/>
              </a:lnSpc>
            </a:pPr>
            <a:r>
              <a:rPr lang="zh-CN" altLang="en-US" sz="1600" dirty="0">
                <a:solidFill>
                  <a:srgbClr val="694B71"/>
                </a:solidFill>
                <a:latin typeface="微软雅黑 Light" panose="020B0502040204020203" charset="-122"/>
                <a:ea typeface="微软雅黑 Light" panose="020B0502040204020203" charset="-122"/>
                <a:sym typeface="+mn-ea"/>
              </a:rPr>
              <a:t>通过利用 MIMO 系统中 OFDM 子载波上 CSI 的幅度和相位信息以及多天线上 CSI 信息的多样性，在运动检测、唇语和手势识别、生命体征监测和活动识别等方面的应用取得了重大进展。</a:t>
            </a:r>
          </a:p>
        </p:txBody>
      </p:sp>
      <p:sp>
        <p:nvSpPr>
          <p:cNvPr id="30" name="文本框 29"/>
          <p:cNvSpPr txBox="1"/>
          <p:nvPr/>
        </p:nvSpPr>
        <p:spPr>
          <a:xfrm>
            <a:off x="8938633" y="2179410"/>
            <a:ext cx="2658403" cy="186118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lnSpc>
                <a:spcPct val="120000"/>
              </a:lnSpc>
            </a:pPr>
            <a:r>
              <a:rPr lang="zh-CN" altLang="en-US" sz="1600" dirty="0">
                <a:solidFill>
                  <a:srgbClr val="694B71"/>
                </a:solidFill>
                <a:latin typeface="微软雅黑 Light" panose="020B0502040204020203" charset="-122"/>
                <a:ea typeface="微软雅黑 Light" panose="020B0502040204020203" charset="-122"/>
                <a:sym typeface="+mn-ea"/>
              </a:rPr>
              <a:t>所有这些研究工作背后的基本原理是，不同的人类活动会导致不同的信号变化模式，并且可以通过将观察到的信号变化模式映射到不同的人类活动来实时识别活动。</a:t>
            </a:r>
          </a:p>
        </p:txBody>
      </p:sp>
      <p:sp>
        <p:nvSpPr>
          <p:cNvPr id="2" name="文本框 1"/>
          <p:cNvSpPr txBox="1"/>
          <p:nvPr/>
        </p:nvSpPr>
        <p:spPr>
          <a:xfrm>
            <a:off x="2232660" y="5146040"/>
            <a:ext cx="7934960" cy="681355"/>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lnSpc>
                <a:spcPct val="120000"/>
              </a:lnSpc>
            </a:pPr>
            <a:r>
              <a:rPr lang="zh-CN" altLang="en-US" sz="1600" dirty="0">
                <a:solidFill>
                  <a:srgbClr val="694B71"/>
                </a:solidFill>
                <a:latin typeface="微软雅黑 Light" panose="020B0502040204020203" charset="-122"/>
                <a:ea typeface="微软雅黑 Light" panose="020B0502040204020203" charset="-122"/>
                <a:sym typeface="+mn-ea"/>
              </a:rPr>
              <a:t>出于这种动机，在本文中，我们旨在研究是否可以使用家中廉价且广泛部署的 WiFi 设备实现实时和自动跌倒检测，而无需受试者佩戴或携带任何物品。</a:t>
            </a:r>
          </a:p>
        </p:txBody>
      </p:sp>
    </p:spTree>
    <p:custDataLst>
      <p:tags r:id="rId1"/>
    </p:custData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4">
            <a:alphaModFix amt="25000"/>
          </a:blip>
          <a:stretch>
            <a:fillRect l="-5000" r="-5000"/>
          </a:stretch>
        </a:blipFill>
        <a:effectLst/>
      </p:bgPr>
    </p:bg>
    <p:spTree>
      <p:nvGrpSpPr>
        <p:cNvPr id="1" name=""/>
        <p:cNvGrpSpPr/>
        <p:nvPr/>
      </p:nvGrpSpPr>
      <p:grpSpPr>
        <a:xfrm>
          <a:off x="0" y="0"/>
          <a:ext cx="0" cy="0"/>
          <a:chOff x="0" y="0"/>
          <a:chExt cx="0" cy="0"/>
        </a:xfrm>
      </p:grpSpPr>
      <p:sp>
        <p:nvSpPr>
          <p:cNvPr id="17" name="标题 1"/>
          <p:cNvSpPr txBox="1"/>
          <p:nvPr>
            <p:custDataLst>
              <p:tags r:id="rId2"/>
            </p:custDataLst>
          </p:nvPr>
        </p:nvSpPr>
        <p:spPr>
          <a:xfrm>
            <a:off x="3854938" y="269240"/>
            <a:ext cx="4482123"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en-US" sz="3200" dirty="0">
                <a:solidFill>
                  <a:srgbClr val="694B71"/>
                </a:solidFill>
                <a:latin typeface="微软雅黑" panose="020B0503020204020204" pitchFamily="34" charset="-122"/>
                <a:ea typeface="微软雅黑" panose="020B0503020204020204" pitchFamily="34" charset="-122"/>
              </a:rPr>
              <a:t>需要解决的问题</a:t>
            </a:r>
          </a:p>
        </p:txBody>
      </p:sp>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1349375" y="1599565"/>
            <a:ext cx="9492615" cy="3192780"/>
          </a:xfrm>
          <a:prstGeom prst="rect">
            <a:avLst/>
          </a:prstGeom>
          <a:noFill/>
        </p:spPr>
        <p:txBody>
          <a:bodyPr wrap="square" rtlCol="0">
            <a:spAutoFit/>
          </a:bodyPr>
          <a:lstStyle/>
          <a:p>
            <a:pPr algn="l">
              <a:lnSpc>
                <a:spcPct val="120000"/>
              </a:lnSpc>
            </a:pPr>
            <a:r>
              <a:rPr lang="en-US" altLang="zh-CN" sz="2400" dirty="0">
                <a:solidFill>
                  <a:srgbClr val="775480"/>
                </a:solidFill>
                <a:latin typeface="微软雅黑 Light" panose="020B0502040204020203" charset="-122"/>
                <a:ea typeface="微软雅黑 Light" panose="020B0502040204020203" charset="-122"/>
                <a:sym typeface="+mn-ea"/>
              </a:rPr>
              <a:t>1. </a:t>
            </a:r>
            <a:r>
              <a:rPr lang="zh-CN" altLang="en-US" sz="2400" dirty="0">
                <a:solidFill>
                  <a:srgbClr val="775480"/>
                </a:solidFill>
                <a:latin typeface="微软雅黑 Light" panose="020B0502040204020203" charset="-122"/>
                <a:ea typeface="微软雅黑 Light" panose="020B0502040204020203" charset="-122"/>
                <a:sym typeface="+mn-ea"/>
              </a:rPr>
              <a:t>跌倒和其他人类活动如何影响 CSI 的振幅和相位信息？</a:t>
            </a:r>
          </a:p>
          <a:p>
            <a:pPr algn="l">
              <a:lnSpc>
                <a:spcPct val="120000"/>
              </a:lnSpc>
            </a:pPr>
            <a:r>
              <a:rPr lang="en-US" altLang="zh-CN" sz="2400" dirty="0">
                <a:solidFill>
                  <a:srgbClr val="775480"/>
                </a:solidFill>
                <a:latin typeface="微软雅黑 Light" panose="020B0502040204020203" charset="-122"/>
                <a:ea typeface="微软雅黑 Light" panose="020B0502040204020203" charset="-122"/>
                <a:sym typeface="+mn-ea"/>
              </a:rPr>
              <a:t>2. WiFi 信号流的 CSI 中是否有任何特定特征可以表征跌倒和其他人类活动？</a:t>
            </a:r>
          </a:p>
          <a:p>
            <a:pPr algn="l">
              <a:lnSpc>
                <a:spcPct val="120000"/>
              </a:lnSpc>
            </a:pPr>
            <a:r>
              <a:rPr lang="en-US" altLang="zh-CN" sz="2400" dirty="0">
                <a:solidFill>
                  <a:srgbClr val="775480"/>
                </a:solidFill>
                <a:latin typeface="微软雅黑 Light" panose="020B0502040204020203" charset="-122"/>
                <a:ea typeface="微软雅黑 Light" panose="020B0502040204020203" charset="-122"/>
                <a:sym typeface="+mn-ea"/>
              </a:rPr>
              <a:t>3. 由于活动是连续进行的，因此没有给出后续活动的 WiFi 信号边界。如何自动准确地分割连续捕获的 WiFi 无线信号流中相应的跌倒等活动？</a:t>
            </a:r>
          </a:p>
          <a:p>
            <a:pPr algn="l">
              <a:lnSpc>
                <a:spcPct val="120000"/>
              </a:lnSpc>
            </a:pPr>
            <a:r>
              <a:rPr lang="en-US" altLang="zh-CN" sz="2400" dirty="0">
                <a:solidFill>
                  <a:srgbClr val="775480"/>
                </a:solidFill>
                <a:latin typeface="微软雅黑 Light" panose="020B0502040204020203" charset="-122"/>
                <a:ea typeface="微软雅黑 Light" panose="020B0502040204020203" charset="-122"/>
                <a:sym typeface="+mn-ea"/>
              </a:rPr>
              <a:t>4. 由于日常活动众多，从活动识别的角度来看，问题空间较大。即使活动被分割开来，</a:t>
            </a:r>
            <a:r>
              <a:rPr lang="zh-CN" altLang="en-US" sz="2400" dirty="0">
                <a:solidFill>
                  <a:srgbClr val="775480"/>
                </a:solidFill>
                <a:latin typeface="微软雅黑 Light" panose="020B0502040204020203" charset="-122"/>
                <a:ea typeface="微软雅黑 Light" panose="020B0502040204020203" charset="-122"/>
                <a:sym typeface="+mn-ea"/>
              </a:rPr>
              <a:t>如何</a:t>
            </a:r>
            <a:r>
              <a:rPr lang="en-US" altLang="zh-CN" sz="2400" dirty="0">
                <a:solidFill>
                  <a:srgbClr val="775480"/>
                </a:solidFill>
                <a:latin typeface="微软雅黑 Light" panose="020B0502040204020203" charset="-122"/>
                <a:ea typeface="微软雅黑 Light" panose="020B0502040204020203" charset="-122"/>
                <a:sym typeface="+mn-ea"/>
              </a:rPr>
              <a:t>将跌倒与所有其他日常活动区分开来</a:t>
            </a:r>
            <a:r>
              <a:rPr lang="zh-CN" altLang="en-US" sz="2400" dirty="0">
                <a:solidFill>
                  <a:srgbClr val="775480"/>
                </a:solidFill>
                <a:latin typeface="微软雅黑 Light" panose="020B0502040204020203" charset="-122"/>
                <a:ea typeface="微软雅黑 Light" panose="020B0502040204020203" charset="-122"/>
                <a:sym typeface="+mn-ea"/>
              </a:rPr>
              <a:t>？</a:t>
            </a:r>
          </a:p>
        </p:txBody>
      </p:sp>
    </p:spTree>
    <p:custDataLst>
      <p:tags r:id="rId1"/>
    </p:custData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4">
            <a:alphaModFix amt="25000"/>
          </a:blip>
          <a:stretch>
            <a:fillRect l="-5000" r="-5000"/>
          </a:stretch>
        </a:blipFill>
        <a:effectLst/>
      </p:bgPr>
    </p:bg>
    <p:spTree>
      <p:nvGrpSpPr>
        <p:cNvPr id="1" name=""/>
        <p:cNvGrpSpPr/>
        <p:nvPr/>
      </p:nvGrpSpPr>
      <p:grpSpPr>
        <a:xfrm>
          <a:off x="0" y="0"/>
          <a:ext cx="0" cy="0"/>
          <a:chOff x="0" y="0"/>
          <a:chExt cx="0" cy="0"/>
        </a:xfrm>
      </p:grpSpPr>
      <p:sp>
        <p:nvSpPr>
          <p:cNvPr id="17" name="标题 1"/>
          <p:cNvSpPr txBox="1"/>
          <p:nvPr>
            <p:custDataLst>
              <p:tags r:id="rId2"/>
            </p:custDataLst>
          </p:nvPr>
        </p:nvSpPr>
        <p:spPr>
          <a:xfrm>
            <a:off x="3854938" y="269240"/>
            <a:ext cx="4482123"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en-US" sz="3200" dirty="0">
                <a:solidFill>
                  <a:srgbClr val="694B71"/>
                </a:solidFill>
                <a:latin typeface="微软雅黑" panose="020B0503020204020204" pitchFamily="34" charset="-122"/>
                <a:ea typeface="微软雅黑" panose="020B0503020204020204" pitchFamily="34" charset="-122"/>
              </a:rPr>
              <a:t>解决方法</a:t>
            </a:r>
          </a:p>
        </p:txBody>
      </p:sp>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1349375" y="1599565"/>
            <a:ext cx="9492615" cy="4078605"/>
          </a:xfrm>
          <a:prstGeom prst="rect">
            <a:avLst/>
          </a:prstGeom>
          <a:noFill/>
        </p:spPr>
        <p:txBody>
          <a:bodyPr wrap="square" rtlCol="0">
            <a:spAutoFit/>
          </a:bodyPr>
          <a:lstStyle/>
          <a:p>
            <a:pPr algn="l">
              <a:lnSpc>
                <a:spcPct val="120000"/>
              </a:lnSpc>
            </a:pPr>
            <a:r>
              <a:rPr sz="2400" dirty="0">
                <a:solidFill>
                  <a:srgbClr val="775480"/>
                </a:solidFill>
                <a:latin typeface="微软雅黑 Light" panose="020B0502040204020203" charset="-122"/>
                <a:ea typeface="微软雅黑 Light" panose="020B0502040204020203" charset="-122"/>
                <a:sym typeface="+mn-ea"/>
              </a:rPr>
              <a:t>1.如何分割？ 两个天线的相位差表现出有趣的特征，但原始信号却不能直接用。基于这个，有一种基于过渡的分隔方法，利用相位差的不同作为特征，在连续捕获的 WiFi 无线信号流中自动分割所有跌倒和类似跌倒的活动</a:t>
            </a:r>
          </a:p>
          <a:p>
            <a:pPr algn="l">
              <a:lnSpc>
                <a:spcPct val="120000"/>
              </a:lnSpc>
            </a:pPr>
            <a:r>
              <a:rPr lang="zh-CN" altLang="en-US" sz="2400" dirty="0">
                <a:solidFill>
                  <a:srgbClr val="775480"/>
                </a:solidFill>
                <a:latin typeface="微软雅黑 Light" panose="020B0502040204020203" charset="-122"/>
                <a:ea typeface="微软雅黑 Light" panose="020B0502040204020203" charset="-122"/>
                <a:sym typeface="+mn-ea"/>
              </a:rPr>
              <a:t>2.如何进一步地区分跌倒和类似跌倒的活动？进行实验，证实了CSI的幅度和相位在时域和频域在发生跌倒活动时的变化。在实验中，发现下降和类似下降的活动以时频域的功率曲线急剧下降而结束。因此可以从 CSI 的振幅和相位信息中提取特征，以区分跌倒和类似跌倒的活动。</a:t>
            </a:r>
          </a:p>
        </p:txBody>
      </p:sp>
    </p:spTree>
    <p:custDataLst>
      <p:tags r:id="rId1"/>
    </p:custData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4">
            <a:alphaModFix amt="25000"/>
          </a:blip>
          <a:stretch>
            <a:fillRect l="-5000" r="-5000"/>
          </a:stretch>
        </a:blipFill>
        <a:effectLst/>
      </p:bgPr>
    </p:bg>
    <p:spTree>
      <p:nvGrpSpPr>
        <p:cNvPr id="1" name=""/>
        <p:cNvGrpSpPr/>
        <p:nvPr/>
      </p:nvGrpSpPr>
      <p:grpSpPr>
        <a:xfrm>
          <a:off x="0" y="0"/>
          <a:ext cx="0" cy="0"/>
          <a:chOff x="0" y="0"/>
          <a:chExt cx="0" cy="0"/>
        </a:xfrm>
      </p:grpSpPr>
      <p:sp>
        <p:nvSpPr>
          <p:cNvPr id="17" name="标题 1"/>
          <p:cNvSpPr txBox="1"/>
          <p:nvPr>
            <p:custDataLst>
              <p:tags r:id="rId2"/>
            </p:custDataLst>
          </p:nvPr>
        </p:nvSpPr>
        <p:spPr>
          <a:xfrm>
            <a:off x="5263515" y="405130"/>
            <a:ext cx="166560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en-US" altLang="zh-CN" sz="3200" dirty="0">
                <a:solidFill>
                  <a:srgbClr val="694B71"/>
                </a:solidFill>
                <a:latin typeface="微软雅黑" panose="020B0503020204020204" pitchFamily="34" charset="-122"/>
                <a:ea typeface="微软雅黑" panose="020B0503020204020204" pitchFamily="34" charset="-122"/>
              </a:rPr>
              <a:t>TR-Fall</a:t>
            </a:r>
          </a:p>
        </p:txBody>
      </p:sp>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1349375" y="1599565"/>
            <a:ext cx="9492615" cy="2306320"/>
          </a:xfrm>
          <a:prstGeom prst="rect">
            <a:avLst/>
          </a:prstGeom>
          <a:noFill/>
        </p:spPr>
        <p:txBody>
          <a:bodyPr wrap="square" rtlCol="0">
            <a:spAutoFit/>
          </a:bodyPr>
          <a:lstStyle/>
          <a:p>
            <a:pPr>
              <a:lnSpc>
                <a:spcPct val="120000"/>
              </a:lnSpc>
            </a:pPr>
            <a:r>
              <a:rPr sz="2400" dirty="0">
                <a:solidFill>
                  <a:srgbClr val="775480"/>
                </a:solidFill>
                <a:latin typeface="微软雅黑 Light" panose="020B0502040204020203" charset="-122"/>
                <a:ea typeface="微软雅黑 Light" panose="020B0502040204020203" charset="-122"/>
                <a:sym typeface="+mn-ea"/>
              </a:rPr>
              <a:t>以上两个</a:t>
            </a:r>
            <a:r>
              <a:rPr lang="zh-CN" sz="2400" dirty="0">
                <a:solidFill>
                  <a:srgbClr val="775480"/>
                </a:solidFill>
                <a:latin typeface="微软雅黑 Light" panose="020B0502040204020203" charset="-122"/>
                <a:ea typeface="微软雅黑 Light" panose="020B0502040204020203" charset="-122"/>
                <a:sym typeface="+mn-ea"/>
              </a:rPr>
              <a:t>解决方案</a:t>
            </a:r>
            <a:r>
              <a:rPr sz="2400" dirty="0">
                <a:solidFill>
                  <a:srgbClr val="775480"/>
                </a:solidFill>
                <a:latin typeface="微软雅黑 Light" panose="020B0502040204020203" charset="-122"/>
                <a:ea typeface="微软雅黑 Light" panose="020B0502040204020203" charset="-122"/>
                <a:sym typeface="+mn-ea"/>
              </a:rPr>
              <a:t>，设计了一个实时，非侵入式的跌倒检测器 RT-Fall 它的检测主要包含两个阶段：1.以相位差的不同作为基础信号，设计了一套滤波和信号处理技术，可以在连续捕获的 WiFi 无线信号流中的robustly地分割出跌倒和类似跌倒样活动。2. 提取了一组时域和频域的性特征，支持向量机区分真实跌倒和跌倒类的活动。</a:t>
            </a:r>
          </a:p>
        </p:txBody>
      </p:sp>
      <p:sp>
        <p:nvSpPr>
          <p:cNvPr id="2" name="文本框 1"/>
          <p:cNvSpPr txBox="1"/>
          <p:nvPr/>
        </p:nvSpPr>
        <p:spPr>
          <a:xfrm>
            <a:off x="1350010" y="4021455"/>
            <a:ext cx="9492615" cy="2194560"/>
          </a:xfrm>
          <a:prstGeom prst="rect">
            <a:avLst/>
          </a:prstGeom>
          <a:noFill/>
          <a:ln w="9525">
            <a:noFill/>
          </a:ln>
        </p:spPr>
        <p:txBody>
          <a:bodyPr wrap="square">
            <a:spAutoFit/>
          </a:bodyPr>
          <a:lstStyle/>
          <a:p>
            <a:pPr indent="0" fontAlgn="auto">
              <a:lnSpc>
                <a:spcPts val="3280"/>
              </a:lnSpc>
            </a:pPr>
            <a:r>
              <a:rPr sz="2400" b="0" dirty="0">
                <a:solidFill>
                  <a:srgbClr val="775480"/>
                </a:solidFill>
                <a:latin typeface="微软雅黑 Light" panose="020B0502040204020203" charset="-122"/>
                <a:ea typeface="微软雅黑 Light" panose="020B0502040204020203" charset="-122"/>
              </a:rPr>
              <a:t>主要贡献：1 第一个在真实环境中用商用wifi设备检测跌倒的工作。</a:t>
            </a:r>
          </a:p>
          <a:p>
            <a:pPr indent="0" fontAlgn="auto">
              <a:lnSpc>
                <a:spcPts val="3280"/>
              </a:lnSpc>
            </a:pPr>
            <a:r>
              <a:rPr sz="2400" b="0" dirty="0">
                <a:solidFill>
                  <a:srgbClr val="775480"/>
                </a:solidFill>
                <a:latin typeface="微软雅黑 Light" panose="020B0502040204020203" charset="-122"/>
                <a:ea typeface="微软雅黑 Light" panose="020B0502040204020203" charset="-122"/>
              </a:rPr>
              <a:t>2 第一个将CSI天线的相位差确认为为比振幅更好的基信号</a:t>
            </a:r>
          </a:p>
          <a:p>
            <a:pPr indent="0" fontAlgn="auto">
              <a:lnSpc>
                <a:spcPts val="3280"/>
              </a:lnSpc>
            </a:pPr>
            <a:r>
              <a:rPr sz="2400" b="0" dirty="0">
                <a:solidFill>
                  <a:srgbClr val="775480"/>
                </a:solidFill>
                <a:latin typeface="微软雅黑 Light" panose="020B0502040204020203" charset="-122"/>
                <a:ea typeface="微软雅黑 Light" panose="020B0502040204020203" charset="-122"/>
              </a:rPr>
              <a:t>3 发现了时频域中在跌倒情况下的剧烈的功率下降模式，</a:t>
            </a:r>
          </a:p>
          <a:p>
            <a:pPr indent="0" fontAlgn="auto">
              <a:lnSpc>
                <a:spcPts val="3280"/>
              </a:lnSpc>
            </a:pPr>
            <a:r>
              <a:rPr sz="2400" b="0" dirty="0">
                <a:solidFill>
                  <a:srgbClr val="775480"/>
                </a:solidFill>
                <a:latin typeface="微软雅黑 Light" panose="020B0502040204020203" charset="-122"/>
                <a:ea typeface="微软雅黑 Light" panose="020B0502040204020203" charset="-122"/>
              </a:rPr>
              <a:t>4 在商用 WiFi 设备上设计并实施了实时活动分割和跌倒检测系统 RT-Fall，</a:t>
            </a:r>
          </a:p>
        </p:txBody>
      </p:sp>
    </p:spTree>
    <p:custDataLst>
      <p:tags r:id="rId1"/>
    </p:custData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635" y="2031365"/>
            <a:ext cx="12192000" cy="2795905"/>
          </a:xfrm>
          <a:prstGeom prst="rect">
            <a:avLst/>
          </a:prstGeom>
          <a:solidFill>
            <a:schemeClr val="bg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480243" y="2882130"/>
            <a:ext cx="3230880" cy="1014730"/>
          </a:xfrm>
          <a:prstGeom prst="rect">
            <a:avLst/>
          </a:prstGeom>
          <a:noFill/>
        </p:spPr>
        <p:txBody>
          <a:bodyPr wrap="none" rtlCol="0">
            <a:spAutoFit/>
          </a:bodyPr>
          <a:lstStyle/>
          <a:p>
            <a:r>
              <a:rPr lang="zh-CN" altLang="en-US" sz="6000" dirty="0">
                <a:solidFill>
                  <a:srgbClr val="694B71"/>
                </a:solidFill>
                <a:latin typeface="微软雅黑" panose="020B0503020204020204" pitchFamily="34" charset="-122"/>
                <a:ea typeface="微软雅黑" panose="020B0503020204020204" pitchFamily="34" charset="-122"/>
              </a:rPr>
              <a:t>相关研究</a:t>
            </a:r>
          </a:p>
        </p:txBody>
      </p:sp>
      <p:grpSp>
        <p:nvGrpSpPr>
          <p:cNvPr id="12" name="组合 11"/>
          <p:cNvGrpSpPr/>
          <p:nvPr/>
        </p:nvGrpSpPr>
        <p:grpSpPr>
          <a:xfrm>
            <a:off x="5555048" y="1471295"/>
            <a:ext cx="1080000" cy="1080000"/>
            <a:chOff x="8049" y="2049"/>
            <a:chExt cx="1701" cy="1701"/>
          </a:xfrm>
        </p:grpSpPr>
        <p:sp>
          <p:nvSpPr>
            <p:cNvPr id="10" name="椭圆 9"/>
            <p:cNvSpPr/>
            <p:nvPr/>
          </p:nvSpPr>
          <p:spPr>
            <a:xfrm>
              <a:off x="8049" y="2049"/>
              <a:ext cx="1701" cy="1701"/>
            </a:xfrm>
            <a:prstGeom prst="ellipse">
              <a:avLst/>
            </a:prstGeom>
            <a:solidFill>
              <a:srgbClr val="BA9FC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8380" y="2440"/>
              <a:ext cx="1038" cy="919"/>
            </a:xfrm>
            <a:prstGeom prst="rect">
              <a:avLst/>
            </a:prstGeom>
            <a:noFill/>
          </p:spPr>
          <p:txBody>
            <a:bodyPr wrap="none" rtlCol="0">
              <a:spAutoFit/>
            </a:bodyPr>
            <a:lstStyle/>
            <a:p>
              <a:r>
                <a:rPr lang="en-US" altLang="zh-CN" sz="3200">
                  <a:solidFill>
                    <a:schemeClr val="bg1"/>
                  </a:solidFill>
                  <a:latin typeface="微软雅黑" panose="020B0503020204020204" pitchFamily="34" charset="-122"/>
                  <a:ea typeface="微软雅黑" panose="020B0503020204020204" pitchFamily="34" charset="-122"/>
                </a:rPr>
                <a:t>01</a:t>
              </a:r>
            </a:p>
          </p:txBody>
        </p:sp>
      </p:grpSp>
    </p:spTree>
    <p:custDataLst>
      <p:tags r:id="rId1"/>
    </p:custData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pic>
        <p:nvPicPr>
          <p:cNvPr id="4" name="图片 3" descr="D:\Downloads\js452078-fig-0002c-m.jpgjs452078-fig-0002c-m"/>
          <p:cNvPicPr preferRelativeResize="0"/>
          <p:nvPr/>
        </p:nvPicPr>
        <p:blipFill>
          <a:blip r:embed="rId6"/>
          <a:srcRect/>
          <a:stretch>
            <a:fillRect/>
          </a:stretch>
        </p:blipFill>
        <p:spPr>
          <a:xfrm>
            <a:off x="885825" y="1954530"/>
            <a:ext cx="2623185" cy="2948940"/>
          </a:xfrm>
          <a:prstGeom prst="rect">
            <a:avLst/>
          </a:prstGeom>
        </p:spPr>
      </p:pic>
      <p:sp>
        <p:nvSpPr>
          <p:cNvPr id="17" name="标题 1"/>
          <p:cNvSpPr txBox="1"/>
          <p:nvPr>
            <p:custDataLst>
              <p:tags r:id="rId2"/>
            </p:custDataLst>
          </p:nvPr>
        </p:nvSpPr>
        <p:spPr>
          <a:xfrm>
            <a:off x="3695065" y="313055"/>
            <a:ext cx="498792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en-US" sz="3200" dirty="0">
                <a:solidFill>
                  <a:srgbClr val="694B71"/>
                </a:solidFill>
                <a:latin typeface="微软雅黑" panose="020B0503020204020204" pitchFamily="34" charset="-122"/>
                <a:ea typeface="微软雅黑" panose="020B0503020204020204" pitchFamily="34" charset="-122"/>
              </a:rPr>
              <a:t>基于可穿戴传感器的系统</a:t>
            </a:r>
          </a:p>
        </p:txBody>
      </p:sp>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688193" y="5044482"/>
            <a:ext cx="2658403" cy="534035"/>
          </a:xfrm>
          <a:prstGeom prst="rect">
            <a:avLst/>
          </a:prstGeom>
          <a:noFill/>
        </p:spPr>
        <p:txBody>
          <a:bodyPr wrap="square" rtlCol="0">
            <a:spAutoFit/>
          </a:bodyPr>
          <a:lstStyle/>
          <a:p>
            <a:pPr algn="ctr">
              <a:lnSpc>
                <a:spcPct val="120000"/>
              </a:lnSpc>
            </a:pPr>
            <a:r>
              <a:rPr lang="zh-CN" altLang="en-US" sz="2400" dirty="0">
                <a:solidFill>
                  <a:srgbClr val="775480"/>
                </a:solidFill>
                <a:latin typeface="微软雅黑 Light" panose="020B0502040204020203" charset="-122"/>
                <a:ea typeface="微软雅黑 Light" panose="020B0502040204020203" charset="-122"/>
                <a:sym typeface="+mn-ea"/>
              </a:rPr>
              <a:t>陀螺仪</a:t>
            </a:r>
          </a:p>
        </p:txBody>
      </p:sp>
      <p:sp>
        <p:nvSpPr>
          <p:cNvPr id="25" name="文本框 24"/>
          <p:cNvSpPr txBox="1"/>
          <p:nvPr/>
        </p:nvSpPr>
        <p:spPr>
          <a:xfrm>
            <a:off x="8793968" y="5044482"/>
            <a:ext cx="2658403" cy="534035"/>
          </a:xfrm>
          <a:prstGeom prst="rect">
            <a:avLst/>
          </a:prstGeom>
          <a:noFill/>
        </p:spPr>
        <p:txBody>
          <a:bodyPr wrap="square" rtlCol="0">
            <a:spAutoFit/>
          </a:bodyPr>
          <a:lstStyle/>
          <a:p>
            <a:pPr algn="ctr">
              <a:lnSpc>
                <a:spcPct val="120000"/>
              </a:lnSpc>
            </a:pPr>
            <a:r>
              <a:rPr lang="zh-CN" altLang="en-US" sz="2400" dirty="0">
                <a:solidFill>
                  <a:srgbClr val="775480"/>
                </a:solidFill>
                <a:latin typeface="微软雅黑 Light" panose="020B0502040204020203" charset="-122"/>
                <a:ea typeface="微软雅黑 Light" panose="020B0502040204020203" charset="-122"/>
              </a:rPr>
              <a:t>气压传感器</a:t>
            </a:r>
          </a:p>
        </p:txBody>
      </p:sp>
      <p:sp>
        <p:nvSpPr>
          <p:cNvPr id="26" name="文本框 25"/>
          <p:cNvSpPr txBox="1"/>
          <p:nvPr/>
        </p:nvSpPr>
        <p:spPr>
          <a:xfrm>
            <a:off x="4766797" y="5044482"/>
            <a:ext cx="2658403" cy="534035"/>
          </a:xfrm>
          <a:prstGeom prst="rect">
            <a:avLst/>
          </a:prstGeom>
          <a:noFill/>
        </p:spPr>
        <p:txBody>
          <a:bodyPr wrap="square" rtlCol="0">
            <a:spAutoFit/>
          </a:bodyPr>
          <a:lstStyle/>
          <a:p>
            <a:pPr algn="ctr">
              <a:lnSpc>
                <a:spcPct val="120000"/>
              </a:lnSpc>
            </a:pPr>
            <a:r>
              <a:rPr lang="en-US" altLang="zh-CN" sz="2400" dirty="0">
                <a:solidFill>
                  <a:srgbClr val="775480"/>
                </a:solidFill>
                <a:latin typeface="微软雅黑 Light" panose="020B0502040204020203" charset="-122"/>
                <a:ea typeface="微软雅黑 Light" panose="020B0502040204020203" charset="-122"/>
              </a:rPr>
              <a:t>RFID</a:t>
            </a:r>
          </a:p>
        </p:txBody>
      </p:sp>
      <p:pic>
        <p:nvPicPr>
          <p:cNvPr id="5" name="图片 4"/>
          <p:cNvPicPr>
            <a:picLocks noChangeAspect="1"/>
          </p:cNvPicPr>
          <p:nvPr/>
        </p:nvPicPr>
        <p:blipFill>
          <a:blip r:embed="rId7"/>
          <a:stretch>
            <a:fillRect/>
          </a:stretch>
        </p:blipFill>
        <p:spPr>
          <a:xfrm>
            <a:off x="8255635" y="2282825"/>
            <a:ext cx="4043680" cy="2291715"/>
          </a:xfrm>
          <a:prstGeom prst="rect">
            <a:avLst/>
          </a:prstGeom>
        </p:spPr>
      </p:pic>
      <p:pic>
        <p:nvPicPr>
          <p:cNvPr id="6" name="图片 5"/>
          <p:cNvPicPr>
            <a:picLocks noChangeAspect="1"/>
          </p:cNvPicPr>
          <p:nvPr/>
        </p:nvPicPr>
        <p:blipFill>
          <a:blip r:embed="rId8"/>
          <a:stretch>
            <a:fillRect/>
          </a:stretch>
        </p:blipFill>
        <p:spPr>
          <a:xfrm>
            <a:off x="3588385" y="1954530"/>
            <a:ext cx="4429125" cy="2887980"/>
          </a:xfrm>
          <a:prstGeom prst="rect">
            <a:avLst/>
          </a:prstGeom>
        </p:spPr>
      </p:pic>
      <p:sp>
        <p:nvSpPr>
          <p:cNvPr id="10" name="文本框 9"/>
          <p:cNvSpPr txBox="1"/>
          <p:nvPr/>
        </p:nvSpPr>
        <p:spPr>
          <a:xfrm>
            <a:off x="2494280" y="5645785"/>
            <a:ext cx="7203440" cy="840740"/>
          </a:xfrm>
          <a:prstGeom prst="rect">
            <a:avLst/>
          </a:prstGeom>
          <a:noFill/>
        </p:spPr>
        <p:txBody>
          <a:bodyPr wrap="square" rtlCol="0">
            <a:noAutofit/>
          </a:bodyPr>
          <a:lstStyle/>
          <a:p>
            <a:r>
              <a:rPr lang="zh-CN" altLang="en-US" dirty="0">
                <a:solidFill>
                  <a:srgbClr val="694B71"/>
                </a:solidFill>
                <a:latin typeface="微软雅黑" panose="020B0503020204020204" pitchFamily="34" charset="-122"/>
                <a:ea typeface="微软雅黑" panose="020B0503020204020204" pitchFamily="34" charset="-122"/>
                <a:sym typeface="+mn-ea"/>
              </a:rPr>
              <a:t>Limitation: These systems can only work when sensors are worn by the user. However, the always-on-body requirement makes the subject difficult to comply with,</a:t>
            </a:r>
            <a:endParaRPr lang="zh-CN" altLang="en-US" dirty="0">
              <a:solidFill>
                <a:srgbClr val="694B71"/>
              </a:solidFill>
              <a:latin typeface="微软雅黑" panose="020B0503020204020204" pitchFamily="34" charset="-122"/>
              <a:ea typeface="微软雅黑" panose="020B0503020204020204" pitchFamily="34" charset="-122"/>
            </a:endParaRPr>
          </a:p>
          <a:p>
            <a:endParaRPr lang="zh-CN" altLang="en-US" dirty="0"/>
          </a:p>
        </p:txBody>
      </p:sp>
    </p:spTree>
    <p:custDataLst>
      <p:tags r:id="rId1"/>
    </p:custData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17" name="标题 1"/>
          <p:cNvSpPr txBox="1"/>
          <p:nvPr>
            <p:custDataLst>
              <p:tags r:id="rId2"/>
            </p:custDataLst>
          </p:nvPr>
        </p:nvSpPr>
        <p:spPr>
          <a:xfrm>
            <a:off x="4149725" y="313055"/>
            <a:ext cx="389191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en-US" sz="3200" dirty="0">
                <a:solidFill>
                  <a:srgbClr val="694B71"/>
                </a:solidFill>
                <a:latin typeface="微软雅黑" panose="020B0503020204020204" pitchFamily="34" charset="-122"/>
                <a:ea typeface="微软雅黑" panose="020B0503020204020204" pitchFamily="34" charset="-122"/>
              </a:rPr>
              <a:t>基于环境设备的检测</a:t>
            </a:r>
          </a:p>
        </p:txBody>
      </p:sp>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688193" y="5044482"/>
            <a:ext cx="2658403" cy="534035"/>
          </a:xfrm>
          <a:prstGeom prst="rect">
            <a:avLst/>
          </a:prstGeom>
          <a:noFill/>
        </p:spPr>
        <p:txBody>
          <a:bodyPr wrap="square" rtlCol="0">
            <a:spAutoFit/>
          </a:bodyPr>
          <a:lstStyle/>
          <a:p>
            <a:pPr algn="ctr">
              <a:lnSpc>
                <a:spcPct val="120000"/>
              </a:lnSpc>
            </a:pPr>
            <a:r>
              <a:rPr lang="zh-CN" altLang="en-US" sz="2400" dirty="0">
                <a:solidFill>
                  <a:srgbClr val="775480"/>
                </a:solidFill>
                <a:latin typeface="微软雅黑 Light" panose="020B0502040204020203" charset="-122"/>
                <a:ea typeface="微软雅黑 Light" panose="020B0502040204020203" charset="-122"/>
                <a:sym typeface="+mn-ea"/>
              </a:rPr>
              <a:t>音频噪声</a:t>
            </a:r>
          </a:p>
        </p:txBody>
      </p:sp>
      <p:sp>
        <p:nvSpPr>
          <p:cNvPr id="25" name="文本框 24"/>
          <p:cNvSpPr txBox="1"/>
          <p:nvPr/>
        </p:nvSpPr>
        <p:spPr>
          <a:xfrm>
            <a:off x="8793968" y="5044482"/>
            <a:ext cx="2658403" cy="534035"/>
          </a:xfrm>
          <a:prstGeom prst="rect">
            <a:avLst/>
          </a:prstGeom>
          <a:noFill/>
        </p:spPr>
        <p:txBody>
          <a:bodyPr wrap="square" rtlCol="0">
            <a:spAutoFit/>
          </a:bodyPr>
          <a:lstStyle/>
          <a:p>
            <a:pPr algn="ctr">
              <a:lnSpc>
                <a:spcPct val="120000"/>
              </a:lnSpc>
            </a:pPr>
            <a:r>
              <a:rPr lang="zh-CN" altLang="en-US" sz="2400" dirty="0">
                <a:solidFill>
                  <a:srgbClr val="775480"/>
                </a:solidFill>
                <a:latin typeface="微软雅黑 Light" panose="020B0502040204020203" charset="-122"/>
                <a:ea typeface="微软雅黑 Light" panose="020B0502040204020203" charset="-122"/>
              </a:rPr>
              <a:t>红外传感数据</a:t>
            </a:r>
          </a:p>
        </p:txBody>
      </p:sp>
      <p:sp>
        <p:nvSpPr>
          <p:cNvPr id="26" name="文本框 25"/>
          <p:cNvSpPr txBox="1"/>
          <p:nvPr/>
        </p:nvSpPr>
        <p:spPr>
          <a:xfrm>
            <a:off x="4766797" y="5044482"/>
            <a:ext cx="2658403" cy="534035"/>
          </a:xfrm>
          <a:prstGeom prst="rect">
            <a:avLst/>
          </a:prstGeom>
          <a:noFill/>
        </p:spPr>
        <p:txBody>
          <a:bodyPr wrap="square" rtlCol="0">
            <a:spAutoFit/>
          </a:bodyPr>
          <a:lstStyle/>
          <a:p>
            <a:pPr algn="ctr">
              <a:lnSpc>
                <a:spcPct val="120000"/>
              </a:lnSpc>
            </a:pPr>
            <a:r>
              <a:rPr lang="en-US" altLang="zh-CN" sz="2400" dirty="0">
                <a:solidFill>
                  <a:srgbClr val="775480"/>
                </a:solidFill>
                <a:latin typeface="微软雅黑 Light" panose="020B0502040204020203" charset="-122"/>
                <a:ea typeface="微软雅黑 Light" panose="020B0502040204020203" charset="-122"/>
              </a:rPr>
              <a:t>地板振动</a:t>
            </a:r>
          </a:p>
        </p:txBody>
      </p:sp>
      <p:sp>
        <p:nvSpPr>
          <p:cNvPr id="10" name="文本框 9"/>
          <p:cNvSpPr txBox="1"/>
          <p:nvPr/>
        </p:nvSpPr>
        <p:spPr>
          <a:xfrm>
            <a:off x="2494280" y="5645785"/>
            <a:ext cx="7203440" cy="840740"/>
          </a:xfrm>
          <a:prstGeom prst="rect">
            <a:avLst/>
          </a:prstGeom>
          <a:noFill/>
        </p:spPr>
        <p:txBody>
          <a:bodyPr wrap="square" rtlCol="0">
            <a:noAutofit/>
          </a:bodyPr>
          <a:lstStyle/>
          <a:p>
            <a:r>
              <a:rPr lang="zh-CN" altLang="en-US" dirty="0">
                <a:solidFill>
                  <a:srgbClr val="694B71"/>
                </a:solidFill>
                <a:latin typeface="微软雅黑" panose="020B0503020204020204" pitchFamily="34" charset="-122"/>
                <a:ea typeface="微软雅黑" panose="020B0503020204020204" pitchFamily="34" charset="-122"/>
                <a:sym typeface="+mn-ea"/>
              </a:rPr>
              <a:t>Limitation: These systems can only work when sensors are worn by the user. However, the always-on-body requirement makes the subject difficult to comply with,</a:t>
            </a:r>
            <a:endParaRPr lang="zh-CN" altLang="en-US" dirty="0">
              <a:solidFill>
                <a:srgbClr val="694B71"/>
              </a:solidFill>
              <a:latin typeface="微软雅黑" panose="020B0503020204020204" pitchFamily="34" charset="-122"/>
              <a:ea typeface="微软雅黑" panose="020B0503020204020204" pitchFamily="34" charset="-122"/>
            </a:endParaRPr>
          </a:p>
          <a:p>
            <a:endParaRPr lang="zh-CN" altLang="en-US"/>
          </a:p>
        </p:txBody>
      </p:sp>
      <p:pic>
        <p:nvPicPr>
          <p:cNvPr id="8" name="图片 7" descr="1684511-fig-5-source-large"/>
          <p:cNvPicPr>
            <a:picLocks noChangeAspect="1"/>
          </p:cNvPicPr>
          <p:nvPr/>
        </p:nvPicPr>
        <p:blipFill>
          <a:blip r:embed="rId6"/>
          <a:stretch>
            <a:fillRect/>
          </a:stretch>
        </p:blipFill>
        <p:spPr>
          <a:xfrm>
            <a:off x="4230370" y="2331720"/>
            <a:ext cx="3923030" cy="2373630"/>
          </a:xfrm>
          <a:prstGeom prst="rect">
            <a:avLst/>
          </a:prstGeom>
        </p:spPr>
      </p:pic>
      <p:pic>
        <p:nvPicPr>
          <p:cNvPr id="2" name="图片 1"/>
          <p:cNvPicPr>
            <a:picLocks noChangeAspect="1"/>
          </p:cNvPicPr>
          <p:nvPr/>
        </p:nvPicPr>
        <p:blipFill>
          <a:blip r:embed="rId7"/>
          <a:stretch>
            <a:fillRect/>
          </a:stretch>
        </p:blipFill>
        <p:spPr>
          <a:xfrm>
            <a:off x="132715" y="2045335"/>
            <a:ext cx="3931285" cy="2955925"/>
          </a:xfrm>
          <a:prstGeom prst="rect">
            <a:avLst/>
          </a:prstGeom>
        </p:spPr>
      </p:pic>
      <p:pic>
        <p:nvPicPr>
          <p:cNvPr id="3" name="图片 2"/>
          <p:cNvPicPr>
            <a:picLocks noChangeAspect="1"/>
          </p:cNvPicPr>
          <p:nvPr/>
        </p:nvPicPr>
        <p:blipFill>
          <a:blip r:embed="rId8"/>
          <a:stretch>
            <a:fillRect/>
          </a:stretch>
        </p:blipFill>
        <p:spPr>
          <a:xfrm>
            <a:off x="8346440" y="1773555"/>
            <a:ext cx="3554095" cy="3082925"/>
          </a:xfrm>
          <a:prstGeom prst="rect">
            <a:avLst/>
          </a:prstGeom>
        </p:spPr>
      </p:pic>
    </p:spTree>
    <p:custDataLst>
      <p:tags r:id="rId1"/>
    </p:custData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17" name="标题 1"/>
          <p:cNvSpPr txBox="1"/>
          <p:nvPr>
            <p:custDataLst>
              <p:tags r:id="rId2"/>
            </p:custDataLst>
          </p:nvPr>
        </p:nvSpPr>
        <p:spPr>
          <a:xfrm>
            <a:off x="3325495" y="312420"/>
            <a:ext cx="5732780"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en-US" sz="3200" dirty="0">
                <a:solidFill>
                  <a:srgbClr val="694B71"/>
                </a:solidFill>
                <a:latin typeface="微软雅黑" panose="020B0503020204020204" pitchFamily="34" charset="-122"/>
                <a:ea typeface="微软雅黑" panose="020B0503020204020204" pitchFamily="34" charset="-122"/>
              </a:rPr>
              <a:t>基于计算机视觉的跌倒检测系统</a:t>
            </a:r>
          </a:p>
        </p:txBody>
      </p:sp>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5608955" y="1748790"/>
            <a:ext cx="6468745" cy="3817620"/>
          </a:xfrm>
          <a:prstGeom prst="rect">
            <a:avLst/>
          </a:prstGeom>
          <a:noFill/>
        </p:spPr>
        <p:txBody>
          <a:bodyPr wrap="square" rtlCol="0">
            <a:noAutofit/>
          </a:bodyPr>
          <a:lstStyle/>
          <a:p>
            <a:pPr algn="l">
              <a:lnSpc>
                <a:spcPct val="120000"/>
              </a:lnSpc>
            </a:pPr>
            <a:r>
              <a:rPr lang="en-US" altLang="zh-CN" sz="2400" dirty="0">
                <a:solidFill>
                  <a:srgbClr val="775480"/>
                </a:solidFill>
                <a:latin typeface="微软雅黑 Light" panose="020B0502040204020203" charset="-122"/>
                <a:ea typeface="微软雅黑 Light" panose="020B0502040204020203" charset="-122"/>
              </a:rPr>
              <a:t>使用安装在监控环境中的摄像头来捕获图像或视频序列以进行场景识别 通过使用活动分类算法，将跌倒活动与其他事件区分开来</a:t>
            </a:r>
          </a:p>
          <a:p>
            <a:pPr algn="l">
              <a:lnSpc>
                <a:spcPct val="120000"/>
              </a:lnSpc>
            </a:pPr>
            <a:r>
              <a:rPr lang="en-US" altLang="zh-CN" sz="2400" dirty="0">
                <a:solidFill>
                  <a:srgbClr val="775480"/>
                </a:solidFill>
                <a:latin typeface="微软雅黑 Light" panose="020B0502040204020203" charset="-122"/>
                <a:ea typeface="微软雅黑 Light" panose="020B0502040204020203" charset="-122"/>
              </a:rPr>
              <a:t>红外 LED 和深度相机的最新进展扩大了其应用范围（例如，不受灯光照明的影响，甚至可以在黑暗的房间中工作）</a:t>
            </a:r>
          </a:p>
        </p:txBody>
      </p:sp>
      <p:sp>
        <p:nvSpPr>
          <p:cNvPr id="10" name="文本框 9"/>
          <p:cNvSpPr txBox="1"/>
          <p:nvPr/>
        </p:nvSpPr>
        <p:spPr>
          <a:xfrm>
            <a:off x="2494280" y="5645785"/>
            <a:ext cx="7203440" cy="840740"/>
          </a:xfrm>
          <a:prstGeom prst="rect">
            <a:avLst/>
          </a:prstGeom>
          <a:noFill/>
        </p:spPr>
        <p:txBody>
          <a:bodyPr wrap="square" rtlCol="0">
            <a:noAutofit/>
          </a:bodyPr>
          <a:lstStyle/>
          <a:p>
            <a:r>
              <a:rPr lang="zh-CN" altLang="en-US" dirty="0">
                <a:solidFill>
                  <a:srgbClr val="694B71"/>
                </a:solidFill>
                <a:latin typeface="微软雅黑" panose="020B0503020204020204" pitchFamily="34" charset="-122"/>
                <a:ea typeface="微软雅黑" panose="020B0503020204020204" pitchFamily="34" charset="-122"/>
                <a:sym typeface="+mn-ea"/>
              </a:rPr>
              <a:t>Limitation: 关于隐私问题、对视线的要求以及实时处理的密集计算仍需解决</a:t>
            </a:r>
          </a:p>
          <a:p>
            <a:endParaRPr lang="zh-CN" altLang="en-US"/>
          </a:p>
        </p:txBody>
      </p:sp>
      <p:pic>
        <p:nvPicPr>
          <p:cNvPr id="9" name="图片 8"/>
          <p:cNvPicPr>
            <a:picLocks noChangeAspect="1"/>
          </p:cNvPicPr>
          <p:nvPr/>
        </p:nvPicPr>
        <p:blipFill>
          <a:blip r:embed="rId6"/>
          <a:stretch>
            <a:fillRect/>
          </a:stretch>
        </p:blipFill>
        <p:spPr>
          <a:xfrm>
            <a:off x="1478280" y="2332355"/>
            <a:ext cx="3303270" cy="2192655"/>
          </a:xfrm>
          <a:prstGeom prst="rect">
            <a:avLst/>
          </a:prstGeom>
        </p:spPr>
      </p:pic>
    </p:spTree>
    <p:custDataLst>
      <p:tags r:id="rId1"/>
    </p:custData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17" name="标题 1"/>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en-US" sz="3200" dirty="0">
                <a:solidFill>
                  <a:srgbClr val="694B71"/>
                </a:solidFill>
                <a:latin typeface="微软雅黑" panose="020B0503020204020204" pitchFamily="34" charset="-122"/>
                <a:ea typeface="微软雅黑" panose="020B0503020204020204" pitchFamily="34" charset="-122"/>
              </a:rPr>
              <a:t>基于</a:t>
            </a:r>
            <a:r>
              <a:rPr lang="en-US" altLang="zh-CN" sz="3200" dirty="0">
                <a:solidFill>
                  <a:srgbClr val="694B71"/>
                </a:solidFill>
                <a:latin typeface="微软雅黑" panose="020B0503020204020204" pitchFamily="34" charset="-122"/>
                <a:ea typeface="微软雅黑" panose="020B0503020204020204" pitchFamily="34" charset="-122"/>
              </a:rPr>
              <a:t>WIFI</a:t>
            </a:r>
            <a:r>
              <a:rPr lang="zh-CN" altLang="en-US" sz="3200" dirty="0">
                <a:solidFill>
                  <a:srgbClr val="694B71"/>
                </a:solidFill>
                <a:latin typeface="微软雅黑" panose="020B0503020204020204" pitchFamily="34" charset="-122"/>
                <a:ea typeface="微软雅黑" panose="020B0503020204020204" pitchFamily="34" charset="-122"/>
              </a:rPr>
              <a:t>和</a:t>
            </a:r>
            <a:r>
              <a:rPr lang="en-US" altLang="zh-CN" sz="3200" dirty="0">
                <a:solidFill>
                  <a:srgbClr val="694B71"/>
                </a:solidFill>
                <a:latin typeface="微软雅黑" panose="020B0503020204020204" pitchFamily="34" charset="-122"/>
                <a:ea typeface="微软雅黑" panose="020B0503020204020204" pitchFamily="34" charset="-122"/>
              </a:rPr>
              <a:t>CSI</a:t>
            </a:r>
          </a:p>
        </p:txBody>
      </p:sp>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7652385" y="1748790"/>
            <a:ext cx="4378960" cy="3817620"/>
          </a:xfrm>
          <a:prstGeom prst="rect">
            <a:avLst/>
          </a:prstGeom>
          <a:noFill/>
        </p:spPr>
        <p:txBody>
          <a:bodyPr wrap="square" rtlCol="0">
            <a:noAutofit/>
          </a:bodyPr>
          <a:lstStyle/>
          <a:p>
            <a:pPr algn="l">
              <a:lnSpc>
                <a:spcPct val="120000"/>
              </a:lnSpc>
            </a:pPr>
            <a:r>
              <a:rPr lang="en-US" altLang="zh-CN" sz="2400" dirty="0">
                <a:solidFill>
                  <a:srgbClr val="775480"/>
                </a:solidFill>
                <a:latin typeface="微软雅黑 Light" panose="020B0502040204020203" charset="-122"/>
                <a:ea typeface="微软雅黑 Light" panose="020B0502040204020203" charset="-122"/>
              </a:rPr>
              <a:t>WiFi 信号强度 RSS </a:t>
            </a:r>
            <a:r>
              <a:rPr lang="zh-CN" altLang="en-US" sz="2400" dirty="0">
                <a:solidFill>
                  <a:srgbClr val="775480"/>
                </a:solidFill>
                <a:latin typeface="微软雅黑 Light" panose="020B0502040204020203" charset="-122"/>
                <a:ea typeface="微软雅黑 Light" panose="020B0502040204020203" charset="-122"/>
              </a:rPr>
              <a:t>（</a:t>
            </a:r>
            <a:r>
              <a:rPr lang="en-US" altLang="zh-CN" sz="2400" dirty="0">
                <a:solidFill>
                  <a:srgbClr val="775480"/>
                </a:solidFill>
                <a:latin typeface="微软雅黑 Light" panose="020B0502040204020203" charset="-122"/>
                <a:ea typeface="微软雅黑 Light" panose="020B0502040204020203" charset="-122"/>
              </a:rPr>
              <a:t>Received Signal Strength)</a:t>
            </a:r>
            <a:r>
              <a:rPr lang="zh-CN" altLang="en-US" sz="2400" dirty="0">
                <a:solidFill>
                  <a:srgbClr val="775480"/>
                </a:solidFill>
                <a:latin typeface="微软雅黑 Light" panose="020B0502040204020203" charset="-122"/>
                <a:ea typeface="微软雅黑 Light" panose="020B0502040204020203" charset="-122"/>
              </a:rPr>
              <a:t>）</a:t>
            </a:r>
            <a:r>
              <a:rPr lang="en-US" altLang="zh-CN" sz="2400" dirty="0">
                <a:solidFill>
                  <a:srgbClr val="775480"/>
                </a:solidFill>
                <a:latin typeface="微软雅黑 Light" panose="020B0502040204020203" charset="-122"/>
                <a:ea typeface="微软雅黑 Light" panose="020B0502040204020203" charset="-122"/>
              </a:rPr>
              <a:t>已被用于室内定位已有十多年的历史，但最近才有人用WIFI信号进行手势和活动识别。之前的研究中，有人用WIFI识别身体姿势，但使用的是专用仪器，收集的是专用射频信号，wifi商用设备无法使用。，</a:t>
            </a:r>
          </a:p>
        </p:txBody>
      </p:sp>
      <p:pic>
        <p:nvPicPr>
          <p:cNvPr id="2" name="图片 1"/>
          <p:cNvPicPr>
            <a:picLocks noChangeAspect="1"/>
          </p:cNvPicPr>
          <p:nvPr/>
        </p:nvPicPr>
        <p:blipFill>
          <a:blip r:embed="rId6"/>
          <a:stretch>
            <a:fillRect/>
          </a:stretch>
        </p:blipFill>
        <p:spPr>
          <a:xfrm>
            <a:off x="3000375" y="2177415"/>
            <a:ext cx="4721860" cy="4357370"/>
          </a:xfrm>
          <a:prstGeom prst="rect">
            <a:avLst/>
          </a:prstGeom>
        </p:spPr>
      </p:pic>
      <p:pic>
        <p:nvPicPr>
          <p:cNvPr id="3" name="图片 2"/>
          <p:cNvPicPr>
            <a:picLocks noChangeAspect="1"/>
          </p:cNvPicPr>
          <p:nvPr/>
        </p:nvPicPr>
        <p:blipFill>
          <a:blip r:embed="rId7"/>
          <a:stretch>
            <a:fillRect/>
          </a:stretch>
        </p:blipFill>
        <p:spPr>
          <a:xfrm>
            <a:off x="0" y="2177415"/>
            <a:ext cx="3356610" cy="3388995"/>
          </a:xfrm>
          <a:prstGeom prst="rect">
            <a:avLst/>
          </a:prstGeom>
        </p:spPr>
      </p:pic>
    </p:spTree>
    <p:custDataLst>
      <p:tags r:id="rId1"/>
    </p:custData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17" name="标题 1"/>
          <p:cNvSpPr txBox="1"/>
          <p:nvPr>
            <p:custDataLst>
              <p:tags r:id="rId2"/>
            </p:custDataLst>
          </p:nvPr>
        </p:nvSpPr>
        <p:spPr>
          <a:xfrm>
            <a:off x="4149725" y="313055"/>
            <a:ext cx="389191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en-US" sz="3200" dirty="0">
                <a:solidFill>
                  <a:srgbClr val="694B71"/>
                </a:solidFill>
                <a:latin typeface="微软雅黑" panose="020B0503020204020204" pitchFamily="34" charset="-122"/>
                <a:ea typeface="微软雅黑" panose="020B0503020204020204" pitchFamily="34" charset="-122"/>
                <a:sym typeface="+mn-ea"/>
              </a:rPr>
              <a:t>基于</a:t>
            </a:r>
            <a:r>
              <a:rPr lang="en-US" altLang="zh-CN" sz="3200" dirty="0">
                <a:solidFill>
                  <a:srgbClr val="694B71"/>
                </a:solidFill>
                <a:latin typeface="微软雅黑" panose="020B0503020204020204" pitchFamily="34" charset="-122"/>
                <a:ea typeface="微软雅黑" panose="020B0503020204020204" pitchFamily="34" charset="-122"/>
                <a:sym typeface="+mn-ea"/>
              </a:rPr>
              <a:t>WIFI</a:t>
            </a:r>
            <a:r>
              <a:rPr lang="zh-CN" altLang="en-US" sz="3200" dirty="0">
                <a:solidFill>
                  <a:srgbClr val="694B71"/>
                </a:solidFill>
                <a:latin typeface="微软雅黑" panose="020B0503020204020204" pitchFamily="34" charset="-122"/>
                <a:ea typeface="微软雅黑" panose="020B0503020204020204" pitchFamily="34" charset="-122"/>
                <a:sym typeface="+mn-ea"/>
              </a:rPr>
              <a:t>和</a:t>
            </a:r>
            <a:r>
              <a:rPr lang="en-US" altLang="zh-CN" sz="3200" dirty="0">
                <a:solidFill>
                  <a:srgbClr val="694B71"/>
                </a:solidFill>
                <a:latin typeface="微软雅黑" panose="020B0503020204020204" pitchFamily="34" charset="-122"/>
                <a:ea typeface="微软雅黑" panose="020B0503020204020204" pitchFamily="34" charset="-122"/>
                <a:sym typeface="+mn-ea"/>
              </a:rPr>
              <a:t>CSI</a:t>
            </a:r>
            <a:endParaRPr lang="zh-CN" altLang="en-US" sz="3200" dirty="0">
              <a:solidFill>
                <a:srgbClr val="694B71"/>
              </a:solidFill>
              <a:latin typeface="微软雅黑" panose="020B0503020204020204" pitchFamily="34" charset="-122"/>
              <a:ea typeface="微软雅黑" panose="020B0503020204020204" pitchFamily="34" charset="-122"/>
            </a:endParaRPr>
          </a:p>
        </p:txBody>
      </p:sp>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5954395" y="2180590"/>
            <a:ext cx="6096000" cy="2676525"/>
          </a:xfrm>
          <a:prstGeom prst="rect">
            <a:avLst/>
          </a:prstGeom>
          <a:noFill/>
        </p:spPr>
        <p:txBody>
          <a:bodyPr wrap="square" rtlCol="0" anchor="t">
            <a:spAutoFit/>
          </a:bodyPr>
          <a:lstStyle/>
          <a:p>
            <a:r>
              <a:rPr lang="zh-CN" altLang="en-US" sz="2400" dirty="0">
                <a:solidFill>
                  <a:srgbClr val="775480"/>
                </a:solidFill>
                <a:latin typeface="微软雅黑 Light" panose="020B0502040204020203" charset="-122"/>
                <a:ea typeface="微软雅黑 Light" panose="020B0502040204020203" charset="-122"/>
                <a:sym typeface="+mn-ea"/>
              </a:rPr>
              <a:t>商用设备</a:t>
            </a:r>
            <a:r>
              <a:rPr lang="en-US" altLang="zh-CN" sz="2400" dirty="0">
                <a:solidFill>
                  <a:srgbClr val="775480"/>
                </a:solidFill>
                <a:latin typeface="微软雅黑 Light" panose="020B0502040204020203" charset="-122"/>
                <a:ea typeface="微软雅黑 Light" panose="020B0502040204020203" charset="-122"/>
                <a:sym typeface="+mn-ea"/>
              </a:rPr>
              <a:t>唯一可用的是CSI,能在商用wifi设备上处理</a:t>
            </a:r>
          </a:p>
          <a:p>
            <a:r>
              <a:rPr lang="en-US" altLang="zh-CN" sz="2400" dirty="0">
                <a:solidFill>
                  <a:srgbClr val="775480"/>
                </a:solidFill>
                <a:latin typeface="微软雅黑 Light" panose="020B0502040204020203" charset="-122"/>
                <a:ea typeface="微软雅黑 Light" panose="020B0502040204020203" charset="-122"/>
                <a:sym typeface="+mn-ea"/>
              </a:rPr>
              <a:t>有人研究了移动人数与CSI的关系，实现了人群计数</a:t>
            </a:r>
          </a:p>
          <a:p>
            <a:r>
              <a:rPr lang="en-US" altLang="zh-CN" sz="2400" dirty="0">
                <a:solidFill>
                  <a:srgbClr val="775480"/>
                </a:solidFill>
                <a:latin typeface="微软雅黑 Light" panose="020B0502040204020203" charset="-122"/>
                <a:ea typeface="微软雅黑 Light" panose="020B0502040204020203" charset="-122"/>
                <a:sym typeface="+mn-ea"/>
              </a:rPr>
              <a:t>有人研究了商品NIC中的CSI在受控环境中提取人体呼吸和心率</a:t>
            </a:r>
          </a:p>
          <a:p>
            <a:r>
              <a:rPr lang="en-US" altLang="zh-CN" sz="2400" dirty="0">
                <a:solidFill>
                  <a:srgbClr val="775480"/>
                </a:solidFill>
                <a:latin typeface="微软雅黑 Light" panose="020B0502040204020203" charset="-122"/>
                <a:ea typeface="微软雅黑 Light" panose="020B0502040204020203" charset="-122"/>
                <a:sym typeface="+mn-ea"/>
              </a:rPr>
              <a:t>还有人用RSS和CSI</a:t>
            </a:r>
            <a:r>
              <a:rPr lang="zh-CN" altLang="en-US" sz="2400" dirty="0">
                <a:solidFill>
                  <a:srgbClr val="775480"/>
                </a:solidFill>
                <a:latin typeface="微软雅黑 Light" panose="020B0502040204020203" charset="-122"/>
                <a:ea typeface="微软雅黑 Light" panose="020B0502040204020203" charset="-122"/>
                <a:sym typeface="+mn-ea"/>
              </a:rPr>
              <a:t>共同</a:t>
            </a:r>
            <a:r>
              <a:rPr lang="en-US" altLang="zh-CN" sz="2400" dirty="0">
                <a:solidFill>
                  <a:srgbClr val="775480"/>
                </a:solidFill>
                <a:latin typeface="微软雅黑 Light" panose="020B0502040204020203" charset="-122"/>
                <a:ea typeface="微软雅黑 Light" panose="020B0502040204020203" charset="-122"/>
                <a:sym typeface="+mn-ea"/>
              </a:rPr>
              <a:t>来检测室内人体运动。</a:t>
            </a:r>
          </a:p>
        </p:txBody>
      </p:sp>
      <p:pic>
        <p:nvPicPr>
          <p:cNvPr id="5" name="图片 4"/>
          <p:cNvPicPr>
            <a:picLocks noChangeAspect="1"/>
          </p:cNvPicPr>
          <p:nvPr/>
        </p:nvPicPr>
        <p:blipFill>
          <a:blip r:embed="rId6"/>
          <a:stretch>
            <a:fillRect/>
          </a:stretch>
        </p:blipFill>
        <p:spPr>
          <a:xfrm>
            <a:off x="335915" y="2007870"/>
            <a:ext cx="5338445" cy="3800475"/>
          </a:xfrm>
          <a:prstGeom prst="rect">
            <a:avLst/>
          </a:prstGeom>
        </p:spPr>
      </p:pic>
      <p:sp>
        <p:nvSpPr>
          <p:cNvPr id="100" name="文本框 99"/>
          <p:cNvSpPr txBox="1"/>
          <p:nvPr/>
        </p:nvSpPr>
        <p:spPr>
          <a:xfrm>
            <a:off x="5954395" y="1534160"/>
            <a:ext cx="5995670" cy="3322955"/>
          </a:xfrm>
          <a:prstGeom prst="rect">
            <a:avLst/>
          </a:prstGeom>
        </p:spPr>
        <p:style>
          <a:lnRef idx="2">
            <a:schemeClr val="dk1"/>
          </a:lnRef>
          <a:fillRef idx="1">
            <a:schemeClr val="lt1"/>
          </a:fillRef>
          <a:effectRef idx="0">
            <a:schemeClr val="dk1"/>
          </a:effectRef>
          <a:fontRef idx="minor">
            <a:schemeClr val="dk1"/>
          </a:fontRef>
        </p:style>
        <p:txBody>
          <a:bodyPr>
            <a:noAutofit/>
          </a:bodyPr>
          <a:lstStyle/>
          <a:p>
            <a:pPr algn="l">
              <a:buClrTx/>
              <a:buSzTx/>
              <a:buFontTx/>
            </a:pPr>
            <a:r>
              <a:rPr lang="en-US" altLang="zh-CN" sz="2400" b="0" dirty="0">
                <a:solidFill>
                  <a:srgbClr val="775480"/>
                </a:solidFill>
                <a:latin typeface="微软雅黑 Light" panose="020B0502040204020203" charset="-122"/>
                <a:ea typeface="微软雅黑 Light" panose="020B0502040204020203" charset="-122"/>
              </a:rPr>
              <a:t>然而，上面这些都是基于预定义的活动的，但跌倒问题复杂得多，需要从大量日常活动中挑选出跌倒。这些日常活动无法预先定义或者收集以进行训练和测试。而且各种日常活动连续进行时，连续的wifi信号是没有中间标记的，确定目标活动的时间起点和终点以进一步分析是很难的</a:t>
            </a:r>
          </a:p>
          <a:p>
            <a:pPr algn="l">
              <a:buClrTx/>
              <a:buSzTx/>
              <a:buFontTx/>
            </a:pPr>
            <a:endParaRPr lang="en-US" altLang="zh-CN" sz="2400" b="0" dirty="0">
              <a:solidFill>
                <a:srgbClr val="775480"/>
              </a:solidFill>
              <a:latin typeface="微软雅黑 Light" panose="020B0502040204020203" charset="-122"/>
              <a:ea typeface="微软雅黑 Light" panose="020B0502040204020203" charset="-122"/>
            </a:endParaRPr>
          </a:p>
        </p:txBody>
      </p:sp>
    </p:spTree>
    <p:custDataLst>
      <p:tags r:id="rId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anim calcmode="lin" valueType="num">
                                      <p:cBhvr additive="base">
                                        <p:cTn id="7" dur="500" fill="hold"/>
                                        <p:tgtEl>
                                          <p:spTgt spid="100"/>
                                        </p:tgtEl>
                                        <p:attrNameLst>
                                          <p:attrName>ppt_x</p:attrName>
                                        </p:attrNameLst>
                                      </p:cBhvr>
                                      <p:tavLst>
                                        <p:tav tm="0">
                                          <p:val>
                                            <p:strVal val="#ppt_x"/>
                                          </p:val>
                                        </p:tav>
                                        <p:tav tm="100000">
                                          <p:val>
                                            <p:strVal val="#ppt_x"/>
                                          </p:val>
                                        </p:tav>
                                      </p:tavLst>
                                    </p:anim>
                                    <p:anim calcmode="lin" valueType="num">
                                      <p:cBhvr additive="base">
                                        <p:cTn id="8"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bldLvl="0" animBg="1"/>
      <p:bldP spid="100" grpId="1" animBg="1"/>
    </p:bld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17" name="标题 1"/>
          <p:cNvSpPr txBox="1"/>
          <p:nvPr>
            <p:custDataLst>
              <p:tags r:id="rId2"/>
            </p:custDataLst>
          </p:nvPr>
        </p:nvSpPr>
        <p:spPr>
          <a:xfrm>
            <a:off x="4149725" y="313055"/>
            <a:ext cx="389191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en-US" sz="3200" dirty="0">
                <a:solidFill>
                  <a:srgbClr val="694B71"/>
                </a:solidFill>
                <a:latin typeface="微软雅黑" panose="020B0503020204020204" pitchFamily="34" charset="-122"/>
                <a:ea typeface="微软雅黑" panose="020B0503020204020204" pitchFamily="34" charset="-122"/>
                <a:sym typeface="+mn-ea"/>
              </a:rPr>
              <a:t>基于</a:t>
            </a:r>
            <a:r>
              <a:rPr lang="en-US" altLang="zh-CN" sz="3200" dirty="0">
                <a:solidFill>
                  <a:srgbClr val="694B71"/>
                </a:solidFill>
                <a:latin typeface="微软雅黑" panose="020B0503020204020204" pitchFamily="34" charset="-122"/>
                <a:ea typeface="微软雅黑" panose="020B0503020204020204" pitchFamily="34" charset="-122"/>
                <a:sym typeface="+mn-ea"/>
              </a:rPr>
              <a:t>WIFI</a:t>
            </a:r>
            <a:r>
              <a:rPr lang="zh-CN" altLang="en-US" sz="3200" dirty="0">
                <a:solidFill>
                  <a:srgbClr val="694B71"/>
                </a:solidFill>
                <a:latin typeface="微软雅黑" panose="020B0503020204020204" pitchFamily="34" charset="-122"/>
                <a:ea typeface="微软雅黑" panose="020B0503020204020204" pitchFamily="34" charset="-122"/>
                <a:sym typeface="+mn-ea"/>
              </a:rPr>
              <a:t>和</a:t>
            </a:r>
            <a:r>
              <a:rPr lang="en-US" altLang="zh-CN" sz="3200" dirty="0">
                <a:solidFill>
                  <a:srgbClr val="694B71"/>
                </a:solidFill>
                <a:latin typeface="微软雅黑" panose="020B0503020204020204" pitchFamily="34" charset="-122"/>
                <a:ea typeface="微软雅黑" panose="020B0503020204020204" pitchFamily="34" charset="-122"/>
                <a:sym typeface="+mn-ea"/>
              </a:rPr>
              <a:t>CSI</a:t>
            </a:r>
            <a:endParaRPr lang="zh-CN" altLang="en-US" sz="3200" dirty="0">
              <a:solidFill>
                <a:srgbClr val="694B71"/>
              </a:solidFill>
              <a:latin typeface="微软雅黑" panose="020B0503020204020204" pitchFamily="34" charset="-122"/>
              <a:ea typeface="微软雅黑" panose="020B0503020204020204" pitchFamily="34" charset="-122"/>
            </a:endParaRPr>
          </a:p>
        </p:txBody>
      </p:sp>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5954395" y="2180590"/>
            <a:ext cx="6096000" cy="2306955"/>
          </a:xfrm>
          <a:prstGeom prst="rect">
            <a:avLst/>
          </a:prstGeom>
          <a:noFill/>
        </p:spPr>
        <p:txBody>
          <a:bodyPr wrap="square" rtlCol="0" anchor="t">
            <a:spAutoFit/>
          </a:bodyPr>
          <a:lstStyle/>
          <a:p>
            <a:pPr algn="l">
              <a:buClrTx/>
              <a:buSzTx/>
              <a:buFontTx/>
            </a:pPr>
            <a:r>
              <a:rPr lang="en-US" altLang="zh-CN" sz="2400" dirty="0">
                <a:solidFill>
                  <a:srgbClr val="775480"/>
                </a:solidFill>
                <a:latin typeface="微软雅黑 Light" panose="020B0502040204020203" charset="-122"/>
                <a:ea typeface="微软雅黑 Light" panose="020B0502040204020203" charset="-122"/>
                <a:sym typeface="+mn-ea"/>
              </a:rPr>
              <a:t>其中也有利用wifi商用设备检测的工作</a:t>
            </a:r>
            <a:endParaRPr lang="en-US" altLang="zh-CN" sz="2400" b="0" dirty="0">
              <a:solidFill>
                <a:srgbClr val="775480"/>
              </a:solidFill>
              <a:latin typeface="微软雅黑 Light" panose="020B0502040204020203" charset="-122"/>
              <a:ea typeface="微软雅黑 Light" panose="020B0502040204020203" charset="-122"/>
            </a:endParaRPr>
          </a:p>
          <a:p>
            <a:pPr algn="l">
              <a:buClrTx/>
              <a:buSzTx/>
              <a:buFontTx/>
            </a:pPr>
            <a:r>
              <a:rPr lang="en-US" altLang="zh-CN" sz="2400" dirty="0">
                <a:solidFill>
                  <a:srgbClr val="775480"/>
                </a:solidFill>
                <a:latin typeface="微软雅黑 Light" panose="020B0502040204020203" charset="-122"/>
                <a:ea typeface="微软雅黑 Light" panose="020B0502040204020203" charset="-122"/>
                <a:sym typeface="+mn-ea"/>
              </a:rPr>
              <a:t>比如用CSI信息进行跌倒检测，但这项工作仅利用了 CSI 的振幅信息，并简化了问题，即受试者只能执行四种预定义的活动。当长者在家庭环境中正常生活，自然、持续地进行各种活动时，解决方案就会失败。</a:t>
            </a:r>
          </a:p>
        </p:txBody>
      </p:sp>
      <p:pic>
        <p:nvPicPr>
          <p:cNvPr id="2" name="图片 1"/>
          <p:cNvPicPr>
            <a:picLocks noChangeAspect="1"/>
          </p:cNvPicPr>
          <p:nvPr/>
        </p:nvPicPr>
        <p:blipFill>
          <a:blip r:embed="rId6"/>
          <a:stretch>
            <a:fillRect/>
          </a:stretch>
        </p:blipFill>
        <p:spPr>
          <a:xfrm>
            <a:off x="290195" y="1600200"/>
            <a:ext cx="5372100" cy="4543425"/>
          </a:xfrm>
          <a:prstGeom prst="rect">
            <a:avLst/>
          </a:prstGeom>
        </p:spPr>
      </p:pic>
    </p:spTree>
    <p:custDataLst>
      <p:tags r:id="rId1"/>
    </p:custData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17" name="标题 1"/>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en-US" sz="3200" dirty="0">
                <a:solidFill>
                  <a:srgbClr val="694B71"/>
                </a:solidFill>
                <a:latin typeface="微软雅黑" panose="020B0503020204020204" pitchFamily="34" charset="-122"/>
                <a:ea typeface="微软雅黑" panose="020B0503020204020204" pitchFamily="34" charset="-122"/>
              </a:rPr>
              <a:t>基于</a:t>
            </a:r>
            <a:r>
              <a:rPr lang="en-US" altLang="zh-CN" sz="3200" dirty="0">
                <a:solidFill>
                  <a:srgbClr val="694B71"/>
                </a:solidFill>
                <a:latin typeface="微软雅黑" panose="020B0503020204020204" pitchFamily="34" charset="-122"/>
                <a:ea typeface="微软雅黑" panose="020B0503020204020204" pitchFamily="34" charset="-122"/>
              </a:rPr>
              <a:t>WIFI</a:t>
            </a:r>
            <a:r>
              <a:rPr lang="zh-CN" altLang="en-US" sz="3200" dirty="0">
                <a:solidFill>
                  <a:srgbClr val="694B71"/>
                </a:solidFill>
                <a:latin typeface="微软雅黑" panose="020B0503020204020204" pitchFamily="34" charset="-122"/>
                <a:ea typeface="微软雅黑" panose="020B0503020204020204" pitchFamily="34" charset="-122"/>
              </a:rPr>
              <a:t>和</a:t>
            </a:r>
            <a:r>
              <a:rPr lang="en-US" altLang="zh-CN" sz="3200" dirty="0">
                <a:solidFill>
                  <a:srgbClr val="694B71"/>
                </a:solidFill>
                <a:latin typeface="微软雅黑" panose="020B0503020204020204" pitchFamily="34" charset="-122"/>
                <a:ea typeface="微软雅黑" panose="020B0503020204020204" pitchFamily="34" charset="-122"/>
              </a:rPr>
              <a:t>CSI</a:t>
            </a:r>
          </a:p>
        </p:txBody>
      </p:sp>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p:cNvSpPr txBox="1"/>
          <p:nvPr/>
        </p:nvSpPr>
        <p:spPr>
          <a:xfrm>
            <a:off x="806450" y="1748790"/>
            <a:ext cx="11224895" cy="3817620"/>
          </a:xfrm>
          <a:prstGeom prst="rect">
            <a:avLst/>
          </a:prstGeom>
          <a:noFill/>
        </p:spPr>
        <p:txBody>
          <a:bodyPr wrap="square" rtlCol="0">
            <a:noAutofit/>
          </a:bodyPr>
          <a:lstStyle/>
          <a:p>
            <a:pPr algn="l">
              <a:lnSpc>
                <a:spcPct val="120000"/>
              </a:lnSpc>
            </a:pPr>
            <a:r>
              <a:rPr sz="2400" dirty="0">
                <a:solidFill>
                  <a:srgbClr val="775480"/>
                </a:solidFill>
                <a:latin typeface="微软雅黑 Light" panose="020B0502040204020203" charset="-122"/>
                <a:ea typeface="微软雅黑 Light" panose="020B0502040204020203" charset="-122"/>
              </a:rPr>
              <a:t>与以往的工作不同，在本文中，我们分别深入研究了 CSI 信息的幅度、相位和相位差与人体活动之间的关系，发现相位差是比幅度或相位更敏感的活动识别基信号。此外，我们发现了时频域下降的急剧功率曲线下降模式。通过利用有关相位差和功率曲线下降模式的发现，我们设计了一套信号处理技术来稳健地分割下降</a:t>
            </a:r>
            <a:r>
              <a:rPr lang="zh-CN" sz="2400" dirty="0">
                <a:solidFill>
                  <a:srgbClr val="775480"/>
                </a:solidFill>
                <a:latin typeface="微软雅黑 Light" panose="020B0502040204020203" charset="-122"/>
                <a:ea typeface="微软雅黑 Light" panose="020B0502040204020203" charset="-122"/>
              </a:rPr>
              <a:t>。</a:t>
            </a:r>
            <a:r>
              <a:rPr sz="2400" dirty="0">
                <a:solidFill>
                  <a:srgbClr val="775480"/>
                </a:solidFill>
                <a:latin typeface="微软雅黑 Light" panose="020B0502040204020203" charset="-122"/>
                <a:ea typeface="微软雅黑 Light" panose="020B0502040204020203" charset="-122"/>
              </a:rPr>
              <a:t>以及其他活动中的一些类似秋天的活动。然后，在仅分离跌倒和跌倒样活动的情况下，我们进一步从 CSI 的幅度和相位差中提取有效特征，以区分真实跌倒和其他跌倒样活动，使利用 WiFi 射频信号流的实时跌倒检测在真实家庭环境中可行。</a:t>
            </a:r>
          </a:p>
        </p:txBody>
      </p:sp>
    </p:spTree>
    <p:custDataLst>
      <p:tags r:id="rId1"/>
    </p:custData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635" y="2031365"/>
            <a:ext cx="12192000" cy="2795905"/>
          </a:xfrm>
          <a:prstGeom prst="rect">
            <a:avLst/>
          </a:prstGeom>
          <a:solidFill>
            <a:schemeClr val="bg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480243" y="2882130"/>
            <a:ext cx="3262432" cy="1015663"/>
          </a:xfrm>
          <a:prstGeom prst="rect">
            <a:avLst/>
          </a:prstGeom>
          <a:noFill/>
        </p:spPr>
        <p:txBody>
          <a:bodyPr wrap="none" rtlCol="0">
            <a:spAutoFit/>
          </a:bodyPr>
          <a:lstStyle/>
          <a:p>
            <a:r>
              <a:rPr lang="zh-CN" altLang="en-US" sz="6000" dirty="0">
                <a:solidFill>
                  <a:srgbClr val="694B71"/>
                </a:solidFill>
                <a:latin typeface="微软雅黑" panose="020B0503020204020204" pitchFamily="34" charset="-122"/>
                <a:ea typeface="微软雅黑" panose="020B0503020204020204" pitchFamily="34" charset="-122"/>
              </a:rPr>
              <a:t>初步分析</a:t>
            </a:r>
          </a:p>
        </p:txBody>
      </p:sp>
      <p:grpSp>
        <p:nvGrpSpPr>
          <p:cNvPr id="12" name="组合 11"/>
          <p:cNvGrpSpPr/>
          <p:nvPr/>
        </p:nvGrpSpPr>
        <p:grpSpPr>
          <a:xfrm>
            <a:off x="5555048" y="1471295"/>
            <a:ext cx="1080000" cy="1080000"/>
            <a:chOff x="8049" y="2049"/>
            <a:chExt cx="1701" cy="1701"/>
          </a:xfrm>
        </p:grpSpPr>
        <p:sp>
          <p:nvSpPr>
            <p:cNvPr id="10" name="椭圆 9"/>
            <p:cNvSpPr/>
            <p:nvPr/>
          </p:nvSpPr>
          <p:spPr>
            <a:xfrm>
              <a:off x="8049" y="2049"/>
              <a:ext cx="1701" cy="1701"/>
            </a:xfrm>
            <a:prstGeom prst="ellipse">
              <a:avLst/>
            </a:prstGeom>
            <a:solidFill>
              <a:srgbClr val="BA9FC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8380" y="2440"/>
              <a:ext cx="1048" cy="921"/>
            </a:xfrm>
            <a:prstGeom prst="rect">
              <a:avLst/>
            </a:prstGeom>
            <a:noFill/>
          </p:spPr>
          <p:txBody>
            <a:bodyPr wrap="non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rPr>
                <a:t>02</a:t>
              </a:r>
            </a:p>
          </p:txBody>
        </p:sp>
      </p:grpSp>
    </p:spTree>
    <p:custDataLst>
      <p:tags r:id="rId1"/>
    </p:custDataLst>
    <p:extLst>
      <p:ext uri="{BB962C8B-B14F-4D97-AF65-F5344CB8AC3E}">
        <p14:creationId xmlns:p14="http://schemas.microsoft.com/office/powerpoint/2010/main" val="1923626733"/>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43" name="矩形 42">
            <a:extLst>
              <a:ext uri="{FF2B5EF4-FFF2-40B4-BE49-F238E27FC236}">
                <a16:creationId xmlns:a16="http://schemas.microsoft.com/office/drawing/2014/main" id="{1FD77694-7D45-43A3-9B6D-CF52F0242B0E}"/>
              </a:ext>
            </a:extLst>
          </p:cNvPr>
          <p:cNvSpPr/>
          <p:nvPr/>
        </p:nvSpPr>
        <p:spPr>
          <a:xfrm>
            <a:off x="6279560" y="6366832"/>
            <a:ext cx="5647266" cy="3819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矩形 32">
            <a:extLst>
              <a:ext uri="{FF2B5EF4-FFF2-40B4-BE49-F238E27FC236}">
                <a16:creationId xmlns:a16="http://schemas.microsoft.com/office/drawing/2014/main" id="{AA37286D-F4D7-4466-B864-51D368699896}"/>
              </a:ext>
            </a:extLst>
          </p:cNvPr>
          <p:cNvSpPr/>
          <p:nvPr/>
        </p:nvSpPr>
        <p:spPr>
          <a:xfrm>
            <a:off x="6392334" y="1536553"/>
            <a:ext cx="5647266" cy="11389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标题 1"/>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初步分析</a:t>
            </a:r>
          </a:p>
        </p:txBody>
      </p:sp>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4" name="图片 23">
            <a:extLst>
              <a:ext uri="{FF2B5EF4-FFF2-40B4-BE49-F238E27FC236}">
                <a16:creationId xmlns:a16="http://schemas.microsoft.com/office/drawing/2014/main" id="{D5EC289D-0968-4AE5-87E6-6EB388CC3A18}"/>
              </a:ext>
            </a:extLst>
          </p:cNvPr>
          <p:cNvPicPr>
            <a:picLocks noChangeAspect="1"/>
          </p:cNvPicPr>
          <p:nvPr/>
        </p:nvPicPr>
        <p:blipFill>
          <a:blip r:embed="rId6"/>
          <a:stretch>
            <a:fillRect/>
          </a:stretch>
        </p:blipFill>
        <p:spPr>
          <a:xfrm>
            <a:off x="827830" y="1693913"/>
            <a:ext cx="4205784" cy="2008845"/>
          </a:xfrm>
          <a:prstGeom prst="rect">
            <a:avLst/>
          </a:prstGeom>
        </p:spPr>
      </p:pic>
      <p:sp>
        <p:nvSpPr>
          <p:cNvPr id="25" name="文本框 24">
            <a:extLst>
              <a:ext uri="{FF2B5EF4-FFF2-40B4-BE49-F238E27FC236}">
                <a16:creationId xmlns:a16="http://schemas.microsoft.com/office/drawing/2014/main" id="{AAC229A8-6DDC-4105-BBD9-83D701B457E7}"/>
              </a:ext>
            </a:extLst>
          </p:cNvPr>
          <p:cNvSpPr txBox="1"/>
          <p:nvPr/>
        </p:nvSpPr>
        <p:spPr>
          <a:xfrm>
            <a:off x="183560" y="3826341"/>
            <a:ext cx="5649432" cy="2862322"/>
          </a:xfrm>
          <a:prstGeom prst="rect">
            <a:avLst/>
          </a:prstGeom>
          <a:noFill/>
        </p:spPr>
        <p:txBody>
          <a:bodyPr wrap="square">
            <a:spAutoFit/>
          </a:bodyPr>
          <a:lstStyle/>
          <a:p>
            <a:r>
              <a:rPr lang="en-US" altLang="zh-CN" dirty="0">
                <a:solidFill>
                  <a:srgbClr val="333333"/>
                </a:solidFill>
                <a:latin typeface="Helvetica Neue"/>
              </a:rPr>
              <a:t>     </a:t>
            </a:r>
            <a:r>
              <a:rPr lang="en-US" altLang="zh-CN" b="0" i="0" dirty="0" err="1">
                <a:solidFill>
                  <a:srgbClr val="333333"/>
                </a:solidFill>
                <a:effectLst/>
                <a:latin typeface="Helvetica Neue"/>
              </a:rPr>
              <a:t>WiFi</a:t>
            </a:r>
            <a:r>
              <a:rPr lang="zh-CN" altLang="en-US" b="0" i="0" dirty="0">
                <a:solidFill>
                  <a:srgbClr val="333333"/>
                </a:solidFill>
                <a:effectLst/>
                <a:latin typeface="Helvetica Neue"/>
              </a:rPr>
              <a:t>信号通过</a:t>
            </a:r>
            <a:r>
              <a:rPr lang="zh-CN" altLang="en-US" b="1" i="0" dirty="0">
                <a:solidFill>
                  <a:srgbClr val="FF0000"/>
                </a:solidFill>
                <a:effectLst/>
                <a:latin typeface="Helvetica Neue"/>
              </a:rPr>
              <a:t>天花板、地面、墙壁、家具</a:t>
            </a:r>
            <a:r>
              <a:rPr lang="zh-CN" altLang="en-US" b="0" i="0" dirty="0">
                <a:solidFill>
                  <a:srgbClr val="333333"/>
                </a:solidFill>
                <a:effectLst/>
                <a:latin typeface="Helvetica Neue"/>
              </a:rPr>
              <a:t>等多条路径在物理空间中传播。</a:t>
            </a:r>
            <a:endParaRPr lang="en-US" altLang="zh-CN" b="0" i="0" dirty="0">
              <a:solidFill>
                <a:srgbClr val="333333"/>
              </a:solidFill>
              <a:effectLst/>
              <a:latin typeface="Helvetica Neue"/>
            </a:endParaRPr>
          </a:p>
          <a:p>
            <a:r>
              <a:rPr lang="zh-CN" altLang="en-US" b="0" i="0" dirty="0">
                <a:solidFill>
                  <a:srgbClr val="333333"/>
                </a:solidFill>
                <a:effectLst/>
                <a:latin typeface="Helvetica Neue"/>
              </a:rPr>
              <a:t>     由于</a:t>
            </a:r>
            <a:r>
              <a:rPr lang="zh-CN" altLang="en-US" b="1" i="0" dirty="0">
                <a:solidFill>
                  <a:srgbClr val="333333"/>
                </a:solidFill>
                <a:effectLst/>
                <a:latin typeface="Helvetica Neue"/>
              </a:rPr>
              <a:t>物理空间</a:t>
            </a:r>
            <a:r>
              <a:rPr lang="zh-CN" altLang="en-US" b="0" i="0" dirty="0">
                <a:solidFill>
                  <a:srgbClr val="333333"/>
                </a:solidFill>
                <a:effectLst/>
                <a:latin typeface="Helvetica Neue"/>
              </a:rPr>
              <a:t>会限制无线信号的传播</a:t>
            </a:r>
            <a:r>
              <a:rPr lang="en-US" altLang="zh-CN" b="1" i="0" dirty="0">
                <a:solidFill>
                  <a:srgbClr val="333333"/>
                </a:solidFill>
                <a:effectLst/>
                <a:latin typeface="Helvetica Neue"/>
              </a:rPr>
              <a:t>(</a:t>
            </a:r>
            <a:r>
              <a:rPr lang="zh-CN" altLang="en-US" b="1" i="0" dirty="0">
                <a:solidFill>
                  <a:srgbClr val="FF0000"/>
                </a:solidFill>
                <a:effectLst/>
                <a:latin typeface="Helvetica Neue"/>
              </a:rPr>
              <a:t>触碰地面</a:t>
            </a:r>
            <a:r>
              <a:rPr lang="zh-CN" altLang="en-US" b="1" dirty="0">
                <a:solidFill>
                  <a:srgbClr val="FF0000"/>
                </a:solidFill>
                <a:latin typeface="Helvetica Neue"/>
              </a:rPr>
              <a:t>反射等</a:t>
            </a:r>
            <a:r>
              <a:rPr lang="en-US" altLang="zh-CN" b="1" i="0" dirty="0">
                <a:solidFill>
                  <a:srgbClr val="333333"/>
                </a:solidFill>
                <a:effectLst/>
                <a:latin typeface="Helvetica Neue"/>
              </a:rPr>
              <a:t>)</a:t>
            </a:r>
            <a:r>
              <a:rPr lang="zh-CN" altLang="en-US" dirty="0">
                <a:solidFill>
                  <a:srgbClr val="333333"/>
                </a:solidFill>
                <a:latin typeface="Helvetica Neue"/>
              </a:rPr>
              <a:t>，</a:t>
            </a:r>
            <a:r>
              <a:rPr lang="zh-CN" altLang="en-US" b="0" i="0" dirty="0">
                <a:solidFill>
                  <a:srgbClr val="333333"/>
                </a:solidFill>
                <a:effectLst/>
                <a:latin typeface="Helvetica Neue"/>
              </a:rPr>
              <a:t>当环境中有人员存在时，</a:t>
            </a:r>
            <a:r>
              <a:rPr lang="zh-CN" altLang="en-US" b="1" i="0" dirty="0">
                <a:solidFill>
                  <a:srgbClr val="333333"/>
                </a:solidFill>
                <a:effectLst/>
                <a:latin typeface="Helvetica Neue"/>
              </a:rPr>
              <a:t>人体散射（</a:t>
            </a:r>
            <a:r>
              <a:rPr lang="zh-CN" altLang="en-US" b="1" i="0" dirty="0">
                <a:solidFill>
                  <a:srgbClr val="FF0000"/>
                </a:solidFill>
                <a:effectLst/>
                <a:latin typeface="Helvetica Neue"/>
              </a:rPr>
              <a:t>衣服、肢体的等多个部位阻挡和反射</a:t>
            </a:r>
            <a:r>
              <a:rPr lang="zh-CN" altLang="en-US" b="1" i="0" dirty="0">
                <a:solidFill>
                  <a:srgbClr val="333333"/>
                </a:solidFill>
                <a:effectLst/>
                <a:latin typeface="Helvetica Neue"/>
              </a:rPr>
              <a:t>）</a:t>
            </a:r>
            <a:r>
              <a:rPr lang="zh-CN" altLang="en-US" b="0" i="0" dirty="0">
                <a:solidFill>
                  <a:srgbClr val="333333"/>
                </a:solidFill>
                <a:effectLst/>
                <a:latin typeface="Helvetica Neue"/>
              </a:rPr>
              <a:t>会引入额外的信号路径；因此，接收信号会包含能够表征人员存在对环境影响的信息和其传播环境的信息。</a:t>
            </a:r>
            <a:endParaRPr lang="en-US" altLang="zh-CN" b="0" i="0" dirty="0">
              <a:solidFill>
                <a:srgbClr val="333333"/>
              </a:solidFill>
              <a:effectLst/>
              <a:latin typeface="Helvetica Neue"/>
            </a:endParaRPr>
          </a:p>
          <a:p>
            <a:r>
              <a:rPr lang="zh-CN" altLang="en-US" b="0" i="0" dirty="0">
                <a:solidFill>
                  <a:srgbClr val="333333"/>
                </a:solidFill>
                <a:effectLst/>
                <a:latin typeface="Helvetica Neue"/>
              </a:rPr>
              <a:t>     将物理空间（包括环境中的物体和人员）视为一个无线信道，</a:t>
            </a:r>
            <a:r>
              <a:rPr lang="zh-CN" altLang="en-US" b="1" i="0" dirty="0">
                <a:solidFill>
                  <a:srgbClr val="FF0000"/>
                </a:solidFill>
                <a:effectLst/>
                <a:latin typeface="Helvetica Neue"/>
              </a:rPr>
              <a:t>信道状态信息（</a:t>
            </a:r>
            <a:r>
              <a:rPr lang="en-US" altLang="zh-CN" b="1" i="0" dirty="0">
                <a:solidFill>
                  <a:srgbClr val="FF0000"/>
                </a:solidFill>
                <a:effectLst/>
                <a:latin typeface="Helvetica Neue"/>
              </a:rPr>
              <a:t>CSI</a:t>
            </a:r>
            <a:r>
              <a:rPr lang="zh-CN" altLang="en-US" b="1" i="0" dirty="0">
                <a:solidFill>
                  <a:srgbClr val="FF0000"/>
                </a:solidFill>
                <a:effectLst/>
                <a:latin typeface="Helvetica Neue"/>
              </a:rPr>
              <a:t>）</a:t>
            </a:r>
            <a:r>
              <a:rPr lang="zh-CN" altLang="en-US" b="1" i="0" dirty="0">
                <a:solidFill>
                  <a:srgbClr val="333333"/>
                </a:solidFill>
                <a:effectLst/>
                <a:latin typeface="Helvetica Neue"/>
              </a:rPr>
              <a:t>就描述了无线信号通过该信道时所受到的影响</a:t>
            </a:r>
            <a:r>
              <a:rPr lang="zh-CN" altLang="en-US" b="0" i="0" dirty="0">
                <a:solidFill>
                  <a:srgbClr val="333333"/>
                </a:solidFill>
                <a:effectLst/>
                <a:latin typeface="Helvetica Neue"/>
              </a:rPr>
              <a:t>。</a:t>
            </a:r>
            <a:endParaRPr lang="zh-CN" altLang="en-US" dirty="0"/>
          </a:p>
        </p:txBody>
      </p:sp>
      <p:sp>
        <p:nvSpPr>
          <p:cNvPr id="27" name="文本框 26">
            <a:extLst>
              <a:ext uri="{FF2B5EF4-FFF2-40B4-BE49-F238E27FC236}">
                <a16:creationId xmlns:a16="http://schemas.microsoft.com/office/drawing/2014/main" id="{64B0F30C-987E-4EEC-B8FC-8B836B30B85E}"/>
              </a:ext>
            </a:extLst>
          </p:cNvPr>
          <p:cNvSpPr txBox="1"/>
          <p:nvPr/>
        </p:nvSpPr>
        <p:spPr>
          <a:xfrm>
            <a:off x="183560" y="1158024"/>
            <a:ext cx="6096000" cy="369332"/>
          </a:xfrm>
          <a:prstGeom prst="rect">
            <a:avLst/>
          </a:prstGeom>
          <a:noFill/>
        </p:spPr>
        <p:txBody>
          <a:bodyPr wrap="square">
            <a:spAutoFit/>
          </a:bodyPr>
          <a:lstStyle/>
          <a:p>
            <a:pPr algn="l"/>
            <a:r>
              <a:rPr lang="en-US" altLang="zh-CN" b="1" i="0" dirty="0" err="1">
                <a:solidFill>
                  <a:srgbClr val="000000"/>
                </a:solidFill>
                <a:effectLst/>
                <a:latin typeface="Helvetica Neue"/>
              </a:rPr>
              <a:t>WiFi</a:t>
            </a:r>
            <a:r>
              <a:rPr lang="zh-CN" altLang="en-US" b="1" i="0" dirty="0">
                <a:solidFill>
                  <a:srgbClr val="000000"/>
                </a:solidFill>
                <a:effectLst/>
                <a:latin typeface="Helvetica Neue"/>
              </a:rPr>
              <a:t>信号的室内传播特性</a:t>
            </a:r>
          </a:p>
        </p:txBody>
      </p:sp>
      <p:sp>
        <p:nvSpPr>
          <p:cNvPr id="28" name="文本框 27">
            <a:extLst>
              <a:ext uri="{FF2B5EF4-FFF2-40B4-BE49-F238E27FC236}">
                <a16:creationId xmlns:a16="http://schemas.microsoft.com/office/drawing/2014/main" id="{9074DA04-888D-4F79-AB6C-AFDAD775A846}"/>
              </a:ext>
            </a:extLst>
          </p:cNvPr>
          <p:cNvSpPr txBox="1"/>
          <p:nvPr/>
        </p:nvSpPr>
        <p:spPr>
          <a:xfrm>
            <a:off x="6392334" y="1158024"/>
            <a:ext cx="6096000" cy="369332"/>
          </a:xfrm>
          <a:prstGeom prst="rect">
            <a:avLst/>
          </a:prstGeom>
          <a:noFill/>
        </p:spPr>
        <p:txBody>
          <a:bodyPr wrap="square">
            <a:spAutoFit/>
          </a:bodyPr>
          <a:lstStyle/>
          <a:p>
            <a:pPr algn="l"/>
            <a:r>
              <a:rPr lang="en-US" altLang="zh-CN" b="1" i="0" dirty="0">
                <a:solidFill>
                  <a:srgbClr val="000000"/>
                </a:solidFill>
                <a:effectLst/>
                <a:latin typeface="Helvetica Neue"/>
              </a:rPr>
              <a:t>CSI</a:t>
            </a:r>
            <a:r>
              <a:rPr lang="zh-CN" altLang="en-US" b="1" i="0" dirty="0">
                <a:solidFill>
                  <a:srgbClr val="000000"/>
                </a:solidFill>
                <a:effectLst/>
                <a:latin typeface="Helvetica Neue"/>
              </a:rPr>
              <a:t>的数学模型与</a:t>
            </a:r>
            <a:r>
              <a:rPr lang="en-US" altLang="zh-CN" b="1" i="0" dirty="0">
                <a:solidFill>
                  <a:srgbClr val="000000"/>
                </a:solidFill>
                <a:effectLst/>
                <a:latin typeface="Helvetica Neue"/>
              </a:rPr>
              <a:t>OFDM</a:t>
            </a:r>
            <a:r>
              <a:rPr lang="zh-CN" altLang="en-US" b="1" i="0" dirty="0">
                <a:solidFill>
                  <a:srgbClr val="000000"/>
                </a:solidFill>
                <a:effectLst/>
                <a:latin typeface="Helvetica Neue"/>
              </a:rPr>
              <a:t>子载波特性</a:t>
            </a:r>
          </a:p>
        </p:txBody>
      </p:sp>
      <p:sp>
        <p:nvSpPr>
          <p:cNvPr id="29" name="文本框 28">
            <a:extLst>
              <a:ext uri="{FF2B5EF4-FFF2-40B4-BE49-F238E27FC236}">
                <a16:creationId xmlns:a16="http://schemas.microsoft.com/office/drawing/2014/main" id="{87CC2C81-4808-410C-B472-BF74CB22BADF}"/>
              </a:ext>
            </a:extLst>
          </p:cNvPr>
          <p:cNvSpPr txBox="1"/>
          <p:nvPr/>
        </p:nvSpPr>
        <p:spPr>
          <a:xfrm>
            <a:off x="6129866" y="4880388"/>
            <a:ext cx="6038694" cy="1477328"/>
          </a:xfrm>
          <a:prstGeom prst="rect">
            <a:avLst/>
          </a:prstGeom>
          <a:noFill/>
        </p:spPr>
        <p:txBody>
          <a:bodyPr wrap="square">
            <a:spAutoFit/>
          </a:bodyPr>
          <a:lstStyle/>
          <a:p>
            <a:r>
              <a:rPr lang="en-US" altLang="zh-CN" b="0" i="0" dirty="0">
                <a:solidFill>
                  <a:srgbClr val="333333"/>
                </a:solidFill>
                <a:effectLst/>
                <a:latin typeface="Helvetica Neue"/>
              </a:rPr>
              <a:t>      </a:t>
            </a:r>
            <a:r>
              <a:rPr lang="en-US" altLang="zh-CN" b="0" i="0" dirty="0" err="1">
                <a:solidFill>
                  <a:srgbClr val="333333"/>
                </a:solidFill>
                <a:effectLst/>
                <a:latin typeface="Helvetica Neue"/>
              </a:rPr>
              <a:t>WiFi</a:t>
            </a:r>
            <a:r>
              <a:rPr lang="zh-CN" altLang="en-US" b="0" i="0" dirty="0">
                <a:solidFill>
                  <a:srgbClr val="333333"/>
                </a:solidFill>
                <a:effectLst/>
                <a:latin typeface="Helvetica Neue"/>
              </a:rPr>
              <a:t>标准在物理层采用</a:t>
            </a:r>
            <a:r>
              <a:rPr lang="zh-CN" altLang="en-US" b="1" i="0" dirty="0">
                <a:solidFill>
                  <a:srgbClr val="FF0000"/>
                </a:solidFill>
                <a:effectLst/>
                <a:latin typeface="Helvetica Neue"/>
              </a:rPr>
              <a:t>正交频分复用（</a:t>
            </a:r>
            <a:r>
              <a:rPr lang="en-US" altLang="zh-CN" b="1" i="0" dirty="0">
                <a:solidFill>
                  <a:srgbClr val="FF0000"/>
                </a:solidFill>
                <a:effectLst/>
                <a:latin typeface="Helvetica Neue"/>
              </a:rPr>
              <a:t>OFDM</a:t>
            </a:r>
            <a:r>
              <a:rPr lang="zh-CN" altLang="en-US" b="1" i="0" dirty="0">
                <a:solidFill>
                  <a:srgbClr val="FF0000"/>
                </a:solidFill>
                <a:effectLst/>
                <a:latin typeface="Helvetica Neue"/>
              </a:rPr>
              <a:t>）</a:t>
            </a:r>
            <a:r>
              <a:rPr lang="zh-CN" altLang="en-US" b="0" i="0" dirty="0">
                <a:solidFill>
                  <a:srgbClr val="333333"/>
                </a:solidFill>
                <a:effectLst/>
                <a:latin typeface="Helvetica Neue"/>
              </a:rPr>
              <a:t>技术，将其频谱带宽（</a:t>
            </a:r>
            <a:r>
              <a:rPr lang="en-US" altLang="zh-CN" b="0" i="0" dirty="0">
                <a:solidFill>
                  <a:srgbClr val="333333"/>
                </a:solidFill>
                <a:effectLst/>
                <a:latin typeface="Helvetica Neue"/>
              </a:rPr>
              <a:t>20 MHz</a:t>
            </a:r>
            <a:r>
              <a:rPr lang="zh-CN" altLang="en-US" b="0" i="0" dirty="0">
                <a:solidFill>
                  <a:srgbClr val="333333"/>
                </a:solidFill>
                <a:effectLst/>
                <a:latin typeface="Helvetica Neue"/>
              </a:rPr>
              <a:t>）划分为</a:t>
            </a:r>
            <a:r>
              <a:rPr lang="en-US" altLang="zh-CN" b="1" i="0" dirty="0">
                <a:solidFill>
                  <a:srgbClr val="333333"/>
                </a:solidFill>
                <a:effectLst/>
                <a:latin typeface="Helvetica Neue"/>
              </a:rPr>
              <a:t>56</a:t>
            </a:r>
            <a:r>
              <a:rPr lang="zh-CN" altLang="en-US" b="1" i="0" dirty="0">
                <a:solidFill>
                  <a:srgbClr val="333333"/>
                </a:solidFill>
                <a:effectLst/>
                <a:latin typeface="Helvetica Neue"/>
              </a:rPr>
              <a:t>个子频带</a:t>
            </a:r>
            <a:r>
              <a:rPr lang="en-US" altLang="zh-CN" b="1" dirty="0">
                <a:solidFill>
                  <a:srgbClr val="333333"/>
                </a:solidFill>
                <a:latin typeface="Helvetica Neue"/>
              </a:rPr>
              <a:t> / </a:t>
            </a:r>
            <a:r>
              <a:rPr lang="zh-CN" altLang="en-US" b="1" i="0" dirty="0">
                <a:solidFill>
                  <a:srgbClr val="333333"/>
                </a:solidFill>
                <a:effectLst/>
                <a:latin typeface="Helvetica Neue"/>
              </a:rPr>
              <a:t>波</a:t>
            </a:r>
            <a:r>
              <a:rPr lang="zh-CN" altLang="en-US" b="0" i="0" dirty="0">
                <a:solidFill>
                  <a:srgbClr val="333333"/>
                </a:solidFill>
                <a:effectLst/>
                <a:latin typeface="Helvetica Neue"/>
              </a:rPr>
              <a:t>，并通过这些子载波并行传输数字比特。</a:t>
            </a:r>
            <a:endParaRPr lang="en-US" altLang="zh-CN" b="0" i="0" dirty="0">
              <a:solidFill>
                <a:srgbClr val="333333"/>
              </a:solidFill>
              <a:effectLst/>
              <a:latin typeface="Helvetica Neue"/>
            </a:endParaRPr>
          </a:p>
          <a:p>
            <a:r>
              <a:rPr lang="en-US" altLang="zh-CN" b="0" i="0" dirty="0">
                <a:solidFill>
                  <a:srgbClr val="333333"/>
                </a:solidFill>
                <a:effectLst/>
                <a:latin typeface="Helvetica Neue"/>
              </a:rPr>
              <a:t>      CSI</a:t>
            </a:r>
            <a:r>
              <a:rPr lang="zh-CN" altLang="en-US" b="0" i="0" dirty="0">
                <a:solidFill>
                  <a:srgbClr val="333333"/>
                </a:solidFill>
                <a:effectLst/>
                <a:latin typeface="Helvetica Neue"/>
              </a:rPr>
              <a:t>包含一组信道测量值，能够描述每个</a:t>
            </a:r>
            <a:r>
              <a:rPr lang="en-US" altLang="zh-CN" b="0" i="0" dirty="0">
                <a:solidFill>
                  <a:srgbClr val="333333"/>
                </a:solidFill>
                <a:effectLst/>
                <a:latin typeface="Helvetica Neue"/>
              </a:rPr>
              <a:t>OFDM</a:t>
            </a:r>
            <a:r>
              <a:rPr lang="zh-CN" altLang="en-US" b="0" i="0" dirty="0">
                <a:solidFill>
                  <a:srgbClr val="333333"/>
                </a:solidFill>
                <a:effectLst/>
                <a:latin typeface="Helvetica Neue"/>
              </a:rPr>
              <a:t>子载波的</a:t>
            </a:r>
            <a:r>
              <a:rPr lang="zh-CN" altLang="en-US" b="1" i="0" dirty="0">
                <a:solidFill>
                  <a:srgbClr val="FF0000"/>
                </a:solidFill>
                <a:effectLst/>
                <a:latin typeface="Helvetica Neue"/>
              </a:rPr>
              <a:t>幅度和相位</a:t>
            </a:r>
            <a:r>
              <a:rPr lang="zh-CN" altLang="en-US" b="0" i="0" dirty="0">
                <a:solidFill>
                  <a:srgbClr val="333333"/>
                </a:solidFill>
                <a:effectLst/>
                <a:latin typeface="Helvetica Neue"/>
              </a:rPr>
              <a:t>。单个子载波的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可表示为：</a:t>
            </a:r>
            <a:endParaRPr lang="en-US" altLang="zh-CN" b="0" i="0" dirty="0">
              <a:solidFill>
                <a:srgbClr val="333333"/>
              </a:solidFill>
              <a:effectLst/>
              <a:latin typeface="Helvetica Neue"/>
            </a:endParaRPr>
          </a:p>
        </p:txBody>
      </p:sp>
      <p:cxnSp>
        <p:nvCxnSpPr>
          <p:cNvPr id="3" name="直接连接符 2">
            <a:extLst>
              <a:ext uri="{FF2B5EF4-FFF2-40B4-BE49-F238E27FC236}">
                <a16:creationId xmlns:a16="http://schemas.microsoft.com/office/drawing/2014/main" id="{F15FFCBB-C5D7-4F05-A7F8-38C4395511CD}"/>
              </a:ext>
            </a:extLst>
          </p:cNvPr>
          <p:cNvCxnSpPr>
            <a:cxnSpLocks/>
          </p:cNvCxnSpPr>
          <p:nvPr/>
        </p:nvCxnSpPr>
        <p:spPr>
          <a:xfrm flipH="1" flipV="1">
            <a:off x="6050416" y="1143000"/>
            <a:ext cx="11720" cy="5562600"/>
          </a:xfrm>
          <a:prstGeom prst="line">
            <a:avLst/>
          </a:prstGeom>
          <a:ln w="38100">
            <a:solidFill>
              <a:schemeClr val="accent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32" name="文本框 31">
            <a:extLst>
              <a:ext uri="{FF2B5EF4-FFF2-40B4-BE49-F238E27FC236}">
                <a16:creationId xmlns:a16="http://schemas.microsoft.com/office/drawing/2014/main" id="{3A3E3AE4-EB39-4BA2-AF19-8BC6C7B8BC41}"/>
              </a:ext>
            </a:extLst>
          </p:cNvPr>
          <p:cNvSpPr txBox="1"/>
          <p:nvPr/>
        </p:nvSpPr>
        <p:spPr>
          <a:xfrm>
            <a:off x="8413736" y="1495900"/>
            <a:ext cx="1512358" cy="461665"/>
          </a:xfrm>
          <a:prstGeom prst="rect">
            <a:avLst/>
          </a:prstGeom>
          <a:noFill/>
        </p:spPr>
        <p:txBody>
          <a:bodyPr wrap="square">
            <a:spAutoFit/>
          </a:bodyPr>
          <a:lstStyle/>
          <a:p>
            <a:r>
              <a:rPr lang="en-US" altLang="zh-CN" sz="2400" b="0" i="1" dirty="0">
                <a:solidFill>
                  <a:srgbClr val="333333"/>
                </a:solidFill>
                <a:effectLst/>
                <a:latin typeface="KaTeX_Math"/>
              </a:rPr>
              <a:t>Y</a:t>
            </a:r>
            <a:r>
              <a:rPr lang="en-US" altLang="zh-CN" sz="2400" b="0" dirty="0">
                <a:solidFill>
                  <a:srgbClr val="333333"/>
                </a:solidFill>
                <a:effectLst/>
                <a:latin typeface="KaTeX_Main"/>
              </a:rPr>
              <a:t>=</a:t>
            </a:r>
            <a:r>
              <a:rPr lang="en-US" altLang="zh-CN" sz="2400" b="0" i="1" dirty="0">
                <a:solidFill>
                  <a:srgbClr val="333333"/>
                </a:solidFill>
                <a:effectLst/>
                <a:latin typeface="KaTeX_Math"/>
              </a:rPr>
              <a:t>HX</a:t>
            </a:r>
            <a:r>
              <a:rPr lang="en-US" altLang="zh-CN" sz="2400" b="0" dirty="0">
                <a:solidFill>
                  <a:srgbClr val="333333"/>
                </a:solidFill>
                <a:effectLst/>
                <a:latin typeface="KaTeX_Main"/>
              </a:rPr>
              <a:t>+</a:t>
            </a:r>
            <a:r>
              <a:rPr lang="en-US" altLang="zh-CN" sz="2400" b="0" i="1" dirty="0">
                <a:solidFill>
                  <a:srgbClr val="333333"/>
                </a:solidFill>
                <a:effectLst/>
                <a:latin typeface="KaTeX_Math"/>
              </a:rPr>
              <a:t>N</a:t>
            </a:r>
            <a:endParaRPr lang="zh-CN" altLang="en-US" sz="2400" dirty="0"/>
          </a:p>
        </p:txBody>
      </p:sp>
      <p:sp>
        <p:nvSpPr>
          <p:cNvPr id="35" name="文本框 34">
            <a:extLst>
              <a:ext uri="{FF2B5EF4-FFF2-40B4-BE49-F238E27FC236}">
                <a16:creationId xmlns:a16="http://schemas.microsoft.com/office/drawing/2014/main" id="{1BD66C6F-A37A-4D03-A5E9-D4757C8B72BB}"/>
              </a:ext>
            </a:extLst>
          </p:cNvPr>
          <p:cNvSpPr txBox="1"/>
          <p:nvPr/>
        </p:nvSpPr>
        <p:spPr>
          <a:xfrm>
            <a:off x="6499194" y="1564783"/>
            <a:ext cx="1313394" cy="369332"/>
          </a:xfrm>
          <a:prstGeom prst="rect">
            <a:avLst/>
          </a:prstGeom>
          <a:noFill/>
        </p:spPr>
        <p:txBody>
          <a:bodyPr wrap="square">
            <a:spAutoFit/>
          </a:bodyPr>
          <a:lstStyle/>
          <a:p>
            <a:r>
              <a:rPr lang="zh-CN" altLang="en-US" b="0" i="0" dirty="0">
                <a:solidFill>
                  <a:srgbClr val="333333"/>
                </a:solidFill>
                <a:effectLst/>
                <a:latin typeface="Helvetica Neue"/>
              </a:rPr>
              <a:t>信道建模</a:t>
            </a:r>
            <a:r>
              <a:rPr lang="zh-CN" altLang="en-US" dirty="0">
                <a:solidFill>
                  <a:srgbClr val="333333"/>
                </a:solidFill>
                <a:latin typeface="Helvetica Neue"/>
              </a:rPr>
              <a:t>：</a:t>
            </a:r>
            <a:endParaRPr lang="zh-CN" altLang="en-US" dirty="0"/>
          </a:p>
        </p:txBody>
      </p:sp>
      <p:sp>
        <p:nvSpPr>
          <p:cNvPr id="37" name="文本框 36">
            <a:extLst>
              <a:ext uri="{FF2B5EF4-FFF2-40B4-BE49-F238E27FC236}">
                <a16:creationId xmlns:a16="http://schemas.microsoft.com/office/drawing/2014/main" id="{291456A7-BB1B-4497-B8FB-C826DC0CB309}"/>
              </a:ext>
            </a:extLst>
          </p:cNvPr>
          <p:cNvSpPr txBox="1"/>
          <p:nvPr/>
        </p:nvSpPr>
        <p:spPr>
          <a:xfrm>
            <a:off x="6499194" y="2104125"/>
            <a:ext cx="5476364" cy="523220"/>
          </a:xfrm>
          <a:prstGeom prst="rect">
            <a:avLst/>
          </a:prstGeom>
          <a:noFill/>
        </p:spPr>
        <p:txBody>
          <a:bodyPr wrap="square">
            <a:spAutoFit/>
          </a:bodyPr>
          <a:lstStyle/>
          <a:p>
            <a:r>
              <a:rPr lang="zh-CN" altLang="en-US" sz="1400" b="0" i="1" dirty="0">
                <a:solidFill>
                  <a:srgbClr val="333333"/>
                </a:solidFill>
                <a:effectLst/>
                <a:latin typeface="Helvetica Neue"/>
              </a:rPr>
              <a:t>其中</a:t>
            </a:r>
            <a:r>
              <a:rPr lang="en-US" altLang="zh-CN" sz="1400" b="0" i="1" dirty="0">
                <a:solidFill>
                  <a:srgbClr val="333333"/>
                </a:solidFill>
                <a:effectLst/>
                <a:latin typeface="KaTeX_Main"/>
              </a:rPr>
              <a:t>Y</a:t>
            </a:r>
            <a:r>
              <a:rPr lang="zh-CN" altLang="en-US" sz="1400" b="0" i="1" dirty="0">
                <a:solidFill>
                  <a:srgbClr val="333333"/>
                </a:solidFill>
                <a:effectLst/>
                <a:latin typeface="Helvetica Neue"/>
              </a:rPr>
              <a:t>和</a:t>
            </a:r>
            <a:r>
              <a:rPr lang="en-US" altLang="zh-CN" sz="1400" b="0" i="1" dirty="0">
                <a:solidFill>
                  <a:srgbClr val="333333"/>
                </a:solidFill>
                <a:effectLst/>
                <a:latin typeface="KaTeX_Main"/>
              </a:rPr>
              <a:t>X</a:t>
            </a:r>
            <a:r>
              <a:rPr lang="zh-CN" altLang="en-US" sz="1400" b="0" i="1" dirty="0">
                <a:solidFill>
                  <a:srgbClr val="333333"/>
                </a:solidFill>
                <a:effectLst/>
                <a:latin typeface="Helvetica Neue"/>
              </a:rPr>
              <a:t>分别为接收信号向量和发射信号向量，</a:t>
            </a:r>
            <a:r>
              <a:rPr lang="en-US" altLang="zh-CN" sz="1400" b="0" i="1" dirty="0">
                <a:solidFill>
                  <a:srgbClr val="333333"/>
                </a:solidFill>
                <a:effectLst/>
                <a:latin typeface="KaTeX_Main"/>
              </a:rPr>
              <a:t>N</a:t>
            </a:r>
            <a:r>
              <a:rPr lang="zh-CN" altLang="en-US" sz="1400" b="0" i="1" dirty="0">
                <a:solidFill>
                  <a:srgbClr val="333333"/>
                </a:solidFill>
                <a:effectLst/>
                <a:latin typeface="Helvetica Neue"/>
              </a:rPr>
              <a:t>表示信道噪声向量，</a:t>
            </a:r>
            <a:r>
              <a:rPr lang="en-US" altLang="zh-CN" sz="1400" b="0" i="1" dirty="0">
                <a:solidFill>
                  <a:srgbClr val="333333"/>
                </a:solidFill>
                <a:effectLst/>
                <a:latin typeface="KaTeX_Math"/>
              </a:rPr>
              <a:t>H</a:t>
            </a:r>
            <a:r>
              <a:rPr lang="zh-CN" altLang="en-US" sz="1400" b="0" i="1" dirty="0">
                <a:solidFill>
                  <a:srgbClr val="333333"/>
                </a:solidFill>
                <a:effectLst/>
                <a:latin typeface="Helvetica Neue"/>
              </a:rPr>
              <a:t>为信道矩阵（以</a:t>
            </a:r>
            <a:r>
              <a:rPr lang="en-US" altLang="zh-CN" sz="1400" b="0" i="1" dirty="0">
                <a:solidFill>
                  <a:srgbClr val="333333"/>
                </a:solidFill>
                <a:effectLst/>
                <a:latin typeface="Helvetica Neue"/>
              </a:rPr>
              <a:t>CSI</a:t>
            </a:r>
            <a:r>
              <a:rPr lang="zh-CN" altLang="en-US" sz="1400" b="0" i="1" dirty="0">
                <a:solidFill>
                  <a:srgbClr val="333333"/>
                </a:solidFill>
                <a:effectLst/>
                <a:latin typeface="Helvetica Neue"/>
              </a:rPr>
              <a:t>的形式呈现）</a:t>
            </a:r>
            <a:endParaRPr lang="zh-CN" altLang="en-US" sz="1400" i="1" dirty="0"/>
          </a:p>
        </p:txBody>
      </p:sp>
      <p:pic>
        <p:nvPicPr>
          <p:cNvPr id="39" name="图片 38">
            <a:extLst>
              <a:ext uri="{FF2B5EF4-FFF2-40B4-BE49-F238E27FC236}">
                <a16:creationId xmlns:a16="http://schemas.microsoft.com/office/drawing/2014/main" id="{CA064F97-1D48-4DEA-84E7-874543CA0F3D}"/>
              </a:ext>
            </a:extLst>
          </p:cNvPr>
          <p:cNvPicPr>
            <a:picLocks noChangeAspect="1"/>
          </p:cNvPicPr>
          <p:nvPr/>
        </p:nvPicPr>
        <p:blipFill>
          <a:blip r:embed="rId7"/>
          <a:stretch>
            <a:fillRect/>
          </a:stretch>
        </p:blipFill>
        <p:spPr>
          <a:xfrm>
            <a:off x="7015614" y="2744902"/>
            <a:ext cx="4400706" cy="2108095"/>
          </a:xfrm>
          <a:prstGeom prst="rect">
            <a:avLst/>
          </a:prstGeom>
        </p:spPr>
      </p:pic>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67EDFC05-F622-4A23-AC96-E8C3B0FEABE5}"/>
                  </a:ext>
                </a:extLst>
              </p:cNvPr>
              <p:cNvSpPr txBox="1"/>
              <p:nvPr/>
            </p:nvSpPr>
            <p:spPr>
              <a:xfrm>
                <a:off x="6909580" y="6428286"/>
                <a:ext cx="1094595" cy="288990"/>
              </a:xfrm>
              <a:prstGeom prst="rect">
                <a:avLst/>
              </a:prstGeom>
              <a:noFill/>
            </p:spPr>
            <p:txBody>
              <a:bodyPr wrap="none" lIns="0" tIns="0" rIns="0" bIns="0" rtlCol="0">
                <a:spAutoFit/>
              </a:bodyPr>
              <a:lstStyle/>
              <a:p>
                <a14:m>
                  <m:oMath xmlns:m="http://schemas.openxmlformats.org/officeDocument/2006/math">
                    <m:r>
                      <a:rPr lang="en-US" altLang="zh-CN" b="0" i="1" smtClean="0">
                        <a:latin typeface="Cambria Math" panose="02040503050406030204" pitchFamily="18" charset="0"/>
                      </a:rPr>
                      <m:t>h</m:t>
                    </m:r>
                    <m:r>
                      <a:rPr lang="en-US" altLang="zh-CN" i="1" smtClean="0">
                        <a:latin typeface="Cambria Math" panose="02040503050406030204" pitchFamily="18" charset="0"/>
                      </a:rPr>
                      <m:t>=</m:t>
                    </m:r>
                    <m:d>
                      <m:dPr>
                        <m:begChr m:val="|"/>
                        <m:endChr m:val="|"/>
                        <m:ctrlPr>
                          <a:rPr lang="en-US" altLang="zh-CN" i="1" smtClean="0">
                            <a:latin typeface="Cambria Math" panose="02040503050406030204" pitchFamily="18" charset="0"/>
                          </a:rPr>
                        </m:ctrlPr>
                      </m:dPr>
                      <m:e>
                        <m:r>
                          <a:rPr lang="en-US" altLang="zh-CN" b="0" i="1" smtClean="0">
                            <a:latin typeface="Cambria Math" panose="02040503050406030204" pitchFamily="18" charset="0"/>
                          </a:rPr>
                          <m:t>h</m:t>
                        </m:r>
                      </m:e>
                    </m:d>
                    <m:sSup>
                      <m:sSupPr>
                        <m:ctrlPr>
                          <a:rPr lang="en-US" altLang="zh-CN"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𝑗</m:t>
                        </m:r>
                        <m:r>
                          <a:rPr lang="zh-CN" altLang="en-US" b="0" i="1" smtClean="0">
                            <a:latin typeface="Cambria Math" panose="02040503050406030204" pitchFamily="18" charset="0"/>
                          </a:rPr>
                          <m:t>𝜗</m:t>
                        </m:r>
                      </m:sup>
                    </m:sSup>
                  </m:oMath>
                </a14:m>
                <a:r>
                  <a:rPr lang="en-US" altLang="zh-CN" i="1" dirty="0">
                    <a:solidFill>
                      <a:srgbClr val="333333"/>
                    </a:solidFill>
                    <a:latin typeface="KaTeX_Math"/>
                  </a:rPr>
                  <a:t> </a:t>
                </a:r>
                <a:endParaRPr lang="zh-CN" altLang="en-US" dirty="0"/>
              </a:p>
            </p:txBody>
          </p:sp>
        </mc:Choice>
        <mc:Fallback xmlns="">
          <p:sp>
            <p:nvSpPr>
              <p:cNvPr id="40" name="文本框 39">
                <a:extLst>
                  <a:ext uri="{FF2B5EF4-FFF2-40B4-BE49-F238E27FC236}">
                    <a16:creationId xmlns:a16="http://schemas.microsoft.com/office/drawing/2014/main" id="{67EDFC05-F622-4A23-AC96-E8C3B0FEABE5}"/>
                  </a:ext>
                </a:extLst>
              </p:cNvPr>
              <p:cNvSpPr txBox="1">
                <a:spLocks noRot="1" noChangeAspect="1" noMove="1" noResize="1" noEditPoints="1" noAdjustHandles="1" noChangeArrowheads="1" noChangeShapeType="1" noTextEdit="1"/>
              </p:cNvSpPr>
              <p:nvPr/>
            </p:nvSpPr>
            <p:spPr>
              <a:xfrm>
                <a:off x="6909580" y="6428286"/>
                <a:ext cx="1094595" cy="288990"/>
              </a:xfrm>
              <a:prstGeom prst="rect">
                <a:avLst/>
              </a:prstGeom>
              <a:blipFill>
                <a:blip r:embed="rId8"/>
                <a:stretch>
                  <a:fillRect l="-7778" t="-8511" b="-8511"/>
                </a:stretch>
              </a:blipFill>
            </p:spPr>
            <p:txBody>
              <a:bodyPr/>
              <a:lstStyle/>
              <a:p>
                <a:r>
                  <a:rPr lang="zh-CN" altLang="en-US">
                    <a:noFill/>
                  </a:rPr>
                  <a:t> </a:t>
                </a:r>
              </a:p>
            </p:txBody>
          </p:sp>
        </mc:Fallback>
      </mc:AlternateContent>
      <p:sp>
        <p:nvSpPr>
          <p:cNvPr id="42" name="文本框 41">
            <a:extLst>
              <a:ext uri="{FF2B5EF4-FFF2-40B4-BE49-F238E27FC236}">
                <a16:creationId xmlns:a16="http://schemas.microsoft.com/office/drawing/2014/main" id="{B9D0759A-0E03-49E9-A5BB-E1374F0AEE6A}"/>
              </a:ext>
            </a:extLst>
          </p:cNvPr>
          <p:cNvSpPr txBox="1"/>
          <p:nvPr/>
        </p:nvSpPr>
        <p:spPr>
          <a:xfrm>
            <a:off x="8181083" y="6372217"/>
            <a:ext cx="3316650" cy="369332"/>
          </a:xfrm>
          <a:prstGeom prst="rect">
            <a:avLst/>
          </a:prstGeom>
          <a:noFill/>
        </p:spPr>
        <p:txBody>
          <a:bodyPr wrap="square">
            <a:spAutoFit/>
          </a:bodyPr>
          <a:lstStyle/>
          <a:p>
            <a:r>
              <a:rPr lang="zh-CN" altLang="en-US" b="0" i="0" dirty="0">
                <a:solidFill>
                  <a:srgbClr val="333333"/>
                </a:solidFill>
                <a:effectLst/>
                <a:latin typeface="Helvetica Neue"/>
              </a:rPr>
              <a:t>其中</a:t>
            </a:r>
            <a:r>
              <a:rPr lang="en-US" altLang="zh-CN" b="0" dirty="0">
                <a:solidFill>
                  <a:srgbClr val="333333"/>
                </a:solidFill>
                <a:effectLst/>
                <a:latin typeface="KaTeX_Main"/>
              </a:rPr>
              <a:t>∣</a:t>
            </a:r>
            <a:r>
              <a:rPr lang="en-US" altLang="zh-CN" b="0" i="1" dirty="0">
                <a:solidFill>
                  <a:srgbClr val="333333"/>
                </a:solidFill>
                <a:effectLst/>
                <a:latin typeface="KaTeX_Math"/>
              </a:rPr>
              <a:t>h</a:t>
            </a:r>
            <a:r>
              <a:rPr lang="zh-CN" altLang="en-US" b="0" dirty="0">
                <a:solidFill>
                  <a:srgbClr val="333333"/>
                </a:solidFill>
                <a:effectLst/>
                <a:latin typeface="KaTeX_Main"/>
              </a:rPr>
              <a:t>∣</a:t>
            </a:r>
            <a:r>
              <a:rPr lang="zh-CN" altLang="en-US" b="0" i="0" dirty="0">
                <a:solidFill>
                  <a:srgbClr val="333333"/>
                </a:solidFill>
                <a:effectLst/>
                <a:latin typeface="Helvetica Neue"/>
              </a:rPr>
              <a:t>和</a:t>
            </a:r>
            <a:r>
              <a:rPr lang="en-US" altLang="zh-CN" b="0" i="1" dirty="0">
                <a:solidFill>
                  <a:srgbClr val="333333"/>
                </a:solidFill>
                <a:effectLst/>
                <a:latin typeface="KaTeX_Math"/>
              </a:rPr>
              <a:t>θ</a:t>
            </a:r>
            <a:r>
              <a:rPr lang="zh-CN" altLang="en-US" b="0" i="0" dirty="0">
                <a:solidFill>
                  <a:srgbClr val="333333"/>
                </a:solidFill>
                <a:effectLst/>
                <a:latin typeface="Helvetica Neue"/>
              </a:rPr>
              <a:t>分别为幅度和相位</a:t>
            </a:r>
            <a:endParaRPr lang="zh-CN" altLang="en-US" dirty="0"/>
          </a:p>
        </p:txBody>
      </p:sp>
    </p:spTree>
    <p:custDataLst>
      <p:tags r:id="rId1"/>
    </p:custDataLst>
    <p:extLst>
      <p:ext uri="{BB962C8B-B14F-4D97-AF65-F5344CB8AC3E}">
        <p14:creationId xmlns:p14="http://schemas.microsoft.com/office/powerpoint/2010/main" val="611435694"/>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20B28935-36A0-4674-A2CD-9099504F5890}"/>
              </a:ext>
            </a:extLst>
          </p:cNvPr>
          <p:cNvSpPr txBox="1"/>
          <p:nvPr/>
        </p:nvSpPr>
        <p:spPr>
          <a:xfrm>
            <a:off x="177443" y="1201360"/>
            <a:ext cx="6333066" cy="369332"/>
          </a:xfrm>
          <a:prstGeom prst="rect">
            <a:avLst/>
          </a:prstGeom>
          <a:noFill/>
        </p:spPr>
        <p:txBody>
          <a:bodyPr wrap="square">
            <a:spAutoFit/>
          </a:bodyPr>
          <a:lstStyle/>
          <a:p>
            <a:pPr algn="l"/>
            <a:r>
              <a:rPr lang="zh-CN" altLang="en-US" b="1" i="0" dirty="0">
                <a:solidFill>
                  <a:srgbClr val="000000"/>
                </a:solidFill>
                <a:effectLst/>
                <a:latin typeface="Helvetica Neue"/>
              </a:rPr>
              <a:t>人体活动对</a:t>
            </a:r>
            <a:r>
              <a:rPr lang="en-US" altLang="zh-CN" b="1" i="0" dirty="0">
                <a:solidFill>
                  <a:srgbClr val="000000"/>
                </a:solidFill>
                <a:effectLst/>
                <a:latin typeface="Helvetica Neue"/>
              </a:rPr>
              <a:t>CSI</a:t>
            </a:r>
            <a:r>
              <a:rPr lang="zh-CN" altLang="en-US" b="1" i="0" dirty="0">
                <a:solidFill>
                  <a:srgbClr val="000000"/>
                </a:solidFill>
                <a:effectLst/>
                <a:latin typeface="Helvetica Neue"/>
              </a:rPr>
              <a:t>的影响</a:t>
            </a:r>
          </a:p>
        </p:txBody>
      </p:sp>
      <p:sp>
        <p:nvSpPr>
          <p:cNvPr id="8" name="文本框 7">
            <a:extLst>
              <a:ext uri="{FF2B5EF4-FFF2-40B4-BE49-F238E27FC236}">
                <a16:creationId xmlns:a16="http://schemas.microsoft.com/office/drawing/2014/main" id="{7D03FC45-E1FA-4403-9A44-C613348BCDB9}"/>
              </a:ext>
            </a:extLst>
          </p:cNvPr>
          <p:cNvSpPr txBox="1"/>
          <p:nvPr/>
        </p:nvSpPr>
        <p:spPr>
          <a:xfrm>
            <a:off x="177443" y="4316987"/>
            <a:ext cx="2078567" cy="923330"/>
          </a:xfrm>
          <a:prstGeom prst="rect">
            <a:avLst/>
          </a:prstGeom>
          <a:noFill/>
        </p:spPr>
        <p:txBody>
          <a:bodyPr wrap="square">
            <a:spAutoFit/>
          </a:bodyPr>
          <a:lstStyle/>
          <a:p>
            <a:r>
              <a:rPr lang="zh-CN" altLang="en-US" b="0" i="0" dirty="0">
                <a:solidFill>
                  <a:srgbClr val="333333"/>
                </a:solidFill>
                <a:effectLst/>
                <a:latin typeface="Helvetica Neue"/>
              </a:rPr>
              <a:t>如果环境中没有人员或人员无活动，</a:t>
            </a:r>
            <a:r>
              <a:rPr lang="zh-CN" altLang="en-US" b="1" i="0" dirty="0">
                <a:solidFill>
                  <a:srgbClr val="333333"/>
                </a:solidFill>
                <a:effectLst/>
                <a:latin typeface="Helvetica Neue"/>
              </a:rPr>
              <a:t>信道会相对稳定</a:t>
            </a:r>
            <a:r>
              <a:rPr lang="zh-CN" altLang="en-US" b="0" i="0" dirty="0">
                <a:solidFill>
                  <a:srgbClr val="333333"/>
                </a:solidFill>
                <a:effectLst/>
                <a:latin typeface="Helvetica Neue"/>
              </a:rPr>
              <a:t>。</a:t>
            </a:r>
            <a:endParaRPr lang="zh-CN" altLang="en-US" dirty="0"/>
          </a:p>
        </p:txBody>
      </p:sp>
      <p:sp>
        <p:nvSpPr>
          <p:cNvPr id="9" name="文本框 8">
            <a:extLst>
              <a:ext uri="{FF2B5EF4-FFF2-40B4-BE49-F238E27FC236}">
                <a16:creationId xmlns:a16="http://schemas.microsoft.com/office/drawing/2014/main" id="{DD7FE37C-2D30-4143-BCD5-ECC2C04E23C6}"/>
              </a:ext>
            </a:extLst>
          </p:cNvPr>
          <p:cNvSpPr txBox="1"/>
          <p:nvPr/>
        </p:nvSpPr>
        <p:spPr>
          <a:xfrm>
            <a:off x="6510509" y="1201360"/>
            <a:ext cx="6527800" cy="369332"/>
          </a:xfrm>
          <a:prstGeom prst="rect">
            <a:avLst/>
          </a:prstGeom>
          <a:noFill/>
        </p:spPr>
        <p:txBody>
          <a:bodyPr wrap="square">
            <a:spAutoFit/>
          </a:bodyPr>
          <a:lstStyle/>
          <a:p>
            <a:pPr algn="l"/>
            <a:r>
              <a:rPr lang="zh-CN" altLang="en-US" b="1" i="0" dirty="0">
                <a:solidFill>
                  <a:srgbClr val="000000"/>
                </a:solidFill>
                <a:effectLst/>
                <a:latin typeface="Helvetica Neue"/>
              </a:rPr>
              <a:t>目标跌倒活动类型</a:t>
            </a:r>
          </a:p>
        </p:txBody>
      </p:sp>
      <p:sp>
        <p:nvSpPr>
          <p:cNvPr id="10" name="文本框 9">
            <a:extLst>
              <a:ext uri="{FF2B5EF4-FFF2-40B4-BE49-F238E27FC236}">
                <a16:creationId xmlns:a16="http://schemas.microsoft.com/office/drawing/2014/main" id="{D71FD6C3-23CF-46F3-92CA-2248FFA066A0}"/>
              </a:ext>
            </a:extLst>
          </p:cNvPr>
          <p:cNvSpPr txBox="1"/>
          <p:nvPr/>
        </p:nvSpPr>
        <p:spPr>
          <a:xfrm>
            <a:off x="6253057" y="1938871"/>
            <a:ext cx="5303944" cy="646331"/>
          </a:xfrm>
          <a:prstGeom prst="rect">
            <a:avLst/>
          </a:prstGeom>
          <a:noFill/>
        </p:spPr>
        <p:txBody>
          <a:bodyPr wrap="square">
            <a:spAutoFit/>
          </a:bodyPr>
          <a:lstStyle/>
          <a:p>
            <a:r>
              <a:rPr lang="zh-CN" altLang="en-US" b="0" i="0" dirty="0">
                <a:solidFill>
                  <a:srgbClr val="333333"/>
                </a:solidFill>
                <a:effectLst/>
                <a:latin typeface="Helvetica Neue"/>
              </a:rPr>
              <a:t>老年人跌倒的方式多种多样，研究旨在检测与</a:t>
            </a:r>
            <a:r>
              <a:rPr lang="zh-CN" altLang="en-US" b="0" i="0" dirty="0">
                <a:solidFill>
                  <a:srgbClr val="FF0000"/>
                </a:solidFill>
                <a:effectLst/>
                <a:latin typeface="Helvetica Neue"/>
              </a:rPr>
              <a:t>两种过渡活动</a:t>
            </a:r>
            <a:r>
              <a:rPr lang="zh-CN" altLang="en-US" b="0" i="0" dirty="0">
                <a:solidFill>
                  <a:srgbClr val="333333"/>
                </a:solidFill>
                <a:effectLst/>
                <a:latin typeface="Helvetica Neue"/>
              </a:rPr>
              <a:t>相关的跌倒情况：</a:t>
            </a:r>
            <a:endParaRPr lang="zh-CN" altLang="en-US" b="1" dirty="0"/>
          </a:p>
        </p:txBody>
      </p:sp>
      <p:sp>
        <p:nvSpPr>
          <p:cNvPr id="11" name="标题 1">
            <a:extLst>
              <a:ext uri="{FF2B5EF4-FFF2-40B4-BE49-F238E27FC236}">
                <a16:creationId xmlns:a16="http://schemas.microsoft.com/office/drawing/2014/main" id="{B8B55E02-9F3E-4D41-9A05-7E73BD6334AD}"/>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初步分析</a:t>
            </a:r>
          </a:p>
        </p:txBody>
      </p:sp>
      <p:cxnSp>
        <p:nvCxnSpPr>
          <p:cNvPr id="12" name="直接连接符 11">
            <a:extLst>
              <a:ext uri="{FF2B5EF4-FFF2-40B4-BE49-F238E27FC236}">
                <a16:creationId xmlns:a16="http://schemas.microsoft.com/office/drawing/2014/main" id="{70A5B1D7-6A31-469B-87F8-BC3765EE3DF5}"/>
              </a:ext>
            </a:extLst>
          </p:cNvPr>
          <p:cNvCxnSpPr>
            <a:cxnSpLocks/>
          </p:cNvCxnSpPr>
          <p:nvPr/>
        </p:nvCxnSpPr>
        <p:spPr>
          <a:xfrm flipH="1" flipV="1">
            <a:off x="6050416" y="1143000"/>
            <a:ext cx="11720" cy="5562600"/>
          </a:xfrm>
          <a:prstGeom prst="line">
            <a:avLst/>
          </a:prstGeom>
          <a:ln w="38100">
            <a:solidFill>
              <a:schemeClr val="accent1">
                <a:lumMod val="7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3" name="图片 12">
            <a:extLst>
              <a:ext uri="{FF2B5EF4-FFF2-40B4-BE49-F238E27FC236}">
                <a16:creationId xmlns:a16="http://schemas.microsoft.com/office/drawing/2014/main" id="{6EC9E71E-E84F-4E2D-83AA-E11C3E6E8744}"/>
              </a:ext>
            </a:extLst>
          </p:cNvPr>
          <p:cNvPicPr>
            <a:picLocks noChangeAspect="1"/>
          </p:cNvPicPr>
          <p:nvPr/>
        </p:nvPicPr>
        <p:blipFill>
          <a:blip r:embed="rId6"/>
          <a:stretch>
            <a:fillRect/>
          </a:stretch>
        </p:blipFill>
        <p:spPr>
          <a:xfrm>
            <a:off x="793963" y="1776566"/>
            <a:ext cx="4205784" cy="2008845"/>
          </a:xfrm>
          <a:prstGeom prst="rect">
            <a:avLst/>
          </a:prstGeom>
        </p:spPr>
      </p:pic>
      <p:sp>
        <p:nvSpPr>
          <p:cNvPr id="15" name="文本框 14">
            <a:extLst>
              <a:ext uri="{FF2B5EF4-FFF2-40B4-BE49-F238E27FC236}">
                <a16:creationId xmlns:a16="http://schemas.microsoft.com/office/drawing/2014/main" id="{5B4ABA64-D4C6-4314-99D6-D3FA8FA11969}"/>
              </a:ext>
            </a:extLst>
          </p:cNvPr>
          <p:cNvSpPr txBox="1"/>
          <p:nvPr/>
        </p:nvSpPr>
        <p:spPr>
          <a:xfrm>
            <a:off x="6253057" y="2771103"/>
            <a:ext cx="5820410" cy="1200329"/>
          </a:xfrm>
          <a:prstGeom prst="rect">
            <a:avLst/>
          </a:prstGeom>
          <a:noFill/>
        </p:spPr>
        <p:txBody>
          <a:bodyPr wrap="square">
            <a:spAutoFit/>
          </a:bodyPr>
          <a:lstStyle/>
          <a:p>
            <a:r>
              <a:rPr lang="en-US" altLang="zh-CN" b="1" i="0" dirty="0">
                <a:solidFill>
                  <a:srgbClr val="333333"/>
                </a:solidFill>
                <a:effectLst/>
                <a:latin typeface="Helvetica Neue"/>
              </a:rPr>
              <a:t>1</a:t>
            </a:r>
            <a:r>
              <a:rPr lang="zh-CN" altLang="en-US" b="1" i="0" dirty="0">
                <a:solidFill>
                  <a:srgbClr val="333333"/>
                </a:solidFill>
                <a:effectLst/>
                <a:latin typeface="Helvetica Neue"/>
              </a:rPr>
              <a:t>）</a:t>
            </a:r>
            <a:r>
              <a:rPr lang="zh-CN" altLang="en-US" b="1" i="0" dirty="0">
                <a:solidFill>
                  <a:srgbClr val="FF0000"/>
                </a:solidFill>
                <a:effectLst/>
                <a:latin typeface="Helvetica Neue"/>
              </a:rPr>
              <a:t>站立跌倒</a:t>
            </a:r>
            <a:r>
              <a:rPr lang="zh-CN" altLang="en-US" b="0" i="0" dirty="0">
                <a:solidFill>
                  <a:srgbClr val="333333"/>
                </a:solidFill>
                <a:effectLst/>
                <a:latin typeface="Helvetica Neue"/>
              </a:rPr>
              <a:t>：指老年人从床或椅子上起身时发生的跌倒，例如老年人刚从椅子上站起来就摔倒；</a:t>
            </a:r>
            <a:endParaRPr lang="en-US" altLang="zh-CN" b="0" i="0" dirty="0">
              <a:solidFill>
                <a:srgbClr val="333333"/>
              </a:solidFill>
              <a:effectLst/>
              <a:latin typeface="Helvetica Neue"/>
            </a:endParaRPr>
          </a:p>
          <a:p>
            <a:endParaRPr lang="en-US" altLang="zh-CN" dirty="0">
              <a:solidFill>
                <a:srgbClr val="333333"/>
              </a:solidFill>
              <a:latin typeface="Helvetica Neue"/>
            </a:endParaRPr>
          </a:p>
          <a:p>
            <a:r>
              <a:rPr lang="en-US" altLang="zh-CN" b="1" i="0" dirty="0">
                <a:solidFill>
                  <a:srgbClr val="333333"/>
                </a:solidFill>
                <a:effectLst/>
                <a:latin typeface="Helvetica Neue"/>
              </a:rPr>
              <a:t>2</a:t>
            </a:r>
            <a:r>
              <a:rPr lang="zh-CN" altLang="en-US" b="1" i="0" dirty="0">
                <a:solidFill>
                  <a:srgbClr val="333333"/>
                </a:solidFill>
                <a:effectLst/>
                <a:latin typeface="Helvetica Neue"/>
              </a:rPr>
              <a:t>）</a:t>
            </a:r>
            <a:r>
              <a:rPr lang="zh-CN" altLang="en-US" b="1" i="0" dirty="0">
                <a:solidFill>
                  <a:srgbClr val="FF0000"/>
                </a:solidFill>
                <a:effectLst/>
                <a:latin typeface="Helvetica Neue"/>
              </a:rPr>
              <a:t>行走跌倒</a:t>
            </a:r>
            <a:r>
              <a:rPr lang="zh-CN" altLang="en-US" b="1" i="0" dirty="0">
                <a:solidFill>
                  <a:srgbClr val="333333"/>
                </a:solidFill>
                <a:effectLst/>
                <a:latin typeface="Helvetica Neue"/>
              </a:rPr>
              <a:t>：</a:t>
            </a:r>
            <a:r>
              <a:rPr lang="zh-CN" altLang="en-US" b="0" i="0" dirty="0">
                <a:solidFill>
                  <a:srgbClr val="333333"/>
                </a:solidFill>
                <a:effectLst/>
                <a:latin typeface="Helvetica Neue"/>
              </a:rPr>
              <a:t>指老年人行走时发生的跌倒。</a:t>
            </a:r>
            <a:endParaRPr lang="zh-CN" altLang="en-US" dirty="0"/>
          </a:p>
        </p:txBody>
      </p:sp>
      <p:sp>
        <p:nvSpPr>
          <p:cNvPr id="18" name="文本框 17">
            <a:extLst>
              <a:ext uri="{FF2B5EF4-FFF2-40B4-BE49-F238E27FC236}">
                <a16:creationId xmlns:a16="http://schemas.microsoft.com/office/drawing/2014/main" id="{1EB19272-DB5A-446C-B2C7-6A2916905779}"/>
              </a:ext>
            </a:extLst>
          </p:cNvPr>
          <p:cNvSpPr txBox="1"/>
          <p:nvPr/>
        </p:nvSpPr>
        <p:spPr>
          <a:xfrm>
            <a:off x="6309015" y="4316987"/>
            <a:ext cx="5593214" cy="1754326"/>
          </a:xfrm>
          <a:prstGeom prst="rect">
            <a:avLst/>
          </a:prstGeom>
          <a:noFill/>
        </p:spPr>
        <p:txBody>
          <a:bodyPr wrap="square">
            <a:spAutoFit/>
          </a:bodyPr>
          <a:lstStyle/>
          <a:p>
            <a:r>
              <a:rPr lang="zh-CN" altLang="en-US" b="0" i="0" dirty="0">
                <a:solidFill>
                  <a:srgbClr val="333333"/>
                </a:solidFill>
                <a:effectLst/>
                <a:latin typeface="Helvetica Neue"/>
              </a:rPr>
              <a:t>根据</a:t>
            </a:r>
            <a:r>
              <a:rPr lang="en-US" altLang="zh-CN" b="0" i="0" dirty="0" err="1">
                <a:solidFill>
                  <a:srgbClr val="333333"/>
                </a:solidFill>
                <a:effectLst/>
                <a:latin typeface="Helvetica Neue"/>
              </a:rPr>
              <a:t>SignalQuest</a:t>
            </a:r>
            <a:r>
              <a:rPr lang="zh-CN" altLang="en-US" b="0" i="0" dirty="0">
                <a:solidFill>
                  <a:srgbClr val="333333"/>
                </a:solidFill>
                <a:effectLst/>
                <a:latin typeface="Helvetica Neue"/>
              </a:rPr>
              <a:t>关于老年人跌倒的研究</a:t>
            </a:r>
            <a:r>
              <a:rPr lang="en-US" altLang="zh-CN" b="0" i="0" dirty="0">
                <a:solidFill>
                  <a:srgbClr val="333333"/>
                </a:solidFill>
                <a:effectLst/>
                <a:latin typeface="Helvetica Neue"/>
              </a:rPr>
              <a:t>[38]</a:t>
            </a:r>
            <a:r>
              <a:rPr lang="zh-CN" altLang="en-US" b="0" i="0" dirty="0">
                <a:solidFill>
                  <a:srgbClr val="333333"/>
                </a:solidFill>
                <a:effectLst/>
                <a:latin typeface="Helvetica Neue"/>
              </a:rPr>
              <a:t>，</a:t>
            </a:r>
            <a:r>
              <a:rPr lang="en-US" altLang="zh-CN" b="0" i="0" dirty="0">
                <a:solidFill>
                  <a:srgbClr val="333333"/>
                </a:solidFill>
                <a:effectLst/>
                <a:latin typeface="Helvetica Neue"/>
              </a:rPr>
              <a:t>24%</a:t>
            </a:r>
            <a:r>
              <a:rPr lang="zh-CN" altLang="en-US" b="0" i="0" dirty="0">
                <a:solidFill>
                  <a:srgbClr val="333333"/>
                </a:solidFill>
                <a:effectLst/>
                <a:latin typeface="Helvetica Neue"/>
              </a:rPr>
              <a:t>的跌倒属于第一种情况，</a:t>
            </a:r>
            <a:r>
              <a:rPr lang="en-US" altLang="zh-CN" b="0" i="0" dirty="0">
                <a:solidFill>
                  <a:srgbClr val="333333"/>
                </a:solidFill>
                <a:effectLst/>
                <a:latin typeface="Helvetica Neue"/>
              </a:rPr>
              <a:t>39%</a:t>
            </a:r>
            <a:r>
              <a:rPr lang="zh-CN" altLang="en-US" b="0" i="0" dirty="0">
                <a:solidFill>
                  <a:srgbClr val="333333"/>
                </a:solidFill>
                <a:effectLst/>
                <a:latin typeface="Helvetica Neue"/>
              </a:rPr>
              <a:t>的跌倒属于第二种情况。</a:t>
            </a:r>
            <a:endParaRPr lang="en-US" altLang="zh-CN" b="0" i="0" dirty="0">
              <a:solidFill>
                <a:srgbClr val="333333"/>
              </a:solidFill>
              <a:effectLst/>
              <a:latin typeface="Helvetica Neue"/>
            </a:endParaRPr>
          </a:p>
          <a:p>
            <a:endParaRPr lang="en-US" altLang="zh-CN" dirty="0">
              <a:solidFill>
                <a:srgbClr val="333333"/>
              </a:solidFill>
              <a:latin typeface="Helvetica Neue"/>
            </a:endParaRPr>
          </a:p>
          <a:p>
            <a:r>
              <a:rPr lang="zh-CN" altLang="en-US" i="0" dirty="0">
                <a:solidFill>
                  <a:srgbClr val="333333"/>
                </a:solidFill>
                <a:effectLst/>
                <a:latin typeface="Helvetica Neue"/>
              </a:rPr>
              <a:t>因此，本研究针对</a:t>
            </a:r>
            <a:r>
              <a:rPr lang="en-US" altLang="zh-CN" i="0" dirty="0">
                <a:solidFill>
                  <a:srgbClr val="333333"/>
                </a:solidFill>
                <a:effectLst/>
                <a:latin typeface="Helvetica Neue"/>
              </a:rPr>
              <a:t>63%</a:t>
            </a:r>
            <a:r>
              <a:rPr lang="zh-CN" altLang="en-US" i="0" dirty="0">
                <a:solidFill>
                  <a:srgbClr val="333333"/>
                </a:solidFill>
                <a:effectLst/>
                <a:latin typeface="Helvetica Neue"/>
              </a:rPr>
              <a:t>的跌倒场景，</a:t>
            </a:r>
            <a:r>
              <a:rPr lang="zh-CN" altLang="en-US" b="1" i="0" dirty="0">
                <a:solidFill>
                  <a:srgbClr val="333333"/>
                </a:solidFill>
                <a:effectLst/>
                <a:latin typeface="Helvetica Neue"/>
              </a:rPr>
              <a:t>其余跌倒类型（如下楼梯、户外活动时的跌倒）将在未来的工作中解决</a:t>
            </a:r>
            <a:r>
              <a:rPr lang="zh-CN" altLang="en-US" i="0" dirty="0">
                <a:solidFill>
                  <a:srgbClr val="333333"/>
                </a:solidFill>
                <a:effectLst/>
                <a:latin typeface="Helvetica Neue"/>
              </a:rPr>
              <a:t>。</a:t>
            </a:r>
            <a:endParaRPr lang="zh-CN" altLang="en-US" dirty="0"/>
          </a:p>
        </p:txBody>
      </p:sp>
      <p:sp>
        <p:nvSpPr>
          <p:cNvPr id="19" name="文本框 18">
            <a:extLst>
              <a:ext uri="{FF2B5EF4-FFF2-40B4-BE49-F238E27FC236}">
                <a16:creationId xmlns:a16="http://schemas.microsoft.com/office/drawing/2014/main" id="{935E8A90-B75C-475F-A807-7A17D8A3DFC3}"/>
              </a:ext>
            </a:extLst>
          </p:cNvPr>
          <p:cNvSpPr txBox="1"/>
          <p:nvPr/>
        </p:nvSpPr>
        <p:spPr>
          <a:xfrm>
            <a:off x="232106" y="5733046"/>
            <a:ext cx="5249690" cy="646331"/>
          </a:xfrm>
          <a:prstGeom prst="rect">
            <a:avLst/>
          </a:prstGeom>
          <a:noFill/>
        </p:spPr>
        <p:txBody>
          <a:bodyPr wrap="square">
            <a:spAutoFit/>
          </a:bodyPr>
          <a:lstStyle/>
          <a:p>
            <a:r>
              <a:rPr lang="zh-CN" altLang="en-US" b="0" i="0" dirty="0">
                <a:solidFill>
                  <a:srgbClr val="333333"/>
                </a:solidFill>
                <a:effectLst/>
                <a:latin typeface="Helvetica Neue"/>
              </a:rPr>
              <a:t>通过将不同的</a:t>
            </a:r>
            <a:r>
              <a:rPr lang="zh-CN" altLang="en-US" b="0" i="0" dirty="0">
                <a:solidFill>
                  <a:srgbClr val="FF0000"/>
                </a:solidFill>
                <a:effectLst/>
                <a:latin typeface="Helvetica Neue"/>
              </a:rPr>
              <a:t>信道失真模式</a:t>
            </a:r>
            <a:r>
              <a:rPr lang="zh-CN" altLang="en-US" b="0" i="0" dirty="0">
                <a:solidFill>
                  <a:srgbClr val="333333"/>
                </a:solidFill>
                <a:effectLst/>
                <a:latin typeface="Helvetica Neue"/>
              </a:rPr>
              <a:t>与对应的</a:t>
            </a:r>
            <a:r>
              <a:rPr lang="zh-CN" altLang="en-US" b="0" i="0" dirty="0">
                <a:solidFill>
                  <a:srgbClr val="FF0000"/>
                </a:solidFill>
                <a:effectLst/>
                <a:latin typeface="Helvetica Neue"/>
              </a:rPr>
              <a:t>人类活动</a:t>
            </a:r>
            <a:r>
              <a:rPr lang="zh-CN" altLang="en-US" b="0" i="0" dirty="0">
                <a:solidFill>
                  <a:srgbClr val="333333"/>
                </a:solidFill>
                <a:effectLst/>
                <a:latin typeface="Helvetica Neue"/>
              </a:rPr>
              <a:t>进行</a:t>
            </a:r>
            <a:r>
              <a:rPr lang="zh-CN" altLang="en-US" b="0" i="0" dirty="0">
                <a:solidFill>
                  <a:srgbClr val="FF0000"/>
                </a:solidFill>
                <a:effectLst/>
                <a:latin typeface="Helvetica Neue"/>
              </a:rPr>
              <a:t>映射</a:t>
            </a:r>
            <a:r>
              <a:rPr lang="zh-CN" altLang="en-US" b="0" i="0" dirty="0">
                <a:solidFill>
                  <a:srgbClr val="333333"/>
                </a:solidFill>
                <a:effectLst/>
                <a:latin typeface="Helvetica Neue"/>
              </a:rPr>
              <a:t>，即可实现人类活动的识别。</a:t>
            </a:r>
            <a:endParaRPr lang="zh-CN" altLang="en-US" dirty="0"/>
          </a:p>
        </p:txBody>
      </p:sp>
      <p:sp>
        <p:nvSpPr>
          <p:cNvPr id="24" name="文本框 23">
            <a:extLst>
              <a:ext uri="{FF2B5EF4-FFF2-40B4-BE49-F238E27FC236}">
                <a16:creationId xmlns:a16="http://schemas.microsoft.com/office/drawing/2014/main" id="{022581F6-DDC0-4E7F-8A52-FEE991FCA43B}"/>
              </a:ext>
            </a:extLst>
          </p:cNvPr>
          <p:cNvSpPr txBox="1"/>
          <p:nvPr/>
        </p:nvSpPr>
        <p:spPr>
          <a:xfrm>
            <a:off x="3083229" y="4340523"/>
            <a:ext cx="2679508" cy="1217383"/>
          </a:xfrm>
          <a:prstGeom prst="rect">
            <a:avLst/>
          </a:prstGeom>
          <a:noFill/>
        </p:spPr>
        <p:txBody>
          <a:bodyPr wrap="square">
            <a:spAutoFit/>
          </a:bodyPr>
          <a:lstStyle/>
          <a:p>
            <a:r>
              <a:rPr lang="zh-CN" altLang="en-US" b="0" i="0" dirty="0">
                <a:solidFill>
                  <a:srgbClr val="333333"/>
                </a:solidFill>
                <a:effectLst/>
                <a:latin typeface="Helvetica Neue"/>
              </a:rPr>
              <a:t>当人员</a:t>
            </a:r>
            <a:r>
              <a:rPr lang="zh-CN" altLang="en-US" b="1" i="0" dirty="0">
                <a:solidFill>
                  <a:srgbClr val="333333"/>
                </a:solidFill>
                <a:effectLst/>
                <a:latin typeface="Helvetica Neue"/>
              </a:rPr>
              <a:t>移动</a:t>
            </a:r>
            <a:r>
              <a:rPr lang="zh-CN" altLang="en-US" b="0" i="0" dirty="0">
                <a:solidFill>
                  <a:srgbClr val="333333"/>
                </a:solidFill>
                <a:effectLst/>
                <a:latin typeface="Helvetica Neue"/>
              </a:rPr>
              <a:t>时，散射信号会发生变化，导致明显的</a:t>
            </a:r>
            <a:r>
              <a:rPr lang="zh-CN" altLang="en-US" b="1" i="0" dirty="0">
                <a:solidFill>
                  <a:srgbClr val="FF0000"/>
                </a:solidFill>
                <a:effectLst/>
                <a:latin typeface="Helvetica Neue"/>
              </a:rPr>
              <a:t>信道失真</a:t>
            </a:r>
            <a:r>
              <a:rPr lang="zh-CN" altLang="en-US" b="0" i="0" dirty="0">
                <a:solidFill>
                  <a:srgbClr val="333333"/>
                </a:solidFill>
                <a:effectLst/>
                <a:latin typeface="Helvetica Neue"/>
              </a:rPr>
              <a:t>（包括</a:t>
            </a:r>
            <a:r>
              <a:rPr lang="zh-CN" altLang="en-US" b="1" i="0" dirty="0">
                <a:solidFill>
                  <a:srgbClr val="FF0000"/>
                </a:solidFill>
                <a:effectLst/>
                <a:latin typeface="Helvetica Neue"/>
              </a:rPr>
              <a:t>幅度衰减和相位偏移</a:t>
            </a:r>
            <a:r>
              <a:rPr lang="zh-CN" altLang="en-US" b="0" i="0" dirty="0">
                <a:solidFill>
                  <a:srgbClr val="333333"/>
                </a:solidFill>
                <a:effectLst/>
                <a:latin typeface="Helvetica Neue"/>
              </a:rPr>
              <a:t>）。</a:t>
            </a:r>
            <a:endParaRPr lang="zh-CN" altLang="en-US" dirty="0"/>
          </a:p>
        </p:txBody>
      </p:sp>
      <p:cxnSp>
        <p:nvCxnSpPr>
          <p:cNvPr id="14" name="直接箭头连接符 13">
            <a:extLst>
              <a:ext uri="{FF2B5EF4-FFF2-40B4-BE49-F238E27FC236}">
                <a16:creationId xmlns:a16="http://schemas.microsoft.com/office/drawing/2014/main" id="{0BAD22B1-EEF1-49C0-B864-2214A3530F6D}"/>
              </a:ext>
            </a:extLst>
          </p:cNvPr>
          <p:cNvCxnSpPr/>
          <p:nvPr/>
        </p:nvCxnSpPr>
        <p:spPr>
          <a:xfrm flipH="1">
            <a:off x="1126067" y="3149600"/>
            <a:ext cx="939800" cy="947744"/>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0A3B5B24-F21C-4F27-8772-A52EE87C709D}"/>
              </a:ext>
            </a:extLst>
          </p:cNvPr>
          <p:cNvSpPr txBox="1"/>
          <p:nvPr/>
        </p:nvSpPr>
        <p:spPr>
          <a:xfrm>
            <a:off x="3085625" y="4036009"/>
            <a:ext cx="1803757" cy="369332"/>
          </a:xfrm>
          <a:prstGeom prst="rect">
            <a:avLst/>
          </a:prstGeom>
          <a:noFill/>
        </p:spPr>
        <p:txBody>
          <a:bodyPr wrap="square">
            <a:spAutoFit/>
          </a:bodyPr>
          <a:lstStyle/>
          <a:p>
            <a:pPr algn="l"/>
            <a:r>
              <a:rPr lang="zh-CN" altLang="en-US" b="1" dirty="0">
                <a:solidFill>
                  <a:srgbClr val="000000"/>
                </a:solidFill>
                <a:latin typeface="Helvetica Neue"/>
              </a:rPr>
              <a:t>动态环境</a:t>
            </a:r>
            <a:endParaRPr lang="zh-CN" altLang="en-US" b="1" i="0" dirty="0">
              <a:solidFill>
                <a:srgbClr val="000000"/>
              </a:solidFill>
              <a:effectLst/>
              <a:latin typeface="Helvetica Neue"/>
            </a:endParaRPr>
          </a:p>
        </p:txBody>
      </p:sp>
      <p:sp>
        <p:nvSpPr>
          <p:cNvPr id="26" name="文本框 25">
            <a:extLst>
              <a:ext uri="{FF2B5EF4-FFF2-40B4-BE49-F238E27FC236}">
                <a16:creationId xmlns:a16="http://schemas.microsoft.com/office/drawing/2014/main" id="{371BA135-F53F-4139-BB70-E0FDCDCB897D}"/>
              </a:ext>
            </a:extLst>
          </p:cNvPr>
          <p:cNvSpPr txBox="1"/>
          <p:nvPr/>
        </p:nvSpPr>
        <p:spPr>
          <a:xfrm>
            <a:off x="189428" y="4036009"/>
            <a:ext cx="1803757" cy="369332"/>
          </a:xfrm>
          <a:prstGeom prst="rect">
            <a:avLst/>
          </a:prstGeom>
          <a:noFill/>
        </p:spPr>
        <p:txBody>
          <a:bodyPr wrap="square">
            <a:spAutoFit/>
          </a:bodyPr>
          <a:lstStyle/>
          <a:p>
            <a:pPr algn="l"/>
            <a:r>
              <a:rPr lang="zh-CN" altLang="en-US" b="1" dirty="0">
                <a:solidFill>
                  <a:srgbClr val="000000"/>
                </a:solidFill>
                <a:latin typeface="Helvetica Neue"/>
              </a:rPr>
              <a:t>静态环境</a:t>
            </a:r>
            <a:endParaRPr lang="zh-CN" altLang="en-US" b="1" i="0" dirty="0">
              <a:solidFill>
                <a:srgbClr val="000000"/>
              </a:solidFill>
              <a:effectLst/>
              <a:latin typeface="Helvetica Neue"/>
            </a:endParaRPr>
          </a:p>
        </p:txBody>
      </p:sp>
      <p:cxnSp>
        <p:nvCxnSpPr>
          <p:cNvPr id="27" name="直接箭头连接符 26">
            <a:extLst>
              <a:ext uri="{FF2B5EF4-FFF2-40B4-BE49-F238E27FC236}">
                <a16:creationId xmlns:a16="http://schemas.microsoft.com/office/drawing/2014/main" id="{CB394424-82F0-4EFD-B922-281A90B4E09E}"/>
              </a:ext>
            </a:extLst>
          </p:cNvPr>
          <p:cNvCxnSpPr>
            <a:cxnSpLocks/>
          </p:cNvCxnSpPr>
          <p:nvPr/>
        </p:nvCxnSpPr>
        <p:spPr>
          <a:xfrm>
            <a:off x="2948941" y="2705100"/>
            <a:ext cx="723899" cy="1330909"/>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184336722"/>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80000"/>
            <a:lum/>
          </a:blip>
          <a:srcRect/>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635" y="2031365"/>
            <a:ext cx="12192000" cy="2795905"/>
          </a:xfrm>
          <a:prstGeom prst="rect">
            <a:avLst/>
          </a:prstGeom>
          <a:solidFill>
            <a:schemeClr val="bg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480243" y="2882130"/>
            <a:ext cx="3230880" cy="1014730"/>
          </a:xfrm>
          <a:prstGeom prst="rect">
            <a:avLst/>
          </a:prstGeom>
          <a:noFill/>
        </p:spPr>
        <p:txBody>
          <a:bodyPr wrap="none" rtlCol="0">
            <a:spAutoFit/>
          </a:bodyPr>
          <a:lstStyle/>
          <a:p>
            <a:r>
              <a:rPr lang="zh-CN" altLang="en-US" sz="6000" dirty="0">
                <a:solidFill>
                  <a:srgbClr val="694B71"/>
                </a:solidFill>
                <a:latin typeface="微软雅黑" panose="020B0503020204020204" pitchFamily="34" charset="-122"/>
                <a:ea typeface="微软雅黑" panose="020B0503020204020204" pitchFamily="34" charset="-122"/>
              </a:rPr>
              <a:t>实验研究</a:t>
            </a:r>
          </a:p>
        </p:txBody>
      </p:sp>
      <p:grpSp>
        <p:nvGrpSpPr>
          <p:cNvPr id="12" name="组合 11"/>
          <p:cNvGrpSpPr/>
          <p:nvPr/>
        </p:nvGrpSpPr>
        <p:grpSpPr>
          <a:xfrm>
            <a:off x="5555048" y="1471295"/>
            <a:ext cx="1080000" cy="1080000"/>
            <a:chOff x="8049" y="2049"/>
            <a:chExt cx="1701" cy="1701"/>
          </a:xfrm>
        </p:grpSpPr>
        <p:sp>
          <p:nvSpPr>
            <p:cNvPr id="10" name="椭圆 9"/>
            <p:cNvSpPr/>
            <p:nvPr/>
          </p:nvSpPr>
          <p:spPr>
            <a:xfrm>
              <a:off x="8049" y="2049"/>
              <a:ext cx="1701" cy="1701"/>
            </a:xfrm>
            <a:prstGeom prst="ellipse">
              <a:avLst/>
            </a:prstGeom>
            <a:solidFill>
              <a:srgbClr val="BA9FC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8380" y="2440"/>
              <a:ext cx="1048" cy="921"/>
            </a:xfrm>
            <a:prstGeom prst="rect">
              <a:avLst/>
            </a:prstGeom>
            <a:noFill/>
          </p:spPr>
          <p:txBody>
            <a:bodyPr wrap="non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rPr>
                <a:t>03</a:t>
              </a:r>
            </a:p>
          </p:txBody>
        </p:sp>
      </p:grpSp>
    </p:spTree>
    <p:custDataLst>
      <p:tags r:id="rId1"/>
    </p:custData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06542-C156-CFB9-4E91-8889A3D8334D}"/>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0465DAFB-FB8F-8C84-048D-67744C7F48C9}"/>
              </a:ext>
            </a:extLst>
          </p:cNvPr>
          <p:cNvSpPr txBox="1"/>
          <p:nvPr>
            <p:custDataLst>
              <p:tags r:id="rId2"/>
            </p:custDataLst>
          </p:nvPr>
        </p:nvSpPr>
        <p:spPr>
          <a:xfrm>
            <a:off x="4016429" y="366352"/>
            <a:ext cx="415914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zh-CN" sz="3100" dirty="0">
                <a:solidFill>
                  <a:srgbClr val="694B71"/>
                </a:solidFill>
                <a:latin typeface="微软雅黑" panose="020B0503020204020204" pitchFamily="34" charset="-122"/>
                <a:ea typeface="微软雅黑" panose="020B0503020204020204" pitchFamily="34" charset="-122"/>
              </a:rPr>
              <a:t>不同子载波和流的振幅</a:t>
            </a:r>
          </a:p>
          <a:p>
            <a:pPr algn="dist"/>
            <a:endParaRPr lang="en-US" altLang="zh-CN" sz="3100" dirty="0">
              <a:solidFill>
                <a:srgbClr val="694B71"/>
              </a:solidFill>
              <a:latin typeface="微软雅黑" panose="020B0503020204020204" pitchFamily="34" charset="-122"/>
              <a:ea typeface="微软雅黑" panose="020B0503020204020204" pitchFamily="34" charset="-122"/>
            </a:endParaRPr>
          </a:p>
        </p:txBody>
      </p:sp>
      <p:sp>
        <p:nvSpPr>
          <p:cNvPr id="20" name="矩形 19">
            <a:extLst>
              <a:ext uri="{FF2B5EF4-FFF2-40B4-BE49-F238E27FC236}">
                <a16:creationId xmlns:a16="http://schemas.microsoft.com/office/drawing/2014/main" id="{CF80F7C7-4062-9D49-1A60-B7848775F55C}"/>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B4E9B5EB-E806-FDB8-1316-275FF6286EDB}"/>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8D367D94-A2C4-87BF-9124-CAE1A9236C0D}"/>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E3BB10DF-045E-D716-E5BF-0762B471D101}"/>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F337EDAB-00CF-88D2-54A2-0D166EB56890}"/>
              </a:ext>
            </a:extLst>
          </p:cNvPr>
          <p:cNvSpPr txBox="1"/>
          <p:nvPr/>
        </p:nvSpPr>
        <p:spPr>
          <a:xfrm>
            <a:off x="806450" y="1748790"/>
            <a:ext cx="11224895" cy="3817620"/>
          </a:xfrm>
          <a:prstGeom prst="rect">
            <a:avLst/>
          </a:prstGeom>
          <a:noFill/>
        </p:spPr>
        <p:txBody>
          <a:bodyPr wrap="square" rtlCol="0">
            <a:noAutofit/>
          </a:bodyPr>
          <a:lstStyle/>
          <a:p>
            <a:r>
              <a:rPr lang="zh-CN" altLang="zh-CN" sz="2400" dirty="0">
                <a:solidFill>
                  <a:srgbClr val="775480"/>
                </a:solidFill>
                <a:latin typeface="微软雅黑 Light" panose="020B0502040204020203" charset="-122"/>
                <a:ea typeface="微软雅黑 Light" panose="020B0502040204020203" charset="-122"/>
              </a:rPr>
              <a:t>由于我们只使用一个发射器天线和两个接收器天线，因此我们收集的</a:t>
            </a:r>
            <a:r>
              <a:rPr lang="en-US" altLang="zh-CN" sz="2400" dirty="0">
                <a:solidFill>
                  <a:srgbClr val="775480"/>
                </a:solidFill>
                <a:latin typeface="微软雅黑 Light" panose="020B0502040204020203" charset="-122"/>
                <a:ea typeface="微软雅黑 Light" panose="020B0502040204020203" charset="-122"/>
              </a:rPr>
              <a:t> CSI </a:t>
            </a:r>
            <a:r>
              <a:rPr lang="zh-CN" altLang="zh-CN" sz="2400" dirty="0">
                <a:solidFill>
                  <a:srgbClr val="775480"/>
                </a:solidFill>
                <a:latin typeface="微软雅黑 Light" panose="020B0502040204020203" charset="-122"/>
                <a:ea typeface="微软雅黑 Light" panose="020B0502040204020203" charset="-122"/>
              </a:rPr>
              <a:t>信息进一步分为两个无线流和每个流中的</a:t>
            </a:r>
            <a:r>
              <a:rPr lang="en-US" altLang="zh-CN" sz="2400" dirty="0">
                <a:solidFill>
                  <a:srgbClr val="775480"/>
                </a:solidFill>
                <a:latin typeface="微软雅黑 Light" panose="020B0502040204020203" charset="-122"/>
                <a:ea typeface="微软雅黑 Light" panose="020B0502040204020203" charset="-122"/>
              </a:rPr>
              <a:t> 30 </a:t>
            </a:r>
            <a:r>
              <a:rPr lang="zh-CN" altLang="zh-CN" sz="2400" dirty="0">
                <a:solidFill>
                  <a:srgbClr val="775480"/>
                </a:solidFill>
                <a:latin typeface="微软雅黑 Light" panose="020B0502040204020203" charset="-122"/>
                <a:ea typeface="微软雅黑 Light" panose="020B0502040204020203" charset="-122"/>
              </a:rPr>
              <a:t>个副载波。在这项研究中，我们进行了实验，以分别了解不同子载波和不同流的幅度如何变化。</a:t>
            </a:r>
            <a:r>
              <a:rPr lang="zh-CN" altLang="en-US" sz="2400" dirty="0">
                <a:solidFill>
                  <a:srgbClr val="775480"/>
                </a:solidFill>
                <a:latin typeface="微软雅黑 Light" panose="020B0502040204020203" charset="-122"/>
                <a:ea typeface="微软雅黑 Light" panose="020B0502040204020203" charset="-122"/>
              </a:rPr>
              <a:t>研究中发现，</a:t>
            </a:r>
            <a:r>
              <a:rPr lang="zh-CN" altLang="zh-CN" sz="2400" dirty="0">
                <a:solidFill>
                  <a:srgbClr val="775480"/>
                </a:solidFill>
                <a:latin typeface="微软雅黑 Light" panose="020B0502040204020203" charset="-122"/>
                <a:ea typeface="微软雅黑 Light" panose="020B0502040204020203" charset="-122"/>
              </a:rPr>
              <a:t>人类活动独立影响不同的流，而以类似的方式影响不同的副载波。此外，比起具有较大频率差距的两段副载波，相邻频率之间的副载波具有更多的相似性。基于这些观察结果，我们可以将相邻且连续副载波的</a:t>
            </a:r>
            <a:r>
              <a:rPr lang="en-US" altLang="zh-CN" sz="2400" dirty="0">
                <a:solidFill>
                  <a:srgbClr val="775480"/>
                </a:solidFill>
                <a:latin typeface="微软雅黑 Light" panose="020B0502040204020203" charset="-122"/>
                <a:ea typeface="微软雅黑 Light" panose="020B0502040204020203" charset="-122"/>
              </a:rPr>
              <a:t> CSI </a:t>
            </a:r>
            <a:r>
              <a:rPr lang="zh-CN" altLang="zh-CN" sz="2400" dirty="0">
                <a:solidFill>
                  <a:srgbClr val="775480"/>
                </a:solidFill>
                <a:latin typeface="微软雅黑 Light" panose="020B0502040204020203" charset="-122"/>
                <a:ea typeface="微软雅黑 Light" panose="020B0502040204020203" charset="-122"/>
              </a:rPr>
              <a:t>样本平均为一个信号值，以实现计算复杂性和功能之间的权衡。在这项工作的其余部分，我们将仅显示一个流中具有一个副载波的图形。</a:t>
            </a:r>
          </a:p>
        </p:txBody>
      </p:sp>
    </p:spTree>
    <p:custDataLst>
      <p:tags r:id="rId1"/>
    </p:custDataLst>
    <p:extLst>
      <p:ext uri="{BB962C8B-B14F-4D97-AF65-F5344CB8AC3E}">
        <p14:creationId xmlns:p14="http://schemas.microsoft.com/office/powerpoint/2010/main" val="3842947638"/>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16A0A-27E9-DA85-93BE-6480C46B1D49}"/>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24A3B94C-FD2F-1E4F-B736-2C88346E2DDD}"/>
              </a:ext>
            </a:extLst>
          </p:cNvPr>
          <p:cNvSpPr txBox="1"/>
          <p:nvPr>
            <p:custDataLst>
              <p:tags r:id="rId2"/>
            </p:custDataLst>
          </p:nvPr>
        </p:nvSpPr>
        <p:spPr>
          <a:xfrm>
            <a:off x="4016429" y="366352"/>
            <a:ext cx="415914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zh-CN" sz="3100" dirty="0">
                <a:solidFill>
                  <a:srgbClr val="694B71"/>
                </a:solidFill>
                <a:latin typeface="微软雅黑" panose="020B0503020204020204" pitchFamily="34" charset="-122"/>
                <a:ea typeface="微软雅黑" panose="020B0503020204020204" pitchFamily="34" charset="-122"/>
              </a:rPr>
              <a:t>不同子载波和流的振幅</a:t>
            </a:r>
          </a:p>
          <a:p>
            <a:pPr algn="dist"/>
            <a:endParaRPr lang="en-US" altLang="zh-CN" sz="3100" dirty="0">
              <a:solidFill>
                <a:srgbClr val="694B71"/>
              </a:solidFill>
              <a:latin typeface="微软雅黑" panose="020B0503020204020204" pitchFamily="34" charset="-122"/>
              <a:ea typeface="微软雅黑" panose="020B0503020204020204" pitchFamily="34" charset="-122"/>
            </a:endParaRPr>
          </a:p>
        </p:txBody>
      </p:sp>
      <p:sp>
        <p:nvSpPr>
          <p:cNvPr id="20" name="矩形 19">
            <a:extLst>
              <a:ext uri="{FF2B5EF4-FFF2-40B4-BE49-F238E27FC236}">
                <a16:creationId xmlns:a16="http://schemas.microsoft.com/office/drawing/2014/main" id="{E0BFD214-6B53-E620-8AB1-005F51865797}"/>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F4334FEC-0E81-26D7-EB99-E5A96D083A86}"/>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C07DDC3B-CE1D-4FE9-FD32-59F043E54E82}"/>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4D78813E-8F68-42F2-653F-C979C357A919}"/>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F55AEDC6-059B-98AA-F734-5D06783962FE}"/>
              </a:ext>
            </a:extLst>
          </p:cNvPr>
          <p:cNvSpPr txBox="1"/>
          <p:nvPr/>
        </p:nvSpPr>
        <p:spPr>
          <a:xfrm>
            <a:off x="806450" y="1748790"/>
            <a:ext cx="11224895" cy="3817620"/>
          </a:xfrm>
          <a:prstGeom prst="rect">
            <a:avLst/>
          </a:prstGeom>
          <a:noFill/>
        </p:spPr>
        <p:txBody>
          <a:bodyPr wrap="square" rtlCol="0">
            <a:noAutofit/>
          </a:bodyPr>
          <a:lstStyle/>
          <a:p>
            <a:r>
              <a:rPr lang="zh-CN" altLang="zh-CN" sz="2400" dirty="0">
                <a:solidFill>
                  <a:srgbClr val="775480"/>
                </a:solidFill>
                <a:latin typeface="微软雅黑 Light" panose="020B0502040204020203" charset="-122"/>
                <a:ea typeface="微软雅黑 Light" panose="020B0502040204020203" charset="-122"/>
              </a:rPr>
              <a:t>由于我们只使用一个发射器天线和两个接收器天线，因此我们收集的</a:t>
            </a:r>
            <a:r>
              <a:rPr lang="en-US" altLang="zh-CN" sz="2400" dirty="0">
                <a:solidFill>
                  <a:srgbClr val="775480"/>
                </a:solidFill>
                <a:latin typeface="微软雅黑 Light" panose="020B0502040204020203" charset="-122"/>
                <a:ea typeface="微软雅黑 Light" panose="020B0502040204020203" charset="-122"/>
              </a:rPr>
              <a:t> CSI </a:t>
            </a:r>
            <a:r>
              <a:rPr lang="zh-CN" altLang="zh-CN" sz="2400" dirty="0">
                <a:solidFill>
                  <a:srgbClr val="775480"/>
                </a:solidFill>
                <a:latin typeface="微软雅黑 Light" panose="020B0502040204020203" charset="-122"/>
                <a:ea typeface="微软雅黑 Light" panose="020B0502040204020203" charset="-122"/>
              </a:rPr>
              <a:t>信息进一步分为两个无线流和每个流中的</a:t>
            </a:r>
            <a:r>
              <a:rPr lang="en-US" altLang="zh-CN" sz="2400" dirty="0">
                <a:solidFill>
                  <a:srgbClr val="775480"/>
                </a:solidFill>
                <a:latin typeface="微软雅黑 Light" panose="020B0502040204020203" charset="-122"/>
                <a:ea typeface="微软雅黑 Light" panose="020B0502040204020203" charset="-122"/>
              </a:rPr>
              <a:t> 30 </a:t>
            </a:r>
            <a:r>
              <a:rPr lang="zh-CN" altLang="zh-CN" sz="2400" dirty="0">
                <a:solidFill>
                  <a:srgbClr val="775480"/>
                </a:solidFill>
                <a:latin typeface="微软雅黑 Light" panose="020B0502040204020203" charset="-122"/>
                <a:ea typeface="微软雅黑 Light" panose="020B0502040204020203" charset="-122"/>
              </a:rPr>
              <a:t>个副载波。在这项研究中，我们进行了实验，以分别了解不同子载波和不同流的幅度如何变化。</a:t>
            </a:r>
            <a:r>
              <a:rPr lang="zh-CN" altLang="en-US" sz="2400" dirty="0">
                <a:solidFill>
                  <a:srgbClr val="775480"/>
                </a:solidFill>
                <a:latin typeface="微软雅黑 Light" panose="020B0502040204020203" charset="-122"/>
                <a:ea typeface="微软雅黑 Light" panose="020B0502040204020203" charset="-122"/>
              </a:rPr>
              <a:t>研究中发现，</a:t>
            </a:r>
            <a:r>
              <a:rPr lang="zh-CN" altLang="zh-CN" sz="2400" dirty="0">
                <a:solidFill>
                  <a:srgbClr val="775480"/>
                </a:solidFill>
                <a:latin typeface="微软雅黑 Light" panose="020B0502040204020203" charset="-122"/>
                <a:ea typeface="微软雅黑 Light" panose="020B0502040204020203" charset="-122"/>
              </a:rPr>
              <a:t>人类活动独立影响不同的流，而以类似的方式影响不同的副载波。此外，比起具有较大频率差距的两段副载波，相邻频率之间的副载波具有更多的相似性。基于这些观察结果，我们可以将相邻且连续副载波的</a:t>
            </a:r>
            <a:r>
              <a:rPr lang="en-US" altLang="zh-CN" sz="2400" dirty="0">
                <a:solidFill>
                  <a:srgbClr val="775480"/>
                </a:solidFill>
                <a:latin typeface="微软雅黑 Light" panose="020B0502040204020203" charset="-122"/>
                <a:ea typeface="微软雅黑 Light" panose="020B0502040204020203" charset="-122"/>
              </a:rPr>
              <a:t> CSI </a:t>
            </a:r>
            <a:r>
              <a:rPr lang="zh-CN" altLang="zh-CN" sz="2400" dirty="0">
                <a:solidFill>
                  <a:srgbClr val="775480"/>
                </a:solidFill>
                <a:latin typeface="微软雅黑 Light" panose="020B0502040204020203" charset="-122"/>
                <a:ea typeface="微软雅黑 Light" panose="020B0502040204020203" charset="-122"/>
              </a:rPr>
              <a:t>样本平均为一个信号值，以实现计算复杂性和功能之间的权衡。在这项工作的其余部分，我们将仅显示一个流中具有一个副载波的图形。</a:t>
            </a:r>
          </a:p>
        </p:txBody>
      </p:sp>
    </p:spTree>
    <p:custDataLst>
      <p:tags r:id="rId1"/>
    </p:custDataLst>
    <p:extLst>
      <p:ext uri="{BB962C8B-B14F-4D97-AF65-F5344CB8AC3E}">
        <p14:creationId xmlns:p14="http://schemas.microsoft.com/office/powerpoint/2010/main" val="3397564968"/>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115D8-2029-E052-A28F-BDDFC7C72E42}"/>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57108FF3-E90B-F7E4-B397-80104D8674B5}"/>
              </a:ext>
            </a:extLst>
          </p:cNvPr>
          <p:cNvSpPr txBox="1"/>
          <p:nvPr>
            <p:custDataLst>
              <p:tags r:id="rId2"/>
            </p:custDataLst>
          </p:nvPr>
        </p:nvSpPr>
        <p:spPr>
          <a:xfrm>
            <a:off x="4016429" y="366352"/>
            <a:ext cx="415914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zh-CN" sz="3100" dirty="0">
                <a:solidFill>
                  <a:srgbClr val="694B71"/>
                </a:solidFill>
                <a:latin typeface="微软雅黑" panose="020B0503020204020204" pitchFamily="34" charset="-122"/>
                <a:ea typeface="微软雅黑" panose="020B0503020204020204" pitchFamily="34" charset="-122"/>
              </a:rPr>
              <a:t>不同活动的影响</a:t>
            </a:r>
          </a:p>
        </p:txBody>
      </p:sp>
      <p:sp>
        <p:nvSpPr>
          <p:cNvPr id="20" name="矩形 19">
            <a:extLst>
              <a:ext uri="{FF2B5EF4-FFF2-40B4-BE49-F238E27FC236}">
                <a16:creationId xmlns:a16="http://schemas.microsoft.com/office/drawing/2014/main" id="{6981DE10-0A59-03E0-4B94-DAFBAE5E2F0D}"/>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AA52F972-8D3D-E674-6B43-C58FC0F128FC}"/>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65A2101C-28B3-7622-122C-BB1A9D912A8A}"/>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8DB1D57D-96E5-3A4F-D78C-CFA00D1E7327}"/>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2CB71F97-25BC-FEBF-F765-77064255594A}"/>
              </a:ext>
            </a:extLst>
          </p:cNvPr>
          <p:cNvSpPr txBox="1"/>
          <p:nvPr/>
        </p:nvSpPr>
        <p:spPr>
          <a:xfrm>
            <a:off x="6536987" y="1748790"/>
            <a:ext cx="5494358" cy="3817620"/>
          </a:xfrm>
          <a:prstGeom prst="rect">
            <a:avLst/>
          </a:prstGeom>
          <a:noFill/>
        </p:spPr>
        <p:txBody>
          <a:bodyPr wrap="square" rtlCol="0">
            <a:noAutofit/>
          </a:bodyPr>
          <a:lstStyle/>
          <a:p>
            <a:r>
              <a:rPr lang="zh-CN" altLang="zh-CN" sz="2400" dirty="0">
                <a:solidFill>
                  <a:srgbClr val="775480"/>
                </a:solidFill>
                <a:latin typeface="微软雅黑 Light" panose="020B0502040204020203" charset="-122"/>
                <a:ea typeface="微软雅黑 Light" panose="020B0502040204020203" charset="-122"/>
              </a:rPr>
              <a:t>我们将人类的日常活动大致分为两类：非运动活动和运动活动。</a:t>
            </a:r>
          </a:p>
          <a:p>
            <a:r>
              <a:rPr lang="zh-CN" altLang="en-US" sz="2400" dirty="0">
                <a:solidFill>
                  <a:srgbClr val="775480"/>
                </a:solidFill>
                <a:latin typeface="微软雅黑 Light" panose="020B0502040204020203" charset="-122"/>
                <a:ea typeface="微软雅黑 Light" panose="020B0502040204020203" charset="-122"/>
              </a:rPr>
              <a:t>非运动活动指那些静止的活动，比如站着，作者和躺着，运动活动包含走路，躺下，上半身肢体动作，捡东西等</a:t>
            </a:r>
            <a:endParaRPr lang="en-US" altLang="zh-CN" sz="2400" dirty="0">
              <a:solidFill>
                <a:srgbClr val="775480"/>
              </a:solidFill>
              <a:latin typeface="微软雅黑 Light" panose="020B0502040204020203" charset="-122"/>
              <a:ea typeface="微软雅黑 Light" panose="020B0502040204020203" charset="-122"/>
            </a:endParaRPr>
          </a:p>
          <a:p>
            <a:r>
              <a:rPr lang="zh-CN" altLang="en-US" sz="2400" dirty="0">
                <a:solidFill>
                  <a:srgbClr val="775480"/>
                </a:solidFill>
                <a:latin typeface="微软雅黑 Light" panose="020B0502040204020203" charset="-122"/>
                <a:ea typeface="微软雅黑 Light" panose="020B0502040204020203" charset="-122"/>
              </a:rPr>
              <a:t>实验中发现，执行非运动活动时，会引起</a:t>
            </a:r>
            <a:r>
              <a:rPr lang="en-US" altLang="zh-CN" sz="2400" dirty="0">
                <a:solidFill>
                  <a:srgbClr val="775480"/>
                </a:solidFill>
                <a:latin typeface="微软雅黑 Light" panose="020B0502040204020203" charset="-122"/>
                <a:ea typeface="微软雅黑 Light" panose="020B0502040204020203" charset="-122"/>
              </a:rPr>
              <a:t>CSI</a:t>
            </a:r>
            <a:r>
              <a:rPr lang="zh-CN" altLang="en-US" sz="2400" dirty="0">
                <a:solidFill>
                  <a:srgbClr val="775480"/>
                </a:solidFill>
                <a:latin typeface="微软雅黑 Light" panose="020B0502040204020203" charset="-122"/>
                <a:ea typeface="微软雅黑 Light" panose="020B0502040204020203" charset="-122"/>
              </a:rPr>
              <a:t>信号振幅的稳定变化模式</a:t>
            </a:r>
            <a:endParaRPr lang="zh-CN" altLang="zh-CN" sz="2400" dirty="0">
              <a:solidFill>
                <a:srgbClr val="775480"/>
              </a:solidFill>
              <a:latin typeface="微软雅黑 Light" panose="020B0502040204020203" charset="-122"/>
              <a:ea typeface="微软雅黑 Light" panose="020B0502040204020203" charset="-122"/>
            </a:endParaRPr>
          </a:p>
        </p:txBody>
      </p:sp>
      <p:pic>
        <p:nvPicPr>
          <p:cNvPr id="2" name="图片 1">
            <a:extLst>
              <a:ext uri="{FF2B5EF4-FFF2-40B4-BE49-F238E27FC236}">
                <a16:creationId xmlns:a16="http://schemas.microsoft.com/office/drawing/2014/main" id="{8EF8CFF4-CEBD-5D36-7C01-2BE0670E8959}"/>
              </a:ext>
            </a:extLst>
          </p:cNvPr>
          <p:cNvPicPr>
            <a:picLocks noChangeAspect="1"/>
          </p:cNvPicPr>
          <p:nvPr/>
        </p:nvPicPr>
        <p:blipFill>
          <a:blip r:embed="rId5"/>
          <a:stretch>
            <a:fillRect/>
          </a:stretch>
        </p:blipFill>
        <p:spPr>
          <a:xfrm>
            <a:off x="593210" y="1265147"/>
            <a:ext cx="5061804" cy="2161812"/>
          </a:xfrm>
          <a:prstGeom prst="rect">
            <a:avLst/>
          </a:prstGeom>
          <a:noFill/>
          <a:ln>
            <a:noFill/>
          </a:ln>
        </p:spPr>
      </p:pic>
      <p:pic>
        <p:nvPicPr>
          <p:cNvPr id="4" name="图片 3">
            <a:extLst>
              <a:ext uri="{FF2B5EF4-FFF2-40B4-BE49-F238E27FC236}">
                <a16:creationId xmlns:a16="http://schemas.microsoft.com/office/drawing/2014/main" id="{1D88057E-6474-D213-89B3-2F9EDD783CA7}"/>
              </a:ext>
            </a:extLst>
          </p:cNvPr>
          <p:cNvPicPr>
            <a:picLocks noChangeAspect="1"/>
          </p:cNvPicPr>
          <p:nvPr/>
        </p:nvPicPr>
        <p:blipFill>
          <a:blip r:embed="rId6"/>
          <a:stretch>
            <a:fillRect/>
          </a:stretch>
        </p:blipFill>
        <p:spPr>
          <a:xfrm>
            <a:off x="593209" y="3913321"/>
            <a:ext cx="5118337" cy="2244634"/>
          </a:xfrm>
          <a:prstGeom prst="rect">
            <a:avLst/>
          </a:prstGeom>
          <a:noFill/>
          <a:ln>
            <a:noFill/>
          </a:ln>
        </p:spPr>
      </p:pic>
    </p:spTree>
    <p:custDataLst>
      <p:tags r:id="rId1"/>
    </p:custDataLst>
    <p:extLst>
      <p:ext uri="{BB962C8B-B14F-4D97-AF65-F5344CB8AC3E}">
        <p14:creationId xmlns:p14="http://schemas.microsoft.com/office/powerpoint/2010/main" val="1416641337"/>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C241F-5889-49F0-3D44-DC4CE1DE45D4}"/>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709A7189-DDA7-66E4-AECE-22D5C2A8DFD6}"/>
              </a:ext>
            </a:extLst>
          </p:cNvPr>
          <p:cNvSpPr txBox="1"/>
          <p:nvPr>
            <p:custDataLst>
              <p:tags r:id="rId2"/>
            </p:custDataLst>
          </p:nvPr>
        </p:nvSpPr>
        <p:spPr>
          <a:xfrm>
            <a:off x="4016429" y="366352"/>
            <a:ext cx="415914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zh-CN" sz="3100" dirty="0">
                <a:solidFill>
                  <a:srgbClr val="694B71"/>
                </a:solidFill>
                <a:latin typeface="微软雅黑" panose="020B0503020204020204" pitchFamily="34" charset="-122"/>
                <a:ea typeface="微软雅黑" panose="020B0503020204020204" pitchFamily="34" charset="-122"/>
              </a:rPr>
              <a:t>不同活动的影响</a:t>
            </a:r>
          </a:p>
        </p:txBody>
      </p:sp>
      <p:sp>
        <p:nvSpPr>
          <p:cNvPr id="20" name="矩形 19">
            <a:extLst>
              <a:ext uri="{FF2B5EF4-FFF2-40B4-BE49-F238E27FC236}">
                <a16:creationId xmlns:a16="http://schemas.microsoft.com/office/drawing/2014/main" id="{01F97E8F-FFD5-A35B-0D8B-2D19BC4C26F3}"/>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1B243196-DDA9-8C5C-6DA3-B8C27C526B96}"/>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C82B19B4-AE01-625D-C136-5B255157C3CE}"/>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2CD96029-EE57-C0BF-D537-34F4169AF121}"/>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143551FC-D84D-0264-4A74-9FEDB9AF49D1}"/>
              </a:ext>
            </a:extLst>
          </p:cNvPr>
          <p:cNvSpPr txBox="1"/>
          <p:nvPr/>
        </p:nvSpPr>
        <p:spPr>
          <a:xfrm>
            <a:off x="6536987" y="1748790"/>
            <a:ext cx="5494358" cy="3817620"/>
          </a:xfrm>
          <a:prstGeom prst="rect">
            <a:avLst/>
          </a:prstGeom>
          <a:noFill/>
        </p:spPr>
        <p:txBody>
          <a:bodyPr wrap="square" rtlCol="0">
            <a:noAutofit/>
          </a:bodyPr>
          <a:lstStyle/>
          <a:p>
            <a:r>
              <a:rPr lang="zh-CN" altLang="en-US" sz="2400" dirty="0">
                <a:solidFill>
                  <a:srgbClr val="775480"/>
                </a:solidFill>
                <a:latin typeface="微软雅黑 Light" panose="020B0502040204020203" charset="-122"/>
                <a:ea typeface="微软雅黑 Light" panose="020B0502040204020203" charset="-122"/>
              </a:rPr>
              <a:t>同时还发现，站立的信号变化幅度坐着和躺着更加显著</a:t>
            </a:r>
            <a:endParaRPr lang="en-US" altLang="zh-CN" sz="2400" dirty="0">
              <a:solidFill>
                <a:srgbClr val="775480"/>
              </a:solidFill>
              <a:latin typeface="微软雅黑 Light" panose="020B0502040204020203" charset="-122"/>
              <a:ea typeface="微软雅黑 Light" panose="020B0502040204020203" charset="-122"/>
            </a:endParaRPr>
          </a:p>
          <a:p>
            <a:endParaRPr lang="en-US" altLang="zh-CN" sz="2400" dirty="0">
              <a:solidFill>
                <a:srgbClr val="775480"/>
              </a:solidFill>
              <a:latin typeface="微软雅黑 Light" panose="020B0502040204020203" charset="-122"/>
              <a:ea typeface="微软雅黑 Light" panose="020B0502040204020203" charset="-122"/>
            </a:endParaRPr>
          </a:p>
          <a:p>
            <a:endParaRPr lang="zh-CN" altLang="zh-CN" sz="2400" dirty="0">
              <a:solidFill>
                <a:srgbClr val="775480"/>
              </a:solidFill>
              <a:latin typeface="微软雅黑 Light" panose="020B0502040204020203" charset="-122"/>
              <a:ea typeface="微软雅黑 Light" panose="020B0502040204020203" charset="-122"/>
            </a:endParaRPr>
          </a:p>
        </p:txBody>
      </p:sp>
      <p:pic>
        <p:nvPicPr>
          <p:cNvPr id="3" name="图片 2">
            <a:extLst>
              <a:ext uri="{FF2B5EF4-FFF2-40B4-BE49-F238E27FC236}">
                <a16:creationId xmlns:a16="http://schemas.microsoft.com/office/drawing/2014/main" id="{E6F09988-64CB-C6C3-B3E9-D6EBA190B430}"/>
              </a:ext>
            </a:extLst>
          </p:cNvPr>
          <p:cNvPicPr>
            <a:picLocks noChangeAspect="1"/>
          </p:cNvPicPr>
          <p:nvPr/>
        </p:nvPicPr>
        <p:blipFill>
          <a:blip r:embed="rId5"/>
          <a:stretch>
            <a:fillRect/>
          </a:stretch>
        </p:blipFill>
        <p:spPr>
          <a:xfrm>
            <a:off x="456786" y="2431739"/>
            <a:ext cx="5639214" cy="2451721"/>
          </a:xfrm>
          <a:prstGeom prst="rect">
            <a:avLst/>
          </a:prstGeom>
          <a:noFill/>
          <a:ln>
            <a:noFill/>
          </a:ln>
        </p:spPr>
      </p:pic>
    </p:spTree>
    <p:custDataLst>
      <p:tags r:id="rId1"/>
    </p:custDataLst>
    <p:extLst>
      <p:ext uri="{BB962C8B-B14F-4D97-AF65-F5344CB8AC3E}">
        <p14:creationId xmlns:p14="http://schemas.microsoft.com/office/powerpoint/2010/main" val="293340881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4DDC2-64D5-A452-09DA-C24EFEE24D11}"/>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A0F566E0-1FDF-E344-7A1F-6A28367A3C02}"/>
              </a:ext>
            </a:extLst>
          </p:cNvPr>
          <p:cNvSpPr txBox="1"/>
          <p:nvPr>
            <p:custDataLst>
              <p:tags r:id="rId2"/>
            </p:custDataLst>
          </p:nvPr>
        </p:nvSpPr>
        <p:spPr>
          <a:xfrm>
            <a:off x="4016429" y="366352"/>
            <a:ext cx="415914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zh-CN" altLang="zh-CN" sz="3100" dirty="0">
                <a:solidFill>
                  <a:srgbClr val="694B71"/>
                </a:solidFill>
                <a:latin typeface="微软雅黑" panose="020B0503020204020204" pitchFamily="34" charset="-122"/>
                <a:ea typeface="微软雅黑" panose="020B0503020204020204" pitchFamily="34" charset="-122"/>
              </a:rPr>
              <a:t>不同活动的影响</a:t>
            </a:r>
          </a:p>
        </p:txBody>
      </p:sp>
      <p:sp>
        <p:nvSpPr>
          <p:cNvPr id="20" name="矩形 19">
            <a:extLst>
              <a:ext uri="{FF2B5EF4-FFF2-40B4-BE49-F238E27FC236}">
                <a16:creationId xmlns:a16="http://schemas.microsoft.com/office/drawing/2014/main" id="{5A98C7DB-7450-D7CB-137E-A7EBA870B250}"/>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D1E19179-045F-1EBC-AA79-8697E63FDDDD}"/>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2CE60947-59B6-B58C-12BB-008F31D78E04}"/>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1F212613-05B7-4A88-A08E-1AE6D15F07CE}"/>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3EF5D8BA-2633-3542-B00F-00155B495052}"/>
              </a:ext>
            </a:extLst>
          </p:cNvPr>
          <p:cNvSpPr txBox="1"/>
          <p:nvPr/>
        </p:nvSpPr>
        <p:spPr>
          <a:xfrm>
            <a:off x="6536987" y="1748790"/>
            <a:ext cx="5494358" cy="3817620"/>
          </a:xfrm>
          <a:prstGeom prst="rect">
            <a:avLst/>
          </a:prstGeom>
          <a:noFill/>
        </p:spPr>
        <p:txBody>
          <a:bodyPr wrap="square" rtlCol="0">
            <a:noAutofit/>
          </a:bodyPr>
          <a:lstStyle/>
          <a:p>
            <a:r>
              <a:rPr lang="zh-CN" altLang="zh-CN" sz="2400" dirty="0">
                <a:solidFill>
                  <a:srgbClr val="775480"/>
                </a:solidFill>
                <a:latin typeface="微软雅黑 Light" panose="020B0502040204020203" charset="-122"/>
                <a:ea typeface="微软雅黑 Light" panose="020B0502040204020203" charset="-122"/>
              </a:rPr>
              <a:t>与导致相对稳定的信号变化的非运动活动，如行走、躺下、坐下和跌倒等运动活动表现出明显的信号变化</a:t>
            </a:r>
            <a:endParaRPr lang="en-US" altLang="zh-CN" sz="2400" dirty="0">
              <a:solidFill>
                <a:srgbClr val="775480"/>
              </a:solidFill>
              <a:latin typeface="微软雅黑 Light" panose="020B0502040204020203" charset="-122"/>
              <a:ea typeface="微软雅黑 Light" panose="020B0502040204020203" charset="-122"/>
            </a:endParaRPr>
          </a:p>
          <a:p>
            <a:r>
              <a:rPr lang="en-US" altLang="zh-CN" dirty="0">
                <a:solidFill>
                  <a:srgbClr val="8F6C8F"/>
                </a:solidFill>
              </a:rPr>
              <a:t>(d) Lie down, (e) Upper body activities, (f) Pickup, (g) Squat, (h) Walking, (</a:t>
            </a:r>
            <a:r>
              <a:rPr lang="en-US" altLang="zh-CN" dirty="0" err="1">
                <a:solidFill>
                  <a:srgbClr val="8F6C8F"/>
                </a:solidFill>
              </a:rPr>
              <a:t>i</a:t>
            </a:r>
            <a:r>
              <a:rPr lang="en-US" altLang="zh-CN" dirty="0">
                <a:solidFill>
                  <a:srgbClr val="8F6C8F"/>
                </a:solidFill>
              </a:rPr>
              <a:t>) Stand up, (j) Sit down, </a:t>
            </a:r>
            <a:r>
              <a:rPr lang="en-US" altLang="zh-CN" b="1" dirty="0">
                <a:solidFill>
                  <a:srgbClr val="8F6C8F"/>
                </a:solidFill>
              </a:rPr>
              <a:t>(k) Standing-Fall, and (l) Walking-Fall</a:t>
            </a:r>
            <a:r>
              <a:rPr lang="zh-CN" altLang="zh-CN" sz="2400" dirty="0">
                <a:solidFill>
                  <a:srgbClr val="8F6C8F"/>
                </a:solidFill>
              </a:rPr>
              <a:t> </a:t>
            </a:r>
            <a:r>
              <a:rPr lang="zh-CN" altLang="zh-CN" sz="2400" dirty="0">
                <a:solidFill>
                  <a:srgbClr val="8F6C8F"/>
                </a:solidFill>
                <a:latin typeface="微软雅黑 Light" panose="020B0502040204020203" charset="-122"/>
                <a:ea typeface="微软雅黑 Light" panose="020B0502040204020203" charset="-122"/>
              </a:rPr>
              <a:t> </a:t>
            </a:r>
            <a:endParaRPr lang="en-US" altLang="zh-CN" sz="2400" dirty="0">
              <a:solidFill>
                <a:srgbClr val="8F6C8F"/>
              </a:solidFill>
              <a:latin typeface="微软雅黑 Light" panose="020B0502040204020203" charset="-122"/>
              <a:ea typeface="微软雅黑 Light" panose="020B0502040204020203" charset="-122"/>
            </a:endParaRPr>
          </a:p>
          <a:p>
            <a:endParaRPr lang="zh-CN" altLang="zh-CN" sz="2400" dirty="0">
              <a:solidFill>
                <a:srgbClr val="775480"/>
              </a:solidFill>
              <a:latin typeface="微软雅黑 Light" panose="020B0502040204020203" charset="-122"/>
              <a:ea typeface="微软雅黑 Light" panose="020B0502040204020203" charset="-122"/>
            </a:endParaRPr>
          </a:p>
        </p:txBody>
      </p:sp>
      <p:pic>
        <p:nvPicPr>
          <p:cNvPr id="2" name="图片 1">
            <a:extLst>
              <a:ext uri="{FF2B5EF4-FFF2-40B4-BE49-F238E27FC236}">
                <a16:creationId xmlns:a16="http://schemas.microsoft.com/office/drawing/2014/main" id="{C5ECD1A8-F497-B66E-4B2F-0D9D0C5B5476}"/>
              </a:ext>
            </a:extLst>
          </p:cNvPr>
          <p:cNvPicPr>
            <a:picLocks noChangeAspect="1"/>
          </p:cNvPicPr>
          <p:nvPr/>
        </p:nvPicPr>
        <p:blipFill>
          <a:blip r:embed="rId5"/>
          <a:stretch>
            <a:fillRect/>
          </a:stretch>
        </p:blipFill>
        <p:spPr>
          <a:xfrm>
            <a:off x="256356" y="1748790"/>
            <a:ext cx="3760073" cy="1747208"/>
          </a:xfrm>
          <a:prstGeom prst="rect">
            <a:avLst/>
          </a:prstGeom>
          <a:noFill/>
          <a:ln>
            <a:noFill/>
          </a:ln>
        </p:spPr>
      </p:pic>
      <p:pic>
        <p:nvPicPr>
          <p:cNvPr id="4" name="图片 3">
            <a:extLst>
              <a:ext uri="{FF2B5EF4-FFF2-40B4-BE49-F238E27FC236}">
                <a16:creationId xmlns:a16="http://schemas.microsoft.com/office/drawing/2014/main" id="{D2F6449F-43F3-601E-303E-F4EF0AE5C3ED}"/>
              </a:ext>
            </a:extLst>
          </p:cNvPr>
          <p:cNvPicPr>
            <a:picLocks noChangeAspect="1"/>
          </p:cNvPicPr>
          <p:nvPr/>
        </p:nvPicPr>
        <p:blipFill>
          <a:blip r:embed="rId6"/>
          <a:stretch>
            <a:fillRect/>
          </a:stretch>
        </p:blipFill>
        <p:spPr>
          <a:xfrm>
            <a:off x="-281283" y="3849422"/>
            <a:ext cx="12754566" cy="2738390"/>
          </a:xfrm>
          <a:prstGeom prst="rect">
            <a:avLst/>
          </a:prstGeom>
          <a:noFill/>
          <a:ln>
            <a:noFill/>
          </a:ln>
        </p:spPr>
      </p:pic>
    </p:spTree>
    <p:custDataLst>
      <p:tags r:id="rId1"/>
    </p:custDataLst>
    <p:extLst>
      <p:ext uri="{BB962C8B-B14F-4D97-AF65-F5344CB8AC3E}">
        <p14:creationId xmlns:p14="http://schemas.microsoft.com/office/powerpoint/2010/main" val="2411475654"/>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43A08-B7C7-50F9-31C7-BCB102D5FD62}"/>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FC7ADF89-6193-C39A-308C-46FDCF7F458F}"/>
              </a:ext>
            </a:extLst>
          </p:cNvPr>
          <p:cNvSpPr txBox="1"/>
          <p:nvPr>
            <p:custDataLst>
              <p:tags r:id="rId2"/>
            </p:custDataLst>
          </p:nvPr>
        </p:nvSpPr>
        <p:spPr>
          <a:xfrm>
            <a:off x="3588385" y="239352"/>
            <a:ext cx="5147026"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en-US" altLang="zh-CN" sz="3100" dirty="0">
                <a:solidFill>
                  <a:srgbClr val="694B71"/>
                </a:solidFill>
                <a:latin typeface="微软雅黑" panose="020B0503020204020204" pitchFamily="34" charset="-122"/>
                <a:ea typeface="微软雅黑" panose="020B0503020204020204" pitchFamily="34" charset="-122"/>
              </a:rPr>
              <a:t>LOS </a:t>
            </a:r>
            <a:r>
              <a:rPr lang="zh-CN" altLang="zh-CN" sz="3100" dirty="0">
                <a:solidFill>
                  <a:srgbClr val="694B71"/>
                </a:solidFill>
                <a:latin typeface="微软雅黑" panose="020B0503020204020204" pitchFamily="34" charset="-122"/>
                <a:ea typeface="微软雅黑" panose="020B0503020204020204" pitchFamily="34" charset="-122"/>
              </a:rPr>
              <a:t>和</a:t>
            </a:r>
            <a:r>
              <a:rPr lang="en-US" altLang="zh-CN" sz="3100" dirty="0">
                <a:solidFill>
                  <a:srgbClr val="694B71"/>
                </a:solidFill>
                <a:latin typeface="微软雅黑" panose="020B0503020204020204" pitchFamily="34" charset="-122"/>
                <a:ea typeface="微软雅黑" panose="020B0503020204020204" pitchFamily="34" charset="-122"/>
              </a:rPr>
              <a:t> NLOS </a:t>
            </a:r>
            <a:r>
              <a:rPr lang="zh-CN" altLang="zh-CN" sz="3100" dirty="0">
                <a:solidFill>
                  <a:srgbClr val="694B71"/>
                </a:solidFill>
                <a:latin typeface="微软雅黑" panose="020B0503020204020204" pitchFamily="34" charset="-122"/>
                <a:ea typeface="微软雅黑" panose="020B0503020204020204" pitchFamily="34" charset="-122"/>
              </a:rPr>
              <a:t>条件下的活动</a:t>
            </a:r>
          </a:p>
        </p:txBody>
      </p:sp>
      <p:sp>
        <p:nvSpPr>
          <p:cNvPr id="20" name="矩形 19">
            <a:extLst>
              <a:ext uri="{FF2B5EF4-FFF2-40B4-BE49-F238E27FC236}">
                <a16:creationId xmlns:a16="http://schemas.microsoft.com/office/drawing/2014/main" id="{7B6EBEE9-B06F-5116-BAE4-245264B811B4}"/>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C0B5D303-B092-250A-9F1B-B959B9BDF3B7}"/>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D773948D-74F8-8896-E457-A18A76A474CA}"/>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D64B5D8F-5F41-F0ED-2B82-8BA9DF230695}"/>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2803B248-AE32-EF12-60F7-189BA05EC017}"/>
              </a:ext>
            </a:extLst>
          </p:cNvPr>
          <p:cNvSpPr txBox="1"/>
          <p:nvPr/>
        </p:nvSpPr>
        <p:spPr>
          <a:xfrm>
            <a:off x="6536987" y="1748790"/>
            <a:ext cx="5494358" cy="3817620"/>
          </a:xfrm>
          <a:prstGeom prst="rect">
            <a:avLst/>
          </a:prstGeom>
          <a:noFill/>
        </p:spPr>
        <p:txBody>
          <a:bodyPr wrap="square" rtlCol="0">
            <a:noAutofit/>
          </a:bodyPr>
          <a:lstStyle/>
          <a:p>
            <a:r>
              <a:rPr lang="zh-CN" altLang="zh-CN" sz="2400" dirty="0">
                <a:solidFill>
                  <a:srgbClr val="775480"/>
                </a:solidFill>
                <a:latin typeface="微软雅黑 Light" panose="020B0502040204020203" charset="-122"/>
                <a:ea typeface="微软雅黑 Light" panose="020B0502040204020203" charset="-122"/>
              </a:rPr>
              <a:t>我们还注意到，当受试者站立距离</a:t>
            </a:r>
            <a:r>
              <a:rPr lang="en-US" altLang="zh-CN" sz="2400" dirty="0">
                <a:solidFill>
                  <a:srgbClr val="775480"/>
                </a:solidFill>
                <a:latin typeface="微软雅黑 Light" panose="020B0502040204020203" charset="-122"/>
                <a:ea typeface="微软雅黑 Light" panose="020B0502040204020203" charset="-122"/>
              </a:rPr>
              <a:t> LOS </a:t>
            </a:r>
            <a:r>
              <a:rPr lang="zh-CN" altLang="zh-CN" sz="2400" dirty="0">
                <a:solidFill>
                  <a:srgbClr val="775480"/>
                </a:solidFill>
                <a:latin typeface="微软雅黑 Light" panose="020B0502040204020203" charset="-122"/>
                <a:ea typeface="微软雅黑 Light" panose="020B0502040204020203" charset="-122"/>
              </a:rPr>
              <a:t>路径较远时，站立的振幅变化会减小。因此，我们怀疑振幅是否能够可靠地区分站立姿势和其他非运动活动。这激发了我们在给出这个问题的答案之前对</a:t>
            </a:r>
            <a:r>
              <a:rPr lang="en-US" altLang="zh-CN" sz="2400" dirty="0">
                <a:solidFill>
                  <a:srgbClr val="775480"/>
                </a:solidFill>
                <a:latin typeface="微软雅黑 Light" panose="020B0502040204020203" charset="-122"/>
                <a:ea typeface="微软雅黑 Light" panose="020B0502040204020203" charset="-122"/>
              </a:rPr>
              <a:t> LOS/NLOS </a:t>
            </a:r>
            <a:r>
              <a:rPr lang="zh-CN" altLang="zh-CN" sz="2400" dirty="0">
                <a:solidFill>
                  <a:srgbClr val="775480"/>
                </a:solidFill>
                <a:latin typeface="微软雅黑 Light" panose="020B0502040204020203" charset="-122"/>
                <a:ea typeface="微软雅黑 Light" panose="020B0502040204020203" charset="-122"/>
              </a:rPr>
              <a:t>条件的影响进行全面分析。</a:t>
            </a:r>
            <a:endParaRPr lang="en-US" altLang="zh-CN" sz="2400" dirty="0">
              <a:solidFill>
                <a:srgbClr val="775480"/>
              </a:solidFill>
              <a:latin typeface="微软雅黑 Light" panose="020B0502040204020203" charset="-122"/>
              <a:ea typeface="微软雅黑 Light" panose="020B0502040204020203" charset="-122"/>
            </a:endParaRPr>
          </a:p>
          <a:p>
            <a:endParaRPr lang="en-US" altLang="zh-CN" sz="2400" dirty="0">
              <a:solidFill>
                <a:srgbClr val="775480"/>
              </a:solidFill>
              <a:latin typeface="微软雅黑 Light" panose="020B0502040204020203" charset="-122"/>
              <a:ea typeface="微软雅黑 Light" panose="020B0502040204020203" charset="-122"/>
            </a:endParaRPr>
          </a:p>
          <a:p>
            <a:r>
              <a:rPr lang="zh-CN" altLang="zh-CN" sz="2400" dirty="0">
                <a:solidFill>
                  <a:srgbClr val="775480"/>
                </a:solidFill>
                <a:latin typeface="微软雅黑 Light" panose="020B0502040204020203" charset="-122"/>
                <a:ea typeface="微软雅黑 Light" panose="020B0502040204020203" charset="-122"/>
              </a:rPr>
              <a:t>由于日常活动可能发生在室内环境中的不同位置，因此我们在</a:t>
            </a:r>
            <a:r>
              <a:rPr lang="en-US" altLang="zh-CN" sz="2400" dirty="0">
                <a:solidFill>
                  <a:srgbClr val="775480"/>
                </a:solidFill>
                <a:latin typeface="微软雅黑 Light" panose="020B0502040204020203" charset="-122"/>
                <a:ea typeface="微软雅黑 Light" panose="020B0502040204020203" charset="-122"/>
              </a:rPr>
              <a:t> LOS </a:t>
            </a:r>
            <a:r>
              <a:rPr lang="zh-CN" altLang="zh-CN" sz="2400" dirty="0">
                <a:solidFill>
                  <a:srgbClr val="775480"/>
                </a:solidFill>
                <a:latin typeface="微软雅黑 Light" panose="020B0502040204020203" charset="-122"/>
                <a:ea typeface="微软雅黑 Light" panose="020B0502040204020203" charset="-122"/>
              </a:rPr>
              <a:t>和</a:t>
            </a:r>
            <a:r>
              <a:rPr lang="en-US" altLang="zh-CN" sz="2400" dirty="0">
                <a:solidFill>
                  <a:srgbClr val="775480"/>
                </a:solidFill>
                <a:latin typeface="微软雅黑 Light" panose="020B0502040204020203" charset="-122"/>
                <a:ea typeface="微软雅黑 Light" panose="020B0502040204020203" charset="-122"/>
              </a:rPr>
              <a:t> NLOS </a:t>
            </a:r>
            <a:r>
              <a:rPr lang="zh-CN" altLang="zh-CN" sz="2400" dirty="0">
                <a:solidFill>
                  <a:srgbClr val="775480"/>
                </a:solidFill>
                <a:latin typeface="微软雅黑 Light" panose="020B0502040204020203" charset="-122"/>
                <a:ea typeface="微软雅黑 Light" panose="020B0502040204020203" charset="-122"/>
              </a:rPr>
              <a:t>条件下进行活动以了解其影响。 </a:t>
            </a:r>
          </a:p>
          <a:p>
            <a:endParaRPr lang="zh-CN" altLang="zh-CN" sz="2400" dirty="0">
              <a:solidFill>
                <a:srgbClr val="775480"/>
              </a:solidFill>
              <a:latin typeface="微软雅黑 Light" panose="020B0502040204020203" charset="-122"/>
              <a:ea typeface="微软雅黑 Light" panose="020B0502040204020203" charset="-122"/>
            </a:endParaRPr>
          </a:p>
        </p:txBody>
      </p:sp>
      <p:pic>
        <p:nvPicPr>
          <p:cNvPr id="3" name="图片 2">
            <a:extLst>
              <a:ext uri="{FF2B5EF4-FFF2-40B4-BE49-F238E27FC236}">
                <a16:creationId xmlns:a16="http://schemas.microsoft.com/office/drawing/2014/main" id="{29D5AC46-1256-21A6-97C4-52A56B570547}"/>
              </a:ext>
            </a:extLst>
          </p:cNvPr>
          <p:cNvPicPr>
            <a:picLocks noChangeAspect="1"/>
          </p:cNvPicPr>
          <p:nvPr/>
        </p:nvPicPr>
        <p:blipFill>
          <a:blip r:embed="rId5"/>
          <a:stretch>
            <a:fillRect/>
          </a:stretch>
        </p:blipFill>
        <p:spPr>
          <a:xfrm>
            <a:off x="0" y="1366477"/>
            <a:ext cx="6400800" cy="4262572"/>
          </a:xfrm>
          <a:prstGeom prst="rect">
            <a:avLst/>
          </a:prstGeom>
          <a:noFill/>
          <a:ln>
            <a:noFill/>
          </a:ln>
        </p:spPr>
      </p:pic>
    </p:spTree>
    <p:custDataLst>
      <p:tags r:id="rId1"/>
    </p:custDataLst>
    <p:extLst>
      <p:ext uri="{BB962C8B-B14F-4D97-AF65-F5344CB8AC3E}">
        <p14:creationId xmlns:p14="http://schemas.microsoft.com/office/powerpoint/2010/main" val="2087368416"/>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F1959-74AE-963C-B812-1F91EF81E46C}"/>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9057BC9B-4DA4-831E-D183-D4098B72EC9A}"/>
              </a:ext>
            </a:extLst>
          </p:cNvPr>
          <p:cNvSpPr txBox="1"/>
          <p:nvPr>
            <p:custDataLst>
              <p:tags r:id="rId2"/>
            </p:custDataLst>
          </p:nvPr>
        </p:nvSpPr>
        <p:spPr>
          <a:xfrm>
            <a:off x="3588385" y="239352"/>
            <a:ext cx="5147026"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en-US" altLang="zh-CN" sz="3100" dirty="0">
                <a:solidFill>
                  <a:srgbClr val="694B71"/>
                </a:solidFill>
                <a:latin typeface="微软雅黑" panose="020B0503020204020204" pitchFamily="34" charset="-122"/>
                <a:ea typeface="微软雅黑" panose="020B0503020204020204" pitchFamily="34" charset="-122"/>
              </a:rPr>
              <a:t>LOS </a:t>
            </a:r>
            <a:r>
              <a:rPr lang="zh-CN" altLang="zh-CN" sz="3100" dirty="0">
                <a:solidFill>
                  <a:srgbClr val="694B71"/>
                </a:solidFill>
                <a:latin typeface="微软雅黑" panose="020B0503020204020204" pitchFamily="34" charset="-122"/>
                <a:ea typeface="微软雅黑" panose="020B0503020204020204" pitchFamily="34" charset="-122"/>
              </a:rPr>
              <a:t>和</a:t>
            </a:r>
            <a:r>
              <a:rPr lang="en-US" altLang="zh-CN" sz="3100" dirty="0">
                <a:solidFill>
                  <a:srgbClr val="694B71"/>
                </a:solidFill>
                <a:latin typeface="微软雅黑" panose="020B0503020204020204" pitchFamily="34" charset="-122"/>
                <a:ea typeface="微软雅黑" panose="020B0503020204020204" pitchFamily="34" charset="-122"/>
              </a:rPr>
              <a:t> NLOS </a:t>
            </a:r>
            <a:r>
              <a:rPr lang="zh-CN" altLang="zh-CN" sz="3100" dirty="0">
                <a:solidFill>
                  <a:srgbClr val="694B71"/>
                </a:solidFill>
                <a:latin typeface="微软雅黑" panose="020B0503020204020204" pitchFamily="34" charset="-122"/>
                <a:ea typeface="微软雅黑" panose="020B0503020204020204" pitchFamily="34" charset="-122"/>
              </a:rPr>
              <a:t>条件下的活动</a:t>
            </a:r>
          </a:p>
        </p:txBody>
      </p:sp>
      <p:sp>
        <p:nvSpPr>
          <p:cNvPr id="20" name="矩形 19">
            <a:extLst>
              <a:ext uri="{FF2B5EF4-FFF2-40B4-BE49-F238E27FC236}">
                <a16:creationId xmlns:a16="http://schemas.microsoft.com/office/drawing/2014/main" id="{740D8816-0552-084B-EDA5-9683FD82066F}"/>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ECF50C4F-0141-0563-B214-EBBB8F1D641A}"/>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AAC8441F-3293-7037-5CE0-0636321F1020}"/>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2C241D66-A8E4-DE5E-1AD2-48BDC2883922}"/>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F3EABBC2-97DF-43E6-8791-E1E06CC8AABF}"/>
              </a:ext>
            </a:extLst>
          </p:cNvPr>
          <p:cNvSpPr txBox="1"/>
          <p:nvPr/>
        </p:nvSpPr>
        <p:spPr>
          <a:xfrm>
            <a:off x="6697642" y="2301875"/>
            <a:ext cx="5494358" cy="921385"/>
          </a:xfrm>
          <a:prstGeom prst="rect">
            <a:avLst/>
          </a:prstGeom>
          <a:noFill/>
        </p:spPr>
        <p:txBody>
          <a:bodyPr wrap="square" rtlCol="0">
            <a:noAutofit/>
          </a:bodyPr>
          <a:lstStyle/>
          <a:p>
            <a:r>
              <a:rPr lang="zh-CN" altLang="zh-CN" sz="2400" b="1" dirty="0">
                <a:solidFill>
                  <a:srgbClr val="775480"/>
                </a:solidFill>
                <a:latin typeface="微软雅黑 Light" panose="020B0502040204020203" charset="-122"/>
                <a:ea typeface="微软雅黑 Light" panose="020B0502040204020203" charset="-122"/>
              </a:rPr>
              <a:t>一直到多远，站立和其他非运动活动的</a:t>
            </a:r>
            <a:r>
              <a:rPr lang="en-US" altLang="zh-CN" sz="2400" b="1" dirty="0">
                <a:solidFill>
                  <a:srgbClr val="775480"/>
                </a:solidFill>
                <a:latin typeface="微软雅黑 Light" panose="020B0502040204020203" charset="-122"/>
                <a:ea typeface="微软雅黑 Light" panose="020B0502040204020203" charset="-122"/>
              </a:rPr>
              <a:t>CSI</a:t>
            </a:r>
            <a:r>
              <a:rPr lang="zh-CN" altLang="zh-CN" sz="2400" b="1" dirty="0">
                <a:solidFill>
                  <a:srgbClr val="775480"/>
                </a:solidFill>
                <a:latin typeface="微软雅黑 Light" panose="020B0502040204020203" charset="-122"/>
                <a:ea typeface="微软雅黑 Light" panose="020B0502040204020203" charset="-122"/>
              </a:rPr>
              <a:t>振幅才会变得无法辨认？ </a:t>
            </a:r>
          </a:p>
        </p:txBody>
      </p:sp>
      <p:pic>
        <p:nvPicPr>
          <p:cNvPr id="2" name="图片 1">
            <a:extLst>
              <a:ext uri="{FF2B5EF4-FFF2-40B4-BE49-F238E27FC236}">
                <a16:creationId xmlns:a16="http://schemas.microsoft.com/office/drawing/2014/main" id="{81C4DC44-D473-ED2E-767A-79C652FDF1DE}"/>
              </a:ext>
            </a:extLst>
          </p:cNvPr>
          <p:cNvPicPr>
            <a:picLocks noChangeAspect="1"/>
          </p:cNvPicPr>
          <p:nvPr/>
        </p:nvPicPr>
        <p:blipFill>
          <a:blip r:embed="rId5"/>
          <a:stretch>
            <a:fillRect/>
          </a:stretch>
        </p:blipFill>
        <p:spPr>
          <a:xfrm>
            <a:off x="0" y="1952662"/>
            <a:ext cx="6674031" cy="3409876"/>
          </a:xfrm>
          <a:prstGeom prst="rect">
            <a:avLst/>
          </a:prstGeom>
          <a:noFill/>
          <a:ln>
            <a:noFill/>
          </a:ln>
        </p:spPr>
      </p:pic>
      <p:sp>
        <p:nvSpPr>
          <p:cNvPr id="4" name="文本框 3">
            <a:extLst>
              <a:ext uri="{FF2B5EF4-FFF2-40B4-BE49-F238E27FC236}">
                <a16:creationId xmlns:a16="http://schemas.microsoft.com/office/drawing/2014/main" id="{92BFC70E-0B77-D2AA-F1C9-EED1E39CE66E}"/>
              </a:ext>
            </a:extLst>
          </p:cNvPr>
          <p:cNvSpPr txBox="1"/>
          <p:nvPr/>
        </p:nvSpPr>
        <p:spPr>
          <a:xfrm>
            <a:off x="6697642" y="3604634"/>
            <a:ext cx="5494358" cy="921385"/>
          </a:xfrm>
          <a:prstGeom prst="rect">
            <a:avLst/>
          </a:prstGeom>
          <a:noFill/>
        </p:spPr>
        <p:txBody>
          <a:bodyPr wrap="square" rtlCol="0">
            <a:noAutofit/>
          </a:bodyPr>
          <a:lstStyle/>
          <a:p>
            <a:r>
              <a:rPr lang="zh-CN" altLang="zh-CN" sz="2400" b="1" dirty="0">
                <a:solidFill>
                  <a:srgbClr val="775480"/>
                </a:solidFill>
                <a:latin typeface="微软雅黑 Light" panose="020B0502040204020203" charset="-122"/>
                <a:ea typeface="微软雅黑 Light" panose="020B0502040204020203" charset="-122"/>
              </a:rPr>
              <a:t>一直到多远，运动活动和非运动活动的基本信号才会变得难以辨认？ </a:t>
            </a:r>
          </a:p>
        </p:txBody>
      </p:sp>
    </p:spTree>
    <p:custDataLst>
      <p:tags r:id="rId1"/>
    </p:custDataLst>
    <p:extLst>
      <p:ext uri="{BB962C8B-B14F-4D97-AF65-F5344CB8AC3E}">
        <p14:creationId xmlns:p14="http://schemas.microsoft.com/office/powerpoint/2010/main" val="42912086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7EFB6-15D0-1264-9A81-80A681E1922D}"/>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79997520-09BB-13F0-9CBB-EFD9BCF58392}"/>
              </a:ext>
            </a:extLst>
          </p:cNvPr>
          <p:cNvSpPr txBox="1"/>
          <p:nvPr>
            <p:custDataLst>
              <p:tags r:id="rId2"/>
            </p:custDataLst>
          </p:nvPr>
        </p:nvSpPr>
        <p:spPr>
          <a:xfrm>
            <a:off x="3588385" y="239352"/>
            <a:ext cx="5147026"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en-US" altLang="zh-CN" sz="3100" dirty="0">
                <a:solidFill>
                  <a:srgbClr val="694B71"/>
                </a:solidFill>
                <a:latin typeface="微软雅黑" panose="020B0503020204020204" pitchFamily="34" charset="-122"/>
                <a:ea typeface="微软雅黑" panose="020B0503020204020204" pitchFamily="34" charset="-122"/>
              </a:rPr>
              <a:t>LOS </a:t>
            </a:r>
            <a:r>
              <a:rPr lang="zh-CN" altLang="zh-CN" sz="3100" dirty="0">
                <a:solidFill>
                  <a:srgbClr val="694B71"/>
                </a:solidFill>
                <a:latin typeface="微软雅黑" panose="020B0503020204020204" pitchFamily="34" charset="-122"/>
                <a:ea typeface="微软雅黑" panose="020B0503020204020204" pitchFamily="34" charset="-122"/>
              </a:rPr>
              <a:t>和</a:t>
            </a:r>
            <a:r>
              <a:rPr lang="en-US" altLang="zh-CN" sz="3100" dirty="0">
                <a:solidFill>
                  <a:srgbClr val="694B71"/>
                </a:solidFill>
                <a:latin typeface="微软雅黑" panose="020B0503020204020204" pitchFamily="34" charset="-122"/>
                <a:ea typeface="微软雅黑" panose="020B0503020204020204" pitchFamily="34" charset="-122"/>
              </a:rPr>
              <a:t> NLOS </a:t>
            </a:r>
            <a:r>
              <a:rPr lang="zh-CN" altLang="zh-CN" sz="3100" dirty="0">
                <a:solidFill>
                  <a:srgbClr val="694B71"/>
                </a:solidFill>
                <a:latin typeface="微软雅黑" panose="020B0503020204020204" pitchFamily="34" charset="-122"/>
                <a:ea typeface="微软雅黑" panose="020B0503020204020204" pitchFamily="34" charset="-122"/>
              </a:rPr>
              <a:t>条件下的活动</a:t>
            </a:r>
          </a:p>
        </p:txBody>
      </p:sp>
      <p:sp>
        <p:nvSpPr>
          <p:cNvPr id="20" name="矩形 19">
            <a:extLst>
              <a:ext uri="{FF2B5EF4-FFF2-40B4-BE49-F238E27FC236}">
                <a16:creationId xmlns:a16="http://schemas.microsoft.com/office/drawing/2014/main" id="{F21C6E37-5EAF-C096-E549-A4B864384813}"/>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3892C60E-84CA-076F-B709-B068AAD48AA2}"/>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D427C4A5-6D99-58AD-3F13-20C65485D75B}"/>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6B96096C-A9DA-5BE3-B899-A58EE9299B38}"/>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0FF28EBD-457F-04AD-1041-CEFF4D43751E}"/>
              </a:ext>
            </a:extLst>
          </p:cNvPr>
          <p:cNvSpPr txBox="1"/>
          <p:nvPr/>
        </p:nvSpPr>
        <p:spPr>
          <a:xfrm>
            <a:off x="601642" y="1778910"/>
            <a:ext cx="11590358" cy="4562604"/>
          </a:xfrm>
          <a:prstGeom prst="rect">
            <a:avLst/>
          </a:prstGeom>
          <a:noFill/>
        </p:spPr>
        <p:txBody>
          <a:bodyPr wrap="square" rtlCol="0">
            <a:noAutofit/>
          </a:bodyPr>
          <a:lstStyle/>
          <a:p>
            <a:r>
              <a:rPr lang="zh-CN" altLang="en-US" sz="2400" dirty="0">
                <a:solidFill>
                  <a:srgbClr val="775480"/>
                </a:solidFill>
                <a:latin typeface="微软雅黑 Light" panose="020B0502040204020203" charset="-122"/>
                <a:ea typeface="微软雅黑 Light" panose="020B0502040204020203" charset="-122"/>
              </a:rPr>
              <a:t>需要进行实验，发现问题答案</a:t>
            </a:r>
            <a:r>
              <a:rPr lang="zh-CN" altLang="zh-CN" sz="2400" dirty="0">
                <a:solidFill>
                  <a:srgbClr val="775480"/>
                </a:solidFill>
                <a:latin typeface="微软雅黑 Light" panose="020B0502040204020203" charset="-122"/>
                <a:ea typeface="微软雅黑 Light" panose="020B0502040204020203" charset="-122"/>
              </a:rPr>
              <a:t>因房间设置和布局而略有不同。</a:t>
            </a:r>
            <a:endParaRPr lang="en-US" altLang="zh-CN" sz="2400" dirty="0">
              <a:solidFill>
                <a:srgbClr val="775480"/>
              </a:solidFill>
              <a:latin typeface="微软雅黑 Light" panose="020B0502040204020203" charset="-122"/>
              <a:ea typeface="微软雅黑 Light" panose="020B0502040204020203" charset="-122"/>
            </a:endParaRPr>
          </a:p>
          <a:p>
            <a:r>
              <a:rPr lang="zh-CN" altLang="en-US" sz="2400" dirty="0">
                <a:solidFill>
                  <a:srgbClr val="775480"/>
                </a:solidFill>
                <a:latin typeface="微软雅黑 Light" panose="020B0502040204020203" charset="-122"/>
                <a:ea typeface="微软雅黑 Light" panose="020B0502040204020203" charset="-122"/>
              </a:rPr>
              <a:t>第一个问题：</a:t>
            </a:r>
            <a:r>
              <a:rPr lang="zh-CN" altLang="zh-CN" sz="2400" dirty="0">
                <a:solidFill>
                  <a:srgbClr val="775480"/>
                </a:solidFill>
                <a:latin typeface="微软雅黑 Light" panose="020B0502040204020203" charset="-122"/>
                <a:ea typeface="微软雅黑 Light" panose="020B0502040204020203" charset="-122"/>
              </a:rPr>
              <a:t> </a:t>
            </a:r>
            <a:endParaRPr lang="en-US" altLang="zh-CN" sz="2400" dirty="0">
              <a:solidFill>
                <a:srgbClr val="775480"/>
              </a:solidFill>
              <a:latin typeface="微软雅黑 Light" panose="020B0502040204020203" charset="-122"/>
              <a:ea typeface="微软雅黑 Light" panose="020B0502040204020203" charset="-122"/>
            </a:endParaRPr>
          </a:p>
          <a:p>
            <a:r>
              <a:rPr lang="zh-CN" altLang="zh-CN" sz="2400" b="1" dirty="0">
                <a:solidFill>
                  <a:srgbClr val="775480"/>
                </a:solidFill>
                <a:latin typeface="微软雅黑 Light" panose="020B0502040204020203" charset="-122"/>
                <a:ea typeface="微软雅黑 Light" panose="020B0502040204020203" charset="-122"/>
              </a:rPr>
              <a:t>一直到多远，站立和其他非运动活动的</a:t>
            </a:r>
            <a:r>
              <a:rPr lang="en-US" altLang="zh-CN" sz="2400" b="1" dirty="0">
                <a:solidFill>
                  <a:srgbClr val="775480"/>
                </a:solidFill>
                <a:latin typeface="微软雅黑 Light" panose="020B0502040204020203" charset="-122"/>
                <a:ea typeface="微软雅黑 Light" panose="020B0502040204020203" charset="-122"/>
              </a:rPr>
              <a:t>CSI</a:t>
            </a:r>
            <a:r>
              <a:rPr lang="zh-CN" altLang="zh-CN" sz="2400" b="1" dirty="0">
                <a:solidFill>
                  <a:srgbClr val="775480"/>
                </a:solidFill>
                <a:latin typeface="微软雅黑 Light" panose="020B0502040204020203" charset="-122"/>
                <a:ea typeface="微软雅黑 Light" panose="020B0502040204020203" charset="-122"/>
              </a:rPr>
              <a:t>振幅才会变得无法辨认？ </a:t>
            </a:r>
          </a:p>
          <a:p>
            <a:r>
              <a:rPr lang="zh-CN" altLang="zh-CN" sz="2400" dirty="0">
                <a:solidFill>
                  <a:srgbClr val="775480"/>
                </a:solidFill>
                <a:latin typeface="微软雅黑 Light" panose="020B0502040204020203" charset="-122"/>
                <a:ea typeface="微软雅黑 Light" panose="020B0502040204020203" charset="-122"/>
              </a:rPr>
              <a:t>答案</a:t>
            </a:r>
            <a:r>
              <a:rPr lang="zh-CN" altLang="en-US" sz="2400" dirty="0">
                <a:solidFill>
                  <a:srgbClr val="775480"/>
                </a:solidFill>
                <a:latin typeface="微软雅黑 Light" panose="020B0502040204020203" charset="-122"/>
                <a:ea typeface="微软雅黑 Light" panose="020B0502040204020203" charset="-122"/>
              </a:rPr>
              <a:t>：</a:t>
            </a:r>
            <a:r>
              <a:rPr lang="zh-CN" altLang="zh-CN" sz="2400" dirty="0">
                <a:solidFill>
                  <a:srgbClr val="775480"/>
                </a:solidFill>
                <a:latin typeface="微软雅黑 Light" panose="020B0502040204020203" charset="-122"/>
                <a:ea typeface="微软雅黑 Light" panose="020B0502040204020203" charset="-122"/>
              </a:rPr>
              <a:t>在</a:t>
            </a:r>
            <a:r>
              <a:rPr lang="zh-CN" altLang="zh-CN" sz="2400" b="1" dirty="0">
                <a:solidFill>
                  <a:srgbClr val="775480"/>
                </a:solidFill>
                <a:latin typeface="微软雅黑 Light" panose="020B0502040204020203" charset="-122"/>
                <a:ea typeface="微软雅黑 Light" panose="020B0502040204020203" charset="-122"/>
              </a:rPr>
              <a:t>空旷的房间中约为</a:t>
            </a:r>
            <a:r>
              <a:rPr lang="en-US" altLang="zh-CN" sz="2400" b="1" dirty="0">
                <a:solidFill>
                  <a:srgbClr val="775480"/>
                </a:solidFill>
                <a:latin typeface="微软雅黑 Light" panose="020B0502040204020203" charset="-122"/>
                <a:ea typeface="微软雅黑 Light" panose="020B0502040204020203" charset="-122"/>
              </a:rPr>
              <a:t> 2 m</a:t>
            </a:r>
            <a:r>
              <a:rPr lang="zh-CN" altLang="zh-CN" sz="2400" b="1" dirty="0">
                <a:solidFill>
                  <a:srgbClr val="775480"/>
                </a:solidFill>
                <a:latin typeface="微软雅黑 Light" panose="020B0502040204020203" charset="-122"/>
                <a:ea typeface="微软雅黑 Light" panose="020B0502040204020203" charset="-122"/>
              </a:rPr>
              <a:t>，</a:t>
            </a:r>
            <a:r>
              <a:rPr lang="zh-CN" altLang="zh-CN" sz="2400" dirty="0">
                <a:solidFill>
                  <a:srgbClr val="775480"/>
                </a:solidFill>
                <a:latin typeface="微软雅黑 Light" panose="020B0502040204020203" charset="-122"/>
                <a:ea typeface="微软雅黑 Light" panose="020B0502040204020203" charset="-122"/>
              </a:rPr>
              <a:t>而当</a:t>
            </a:r>
            <a:r>
              <a:rPr lang="en-US" altLang="zh-CN" sz="2400" dirty="0">
                <a:solidFill>
                  <a:srgbClr val="775480"/>
                </a:solidFill>
                <a:latin typeface="微软雅黑 Light" panose="020B0502040204020203" charset="-122"/>
                <a:ea typeface="微软雅黑 Light" panose="020B0502040204020203" charset="-122"/>
              </a:rPr>
              <a:t>LOS</a:t>
            </a:r>
            <a:r>
              <a:rPr lang="zh-CN" altLang="zh-CN" sz="2400" dirty="0">
                <a:solidFill>
                  <a:srgbClr val="775480"/>
                </a:solidFill>
                <a:latin typeface="微软雅黑 Light" panose="020B0502040204020203" charset="-122"/>
                <a:ea typeface="微软雅黑 Light" panose="020B0502040204020203" charset="-122"/>
              </a:rPr>
              <a:t>路径之间存在一个高</a:t>
            </a:r>
            <a:r>
              <a:rPr lang="en-US" altLang="zh-CN" sz="2400" dirty="0">
                <a:solidFill>
                  <a:srgbClr val="775480"/>
                </a:solidFill>
                <a:latin typeface="微软雅黑 Light" panose="020B0502040204020203" charset="-122"/>
                <a:ea typeface="微软雅黑 Light" panose="020B0502040204020203" charset="-122"/>
              </a:rPr>
              <a:t> 1 </a:t>
            </a:r>
            <a:r>
              <a:rPr lang="zh-CN" altLang="zh-CN" sz="2400" dirty="0">
                <a:solidFill>
                  <a:srgbClr val="775480"/>
                </a:solidFill>
                <a:latin typeface="微软雅黑 Light" panose="020B0502040204020203" charset="-122"/>
                <a:ea typeface="微软雅黑 Light" panose="020B0502040204020203" charset="-122"/>
              </a:rPr>
              <a:t>米的木质桌子和放在其上的液晶显示屏作为障碍时，这个</a:t>
            </a:r>
            <a:r>
              <a:rPr lang="zh-CN" altLang="zh-CN" sz="2400" b="1" dirty="0">
                <a:solidFill>
                  <a:srgbClr val="775480"/>
                </a:solidFill>
                <a:latin typeface="微软雅黑 Light" panose="020B0502040204020203" charset="-122"/>
                <a:ea typeface="微软雅黑 Light" panose="020B0502040204020203" charset="-122"/>
              </a:rPr>
              <a:t>距离会下降到不到</a:t>
            </a:r>
            <a:r>
              <a:rPr lang="en-US" altLang="zh-CN" sz="2400" b="1" dirty="0">
                <a:solidFill>
                  <a:srgbClr val="775480"/>
                </a:solidFill>
                <a:latin typeface="微软雅黑 Light" panose="020B0502040204020203" charset="-122"/>
                <a:ea typeface="微软雅黑 Light" panose="020B0502040204020203" charset="-122"/>
              </a:rPr>
              <a:t> 1.5 </a:t>
            </a:r>
            <a:r>
              <a:rPr lang="zh-CN" altLang="zh-CN" sz="2400" b="1" dirty="0">
                <a:solidFill>
                  <a:srgbClr val="775480"/>
                </a:solidFill>
                <a:latin typeface="微软雅黑 Light" panose="020B0502040204020203" charset="-122"/>
                <a:ea typeface="微软雅黑 Light" panose="020B0502040204020203" charset="-122"/>
              </a:rPr>
              <a:t>米</a:t>
            </a:r>
            <a:r>
              <a:rPr lang="zh-CN" altLang="zh-CN" sz="2400" dirty="0">
                <a:solidFill>
                  <a:srgbClr val="775480"/>
                </a:solidFill>
                <a:latin typeface="微软雅黑 Light" panose="020B0502040204020203" charset="-122"/>
                <a:ea typeface="微软雅黑 Light" panose="020B0502040204020203" charset="-122"/>
              </a:rPr>
              <a:t>。 </a:t>
            </a:r>
            <a:endParaRPr lang="en-US" altLang="zh-CN" sz="2400" dirty="0">
              <a:solidFill>
                <a:srgbClr val="775480"/>
              </a:solidFill>
              <a:latin typeface="微软雅黑 Light" panose="020B0502040204020203" charset="-122"/>
              <a:ea typeface="微软雅黑 Light" panose="020B0502040204020203" charset="-122"/>
            </a:endParaRPr>
          </a:p>
          <a:p>
            <a:r>
              <a:rPr lang="zh-CN" altLang="zh-CN" sz="2400" dirty="0">
                <a:solidFill>
                  <a:srgbClr val="775480"/>
                </a:solidFill>
                <a:latin typeface="微软雅黑 Light" panose="020B0502040204020203" charset="-122"/>
                <a:ea typeface="微软雅黑 Light" panose="020B0502040204020203" charset="-122"/>
              </a:rPr>
              <a:t>考虑到视线通道（</a:t>
            </a:r>
            <a:r>
              <a:rPr lang="en-US" altLang="zh-CN" sz="2400" dirty="0">
                <a:solidFill>
                  <a:srgbClr val="775480"/>
                </a:solidFill>
                <a:latin typeface="微软雅黑 Light" panose="020B0502040204020203" charset="-122"/>
                <a:ea typeface="微软雅黑 Light" panose="020B0502040204020203" charset="-122"/>
              </a:rPr>
              <a:t>LOS</a:t>
            </a:r>
            <a:r>
              <a:rPr lang="zh-CN" altLang="zh-CN" sz="2400" dirty="0">
                <a:solidFill>
                  <a:srgbClr val="775480"/>
                </a:solidFill>
                <a:latin typeface="微软雅黑 Light" panose="020B0502040204020203" charset="-122"/>
                <a:ea typeface="微软雅黑 Light" panose="020B0502040204020203" charset="-122"/>
              </a:rPr>
              <a:t>）两侧的对称性，我们发现这种覆盖范围不足以满足普通房间的需要。</a:t>
            </a:r>
            <a:endParaRPr lang="en-US" altLang="zh-CN" sz="2400" dirty="0">
              <a:solidFill>
                <a:srgbClr val="775480"/>
              </a:solidFill>
              <a:latin typeface="微软雅黑 Light" panose="020B0502040204020203" charset="-122"/>
              <a:ea typeface="微软雅黑 Light" panose="020B0502040204020203" charset="-122"/>
            </a:endParaRPr>
          </a:p>
          <a:p>
            <a:r>
              <a:rPr lang="zh-CN" altLang="zh-CN" sz="2400" dirty="0">
                <a:solidFill>
                  <a:srgbClr val="775480"/>
                </a:solidFill>
                <a:latin typeface="微软雅黑 Light" panose="020B0502040204020203" charset="-122"/>
                <a:ea typeface="微软雅黑 Light" panose="020B0502040204020203" charset="-122"/>
              </a:rPr>
              <a:t>因此，我们得出结论：在普通的室内居住环境中，</a:t>
            </a:r>
            <a:r>
              <a:rPr lang="en-US" altLang="zh-CN" sz="2400" dirty="0">
                <a:solidFill>
                  <a:srgbClr val="775480"/>
                </a:solidFill>
                <a:latin typeface="微软雅黑 Light" panose="020B0502040204020203" charset="-122"/>
                <a:ea typeface="微软雅黑 Light" panose="020B0502040204020203" charset="-122"/>
              </a:rPr>
              <a:t>CSI </a:t>
            </a:r>
            <a:r>
              <a:rPr lang="zh-CN" altLang="zh-CN" sz="2400" dirty="0">
                <a:solidFill>
                  <a:srgbClr val="775480"/>
                </a:solidFill>
                <a:latin typeface="微软雅黑 Light" panose="020B0502040204020203" charset="-122"/>
                <a:ea typeface="微软雅黑 Light" panose="020B0502040204020203" charset="-122"/>
              </a:rPr>
              <a:t>幅度区分站立姿势与其他静止活动的能力</a:t>
            </a:r>
            <a:r>
              <a:rPr lang="zh-CN" altLang="zh-CN" sz="2400" b="1" dirty="0">
                <a:solidFill>
                  <a:srgbClr val="775480"/>
                </a:solidFill>
                <a:latin typeface="微软雅黑 Light" panose="020B0502040204020203" charset="-122"/>
                <a:ea typeface="微软雅黑 Light" panose="020B0502040204020203" charset="-122"/>
              </a:rPr>
              <a:t>相当有限且不可靠。</a:t>
            </a:r>
          </a:p>
          <a:p>
            <a:endParaRPr lang="zh-CN" altLang="zh-CN" sz="2400" b="1" dirty="0">
              <a:solidFill>
                <a:srgbClr val="775480"/>
              </a:solidFill>
              <a:latin typeface="微软雅黑 Light" panose="020B0502040204020203" charset="-122"/>
              <a:ea typeface="微软雅黑 Light" panose="020B0502040204020203" charset="-122"/>
            </a:endParaRPr>
          </a:p>
          <a:p>
            <a:endParaRPr lang="en-US" altLang="zh-CN" sz="2400" b="1" dirty="0">
              <a:solidFill>
                <a:srgbClr val="775480"/>
              </a:solidFill>
              <a:latin typeface="微软雅黑 Light" panose="020B0502040204020203" charset="-122"/>
              <a:ea typeface="微软雅黑 Light" panose="020B0502040204020203" charset="-122"/>
            </a:endParaRPr>
          </a:p>
        </p:txBody>
      </p:sp>
    </p:spTree>
    <p:custDataLst>
      <p:tags r:id="rId1"/>
    </p:custDataLst>
    <p:extLst>
      <p:ext uri="{BB962C8B-B14F-4D97-AF65-F5344CB8AC3E}">
        <p14:creationId xmlns:p14="http://schemas.microsoft.com/office/powerpoint/2010/main" val="1536866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4CBC9-038C-9771-3938-7C25E994F87C}"/>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B1CEE67A-4181-2C7D-7783-999A72533F30}"/>
              </a:ext>
            </a:extLst>
          </p:cNvPr>
          <p:cNvSpPr txBox="1"/>
          <p:nvPr>
            <p:custDataLst>
              <p:tags r:id="rId2"/>
            </p:custDataLst>
          </p:nvPr>
        </p:nvSpPr>
        <p:spPr>
          <a:xfrm>
            <a:off x="3588385" y="239352"/>
            <a:ext cx="5147026"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algn="dist"/>
            <a:r>
              <a:rPr lang="en-US" altLang="zh-CN" sz="3100" dirty="0">
                <a:solidFill>
                  <a:srgbClr val="694B71"/>
                </a:solidFill>
                <a:latin typeface="微软雅黑" panose="020B0503020204020204" pitchFamily="34" charset="-122"/>
                <a:ea typeface="微软雅黑" panose="020B0503020204020204" pitchFamily="34" charset="-122"/>
              </a:rPr>
              <a:t>LOS </a:t>
            </a:r>
            <a:r>
              <a:rPr lang="zh-CN" altLang="zh-CN" sz="3100" dirty="0">
                <a:solidFill>
                  <a:srgbClr val="694B71"/>
                </a:solidFill>
                <a:latin typeface="微软雅黑" panose="020B0503020204020204" pitchFamily="34" charset="-122"/>
                <a:ea typeface="微软雅黑" panose="020B0503020204020204" pitchFamily="34" charset="-122"/>
              </a:rPr>
              <a:t>和</a:t>
            </a:r>
            <a:r>
              <a:rPr lang="en-US" altLang="zh-CN" sz="3100" dirty="0">
                <a:solidFill>
                  <a:srgbClr val="694B71"/>
                </a:solidFill>
                <a:latin typeface="微软雅黑" panose="020B0503020204020204" pitchFamily="34" charset="-122"/>
                <a:ea typeface="微软雅黑" panose="020B0503020204020204" pitchFamily="34" charset="-122"/>
              </a:rPr>
              <a:t> NLOS </a:t>
            </a:r>
            <a:r>
              <a:rPr lang="zh-CN" altLang="zh-CN" sz="3100" dirty="0">
                <a:solidFill>
                  <a:srgbClr val="694B71"/>
                </a:solidFill>
                <a:latin typeface="微软雅黑" panose="020B0503020204020204" pitchFamily="34" charset="-122"/>
                <a:ea typeface="微软雅黑" panose="020B0503020204020204" pitchFamily="34" charset="-122"/>
              </a:rPr>
              <a:t>条件下的活动</a:t>
            </a:r>
          </a:p>
        </p:txBody>
      </p:sp>
      <p:sp>
        <p:nvSpPr>
          <p:cNvPr id="20" name="矩形 19">
            <a:extLst>
              <a:ext uri="{FF2B5EF4-FFF2-40B4-BE49-F238E27FC236}">
                <a16:creationId xmlns:a16="http://schemas.microsoft.com/office/drawing/2014/main" id="{62630B6C-41AF-75B2-FFFD-7E2F02D12257}"/>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09B90B39-4731-4C32-78E6-9C0017F5B19B}"/>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12BEA8E1-DB2A-9323-F566-CC4FE54CDD7B}"/>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B8AA740F-11CC-8E10-4161-609CC622A5AA}"/>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F765CB83-308E-F23A-2C29-1E37026525D3}"/>
              </a:ext>
            </a:extLst>
          </p:cNvPr>
          <p:cNvSpPr txBox="1"/>
          <p:nvPr/>
        </p:nvSpPr>
        <p:spPr>
          <a:xfrm>
            <a:off x="601642" y="1778910"/>
            <a:ext cx="11590358" cy="4562604"/>
          </a:xfrm>
          <a:prstGeom prst="rect">
            <a:avLst/>
          </a:prstGeom>
          <a:noFill/>
        </p:spPr>
        <p:txBody>
          <a:bodyPr wrap="square" rtlCol="0">
            <a:noAutofit/>
          </a:bodyPr>
          <a:lstStyle/>
          <a:p>
            <a:r>
              <a:rPr lang="zh-CN" altLang="zh-CN" sz="2400" b="1" dirty="0">
                <a:solidFill>
                  <a:srgbClr val="775480"/>
                </a:solidFill>
                <a:latin typeface="微软雅黑 Light" panose="020B0502040204020203" charset="-122"/>
                <a:ea typeface="微软雅黑 Light" panose="020B0502040204020203" charset="-122"/>
              </a:rPr>
              <a:t>一直到多远，运动活动和非运动活动的基本信号才会变得难以辨认？ </a:t>
            </a:r>
          </a:p>
          <a:p>
            <a:r>
              <a:rPr lang="zh-CN" altLang="zh-CN" sz="2400" dirty="0">
                <a:solidFill>
                  <a:srgbClr val="775480"/>
                </a:solidFill>
                <a:latin typeface="微软雅黑 Light" panose="020B0502040204020203" charset="-122"/>
                <a:ea typeface="微软雅黑 Light" panose="020B0502040204020203" charset="-122"/>
              </a:rPr>
              <a:t>答案</a:t>
            </a:r>
            <a:r>
              <a:rPr lang="zh-CN" altLang="en-US" sz="2400" dirty="0">
                <a:solidFill>
                  <a:srgbClr val="775480"/>
                </a:solidFill>
                <a:latin typeface="微软雅黑 Light" panose="020B0502040204020203" charset="-122"/>
                <a:ea typeface="微软雅黑 Light" panose="020B0502040204020203" charset="-122"/>
              </a:rPr>
              <a:t>：</a:t>
            </a:r>
            <a:r>
              <a:rPr lang="zh-CN" altLang="zh-CN" sz="2400" dirty="0">
                <a:solidFill>
                  <a:srgbClr val="775480"/>
                </a:solidFill>
                <a:latin typeface="微软雅黑 Light" panose="020B0502040204020203" charset="-122"/>
                <a:ea typeface="微软雅黑 Light" panose="020B0502040204020203" charset="-122"/>
              </a:rPr>
              <a:t>在</a:t>
            </a:r>
            <a:r>
              <a:rPr lang="zh-CN" altLang="zh-CN" sz="2400" b="1" dirty="0">
                <a:solidFill>
                  <a:srgbClr val="775480"/>
                </a:solidFill>
                <a:latin typeface="微软雅黑 Light" panose="020B0502040204020203" charset="-122"/>
                <a:ea typeface="微软雅黑 Light" panose="020B0502040204020203" charset="-122"/>
              </a:rPr>
              <a:t>空旷的房间中约为</a:t>
            </a:r>
            <a:r>
              <a:rPr lang="en-US" altLang="zh-CN" sz="2400" b="1" dirty="0">
                <a:solidFill>
                  <a:srgbClr val="775480"/>
                </a:solidFill>
                <a:latin typeface="微软雅黑 Light" panose="020B0502040204020203" charset="-122"/>
                <a:ea typeface="微软雅黑 Light" panose="020B0502040204020203" charset="-122"/>
              </a:rPr>
              <a:t> 5 m</a:t>
            </a:r>
            <a:r>
              <a:rPr lang="zh-CN" altLang="zh-CN" sz="2400" b="1" dirty="0">
                <a:solidFill>
                  <a:srgbClr val="775480"/>
                </a:solidFill>
                <a:latin typeface="微软雅黑 Light" panose="020B0502040204020203" charset="-122"/>
                <a:ea typeface="微软雅黑 Light" panose="020B0502040204020203" charset="-122"/>
              </a:rPr>
              <a:t>，若存在与前述相同的木质障碍物，则该距离下降到</a:t>
            </a:r>
            <a:r>
              <a:rPr lang="en-US" altLang="zh-CN" sz="2400" b="1" dirty="0">
                <a:solidFill>
                  <a:srgbClr val="775480"/>
                </a:solidFill>
                <a:latin typeface="微软雅黑 Light" panose="020B0502040204020203" charset="-122"/>
                <a:ea typeface="微软雅黑 Light" panose="020B0502040204020203" charset="-122"/>
              </a:rPr>
              <a:t> 4 </a:t>
            </a:r>
            <a:r>
              <a:rPr lang="zh-CN" altLang="zh-CN" sz="2400" b="1" dirty="0">
                <a:solidFill>
                  <a:srgbClr val="775480"/>
                </a:solidFill>
                <a:latin typeface="微软雅黑 Light" panose="020B0502040204020203" charset="-122"/>
                <a:ea typeface="微软雅黑 Light" panose="020B0502040204020203" charset="-122"/>
              </a:rPr>
              <a:t>米</a:t>
            </a:r>
            <a:endParaRPr lang="en-US" altLang="zh-CN" sz="2400" b="1" dirty="0">
              <a:solidFill>
                <a:srgbClr val="775480"/>
              </a:solidFill>
              <a:latin typeface="微软雅黑 Light" panose="020B0502040204020203" charset="-122"/>
              <a:ea typeface="微软雅黑 Light" panose="020B0502040204020203" charset="-122"/>
            </a:endParaRPr>
          </a:p>
          <a:p>
            <a:r>
              <a:rPr lang="zh-CN" altLang="zh-CN" sz="2400" b="1" dirty="0">
                <a:solidFill>
                  <a:srgbClr val="775480"/>
                </a:solidFill>
                <a:latin typeface="微软雅黑 Light" panose="020B0502040204020203" charset="-122"/>
                <a:ea typeface="微软雅黑 Light" panose="020B0502040204020203" charset="-122"/>
              </a:rPr>
              <a:t>即使在</a:t>
            </a:r>
            <a:r>
              <a:rPr lang="en-US" altLang="zh-CN" sz="2400" b="1" dirty="0">
                <a:solidFill>
                  <a:srgbClr val="775480"/>
                </a:solidFill>
                <a:latin typeface="微软雅黑 Light" panose="020B0502040204020203" charset="-122"/>
                <a:ea typeface="微软雅黑 Light" panose="020B0502040204020203" charset="-122"/>
              </a:rPr>
              <a:t> 4 </a:t>
            </a:r>
            <a:r>
              <a:rPr lang="zh-CN" altLang="zh-CN" sz="2400" b="1" dirty="0">
                <a:solidFill>
                  <a:srgbClr val="775480"/>
                </a:solidFill>
                <a:latin typeface="微软雅黑 Light" panose="020B0502040204020203" charset="-122"/>
                <a:ea typeface="微软雅黑 Light" panose="020B0502040204020203" charset="-122"/>
              </a:rPr>
              <a:t>米的情况下，其覆盖范围对于普通客厅来说也已经足够大。</a:t>
            </a:r>
            <a:br>
              <a:rPr lang="en-US" altLang="zh-CN" sz="2400" b="1" dirty="0">
                <a:solidFill>
                  <a:srgbClr val="775480"/>
                </a:solidFill>
                <a:latin typeface="微软雅黑 Light" panose="020B0502040204020203" charset="-122"/>
                <a:ea typeface="微软雅黑 Light" panose="020B0502040204020203" charset="-122"/>
              </a:rPr>
            </a:br>
            <a:r>
              <a:rPr lang="zh-CN" altLang="zh-CN" sz="2400" b="1" dirty="0">
                <a:solidFill>
                  <a:srgbClr val="775480"/>
                </a:solidFill>
                <a:latin typeface="微软雅黑 Light" panose="020B0502040204020203" charset="-122"/>
                <a:ea typeface="微软雅黑 Light" panose="020B0502040204020203" charset="-122"/>
              </a:rPr>
              <a:t>因此，</a:t>
            </a:r>
            <a:r>
              <a:rPr lang="en-US" altLang="zh-CN" sz="2400" b="1" dirty="0">
                <a:solidFill>
                  <a:srgbClr val="775480"/>
                </a:solidFill>
                <a:latin typeface="微软雅黑 Light" panose="020B0502040204020203" charset="-122"/>
                <a:ea typeface="微软雅黑 Light" panose="020B0502040204020203" charset="-122"/>
              </a:rPr>
              <a:t>CSI </a:t>
            </a:r>
            <a:r>
              <a:rPr lang="zh-CN" altLang="zh-CN" sz="2400" b="1" dirty="0">
                <a:solidFill>
                  <a:srgbClr val="775480"/>
                </a:solidFill>
                <a:latin typeface="微软雅黑 Light" panose="020B0502040204020203" charset="-122"/>
                <a:ea typeface="微软雅黑 Light" panose="020B0502040204020203" charset="-122"/>
              </a:rPr>
              <a:t>幅度区分运动活动与</a:t>
            </a:r>
            <a:r>
              <a:rPr lang="zh-CN" altLang="en-US" sz="2400" b="1" dirty="0">
                <a:solidFill>
                  <a:srgbClr val="775480"/>
                </a:solidFill>
                <a:latin typeface="微软雅黑 Light" panose="020B0502040204020203" charset="-122"/>
                <a:ea typeface="微软雅黑 Light" panose="020B0502040204020203" charset="-122"/>
              </a:rPr>
              <a:t>非静止</a:t>
            </a:r>
            <a:r>
              <a:rPr lang="zh-CN" altLang="zh-CN" sz="2400" b="1" dirty="0">
                <a:solidFill>
                  <a:srgbClr val="775480"/>
                </a:solidFill>
                <a:latin typeface="微软雅黑 Light" panose="020B0502040204020203" charset="-122"/>
                <a:ea typeface="微软雅黑 Light" panose="020B0502040204020203" charset="-122"/>
              </a:rPr>
              <a:t>活动的能力在普通客厅环境下是足够且可靠的。 </a:t>
            </a:r>
          </a:p>
          <a:p>
            <a:endParaRPr lang="en-US" altLang="zh-CN" sz="2400" b="1" dirty="0">
              <a:solidFill>
                <a:srgbClr val="775480"/>
              </a:solidFill>
              <a:latin typeface="微软雅黑 Light" panose="020B0502040204020203" charset="-122"/>
              <a:ea typeface="微软雅黑 Light" panose="020B0502040204020203" charset="-122"/>
            </a:endParaRPr>
          </a:p>
        </p:txBody>
      </p:sp>
    </p:spTree>
    <p:custDataLst>
      <p:tags r:id="rId1"/>
    </p:custDataLst>
    <p:extLst>
      <p:ext uri="{BB962C8B-B14F-4D97-AF65-F5344CB8AC3E}">
        <p14:creationId xmlns:p14="http://schemas.microsoft.com/office/powerpoint/2010/main" val="423210988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4817F-322F-589C-C0A2-4835443E9412}"/>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E4FDE695-2C25-FCF1-3AD8-4EE7BC7AFF7B}"/>
              </a:ext>
            </a:extLst>
          </p:cNvPr>
          <p:cNvSpPr txBox="1"/>
          <p:nvPr>
            <p:custDataLst>
              <p:tags r:id="rId2"/>
            </p:custDataLst>
          </p:nvPr>
        </p:nvSpPr>
        <p:spPr>
          <a:xfrm>
            <a:off x="3588385" y="239352"/>
            <a:ext cx="5147026"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r>
              <a:rPr lang="zh-CN" altLang="zh-CN" sz="3100" dirty="0">
                <a:solidFill>
                  <a:srgbClr val="694B71"/>
                </a:solidFill>
                <a:latin typeface="微软雅黑" panose="020B0503020204020204" pitchFamily="34" charset="-122"/>
                <a:ea typeface="微软雅黑" panose="020B0503020204020204" pitchFamily="34" charset="-122"/>
                <a:cs typeface="+mn-ea"/>
              </a:rPr>
              <a:t>不同设置下的跌倒</a:t>
            </a:r>
          </a:p>
        </p:txBody>
      </p:sp>
      <p:sp>
        <p:nvSpPr>
          <p:cNvPr id="20" name="矩形 19">
            <a:extLst>
              <a:ext uri="{FF2B5EF4-FFF2-40B4-BE49-F238E27FC236}">
                <a16:creationId xmlns:a16="http://schemas.microsoft.com/office/drawing/2014/main" id="{E37FF4AE-4D60-15D6-1965-00064AD0F8A8}"/>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EADC7586-31AC-2740-E724-82A72EFEEC97}"/>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0DA5A152-2969-C348-5F3A-859991B633C1}"/>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7644BB77-FF5F-B031-011C-A894D5019788}"/>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3556CECF-6D8C-68EB-2BFE-23F502FE763B}"/>
              </a:ext>
            </a:extLst>
          </p:cNvPr>
          <p:cNvSpPr txBox="1"/>
          <p:nvPr/>
        </p:nvSpPr>
        <p:spPr>
          <a:xfrm>
            <a:off x="7626484" y="1778910"/>
            <a:ext cx="4565515" cy="3817620"/>
          </a:xfrm>
          <a:prstGeom prst="rect">
            <a:avLst/>
          </a:prstGeom>
          <a:noFill/>
        </p:spPr>
        <p:txBody>
          <a:bodyPr wrap="square" rtlCol="0">
            <a:noAutofit/>
          </a:bodyPr>
          <a:lstStyle/>
          <a:p>
            <a:r>
              <a:rPr lang="zh-CN" altLang="zh-CN" sz="2400" b="1" dirty="0">
                <a:solidFill>
                  <a:srgbClr val="775480"/>
                </a:solidFill>
                <a:latin typeface="微软雅黑 Light" panose="020B0502040204020203" charset="-122"/>
                <a:ea typeface="微软雅黑 Light" panose="020B0502040204020203" charset="-122"/>
              </a:rPr>
              <a:t>然后，我们关注在不同设置下发生的站立跌倒和行走跌倒，包括</a:t>
            </a:r>
            <a:r>
              <a:rPr lang="en-US" altLang="zh-CN" sz="2400" b="1" dirty="0">
                <a:solidFill>
                  <a:srgbClr val="775480"/>
                </a:solidFill>
                <a:latin typeface="微软雅黑 Light" panose="020B0502040204020203" charset="-122"/>
                <a:ea typeface="微软雅黑 Light" panose="020B0502040204020203" charset="-122"/>
              </a:rPr>
              <a:t> LOS </a:t>
            </a:r>
            <a:r>
              <a:rPr lang="zh-CN" altLang="zh-CN" sz="2400" b="1" dirty="0">
                <a:solidFill>
                  <a:srgbClr val="775480"/>
                </a:solidFill>
                <a:latin typeface="微软雅黑 Light" panose="020B0502040204020203" charset="-122"/>
                <a:ea typeface="微软雅黑 Light" panose="020B0502040204020203" charset="-122"/>
              </a:rPr>
              <a:t>和</a:t>
            </a:r>
            <a:r>
              <a:rPr lang="en-US" altLang="zh-CN" sz="2400" b="1" dirty="0">
                <a:solidFill>
                  <a:srgbClr val="775480"/>
                </a:solidFill>
                <a:latin typeface="微软雅黑 Light" panose="020B0502040204020203" charset="-122"/>
                <a:ea typeface="微软雅黑 Light" panose="020B0502040204020203" charset="-122"/>
              </a:rPr>
              <a:t> NLOS</a:t>
            </a:r>
            <a:r>
              <a:rPr lang="zh-CN" altLang="zh-CN" sz="2400" b="1" dirty="0">
                <a:solidFill>
                  <a:srgbClr val="775480"/>
                </a:solidFill>
                <a:latin typeface="微软雅黑 Light" panose="020B0502040204020203" charset="-122"/>
                <a:ea typeface="微软雅黑 Light" panose="020B0502040204020203" charset="-122"/>
              </a:rPr>
              <a:t>。 </a:t>
            </a:r>
            <a:endParaRPr lang="en-US" altLang="zh-CN" sz="2400" b="1" dirty="0">
              <a:solidFill>
                <a:srgbClr val="775480"/>
              </a:solidFill>
              <a:latin typeface="微软雅黑 Light" panose="020B0502040204020203" charset="-122"/>
              <a:ea typeface="微软雅黑 Light" panose="020B0502040204020203" charset="-122"/>
            </a:endParaRPr>
          </a:p>
          <a:p>
            <a:endParaRPr lang="zh-CN" altLang="zh-CN" sz="2400" dirty="0">
              <a:solidFill>
                <a:srgbClr val="775480"/>
              </a:solidFill>
              <a:latin typeface="微软雅黑 Light" panose="020B0502040204020203" charset="-122"/>
              <a:ea typeface="微软雅黑 Light" panose="020B0502040204020203" charset="-122"/>
            </a:endParaRPr>
          </a:p>
        </p:txBody>
      </p:sp>
      <p:pic>
        <p:nvPicPr>
          <p:cNvPr id="2" name="图片 1">
            <a:extLst>
              <a:ext uri="{FF2B5EF4-FFF2-40B4-BE49-F238E27FC236}">
                <a16:creationId xmlns:a16="http://schemas.microsoft.com/office/drawing/2014/main" id="{82EB034D-E891-70B4-5D32-E018EC8DAEB0}"/>
              </a:ext>
            </a:extLst>
          </p:cNvPr>
          <p:cNvPicPr>
            <a:picLocks noChangeAspect="1"/>
          </p:cNvPicPr>
          <p:nvPr/>
        </p:nvPicPr>
        <p:blipFill>
          <a:blip r:embed="rId5"/>
          <a:stretch>
            <a:fillRect/>
          </a:stretch>
        </p:blipFill>
        <p:spPr>
          <a:xfrm>
            <a:off x="0" y="1778910"/>
            <a:ext cx="7398256" cy="3937084"/>
          </a:xfrm>
          <a:prstGeom prst="rect">
            <a:avLst/>
          </a:prstGeom>
          <a:noFill/>
          <a:ln>
            <a:noFill/>
          </a:ln>
        </p:spPr>
      </p:pic>
    </p:spTree>
    <p:custDataLst>
      <p:tags r:id="rId1"/>
    </p:custDataLst>
    <p:extLst>
      <p:ext uri="{BB962C8B-B14F-4D97-AF65-F5344CB8AC3E}">
        <p14:creationId xmlns:p14="http://schemas.microsoft.com/office/powerpoint/2010/main" val="333111221"/>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2AA4F-ABDE-64A5-40D8-006EB0CEC099}"/>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2CF37B81-49F5-D3F0-0C33-A74B41327F89}"/>
              </a:ext>
            </a:extLst>
          </p:cNvPr>
          <p:cNvSpPr txBox="1"/>
          <p:nvPr>
            <p:custDataLst>
              <p:tags r:id="rId2"/>
            </p:custDataLst>
          </p:nvPr>
        </p:nvSpPr>
        <p:spPr>
          <a:xfrm>
            <a:off x="3588385" y="239352"/>
            <a:ext cx="5147026"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r>
              <a:rPr lang="zh-CN" altLang="zh-CN" sz="3100" dirty="0">
                <a:solidFill>
                  <a:srgbClr val="694B71"/>
                </a:solidFill>
                <a:latin typeface="微软雅黑" panose="020B0503020204020204" pitchFamily="34" charset="-122"/>
                <a:ea typeface="微软雅黑" panose="020B0503020204020204" pitchFamily="34" charset="-122"/>
                <a:cs typeface="+mn-ea"/>
              </a:rPr>
              <a:t>不同设置下的跌倒</a:t>
            </a:r>
          </a:p>
        </p:txBody>
      </p:sp>
      <p:sp>
        <p:nvSpPr>
          <p:cNvPr id="20" name="矩形 19">
            <a:extLst>
              <a:ext uri="{FF2B5EF4-FFF2-40B4-BE49-F238E27FC236}">
                <a16:creationId xmlns:a16="http://schemas.microsoft.com/office/drawing/2014/main" id="{8FF70F1E-9E84-7F2C-3CDF-025971B017C0}"/>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7F473FBA-EA63-422C-E00A-45A6F16BABEF}"/>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C38AEDE9-2679-920D-5677-72461DF5E14C}"/>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C4F5D0AF-5F14-99A4-CB2F-E61BBEDDAD59}"/>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id="{FA3C9AFC-BECB-1B10-81F8-603361092675}"/>
              </a:ext>
            </a:extLst>
          </p:cNvPr>
          <p:cNvSpPr txBox="1"/>
          <p:nvPr/>
        </p:nvSpPr>
        <p:spPr>
          <a:xfrm>
            <a:off x="6006844" y="1600200"/>
            <a:ext cx="6185156" cy="4799680"/>
          </a:xfrm>
          <a:prstGeom prst="rect">
            <a:avLst/>
          </a:prstGeom>
          <a:noFill/>
        </p:spPr>
        <p:txBody>
          <a:bodyPr wrap="square" rtlCol="0">
            <a:noAutofit/>
          </a:bodyPr>
          <a:lstStyle/>
          <a:p>
            <a:r>
              <a:rPr lang="zh-CN" altLang="zh-CN" sz="2400" b="1" dirty="0">
                <a:solidFill>
                  <a:srgbClr val="775480"/>
                </a:solidFill>
                <a:latin typeface="微软雅黑 Light" panose="020B0502040204020203" charset="-122"/>
                <a:ea typeface="微软雅黑 Light" panose="020B0502040204020203" charset="-122"/>
              </a:rPr>
              <a:t>先前的研究</a:t>
            </a:r>
            <a:r>
              <a:rPr lang="en-US" altLang="zh-CN" sz="2400" b="1" dirty="0">
                <a:solidFill>
                  <a:srgbClr val="775480"/>
                </a:solidFill>
                <a:latin typeface="微软雅黑 Light" panose="020B0502040204020203" charset="-122"/>
                <a:ea typeface="微软雅黑 Light" panose="020B0502040204020203" charset="-122"/>
              </a:rPr>
              <a:t> </a:t>
            </a:r>
            <a:r>
              <a:rPr lang="zh-CN" altLang="zh-CN" sz="2400" b="1" dirty="0">
                <a:solidFill>
                  <a:srgbClr val="775480"/>
                </a:solidFill>
                <a:latin typeface="微软雅黑 Light" panose="020B0502040204020203" charset="-122"/>
                <a:ea typeface="微软雅黑 Light" panose="020B0502040204020203" charset="-122"/>
              </a:rPr>
              <a:t>确实利用了上述特征来进行实时活动分割，并将其称为异常检测（</a:t>
            </a:r>
            <a:r>
              <a:rPr lang="en-US" altLang="zh-CN" sz="2400" b="1" dirty="0">
                <a:solidFill>
                  <a:srgbClr val="775480"/>
                </a:solidFill>
                <a:latin typeface="微软雅黑 Light" panose="020B0502040204020203" charset="-122"/>
                <a:ea typeface="微软雅黑 Light" panose="020B0502040204020203" charset="-122"/>
              </a:rPr>
              <a:t>Anomaly Detection</a:t>
            </a:r>
            <a:r>
              <a:rPr lang="zh-CN" altLang="zh-CN" sz="2400" b="1" dirty="0">
                <a:solidFill>
                  <a:srgbClr val="775480"/>
                </a:solidFill>
                <a:latin typeface="微软雅黑 Light" panose="020B0502040204020203" charset="-122"/>
                <a:ea typeface="微软雅黑 Light" panose="020B0502040204020203" charset="-122"/>
              </a:rPr>
              <a:t>）。</a:t>
            </a:r>
            <a:br>
              <a:rPr lang="en-US" altLang="zh-CN" sz="2400" b="1" dirty="0">
                <a:solidFill>
                  <a:srgbClr val="775480"/>
                </a:solidFill>
                <a:latin typeface="微软雅黑 Light" panose="020B0502040204020203" charset="-122"/>
                <a:ea typeface="微软雅黑 Light" panose="020B0502040204020203" charset="-122"/>
              </a:rPr>
            </a:br>
            <a:r>
              <a:rPr lang="zh-CN" altLang="zh-CN" sz="2400" b="1" dirty="0">
                <a:solidFill>
                  <a:srgbClr val="775480"/>
                </a:solidFill>
                <a:latin typeface="微软雅黑 Light" panose="020B0502040204020203" charset="-122"/>
                <a:ea typeface="微软雅黑 Light" panose="020B0502040204020203" charset="-122"/>
              </a:rPr>
              <a:t>然而，我们认为这种方法在两个方面过于简化了问题，从而限制了其实用性：</a:t>
            </a:r>
          </a:p>
          <a:p>
            <a:r>
              <a:rPr lang="zh-CN" altLang="zh-CN" sz="2400" b="1" dirty="0">
                <a:solidFill>
                  <a:srgbClr val="775480"/>
                </a:solidFill>
                <a:latin typeface="微软雅黑 Light" panose="020B0502040204020203" charset="-122"/>
                <a:ea typeface="微软雅黑 Light" panose="020B0502040204020203" charset="-122"/>
              </a:rPr>
              <a:t>首先，该方法假设受试者处于一个受控环境中，只执行少量预定义的活动。</a:t>
            </a:r>
          </a:p>
          <a:p>
            <a:r>
              <a:rPr lang="zh-CN" altLang="zh-CN" sz="2400" b="1" dirty="0">
                <a:solidFill>
                  <a:srgbClr val="775480"/>
                </a:solidFill>
                <a:latin typeface="微软雅黑 Light" panose="020B0502040204020203" charset="-122"/>
                <a:ea typeface="微软雅黑 Light" panose="020B0502040204020203" charset="-122"/>
              </a:rPr>
              <a:t>其次，该方法要求两个预定义活动之间必须有一个静止活动作为间隔。</a:t>
            </a:r>
            <a:endParaRPr lang="en-US" altLang="zh-CN" sz="2400" b="1" dirty="0">
              <a:solidFill>
                <a:srgbClr val="775480"/>
              </a:solidFill>
              <a:latin typeface="微软雅黑 Light" panose="020B0502040204020203" charset="-122"/>
              <a:ea typeface="微软雅黑 Light" panose="020B0502040204020203" charset="-122"/>
            </a:endParaRPr>
          </a:p>
          <a:p>
            <a:endParaRPr lang="en-US" altLang="zh-CN" sz="2400" b="1" dirty="0">
              <a:solidFill>
                <a:srgbClr val="775480"/>
              </a:solidFill>
              <a:latin typeface="微软雅黑 Light" panose="020B0502040204020203" charset="-122"/>
              <a:ea typeface="微软雅黑 Light" panose="020B0502040204020203" charset="-122"/>
            </a:endParaRPr>
          </a:p>
        </p:txBody>
      </p:sp>
      <p:pic>
        <p:nvPicPr>
          <p:cNvPr id="3" name="图片 2">
            <a:extLst>
              <a:ext uri="{FF2B5EF4-FFF2-40B4-BE49-F238E27FC236}">
                <a16:creationId xmlns:a16="http://schemas.microsoft.com/office/drawing/2014/main" id="{EE6DE85B-8A11-A60E-B1C6-9B469F519BAB}"/>
              </a:ext>
            </a:extLst>
          </p:cNvPr>
          <p:cNvPicPr>
            <a:picLocks noChangeAspect="1"/>
          </p:cNvPicPr>
          <p:nvPr/>
        </p:nvPicPr>
        <p:blipFill>
          <a:blip r:embed="rId5"/>
          <a:stretch>
            <a:fillRect/>
          </a:stretch>
        </p:blipFill>
        <p:spPr>
          <a:xfrm>
            <a:off x="290194" y="1600200"/>
            <a:ext cx="5546401" cy="4690839"/>
          </a:xfrm>
          <a:prstGeom prst="rect">
            <a:avLst/>
          </a:prstGeom>
        </p:spPr>
      </p:pic>
    </p:spTree>
    <p:custDataLst>
      <p:tags r:id="rId1"/>
    </p:custDataLst>
    <p:extLst>
      <p:ext uri="{BB962C8B-B14F-4D97-AF65-F5344CB8AC3E}">
        <p14:creationId xmlns:p14="http://schemas.microsoft.com/office/powerpoint/2010/main" val="1183605469"/>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190DE-7156-FCE8-4EBC-1712838FB294}"/>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4336EC85-C5C1-3BCE-5A72-F4CCC175816E}"/>
              </a:ext>
            </a:extLst>
          </p:cNvPr>
          <p:cNvSpPr txBox="1"/>
          <p:nvPr>
            <p:custDataLst>
              <p:tags r:id="rId2"/>
            </p:custDataLst>
          </p:nvPr>
        </p:nvSpPr>
        <p:spPr>
          <a:xfrm>
            <a:off x="3588385" y="239352"/>
            <a:ext cx="5147026"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r>
              <a:rPr lang="zh-CN" altLang="en-US" sz="3100" dirty="0">
                <a:solidFill>
                  <a:srgbClr val="694B71"/>
                </a:solidFill>
                <a:latin typeface="微软雅黑" panose="020B0503020204020204" pitchFamily="34" charset="-122"/>
                <a:ea typeface="微软雅黑" panose="020B0503020204020204" pitchFamily="34" charset="-122"/>
                <a:cs typeface="+mn-ea"/>
              </a:rPr>
              <a:t>        </a:t>
            </a:r>
            <a:r>
              <a:rPr lang="en-US" altLang="zh-CN" sz="3100" dirty="0">
                <a:solidFill>
                  <a:srgbClr val="694B71"/>
                </a:solidFill>
                <a:latin typeface="微软雅黑" panose="020B0503020204020204" pitchFamily="34" charset="-122"/>
                <a:ea typeface="微软雅黑" panose="020B0503020204020204" pitchFamily="34" charset="-122"/>
                <a:cs typeface="+mn-ea"/>
              </a:rPr>
              <a:t>CSI</a:t>
            </a:r>
            <a:r>
              <a:rPr lang="zh-CN" altLang="en-US" sz="3100" dirty="0">
                <a:solidFill>
                  <a:srgbClr val="694B71"/>
                </a:solidFill>
                <a:latin typeface="微软雅黑" panose="020B0503020204020204" pitchFamily="34" charset="-122"/>
                <a:ea typeface="微软雅黑" panose="020B0503020204020204" pitchFamily="34" charset="-122"/>
                <a:cs typeface="+mn-ea"/>
              </a:rPr>
              <a:t>振幅</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7AF29C16-2910-3913-02CF-E961AEBCA5CD}"/>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CCFAC462-E532-1D49-4174-6836D0923097}"/>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366389ED-5839-5E13-A8D7-1BE5EB20609F}"/>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CBEEDF97-7D68-BAC2-4119-2227783ADF0C}"/>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1BDE4C6E-495A-7854-C5BA-FB2CBC6842A9}"/>
              </a:ext>
            </a:extLst>
          </p:cNvPr>
          <p:cNvSpPr txBox="1"/>
          <p:nvPr/>
        </p:nvSpPr>
        <p:spPr>
          <a:xfrm>
            <a:off x="850596" y="2004817"/>
            <a:ext cx="10622604" cy="3785652"/>
          </a:xfrm>
          <a:prstGeom prst="rect">
            <a:avLst/>
          </a:prstGeom>
          <a:noFill/>
        </p:spPr>
        <p:txBody>
          <a:bodyPr wrap="square" rtlCol="0">
            <a:spAutoFit/>
          </a:bodyPr>
          <a:lstStyle/>
          <a:p>
            <a:r>
              <a:rPr lang="zh-CN" altLang="en-US" sz="2400" b="1" dirty="0">
                <a:solidFill>
                  <a:srgbClr val="775480"/>
                </a:solidFill>
                <a:latin typeface="微软雅黑 Light" panose="020B0502040204020203" charset="-122"/>
                <a:ea typeface="微软雅黑 Light" panose="020B0502040204020203" charset="-122"/>
              </a:rPr>
              <a:t>只看</a:t>
            </a:r>
            <a:r>
              <a:rPr lang="en-US" altLang="zh-CN" sz="2400" b="1" dirty="0">
                <a:solidFill>
                  <a:srgbClr val="775480"/>
                </a:solidFill>
                <a:latin typeface="微软雅黑 Light" panose="020B0502040204020203" charset="-122"/>
                <a:ea typeface="微软雅黑 Light" panose="020B0502040204020203" charset="-122"/>
              </a:rPr>
              <a:t>CSI</a:t>
            </a:r>
            <a:r>
              <a:rPr lang="zh-CN" altLang="en-US" sz="2400" b="1" dirty="0">
                <a:solidFill>
                  <a:srgbClr val="775480"/>
                </a:solidFill>
                <a:latin typeface="微软雅黑 Light" panose="020B0502040204020203" charset="-122"/>
                <a:ea typeface="微软雅黑 Light" panose="020B0502040204020203" charset="-122"/>
              </a:rPr>
              <a:t>振幅的局限：</a:t>
            </a:r>
            <a:endParaRPr lang="en-US" altLang="zh-CN" sz="2400" b="1" dirty="0">
              <a:solidFill>
                <a:srgbClr val="775480"/>
              </a:solidFill>
              <a:latin typeface="微软雅黑 Light" panose="020B0502040204020203" charset="-122"/>
              <a:ea typeface="微软雅黑 Light" panose="020B0502040204020203" charset="-122"/>
            </a:endParaRPr>
          </a:p>
          <a:p>
            <a:r>
              <a:rPr lang="en-US" altLang="zh-CN" sz="2400" b="1" dirty="0">
                <a:solidFill>
                  <a:srgbClr val="775480"/>
                </a:solidFill>
                <a:latin typeface="微软雅黑 Light" panose="020B0502040204020203" charset="-122"/>
                <a:ea typeface="微软雅黑 Light" panose="020B0502040204020203" charset="-122"/>
              </a:rPr>
              <a:t>1</a:t>
            </a:r>
            <a:r>
              <a:rPr lang="zh-CN" altLang="en-US" sz="2400" b="1" dirty="0">
                <a:solidFill>
                  <a:srgbClr val="775480"/>
                </a:solidFill>
                <a:latin typeface="微软雅黑 Light" panose="020B0502040204020203" charset="-122"/>
                <a:ea typeface="微软雅黑 Light" panose="020B0502040204020203" charset="-122"/>
              </a:rPr>
              <a:t>、</a:t>
            </a:r>
            <a:r>
              <a:rPr lang="zh-CN" altLang="zh-CN" sz="2400" b="1" dirty="0">
                <a:solidFill>
                  <a:srgbClr val="775480"/>
                </a:solidFill>
                <a:latin typeface="微软雅黑 Light" panose="020B0502040204020203" charset="-122"/>
                <a:ea typeface="微软雅黑 Light" panose="020B0502040204020203" charset="-122"/>
              </a:rPr>
              <a:t>只能判断人体受试者是否在进行运动活动</a:t>
            </a:r>
            <a:r>
              <a:rPr lang="zh-CN" altLang="en-US" sz="2400" b="1" dirty="0">
                <a:solidFill>
                  <a:srgbClr val="775480"/>
                </a:solidFill>
                <a:latin typeface="微软雅黑 Light" panose="020B0502040204020203" charset="-122"/>
                <a:ea typeface="微软雅黑 Light" panose="020B0502040204020203" charset="-122"/>
              </a:rPr>
              <a:t>，无法区分跌倒和其他运动活动</a:t>
            </a:r>
            <a:endParaRPr lang="en-US" altLang="zh-CN" sz="2400" b="1" dirty="0">
              <a:solidFill>
                <a:srgbClr val="775480"/>
              </a:solidFill>
              <a:latin typeface="微软雅黑 Light" panose="020B0502040204020203" charset="-122"/>
              <a:ea typeface="微软雅黑 Light" panose="020B0502040204020203" charset="-122"/>
            </a:endParaRPr>
          </a:p>
          <a:p>
            <a:r>
              <a:rPr lang="en-US" altLang="zh-CN" sz="2400" b="1" dirty="0">
                <a:solidFill>
                  <a:srgbClr val="775480"/>
                </a:solidFill>
                <a:latin typeface="微软雅黑 Light" panose="020B0502040204020203" charset="-122"/>
                <a:ea typeface="微软雅黑 Light" panose="020B0502040204020203" charset="-122"/>
              </a:rPr>
              <a:t>2</a:t>
            </a:r>
            <a:r>
              <a:rPr lang="zh-CN" altLang="en-US" sz="2400" b="1" dirty="0">
                <a:solidFill>
                  <a:srgbClr val="775480"/>
                </a:solidFill>
                <a:latin typeface="微软雅黑 Light" panose="020B0502040204020203" charset="-122"/>
                <a:ea typeface="微软雅黑 Light" panose="020B0502040204020203" charset="-122"/>
              </a:rPr>
              <a:t>、</a:t>
            </a:r>
            <a:r>
              <a:rPr lang="zh-CN" altLang="zh-CN" sz="2400" b="1" dirty="0">
                <a:solidFill>
                  <a:srgbClr val="775480"/>
                </a:solidFill>
                <a:latin typeface="微软雅黑 Light" panose="020B0502040204020203" charset="-122"/>
                <a:ea typeface="微软雅黑 Light" panose="020B0502040204020203" charset="-122"/>
              </a:rPr>
              <a:t>区分运动活动与静止活动的能力在普通客厅环境下是足够且可靠的</a:t>
            </a:r>
            <a:r>
              <a:rPr lang="zh-CN" altLang="en-US" sz="2400" b="1" dirty="0">
                <a:solidFill>
                  <a:srgbClr val="775480"/>
                </a:solidFill>
                <a:latin typeface="微软雅黑 Light" panose="020B0502040204020203" charset="-122"/>
                <a:ea typeface="微软雅黑 Light" panose="020B0502040204020203" charset="-122"/>
              </a:rPr>
              <a:t>，但</a:t>
            </a:r>
            <a:r>
              <a:rPr lang="en-US" altLang="zh-CN" sz="2400" b="1" dirty="0">
                <a:solidFill>
                  <a:srgbClr val="775480"/>
                </a:solidFill>
                <a:latin typeface="微软雅黑 Light" panose="020B0502040204020203" charset="-122"/>
                <a:ea typeface="微软雅黑 Light" panose="020B0502040204020203" charset="-122"/>
              </a:rPr>
              <a:t>CSI </a:t>
            </a:r>
            <a:r>
              <a:rPr lang="zh-CN" altLang="zh-CN" sz="2400" b="1" dirty="0">
                <a:solidFill>
                  <a:srgbClr val="775480"/>
                </a:solidFill>
                <a:latin typeface="微软雅黑 Light" panose="020B0502040204020203" charset="-122"/>
                <a:ea typeface="微软雅黑 Light" panose="020B0502040204020203" charset="-122"/>
              </a:rPr>
              <a:t>幅度区分站立姿势与其他静止活动的能力相当有限且不可靠。</a:t>
            </a:r>
            <a:endParaRPr lang="en-US" altLang="zh-CN" sz="2400" b="1" dirty="0">
              <a:solidFill>
                <a:srgbClr val="775480"/>
              </a:solidFill>
              <a:latin typeface="微软雅黑 Light" panose="020B0502040204020203" charset="-122"/>
              <a:ea typeface="微软雅黑 Light" panose="020B0502040204020203" charset="-122"/>
            </a:endParaRPr>
          </a:p>
          <a:p>
            <a:r>
              <a:rPr lang="en-US" altLang="zh-CN" sz="2400" b="1" dirty="0">
                <a:solidFill>
                  <a:srgbClr val="775480"/>
                </a:solidFill>
                <a:latin typeface="微软雅黑 Light" panose="020B0502040204020203" charset="-122"/>
                <a:ea typeface="微软雅黑 Light" panose="020B0502040204020203" charset="-122"/>
              </a:rPr>
              <a:t>3</a:t>
            </a:r>
            <a:r>
              <a:rPr lang="zh-CN" altLang="en-US" sz="2400" b="1" dirty="0">
                <a:solidFill>
                  <a:srgbClr val="775480"/>
                </a:solidFill>
                <a:latin typeface="微软雅黑 Light" panose="020B0502040204020203" charset="-122"/>
                <a:ea typeface="微软雅黑 Light" panose="020B0502040204020203" charset="-122"/>
              </a:rPr>
              <a:t>、对于人类实时活动的分割，由于需要受试人处于一个受控环境，只执行少量预定义的活动，且要求活动之间必须有间隔，</a:t>
            </a:r>
            <a:r>
              <a:rPr lang="zh-CN" altLang="zh-CN" sz="2400" b="1" dirty="0">
                <a:solidFill>
                  <a:srgbClr val="775480"/>
                </a:solidFill>
                <a:latin typeface="微软雅黑 Light" panose="020B0502040204020203" charset="-122"/>
                <a:ea typeface="微软雅黑 Light" panose="020B0502040204020203" charset="-122"/>
              </a:rPr>
              <a:t>无法以自然、连续的方式执行活动 </a:t>
            </a:r>
          </a:p>
          <a:p>
            <a:endParaRPr lang="en-US" altLang="zh-CN" sz="2400" b="1" dirty="0">
              <a:solidFill>
                <a:srgbClr val="775480"/>
              </a:solidFill>
              <a:latin typeface="微软雅黑 Light" panose="020B0502040204020203" charset="-122"/>
              <a:ea typeface="微软雅黑 Light" panose="020B0502040204020203" charset="-122"/>
            </a:endParaRPr>
          </a:p>
          <a:p>
            <a:r>
              <a:rPr lang="en-US" altLang="zh-CN" sz="2400" b="1" dirty="0">
                <a:solidFill>
                  <a:srgbClr val="775480"/>
                </a:solidFill>
                <a:latin typeface="微软雅黑 Light" panose="020B0502040204020203" charset="-122"/>
                <a:ea typeface="微软雅黑 Light" panose="020B0502040204020203" charset="-122"/>
              </a:rPr>
              <a:t>CSI </a:t>
            </a:r>
            <a:r>
              <a:rPr lang="zh-CN" altLang="zh-CN" sz="2400" b="1" dirty="0">
                <a:solidFill>
                  <a:srgbClr val="775480"/>
                </a:solidFill>
                <a:latin typeface="微软雅黑 Light" panose="020B0502040204020203" charset="-122"/>
                <a:ea typeface="微软雅黑 Light" panose="020B0502040204020203" charset="-122"/>
              </a:rPr>
              <a:t>幅度上的这些局限性促使我们进一步探索，看看是否能找到一种更合适的基础信号，用于活动分割和跌倒检测。 </a:t>
            </a:r>
            <a:endParaRPr lang="zh-CN" altLang="en-US" sz="2400" b="1" dirty="0">
              <a:solidFill>
                <a:srgbClr val="775480"/>
              </a:solidFill>
              <a:latin typeface="微软雅黑 Light" panose="020B0502040204020203" charset="-122"/>
              <a:ea typeface="微软雅黑 Light" panose="020B0502040204020203" charset="-122"/>
            </a:endParaRPr>
          </a:p>
        </p:txBody>
      </p:sp>
    </p:spTree>
    <p:custDataLst>
      <p:tags r:id="rId1"/>
    </p:custDataLst>
    <p:extLst>
      <p:ext uri="{BB962C8B-B14F-4D97-AF65-F5344CB8AC3E}">
        <p14:creationId xmlns:p14="http://schemas.microsoft.com/office/powerpoint/2010/main" val="3961737404"/>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2C3B5-DB4C-5332-1A41-FCF907B23A19}"/>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B7E2A540-EB13-6992-1A01-E839713F911E}"/>
              </a:ext>
            </a:extLst>
          </p:cNvPr>
          <p:cNvSpPr txBox="1"/>
          <p:nvPr>
            <p:custDataLst>
              <p:tags r:id="rId3"/>
            </p:custDataLst>
          </p:nvPr>
        </p:nvSpPr>
        <p:spPr>
          <a:xfrm>
            <a:off x="3588385" y="239352"/>
            <a:ext cx="5147026"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r>
              <a:rPr lang="zh-CN" altLang="zh-CN" sz="3100" dirty="0">
                <a:solidFill>
                  <a:srgbClr val="694B71"/>
                </a:solidFill>
                <a:latin typeface="微软雅黑" panose="020B0503020204020204" pitchFamily="34" charset="-122"/>
                <a:ea typeface="微软雅黑" panose="020B0503020204020204" pitchFamily="34" charset="-122"/>
                <a:cs typeface="+mn-ea"/>
              </a:rPr>
              <a:t>人类活动和</a:t>
            </a:r>
            <a:r>
              <a:rPr lang="en-US" altLang="zh-CN" sz="3100" dirty="0">
                <a:solidFill>
                  <a:srgbClr val="694B71"/>
                </a:solidFill>
                <a:latin typeface="微软雅黑" panose="020B0503020204020204" pitchFamily="34" charset="-122"/>
                <a:ea typeface="微软雅黑" panose="020B0503020204020204" pitchFamily="34" charset="-122"/>
                <a:cs typeface="+mn-ea"/>
              </a:rPr>
              <a:t> CSI </a:t>
            </a:r>
            <a:r>
              <a:rPr lang="zh-CN" altLang="zh-CN" sz="3100" dirty="0">
                <a:solidFill>
                  <a:srgbClr val="694B71"/>
                </a:solidFill>
                <a:latin typeface="微软雅黑" panose="020B0503020204020204" pitchFamily="34" charset="-122"/>
                <a:ea typeface="微软雅黑" panose="020B0503020204020204" pitchFamily="34" charset="-122"/>
                <a:cs typeface="+mn-ea"/>
              </a:rPr>
              <a:t>相位 </a:t>
            </a:r>
          </a:p>
        </p:txBody>
      </p:sp>
      <p:sp>
        <p:nvSpPr>
          <p:cNvPr id="20" name="矩形 19">
            <a:extLst>
              <a:ext uri="{FF2B5EF4-FFF2-40B4-BE49-F238E27FC236}">
                <a16:creationId xmlns:a16="http://schemas.microsoft.com/office/drawing/2014/main" id="{F9AC0910-CF3A-0055-6713-E1604F2FF486}"/>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2A185BF5-CBA2-6976-3FDE-595809698A64}"/>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93C73DA0-F6A3-F9DA-D9D0-6F45505F9D7E}"/>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1AD13671-2569-5E95-1DCA-B97C0DD6C84F}"/>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C9EC3BAC-D3E5-99C8-D813-693DE2BA5C21}"/>
              </a:ext>
            </a:extLst>
          </p:cNvPr>
          <p:cNvSpPr txBox="1"/>
          <p:nvPr/>
        </p:nvSpPr>
        <p:spPr>
          <a:xfrm>
            <a:off x="721056" y="1445217"/>
            <a:ext cx="10622604" cy="1569660"/>
          </a:xfrm>
          <a:prstGeom prst="rect">
            <a:avLst/>
          </a:prstGeom>
          <a:noFill/>
        </p:spPr>
        <p:txBody>
          <a:bodyPr wrap="square" rtlCol="0">
            <a:spAutoFit/>
          </a:bodyPr>
          <a:lstStyle/>
          <a:p>
            <a:r>
              <a:rPr lang="zh-CN" altLang="zh-CN" sz="2400" b="1" dirty="0">
                <a:solidFill>
                  <a:srgbClr val="775480"/>
                </a:solidFill>
                <a:latin typeface="微软雅黑 Light" panose="020B0502040204020203" charset="-122"/>
                <a:ea typeface="微软雅黑 Light" panose="020B0502040204020203" charset="-122"/>
              </a:rPr>
              <a:t>由于人类活动会导致信道失真，从而也会导致信号相移，因此我们按照上一节的相同逻辑来研究人类活动与</a:t>
            </a:r>
            <a:r>
              <a:rPr lang="en-US" altLang="zh-CN" sz="2400" b="1" dirty="0">
                <a:solidFill>
                  <a:srgbClr val="775480"/>
                </a:solidFill>
                <a:latin typeface="微软雅黑 Light" panose="020B0502040204020203" charset="-122"/>
                <a:ea typeface="微软雅黑 Light" panose="020B0502040204020203" charset="-122"/>
              </a:rPr>
              <a:t> CSI </a:t>
            </a:r>
            <a:r>
              <a:rPr lang="zh-CN" altLang="zh-CN" sz="2400" b="1" dirty="0">
                <a:solidFill>
                  <a:srgbClr val="775480"/>
                </a:solidFill>
                <a:latin typeface="微软雅黑 Light" panose="020B0502040204020203" charset="-122"/>
                <a:ea typeface="微软雅黑 Light" panose="020B0502040204020203" charset="-122"/>
              </a:rPr>
              <a:t>相位信息之间的关系 </a:t>
            </a:r>
            <a:endParaRPr lang="en-US" altLang="zh-CN" sz="2400" b="1" dirty="0">
              <a:solidFill>
                <a:srgbClr val="775480"/>
              </a:solidFill>
              <a:latin typeface="微软雅黑 Light" panose="020B0502040204020203" charset="-122"/>
              <a:ea typeface="微软雅黑 Light" panose="020B0502040204020203" charset="-122"/>
            </a:endParaRPr>
          </a:p>
          <a:p>
            <a:endParaRPr lang="en-US" altLang="zh-CN" sz="2400" b="1" dirty="0">
              <a:solidFill>
                <a:srgbClr val="775480"/>
              </a:solidFill>
              <a:latin typeface="微软雅黑 Light" panose="020B0502040204020203" charset="-122"/>
              <a:ea typeface="微软雅黑 Light" panose="020B0502040204020203" charset="-122"/>
            </a:endParaRPr>
          </a:p>
          <a:p>
            <a:r>
              <a:rPr lang="zh-CN" altLang="en-US" sz="2400" b="1" dirty="0">
                <a:solidFill>
                  <a:srgbClr val="775480"/>
                </a:solidFill>
                <a:latin typeface="微软雅黑 Light" panose="020B0502040204020203" charset="-122"/>
                <a:ea typeface="微软雅黑 Light" panose="020B0502040204020203" charset="-122"/>
              </a:rPr>
              <a:t>每一条天线发射</a:t>
            </a:r>
            <a:r>
              <a:rPr lang="en-US" altLang="zh-CN" sz="2400" b="1" dirty="0">
                <a:solidFill>
                  <a:srgbClr val="775480"/>
                </a:solidFill>
                <a:latin typeface="微软雅黑 Light" panose="020B0502040204020203" charset="-122"/>
                <a:ea typeface="微软雅黑 Light" panose="020B0502040204020203" charset="-122"/>
              </a:rPr>
              <a:t>30</a:t>
            </a:r>
            <a:r>
              <a:rPr lang="zh-CN" altLang="en-US" sz="2400" b="1" dirty="0">
                <a:solidFill>
                  <a:srgbClr val="775480"/>
                </a:solidFill>
                <a:latin typeface="微软雅黑 Light" panose="020B0502040204020203" charset="-122"/>
                <a:ea typeface="微软雅黑 Light" panose="020B0502040204020203" charset="-122"/>
              </a:rPr>
              <a:t>条子载波，其中，每一条子载波</a:t>
            </a:r>
            <a:r>
              <a:rPr lang="en-US" altLang="zh-CN" sz="2400" b="1" i="1" dirty="0">
                <a:solidFill>
                  <a:srgbClr val="775480"/>
                </a:solidFill>
                <a:latin typeface="微软雅黑 Light" panose="020B0502040204020203" charset="-122"/>
                <a:ea typeface="微软雅黑 Light" panose="020B0502040204020203" charset="-122"/>
              </a:rPr>
              <a:t>f</a:t>
            </a:r>
            <a:r>
              <a:rPr lang="zh-CN" altLang="en-US" sz="2400" b="1" i="1" dirty="0">
                <a:solidFill>
                  <a:srgbClr val="775480"/>
                </a:solidFill>
                <a:latin typeface="微软雅黑 Light" panose="020B0502040204020203" charset="-122"/>
                <a:ea typeface="微软雅黑 Light" panose="020B0502040204020203" charset="-122"/>
              </a:rPr>
              <a:t> </a:t>
            </a:r>
            <a:r>
              <a:rPr lang="zh-CN" altLang="en-US" sz="2400" b="1" dirty="0">
                <a:solidFill>
                  <a:srgbClr val="775480"/>
                </a:solidFill>
                <a:latin typeface="微软雅黑 Light" panose="020B0502040204020203" charset="-122"/>
                <a:ea typeface="微软雅黑 Light" panose="020B0502040204020203" charset="-122"/>
              </a:rPr>
              <a:t>的 </a:t>
            </a:r>
            <a:r>
              <a:rPr lang="en-US" altLang="zh-CN" sz="2400" b="1" dirty="0">
                <a:solidFill>
                  <a:srgbClr val="775480"/>
                </a:solidFill>
                <a:latin typeface="微软雅黑 Light" panose="020B0502040204020203" charset="-122"/>
                <a:ea typeface="微软雅黑 Light" panose="020B0502040204020203" charset="-122"/>
              </a:rPr>
              <a:t>CSI </a:t>
            </a:r>
            <a:r>
              <a:rPr lang="zh-CN" altLang="en-US" sz="2400" b="1" dirty="0">
                <a:solidFill>
                  <a:srgbClr val="775480"/>
                </a:solidFill>
                <a:latin typeface="微软雅黑 Light" panose="020B0502040204020203" charset="-122"/>
                <a:ea typeface="微软雅黑 Light" panose="020B0502040204020203" charset="-122"/>
              </a:rPr>
              <a:t>测量相位</a:t>
            </a:r>
            <a:r>
              <a:rPr lang="en-US" altLang="zh-CN" sz="2400" b="1" dirty="0">
                <a:solidFill>
                  <a:srgbClr val="775480"/>
                </a:solidFill>
                <a:latin typeface="微软雅黑 Light" panose="020B0502040204020203" charset="-122"/>
                <a:ea typeface="微软雅黑 Light" panose="020B0502040204020203" charset="-122"/>
              </a:rPr>
              <a:t>·	1·</a:t>
            </a:r>
            <a:endParaRPr lang="zh-CN" altLang="en-US" sz="2400" b="1" dirty="0">
              <a:solidFill>
                <a:srgbClr val="775480"/>
              </a:solidFill>
              <a:latin typeface="微软雅黑 Light" panose="020B0502040204020203" charset="-122"/>
              <a:ea typeface="微软雅黑 Light" panose="020B0502040204020203" charset="-122"/>
            </a:endParaRPr>
          </a:p>
        </p:txBody>
      </p:sp>
      <p:pic>
        <p:nvPicPr>
          <p:cNvPr id="10" name="图片 9">
            <a:extLst>
              <a:ext uri="{FF2B5EF4-FFF2-40B4-BE49-F238E27FC236}">
                <a16:creationId xmlns:a16="http://schemas.microsoft.com/office/drawing/2014/main" id="{47761FA0-10B7-4AC8-A7E6-8E4E8372F8B4}"/>
              </a:ext>
            </a:extLst>
          </p:cNvPr>
          <p:cNvPicPr>
            <a:picLocks noChangeAspect="1"/>
          </p:cNvPicPr>
          <p:nvPr/>
        </p:nvPicPr>
        <p:blipFill>
          <a:blip r:embed="rId6"/>
          <a:stretch>
            <a:fillRect/>
          </a:stretch>
        </p:blipFill>
        <p:spPr>
          <a:xfrm>
            <a:off x="10397807" y="2819425"/>
            <a:ext cx="597602" cy="929603"/>
          </a:xfrm>
          <a:prstGeom prst="rect">
            <a:avLst/>
          </a:prstGeom>
          <a:noFill/>
          <a:ln>
            <a:noFill/>
          </a:ln>
        </p:spPr>
      </p:pic>
      <p:pic>
        <p:nvPicPr>
          <p:cNvPr id="11" name="图片 10">
            <a:extLst>
              <a:ext uri="{FF2B5EF4-FFF2-40B4-BE49-F238E27FC236}">
                <a16:creationId xmlns:a16="http://schemas.microsoft.com/office/drawing/2014/main" id="{B58D2989-64A6-3607-97A2-A36CEDBAA3EF}"/>
              </a:ext>
            </a:extLst>
          </p:cNvPr>
          <p:cNvPicPr>
            <a:picLocks noChangeAspect="1"/>
          </p:cNvPicPr>
          <p:nvPr/>
        </p:nvPicPr>
        <p:blipFill>
          <a:blip r:embed="rId7"/>
          <a:stretch>
            <a:fillRect/>
          </a:stretch>
        </p:blipFill>
        <p:spPr>
          <a:xfrm>
            <a:off x="3005873" y="3574477"/>
            <a:ext cx="4884482" cy="1072760"/>
          </a:xfrm>
          <a:prstGeom prst="rect">
            <a:avLst/>
          </a:prstGeom>
          <a:noFill/>
          <a:ln>
            <a:noFill/>
          </a:ln>
        </p:spPr>
      </p:pic>
      <p:graphicFrame>
        <p:nvGraphicFramePr>
          <p:cNvPr id="24" name="对象 23">
            <a:extLst>
              <a:ext uri="{FF2B5EF4-FFF2-40B4-BE49-F238E27FC236}">
                <a16:creationId xmlns:a16="http://schemas.microsoft.com/office/drawing/2014/main" id="{B3E7A7F2-9BC9-5C3F-B121-C08D25F4CC54}"/>
              </a:ext>
            </a:extLst>
          </p:cNvPr>
          <p:cNvGraphicFramePr>
            <a:graphicFrameLocks noChangeAspect="1"/>
          </p:cNvGraphicFramePr>
          <p:nvPr>
            <p:extLst>
              <p:ext uri="{D42A27DB-BD31-4B8C-83A1-F6EECF244321}">
                <p14:modId xmlns:p14="http://schemas.microsoft.com/office/powerpoint/2010/main" val="332283229"/>
              </p:ext>
            </p:extLst>
          </p:nvPr>
        </p:nvGraphicFramePr>
        <p:xfrm>
          <a:off x="1535518" y="4853182"/>
          <a:ext cx="8702675" cy="1928812"/>
        </p:xfrm>
        <a:graphic>
          <a:graphicData uri="http://schemas.openxmlformats.org/presentationml/2006/ole">
            <mc:AlternateContent xmlns:mc="http://schemas.openxmlformats.org/markup-compatibility/2006">
              <mc:Choice xmlns:v="urn:schemas-microsoft-com:vml" Requires="v">
                <p:oleObj spid="_x0000_s1064" name="文档" r:id="rId8" imgW="5270500" imgH="1168400" progId="Word.Document.12">
                  <p:embed/>
                </p:oleObj>
              </mc:Choice>
              <mc:Fallback>
                <p:oleObj name="文档" r:id="rId8" imgW="5270500" imgH="1168400" progId="Word.Document.12">
                  <p:embed/>
                  <p:pic>
                    <p:nvPicPr>
                      <p:cNvPr id="0" name=""/>
                      <p:cNvPicPr/>
                      <p:nvPr/>
                    </p:nvPicPr>
                    <p:blipFill>
                      <a:blip r:embed="rId9"/>
                      <a:stretch>
                        <a:fillRect/>
                      </a:stretch>
                    </p:blipFill>
                    <p:spPr>
                      <a:xfrm>
                        <a:off x="1535518" y="4853182"/>
                        <a:ext cx="8702675" cy="1928812"/>
                      </a:xfrm>
                      <a:prstGeom prst="rect">
                        <a:avLst/>
                      </a:prstGeom>
                    </p:spPr>
                  </p:pic>
                </p:oleObj>
              </mc:Fallback>
            </mc:AlternateContent>
          </a:graphicData>
        </a:graphic>
      </p:graphicFrame>
    </p:spTree>
    <p:custDataLst>
      <p:tags r:id="rId2"/>
    </p:custDataLst>
    <p:extLst>
      <p:ext uri="{BB962C8B-B14F-4D97-AF65-F5344CB8AC3E}">
        <p14:creationId xmlns:p14="http://schemas.microsoft.com/office/powerpoint/2010/main" val="131330832"/>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B9A3D-15A4-2AEC-D413-A44F2EB9F01D}"/>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D28000B5-2413-57EF-DD82-802152C8AF47}"/>
              </a:ext>
            </a:extLst>
          </p:cNvPr>
          <p:cNvSpPr txBox="1"/>
          <p:nvPr>
            <p:custDataLst>
              <p:tags r:id="rId3"/>
            </p:custDataLst>
          </p:nvPr>
        </p:nvSpPr>
        <p:spPr>
          <a:xfrm>
            <a:off x="3588385" y="239352"/>
            <a:ext cx="5147026"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r>
              <a:rPr lang="zh-CN" altLang="zh-CN" sz="3100" dirty="0">
                <a:solidFill>
                  <a:srgbClr val="694B71"/>
                </a:solidFill>
                <a:latin typeface="微软雅黑" panose="020B0503020204020204" pitchFamily="34" charset="-122"/>
                <a:ea typeface="微软雅黑" panose="020B0503020204020204" pitchFamily="34" charset="-122"/>
                <a:cs typeface="+mn-ea"/>
              </a:rPr>
              <a:t>人类活动和</a:t>
            </a:r>
            <a:r>
              <a:rPr lang="en-US" altLang="zh-CN" sz="3100" dirty="0">
                <a:solidFill>
                  <a:srgbClr val="694B71"/>
                </a:solidFill>
                <a:latin typeface="微软雅黑" panose="020B0503020204020204" pitchFamily="34" charset="-122"/>
                <a:ea typeface="微软雅黑" panose="020B0503020204020204" pitchFamily="34" charset="-122"/>
                <a:cs typeface="+mn-ea"/>
              </a:rPr>
              <a:t> CSI </a:t>
            </a:r>
            <a:r>
              <a:rPr lang="zh-CN" altLang="zh-CN" sz="3100" dirty="0">
                <a:solidFill>
                  <a:srgbClr val="694B71"/>
                </a:solidFill>
                <a:latin typeface="微软雅黑" panose="020B0503020204020204" pitchFamily="34" charset="-122"/>
                <a:ea typeface="微软雅黑" panose="020B0503020204020204" pitchFamily="34" charset="-122"/>
                <a:cs typeface="+mn-ea"/>
              </a:rPr>
              <a:t>相位 </a:t>
            </a:r>
          </a:p>
        </p:txBody>
      </p:sp>
      <p:sp>
        <p:nvSpPr>
          <p:cNvPr id="20" name="矩形 19">
            <a:extLst>
              <a:ext uri="{FF2B5EF4-FFF2-40B4-BE49-F238E27FC236}">
                <a16:creationId xmlns:a16="http://schemas.microsoft.com/office/drawing/2014/main" id="{C6300071-384C-4C9E-9232-2DE8B8929B64}"/>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963C9D3C-83C1-DF71-EEE2-95C0AD670600}"/>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BBB61E82-CED4-AA34-2AC1-280D6ED603C7}"/>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C24EE315-7422-6B39-F7A3-0459EE2B7B2E}"/>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 name="对象 2">
            <a:extLst>
              <a:ext uri="{FF2B5EF4-FFF2-40B4-BE49-F238E27FC236}">
                <a16:creationId xmlns:a16="http://schemas.microsoft.com/office/drawing/2014/main" id="{29167F8D-E213-5DB4-E8FC-34B958574C77}"/>
              </a:ext>
            </a:extLst>
          </p:cNvPr>
          <p:cNvGraphicFramePr>
            <a:graphicFrameLocks noChangeAspect="1"/>
          </p:cNvGraphicFramePr>
          <p:nvPr>
            <p:extLst>
              <p:ext uri="{D42A27DB-BD31-4B8C-83A1-F6EECF244321}">
                <p14:modId xmlns:p14="http://schemas.microsoft.com/office/powerpoint/2010/main" val="4093803022"/>
              </p:ext>
            </p:extLst>
          </p:nvPr>
        </p:nvGraphicFramePr>
        <p:xfrm>
          <a:off x="512763" y="1651000"/>
          <a:ext cx="11166475" cy="2044700"/>
        </p:xfrm>
        <a:graphic>
          <a:graphicData uri="http://schemas.openxmlformats.org/presentationml/2006/ole">
            <mc:AlternateContent xmlns:mc="http://schemas.openxmlformats.org/markup-compatibility/2006">
              <mc:Choice xmlns:v="urn:schemas-microsoft-com:vml" Requires="v">
                <p:oleObj spid="_x0000_s2088" name="文档" r:id="rId6" imgW="5270500" imgH="965200" progId="Word.Document.12">
                  <p:embed/>
                </p:oleObj>
              </mc:Choice>
              <mc:Fallback>
                <p:oleObj name="文档" r:id="rId6" imgW="5270500" imgH="965200" progId="Word.Document.12">
                  <p:embed/>
                  <p:pic>
                    <p:nvPicPr>
                      <p:cNvPr id="0" name=""/>
                      <p:cNvPicPr/>
                      <p:nvPr/>
                    </p:nvPicPr>
                    <p:blipFill>
                      <a:blip r:embed="rId7"/>
                      <a:stretch>
                        <a:fillRect/>
                      </a:stretch>
                    </p:blipFill>
                    <p:spPr>
                      <a:xfrm>
                        <a:off x="512763" y="1651000"/>
                        <a:ext cx="11166475" cy="2044700"/>
                      </a:xfrm>
                      <a:prstGeom prst="rect">
                        <a:avLst/>
                      </a:prstGeom>
                    </p:spPr>
                  </p:pic>
                </p:oleObj>
              </mc:Fallback>
            </mc:AlternateContent>
          </a:graphicData>
        </a:graphic>
      </p:graphicFrame>
      <p:pic>
        <p:nvPicPr>
          <p:cNvPr id="6" name="图片 5">
            <a:extLst>
              <a:ext uri="{FF2B5EF4-FFF2-40B4-BE49-F238E27FC236}">
                <a16:creationId xmlns:a16="http://schemas.microsoft.com/office/drawing/2014/main" id="{063EE33A-78DC-6566-1FE3-A5A91F6BB0D9}"/>
              </a:ext>
            </a:extLst>
          </p:cNvPr>
          <p:cNvPicPr>
            <a:picLocks noChangeAspect="1"/>
          </p:cNvPicPr>
          <p:nvPr/>
        </p:nvPicPr>
        <p:blipFill>
          <a:blip r:embed="rId8"/>
          <a:stretch>
            <a:fillRect/>
          </a:stretch>
        </p:blipFill>
        <p:spPr>
          <a:xfrm>
            <a:off x="2379405" y="3695700"/>
            <a:ext cx="7433190" cy="1632523"/>
          </a:xfrm>
          <a:prstGeom prst="rect">
            <a:avLst/>
          </a:prstGeom>
          <a:noFill/>
          <a:ln>
            <a:noFill/>
          </a:ln>
        </p:spPr>
      </p:pic>
    </p:spTree>
    <p:custDataLst>
      <p:tags r:id="rId2"/>
    </p:custDataLst>
    <p:extLst>
      <p:ext uri="{BB962C8B-B14F-4D97-AF65-F5344CB8AC3E}">
        <p14:creationId xmlns:p14="http://schemas.microsoft.com/office/powerpoint/2010/main" val="312109043"/>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0AC6C-13DE-51E7-086E-8898BA4F5A68}"/>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DC3683C3-88F6-FEA7-BD43-C75470FED39B}"/>
              </a:ext>
            </a:extLst>
          </p:cNvPr>
          <p:cNvSpPr txBox="1"/>
          <p:nvPr>
            <p:custDataLst>
              <p:tags r:id="rId3"/>
            </p:custDataLst>
          </p:nvPr>
        </p:nvSpPr>
        <p:spPr>
          <a:xfrm>
            <a:off x="3588385" y="239352"/>
            <a:ext cx="5147026"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r>
              <a:rPr lang="zh-CN" altLang="zh-CN" sz="3100" dirty="0">
                <a:solidFill>
                  <a:srgbClr val="694B71"/>
                </a:solidFill>
                <a:latin typeface="微软雅黑" panose="020B0503020204020204" pitchFamily="34" charset="-122"/>
                <a:ea typeface="微软雅黑" panose="020B0503020204020204" pitchFamily="34" charset="-122"/>
                <a:cs typeface="+mn-ea"/>
              </a:rPr>
              <a:t>人类活动和</a:t>
            </a:r>
            <a:r>
              <a:rPr lang="en-US" altLang="zh-CN" sz="3100" dirty="0">
                <a:solidFill>
                  <a:srgbClr val="694B71"/>
                </a:solidFill>
                <a:latin typeface="微软雅黑" panose="020B0503020204020204" pitchFamily="34" charset="-122"/>
                <a:ea typeface="微软雅黑" panose="020B0503020204020204" pitchFamily="34" charset="-122"/>
                <a:cs typeface="+mn-ea"/>
              </a:rPr>
              <a:t> CSI </a:t>
            </a:r>
            <a:r>
              <a:rPr lang="zh-CN" altLang="zh-CN" sz="3100" dirty="0">
                <a:solidFill>
                  <a:srgbClr val="694B71"/>
                </a:solidFill>
                <a:latin typeface="微软雅黑" panose="020B0503020204020204" pitchFamily="34" charset="-122"/>
                <a:ea typeface="微软雅黑" panose="020B0503020204020204" pitchFamily="34" charset="-122"/>
                <a:cs typeface="+mn-ea"/>
              </a:rPr>
              <a:t>相位 </a:t>
            </a:r>
          </a:p>
        </p:txBody>
      </p:sp>
      <p:sp>
        <p:nvSpPr>
          <p:cNvPr id="20" name="矩形 19">
            <a:extLst>
              <a:ext uri="{FF2B5EF4-FFF2-40B4-BE49-F238E27FC236}">
                <a16:creationId xmlns:a16="http://schemas.microsoft.com/office/drawing/2014/main" id="{15A609E5-12EF-11BD-79EB-B677666FAE39}"/>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C37E1776-2234-A59B-56E7-EC694929BC6E}"/>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BE799930-6CCB-6FEF-D08B-20451798D9AE}"/>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5062B3FA-2F37-E5D7-084F-A679701BD7EB}"/>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 name="对象 3">
            <a:extLst>
              <a:ext uri="{FF2B5EF4-FFF2-40B4-BE49-F238E27FC236}">
                <a16:creationId xmlns:a16="http://schemas.microsoft.com/office/drawing/2014/main" id="{4F4A9C57-FC24-DD88-89B1-98E0F5F21775}"/>
              </a:ext>
            </a:extLst>
          </p:cNvPr>
          <p:cNvGraphicFramePr>
            <a:graphicFrameLocks noChangeAspect="1"/>
          </p:cNvGraphicFramePr>
          <p:nvPr>
            <p:extLst>
              <p:ext uri="{D42A27DB-BD31-4B8C-83A1-F6EECF244321}">
                <p14:modId xmlns:p14="http://schemas.microsoft.com/office/powerpoint/2010/main" val="2218624611"/>
              </p:ext>
            </p:extLst>
          </p:nvPr>
        </p:nvGraphicFramePr>
        <p:xfrm>
          <a:off x="656287" y="1442841"/>
          <a:ext cx="11166475" cy="2093714"/>
        </p:xfrm>
        <a:graphic>
          <a:graphicData uri="http://schemas.openxmlformats.org/presentationml/2006/ole">
            <mc:AlternateContent xmlns:mc="http://schemas.openxmlformats.org/markup-compatibility/2006">
              <mc:Choice xmlns:v="urn:schemas-microsoft-com:vml" Requires="v">
                <p:oleObj spid="_x0000_s3150" name="文档" r:id="rId6" imgW="5486400" imgH="1028700" progId="Word.Document.12">
                  <p:embed/>
                </p:oleObj>
              </mc:Choice>
              <mc:Fallback>
                <p:oleObj name="文档" r:id="rId6" imgW="5486400" imgH="1028700" progId="Word.Document.12">
                  <p:embed/>
                  <p:pic>
                    <p:nvPicPr>
                      <p:cNvPr id="4" name="对象 3">
                        <a:extLst>
                          <a:ext uri="{FF2B5EF4-FFF2-40B4-BE49-F238E27FC236}">
                            <a16:creationId xmlns:a16="http://schemas.microsoft.com/office/drawing/2014/main" id="{A2C8861C-E892-D962-F651-0B5A9FEA9CE2}"/>
                          </a:ext>
                        </a:extLst>
                      </p:cNvPr>
                      <p:cNvPicPr/>
                      <p:nvPr/>
                    </p:nvPicPr>
                    <p:blipFill>
                      <a:blip r:embed="rId7"/>
                      <a:stretch>
                        <a:fillRect/>
                      </a:stretch>
                    </p:blipFill>
                    <p:spPr>
                      <a:xfrm>
                        <a:off x="656287" y="1442841"/>
                        <a:ext cx="11166475" cy="2093714"/>
                      </a:xfrm>
                      <a:prstGeom prst="rect">
                        <a:avLst/>
                      </a:prstGeom>
                    </p:spPr>
                  </p:pic>
                </p:oleObj>
              </mc:Fallback>
            </mc:AlternateContent>
          </a:graphicData>
        </a:graphic>
      </p:graphicFrame>
      <p:pic>
        <p:nvPicPr>
          <p:cNvPr id="5" name="图片 4">
            <a:extLst>
              <a:ext uri="{FF2B5EF4-FFF2-40B4-BE49-F238E27FC236}">
                <a16:creationId xmlns:a16="http://schemas.microsoft.com/office/drawing/2014/main" id="{AEC9BF79-B51A-D7C1-8F50-CF3B34512FFF}"/>
              </a:ext>
            </a:extLst>
          </p:cNvPr>
          <p:cNvPicPr>
            <a:picLocks noChangeAspect="1"/>
          </p:cNvPicPr>
          <p:nvPr/>
        </p:nvPicPr>
        <p:blipFill>
          <a:blip r:embed="rId8"/>
          <a:stretch>
            <a:fillRect/>
          </a:stretch>
        </p:blipFill>
        <p:spPr>
          <a:xfrm>
            <a:off x="2493687" y="2695438"/>
            <a:ext cx="7336422" cy="1168464"/>
          </a:xfrm>
          <a:prstGeom prst="rect">
            <a:avLst/>
          </a:prstGeom>
          <a:noFill/>
          <a:ln>
            <a:noFill/>
          </a:ln>
        </p:spPr>
      </p:pic>
      <p:graphicFrame>
        <p:nvGraphicFramePr>
          <p:cNvPr id="10" name="对象 9">
            <a:extLst>
              <a:ext uri="{FF2B5EF4-FFF2-40B4-BE49-F238E27FC236}">
                <a16:creationId xmlns:a16="http://schemas.microsoft.com/office/drawing/2014/main" id="{C7F41523-E513-1261-D2E4-8AFB4FAA3933}"/>
              </a:ext>
            </a:extLst>
          </p:cNvPr>
          <p:cNvGraphicFramePr>
            <a:graphicFrameLocks noChangeAspect="1"/>
          </p:cNvGraphicFramePr>
          <p:nvPr>
            <p:extLst>
              <p:ext uri="{D42A27DB-BD31-4B8C-83A1-F6EECF244321}">
                <p14:modId xmlns:p14="http://schemas.microsoft.com/office/powerpoint/2010/main" val="2592779511"/>
              </p:ext>
            </p:extLst>
          </p:nvPr>
        </p:nvGraphicFramePr>
        <p:xfrm>
          <a:off x="609600" y="4199723"/>
          <a:ext cx="11259850" cy="1876642"/>
        </p:xfrm>
        <a:graphic>
          <a:graphicData uri="http://schemas.openxmlformats.org/presentationml/2006/ole">
            <mc:AlternateContent xmlns:mc="http://schemas.openxmlformats.org/markup-compatibility/2006">
              <mc:Choice xmlns:v="urn:schemas-microsoft-com:vml" Requires="v">
                <p:oleObj spid="_x0000_s3151" name="文档" r:id="rId9" imgW="5486400" imgH="914400" progId="Word.Document.12">
                  <p:embed/>
                </p:oleObj>
              </mc:Choice>
              <mc:Fallback>
                <p:oleObj name="文档" r:id="rId9" imgW="5486400" imgH="914400" progId="Word.Document.12">
                  <p:embed/>
                  <p:pic>
                    <p:nvPicPr>
                      <p:cNvPr id="0" name=""/>
                      <p:cNvPicPr/>
                      <p:nvPr/>
                    </p:nvPicPr>
                    <p:blipFill>
                      <a:blip r:embed="rId10"/>
                      <a:stretch>
                        <a:fillRect/>
                      </a:stretch>
                    </p:blipFill>
                    <p:spPr>
                      <a:xfrm>
                        <a:off x="609600" y="4199723"/>
                        <a:ext cx="11259850" cy="1876642"/>
                      </a:xfrm>
                      <a:prstGeom prst="rect">
                        <a:avLst/>
                      </a:prstGeom>
                    </p:spPr>
                  </p:pic>
                </p:oleObj>
              </mc:Fallback>
            </mc:AlternateContent>
          </a:graphicData>
        </a:graphic>
      </p:graphicFrame>
    </p:spTree>
    <p:custDataLst>
      <p:tags r:id="rId2"/>
    </p:custDataLst>
    <p:extLst>
      <p:ext uri="{BB962C8B-B14F-4D97-AF65-F5344CB8AC3E}">
        <p14:creationId xmlns:p14="http://schemas.microsoft.com/office/powerpoint/2010/main" val="1204111931"/>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8576BB-7E62-8023-96C4-59D5096A5164}"/>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FFE317BC-87CC-9DF8-6E16-B8274D61F478}"/>
              </a:ext>
            </a:extLst>
          </p:cNvPr>
          <p:cNvSpPr txBox="1"/>
          <p:nvPr>
            <p:custDataLst>
              <p:tags r:id="rId3"/>
            </p:custDataLst>
          </p:nvPr>
        </p:nvSpPr>
        <p:spPr>
          <a:xfrm>
            <a:off x="3588385" y="239352"/>
            <a:ext cx="5147026"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r>
              <a:rPr lang="zh-CN" altLang="zh-CN" sz="3100" dirty="0">
                <a:solidFill>
                  <a:srgbClr val="694B71"/>
                </a:solidFill>
                <a:latin typeface="微软雅黑" panose="020B0503020204020204" pitchFamily="34" charset="-122"/>
                <a:ea typeface="微软雅黑" panose="020B0503020204020204" pitchFamily="34" charset="-122"/>
                <a:cs typeface="+mn-ea"/>
              </a:rPr>
              <a:t>人类活动和</a:t>
            </a:r>
            <a:r>
              <a:rPr lang="en-US" altLang="zh-CN" sz="3100" dirty="0">
                <a:solidFill>
                  <a:srgbClr val="694B71"/>
                </a:solidFill>
                <a:latin typeface="微软雅黑" panose="020B0503020204020204" pitchFamily="34" charset="-122"/>
                <a:ea typeface="微软雅黑" panose="020B0503020204020204" pitchFamily="34" charset="-122"/>
                <a:cs typeface="+mn-ea"/>
              </a:rPr>
              <a:t> CSI </a:t>
            </a:r>
            <a:r>
              <a:rPr lang="zh-CN" altLang="zh-CN" sz="3100" dirty="0">
                <a:solidFill>
                  <a:srgbClr val="694B71"/>
                </a:solidFill>
                <a:latin typeface="微软雅黑" panose="020B0503020204020204" pitchFamily="34" charset="-122"/>
                <a:ea typeface="微软雅黑" panose="020B0503020204020204" pitchFamily="34" charset="-122"/>
                <a:cs typeface="+mn-ea"/>
              </a:rPr>
              <a:t>相位 </a:t>
            </a:r>
          </a:p>
        </p:txBody>
      </p:sp>
      <p:sp>
        <p:nvSpPr>
          <p:cNvPr id="20" name="矩形 19">
            <a:extLst>
              <a:ext uri="{FF2B5EF4-FFF2-40B4-BE49-F238E27FC236}">
                <a16:creationId xmlns:a16="http://schemas.microsoft.com/office/drawing/2014/main" id="{BFCB0A60-D9CE-B32E-FD80-FEFBF286F01F}"/>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423163CF-8CA7-3702-AC2D-82E2CAD36734}"/>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4AE786A6-B182-F59C-7456-0CA2EBEF51A1}"/>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CF570015-2083-E2EE-7B3E-257FE0D0F29C}"/>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9" name="对象 8">
            <a:extLst>
              <a:ext uri="{FF2B5EF4-FFF2-40B4-BE49-F238E27FC236}">
                <a16:creationId xmlns:a16="http://schemas.microsoft.com/office/drawing/2014/main" id="{342C5D33-06D0-0778-74D7-4D25091E8158}"/>
              </a:ext>
            </a:extLst>
          </p:cNvPr>
          <p:cNvGraphicFramePr>
            <a:graphicFrameLocks noChangeAspect="1"/>
          </p:cNvGraphicFramePr>
          <p:nvPr>
            <p:extLst>
              <p:ext uri="{D42A27DB-BD31-4B8C-83A1-F6EECF244321}">
                <p14:modId xmlns:p14="http://schemas.microsoft.com/office/powerpoint/2010/main" val="4225961684"/>
              </p:ext>
            </p:extLst>
          </p:nvPr>
        </p:nvGraphicFramePr>
        <p:xfrm>
          <a:off x="706438" y="1470025"/>
          <a:ext cx="10779125" cy="1973263"/>
        </p:xfrm>
        <a:graphic>
          <a:graphicData uri="http://schemas.openxmlformats.org/presentationml/2006/ole">
            <mc:AlternateContent xmlns:mc="http://schemas.openxmlformats.org/markup-compatibility/2006">
              <mc:Choice xmlns:v="urn:schemas-microsoft-com:vml" Requires="v">
                <p:oleObj spid="_x0000_s4212" name="文档" r:id="rId6" imgW="5270500" imgH="965200" progId="Word.Document.12">
                  <p:embed/>
                </p:oleObj>
              </mc:Choice>
              <mc:Fallback>
                <p:oleObj name="文档" r:id="rId6" imgW="5270500" imgH="965200" progId="Word.Document.12">
                  <p:embed/>
                  <p:pic>
                    <p:nvPicPr>
                      <p:cNvPr id="0" name=""/>
                      <p:cNvPicPr/>
                      <p:nvPr/>
                    </p:nvPicPr>
                    <p:blipFill>
                      <a:blip r:embed="rId7"/>
                      <a:stretch>
                        <a:fillRect/>
                      </a:stretch>
                    </p:blipFill>
                    <p:spPr>
                      <a:xfrm>
                        <a:off x="706438" y="1470025"/>
                        <a:ext cx="10779125" cy="1973263"/>
                      </a:xfrm>
                      <a:prstGeom prst="rect">
                        <a:avLst/>
                      </a:prstGeom>
                    </p:spPr>
                  </p:pic>
                </p:oleObj>
              </mc:Fallback>
            </mc:AlternateContent>
          </a:graphicData>
        </a:graphic>
      </p:graphicFrame>
      <p:pic>
        <p:nvPicPr>
          <p:cNvPr id="11" name="图片 10">
            <a:extLst>
              <a:ext uri="{FF2B5EF4-FFF2-40B4-BE49-F238E27FC236}">
                <a16:creationId xmlns:a16="http://schemas.microsoft.com/office/drawing/2014/main" id="{0BE1A119-1CAF-760F-F1AB-8926DB729777}"/>
              </a:ext>
            </a:extLst>
          </p:cNvPr>
          <p:cNvPicPr>
            <a:picLocks noChangeAspect="1"/>
          </p:cNvPicPr>
          <p:nvPr/>
        </p:nvPicPr>
        <p:blipFill>
          <a:blip r:embed="rId8"/>
          <a:stretch>
            <a:fillRect/>
          </a:stretch>
        </p:blipFill>
        <p:spPr>
          <a:xfrm>
            <a:off x="4032720" y="3173086"/>
            <a:ext cx="4126560" cy="1212824"/>
          </a:xfrm>
          <a:prstGeom prst="rect">
            <a:avLst/>
          </a:prstGeom>
          <a:noFill/>
          <a:ln>
            <a:noFill/>
          </a:ln>
        </p:spPr>
      </p:pic>
      <p:graphicFrame>
        <p:nvGraphicFramePr>
          <p:cNvPr id="15" name="对象 14">
            <a:extLst>
              <a:ext uri="{FF2B5EF4-FFF2-40B4-BE49-F238E27FC236}">
                <a16:creationId xmlns:a16="http://schemas.microsoft.com/office/drawing/2014/main" id="{69337513-CB30-74AB-2CFB-BECF452967F4}"/>
              </a:ext>
            </a:extLst>
          </p:cNvPr>
          <p:cNvGraphicFramePr>
            <a:graphicFrameLocks noChangeAspect="1"/>
          </p:cNvGraphicFramePr>
          <p:nvPr>
            <p:extLst>
              <p:ext uri="{D42A27DB-BD31-4B8C-83A1-F6EECF244321}">
                <p14:modId xmlns:p14="http://schemas.microsoft.com/office/powerpoint/2010/main" val="3741619759"/>
              </p:ext>
            </p:extLst>
          </p:nvPr>
        </p:nvGraphicFramePr>
        <p:xfrm>
          <a:off x="706438" y="4229840"/>
          <a:ext cx="11485562" cy="1169826"/>
        </p:xfrm>
        <a:graphic>
          <a:graphicData uri="http://schemas.openxmlformats.org/presentationml/2006/ole">
            <mc:AlternateContent xmlns:mc="http://schemas.openxmlformats.org/markup-compatibility/2006">
              <mc:Choice xmlns:v="urn:schemas-microsoft-com:vml" Requires="v">
                <p:oleObj spid="_x0000_s4213" name="文档" r:id="rId9" imgW="5486400" imgH="558800" progId="Word.Document.12">
                  <p:embed/>
                </p:oleObj>
              </mc:Choice>
              <mc:Fallback>
                <p:oleObj name="文档" r:id="rId9" imgW="5486400" imgH="558800" progId="Word.Document.12">
                  <p:embed/>
                  <p:pic>
                    <p:nvPicPr>
                      <p:cNvPr id="0" name=""/>
                      <p:cNvPicPr/>
                      <p:nvPr/>
                    </p:nvPicPr>
                    <p:blipFill>
                      <a:blip r:embed="rId10"/>
                      <a:stretch>
                        <a:fillRect/>
                      </a:stretch>
                    </p:blipFill>
                    <p:spPr>
                      <a:xfrm>
                        <a:off x="706438" y="4229840"/>
                        <a:ext cx="11485562" cy="1169826"/>
                      </a:xfrm>
                      <a:prstGeom prst="rect">
                        <a:avLst/>
                      </a:prstGeom>
                    </p:spPr>
                  </p:pic>
                </p:oleObj>
              </mc:Fallback>
            </mc:AlternateContent>
          </a:graphicData>
        </a:graphic>
      </p:graphicFrame>
      <p:graphicFrame>
        <p:nvGraphicFramePr>
          <p:cNvPr id="16" name="对象 15">
            <a:extLst>
              <a:ext uri="{FF2B5EF4-FFF2-40B4-BE49-F238E27FC236}">
                <a16:creationId xmlns:a16="http://schemas.microsoft.com/office/drawing/2014/main" id="{048C88D4-E499-9589-7FA3-01ED0453E223}"/>
              </a:ext>
            </a:extLst>
          </p:cNvPr>
          <p:cNvGraphicFramePr>
            <a:graphicFrameLocks noChangeAspect="1"/>
          </p:cNvGraphicFramePr>
          <p:nvPr>
            <p:extLst>
              <p:ext uri="{D42A27DB-BD31-4B8C-83A1-F6EECF244321}">
                <p14:modId xmlns:p14="http://schemas.microsoft.com/office/powerpoint/2010/main" val="524588707"/>
              </p:ext>
            </p:extLst>
          </p:nvPr>
        </p:nvGraphicFramePr>
        <p:xfrm>
          <a:off x="706438" y="5757375"/>
          <a:ext cx="14770770" cy="603644"/>
        </p:xfrm>
        <a:graphic>
          <a:graphicData uri="http://schemas.openxmlformats.org/presentationml/2006/ole">
            <mc:AlternateContent xmlns:mc="http://schemas.openxmlformats.org/markup-compatibility/2006">
              <mc:Choice xmlns:v="urn:schemas-microsoft-com:vml" Requires="v">
                <p:oleObj spid="_x0000_s4214" name="文档" r:id="rId11" imgW="5486400" imgH="228600" progId="Word.Document.12">
                  <p:embed/>
                </p:oleObj>
              </mc:Choice>
              <mc:Fallback>
                <p:oleObj name="文档" r:id="rId11" imgW="5486400" imgH="228600" progId="Word.Document.12">
                  <p:embed/>
                  <p:pic>
                    <p:nvPicPr>
                      <p:cNvPr id="0" name=""/>
                      <p:cNvPicPr/>
                      <p:nvPr/>
                    </p:nvPicPr>
                    <p:blipFill>
                      <a:blip r:embed="rId12"/>
                      <a:stretch>
                        <a:fillRect/>
                      </a:stretch>
                    </p:blipFill>
                    <p:spPr>
                      <a:xfrm>
                        <a:off x="706438" y="5757375"/>
                        <a:ext cx="14770770" cy="603644"/>
                      </a:xfrm>
                      <a:prstGeom prst="rect">
                        <a:avLst/>
                      </a:prstGeom>
                    </p:spPr>
                  </p:pic>
                </p:oleObj>
              </mc:Fallback>
            </mc:AlternateContent>
          </a:graphicData>
        </a:graphic>
      </p:graphicFrame>
    </p:spTree>
    <p:custDataLst>
      <p:tags r:id="rId2"/>
    </p:custDataLst>
    <p:extLst>
      <p:ext uri="{BB962C8B-B14F-4D97-AF65-F5344CB8AC3E}">
        <p14:creationId xmlns:p14="http://schemas.microsoft.com/office/powerpoint/2010/main" val="906910695"/>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090A6-E5E9-A984-E63A-871EC7705D46}"/>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7574FDF9-053E-229D-A9DD-09178CBB5030}"/>
              </a:ext>
            </a:extLst>
          </p:cNvPr>
          <p:cNvSpPr txBox="1"/>
          <p:nvPr>
            <p:custDataLst>
              <p:tags r:id="rId3"/>
            </p:custDataLst>
          </p:nvPr>
        </p:nvSpPr>
        <p:spPr>
          <a:xfrm>
            <a:off x="3588385" y="239352"/>
            <a:ext cx="5147026"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r>
              <a:rPr lang="zh-CN" altLang="zh-CN" sz="3100" dirty="0">
                <a:solidFill>
                  <a:srgbClr val="694B71"/>
                </a:solidFill>
                <a:latin typeface="微软雅黑" panose="020B0503020204020204" pitchFamily="34" charset="-122"/>
                <a:ea typeface="微软雅黑" panose="020B0503020204020204" pitchFamily="34" charset="-122"/>
                <a:cs typeface="+mn-ea"/>
              </a:rPr>
              <a:t>人类活动和</a:t>
            </a:r>
            <a:r>
              <a:rPr lang="en-US" altLang="zh-CN" sz="3100" dirty="0">
                <a:solidFill>
                  <a:srgbClr val="694B71"/>
                </a:solidFill>
                <a:latin typeface="微软雅黑" panose="020B0503020204020204" pitchFamily="34" charset="-122"/>
                <a:ea typeface="微软雅黑" panose="020B0503020204020204" pitchFamily="34" charset="-122"/>
                <a:cs typeface="+mn-ea"/>
              </a:rPr>
              <a:t> CSI </a:t>
            </a:r>
            <a:r>
              <a:rPr lang="zh-CN" altLang="zh-CN" sz="3100" dirty="0">
                <a:solidFill>
                  <a:srgbClr val="694B71"/>
                </a:solidFill>
                <a:latin typeface="微软雅黑" panose="020B0503020204020204" pitchFamily="34" charset="-122"/>
                <a:ea typeface="微软雅黑" panose="020B0503020204020204" pitchFamily="34" charset="-122"/>
                <a:cs typeface="+mn-ea"/>
              </a:rPr>
              <a:t>相位 </a:t>
            </a:r>
          </a:p>
        </p:txBody>
      </p:sp>
      <p:sp>
        <p:nvSpPr>
          <p:cNvPr id="20" name="矩形 19">
            <a:extLst>
              <a:ext uri="{FF2B5EF4-FFF2-40B4-BE49-F238E27FC236}">
                <a16:creationId xmlns:a16="http://schemas.microsoft.com/office/drawing/2014/main" id="{D6356B55-543F-F0CB-A16F-0C7F901B4FB7}"/>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169094C1-898C-4DBD-5A04-D516ABE4D5B1}"/>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0BB64DA1-2863-A135-5037-2C6F8192B6B3}"/>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875E2578-97FE-B368-3519-AD4BF6545267}"/>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B56C8BD0-7064-EFBA-6875-18A0B31B43D2}"/>
              </a:ext>
            </a:extLst>
          </p:cNvPr>
          <p:cNvPicPr>
            <a:picLocks noChangeAspect="1"/>
          </p:cNvPicPr>
          <p:nvPr/>
        </p:nvPicPr>
        <p:blipFill>
          <a:blip r:embed="rId6"/>
          <a:stretch>
            <a:fillRect/>
          </a:stretch>
        </p:blipFill>
        <p:spPr>
          <a:xfrm>
            <a:off x="2493687" y="2108351"/>
            <a:ext cx="7336422" cy="1168464"/>
          </a:xfrm>
          <a:prstGeom prst="rect">
            <a:avLst/>
          </a:prstGeom>
          <a:noFill/>
          <a:ln>
            <a:noFill/>
          </a:ln>
        </p:spPr>
      </p:pic>
      <p:sp>
        <p:nvSpPr>
          <p:cNvPr id="2" name="文本框 1">
            <a:extLst>
              <a:ext uri="{FF2B5EF4-FFF2-40B4-BE49-F238E27FC236}">
                <a16:creationId xmlns:a16="http://schemas.microsoft.com/office/drawing/2014/main" id="{3CE7F459-02C0-3A28-3902-C1817E5BC013}"/>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pic>
        <p:nvPicPr>
          <p:cNvPr id="3" name="图片 2">
            <a:extLst>
              <a:ext uri="{FF2B5EF4-FFF2-40B4-BE49-F238E27FC236}">
                <a16:creationId xmlns:a16="http://schemas.microsoft.com/office/drawing/2014/main" id="{C40DF8F6-9B63-3373-A200-56B87A2F75AD}"/>
              </a:ext>
            </a:extLst>
          </p:cNvPr>
          <p:cNvPicPr>
            <a:picLocks noChangeAspect="1"/>
          </p:cNvPicPr>
          <p:nvPr/>
        </p:nvPicPr>
        <p:blipFill>
          <a:blip r:embed="rId7"/>
          <a:stretch>
            <a:fillRect/>
          </a:stretch>
        </p:blipFill>
        <p:spPr>
          <a:xfrm>
            <a:off x="3199201" y="1989396"/>
            <a:ext cx="5925394" cy="1364400"/>
          </a:xfrm>
          <a:prstGeom prst="rect">
            <a:avLst/>
          </a:prstGeom>
          <a:noFill/>
          <a:ln>
            <a:noFill/>
          </a:ln>
        </p:spPr>
      </p:pic>
      <p:graphicFrame>
        <p:nvGraphicFramePr>
          <p:cNvPr id="12" name="对象 11">
            <a:extLst>
              <a:ext uri="{FF2B5EF4-FFF2-40B4-BE49-F238E27FC236}">
                <a16:creationId xmlns:a16="http://schemas.microsoft.com/office/drawing/2014/main" id="{6D2E4968-D683-5DEE-4D24-D432469DC6F9}"/>
              </a:ext>
            </a:extLst>
          </p:cNvPr>
          <p:cNvGraphicFramePr>
            <a:graphicFrameLocks noChangeAspect="1"/>
          </p:cNvGraphicFramePr>
          <p:nvPr>
            <p:extLst>
              <p:ext uri="{D42A27DB-BD31-4B8C-83A1-F6EECF244321}">
                <p14:modId xmlns:p14="http://schemas.microsoft.com/office/powerpoint/2010/main" val="215391272"/>
              </p:ext>
            </p:extLst>
          </p:nvPr>
        </p:nvGraphicFramePr>
        <p:xfrm>
          <a:off x="611188" y="4379913"/>
          <a:ext cx="10968037" cy="1190625"/>
        </p:xfrm>
        <a:graphic>
          <a:graphicData uri="http://schemas.openxmlformats.org/presentationml/2006/ole">
            <mc:AlternateContent xmlns:mc="http://schemas.openxmlformats.org/markup-compatibility/2006">
              <mc:Choice xmlns:v="urn:schemas-microsoft-com:vml" Requires="v">
                <p:oleObj spid="_x0000_s5160" name="文档" r:id="rId8" imgW="5270500" imgH="571500" progId="Word.Document.12">
                  <p:embed/>
                </p:oleObj>
              </mc:Choice>
              <mc:Fallback>
                <p:oleObj name="文档" r:id="rId8" imgW="5270500" imgH="571500" progId="Word.Document.12">
                  <p:embed/>
                  <p:pic>
                    <p:nvPicPr>
                      <p:cNvPr id="0" name=""/>
                      <p:cNvPicPr/>
                      <p:nvPr/>
                    </p:nvPicPr>
                    <p:blipFill>
                      <a:blip r:embed="rId9"/>
                      <a:stretch>
                        <a:fillRect/>
                      </a:stretch>
                    </p:blipFill>
                    <p:spPr>
                      <a:xfrm>
                        <a:off x="611188" y="4379913"/>
                        <a:ext cx="10968037" cy="1190625"/>
                      </a:xfrm>
                      <a:prstGeom prst="rect">
                        <a:avLst/>
                      </a:prstGeom>
                    </p:spPr>
                  </p:pic>
                </p:oleObj>
              </mc:Fallback>
            </mc:AlternateContent>
          </a:graphicData>
        </a:graphic>
      </p:graphicFrame>
    </p:spTree>
    <p:custDataLst>
      <p:tags r:id="rId2"/>
    </p:custDataLst>
    <p:extLst>
      <p:ext uri="{BB962C8B-B14F-4D97-AF65-F5344CB8AC3E}">
        <p14:creationId xmlns:p14="http://schemas.microsoft.com/office/powerpoint/2010/main" val="300019370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dissolve">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dissolve">
                                      <p:cBhvr>
                                        <p:cTn id="1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E3923-F07A-5F20-19A1-9F4DC37C885E}"/>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6AD268F3-AD7C-5177-CFCE-112135F7AE6A}"/>
              </a:ext>
            </a:extLst>
          </p:cNvPr>
          <p:cNvSpPr txBox="1"/>
          <p:nvPr>
            <p:custDataLst>
              <p:tags r:id="rId2"/>
            </p:custDataLst>
          </p:nvPr>
        </p:nvSpPr>
        <p:spPr>
          <a:xfrm>
            <a:off x="3588385" y="239352"/>
            <a:ext cx="5147026"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r>
              <a:rPr lang="zh-CN" altLang="zh-CN" sz="3100" dirty="0">
                <a:solidFill>
                  <a:srgbClr val="694B71"/>
                </a:solidFill>
                <a:latin typeface="微软雅黑" panose="020B0503020204020204" pitchFamily="34" charset="-122"/>
                <a:ea typeface="微软雅黑" panose="020B0503020204020204" pitchFamily="34" charset="-122"/>
                <a:cs typeface="+mn-ea"/>
              </a:rPr>
              <a:t>人类活动和</a:t>
            </a:r>
            <a:r>
              <a:rPr lang="en-US" altLang="zh-CN" sz="3100" dirty="0">
                <a:solidFill>
                  <a:srgbClr val="694B71"/>
                </a:solidFill>
                <a:latin typeface="微软雅黑" panose="020B0503020204020204" pitchFamily="34" charset="-122"/>
                <a:ea typeface="微软雅黑" panose="020B0503020204020204" pitchFamily="34" charset="-122"/>
                <a:cs typeface="+mn-ea"/>
              </a:rPr>
              <a:t> CSI </a:t>
            </a:r>
            <a:r>
              <a:rPr lang="zh-CN" altLang="zh-CN" sz="3100" dirty="0">
                <a:solidFill>
                  <a:srgbClr val="694B71"/>
                </a:solidFill>
                <a:latin typeface="微软雅黑" panose="020B0503020204020204" pitchFamily="34" charset="-122"/>
                <a:ea typeface="微软雅黑" panose="020B0503020204020204" pitchFamily="34" charset="-122"/>
                <a:cs typeface="+mn-ea"/>
              </a:rPr>
              <a:t>相位 </a:t>
            </a:r>
          </a:p>
        </p:txBody>
      </p:sp>
      <p:sp>
        <p:nvSpPr>
          <p:cNvPr id="20" name="矩形 19">
            <a:extLst>
              <a:ext uri="{FF2B5EF4-FFF2-40B4-BE49-F238E27FC236}">
                <a16:creationId xmlns:a16="http://schemas.microsoft.com/office/drawing/2014/main" id="{0EDE50A3-6C3E-EA91-7DC9-8889A26CAE49}"/>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39E3B138-A206-E146-2D12-B7E09F175E9E}"/>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90E8AF66-0D53-2A8C-EB2D-BC12ABABACCA}"/>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CE4AEA93-B09A-C94A-06FE-55AE35C2197E}"/>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F3EBD573-41AF-D213-532F-8CADFE346153}"/>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pic>
        <p:nvPicPr>
          <p:cNvPr id="4" name="图片 3">
            <a:extLst>
              <a:ext uri="{FF2B5EF4-FFF2-40B4-BE49-F238E27FC236}">
                <a16:creationId xmlns:a16="http://schemas.microsoft.com/office/drawing/2014/main" id="{C4E1B7D5-2FA6-D446-4AE8-74506DBA7C5F}"/>
              </a:ext>
            </a:extLst>
          </p:cNvPr>
          <p:cNvPicPr>
            <a:picLocks noChangeAspect="1"/>
          </p:cNvPicPr>
          <p:nvPr/>
        </p:nvPicPr>
        <p:blipFill>
          <a:blip r:embed="rId5"/>
          <a:stretch>
            <a:fillRect/>
          </a:stretch>
        </p:blipFill>
        <p:spPr>
          <a:xfrm>
            <a:off x="1507617" y="1239478"/>
            <a:ext cx="9176766" cy="3504700"/>
          </a:xfrm>
          <a:prstGeom prst="rect">
            <a:avLst/>
          </a:prstGeom>
          <a:noFill/>
          <a:ln>
            <a:noFill/>
          </a:ln>
        </p:spPr>
      </p:pic>
      <p:pic>
        <p:nvPicPr>
          <p:cNvPr id="6" name="图片 5">
            <a:extLst>
              <a:ext uri="{FF2B5EF4-FFF2-40B4-BE49-F238E27FC236}">
                <a16:creationId xmlns:a16="http://schemas.microsoft.com/office/drawing/2014/main" id="{2C9D09A3-6C24-B78A-F127-4A423FF32A4D}"/>
              </a:ext>
            </a:extLst>
          </p:cNvPr>
          <p:cNvPicPr>
            <a:picLocks noChangeAspect="1"/>
          </p:cNvPicPr>
          <p:nvPr/>
        </p:nvPicPr>
        <p:blipFill>
          <a:blip r:embed="rId6"/>
          <a:stretch>
            <a:fillRect/>
          </a:stretch>
        </p:blipFill>
        <p:spPr>
          <a:xfrm>
            <a:off x="5938784" y="4870827"/>
            <a:ext cx="5925394" cy="1364400"/>
          </a:xfrm>
          <a:prstGeom prst="rect">
            <a:avLst/>
          </a:prstGeom>
          <a:noFill/>
          <a:ln>
            <a:noFill/>
          </a:ln>
        </p:spPr>
      </p:pic>
      <p:pic>
        <p:nvPicPr>
          <p:cNvPr id="7" name="图片 6">
            <a:extLst>
              <a:ext uri="{FF2B5EF4-FFF2-40B4-BE49-F238E27FC236}">
                <a16:creationId xmlns:a16="http://schemas.microsoft.com/office/drawing/2014/main" id="{C4C83E04-02B8-C593-D10D-4B36AB74781F}"/>
              </a:ext>
            </a:extLst>
          </p:cNvPr>
          <p:cNvPicPr>
            <a:picLocks noChangeAspect="1"/>
          </p:cNvPicPr>
          <p:nvPr/>
        </p:nvPicPr>
        <p:blipFill>
          <a:blip r:embed="rId7"/>
          <a:stretch>
            <a:fillRect/>
          </a:stretch>
        </p:blipFill>
        <p:spPr>
          <a:xfrm>
            <a:off x="196042" y="4838755"/>
            <a:ext cx="5899958" cy="1295785"/>
          </a:xfrm>
          <a:prstGeom prst="rect">
            <a:avLst/>
          </a:prstGeom>
          <a:noFill/>
          <a:ln>
            <a:noFill/>
          </a:ln>
        </p:spPr>
      </p:pic>
    </p:spTree>
    <p:custDataLst>
      <p:tags r:id="rId1"/>
    </p:custDataLst>
    <p:extLst>
      <p:ext uri="{BB962C8B-B14F-4D97-AF65-F5344CB8AC3E}">
        <p14:creationId xmlns:p14="http://schemas.microsoft.com/office/powerpoint/2010/main" val="3928266022"/>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5F47C0-6B20-F33E-EA04-B78AD7D975F3}"/>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6CE81565-F347-C3B3-1E5E-7DEB8670CEBD}"/>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zh-CN" sz="3100" dirty="0">
                <a:solidFill>
                  <a:srgbClr val="694B71"/>
                </a:solidFill>
                <a:latin typeface="微软雅黑" panose="020B0503020204020204" pitchFamily="34" charset="-122"/>
                <a:ea typeface="微软雅黑" panose="020B0503020204020204" pitchFamily="34" charset="-122"/>
                <a:cs typeface="+mn-ea"/>
              </a:rPr>
              <a:t>不同子载波与天线流间的相位差  </a:t>
            </a:r>
          </a:p>
        </p:txBody>
      </p:sp>
      <p:sp>
        <p:nvSpPr>
          <p:cNvPr id="20" name="矩形 19">
            <a:extLst>
              <a:ext uri="{FF2B5EF4-FFF2-40B4-BE49-F238E27FC236}">
                <a16:creationId xmlns:a16="http://schemas.microsoft.com/office/drawing/2014/main" id="{00C5C10D-23F2-076E-25D4-D46FA21DC441}"/>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0149C647-E2E9-98B8-5CCC-8ECFF089EBE7}"/>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72BC1EBF-F8A1-8D01-4F6E-4B4BC6E25F7F}"/>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D15F449A-E18F-35F6-4126-C680DF9E1CE6}"/>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944BA7AF-8B73-84FB-A4B3-D3EBA2699163}"/>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5" name="文本框 4">
            <a:extLst>
              <a:ext uri="{FF2B5EF4-FFF2-40B4-BE49-F238E27FC236}">
                <a16:creationId xmlns:a16="http://schemas.microsoft.com/office/drawing/2014/main" id="{247A29F4-E9E2-9586-21B5-68881EBDEBE2}"/>
              </a:ext>
            </a:extLst>
          </p:cNvPr>
          <p:cNvSpPr txBox="1"/>
          <p:nvPr/>
        </p:nvSpPr>
        <p:spPr>
          <a:xfrm>
            <a:off x="738708" y="2116130"/>
            <a:ext cx="10714584" cy="2308324"/>
          </a:xfrm>
          <a:prstGeom prst="rect">
            <a:avLst/>
          </a:prstGeom>
          <a:noFill/>
        </p:spPr>
        <p:txBody>
          <a:bodyPr wrap="square">
            <a:spAutoFit/>
          </a:bodyPr>
          <a:lstStyle/>
          <a:p>
            <a:pPr>
              <a:buNone/>
            </a:pPr>
            <a:r>
              <a:rPr lang="zh-CN" altLang="zh-CN" sz="2400" dirty="0">
                <a:solidFill>
                  <a:srgbClr val="775480"/>
                </a:solidFill>
                <a:latin typeface="微软雅黑 Light" panose="020B0502040204020203" charset="-122"/>
                <a:ea typeface="微软雅黑 Light" panose="020B0502040204020203" charset="-122"/>
              </a:rPr>
              <a:t>我们对相位差的观察与幅度类似：</a:t>
            </a:r>
          </a:p>
          <a:p>
            <a:pPr>
              <a:buNone/>
            </a:pPr>
            <a:r>
              <a:rPr lang="zh-CN" altLang="zh-CN" sz="2400" dirty="0">
                <a:solidFill>
                  <a:srgbClr val="775480"/>
                </a:solidFill>
                <a:latin typeface="微软雅黑 Light" panose="020B0502040204020203" charset="-122"/>
                <a:ea typeface="微软雅黑 Light" panose="020B0502040204020203" charset="-122"/>
              </a:rPr>
              <a:t>不同子载波受到人体活动的影响方式相似；</a:t>
            </a:r>
          </a:p>
          <a:p>
            <a:pPr>
              <a:buNone/>
            </a:pPr>
            <a:r>
              <a:rPr lang="zh-CN" altLang="zh-CN" sz="2400" dirty="0">
                <a:solidFill>
                  <a:srgbClr val="775480"/>
                </a:solidFill>
                <a:latin typeface="微软雅黑 Light" panose="020B0502040204020203" charset="-122"/>
                <a:ea typeface="微软雅黑 Light" panose="020B0502040204020203" charset="-122"/>
              </a:rPr>
              <a:t>相邻子载波的表现也非常接近。</a:t>
            </a:r>
          </a:p>
          <a:p>
            <a:pPr>
              <a:buNone/>
            </a:pPr>
            <a:r>
              <a:rPr lang="zh-CN" altLang="zh-CN" sz="2400" dirty="0">
                <a:solidFill>
                  <a:srgbClr val="775480"/>
                </a:solidFill>
                <a:latin typeface="微软雅黑 Light" panose="020B0502040204020203" charset="-122"/>
                <a:ea typeface="微软雅黑 Light" panose="020B0502040204020203" charset="-122"/>
              </a:rPr>
              <a:t>从</a:t>
            </a:r>
            <a:r>
              <a:rPr lang="en-US" altLang="zh-CN" sz="2400" dirty="0">
                <a:solidFill>
                  <a:srgbClr val="775480"/>
                </a:solidFill>
                <a:latin typeface="微软雅黑 Light" panose="020B0502040204020203" charset="-122"/>
                <a:ea typeface="微软雅黑 Light" panose="020B0502040204020203" charset="-122"/>
              </a:rPr>
              <a:t> CSI </a:t>
            </a:r>
            <a:r>
              <a:rPr lang="zh-CN" altLang="zh-CN" sz="2400" dirty="0">
                <a:solidFill>
                  <a:srgbClr val="775480"/>
                </a:solidFill>
                <a:latin typeface="微软雅黑 Light" panose="020B0502040204020203" charset="-122"/>
                <a:ea typeface="微软雅黑 Light" panose="020B0502040204020203" charset="-122"/>
              </a:rPr>
              <a:t>流的角度看，</a:t>
            </a:r>
            <a:r>
              <a:rPr lang="zh-CN" altLang="zh-CN" sz="2400" b="1" dirty="0">
                <a:solidFill>
                  <a:srgbClr val="775480"/>
                </a:solidFill>
                <a:latin typeface="微软雅黑 Light" panose="020B0502040204020203" charset="-122"/>
                <a:ea typeface="微软雅黑 Light" panose="020B0502040204020203" charset="-122"/>
              </a:rPr>
              <a:t>两根天线间相位差的方差等于各自方差之和</a:t>
            </a:r>
            <a:r>
              <a:rPr lang="zh-CN" altLang="zh-CN" sz="2400" dirty="0">
                <a:solidFill>
                  <a:srgbClr val="775480"/>
                </a:solidFill>
                <a:latin typeface="微软雅黑 Light" panose="020B0502040204020203" charset="-122"/>
                <a:ea typeface="微软雅黑 Light" panose="020B0502040204020203" charset="-122"/>
              </a:rPr>
              <a:t>，这意味着，相位差信号比振幅信号对环境变化更加敏感。因此，</a:t>
            </a:r>
            <a:r>
              <a:rPr lang="en-US" altLang="zh-CN" sz="2400" dirty="0">
                <a:solidFill>
                  <a:srgbClr val="775480"/>
                </a:solidFill>
                <a:latin typeface="微软雅黑 Light" panose="020B0502040204020203" charset="-122"/>
                <a:ea typeface="微软雅黑 Light" panose="020B0502040204020203" charset="-122"/>
              </a:rPr>
              <a:t>CSI </a:t>
            </a:r>
            <a:r>
              <a:rPr lang="zh-CN" altLang="zh-CN" sz="2400" dirty="0">
                <a:solidFill>
                  <a:srgbClr val="775480"/>
                </a:solidFill>
                <a:latin typeface="微软雅黑 Light" panose="020B0502040204020203" charset="-122"/>
                <a:ea typeface="微软雅黑 Light" panose="020B0502040204020203" charset="-122"/>
              </a:rPr>
              <a:t>的相位差相较于幅度，更适合作为表征人体活动的基础信号（</a:t>
            </a:r>
            <a:r>
              <a:rPr lang="en-US" altLang="zh-CN" sz="2400" dirty="0">
                <a:solidFill>
                  <a:srgbClr val="775480"/>
                </a:solidFill>
                <a:latin typeface="微软雅黑 Light" panose="020B0502040204020203" charset="-122"/>
                <a:ea typeface="微软雅黑 Light" panose="020B0502040204020203" charset="-122"/>
              </a:rPr>
              <a:t>base signal</a:t>
            </a:r>
            <a:r>
              <a:rPr lang="zh-CN" altLang="zh-CN" sz="2400" dirty="0">
                <a:solidFill>
                  <a:srgbClr val="775480"/>
                </a:solidFill>
                <a:latin typeface="微软雅黑 Light" panose="020B0502040204020203" charset="-122"/>
                <a:ea typeface="微软雅黑 Light" panose="020B0502040204020203" charset="-122"/>
              </a:rPr>
              <a:t>）</a:t>
            </a:r>
          </a:p>
        </p:txBody>
      </p:sp>
    </p:spTree>
    <p:custDataLst>
      <p:tags r:id="rId1"/>
    </p:custDataLst>
    <p:extLst>
      <p:ext uri="{BB962C8B-B14F-4D97-AF65-F5344CB8AC3E}">
        <p14:creationId xmlns:p14="http://schemas.microsoft.com/office/powerpoint/2010/main" val="1280289497"/>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2A3E4-1C02-7F68-03C1-BE032A5C758E}"/>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96EB79E9-EB4E-CCDC-D073-3D7C34C42A26}"/>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zh-CN" sz="3100" dirty="0">
                <a:solidFill>
                  <a:srgbClr val="694B71"/>
                </a:solidFill>
                <a:latin typeface="微软雅黑" panose="020B0503020204020204" pitchFamily="34" charset="-122"/>
                <a:ea typeface="微软雅黑" panose="020B0503020204020204" pitchFamily="34" charset="-122"/>
                <a:cs typeface="+mn-ea"/>
              </a:rPr>
              <a:t>不同人类活动的影响  </a:t>
            </a:r>
          </a:p>
        </p:txBody>
      </p:sp>
      <p:sp>
        <p:nvSpPr>
          <p:cNvPr id="20" name="矩形 19">
            <a:extLst>
              <a:ext uri="{FF2B5EF4-FFF2-40B4-BE49-F238E27FC236}">
                <a16:creationId xmlns:a16="http://schemas.microsoft.com/office/drawing/2014/main" id="{32D4B9DE-7C4C-0AF0-9DF6-006A7C2395D6}"/>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96198B5B-A496-3AFD-ABC6-D4A6A26E7688}"/>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892FA4C5-F1DB-DBBA-15D5-21026ED7DDAC}"/>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EB07DCF2-70C5-9761-B379-0F4FBD538C24}"/>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75F8319B-7607-1987-FAE1-DF463B9E2160}"/>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5" name="文本框 4">
            <a:extLst>
              <a:ext uri="{FF2B5EF4-FFF2-40B4-BE49-F238E27FC236}">
                <a16:creationId xmlns:a16="http://schemas.microsoft.com/office/drawing/2014/main" id="{B6356BB7-5AC9-05C9-BA4D-704BB6C0908E}"/>
              </a:ext>
            </a:extLst>
          </p:cNvPr>
          <p:cNvSpPr txBox="1"/>
          <p:nvPr/>
        </p:nvSpPr>
        <p:spPr>
          <a:xfrm>
            <a:off x="553977" y="1550327"/>
            <a:ext cx="10714584" cy="830997"/>
          </a:xfrm>
          <a:prstGeom prst="rect">
            <a:avLst/>
          </a:prstGeom>
          <a:noFill/>
        </p:spPr>
        <p:txBody>
          <a:bodyPr wrap="square">
            <a:spAutoFit/>
          </a:bodyPr>
          <a:lstStyle/>
          <a:p>
            <a:pPr>
              <a:buNone/>
            </a:pPr>
            <a:r>
              <a:rPr lang="zh-CN" altLang="zh-CN" sz="2400" dirty="0">
                <a:solidFill>
                  <a:srgbClr val="775480"/>
                </a:solidFill>
                <a:latin typeface="微软雅黑 Light" panose="020B0502040204020203" charset="-122"/>
                <a:ea typeface="微软雅黑 Light" panose="020B0502040204020203" charset="-122"/>
              </a:rPr>
              <a:t>现在我们分别观察由非运动活动和运动活动引起的相位差。</a:t>
            </a:r>
          </a:p>
          <a:p>
            <a:pPr>
              <a:buNone/>
            </a:pPr>
            <a:endParaRPr lang="zh-CN" altLang="zh-CN" sz="2400" dirty="0">
              <a:solidFill>
                <a:srgbClr val="775480"/>
              </a:solidFill>
              <a:latin typeface="微软雅黑 Light" panose="020B0502040204020203" charset="-122"/>
              <a:ea typeface="微软雅黑 Light" panose="020B0502040204020203" charset="-122"/>
            </a:endParaRPr>
          </a:p>
        </p:txBody>
      </p:sp>
      <p:pic>
        <p:nvPicPr>
          <p:cNvPr id="3" name="图片 2">
            <a:extLst>
              <a:ext uri="{FF2B5EF4-FFF2-40B4-BE49-F238E27FC236}">
                <a16:creationId xmlns:a16="http://schemas.microsoft.com/office/drawing/2014/main" id="{4BC4869E-A95C-CD1D-FB10-EDAF15E15A9A}"/>
              </a:ext>
            </a:extLst>
          </p:cNvPr>
          <p:cNvPicPr>
            <a:picLocks noChangeAspect="1"/>
          </p:cNvPicPr>
          <p:nvPr/>
        </p:nvPicPr>
        <p:blipFill>
          <a:blip r:embed="rId5"/>
          <a:stretch>
            <a:fillRect/>
          </a:stretch>
        </p:blipFill>
        <p:spPr>
          <a:xfrm>
            <a:off x="-21182" y="2240503"/>
            <a:ext cx="12213182" cy="1909275"/>
          </a:xfrm>
          <a:prstGeom prst="rect">
            <a:avLst/>
          </a:prstGeom>
          <a:noFill/>
          <a:ln>
            <a:noFill/>
          </a:ln>
        </p:spPr>
      </p:pic>
      <p:sp>
        <p:nvSpPr>
          <p:cNvPr id="7" name="文本框 6">
            <a:extLst>
              <a:ext uri="{FF2B5EF4-FFF2-40B4-BE49-F238E27FC236}">
                <a16:creationId xmlns:a16="http://schemas.microsoft.com/office/drawing/2014/main" id="{8E50F933-73C9-C083-0C9C-E0F3722ED75F}"/>
              </a:ext>
            </a:extLst>
          </p:cNvPr>
          <p:cNvSpPr txBox="1"/>
          <p:nvPr/>
        </p:nvSpPr>
        <p:spPr>
          <a:xfrm>
            <a:off x="532609" y="4251594"/>
            <a:ext cx="11149317" cy="2308324"/>
          </a:xfrm>
          <a:prstGeom prst="rect">
            <a:avLst/>
          </a:prstGeom>
          <a:noFill/>
        </p:spPr>
        <p:txBody>
          <a:bodyPr wrap="square">
            <a:spAutoFit/>
          </a:bodyPr>
          <a:lstStyle/>
          <a:p>
            <a:pPr>
              <a:buNone/>
            </a:pPr>
            <a:r>
              <a:rPr lang="zh-CN" altLang="zh-CN" sz="2400" dirty="0">
                <a:solidFill>
                  <a:srgbClr val="775480"/>
                </a:solidFill>
                <a:latin typeface="微软雅黑 Light" panose="020B0502040204020203" charset="-122"/>
                <a:ea typeface="微软雅黑 Light" panose="020B0502040204020203" charset="-122"/>
              </a:rPr>
              <a:t>坐着和躺着等不动的活动导致时域中相对稳定的信号变化模式。但有一项新的观察结果是，</a:t>
            </a:r>
            <a:r>
              <a:rPr lang="en-US" altLang="zh-CN" sz="2400" dirty="0">
                <a:solidFill>
                  <a:srgbClr val="775480"/>
                </a:solidFill>
                <a:latin typeface="微软雅黑 Light" panose="020B0502040204020203" charset="-122"/>
                <a:ea typeface="微软雅黑 Light" panose="020B0502040204020203" charset="-122"/>
              </a:rPr>
              <a:t>CSI </a:t>
            </a:r>
            <a:r>
              <a:rPr lang="zh-CN" altLang="zh-CN" sz="2400" dirty="0">
                <a:solidFill>
                  <a:srgbClr val="775480"/>
                </a:solidFill>
                <a:latin typeface="微软雅黑 Light" panose="020B0502040204020203" charset="-122"/>
                <a:ea typeface="微软雅黑 Light" panose="020B0502040204020203" charset="-122"/>
              </a:rPr>
              <a:t>相位差信号随着人体的微小运动而波动。</a:t>
            </a:r>
          </a:p>
          <a:p>
            <a:pPr>
              <a:buNone/>
            </a:pPr>
            <a:r>
              <a:rPr lang="zh-CN" altLang="zh-CN" sz="2400" dirty="0">
                <a:solidFill>
                  <a:srgbClr val="775480"/>
                </a:solidFill>
                <a:latin typeface="微软雅黑 Light" panose="020B0502040204020203" charset="-122"/>
                <a:ea typeface="微软雅黑 Light" panose="020B0502040204020203" charset="-122"/>
              </a:rPr>
              <a:t>具体来说，站立时的</a:t>
            </a:r>
            <a:r>
              <a:rPr lang="en-US" altLang="zh-CN" sz="2400" dirty="0">
                <a:solidFill>
                  <a:srgbClr val="775480"/>
                </a:solidFill>
                <a:latin typeface="微软雅黑 Light" panose="020B0502040204020203" charset="-122"/>
                <a:ea typeface="微软雅黑 Light" panose="020B0502040204020203" charset="-122"/>
              </a:rPr>
              <a:t> CSI </a:t>
            </a:r>
            <a:r>
              <a:rPr lang="zh-CN" altLang="zh-CN" sz="2400" dirty="0">
                <a:solidFill>
                  <a:srgbClr val="775480"/>
                </a:solidFill>
                <a:latin typeface="微软雅黑 Light" panose="020B0502040204020203" charset="-122"/>
                <a:ea typeface="微软雅黑 Light" panose="020B0502040204020203" charset="-122"/>
              </a:rPr>
              <a:t>相位差与坐卧时相比表现出明显的波动，我们可以看到它们之间的模式之间存在明显的差异。正如我们还注意到的原因，当一个主体远离</a:t>
            </a:r>
            <a:r>
              <a:rPr lang="en-US" altLang="zh-CN" sz="2400" dirty="0">
                <a:solidFill>
                  <a:srgbClr val="775480"/>
                </a:solidFill>
                <a:latin typeface="微软雅黑 Light" panose="020B0502040204020203" charset="-122"/>
                <a:ea typeface="微软雅黑 Light" panose="020B0502040204020203" charset="-122"/>
              </a:rPr>
              <a:t> LOS </a:t>
            </a:r>
            <a:r>
              <a:rPr lang="zh-CN" altLang="zh-CN" sz="2400" dirty="0">
                <a:solidFill>
                  <a:srgbClr val="775480"/>
                </a:solidFill>
                <a:latin typeface="微软雅黑 Light" panose="020B0502040204020203" charset="-122"/>
                <a:ea typeface="微软雅黑 Light" panose="020B0502040204020203" charset="-122"/>
              </a:rPr>
              <a:t>路径，分辨的边界变得模糊。因此，我们不能急于得出相位差可以可靠地区分站立活动和其他非运动动活动的结论。</a:t>
            </a:r>
          </a:p>
        </p:txBody>
      </p:sp>
    </p:spTree>
    <p:custDataLst>
      <p:tags r:id="rId1"/>
    </p:custDataLst>
    <p:extLst>
      <p:ext uri="{BB962C8B-B14F-4D97-AF65-F5344CB8AC3E}">
        <p14:creationId xmlns:p14="http://schemas.microsoft.com/office/powerpoint/2010/main" val="197251857"/>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D63A0-C7D2-6E01-513D-A8174C098CFB}"/>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2835E9E8-9CC2-1278-E769-623B220D6304}"/>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zh-CN" sz="3100" dirty="0">
                <a:solidFill>
                  <a:srgbClr val="694B71"/>
                </a:solidFill>
                <a:latin typeface="微软雅黑" panose="020B0503020204020204" pitchFamily="34" charset="-122"/>
                <a:ea typeface="微软雅黑" panose="020B0503020204020204" pitchFamily="34" charset="-122"/>
                <a:cs typeface="+mn-ea"/>
              </a:rPr>
              <a:t>不同人类活动的影响  </a:t>
            </a:r>
          </a:p>
        </p:txBody>
      </p:sp>
      <p:sp>
        <p:nvSpPr>
          <p:cNvPr id="20" name="矩形 19">
            <a:extLst>
              <a:ext uri="{FF2B5EF4-FFF2-40B4-BE49-F238E27FC236}">
                <a16:creationId xmlns:a16="http://schemas.microsoft.com/office/drawing/2014/main" id="{CA12273B-1D32-5FDF-8A93-5C3A44BED486}"/>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BA7DFBCC-2CC9-A1CE-EF6C-5DB72FDC3CA5}"/>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B81AEC55-CEC5-2141-1F81-D46048982E43}"/>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AC7A91B2-D3F6-2214-0DBC-3F23202ACE97}"/>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64061509-CA3A-CB48-ABDA-66B78D122605}"/>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5" name="文本框 4">
            <a:extLst>
              <a:ext uri="{FF2B5EF4-FFF2-40B4-BE49-F238E27FC236}">
                <a16:creationId xmlns:a16="http://schemas.microsoft.com/office/drawing/2014/main" id="{6CA37BE7-D42A-36D4-AA75-1A4C3CE49D3E}"/>
              </a:ext>
            </a:extLst>
          </p:cNvPr>
          <p:cNvSpPr txBox="1"/>
          <p:nvPr/>
        </p:nvSpPr>
        <p:spPr>
          <a:xfrm>
            <a:off x="532609" y="1433084"/>
            <a:ext cx="10714584" cy="1569660"/>
          </a:xfrm>
          <a:prstGeom prst="rect">
            <a:avLst/>
          </a:prstGeom>
          <a:noFill/>
        </p:spPr>
        <p:txBody>
          <a:bodyPr wrap="square">
            <a:spAutoFit/>
          </a:bodyPr>
          <a:lstStyle/>
          <a:p>
            <a:pPr>
              <a:buNone/>
            </a:pPr>
            <a:r>
              <a:rPr lang="zh-CN" altLang="en-US" sz="2400" dirty="0">
                <a:solidFill>
                  <a:srgbClr val="775480"/>
                </a:solidFill>
                <a:latin typeface="微软雅黑 Light" panose="020B0502040204020203" charset="-122"/>
                <a:ea typeface="微软雅黑 Light" panose="020B0502040204020203" charset="-122"/>
              </a:rPr>
              <a:t>运动：与非活动运动相比，运动活动导致时域中更明显的 </a:t>
            </a:r>
            <a:r>
              <a:rPr lang="en" altLang="zh-CN" sz="2400" dirty="0">
                <a:solidFill>
                  <a:srgbClr val="775480"/>
                </a:solidFill>
                <a:latin typeface="微软雅黑 Light" panose="020B0502040204020203" charset="-122"/>
                <a:ea typeface="微软雅黑 Light" panose="020B0502040204020203" charset="-122"/>
              </a:rPr>
              <a:t>CSI </a:t>
            </a:r>
            <a:r>
              <a:rPr lang="zh-CN" altLang="en-US" sz="2400" dirty="0">
                <a:solidFill>
                  <a:srgbClr val="775480"/>
                </a:solidFill>
                <a:latin typeface="微软雅黑 Light" panose="020B0502040204020203" charset="-122"/>
                <a:ea typeface="微软雅黑 Light" panose="020B0502040204020203" charset="-122"/>
              </a:rPr>
              <a:t>信号波动，如图 </a:t>
            </a:r>
            <a:r>
              <a:rPr lang="en-US" altLang="zh-CN" sz="2400" dirty="0">
                <a:solidFill>
                  <a:srgbClr val="775480"/>
                </a:solidFill>
                <a:latin typeface="微软雅黑 Light" panose="020B0502040204020203" charset="-122"/>
                <a:ea typeface="微软雅黑 Light" panose="020B0502040204020203" charset="-122"/>
              </a:rPr>
              <a:t>6</a:t>
            </a:r>
            <a:r>
              <a:rPr lang="en" altLang="zh-CN" sz="2400" dirty="0">
                <a:solidFill>
                  <a:srgbClr val="775480"/>
                </a:solidFill>
                <a:latin typeface="微软雅黑 Light" panose="020B0502040204020203" charset="-122"/>
                <a:ea typeface="微软雅黑 Light" panose="020B0502040204020203" charset="-122"/>
              </a:rPr>
              <a:t>d -</a:t>
            </a:r>
            <a:r>
              <a:rPr lang="zh-CN" altLang="en-US" sz="2400" dirty="0">
                <a:solidFill>
                  <a:srgbClr val="775480"/>
                </a:solidFill>
                <a:latin typeface="微软雅黑 Light" panose="020B0502040204020203" charset="-122"/>
                <a:ea typeface="微软雅黑 Light" panose="020B0502040204020203" charset="-122"/>
              </a:rPr>
              <a:t>图 </a:t>
            </a:r>
            <a:r>
              <a:rPr lang="en-US" altLang="zh-CN" sz="2400" dirty="0">
                <a:solidFill>
                  <a:srgbClr val="775480"/>
                </a:solidFill>
                <a:latin typeface="微软雅黑 Light" panose="020B0502040204020203" charset="-122"/>
                <a:ea typeface="微软雅黑 Light" panose="020B0502040204020203" charset="-122"/>
              </a:rPr>
              <a:t>6</a:t>
            </a:r>
            <a:r>
              <a:rPr lang="en" altLang="zh-CN" sz="2400" dirty="0">
                <a:solidFill>
                  <a:srgbClr val="775480"/>
                </a:solidFill>
                <a:latin typeface="微软雅黑 Light" panose="020B0502040204020203" charset="-122"/>
                <a:ea typeface="微软雅黑 Light" panose="020B0502040204020203" charset="-122"/>
              </a:rPr>
              <a:t>l </a:t>
            </a:r>
            <a:r>
              <a:rPr lang="zh-CN" altLang="en-US" sz="2400" dirty="0">
                <a:solidFill>
                  <a:srgbClr val="775480"/>
                </a:solidFill>
                <a:latin typeface="微软雅黑 Light" panose="020B0502040204020203" charset="-122"/>
                <a:ea typeface="微软雅黑 Light" panose="020B0502040204020203" charset="-122"/>
              </a:rPr>
              <a:t>所示。和</a:t>
            </a:r>
            <a:r>
              <a:rPr lang="en-US" altLang="zh-CN" sz="2400" dirty="0">
                <a:solidFill>
                  <a:srgbClr val="775480"/>
                </a:solidFill>
                <a:latin typeface="微软雅黑 Light" panose="020B0502040204020203" charset="-122"/>
                <a:ea typeface="微软雅黑 Light" panose="020B0502040204020203" charset="-122"/>
              </a:rPr>
              <a:t>CSI</a:t>
            </a:r>
            <a:r>
              <a:rPr lang="zh-CN" altLang="en-US" sz="2400" dirty="0">
                <a:solidFill>
                  <a:srgbClr val="775480"/>
                </a:solidFill>
                <a:latin typeface="微软雅黑 Light" panose="020B0502040204020203" charset="-122"/>
                <a:ea typeface="微软雅黑 Light" panose="020B0502040204020203" charset="-122"/>
              </a:rPr>
              <a:t>振幅一样，仍然没有明显的模式来区分真正的跌倒和其他非跌倒的日常活动。</a:t>
            </a:r>
          </a:p>
          <a:p>
            <a:pPr>
              <a:buNone/>
            </a:pPr>
            <a:endParaRPr lang="zh-CN" altLang="zh-CN" sz="2400" dirty="0">
              <a:solidFill>
                <a:srgbClr val="775480"/>
              </a:solidFill>
              <a:latin typeface="微软雅黑 Light" panose="020B0502040204020203" charset="-122"/>
              <a:ea typeface="微软雅黑 Light" panose="020B0502040204020203" charset="-122"/>
            </a:endParaRPr>
          </a:p>
        </p:txBody>
      </p:sp>
      <p:pic>
        <p:nvPicPr>
          <p:cNvPr id="4" name="图片 3">
            <a:extLst>
              <a:ext uri="{FF2B5EF4-FFF2-40B4-BE49-F238E27FC236}">
                <a16:creationId xmlns:a16="http://schemas.microsoft.com/office/drawing/2014/main" id="{321CB506-9113-2BF4-E10A-5DED251382EF}"/>
              </a:ext>
            </a:extLst>
          </p:cNvPr>
          <p:cNvPicPr>
            <a:picLocks noChangeAspect="1"/>
          </p:cNvPicPr>
          <p:nvPr/>
        </p:nvPicPr>
        <p:blipFill>
          <a:blip r:embed="rId5"/>
          <a:stretch>
            <a:fillRect/>
          </a:stretch>
        </p:blipFill>
        <p:spPr>
          <a:xfrm>
            <a:off x="4834804" y="2143827"/>
            <a:ext cx="2881040" cy="1467906"/>
          </a:xfrm>
          <a:prstGeom prst="rect">
            <a:avLst/>
          </a:prstGeom>
        </p:spPr>
      </p:pic>
      <p:pic>
        <p:nvPicPr>
          <p:cNvPr id="6" name="图片 5">
            <a:extLst>
              <a:ext uri="{FF2B5EF4-FFF2-40B4-BE49-F238E27FC236}">
                <a16:creationId xmlns:a16="http://schemas.microsoft.com/office/drawing/2014/main" id="{008F9045-3273-609B-F5EF-92C291D1A7CF}"/>
              </a:ext>
            </a:extLst>
          </p:cNvPr>
          <p:cNvPicPr>
            <a:picLocks noChangeAspect="1"/>
          </p:cNvPicPr>
          <p:nvPr/>
        </p:nvPicPr>
        <p:blipFill>
          <a:blip r:embed="rId6"/>
          <a:stretch>
            <a:fillRect/>
          </a:stretch>
        </p:blipFill>
        <p:spPr>
          <a:xfrm>
            <a:off x="0" y="3611733"/>
            <a:ext cx="12627138" cy="2696064"/>
          </a:xfrm>
          <a:prstGeom prst="rect">
            <a:avLst/>
          </a:prstGeom>
        </p:spPr>
      </p:pic>
      <p:sp>
        <p:nvSpPr>
          <p:cNvPr id="9" name="文本框 8">
            <a:extLst>
              <a:ext uri="{FF2B5EF4-FFF2-40B4-BE49-F238E27FC236}">
                <a16:creationId xmlns:a16="http://schemas.microsoft.com/office/drawing/2014/main" id="{B2F7BB56-24AE-B746-32DA-834F10E75BA4}"/>
              </a:ext>
            </a:extLst>
          </p:cNvPr>
          <p:cNvSpPr txBox="1"/>
          <p:nvPr/>
        </p:nvSpPr>
        <p:spPr>
          <a:xfrm>
            <a:off x="2057399" y="6270455"/>
            <a:ext cx="10408298" cy="646331"/>
          </a:xfrm>
          <a:prstGeom prst="rect">
            <a:avLst/>
          </a:prstGeom>
          <a:noFill/>
        </p:spPr>
        <p:txBody>
          <a:bodyPr wrap="square">
            <a:spAutoFit/>
          </a:bodyPr>
          <a:lstStyle/>
          <a:p>
            <a:pPr>
              <a:buNone/>
            </a:pPr>
            <a:r>
              <a:rPr lang="en" altLang="zh-CN" dirty="0">
                <a:solidFill>
                  <a:srgbClr val="1A1718"/>
                </a:solidFill>
                <a:effectLst/>
                <a:latin typeface="Helvetica" pitchFamily="2" charset="0"/>
              </a:rPr>
              <a:t>(d) Lie down, (e) Upper body activities, (f) Pickup, (g) Squat, (h)</a:t>
            </a:r>
          </a:p>
          <a:p>
            <a:pPr>
              <a:buNone/>
            </a:pPr>
            <a:r>
              <a:rPr lang="en" altLang="zh-CN" dirty="0">
                <a:solidFill>
                  <a:srgbClr val="1A1718"/>
                </a:solidFill>
                <a:effectLst/>
                <a:latin typeface="Helvetica" pitchFamily="2" charset="0"/>
              </a:rPr>
              <a:t>Walking, (</a:t>
            </a:r>
            <a:r>
              <a:rPr lang="en" altLang="zh-CN" dirty="0" err="1">
                <a:solidFill>
                  <a:srgbClr val="1A1718"/>
                </a:solidFill>
                <a:effectLst/>
                <a:latin typeface="Helvetica" pitchFamily="2" charset="0"/>
              </a:rPr>
              <a:t>i</a:t>
            </a:r>
            <a:r>
              <a:rPr lang="en" altLang="zh-CN" dirty="0">
                <a:solidFill>
                  <a:srgbClr val="1A1718"/>
                </a:solidFill>
                <a:effectLst/>
                <a:latin typeface="Helvetica" pitchFamily="2" charset="0"/>
              </a:rPr>
              <a:t>) Stand up, (j) Sit down, (k) Standing-Fall, and (l) Walking-Fall.</a:t>
            </a:r>
          </a:p>
        </p:txBody>
      </p:sp>
    </p:spTree>
    <p:custDataLst>
      <p:tags r:id="rId1"/>
    </p:custDataLst>
    <p:extLst>
      <p:ext uri="{BB962C8B-B14F-4D97-AF65-F5344CB8AC3E}">
        <p14:creationId xmlns:p14="http://schemas.microsoft.com/office/powerpoint/2010/main" val="2286265045"/>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05EF4-ABD8-C62E-3010-E03A6D7E5F71}"/>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068A42D0-C8DE-CC85-CA23-3C15581394AF}"/>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en" altLang="zh-CN" sz="3100" dirty="0">
                <a:solidFill>
                  <a:srgbClr val="694B71"/>
                </a:solidFill>
                <a:latin typeface="微软雅黑" panose="020B0503020204020204" pitchFamily="34" charset="-122"/>
                <a:ea typeface="微软雅黑" panose="020B0503020204020204" pitchFamily="34" charset="-122"/>
                <a:cs typeface="+mn-ea"/>
              </a:rPr>
              <a:t>LOS </a:t>
            </a:r>
            <a:r>
              <a:rPr lang="zh-CN" altLang="en-US" sz="3100" dirty="0">
                <a:solidFill>
                  <a:srgbClr val="694B71"/>
                </a:solidFill>
                <a:latin typeface="微软雅黑" panose="020B0503020204020204" pitchFamily="34" charset="-122"/>
                <a:ea typeface="微软雅黑" panose="020B0503020204020204" pitchFamily="34" charset="-122"/>
                <a:cs typeface="+mn-ea"/>
              </a:rPr>
              <a:t>和 </a:t>
            </a:r>
            <a:r>
              <a:rPr lang="en" altLang="zh-CN" sz="3100" dirty="0">
                <a:solidFill>
                  <a:srgbClr val="694B71"/>
                </a:solidFill>
                <a:latin typeface="微软雅黑" panose="020B0503020204020204" pitchFamily="34" charset="-122"/>
                <a:ea typeface="微软雅黑" panose="020B0503020204020204" pitchFamily="34" charset="-122"/>
                <a:cs typeface="+mn-ea"/>
              </a:rPr>
              <a:t>NLOS </a:t>
            </a:r>
            <a:r>
              <a:rPr lang="zh-CN" altLang="en-US" sz="3100" dirty="0">
                <a:solidFill>
                  <a:srgbClr val="694B71"/>
                </a:solidFill>
                <a:latin typeface="微软雅黑" panose="020B0503020204020204" pitchFamily="34" charset="-122"/>
                <a:ea typeface="微软雅黑" panose="020B0503020204020204" pitchFamily="34" charset="-122"/>
                <a:cs typeface="+mn-ea"/>
              </a:rPr>
              <a:t>条件下的活动 </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485259A6-E178-832F-7452-BB0E022982B0}"/>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393EA08C-0F05-3116-3BA3-9EE20B728835}"/>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BFC68309-DE58-29B3-835E-58D9D9CBE0CC}"/>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00D27EB9-F5FF-3368-0D41-5E35B6740008}"/>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BE4A2799-9D1C-7CD4-0CAD-F196D2F21CC8}"/>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5" name="文本框 4">
            <a:extLst>
              <a:ext uri="{FF2B5EF4-FFF2-40B4-BE49-F238E27FC236}">
                <a16:creationId xmlns:a16="http://schemas.microsoft.com/office/drawing/2014/main" id="{99B75BAE-E7E1-B698-3872-39E77949D3E7}"/>
              </a:ext>
            </a:extLst>
          </p:cNvPr>
          <p:cNvSpPr txBox="1"/>
          <p:nvPr/>
        </p:nvSpPr>
        <p:spPr>
          <a:xfrm>
            <a:off x="532609" y="1433084"/>
            <a:ext cx="10714584" cy="1200329"/>
          </a:xfrm>
          <a:prstGeom prst="rect">
            <a:avLst/>
          </a:prstGeom>
          <a:noFill/>
        </p:spPr>
        <p:txBody>
          <a:bodyPr wrap="square">
            <a:spAutoFit/>
          </a:bodyPr>
          <a:lstStyle/>
          <a:p>
            <a:r>
              <a:rPr lang="zh-CN" altLang="en-US" sz="2400" dirty="0">
                <a:solidFill>
                  <a:srgbClr val="775480"/>
                </a:solidFill>
                <a:latin typeface="微软雅黑 Light" panose="020B0502040204020203" charset="-122"/>
                <a:ea typeface="微软雅黑 Light" panose="020B0502040204020203" charset="-122"/>
              </a:rPr>
              <a:t>和振幅一样，从 </a:t>
            </a:r>
            <a:r>
              <a:rPr lang="en" altLang="zh-CN" sz="2400" dirty="0">
                <a:solidFill>
                  <a:srgbClr val="775480"/>
                </a:solidFill>
                <a:latin typeface="微软雅黑 Light" panose="020B0502040204020203" charset="-122"/>
                <a:ea typeface="微软雅黑 Light" panose="020B0502040204020203" charset="-122"/>
              </a:rPr>
              <a:t>LOS </a:t>
            </a:r>
            <a:r>
              <a:rPr lang="zh-CN" altLang="en-US" sz="2400" dirty="0">
                <a:solidFill>
                  <a:srgbClr val="775480"/>
                </a:solidFill>
                <a:latin typeface="微软雅黑 Light" panose="020B0502040204020203" charset="-122"/>
                <a:ea typeface="微软雅黑 Light" panose="020B0502040204020203" charset="-122"/>
              </a:rPr>
              <a:t>到 </a:t>
            </a:r>
            <a:r>
              <a:rPr lang="en" altLang="zh-CN" sz="2400" dirty="0">
                <a:solidFill>
                  <a:srgbClr val="775480"/>
                </a:solidFill>
                <a:latin typeface="微软雅黑 Light" panose="020B0502040204020203" charset="-122"/>
                <a:ea typeface="微软雅黑 Light" panose="020B0502040204020203" charset="-122"/>
              </a:rPr>
              <a:t>NLOS </a:t>
            </a:r>
            <a:r>
              <a:rPr lang="zh-CN" altLang="en-US" sz="2400" dirty="0">
                <a:solidFill>
                  <a:srgbClr val="775480"/>
                </a:solidFill>
                <a:latin typeface="微软雅黑 Light" panose="020B0502040204020203" charset="-122"/>
                <a:ea typeface="微软雅黑 Light" panose="020B0502040204020203" charset="-122"/>
              </a:rPr>
              <a:t>条件，人类活动引起的相位差变化会变弱。</a:t>
            </a:r>
          </a:p>
          <a:p>
            <a:endParaRPr lang="zh-CN" altLang="en-US" sz="2400" dirty="0">
              <a:solidFill>
                <a:srgbClr val="775480"/>
              </a:solidFill>
              <a:latin typeface="微软雅黑 Light" panose="020B0502040204020203" charset="-122"/>
              <a:ea typeface="微软雅黑 Light" panose="020B0502040204020203" charset="-122"/>
            </a:endParaRPr>
          </a:p>
          <a:p>
            <a:pPr>
              <a:buNone/>
            </a:pPr>
            <a:endParaRPr lang="zh-CN" altLang="zh-CN" sz="2400" dirty="0">
              <a:solidFill>
                <a:srgbClr val="775480"/>
              </a:solidFill>
              <a:latin typeface="微软雅黑 Light" panose="020B0502040204020203" charset="-122"/>
              <a:ea typeface="微软雅黑 Light" panose="020B0502040204020203" charset="-122"/>
            </a:endParaRPr>
          </a:p>
        </p:txBody>
      </p:sp>
      <p:pic>
        <p:nvPicPr>
          <p:cNvPr id="3" name="图片 2">
            <a:extLst>
              <a:ext uri="{FF2B5EF4-FFF2-40B4-BE49-F238E27FC236}">
                <a16:creationId xmlns:a16="http://schemas.microsoft.com/office/drawing/2014/main" id="{21457961-7303-37AA-9886-FE7EF543E912}"/>
              </a:ext>
            </a:extLst>
          </p:cNvPr>
          <p:cNvPicPr>
            <a:picLocks noChangeAspect="1"/>
          </p:cNvPicPr>
          <p:nvPr/>
        </p:nvPicPr>
        <p:blipFill>
          <a:blip r:embed="rId5"/>
          <a:stretch>
            <a:fillRect/>
          </a:stretch>
        </p:blipFill>
        <p:spPr>
          <a:xfrm>
            <a:off x="2354362" y="2118684"/>
            <a:ext cx="7071077" cy="4739316"/>
          </a:xfrm>
          <a:prstGeom prst="rect">
            <a:avLst/>
          </a:prstGeom>
          <a:noFill/>
          <a:ln>
            <a:noFill/>
          </a:ln>
        </p:spPr>
      </p:pic>
    </p:spTree>
    <p:custDataLst>
      <p:tags r:id="rId1"/>
    </p:custDataLst>
    <p:extLst>
      <p:ext uri="{BB962C8B-B14F-4D97-AF65-F5344CB8AC3E}">
        <p14:creationId xmlns:p14="http://schemas.microsoft.com/office/powerpoint/2010/main" val="1126706253"/>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0CDCF-7351-2C46-EDFB-0B91D2CD5A21}"/>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0A200040-D7E4-0371-25C2-8CF09F716063}"/>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en" altLang="zh-CN" sz="3100" dirty="0">
                <a:solidFill>
                  <a:srgbClr val="694B71"/>
                </a:solidFill>
                <a:latin typeface="微软雅黑" panose="020B0503020204020204" pitchFamily="34" charset="-122"/>
                <a:ea typeface="微软雅黑" panose="020B0503020204020204" pitchFamily="34" charset="-122"/>
                <a:cs typeface="+mn-ea"/>
              </a:rPr>
              <a:t>LOS </a:t>
            </a:r>
            <a:r>
              <a:rPr lang="zh-CN" altLang="en-US" sz="3100" dirty="0">
                <a:solidFill>
                  <a:srgbClr val="694B71"/>
                </a:solidFill>
                <a:latin typeface="微软雅黑" panose="020B0503020204020204" pitchFamily="34" charset="-122"/>
                <a:ea typeface="微软雅黑" panose="020B0503020204020204" pitchFamily="34" charset="-122"/>
                <a:cs typeface="+mn-ea"/>
              </a:rPr>
              <a:t>和 </a:t>
            </a:r>
            <a:r>
              <a:rPr lang="en" altLang="zh-CN" sz="3100" dirty="0">
                <a:solidFill>
                  <a:srgbClr val="694B71"/>
                </a:solidFill>
                <a:latin typeface="微软雅黑" panose="020B0503020204020204" pitchFamily="34" charset="-122"/>
                <a:ea typeface="微软雅黑" panose="020B0503020204020204" pitchFamily="34" charset="-122"/>
                <a:cs typeface="+mn-ea"/>
              </a:rPr>
              <a:t>NLOS </a:t>
            </a:r>
            <a:r>
              <a:rPr lang="zh-CN" altLang="en-US" sz="3100" dirty="0">
                <a:solidFill>
                  <a:srgbClr val="694B71"/>
                </a:solidFill>
                <a:latin typeface="微软雅黑" panose="020B0503020204020204" pitchFamily="34" charset="-122"/>
                <a:ea typeface="微软雅黑" panose="020B0503020204020204" pitchFamily="34" charset="-122"/>
                <a:cs typeface="+mn-ea"/>
              </a:rPr>
              <a:t>条件下的活动 </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0CD66864-DEC4-3FB4-410C-A7A076BEF59B}"/>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A4732E12-57D6-BAB2-49C7-523F6468FF2B}"/>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9E554B89-CC98-92C4-1D98-88F4A6A4ECCE}"/>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4B6E3CB0-F3B7-029D-921B-025EDD0B22B5}"/>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0A92A4C9-B3EF-3520-15EA-6A33880F5143}"/>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8" name="文本框 7">
            <a:extLst>
              <a:ext uri="{FF2B5EF4-FFF2-40B4-BE49-F238E27FC236}">
                <a16:creationId xmlns:a16="http://schemas.microsoft.com/office/drawing/2014/main" id="{AA97D861-59FE-B7AB-BB4A-88D0E03D65B4}"/>
              </a:ext>
            </a:extLst>
          </p:cNvPr>
          <p:cNvSpPr txBox="1"/>
          <p:nvPr/>
        </p:nvSpPr>
        <p:spPr>
          <a:xfrm>
            <a:off x="343295" y="1524782"/>
            <a:ext cx="11040052" cy="4154984"/>
          </a:xfrm>
          <a:prstGeom prst="rect">
            <a:avLst/>
          </a:prstGeom>
          <a:noFill/>
        </p:spPr>
        <p:txBody>
          <a:bodyPr wrap="square">
            <a:spAutoFit/>
          </a:bodyPr>
          <a:lstStyle/>
          <a:p>
            <a:pPr>
              <a:buNone/>
            </a:pPr>
            <a:r>
              <a:rPr lang="zh-CN" altLang="zh-CN" sz="2400" dirty="0">
                <a:solidFill>
                  <a:srgbClr val="775480"/>
                </a:solidFill>
                <a:latin typeface="微软雅黑 Light" panose="020B0502040204020203" charset="-122"/>
                <a:ea typeface="微软雅黑 Light" panose="020B0502040204020203" charset="-122"/>
              </a:rPr>
              <a:t>现在我们回答那两个问题，现在轮到相位差。</a:t>
            </a:r>
            <a:endParaRPr lang="en-US" altLang="zh-CN" sz="2400" dirty="0">
              <a:solidFill>
                <a:srgbClr val="775480"/>
              </a:solidFill>
              <a:latin typeface="微软雅黑 Light" panose="020B0502040204020203" charset="-122"/>
              <a:ea typeface="微软雅黑 Light" panose="020B0502040204020203" charset="-122"/>
            </a:endParaRPr>
          </a:p>
          <a:p>
            <a:pPr>
              <a:buNone/>
            </a:pPr>
            <a:endParaRPr lang="zh-CN" altLang="zh-CN" sz="2400" dirty="0">
              <a:solidFill>
                <a:srgbClr val="775480"/>
              </a:solidFill>
              <a:latin typeface="微软雅黑 Light" panose="020B0502040204020203" charset="-122"/>
              <a:ea typeface="微软雅黑 Light" panose="020B0502040204020203" charset="-122"/>
            </a:endParaRPr>
          </a:p>
          <a:p>
            <a:pPr>
              <a:buNone/>
            </a:pPr>
            <a:r>
              <a:rPr lang="zh-CN" altLang="zh-CN" sz="2400" b="1" dirty="0">
                <a:solidFill>
                  <a:srgbClr val="775480"/>
                </a:solidFill>
                <a:latin typeface="微软雅黑 Light" panose="020B0502040204020203" charset="-122"/>
                <a:ea typeface="微软雅黑 Light" panose="020B0502040204020203" charset="-122"/>
              </a:rPr>
              <a:t>一直到多远，站立和其他非运动活动的</a:t>
            </a:r>
            <a:r>
              <a:rPr lang="en-US" altLang="zh-CN" sz="2400" b="1" dirty="0">
                <a:solidFill>
                  <a:srgbClr val="775480"/>
                </a:solidFill>
                <a:latin typeface="微软雅黑 Light" panose="020B0502040204020203" charset="-122"/>
                <a:ea typeface="微软雅黑 Light" panose="020B0502040204020203" charset="-122"/>
              </a:rPr>
              <a:t>CSI</a:t>
            </a:r>
            <a:r>
              <a:rPr lang="zh-CN" altLang="en-US" sz="2400" b="1" dirty="0">
                <a:solidFill>
                  <a:srgbClr val="775480"/>
                </a:solidFill>
                <a:latin typeface="微软雅黑 Light" panose="020B0502040204020203" charset="-122"/>
                <a:ea typeface="微软雅黑 Light" panose="020B0502040204020203" charset="-122"/>
              </a:rPr>
              <a:t>相位差</a:t>
            </a:r>
            <a:r>
              <a:rPr lang="zh-CN" altLang="zh-CN" sz="2400" b="1" dirty="0">
                <a:solidFill>
                  <a:srgbClr val="775480"/>
                </a:solidFill>
                <a:latin typeface="微软雅黑 Light" panose="020B0502040204020203" charset="-122"/>
                <a:ea typeface="微软雅黑 Light" panose="020B0502040204020203" charset="-122"/>
              </a:rPr>
              <a:t>才会变得无法辨认？</a:t>
            </a:r>
            <a:endParaRPr lang="en-US" altLang="zh-CN" sz="2400" b="1" dirty="0">
              <a:solidFill>
                <a:srgbClr val="775480"/>
              </a:solidFill>
              <a:latin typeface="微软雅黑 Light" panose="020B0502040204020203" charset="-122"/>
              <a:ea typeface="微软雅黑 Light" panose="020B0502040204020203" charset="-122"/>
            </a:endParaRPr>
          </a:p>
          <a:p>
            <a:pPr>
              <a:buNone/>
            </a:pPr>
            <a:r>
              <a:rPr lang="zh-CN" altLang="zh-CN" sz="2400" b="1" dirty="0">
                <a:solidFill>
                  <a:srgbClr val="775480"/>
                </a:solidFill>
                <a:latin typeface="微软雅黑 Light" panose="020B0502040204020203" charset="-122"/>
                <a:ea typeface="微软雅黑 Light" panose="020B0502040204020203" charset="-122"/>
              </a:rPr>
              <a:t> </a:t>
            </a:r>
          </a:p>
          <a:p>
            <a:pPr>
              <a:buNone/>
            </a:pPr>
            <a:r>
              <a:rPr lang="zh-CN" altLang="en-US" sz="2400" dirty="0">
                <a:solidFill>
                  <a:srgbClr val="775480"/>
                </a:solidFill>
                <a:latin typeface="微软雅黑 Light" panose="020B0502040204020203" charset="-122"/>
                <a:ea typeface="微软雅黑 Light" panose="020B0502040204020203" charset="-122"/>
              </a:rPr>
              <a:t>同样的设置，这个答案</a:t>
            </a:r>
            <a:r>
              <a:rPr lang="zh-CN" altLang="zh-CN" sz="2400" dirty="0">
                <a:solidFill>
                  <a:srgbClr val="775480"/>
                </a:solidFill>
                <a:latin typeface="微软雅黑 Light" panose="020B0502040204020203" charset="-122"/>
                <a:ea typeface="微软雅黑 Light" panose="020B0502040204020203" charset="-122"/>
              </a:rPr>
              <a:t>在干净空旷的环境中约为</a:t>
            </a:r>
            <a:r>
              <a:rPr lang="en-US" altLang="zh-CN" sz="2400" dirty="0">
                <a:solidFill>
                  <a:srgbClr val="775480"/>
                </a:solidFill>
                <a:latin typeface="微软雅黑 Light" panose="020B0502040204020203" charset="-122"/>
                <a:ea typeface="微软雅黑 Light" panose="020B0502040204020203" charset="-122"/>
              </a:rPr>
              <a:t> 3.5 m</a:t>
            </a:r>
            <a:r>
              <a:rPr lang="zh-CN" altLang="zh-CN" sz="2400" dirty="0">
                <a:solidFill>
                  <a:srgbClr val="775480"/>
                </a:solidFill>
                <a:latin typeface="微软雅黑 Light" panose="020B0502040204020203" charset="-122"/>
                <a:ea typeface="微软雅黑 Light" panose="020B0502040204020203" charset="-122"/>
              </a:rPr>
              <a:t>，</a:t>
            </a:r>
            <a:r>
              <a:rPr lang="zh-CN" altLang="en-US" sz="2400" dirty="0">
                <a:solidFill>
                  <a:srgbClr val="775480"/>
                </a:solidFill>
                <a:latin typeface="微软雅黑 Light" panose="020B0502040204020203" charset="-122"/>
                <a:ea typeface="微软雅黑 Light" panose="020B0502040204020203" charset="-122"/>
              </a:rPr>
              <a:t>在放置同样的</a:t>
            </a:r>
            <a:r>
              <a:rPr lang="zh-CN" altLang="zh-CN" sz="2400" dirty="0">
                <a:solidFill>
                  <a:srgbClr val="775480"/>
                </a:solidFill>
                <a:latin typeface="微软雅黑 Light" panose="020B0502040204020203" charset="-122"/>
                <a:ea typeface="微软雅黑 Light" panose="020B0502040204020203" charset="-122"/>
              </a:rPr>
              <a:t>障碍物时这个距离下降到</a:t>
            </a:r>
            <a:r>
              <a:rPr lang="en-US" altLang="zh-CN" sz="2400" dirty="0">
                <a:solidFill>
                  <a:srgbClr val="775480"/>
                </a:solidFill>
                <a:latin typeface="微软雅黑 Light" panose="020B0502040204020203" charset="-122"/>
                <a:ea typeface="微软雅黑 Light" panose="020B0502040204020203" charset="-122"/>
              </a:rPr>
              <a:t> 3 m</a:t>
            </a:r>
            <a:r>
              <a:rPr lang="zh-CN" altLang="en-US" sz="2400" dirty="0">
                <a:solidFill>
                  <a:srgbClr val="775480"/>
                </a:solidFill>
                <a:latin typeface="微软雅黑 Light" panose="020B0502040204020203" charset="-122"/>
                <a:ea typeface="微软雅黑 Light" panose="020B0502040204020203" charset="-122"/>
              </a:rPr>
              <a:t>。</a:t>
            </a:r>
            <a:endParaRPr lang="en-US" altLang="zh-CN" sz="2400" dirty="0">
              <a:solidFill>
                <a:srgbClr val="775480"/>
              </a:solidFill>
              <a:latin typeface="微软雅黑 Light" panose="020B0502040204020203" charset="-122"/>
              <a:ea typeface="微软雅黑 Light" panose="020B0502040204020203" charset="-122"/>
            </a:endParaRPr>
          </a:p>
          <a:p>
            <a:pPr>
              <a:buNone/>
            </a:pPr>
            <a:r>
              <a:rPr lang="zh-CN" altLang="en-US" sz="2400" dirty="0">
                <a:solidFill>
                  <a:srgbClr val="775480"/>
                </a:solidFill>
                <a:latin typeface="微软雅黑 Light" panose="020B0502040204020203" charset="-122"/>
                <a:ea typeface="微软雅黑 Light" panose="020B0502040204020203" charset="-122"/>
              </a:rPr>
              <a:t>回顾之前的振幅，这两个数字分别是</a:t>
            </a:r>
            <a:r>
              <a:rPr lang="en-US" altLang="zh-CN" sz="2400" dirty="0">
                <a:solidFill>
                  <a:srgbClr val="775480"/>
                </a:solidFill>
                <a:latin typeface="微软雅黑 Light" panose="020B0502040204020203" charset="-122"/>
                <a:ea typeface="微软雅黑 Light" panose="020B0502040204020203" charset="-122"/>
              </a:rPr>
              <a:t>2m</a:t>
            </a:r>
            <a:r>
              <a:rPr lang="zh-CN" altLang="en-US" sz="2400" dirty="0">
                <a:solidFill>
                  <a:srgbClr val="775480"/>
                </a:solidFill>
                <a:latin typeface="微软雅黑 Light" panose="020B0502040204020203" charset="-122"/>
                <a:ea typeface="微软雅黑 Light" panose="020B0502040204020203" charset="-122"/>
              </a:rPr>
              <a:t>和</a:t>
            </a:r>
            <a:r>
              <a:rPr lang="en-US" altLang="zh-CN" sz="2400" dirty="0">
                <a:solidFill>
                  <a:srgbClr val="775480"/>
                </a:solidFill>
                <a:latin typeface="微软雅黑 Light" panose="020B0502040204020203" charset="-122"/>
                <a:ea typeface="微软雅黑 Light" panose="020B0502040204020203" charset="-122"/>
              </a:rPr>
              <a:t>1.5m</a:t>
            </a:r>
          </a:p>
          <a:p>
            <a:pPr>
              <a:buNone/>
            </a:pPr>
            <a:r>
              <a:rPr lang="zh-CN" altLang="zh-CN" sz="2400" dirty="0">
                <a:solidFill>
                  <a:srgbClr val="775480"/>
                </a:solidFill>
                <a:latin typeface="微软雅黑 Light" panose="020B0502040204020203" charset="-122"/>
                <a:ea typeface="微软雅黑 Light" panose="020B0502040204020203" charset="-122"/>
              </a:rPr>
              <a:t>与</a:t>
            </a:r>
            <a:r>
              <a:rPr lang="zh-CN" altLang="en-US" sz="2400" dirty="0">
                <a:solidFill>
                  <a:srgbClr val="775480"/>
                </a:solidFill>
                <a:latin typeface="微软雅黑 Light" panose="020B0502040204020203" charset="-122"/>
                <a:ea typeface="微软雅黑 Light" panose="020B0502040204020203" charset="-122"/>
              </a:rPr>
              <a:t>振幅</a:t>
            </a:r>
            <a:r>
              <a:rPr lang="zh-CN" altLang="zh-CN" sz="2400" dirty="0">
                <a:solidFill>
                  <a:srgbClr val="775480"/>
                </a:solidFill>
                <a:latin typeface="微软雅黑 Light" panose="020B0502040204020203" charset="-122"/>
                <a:ea typeface="微软雅黑 Light" panose="020B0502040204020203" charset="-122"/>
              </a:rPr>
              <a:t>相比，</a:t>
            </a:r>
            <a:r>
              <a:rPr lang="en-US" altLang="zh-CN" sz="2400" dirty="0">
                <a:solidFill>
                  <a:srgbClr val="775480"/>
                </a:solidFill>
                <a:latin typeface="微软雅黑 Light" panose="020B0502040204020203" charset="-122"/>
                <a:ea typeface="微软雅黑 Light" panose="020B0502040204020203" charset="-122"/>
              </a:rPr>
              <a:t>LOS </a:t>
            </a:r>
            <a:r>
              <a:rPr lang="zh-CN" altLang="zh-CN" sz="2400" dirty="0">
                <a:solidFill>
                  <a:srgbClr val="775480"/>
                </a:solidFill>
                <a:latin typeface="微软雅黑 Light" panose="020B0502040204020203" charset="-122"/>
                <a:ea typeface="微软雅黑 Light" panose="020B0502040204020203" charset="-122"/>
              </a:rPr>
              <a:t>和</a:t>
            </a:r>
            <a:r>
              <a:rPr lang="en-US" altLang="zh-CN" sz="2400" dirty="0">
                <a:solidFill>
                  <a:srgbClr val="775480"/>
                </a:solidFill>
                <a:latin typeface="微软雅黑 Light" panose="020B0502040204020203" charset="-122"/>
                <a:ea typeface="微软雅黑 Light" panose="020B0502040204020203" charset="-122"/>
              </a:rPr>
              <a:t> NLOS </a:t>
            </a:r>
            <a:r>
              <a:rPr lang="zh-CN" altLang="zh-CN" sz="2400" dirty="0">
                <a:solidFill>
                  <a:srgbClr val="775480"/>
                </a:solidFill>
                <a:latin typeface="微软雅黑 Light" panose="020B0502040204020203" charset="-122"/>
                <a:ea typeface="微软雅黑 Light" panose="020B0502040204020203" charset="-122"/>
              </a:rPr>
              <a:t>场景下站立姿势的</a:t>
            </a:r>
            <a:r>
              <a:rPr lang="en-US" altLang="zh-CN" sz="2400" dirty="0">
                <a:solidFill>
                  <a:srgbClr val="775480"/>
                </a:solidFill>
                <a:latin typeface="微软雅黑 Light" panose="020B0502040204020203" charset="-122"/>
                <a:ea typeface="微软雅黑 Light" panose="020B0502040204020203" charset="-122"/>
              </a:rPr>
              <a:t> CSI </a:t>
            </a:r>
            <a:r>
              <a:rPr lang="zh-CN" altLang="zh-CN" sz="2400" dirty="0">
                <a:solidFill>
                  <a:srgbClr val="775480"/>
                </a:solidFill>
                <a:latin typeface="微软雅黑 Light" panose="020B0502040204020203" charset="-122"/>
                <a:ea typeface="微软雅黑 Light" panose="020B0502040204020203" charset="-122"/>
              </a:rPr>
              <a:t>相位差方差似乎都被放大了，站立信号模式与</a:t>
            </a:r>
            <a:r>
              <a:rPr lang="zh-CN" altLang="en-US" sz="2400" dirty="0">
                <a:solidFill>
                  <a:srgbClr val="775480"/>
                </a:solidFill>
                <a:latin typeface="微软雅黑 Light" panose="020B0502040204020203" charset="-122"/>
                <a:ea typeface="微软雅黑 Light" panose="020B0502040204020203" charset="-122"/>
              </a:rPr>
              <a:t>其他</a:t>
            </a:r>
            <a:r>
              <a:rPr lang="zh-CN" altLang="zh-CN" sz="2400" dirty="0">
                <a:solidFill>
                  <a:srgbClr val="775480"/>
                </a:solidFill>
                <a:latin typeface="微软雅黑 Light" panose="020B0502040204020203" charset="-122"/>
                <a:ea typeface="微软雅黑 Light" panose="020B0502040204020203" charset="-122"/>
              </a:rPr>
              <a:t>非运动活动信号模式之间的差异变得更加清晰。</a:t>
            </a:r>
          </a:p>
          <a:p>
            <a:pPr>
              <a:buNone/>
            </a:pPr>
            <a:r>
              <a:rPr lang="zh-CN" altLang="zh-CN" sz="2400" dirty="0">
                <a:solidFill>
                  <a:srgbClr val="775480"/>
                </a:solidFill>
                <a:latin typeface="微软雅黑 Light" panose="020B0502040204020203" charset="-122"/>
                <a:ea typeface="微软雅黑 Light" panose="020B0502040204020203" charset="-122"/>
              </a:rPr>
              <a:t>由于可辨识的覆盖范围对于标准尺寸的房间来说已经足够了，我们认为两个天线上的相位差可以作为区分躺着（坐着）和站着的健壮的基础信号。</a:t>
            </a:r>
          </a:p>
        </p:txBody>
      </p:sp>
    </p:spTree>
    <p:custDataLst>
      <p:tags r:id="rId1"/>
    </p:custDataLst>
    <p:extLst>
      <p:ext uri="{BB962C8B-B14F-4D97-AF65-F5344CB8AC3E}">
        <p14:creationId xmlns:p14="http://schemas.microsoft.com/office/powerpoint/2010/main" val="871375489"/>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18A12-85F1-E4E7-BDC6-864DCB6696DB}"/>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275DA9D7-D7E4-CC09-83B7-2AFACF46C24D}"/>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en" altLang="zh-CN" sz="3100" dirty="0">
                <a:solidFill>
                  <a:srgbClr val="694B71"/>
                </a:solidFill>
                <a:latin typeface="微软雅黑" panose="020B0503020204020204" pitchFamily="34" charset="-122"/>
                <a:ea typeface="微软雅黑" panose="020B0503020204020204" pitchFamily="34" charset="-122"/>
                <a:cs typeface="+mn-ea"/>
              </a:rPr>
              <a:t>LOS </a:t>
            </a:r>
            <a:r>
              <a:rPr lang="zh-CN" altLang="en-US" sz="3100" dirty="0">
                <a:solidFill>
                  <a:srgbClr val="694B71"/>
                </a:solidFill>
                <a:latin typeface="微软雅黑" panose="020B0503020204020204" pitchFamily="34" charset="-122"/>
                <a:ea typeface="微软雅黑" panose="020B0503020204020204" pitchFamily="34" charset="-122"/>
                <a:cs typeface="+mn-ea"/>
              </a:rPr>
              <a:t>和 </a:t>
            </a:r>
            <a:r>
              <a:rPr lang="en" altLang="zh-CN" sz="3100" dirty="0">
                <a:solidFill>
                  <a:srgbClr val="694B71"/>
                </a:solidFill>
                <a:latin typeface="微软雅黑" panose="020B0503020204020204" pitchFamily="34" charset="-122"/>
                <a:ea typeface="微软雅黑" panose="020B0503020204020204" pitchFamily="34" charset="-122"/>
                <a:cs typeface="+mn-ea"/>
              </a:rPr>
              <a:t>NLOS </a:t>
            </a:r>
            <a:r>
              <a:rPr lang="zh-CN" altLang="en-US" sz="3100" dirty="0">
                <a:solidFill>
                  <a:srgbClr val="694B71"/>
                </a:solidFill>
                <a:latin typeface="微软雅黑" panose="020B0503020204020204" pitchFamily="34" charset="-122"/>
                <a:ea typeface="微软雅黑" panose="020B0503020204020204" pitchFamily="34" charset="-122"/>
                <a:cs typeface="+mn-ea"/>
              </a:rPr>
              <a:t>条件下的活动 </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2A473E2E-C287-9BF7-4DAA-BD69594BCDD6}"/>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D1E3C435-2ADE-94D8-D4C6-2C3DBEC2632A}"/>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81D84B4A-2325-5DE9-8D3D-41404F5DD231}"/>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07D7B474-476C-220F-2CB5-8D8E83949A27}"/>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2C44B622-3FFD-994E-3301-04E4D45B75FD}"/>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8" name="文本框 7">
            <a:extLst>
              <a:ext uri="{FF2B5EF4-FFF2-40B4-BE49-F238E27FC236}">
                <a16:creationId xmlns:a16="http://schemas.microsoft.com/office/drawing/2014/main" id="{FACB2924-A268-35DA-8895-C03F5609B4B1}"/>
              </a:ext>
            </a:extLst>
          </p:cNvPr>
          <p:cNvSpPr txBox="1"/>
          <p:nvPr/>
        </p:nvSpPr>
        <p:spPr>
          <a:xfrm>
            <a:off x="399279" y="1894114"/>
            <a:ext cx="11040052" cy="3046988"/>
          </a:xfrm>
          <a:prstGeom prst="rect">
            <a:avLst/>
          </a:prstGeom>
          <a:noFill/>
        </p:spPr>
        <p:txBody>
          <a:bodyPr wrap="square">
            <a:spAutoFit/>
          </a:bodyPr>
          <a:lstStyle/>
          <a:p>
            <a:pPr>
              <a:buNone/>
            </a:pPr>
            <a:r>
              <a:rPr lang="zh-CN" altLang="en-US" sz="2400" dirty="0">
                <a:solidFill>
                  <a:srgbClr val="775480"/>
                </a:solidFill>
                <a:latin typeface="微软雅黑 Light" panose="020B0502040204020203" charset="-122"/>
                <a:ea typeface="微软雅黑 Light" panose="020B0502040204020203" charset="-122"/>
              </a:rPr>
              <a:t>第二个问题：</a:t>
            </a:r>
            <a:endParaRPr lang="en-US" altLang="zh-CN" sz="2400" dirty="0">
              <a:solidFill>
                <a:srgbClr val="775480"/>
              </a:solidFill>
              <a:latin typeface="微软雅黑 Light" panose="020B0502040204020203" charset="-122"/>
              <a:ea typeface="微软雅黑 Light" panose="020B0502040204020203" charset="-122"/>
            </a:endParaRPr>
          </a:p>
          <a:p>
            <a:pPr>
              <a:buNone/>
            </a:pPr>
            <a:endParaRPr lang="zh-CN" altLang="zh-CN" sz="2400" dirty="0">
              <a:solidFill>
                <a:srgbClr val="775480"/>
              </a:solidFill>
              <a:latin typeface="微软雅黑 Light" panose="020B0502040204020203" charset="-122"/>
              <a:ea typeface="微软雅黑 Light" panose="020B0502040204020203" charset="-122"/>
            </a:endParaRPr>
          </a:p>
          <a:p>
            <a:pPr>
              <a:buNone/>
            </a:pPr>
            <a:r>
              <a:rPr lang="zh-CN" altLang="en-US" sz="2400" b="1" dirty="0">
                <a:solidFill>
                  <a:srgbClr val="775480"/>
                </a:solidFill>
                <a:latin typeface="微软雅黑 Light" panose="020B0502040204020203" charset="-122"/>
                <a:ea typeface="微软雅黑 Light" panose="020B0502040204020203" charset="-122"/>
              </a:rPr>
              <a:t>一直到多远，运动活动和非运动活动的基本信号才会变得难以辨认？ </a:t>
            </a:r>
          </a:p>
          <a:p>
            <a:pPr>
              <a:buNone/>
            </a:pPr>
            <a:r>
              <a:rPr lang="zh-CN" altLang="zh-CN" sz="2400" b="1" dirty="0">
                <a:solidFill>
                  <a:srgbClr val="775480"/>
                </a:solidFill>
                <a:latin typeface="微软雅黑 Light" panose="020B0502040204020203" charset="-122"/>
                <a:ea typeface="微软雅黑 Light" panose="020B0502040204020203" charset="-122"/>
              </a:rPr>
              <a:t> </a:t>
            </a:r>
          </a:p>
          <a:p>
            <a:r>
              <a:rPr lang="zh-CN" altLang="zh-CN" sz="2400" dirty="0">
                <a:solidFill>
                  <a:srgbClr val="775480"/>
                </a:solidFill>
                <a:latin typeface="微软雅黑 Light" panose="020B0502040204020203" charset="-122"/>
                <a:ea typeface="微软雅黑 Light" panose="020B0502040204020203" charset="-122"/>
              </a:rPr>
              <a:t>第二个问题的答案是</a:t>
            </a:r>
            <a:r>
              <a:rPr lang="zh-CN" altLang="en-US" sz="2400" dirty="0">
                <a:solidFill>
                  <a:srgbClr val="775480"/>
                </a:solidFill>
                <a:latin typeface="微软雅黑 Light" panose="020B0502040204020203" charset="-122"/>
                <a:ea typeface="微软雅黑 Light" panose="020B0502040204020203" charset="-122"/>
              </a:rPr>
              <a:t>，</a:t>
            </a:r>
            <a:r>
              <a:rPr lang="zh-CN" altLang="zh-CN" sz="2400" dirty="0">
                <a:solidFill>
                  <a:srgbClr val="775480"/>
                </a:solidFill>
                <a:latin typeface="微软雅黑 Light" panose="020B0502040204020203" charset="-122"/>
                <a:ea typeface="微软雅黑 Light" panose="020B0502040204020203" charset="-122"/>
              </a:rPr>
              <a:t>当</a:t>
            </a:r>
            <a:r>
              <a:rPr lang="en-US" altLang="zh-CN" sz="2400" dirty="0">
                <a:solidFill>
                  <a:srgbClr val="775480"/>
                </a:solidFill>
                <a:latin typeface="微软雅黑 Light" panose="020B0502040204020203" charset="-122"/>
                <a:ea typeface="微软雅黑 Light" panose="020B0502040204020203" charset="-122"/>
              </a:rPr>
              <a:t>LOS </a:t>
            </a:r>
            <a:r>
              <a:rPr lang="zh-CN" altLang="zh-CN" sz="2400" dirty="0">
                <a:solidFill>
                  <a:srgbClr val="775480"/>
                </a:solidFill>
                <a:latin typeface="微软雅黑 Light" panose="020B0502040204020203" charset="-122"/>
                <a:ea typeface="微软雅黑 Light" panose="020B0502040204020203" charset="-122"/>
              </a:rPr>
              <a:t>路径上没有障碍物时，距离为</a:t>
            </a:r>
            <a:r>
              <a:rPr lang="en-US" altLang="zh-CN" sz="2400" dirty="0">
                <a:solidFill>
                  <a:srgbClr val="775480"/>
                </a:solidFill>
                <a:latin typeface="微软雅黑 Light" panose="020B0502040204020203" charset="-122"/>
                <a:ea typeface="微软雅黑 Light" panose="020B0502040204020203" charset="-122"/>
              </a:rPr>
              <a:t> 6 m</a:t>
            </a:r>
            <a:r>
              <a:rPr lang="zh-CN" altLang="zh-CN" sz="2400" dirty="0">
                <a:solidFill>
                  <a:srgbClr val="775480"/>
                </a:solidFill>
                <a:latin typeface="微软雅黑 Light" panose="020B0502040204020203" charset="-122"/>
                <a:ea typeface="微软雅黑 Light" panose="020B0502040204020203" charset="-122"/>
              </a:rPr>
              <a:t>，但用同一张桌子作为障碍物，它下降到</a:t>
            </a:r>
            <a:r>
              <a:rPr lang="en-US" altLang="zh-CN" sz="2400" dirty="0">
                <a:solidFill>
                  <a:srgbClr val="775480"/>
                </a:solidFill>
                <a:latin typeface="微软雅黑 Light" panose="020B0502040204020203" charset="-122"/>
                <a:ea typeface="微软雅黑 Light" panose="020B0502040204020203" charset="-122"/>
              </a:rPr>
              <a:t> 5 m</a:t>
            </a:r>
            <a:r>
              <a:rPr lang="zh-CN" altLang="zh-CN" sz="2400" dirty="0">
                <a:solidFill>
                  <a:srgbClr val="775480"/>
                </a:solidFill>
                <a:latin typeface="微软雅黑 Light" panose="020B0502040204020203" charset="-122"/>
                <a:ea typeface="微软雅黑 Light" panose="020B0502040204020203" charset="-122"/>
              </a:rPr>
              <a:t>。考虑到</a:t>
            </a:r>
            <a:r>
              <a:rPr lang="en-US" altLang="zh-CN" sz="2400" dirty="0">
                <a:solidFill>
                  <a:srgbClr val="775480"/>
                </a:solidFill>
                <a:latin typeface="微软雅黑 Light" panose="020B0502040204020203" charset="-122"/>
                <a:ea typeface="微软雅黑 Light" panose="020B0502040204020203" charset="-122"/>
              </a:rPr>
              <a:t> LOS </a:t>
            </a:r>
            <a:r>
              <a:rPr lang="zh-CN" altLang="zh-CN" sz="2400" dirty="0">
                <a:solidFill>
                  <a:srgbClr val="775480"/>
                </a:solidFill>
                <a:latin typeface="微软雅黑 Light" panose="020B0502040204020203" charset="-122"/>
                <a:ea typeface="微软雅黑 Light" panose="020B0502040204020203" charset="-122"/>
              </a:rPr>
              <a:t>路径两侧的对称性</a:t>
            </a:r>
            <a:r>
              <a:rPr lang="zh-CN" altLang="en-US" sz="2400" dirty="0">
                <a:solidFill>
                  <a:srgbClr val="775480"/>
                </a:solidFill>
                <a:latin typeface="微软雅黑 Light" panose="020B0502040204020203" charset="-122"/>
                <a:ea typeface="微软雅黑 Light" panose="020B0502040204020203" charset="-122"/>
              </a:rPr>
              <a:t>。</a:t>
            </a:r>
            <a:endParaRPr lang="en-US" altLang="zh-CN" sz="2400" dirty="0">
              <a:solidFill>
                <a:srgbClr val="775480"/>
              </a:solidFill>
              <a:latin typeface="微软雅黑 Light" panose="020B0502040204020203" charset="-122"/>
              <a:ea typeface="微软雅黑 Light" panose="020B0502040204020203" charset="-122"/>
            </a:endParaRPr>
          </a:p>
          <a:p>
            <a:r>
              <a:rPr lang="zh-CN" altLang="en-US" sz="2400" dirty="0">
                <a:solidFill>
                  <a:srgbClr val="775480"/>
                </a:solidFill>
                <a:latin typeface="微软雅黑 Light" panose="020B0502040204020203" charset="-122"/>
                <a:ea typeface="微软雅黑 Light" panose="020B0502040204020203" charset="-122"/>
              </a:rPr>
              <a:t>同样对比振幅的 </a:t>
            </a:r>
            <a:r>
              <a:rPr lang="en-US" altLang="zh-CN" sz="2400" dirty="0">
                <a:solidFill>
                  <a:srgbClr val="775480"/>
                </a:solidFill>
                <a:latin typeface="微软雅黑 Light" panose="020B0502040204020203" charset="-122"/>
                <a:ea typeface="微软雅黑 Light" panose="020B0502040204020203" charset="-122"/>
              </a:rPr>
              <a:t>5</a:t>
            </a:r>
            <a:r>
              <a:rPr lang="zh-CN" altLang="en-US" sz="2400" dirty="0">
                <a:solidFill>
                  <a:srgbClr val="775480"/>
                </a:solidFill>
                <a:latin typeface="微软雅黑 Light" panose="020B0502040204020203" charset="-122"/>
                <a:ea typeface="微软雅黑 Light" panose="020B0502040204020203" charset="-122"/>
              </a:rPr>
              <a:t> </a:t>
            </a:r>
            <a:r>
              <a:rPr lang="en-US" altLang="zh-CN" sz="2400" dirty="0">
                <a:solidFill>
                  <a:srgbClr val="775480"/>
                </a:solidFill>
                <a:latin typeface="微软雅黑 Light" panose="020B0502040204020203" charset="-122"/>
                <a:ea typeface="微软雅黑 Light" panose="020B0502040204020203" charset="-122"/>
              </a:rPr>
              <a:t>m</a:t>
            </a:r>
            <a:r>
              <a:rPr lang="zh-CN" altLang="en-US" sz="2400" dirty="0">
                <a:solidFill>
                  <a:srgbClr val="775480"/>
                </a:solidFill>
                <a:latin typeface="微软雅黑 Light" panose="020B0502040204020203" charset="-122"/>
                <a:ea typeface="微软雅黑 Light" panose="020B0502040204020203" charset="-122"/>
              </a:rPr>
              <a:t> 和 </a:t>
            </a:r>
            <a:r>
              <a:rPr lang="en-US" altLang="zh-CN" sz="2400" dirty="0">
                <a:solidFill>
                  <a:srgbClr val="775480"/>
                </a:solidFill>
                <a:latin typeface="微软雅黑 Light" panose="020B0502040204020203" charset="-122"/>
                <a:ea typeface="微软雅黑 Light" panose="020B0502040204020203" charset="-122"/>
              </a:rPr>
              <a:t>4</a:t>
            </a:r>
            <a:r>
              <a:rPr lang="zh-CN" altLang="en-US" sz="2400" dirty="0">
                <a:solidFill>
                  <a:srgbClr val="775480"/>
                </a:solidFill>
                <a:latin typeface="微软雅黑 Light" panose="020B0502040204020203" charset="-122"/>
                <a:ea typeface="微软雅黑 Light" panose="020B0502040204020203" charset="-122"/>
              </a:rPr>
              <a:t> </a:t>
            </a:r>
            <a:r>
              <a:rPr lang="en-US" altLang="zh-CN" sz="2400" dirty="0">
                <a:solidFill>
                  <a:srgbClr val="775480"/>
                </a:solidFill>
                <a:latin typeface="微软雅黑 Light" panose="020B0502040204020203" charset="-122"/>
                <a:ea typeface="微软雅黑 Light" panose="020B0502040204020203" charset="-122"/>
              </a:rPr>
              <a:t>m</a:t>
            </a:r>
            <a:r>
              <a:rPr lang="zh-CN" altLang="en-US" sz="2400" dirty="0">
                <a:solidFill>
                  <a:srgbClr val="775480"/>
                </a:solidFill>
                <a:latin typeface="微软雅黑 Light" panose="020B0502040204020203" charset="-122"/>
                <a:ea typeface="微软雅黑 Light" panose="020B0502040204020203" charset="-122"/>
              </a:rPr>
              <a:t>，</a:t>
            </a:r>
            <a:r>
              <a:rPr lang="zh-CN" altLang="zh-CN" sz="2400" dirty="0">
                <a:solidFill>
                  <a:srgbClr val="775480"/>
                </a:solidFill>
                <a:latin typeface="微软雅黑 Light" panose="020B0502040204020203" charset="-122"/>
                <a:ea typeface="微软雅黑 Light" panose="020B0502040204020203" charset="-122"/>
              </a:rPr>
              <a:t>我们得出结论，相位差也是比幅度更好的基础信号，可以区分公共客厅中的运动活动和非运动运动活动。</a:t>
            </a:r>
          </a:p>
        </p:txBody>
      </p:sp>
    </p:spTree>
    <p:custDataLst>
      <p:tags r:id="rId1"/>
    </p:custDataLst>
    <p:extLst>
      <p:ext uri="{BB962C8B-B14F-4D97-AF65-F5344CB8AC3E}">
        <p14:creationId xmlns:p14="http://schemas.microsoft.com/office/powerpoint/2010/main" val="1734289684"/>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902F9-12B7-1259-BF3F-9F7D55D0D137}"/>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F3C9C9BF-AB52-5797-72C0-AFB22859382F}"/>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en-US" sz="3100" dirty="0">
                <a:solidFill>
                  <a:srgbClr val="694B71"/>
                </a:solidFill>
                <a:latin typeface="微软雅黑" panose="020B0503020204020204" pitchFamily="34" charset="-122"/>
                <a:ea typeface="微软雅黑" panose="020B0503020204020204" pitchFamily="34" charset="-122"/>
                <a:cs typeface="+mn-ea"/>
              </a:rPr>
              <a:t>不同场景下的跌倒 </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66BC3B11-D082-E14B-8483-5D2DAE72DA36}"/>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2984373B-F57B-A139-263B-0D7FCB12ADCF}"/>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DA8EC45B-1C0A-278E-D6B2-E555A20513D2}"/>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73C045DC-5089-96E0-07BB-546751BF9108}"/>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CEEDF94D-70D9-06F1-4BA0-96388DB552CE}"/>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pic>
        <p:nvPicPr>
          <p:cNvPr id="3" name="图片 2">
            <a:extLst>
              <a:ext uri="{FF2B5EF4-FFF2-40B4-BE49-F238E27FC236}">
                <a16:creationId xmlns:a16="http://schemas.microsoft.com/office/drawing/2014/main" id="{BE24AA06-B20E-348F-FB45-7A4904BABDE3}"/>
              </a:ext>
            </a:extLst>
          </p:cNvPr>
          <p:cNvPicPr>
            <a:picLocks noChangeAspect="1"/>
          </p:cNvPicPr>
          <p:nvPr/>
        </p:nvPicPr>
        <p:blipFill>
          <a:blip r:embed="rId5"/>
          <a:stretch>
            <a:fillRect/>
          </a:stretch>
        </p:blipFill>
        <p:spPr>
          <a:xfrm>
            <a:off x="0" y="1714650"/>
            <a:ext cx="8115529" cy="4323148"/>
          </a:xfrm>
          <a:prstGeom prst="rect">
            <a:avLst/>
          </a:prstGeom>
          <a:noFill/>
          <a:ln>
            <a:noFill/>
          </a:ln>
        </p:spPr>
      </p:pic>
      <p:sp>
        <p:nvSpPr>
          <p:cNvPr id="5" name="文本框 4">
            <a:extLst>
              <a:ext uri="{FF2B5EF4-FFF2-40B4-BE49-F238E27FC236}">
                <a16:creationId xmlns:a16="http://schemas.microsoft.com/office/drawing/2014/main" id="{9F77B926-A686-69B5-8BFE-D51F407CA775}"/>
              </a:ext>
            </a:extLst>
          </p:cNvPr>
          <p:cNvSpPr txBox="1"/>
          <p:nvPr/>
        </p:nvSpPr>
        <p:spPr>
          <a:xfrm>
            <a:off x="8115529" y="1862223"/>
            <a:ext cx="4208105" cy="4524315"/>
          </a:xfrm>
          <a:prstGeom prst="rect">
            <a:avLst/>
          </a:prstGeom>
          <a:noFill/>
        </p:spPr>
        <p:txBody>
          <a:bodyPr wrap="square">
            <a:spAutoFit/>
          </a:bodyPr>
          <a:lstStyle/>
          <a:p>
            <a:r>
              <a:rPr lang="zh-CN" altLang="zh-CN" sz="2400" dirty="0">
                <a:solidFill>
                  <a:srgbClr val="775480"/>
                </a:solidFill>
                <a:latin typeface="微软雅黑 Light" panose="020B0502040204020203" charset="-122"/>
                <a:ea typeface="微软雅黑 Light" panose="020B0502040204020203" charset="-122"/>
              </a:rPr>
              <a:t>随着时间的推移，大多数人类活动，如行走、跑步、站立和跌倒，都会导致明显的</a:t>
            </a:r>
            <a:r>
              <a:rPr lang="en-US" altLang="zh-CN" sz="2400" dirty="0">
                <a:solidFill>
                  <a:srgbClr val="775480"/>
                </a:solidFill>
                <a:latin typeface="微软雅黑 Light" panose="020B0502040204020203" charset="-122"/>
                <a:ea typeface="微软雅黑 Light" panose="020B0502040204020203" charset="-122"/>
              </a:rPr>
              <a:t> CSI </a:t>
            </a:r>
            <a:r>
              <a:rPr lang="zh-CN" altLang="zh-CN" sz="2400" dirty="0">
                <a:solidFill>
                  <a:srgbClr val="775480"/>
                </a:solidFill>
                <a:latin typeface="微软雅黑 Light" panose="020B0502040204020203" charset="-122"/>
                <a:ea typeface="微软雅黑 Light" panose="020B0502040204020203" charset="-122"/>
              </a:rPr>
              <a:t>相位差波动。只有几个非运动活动，比如静坐和躺着，会产生非常稳定的信号模式。在我们之前的工作中发现，只有当人们跌倒、躺下和坐下时，相位差的变化模式才表现出从波动状态到稳定状态的明显转变，然后利用</a:t>
            </a:r>
            <a:r>
              <a:rPr lang="en-US" altLang="zh-CN" sz="2400" dirty="0">
                <a:solidFill>
                  <a:srgbClr val="775480"/>
                </a:solidFill>
                <a:latin typeface="微软雅黑 Light" panose="020B0502040204020203" charset="-122"/>
                <a:ea typeface="微软雅黑 Light" panose="020B0502040204020203" charset="-122"/>
              </a:rPr>
              <a:t> CSI </a:t>
            </a:r>
            <a:r>
              <a:rPr lang="zh-CN" altLang="zh-CN" sz="2400" dirty="0">
                <a:solidFill>
                  <a:srgbClr val="775480"/>
                </a:solidFill>
                <a:latin typeface="微软雅黑 Light" panose="020B0502040204020203" charset="-122"/>
                <a:ea typeface="微软雅黑 Light" panose="020B0502040204020203" charset="-122"/>
              </a:rPr>
              <a:t>相位差的状态转变进行实时活动分割。 </a:t>
            </a:r>
            <a:endParaRPr lang="zh-CN" altLang="en-US" sz="2400" dirty="0">
              <a:solidFill>
                <a:srgbClr val="775480"/>
              </a:solidFill>
              <a:latin typeface="微软雅黑 Light" panose="020B0502040204020203" charset="-122"/>
              <a:ea typeface="微软雅黑 Light" panose="020B0502040204020203" charset="-122"/>
            </a:endParaRPr>
          </a:p>
        </p:txBody>
      </p:sp>
    </p:spTree>
    <p:custDataLst>
      <p:tags r:id="rId1"/>
    </p:custDataLst>
    <p:extLst>
      <p:ext uri="{BB962C8B-B14F-4D97-AF65-F5344CB8AC3E}">
        <p14:creationId xmlns:p14="http://schemas.microsoft.com/office/powerpoint/2010/main" val="741538065"/>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D58608-078A-D7E8-9833-BF792761C51A}"/>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9A74CECF-1E48-BC25-03FD-EF151DB1B035}"/>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en-US" sz="3100" dirty="0">
                <a:solidFill>
                  <a:srgbClr val="694B71"/>
                </a:solidFill>
                <a:latin typeface="微软雅黑" panose="020B0503020204020204" pitchFamily="34" charset="-122"/>
                <a:ea typeface="微软雅黑" panose="020B0503020204020204" pitchFamily="34" charset="-122"/>
                <a:cs typeface="+mn-ea"/>
              </a:rPr>
              <a:t>不同场景下的跌倒 </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F09BB170-ABAE-4C35-8E43-8FFEFA08916C}"/>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65CFA61A-137F-CE84-DE23-8089F714EB77}"/>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9CD4C255-32B6-22FD-2DEE-3C803B616A57}"/>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CF832672-F63A-DC32-674E-21BE2E7B12B1}"/>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8F293E28-3579-36F4-A4C2-127D88FABEFB}"/>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pic>
        <p:nvPicPr>
          <p:cNvPr id="3" name="图片 2">
            <a:extLst>
              <a:ext uri="{FF2B5EF4-FFF2-40B4-BE49-F238E27FC236}">
                <a16:creationId xmlns:a16="http://schemas.microsoft.com/office/drawing/2014/main" id="{B13A2383-CF7E-4B15-F9EE-02514D2DFAD6}"/>
              </a:ext>
            </a:extLst>
          </p:cNvPr>
          <p:cNvPicPr>
            <a:picLocks noChangeAspect="1"/>
          </p:cNvPicPr>
          <p:nvPr/>
        </p:nvPicPr>
        <p:blipFill>
          <a:blip r:embed="rId5"/>
          <a:stretch>
            <a:fillRect/>
          </a:stretch>
        </p:blipFill>
        <p:spPr>
          <a:xfrm>
            <a:off x="0" y="1714650"/>
            <a:ext cx="7333861" cy="3906753"/>
          </a:xfrm>
          <a:prstGeom prst="rect">
            <a:avLst/>
          </a:prstGeom>
          <a:noFill/>
          <a:ln>
            <a:noFill/>
          </a:ln>
        </p:spPr>
      </p:pic>
      <p:sp>
        <p:nvSpPr>
          <p:cNvPr id="5" name="文本框 4">
            <a:extLst>
              <a:ext uri="{FF2B5EF4-FFF2-40B4-BE49-F238E27FC236}">
                <a16:creationId xmlns:a16="http://schemas.microsoft.com/office/drawing/2014/main" id="{B3B5B1CC-C50C-E93F-6A07-CED284262F6E}"/>
              </a:ext>
            </a:extLst>
          </p:cNvPr>
          <p:cNvSpPr txBox="1"/>
          <p:nvPr/>
        </p:nvSpPr>
        <p:spPr>
          <a:xfrm>
            <a:off x="7333861" y="1125666"/>
            <a:ext cx="4989773" cy="5632311"/>
          </a:xfrm>
          <a:prstGeom prst="rect">
            <a:avLst/>
          </a:prstGeom>
          <a:noFill/>
        </p:spPr>
        <p:txBody>
          <a:bodyPr wrap="square">
            <a:spAutoFit/>
          </a:bodyPr>
          <a:lstStyle/>
          <a:p>
            <a:r>
              <a:rPr lang="zh-CN" altLang="en-US" sz="2400" dirty="0">
                <a:solidFill>
                  <a:srgbClr val="775480"/>
                </a:solidFill>
                <a:latin typeface="微软雅黑 Light" panose="020B0502040204020203" charset="-122"/>
                <a:ea typeface="微软雅黑 Light" panose="020B0502040204020203" charset="-122"/>
              </a:rPr>
              <a:t>通过广泛的实验，</a:t>
            </a:r>
            <a:r>
              <a:rPr lang="en" altLang="zh-CN" sz="2400" dirty="0">
                <a:solidFill>
                  <a:srgbClr val="775480"/>
                </a:solidFill>
                <a:latin typeface="微软雅黑 Light" panose="020B0502040204020203" charset="-122"/>
                <a:ea typeface="微软雅黑 Light" panose="020B0502040204020203" charset="-122"/>
              </a:rPr>
              <a:t>CSI </a:t>
            </a:r>
            <a:r>
              <a:rPr lang="zh-CN" altLang="en-US" sz="2400" dirty="0">
                <a:solidFill>
                  <a:srgbClr val="775480"/>
                </a:solidFill>
                <a:latin typeface="微软雅黑 Light" panose="020B0502040204020203" charset="-122"/>
                <a:ea typeface="微软雅黑 Light" panose="020B0502040204020203" charset="-122"/>
              </a:rPr>
              <a:t>相位差变化模式的状态转换被证明是时域中的一个稳健特征，可以从连续接收的 </a:t>
            </a:r>
            <a:r>
              <a:rPr lang="en" altLang="zh-CN" sz="2400" dirty="0">
                <a:solidFill>
                  <a:srgbClr val="775480"/>
                </a:solidFill>
                <a:latin typeface="微软雅黑 Light" panose="020B0502040204020203" charset="-122"/>
                <a:ea typeface="微软雅黑 Light" panose="020B0502040204020203" charset="-122"/>
              </a:rPr>
              <a:t>CSI </a:t>
            </a:r>
            <a:r>
              <a:rPr lang="zh-CN" altLang="en-US" sz="2400" dirty="0">
                <a:solidFill>
                  <a:srgbClr val="775480"/>
                </a:solidFill>
                <a:latin typeface="微软雅黑 Light" panose="020B0502040204020203" charset="-122"/>
                <a:ea typeface="微软雅黑 Light" panose="020B0502040204020203" charset="-122"/>
              </a:rPr>
              <a:t>流中分割所有跌倒活动。然而，除了跌倒、躺下和坐下之外，许多“原地”活动也可能引起 </a:t>
            </a:r>
            <a:r>
              <a:rPr lang="en" altLang="zh-CN" sz="2400" dirty="0">
                <a:solidFill>
                  <a:srgbClr val="775480"/>
                </a:solidFill>
                <a:latin typeface="微软雅黑 Light" panose="020B0502040204020203" charset="-122"/>
                <a:ea typeface="微软雅黑 Light" panose="020B0502040204020203" charset="-122"/>
              </a:rPr>
              <a:t>CSI </a:t>
            </a:r>
            <a:r>
              <a:rPr lang="zh-CN" altLang="en-US" sz="2400" dirty="0">
                <a:solidFill>
                  <a:srgbClr val="775480"/>
                </a:solidFill>
                <a:latin typeface="微软雅黑 Light" panose="020B0502040204020203" charset="-122"/>
                <a:ea typeface="微软雅黑 Light" panose="020B0502040204020203" charset="-122"/>
              </a:rPr>
              <a:t>相位差的状态转换，从而导致很多活动被分割。这里的“原地”是指受试者在躺着或坐着时进行某些肢体运动。发生这种转换时，受试者完成某些原地活动（例如吃饭、写作或打电话）并返回不动姿势。由于就地活动种类不同，很难将所有这些活动收集起来进行训练和测试以进行分类。</a:t>
            </a:r>
          </a:p>
          <a:p>
            <a:endParaRPr lang="zh-CN" altLang="en-US" sz="2400" dirty="0">
              <a:solidFill>
                <a:srgbClr val="775480"/>
              </a:solidFill>
              <a:latin typeface="微软雅黑 Light" panose="020B0502040204020203" charset="-122"/>
              <a:ea typeface="微软雅黑 Light" panose="020B0502040204020203" charset="-122"/>
            </a:endParaRPr>
          </a:p>
        </p:txBody>
      </p:sp>
    </p:spTree>
    <p:custDataLst>
      <p:tags r:id="rId1"/>
    </p:custDataLst>
    <p:extLst>
      <p:ext uri="{BB962C8B-B14F-4D97-AF65-F5344CB8AC3E}">
        <p14:creationId xmlns:p14="http://schemas.microsoft.com/office/powerpoint/2010/main" val="301627980"/>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DAC30-E722-B6B4-8877-BF8546865CD3}"/>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E1A8134A-9955-5A2C-45D2-E89E8C043E1C}"/>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en-US" sz="3100" dirty="0">
                <a:solidFill>
                  <a:srgbClr val="694B71"/>
                </a:solidFill>
                <a:latin typeface="微软雅黑" panose="020B0503020204020204" pitchFamily="34" charset="-122"/>
                <a:ea typeface="微软雅黑" panose="020B0503020204020204" pitchFamily="34" charset="-122"/>
                <a:cs typeface="+mn-ea"/>
              </a:rPr>
              <a:t>功率谱特征与日常活动的关系</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8C9D93AC-949F-C247-5872-B422CAEEE256}"/>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AF9427B4-BFAB-2F10-05B6-6C74B49304B6}"/>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FCA94231-6C6D-EB21-A97E-DB9E4FA9660D}"/>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4BA63E15-368D-EC4F-8B7E-AC256701478E}"/>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FA1E3A70-D3DD-8A5A-2087-A3FAAEDE917B}"/>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6" name="文本框 5">
            <a:extLst>
              <a:ext uri="{FF2B5EF4-FFF2-40B4-BE49-F238E27FC236}">
                <a16:creationId xmlns:a16="http://schemas.microsoft.com/office/drawing/2014/main" id="{0F077A67-F82D-2B80-0BE9-CAC0C1B34072}"/>
              </a:ext>
            </a:extLst>
          </p:cNvPr>
          <p:cNvSpPr txBox="1"/>
          <p:nvPr/>
        </p:nvSpPr>
        <p:spPr>
          <a:xfrm>
            <a:off x="376334" y="1524782"/>
            <a:ext cx="11439331" cy="830997"/>
          </a:xfrm>
          <a:prstGeom prst="rect">
            <a:avLst/>
          </a:prstGeom>
          <a:noFill/>
        </p:spPr>
        <p:txBody>
          <a:bodyPr wrap="square">
            <a:spAutoFit/>
          </a:bodyPr>
          <a:lstStyle/>
          <a:p>
            <a:r>
              <a:rPr lang="zh-CN" altLang="zh-CN" sz="2400" dirty="0">
                <a:solidFill>
                  <a:srgbClr val="775480"/>
                </a:solidFill>
                <a:latin typeface="微软雅黑 Light" panose="020B0502040204020203" charset="-122"/>
                <a:ea typeface="微软雅黑 Light" panose="020B0502040204020203" charset="-122"/>
              </a:rPr>
              <a:t>为了提取对跌倒分割与检测更有效的特征，我们进一步使用短时傅里叶变换绘制出不同日常活动对应的 </a:t>
            </a:r>
            <a:r>
              <a:rPr lang="en-US" altLang="zh-CN" sz="2400" dirty="0">
                <a:solidFill>
                  <a:srgbClr val="775480"/>
                </a:solidFill>
                <a:latin typeface="微软雅黑 Light" panose="020B0502040204020203" charset="-122"/>
                <a:ea typeface="微软雅黑 Light" panose="020B0502040204020203" charset="-122"/>
              </a:rPr>
              <a:t>CSI </a:t>
            </a:r>
            <a:r>
              <a:rPr lang="zh-CN" altLang="zh-CN" sz="2400" dirty="0">
                <a:solidFill>
                  <a:srgbClr val="775480"/>
                </a:solidFill>
                <a:latin typeface="微软雅黑 Light" panose="020B0502040204020203" charset="-122"/>
                <a:ea typeface="微软雅黑 Light" panose="020B0502040204020203" charset="-122"/>
              </a:rPr>
              <a:t>相位差信号频谱图 </a:t>
            </a:r>
            <a:endParaRPr lang="zh-CN" altLang="en-US" sz="2400" dirty="0">
              <a:solidFill>
                <a:srgbClr val="775480"/>
              </a:solidFill>
              <a:latin typeface="微软雅黑 Light" panose="020B0502040204020203" charset="-122"/>
              <a:ea typeface="微软雅黑 Light" panose="020B0502040204020203" charset="-122"/>
            </a:endParaRPr>
          </a:p>
        </p:txBody>
      </p:sp>
      <p:pic>
        <p:nvPicPr>
          <p:cNvPr id="8" name="图片 7">
            <a:extLst>
              <a:ext uri="{FF2B5EF4-FFF2-40B4-BE49-F238E27FC236}">
                <a16:creationId xmlns:a16="http://schemas.microsoft.com/office/drawing/2014/main" id="{7CEC4E25-B0F9-BE32-A591-BA53F7A8D4D7}"/>
              </a:ext>
            </a:extLst>
          </p:cNvPr>
          <p:cNvPicPr>
            <a:picLocks noChangeAspect="1"/>
          </p:cNvPicPr>
          <p:nvPr/>
        </p:nvPicPr>
        <p:blipFill>
          <a:blip r:embed="rId5"/>
          <a:stretch>
            <a:fillRect/>
          </a:stretch>
        </p:blipFill>
        <p:spPr>
          <a:xfrm>
            <a:off x="-1" y="2886440"/>
            <a:ext cx="12192001" cy="2025804"/>
          </a:xfrm>
          <a:prstGeom prst="rect">
            <a:avLst/>
          </a:prstGeom>
        </p:spPr>
      </p:pic>
      <p:sp>
        <p:nvSpPr>
          <p:cNvPr id="9" name="文本框 8">
            <a:extLst>
              <a:ext uri="{FF2B5EF4-FFF2-40B4-BE49-F238E27FC236}">
                <a16:creationId xmlns:a16="http://schemas.microsoft.com/office/drawing/2014/main" id="{BC21F944-BC55-4315-0AE5-8081330CCFBF}"/>
              </a:ext>
            </a:extLst>
          </p:cNvPr>
          <p:cNvSpPr txBox="1"/>
          <p:nvPr/>
        </p:nvSpPr>
        <p:spPr>
          <a:xfrm>
            <a:off x="376334" y="5333218"/>
            <a:ext cx="11439331" cy="830997"/>
          </a:xfrm>
          <a:prstGeom prst="rect">
            <a:avLst/>
          </a:prstGeom>
          <a:noFill/>
        </p:spPr>
        <p:txBody>
          <a:bodyPr wrap="square">
            <a:spAutoFit/>
          </a:bodyPr>
          <a:lstStyle/>
          <a:p>
            <a:r>
              <a:rPr lang="zh-CN" altLang="en-US" sz="2400" dirty="0">
                <a:solidFill>
                  <a:srgbClr val="775480"/>
                </a:solidFill>
                <a:latin typeface="微软雅黑 Light" panose="020B0502040204020203" charset="-122"/>
                <a:ea typeface="微软雅黑 Light" panose="020B0502040204020203" charset="-122"/>
              </a:rPr>
              <a:t>有趣的是，不同的活动具有不同的功率谱特征，并且在功率谱中起主要作用的频率范围呈现出一定的规律性。 </a:t>
            </a:r>
          </a:p>
        </p:txBody>
      </p:sp>
    </p:spTree>
    <p:custDataLst>
      <p:tags r:id="rId1"/>
    </p:custDataLst>
    <p:extLst>
      <p:ext uri="{BB962C8B-B14F-4D97-AF65-F5344CB8AC3E}">
        <p14:creationId xmlns:p14="http://schemas.microsoft.com/office/powerpoint/2010/main" val="3798138289"/>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9DDC16-44C0-81FA-5664-DA8EC3B8C5B3}"/>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4EFF7D27-65DF-88B1-EBBE-45B6C37BCE7D}"/>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en-US" sz="3100" dirty="0">
                <a:solidFill>
                  <a:srgbClr val="694B71"/>
                </a:solidFill>
                <a:latin typeface="微软雅黑" panose="020B0503020204020204" pitchFamily="34" charset="-122"/>
                <a:ea typeface="微软雅黑" panose="020B0503020204020204" pitchFamily="34" charset="-122"/>
                <a:cs typeface="+mn-ea"/>
              </a:rPr>
              <a:t>功率谱特征与日常活动的关系</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C9F9BBB2-9078-ABFE-D9A8-D1449109DAC7}"/>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E0EEF045-F1C0-A01B-0BE8-056FD2047A25}"/>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24F69576-0D4A-532C-7FA6-D234AC3EDC0C}"/>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C0810D37-657E-EEF5-FD20-F5B63D65E496}"/>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8D17813A-85F4-A300-5721-63C7E092431D}"/>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6" name="文本框 5">
            <a:extLst>
              <a:ext uri="{FF2B5EF4-FFF2-40B4-BE49-F238E27FC236}">
                <a16:creationId xmlns:a16="http://schemas.microsoft.com/office/drawing/2014/main" id="{ABEC4675-F9ED-C0D9-1056-23FECD1AD5F0}"/>
              </a:ext>
            </a:extLst>
          </p:cNvPr>
          <p:cNvSpPr txBox="1"/>
          <p:nvPr/>
        </p:nvSpPr>
        <p:spPr>
          <a:xfrm>
            <a:off x="1524000" y="4844920"/>
            <a:ext cx="9144000" cy="1200329"/>
          </a:xfrm>
          <a:prstGeom prst="rect">
            <a:avLst/>
          </a:prstGeom>
          <a:noFill/>
        </p:spPr>
        <p:txBody>
          <a:bodyPr wrap="square">
            <a:spAutoFit/>
          </a:bodyPr>
          <a:lstStyle/>
          <a:p>
            <a:r>
              <a:rPr lang="zh-CN" altLang="en-US" sz="2400" dirty="0">
                <a:solidFill>
                  <a:srgbClr val="775480"/>
                </a:solidFill>
                <a:latin typeface="微软雅黑 Light" panose="020B0502040204020203" charset="-122"/>
                <a:ea typeface="微软雅黑 Light" panose="020B0502040204020203" charset="-122"/>
              </a:rPr>
              <a:t>静坐（</a:t>
            </a:r>
            <a:r>
              <a:rPr lang="en-US" altLang="zh-CN" sz="2400" dirty="0">
                <a:solidFill>
                  <a:srgbClr val="775480"/>
                </a:solidFill>
                <a:latin typeface="微软雅黑 Light" panose="020B0502040204020203" charset="-122"/>
                <a:ea typeface="微软雅黑 Light" panose="020B0502040204020203" charset="-122"/>
              </a:rPr>
              <a:t>0-4 </a:t>
            </a:r>
            <a:r>
              <a:rPr lang="zh-CN" altLang="en-US" sz="2400" dirty="0">
                <a:solidFill>
                  <a:srgbClr val="775480"/>
                </a:solidFill>
                <a:latin typeface="微软雅黑 Light" panose="020B0502040204020203" charset="-122"/>
                <a:ea typeface="微软雅黑 Light" panose="020B0502040204020203" charset="-122"/>
              </a:rPr>
              <a:t>秒、</a:t>
            </a:r>
            <a:r>
              <a:rPr lang="en-US" altLang="zh-CN" sz="2400" dirty="0">
                <a:solidFill>
                  <a:srgbClr val="775480"/>
                </a:solidFill>
                <a:latin typeface="微软雅黑 Light" panose="020B0502040204020203" charset="-122"/>
                <a:ea typeface="微软雅黑 Light" panose="020B0502040204020203" charset="-122"/>
              </a:rPr>
              <a:t>11-14 </a:t>
            </a:r>
            <a:r>
              <a:rPr lang="zh-CN" altLang="en-US" sz="2400" dirty="0">
                <a:solidFill>
                  <a:srgbClr val="775480"/>
                </a:solidFill>
                <a:latin typeface="微软雅黑 Light" panose="020B0502040204020203" charset="-122"/>
                <a:ea typeface="微软雅黑 Light" panose="020B0502040204020203" charset="-122"/>
              </a:rPr>
              <a:t>秒、</a:t>
            </a:r>
            <a:r>
              <a:rPr lang="en-US" altLang="zh-CN" sz="2400" dirty="0">
                <a:solidFill>
                  <a:srgbClr val="775480"/>
                </a:solidFill>
                <a:latin typeface="微软雅黑 Light" panose="020B0502040204020203" charset="-122"/>
                <a:ea typeface="微软雅黑 Light" panose="020B0502040204020203" charset="-122"/>
              </a:rPr>
              <a:t>27-30 </a:t>
            </a:r>
            <a:r>
              <a:rPr lang="zh-CN" altLang="en-US" sz="2400" dirty="0">
                <a:solidFill>
                  <a:srgbClr val="775480"/>
                </a:solidFill>
                <a:latin typeface="微软雅黑 Light" panose="020B0502040204020203" charset="-122"/>
                <a:ea typeface="微软雅黑 Light" panose="020B0502040204020203" charset="-122"/>
              </a:rPr>
              <a:t>秒）和静卧（</a:t>
            </a:r>
            <a:r>
              <a:rPr lang="en-US" altLang="zh-CN" sz="2400" dirty="0">
                <a:solidFill>
                  <a:srgbClr val="775480"/>
                </a:solidFill>
                <a:latin typeface="微软雅黑 Light" panose="020B0502040204020203" charset="-122"/>
                <a:ea typeface="微软雅黑 Light" panose="020B0502040204020203" charset="-122"/>
              </a:rPr>
              <a:t>68-72 </a:t>
            </a:r>
            <a:r>
              <a:rPr lang="zh-CN" altLang="en-US" sz="2400" dirty="0">
                <a:solidFill>
                  <a:srgbClr val="775480"/>
                </a:solidFill>
                <a:latin typeface="微软雅黑 Light" panose="020B0502040204020203" charset="-122"/>
                <a:ea typeface="微软雅黑 Light" panose="020B0502040204020203" charset="-122"/>
              </a:rPr>
              <a:t>秒）等非运动姿势的功率谱特征较弱，因为没有任何明显的身体运动。</a:t>
            </a:r>
          </a:p>
          <a:p>
            <a:endParaRPr lang="zh-CN" altLang="en-US" sz="2400" dirty="0">
              <a:solidFill>
                <a:srgbClr val="775480"/>
              </a:solidFill>
              <a:latin typeface="微软雅黑 Light" panose="020B0502040204020203" charset="-122"/>
              <a:ea typeface="微软雅黑 Light" panose="020B0502040204020203" charset="-122"/>
            </a:endParaRPr>
          </a:p>
        </p:txBody>
      </p:sp>
      <p:pic>
        <p:nvPicPr>
          <p:cNvPr id="3" name="图片 2">
            <a:extLst>
              <a:ext uri="{FF2B5EF4-FFF2-40B4-BE49-F238E27FC236}">
                <a16:creationId xmlns:a16="http://schemas.microsoft.com/office/drawing/2014/main" id="{97F79F6C-C0A4-FA87-C8AB-767551C34024}"/>
              </a:ext>
            </a:extLst>
          </p:cNvPr>
          <p:cNvPicPr>
            <a:picLocks noChangeAspect="1"/>
          </p:cNvPicPr>
          <p:nvPr/>
        </p:nvPicPr>
        <p:blipFill>
          <a:blip r:embed="rId5"/>
          <a:stretch>
            <a:fillRect/>
          </a:stretch>
        </p:blipFill>
        <p:spPr>
          <a:xfrm>
            <a:off x="0" y="1391401"/>
            <a:ext cx="1921580" cy="3142584"/>
          </a:xfrm>
          <a:prstGeom prst="rect">
            <a:avLst/>
          </a:prstGeom>
        </p:spPr>
      </p:pic>
      <p:pic>
        <p:nvPicPr>
          <p:cNvPr id="4" name="图片 3">
            <a:extLst>
              <a:ext uri="{FF2B5EF4-FFF2-40B4-BE49-F238E27FC236}">
                <a16:creationId xmlns:a16="http://schemas.microsoft.com/office/drawing/2014/main" id="{28FF8BCE-3F77-8776-8C8E-F3A6744295EF}"/>
              </a:ext>
            </a:extLst>
          </p:cNvPr>
          <p:cNvPicPr>
            <a:picLocks noChangeAspect="1"/>
          </p:cNvPicPr>
          <p:nvPr/>
        </p:nvPicPr>
        <p:blipFill>
          <a:blip r:embed="rId6"/>
          <a:stretch>
            <a:fillRect/>
          </a:stretch>
        </p:blipFill>
        <p:spPr>
          <a:xfrm>
            <a:off x="2983080" y="1264617"/>
            <a:ext cx="1878743" cy="3315430"/>
          </a:xfrm>
          <a:prstGeom prst="rect">
            <a:avLst/>
          </a:prstGeom>
        </p:spPr>
      </p:pic>
      <p:pic>
        <p:nvPicPr>
          <p:cNvPr id="5" name="图片 4">
            <a:extLst>
              <a:ext uri="{FF2B5EF4-FFF2-40B4-BE49-F238E27FC236}">
                <a16:creationId xmlns:a16="http://schemas.microsoft.com/office/drawing/2014/main" id="{69842B06-7A34-6378-2946-3B42307569CF}"/>
              </a:ext>
            </a:extLst>
          </p:cNvPr>
          <p:cNvPicPr>
            <a:picLocks noChangeAspect="1"/>
          </p:cNvPicPr>
          <p:nvPr/>
        </p:nvPicPr>
        <p:blipFill>
          <a:blip r:embed="rId7"/>
          <a:stretch>
            <a:fillRect/>
          </a:stretch>
        </p:blipFill>
        <p:spPr>
          <a:xfrm>
            <a:off x="6571466" y="1352106"/>
            <a:ext cx="1902610" cy="2807735"/>
          </a:xfrm>
          <a:prstGeom prst="rect">
            <a:avLst/>
          </a:prstGeom>
        </p:spPr>
      </p:pic>
      <p:pic>
        <p:nvPicPr>
          <p:cNvPr id="7" name="图片 6">
            <a:extLst>
              <a:ext uri="{FF2B5EF4-FFF2-40B4-BE49-F238E27FC236}">
                <a16:creationId xmlns:a16="http://schemas.microsoft.com/office/drawing/2014/main" id="{38B37799-4B19-9E92-C80E-6AEECBFADCD9}"/>
              </a:ext>
            </a:extLst>
          </p:cNvPr>
          <p:cNvPicPr>
            <a:picLocks noChangeAspect="1"/>
          </p:cNvPicPr>
          <p:nvPr/>
        </p:nvPicPr>
        <p:blipFill>
          <a:blip r:embed="rId8"/>
          <a:stretch>
            <a:fillRect/>
          </a:stretch>
        </p:blipFill>
        <p:spPr>
          <a:xfrm>
            <a:off x="9319488" y="1203123"/>
            <a:ext cx="1878744" cy="3299258"/>
          </a:xfrm>
          <a:prstGeom prst="rect">
            <a:avLst/>
          </a:prstGeom>
        </p:spPr>
      </p:pic>
    </p:spTree>
    <p:custDataLst>
      <p:tags r:id="rId1"/>
    </p:custDataLst>
    <p:extLst>
      <p:ext uri="{BB962C8B-B14F-4D97-AF65-F5344CB8AC3E}">
        <p14:creationId xmlns:p14="http://schemas.microsoft.com/office/powerpoint/2010/main" val="493465451"/>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1F1FD-585A-78CB-E111-A48A1EE4B310}"/>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1EFB1487-D279-0244-9F9C-AF91BE4CC404}"/>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en-US" sz="3100" dirty="0">
                <a:solidFill>
                  <a:srgbClr val="694B71"/>
                </a:solidFill>
                <a:latin typeface="微软雅黑" panose="020B0503020204020204" pitchFamily="34" charset="-122"/>
                <a:ea typeface="微软雅黑" panose="020B0503020204020204" pitchFamily="34" charset="-122"/>
                <a:cs typeface="+mn-ea"/>
              </a:rPr>
              <a:t>功率谱特征与日常活动的关系</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D59A37CE-1A1E-FE1E-566C-0BBAD0DAD15C}"/>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1C50EEAA-490D-AA81-D179-2AE226C0E2C0}"/>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F92AF78D-9628-FE32-EF89-0EB68BC97E01}"/>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6264E137-30C4-70D0-F2F8-CFCC53F5018E}"/>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5812E4E9-595D-F250-8067-FCB523FA4BF2}"/>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6" name="文本框 5">
            <a:extLst>
              <a:ext uri="{FF2B5EF4-FFF2-40B4-BE49-F238E27FC236}">
                <a16:creationId xmlns:a16="http://schemas.microsoft.com/office/drawing/2014/main" id="{00AB57E5-3183-F94F-C69D-0CFB2E552E35}"/>
              </a:ext>
            </a:extLst>
          </p:cNvPr>
          <p:cNvSpPr txBox="1"/>
          <p:nvPr/>
        </p:nvSpPr>
        <p:spPr>
          <a:xfrm>
            <a:off x="1247192" y="5148552"/>
            <a:ext cx="9697616" cy="830997"/>
          </a:xfrm>
          <a:prstGeom prst="rect">
            <a:avLst/>
          </a:prstGeom>
          <a:noFill/>
        </p:spPr>
        <p:txBody>
          <a:bodyPr wrap="square">
            <a:spAutoFit/>
          </a:bodyPr>
          <a:lstStyle/>
          <a:p>
            <a:r>
              <a:rPr lang="zh-CN" altLang="en-US" sz="2400" dirty="0">
                <a:solidFill>
                  <a:srgbClr val="775480"/>
                </a:solidFill>
                <a:latin typeface="微软雅黑 Light" panose="020B0502040204020203" charset="-122"/>
                <a:ea typeface="微软雅黑 Light" panose="020B0502040204020203" charset="-122"/>
              </a:rPr>
              <a:t>坐着打电话（</a:t>
            </a:r>
            <a:r>
              <a:rPr lang="en-US" altLang="zh-CN" sz="2400" dirty="0">
                <a:solidFill>
                  <a:srgbClr val="775480"/>
                </a:solidFill>
                <a:latin typeface="微软雅黑 Light" panose="020B0502040204020203" charset="-122"/>
                <a:ea typeface="微软雅黑 Light" panose="020B0502040204020203" charset="-122"/>
              </a:rPr>
              <a:t>4-10 </a:t>
            </a:r>
            <a:r>
              <a:rPr lang="zh-CN" altLang="en-US" sz="2400" dirty="0">
                <a:solidFill>
                  <a:srgbClr val="775480"/>
                </a:solidFill>
                <a:latin typeface="微软雅黑 Light" panose="020B0502040204020203" charset="-122"/>
                <a:ea typeface="微软雅黑 Light" panose="020B0502040204020203" charset="-122"/>
              </a:rPr>
              <a:t>秒）和站立（</a:t>
            </a:r>
            <a:r>
              <a:rPr lang="en-US" altLang="zh-CN" sz="2400" dirty="0">
                <a:solidFill>
                  <a:srgbClr val="775480"/>
                </a:solidFill>
                <a:latin typeface="微软雅黑 Light" panose="020B0502040204020203" charset="-122"/>
                <a:ea typeface="微软雅黑 Light" panose="020B0502040204020203" charset="-122"/>
              </a:rPr>
              <a:t>36-41 </a:t>
            </a:r>
            <a:r>
              <a:rPr lang="zh-CN" altLang="en-US" sz="2400" dirty="0">
                <a:solidFill>
                  <a:srgbClr val="775480"/>
                </a:solidFill>
                <a:latin typeface="微软雅黑 Light" panose="020B0502040204020203" charset="-122"/>
                <a:ea typeface="微软雅黑 Light" panose="020B0502040204020203" charset="-122"/>
              </a:rPr>
              <a:t>秒）等“原地”活动具有温和的功率谱，主要由低频分量 （</a:t>
            </a:r>
            <a:r>
              <a:rPr lang="en-US" altLang="zh-CN" sz="2400" dirty="0">
                <a:solidFill>
                  <a:srgbClr val="775480"/>
                </a:solidFill>
                <a:latin typeface="微软雅黑 Light" panose="020B0502040204020203" charset="-122"/>
                <a:ea typeface="微软雅黑 Light" panose="020B0502040204020203" charset="-122"/>
              </a:rPr>
              <a:t>&lt;5</a:t>
            </a:r>
            <a:r>
              <a:rPr lang="en" altLang="zh-CN" sz="2400" dirty="0">
                <a:solidFill>
                  <a:srgbClr val="775480"/>
                </a:solidFill>
                <a:latin typeface="微软雅黑 Light" panose="020B0502040204020203" charset="-122"/>
                <a:ea typeface="微软雅黑 Light" panose="020B0502040204020203" charset="-122"/>
              </a:rPr>
              <a:t>Hz</a:t>
            </a:r>
            <a:r>
              <a:rPr lang="zh-CN" altLang="en" sz="2400" dirty="0">
                <a:solidFill>
                  <a:srgbClr val="775480"/>
                </a:solidFill>
                <a:latin typeface="微软雅黑 Light" panose="020B0502040204020203" charset="-122"/>
                <a:ea typeface="微软雅黑 Light" panose="020B0502040204020203" charset="-122"/>
              </a:rPr>
              <a:t>） </a:t>
            </a:r>
            <a:r>
              <a:rPr lang="zh-CN" altLang="en-US" sz="2400" dirty="0">
                <a:solidFill>
                  <a:srgbClr val="775480"/>
                </a:solidFill>
                <a:latin typeface="微软雅黑 Light" panose="020B0502040204020203" charset="-122"/>
                <a:ea typeface="微软雅黑 Light" panose="020B0502040204020203" charset="-122"/>
              </a:rPr>
              <a:t>贡献，这些分量主要由肢体运动产生 </a:t>
            </a:r>
          </a:p>
        </p:txBody>
      </p:sp>
      <p:pic>
        <p:nvPicPr>
          <p:cNvPr id="8" name="图片 7">
            <a:extLst>
              <a:ext uri="{FF2B5EF4-FFF2-40B4-BE49-F238E27FC236}">
                <a16:creationId xmlns:a16="http://schemas.microsoft.com/office/drawing/2014/main" id="{DBDE68D3-5C76-D8E0-8C3F-BCA2DE7DDCA0}"/>
              </a:ext>
            </a:extLst>
          </p:cNvPr>
          <p:cNvPicPr>
            <a:picLocks noChangeAspect="1"/>
          </p:cNvPicPr>
          <p:nvPr/>
        </p:nvPicPr>
        <p:blipFill>
          <a:blip r:embed="rId5"/>
          <a:stretch>
            <a:fillRect/>
          </a:stretch>
        </p:blipFill>
        <p:spPr>
          <a:xfrm>
            <a:off x="1952610" y="1448713"/>
            <a:ext cx="2281607" cy="3107706"/>
          </a:xfrm>
          <a:prstGeom prst="rect">
            <a:avLst/>
          </a:prstGeom>
        </p:spPr>
      </p:pic>
      <p:pic>
        <p:nvPicPr>
          <p:cNvPr id="9" name="图片 8">
            <a:extLst>
              <a:ext uri="{FF2B5EF4-FFF2-40B4-BE49-F238E27FC236}">
                <a16:creationId xmlns:a16="http://schemas.microsoft.com/office/drawing/2014/main" id="{8AC74548-132F-8E05-B6AD-130E98D37239}"/>
              </a:ext>
            </a:extLst>
          </p:cNvPr>
          <p:cNvPicPr>
            <a:picLocks noChangeAspect="1"/>
          </p:cNvPicPr>
          <p:nvPr/>
        </p:nvPicPr>
        <p:blipFill>
          <a:blip r:embed="rId6"/>
          <a:stretch>
            <a:fillRect/>
          </a:stretch>
        </p:blipFill>
        <p:spPr>
          <a:xfrm>
            <a:off x="7372697" y="1503696"/>
            <a:ext cx="2016740" cy="3056296"/>
          </a:xfrm>
          <a:prstGeom prst="rect">
            <a:avLst/>
          </a:prstGeom>
        </p:spPr>
      </p:pic>
    </p:spTree>
    <p:custDataLst>
      <p:tags r:id="rId1"/>
    </p:custDataLst>
    <p:extLst>
      <p:ext uri="{BB962C8B-B14F-4D97-AF65-F5344CB8AC3E}">
        <p14:creationId xmlns:p14="http://schemas.microsoft.com/office/powerpoint/2010/main" val="289820878"/>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27B21-5594-251C-FEDD-4F8EA0B00520}"/>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978CE9B0-1807-EF53-7DCA-C71C317ED8F6}"/>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en-US" sz="3100" dirty="0">
                <a:solidFill>
                  <a:srgbClr val="694B71"/>
                </a:solidFill>
                <a:latin typeface="微软雅黑" panose="020B0503020204020204" pitchFamily="34" charset="-122"/>
                <a:ea typeface="微软雅黑" panose="020B0503020204020204" pitchFamily="34" charset="-122"/>
                <a:cs typeface="+mn-ea"/>
              </a:rPr>
              <a:t>功率谱特征与日常活动的关系</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BB149229-3AE1-2004-96F5-18B6EF4D1B89}"/>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EF39323D-93AD-4D0D-FFF9-CCAA92F8E0DF}"/>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3BE38E15-EFD8-CEDF-3453-49C019EB7372}"/>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09A0719C-C812-EA39-FD50-E419B196CA6F}"/>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19000322-C81A-33FE-5DDB-F32A5BEEC870}"/>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6" name="文本框 5">
            <a:extLst>
              <a:ext uri="{FF2B5EF4-FFF2-40B4-BE49-F238E27FC236}">
                <a16:creationId xmlns:a16="http://schemas.microsoft.com/office/drawing/2014/main" id="{E4F9E6F4-38AD-481F-F9FE-4762E722F0AF}"/>
              </a:ext>
            </a:extLst>
          </p:cNvPr>
          <p:cNvSpPr txBox="1"/>
          <p:nvPr/>
        </p:nvSpPr>
        <p:spPr>
          <a:xfrm>
            <a:off x="1247192" y="4982284"/>
            <a:ext cx="9697616" cy="1569660"/>
          </a:xfrm>
          <a:prstGeom prst="rect">
            <a:avLst/>
          </a:prstGeom>
          <a:noFill/>
        </p:spPr>
        <p:txBody>
          <a:bodyPr wrap="square">
            <a:spAutoFit/>
          </a:bodyPr>
          <a:lstStyle/>
          <a:p>
            <a:r>
              <a:rPr lang="zh-CN" altLang="en-US" sz="2400" dirty="0">
                <a:solidFill>
                  <a:srgbClr val="775480"/>
                </a:solidFill>
                <a:latin typeface="微软雅黑 Light" panose="020B0502040204020203" charset="-122"/>
                <a:ea typeface="微软雅黑 Light" panose="020B0502040204020203" charset="-122"/>
              </a:rPr>
              <a:t>所有运动活动，如行走（</a:t>
            </a:r>
            <a:r>
              <a:rPr lang="en-US" altLang="zh-CN" sz="2400" dirty="0">
                <a:solidFill>
                  <a:srgbClr val="775480"/>
                </a:solidFill>
                <a:latin typeface="微软雅黑 Light" panose="020B0502040204020203" charset="-122"/>
                <a:ea typeface="微软雅黑 Light" panose="020B0502040204020203" charset="-122"/>
              </a:rPr>
              <a:t>17-21 </a:t>
            </a:r>
            <a:r>
              <a:rPr lang="zh-CN" altLang="en-US" sz="2400" dirty="0">
                <a:solidFill>
                  <a:srgbClr val="775480"/>
                </a:solidFill>
                <a:latin typeface="微软雅黑 Light" panose="020B0502040204020203" charset="-122"/>
                <a:ea typeface="微软雅黑 Light" panose="020B0502040204020203" charset="-122"/>
              </a:rPr>
              <a:t>秒、</a:t>
            </a:r>
            <a:r>
              <a:rPr lang="en-US" altLang="zh-CN" sz="2400" dirty="0">
                <a:solidFill>
                  <a:srgbClr val="775480"/>
                </a:solidFill>
                <a:latin typeface="微软雅黑 Light" panose="020B0502040204020203" charset="-122"/>
                <a:ea typeface="微软雅黑 Light" panose="020B0502040204020203" charset="-122"/>
              </a:rPr>
              <a:t>33-36 </a:t>
            </a:r>
            <a:r>
              <a:rPr lang="zh-CN" altLang="en-US" sz="2400" dirty="0">
                <a:solidFill>
                  <a:srgbClr val="775480"/>
                </a:solidFill>
                <a:latin typeface="微软雅黑 Light" panose="020B0502040204020203" charset="-122"/>
                <a:ea typeface="微软雅黑 Light" panose="020B0502040204020203" charset="-122"/>
              </a:rPr>
              <a:t>秒、</a:t>
            </a:r>
            <a:r>
              <a:rPr lang="en-US" altLang="zh-CN" sz="2400" dirty="0">
                <a:solidFill>
                  <a:srgbClr val="775480"/>
                </a:solidFill>
                <a:latin typeface="微软雅黑 Light" panose="020B0502040204020203" charset="-122"/>
                <a:ea typeface="微软雅黑 Light" panose="020B0502040204020203" charset="-122"/>
              </a:rPr>
              <a:t>41-46 </a:t>
            </a:r>
            <a:r>
              <a:rPr lang="zh-CN" altLang="en-US" sz="2400" dirty="0">
                <a:solidFill>
                  <a:srgbClr val="775480"/>
                </a:solidFill>
                <a:latin typeface="微软雅黑 Light" panose="020B0502040204020203" charset="-122"/>
                <a:ea typeface="微软雅黑 Light" panose="020B0502040204020203" charset="-122"/>
              </a:rPr>
              <a:t>秒、</a:t>
            </a:r>
            <a:r>
              <a:rPr lang="en-US" altLang="zh-CN" sz="2400" dirty="0">
                <a:solidFill>
                  <a:srgbClr val="775480"/>
                </a:solidFill>
                <a:latin typeface="微软雅黑 Light" panose="020B0502040204020203" charset="-122"/>
                <a:ea typeface="微软雅黑 Light" panose="020B0502040204020203" charset="-122"/>
              </a:rPr>
              <a:t>61-65 </a:t>
            </a:r>
            <a:r>
              <a:rPr lang="zh-CN" altLang="en-US" sz="2400" dirty="0">
                <a:solidFill>
                  <a:srgbClr val="775480"/>
                </a:solidFill>
                <a:latin typeface="微软雅黑 Light" panose="020B0502040204020203" charset="-122"/>
                <a:ea typeface="微软雅黑 Light" panose="020B0502040204020203" charset="-122"/>
              </a:rPr>
              <a:t>秒）、站起来（</a:t>
            </a:r>
            <a:r>
              <a:rPr lang="en-US" altLang="zh-CN" sz="2400" dirty="0">
                <a:solidFill>
                  <a:srgbClr val="775480"/>
                </a:solidFill>
                <a:latin typeface="微软雅黑 Light" panose="020B0502040204020203" charset="-122"/>
                <a:ea typeface="微软雅黑 Light" panose="020B0502040204020203" charset="-122"/>
              </a:rPr>
              <a:t>14-17 </a:t>
            </a:r>
            <a:r>
              <a:rPr lang="zh-CN" altLang="en-US" sz="2400" dirty="0">
                <a:solidFill>
                  <a:srgbClr val="775480"/>
                </a:solidFill>
                <a:latin typeface="微软雅黑 Light" panose="020B0502040204020203" charset="-122"/>
                <a:ea typeface="微软雅黑 Light" panose="020B0502040204020203" charset="-122"/>
              </a:rPr>
              <a:t>秒）、跳跃（</a:t>
            </a:r>
            <a:r>
              <a:rPr lang="en-US" altLang="zh-CN" sz="2400" dirty="0">
                <a:solidFill>
                  <a:srgbClr val="775480"/>
                </a:solidFill>
                <a:latin typeface="微软雅黑 Light" panose="020B0502040204020203" charset="-122"/>
                <a:ea typeface="微软雅黑 Light" panose="020B0502040204020203" charset="-122"/>
              </a:rPr>
              <a:t>53-61 </a:t>
            </a:r>
            <a:r>
              <a:rPr lang="zh-CN" altLang="en-US" sz="2400" dirty="0">
                <a:solidFill>
                  <a:srgbClr val="775480"/>
                </a:solidFill>
                <a:latin typeface="微软雅黑 Light" panose="020B0502040204020203" charset="-122"/>
                <a:ea typeface="微软雅黑 Light" panose="020B0502040204020203" charset="-122"/>
              </a:rPr>
              <a:t>秒）、转身和坐下（</a:t>
            </a:r>
            <a:r>
              <a:rPr lang="en-US" altLang="zh-CN" sz="2400" dirty="0">
                <a:solidFill>
                  <a:srgbClr val="775480"/>
                </a:solidFill>
                <a:latin typeface="微软雅黑 Light" panose="020B0502040204020203" charset="-122"/>
                <a:ea typeface="微软雅黑 Light" panose="020B0502040204020203" charset="-122"/>
              </a:rPr>
              <a:t>21-26 </a:t>
            </a:r>
            <a:r>
              <a:rPr lang="zh-CN" altLang="en-US" sz="2400" dirty="0">
                <a:solidFill>
                  <a:srgbClr val="775480"/>
                </a:solidFill>
                <a:latin typeface="微软雅黑 Light" panose="020B0502040204020203" charset="-122"/>
                <a:ea typeface="微软雅黑 Light" panose="020B0502040204020203" charset="-122"/>
              </a:rPr>
              <a:t>秒）和跌倒（</a:t>
            </a:r>
            <a:r>
              <a:rPr lang="en-US" altLang="zh-CN" sz="2400" dirty="0">
                <a:solidFill>
                  <a:srgbClr val="775480"/>
                </a:solidFill>
                <a:latin typeface="微软雅黑 Light" panose="020B0502040204020203" charset="-122"/>
                <a:ea typeface="微软雅黑 Light" panose="020B0502040204020203" charset="-122"/>
              </a:rPr>
              <a:t>66-68 </a:t>
            </a:r>
            <a:r>
              <a:rPr lang="zh-CN" altLang="en-US" sz="2400" dirty="0">
                <a:solidFill>
                  <a:srgbClr val="775480"/>
                </a:solidFill>
                <a:latin typeface="微软雅黑 Light" panose="020B0502040204020203" charset="-122"/>
                <a:ea typeface="微软雅黑 Light" panose="020B0502040204020203" charset="-122"/>
              </a:rPr>
              <a:t>秒）具有强大的功率谱，包括由肢体和躯干运动产生的低频 </a:t>
            </a:r>
            <a:r>
              <a:rPr lang="en-US" altLang="zh-CN" sz="2400" dirty="0">
                <a:solidFill>
                  <a:srgbClr val="775480"/>
                </a:solidFill>
                <a:latin typeface="微软雅黑 Light" panose="020B0502040204020203" charset="-122"/>
                <a:ea typeface="微软雅黑 Light" panose="020B0502040204020203" charset="-122"/>
              </a:rPr>
              <a:t>[0</a:t>
            </a:r>
            <a:r>
              <a:rPr lang="zh-CN" altLang="en-US" sz="2400" dirty="0">
                <a:solidFill>
                  <a:srgbClr val="775480"/>
                </a:solidFill>
                <a:latin typeface="微软雅黑 Light" panose="020B0502040204020203" charset="-122"/>
                <a:ea typeface="微软雅黑 Light" panose="020B0502040204020203" charset="-122"/>
              </a:rPr>
              <a:t>， </a:t>
            </a:r>
            <a:r>
              <a:rPr lang="en-US" altLang="zh-CN" sz="2400" dirty="0">
                <a:solidFill>
                  <a:srgbClr val="775480"/>
                </a:solidFill>
                <a:latin typeface="微软雅黑 Light" panose="020B0502040204020203" charset="-122"/>
                <a:ea typeface="微软雅黑 Light" panose="020B0502040204020203" charset="-122"/>
              </a:rPr>
              <a:t>5 </a:t>
            </a:r>
            <a:r>
              <a:rPr lang="en" altLang="zh-CN" sz="2400" dirty="0">
                <a:solidFill>
                  <a:srgbClr val="775480"/>
                </a:solidFill>
                <a:latin typeface="微软雅黑 Light" panose="020B0502040204020203" charset="-122"/>
                <a:ea typeface="微软雅黑 Light" panose="020B0502040204020203" charset="-122"/>
              </a:rPr>
              <a:t>Hz] </a:t>
            </a:r>
            <a:r>
              <a:rPr lang="zh-CN" altLang="en-US" sz="2400" dirty="0">
                <a:solidFill>
                  <a:srgbClr val="775480"/>
                </a:solidFill>
                <a:latin typeface="微软雅黑 Light" panose="020B0502040204020203" charset="-122"/>
                <a:ea typeface="微软雅黑 Light" panose="020B0502040204020203" charset="-122"/>
              </a:rPr>
              <a:t>和高频分量（</a:t>
            </a:r>
            <a:r>
              <a:rPr lang="en-US" altLang="zh-CN" sz="2400" dirty="0">
                <a:solidFill>
                  <a:srgbClr val="775480"/>
                </a:solidFill>
                <a:latin typeface="微软雅黑 Light" panose="020B0502040204020203" charset="-122"/>
                <a:ea typeface="微软雅黑 Light" panose="020B0502040204020203" charset="-122"/>
              </a:rPr>
              <a:t>&gt;5 </a:t>
            </a:r>
            <a:r>
              <a:rPr lang="en" altLang="zh-CN" sz="2400" dirty="0">
                <a:solidFill>
                  <a:srgbClr val="775480"/>
                </a:solidFill>
                <a:latin typeface="微软雅黑 Light" panose="020B0502040204020203" charset="-122"/>
                <a:ea typeface="微软雅黑 Light" panose="020B0502040204020203" charset="-122"/>
              </a:rPr>
              <a:t>Hz</a:t>
            </a:r>
            <a:r>
              <a:rPr lang="zh-CN" altLang="en" sz="2400" dirty="0">
                <a:solidFill>
                  <a:srgbClr val="775480"/>
                </a:solidFill>
                <a:latin typeface="微软雅黑 Light" panose="020B0502040204020203" charset="-122"/>
                <a:ea typeface="微软雅黑 Light" panose="020B0502040204020203" charset="-122"/>
              </a:rPr>
              <a:t>） </a:t>
            </a:r>
            <a:endParaRPr lang="zh-CN" altLang="en-US" sz="2400" dirty="0">
              <a:solidFill>
                <a:srgbClr val="775480"/>
              </a:solidFill>
              <a:latin typeface="微软雅黑 Light" panose="020B0502040204020203" charset="-122"/>
              <a:ea typeface="微软雅黑 Light" panose="020B0502040204020203" charset="-122"/>
            </a:endParaRPr>
          </a:p>
        </p:txBody>
      </p:sp>
      <p:pic>
        <p:nvPicPr>
          <p:cNvPr id="3" name="图片 2">
            <a:extLst>
              <a:ext uri="{FF2B5EF4-FFF2-40B4-BE49-F238E27FC236}">
                <a16:creationId xmlns:a16="http://schemas.microsoft.com/office/drawing/2014/main" id="{B9F22B4F-2AC3-9F5C-E1A6-3FBB9E9BCDA7}"/>
              </a:ext>
            </a:extLst>
          </p:cNvPr>
          <p:cNvPicPr>
            <a:picLocks noChangeAspect="1"/>
          </p:cNvPicPr>
          <p:nvPr/>
        </p:nvPicPr>
        <p:blipFill>
          <a:blip r:embed="rId5"/>
          <a:stretch>
            <a:fillRect/>
          </a:stretch>
        </p:blipFill>
        <p:spPr>
          <a:xfrm>
            <a:off x="306163" y="1289292"/>
            <a:ext cx="1918434" cy="3323798"/>
          </a:xfrm>
          <a:prstGeom prst="rect">
            <a:avLst/>
          </a:prstGeom>
        </p:spPr>
      </p:pic>
      <p:pic>
        <p:nvPicPr>
          <p:cNvPr id="4" name="图片 3">
            <a:extLst>
              <a:ext uri="{FF2B5EF4-FFF2-40B4-BE49-F238E27FC236}">
                <a16:creationId xmlns:a16="http://schemas.microsoft.com/office/drawing/2014/main" id="{ACCDF2D2-7341-9D09-D0AB-3D8B73BC32DF}"/>
              </a:ext>
            </a:extLst>
          </p:cNvPr>
          <p:cNvPicPr>
            <a:picLocks noChangeAspect="1"/>
          </p:cNvPicPr>
          <p:nvPr/>
        </p:nvPicPr>
        <p:blipFill>
          <a:blip r:embed="rId6"/>
          <a:stretch>
            <a:fillRect/>
          </a:stretch>
        </p:blipFill>
        <p:spPr>
          <a:xfrm>
            <a:off x="2481851" y="1289292"/>
            <a:ext cx="1838223" cy="3313639"/>
          </a:xfrm>
          <a:prstGeom prst="rect">
            <a:avLst/>
          </a:prstGeom>
        </p:spPr>
      </p:pic>
      <p:pic>
        <p:nvPicPr>
          <p:cNvPr id="5" name="图片 4">
            <a:extLst>
              <a:ext uri="{FF2B5EF4-FFF2-40B4-BE49-F238E27FC236}">
                <a16:creationId xmlns:a16="http://schemas.microsoft.com/office/drawing/2014/main" id="{7E4A79FC-DB4E-FA18-9897-BDEF95B27B7B}"/>
              </a:ext>
            </a:extLst>
          </p:cNvPr>
          <p:cNvPicPr>
            <a:picLocks noChangeAspect="1"/>
          </p:cNvPicPr>
          <p:nvPr/>
        </p:nvPicPr>
        <p:blipFill>
          <a:blip r:embed="rId7"/>
          <a:stretch>
            <a:fillRect/>
          </a:stretch>
        </p:blipFill>
        <p:spPr>
          <a:xfrm>
            <a:off x="4475676" y="1363710"/>
            <a:ext cx="1387149" cy="3425838"/>
          </a:xfrm>
          <a:prstGeom prst="rect">
            <a:avLst/>
          </a:prstGeom>
        </p:spPr>
      </p:pic>
      <p:pic>
        <p:nvPicPr>
          <p:cNvPr id="7" name="图片 6">
            <a:extLst>
              <a:ext uri="{FF2B5EF4-FFF2-40B4-BE49-F238E27FC236}">
                <a16:creationId xmlns:a16="http://schemas.microsoft.com/office/drawing/2014/main" id="{45349352-4363-5169-3A34-F48DE0545568}"/>
              </a:ext>
            </a:extLst>
          </p:cNvPr>
          <p:cNvPicPr>
            <a:picLocks noChangeAspect="1"/>
          </p:cNvPicPr>
          <p:nvPr/>
        </p:nvPicPr>
        <p:blipFill>
          <a:blip r:embed="rId8"/>
          <a:stretch>
            <a:fillRect/>
          </a:stretch>
        </p:blipFill>
        <p:spPr>
          <a:xfrm>
            <a:off x="6325897" y="1480820"/>
            <a:ext cx="2949736" cy="2930582"/>
          </a:xfrm>
          <a:prstGeom prst="rect">
            <a:avLst/>
          </a:prstGeom>
        </p:spPr>
      </p:pic>
      <p:pic>
        <p:nvPicPr>
          <p:cNvPr id="10" name="图片 9">
            <a:extLst>
              <a:ext uri="{FF2B5EF4-FFF2-40B4-BE49-F238E27FC236}">
                <a16:creationId xmlns:a16="http://schemas.microsoft.com/office/drawing/2014/main" id="{D06B73A8-BED4-B59E-87FC-932D2C5B76B7}"/>
              </a:ext>
            </a:extLst>
          </p:cNvPr>
          <p:cNvPicPr>
            <a:picLocks noChangeAspect="1"/>
          </p:cNvPicPr>
          <p:nvPr/>
        </p:nvPicPr>
        <p:blipFill>
          <a:blip r:embed="rId9"/>
          <a:stretch>
            <a:fillRect/>
          </a:stretch>
        </p:blipFill>
        <p:spPr>
          <a:xfrm>
            <a:off x="9738705" y="1483518"/>
            <a:ext cx="1128349" cy="3129572"/>
          </a:xfrm>
          <a:prstGeom prst="rect">
            <a:avLst/>
          </a:prstGeom>
        </p:spPr>
      </p:pic>
    </p:spTree>
    <p:custDataLst>
      <p:tags r:id="rId1"/>
    </p:custDataLst>
    <p:extLst>
      <p:ext uri="{BB962C8B-B14F-4D97-AF65-F5344CB8AC3E}">
        <p14:creationId xmlns:p14="http://schemas.microsoft.com/office/powerpoint/2010/main" val="1781103975"/>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3B730-48A0-219D-3CC6-1A711818FCB3}"/>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0E3342AC-7E33-59F8-D203-08056761CB15}"/>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en-US" sz="3100" dirty="0">
                <a:solidFill>
                  <a:srgbClr val="694B71"/>
                </a:solidFill>
                <a:latin typeface="微软雅黑" panose="020B0503020204020204" pitchFamily="34" charset="-122"/>
                <a:ea typeface="微软雅黑" panose="020B0503020204020204" pitchFamily="34" charset="-122"/>
                <a:cs typeface="+mn-ea"/>
              </a:rPr>
              <a:t>功率谱特征与日常活动的关系</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C20E1AD1-4633-D859-2618-E9A12056BD04}"/>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424D5025-CAAB-3944-C5F3-23A4A015657B}"/>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8393323A-366C-FD52-60AA-1675CF78415E}"/>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20FCEA75-0E2A-3C26-B7F2-5D1863F94315}"/>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805E719E-DA9E-056B-4990-360F72949A45}"/>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6" name="文本框 5">
            <a:extLst>
              <a:ext uri="{FF2B5EF4-FFF2-40B4-BE49-F238E27FC236}">
                <a16:creationId xmlns:a16="http://schemas.microsoft.com/office/drawing/2014/main" id="{13C53135-E9D0-5A49-B1F8-9A7E0AFFAEF6}"/>
              </a:ext>
            </a:extLst>
          </p:cNvPr>
          <p:cNvSpPr txBox="1"/>
          <p:nvPr/>
        </p:nvSpPr>
        <p:spPr>
          <a:xfrm>
            <a:off x="1247192" y="4982284"/>
            <a:ext cx="9697616" cy="1569660"/>
          </a:xfrm>
          <a:prstGeom prst="rect">
            <a:avLst/>
          </a:prstGeom>
          <a:noFill/>
        </p:spPr>
        <p:txBody>
          <a:bodyPr wrap="square">
            <a:spAutoFit/>
          </a:bodyPr>
          <a:lstStyle/>
          <a:p>
            <a:r>
              <a:rPr lang="zh-CN" altLang="en-US" sz="2400" dirty="0">
                <a:solidFill>
                  <a:srgbClr val="775480"/>
                </a:solidFill>
                <a:latin typeface="微软雅黑 Light" panose="020B0502040204020203" charset="-122"/>
                <a:ea typeface="微软雅黑 Light" panose="020B0502040204020203" charset="-122"/>
              </a:rPr>
              <a:t>虽然跌倒（</a:t>
            </a:r>
            <a:r>
              <a:rPr lang="en-US" altLang="zh-CN" sz="2400" dirty="0">
                <a:solidFill>
                  <a:srgbClr val="775480"/>
                </a:solidFill>
                <a:latin typeface="微软雅黑 Light" panose="020B0502040204020203" charset="-122"/>
                <a:ea typeface="微软雅黑 Light" panose="020B0502040204020203" charset="-122"/>
              </a:rPr>
              <a:t>falling</a:t>
            </a:r>
            <a:r>
              <a:rPr lang="zh-CN" altLang="en-US" sz="2400" dirty="0">
                <a:solidFill>
                  <a:srgbClr val="775480"/>
                </a:solidFill>
                <a:latin typeface="微软雅黑 Light" panose="020B0502040204020203" charset="-122"/>
                <a:ea typeface="微软雅黑 Light" panose="020B0502040204020203" charset="-122"/>
              </a:rPr>
              <a:t>）以及坐下</a:t>
            </a:r>
            <a:r>
              <a:rPr lang="en-US" altLang="zh-CN" sz="2400" dirty="0">
                <a:solidFill>
                  <a:srgbClr val="775480"/>
                </a:solidFill>
                <a:latin typeface="微软雅黑 Light" panose="020B0502040204020203" charset="-122"/>
                <a:ea typeface="微软雅黑 Light" panose="020B0502040204020203" charset="-122"/>
              </a:rPr>
              <a:t>/</a:t>
            </a:r>
            <a:r>
              <a:rPr lang="zh-CN" altLang="en-US" sz="2400" dirty="0">
                <a:solidFill>
                  <a:srgbClr val="775480"/>
                </a:solidFill>
                <a:latin typeface="微软雅黑 Light" panose="020B0502040204020203" charset="-122"/>
                <a:ea typeface="微软雅黑 Light" panose="020B0502040204020203" charset="-122"/>
              </a:rPr>
              <a:t>躺下（</a:t>
            </a:r>
            <a:r>
              <a:rPr lang="en-US" altLang="zh-CN" sz="2400" dirty="0">
                <a:solidFill>
                  <a:srgbClr val="775480"/>
                </a:solidFill>
                <a:latin typeface="微软雅黑 Light" panose="020B0502040204020203" charset="-122"/>
                <a:ea typeface="微软雅黑 Light" panose="020B0502040204020203" charset="-122"/>
              </a:rPr>
              <a:t>sitting/lying down</a:t>
            </a:r>
            <a:r>
              <a:rPr lang="zh-CN" altLang="en-US" sz="2400" dirty="0">
                <a:solidFill>
                  <a:srgbClr val="775480"/>
                </a:solidFill>
                <a:latin typeface="微软雅黑 Light" panose="020B0502040204020203" charset="-122"/>
                <a:ea typeface="微软雅黑 Light" panose="020B0502040204020203" charset="-122"/>
              </a:rPr>
              <a:t>）活动的功率谱表现出一个从高频到低频的急剧功率下降（例如在 </a:t>
            </a:r>
            <a:r>
              <a:rPr lang="en-US" altLang="zh-CN" sz="2400" dirty="0">
                <a:solidFill>
                  <a:srgbClr val="775480"/>
                </a:solidFill>
                <a:latin typeface="微软雅黑 Light" panose="020B0502040204020203" charset="-122"/>
                <a:ea typeface="微软雅黑 Light" panose="020B0502040204020203" charset="-122"/>
              </a:rPr>
              <a:t>68 s</a:t>
            </a:r>
            <a:r>
              <a:rPr lang="zh-CN" altLang="en-US" sz="2400" dirty="0">
                <a:solidFill>
                  <a:srgbClr val="775480"/>
                </a:solidFill>
                <a:latin typeface="微软雅黑 Light" panose="020B0502040204020203" charset="-122"/>
                <a:ea typeface="微软雅黑 Light" panose="020B0502040204020203" charset="-122"/>
              </a:rPr>
              <a:t>、</a:t>
            </a:r>
            <a:r>
              <a:rPr lang="en-US" altLang="zh-CN" sz="2400" dirty="0">
                <a:solidFill>
                  <a:srgbClr val="775480"/>
                </a:solidFill>
                <a:latin typeface="微软雅黑 Light" panose="020B0502040204020203" charset="-122"/>
                <a:ea typeface="微软雅黑 Light" panose="020B0502040204020203" charset="-122"/>
              </a:rPr>
              <a:t>25 s </a:t>
            </a:r>
            <a:r>
              <a:rPr lang="zh-CN" altLang="en-US" sz="2400" dirty="0">
                <a:solidFill>
                  <a:srgbClr val="775480"/>
                </a:solidFill>
                <a:latin typeface="微软雅黑 Light" panose="020B0502040204020203" charset="-122"/>
                <a:ea typeface="微软雅黑 Light" panose="020B0502040204020203" charset="-122"/>
              </a:rPr>
              <a:t>处），但“就地”活动不会导致功率谱突然下降，因为“就地”活动的功率曲线主要位于低频范围（</a:t>
            </a:r>
            <a:r>
              <a:rPr lang="en-US" altLang="zh-CN" sz="2400" dirty="0">
                <a:solidFill>
                  <a:srgbClr val="775480"/>
                </a:solidFill>
                <a:latin typeface="微软雅黑 Light" panose="020B0502040204020203" charset="-122"/>
                <a:ea typeface="微软雅黑 Light" panose="020B0502040204020203" charset="-122"/>
              </a:rPr>
              <a:t>&lt;5 Hz</a:t>
            </a:r>
            <a:r>
              <a:rPr lang="zh-CN" altLang="en-US" sz="2400" dirty="0">
                <a:solidFill>
                  <a:srgbClr val="775480"/>
                </a:solidFill>
                <a:latin typeface="微软雅黑 Light" panose="020B0502040204020203" charset="-122"/>
                <a:ea typeface="微软雅黑 Light" panose="020B0502040204020203" charset="-122"/>
              </a:rPr>
              <a:t>）。</a:t>
            </a:r>
          </a:p>
        </p:txBody>
      </p:sp>
      <p:pic>
        <p:nvPicPr>
          <p:cNvPr id="8" name="图片 7">
            <a:extLst>
              <a:ext uri="{FF2B5EF4-FFF2-40B4-BE49-F238E27FC236}">
                <a16:creationId xmlns:a16="http://schemas.microsoft.com/office/drawing/2014/main" id="{0E717553-3961-B308-9AC8-6B45F9454681}"/>
              </a:ext>
            </a:extLst>
          </p:cNvPr>
          <p:cNvPicPr>
            <a:picLocks noChangeAspect="1"/>
          </p:cNvPicPr>
          <p:nvPr/>
        </p:nvPicPr>
        <p:blipFill>
          <a:blip r:embed="rId5"/>
          <a:stretch>
            <a:fillRect/>
          </a:stretch>
        </p:blipFill>
        <p:spPr>
          <a:xfrm>
            <a:off x="459792" y="1234306"/>
            <a:ext cx="2745234" cy="3542238"/>
          </a:xfrm>
          <a:prstGeom prst="rect">
            <a:avLst/>
          </a:prstGeom>
        </p:spPr>
      </p:pic>
      <p:pic>
        <p:nvPicPr>
          <p:cNvPr id="9" name="图片 8">
            <a:extLst>
              <a:ext uri="{FF2B5EF4-FFF2-40B4-BE49-F238E27FC236}">
                <a16:creationId xmlns:a16="http://schemas.microsoft.com/office/drawing/2014/main" id="{CAA39492-25BA-4063-0C28-8D5FC5B9D53D}"/>
              </a:ext>
            </a:extLst>
          </p:cNvPr>
          <p:cNvPicPr>
            <a:picLocks noChangeAspect="1"/>
          </p:cNvPicPr>
          <p:nvPr/>
        </p:nvPicPr>
        <p:blipFill>
          <a:blip r:embed="rId6"/>
          <a:stretch>
            <a:fillRect/>
          </a:stretch>
        </p:blipFill>
        <p:spPr>
          <a:xfrm>
            <a:off x="3445720" y="1537555"/>
            <a:ext cx="2650280" cy="3251762"/>
          </a:xfrm>
          <a:prstGeom prst="rect">
            <a:avLst/>
          </a:prstGeom>
        </p:spPr>
      </p:pic>
      <p:pic>
        <p:nvPicPr>
          <p:cNvPr id="11" name="图片 10">
            <a:extLst>
              <a:ext uri="{FF2B5EF4-FFF2-40B4-BE49-F238E27FC236}">
                <a16:creationId xmlns:a16="http://schemas.microsoft.com/office/drawing/2014/main" id="{6AD80A29-3643-CA2A-0B32-632845D0F9E4}"/>
              </a:ext>
            </a:extLst>
          </p:cNvPr>
          <p:cNvPicPr>
            <a:picLocks noChangeAspect="1"/>
          </p:cNvPicPr>
          <p:nvPr/>
        </p:nvPicPr>
        <p:blipFill>
          <a:blip r:embed="rId7"/>
          <a:stretch>
            <a:fillRect/>
          </a:stretch>
        </p:blipFill>
        <p:spPr>
          <a:xfrm>
            <a:off x="8105600" y="1450009"/>
            <a:ext cx="3408376" cy="3067538"/>
          </a:xfrm>
          <a:prstGeom prst="rect">
            <a:avLst/>
          </a:prstGeom>
        </p:spPr>
      </p:pic>
    </p:spTree>
    <p:custDataLst>
      <p:tags r:id="rId1"/>
    </p:custDataLst>
    <p:extLst>
      <p:ext uri="{BB962C8B-B14F-4D97-AF65-F5344CB8AC3E}">
        <p14:creationId xmlns:p14="http://schemas.microsoft.com/office/powerpoint/2010/main" val="3719038881"/>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A3D0D-2EB5-D3F1-4EE6-7E4642F9FD0C}"/>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CB95D7F7-5F6E-C0F1-5434-E327E998CDC3}"/>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en-US" sz="3100" dirty="0">
                <a:solidFill>
                  <a:srgbClr val="694B71"/>
                </a:solidFill>
                <a:latin typeface="微软雅黑" panose="020B0503020204020204" pitchFamily="34" charset="-122"/>
                <a:ea typeface="微软雅黑" panose="020B0503020204020204" pitchFamily="34" charset="-122"/>
                <a:cs typeface="+mn-ea"/>
              </a:rPr>
              <a:t>功率谱特征与日常活动的关系</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E65C99A0-24FA-0BAE-E9F4-EC4906F3EE87}"/>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9F514281-B866-D11D-9D97-F887D1339667}"/>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5FDED1FD-FD12-3DB3-2781-56979DA0A489}"/>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115966C9-EF42-A003-FFE5-5EEF8BC21BD2}"/>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84A30D28-48B1-31E1-CE66-6F8844D06E9A}"/>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6" name="文本框 5">
            <a:extLst>
              <a:ext uri="{FF2B5EF4-FFF2-40B4-BE49-F238E27FC236}">
                <a16:creationId xmlns:a16="http://schemas.microsoft.com/office/drawing/2014/main" id="{C5C4E86A-D997-D7A8-C2AC-272DF0995F4D}"/>
              </a:ext>
            </a:extLst>
          </p:cNvPr>
          <p:cNvSpPr txBox="1"/>
          <p:nvPr/>
        </p:nvSpPr>
        <p:spPr>
          <a:xfrm>
            <a:off x="962608" y="1720428"/>
            <a:ext cx="10266783" cy="2677656"/>
          </a:xfrm>
          <a:prstGeom prst="rect">
            <a:avLst/>
          </a:prstGeom>
          <a:noFill/>
        </p:spPr>
        <p:txBody>
          <a:bodyPr wrap="square">
            <a:spAutoFit/>
          </a:bodyPr>
          <a:lstStyle/>
          <a:p>
            <a:r>
              <a:rPr lang="zh-CN" altLang="zh-CN" sz="2400" dirty="0">
                <a:solidFill>
                  <a:srgbClr val="775480"/>
                </a:solidFill>
                <a:latin typeface="微软雅黑 Light" panose="020B0502040204020203" charset="-122"/>
                <a:ea typeface="微软雅黑 Light" panose="020B0502040204020203" charset="-122"/>
              </a:rPr>
              <a:t>因此，通过检测</a:t>
            </a:r>
            <a:r>
              <a:rPr lang="en-US" altLang="zh-CN" sz="2400" dirty="0">
                <a:solidFill>
                  <a:srgbClr val="775480"/>
                </a:solidFill>
                <a:latin typeface="微软雅黑 Light" panose="020B0502040204020203" charset="-122"/>
                <a:ea typeface="微软雅黑 Light" panose="020B0502040204020203" charset="-122"/>
              </a:rPr>
              <a:t> CSI </a:t>
            </a:r>
            <a:r>
              <a:rPr lang="zh-CN" altLang="zh-CN" sz="2400" dirty="0">
                <a:solidFill>
                  <a:srgbClr val="775480"/>
                </a:solidFill>
                <a:latin typeface="微软雅黑 Light" panose="020B0502040204020203" charset="-122"/>
                <a:ea typeface="微软雅黑 Light" panose="020B0502040204020203" charset="-122"/>
              </a:rPr>
              <a:t>相位差变化模式的状态转换以及剧烈的功率谱下降模式，我们可以稳健地排除</a:t>
            </a:r>
            <a:r>
              <a:rPr lang="en-US" altLang="zh-CN" sz="2400" dirty="0">
                <a:solidFill>
                  <a:srgbClr val="775480"/>
                </a:solidFill>
                <a:latin typeface="微软雅黑 Light" panose="020B0502040204020203" charset="-122"/>
                <a:ea typeface="微软雅黑 Light" panose="020B0502040204020203" charset="-122"/>
              </a:rPr>
              <a:t>“</a:t>
            </a:r>
            <a:r>
              <a:rPr lang="zh-CN" altLang="en-US" sz="2400" dirty="0">
                <a:solidFill>
                  <a:srgbClr val="775480"/>
                </a:solidFill>
                <a:latin typeface="微软雅黑 Light" panose="020B0502040204020203" charset="-122"/>
                <a:ea typeface="微软雅黑 Light" panose="020B0502040204020203" charset="-122"/>
              </a:rPr>
              <a:t>就地</a:t>
            </a:r>
            <a:r>
              <a:rPr lang="en-US" altLang="zh-CN" sz="2400" dirty="0">
                <a:solidFill>
                  <a:srgbClr val="775480"/>
                </a:solidFill>
                <a:latin typeface="微软雅黑 Light" panose="020B0502040204020203" charset="-122"/>
                <a:ea typeface="微软雅黑 Light" panose="020B0502040204020203" charset="-122"/>
              </a:rPr>
              <a:t>”</a:t>
            </a:r>
            <a:r>
              <a:rPr lang="zh-CN" altLang="zh-CN" sz="2400" dirty="0">
                <a:solidFill>
                  <a:srgbClr val="775480"/>
                </a:solidFill>
                <a:latin typeface="微软雅黑 Light" panose="020B0502040204020203" charset="-122"/>
                <a:ea typeface="微软雅黑 Light" panose="020B0502040204020203" charset="-122"/>
              </a:rPr>
              <a:t>活动，但仅能分割出跌倒和一些其他非跌倒活动（即躺下和坐着）。我们将其他一些非跌倒活动称为类似跌倒的活动。</a:t>
            </a:r>
            <a:endParaRPr lang="en-US" altLang="zh-CN" sz="2400" dirty="0">
              <a:solidFill>
                <a:srgbClr val="775480"/>
              </a:solidFill>
              <a:latin typeface="微软雅黑 Light" panose="020B0502040204020203" charset="-122"/>
              <a:ea typeface="微软雅黑 Light" panose="020B0502040204020203" charset="-122"/>
            </a:endParaRPr>
          </a:p>
          <a:p>
            <a:endParaRPr lang="en-US" altLang="zh-CN" sz="2400" dirty="0">
              <a:solidFill>
                <a:srgbClr val="775480"/>
              </a:solidFill>
              <a:latin typeface="微软雅黑 Light" panose="020B0502040204020203" charset="-122"/>
              <a:ea typeface="微软雅黑 Light" panose="020B0502040204020203" charset="-122"/>
            </a:endParaRPr>
          </a:p>
          <a:p>
            <a:r>
              <a:rPr lang="zh-CN" altLang="en-US" sz="2400" dirty="0">
                <a:solidFill>
                  <a:srgbClr val="775480"/>
                </a:solidFill>
                <a:latin typeface="微软雅黑 Light" panose="020B0502040204020203" charset="-122"/>
                <a:ea typeface="微软雅黑 Light" panose="020B0502040204020203" charset="-122"/>
              </a:rPr>
              <a:t>放大跌倒和类似跌倒活动的功率谱曲线，可以注意到，虽然跌倒和类似跌倒的活动最终都会以急剧的功率谱下降结束，但跌倒通常表现出比类似跌倒活动更剧烈的功率谱下降模式。 </a:t>
            </a:r>
            <a:r>
              <a:rPr lang="zh-CN" altLang="zh-CN" sz="2400" dirty="0">
                <a:solidFill>
                  <a:srgbClr val="775480"/>
                </a:solidFill>
                <a:latin typeface="微软雅黑 Light" panose="020B0502040204020203" charset="-122"/>
                <a:ea typeface="微软雅黑 Light" panose="020B0502040204020203" charset="-122"/>
              </a:rPr>
              <a:t> </a:t>
            </a:r>
            <a:endParaRPr lang="zh-CN" altLang="en-US" sz="2400" dirty="0">
              <a:solidFill>
                <a:srgbClr val="775480"/>
              </a:solidFill>
              <a:latin typeface="微软雅黑 Light" panose="020B0502040204020203" charset="-122"/>
              <a:ea typeface="微软雅黑 Light" panose="020B0502040204020203" charset="-122"/>
            </a:endParaRPr>
          </a:p>
        </p:txBody>
      </p:sp>
    </p:spTree>
    <p:custDataLst>
      <p:tags r:id="rId1"/>
    </p:custDataLst>
    <p:extLst>
      <p:ext uri="{BB962C8B-B14F-4D97-AF65-F5344CB8AC3E}">
        <p14:creationId xmlns:p14="http://schemas.microsoft.com/office/powerpoint/2010/main" val="1755754918"/>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2EC340-F832-8F51-A064-D8EF338CE08A}"/>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98E2EAAB-3A6A-4FF2-3919-21FE2AEBBB52}"/>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en-US" sz="3100" dirty="0">
                <a:solidFill>
                  <a:srgbClr val="694B71"/>
                </a:solidFill>
                <a:latin typeface="微软雅黑" panose="020B0503020204020204" pitchFamily="34" charset="-122"/>
                <a:ea typeface="微软雅黑" panose="020B0503020204020204" pitchFamily="34" charset="-122"/>
                <a:cs typeface="+mn-ea"/>
              </a:rPr>
              <a:t>功率谱特征与日常活动的关系</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CC5AA862-283B-2ABB-44F8-43A34FBB1AF0}"/>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C860BF81-FDE5-64AD-9180-7E67617BD149}"/>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70AAA03F-2550-8673-1181-9A6E01E626B8}"/>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9F86F594-4CE6-0011-2F56-2ECE6E59761C}"/>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54AEB537-E2F6-8EA8-230B-17D924C0F79D}"/>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6" name="文本框 5">
            <a:extLst>
              <a:ext uri="{FF2B5EF4-FFF2-40B4-BE49-F238E27FC236}">
                <a16:creationId xmlns:a16="http://schemas.microsoft.com/office/drawing/2014/main" id="{1AEE7C79-A0E1-4889-ECD3-33CC45529A18}"/>
              </a:ext>
            </a:extLst>
          </p:cNvPr>
          <p:cNvSpPr txBox="1"/>
          <p:nvPr/>
        </p:nvSpPr>
        <p:spPr>
          <a:xfrm>
            <a:off x="6475444" y="1720428"/>
            <a:ext cx="5505235" cy="3785652"/>
          </a:xfrm>
          <a:prstGeom prst="rect">
            <a:avLst/>
          </a:prstGeom>
          <a:noFill/>
        </p:spPr>
        <p:txBody>
          <a:bodyPr wrap="square">
            <a:spAutoFit/>
          </a:bodyPr>
          <a:lstStyle/>
          <a:p>
            <a:r>
              <a:rPr lang="zh-CN" altLang="zh-CN" sz="2400" dirty="0">
                <a:solidFill>
                  <a:srgbClr val="775480"/>
                </a:solidFill>
                <a:latin typeface="微软雅黑 Light" panose="020B0502040204020203" charset="-122"/>
                <a:ea typeface="微软雅黑 Light" panose="020B0502040204020203" charset="-122"/>
              </a:rPr>
              <a:t>我们可以看到，跌倒显示出从高频到低频分量的明显突然功率下降，而坐下活动仅显示出轻微的功率下降。跌倒的这种独特特征可能是由于受试者无法控制的状态造成的，因为当一个人跌倒时，她会失去对身体的控制，并在撞到地板之前经历一个加速的移动阶段。当受试者撞到地板时，身体的移动速度会从高变为零，而没有像其他类似跌倒的活动（例如坐下）那样受控的减速阶段。</a:t>
            </a:r>
          </a:p>
        </p:txBody>
      </p:sp>
      <p:pic>
        <p:nvPicPr>
          <p:cNvPr id="3" name="图片 2">
            <a:extLst>
              <a:ext uri="{FF2B5EF4-FFF2-40B4-BE49-F238E27FC236}">
                <a16:creationId xmlns:a16="http://schemas.microsoft.com/office/drawing/2014/main" id="{3092F021-1B47-71DF-91AA-CDE8BC6A5C6B}"/>
              </a:ext>
            </a:extLst>
          </p:cNvPr>
          <p:cNvPicPr>
            <a:picLocks noChangeAspect="1"/>
          </p:cNvPicPr>
          <p:nvPr/>
        </p:nvPicPr>
        <p:blipFill>
          <a:blip r:embed="rId5"/>
          <a:stretch>
            <a:fillRect/>
          </a:stretch>
        </p:blipFill>
        <p:spPr>
          <a:xfrm>
            <a:off x="211320" y="1821478"/>
            <a:ext cx="2745234" cy="3542238"/>
          </a:xfrm>
          <a:prstGeom prst="rect">
            <a:avLst/>
          </a:prstGeom>
        </p:spPr>
      </p:pic>
      <p:pic>
        <p:nvPicPr>
          <p:cNvPr id="4" name="图片 3">
            <a:extLst>
              <a:ext uri="{FF2B5EF4-FFF2-40B4-BE49-F238E27FC236}">
                <a16:creationId xmlns:a16="http://schemas.microsoft.com/office/drawing/2014/main" id="{330AB6E3-65A8-65A9-4191-21276DCB7258}"/>
              </a:ext>
            </a:extLst>
          </p:cNvPr>
          <p:cNvPicPr>
            <a:picLocks noChangeAspect="1"/>
          </p:cNvPicPr>
          <p:nvPr/>
        </p:nvPicPr>
        <p:blipFill>
          <a:blip r:embed="rId6"/>
          <a:stretch>
            <a:fillRect/>
          </a:stretch>
        </p:blipFill>
        <p:spPr>
          <a:xfrm>
            <a:off x="3445720" y="1966716"/>
            <a:ext cx="2652430" cy="3254400"/>
          </a:xfrm>
          <a:prstGeom prst="rect">
            <a:avLst/>
          </a:prstGeom>
        </p:spPr>
      </p:pic>
    </p:spTree>
    <p:custDataLst>
      <p:tags r:id="rId1"/>
    </p:custDataLst>
    <p:extLst>
      <p:ext uri="{BB962C8B-B14F-4D97-AF65-F5344CB8AC3E}">
        <p14:creationId xmlns:p14="http://schemas.microsoft.com/office/powerpoint/2010/main" val="1739812961"/>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4157F1-117F-56F7-5336-32F3B920A44D}"/>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B2CF35C5-E857-C505-42B2-3D2670D0754A}"/>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en-US" sz="3100" dirty="0">
                <a:solidFill>
                  <a:srgbClr val="694B71"/>
                </a:solidFill>
                <a:latin typeface="微软雅黑" panose="020B0503020204020204" pitchFamily="34" charset="-122"/>
                <a:ea typeface="微软雅黑" panose="020B0503020204020204" pitchFamily="34" charset="-122"/>
                <a:cs typeface="+mn-ea"/>
              </a:rPr>
              <a:t>功率谱特征与日常活动的关系</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41B3A743-158C-A237-DA52-60033EB7C2F4}"/>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EE1B8321-9CF6-04E5-4258-44BB49C38FDA}"/>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F766657F-CB63-619D-F5B6-CACD09A7D048}"/>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4B5712A8-662E-58E0-7BDF-870A9E0D3B97}"/>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BD9F83D8-17C5-7934-6B63-2A9BC861D581}"/>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6" name="文本框 5">
            <a:extLst>
              <a:ext uri="{FF2B5EF4-FFF2-40B4-BE49-F238E27FC236}">
                <a16:creationId xmlns:a16="http://schemas.microsoft.com/office/drawing/2014/main" id="{A4F6CC0B-2D49-5847-ED4F-006FE9D3EEDE}"/>
              </a:ext>
            </a:extLst>
          </p:cNvPr>
          <p:cNvSpPr txBox="1"/>
          <p:nvPr/>
        </p:nvSpPr>
        <p:spPr>
          <a:xfrm>
            <a:off x="597159" y="2472276"/>
            <a:ext cx="11364859" cy="1569660"/>
          </a:xfrm>
          <a:prstGeom prst="rect">
            <a:avLst/>
          </a:prstGeom>
          <a:noFill/>
        </p:spPr>
        <p:txBody>
          <a:bodyPr wrap="square">
            <a:spAutoFit/>
          </a:bodyPr>
          <a:lstStyle/>
          <a:p>
            <a:r>
              <a:rPr lang="zh-CN" altLang="zh-CN" sz="2400" dirty="0">
                <a:solidFill>
                  <a:srgbClr val="775480"/>
                </a:solidFill>
                <a:latin typeface="微软雅黑 Light" panose="020B0502040204020203" charset="-122"/>
                <a:ea typeface="微软雅黑 Light" panose="020B0502040204020203" charset="-122"/>
              </a:rPr>
              <a:t>然而，我们也注意到，随着类下跌活动速度的增加，这种差距变得越来越小，即，一些快速类似跌倒活动的功率谱下降模式看起来与跌倒相似。特别是，当类似坠落的活动速度增加到与跌倒相当的速度时，我们不再能够仅通过比较功率曲线下降模式来区分差异。</a:t>
            </a:r>
          </a:p>
        </p:txBody>
      </p:sp>
    </p:spTree>
    <p:custDataLst>
      <p:tags r:id="rId1"/>
    </p:custDataLst>
    <p:extLst>
      <p:ext uri="{BB962C8B-B14F-4D97-AF65-F5344CB8AC3E}">
        <p14:creationId xmlns:p14="http://schemas.microsoft.com/office/powerpoint/2010/main" val="2034079953"/>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31549-0B3E-E657-E0A5-BE83AA2CC8B0}"/>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42BE91CA-688A-8CDB-DA75-94BEDFD26B02}"/>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en-US" sz="3100" dirty="0">
                <a:solidFill>
                  <a:srgbClr val="694B71"/>
                </a:solidFill>
                <a:latin typeface="微软雅黑" panose="020B0503020204020204" pitchFamily="34" charset="-122"/>
                <a:ea typeface="微软雅黑" panose="020B0503020204020204" pitchFamily="34" charset="-122"/>
                <a:cs typeface="+mn-ea"/>
              </a:rPr>
              <a:t>小结</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16307C05-28F9-DBD8-EDFD-28D164B927F5}"/>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C2C1D625-0D9A-0D79-48A2-C20E3D27DF67}"/>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33D017C3-AE55-5659-2B4C-2AC7701F5F5B}"/>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4BAF873F-2A70-F0FB-1973-529129E34E65}"/>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1DF11200-CEA4-A5CD-787A-369AE9AEC0A2}"/>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6" name="文本框 5">
            <a:extLst>
              <a:ext uri="{FF2B5EF4-FFF2-40B4-BE49-F238E27FC236}">
                <a16:creationId xmlns:a16="http://schemas.microsoft.com/office/drawing/2014/main" id="{F63B941F-A443-0FF5-4ABD-C961CDED1610}"/>
              </a:ext>
            </a:extLst>
          </p:cNvPr>
          <p:cNvSpPr txBox="1"/>
          <p:nvPr/>
        </p:nvSpPr>
        <p:spPr>
          <a:xfrm>
            <a:off x="413570" y="1720428"/>
            <a:ext cx="11364859" cy="2677656"/>
          </a:xfrm>
          <a:prstGeom prst="rect">
            <a:avLst/>
          </a:prstGeom>
          <a:noFill/>
        </p:spPr>
        <p:txBody>
          <a:bodyPr wrap="square">
            <a:spAutoFit/>
          </a:bodyPr>
          <a:lstStyle/>
          <a:p>
            <a:r>
              <a:rPr lang="zh-CN" altLang="en-US" sz="2400" dirty="0">
                <a:solidFill>
                  <a:srgbClr val="775480"/>
                </a:solidFill>
                <a:latin typeface="微软雅黑 Light" panose="020B0502040204020203" charset="-122"/>
                <a:ea typeface="微软雅黑 Light" panose="020B0502040204020203" charset="-122"/>
              </a:rPr>
              <a:t>在本节中，我们通过大量实验研究了不同人体活动对室内环境中 </a:t>
            </a:r>
            <a:r>
              <a:rPr lang="en" altLang="zh-CN" sz="2400" dirty="0">
                <a:solidFill>
                  <a:srgbClr val="775480"/>
                </a:solidFill>
                <a:latin typeface="微软雅黑 Light" panose="020B0502040204020203" charset="-122"/>
                <a:ea typeface="微软雅黑 Light" panose="020B0502040204020203" charset="-122"/>
              </a:rPr>
              <a:t>CSI </a:t>
            </a:r>
            <a:r>
              <a:rPr lang="zh-CN" altLang="en-US" sz="2400" dirty="0">
                <a:solidFill>
                  <a:srgbClr val="775480"/>
                </a:solidFill>
                <a:latin typeface="微软雅黑 Light" panose="020B0502040204020203" charset="-122"/>
                <a:ea typeface="微软雅黑 Light" panose="020B0502040204020203" charset="-122"/>
              </a:rPr>
              <a:t>幅度与相位差的影响。</a:t>
            </a:r>
          </a:p>
          <a:p>
            <a:r>
              <a:rPr lang="zh-CN" altLang="en-US" sz="2400" dirty="0">
                <a:solidFill>
                  <a:srgbClr val="775480"/>
                </a:solidFill>
                <a:latin typeface="微软雅黑 Light" panose="020B0502040204020203" charset="-122"/>
                <a:ea typeface="微软雅黑 Light" panose="020B0502040204020203" charset="-122"/>
              </a:rPr>
              <a:t>先前的研究主要利用</a:t>
            </a:r>
            <a:r>
              <a:rPr lang="en" altLang="zh-CN" sz="2400" dirty="0">
                <a:solidFill>
                  <a:srgbClr val="775480"/>
                </a:solidFill>
                <a:latin typeface="微软雅黑 Light" panose="020B0502040204020203" charset="-122"/>
                <a:ea typeface="微软雅黑 Light" panose="020B0502040204020203" charset="-122"/>
              </a:rPr>
              <a:t>CSI </a:t>
            </a:r>
            <a:r>
              <a:rPr lang="zh-CN" altLang="en-US" sz="2400" dirty="0">
                <a:solidFill>
                  <a:srgbClr val="775480"/>
                </a:solidFill>
                <a:latin typeface="微软雅黑 Light" panose="020B0502040204020203" charset="-122"/>
                <a:ea typeface="微软雅黑 Light" panose="020B0502040204020203" charset="-122"/>
              </a:rPr>
              <a:t>幅度信息，因此我们首先从幅度入手，发现：</a:t>
            </a:r>
            <a:br>
              <a:rPr lang="zh-CN" altLang="en-US" sz="2400" dirty="0">
                <a:solidFill>
                  <a:srgbClr val="775480"/>
                </a:solidFill>
                <a:latin typeface="微软雅黑 Light" panose="020B0502040204020203" charset="-122"/>
                <a:ea typeface="微软雅黑 Light" panose="020B0502040204020203" charset="-122"/>
              </a:rPr>
            </a:br>
            <a:r>
              <a:rPr lang="en" altLang="zh-CN" sz="2400" dirty="0">
                <a:solidFill>
                  <a:srgbClr val="775480"/>
                </a:solidFill>
                <a:latin typeface="微软雅黑 Light" panose="020B0502040204020203" charset="-122"/>
                <a:ea typeface="微软雅黑 Light" panose="020B0502040204020203" charset="-122"/>
              </a:rPr>
              <a:t>CSI </a:t>
            </a:r>
            <a:r>
              <a:rPr lang="zh-CN" altLang="en-US" sz="2400" dirty="0">
                <a:solidFill>
                  <a:srgbClr val="775480"/>
                </a:solidFill>
                <a:latin typeface="微软雅黑 Light" panose="020B0502040204020203" charset="-122"/>
                <a:ea typeface="微软雅黑 Light" panose="020B0502040204020203" charset="-122"/>
              </a:rPr>
              <a:t>幅度只能区分一个人是否在进行运动活动，</a:t>
            </a:r>
            <a:br>
              <a:rPr lang="zh-CN" altLang="en-US" sz="2400" dirty="0">
                <a:solidFill>
                  <a:srgbClr val="775480"/>
                </a:solidFill>
                <a:latin typeface="微软雅黑 Light" panose="020B0502040204020203" charset="-122"/>
                <a:ea typeface="微软雅黑 Light" panose="020B0502040204020203" charset="-122"/>
              </a:rPr>
            </a:br>
            <a:r>
              <a:rPr lang="zh-CN" altLang="en-US" sz="2400" dirty="0">
                <a:solidFill>
                  <a:srgbClr val="775480"/>
                </a:solidFill>
                <a:latin typeface="微软雅黑 Light" panose="020B0502040204020203" charset="-122"/>
                <a:ea typeface="微软雅黑 Light" panose="020B0502040204020203" charset="-122"/>
              </a:rPr>
              <a:t>这在先前研究所作的简化假设下可用于活动分割（</a:t>
            </a:r>
            <a:r>
              <a:rPr lang="en" altLang="zh-CN" sz="2400" dirty="0">
                <a:solidFill>
                  <a:srgbClr val="775480"/>
                </a:solidFill>
                <a:latin typeface="微软雅黑 Light" panose="020B0502040204020203" charset="-122"/>
                <a:ea typeface="微软雅黑 Light" panose="020B0502040204020203" charset="-122"/>
              </a:rPr>
              <a:t>activity segmentation</a:t>
            </a:r>
            <a:r>
              <a:rPr lang="zh-CN" altLang="en" sz="2400" dirty="0">
                <a:solidFill>
                  <a:srgbClr val="775480"/>
                </a:solidFill>
                <a:latin typeface="微软雅黑 Light" panose="020B0502040204020203" charset="-122"/>
                <a:ea typeface="微软雅黑 Light" panose="020B0502040204020203" charset="-122"/>
              </a:rPr>
              <a:t>）。</a:t>
            </a:r>
            <a:br>
              <a:rPr lang="zh-CN" altLang="en" sz="2400" dirty="0">
                <a:solidFill>
                  <a:srgbClr val="775480"/>
                </a:solidFill>
                <a:latin typeface="微软雅黑 Light" panose="020B0502040204020203" charset="-122"/>
                <a:ea typeface="微软雅黑 Light" panose="020B0502040204020203" charset="-122"/>
              </a:rPr>
            </a:br>
            <a:r>
              <a:rPr lang="zh-CN" altLang="en-US" sz="2400" dirty="0">
                <a:solidFill>
                  <a:srgbClr val="775480"/>
                </a:solidFill>
                <a:latin typeface="微软雅黑 Light" panose="020B0502040204020203" charset="-122"/>
                <a:ea typeface="微软雅黑 Light" panose="020B0502040204020203" charset="-122"/>
              </a:rPr>
              <a:t>但在实际中，当人类进行自然且连续的日常活动时，</a:t>
            </a:r>
            <a:r>
              <a:rPr lang="en" altLang="zh-CN" sz="2400" dirty="0">
                <a:solidFill>
                  <a:srgbClr val="775480"/>
                </a:solidFill>
                <a:latin typeface="微软雅黑 Light" panose="020B0502040204020203" charset="-122"/>
                <a:ea typeface="微软雅黑 Light" panose="020B0502040204020203" charset="-122"/>
              </a:rPr>
              <a:t>CSI </a:t>
            </a:r>
            <a:r>
              <a:rPr lang="zh-CN" altLang="en-US" sz="2400" dirty="0">
                <a:solidFill>
                  <a:srgbClr val="775480"/>
                </a:solidFill>
                <a:latin typeface="微软雅黑 Light" panose="020B0502040204020203" charset="-122"/>
                <a:ea typeface="微软雅黑 Light" panose="020B0502040204020203" charset="-122"/>
              </a:rPr>
              <a:t>幅度的表现并不好。</a:t>
            </a:r>
          </a:p>
          <a:p>
            <a:r>
              <a:rPr lang="zh-CN" altLang="en-US" sz="2400" dirty="0">
                <a:solidFill>
                  <a:srgbClr val="775480"/>
                </a:solidFill>
                <a:latin typeface="微软雅黑 Light" panose="020B0502040204020203" charset="-122"/>
                <a:ea typeface="微软雅黑 Light" panose="020B0502040204020203" charset="-122"/>
              </a:rPr>
              <a:t>幅度的局限性促使我们进一步探索</a:t>
            </a:r>
            <a:r>
              <a:rPr lang="en" altLang="zh-CN" sz="2400" dirty="0">
                <a:solidFill>
                  <a:srgbClr val="775480"/>
                </a:solidFill>
                <a:latin typeface="微软雅黑 Light" panose="020B0502040204020203" charset="-122"/>
                <a:ea typeface="微软雅黑 Light" panose="020B0502040204020203" charset="-122"/>
              </a:rPr>
              <a:t>CSI </a:t>
            </a:r>
            <a:r>
              <a:rPr lang="zh-CN" altLang="en-US" sz="2400" dirty="0">
                <a:solidFill>
                  <a:srgbClr val="775480"/>
                </a:solidFill>
                <a:latin typeface="微软雅黑 Light" panose="020B0502040204020203" charset="-122"/>
                <a:ea typeface="微软雅黑 Light" panose="020B0502040204020203" charset="-122"/>
              </a:rPr>
              <a:t>相位信息在人体活动识别中的潜力。 </a:t>
            </a:r>
            <a:endParaRPr lang="zh-CN" altLang="zh-CN" sz="2400" dirty="0">
              <a:solidFill>
                <a:srgbClr val="775480"/>
              </a:solidFill>
              <a:latin typeface="微软雅黑 Light" panose="020B0502040204020203" charset="-122"/>
              <a:ea typeface="微软雅黑 Light" panose="020B0502040204020203" charset="-122"/>
            </a:endParaRPr>
          </a:p>
        </p:txBody>
      </p:sp>
    </p:spTree>
    <p:custDataLst>
      <p:tags r:id="rId1"/>
    </p:custDataLst>
    <p:extLst>
      <p:ext uri="{BB962C8B-B14F-4D97-AF65-F5344CB8AC3E}">
        <p14:creationId xmlns:p14="http://schemas.microsoft.com/office/powerpoint/2010/main" val="4227974307"/>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575F1-E3EA-E10C-416F-87C4B6C2A8E7}"/>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29B072E0-11C8-7231-51FE-291BEEBC410E}"/>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en-US" sz="3100" dirty="0">
                <a:solidFill>
                  <a:srgbClr val="694B71"/>
                </a:solidFill>
                <a:latin typeface="微软雅黑" panose="020B0503020204020204" pitchFamily="34" charset="-122"/>
                <a:ea typeface="微软雅黑" panose="020B0503020204020204" pitchFamily="34" charset="-122"/>
                <a:cs typeface="+mn-ea"/>
              </a:rPr>
              <a:t>小结</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E826516A-D4D6-DBAE-C70E-43F606722971}"/>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325822E5-BA44-E024-6663-74CB9C1F3DE7}"/>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4604F9CA-0AAB-288A-ABE7-38625B631783}"/>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25F464A3-6782-417C-B921-EAC740A3D82E}"/>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156C730A-45CF-0386-68F7-2D15F85AFA9F}"/>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6" name="文本框 5">
            <a:extLst>
              <a:ext uri="{FF2B5EF4-FFF2-40B4-BE49-F238E27FC236}">
                <a16:creationId xmlns:a16="http://schemas.microsoft.com/office/drawing/2014/main" id="{764C2F71-6F68-522C-B13D-A1F3C5562CFF}"/>
              </a:ext>
            </a:extLst>
          </p:cNvPr>
          <p:cNvSpPr txBox="1"/>
          <p:nvPr/>
        </p:nvSpPr>
        <p:spPr>
          <a:xfrm>
            <a:off x="413570" y="1720428"/>
            <a:ext cx="11364859" cy="2677656"/>
          </a:xfrm>
          <a:prstGeom prst="rect">
            <a:avLst/>
          </a:prstGeom>
          <a:noFill/>
        </p:spPr>
        <p:txBody>
          <a:bodyPr wrap="square">
            <a:spAutoFit/>
          </a:bodyPr>
          <a:lstStyle/>
          <a:p>
            <a:r>
              <a:rPr lang="zh-CN" altLang="en-US" sz="2400" dirty="0">
                <a:solidFill>
                  <a:srgbClr val="775480"/>
                </a:solidFill>
                <a:latin typeface="微软雅黑 Light" panose="020B0502040204020203" charset="-122"/>
                <a:ea typeface="微软雅黑 Light" panose="020B0502040204020203" charset="-122"/>
              </a:rPr>
              <a:t>然而，我们观察到商用 </a:t>
            </a:r>
            <a:r>
              <a:rPr lang="en" altLang="zh-CN" sz="2400" dirty="0" err="1">
                <a:solidFill>
                  <a:srgbClr val="775480"/>
                </a:solidFill>
                <a:latin typeface="微软雅黑 Light" panose="020B0502040204020203" charset="-122"/>
                <a:ea typeface="微软雅黑 Light" panose="020B0502040204020203" charset="-122"/>
              </a:rPr>
              <a:t>WiFi</a:t>
            </a:r>
            <a:r>
              <a:rPr lang="en" altLang="zh-CN" sz="2400" dirty="0">
                <a:solidFill>
                  <a:srgbClr val="775480"/>
                </a:solidFill>
                <a:latin typeface="微软雅黑 Light" panose="020B0502040204020203" charset="-122"/>
                <a:ea typeface="微软雅黑 Light" panose="020B0502040204020203" charset="-122"/>
              </a:rPr>
              <a:t> </a:t>
            </a:r>
            <a:r>
              <a:rPr lang="zh-CN" altLang="en-US" sz="2400" dirty="0">
                <a:solidFill>
                  <a:srgbClr val="775480"/>
                </a:solidFill>
                <a:latin typeface="微软雅黑 Light" panose="020B0502040204020203" charset="-122"/>
                <a:ea typeface="微软雅黑 Light" panose="020B0502040204020203" charset="-122"/>
              </a:rPr>
              <a:t>设备提供的原始相位数据随机分布，无法直接使用。</a:t>
            </a:r>
            <a:br>
              <a:rPr lang="zh-CN" altLang="en-US" sz="2400" dirty="0">
                <a:solidFill>
                  <a:srgbClr val="775480"/>
                </a:solidFill>
                <a:latin typeface="微软雅黑 Light" panose="020B0502040204020203" charset="-122"/>
                <a:ea typeface="微软雅黑 Light" panose="020B0502040204020203" charset="-122"/>
              </a:rPr>
            </a:br>
            <a:r>
              <a:rPr lang="zh-CN" altLang="en-US" sz="2400" dirty="0">
                <a:solidFill>
                  <a:srgbClr val="775480"/>
                </a:solidFill>
                <a:latin typeface="微软雅黑 Light" panose="020B0502040204020203" charset="-122"/>
                <a:ea typeface="微软雅黑 Light" panose="020B0502040204020203" charset="-122"/>
              </a:rPr>
              <a:t>在分析原因后，我们采用两根接收天线间的相位差进行相位校准。</a:t>
            </a:r>
            <a:endParaRPr lang="zh-CN" altLang="en" sz="2400" dirty="0">
              <a:solidFill>
                <a:srgbClr val="775480"/>
              </a:solidFill>
              <a:latin typeface="微软雅黑 Light" panose="020B0502040204020203" charset="-122"/>
              <a:ea typeface="微软雅黑 Light" panose="020B0502040204020203" charset="-122"/>
            </a:endParaRPr>
          </a:p>
          <a:p>
            <a:r>
              <a:rPr lang="zh-CN" altLang="en-US" sz="2400" dirty="0">
                <a:solidFill>
                  <a:srgbClr val="775480"/>
                </a:solidFill>
                <a:latin typeface="微软雅黑 Light" panose="020B0502040204020203" charset="-122"/>
                <a:ea typeface="微软雅黑 Light" panose="020B0502040204020203" charset="-122"/>
              </a:rPr>
              <a:t>有趣的是，我们发现：</a:t>
            </a:r>
          </a:p>
          <a:p>
            <a:r>
              <a:rPr lang="en" altLang="zh-CN" sz="2400" dirty="0">
                <a:solidFill>
                  <a:srgbClr val="775480"/>
                </a:solidFill>
                <a:latin typeface="微软雅黑 Light" panose="020B0502040204020203" charset="-122"/>
                <a:ea typeface="微软雅黑 Light" panose="020B0502040204020203" charset="-122"/>
              </a:rPr>
              <a:t>CSI </a:t>
            </a:r>
            <a:r>
              <a:rPr lang="zh-CN" altLang="en-US" sz="2400" dirty="0">
                <a:solidFill>
                  <a:srgbClr val="775480"/>
                </a:solidFill>
                <a:latin typeface="微软雅黑 Light" panose="020B0502040204020203" charset="-122"/>
                <a:ea typeface="微软雅黑 Light" panose="020B0502040204020203" charset="-122"/>
              </a:rPr>
              <a:t>相位差比幅度对环境变化更敏感；</a:t>
            </a:r>
          </a:p>
          <a:p>
            <a:r>
              <a:rPr lang="zh-CN" altLang="en-US" sz="2400" dirty="0">
                <a:solidFill>
                  <a:srgbClr val="775480"/>
                </a:solidFill>
                <a:latin typeface="微软雅黑 Light" panose="020B0502040204020203" charset="-122"/>
                <a:ea typeface="微软雅黑 Light" panose="020B0502040204020203" charset="-122"/>
              </a:rPr>
              <a:t>它能够区分站立姿势与其他静止活动（如坐着、躺着）。</a:t>
            </a:r>
          </a:p>
          <a:p>
            <a:r>
              <a:rPr lang="zh-CN" altLang="en-US" sz="2400" dirty="0">
                <a:solidFill>
                  <a:srgbClr val="775480"/>
                </a:solidFill>
                <a:latin typeface="微软雅黑 Light" panose="020B0502040204020203" charset="-122"/>
                <a:ea typeface="微软雅黑 Light" panose="020B0502040204020203" charset="-122"/>
              </a:rPr>
              <a:t>基于这一发现，我们在之前的工作中提出了一种基于状态转变的简单分割方法，</a:t>
            </a:r>
            <a:br>
              <a:rPr lang="zh-CN" altLang="en-US" sz="2400" dirty="0">
                <a:solidFill>
                  <a:srgbClr val="775480"/>
                </a:solidFill>
                <a:latin typeface="微软雅黑 Light" panose="020B0502040204020203" charset="-122"/>
                <a:ea typeface="微软雅黑 Light" panose="020B0502040204020203" charset="-122"/>
              </a:rPr>
            </a:br>
            <a:r>
              <a:rPr lang="zh-CN" altLang="en-US" sz="2400" dirty="0">
                <a:solidFill>
                  <a:srgbClr val="775480"/>
                </a:solidFill>
                <a:latin typeface="微软雅黑 Light" panose="020B0502040204020203" charset="-122"/>
                <a:ea typeface="微软雅黑 Light" panose="020B0502040204020203" charset="-122"/>
              </a:rPr>
              <a:t>试图在连续的 </a:t>
            </a:r>
            <a:r>
              <a:rPr lang="en" altLang="zh-CN" sz="2400" dirty="0">
                <a:solidFill>
                  <a:srgbClr val="775480"/>
                </a:solidFill>
                <a:latin typeface="微软雅黑 Light" panose="020B0502040204020203" charset="-122"/>
                <a:ea typeface="微软雅黑 Light" panose="020B0502040204020203" charset="-122"/>
              </a:rPr>
              <a:t>CSI </a:t>
            </a:r>
            <a:r>
              <a:rPr lang="zh-CN" altLang="en-US" sz="2400" dirty="0">
                <a:solidFill>
                  <a:srgbClr val="775480"/>
                </a:solidFill>
                <a:latin typeface="微软雅黑 Light" panose="020B0502040204020203" charset="-122"/>
                <a:ea typeface="微软雅黑 Light" panose="020B0502040204020203" charset="-122"/>
              </a:rPr>
              <a:t>数据流中，仅分离出跌倒（</a:t>
            </a:r>
            <a:r>
              <a:rPr lang="en" altLang="zh-CN" sz="2400" dirty="0">
                <a:solidFill>
                  <a:srgbClr val="775480"/>
                </a:solidFill>
                <a:latin typeface="微软雅黑 Light" panose="020B0502040204020203" charset="-122"/>
                <a:ea typeface="微软雅黑 Light" panose="020B0502040204020203" charset="-122"/>
              </a:rPr>
              <a:t>fall</a:t>
            </a:r>
            <a:r>
              <a:rPr lang="zh-CN" altLang="en" sz="2400" dirty="0">
                <a:solidFill>
                  <a:srgbClr val="775480"/>
                </a:solidFill>
                <a:latin typeface="微软雅黑 Light" panose="020B0502040204020203" charset="-122"/>
                <a:ea typeface="微软雅黑 Light" panose="020B0502040204020203" charset="-122"/>
              </a:rPr>
              <a:t>）</a:t>
            </a:r>
            <a:r>
              <a:rPr lang="zh-CN" altLang="en-US" sz="2400" dirty="0">
                <a:solidFill>
                  <a:srgbClr val="775480"/>
                </a:solidFill>
                <a:latin typeface="微软雅黑 Light" panose="020B0502040204020203" charset="-122"/>
                <a:ea typeface="微软雅黑 Light" panose="020B0502040204020203" charset="-122"/>
              </a:rPr>
              <a:t>及跌倒类活动（如坐下、躺下）。</a:t>
            </a:r>
          </a:p>
        </p:txBody>
      </p:sp>
    </p:spTree>
    <p:custDataLst>
      <p:tags r:id="rId1"/>
    </p:custDataLst>
    <p:extLst>
      <p:ext uri="{BB962C8B-B14F-4D97-AF65-F5344CB8AC3E}">
        <p14:creationId xmlns:p14="http://schemas.microsoft.com/office/powerpoint/2010/main" val="3653030410"/>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7F758-F7EF-1C4A-837F-038C8441698E}"/>
            </a:ext>
          </a:extLst>
        </p:cNvPr>
        <p:cNvGrpSpPr/>
        <p:nvPr/>
      </p:nvGrpSpPr>
      <p:grpSpPr>
        <a:xfrm>
          <a:off x="0" y="0"/>
          <a:ext cx="0" cy="0"/>
          <a:chOff x="0" y="0"/>
          <a:chExt cx="0" cy="0"/>
        </a:xfrm>
      </p:grpSpPr>
      <p:sp>
        <p:nvSpPr>
          <p:cNvPr id="17" name="标题 1">
            <a:extLst>
              <a:ext uri="{FF2B5EF4-FFF2-40B4-BE49-F238E27FC236}">
                <a16:creationId xmlns:a16="http://schemas.microsoft.com/office/drawing/2014/main" id="{C6825576-ACA6-D476-9EBC-BF31E53F022F}"/>
              </a:ext>
            </a:extLst>
          </p:cNvPr>
          <p:cNvSpPr txBox="1"/>
          <p:nvPr>
            <p:custDataLst>
              <p:tags r:id="rId2"/>
            </p:custDataLst>
          </p:nvPr>
        </p:nvSpPr>
        <p:spPr>
          <a:xfrm>
            <a:off x="2637453" y="471462"/>
            <a:ext cx="5966162"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pPr lvl="2" algn="ctr"/>
            <a:r>
              <a:rPr lang="zh-CN" altLang="en-US" sz="3100" dirty="0">
                <a:solidFill>
                  <a:srgbClr val="694B71"/>
                </a:solidFill>
                <a:latin typeface="微软雅黑" panose="020B0503020204020204" pitchFamily="34" charset="-122"/>
                <a:ea typeface="微软雅黑" panose="020B0503020204020204" pitchFamily="34" charset="-122"/>
                <a:cs typeface="+mn-ea"/>
              </a:rPr>
              <a:t>小结</a:t>
            </a:r>
            <a:endParaRPr lang="zh-CN" altLang="zh-CN" sz="3100" dirty="0">
              <a:solidFill>
                <a:srgbClr val="694B71"/>
              </a:solidFill>
              <a:latin typeface="微软雅黑" panose="020B0503020204020204" pitchFamily="34" charset="-122"/>
              <a:ea typeface="微软雅黑" panose="020B0503020204020204" pitchFamily="34" charset="-122"/>
              <a:cs typeface="+mn-ea"/>
            </a:endParaRPr>
          </a:p>
        </p:txBody>
      </p:sp>
      <p:sp>
        <p:nvSpPr>
          <p:cNvPr id="20" name="矩形 19">
            <a:extLst>
              <a:ext uri="{FF2B5EF4-FFF2-40B4-BE49-F238E27FC236}">
                <a16:creationId xmlns:a16="http://schemas.microsoft.com/office/drawing/2014/main" id="{D9EDF4AA-0E4F-EC83-98E4-56118FDF8A2A}"/>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758A7582-CB2C-C590-726B-77F3C6E95127}"/>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94F78C00-0C33-E57B-9AF5-8D09F5FD1956}"/>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830FAE9A-5559-094F-FAD4-8280653B09BE}"/>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0A4B5E1B-1EF8-F3FE-7FDB-CF22D0C41701}"/>
              </a:ext>
            </a:extLst>
          </p:cNvPr>
          <p:cNvSpPr txBox="1"/>
          <p:nvPr/>
        </p:nvSpPr>
        <p:spPr>
          <a:xfrm>
            <a:off x="4049486" y="4963886"/>
            <a:ext cx="184731" cy="369332"/>
          </a:xfrm>
          <a:prstGeom prst="rect">
            <a:avLst/>
          </a:prstGeom>
          <a:noFill/>
        </p:spPr>
        <p:txBody>
          <a:bodyPr wrap="none" rtlCol="0">
            <a:spAutoFit/>
          </a:bodyPr>
          <a:lstStyle/>
          <a:p>
            <a:endParaRPr kumimoji="1" lang="zh-CN" altLang="en-US" dirty="0"/>
          </a:p>
        </p:txBody>
      </p:sp>
      <p:sp>
        <p:nvSpPr>
          <p:cNvPr id="6" name="文本框 5">
            <a:extLst>
              <a:ext uri="{FF2B5EF4-FFF2-40B4-BE49-F238E27FC236}">
                <a16:creationId xmlns:a16="http://schemas.microsoft.com/office/drawing/2014/main" id="{A6F4FF3C-8262-80AE-CB9B-37DB4C1D6F47}"/>
              </a:ext>
            </a:extLst>
          </p:cNvPr>
          <p:cNvSpPr txBox="1"/>
          <p:nvPr/>
        </p:nvSpPr>
        <p:spPr>
          <a:xfrm>
            <a:off x="413570" y="1720428"/>
            <a:ext cx="11364859" cy="3785652"/>
          </a:xfrm>
          <a:prstGeom prst="rect">
            <a:avLst/>
          </a:prstGeom>
          <a:noFill/>
        </p:spPr>
        <p:txBody>
          <a:bodyPr wrap="square">
            <a:spAutoFit/>
          </a:bodyPr>
          <a:lstStyle/>
          <a:p>
            <a:r>
              <a:rPr lang="zh-CN" altLang="en-US" sz="2400" dirty="0">
                <a:solidFill>
                  <a:srgbClr val="775480"/>
                </a:solidFill>
                <a:latin typeface="微软雅黑 Light" panose="020B0502040204020203" charset="-122"/>
                <a:ea typeface="微软雅黑 Light" panose="020B0502040204020203" charset="-122"/>
              </a:rPr>
              <a:t>但我们发现，一些“原地”活动也可能被误分为跌倒类活动，</a:t>
            </a:r>
            <a:br>
              <a:rPr lang="zh-CN" altLang="en-US" sz="2400" dirty="0">
                <a:solidFill>
                  <a:srgbClr val="775480"/>
                </a:solidFill>
                <a:latin typeface="微软雅黑 Light" panose="020B0502040204020203" charset="-122"/>
                <a:ea typeface="微软雅黑 Light" panose="020B0502040204020203" charset="-122"/>
              </a:rPr>
            </a:br>
            <a:r>
              <a:rPr lang="zh-CN" altLang="en-US" sz="2400" dirty="0">
                <a:solidFill>
                  <a:srgbClr val="775480"/>
                </a:solidFill>
                <a:latin typeface="微软雅黑 Light" panose="020B0502040204020203" charset="-122"/>
                <a:ea typeface="微软雅黑 Light" panose="020B0502040204020203" charset="-122"/>
              </a:rPr>
              <a:t>从而导致跌倒检测准确性下降。</a:t>
            </a:r>
          </a:p>
          <a:p>
            <a:r>
              <a:rPr lang="zh-CN" altLang="en-US" sz="2400" dirty="0">
                <a:solidFill>
                  <a:srgbClr val="775480"/>
                </a:solidFill>
                <a:latin typeface="微软雅黑 Light" panose="020B0502040204020203" charset="-122"/>
                <a:ea typeface="微软雅黑 Light" panose="020B0502040204020203" charset="-122"/>
              </a:rPr>
              <a:t>幸运的是，我们进一步发现：</a:t>
            </a:r>
          </a:p>
          <a:p>
            <a:r>
              <a:rPr lang="zh-CN" altLang="en-US" sz="2400" dirty="0">
                <a:solidFill>
                  <a:srgbClr val="775480"/>
                </a:solidFill>
                <a:latin typeface="微软雅黑 Light" panose="020B0502040204020203" charset="-122"/>
                <a:ea typeface="微软雅黑 Light" panose="020B0502040204020203" charset="-122"/>
              </a:rPr>
              <a:t>跌倒及跌倒类活动的功率谱特征会出现明显的高频→低频急剧衰减模式；</a:t>
            </a:r>
          </a:p>
          <a:p>
            <a:r>
              <a:rPr lang="zh-CN" altLang="en-US" sz="2400" dirty="0">
                <a:solidFill>
                  <a:srgbClr val="775480"/>
                </a:solidFill>
                <a:latin typeface="微软雅黑 Light" panose="020B0502040204020203" charset="-122"/>
                <a:ea typeface="微软雅黑 Light" panose="020B0502040204020203" charset="-122"/>
              </a:rPr>
              <a:t>而“原地”活动不会出现这种特征。</a:t>
            </a:r>
            <a:br>
              <a:rPr lang="zh-CN" altLang="en-US" sz="2400" dirty="0">
                <a:solidFill>
                  <a:srgbClr val="775480"/>
                </a:solidFill>
                <a:latin typeface="微软雅黑 Light" panose="020B0502040204020203" charset="-122"/>
                <a:ea typeface="微软雅黑 Light" panose="020B0502040204020203" charset="-122"/>
              </a:rPr>
            </a:br>
            <a:r>
              <a:rPr lang="zh-CN" altLang="en-US" sz="2400" dirty="0">
                <a:solidFill>
                  <a:srgbClr val="775480"/>
                </a:solidFill>
                <a:latin typeface="微软雅黑 Light" panose="020B0502040204020203" charset="-122"/>
                <a:ea typeface="微软雅黑 Light" panose="020B0502040204020203" charset="-122"/>
              </a:rPr>
              <a:t>此外，跌倒与跌倒类活动之间的功率谱下降模式也存在明显差异。</a:t>
            </a:r>
          </a:p>
          <a:p>
            <a:r>
              <a:rPr lang="zh-CN" altLang="en-US" sz="2400" dirty="0">
                <a:solidFill>
                  <a:srgbClr val="775480"/>
                </a:solidFill>
                <a:latin typeface="微软雅黑 Light" panose="020B0502040204020203" charset="-122"/>
                <a:ea typeface="微软雅黑 Light" panose="020B0502040204020203" charset="-122"/>
              </a:rPr>
              <a:t>因此，通过结合 </a:t>
            </a:r>
            <a:r>
              <a:rPr lang="en" altLang="zh-CN" sz="2400" dirty="0">
                <a:solidFill>
                  <a:srgbClr val="775480"/>
                </a:solidFill>
                <a:latin typeface="微软雅黑 Light" panose="020B0502040204020203" charset="-122"/>
                <a:ea typeface="微软雅黑 Light" panose="020B0502040204020203" charset="-122"/>
              </a:rPr>
              <a:t>CSI </a:t>
            </a:r>
            <a:r>
              <a:rPr lang="zh-CN" altLang="en-US" sz="2400" dirty="0">
                <a:solidFill>
                  <a:srgbClr val="775480"/>
                </a:solidFill>
                <a:latin typeface="微软雅黑 Light" panose="020B0502040204020203" charset="-122"/>
                <a:ea typeface="微软雅黑 Light" panose="020B0502040204020203" charset="-122"/>
              </a:rPr>
              <a:t>相位差方差的状态转变与功率谱急剧衰减模式，</a:t>
            </a:r>
            <a:br>
              <a:rPr lang="zh-CN" altLang="en-US" sz="2400" dirty="0">
                <a:solidFill>
                  <a:srgbClr val="775480"/>
                </a:solidFill>
                <a:latin typeface="微软雅黑 Light" panose="020B0502040204020203" charset="-122"/>
                <a:ea typeface="微软雅黑 Light" panose="020B0502040204020203" charset="-122"/>
              </a:rPr>
            </a:br>
            <a:r>
              <a:rPr lang="zh-CN" altLang="en-US" sz="2400" dirty="0">
                <a:solidFill>
                  <a:srgbClr val="775480"/>
                </a:solidFill>
                <a:latin typeface="微软雅黑 Light" panose="020B0502040204020203" charset="-122"/>
                <a:ea typeface="微软雅黑 Light" panose="020B0502040204020203" charset="-122"/>
              </a:rPr>
              <a:t>我们不仅解决了“原地”活动带来的分割误判问题，</a:t>
            </a:r>
            <a:br>
              <a:rPr lang="zh-CN" altLang="en-US" sz="2400" dirty="0">
                <a:solidFill>
                  <a:srgbClr val="775480"/>
                </a:solidFill>
                <a:latin typeface="微软雅黑 Light" panose="020B0502040204020203" charset="-122"/>
                <a:ea typeface="微软雅黑 Light" panose="020B0502040204020203" charset="-122"/>
              </a:rPr>
            </a:br>
            <a:r>
              <a:rPr lang="zh-CN" altLang="en-US" sz="2400" dirty="0">
                <a:solidFill>
                  <a:srgbClr val="775480"/>
                </a:solidFill>
                <a:latin typeface="微软雅黑 Light" panose="020B0502040204020203" charset="-122"/>
                <a:ea typeface="微软雅黑 Light" panose="020B0502040204020203" charset="-122"/>
              </a:rPr>
              <a:t>还为更精确的跌倒检测提供了新的判别依据。</a:t>
            </a:r>
          </a:p>
          <a:p>
            <a:endParaRPr lang="zh-CN" altLang="en-US" sz="2400" dirty="0">
              <a:solidFill>
                <a:srgbClr val="775480"/>
              </a:solidFill>
              <a:latin typeface="微软雅黑 Light" panose="020B0502040204020203" charset="-122"/>
              <a:ea typeface="微软雅黑 Light" panose="020B0502040204020203" charset="-122"/>
            </a:endParaRPr>
          </a:p>
        </p:txBody>
      </p:sp>
    </p:spTree>
    <p:custDataLst>
      <p:tags r:id="rId1"/>
    </p:custDataLst>
    <p:extLst>
      <p:ext uri="{BB962C8B-B14F-4D97-AF65-F5344CB8AC3E}">
        <p14:creationId xmlns:p14="http://schemas.microsoft.com/office/powerpoint/2010/main" val="161110587"/>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80000"/>
            <a:lum/>
          </a:blip>
          <a:srcRect/>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635" y="2031365"/>
            <a:ext cx="12192000" cy="2795905"/>
          </a:xfrm>
          <a:prstGeom prst="rect">
            <a:avLst/>
          </a:prstGeom>
          <a:solidFill>
            <a:schemeClr val="bg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4080064" y="2882130"/>
            <a:ext cx="4031873" cy="1015663"/>
          </a:xfrm>
          <a:prstGeom prst="rect">
            <a:avLst/>
          </a:prstGeom>
          <a:noFill/>
        </p:spPr>
        <p:txBody>
          <a:bodyPr wrap="none" rtlCol="0">
            <a:spAutoFit/>
          </a:bodyPr>
          <a:lstStyle/>
          <a:p>
            <a:r>
              <a:rPr lang="zh-CN" altLang="en-US" sz="6000" dirty="0">
                <a:solidFill>
                  <a:srgbClr val="694B71"/>
                </a:solidFill>
                <a:latin typeface="微软雅黑" panose="020B0503020204020204" pitchFamily="34" charset="-122"/>
                <a:ea typeface="微软雅黑" panose="020B0503020204020204" pitchFamily="34" charset="-122"/>
              </a:rPr>
              <a:t>框架与方法</a:t>
            </a:r>
          </a:p>
        </p:txBody>
      </p:sp>
      <p:grpSp>
        <p:nvGrpSpPr>
          <p:cNvPr id="12" name="组合 11"/>
          <p:cNvGrpSpPr/>
          <p:nvPr/>
        </p:nvGrpSpPr>
        <p:grpSpPr>
          <a:xfrm>
            <a:off x="5555048" y="1471295"/>
            <a:ext cx="1080000" cy="1080000"/>
            <a:chOff x="8049" y="2049"/>
            <a:chExt cx="1701" cy="1701"/>
          </a:xfrm>
        </p:grpSpPr>
        <p:sp>
          <p:nvSpPr>
            <p:cNvPr id="10" name="椭圆 9"/>
            <p:cNvSpPr/>
            <p:nvPr/>
          </p:nvSpPr>
          <p:spPr>
            <a:xfrm>
              <a:off x="8049" y="2049"/>
              <a:ext cx="1701" cy="1701"/>
            </a:xfrm>
            <a:prstGeom prst="ellipse">
              <a:avLst/>
            </a:prstGeom>
            <a:solidFill>
              <a:srgbClr val="BA9FC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8380" y="2440"/>
              <a:ext cx="1048" cy="921"/>
            </a:xfrm>
            <a:prstGeom prst="rect">
              <a:avLst/>
            </a:prstGeom>
            <a:noFill/>
          </p:spPr>
          <p:txBody>
            <a:bodyPr wrap="non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rPr>
                <a:t>04</a:t>
              </a:r>
            </a:p>
          </p:txBody>
        </p:sp>
      </p:grpSp>
    </p:spTree>
    <p:custDataLst>
      <p:tags r:id="rId1"/>
    </p:custDataLst>
    <p:extLst>
      <p:ext uri="{BB962C8B-B14F-4D97-AF65-F5344CB8AC3E}">
        <p14:creationId xmlns:p14="http://schemas.microsoft.com/office/powerpoint/2010/main" val="1323802892"/>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93745758-2093-4A80-A568-3341D600E56A}"/>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框架与方法</a:t>
            </a:r>
          </a:p>
        </p:txBody>
      </p:sp>
      <p:sp>
        <p:nvSpPr>
          <p:cNvPr id="9" name="文本框 8">
            <a:extLst>
              <a:ext uri="{FF2B5EF4-FFF2-40B4-BE49-F238E27FC236}">
                <a16:creationId xmlns:a16="http://schemas.microsoft.com/office/drawing/2014/main" id="{E656B8A2-B379-4540-B414-3D9BC66D29E8}"/>
              </a:ext>
            </a:extLst>
          </p:cNvPr>
          <p:cNvSpPr txBox="1"/>
          <p:nvPr/>
        </p:nvSpPr>
        <p:spPr>
          <a:xfrm>
            <a:off x="285588" y="1222932"/>
            <a:ext cx="6096000" cy="461665"/>
          </a:xfrm>
          <a:prstGeom prst="rect">
            <a:avLst/>
          </a:prstGeom>
          <a:noFill/>
        </p:spPr>
        <p:txBody>
          <a:bodyPr wrap="square">
            <a:spAutoFit/>
          </a:bodyPr>
          <a:lstStyle/>
          <a:p>
            <a:pPr algn="l"/>
            <a:r>
              <a:rPr lang="en-US" altLang="zh-CN" sz="2400" b="1" i="0" dirty="0">
                <a:solidFill>
                  <a:srgbClr val="000000"/>
                </a:solidFill>
                <a:effectLst/>
                <a:latin typeface="Helvetica Neue"/>
              </a:rPr>
              <a:t>RT-Fall</a:t>
            </a:r>
            <a:r>
              <a:rPr lang="zh-CN" altLang="en-US" sz="2400" b="1" i="0" dirty="0">
                <a:solidFill>
                  <a:srgbClr val="000000"/>
                </a:solidFill>
                <a:effectLst/>
                <a:latin typeface="Helvetica Neue"/>
              </a:rPr>
              <a:t>系统概述</a:t>
            </a:r>
          </a:p>
        </p:txBody>
      </p:sp>
      <p:sp>
        <p:nvSpPr>
          <p:cNvPr id="10" name="文本框 9">
            <a:extLst>
              <a:ext uri="{FF2B5EF4-FFF2-40B4-BE49-F238E27FC236}">
                <a16:creationId xmlns:a16="http://schemas.microsoft.com/office/drawing/2014/main" id="{93EFC558-8A6C-4C0C-B420-9C6DE103E03B}"/>
              </a:ext>
            </a:extLst>
          </p:cNvPr>
          <p:cNvSpPr txBox="1"/>
          <p:nvPr/>
        </p:nvSpPr>
        <p:spPr>
          <a:xfrm>
            <a:off x="7508756" y="1706726"/>
            <a:ext cx="4204175" cy="3970318"/>
          </a:xfrm>
          <a:prstGeom prst="rect">
            <a:avLst/>
          </a:prstGeom>
          <a:noFill/>
          <a:ln w="28575">
            <a:solidFill>
              <a:srgbClr val="00B050"/>
            </a:solidFill>
            <a:prstDash val="dash"/>
          </a:ln>
        </p:spPr>
        <p:txBody>
          <a:bodyPr wrap="square">
            <a:spAutoFit/>
          </a:bodyPr>
          <a:lstStyle/>
          <a:p>
            <a:r>
              <a:rPr lang="zh-CN" altLang="en-US" b="0" i="0" dirty="0">
                <a:solidFill>
                  <a:srgbClr val="333333"/>
                </a:solidFill>
                <a:effectLst/>
                <a:latin typeface="Helvetica Neue"/>
              </a:rPr>
              <a:t>系统以</a:t>
            </a:r>
            <a:r>
              <a:rPr lang="en-US" altLang="zh-CN" b="0" i="0" dirty="0">
                <a:solidFill>
                  <a:srgbClr val="FF0000"/>
                </a:solidFill>
                <a:effectLst/>
                <a:latin typeface="Helvetica Neue"/>
              </a:rPr>
              <a:t>CSI</a:t>
            </a:r>
            <a:r>
              <a:rPr lang="zh-CN" altLang="en-US" b="0" i="0" dirty="0">
                <a:solidFill>
                  <a:srgbClr val="FF0000"/>
                </a:solidFill>
                <a:effectLst/>
                <a:latin typeface="Helvetica Neue"/>
              </a:rPr>
              <a:t>信号流作为输入</a:t>
            </a:r>
            <a:r>
              <a:rPr lang="zh-CN" altLang="en-US" b="0" i="0" dirty="0">
                <a:solidFill>
                  <a:srgbClr val="333333"/>
                </a:solidFill>
                <a:effectLst/>
                <a:latin typeface="Helvetica Neue"/>
              </a:rPr>
              <a:t>，这些信号流由商用</a:t>
            </a:r>
            <a:r>
              <a:rPr lang="en-US" altLang="zh-CN" b="0" i="0" dirty="0" err="1">
                <a:solidFill>
                  <a:srgbClr val="333333"/>
                </a:solidFill>
                <a:effectLst/>
                <a:latin typeface="Helvetica Neue"/>
              </a:rPr>
              <a:t>WiFi</a:t>
            </a:r>
            <a:r>
              <a:rPr lang="zh-CN" altLang="en-US" b="0" i="0" dirty="0">
                <a:solidFill>
                  <a:srgbClr val="333333"/>
                </a:solidFill>
                <a:effectLst/>
                <a:latin typeface="Helvetica Neue"/>
              </a:rPr>
              <a:t>设备（如</a:t>
            </a:r>
            <a:r>
              <a:rPr lang="en-US" altLang="zh-CN" b="0" i="0" dirty="0">
                <a:solidFill>
                  <a:srgbClr val="333333"/>
                </a:solidFill>
                <a:effectLst/>
                <a:latin typeface="Helvetica Neue"/>
              </a:rPr>
              <a:t>Intel 5300</a:t>
            </a:r>
            <a:r>
              <a:rPr lang="zh-CN" altLang="en-US" b="0" i="0" dirty="0">
                <a:solidFill>
                  <a:srgbClr val="333333"/>
                </a:solidFill>
                <a:effectLst/>
                <a:latin typeface="Helvetica Neue"/>
              </a:rPr>
              <a:t>网卡）的两根接收天线采集。</a:t>
            </a:r>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a:p>
            <a:r>
              <a:rPr lang="zh-CN" altLang="en-US" b="0" i="0" dirty="0">
                <a:solidFill>
                  <a:srgbClr val="333333"/>
                </a:solidFill>
                <a:effectLst/>
                <a:latin typeface="Helvetica Neue"/>
              </a:rPr>
              <a:t>每个</a:t>
            </a:r>
            <a:r>
              <a:rPr lang="en-US" altLang="zh-CN" b="0" i="0" dirty="0">
                <a:solidFill>
                  <a:srgbClr val="333333"/>
                </a:solidFill>
                <a:effectLst/>
                <a:latin typeface="Helvetica Neue"/>
              </a:rPr>
              <a:t>CSI</a:t>
            </a:r>
            <a:r>
              <a:rPr lang="zh-CN" altLang="en-US" b="0" i="0" dirty="0">
                <a:solidFill>
                  <a:srgbClr val="333333"/>
                </a:solidFill>
                <a:effectLst/>
                <a:latin typeface="Helvetica Neue"/>
              </a:rPr>
              <a:t>信号流包含一个无线流中</a:t>
            </a:r>
            <a:r>
              <a:rPr lang="en-US" altLang="zh-CN" b="0" i="0" dirty="0">
                <a:solidFill>
                  <a:srgbClr val="333333"/>
                </a:solidFill>
                <a:effectLst/>
                <a:latin typeface="Helvetica Neue"/>
              </a:rPr>
              <a:t>30</a:t>
            </a:r>
            <a:r>
              <a:rPr lang="zh-CN" altLang="en-US" b="0" i="0" dirty="0">
                <a:solidFill>
                  <a:srgbClr val="333333"/>
                </a:solidFill>
                <a:effectLst/>
                <a:latin typeface="Helvetica Neue"/>
              </a:rPr>
              <a:t>个子载波的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读数，</a:t>
            </a:r>
            <a:endParaRPr lang="en-US" altLang="zh-CN" b="0" i="0" dirty="0">
              <a:solidFill>
                <a:srgbClr val="333333"/>
              </a:solidFill>
              <a:effectLst/>
              <a:latin typeface="Helvetica Neue"/>
            </a:endParaRPr>
          </a:p>
          <a:p>
            <a:endParaRPr lang="en-US" altLang="zh-CN" b="0" i="0" dirty="0">
              <a:solidFill>
                <a:srgbClr val="333333"/>
              </a:solidFill>
              <a:effectLst/>
              <a:latin typeface="Helvetica Neue"/>
            </a:endParaRPr>
          </a:p>
          <a:p>
            <a:r>
              <a:rPr lang="zh-CN" altLang="en-US" b="0" i="0" dirty="0">
                <a:solidFill>
                  <a:srgbClr val="333333"/>
                </a:solidFill>
                <a:effectLst/>
                <a:latin typeface="Helvetica Neue"/>
              </a:rPr>
              <a:t>在实验中，</a:t>
            </a:r>
            <a:r>
              <a:rPr lang="zh-CN" altLang="en-US" b="0" i="0" dirty="0">
                <a:solidFill>
                  <a:srgbClr val="FF0000"/>
                </a:solidFill>
                <a:effectLst/>
                <a:latin typeface="Helvetica Neue"/>
              </a:rPr>
              <a:t>发射端使用</a:t>
            </a:r>
            <a:r>
              <a:rPr lang="en-US" altLang="zh-CN" b="0" i="0" dirty="0">
                <a:solidFill>
                  <a:srgbClr val="FF0000"/>
                </a:solidFill>
                <a:effectLst/>
                <a:latin typeface="Helvetica Neue"/>
              </a:rPr>
              <a:t>1</a:t>
            </a:r>
            <a:r>
              <a:rPr lang="zh-CN" altLang="en-US" b="0" i="0" dirty="0">
                <a:solidFill>
                  <a:srgbClr val="FF0000"/>
                </a:solidFill>
                <a:effectLst/>
                <a:latin typeface="Helvetica Neue"/>
              </a:rPr>
              <a:t>根天线、接收端使用</a:t>
            </a:r>
            <a:r>
              <a:rPr lang="en-US" altLang="zh-CN" b="0" i="0" dirty="0">
                <a:solidFill>
                  <a:srgbClr val="FF0000"/>
                </a:solidFill>
                <a:effectLst/>
                <a:latin typeface="Helvetica Neue"/>
              </a:rPr>
              <a:t>2</a:t>
            </a:r>
            <a:r>
              <a:rPr lang="zh-CN" altLang="en-US" b="0" i="0" dirty="0">
                <a:solidFill>
                  <a:srgbClr val="FF0000"/>
                </a:solidFill>
                <a:effectLst/>
                <a:latin typeface="Helvetica Neue"/>
              </a:rPr>
              <a:t>根天线</a:t>
            </a:r>
            <a:r>
              <a:rPr lang="zh-CN" altLang="en-US" b="0" i="0" dirty="0">
                <a:solidFill>
                  <a:srgbClr val="333333"/>
                </a:solidFill>
                <a:effectLst/>
                <a:latin typeface="Helvetica Neue"/>
              </a:rPr>
              <a:t>，因此共采集两个</a:t>
            </a:r>
            <a:r>
              <a:rPr lang="en-US" altLang="zh-CN" b="0" i="0" dirty="0">
                <a:solidFill>
                  <a:srgbClr val="333333"/>
                </a:solidFill>
                <a:effectLst/>
                <a:latin typeface="Helvetica Neue"/>
              </a:rPr>
              <a:t>CSI</a:t>
            </a:r>
            <a:r>
              <a:rPr lang="zh-CN" altLang="en-US" b="0" i="0" dirty="0">
                <a:solidFill>
                  <a:srgbClr val="333333"/>
                </a:solidFill>
                <a:effectLst/>
                <a:latin typeface="Helvetica Neue"/>
              </a:rPr>
              <a:t>信号流</a:t>
            </a:r>
            <a:r>
              <a:rPr lang="zh-CN" altLang="en-US" dirty="0">
                <a:solidFill>
                  <a:srgbClr val="333333"/>
                </a:solidFill>
                <a:latin typeface="Helvetica Neue"/>
              </a:rPr>
              <a:t>（</a:t>
            </a:r>
            <a:r>
              <a:rPr lang="en-US" altLang="zh-CN" b="0" i="0" dirty="0">
                <a:solidFill>
                  <a:srgbClr val="333333"/>
                </a:solidFill>
                <a:effectLst/>
                <a:latin typeface="Helvetica Neue"/>
              </a:rPr>
              <a:t>CSI</a:t>
            </a:r>
            <a:r>
              <a:rPr lang="zh-CN" altLang="en-US" b="0" i="0" dirty="0">
                <a:solidFill>
                  <a:srgbClr val="333333"/>
                </a:solidFill>
                <a:effectLst/>
                <a:latin typeface="Helvetica Neue"/>
              </a:rPr>
              <a:t>的采样率设置为</a:t>
            </a:r>
            <a:r>
              <a:rPr lang="en-US" altLang="zh-CN" b="0" i="0" dirty="0">
                <a:solidFill>
                  <a:srgbClr val="333333"/>
                </a:solidFill>
                <a:effectLst/>
                <a:latin typeface="Helvetica Neue"/>
              </a:rPr>
              <a:t>100</a:t>
            </a:r>
            <a:r>
              <a:rPr lang="zh-CN" altLang="en-US" b="0" i="0" dirty="0">
                <a:solidFill>
                  <a:srgbClr val="333333"/>
                </a:solidFill>
                <a:effectLst/>
                <a:latin typeface="Helvetica Neue"/>
              </a:rPr>
              <a:t>包</a:t>
            </a:r>
            <a:r>
              <a:rPr lang="en-US" altLang="zh-CN" b="0" i="0" dirty="0">
                <a:solidFill>
                  <a:srgbClr val="333333"/>
                </a:solidFill>
                <a:effectLst/>
                <a:latin typeface="Helvetica Neue"/>
              </a:rPr>
              <a:t>/</a:t>
            </a:r>
            <a:r>
              <a:rPr lang="zh-CN" altLang="en-US" b="0" i="0" dirty="0">
                <a:solidFill>
                  <a:srgbClr val="333333"/>
                </a:solidFill>
                <a:effectLst/>
                <a:latin typeface="Helvetica Neue"/>
              </a:rPr>
              <a:t>秒）</a:t>
            </a:r>
            <a:endParaRPr lang="en-US" altLang="zh-CN" b="0" i="0" dirty="0">
              <a:solidFill>
                <a:srgbClr val="333333"/>
              </a:solidFill>
              <a:effectLst/>
              <a:latin typeface="Helvetica Neue"/>
            </a:endParaRPr>
          </a:p>
          <a:p>
            <a:endParaRPr lang="en-US" altLang="zh-CN" dirty="0">
              <a:solidFill>
                <a:srgbClr val="333333"/>
              </a:solidFill>
              <a:latin typeface="Helvetica Neue"/>
            </a:endParaRPr>
          </a:p>
          <a:p>
            <a:r>
              <a:rPr lang="zh-CN" altLang="en-US" b="0" i="0" dirty="0">
                <a:solidFill>
                  <a:srgbClr val="333333"/>
                </a:solidFill>
                <a:effectLst/>
                <a:latin typeface="Helvetica Neue"/>
              </a:rPr>
              <a:t>系统可利用这些链路中现有通信流量的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测量值；如果网络流量不足，系统也可生成周期性流量用于测量。</a:t>
            </a:r>
            <a:endParaRPr lang="zh-CN" altLang="en-US" dirty="0"/>
          </a:p>
        </p:txBody>
      </p:sp>
      <p:pic>
        <p:nvPicPr>
          <p:cNvPr id="11" name="图片 10">
            <a:extLst>
              <a:ext uri="{FF2B5EF4-FFF2-40B4-BE49-F238E27FC236}">
                <a16:creationId xmlns:a16="http://schemas.microsoft.com/office/drawing/2014/main" id="{FDE215AE-F35A-4B8A-B1B4-DCD0AA3DF222}"/>
              </a:ext>
            </a:extLst>
          </p:cNvPr>
          <p:cNvPicPr>
            <a:picLocks noChangeAspect="1"/>
          </p:cNvPicPr>
          <p:nvPr/>
        </p:nvPicPr>
        <p:blipFill>
          <a:blip r:embed="rId6"/>
          <a:stretch>
            <a:fillRect/>
          </a:stretch>
        </p:blipFill>
        <p:spPr>
          <a:xfrm>
            <a:off x="810520" y="1992495"/>
            <a:ext cx="6337626" cy="2063856"/>
          </a:xfrm>
          <a:prstGeom prst="rect">
            <a:avLst/>
          </a:prstGeom>
        </p:spPr>
      </p:pic>
      <p:sp>
        <p:nvSpPr>
          <p:cNvPr id="13" name="文本框 12">
            <a:extLst>
              <a:ext uri="{FF2B5EF4-FFF2-40B4-BE49-F238E27FC236}">
                <a16:creationId xmlns:a16="http://schemas.microsoft.com/office/drawing/2014/main" id="{52545F33-C89B-4D98-A20B-C961E7F38F73}"/>
              </a:ext>
            </a:extLst>
          </p:cNvPr>
          <p:cNvSpPr txBox="1"/>
          <p:nvPr/>
        </p:nvSpPr>
        <p:spPr>
          <a:xfrm>
            <a:off x="736015" y="4364249"/>
            <a:ext cx="1928284" cy="1754326"/>
          </a:xfrm>
          <a:prstGeom prst="rect">
            <a:avLst/>
          </a:prstGeom>
          <a:noFill/>
        </p:spPr>
        <p:txBody>
          <a:bodyPr wrap="square">
            <a:spAutoFit/>
          </a:bodyPr>
          <a:lstStyle/>
          <a:p>
            <a:r>
              <a:rPr lang="zh-CN" altLang="en-US" b="0" i="0" dirty="0">
                <a:solidFill>
                  <a:srgbClr val="333333"/>
                </a:solidFill>
                <a:effectLst/>
                <a:latin typeface="Helvetica Neue"/>
              </a:rPr>
              <a:t>处理</a:t>
            </a:r>
            <a:r>
              <a:rPr lang="en-US" altLang="zh-CN" b="0" i="0" dirty="0" err="1">
                <a:solidFill>
                  <a:srgbClr val="333333"/>
                </a:solidFill>
                <a:effectLst/>
                <a:latin typeface="Helvetica Neue"/>
              </a:rPr>
              <a:t>WiFi</a:t>
            </a:r>
            <a:r>
              <a:rPr lang="zh-CN" altLang="en-US" b="0" i="0" dirty="0">
                <a:solidFill>
                  <a:srgbClr val="333333"/>
                </a:solidFill>
                <a:effectLst/>
                <a:latin typeface="Helvetica Neue"/>
              </a:rPr>
              <a:t>突发传输导致的</a:t>
            </a:r>
            <a:r>
              <a:rPr lang="zh-CN" altLang="en-US" b="1" i="0" dirty="0">
                <a:solidFill>
                  <a:srgbClr val="FF0000"/>
                </a:solidFill>
                <a:effectLst/>
                <a:latin typeface="Helvetica Neue"/>
              </a:rPr>
              <a:t>数据包到达不均匀</a:t>
            </a:r>
            <a:r>
              <a:rPr lang="zh-CN" altLang="en-US" b="0" i="0" dirty="0">
                <a:solidFill>
                  <a:srgbClr val="333333"/>
                </a:solidFill>
                <a:effectLst/>
                <a:latin typeface="Helvetica Neue"/>
              </a:rPr>
              <a:t>问题，</a:t>
            </a:r>
            <a:r>
              <a:rPr lang="zh-CN" altLang="en-US" b="1" i="0" dirty="0">
                <a:solidFill>
                  <a:srgbClr val="FF0000"/>
                </a:solidFill>
                <a:effectLst/>
                <a:latin typeface="Helvetica Neue"/>
              </a:rPr>
              <a:t>过滤</a:t>
            </a:r>
            <a:r>
              <a:rPr lang="zh-CN" altLang="en-US" b="0" i="0" dirty="0">
                <a:solidFill>
                  <a:srgbClr val="333333"/>
                </a:solidFill>
                <a:effectLst/>
                <a:latin typeface="Helvetica Neue"/>
              </a:rPr>
              <a:t>对跌倒分割和检测无帮助的</a:t>
            </a:r>
            <a:r>
              <a:rPr lang="zh-CN" altLang="en-US" b="1" i="0" dirty="0">
                <a:solidFill>
                  <a:srgbClr val="FF0000"/>
                </a:solidFill>
                <a:effectLst/>
                <a:latin typeface="Helvetica Neue"/>
              </a:rPr>
              <a:t>信号噪声</a:t>
            </a:r>
            <a:r>
              <a:rPr lang="zh-CN" altLang="en-US" b="0" i="0" dirty="0">
                <a:solidFill>
                  <a:srgbClr val="333333"/>
                </a:solidFill>
                <a:effectLst/>
                <a:latin typeface="Helvetica Neue"/>
              </a:rPr>
              <a:t>。</a:t>
            </a:r>
            <a:endParaRPr lang="zh-CN" altLang="en-US" dirty="0"/>
          </a:p>
        </p:txBody>
      </p:sp>
      <p:sp>
        <p:nvSpPr>
          <p:cNvPr id="15" name="文本框 14">
            <a:extLst>
              <a:ext uri="{FF2B5EF4-FFF2-40B4-BE49-F238E27FC236}">
                <a16:creationId xmlns:a16="http://schemas.microsoft.com/office/drawing/2014/main" id="{A675523B-3AF1-45A1-83C3-78E6D16435A5}"/>
              </a:ext>
            </a:extLst>
          </p:cNvPr>
          <p:cNvSpPr txBox="1"/>
          <p:nvPr/>
        </p:nvSpPr>
        <p:spPr>
          <a:xfrm>
            <a:off x="3024909" y="4476715"/>
            <a:ext cx="1753161" cy="1200329"/>
          </a:xfrm>
          <a:prstGeom prst="rect">
            <a:avLst/>
          </a:prstGeom>
          <a:noFill/>
        </p:spPr>
        <p:txBody>
          <a:bodyPr wrap="square">
            <a:spAutoFit/>
          </a:bodyPr>
          <a:lstStyle/>
          <a:p>
            <a:r>
              <a:rPr lang="zh-CN" altLang="en-US" b="0" i="0" dirty="0">
                <a:solidFill>
                  <a:srgbClr val="333333"/>
                </a:solidFill>
                <a:effectLst/>
                <a:latin typeface="Helvetica Neue"/>
              </a:rPr>
              <a:t>从连续接收的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流中</a:t>
            </a:r>
            <a:r>
              <a:rPr lang="zh-CN" altLang="en-US" b="1" i="0" dirty="0">
                <a:solidFill>
                  <a:srgbClr val="FF0000"/>
                </a:solidFill>
                <a:effectLst/>
                <a:latin typeface="Helvetica Neue"/>
              </a:rPr>
              <a:t>分割出跌倒和类跌倒活动</a:t>
            </a:r>
            <a:endParaRPr lang="zh-CN" altLang="en-US" b="1" dirty="0">
              <a:solidFill>
                <a:srgbClr val="FF0000"/>
              </a:solidFill>
            </a:endParaRPr>
          </a:p>
        </p:txBody>
      </p:sp>
      <p:sp>
        <p:nvSpPr>
          <p:cNvPr id="17" name="文本框 16">
            <a:extLst>
              <a:ext uri="{FF2B5EF4-FFF2-40B4-BE49-F238E27FC236}">
                <a16:creationId xmlns:a16="http://schemas.microsoft.com/office/drawing/2014/main" id="{D4B4CD04-C47D-4D2D-825B-A8489A3537AC}"/>
              </a:ext>
            </a:extLst>
          </p:cNvPr>
          <p:cNvSpPr txBox="1"/>
          <p:nvPr/>
        </p:nvSpPr>
        <p:spPr>
          <a:xfrm>
            <a:off x="5449265" y="4657561"/>
            <a:ext cx="1598695" cy="646331"/>
          </a:xfrm>
          <a:prstGeom prst="rect">
            <a:avLst/>
          </a:prstGeom>
          <a:noFill/>
        </p:spPr>
        <p:txBody>
          <a:bodyPr wrap="square">
            <a:spAutoFit/>
          </a:bodyPr>
          <a:lstStyle/>
          <a:p>
            <a:r>
              <a:rPr lang="zh-CN" altLang="en-US" b="1" i="0" dirty="0">
                <a:solidFill>
                  <a:srgbClr val="FF0000"/>
                </a:solidFill>
                <a:effectLst/>
                <a:latin typeface="Helvetica Neue"/>
              </a:rPr>
              <a:t>将跌倒与类跌倒活动区分开。</a:t>
            </a:r>
            <a:endParaRPr lang="zh-CN" altLang="en-US" b="1" dirty="0">
              <a:solidFill>
                <a:srgbClr val="FF0000"/>
              </a:solidFill>
            </a:endParaRPr>
          </a:p>
        </p:txBody>
      </p:sp>
      <p:cxnSp>
        <p:nvCxnSpPr>
          <p:cNvPr id="12" name="直接箭头连接符 11">
            <a:extLst>
              <a:ext uri="{FF2B5EF4-FFF2-40B4-BE49-F238E27FC236}">
                <a16:creationId xmlns:a16="http://schemas.microsoft.com/office/drawing/2014/main" id="{DEE50EE7-5DCB-4A2E-B5D4-6A8A2E95F2E6}"/>
              </a:ext>
            </a:extLst>
          </p:cNvPr>
          <p:cNvCxnSpPr>
            <a:cxnSpLocks/>
            <a:endCxn id="13" idx="0"/>
          </p:cNvCxnSpPr>
          <p:nvPr/>
        </p:nvCxnSpPr>
        <p:spPr>
          <a:xfrm flipH="1">
            <a:off x="1700157" y="3581400"/>
            <a:ext cx="2" cy="782849"/>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a:extLst>
              <a:ext uri="{FF2B5EF4-FFF2-40B4-BE49-F238E27FC236}">
                <a16:creationId xmlns:a16="http://schemas.microsoft.com/office/drawing/2014/main" id="{92B914BF-03FE-4D5A-B55B-A0A0D3A93DAB}"/>
              </a:ext>
            </a:extLst>
          </p:cNvPr>
          <p:cNvCxnSpPr>
            <a:cxnSpLocks/>
          </p:cNvCxnSpPr>
          <p:nvPr/>
        </p:nvCxnSpPr>
        <p:spPr>
          <a:xfrm flipH="1">
            <a:off x="3901490" y="3581400"/>
            <a:ext cx="2" cy="782849"/>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9E3BB81A-513F-477D-BB13-7CFF72122D19}"/>
              </a:ext>
            </a:extLst>
          </p:cNvPr>
          <p:cNvCxnSpPr>
            <a:cxnSpLocks/>
          </p:cNvCxnSpPr>
          <p:nvPr/>
        </p:nvCxnSpPr>
        <p:spPr>
          <a:xfrm flipH="1">
            <a:off x="6102823" y="3581399"/>
            <a:ext cx="2" cy="782849"/>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943087015"/>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93745758-2093-4A80-A568-3341D600E56A}"/>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框架与方法</a:t>
            </a:r>
          </a:p>
        </p:txBody>
      </p:sp>
      <p:sp>
        <p:nvSpPr>
          <p:cNvPr id="8" name="文本框 7">
            <a:extLst>
              <a:ext uri="{FF2B5EF4-FFF2-40B4-BE49-F238E27FC236}">
                <a16:creationId xmlns:a16="http://schemas.microsoft.com/office/drawing/2014/main" id="{B00D64FB-7593-45ED-93E1-574FDB9AD995}"/>
              </a:ext>
            </a:extLst>
          </p:cNvPr>
          <p:cNvSpPr txBox="1"/>
          <p:nvPr/>
        </p:nvSpPr>
        <p:spPr>
          <a:xfrm>
            <a:off x="233632" y="1181216"/>
            <a:ext cx="2890568" cy="478251"/>
          </a:xfrm>
          <a:prstGeom prst="rect">
            <a:avLst/>
          </a:prstGeom>
          <a:noFill/>
        </p:spPr>
        <p:txBody>
          <a:bodyPr wrap="square">
            <a:spAutoFit/>
          </a:bodyPr>
          <a:lstStyle/>
          <a:p>
            <a:pPr algn="l"/>
            <a:r>
              <a:rPr lang="zh-CN" altLang="en-US" sz="2400" b="1" i="0" dirty="0">
                <a:solidFill>
                  <a:srgbClr val="000000"/>
                </a:solidFill>
                <a:effectLst/>
                <a:latin typeface="Helvetica Neue"/>
              </a:rPr>
              <a:t>信号预处理</a:t>
            </a:r>
          </a:p>
        </p:txBody>
      </p:sp>
      <p:sp>
        <p:nvSpPr>
          <p:cNvPr id="10" name="文本框 9">
            <a:extLst>
              <a:ext uri="{FF2B5EF4-FFF2-40B4-BE49-F238E27FC236}">
                <a16:creationId xmlns:a16="http://schemas.microsoft.com/office/drawing/2014/main" id="{FAB4C619-7C8A-4B36-ABE9-996FB3248C52}"/>
              </a:ext>
            </a:extLst>
          </p:cNvPr>
          <p:cNvSpPr txBox="1"/>
          <p:nvPr/>
        </p:nvSpPr>
        <p:spPr>
          <a:xfrm>
            <a:off x="2730557" y="5057638"/>
            <a:ext cx="3201881" cy="1200329"/>
          </a:xfrm>
          <a:prstGeom prst="rect">
            <a:avLst/>
          </a:prstGeom>
          <a:noFill/>
        </p:spPr>
        <p:txBody>
          <a:bodyPr wrap="square">
            <a:spAutoFit/>
          </a:bodyPr>
          <a:lstStyle/>
          <a:p>
            <a:pPr algn="l"/>
            <a:r>
              <a:rPr lang="zh-CN" altLang="en-US" b="0" i="0" dirty="0">
                <a:solidFill>
                  <a:srgbClr val="333333"/>
                </a:solidFill>
                <a:effectLst/>
                <a:latin typeface="Helvetica Neue"/>
              </a:rPr>
              <a:t>采用</a:t>
            </a:r>
            <a:r>
              <a:rPr lang="zh-CN" altLang="en-US" b="1" i="0" dirty="0">
                <a:solidFill>
                  <a:srgbClr val="FF0000"/>
                </a:solidFill>
                <a:effectLst/>
                <a:latin typeface="Helvetica Neue"/>
              </a:rPr>
              <a:t>一维线性插值（两点确定一条直线）</a:t>
            </a:r>
            <a:r>
              <a:rPr lang="zh-CN" altLang="en-US" b="0" i="0" dirty="0">
                <a:solidFill>
                  <a:srgbClr val="333333"/>
                </a:solidFill>
                <a:effectLst/>
                <a:latin typeface="Helvetica Neue"/>
              </a:rPr>
              <a:t>算法，对原始</a:t>
            </a:r>
            <a:r>
              <a:rPr lang="en-US" altLang="zh-CN" b="0" i="0" dirty="0">
                <a:solidFill>
                  <a:srgbClr val="333333"/>
                </a:solidFill>
                <a:effectLst/>
                <a:latin typeface="Helvetica Neue"/>
              </a:rPr>
              <a:t>CSI</a:t>
            </a:r>
            <a:r>
              <a:rPr lang="zh-CN" altLang="en-US" b="0" i="0" dirty="0">
                <a:solidFill>
                  <a:srgbClr val="333333"/>
                </a:solidFill>
                <a:effectLst/>
                <a:latin typeface="Helvetica Neue"/>
              </a:rPr>
              <a:t>读数进行处理，获得</a:t>
            </a:r>
            <a:r>
              <a:rPr lang="zh-CN" altLang="en-US" b="1" i="0" dirty="0">
                <a:solidFill>
                  <a:srgbClr val="FF0000"/>
                </a:solidFill>
                <a:effectLst/>
                <a:latin typeface="Helvetica Neue"/>
              </a:rPr>
              <a:t>均匀分布的样本。</a:t>
            </a:r>
          </a:p>
        </p:txBody>
      </p:sp>
      <p:sp>
        <p:nvSpPr>
          <p:cNvPr id="12" name="文本框 11">
            <a:extLst>
              <a:ext uri="{FF2B5EF4-FFF2-40B4-BE49-F238E27FC236}">
                <a16:creationId xmlns:a16="http://schemas.microsoft.com/office/drawing/2014/main" id="{86FF6D59-726D-4B84-99AA-CAA3C216AD6F}"/>
              </a:ext>
            </a:extLst>
          </p:cNvPr>
          <p:cNvSpPr txBox="1"/>
          <p:nvPr/>
        </p:nvSpPr>
        <p:spPr>
          <a:xfrm>
            <a:off x="233632" y="1654470"/>
            <a:ext cx="5698806" cy="369332"/>
          </a:xfrm>
          <a:prstGeom prst="rect">
            <a:avLst/>
          </a:prstGeom>
          <a:noFill/>
        </p:spPr>
        <p:txBody>
          <a:bodyPr wrap="square">
            <a:spAutoFit/>
          </a:bodyPr>
          <a:lstStyle/>
          <a:p>
            <a:pPr algn="l"/>
            <a:r>
              <a:rPr lang="zh-CN" altLang="en-US" b="1" i="0" dirty="0">
                <a:solidFill>
                  <a:srgbClr val="000000"/>
                </a:solidFill>
                <a:effectLst/>
                <a:latin typeface="Helvetica Neue"/>
              </a:rPr>
              <a:t>插值</a:t>
            </a:r>
          </a:p>
        </p:txBody>
      </p:sp>
      <p:sp>
        <p:nvSpPr>
          <p:cNvPr id="14" name="文本框 13">
            <a:extLst>
              <a:ext uri="{FF2B5EF4-FFF2-40B4-BE49-F238E27FC236}">
                <a16:creationId xmlns:a16="http://schemas.microsoft.com/office/drawing/2014/main" id="{358DB830-A85B-49DC-BCF0-16FB4B8BABDD}"/>
              </a:ext>
            </a:extLst>
          </p:cNvPr>
          <p:cNvSpPr txBox="1"/>
          <p:nvPr/>
        </p:nvSpPr>
        <p:spPr>
          <a:xfrm>
            <a:off x="221355" y="2226173"/>
            <a:ext cx="6281045" cy="923330"/>
          </a:xfrm>
          <a:prstGeom prst="rect">
            <a:avLst/>
          </a:prstGeom>
          <a:noFill/>
        </p:spPr>
        <p:txBody>
          <a:bodyPr wrap="square">
            <a:spAutoFit/>
          </a:bodyPr>
          <a:lstStyle/>
          <a:p>
            <a:r>
              <a:rPr lang="en-US" altLang="zh-CN" dirty="0" err="1">
                <a:solidFill>
                  <a:srgbClr val="333333"/>
                </a:solidFill>
                <a:latin typeface="Helvetica Neue"/>
              </a:rPr>
              <a:t>WiFi</a:t>
            </a:r>
            <a:r>
              <a:rPr lang="en-US" altLang="zh-CN" dirty="0">
                <a:solidFill>
                  <a:srgbClr val="333333"/>
                </a:solidFill>
                <a:latin typeface="Helvetica Neue"/>
              </a:rPr>
              <a:t> </a:t>
            </a:r>
            <a:r>
              <a:rPr lang="zh-CN" altLang="en-US" dirty="0">
                <a:solidFill>
                  <a:srgbClr val="333333"/>
                </a:solidFill>
                <a:latin typeface="Helvetica Neue"/>
              </a:rPr>
              <a:t>信道采用</a:t>
            </a:r>
            <a:r>
              <a:rPr lang="zh-CN" altLang="en-US" dirty="0">
                <a:solidFill>
                  <a:srgbClr val="FF0000"/>
                </a:solidFill>
                <a:latin typeface="Helvetica Neue"/>
              </a:rPr>
              <a:t>“多设备共享”随机接入</a:t>
            </a:r>
            <a:r>
              <a:rPr lang="zh-CN" altLang="en-US" dirty="0">
                <a:solidFill>
                  <a:srgbClr val="333333"/>
                </a:solidFill>
                <a:latin typeface="Helvetica Neue"/>
              </a:rPr>
              <a:t>机制，导致接收的 </a:t>
            </a:r>
            <a:r>
              <a:rPr lang="en-US" altLang="zh-CN" dirty="0">
                <a:solidFill>
                  <a:srgbClr val="333333"/>
                </a:solidFill>
                <a:latin typeface="Helvetica Neue"/>
              </a:rPr>
              <a:t>CSI </a:t>
            </a:r>
            <a:r>
              <a:rPr lang="zh-CN" altLang="en-US" dirty="0">
                <a:solidFill>
                  <a:srgbClr val="333333"/>
                </a:solidFill>
                <a:latin typeface="Helvetica Neue"/>
              </a:rPr>
              <a:t>数据包在</a:t>
            </a:r>
            <a:r>
              <a:rPr lang="zh-CN" altLang="en-US" dirty="0">
                <a:solidFill>
                  <a:srgbClr val="FF0000"/>
                </a:solidFill>
                <a:latin typeface="Helvetica Neue"/>
              </a:rPr>
              <a:t>时间上分布不均匀</a:t>
            </a:r>
            <a:r>
              <a:rPr lang="zh-CN" altLang="en-US" dirty="0">
                <a:solidFill>
                  <a:srgbClr val="333333"/>
                </a:solidFill>
                <a:latin typeface="Helvetica Neue"/>
              </a:rPr>
              <a:t>，直接影响后续跌倒检测，具体有两大问题：</a:t>
            </a:r>
          </a:p>
        </p:txBody>
      </p:sp>
      <p:sp>
        <p:nvSpPr>
          <p:cNvPr id="16" name="文本框 15">
            <a:extLst>
              <a:ext uri="{FF2B5EF4-FFF2-40B4-BE49-F238E27FC236}">
                <a16:creationId xmlns:a16="http://schemas.microsoft.com/office/drawing/2014/main" id="{0AE62D97-C14D-4546-A0F4-94ED389F7F16}"/>
              </a:ext>
            </a:extLst>
          </p:cNvPr>
          <p:cNvSpPr txBox="1"/>
          <p:nvPr/>
        </p:nvSpPr>
        <p:spPr>
          <a:xfrm>
            <a:off x="233632" y="3274444"/>
            <a:ext cx="5955501" cy="1477328"/>
          </a:xfrm>
          <a:prstGeom prst="rect">
            <a:avLst/>
          </a:prstGeom>
          <a:noFill/>
        </p:spPr>
        <p:txBody>
          <a:bodyPr wrap="square">
            <a:spAutoFit/>
          </a:bodyPr>
          <a:lstStyle/>
          <a:p>
            <a:r>
              <a:rPr lang="en-US" altLang="zh-CN" b="0" i="0" dirty="0">
                <a:solidFill>
                  <a:srgbClr val="333333"/>
                </a:solidFill>
                <a:effectLst/>
                <a:latin typeface="Helvetica Neue"/>
              </a:rPr>
              <a:t>1</a:t>
            </a:r>
            <a:r>
              <a:rPr lang="zh-CN" altLang="en-US" b="0" i="0" dirty="0">
                <a:solidFill>
                  <a:srgbClr val="333333"/>
                </a:solidFill>
                <a:effectLst/>
                <a:latin typeface="Helvetica Neue"/>
              </a:rPr>
              <a:t>）跌倒期间采集的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读数可能不连续，给特征提取带来困难；</a:t>
            </a:r>
            <a:endParaRPr lang="en-US" altLang="zh-CN" b="0" i="0" dirty="0">
              <a:solidFill>
                <a:srgbClr val="333333"/>
              </a:solidFill>
              <a:effectLst/>
              <a:latin typeface="Helvetica Neue"/>
            </a:endParaRPr>
          </a:p>
          <a:p>
            <a:endParaRPr lang="en-US" altLang="zh-CN" dirty="0">
              <a:solidFill>
                <a:srgbClr val="333333"/>
              </a:solidFill>
              <a:latin typeface="Helvetica Neue"/>
            </a:endParaRPr>
          </a:p>
          <a:p>
            <a:r>
              <a:rPr lang="en-US" altLang="zh-CN" b="0" i="0" dirty="0">
                <a:solidFill>
                  <a:srgbClr val="333333"/>
                </a:solidFill>
                <a:effectLst/>
                <a:latin typeface="Helvetica Neue"/>
              </a:rPr>
              <a:t>2</a:t>
            </a:r>
            <a:r>
              <a:rPr lang="zh-CN" altLang="en-US" b="0" i="0" dirty="0">
                <a:solidFill>
                  <a:srgbClr val="333333"/>
                </a:solidFill>
                <a:effectLst/>
                <a:latin typeface="Helvetica Neue"/>
              </a:rPr>
              <a:t>）时域中不均匀的样本会影响时频分析，无法获取准确的频谱图。</a:t>
            </a:r>
            <a:endParaRPr lang="zh-CN" altLang="en-US" dirty="0"/>
          </a:p>
        </p:txBody>
      </p:sp>
      <p:pic>
        <p:nvPicPr>
          <p:cNvPr id="6" name="图片 5">
            <a:extLst>
              <a:ext uri="{FF2B5EF4-FFF2-40B4-BE49-F238E27FC236}">
                <a16:creationId xmlns:a16="http://schemas.microsoft.com/office/drawing/2014/main" id="{4D55170E-2D23-473F-9C1D-3AA98AC8DD03}"/>
              </a:ext>
            </a:extLst>
          </p:cNvPr>
          <p:cNvPicPr>
            <a:picLocks noChangeAspect="1"/>
          </p:cNvPicPr>
          <p:nvPr/>
        </p:nvPicPr>
        <p:blipFill>
          <a:blip r:embed="rId6"/>
          <a:stretch>
            <a:fillRect/>
          </a:stretch>
        </p:blipFill>
        <p:spPr>
          <a:xfrm>
            <a:off x="847514" y="4876713"/>
            <a:ext cx="1658619" cy="1624700"/>
          </a:xfrm>
          <a:prstGeom prst="rect">
            <a:avLst/>
          </a:prstGeom>
        </p:spPr>
      </p:pic>
      <p:sp>
        <p:nvSpPr>
          <p:cNvPr id="24" name="文本框 23">
            <a:extLst>
              <a:ext uri="{FF2B5EF4-FFF2-40B4-BE49-F238E27FC236}">
                <a16:creationId xmlns:a16="http://schemas.microsoft.com/office/drawing/2014/main" id="{37FF2593-822D-4237-8837-BF8DCC6CB1EF}"/>
              </a:ext>
            </a:extLst>
          </p:cNvPr>
          <p:cNvSpPr txBox="1"/>
          <p:nvPr/>
        </p:nvSpPr>
        <p:spPr>
          <a:xfrm>
            <a:off x="905933" y="6445579"/>
            <a:ext cx="1998134" cy="369332"/>
          </a:xfrm>
          <a:prstGeom prst="rect">
            <a:avLst/>
          </a:prstGeom>
          <a:noFill/>
        </p:spPr>
        <p:txBody>
          <a:bodyPr wrap="square">
            <a:spAutoFit/>
          </a:bodyPr>
          <a:lstStyle/>
          <a:p>
            <a:r>
              <a:rPr lang="zh-CN" altLang="en-US" b="1" i="0" dirty="0">
                <a:effectLst/>
                <a:latin typeface="Helvetica Neue"/>
              </a:rPr>
              <a:t>一维线性插值</a:t>
            </a:r>
            <a:endParaRPr lang="zh-CN" altLang="en-US" b="1" dirty="0"/>
          </a:p>
        </p:txBody>
      </p:sp>
      <p:sp>
        <p:nvSpPr>
          <p:cNvPr id="25" name="文本框 24">
            <a:extLst>
              <a:ext uri="{FF2B5EF4-FFF2-40B4-BE49-F238E27FC236}">
                <a16:creationId xmlns:a16="http://schemas.microsoft.com/office/drawing/2014/main" id="{80FFBE3C-17A6-4B24-8C3D-D14D5C4E3C1E}"/>
              </a:ext>
            </a:extLst>
          </p:cNvPr>
          <p:cNvSpPr txBox="1"/>
          <p:nvPr/>
        </p:nvSpPr>
        <p:spPr>
          <a:xfrm>
            <a:off x="6787630" y="1654470"/>
            <a:ext cx="7196666" cy="369332"/>
          </a:xfrm>
          <a:prstGeom prst="rect">
            <a:avLst/>
          </a:prstGeom>
          <a:noFill/>
        </p:spPr>
        <p:txBody>
          <a:bodyPr wrap="square">
            <a:spAutoFit/>
          </a:bodyPr>
          <a:lstStyle/>
          <a:p>
            <a:pPr algn="l"/>
            <a:r>
              <a:rPr lang="zh-CN" altLang="en-US" b="1" i="0" dirty="0">
                <a:solidFill>
                  <a:srgbClr val="000000"/>
                </a:solidFill>
                <a:effectLst/>
                <a:latin typeface="Helvetica Neue"/>
              </a:rPr>
              <a:t>带通滤波</a:t>
            </a:r>
          </a:p>
        </p:txBody>
      </p:sp>
      <p:pic>
        <p:nvPicPr>
          <p:cNvPr id="18" name="图片 17">
            <a:extLst>
              <a:ext uri="{FF2B5EF4-FFF2-40B4-BE49-F238E27FC236}">
                <a16:creationId xmlns:a16="http://schemas.microsoft.com/office/drawing/2014/main" id="{3CF28657-639C-4FB0-9F53-B37D3F3FBD7A}"/>
              </a:ext>
            </a:extLst>
          </p:cNvPr>
          <p:cNvPicPr>
            <a:picLocks noChangeAspect="1"/>
          </p:cNvPicPr>
          <p:nvPr/>
        </p:nvPicPr>
        <p:blipFill>
          <a:blip r:embed="rId7"/>
          <a:stretch>
            <a:fillRect/>
          </a:stretch>
        </p:blipFill>
        <p:spPr>
          <a:xfrm>
            <a:off x="7084073" y="2990584"/>
            <a:ext cx="4436339" cy="1331441"/>
          </a:xfrm>
          <a:prstGeom prst="rect">
            <a:avLst/>
          </a:prstGeom>
        </p:spPr>
      </p:pic>
      <p:sp>
        <p:nvSpPr>
          <p:cNvPr id="26" name="文本框 25">
            <a:extLst>
              <a:ext uri="{FF2B5EF4-FFF2-40B4-BE49-F238E27FC236}">
                <a16:creationId xmlns:a16="http://schemas.microsoft.com/office/drawing/2014/main" id="{879B7B35-8305-4264-B425-172E02C51D1C}"/>
              </a:ext>
            </a:extLst>
          </p:cNvPr>
          <p:cNvSpPr txBox="1"/>
          <p:nvPr/>
        </p:nvSpPr>
        <p:spPr>
          <a:xfrm>
            <a:off x="6788305" y="2182969"/>
            <a:ext cx="5182340" cy="646331"/>
          </a:xfrm>
          <a:prstGeom prst="rect">
            <a:avLst/>
          </a:prstGeom>
          <a:noFill/>
        </p:spPr>
        <p:txBody>
          <a:bodyPr wrap="square">
            <a:spAutoFit/>
          </a:bodyPr>
          <a:lstStyle/>
          <a:p>
            <a:r>
              <a:rPr lang="zh-CN" altLang="en-US" b="0" i="0" dirty="0">
                <a:solidFill>
                  <a:srgbClr val="333333"/>
                </a:solidFill>
                <a:effectLst/>
                <a:latin typeface="Helvetica Neue"/>
              </a:rPr>
              <a:t>插值后的</a:t>
            </a:r>
            <a:r>
              <a:rPr lang="en-US" altLang="zh-CN" b="0" i="0" dirty="0">
                <a:solidFill>
                  <a:srgbClr val="333333"/>
                </a:solidFill>
                <a:effectLst/>
                <a:latin typeface="Helvetica Neue"/>
              </a:rPr>
              <a:t>CSI</a:t>
            </a:r>
            <a:r>
              <a:rPr lang="zh-CN" altLang="en-US" b="0" i="0" dirty="0">
                <a:solidFill>
                  <a:srgbClr val="333333"/>
                </a:solidFill>
                <a:effectLst/>
                <a:latin typeface="Helvetica Neue"/>
              </a:rPr>
              <a:t>信号流会被输入</a:t>
            </a:r>
            <a:r>
              <a:rPr lang="zh-CN" altLang="en-US" b="1" i="0" dirty="0">
                <a:solidFill>
                  <a:srgbClr val="333333"/>
                </a:solidFill>
                <a:effectLst/>
                <a:latin typeface="Helvetica Neue"/>
              </a:rPr>
              <a:t>带通滤波器</a:t>
            </a:r>
            <a:r>
              <a:rPr lang="zh-CN" altLang="en-US" b="0" i="0" dirty="0">
                <a:solidFill>
                  <a:srgbClr val="333333"/>
                </a:solidFill>
                <a:effectLst/>
                <a:latin typeface="Helvetica Neue"/>
              </a:rPr>
              <a:t>，以进一步</a:t>
            </a:r>
            <a:r>
              <a:rPr lang="zh-CN" altLang="en-US" b="1" i="0" dirty="0">
                <a:solidFill>
                  <a:srgbClr val="FF0000"/>
                </a:solidFill>
                <a:effectLst/>
                <a:latin typeface="Helvetica Neue"/>
              </a:rPr>
              <a:t>滤除无关的信号频率成分</a:t>
            </a:r>
            <a:r>
              <a:rPr lang="zh-CN" altLang="en-US" b="0" i="0" dirty="0">
                <a:solidFill>
                  <a:srgbClr val="333333"/>
                </a:solidFill>
                <a:effectLst/>
                <a:latin typeface="Helvetica Neue"/>
              </a:rPr>
              <a:t>。</a:t>
            </a:r>
            <a:endParaRPr lang="zh-CN" altLang="en-US" dirty="0"/>
          </a:p>
        </p:txBody>
      </p:sp>
      <p:sp>
        <p:nvSpPr>
          <p:cNvPr id="28" name="文本框 27">
            <a:extLst>
              <a:ext uri="{FF2B5EF4-FFF2-40B4-BE49-F238E27FC236}">
                <a16:creationId xmlns:a16="http://schemas.microsoft.com/office/drawing/2014/main" id="{FA0950FF-00FF-45A4-AA9F-56139D804034}"/>
              </a:ext>
            </a:extLst>
          </p:cNvPr>
          <p:cNvSpPr txBox="1"/>
          <p:nvPr/>
        </p:nvSpPr>
        <p:spPr>
          <a:xfrm>
            <a:off x="6787630" y="4351865"/>
            <a:ext cx="5105782" cy="1499342"/>
          </a:xfrm>
          <a:prstGeom prst="rect">
            <a:avLst/>
          </a:prstGeom>
          <a:noFill/>
        </p:spPr>
        <p:txBody>
          <a:bodyPr wrap="square">
            <a:spAutoFit/>
          </a:bodyPr>
          <a:lstStyle/>
          <a:p>
            <a:pPr algn="l"/>
            <a:r>
              <a:rPr lang="zh-CN" altLang="en-US" b="1" dirty="0">
                <a:solidFill>
                  <a:srgbClr val="333333"/>
                </a:solidFill>
                <a:latin typeface="Helvetica Neue"/>
              </a:rPr>
              <a:t>干扰活动（呼吸、轻微移动）</a:t>
            </a:r>
            <a:r>
              <a:rPr lang="zh-CN" altLang="en-US" dirty="0">
                <a:solidFill>
                  <a:srgbClr val="333333"/>
                </a:solidFill>
                <a:latin typeface="Helvetica Neue"/>
              </a:rPr>
              <a:t>速度远低于跌倒，信号频率低</a:t>
            </a:r>
            <a:endParaRPr lang="en-US" altLang="zh-CN" dirty="0">
              <a:solidFill>
                <a:srgbClr val="333333"/>
              </a:solidFill>
              <a:latin typeface="Helvetica Neue"/>
            </a:endParaRPr>
          </a:p>
          <a:p>
            <a:pPr algn="l"/>
            <a:endParaRPr lang="en-US" altLang="zh-CN" dirty="0">
              <a:solidFill>
                <a:srgbClr val="000000"/>
              </a:solidFill>
              <a:latin typeface="Inter"/>
            </a:endParaRPr>
          </a:p>
          <a:p>
            <a:pPr algn="l"/>
            <a:r>
              <a:rPr lang="zh-CN" altLang="en-US" dirty="0">
                <a:solidFill>
                  <a:srgbClr val="333333"/>
                </a:solidFill>
                <a:latin typeface="Helvetica Neue"/>
              </a:rPr>
              <a:t>实验验证：</a:t>
            </a:r>
            <a:r>
              <a:rPr lang="en-US" altLang="zh-CN" b="1" dirty="0">
                <a:solidFill>
                  <a:srgbClr val="FF0000"/>
                </a:solidFill>
                <a:latin typeface="Helvetica Neue"/>
              </a:rPr>
              <a:t>[5, 10 Hz] </a:t>
            </a:r>
            <a:r>
              <a:rPr lang="zh-CN" altLang="en-US" dirty="0">
                <a:solidFill>
                  <a:srgbClr val="333333"/>
                </a:solidFill>
                <a:latin typeface="Helvetica Neue"/>
              </a:rPr>
              <a:t>频率范围能最精准地表征</a:t>
            </a:r>
            <a:r>
              <a:rPr lang="zh-CN" altLang="en-US" b="1" dirty="0">
                <a:solidFill>
                  <a:srgbClr val="FF0000"/>
                </a:solidFill>
                <a:latin typeface="Helvetica Neue"/>
              </a:rPr>
              <a:t>跌倒 </a:t>
            </a:r>
            <a:r>
              <a:rPr lang="en-US" altLang="zh-CN" b="1" dirty="0">
                <a:solidFill>
                  <a:srgbClr val="FF0000"/>
                </a:solidFill>
                <a:latin typeface="Helvetica Neue"/>
              </a:rPr>
              <a:t>/ </a:t>
            </a:r>
            <a:r>
              <a:rPr lang="zh-CN" altLang="en-US" b="1" dirty="0">
                <a:solidFill>
                  <a:srgbClr val="FF0000"/>
                </a:solidFill>
                <a:latin typeface="Helvetica Neue"/>
              </a:rPr>
              <a:t>类跌倒</a:t>
            </a:r>
            <a:r>
              <a:rPr lang="zh-CN" altLang="en-US" dirty="0">
                <a:solidFill>
                  <a:srgbClr val="333333"/>
                </a:solidFill>
                <a:latin typeface="Helvetica Neue"/>
              </a:rPr>
              <a:t>活动特征</a:t>
            </a:r>
          </a:p>
        </p:txBody>
      </p:sp>
      <p:cxnSp>
        <p:nvCxnSpPr>
          <p:cNvPr id="32" name="直接连接符 31">
            <a:extLst>
              <a:ext uri="{FF2B5EF4-FFF2-40B4-BE49-F238E27FC236}">
                <a16:creationId xmlns:a16="http://schemas.microsoft.com/office/drawing/2014/main" id="{09148BE7-90C5-409D-96F6-00AF0EFA9299}"/>
              </a:ext>
            </a:extLst>
          </p:cNvPr>
          <p:cNvCxnSpPr>
            <a:cxnSpLocks/>
          </p:cNvCxnSpPr>
          <p:nvPr/>
        </p:nvCxnSpPr>
        <p:spPr>
          <a:xfrm>
            <a:off x="6318354" y="1391285"/>
            <a:ext cx="0" cy="5423626"/>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482595620"/>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93745758-2093-4A80-A568-3341D600E56A}"/>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框架与方法</a:t>
            </a:r>
          </a:p>
        </p:txBody>
      </p:sp>
      <p:sp>
        <p:nvSpPr>
          <p:cNvPr id="8" name="文本框 7">
            <a:extLst>
              <a:ext uri="{FF2B5EF4-FFF2-40B4-BE49-F238E27FC236}">
                <a16:creationId xmlns:a16="http://schemas.microsoft.com/office/drawing/2014/main" id="{2B1C8FB3-0307-4B28-96D1-62A6C1C11084}"/>
              </a:ext>
            </a:extLst>
          </p:cNvPr>
          <p:cNvSpPr txBox="1"/>
          <p:nvPr/>
        </p:nvSpPr>
        <p:spPr>
          <a:xfrm>
            <a:off x="135467" y="1203231"/>
            <a:ext cx="6096000" cy="461665"/>
          </a:xfrm>
          <a:prstGeom prst="rect">
            <a:avLst/>
          </a:prstGeom>
          <a:noFill/>
        </p:spPr>
        <p:txBody>
          <a:bodyPr wrap="square">
            <a:spAutoFit/>
          </a:bodyPr>
          <a:lstStyle/>
          <a:p>
            <a:pPr algn="l"/>
            <a:r>
              <a:rPr lang="zh-CN" altLang="en-US" sz="2400" b="1" i="0" dirty="0">
                <a:solidFill>
                  <a:srgbClr val="000000"/>
                </a:solidFill>
                <a:effectLst/>
                <a:latin typeface="Helvetica Neue"/>
              </a:rPr>
              <a:t>活动分割</a:t>
            </a:r>
          </a:p>
        </p:txBody>
      </p:sp>
      <p:pic>
        <p:nvPicPr>
          <p:cNvPr id="14" name="图片 13">
            <a:extLst>
              <a:ext uri="{FF2B5EF4-FFF2-40B4-BE49-F238E27FC236}">
                <a16:creationId xmlns:a16="http://schemas.microsoft.com/office/drawing/2014/main" id="{B465412F-CB38-4D64-924E-271799D8CD44}"/>
              </a:ext>
            </a:extLst>
          </p:cNvPr>
          <p:cNvPicPr>
            <a:picLocks noChangeAspect="1"/>
          </p:cNvPicPr>
          <p:nvPr/>
        </p:nvPicPr>
        <p:blipFill>
          <a:blip r:embed="rId6"/>
          <a:stretch>
            <a:fillRect/>
          </a:stretch>
        </p:blipFill>
        <p:spPr>
          <a:xfrm>
            <a:off x="264761" y="2335898"/>
            <a:ext cx="5901627" cy="2950814"/>
          </a:xfrm>
          <a:prstGeom prst="rect">
            <a:avLst/>
          </a:prstGeom>
        </p:spPr>
      </p:pic>
      <p:sp>
        <p:nvSpPr>
          <p:cNvPr id="19" name="文本框 18">
            <a:extLst>
              <a:ext uri="{FF2B5EF4-FFF2-40B4-BE49-F238E27FC236}">
                <a16:creationId xmlns:a16="http://schemas.microsoft.com/office/drawing/2014/main" id="{EB0116B1-4123-4C66-8010-F3D06F421BBA}"/>
              </a:ext>
            </a:extLst>
          </p:cNvPr>
          <p:cNvSpPr txBox="1"/>
          <p:nvPr/>
        </p:nvSpPr>
        <p:spPr>
          <a:xfrm>
            <a:off x="321734" y="1815731"/>
            <a:ext cx="4516966" cy="369332"/>
          </a:xfrm>
          <a:prstGeom prst="rect">
            <a:avLst/>
          </a:prstGeom>
          <a:noFill/>
        </p:spPr>
        <p:txBody>
          <a:bodyPr wrap="square">
            <a:spAutoFit/>
          </a:bodyPr>
          <a:lstStyle/>
          <a:p>
            <a:pPr algn="l"/>
            <a:r>
              <a:rPr lang="zh-CN" altLang="en-US" b="1" i="0" dirty="0">
                <a:solidFill>
                  <a:srgbClr val="000000"/>
                </a:solidFill>
                <a:effectLst/>
                <a:latin typeface="Inter"/>
              </a:rPr>
              <a:t>自动识别跌倒 </a:t>
            </a:r>
            <a:r>
              <a:rPr lang="en-US" altLang="zh-CN" b="1" i="0" dirty="0">
                <a:solidFill>
                  <a:srgbClr val="000000"/>
                </a:solidFill>
                <a:effectLst/>
                <a:latin typeface="Inter"/>
              </a:rPr>
              <a:t>/ </a:t>
            </a:r>
            <a:r>
              <a:rPr lang="zh-CN" altLang="en-US" b="1" i="0" dirty="0">
                <a:solidFill>
                  <a:srgbClr val="000000"/>
                </a:solidFill>
                <a:effectLst/>
                <a:latin typeface="Inter"/>
              </a:rPr>
              <a:t>类跌倒活动的 “结束点”</a:t>
            </a:r>
          </a:p>
        </p:txBody>
      </p:sp>
      <p:sp>
        <p:nvSpPr>
          <p:cNvPr id="26" name="文本框 25">
            <a:extLst>
              <a:ext uri="{FF2B5EF4-FFF2-40B4-BE49-F238E27FC236}">
                <a16:creationId xmlns:a16="http://schemas.microsoft.com/office/drawing/2014/main" id="{9B7DC889-0392-4C44-88D3-EEC40CFACD0C}"/>
              </a:ext>
            </a:extLst>
          </p:cNvPr>
          <p:cNvSpPr txBox="1"/>
          <p:nvPr/>
        </p:nvSpPr>
        <p:spPr>
          <a:xfrm>
            <a:off x="135467" y="2462338"/>
            <a:ext cx="338666" cy="1015663"/>
          </a:xfrm>
          <a:prstGeom prst="rect">
            <a:avLst/>
          </a:prstGeom>
          <a:noFill/>
        </p:spPr>
        <p:txBody>
          <a:bodyPr wrap="square">
            <a:spAutoFit/>
          </a:bodyPr>
          <a:lstStyle/>
          <a:p>
            <a:r>
              <a:rPr lang="zh-CN" altLang="en-US" sz="1200" b="1" dirty="0">
                <a:solidFill>
                  <a:srgbClr val="FF0000"/>
                </a:solidFill>
              </a:rPr>
              <a:t>相位差信号</a:t>
            </a:r>
          </a:p>
        </p:txBody>
      </p:sp>
      <p:sp>
        <p:nvSpPr>
          <p:cNvPr id="27" name="文本框 26">
            <a:extLst>
              <a:ext uri="{FF2B5EF4-FFF2-40B4-BE49-F238E27FC236}">
                <a16:creationId xmlns:a16="http://schemas.microsoft.com/office/drawing/2014/main" id="{19A11418-D934-4208-AA46-50A0E91900ED}"/>
              </a:ext>
            </a:extLst>
          </p:cNvPr>
          <p:cNvSpPr txBox="1"/>
          <p:nvPr/>
        </p:nvSpPr>
        <p:spPr>
          <a:xfrm>
            <a:off x="135467" y="3668207"/>
            <a:ext cx="283455" cy="1015663"/>
          </a:xfrm>
          <a:prstGeom prst="rect">
            <a:avLst/>
          </a:prstGeom>
          <a:noFill/>
        </p:spPr>
        <p:txBody>
          <a:bodyPr wrap="square">
            <a:spAutoFit/>
          </a:bodyPr>
          <a:lstStyle/>
          <a:p>
            <a:r>
              <a:rPr lang="zh-CN" altLang="en-US" sz="1200" b="1" i="0" dirty="0">
                <a:solidFill>
                  <a:srgbClr val="FF0000"/>
                </a:solidFill>
                <a:effectLst/>
                <a:latin typeface="Inter"/>
              </a:rPr>
              <a:t>信号标准差</a:t>
            </a:r>
            <a:endParaRPr lang="zh-CN" altLang="en-US" sz="1200" b="1" dirty="0">
              <a:solidFill>
                <a:srgbClr val="FF0000"/>
              </a:solidFill>
            </a:endParaRPr>
          </a:p>
        </p:txBody>
      </p:sp>
      <p:cxnSp>
        <p:nvCxnSpPr>
          <p:cNvPr id="29" name="直接箭头连接符 28">
            <a:extLst>
              <a:ext uri="{FF2B5EF4-FFF2-40B4-BE49-F238E27FC236}">
                <a16:creationId xmlns:a16="http://schemas.microsoft.com/office/drawing/2014/main" id="{AD91671A-DE82-47F7-BFBF-7A511A6E5E44}"/>
              </a:ext>
            </a:extLst>
          </p:cNvPr>
          <p:cNvCxnSpPr>
            <a:cxnSpLocks/>
          </p:cNvCxnSpPr>
          <p:nvPr/>
        </p:nvCxnSpPr>
        <p:spPr>
          <a:xfrm flipH="1">
            <a:off x="501278" y="4649665"/>
            <a:ext cx="313639" cy="63704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0A6EF2B3-BE45-4D2B-A1D7-21DB0267176E}"/>
              </a:ext>
            </a:extLst>
          </p:cNvPr>
          <p:cNvCxnSpPr>
            <a:cxnSpLocks/>
          </p:cNvCxnSpPr>
          <p:nvPr/>
        </p:nvCxnSpPr>
        <p:spPr>
          <a:xfrm>
            <a:off x="1100666" y="4649665"/>
            <a:ext cx="0" cy="63704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3" name="文本框 32">
            <a:extLst>
              <a:ext uri="{FF2B5EF4-FFF2-40B4-BE49-F238E27FC236}">
                <a16:creationId xmlns:a16="http://schemas.microsoft.com/office/drawing/2014/main" id="{7FB6EA05-D5CC-41F1-8173-D9EF23CE5372}"/>
              </a:ext>
            </a:extLst>
          </p:cNvPr>
          <p:cNvSpPr txBox="1"/>
          <p:nvPr/>
        </p:nvSpPr>
        <p:spPr>
          <a:xfrm>
            <a:off x="52340" y="5246085"/>
            <a:ext cx="843586" cy="461666"/>
          </a:xfrm>
          <a:prstGeom prst="rect">
            <a:avLst/>
          </a:prstGeom>
          <a:noFill/>
        </p:spPr>
        <p:txBody>
          <a:bodyPr wrap="square">
            <a:spAutoFit/>
          </a:bodyPr>
          <a:lstStyle/>
          <a:p>
            <a:r>
              <a:rPr lang="zh-CN" altLang="en-US" sz="1200" b="1" i="0" dirty="0">
                <a:solidFill>
                  <a:srgbClr val="FF0000"/>
                </a:solidFill>
                <a:effectLst/>
                <a:latin typeface="Inter"/>
              </a:rPr>
              <a:t>原始信号的标准差</a:t>
            </a:r>
            <a:endParaRPr lang="zh-CN" altLang="en-US" sz="1200" b="1" dirty="0">
              <a:solidFill>
                <a:srgbClr val="FF0000"/>
              </a:solidFill>
            </a:endParaRPr>
          </a:p>
        </p:txBody>
      </p:sp>
      <p:sp>
        <p:nvSpPr>
          <p:cNvPr id="34" name="文本框 33">
            <a:extLst>
              <a:ext uri="{FF2B5EF4-FFF2-40B4-BE49-F238E27FC236}">
                <a16:creationId xmlns:a16="http://schemas.microsoft.com/office/drawing/2014/main" id="{C0C32882-04F5-434B-AAC9-57B060CF7DFE}"/>
              </a:ext>
            </a:extLst>
          </p:cNvPr>
          <p:cNvSpPr txBox="1"/>
          <p:nvPr/>
        </p:nvSpPr>
        <p:spPr>
          <a:xfrm>
            <a:off x="885686" y="5193456"/>
            <a:ext cx="678447" cy="600164"/>
          </a:xfrm>
          <a:prstGeom prst="rect">
            <a:avLst/>
          </a:prstGeom>
          <a:noFill/>
        </p:spPr>
        <p:txBody>
          <a:bodyPr wrap="square">
            <a:spAutoFit/>
          </a:bodyPr>
          <a:lstStyle/>
          <a:p>
            <a:r>
              <a:rPr lang="zh-CN" altLang="en-US" sz="1100" b="1" dirty="0">
                <a:solidFill>
                  <a:srgbClr val="FF0000"/>
                </a:solidFill>
                <a:latin typeface="Inter"/>
              </a:rPr>
              <a:t>滤波后</a:t>
            </a:r>
            <a:r>
              <a:rPr lang="zh-CN" altLang="en-US" sz="1100" b="1" i="0" dirty="0">
                <a:solidFill>
                  <a:srgbClr val="FF0000"/>
                </a:solidFill>
                <a:effectLst/>
                <a:latin typeface="Inter"/>
              </a:rPr>
              <a:t>信号的标准差</a:t>
            </a:r>
            <a:endParaRPr lang="zh-CN" altLang="en-US" sz="1100" b="1" dirty="0">
              <a:solidFill>
                <a:srgbClr val="FF0000"/>
              </a:solidFill>
            </a:endParaRPr>
          </a:p>
        </p:txBody>
      </p:sp>
      <p:sp>
        <p:nvSpPr>
          <p:cNvPr id="35" name="文本框 34">
            <a:extLst>
              <a:ext uri="{FF2B5EF4-FFF2-40B4-BE49-F238E27FC236}">
                <a16:creationId xmlns:a16="http://schemas.microsoft.com/office/drawing/2014/main" id="{0FFBB06D-346B-44D6-931C-E4321AEF1FEE}"/>
              </a:ext>
            </a:extLst>
          </p:cNvPr>
          <p:cNvSpPr txBox="1"/>
          <p:nvPr/>
        </p:nvSpPr>
        <p:spPr>
          <a:xfrm>
            <a:off x="1528700" y="5159870"/>
            <a:ext cx="1469917" cy="461665"/>
          </a:xfrm>
          <a:prstGeom prst="rect">
            <a:avLst/>
          </a:prstGeom>
          <a:noFill/>
        </p:spPr>
        <p:txBody>
          <a:bodyPr wrap="square">
            <a:spAutoFit/>
          </a:bodyPr>
          <a:lstStyle/>
          <a:p>
            <a:r>
              <a:rPr lang="zh-CN" altLang="en-US" sz="1200" b="1" dirty="0">
                <a:solidFill>
                  <a:srgbClr val="FF0000"/>
                </a:solidFill>
                <a:latin typeface="Inter"/>
              </a:rPr>
              <a:t>滤波后</a:t>
            </a:r>
            <a:r>
              <a:rPr lang="zh-CN" altLang="en-US" sz="1200" b="1" i="0" dirty="0">
                <a:solidFill>
                  <a:srgbClr val="FF0000"/>
                </a:solidFill>
                <a:effectLst/>
                <a:latin typeface="Inter"/>
              </a:rPr>
              <a:t>信号从波动到稳定的时间点</a:t>
            </a:r>
            <a:endParaRPr lang="zh-CN" altLang="en-US" sz="1200" b="1" dirty="0">
              <a:solidFill>
                <a:srgbClr val="FF0000"/>
              </a:solidFill>
            </a:endParaRPr>
          </a:p>
        </p:txBody>
      </p:sp>
      <p:sp>
        <p:nvSpPr>
          <p:cNvPr id="36" name="文本框 35">
            <a:extLst>
              <a:ext uri="{FF2B5EF4-FFF2-40B4-BE49-F238E27FC236}">
                <a16:creationId xmlns:a16="http://schemas.microsoft.com/office/drawing/2014/main" id="{42D1755E-86B1-4F66-B3C1-42C1D46E9BC1}"/>
              </a:ext>
            </a:extLst>
          </p:cNvPr>
          <p:cNvSpPr txBox="1"/>
          <p:nvPr/>
        </p:nvSpPr>
        <p:spPr>
          <a:xfrm>
            <a:off x="2907888" y="5173413"/>
            <a:ext cx="1390776" cy="461665"/>
          </a:xfrm>
          <a:prstGeom prst="rect">
            <a:avLst/>
          </a:prstGeom>
          <a:noFill/>
        </p:spPr>
        <p:txBody>
          <a:bodyPr wrap="square">
            <a:spAutoFit/>
          </a:bodyPr>
          <a:lstStyle/>
          <a:p>
            <a:r>
              <a:rPr lang="zh-CN" altLang="en-US" sz="1200" b="1" i="0" dirty="0">
                <a:solidFill>
                  <a:srgbClr val="FF0000"/>
                </a:solidFill>
                <a:effectLst/>
                <a:latin typeface="Inter"/>
              </a:rPr>
              <a:t>原始信号从波动到稳定的时间点</a:t>
            </a:r>
            <a:endParaRPr lang="zh-CN" altLang="en-US" sz="1200" b="1" dirty="0">
              <a:solidFill>
                <a:srgbClr val="FF0000"/>
              </a:solidFill>
            </a:endParaRPr>
          </a:p>
        </p:txBody>
      </p:sp>
      <p:cxnSp>
        <p:nvCxnSpPr>
          <p:cNvPr id="37" name="直接箭头连接符 36">
            <a:extLst>
              <a:ext uri="{FF2B5EF4-FFF2-40B4-BE49-F238E27FC236}">
                <a16:creationId xmlns:a16="http://schemas.microsoft.com/office/drawing/2014/main" id="{D3EFC7D6-49FE-4556-BB25-DA609EC0F560}"/>
              </a:ext>
            </a:extLst>
          </p:cNvPr>
          <p:cNvCxnSpPr>
            <a:cxnSpLocks/>
          </p:cNvCxnSpPr>
          <p:nvPr/>
        </p:nvCxnSpPr>
        <p:spPr>
          <a:xfrm flipH="1">
            <a:off x="2131399" y="4492253"/>
            <a:ext cx="219734" cy="67963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A31C924C-224C-4A1E-9DC6-851F7E940D2E}"/>
              </a:ext>
            </a:extLst>
          </p:cNvPr>
          <p:cNvCxnSpPr>
            <a:cxnSpLocks/>
          </p:cNvCxnSpPr>
          <p:nvPr/>
        </p:nvCxnSpPr>
        <p:spPr>
          <a:xfrm>
            <a:off x="2586615" y="4492253"/>
            <a:ext cx="626978" cy="666226"/>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E69A71E7-082C-4D61-B4EB-6675E45A3E21}"/>
              </a:ext>
            </a:extLst>
          </p:cNvPr>
          <p:cNvSpPr txBox="1"/>
          <p:nvPr/>
        </p:nvSpPr>
        <p:spPr>
          <a:xfrm>
            <a:off x="6295682" y="2514045"/>
            <a:ext cx="5566833" cy="2308324"/>
          </a:xfrm>
          <a:prstGeom prst="rect">
            <a:avLst/>
          </a:prstGeom>
          <a:noFill/>
        </p:spPr>
        <p:txBody>
          <a:bodyPr wrap="square">
            <a:spAutoFit/>
          </a:bodyPr>
          <a:lstStyle/>
          <a:p>
            <a:r>
              <a:rPr lang="zh-CN" altLang="en-US" b="0" i="0" dirty="0">
                <a:solidFill>
                  <a:srgbClr val="333333"/>
                </a:solidFill>
                <a:effectLst/>
                <a:latin typeface="Helvetica Neue"/>
              </a:rPr>
              <a:t>首先，计算原始相位差信号流和滤波后相位差信号流的均值</a:t>
            </a:r>
            <a:r>
              <a:rPr lang="en-US" altLang="zh-CN" b="0" i="1" dirty="0">
                <a:solidFill>
                  <a:srgbClr val="333333"/>
                </a:solidFill>
                <a:effectLst/>
                <a:latin typeface="KaTeX_Math"/>
              </a:rPr>
              <a:t>μ</a:t>
            </a:r>
            <a:r>
              <a:rPr lang="zh-CN" altLang="en-US" b="0" i="0" dirty="0">
                <a:solidFill>
                  <a:srgbClr val="333333"/>
                </a:solidFill>
                <a:effectLst/>
                <a:latin typeface="Helvetica Neue"/>
              </a:rPr>
              <a:t>和标准化标准差</a:t>
            </a:r>
            <a:r>
              <a:rPr lang="en-US" altLang="zh-CN" b="0" i="1" dirty="0">
                <a:solidFill>
                  <a:srgbClr val="333333"/>
                </a:solidFill>
                <a:effectLst/>
                <a:latin typeface="KaTeX_Math"/>
              </a:rPr>
              <a:t>σ</a:t>
            </a:r>
            <a:r>
              <a:rPr lang="zh-CN" altLang="en-US" b="0" i="1" dirty="0">
                <a:solidFill>
                  <a:srgbClr val="333333"/>
                </a:solidFill>
                <a:effectLst/>
                <a:latin typeface="KaTeX_Math"/>
              </a:rPr>
              <a:t>；</a:t>
            </a:r>
            <a:endParaRPr lang="en-US" altLang="zh-CN" b="0" i="1" dirty="0">
              <a:solidFill>
                <a:srgbClr val="333333"/>
              </a:solidFill>
              <a:effectLst/>
              <a:latin typeface="KaTeX_Math"/>
            </a:endParaRPr>
          </a:p>
          <a:p>
            <a:endParaRPr lang="en-US" altLang="zh-CN" dirty="0"/>
          </a:p>
          <a:p>
            <a:r>
              <a:rPr lang="zh-CN" altLang="en-US" dirty="0"/>
              <a:t>然后，寻找信号流</a:t>
            </a:r>
            <a:r>
              <a:rPr lang="zh-CN" altLang="en-US" b="0" i="0" dirty="0">
                <a:solidFill>
                  <a:srgbClr val="333333"/>
                </a:solidFill>
                <a:effectLst/>
                <a:latin typeface="Helvetica Neue"/>
              </a:rPr>
              <a:t>从波动状态到稳定状态（信号标准差从大于标准差</a:t>
            </a:r>
            <a:r>
              <a:rPr lang="en-US" altLang="zh-CN" b="0" i="1" dirty="0">
                <a:solidFill>
                  <a:srgbClr val="333333"/>
                </a:solidFill>
                <a:effectLst/>
                <a:latin typeface="KaTeX_Math"/>
              </a:rPr>
              <a:t>σ </a:t>
            </a:r>
            <a:r>
              <a:rPr lang="zh-CN" altLang="en-US" b="0" dirty="0">
                <a:solidFill>
                  <a:srgbClr val="333333"/>
                </a:solidFill>
                <a:effectLst/>
                <a:latin typeface="KaTeX_Math"/>
              </a:rPr>
              <a:t>到小于</a:t>
            </a:r>
            <a:r>
              <a:rPr lang="zh-CN" altLang="en-US" b="0" dirty="0">
                <a:solidFill>
                  <a:srgbClr val="333333"/>
                </a:solidFill>
                <a:effectLst/>
                <a:latin typeface="Helvetica Neue"/>
              </a:rPr>
              <a:t>标准差</a:t>
            </a:r>
            <a:r>
              <a:rPr lang="en-US" altLang="zh-CN" b="0" i="1" dirty="0">
                <a:solidFill>
                  <a:srgbClr val="333333"/>
                </a:solidFill>
                <a:effectLst/>
                <a:latin typeface="KaTeX_Math"/>
              </a:rPr>
              <a:t>σ </a:t>
            </a:r>
            <a:r>
              <a:rPr lang="zh-CN" altLang="en-US" b="0" i="0" dirty="0">
                <a:solidFill>
                  <a:srgbClr val="333333"/>
                </a:solidFill>
                <a:effectLst/>
                <a:latin typeface="Helvetica Neue"/>
              </a:rPr>
              <a:t>）的过渡时间点；</a:t>
            </a:r>
            <a:endParaRPr lang="en-US" altLang="zh-CN" b="0" i="0" dirty="0">
              <a:solidFill>
                <a:srgbClr val="333333"/>
              </a:solidFill>
              <a:effectLst/>
              <a:latin typeface="Helvetica Neue"/>
            </a:endParaRPr>
          </a:p>
          <a:p>
            <a:endParaRPr lang="en-US" altLang="zh-CN" dirty="0">
              <a:solidFill>
                <a:srgbClr val="333333"/>
              </a:solidFill>
              <a:latin typeface="Helvetica Neue"/>
            </a:endParaRPr>
          </a:p>
          <a:p>
            <a:r>
              <a:rPr lang="zh-CN" altLang="en-US" dirty="0">
                <a:solidFill>
                  <a:srgbClr val="333333"/>
                </a:solidFill>
                <a:latin typeface="Helvetica Neue"/>
              </a:rPr>
              <a:t>最后，根据两种信号均完成</a:t>
            </a:r>
            <a:r>
              <a:rPr lang="zh-CN" altLang="en-US" b="0" i="0" dirty="0">
                <a:solidFill>
                  <a:srgbClr val="333333"/>
                </a:solidFill>
                <a:effectLst/>
                <a:latin typeface="Helvetica Neue"/>
              </a:rPr>
              <a:t>从波动状态到稳定状态的最终时间点记作活动结束时间点</a:t>
            </a:r>
            <a:endParaRPr lang="zh-CN" altLang="en-US" dirty="0"/>
          </a:p>
        </p:txBody>
      </p:sp>
      <p:cxnSp>
        <p:nvCxnSpPr>
          <p:cNvPr id="45" name="直接箭头连接符 44">
            <a:extLst>
              <a:ext uri="{FF2B5EF4-FFF2-40B4-BE49-F238E27FC236}">
                <a16:creationId xmlns:a16="http://schemas.microsoft.com/office/drawing/2014/main" id="{29BF43F7-209F-4CAF-BA12-E395310836A8}"/>
              </a:ext>
            </a:extLst>
          </p:cNvPr>
          <p:cNvCxnSpPr>
            <a:cxnSpLocks/>
          </p:cNvCxnSpPr>
          <p:nvPr/>
        </p:nvCxnSpPr>
        <p:spPr>
          <a:xfrm flipV="1">
            <a:off x="2603726" y="3293334"/>
            <a:ext cx="0" cy="88270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AB8D9ECD-4955-4F02-B499-6C0EC50586A7}"/>
              </a:ext>
            </a:extLst>
          </p:cNvPr>
          <p:cNvSpPr txBox="1"/>
          <p:nvPr/>
        </p:nvSpPr>
        <p:spPr>
          <a:xfrm>
            <a:off x="635538" y="5848927"/>
            <a:ext cx="11061700" cy="923330"/>
          </a:xfrm>
          <a:prstGeom prst="rect">
            <a:avLst/>
          </a:prstGeom>
          <a:noFill/>
          <a:ln w="19050">
            <a:solidFill>
              <a:srgbClr val="00B0F0"/>
            </a:solidFill>
            <a:prstDash val="dash"/>
          </a:ln>
        </p:spPr>
        <p:txBody>
          <a:bodyPr wrap="square">
            <a:spAutoFit/>
          </a:bodyPr>
          <a:lstStyle/>
          <a:p>
            <a:r>
              <a:rPr lang="zh-CN" altLang="en-US" b="1" i="0" dirty="0">
                <a:effectLst/>
                <a:latin typeface="Inter"/>
              </a:rPr>
              <a:t>“双信号状态过渡检测” </a:t>
            </a:r>
            <a:r>
              <a:rPr lang="zh-CN" altLang="en-US" dirty="0">
                <a:latin typeface="Inter"/>
              </a:rPr>
              <a:t>：</a:t>
            </a:r>
            <a:r>
              <a:rPr lang="zh-CN" altLang="en-US" b="0" i="0" dirty="0">
                <a:solidFill>
                  <a:srgbClr val="FF0000"/>
                </a:solidFill>
                <a:effectLst/>
                <a:latin typeface="Inter"/>
              </a:rPr>
              <a:t>跌倒和类跌倒</a:t>
            </a:r>
            <a:r>
              <a:rPr lang="zh-CN" altLang="en-US" b="0" i="0" dirty="0">
                <a:effectLst/>
                <a:latin typeface="Inter"/>
              </a:rPr>
              <a:t>活动的</a:t>
            </a:r>
            <a:r>
              <a:rPr lang="zh-CN" altLang="en-US" b="1" i="0" dirty="0">
                <a:solidFill>
                  <a:srgbClr val="FF0000"/>
                </a:solidFill>
                <a:effectLst/>
                <a:latin typeface="Inter"/>
              </a:rPr>
              <a:t>唯一共性</a:t>
            </a:r>
            <a:r>
              <a:rPr lang="zh-CN" altLang="en-US" b="0" i="0" dirty="0">
                <a:effectLst/>
                <a:latin typeface="Inter"/>
              </a:rPr>
              <a:t>是：</a:t>
            </a:r>
            <a:r>
              <a:rPr lang="zh-CN" altLang="en-US" b="1" i="0" dirty="0">
                <a:solidFill>
                  <a:srgbClr val="000000"/>
                </a:solidFill>
                <a:effectLst/>
                <a:latin typeface="Inter"/>
              </a:rPr>
              <a:t>既会</a:t>
            </a:r>
            <a:r>
              <a:rPr lang="zh-CN" altLang="en-US" b="1" i="0" dirty="0">
                <a:solidFill>
                  <a:srgbClr val="FF0000"/>
                </a:solidFill>
                <a:effectLst/>
                <a:latin typeface="Inter"/>
              </a:rPr>
              <a:t>触发原始信号的状态过渡</a:t>
            </a:r>
            <a:r>
              <a:rPr lang="zh-CN" altLang="en-US" b="1" i="0" dirty="0">
                <a:solidFill>
                  <a:srgbClr val="000000"/>
                </a:solidFill>
                <a:effectLst/>
                <a:latin typeface="Inter"/>
              </a:rPr>
              <a:t>，也会伴随尖锐功率谱下降（</a:t>
            </a:r>
            <a:r>
              <a:rPr lang="zh-CN" altLang="en-US" b="1" i="0" dirty="0">
                <a:solidFill>
                  <a:srgbClr val="FF0000"/>
                </a:solidFill>
                <a:effectLst/>
                <a:latin typeface="Inter"/>
              </a:rPr>
              <a:t>滤波后信号同步过渡</a:t>
            </a:r>
            <a:r>
              <a:rPr lang="zh-CN" altLang="en-US" b="1" i="0" dirty="0">
                <a:solidFill>
                  <a:srgbClr val="000000"/>
                </a:solidFill>
                <a:effectLst/>
                <a:latin typeface="Inter"/>
              </a:rPr>
              <a:t>，</a:t>
            </a:r>
            <a:r>
              <a:rPr lang="en-US" altLang="zh-CN" b="1" dirty="0" err="1">
                <a:solidFill>
                  <a:srgbClr val="000000"/>
                </a:solidFill>
                <a:latin typeface="Inter"/>
              </a:rPr>
              <a:t>Δt</a:t>
            </a:r>
            <a:r>
              <a:rPr lang="en-US" altLang="zh-CN" b="1" dirty="0">
                <a:solidFill>
                  <a:srgbClr val="000000"/>
                </a:solidFill>
                <a:latin typeface="Inter"/>
              </a:rPr>
              <a:t> </a:t>
            </a:r>
            <a:r>
              <a:rPr lang="zh-CN" altLang="en-US" b="1" dirty="0">
                <a:solidFill>
                  <a:srgbClr val="000000"/>
                </a:solidFill>
                <a:latin typeface="Inter"/>
              </a:rPr>
              <a:t>越短，说明信号功率谱从高频到低频的下降越陡峭）</a:t>
            </a:r>
            <a:r>
              <a:rPr lang="zh-CN" altLang="en-US" b="0" i="0" dirty="0">
                <a:effectLst/>
                <a:latin typeface="Inter"/>
              </a:rPr>
              <a:t>；而原地活动（打电话）、单纯站立等无关活动，只会满足其中一个条件，因此被双信号逻辑排除。</a:t>
            </a:r>
            <a:endParaRPr lang="zh-CN" altLang="en-US" dirty="0"/>
          </a:p>
        </p:txBody>
      </p:sp>
      <p:sp>
        <p:nvSpPr>
          <p:cNvPr id="52" name="椭圆 51">
            <a:extLst>
              <a:ext uri="{FF2B5EF4-FFF2-40B4-BE49-F238E27FC236}">
                <a16:creationId xmlns:a16="http://schemas.microsoft.com/office/drawing/2014/main" id="{4CA275C5-9823-46DA-956D-3E5A2463569D}"/>
              </a:ext>
            </a:extLst>
          </p:cNvPr>
          <p:cNvSpPr/>
          <p:nvPr/>
        </p:nvSpPr>
        <p:spPr>
          <a:xfrm>
            <a:off x="1237677" y="3116246"/>
            <a:ext cx="188075" cy="1524199"/>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椭圆 52">
            <a:extLst>
              <a:ext uri="{FF2B5EF4-FFF2-40B4-BE49-F238E27FC236}">
                <a16:creationId xmlns:a16="http://schemas.microsoft.com/office/drawing/2014/main" id="{53D41CC9-2D11-40A6-B96A-17AE9ED7A664}"/>
              </a:ext>
            </a:extLst>
          </p:cNvPr>
          <p:cNvSpPr/>
          <p:nvPr/>
        </p:nvSpPr>
        <p:spPr>
          <a:xfrm>
            <a:off x="3213593" y="3101925"/>
            <a:ext cx="188075" cy="1524199"/>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a:extLst>
              <a:ext uri="{FF2B5EF4-FFF2-40B4-BE49-F238E27FC236}">
                <a16:creationId xmlns:a16="http://schemas.microsoft.com/office/drawing/2014/main" id="{F5F678EF-4CEA-479A-9D15-1529499635E6}"/>
              </a:ext>
            </a:extLst>
          </p:cNvPr>
          <p:cNvSpPr txBox="1"/>
          <p:nvPr/>
        </p:nvSpPr>
        <p:spPr>
          <a:xfrm>
            <a:off x="680734" y="3514318"/>
            <a:ext cx="2282831" cy="307777"/>
          </a:xfrm>
          <a:prstGeom prst="rect">
            <a:avLst/>
          </a:prstGeom>
          <a:noFill/>
        </p:spPr>
        <p:txBody>
          <a:bodyPr wrap="square">
            <a:spAutoFit/>
          </a:bodyPr>
          <a:lstStyle/>
          <a:p>
            <a:r>
              <a:rPr lang="zh-CN" altLang="en-US" sz="1400" b="1" dirty="0">
                <a:solidFill>
                  <a:srgbClr val="00B050"/>
                </a:solidFill>
              </a:rPr>
              <a:t>单一观测原始信号</a:t>
            </a:r>
          </a:p>
        </p:txBody>
      </p:sp>
      <p:sp>
        <p:nvSpPr>
          <p:cNvPr id="66" name="文本框 65">
            <a:extLst>
              <a:ext uri="{FF2B5EF4-FFF2-40B4-BE49-F238E27FC236}">
                <a16:creationId xmlns:a16="http://schemas.microsoft.com/office/drawing/2014/main" id="{510670E9-76C5-49A7-BEA9-55319AA6A029}"/>
              </a:ext>
            </a:extLst>
          </p:cNvPr>
          <p:cNvSpPr txBox="1"/>
          <p:nvPr/>
        </p:nvSpPr>
        <p:spPr>
          <a:xfrm>
            <a:off x="2640285" y="3534774"/>
            <a:ext cx="2282831" cy="307777"/>
          </a:xfrm>
          <a:prstGeom prst="rect">
            <a:avLst/>
          </a:prstGeom>
          <a:noFill/>
        </p:spPr>
        <p:txBody>
          <a:bodyPr wrap="square">
            <a:spAutoFit/>
          </a:bodyPr>
          <a:lstStyle/>
          <a:p>
            <a:r>
              <a:rPr lang="zh-CN" altLang="en-US" sz="1400" b="1" dirty="0">
                <a:solidFill>
                  <a:srgbClr val="00B050"/>
                </a:solidFill>
              </a:rPr>
              <a:t>单一观测滤波后信号</a:t>
            </a:r>
          </a:p>
        </p:txBody>
      </p:sp>
    </p:spTree>
    <p:custDataLst>
      <p:tags r:id="rId1"/>
    </p:custDataLst>
    <p:extLst>
      <p:ext uri="{BB962C8B-B14F-4D97-AF65-F5344CB8AC3E}">
        <p14:creationId xmlns:p14="http://schemas.microsoft.com/office/powerpoint/2010/main" val="357686858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6"/>
                                        </p:tgtEl>
                                        <p:attrNameLst>
                                          <p:attrName>style.visibility</p:attrName>
                                        </p:attrNameLst>
                                      </p:cBhvr>
                                      <p:to>
                                        <p:strVal val="visible"/>
                                      </p:to>
                                    </p:set>
                                    <p:anim calcmode="lin" valueType="num">
                                      <p:cBhvr additive="base">
                                        <p:cTn id="7" dur="500" fill="hold"/>
                                        <p:tgtEl>
                                          <p:spTgt spid="66"/>
                                        </p:tgtEl>
                                        <p:attrNameLst>
                                          <p:attrName>ppt_x</p:attrName>
                                        </p:attrNameLst>
                                      </p:cBhvr>
                                      <p:tavLst>
                                        <p:tav tm="0">
                                          <p:val>
                                            <p:strVal val="#ppt_x"/>
                                          </p:val>
                                        </p:tav>
                                        <p:tav tm="100000">
                                          <p:val>
                                            <p:strVal val="#ppt_x"/>
                                          </p:val>
                                        </p:tav>
                                      </p:tavLst>
                                    </p:anim>
                                    <p:anim calcmode="lin" valueType="num">
                                      <p:cBhvr additive="base">
                                        <p:cTn id="8" dur="500" fill="hold"/>
                                        <p:tgtEl>
                                          <p:spTgt spid="6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2"/>
                                        </p:tgtEl>
                                        <p:attrNameLst>
                                          <p:attrName>style.visibility</p:attrName>
                                        </p:attrNameLst>
                                      </p:cBhvr>
                                      <p:to>
                                        <p:strVal val="visible"/>
                                      </p:to>
                                    </p:set>
                                    <p:anim calcmode="lin" valueType="num">
                                      <p:cBhvr additive="base">
                                        <p:cTn id="11" dur="500" fill="hold"/>
                                        <p:tgtEl>
                                          <p:spTgt spid="52"/>
                                        </p:tgtEl>
                                        <p:attrNameLst>
                                          <p:attrName>ppt_x</p:attrName>
                                        </p:attrNameLst>
                                      </p:cBhvr>
                                      <p:tavLst>
                                        <p:tav tm="0">
                                          <p:val>
                                            <p:strVal val="#ppt_x"/>
                                          </p:val>
                                        </p:tav>
                                        <p:tav tm="100000">
                                          <p:val>
                                            <p:strVal val="#ppt_x"/>
                                          </p:val>
                                        </p:tav>
                                      </p:tavLst>
                                    </p:anim>
                                    <p:anim calcmode="lin" valueType="num">
                                      <p:cBhvr additive="base">
                                        <p:cTn id="12" dur="500" fill="hold"/>
                                        <p:tgtEl>
                                          <p:spTgt spid="5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5"/>
                                        </p:tgtEl>
                                        <p:attrNameLst>
                                          <p:attrName>style.visibility</p:attrName>
                                        </p:attrNameLst>
                                      </p:cBhvr>
                                      <p:to>
                                        <p:strVal val="visible"/>
                                      </p:to>
                                    </p:set>
                                    <p:anim calcmode="lin" valueType="num">
                                      <p:cBhvr additive="base">
                                        <p:cTn id="15" dur="500" fill="hold"/>
                                        <p:tgtEl>
                                          <p:spTgt spid="65"/>
                                        </p:tgtEl>
                                        <p:attrNameLst>
                                          <p:attrName>ppt_x</p:attrName>
                                        </p:attrNameLst>
                                      </p:cBhvr>
                                      <p:tavLst>
                                        <p:tav tm="0">
                                          <p:val>
                                            <p:strVal val="#ppt_x"/>
                                          </p:val>
                                        </p:tav>
                                        <p:tav tm="100000">
                                          <p:val>
                                            <p:strVal val="#ppt_x"/>
                                          </p:val>
                                        </p:tav>
                                      </p:tavLst>
                                    </p:anim>
                                    <p:anim calcmode="lin" valueType="num">
                                      <p:cBhvr additive="base">
                                        <p:cTn id="16" dur="500" fill="hold"/>
                                        <p:tgtEl>
                                          <p:spTgt spid="6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3"/>
                                        </p:tgtEl>
                                        <p:attrNameLst>
                                          <p:attrName>style.visibility</p:attrName>
                                        </p:attrNameLst>
                                      </p:cBhvr>
                                      <p:to>
                                        <p:strVal val="visible"/>
                                      </p:to>
                                    </p:set>
                                    <p:anim calcmode="lin" valueType="num">
                                      <p:cBhvr additive="base">
                                        <p:cTn id="19" dur="500" fill="hold"/>
                                        <p:tgtEl>
                                          <p:spTgt spid="53"/>
                                        </p:tgtEl>
                                        <p:attrNameLst>
                                          <p:attrName>ppt_x</p:attrName>
                                        </p:attrNameLst>
                                      </p:cBhvr>
                                      <p:tavLst>
                                        <p:tav tm="0">
                                          <p:val>
                                            <p:strVal val="#ppt_x"/>
                                          </p:val>
                                        </p:tav>
                                        <p:tav tm="100000">
                                          <p:val>
                                            <p:strVal val="#ppt_x"/>
                                          </p:val>
                                        </p:tav>
                                      </p:tavLst>
                                    </p:anim>
                                    <p:anim calcmode="lin" valueType="num">
                                      <p:cBhvr additive="base">
                                        <p:cTn id="20"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65" grpId="0"/>
      <p:bldP spid="66" grpId="0"/>
    </p:bldLst>
  </p:timing>
</p:sld>
</file>

<file path=ppt/slides/slide61.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93745758-2093-4A80-A568-3341D600E56A}"/>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框架与方法</a:t>
            </a:r>
          </a:p>
        </p:txBody>
      </p:sp>
      <p:sp>
        <p:nvSpPr>
          <p:cNvPr id="9" name="文本框 8">
            <a:extLst>
              <a:ext uri="{FF2B5EF4-FFF2-40B4-BE49-F238E27FC236}">
                <a16:creationId xmlns:a16="http://schemas.microsoft.com/office/drawing/2014/main" id="{B2E5E3B3-CA98-4C18-9D8B-ECFC2A81E12E}"/>
              </a:ext>
            </a:extLst>
          </p:cNvPr>
          <p:cNvSpPr txBox="1"/>
          <p:nvPr/>
        </p:nvSpPr>
        <p:spPr>
          <a:xfrm>
            <a:off x="224711" y="1690670"/>
            <a:ext cx="5023909" cy="369332"/>
          </a:xfrm>
          <a:prstGeom prst="rect">
            <a:avLst/>
          </a:prstGeom>
          <a:noFill/>
        </p:spPr>
        <p:txBody>
          <a:bodyPr wrap="square">
            <a:spAutoFit/>
          </a:bodyPr>
          <a:lstStyle/>
          <a:p>
            <a:pPr algn="l"/>
            <a:r>
              <a:rPr lang="zh-CN" altLang="en-US" b="1" i="0" dirty="0">
                <a:solidFill>
                  <a:srgbClr val="000000"/>
                </a:solidFill>
                <a:effectLst/>
                <a:latin typeface="Inter"/>
              </a:rPr>
              <a:t>确定活动 “起始点”</a:t>
            </a:r>
            <a:r>
              <a:rPr lang="en-US" altLang="zh-CN" b="1" i="0" dirty="0">
                <a:solidFill>
                  <a:srgbClr val="000000"/>
                </a:solidFill>
                <a:effectLst/>
                <a:latin typeface="Inter"/>
              </a:rPr>
              <a:t>—— </a:t>
            </a:r>
            <a:r>
              <a:rPr lang="zh-CN" altLang="en-US" b="1" i="0" dirty="0">
                <a:solidFill>
                  <a:srgbClr val="000000"/>
                </a:solidFill>
                <a:effectLst/>
                <a:latin typeface="Inter"/>
              </a:rPr>
              <a:t>选择回溯窗口大小</a:t>
            </a:r>
          </a:p>
        </p:txBody>
      </p:sp>
      <p:sp>
        <p:nvSpPr>
          <p:cNvPr id="10" name="文本框 9">
            <a:extLst>
              <a:ext uri="{FF2B5EF4-FFF2-40B4-BE49-F238E27FC236}">
                <a16:creationId xmlns:a16="http://schemas.microsoft.com/office/drawing/2014/main" id="{A3098A18-1731-4E07-AD5D-82E9F7558853}"/>
              </a:ext>
            </a:extLst>
          </p:cNvPr>
          <p:cNvSpPr txBox="1"/>
          <p:nvPr/>
        </p:nvSpPr>
        <p:spPr>
          <a:xfrm>
            <a:off x="135467" y="1203231"/>
            <a:ext cx="6096000" cy="461665"/>
          </a:xfrm>
          <a:prstGeom prst="rect">
            <a:avLst/>
          </a:prstGeom>
          <a:noFill/>
        </p:spPr>
        <p:txBody>
          <a:bodyPr wrap="square">
            <a:spAutoFit/>
          </a:bodyPr>
          <a:lstStyle/>
          <a:p>
            <a:pPr algn="l"/>
            <a:r>
              <a:rPr lang="zh-CN" altLang="en-US" sz="2400" b="1" i="0" dirty="0">
                <a:solidFill>
                  <a:srgbClr val="000000"/>
                </a:solidFill>
                <a:effectLst/>
                <a:latin typeface="Helvetica Neue"/>
              </a:rPr>
              <a:t>活动分割</a:t>
            </a:r>
          </a:p>
        </p:txBody>
      </p:sp>
      <p:pic>
        <p:nvPicPr>
          <p:cNvPr id="11" name="图片 10">
            <a:extLst>
              <a:ext uri="{FF2B5EF4-FFF2-40B4-BE49-F238E27FC236}">
                <a16:creationId xmlns:a16="http://schemas.microsoft.com/office/drawing/2014/main" id="{30B5D0CF-6884-48C9-86C2-301F7AF4F33A}"/>
              </a:ext>
            </a:extLst>
          </p:cNvPr>
          <p:cNvPicPr>
            <a:picLocks noChangeAspect="1"/>
          </p:cNvPicPr>
          <p:nvPr/>
        </p:nvPicPr>
        <p:blipFill>
          <a:blip r:embed="rId6"/>
          <a:stretch>
            <a:fillRect/>
          </a:stretch>
        </p:blipFill>
        <p:spPr>
          <a:xfrm>
            <a:off x="223908" y="2038520"/>
            <a:ext cx="7074684" cy="3537343"/>
          </a:xfrm>
          <a:prstGeom prst="rect">
            <a:avLst/>
          </a:prstGeom>
        </p:spPr>
      </p:pic>
      <p:sp>
        <p:nvSpPr>
          <p:cNvPr id="12" name="文本框 11">
            <a:extLst>
              <a:ext uri="{FF2B5EF4-FFF2-40B4-BE49-F238E27FC236}">
                <a16:creationId xmlns:a16="http://schemas.microsoft.com/office/drawing/2014/main" id="{7F2DDDE1-F20A-4869-9576-7EA8605BC3E0}"/>
              </a:ext>
            </a:extLst>
          </p:cNvPr>
          <p:cNvSpPr txBox="1"/>
          <p:nvPr/>
        </p:nvSpPr>
        <p:spPr>
          <a:xfrm>
            <a:off x="7564572" y="1918818"/>
            <a:ext cx="4450205" cy="953921"/>
          </a:xfrm>
          <a:prstGeom prst="rect">
            <a:avLst/>
          </a:prstGeom>
          <a:noFill/>
        </p:spPr>
        <p:txBody>
          <a:bodyPr wrap="square">
            <a:spAutoFit/>
          </a:bodyPr>
          <a:lstStyle/>
          <a:p>
            <a:r>
              <a:rPr lang="zh-CN" altLang="en-US" b="0" i="0" dirty="0">
                <a:solidFill>
                  <a:srgbClr val="333333"/>
                </a:solidFill>
                <a:effectLst/>
                <a:latin typeface="Helvetica Neue"/>
              </a:rPr>
              <a:t>为了区分跌倒与类跌倒活动，</a:t>
            </a:r>
            <a:r>
              <a:rPr lang="zh-CN" altLang="en-US" b="0" i="0" dirty="0">
                <a:solidFill>
                  <a:srgbClr val="FF0000"/>
                </a:solidFill>
                <a:effectLst/>
                <a:latin typeface="Helvetica Neue"/>
              </a:rPr>
              <a:t>需要确定合适的回溯窗口大小</a:t>
            </a:r>
            <a:r>
              <a:rPr lang="zh-CN" altLang="en-US" b="0" i="0" dirty="0">
                <a:solidFill>
                  <a:srgbClr val="333333"/>
                </a:solidFill>
                <a:effectLst/>
                <a:latin typeface="Helvetica Neue"/>
              </a:rPr>
              <a:t>，以采集训练数据样本，实现精确的跌倒检测。</a:t>
            </a:r>
            <a:endParaRPr lang="en-US" altLang="zh-CN" b="0" i="0" dirty="0">
              <a:solidFill>
                <a:srgbClr val="333333"/>
              </a:solidFill>
              <a:effectLst/>
              <a:latin typeface="Helvetica Neue"/>
            </a:endParaRPr>
          </a:p>
        </p:txBody>
      </p:sp>
      <p:sp>
        <p:nvSpPr>
          <p:cNvPr id="13" name="椭圆 12">
            <a:extLst>
              <a:ext uri="{FF2B5EF4-FFF2-40B4-BE49-F238E27FC236}">
                <a16:creationId xmlns:a16="http://schemas.microsoft.com/office/drawing/2014/main" id="{CA92CCCB-EB97-4133-BFED-AFE9539B420B}"/>
              </a:ext>
            </a:extLst>
          </p:cNvPr>
          <p:cNvSpPr/>
          <p:nvPr/>
        </p:nvSpPr>
        <p:spPr>
          <a:xfrm>
            <a:off x="6392333" y="2117426"/>
            <a:ext cx="482600" cy="3081107"/>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a:extLst>
              <a:ext uri="{FF2B5EF4-FFF2-40B4-BE49-F238E27FC236}">
                <a16:creationId xmlns:a16="http://schemas.microsoft.com/office/drawing/2014/main" id="{26F36816-F29D-4B13-8673-DD060FEACD69}"/>
              </a:ext>
            </a:extLst>
          </p:cNvPr>
          <p:cNvSpPr/>
          <p:nvPr/>
        </p:nvSpPr>
        <p:spPr>
          <a:xfrm>
            <a:off x="2700867" y="2086223"/>
            <a:ext cx="482600" cy="3081107"/>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8B8E1C2A-7BFA-49DE-9FB2-2D1CE0C6B384}"/>
              </a:ext>
            </a:extLst>
          </p:cNvPr>
          <p:cNvSpPr txBox="1"/>
          <p:nvPr/>
        </p:nvSpPr>
        <p:spPr>
          <a:xfrm>
            <a:off x="1831164" y="5069662"/>
            <a:ext cx="1043023" cy="276999"/>
          </a:xfrm>
          <a:prstGeom prst="rect">
            <a:avLst/>
          </a:prstGeom>
          <a:noFill/>
        </p:spPr>
        <p:txBody>
          <a:bodyPr wrap="square">
            <a:spAutoFit/>
          </a:bodyPr>
          <a:lstStyle/>
          <a:p>
            <a:r>
              <a:rPr lang="zh-CN" altLang="en-US" sz="1200" b="1" dirty="0">
                <a:solidFill>
                  <a:srgbClr val="FF0000"/>
                </a:solidFill>
              </a:rPr>
              <a:t>类跌倒活动</a:t>
            </a:r>
          </a:p>
        </p:txBody>
      </p:sp>
      <p:sp>
        <p:nvSpPr>
          <p:cNvPr id="16" name="文本框 15">
            <a:extLst>
              <a:ext uri="{FF2B5EF4-FFF2-40B4-BE49-F238E27FC236}">
                <a16:creationId xmlns:a16="http://schemas.microsoft.com/office/drawing/2014/main" id="{E7FF24A8-AF45-4E7D-ACC1-BE3236836884}"/>
              </a:ext>
            </a:extLst>
          </p:cNvPr>
          <p:cNvSpPr txBox="1"/>
          <p:nvPr/>
        </p:nvSpPr>
        <p:spPr>
          <a:xfrm>
            <a:off x="5702694" y="5069662"/>
            <a:ext cx="1043023" cy="276999"/>
          </a:xfrm>
          <a:prstGeom prst="rect">
            <a:avLst/>
          </a:prstGeom>
          <a:noFill/>
        </p:spPr>
        <p:txBody>
          <a:bodyPr wrap="square">
            <a:spAutoFit/>
          </a:bodyPr>
          <a:lstStyle/>
          <a:p>
            <a:r>
              <a:rPr lang="zh-CN" altLang="en-US" sz="1200" b="1" dirty="0">
                <a:solidFill>
                  <a:srgbClr val="FF0000"/>
                </a:solidFill>
              </a:rPr>
              <a:t>跌倒活动</a:t>
            </a:r>
          </a:p>
        </p:txBody>
      </p:sp>
      <p:cxnSp>
        <p:nvCxnSpPr>
          <p:cNvPr id="17" name="直接箭头连接符 16">
            <a:extLst>
              <a:ext uri="{FF2B5EF4-FFF2-40B4-BE49-F238E27FC236}">
                <a16:creationId xmlns:a16="http://schemas.microsoft.com/office/drawing/2014/main" id="{9FF70E13-DCCC-459F-B1D4-FB49240A4769}"/>
              </a:ext>
            </a:extLst>
          </p:cNvPr>
          <p:cNvCxnSpPr>
            <a:cxnSpLocks/>
          </p:cNvCxnSpPr>
          <p:nvPr/>
        </p:nvCxnSpPr>
        <p:spPr>
          <a:xfrm flipH="1">
            <a:off x="2387228" y="4432615"/>
            <a:ext cx="313639" cy="63704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2382678E-91BB-47A8-8818-7E2AA59AC5A7}"/>
              </a:ext>
            </a:extLst>
          </p:cNvPr>
          <p:cNvCxnSpPr>
            <a:cxnSpLocks/>
          </p:cNvCxnSpPr>
          <p:nvPr/>
        </p:nvCxnSpPr>
        <p:spPr>
          <a:xfrm flipH="1">
            <a:off x="6011974" y="4443030"/>
            <a:ext cx="313639" cy="63704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22D07EDE-9A93-4B25-A446-8304321C67FD}"/>
              </a:ext>
            </a:extLst>
          </p:cNvPr>
          <p:cNvSpPr txBox="1"/>
          <p:nvPr/>
        </p:nvSpPr>
        <p:spPr>
          <a:xfrm>
            <a:off x="7585738" y="2972986"/>
            <a:ext cx="4450205" cy="646331"/>
          </a:xfrm>
          <a:prstGeom prst="rect">
            <a:avLst/>
          </a:prstGeom>
          <a:noFill/>
        </p:spPr>
        <p:txBody>
          <a:bodyPr wrap="square">
            <a:spAutoFit/>
          </a:bodyPr>
          <a:lstStyle/>
          <a:p>
            <a:pPr algn="l"/>
            <a:r>
              <a:rPr lang="zh-CN" altLang="en-US" b="0" i="0" dirty="0">
                <a:solidFill>
                  <a:srgbClr val="000000"/>
                </a:solidFill>
                <a:effectLst/>
                <a:latin typeface="Inter"/>
              </a:rPr>
              <a:t>前期跌倒检测工作中，窗口大小</a:t>
            </a:r>
            <a:r>
              <a:rPr lang="zh-CN" altLang="en-US" b="1" i="0" dirty="0">
                <a:solidFill>
                  <a:srgbClr val="000000"/>
                </a:solidFill>
                <a:effectLst/>
                <a:latin typeface="Inter"/>
              </a:rPr>
              <a:t>因传感器 </a:t>
            </a:r>
            <a:r>
              <a:rPr lang="en-US" altLang="zh-CN" b="1" i="0" dirty="0">
                <a:solidFill>
                  <a:srgbClr val="000000"/>
                </a:solidFill>
                <a:effectLst/>
                <a:latin typeface="Inter"/>
              </a:rPr>
              <a:t>/ </a:t>
            </a:r>
            <a:r>
              <a:rPr lang="zh-CN" altLang="en-US" b="1" i="0" dirty="0">
                <a:solidFill>
                  <a:srgbClr val="000000"/>
                </a:solidFill>
                <a:effectLst/>
                <a:latin typeface="Inter"/>
              </a:rPr>
              <a:t>方法不同，</a:t>
            </a:r>
            <a:r>
              <a:rPr lang="zh-CN" altLang="en-US" b="0" i="0" dirty="0">
                <a:solidFill>
                  <a:srgbClr val="000000"/>
                </a:solidFill>
                <a:effectLst/>
                <a:latin typeface="Inter"/>
              </a:rPr>
              <a:t>差异较大：</a:t>
            </a:r>
          </a:p>
        </p:txBody>
      </p:sp>
      <p:sp>
        <p:nvSpPr>
          <p:cNvPr id="25" name="文本框 24">
            <a:extLst>
              <a:ext uri="{FF2B5EF4-FFF2-40B4-BE49-F238E27FC236}">
                <a16:creationId xmlns:a16="http://schemas.microsoft.com/office/drawing/2014/main" id="{57B25408-6BFD-4931-9EDF-2C25CE4E9D51}"/>
              </a:ext>
            </a:extLst>
          </p:cNvPr>
          <p:cNvSpPr txBox="1"/>
          <p:nvPr/>
        </p:nvSpPr>
        <p:spPr>
          <a:xfrm>
            <a:off x="4222570" y="5534481"/>
            <a:ext cx="3578808" cy="646331"/>
          </a:xfrm>
          <a:prstGeom prst="rect">
            <a:avLst/>
          </a:prstGeom>
          <a:noFill/>
        </p:spPr>
        <p:txBody>
          <a:bodyPr wrap="square">
            <a:spAutoFit/>
          </a:bodyPr>
          <a:lstStyle/>
          <a:p>
            <a:r>
              <a:rPr lang="zh-CN" altLang="en-US" b="0" i="0" dirty="0">
                <a:effectLst/>
                <a:latin typeface="Inter"/>
              </a:rPr>
              <a:t>如</a:t>
            </a:r>
            <a:r>
              <a:rPr lang="zh-CN" altLang="en-US" b="1" i="0" dirty="0">
                <a:solidFill>
                  <a:srgbClr val="FF0000"/>
                </a:solidFill>
                <a:effectLst/>
                <a:latin typeface="Inter"/>
              </a:rPr>
              <a:t>跌倒结束点</a:t>
            </a:r>
            <a:r>
              <a:rPr lang="zh-CN" altLang="en-US" b="0" i="0" dirty="0">
                <a:effectLst/>
                <a:latin typeface="Inter"/>
              </a:rPr>
              <a:t>，前 </a:t>
            </a:r>
            <a:r>
              <a:rPr lang="en-US" altLang="zh-CN" b="0" i="0" dirty="0">
                <a:effectLst/>
                <a:latin typeface="Inter"/>
              </a:rPr>
              <a:t>2 </a:t>
            </a:r>
            <a:r>
              <a:rPr lang="zh-CN" altLang="en-US" b="0" i="0" dirty="0">
                <a:effectLst/>
                <a:latin typeface="Inter"/>
              </a:rPr>
              <a:t>秒是倒地动态，后 </a:t>
            </a:r>
            <a:r>
              <a:rPr lang="en-US" altLang="zh-CN" b="0" i="0" dirty="0">
                <a:effectLst/>
                <a:latin typeface="Inter"/>
              </a:rPr>
              <a:t>1 </a:t>
            </a:r>
            <a:r>
              <a:rPr lang="zh-CN" altLang="en-US" b="0" i="0" dirty="0">
                <a:effectLst/>
                <a:latin typeface="Inter"/>
              </a:rPr>
              <a:t>秒是躺平静态（图</a:t>
            </a:r>
            <a:r>
              <a:rPr lang="en-US" altLang="zh-CN" b="0" i="0" dirty="0">
                <a:effectLst/>
                <a:latin typeface="Inter"/>
              </a:rPr>
              <a:t>a</a:t>
            </a:r>
            <a:r>
              <a:rPr lang="zh-CN" altLang="en-US" b="0" i="0" dirty="0">
                <a:effectLst/>
                <a:latin typeface="Inter"/>
              </a:rPr>
              <a:t>）</a:t>
            </a:r>
            <a:endParaRPr lang="zh-CN" altLang="en-US" dirty="0"/>
          </a:p>
        </p:txBody>
      </p:sp>
      <p:sp>
        <p:nvSpPr>
          <p:cNvPr id="26" name="文本框 25">
            <a:extLst>
              <a:ext uri="{FF2B5EF4-FFF2-40B4-BE49-F238E27FC236}">
                <a16:creationId xmlns:a16="http://schemas.microsoft.com/office/drawing/2014/main" id="{4468F939-2E28-4428-AB28-BCAB4F769115}"/>
              </a:ext>
            </a:extLst>
          </p:cNvPr>
          <p:cNvSpPr txBox="1"/>
          <p:nvPr/>
        </p:nvSpPr>
        <p:spPr>
          <a:xfrm>
            <a:off x="430895" y="5531874"/>
            <a:ext cx="3578808" cy="646331"/>
          </a:xfrm>
          <a:prstGeom prst="rect">
            <a:avLst/>
          </a:prstGeom>
          <a:noFill/>
        </p:spPr>
        <p:txBody>
          <a:bodyPr wrap="square">
            <a:spAutoFit/>
          </a:bodyPr>
          <a:lstStyle/>
          <a:p>
            <a:r>
              <a:rPr lang="zh-CN" altLang="en-US" b="0" i="0" dirty="0">
                <a:effectLst/>
                <a:latin typeface="Inter"/>
              </a:rPr>
              <a:t>如</a:t>
            </a:r>
            <a:r>
              <a:rPr lang="zh-CN" altLang="en-US" b="1" i="0" dirty="0">
                <a:solidFill>
                  <a:srgbClr val="FF0000"/>
                </a:solidFill>
                <a:effectLst/>
                <a:latin typeface="Inter"/>
              </a:rPr>
              <a:t>类跌倒结束点</a:t>
            </a:r>
            <a:r>
              <a:rPr lang="zh-CN" altLang="en-US" b="0" i="0" dirty="0">
                <a:effectLst/>
                <a:latin typeface="Inter"/>
              </a:rPr>
              <a:t>，前 </a:t>
            </a:r>
            <a:r>
              <a:rPr lang="en-US" altLang="zh-CN" b="0" i="0" dirty="0">
                <a:effectLst/>
                <a:latin typeface="Inter"/>
              </a:rPr>
              <a:t>2 </a:t>
            </a:r>
            <a:r>
              <a:rPr lang="zh-CN" altLang="en-US" b="0" i="0" dirty="0">
                <a:effectLst/>
                <a:latin typeface="Inter"/>
              </a:rPr>
              <a:t>秒是</a:t>
            </a:r>
            <a:r>
              <a:rPr lang="zh-CN" altLang="en-US" dirty="0">
                <a:latin typeface="Inter"/>
              </a:rPr>
              <a:t>坐下</a:t>
            </a:r>
            <a:r>
              <a:rPr lang="zh-CN" altLang="en-US" b="0" i="0" dirty="0">
                <a:effectLst/>
                <a:latin typeface="Inter"/>
              </a:rPr>
              <a:t>动态，后 </a:t>
            </a:r>
            <a:r>
              <a:rPr lang="en-US" altLang="zh-CN" b="0" i="0" dirty="0">
                <a:effectLst/>
                <a:latin typeface="Inter"/>
              </a:rPr>
              <a:t>1 </a:t>
            </a:r>
            <a:r>
              <a:rPr lang="zh-CN" altLang="en-US" b="0" i="0" dirty="0">
                <a:effectLst/>
                <a:latin typeface="Inter"/>
              </a:rPr>
              <a:t>秒是坐好静态（图</a:t>
            </a:r>
            <a:r>
              <a:rPr lang="en-US" altLang="zh-CN" b="0" i="0" dirty="0">
                <a:effectLst/>
                <a:latin typeface="Inter"/>
              </a:rPr>
              <a:t>a</a:t>
            </a:r>
            <a:r>
              <a:rPr lang="zh-CN" altLang="en-US" b="0" i="0" dirty="0">
                <a:effectLst/>
                <a:latin typeface="Inter"/>
              </a:rPr>
              <a:t>）</a:t>
            </a:r>
            <a:endParaRPr lang="zh-CN" altLang="en-US" dirty="0"/>
          </a:p>
        </p:txBody>
      </p:sp>
      <p:sp>
        <p:nvSpPr>
          <p:cNvPr id="27" name="文本框 26">
            <a:extLst>
              <a:ext uri="{FF2B5EF4-FFF2-40B4-BE49-F238E27FC236}">
                <a16:creationId xmlns:a16="http://schemas.microsoft.com/office/drawing/2014/main" id="{2CBFECF6-640B-443B-BCBD-F1794BA29FD9}"/>
              </a:ext>
            </a:extLst>
          </p:cNvPr>
          <p:cNvSpPr txBox="1"/>
          <p:nvPr/>
        </p:nvSpPr>
        <p:spPr>
          <a:xfrm>
            <a:off x="130135" y="6223098"/>
            <a:ext cx="12061865" cy="369332"/>
          </a:xfrm>
          <a:prstGeom prst="rect">
            <a:avLst/>
          </a:prstGeom>
          <a:solidFill>
            <a:schemeClr val="accent3">
              <a:lumMod val="20000"/>
              <a:lumOff val="80000"/>
            </a:schemeClr>
          </a:solidFill>
        </p:spPr>
        <p:txBody>
          <a:bodyPr wrap="square">
            <a:spAutoFit/>
          </a:bodyPr>
          <a:lstStyle/>
          <a:p>
            <a:r>
              <a:rPr lang="zh-CN" altLang="en-US" b="1" i="0" dirty="0">
                <a:solidFill>
                  <a:srgbClr val="333333"/>
                </a:solidFill>
                <a:effectLst/>
                <a:latin typeface="Helvetica Neue"/>
              </a:rPr>
              <a:t>确定</a:t>
            </a:r>
            <a:r>
              <a:rPr lang="zh-CN" altLang="en-US" b="1" i="0" dirty="0">
                <a:solidFill>
                  <a:srgbClr val="FF0000"/>
                </a:solidFill>
                <a:effectLst/>
                <a:latin typeface="Helvetica Neue"/>
              </a:rPr>
              <a:t>最佳窗口大小为</a:t>
            </a:r>
            <a:r>
              <a:rPr lang="en-US" altLang="zh-CN" b="1" i="0" dirty="0">
                <a:solidFill>
                  <a:srgbClr val="FF0000"/>
                </a:solidFill>
                <a:effectLst/>
                <a:latin typeface="Helvetica Neue"/>
              </a:rPr>
              <a:t>3</a:t>
            </a:r>
            <a:r>
              <a:rPr lang="zh-CN" altLang="en-US" b="1" i="0" dirty="0">
                <a:solidFill>
                  <a:srgbClr val="FF0000"/>
                </a:solidFill>
                <a:effectLst/>
                <a:latin typeface="Helvetica Neue"/>
              </a:rPr>
              <a:t>秒</a:t>
            </a:r>
            <a:r>
              <a:rPr lang="en-US" altLang="zh-CN" b="1" i="0" dirty="0">
                <a:solidFill>
                  <a:srgbClr val="333333"/>
                </a:solidFill>
                <a:effectLst/>
                <a:latin typeface="Helvetica Neue"/>
              </a:rPr>
              <a:t>——</a:t>
            </a:r>
            <a:r>
              <a:rPr lang="zh-CN" altLang="en-US" b="1" i="0" dirty="0">
                <a:solidFill>
                  <a:srgbClr val="333333"/>
                </a:solidFill>
                <a:effectLst/>
                <a:latin typeface="Helvetica Neue"/>
              </a:rPr>
              <a:t>包含结束点前</a:t>
            </a:r>
            <a:r>
              <a:rPr lang="en-US" altLang="zh-CN" b="1" i="0" dirty="0">
                <a:solidFill>
                  <a:srgbClr val="333333"/>
                </a:solidFill>
                <a:effectLst/>
                <a:latin typeface="Helvetica Neue"/>
              </a:rPr>
              <a:t>2</a:t>
            </a:r>
            <a:r>
              <a:rPr lang="zh-CN" altLang="en-US" b="1" i="0" dirty="0">
                <a:solidFill>
                  <a:srgbClr val="333333"/>
                </a:solidFill>
                <a:effectLst/>
                <a:latin typeface="Helvetica Neue"/>
              </a:rPr>
              <a:t>秒和结束点后</a:t>
            </a:r>
            <a:r>
              <a:rPr lang="en-US" altLang="zh-CN" b="1" i="0" dirty="0">
                <a:solidFill>
                  <a:srgbClr val="333333"/>
                </a:solidFill>
                <a:effectLst/>
                <a:latin typeface="Helvetica Neue"/>
              </a:rPr>
              <a:t>1</a:t>
            </a:r>
            <a:r>
              <a:rPr lang="zh-CN" altLang="en-US" b="1" i="0" dirty="0">
                <a:solidFill>
                  <a:srgbClr val="333333"/>
                </a:solidFill>
                <a:effectLst/>
                <a:latin typeface="Helvetica Neue"/>
              </a:rPr>
              <a:t>秒的信号片段，该片段可完整表征分割出的活动流（图</a:t>
            </a:r>
            <a:r>
              <a:rPr lang="en-US" altLang="zh-CN" b="1" dirty="0">
                <a:solidFill>
                  <a:srgbClr val="333333"/>
                </a:solidFill>
                <a:latin typeface="Helvetica Neue"/>
              </a:rPr>
              <a:t>b</a:t>
            </a:r>
            <a:r>
              <a:rPr lang="zh-CN" altLang="en-US" b="1" i="0" dirty="0">
                <a:solidFill>
                  <a:srgbClr val="333333"/>
                </a:solidFill>
                <a:effectLst/>
                <a:latin typeface="Helvetica Neue"/>
              </a:rPr>
              <a:t>）</a:t>
            </a:r>
            <a:endParaRPr lang="zh-CN" altLang="en-US" dirty="0"/>
          </a:p>
        </p:txBody>
      </p:sp>
      <p:pic>
        <p:nvPicPr>
          <p:cNvPr id="6" name="图片 5">
            <a:extLst>
              <a:ext uri="{FF2B5EF4-FFF2-40B4-BE49-F238E27FC236}">
                <a16:creationId xmlns:a16="http://schemas.microsoft.com/office/drawing/2014/main" id="{B826D575-EDC5-46CA-9142-C244380F9840}"/>
              </a:ext>
            </a:extLst>
          </p:cNvPr>
          <p:cNvPicPr>
            <a:picLocks noChangeAspect="1"/>
          </p:cNvPicPr>
          <p:nvPr/>
        </p:nvPicPr>
        <p:blipFill>
          <a:blip r:embed="rId7"/>
          <a:stretch>
            <a:fillRect/>
          </a:stretch>
        </p:blipFill>
        <p:spPr>
          <a:xfrm>
            <a:off x="8203480" y="3667086"/>
            <a:ext cx="3202583" cy="1254121"/>
          </a:xfrm>
          <a:prstGeom prst="rect">
            <a:avLst/>
          </a:prstGeom>
        </p:spPr>
      </p:pic>
    </p:spTree>
    <p:custDataLst>
      <p:tags r:id="rId1"/>
    </p:custDataLst>
    <p:extLst>
      <p:ext uri="{BB962C8B-B14F-4D97-AF65-F5344CB8AC3E}">
        <p14:creationId xmlns:p14="http://schemas.microsoft.com/office/powerpoint/2010/main" val="38866070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ppt_x"/>
                                          </p:val>
                                        </p:tav>
                                        <p:tav tm="100000">
                                          <p:val>
                                            <p:strVal val="#ppt_x"/>
                                          </p:val>
                                        </p:tav>
                                      </p:tavLst>
                                    </p:anim>
                                    <p:anim calcmode="lin" valueType="num">
                                      <p:cBhvr additive="base">
                                        <p:cTn id="12"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93745758-2093-4A80-A568-3341D600E56A}"/>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框架与方法</a:t>
            </a:r>
          </a:p>
        </p:txBody>
      </p:sp>
      <p:sp>
        <p:nvSpPr>
          <p:cNvPr id="12" name="文本框 11">
            <a:extLst>
              <a:ext uri="{FF2B5EF4-FFF2-40B4-BE49-F238E27FC236}">
                <a16:creationId xmlns:a16="http://schemas.microsoft.com/office/drawing/2014/main" id="{48076F80-6549-45A2-BE28-A814922C9950}"/>
              </a:ext>
            </a:extLst>
          </p:cNvPr>
          <p:cNvSpPr txBox="1"/>
          <p:nvPr/>
        </p:nvSpPr>
        <p:spPr>
          <a:xfrm>
            <a:off x="163437" y="1131554"/>
            <a:ext cx="1480244" cy="461665"/>
          </a:xfrm>
          <a:prstGeom prst="rect">
            <a:avLst/>
          </a:prstGeom>
          <a:noFill/>
        </p:spPr>
        <p:txBody>
          <a:bodyPr wrap="square">
            <a:spAutoFit/>
          </a:bodyPr>
          <a:lstStyle/>
          <a:p>
            <a:pPr algn="l"/>
            <a:r>
              <a:rPr lang="zh-CN" altLang="en-US" sz="2400" b="1" i="0" dirty="0">
                <a:solidFill>
                  <a:srgbClr val="000000"/>
                </a:solidFill>
                <a:effectLst/>
                <a:latin typeface="Helvetica Neue"/>
              </a:rPr>
              <a:t>跌倒检测</a:t>
            </a:r>
          </a:p>
        </p:txBody>
      </p:sp>
      <p:sp>
        <p:nvSpPr>
          <p:cNvPr id="13" name="文本框 12">
            <a:extLst>
              <a:ext uri="{FF2B5EF4-FFF2-40B4-BE49-F238E27FC236}">
                <a16:creationId xmlns:a16="http://schemas.microsoft.com/office/drawing/2014/main" id="{A59E0164-99D1-4907-8E98-52A711AFB193}"/>
              </a:ext>
            </a:extLst>
          </p:cNvPr>
          <p:cNvSpPr txBox="1"/>
          <p:nvPr/>
        </p:nvSpPr>
        <p:spPr>
          <a:xfrm>
            <a:off x="1775142" y="1206619"/>
            <a:ext cx="10375413" cy="369332"/>
          </a:xfrm>
          <a:prstGeom prst="rect">
            <a:avLst/>
          </a:prstGeom>
          <a:noFill/>
        </p:spPr>
        <p:txBody>
          <a:bodyPr wrap="square">
            <a:spAutoFit/>
          </a:bodyPr>
          <a:lstStyle/>
          <a:p>
            <a:r>
              <a:rPr lang="zh-CN" altLang="en-US" b="0" i="0" dirty="0">
                <a:solidFill>
                  <a:srgbClr val="333333"/>
                </a:solidFill>
                <a:effectLst/>
                <a:latin typeface="Helvetica Neue"/>
              </a:rPr>
              <a:t>通过 “特征提取 </a:t>
            </a:r>
            <a:r>
              <a:rPr lang="en-US" altLang="zh-CN" b="0" i="0" dirty="0">
                <a:solidFill>
                  <a:srgbClr val="333333"/>
                </a:solidFill>
                <a:effectLst/>
                <a:latin typeface="Helvetica Neue"/>
              </a:rPr>
              <a:t>+ SVM </a:t>
            </a:r>
            <a:r>
              <a:rPr lang="zh-CN" altLang="en-US" b="0" i="0" dirty="0">
                <a:solidFill>
                  <a:srgbClr val="333333"/>
                </a:solidFill>
                <a:effectLst/>
                <a:latin typeface="Helvetica Neue"/>
              </a:rPr>
              <a:t>分类”，最终实现 </a:t>
            </a:r>
            <a:r>
              <a:rPr lang="zh-CN" altLang="en-US" b="1" i="0" dirty="0">
                <a:solidFill>
                  <a:srgbClr val="FF0000"/>
                </a:solidFill>
                <a:effectLst/>
                <a:latin typeface="Helvetica Neue"/>
              </a:rPr>
              <a:t>“跌倒” 与 “类跌倒活动（坐下、躺下）” 的精准区分</a:t>
            </a:r>
            <a:endParaRPr lang="zh-CN" altLang="en-US" b="1" dirty="0">
              <a:solidFill>
                <a:srgbClr val="FF0000"/>
              </a:solidFill>
            </a:endParaRPr>
          </a:p>
        </p:txBody>
      </p:sp>
      <p:sp>
        <p:nvSpPr>
          <p:cNvPr id="14" name="文本框 13">
            <a:extLst>
              <a:ext uri="{FF2B5EF4-FFF2-40B4-BE49-F238E27FC236}">
                <a16:creationId xmlns:a16="http://schemas.microsoft.com/office/drawing/2014/main" id="{A35D5AA5-E0EC-44F1-8276-FA480351E25B}"/>
              </a:ext>
            </a:extLst>
          </p:cNvPr>
          <p:cNvSpPr txBox="1"/>
          <p:nvPr/>
        </p:nvSpPr>
        <p:spPr>
          <a:xfrm>
            <a:off x="163437" y="1671716"/>
            <a:ext cx="5205950" cy="400110"/>
          </a:xfrm>
          <a:prstGeom prst="rect">
            <a:avLst/>
          </a:prstGeom>
          <a:noFill/>
        </p:spPr>
        <p:txBody>
          <a:bodyPr wrap="square">
            <a:spAutoFit/>
          </a:bodyPr>
          <a:lstStyle/>
          <a:p>
            <a:pPr algn="l"/>
            <a:r>
              <a:rPr lang="zh-CN" altLang="en-US" sz="2000" b="1" i="0" dirty="0">
                <a:solidFill>
                  <a:srgbClr val="000000"/>
                </a:solidFill>
                <a:effectLst/>
                <a:latin typeface="Helvetica Neue"/>
              </a:rPr>
              <a:t>特征提取</a:t>
            </a:r>
          </a:p>
        </p:txBody>
      </p:sp>
      <p:sp>
        <p:nvSpPr>
          <p:cNvPr id="15" name="文本框 14">
            <a:extLst>
              <a:ext uri="{FF2B5EF4-FFF2-40B4-BE49-F238E27FC236}">
                <a16:creationId xmlns:a16="http://schemas.microsoft.com/office/drawing/2014/main" id="{7FDAC8AE-B99D-4E8E-8BD1-625C3BB4DF00}"/>
              </a:ext>
            </a:extLst>
          </p:cNvPr>
          <p:cNvSpPr txBox="1"/>
          <p:nvPr/>
        </p:nvSpPr>
        <p:spPr>
          <a:xfrm>
            <a:off x="163437" y="2072390"/>
            <a:ext cx="6304309" cy="1477328"/>
          </a:xfrm>
          <a:prstGeom prst="rect">
            <a:avLst/>
          </a:prstGeom>
          <a:noFill/>
        </p:spPr>
        <p:txBody>
          <a:bodyPr wrap="square">
            <a:spAutoFit/>
          </a:bodyPr>
          <a:lstStyle/>
          <a:p>
            <a:r>
              <a:rPr lang="zh-CN" altLang="en-US" dirty="0">
                <a:solidFill>
                  <a:srgbClr val="333333"/>
                </a:solidFill>
                <a:latin typeface="Helvetica Neue"/>
              </a:rPr>
              <a:t>从</a:t>
            </a:r>
            <a:r>
              <a:rPr lang="en-US" altLang="zh-CN" b="0" i="0" dirty="0">
                <a:solidFill>
                  <a:srgbClr val="333333"/>
                </a:solidFill>
                <a:effectLst/>
                <a:latin typeface="Helvetica Neue"/>
              </a:rPr>
              <a:t>CSI</a:t>
            </a:r>
            <a:r>
              <a:rPr lang="zh-CN" altLang="en-US" b="0" i="0" dirty="0">
                <a:solidFill>
                  <a:srgbClr val="333333"/>
                </a:solidFill>
                <a:effectLst/>
                <a:latin typeface="Helvetica Neue"/>
              </a:rPr>
              <a:t>流中提取了以下</a:t>
            </a:r>
            <a:r>
              <a:rPr lang="en-US" altLang="zh-CN" b="1" i="0" dirty="0">
                <a:solidFill>
                  <a:srgbClr val="333333"/>
                </a:solidFill>
                <a:effectLst/>
                <a:latin typeface="Helvetica Neue"/>
              </a:rPr>
              <a:t>8</a:t>
            </a:r>
            <a:r>
              <a:rPr lang="zh-CN" altLang="en-US" b="1" i="0" dirty="0">
                <a:solidFill>
                  <a:srgbClr val="333333"/>
                </a:solidFill>
                <a:effectLst/>
                <a:latin typeface="Helvetica Neue"/>
              </a:rPr>
              <a:t>类用于活动分类的特征</a:t>
            </a:r>
            <a:r>
              <a:rPr lang="zh-CN" altLang="en-US" b="0" i="0" dirty="0">
                <a:solidFill>
                  <a:srgbClr val="333333"/>
                </a:solidFill>
                <a:effectLst/>
                <a:latin typeface="Helvetica Neue"/>
              </a:rPr>
              <a:t>：</a:t>
            </a:r>
            <a:endParaRPr lang="en-US" altLang="zh-CN" b="0" i="0" dirty="0">
              <a:solidFill>
                <a:srgbClr val="333333"/>
              </a:solidFill>
              <a:effectLst/>
              <a:latin typeface="Helvetica Neue"/>
            </a:endParaRPr>
          </a:p>
          <a:p>
            <a:r>
              <a:rPr lang="zh-CN" altLang="en-US" b="0" i="0" dirty="0">
                <a:solidFill>
                  <a:srgbClr val="333333"/>
                </a:solidFill>
                <a:effectLst/>
                <a:latin typeface="Helvetica Neue"/>
              </a:rPr>
              <a:t>（</a:t>
            </a:r>
            <a:r>
              <a:rPr lang="en-US" altLang="zh-CN" b="0" i="0" dirty="0">
                <a:solidFill>
                  <a:srgbClr val="333333"/>
                </a:solidFill>
                <a:effectLst/>
                <a:latin typeface="Helvetica Neue"/>
              </a:rPr>
              <a:t>1</a:t>
            </a:r>
            <a:r>
              <a:rPr lang="zh-CN" altLang="en-US" b="0" i="0" dirty="0">
                <a:solidFill>
                  <a:srgbClr val="333333"/>
                </a:solidFill>
                <a:effectLst/>
                <a:latin typeface="Helvetica Neue"/>
              </a:rPr>
              <a:t>）</a:t>
            </a:r>
            <a:r>
              <a:rPr lang="en-US" altLang="zh-CN" b="0" i="0" dirty="0">
                <a:solidFill>
                  <a:srgbClr val="333333"/>
                </a:solidFill>
                <a:effectLst/>
                <a:latin typeface="Helvetica Neue"/>
              </a:rPr>
              <a:t>CSI</a:t>
            </a:r>
            <a:r>
              <a:rPr lang="zh-CN" altLang="en-US" b="0" i="0" dirty="0">
                <a:solidFill>
                  <a:srgbClr val="333333"/>
                </a:solidFill>
                <a:effectLst/>
                <a:latin typeface="Helvetica Neue"/>
              </a:rPr>
              <a:t>的标准化标准差（</a:t>
            </a:r>
            <a:r>
              <a:rPr lang="en-US" altLang="zh-CN" b="0" i="0" dirty="0">
                <a:solidFill>
                  <a:srgbClr val="333333"/>
                </a:solidFill>
                <a:effectLst/>
                <a:latin typeface="Helvetica Neue"/>
              </a:rPr>
              <a:t>STD</a:t>
            </a:r>
            <a:r>
              <a:rPr lang="zh-CN" altLang="en-US" b="0" i="0" dirty="0">
                <a:solidFill>
                  <a:srgbClr val="333333"/>
                </a:solidFill>
                <a:effectLst/>
                <a:latin typeface="Helvetica Neue"/>
              </a:rPr>
              <a:t>）；（</a:t>
            </a:r>
            <a:r>
              <a:rPr lang="en-US" altLang="zh-CN" b="0" i="0" dirty="0">
                <a:solidFill>
                  <a:srgbClr val="333333"/>
                </a:solidFill>
                <a:effectLst/>
                <a:latin typeface="Helvetica Neue"/>
              </a:rPr>
              <a:t>2</a:t>
            </a:r>
            <a:r>
              <a:rPr lang="zh-CN" altLang="en-US" b="0" i="0" dirty="0">
                <a:solidFill>
                  <a:srgbClr val="333333"/>
                </a:solidFill>
                <a:effectLst/>
                <a:latin typeface="Helvetica Neue"/>
              </a:rPr>
              <a:t>）中位数绝对偏差（</a:t>
            </a:r>
            <a:r>
              <a:rPr lang="en-US" altLang="zh-CN" b="0" i="0" dirty="0">
                <a:solidFill>
                  <a:srgbClr val="333333"/>
                </a:solidFill>
                <a:effectLst/>
                <a:latin typeface="Helvetica Neue"/>
              </a:rPr>
              <a:t>MAD</a:t>
            </a:r>
            <a:r>
              <a:rPr lang="zh-CN" altLang="en-US" b="0" i="0" dirty="0">
                <a:solidFill>
                  <a:srgbClr val="333333"/>
                </a:solidFill>
                <a:effectLst/>
                <a:latin typeface="Helvetica Neue"/>
              </a:rPr>
              <a:t>）；（</a:t>
            </a:r>
            <a:r>
              <a:rPr lang="en-US" altLang="zh-CN" b="0" i="0" dirty="0">
                <a:solidFill>
                  <a:srgbClr val="333333"/>
                </a:solidFill>
                <a:effectLst/>
                <a:latin typeface="Helvetica Neue"/>
              </a:rPr>
              <a:t>3</a:t>
            </a:r>
            <a:r>
              <a:rPr lang="zh-CN" altLang="en-US" b="0" i="0" dirty="0">
                <a:solidFill>
                  <a:srgbClr val="333333"/>
                </a:solidFill>
                <a:effectLst/>
                <a:latin typeface="Helvetica Neue"/>
              </a:rPr>
              <a:t>）信号强度偏移量；（</a:t>
            </a:r>
            <a:r>
              <a:rPr lang="en-US" altLang="zh-CN" b="0" i="0" dirty="0">
                <a:solidFill>
                  <a:srgbClr val="333333"/>
                </a:solidFill>
                <a:effectLst/>
                <a:latin typeface="Helvetica Neue"/>
              </a:rPr>
              <a:t>4</a:t>
            </a:r>
            <a:r>
              <a:rPr lang="zh-CN" altLang="en-US" b="0" i="0" dirty="0">
                <a:solidFill>
                  <a:srgbClr val="333333"/>
                </a:solidFill>
                <a:effectLst/>
                <a:latin typeface="Helvetica Neue"/>
              </a:rPr>
              <a:t>）四分位距（</a:t>
            </a:r>
            <a:r>
              <a:rPr lang="en-US" altLang="zh-CN" b="0" i="0" dirty="0">
                <a:solidFill>
                  <a:srgbClr val="333333"/>
                </a:solidFill>
                <a:effectLst/>
                <a:latin typeface="Helvetica Neue"/>
              </a:rPr>
              <a:t>IR</a:t>
            </a:r>
            <a:r>
              <a:rPr lang="zh-CN" altLang="en-US" b="0" i="0" dirty="0">
                <a:solidFill>
                  <a:srgbClr val="333333"/>
                </a:solidFill>
                <a:effectLst/>
                <a:latin typeface="Helvetica Neue"/>
              </a:rPr>
              <a:t>）；（</a:t>
            </a:r>
            <a:r>
              <a:rPr lang="en-US" altLang="zh-CN" b="0" i="0" dirty="0">
                <a:solidFill>
                  <a:srgbClr val="333333"/>
                </a:solidFill>
                <a:effectLst/>
                <a:latin typeface="Helvetica Neue"/>
              </a:rPr>
              <a:t>5</a:t>
            </a:r>
            <a:r>
              <a:rPr lang="zh-CN" altLang="en-US" b="0" i="0" dirty="0">
                <a:solidFill>
                  <a:srgbClr val="333333"/>
                </a:solidFill>
                <a:effectLst/>
                <a:latin typeface="Helvetica Neue"/>
              </a:rPr>
              <a:t>）信号熵；（</a:t>
            </a:r>
            <a:r>
              <a:rPr lang="en-US" altLang="zh-CN" b="0" i="0" dirty="0">
                <a:solidFill>
                  <a:srgbClr val="333333"/>
                </a:solidFill>
                <a:effectLst/>
                <a:latin typeface="Helvetica Neue"/>
              </a:rPr>
              <a:t>6</a:t>
            </a:r>
            <a:r>
              <a:rPr lang="zh-CN" altLang="en-US" b="0" i="0" dirty="0">
                <a:solidFill>
                  <a:srgbClr val="333333"/>
                </a:solidFill>
                <a:effectLst/>
                <a:latin typeface="Helvetica Neue"/>
              </a:rPr>
              <a:t>）信号变化速度；</a:t>
            </a:r>
            <a:r>
              <a:rPr lang="zh-CN" altLang="en-US" b="1" i="0" dirty="0">
                <a:solidFill>
                  <a:srgbClr val="FF0000"/>
                </a:solidFill>
                <a:effectLst/>
                <a:latin typeface="Helvetica Neue"/>
              </a:rPr>
              <a:t>（</a:t>
            </a:r>
            <a:r>
              <a:rPr lang="en-US" altLang="zh-CN" b="1" i="0" dirty="0">
                <a:solidFill>
                  <a:srgbClr val="FF0000"/>
                </a:solidFill>
                <a:effectLst/>
                <a:latin typeface="Helvetica Neue"/>
              </a:rPr>
              <a:t>7</a:t>
            </a:r>
            <a:r>
              <a:rPr lang="zh-CN" altLang="en-US" b="1" i="0" dirty="0">
                <a:solidFill>
                  <a:srgbClr val="FF0000"/>
                </a:solidFill>
                <a:effectLst/>
                <a:latin typeface="Helvetica Neue"/>
              </a:rPr>
              <a:t>）时间滞后（</a:t>
            </a:r>
            <a:r>
              <a:rPr lang="en-US" altLang="zh-CN" b="1" i="0" dirty="0" err="1">
                <a:solidFill>
                  <a:srgbClr val="FF0000"/>
                </a:solidFill>
                <a:effectLst/>
                <a:latin typeface="Helvetica Neue"/>
              </a:rPr>
              <a:t>TimeLag</a:t>
            </a:r>
            <a:r>
              <a:rPr lang="zh-CN" altLang="en-US" b="1" i="0" dirty="0">
                <a:solidFill>
                  <a:srgbClr val="FF0000"/>
                </a:solidFill>
                <a:effectLst/>
                <a:latin typeface="Helvetica Neue"/>
              </a:rPr>
              <a:t>）；（</a:t>
            </a:r>
            <a:r>
              <a:rPr lang="en-US" altLang="zh-CN" b="1" i="0" dirty="0">
                <a:solidFill>
                  <a:srgbClr val="FF0000"/>
                </a:solidFill>
                <a:effectLst/>
                <a:latin typeface="Helvetica Neue"/>
              </a:rPr>
              <a:t>8</a:t>
            </a:r>
            <a:r>
              <a:rPr lang="zh-CN" altLang="en-US" b="1" i="0" dirty="0">
                <a:solidFill>
                  <a:srgbClr val="FF0000"/>
                </a:solidFill>
                <a:effectLst/>
                <a:latin typeface="Helvetica Neue"/>
              </a:rPr>
              <a:t>）功率下降比（</a:t>
            </a:r>
            <a:r>
              <a:rPr lang="en-US" altLang="zh-CN" b="1" i="0" dirty="0">
                <a:solidFill>
                  <a:srgbClr val="FF0000"/>
                </a:solidFill>
                <a:effectLst/>
                <a:latin typeface="Helvetica Neue"/>
              </a:rPr>
              <a:t>PDR</a:t>
            </a:r>
            <a:r>
              <a:rPr lang="zh-CN" altLang="en-US" b="1" i="0" dirty="0">
                <a:solidFill>
                  <a:srgbClr val="FF0000"/>
                </a:solidFill>
                <a:effectLst/>
                <a:latin typeface="Helvetica Neue"/>
              </a:rPr>
              <a:t>）（两种新特征）</a:t>
            </a:r>
            <a:r>
              <a:rPr lang="zh-CN" altLang="en-US" b="0" i="0" dirty="0">
                <a:solidFill>
                  <a:srgbClr val="333333"/>
                </a:solidFill>
                <a:effectLst/>
                <a:latin typeface="Helvetica Neue"/>
              </a:rPr>
              <a:t>。</a:t>
            </a:r>
          </a:p>
        </p:txBody>
      </p:sp>
      <p:sp>
        <p:nvSpPr>
          <p:cNvPr id="19" name="文本框 18">
            <a:extLst>
              <a:ext uri="{FF2B5EF4-FFF2-40B4-BE49-F238E27FC236}">
                <a16:creationId xmlns:a16="http://schemas.microsoft.com/office/drawing/2014/main" id="{6C35AD77-16C5-45EE-992B-3BDF1754A597}"/>
              </a:ext>
            </a:extLst>
          </p:cNvPr>
          <p:cNvSpPr txBox="1"/>
          <p:nvPr/>
        </p:nvSpPr>
        <p:spPr>
          <a:xfrm>
            <a:off x="6468002" y="1657559"/>
            <a:ext cx="7382932" cy="400110"/>
          </a:xfrm>
          <a:prstGeom prst="rect">
            <a:avLst/>
          </a:prstGeom>
          <a:noFill/>
        </p:spPr>
        <p:txBody>
          <a:bodyPr wrap="square">
            <a:spAutoFit/>
          </a:bodyPr>
          <a:lstStyle/>
          <a:p>
            <a:pPr algn="l"/>
            <a:r>
              <a:rPr lang="en-US" altLang="zh-CN" sz="2000" b="1" i="0" dirty="0">
                <a:solidFill>
                  <a:srgbClr val="000000"/>
                </a:solidFill>
                <a:effectLst/>
                <a:latin typeface="Helvetica Neue"/>
              </a:rPr>
              <a:t>SVM</a:t>
            </a:r>
            <a:r>
              <a:rPr lang="zh-CN" altLang="en-US" sz="2000" b="1" i="0" dirty="0">
                <a:solidFill>
                  <a:srgbClr val="000000"/>
                </a:solidFill>
                <a:effectLst/>
                <a:latin typeface="Helvetica Neue"/>
              </a:rPr>
              <a:t>分类器</a:t>
            </a:r>
          </a:p>
        </p:txBody>
      </p:sp>
      <p:grpSp>
        <p:nvGrpSpPr>
          <p:cNvPr id="6" name="组合 5">
            <a:extLst>
              <a:ext uri="{FF2B5EF4-FFF2-40B4-BE49-F238E27FC236}">
                <a16:creationId xmlns:a16="http://schemas.microsoft.com/office/drawing/2014/main" id="{DD09B820-C813-43EE-AC6A-E3B307C950AE}"/>
              </a:ext>
            </a:extLst>
          </p:cNvPr>
          <p:cNvGrpSpPr/>
          <p:nvPr/>
        </p:nvGrpSpPr>
        <p:grpSpPr>
          <a:xfrm>
            <a:off x="422902" y="3579352"/>
            <a:ext cx="5616870" cy="1191435"/>
            <a:chOff x="422902" y="3688553"/>
            <a:chExt cx="5616870" cy="1191435"/>
          </a:xfrm>
        </p:grpSpPr>
        <p:sp>
          <p:nvSpPr>
            <p:cNvPr id="24" name="文本框 23">
              <a:extLst>
                <a:ext uri="{FF2B5EF4-FFF2-40B4-BE49-F238E27FC236}">
                  <a16:creationId xmlns:a16="http://schemas.microsoft.com/office/drawing/2014/main" id="{85A603B8-DA1E-4F70-B80A-BA60F04EE35F}"/>
                </a:ext>
              </a:extLst>
            </p:cNvPr>
            <p:cNvSpPr txBox="1"/>
            <p:nvPr/>
          </p:nvSpPr>
          <p:spPr>
            <a:xfrm>
              <a:off x="1350997" y="3688553"/>
              <a:ext cx="3994484" cy="369332"/>
            </a:xfrm>
            <a:prstGeom prst="rect">
              <a:avLst/>
            </a:prstGeom>
            <a:noFill/>
          </p:spPr>
          <p:txBody>
            <a:bodyPr wrap="square">
              <a:spAutoFit/>
            </a:bodyPr>
            <a:lstStyle/>
            <a:p>
              <a:pPr algn="l"/>
              <a:r>
                <a:rPr lang="zh-CN" altLang="en-US" b="1" i="0" dirty="0">
                  <a:solidFill>
                    <a:srgbClr val="000000"/>
                  </a:solidFill>
                  <a:effectLst/>
                  <a:latin typeface="Inter"/>
                </a:rPr>
                <a:t>时间滞后（</a:t>
              </a:r>
              <a:r>
                <a:rPr lang="en-US" altLang="zh-CN" b="1" i="0" dirty="0" err="1">
                  <a:solidFill>
                    <a:srgbClr val="000000"/>
                  </a:solidFill>
                  <a:effectLst/>
                  <a:latin typeface="Inter"/>
                </a:rPr>
                <a:t>TimeLag</a:t>
              </a:r>
              <a:r>
                <a:rPr lang="zh-CN" altLang="en-US" b="1" i="0" dirty="0">
                  <a:solidFill>
                    <a:srgbClr val="000000"/>
                  </a:solidFill>
                  <a:effectLst/>
                  <a:latin typeface="Inter"/>
                </a:rPr>
                <a:t>）</a:t>
              </a:r>
            </a:p>
          </p:txBody>
        </p:sp>
        <p:pic>
          <p:nvPicPr>
            <p:cNvPr id="4" name="图片 3">
              <a:extLst>
                <a:ext uri="{FF2B5EF4-FFF2-40B4-BE49-F238E27FC236}">
                  <a16:creationId xmlns:a16="http://schemas.microsoft.com/office/drawing/2014/main" id="{3F6860D2-A73A-432A-BD04-CABC0E91FEE7}"/>
                </a:ext>
              </a:extLst>
            </p:cNvPr>
            <p:cNvPicPr>
              <a:picLocks noChangeAspect="1"/>
            </p:cNvPicPr>
            <p:nvPr/>
          </p:nvPicPr>
          <p:blipFill>
            <a:blip r:embed="rId6"/>
            <a:stretch>
              <a:fillRect/>
            </a:stretch>
          </p:blipFill>
          <p:spPr>
            <a:xfrm>
              <a:off x="422902" y="3750236"/>
              <a:ext cx="928095" cy="1099739"/>
            </a:xfrm>
            <a:prstGeom prst="rect">
              <a:avLst/>
            </a:prstGeom>
          </p:spPr>
        </p:pic>
        <p:sp>
          <p:nvSpPr>
            <p:cNvPr id="25" name="文本框 24">
              <a:extLst>
                <a:ext uri="{FF2B5EF4-FFF2-40B4-BE49-F238E27FC236}">
                  <a16:creationId xmlns:a16="http://schemas.microsoft.com/office/drawing/2014/main" id="{717E175B-4BE1-4F98-B70F-6FF168485D6E}"/>
                </a:ext>
              </a:extLst>
            </p:cNvPr>
            <p:cNvSpPr txBox="1"/>
            <p:nvPr/>
          </p:nvSpPr>
          <p:spPr>
            <a:xfrm>
              <a:off x="1341059" y="3921812"/>
              <a:ext cx="4698713" cy="958176"/>
            </a:xfrm>
            <a:prstGeom prst="rect">
              <a:avLst/>
            </a:prstGeom>
            <a:noFill/>
          </p:spPr>
          <p:txBody>
            <a:bodyPr wrap="square">
              <a:spAutoFit/>
            </a:bodyPr>
            <a:lstStyle/>
            <a:p>
              <a:r>
                <a:rPr lang="zh-CN" altLang="en-US" b="0" i="0" dirty="0">
                  <a:solidFill>
                    <a:srgbClr val="333333"/>
                  </a:solidFill>
                  <a:effectLst/>
                  <a:latin typeface="Helvetica Neue"/>
                </a:rPr>
                <a:t>该特征</a:t>
              </a:r>
              <a:r>
                <a:rPr lang="zh-CN" altLang="en-US" b="1" i="0" dirty="0">
                  <a:solidFill>
                    <a:srgbClr val="333333"/>
                  </a:solidFill>
                  <a:effectLst/>
                  <a:latin typeface="Helvetica Neue"/>
                </a:rPr>
                <a:t>基于跌倒和类跌倒活动在信号功率谱上的差异</a:t>
              </a:r>
              <a:r>
                <a:rPr lang="zh-CN" altLang="en-US" b="0" i="0" dirty="0">
                  <a:solidFill>
                    <a:srgbClr val="333333"/>
                  </a:solidFill>
                  <a:effectLst/>
                  <a:latin typeface="Helvetica Neue"/>
                </a:rPr>
                <a:t>提出，</a:t>
              </a:r>
              <a:r>
                <a:rPr lang="zh-CN" altLang="en-US" b="1" i="0" dirty="0">
                  <a:solidFill>
                    <a:srgbClr val="333333"/>
                  </a:solidFill>
                  <a:effectLst/>
                  <a:latin typeface="Helvetica Neue"/>
                </a:rPr>
                <a:t>表征带通滤波后相位差与原始相位差状态过渡点的</a:t>
              </a:r>
              <a:r>
                <a:rPr lang="zh-CN" altLang="en-US" b="1" i="0" dirty="0">
                  <a:solidFill>
                    <a:srgbClr val="FF0000"/>
                  </a:solidFill>
                  <a:effectLst/>
                  <a:latin typeface="Helvetica Neue"/>
                </a:rPr>
                <a:t>时间延迟。</a:t>
              </a:r>
              <a:endParaRPr lang="zh-CN" altLang="en-US" b="1" dirty="0">
                <a:solidFill>
                  <a:srgbClr val="FF0000"/>
                </a:solidFill>
              </a:endParaRPr>
            </a:p>
          </p:txBody>
        </p:sp>
      </p:grpSp>
      <p:sp>
        <p:nvSpPr>
          <p:cNvPr id="27" name="文本框 26">
            <a:extLst>
              <a:ext uri="{FF2B5EF4-FFF2-40B4-BE49-F238E27FC236}">
                <a16:creationId xmlns:a16="http://schemas.microsoft.com/office/drawing/2014/main" id="{43629117-7075-4F85-9612-74DC55194C5D}"/>
              </a:ext>
            </a:extLst>
          </p:cNvPr>
          <p:cNvSpPr txBox="1"/>
          <p:nvPr/>
        </p:nvSpPr>
        <p:spPr>
          <a:xfrm>
            <a:off x="364886" y="4841625"/>
            <a:ext cx="4274556" cy="369332"/>
          </a:xfrm>
          <a:prstGeom prst="rect">
            <a:avLst/>
          </a:prstGeom>
          <a:noFill/>
        </p:spPr>
        <p:txBody>
          <a:bodyPr wrap="square">
            <a:spAutoFit/>
          </a:bodyPr>
          <a:lstStyle/>
          <a:p>
            <a:r>
              <a:rPr lang="zh-CN" altLang="en-US" b="1" i="0" dirty="0">
                <a:solidFill>
                  <a:srgbClr val="000000"/>
                </a:solidFill>
                <a:effectLst/>
                <a:latin typeface="Helvetica Neue"/>
              </a:rPr>
              <a:t>功率下降比（</a:t>
            </a:r>
            <a:r>
              <a:rPr lang="en-US" altLang="zh-CN" b="1" i="0" dirty="0">
                <a:solidFill>
                  <a:srgbClr val="000000"/>
                </a:solidFill>
                <a:effectLst/>
                <a:latin typeface="Helvetica Neue"/>
              </a:rPr>
              <a:t>PDR</a:t>
            </a:r>
            <a:r>
              <a:rPr lang="zh-CN" altLang="en-US" b="1" i="0" dirty="0">
                <a:solidFill>
                  <a:srgbClr val="000000"/>
                </a:solidFill>
                <a:effectLst/>
                <a:latin typeface="Helvetica Neue"/>
              </a:rPr>
              <a:t>）</a:t>
            </a:r>
            <a:endParaRPr lang="zh-CN" altLang="en-US" dirty="0"/>
          </a:p>
        </p:txBody>
      </p:sp>
      <p:pic>
        <p:nvPicPr>
          <p:cNvPr id="29" name="图片 28">
            <a:extLst>
              <a:ext uri="{FF2B5EF4-FFF2-40B4-BE49-F238E27FC236}">
                <a16:creationId xmlns:a16="http://schemas.microsoft.com/office/drawing/2014/main" id="{D698C1D3-417D-4D35-B8F1-A38AAD8AD4BC}"/>
              </a:ext>
            </a:extLst>
          </p:cNvPr>
          <p:cNvPicPr>
            <a:picLocks noChangeAspect="1"/>
          </p:cNvPicPr>
          <p:nvPr/>
        </p:nvPicPr>
        <p:blipFill>
          <a:blip r:embed="rId7"/>
          <a:stretch>
            <a:fillRect/>
          </a:stretch>
        </p:blipFill>
        <p:spPr>
          <a:xfrm>
            <a:off x="382637" y="5196281"/>
            <a:ext cx="3165482" cy="755933"/>
          </a:xfrm>
          <a:prstGeom prst="rect">
            <a:avLst/>
          </a:prstGeom>
        </p:spPr>
      </p:pic>
      <p:sp>
        <p:nvSpPr>
          <p:cNvPr id="31" name="文本框 30">
            <a:extLst>
              <a:ext uri="{FF2B5EF4-FFF2-40B4-BE49-F238E27FC236}">
                <a16:creationId xmlns:a16="http://schemas.microsoft.com/office/drawing/2014/main" id="{5CE68EFD-C07F-4ED7-94ED-318334FFED50}"/>
              </a:ext>
            </a:extLst>
          </p:cNvPr>
          <p:cNvSpPr txBox="1"/>
          <p:nvPr/>
        </p:nvSpPr>
        <p:spPr>
          <a:xfrm>
            <a:off x="373821" y="5977824"/>
            <a:ext cx="5408563" cy="738664"/>
          </a:xfrm>
          <a:prstGeom prst="rect">
            <a:avLst/>
          </a:prstGeom>
          <a:noFill/>
        </p:spPr>
        <p:txBody>
          <a:bodyPr wrap="square">
            <a:spAutoFit/>
          </a:bodyPr>
          <a:lstStyle/>
          <a:p>
            <a:r>
              <a:rPr lang="zh-CN" altLang="en-US" sz="1400" b="0" i="0" dirty="0">
                <a:solidFill>
                  <a:srgbClr val="333333"/>
                </a:solidFill>
                <a:effectLst/>
                <a:latin typeface="Helvetica Neue"/>
              </a:rPr>
              <a:t>其中，</a:t>
            </a:r>
            <a:r>
              <a:rPr lang="en-US" altLang="zh-CN" sz="1400" b="0" i="1" dirty="0">
                <a:solidFill>
                  <a:srgbClr val="333333"/>
                </a:solidFill>
                <a:effectLst/>
                <a:latin typeface="KaTeX_Math"/>
              </a:rPr>
              <a:t>t</a:t>
            </a:r>
            <a:r>
              <a:rPr lang="en-US" altLang="zh-CN" sz="1400" b="0" dirty="0">
                <a:solidFill>
                  <a:srgbClr val="333333"/>
                </a:solidFill>
                <a:effectLst/>
                <a:latin typeface="KaTeX_Main"/>
              </a:rPr>
              <a:t>^</a:t>
            </a:r>
            <a:r>
              <a:rPr lang="zh-CN" altLang="en-US" sz="1400" b="0" i="0" dirty="0">
                <a:solidFill>
                  <a:srgbClr val="333333"/>
                </a:solidFill>
                <a:effectLst/>
                <a:latin typeface="Helvetica Neue"/>
              </a:rPr>
              <a:t>为结束点，</a:t>
            </a:r>
            <a:r>
              <a:rPr lang="en-US" altLang="zh-CN" sz="1400" b="0" i="1" dirty="0">
                <a:solidFill>
                  <a:srgbClr val="333333"/>
                </a:solidFill>
                <a:effectLst/>
                <a:latin typeface="KaTeX_Math"/>
              </a:rPr>
              <a:t>t</a:t>
            </a:r>
            <a:r>
              <a:rPr lang="en-US" altLang="zh-CN" sz="1400" b="0" dirty="0">
                <a:solidFill>
                  <a:srgbClr val="333333"/>
                </a:solidFill>
                <a:effectLst/>
                <a:latin typeface="KaTeX_Main"/>
              </a:rPr>
              <a:t>^−1​</a:t>
            </a:r>
            <a:r>
              <a:rPr lang="zh-CN" altLang="en-US" sz="1400" b="0" i="0" dirty="0">
                <a:solidFill>
                  <a:srgbClr val="333333"/>
                </a:solidFill>
                <a:effectLst/>
                <a:latin typeface="Helvetica Neue"/>
              </a:rPr>
              <a:t>为</a:t>
            </a:r>
            <a:r>
              <a:rPr lang="en-US" altLang="zh-CN" sz="1400" b="0" i="1" dirty="0">
                <a:solidFill>
                  <a:srgbClr val="333333"/>
                </a:solidFill>
                <a:effectLst/>
                <a:latin typeface="KaTeX_Math"/>
              </a:rPr>
              <a:t>t</a:t>
            </a:r>
            <a:r>
              <a:rPr lang="en-US" altLang="zh-CN" sz="1400" b="0" dirty="0">
                <a:solidFill>
                  <a:srgbClr val="333333"/>
                </a:solidFill>
                <a:effectLst/>
                <a:latin typeface="KaTeX_Main"/>
              </a:rPr>
              <a:t>^</a:t>
            </a:r>
            <a:r>
              <a:rPr lang="zh-CN" altLang="en-US" sz="1400" b="0" i="0" dirty="0">
                <a:solidFill>
                  <a:srgbClr val="333333"/>
                </a:solidFill>
                <a:effectLst/>
                <a:latin typeface="Helvetica Neue"/>
              </a:rPr>
              <a:t>前</a:t>
            </a:r>
            <a:r>
              <a:rPr lang="en-US" altLang="zh-CN" sz="1400" b="0" i="0" dirty="0">
                <a:solidFill>
                  <a:srgbClr val="333333"/>
                </a:solidFill>
                <a:effectLst/>
                <a:latin typeface="Helvetica Neue"/>
              </a:rPr>
              <a:t>1</a:t>
            </a:r>
            <a:r>
              <a:rPr lang="zh-CN" altLang="en-US" sz="1400" b="0" i="0" dirty="0">
                <a:solidFill>
                  <a:srgbClr val="333333"/>
                </a:solidFill>
                <a:effectLst/>
                <a:latin typeface="Helvetica Neue"/>
              </a:rPr>
              <a:t>秒的时刻，</a:t>
            </a:r>
            <a:r>
              <a:rPr lang="en-US" altLang="zh-CN" sz="1400" b="0" i="1" dirty="0">
                <a:solidFill>
                  <a:srgbClr val="333333"/>
                </a:solidFill>
                <a:effectLst/>
                <a:latin typeface="KaTeX_Math"/>
              </a:rPr>
              <a:t>t</a:t>
            </a:r>
            <a:r>
              <a:rPr lang="en-US" altLang="zh-CN" sz="1400" b="0" dirty="0">
                <a:solidFill>
                  <a:srgbClr val="333333"/>
                </a:solidFill>
                <a:effectLst/>
                <a:latin typeface="KaTeX_Main"/>
              </a:rPr>
              <a:t>^+1​</a:t>
            </a:r>
            <a:r>
              <a:rPr lang="zh-CN" altLang="en-US" sz="1400" b="0" i="0" dirty="0">
                <a:solidFill>
                  <a:srgbClr val="333333"/>
                </a:solidFill>
                <a:effectLst/>
                <a:latin typeface="Helvetica Neue"/>
              </a:rPr>
              <a:t>为</a:t>
            </a:r>
            <a:r>
              <a:rPr lang="en-US" altLang="zh-CN" sz="1400" b="0" i="1" dirty="0">
                <a:solidFill>
                  <a:srgbClr val="333333"/>
                </a:solidFill>
                <a:effectLst/>
                <a:latin typeface="KaTeX_Math"/>
              </a:rPr>
              <a:t>t</a:t>
            </a:r>
            <a:r>
              <a:rPr lang="en-US" altLang="zh-CN" sz="1400" b="0" dirty="0">
                <a:solidFill>
                  <a:srgbClr val="333333"/>
                </a:solidFill>
                <a:effectLst/>
                <a:latin typeface="KaTeX_Main"/>
              </a:rPr>
              <a:t>^</a:t>
            </a:r>
            <a:r>
              <a:rPr lang="zh-CN" altLang="en-US" sz="1400" b="0" i="0" dirty="0">
                <a:solidFill>
                  <a:srgbClr val="333333"/>
                </a:solidFill>
                <a:effectLst/>
                <a:latin typeface="Helvetica Neue"/>
              </a:rPr>
              <a:t>后</a:t>
            </a:r>
            <a:r>
              <a:rPr lang="en-US" altLang="zh-CN" sz="1400" b="0" i="0" dirty="0">
                <a:solidFill>
                  <a:srgbClr val="333333"/>
                </a:solidFill>
                <a:effectLst/>
                <a:latin typeface="Helvetica Neue"/>
              </a:rPr>
              <a:t>1</a:t>
            </a:r>
            <a:r>
              <a:rPr lang="zh-CN" altLang="en-US" sz="1400" b="0" i="0" dirty="0">
                <a:solidFill>
                  <a:srgbClr val="333333"/>
                </a:solidFill>
                <a:effectLst/>
                <a:latin typeface="Helvetica Neue"/>
              </a:rPr>
              <a:t>秒的时刻；</a:t>
            </a:r>
            <a:r>
              <a:rPr lang="en-US" altLang="zh-CN" sz="1400" b="0" i="1" dirty="0" err="1">
                <a:solidFill>
                  <a:srgbClr val="333333"/>
                </a:solidFill>
                <a:effectLst/>
                <a:latin typeface="KaTeX_Math"/>
              </a:rPr>
              <a:t>fl</a:t>
            </a:r>
            <a:r>
              <a:rPr lang="zh-CN" altLang="en-US" sz="1400" b="0" dirty="0">
                <a:solidFill>
                  <a:srgbClr val="333333"/>
                </a:solidFill>
                <a:effectLst/>
                <a:latin typeface="KaTeX_Main"/>
              </a:rPr>
              <a:t>​</a:t>
            </a:r>
            <a:r>
              <a:rPr lang="zh-CN" altLang="en-US" sz="1400" b="0" i="0" dirty="0">
                <a:solidFill>
                  <a:srgbClr val="333333"/>
                </a:solidFill>
                <a:effectLst/>
                <a:latin typeface="Helvetica Neue"/>
              </a:rPr>
              <a:t>和</a:t>
            </a:r>
            <a:r>
              <a:rPr lang="en-US" altLang="zh-CN" sz="1400" b="0" i="1" dirty="0" err="1">
                <a:solidFill>
                  <a:srgbClr val="333333"/>
                </a:solidFill>
                <a:effectLst/>
                <a:latin typeface="KaTeX_Math"/>
              </a:rPr>
              <a:t>fh</a:t>
            </a:r>
            <a:r>
              <a:rPr lang="zh-CN" altLang="en-US" sz="1400" b="0" dirty="0">
                <a:solidFill>
                  <a:srgbClr val="333333"/>
                </a:solidFill>
                <a:effectLst/>
                <a:latin typeface="KaTeX_Main"/>
              </a:rPr>
              <a:t>​</a:t>
            </a:r>
            <a:r>
              <a:rPr lang="zh-CN" altLang="en-US" sz="1400" b="0" i="0" dirty="0">
                <a:solidFill>
                  <a:srgbClr val="333333"/>
                </a:solidFill>
                <a:effectLst/>
                <a:latin typeface="Helvetica Neue"/>
              </a:rPr>
              <a:t>分别为频率范围的下限和上限（</a:t>
            </a:r>
            <a:r>
              <a:rPr lang="en-US" altLang="zh-CN" sz="1400" b="0" i="0" dirty="0">
                <a:solidFill>
                  <a:srgbClr val="333333"/>
                </a:solidFill>
                <a:effectLst/>
                <a:latin typeface="Helvetica Neue"/>
              </a:rPr>
              <a:t>[0, 50 Hz]</a:t>
            </a:r>
            <a:r>
              <a:rPr lang="zh-CN" altLang="en-US" sz="1400" b="0" i="0" dirty="0">
                <a:solidFill>
                  <a:srgbClr val="333333"/>
                </a:solidFill>
                <a:effectLst/>
                <a:latin typeface="Helvetica Neue"/>
              </a:rPr>
              <a:t>）；</a:t>
            </a:r>
            <a:r>
              <a:rPr lang="en-US" altLang="zh-CN" sz="1400" b="0" i="1" dirty="0" err="1">
                <a:solidFill>
                  <a:srgbClr val="333333"/>
                </a:solidFill>
                <a:effectLst/>
                <a:latin typeface="KaTeX_Math"/>
              </a:rPr>
              <a:t>et</a:t>
            </a:r>
            <a:r>
              <a:rPr lang="en-US" altLang="zh-CN" sz="1400" b="0" dirty="0" err="1">
                <a:solidFill>
                  <a:srgbClr val="333333"/>
                </a:solidFill>
                <a:effectLst/>
                <a:latin typeface="KaTeX_Main"/>
              </a:rPr>
              <a:t>,</a:t>
            </a:r>
            <a:r>
              <a:rPr lang="en-US" altLang="zh-CN" sz="1400" b="0" i="1" dirty="0" err="1">
                <a:solidFill>
                  <a:srgbClr val="333333"/>
                </a:solidFill>
                <a:effectLst/>
                <a:latin typeface="KaTeX_Math"/>
              </a:rPr>
              <a:t>f</a:t>
            </a:r>
            <a:r>
              <a:rPr lang="zh-CN" altLang="en-US" sz="1400" b="0" dirty="0">
                <a:solidFill>
                  <a:srgbClr val="333333"/>
                </a:solidFill>
                <a:effectLst/>
                <a:latin typeface="KaTeX_Main"/>
              </a:rPr>
              <a:t>​</a:t>
            </a:r>
            <a:r>
              <a:rPr lang="zh-CN" altLang="en-US" sz="1400" b="0" i="0" dirty="0">
                <a:solidFill>
                  <a:srgbClr val="333333"/>
                </a:solidFill>
                <a:effectLst/>
                <a:latin typeface="Helvetica Neue"/>
              </a:rPr>
              <a:t>为时刻</a:t>
            </a:r>
            <a:r>
              <a:rPr lang="en-US" altLang="zh-CN" sz="1400" b="0" i="1" dirty="0">
                <a:solidFill>
                  <a:srgbClr val="333333"/>
                </a:solidFill>
                <a:effectLst/>
                <a:latin typeface="KaTeX_Math"/>
              </a:rPr>
              <a:t>t</a:t>
            </a:r>
            <a:r>
              <a:rPr lang="zh-CN" altLang="en-US" sz="1400" b="0" i="0" dirty="0">
                <a:solidFill>
                  <a:srgbClr val="333333"/>
                </a:solidFill>
                <a:effectLst/>
                <a:latin typeface="Helvetica Neue"/>
              </a:rPr>
              <a:t>、频率</a:t>
            </a:r>
            <a:r>
              <a:rPr lang="en-US" altLang="zh-CN" sz="1400" b="0" i="1" dirty="0">
                <a:solidFill>
                  <a:srgbClr val="333333"/>
                </a:solidFill>
                <a:effectLst/>
                <a:latin typeface="KaTeX_Math"/>
              </a:rPr>
              <a:t>f</a:t>
            </a:r>
            <a:r>
              <a:rPr lang="zh-CN" altLang="en-US" sz="1400" b="0" i="0" dirty="0">
                <a:solidFill>
                  <a:srgbClr val="333333"/>
                </a:solidFill>
                <a:effectLst/>
                <a:latin typeface="Helvetica Neue"/>
              </a:rPr>
              <a:t>处的功率强度；</a:t>
            </a:r>
            <a:r>
              <a:rPr lang="en-US" altLang="zh-CN" sz="1400" b="0" i="1" dirty="0" err="1">
                <a:solidFill>
                  <a:srgbClr val="333333"/>
                </a:solidFill>
                <a:effectLst/>
                <a:latin typeface="KaTeX_Math"/>
              </a:rPr>
              <a:t>ωf</a:t>
            </a:r>
            <a:r>
              <a:rPr lang="zh-CN" altLang="en-US" sz="1400" b="0" dirty="0">
                <a:solidFill>
                  <a:srgbClr val="333333"/>
                </a:solidFill>
                <a:effectLst/>
                <a:latin typeface="KaTeX_Main"/>
              </a:rPr>
              <a:t>​</a:t>
            </a:r>
            <a:r>
              <a:rPr lang="zh-CN" altLang="en-US" sz="1400" b="0" i="0" dirty="0">
                <a:solidFill>
                  <a:srgbClr val="333333"/>
                </a:solidFill>
                <a:effectLst/>
                <a:latin typeface="Helvetica Neue"/>
              </a:rPr>
              <a:t>为每个频率</a:t>
            </a:r>
            <a:r>
              <a:rPr lang="en-US" altLang="zh-CN" sz="1400" b="0" i="1" dirty="0">
                <a:solidFill>
                  <a:srgbClr val="333333"/>
                </a:solidFill>
                <a:effectLst/>
                <a:latin typeface="KaTeX_Math"/>
              </a:rPr>
              <a:t>f</a:t>
            </a:r>
            <a:r>
              <a:rPr lang="zh-CN" altLang="en-US" sz="1400" b="0" i="0" dirty="0">
                <a:solidFill>
                  <a:srgbClr val="333333"/>
                </a:solidFill>
                <a:effectLst/>
                <a:latin typeface="Helvetica Neue"/>
              </a:rPr>
              <a:t>的权重向量。</a:t>
            </a:r>
            <a:endParaRPr lang="zh-CN" altLang="en-US" dirty="0"/>
          </a:p>
        </p:txBody>
      </p:sp>
      <p:sp>
        <p:nvSpPr>
          <p:cNvPr id="32" name="矩形 31">
            <a:extLst>
              <a:ext uri="{FF2B5EF4-FFF2-40B4-BE49-F238E27FC236}">
                <a16:creationId xmlns:a16="http://schemas.microsoft.com/office/drawing/2014/main" id="{37A2C456-36E2-4E72-BB89-E83A8256AAFF}"/>
              </a:ext>
            </a:extLst>
          </p:cNvPr>
          <p:cNvSpPr/>
          <p:nvPr/>
        </p:nvSpPr>
        <p:spPr>
          <a:xfrm>
            <a:off x="329102" y="3585437"/>
            <a:ext cx="5586178" cy="1185350"/>
          </a:xfrm>
          <a:prstGeom prst="rect">
            <a:avLst/>
          </a:prstGeom>
          <a:noFill/>
          <a:ln w="28575">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id="{DF8A737A-2048-4CE1-991C-8BD0639ECF86}"/>
              </a:ext>
            </a:extLst>
          </p:cNvPr>
          <p:cNvSpPr/>
          <p:nvPr/>
        </p:nvSpPr>
        <p:spPr>
          <a:xfrm>
            <a:off x="330046" y="4842225"/>
            <a:ext cx="5585233" cy="1874264"/>
          </a:xfrm>
          <a:prstGeom prst="rect">
            <a:avLst/>
          </a:prstGeom>
          <a:noFill/>
          <a:ln w="28575">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FADEA095-F284-4F99-9B63-F1D57BE1E40B}"/>
              </a:ext>
            </a:extLst>
          </p:cNvPr>
          <p:cNvSpPr txBox="1"/>
          <p:nvPr/>
        </p:nvSpPr>
        <p:spPr>
          <a:xfrm>
            <a:off x="6483415" y="2117931"/>
            <a:ext cx="5461537" cy="923330"/>
          </a:xfrm>
          <a:prstGeom prst="rect">
            <a:avLst/>
          </a:prstGeom>
          <a:noFill/>
        </p:spPr>
        <p:txBody>
          <a:bodyPr wrap="square">
            <a:spAutoFit/>
          </a:bodyPr>
          <a:lstStyle/>
          <a:p>
            <a:pPr algn="l"/>
            <a:r>
              <a:rPr lang="zh-CN" altLang="en-US" b="0" i="0" dirty="0">
                <a:solidFill>
                  <a:srgbClr val="000000"/>
                </a:solidFill>
                <a:effectLst/>
                <a:latin typeface="Inter"/>
              </a:rPr>
              <a:t>输入</a:t>
            </a:r>
            <a:r>
              <a:rPr lang="en-US" altLang="zh-CN" b="0" i="0" dirty="0">
                <a:solidFill>
                  <a:srgbClr val="000000"/>
                </a:solidFill>
                <a:effectLst/>
                <a:latin typeface="Inter"/>
              </a:rPr>
              <a:t>8</a:t>
            </a:r>
            <a:r>
              <a:rPr lang="zh-CN" altLang="en-US" b="0" i="0" dirty="0">
                <a:solidFill>
                  <a:srgbClr val="000000"/>
                </a:solidFill>
                <a:effectLst/>
                <a:latin typeface="Inter"/>
              </a:rPr>
              <a:t>类特征，输出两种类别的分类：</a:t>
            </a:r>
          </a:p>
          <a:p>
            <a:pPr algn="l"/>
            <a:r>
              <a:rPr lang="zh-CN" altLang="en-US" b="0" i="0" dirty="0">
                <a:solidFill>
                  <a:srgbClr val="FF0000"/>
                </a:solidFill>
                <a:effectLst/>
                <a:latin typeface="Helvetica Neue"/>
              </a:rPr>
              <a:t>      目标类（即跌倒）</a:t>
            </a:r>
            <a:r>
              <a:rPr lang="zh-CN" altLang="en-US" b="0" i="0" dirty="0">
                <a:solidFill>
                  <a:srgbClr val="333333"/>
                </a:solidFill>
                <a:effectLst/>
                <a:latin typeface="Helvetica Neue"/>
              </a:rPr>
              <a:t>和</a:t>
            </a:r>
            <a:r>
              <a:rPr lang="zh-CN" altLang="en-US" b="0" i="0" dirty="0">
                <a:solidFill>
                  <a:srgbClr val="FF0000"/>
                </a:solidFill>
                <a:effectLst/>
                <a:latin typeface="Helvetica Neue"/>
              </a:rPr>
              <a:t>非目标类</a:t>
            </a:r>
            <a:r>
              <a:rPr lang="zh-CN" altLang="en-US" b="0" i="0" dirty="0">
                <a:solidFill>
                  <a:srgbClr val="333333"/>
                </a:solidFill>
                <a:effectLst/>
                <a:latin typeface="Helvetica Neue"/>
              </a:rPr>
              <a:t>（即</a:t>
            </a:r>
            <a:r>
              <a:rPr lang="zh-CN" altLang="en-US" b="0" i="0" dirty="0">
                <a:effectLst/>
                <a:latin typeface="Inter"/>
              </a:rPr>
              <a:t>坐下、躺下等</a:t>
            </a:r>
            <a:r>
              <a:rPr lang="zh-CN" altLang="en-US" b="0" i="0" dirty="0">
                <a:solidFill>
                  <a:srgbClr val="FF0000"/>
                </a:solidFill>
                <a:effectLst/>
                <a:latin typeface="Helvetica Neue"/>
              </a:rPr>
              <a:t>类跌倒活动</a:t>
            </a:r>
            <a:r>
              <a:rPr lang="zh-CN" altLang="en-US" b="0" i="0" dirty="0">
                <a:solidFill>
                  <a:srgbClr val="333333"/>
                </a:solidFill>
                <a:effectLst/>
                <a:latin typeface="Helvetica Neue"/>
              </a:rPr>
              <a:t>）。</a:t>
            </a:r>
            <a:endParaRPr lang="en-US" altLang="zh-CN" b="0" i="0" dirty="0">
              <a:solidFill>
                <a:srgbClr val="333333"/>
              </a:solidFill>
              <a:effectLst/>
              <a:latin typeface="Helvetica Neue"/>
            </a:endParaRPr>
          </a:p>
        </p:txBody>
      </p:sp>
      <p:sp>
        <p:nvSpPr>
          <p:cNvPr id="38" name="文本框 37">
            <a:extLst>
              <a:ext uri="{FF2B5EF4-FFF2-40B4-BE49-F238E27FC236}">
                <a16:creationId xmlns:a16="http://schemas.microsoft.com/office/drawing/2014/main" id="{3D97EB9A-877E-4B1E-BB24-990C89C10646}"/>
              </a:ext>
            </a:extLst>
          </p:cNvPr>
          <p:cNvSpPr txBox="1"/>
          <p:nvPr/>
        </p:nvSpPr>
        <p:spPr>
          <a:xfrm>
            <a:off x="6486340" y="3540445"/>
            <a:ext cx="5529482" cy="1200329"/>
          </a:xfrm>
          <a:prstGeom prst="rect">
            <a:avLst/>
          </a:prstGeom>
          <a:noFill/>
        </p:spPr>
        <p:txBody>
          <a:bodyPr wrap="square">
            <a:spAutoFit/>
          </a:bodyPr>
          <a:lstStyle/>
          <a:p>
            <a:r>
              <a:rPr lang="zh-CN" altLang="en-US" b="0" i="0" dirty="0">
                <a:solidFill>
                  <a:srgbClr val="333333"/>
                </a:solidFill>
                <a:effectLst/>
                <a:latin typeface="Helvetica Neue"/>
              </a:rPr>
              <a:t>利用</a:t>
            </a:r>
            <a:r>
              <a:rPr lang="en-US" altLang="zh-CN" b="0" i="0" dirty="0" err="1">
                <a:solidFill>
                  <a:srgbClr val="333333"/>
                </a:solidFill>
                <a:effectLst/>
                <a:latin typeface="Helvetica Neue"/>
              </a:rPr>
              <a:t>LibSVM</a:t>
            </a:r>
            <a:r>
              <a:rPr lang="zh-CN" altLang="en-US" b="0" i="0" dirty="0">
                <a:solidFill>
                  <a:srgbClr val="333333"/>
                </a:solidFill>
                <a:effectLst/>
                <a:latin typeface="Helvetica Neue"/>
              </a:rPr>
              <a:t>构建</a:t>
            </a:r>
            <a:r>
              <a:rPr lang="en-US" altLang="zh-CN" b="1" i="1" dirty="0">
                <a:solidFill>
                  <a:srgbClr val="333333"/>
                </a:solidFill>
                <a:effectLst/>
                <a:latin typeface="KaTeX_Math"/>
              </a:rPr>
              <a:t>ν</a:t>
            </a:r>
            <a:r>
              <a:rPr lang="en-US" altLang="zh-CN" b="1" i="0" dirty="0">
                <a:solidFill>
                  <a:srgbClr val="333333"/>
                </a:solidFill>
                <a:effectLst/>
                <a:latin typeface="Helvetica Neue"/>
              </a:rPr>
              <a:t>-SVM</a:t>
            </a:r>
            <a:r>
              <a:rPr lang="zh-CN" altLang="en-US" b="1" i="0" dirty="0">
                <a:solidFill>
                  <a:srgbClr val="333333"/>
                </a:solidFill>
                <a:effectLst/>
                <a:latin typeface="Helvetica Neue"/>
              </a:rPr>
              <a:t>分类模型</a:t>
            </a:r>
            <a:r>
              <a:rPr lang="zh-CN" altLang="en-US" b="0" i="0" dirty="0">
                <a:solidFill>
                  <a:srgbClr val="333333"/>
                </a:solidFill>
                <a:effectLst/>
                <a:latin typeface="Helvetica Neue"/>
              </a:rPr>
              <a:t>，选择高斯径向基函数（</a:t>
            </a:r>
            <a:r>
              <a:rPr lang="en-US" altLang="zh-CN" b="0" i="0" dirty="0">
                <a:solidFill>
                  <a:srgbClr val="333333"/>
                </a:solidFill>
                <a:effectLst/>
                <a:latin typeface="Helvetica Neue"/>
              </a:rPr>
              <a:t>RBF</a:t>
            </a:r>
            <a:r>
              <a:rPr lang="zh-CN" altLang="en-US" b="0" i="0" dirty="0">
                <a:solidFill>
                  <a:srgbClr val="333333"/>
                </a:solidFill>
                <a:effectLst/>
                <a:latin typeface="Helvetica Neue"/>
              </a:rPr>
              <a:t>）作为核函数</a:t>
            </a:r>
            <a:r>
              <a:rPr lang="zh-CN" altLang="en-US" b="1" i="0" dirty="0">
                <a:solidFill>
                  <a:srgbClr val="333333"/>
                </a:solidFill>
                <a:effectLst/>
                <a:latin typeface="Helvetica Neue"/>
              </a:rPr>
              <a:t>（解决非线性分类问题）</a:t>
            </a:r>
            <a:r>
              <a:rPr lang="zh-CN" altLang="en-US" b="0" i="0" dirty="0">
                <a:solidFill>
                  <a:srgbClr val="333333"/>
                </a:solidFill>
                <a:effectLst/>
                <a:latin typeface="Helvetica Neue"/>
              </a:rPr>
              <a:t>，并将参数</a:t>
            </a:r>
            <a:r>
              <a:rPr lang="en-US" altLang="zh-CN" b="0" i="1" dirty="0">
                <a:solidFill>
                  <a:srgbClr val="333333"/>
                </a:solidFill>
                <a:effectLst/>
                <a:latin typeface="KaTeX_Math"/>
              </a:rPr>
              <a:t>ν</a:t>
            </a:r>
            <a:r>
              <a:rPr lang="zh-CN" altLang="en-US" b="0" i="0" dirty="0">
                <a:solidFill>
                  <a:srgbClr val="333333"/>
                </a:solidFill>
                <a:effectLst/>
                <a:latin typeface="Helvetica Neue"/>
              </a:rPr>
              <a:t>设置为</a:t>
            </a:r>
            <a:r>
              <a:rPr lang="en-US" altLang="zh-CN" b="0" i="0" dirty="0">
                <a:solidFill>
                  <a:srgbClr val="333333"/>
                </a:solidFill>
                <a:effectLst/>
                <a:latin typeface="Helvetica Neue"/>
              </a:rPr>
              <a:t>0.5</a:t>
            </a:r>
            <a:r>
              <a:rPr lang="zh-CN" altLang="en-US" b="0" i="0" dirty="0">
                <a:solidFill>
                  <a:srgbClr val="333333"/>
                </a:solidFill>
                <a:effectLst/>
                <a:latin typeface="Helvetica Neue"/>
              </a:rPr>
              <a:t>（该参数表示训练误差比例的上限和支持向量比例的下限），其他参数采用默认值。</a:t>
            </a:r>
            <a:endParaRPr lang="zh-CN" altLang="en-US" dirty="0"/>
          </a:p>
        </p:txBody>
      </p:sp>
      <p:sp>
        <p:nvSpPr>
          <p:cNvPr id="40" name="文本框 39">
            <a:extLst>
              <a:ext uri="{FF2B5EF4-FFF2-40B4-BE49-F238E27FC236}">
                <a16:creationId xmlns:a16="http://schemas.microsoft.com/office/drawing/2014/main" id="{F5F6103A-E815-4930-9F26-2EBA8450A098}"/>
              </a:ext>
            </a:extLst>
          </p:cNvPr>
          <p:cNvSpPr txBox="1"/>
          <p:nvPr/>
        </p:nvSpPr>
        <p:spPr>
          <a:xfrm>
            <a:off x="6500414" y="5296093"/>
            <a:ext cx="5395242" cy="1200329"/>
          </a:xfrm>
          <a:prstGeom prst="rect">
            <a:avLst/>
          </a:prstGeom>
          <a:noFill/>
        </p:spPr>
        <p:txBody>
          <a:bodyPr wrap="square">
            <a:spAutoFit/>
          </a:bodyPr>
          <a:lstStyle/>
          <a:p>
            <a:r>
              <a:rPr lang="zh-CN" altLang="en-US" b="0" i="0" dirty="0">
                <a:effectLst/>
                <a:latin typeface="Inter"/>
              </a:rPr>
              <a:t>用已标记的 “跌倒 </a:t>
            </a:r>
            <a:r>
              <a:rPr lang="en-US" altLang="zh-CN" b="0" i="0" dirty="0">
                <a:effectLst/>
                <a:latin typeface="Inter"/>
              </a:rPr>
              <a:t>/ </a:t>
            </a:r>
            <a:r>
              <a:rPr lang="zh-CN" altLang="en-US" b="0" i="0" dirty="0">
                <a:effectLst/>
                <a:latin typeface="Inter"/>
              </a:rPr>
              <a:t>类跌倒活动” 特征数据训练模型，确定分类边界；</a:t>
            </a:r>
            <a:endParaRPr lang="en-US" altLang="zh-CN" b="0" i="0" dirty="0">
              <a:effectLst/>
              <a:latin typeface="Inter"/>
            </a:endParaRPr>
          </a:p>
          <a:p>
            <a:r>
              <a:rPr lang="zh-CN" altLang="en-US" b="0" i="0" dirty="0">
                <a:effectLst/>
                <a:latin typeface="Inter"/>
              </a:rPr>
              <a:t>结合用户反馈（如纠正误判），重新标记错误样本并更新模型，持续提升精度。</a:t>
            </a:r>
            <a:endParaRPr lang="zh-CN" altLang="en-US" dirty="0"/>
          </a:p>
        </p:txBody>
      </p:sp>
      <p:cxnSp>
        <p:nvCxnSpPr>
          <p:cNvPr id="41" name="直接连接符 40">
            <a:extLst>
              <a:ext uri="{FF2B5EF4-FFF2-40B4-BE49-F238E27FC236}">
                <a16:creationId xmlns:a16="http://schemas.microsoft.com/office/drawing/2014/main" id="{9E22A00B-471C-4DE2-86F9-1B351CBBD724}"/>
              </a:ext>
            </a:extLst>
          </p:cNvPr>
          <p:cNvCxnSpPr>
            <a:cxnSpLocks/>
          </p:cNvCxnSpPr>
          <p:nvPr/>
        </p:nvCxnSpPr>
        <p:spPr>
          <a:xfrm>
            <a:off x="6276708" y="1711171"/>
            <a:ext cx="0" cy="5146829"/>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0E0F59F1-60FA-40ED-8898-011615A2984F}"/>
              </a:ext>
            </a:extLst>
          </p:cNvPr>
          <p:cNvSpPr txBox="1"/>
          <p:nvPr/>
        </p:nvSpPr>
        <p:spPr>
          <a:xfrm>
            <a:off x="3527059" y="4842224"/>
            <a:ext cx="2423060" cy="1200329"/>
          </a:xfrm>
          <a:prstGeom prst="rect">
            <a:avLst/>
          </a:prstGeom>
          <a:noFill/>
        </p:spPr>
        <p:txBody>
          <a:bodyPr wrap="square">
            <a:spAutoFit/>
          </a:bodyPr>
          <a:lstStyle/>
          <a:p>
            <a:r>
              <a:rPr lang="zh-CN" altLang="en-US" b="0" i="0" dirty="0">
                <a:solidFill>
                  <a:srgbClr val="333333"/>
                </a:solidFill>
                <a:effectLst/>
                <a:latin typeface="Helvetica Neue"/>
              </a:rPr>
              <a:t>计算结束点前后</a:t>
            </a:r>
            <a:r>
              <a:rPr lang="en-US" altLang="zh-CN" b="0" i="0" dirty="0">
                <a:solidFill>
                  <a:srgbClr val="333333"/>
                </a:solidFill>
                <a:effectLst/>
                <a:latin typeface="Helvetica Neue"/>
              </a:rPr>
              <a:t>1</a:t>
            </a:r>
            <a:r>
              <a:rPr lang="zh-CN" altLang="en-US" b="0" i="0" dirty="0">
                <a:solidFill>
                  <a:srgbClr val="333333"/>
                </a:solidFill>
                <a:effectLst/>
                <a:latin typeface="Helvetica Neue"/>
              </a:rPr>
              <a:t>秒的累积功率，将</a:t>
            </a:r>
            <a:r>
              <a:rPr lang="en-US" altLang="zh-CN" b="0" i="0" dirty="0">
                <a:solidFill>
                  <a:srgbClr val="333333"/>
                </a:solidFill>
                <a:effectLst/>
                <a:latin typeface="Helvetica Neue"/>
              </a:rPr>
              <a:t>1</a:t>
            </a:r>
            <a:r>
              <a:rPr lang="zh-CN" altLang="en-US" b="0" i="0" dirty="0">
                <a:solidFill>
                  <a:srgbClr val="333333"/>
                </a:solidFill>
                <a:effectLst/>
                <a:latin typeface="Helvetica Neue"/>
              </a:rPr>
              <a:t>秒内的功率损失除以结束点前</a:t>
            </a:r>
            <a:r>
              <a:rPr lang="en-US" altLang="zh-CN" b="0" i="0" dirty="0">
                <a:solidFill>
                  <a:srgbClr val="333333"/>
                </a:solidFill>
                <a:effectLst/>
                <a:latin typeface="Helvetica Neue"/>
              </a:rPr>
              <a:t>1</a:t>
            </a:r>
            <a:r>
              <a:rPr lang="zh-CN" altLang="en-US" b="0" i="0" dirty="0">
                <a:solidFill>
                  <a:srgbClr val="333333"/>
                </a:solidFill>
                <a:effectLst/>
                <a:latin typeface="Helvetica Neue"/>
              </a:rPr>
              <a:t>秒的累积功率</a:t>
            </a:r>
            <a:endParaRPr lang="zh-CN" altLang="en-US" dirty="0"/>
          </a:p>
        </p:txBody>
      </p:sp>
      <p:sp>
        <p:nvSpPr>
          <p:cNvPr id="28" name="文本框 27">
            <a:extLst>
              <a:ext uri="{FF2B5EF4-FFF2-40B4-BE49-F238E27FC236}">
                <a16:creationId xmlns:a16="http://schemas.microsoft.com/office/drawing/2014/main" id="{A4335E62-AD19-4E40-A8E6-47F8A9095483}"/>
              </a:ext>
            </a:extLst>
          </p:cNvPr>
          <p:cNvSpPr txBox="1"/>
          <p:nvPr/>
        </p:nvSpPr>
        <p:spPr>
          <a:xfrm>
            <a:off x="6472422" y="3191849"/>
            <a:ext cx="4919477" cy="369332"/>
          </a:xfrm>
          <a:prstGeom prst="rect">
            <a:avLst/>
          </a:prstGeom>
          <a:noFill/>
        </p:spPr>
        <p:txBody>
          <a:bodyPr wrap="square">
            <a:spAutoFit/>
          </a:bodyPr>
          <a:lstStyle/>
          <a:p>
            <a:r>
              <a:rPr lang="zh-CN" altLang="en-US" sz="1800" b="1" i="0" dirty="0">
                <a:effectLst/>
                <a:latin typeface="Inter"/>
              </a:rPr>
              <a:t>模型细节</a:t>
            </a:r>
            <a:endParaRPr lang="en-US" altLang="zh-CN" sz="1800" b="1" i="0" dirty="0">
              <a:effectLst/>
              <a:latin typeface="Inter"/>
            </a:endParaRPr>
          </a:p>
        </p:txBody>
      </p:sp>
      <p:sp>
        <p:nvSpPr>
          <p:cNvPr id="30" name="文本框 29">
            <a:extLst>
              <a:ext uri="{FF2B5EF4-FFF2-40B4-BE49-F238E27FC236}">
                <a16:creationId xmlns:a16="http://schemas.microsoft.com/office/drawing/2014/main" id="{5EB803E1-0A0F-4BB0-8B64-7407422B43A2}"/>
              </a:ext>
            </a:extLst>
          </p:cNvPr>
          <p:cNvSpPr txBox="1"/>
          <p:nvPr/>
        </p:nvSpPr>
        <p:spPr>
          <a:xfrm>
            <a:off x="6483415" y="4992910"/>
            <a:ext cx="4740845" cy="369332"/>
          </a:xfrm>
          <a:prstGeom prst="rect">
            <a:avLst/>
          </a:prstGeom>
          <a:noFill/>
        </p:spPr>
        <p:txBody>
          <a:bodyPr wrap="square">
            <a:spAutoFit/>
          </a:bodyPr>
          <a:lstStyle/>
          <a:p>
            <a:r>
              <a:rPr lang="zh-CN" altLang="en-US" b="1" i="0" dirty="0">
                <a:effectLst/>
                <a:latin typeface="Inter"/>
              </a:rPr>
              <a:t>训练过程</a:t>
            </a:r>
            <a:endParaRPr lang="en-US" altLang="zh-CN" b="1" i="0" dirty="0">
              <a:effectLst/>
              <a:latin typeface="Inter"/>
            </a:endParaRPr>
          </a:p>
        </p:txBody>
      </p:sp>
      <p:sp>
        <p:nvSpPr>
          <p:cNvPr id="34" name="矩形 33">
            <a:extLst>
              <a:ext uri="{FF2B5EF4-FFF2-40B4-BE49-F238E27FC236}">
                <a16:creationId xmlns:a16="http://schemas.microsoft.com/office/drawing/2014/main" id="{F33C4BC3-85D2-4C8C-B7F2-BE122072ED1C}"/>
              </a:ext>
            </a:extLst>
          </p:cNvPr>
          <p:cNvSpPr/>
          <p:nvPr/>
        </p:nvSpPr>
        <p:spPr>
          <a:xfrm>
            <a:off x="6534096" y="3164788"/>
            <a:ext cx="5328800" cy="1602342"/>
          </a:xfrm>
          <a:prstGeom prst="rect">
            <a:avLst/>
          </a:prstGeom>
          <a:noFill/>
          <a:ln w="28575">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id="{A4A38896-6AE8-45C5-8AE2-636764990649}"/>
              </a:ext>
            </a:extLst>
          </p:cNvPr>
          <p:cNvSpPr/>
          <p:nvPr/>
        </p:nvSpPr>
        <p:spPr>
          <a:xfrm>
            <a:off x="6534096" y="4968752"/>
            <a:ext cx="5327858" cy="1602342"/>
          </a:xfrm>
          <a:prstGeom prst="rect">
            <a:avLst/>
          </a:prstGeom>
          <a:noFill/>
          <a:ln w="28575">
            <a:solidFill>
              <a:srgbClr val="00B0F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1367813088"/>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80000"/>
            <a:lum/>
          </a:blip>
          <a:srcRect/>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635" y="2031365"/>
            <a:ext cx="12192000" cy="2795905"/>
          </a:xfrm>
          <a:prstGeom prst="rect">
            <a:avLst/>
          </a:prstGeom>
          <a:solidFill>
            <a:schemeClr val="bg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5233272" y="2881663"/>
            <a:ext cx="1723549" cy="1015663"/>
          </a:xfrm>
          <a:prstGeom prst="rect">
            <a:avLst/>
          </a:prstGeom>
          <a:noFill/>
        </p:spPr>
        <p:txBody>
          <a:bodyPr wrap="none" rtlCol="0">
            <a:spAutoFit/>
          </a:bodyPr>
          <a:lstStyle/>
          <a:p>
            <a:r>
              <a:rPr lang="zh-CN" altLang="en-US" sz="6000" dirty="0">
                <a:solidFill>
                  <a:srgbClr val="694B71"/>
                </a:solidFill>
                <a:latin typeface="微软雅黑" panose="020B0503020204020204" pitchFamily="34" charset="-122"/>
                <a:ea typeface="微软雅黑" panose="020B0503020204020204" pitchFamily="34" charset="-122"/>
              </a:rPr>
              <a:t>评估</a:t>
            </a:r>
          </a:p>
        </p:txBody>
      </p:sp>
      <p:grpSp>
        <p:nvGrpSpPr>
          <p:cNvPr id="12" name="组合 11"/>
          <p:cNvGrpSpPr/>
          <p:nvPr/>
        </p:nvGrpSpPr>
        <p:grpSpPr>
          <a:xfrm>
            <a:off x="5555048" y="1471295"/>
            <a:ext cx="1080000" cy="1080000"/>
            <a:chOff x="8049" y="2049"/>
            <a:chExt cx="1701" cy="1701"/>
          </a:xfrm>
        </p:grpSpPr>
        <p:sp>
          <p:nvSpPr>
            <p:cNvPr id="10" name="椭圆 9"/>
            <p:cNvSpPr/>
            <p:nvPr/>
          </p:nvSpPr>
          <p:spPr>
            <a:xfrm>
              <a:off x="8049" y="2049"/>
              <a:ext cx="1701" cy="1701"/>
            </a:xfrm>
            <a:prstGeom prst="ellipse">
              <a:avLst/>
            </a:prstGeom>
            <a:solidFill>
              <a:srgbClr val="BA9FC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8380" y="2440"/>
              <a:ext cx="1048" cy="921"/>
            </a:xfrm>
            <a:prstGeom prst="rect">
              <a:avLst/>
            </a:prstGeom>
            <a:noFill/>
          </p:spPr>
          <p:txBody>
            <a:bodyPr wrap="non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rPr>
                <a:t>05</a:t>
              </a:r>
            </a:p>
          </p:txBody>
        </p:sp>
      </p:grpSp>
    </p:spTree>
    <p:custDataLst>
      <p:tags r:id="rId1"/>
    </p:custDataLst>
    <p:extLst>
      <p:ext uri="{BB962C8B-B14F-4D97-AF65-F5344CB8AC3E}">
        <p14:creationId xmlns:p14="http://schemas.microsoft.com/office/powerpoint/2010/main" val="4075992862"/>
      </p:ext>
    </p:extLst>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p:cNvGrpSpPr/>
        <p:nvPr/>
      </p:nvGrpSpPr>
      <p:grpSpPr>
        <a:xfrm>
          <a:off x="0" y="0"/>
          <a:ext cx="0" cy="0"/>
          <a:chOff x="0" y="0"/>
          <a:chExt cx="0" cy="0"/>
        </a:xfrm>
      </p:grpSpPr>
      <p:sp>
        <p:nvSpPr>
          <p:cNvPr id="20" name="矩形 19"/>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93745758-2093-4A80-A568-3341D600E56A}"/>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评估</a:t>
            </a:r>
          </a:p>
        </p:txBody>
      </p:sp>
      <p:sp>
        <p:nvSpPr>
          <p:cNvPr id="4" name="文本框 3">
            <a:extLst>
              <a:ext uri="{FF2B5EF4-FFF2-40B4-BE49-F238E27FC236}">
                <a16:creationId xmlns:a16="http://schemas.microsoft.com/office/drawing/2014/main" id="{FB3A97D6-E1B1-3989-F9E3-D64E1832B581}"/>
              </a:ext>
            </a:extLst>
          </p:cNvPr>
          <p:cNvSpPr txBox="1"/>
          <p:nvPr/>
        </p:nvSpPr>
        <p:spPr>
          <a:xfrm>
            <a:off x="279400" y="1133000"/>
            <a:ext cx="6096000" cy="461665"/>
          </a:xfrm>
          <a:prstGeom prst="rect">
            <a:avLst/>
          </a:prstGeom>
          <a:noFill/>
        </p:spPr>
        <p:txBody>
          <a:bodyPr wrap="square">
            <a:spAutoFit/>
          </a:bodyPr>
          <a:lstStyle/>
          <a:p>
            <a:r>
              <a:rPr lang="zh-CN" altLang="en-US" sz="2400" b="1" dirty="0">
                <a:solidFill>
                  <a:srgbClr val="000000"/>
                </a:solidFill>
                <a:latin typeface="Helvetica Neue"/>
              </a:rPr>
              <a:t>实验设置</a:t>
            </a:r>
          </a:p>
        </p:txBody>
      </p:sp>
      <p:sp>
        <p:nvSpPr>
          <p:cNvPr id="6" name="文本框 5">
            <a:extLst>
              <a:ext uri="{FF2B5EF4-FFF2-40B4-BE49-F238E27FC236}">
                <a16:creationId xmlns:a16="http://schemas.microsoft.com/office/drawing/2014/main" id="{EE1C314F-0894-94E5-3D41-B71060A66938}"/>
              </a:ext>
            </a:extLst>
          </p:cNvPr>
          <p:cNvSpPr txBox="1"/>
          <p:nvPr/>
        </p:nvSpPr>
        <p:spPr>
          <a:xfrm>
            <a:off x="279400" y="1798045"/>
            <a:ext cx="6096000" cy="369332"/>
          </a:xfrm>
          <a:prstGeom prst="rect">
            <a:avLst/>
          </a:prstGeom>
          <a:noFill/>
        </p:spPr>
        <p:txBody>
          <a:bodyPr wrap="square">
            <a:spAutoFit/>
          </a:bodyPr>
          <a:lstStyle/>
          <a:p>
            <a:pPr algn="l"/>
            <a:r>
              <a:rPr lang="zh-CN" altLang="en-US" b="1" i="0" dirty="0">
                <a:solidFill>
                  <a:srgbClr val="000000"/>
                </a:solidFill>
                <a:effectLst/>
                <a:latin typeface="Helvetica Neue"/>
              </a:rPr>
              <a:t>实验的硬件和软件配置</a:t>
            </a:r>
          </a:p>
        </p:txBody>
      </p:sp>
      <p:sp>
        <p:nvSpPr>
          <p:cNvPr id="11" name="文本框 10">
            <a:extLst>
              <a:ext uri="{FF2B5EF4-FFF2-40B4-BE49-F238E27FC236}">
                <a16:creationId xmlns:a16="http://schemas.microsoft.com/office/drawing/2014/main" id="{645B745B-0EF9-CCA8-72D7-DCF12D6FA5FF}"/>
              </a:ext>
            </a:extLst>
          </p:cNvPr>
          <p:cNvSpPr txBox="1"/>
          <p:nvPr/>
        </p:nvSpPr>
        <p:spPr>
          <a:xfrm>
            <a:off x="6070282" y="1603042"/>
            <a:ext cx="6096000" cy="2308324"/>
          </a:xfrm>
          <a:prstGeom prst="rect">
            <a:avLst/>
          </a:prstGeom>
          <a:noFill/>
        </p:spPr>
        <p:txBody>
          <a:bodyPr wrap="square">
            <a:spAutoFit/>
          </a:bodyPr>
          <a:lstStyle/>
          <a:p>
            <a:r>
              <a:rPr lang="zh-CN" altLang="en-US" dirty="0"/>
              <a:t>实验使用商用</a:t>
            </a:r>
            <a:r>
              <a:rPr lang="en-US" altLang="zh-CN" dirty="0" err="1"/>
              <a:t>WiFi</a:t>
            </a:r>
            <a:r>
              <a:rPr lang="zh-CN" altLang="en-US" dirty="0"/>
              <a:t>设备组成的标准为</a:t>
            </a:r>
            <a:r>
              <a:rPr lang="en-US" altLang="zh-CN" b="1" dirty="0"/>
              <a:t>802.11n</a:t>
            </a:r>
            <a:r>
              <a:rPr lang="zh-CN" altLang="en-US" dirty="0"/>
              <a:t>的无线信号网络进行评估</a:t>
            </a:r>
            <a:r>
              <a:rPr lang="en-US" altLang="zh-CN" dirty="0"/>
              <a:t>:</a:t>
            </a:r>
          </a:p>
          <a:p>
            <a:r>
              <a:rPr lang="zh-CN" altLang="en-US" dirty="0"/>
              <a:t>一个或多个现成的</a:t>
            </a:r>
            <a:r>
              <a:rPr lang="zh-CN" altLang="en-US" b="1" dirty="0"/>
              <a:t>无线信号设备</a:t>
            </a:r>
            <a:r>
              <a:rPr lang="zh-CN" altLang="en-US" dirty="0"/>
              <a:t>（笔记本电脑或迷你电脑）</a:t>
            </a:r>
            <a:r>
              <a:rPr lang="en-US" altLang="zh-CN" dirty="0"/>
              <a:t>,</a:t>
            </a:r>
            <a:r>
              <a:rPr lang="zh-CN" altLang="en-US" dirty="0"/>
              <a:t>配备有</a:t>
            </a:r>
            <a:r>
              <a:rPr lang="en-US" altLang="zh-CN" b="1" dirty="0"/>
              <a:t>Intel Link 5,300</a:t>
            </a:r>
            <a:r>
              <a:rPr lang="zh-CN" altLang="en-US" b="1" dirty="0"/>
              <a:t> </a:t>
            </a:r>
            <a:r>
              <a:rPr lang="en-US" altLang="zh-CN" b="1" dirty="0"/>
              <a:t>Card</a:t>
            </a:r>
            <a:r>
              <a:rPr lang="zh-CN" altLang="en-US" dirty="0"/>
              <a:t>和两个内部天线。</a:t>
            </a:r>
            <a:endParaRPr lang="en-US" altLang="zh-CN" dirty="0"/>
          </a:p>
          <a:p>
            <a:r>
              <a:rPr lang="en-US" altLang="zh-CN" dirty="0"/>
              <a:t>,</a:t>
            </a:r>
            <a:r>
              <a:rPr lang="zh-CN" altLang="en-US" dirty="0"/>
              <a:t>用于</a:t>
            </a:r>
            <a:r>
              <a:rPr lang="zh-CN" altLang="en-US" b="1" dirty="0"/>
              <a:t>测量</a:t>
            </a:r>
            <a:r>
              <a:rPr lang="en-US" altLang="zh-CN" b="1" dirty="0"/>
              <a:t>CSI</a:t>
            </a:r>
          </a:p>
          <a:p>
            <a:r>
              <a:rPr lang="zh-CN" altLang="en-US" dirty="0"/>
              <a:t>一个</a:t>
            </a:r>
            <a:r>
              <a:rPr lang="zh-CN" altLang="en-US" b="1" dirty="0"/>
              <a:t>商品无线接入点</a:t>
            </a:r>
            <a:r>
              <a:rPr lang="zh-CN" altLang="en-US" dirty="0"/>
              <a:t>（即</a:t>
            </a:r>
            <a:r>
              <a:rPr lang="en-US" altLang="zh-CN" dirty="0"/>
              <a:t>TP-Link WDR5300</a:t>
            </a:r>
            <a:r>
              <a:rPr lang="zh-CN" altLang="en-US" dirty="0"/>
              <a:t>路由器，天线运行在</a:t>
            </a:r>
            <a:r>
              <a:rPr lang="en-US" altLang="zh-CN" dirty="0"/>
              <a:t>5 GHz</a:t>
            </a:r>
            <a:r>
              <a:rPr lang="zh-CN" altLang="en-US" dirty="0"/>
              <a:t>）</a:t>
            </a:r>
            <a:endParaRPr lang="en-US" altLang="zh-CN" dirty="0"/>
          </a:p>
          <a:p>
            <a:r>
              <a:rPr lang="zh-CN" altLang="en-US" dirty="0"/>
              <a:t>设置包传输速率为</a:t>
            </a:r>
            <a:r>
              <a:rPr lang="en-US" altLang="zh-CN" dirty="0"/>
              <a:t>100 pkts/s</a:t>
            </a:r>
            <a:r>
              <a:rPr lang="zh-CN" altLang="en-US" dirty="0"/>
              <a:t>，</a:t>
            </a:r>
            <a:endParaRPr lang="en-US" altLang="zh-CN" dirty="0"/>
          </a:p>
        </p:txBody>
      </p:sp>
      <p:pic>
        <p:nvPicPr>
          <p:cNvPr id="13" name="图片 12">
            <a:extLst>
              <a:ext uri="{FF2B5EF4-FFF2-40B4-BE49-F238E27FC236}">
                <a16:creationId xmlns:a16="http://schemas.microsoft.com/office/drawing/2014/main" id="{1A69569F-6911-486C-F6B1-7B5259281C91}"/>
              </a:ext>
            </a:extLst>
          </p:cNvPr>
          <p:cNvPicPr>
            <a:picLocks noChangeAspect="1"/>
          </p:cNvPicPr>
          <p:nvPr/>
        </p:nvPicPr>
        <p:blipFill>
          <a:blip r:embed="rId6"/>
          <a:stretch>
            <a:fillRect/>
          </a:stretch>
        </p:blipFill>
        <p:spPr>
          <a:xfrm>
            <a:off x="122671" y="2362380"/>
            <a:ext cx="5709199" cy="3218767"/>
          </a:xfrm>
          <a:prstGeom prst="rect">
            <a:avLst/>
          </a:prstGeom>
        </p:spPr>
      </p:pic>
      <p:sp>
        <p:nvSpPr>
          <p:cNvPr id="15" name="文本框 14">
            <a:extLst>
              <a:ext uri="{FF2B5EF4-FFF2-40B4-BE49-F238E27FC236}">
                <a16:creationId xmlns:a16="http://schemas.microsoft.com/office/drawing/2014/main" id="{9D0A8018-1CB1-855E-FBFE-AB18AD907EF8}"/>
              </a:ext>
            </a:extLst>
          </p:cNvPr>
          <p:cNvSpPr txBox="1"/>
          <p:nvPr/>
        </p:nvSpPr>
        <p:spPr>
          <a:xfrm>
            <a:off x="5973329" y="4284526"/>
            <a:ext cx="6096000" cy="1200329"/>
          </a:xfrm>
          <a:prstGeom prst="rect">
            <a:avLst/>
          </a:prstGeom>
          <a:noFill/>
        </p:spPr>
        <p:txBody>
          <a:bodyPr wrap="square">
            <a:spAutoFit/>
          </a:bodyPr>
          <a:lstStyle/>
          <a:p>
            <a:r>
              <a:rPr lang="zh-CN" altLang="en-US" b="0" i="0" dirty="0">
                <a:solidFill>
                  <a:srgbClr val="000000"/>
                </a:solidFill>
                <a:effectLst/>
                <a:latin typeface="-apple-system"/>
              </a:rPr>
              <a:t>​</a:t>
            </a:r>
            <a:r>
              <a:rPr lang="en-US" altLang="zh-CN" b="1" i="0" dirty="0">
                <a:solidFill>
                  <a:srgbClr val="000000"/>
                </a:solidFill>
                <a:effectLst/>
                <a:latin typeface="-apple-system"/>
              </a:rPr>
              <a:t>802.11n </a:t>
            </a:r>
            <a:r>
              <a:rPr lang="en-US" altLang="zh-CN" b="1" i="0" dirty="0" err="1">
                <a:solidFill>
                  <a:srgbClr val="000000"/>
                </a:solidFill>
                <a:effectLst/>
                <a:latin typeface="-apple-system"/>
              </a:rPr>
              <a:t>WiFi</a:t>
            </a:r>
            <a:r>
              <a:rPr lang="zh-CN" altLang="en-US" b="1" i="0" dirty="0">
                <a:solidFill>
                  <a:srgbClr val="000000"/>
                </a:solidFill>
                <a:effectLst/>
                <a:latin typeface="-apple-system"/>
              </a:rPr>
              <a:t>网络</a:t>
            </a:r>
            <a:r>
              <a:rPr lang="zh-CN" altLang="en-US" b="0" i="0" dirty="0">
                <a:solidFill>
                  <a:srgbClr val="000000"/>
                </a:solidFill>
                <a:effectLst/>
                <a:latin typeface="-apple-system"/>
              </a:rPr>
              <a:t>​：一种无线通信标准，支持</a:t>
            </a:r>
            <a:r>
              <a:rPr lang="en-US" altLang="zh-CN" b="0" i="0" dirty="0">
                <a:solidFill>
                  <a:srgbClr val="000000"/>
                </a:solidFill>
                <a:effectLst/>
                <a:latin typeface="-apple-system"/>
              </a:rPr>
              <a:t>MIMO</a:t>
            </a:r>
            <a:r>
              <a:rPr lang="zh-CN" altLang="en-US" b="0" i="0" dirty="0">
                <a:solidFill>
                  <a:srgbClr val="000000"/>
                </a:solidFill>
                <a:effectLst/>
                <a:latin typeface="-apple-system"/>
              </a:rPr>
              <a:t>（多输入多输出）和</a:t>
            </a:r>
            <a:r>
              <a:rPr lang="en-US" altLang="zh-CN" b="0" i="0" dirty="0">
                <a:solidFill>
                  <a:srgbClr val="000000"/>
                </a:solidFill>
                <a:effectLst/>
                <a:latin typeface="-apple-system"/>
              </a:rPr>
              <a:t>OFDM</a:t>
            </a:r>
            <a:r>
              <a:rPr lang="zh-CN" altLang="en-US" b="0" i="0" dirty="0">
                <a:solidFill>
                  <a:srgbClr val="000000"/>
                </a:solidFill>
                <a:effectLst/>
                <a:latin typeface="-apple-system"/>
              </a:rPr>
              <a:t>（正交频分复用）技术，实验中使用</a:t>
            </a:r>
            <a:r>
              <a:rPr lang="en-US" altLang="zh-CN" b="0" i="0" dirty="0">
                <a:solidFill>
                  <a:srgbClr val="000000"/>
                </a:solidFill>
                <a:effectLst/>
                <a:latin typeface="-apple-system"/>
              </a:rPr>
              <a:t>5 GHz</a:t>
            </a:r>
            <a:r>
              <a:rPr lang="zh-CN" altLang="en-US" b="0" i="0" dirty="0">
                <a:solidFill>
                  <a:srgbClr val="000000"/>
                </a:solidFill>
                <a:effectLst/>
                <a:latin typeface="-apple-system"/>
              </a:rPr>
              <a:t>频段和</a:t>
            </a:r>
            <a:r>
              <a:rPr lang="en-US" altLang="zh-CN" b="0" i="0" dirty="0">
                <a:solidFill>
                  <a:srgbClr val="000000"/>
                </a:solidFill>
                <a:effectLst/>
                <a:latin typeface="-apple-system"/>
              </a:rPr>
              <a:t>100 pkts/s</a:t>
            </a:r>
            <a:r>
              <a:rPr lang="zh-CN" altLang="en-US" b="0" i="0" dirty="0">
                <a:solidFill>
                  <a:srgbClr val="000000"/>
                </a:solidFill>
                <a:effectLst/>
                <a:latin typeface="-apple-system"/>
              </a:rPr>
              <a:t>传输速率，以提供高精度</a:t>
            </a:r>
            <a:r>
              <a:rPr lang="en-US" altLang="zh-CN" b="0" i="0" dirty="0">
                <a:solidFill>
                  <a:srgbClr val="000000"/>
                </a:solidFill>
                <a:effectLst/>
                <a:latin typeface="-apple-system"/>
              </a:rPr>
              <a:t>CSI</a:t>
            </a:r>
            <a:r>
              <a:rPr lang="zh-CN" altLang="en-US" b="0" i="0" dirty="0">
                <a:solidFill>
                  <a:srgbClr val="000000"/>
                </a:solidFill>
                <a:effectLst/>
                <a:latin typeface="-apple-system"/>
              </a:rPr>
              <a:t>数据采集，确保系统在多种环境中的可靠性和实时性</a:t>
            </a:r>
            <a:endParaRPr lang="zh-CN" altLang="en-US" dirty="0"/>
          </a:p>
        </p:txBody>
      </p:sp>
      <p:sp>
        <p:nvSpPr>
          <p:cNvPr id="17" name="文本框 16">
            <a:extLst>
              <a:ext uri="{FF2B5EF4-FFF2-40B4-BE49-F238E27FC236}">
                <a16:creationId xmlns:a16="http://schemas.microsoft.com/office/drawing/2014/main" id="{968F8D09-9D05-5163-C1F6-32786C24DFE3}"/>
              </a:ext>
            </a:extLst>
          </p:cNvPr>
          <p:cNvSpPr txBox="1"/>
          <p:nvPr/>
        </p:nvSpPr>
        <p:spPr>
          <a:xfrm>
            <a:off x="203200" y="5858015"/>
            <a:ext cx="5867082" cy="923330"/>
          </a:xfrm>
          <a:prstGeom prst="rect">
            <a:avLst/>
          </a:prstGeom>
          <a:noFill/>
        </p:spPr>
        <p:txBody>
          <a:bodyPr wrap="square">
            <a:spAutoFit/>
          </a:bodyPr>
          <a:lstStyle/>
          <a:p>
            <a:pPr algn="l" fontAlgn="base" latinLnBrk="0">
              <a:buNone/>
            </a:pPr>
            <a:r>
              <a:rPr lang="zh-CN" altLang="en-US" b="0" dirty="0">
                <a:solidFill>
                  <a:srgbClr val="000000"/>
                </a:solidFill>
                <a:effectLst/>
                <a:latin typeface="-apple-system"/>
              </a:rPr>
              <a:t>​</a:t>
            </a:r>
            <a:r>
              <a:rPr lang="en-US" altLang="zh-CN" b="1" dirty="0">
                <a:solidFill>
                  <a:srgbClr val="000000"/>
                </a:solidFill>
                <a:effectLst/>
                <a:latin typeface="-apple-system"/>
              </a:rPr>
              <a:t>MIMO</a:t>
            </a:r>
            <a:r>
              <a:rPr lang="zh-CN" altLang="en-US" b="1" dirty="0">
                <a:solidFill>
                  <a:srgbClr val="000000"/>
                </a:solidFill>
                <a:effectLst/>
                <a:latin typeface="-apple-system"/>
              </a:rPr>
              <a:t>技术</a:t>
            </a:r>
            <a:r>
              <a:rPr lang="zh-CN" altLang="en-US" b="0" dirty="0">
                <a:solidFill>
                  <a:srgbClr val="000000"/>
                </a:solidFill>
                <a:effectLst/>
                <a:latin typeface="-apple-system"/>
              </a:rPr>
              <a:t>​：</a:t>
            </a:r>
          </a:p>
          <a:p>
            <a:pPr algn="l" fontAlgn="base" latinLnBrk="0">
              <a:buFont typeface="Arial" panose="020B0604020202020204" pitchFamily="34" charset="0"/>
              <a:buChar char="•"/>
            </a:pPr>
            <a:r>
              <a:rPr lang="zh-CN" altLang="en-US" b="0" i="0" dirty="0">
                <a:solidFill>
                  <a:srgbClr val="000000"/>
                </a:solidFill>
                <a:effectLst/>
                <a:latin typeface="inherit"/>
              </a:rPr>
              <a:t>​</a:t>
            </a:r>
            <a:r>
              <a:rPr lang="zh-CN" altLang="en-US" b="1" i="0" dirty="0">
                <a:solidFill>
                  <a:srgbClr val="000000"/>
                </a:solidFill>
                <a:effectLst/>
                <a:latin typeface="-apple-system"/>
              </a:rPr>
              <a:t>特性</a:t>
            </a:r>
            <a:r>
              <a:rPr lang="zh-CN" altLang="en-US" b="0" i="0" dirty="0">
                <a:solidFill>
                  <a:srgbClr val="000000"/>
                </a:solidFill>
                <a:effectLst/>
                <a:latin typeface="inherit"/>
              </a:rPr>
              <a:t>​：允许使用多个天线同时发送和接收数据流，增强信号多样性和抗干扰能力。</a:t>
            </a:r>
          </a:p>
        </p:txBody>
      </p:sp>
      <p:sp>
        <p:nvSpPr>
          <p:cNvPr id="19" name="文本框 18">
            <a:extLst>
              <a:ext uri="{FF2B5EF4-FFF2-40B4-BE49-F238E27FC236}">
                <a16:creationId xmlns:a16="http://schemas.microsoft.com/office/drawing/2014/main" id="{4B28097B-E4A9-C5EF-6FF5-59106770C1BA}"/>
              </a:ext>
            </a:extLst>
          </p:cNvPr>
          <p:cNvSpPr txBox="1"/>
          <p:nvPr/>
        </p:nvSpPr>
        <p:spPr>
          <a:xfrm>
            <a:off x="6210300" y="5858015"/>
            <a:ext cx="5981700" cy="923330"/>
          </a:xfrm>
          <a:prstGeom prst="rect">
            <a:avLst/>
          </a:prstGeom>
          <a:noFill/>
        </p:spPr>
        <p:txBody>
          <a:bodyPr wrap="square">
            <a:spAutoFit/>
          </a:bodyPr>
          <a:lstStyle/>
          <a:p>
            <a:pPr algn="l" fontAlgn="base" latinLnBrk="0">
              <a:buNone/>
            </a:pPr>
            <a:r>
              <a:rPr lang="zh-CN" altLang="en-US" b="0" dirty="0">
                <a:solidFill>
                  <a:srgbClr val="000000"/>
                </a:solidFill>
                <a:effectLst/>
                <a:latin typeface="-apple-system"/>
              </a:rPr>
              <a:t>​</a:t>
            </a:r>
            <a:r>
              <a:rPr lang="en-US" altLang="zh-CN" b="1" dirty="0">
                <a:solidFill>
                  <a:srgbClr val="000000"/>
                </a:solidFill>
                <a:effectLst/>
                <a:latin typeface="-apple-system"/>
              </a:rPr>
              <a:t>OFDM</a:t>
            </a:r>
            <a:r>
              <a:rPr lang="zh-CN" altLang="en-US" b="1" dirty="0">
                <a:solidFill>
                  <a:srgbClr val="000000"/>
                </a:solidFill>
                <a:effectLst/>
                <a:latin typeface="-apple-system"/>
              </a:rPr>
              <a:t>调制</a:t>
            </a:r>
            <a:r>
              <a:rPr lang="zh-CN" altLang="en-US" b="0" dirty="0">
                <a:solidFill>
                  <a:srgbClr val="000000"/>
                </a:solidFill>
                <a:effectLst/>
                <a:latin typeface="-apple-system"/>
              </a:rPr>
              <a:t>​：</a:t>
            </a:r>
          </a:p>
          <a:p>
            <a:pPr algn="l" fontAlgn="base" latinLnBrk="0">
              <a:buFont typeface="Arial" panose="020B0604020202020204" pitchFamily="34" charset="0"/>
              <a:buChar char="•"/>
            </a:pPr>
            <a:r>
              <a:rPr lang="zh-CN" altLang="en-US" b="0" i="0" dirty="0">
                <a:solidFill>
                  <a:srgbClr val="000000"/>
                </a:solidFill>
                <a:effectLst/>
                <a:latin typeface="inherit"/>
              </a:rPr>
              <a:t>​</a:t>
            </a:r>
            <a:r>
              <a:rPr lang="zh-CN" altLang="en-US" b="1" i="0" dirty="0">
                <a:solidFill>
                  <a:srgbClr val="000000"/>
                </a:solidFill>
                <a:effectLst/>
                <a:latin typeface="-apple-system"/>
              </a:rPr>
              <a:t>特性</a:t>
            </a:r>
            <a:r>
              <a:rPr lang="zh-CN" altLang="en-US" b="0" i="0" dirty="0">
                <a:solidFill>
                  <a:srgbClr val="000000"/>
                </a:solidFill>
                <a:effectLst/>
                <a:latin typeface="inherit"/>
              </a:rPr>
              <a:t>​：将频谱分割为多个子载波并行传输，减少干扰并提供细粒度信道测量。</a:t>
            </a:r>
          </a:p>
        </p:txBody>
      </p:sp>
    </p:spTree>
    <p:custDataLst>
      <p:tags r:id="rId1"/>
    </p:custDataLst>
    <p:extLst>
      <p:ext uri="{BB962C8B-B14F-4D97-AF65-F5344CB8AC3E}">
        <p14:creationId xmlns:p14="http://schemas.microsoft.com/office/powerpoint/2010/main" val="4005070799"/>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a:extLst>
            <a:ext uri="{FF2B5EF4-FFF2-40B4-BE49-F238E27FC236}">
              <a16:creationId xmlns:a16="http://schemas.microsoft.com/office/drawing/2014/main" id="{BE183E86-D0E7-5486-F722-8596A481E2EF}"/>
            </a:ext>
          </a:extLst>
        </p:cNvPr>
        <p:cNvGrpSpPr/>
        <p:nvPr/>
      </p:nvGrpSpPr>
      <p:grpSpPr>
        <a:xfrm>
          <a:off x="0" y="0"/>
          <a:ext cx="0" cy="0"/>
          <a:chOff x="0" y="0"/>
          <a:chExt cx="0" cy="0"/>
        </a:xfrm>
      </p:grpSpPr>
      <p:sp>
        <p:nvSpPr>
          <p:cNvPr id="20" name="矩形 19">
            <a:extLst>
              <a:ext uri="{FF2B5EF4-FFF2-40B4-BE49-F238E27FC236}">
                <a16:creationId xmlns:a16="http://schemas.microsoft.com/office/drawing/2014/main" id="{2E2203B6-F395-08A8-FDAB-8A2068B250A1}"/>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6AC93A6B-A3DE-C3B7-E68B-CC0EDE6167FE}"/>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5E90776A-BE52-6D72-D7BC-6F165323A203}"/>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43FD2E4C-8EA4-CFCD-1EAF-D2F528AEB69A}"/>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12947422-DE34-CF84-9B05-E2B334C41CDD}"/>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评估</a:t>
            </a:r>
          </a:p>
        </p:txBody>
      </p:sp>
      <p:sp>
        <p:nvSpPr>
          <p:cNvPr id="4" name="文本框 3">
            <a:extLst>
              <a:ext uri="{FF2B5EF4-FFF2-40B4-BE49-F238E27FC236}">
                <a16:creationId xmlns:a16="http://schemas.microsoft.com/office/drawing/2014/main" id="{03E15EEE-4420-70AC-13E3-7ECE1051ADFE}"/>
              </a:ext>
            </a:extLst>
          </p:cNvPr>
          <p:cNvSpPr txBox="1"/>
          <p:nvPr/>
        </p:nvSpPr>
        <p:spPr>
          <a:xfrm>
            <a:off x="279400" y="1133000"/>
            <a:ext cx="6096000" cy="461665"/>
          </a:xfrm>
          <a:prstGeom prst="rect">
            <a:avLst/>
          </a:prstGeom>
          <a:noFill/>
        </p:spPr>
        <p:txBody>
          <a:bodyPr wrap="square">
            <a:spAutoFit/>
          </a:bodyPr>
          <a:lstStyle/>
          <a:p>
            <a:r>
              <a:rPr lang="zh-CN" altLang="en-US" sz="2400" b="1" dirty="0">
                <a:solidFill>
                  <a:srgbClr val="000000"/>
                </a:solidFill>
                <a:latin typeface="Helvetica Neue"/>
              </a:rPr>
              <a:t>实验设置</a:t>
            </a:r>
          </a:p>
        </p:txBody>
      </p:sp>
      <p:sp>
        <p:nvSpPr>
          <p:cNvPr id="6" name="文本框 5">
            <a:extLst>
              <a:ext uri="{FF2B5EF4-FFF2-40B4-BE49-F238E27FC236}">
                <a16:creationId xmlns:a16="http://schemas.microsoft.com/office/drawing/2014/main" id="{A9398097-303B-EE09-9288-7EF9FB1182DF}"/>
              </a:ext>
            </a:extLst>
          </p:cNvPr>
          <p:cNvSpPr txBox="1"/>
          <p:nvPr/>
        </p:nvSpPr>
        <p:spPr>
          <a:xfrm>
            <a:off x="279400" y="1798045"/>
            <a:ext cx="6096000" cy="369332"/>
          </a:xfrm>
          <a:prstGeom prst="rect">
            <a:avLst/>
          </a:prstGeom>
          <a:noFill/>
        </p:spPr>
        <p:txBody>
          <a:bodyPr wrap="square">
            <a:spAutoFit/>
          </a:bodyPr>
          <a:lstStyle/>
          <a:p>
            <a:pPr algn="l"/>
            <a:r>
              <a:rPr lang="zh-CN" altLang="en-US" b="1" i="0" dirty="0">
                <a:solidFill>
                  <a:srgbClr val="000000"/>
                </a:solidFill>
                <a:effectLst/>
                <a:latin typeface="Helvetica Neue"/>
              </a:rPr>
              <a:t>实验的测试环境的设置</a:t>
            </a:r>
          </a:p>
        </p:txBody>
      </p:sp>
      <p:pic>
        <p:nvPicPr>
          <p:cNvPr id="9" name="图片 8">
            <a:extLst>
              <a:ext uri="{FF2B5EF4-FFF2-40B4-BE49-F238E27FC236}">
                <a16:creationId xmlns:a16="http://schemas.microsoft.com/office/drawing/2014/main" id="{546A3BF0-860B-64E4-C9F6-A629AF970429}"/>
              </a:ext>
            </a:extLst>
          </p:cNvPr>
          <p:cNvPicPr>
            <a:picLocks noChangeAspect="1"/>
          </p:cNvPicPr>
          <p:nvPr/>
        </p:nvPicPr>
        <p:blipFill>
          <a:blip r:embed="rId6"/>
          <a:stretch>
            <a:fillRect/>
          </a:stretch>
        </p:blipFill>
        <p:spPr>
          <a:xfrm>
            <a:off x="279400" y="2370756"/>
            <a:ext cx="5585511" cy="4080843"/>
          </a:xfrm>
          <a:prstGeom prst="rect">
            <a:avLst/>
          </a:prstGeom>
        </p:spPr>
      </p:pic>
      <p:sp>
        <p:nvSpPr>
          <p:cNvPr id="11" name="文本框 10">
            <a:extLst>
              <a:ext uri="{FF2B5EF4-FFF2-40B4-BE49-F238E27FC236}">
                <a16:creationId xmlns:a16="http://schemas.microsoft.com/office/drawing/2014/main" id="{F474E07F-319C-1986-34A1-991F89AAA9E9}"/>
              </a:ext>
            </a:extLst>
          </p:cNvPr>
          <p:cNvSpPr txBox="1"/>
          <p:nvPr/>
        </p:nvSpPr>
        <p:spPr>
          <a:xfrm>
            <a:off x="6006782" y="1812827"/>
            <a:ext cx="6096000" cy="3693319"/>
          </a:xfrm>
          <a:prstGeom prst="rect">
            <a:avLst/>
          </a:prstGeom>
          <a:noFill/>
        </p:spPr>
        <p:txBody>
          <a:bodyPr wrap="square">
            <a:spAutoFit/>
          </a:bodyPr>
          <a:lstStyle/>
          <a:p>
            <a:r>
              <a:rPr lang="zh-CN" altLang="en-US" dirty="0"/>
              <a:t>在四种不同的环境中进行实验，以展示系统的通用性。这些环境中的实验设置和设置如图所示。：</a:t>
            </a:r>
            <a:endParaRPr lang="en-US" altLang="zh-CN" dirty="0"/>
          </a:p>
          <a:p>
            <a:pPr fontAlgn="base"/>
            <a:r>
              <a:rPr lang="zh-CN" altLang="en-US" b="1" dirty="0"/>
              <a:t>办公室（</a:t>
            </a:r>
            <a:r>
              <a:rPr lang="en-US" altLang="zh-CN" b="1" dirty="0"/>
              <a:t>a</a:t>
            </a:r>
            <a:r>
              <a:rPr lang="zh-CN" altLang="en-US" b="1" dirty="0"/>
              <a:t>）​</a:t>
            </a:r>
            <a:r>
              <a:rPr lang="zh-CN" altLang="en-US" dirty="0"/>
              <a:t>​：尺寸约</a:t>
            </a:r>
            <a:r>
              <a:rPr lang="en-US" altLang="zh-CN" dirty="0"/>
              <a:t>3m×4m</a:t>
            </a:r>
            <a:r>
              <a:rPr lang="zh-CN" altLang="en-US" dirty="0"/>
              <a:t>，配备沙发、桌子和书柜，模拟家庭办公场景，部分区域为视距</a:t>
            </a:r>
            <a:r>
              <a:rPr lang="zh-CN" altLang="en-US" b="1" dirty="0"/>
              <a:t>（</a:t>
            </a:r>
            <a:r>
              <a:rPr lang="en-US" altLang="zh-CN" b="1" dirty="0"/>
              <a:t>LOS</a:t>
            </a:r>
            <a:r>
              <a:rPr lang="zh-CN" altLang="en-US" b="1" dirty="0"/>
              <a:t>）</a:t>
            </a:r>
            <a:r>
              <a:rPr lang="zh-CN" altLang="en-US" dirty="0"/>
              <a:t>条件。</a:t>
            </a:r>
          </a:p>
          <a:p>
            <a:pPr fontAlgn="base"/>
            <a:r>
              <a:rPr lang="zh-CN" altLang="en-US" dirty="0"/>
              <a:t>​</a:t>
            </a:r>
            <a:r>
              <a:rPr lang="zh-CN" altLang="en-US" b="1" dirty="0"/>
              <a:t>公寓（</a:t>
            </a:r>
            <a:r>
              <a:rPr lang="en-US" altLang="zh-CN" b="1" dirty="0"/>
              <a:t>b</a:t>
            </a:r>
            <a:r>
              <a:rPr lang="zh-CN" altLang="en-US" b="1" dirty="0"/>
              <a:t>）​</a:t>
            </a:r>
            <a:r>
              <a:rPr lang="zh-CN" altLang="en-US" dirty="0"/>
              <a:t>​：包含卧室和客厅，配备多组家具，代表多房间住宅，多非视距</a:t>
            </a:r>
            <a:r>
              <a:rPr lang="zh-CN" altLang="en-US" b="1" dirty="0"/>
              <a:t>（</a:t>
            </a:r>
            <a:r>
              <a:rPr lang="en-US" altLang="zh-CN" b="1" dirty="0"/>
              <a:t>NLOS</a:t>
            </a:r>
            <a:r>
              <a:rPr lang="zh-CN" altLang="en-US" b="1" dirty="0"/>
              <a:t>）</a:t>
            </a:r>
            <a:r>
              <a:rPr lang="zh-CN" altLang="en-US" dirty="0"/>
              <a:t>条件。</a:t>
            </a:r>
          </a:p>
          <a:p>
            <a:pPr fontAlgn="base"/>
            <a:r>
              <a:rPr lang="zh-CN" altLang="en-US" dirty="0"/>
              <a:t>​</a:t>
            </a:r>
            <a:r>
              <a:rPr lang="zh-CN" altLang="en-US" b="1" dirty="0"/>
              <a:t>会议室（</a:t>
            </a:r>
            <a:r>
              <a:rPr lang="en-US" altLang="zh-CN" b="1" dirty="0"/>
              <a:t>c</a:t>
            </a:r>
            <a:r>
              <a:rPr lang="zh-CN" altLang="en-US" b="1" dirty="0"/>
              <a:t>）​</a:t>
            </a:r>
            <a:r>
              <a:rPr lang="zh-CN" altLang="en-US" dirty="0"/>
              <a:t>​：尺寸约</a:t>
            </a:r>
            <a:r>
              <a:rPr lang="en-US" altLang="zh-CN" dirty="0"/>
              <a:t>6m×6m</a:t>
            </a:r>
            <a:r>
              <a:rPr lang="zh-CN" altLang="en-US" dirty="0"/>
              <a:t>，配备会议桌和椅子，测试开阔空间，混合</a:t>
            </a:r>
            <a:r>
              <a:rPr lang="en-US" altLang="zh-CN" dirty="0"/>
              <a:t>LOS/NLOS</a:t>
            </a:r>
            <a:r>
              <a:rPr lang="zh-CN" altLang="en-US" dirty="0"/>
              <a:t>条件。</a:t>
            </a:r>
          </a:p>
          <a:p>
            <a:pPr fontAlgn="base"/>
            <a:r>
              <a:rPr lang="zh-CN" altLang="en-US" dirty="0"/>
              <a:t>​</a:t>
            </a:r>
            <a:r>
              <a:rPr lang="zh-CN" altLang="en-US" b="1" dirty="0"/>
              <a:t>大厅（</a:t>
            </a:r>
            <a:r>
              <a:rPr lang="en-US" altLang="zh-CN" b="1" dirty="0"/>
              <a:t>d</a:t>
            </a:r>
            <a:r>
              <a:rPr lang="zh-CN" altLang="en-US" b="1" dirty="0"/>
              <a:t>）​</a:t>
            </a:r>
            <a:r>
              <a:rPr lang="zh-CN" altLang="en-US" dirty="0"/>
              <a:t>​：尺寸约</a:t>
            </a:r>
            <a:r>
              <a:rPr lang="en-US" altLang="zh-CN" dirty="0"/>
              <a:t>12m×6m</a:t>
            </a:r>
            <a:r>
              <a:rPr lang="zh-CN" altLang="en-US" dirty="0"/>
              <a:t>，为大面积开放区域，挑战远距离信号覆盖，需多个</a:t>
            </a:r>
            <a:r>
              <a:rPr lang="en-US" altLang="zh-CN" dirty="0" err="1"/>
              <a:t>WiFi</a:t>
            </a:r>
            <a:r>
              <a:rPr lang="zh-CN" altLang="en-US" dirty="0"/>
              <a:t>设备同步。</a:t>
            </a:r>
          </a:p>
          <a:p>
            <a:pPr fontAlgn="base"/>
            <a:r>
              <a:rPr lang="zh-CN" altLang="en-US" dirty="0"/>
              <a:t>图片帮助可视化环境多样性，强调系统需适应不同布局和障碍物，便于理解实验设置的现实基础。</a:t>
            </a:r>
          </a:p>
          <a:p>
            <a:endParaRPr lang="en-US" altLang="zh-CN" b="0" i="1" dirty="0">
              <a:solidFill>
                <a:srgbClr val="333333"/>
              </a:solidFill>
              <a:effectLst/>
              <a:latin typeface="KaTeX_Math"/>
            </a:endParaRPr>
          </a:p>
        </p:txBody>
      </p:sp>
      <p:sp>
        <p:nvSpPr>
          <p:cNvPr id="3" name="文本框 2">
            <a:extLst>
              <a:ext uri="{FF2B5EF4-FFF2-40B4-BE49-F238E27FC236}">
                <a16:creationId xmlns:a16="http://schemas.microsoft.com/office/drawing/2014/main" id="{3F85FF46-BC90-7BC3-65FF-F3F3CEAC4CCA}"/>
              </a:ext>
            </a:extLst>
          </p:cNvPr>
          <p:cNvSpPr txBox="1"/>
          <p:nvPr/>
        </p:nvSpPr>
        <p:spPr>
          <a:xfrm>
            <a:off x="6082664" y="5305884"/>
            <a:ext cx="6096000" cy="646331"/>
          </a:xfrm>
          <a:prstGeom prst="rect">
            <a:avLst/>
          </a:prstGeom>
          <a:noFill/>
        </p:spPr>
        <p:txBody>
          <a:bodyPr wrap="square">
            <a:spAutoFit/>
          </a:bodyPr>
          <a:lstStyle/>
          <a:p>
            <a:r>
              <a:rPr lang="en-US" altLang="zh-CN" sz="1800" b="1" dirty="0">
                <a:effectLst/>
                <a:latin typeface="等线" panose="02010600030101010101" pitchFamily="2" charset="-122"/>
                <a:cs typeface="Times New Roman" panose="02020603050405020304" pitchFamily="18" charset="0"/>
              </a:rPr>
              <a:t>LOS</a:t>
            </a:r>
            <a:r>
              <a:rPr lang="zh-CN" altLang="zh-CN" sz="1800" b="1" dirty="0">
                <a:effectLst/>
                <a:ea typeface="等线" panose="02010600030101010101" pitchFamily="2" charset="-122"/>
                <a:cs typeface="Times New Roman" panose="02020603050405020304" pitchFamily="18" charset="0"/>
              </a:rPr>
              <a:t>（</a:t>
            </a:r>
            <a:r>
              <a:rPr lang="en-US" altLang="zh-CN" sz="1800" b="1" dirty="0">
                <a:effectLst/>
                <a:ea typeface="等线" panose="02010600030101010101" pitchFamily="2" charset="-122"/>
                <a:cs typeface="Times New Roman" panose="02020603050405020304" pitchFamily="18" charset="0"/>
              </a:rPr>
              <a:t>Line-Of-Sight</a:t>
            </a:r>
            <a:r>
              <a:rPr lang="zh-CN" altLang="zh-CN" sz="1800" b="1" dirty="0">
                <a:effectLst/>
                <a:ea typeface="等线" panose="02010600030101010101" pitchFamily="2" charset="-122"/>
                <a:cs typeface="Times New Roman" panose="02020603050405020304" pitchFamily="18" charset="0"/>
              </a:rPr>
              <a:t>，视距）</a:t>
            </a:r>
            <a:r>
              <a:rPr lang="en-US" altLang="zh-CN" sz="1800" b="1" dirty="0">
                <a:effectLst/>
                <a:latin typeface="Times New Roman" panose="02020603050405020304" pitchFamily="18" charset="0"/>
                <a:ea typeface="等线" panose="02010600030101010101" pitchFamily="2" charset="-122"/>
              </a:rPr>
              <a:t>​</a:t>
            </a:r>
            <a:r>
              <a:rPr lang="en-US" altLang="zh-CN" sz="1800" dirty="0">
                <a:effectLst/>
                <a:latin typeface="Times New Roman" panose="02020603050405020304" pitchFamily="18" charset="0"/>
                <a:ea typeface="等线" panose="02010600030101010101" pitchFamily="2" charset="-122"/>
              </a:rPr>
              <a:t>​</a:t>
            </a:r>
            <a:r>
              <a:rPr lang="zh-CN" altLang="zh-CN" sz="1800" dirty="0">
                <a:effectLst/>
                <a:ea typeface="等线" panose="02010600030101010101" pitchFamily="2" charset="-122"/>
                <a:cs typeface="Times New Roman" panose="02020603050405020304" pitchFamily="18" charset="0"/>
              </a:rPr>
              <a:t>：信号传播路径无遮挡，信号强度高且稳定。例如，办公室中部分区域为</a:t>
            </a:r>
            <a:r>
              <a:rPr lang="en-US" altLang="zh-CN" sz="1800" dirty="0">
                <a:effectLst/>
                <a:ea typeface="等线" panose="02010600030101010101" pitchFamily="2" charset="-122"/>
                <a:cs typeface="Times New Roman" panose="02020603050405020304" pitchFamily="18" charset="0"/>
              </a:rPr>
              <a:t>LOS</a:t>
            </a:r>
            <a:r>
              <a:rPr lang="zh-CN" altLang="zh-CN" sz="1800" dirty="0">
                <a:effectLst/>
                <a:ea typeface="等线" panose="02010600030101010101" pitchFamily="2" charset="-122"/>
                <a:cs typeface="Times New Roman" panose="02020603050405020304" pitchFamily="18" charset="0"/>
              </a:rPr>
              <a:t>。</a:t>
            </a:r>
            <a:endParaRPr lang="zh-CN" altLang="en-US" dirty="0"/>
          </a:p>
        </p:txBody>
      </p:sp>
      <p:sp>
        <p:nvSpPr>
          <p:cNvPr id="8" name="文本框 7">
            <a:extLst>
              <a:ext uri="{FF2B5EF4-FFF2-40B4-BE49-F238E27FC236}">
                <a16:creationId xmlns:a16="http://schemas.microsoft.com/office/drawing/2014/main" id="{112F6758-AD85-B6F4-AA62-7F629F2E16CF}"/>
              </a:ext>
            </a:extLst>
          </p:cNvPr>
          <p:cNvSpPr txBox="1"/>
          <p:nvPr/>
        </p:nvSpPr>
        <p:spPr>
          <a:xfrm>
            <a:off x="6067475" y="5916024"/>
            <a:ext cx="6096000" cy="923330"/>
          </a:xfrm>
          <a:prstGeom prst="rect">
            <a:avLst/>
          </a:prstGeom>
          <a:noFill/>
        </p:spPr>
        <p:txBody>
          <a:bodyPr wrap="square">
            <a:spAutoFit/>
          </a:bodyPr>
          <a:lstStyle/>
          <a:p>
            <a:r>
              <a:rPr lang="en-US" altLang="zh-CN" sz="1800" b="1" dirty="0">
                <a:effectLst/>
                <a:latin typeface="等线" panose="02010600030101010101" pitchFamily="2" charset="-122"/>
                <a:cs typeface="Times New Roman" panose="02020603050405020304" pitchFamily="18" charset="0"/>
              </a:rPr>
              <a:t>NLOS</a:t>
            </a:r>
            <a:r>
              <a:rPr lang="zh-CN" altLang="zh-CN" sz="1800" b="1" dirty="0">
                <a:effectLst/>
                <a:ea typeface="等线" panose="02010600030101010101" pitchFamily="2" charset="-122"/>
                <a:cs typeface="Times New Roman" panose="02020603050405020304" pitchFamily="18" charset="0"/>
              </a:rPr>
              <a:t>（</a:t>
            </a:r>
            <a:r>
              <a:rPr lang="en-US" altLang="zh-CN" sz="1800" b="1" dirty="0">
                <a:effectLst/>
                <a:ea typeface="等线" panose="02010600030101010101" pitchFamily="2" charset="-122"/>
                <a:cs typeface="Times New Roman" panose="02020603050405020304" pitchFamily="18" charset="0"/>
              </a:rPr>
              <a:t>Non-Line-Of-Sight</a:t>
            </a:r>
            <a:r>
              <a:rPr lang="zh-CN" altLang="zh-CN" sz="1800" b="1" dirty="0">
                <a:effectLst/>
                <a:ea typeface="等线" panose="02010600030101010101" pitchFamily="2" charset="-122"/>
                <a:cs typeface="Times New Roman" panose="02020603050405020304" pitchFamily="18" charset="0"/>
              </a:rPr>
              <a:t>，非视距）</a:t>
            </a:r>
            <a:r>
              <a:rPr lang="en-US" altLang="zh-CN" sz="1800" b="1" dirty="0">
                <a:effectLst/>
                <a:latin typeface="Times New Roman" panose="02020603050405020304" pitchFamily="18" charset="0"/>
                <a:ea typeface="等线" panose="02010600030101010101" pitchFamily="2" charset="-122"/>
              </a:rPr>
              <a:t>​</a:t>
            </a:r>
            <a:r>
              <a:rPr lang="en-US" altLang="zh-CN" sz="1800" dirty="0">
                <a:effectLst/>
                <a:latin typeface="Times New Roman" panose="02020603050405020304" pitchFamily="18" charset="0"/>
                <a:ea typeface="等线" panose="02010600030101010101" pitchFamily="2" charset="-122"/>
              </a:rPr>
              <a:t>​</a:t>
            </a:r>
            <a:r>
              <a:rPr lang="zh-CN" altLang="zh-CN" sz="1800" dirty="0">
                <a:effectLst/>
                <a:ea typeface="等线" panose="02010600030101010101" pitchFamily="2" charset="-122"/>
                <a:cs typeface="Times New Roman" panose="02020603050405020304" pitchFamily="18" charset="0"/>
              </a:rPr>
              <a:t>：信号路径被障碍物（如墙壁、家具）阻挡，导致信号衰减和波动。例如，公寓中多房间结构引入</a:t>
            </a:r>
            <a:r>
              <a:rPr lang="en-US" altLang="zh-CN" sz="1800" dirty="0">
                <a:effectLst/>
                <a:ea typeface="等线" panose="02010600030101010101" pitchFamily="2" charset="-122"/>
                <a:cs typeface="Times New Roman" panose="02020603050405020304" pitchFamily="18" charset="0"/>
              </a:rPr>
              <a:t>NLOS</a:t>
            </a:r>
            <a:r>
              <a:rPr lang="zh-CN" altLang="zh-CN" sz="1800" dirty="0">
                <a:effectLst/>
                <a:ea typeface="等线" panose="02010600030101010101" pitchFamily="2" charset="-122"/>
                <a:cs typeface="Times New Roman" panose="02020603050405020304" pitchFamily="18" charset="0"/>
              </a:rPr>
              <a:t>。</a:t>
            </a:r>
            <a:endParaRPr lang="zh-CN" altLang="en-US" dirty="0"/>
          </a:p>
        </p:txBody>
      </p:sp>
    </p:spTree>
    <p:custDataLst>
      <p:tags r:id="rId1"/>
    </p:custDataLst>
    <p:extLst>
      <p:ext uri="{BB962C8B-B14F-4D97-AF65-F5344CB8AC3E}">
        <p14:creationId xmlns:p14="http://schemas.microsoft.com/office/powerpoint/2010/main" val="2857172664"/>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a:extLst>
            <a:ext uri="{FF2B5EF4-FFF2-40B4-BE49-F238E27FC236}">
              <a16:creationId xmlns:a16="http://schemas.microsoft.com/office/drawing/2014/main" id="{E91C0140-A988-1E1A-D2E7-12BBDC26AA41}"/>
            </a:ext>
          </a:extLst>
        </p:cNvPr>
        <p:cNvGrpSpPr/>
        <p:nvPr/>
      </p:nvGrpSpPr>
      <p:grpSpPr>
        <a:xfrm>
          <a:off x="0" y="0"/>
          <a:ext cx="0" cy="0"/>
          <a:chOff x="0" y="0"/>
          <a:chExt cx="0" cy="0"/>
        </a:xfrm>
      </p:grpSpPr>
      <p:sp>
        <p:nvSpPr>
          <p:cNvPr id="20" name="矩形 19">
            <a:extLst>
              <a:ext uri="{FF2B5EF4-FFF2-40B4-BE49-F238E27FC236}">
                <a16:creationId xmlns:a16="http://schemas.microsoft.com/office/drawing/2014/main" id="{878E0704-0044-DC83-3E76-A14BAD92ECB5}"/>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FF1C349F-B3EE-99A6-D0CC-AB650BA2B4C8}"/>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ABA244EE-B7C8-12C8-689D-1D4C46624682}"/>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42BE60DA-C5BE-5C97-42CC-E7616A9A4714}"/>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1859F063-2EBB-5144-4107-DED9741D2DFF}"/>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评估</a:t>
            </a:r>
          </a:p>
        </p:txBody>
      </p:sp>
      <p:sp>
        <p:nvSpPr>
          <p:cNvPr id="4" name="文本框 3">
            <a:extLst>
              <a:ext uri="{FF2B5EF4-FFF2-40B4-BE49-F238E27FC236}">
                <a16:creationId xmlns:a16="http://schemas.microsoft.com/office/drawing/2014/main" id="{07BE9ACA-6788-95A5-A0D5-E9C4381C023F}"/>
              </a:ext>
            </a:extLst>
          </p:cNvPr>
          <p:cNvSpPr txBox="1"/>
          <p:nvPr/>
        </p:nvSpPr>
        <p:spPr>
          <a:xfrm>
            <a:off x="279400" y="1133000"/>
            <a:ext cx="6096000" cy="461665"/>
          </a:xfrm>
          <a:prstGeom prst="rect">
            <a:avLst/>
          </a:prstGeom>
          <a:noFill/>
        </p:spPr>
        <p:txBody>
          <a:bodyPr wrap="square">
            <a:spAutoFit/>
          </a:bodyPr>
          <a:lstStyle/>
          <a:p>
            <a:r>
              <a:rPr lang="zh-CN" altLang="en-US" sz="2400" b="1" dirty="0">
                <a:solidFill>
                  <a:srgbClr val="000000"/>
                </a:solidFill>
                <a:latin typeface="Helvetica Neue"/>
              </a:rPr>
              <a:t>数据集</a:t>
            </a:r>
          </a:p>
        </p:txBody>
      </p:sp>
      <p:sp>
        <p:nvSpPr>
          <p:cNvPr id="6" name="文本框 5">
            <a:extLst>
              <a:ext uri="{FF2B5EF4-FFF2-40B4-BE49-F238E27FC236}">
                <a16:creationId xmlns:a16="http://schemas.microsoft.com/office/drawing/2014/main" id="{22400BEA-995A-C47C-F5ED-F0EDAAB8410B}"/>
              </a:ext>
            </a:extLst>
          </p:cNvPr>
          <p:cNvSpPr txBox="1"/>
          <p:nvPr/>
        </p:nvSpPr>
        <p:spPr>
          <a:xfrm>
            <a:off x="279400" y="1798045"/>
            <a:ext cx="6096000" cy="369332"/>
          </a:xfrm>
          <a:prstGeom prst="rect">
            <a:avLst/>
          </a:prstGeom>
          <a:noFill/>
        </p:spPr>
        <p:txBody>
          <a:bodyPr wrap="square">
            <a:spAutoFit/>
          </a:bodyPr>
          <a:lstStyle/>
          <a:p>
            <a:r>
              <a:rPr lang="zh-CN" altLang="en-US" b="1" dirty="0"/>
              <a:t>数据收集</a:t>
            </a:r>
            <a:endParaRPr lang="zh-CN" altLang="en-US" b="1" i="0" dirty="0">
              <a:solidFill>
                <a:srgbClr val="000000"/>
              </a:solidFill>
              <a:effectLst/>
              <a:latin typeface="Helvetica Neue"/>
            </a:endParaRPr>
          </a:p>
        </p:txBody>
      </p:sp>
      <p:sp>
        <p:nvSpPr>
          <p:cNvPr id="11" name="文本框 10">
            <a:extLst>
              <a:ext uri="{FF2B5EF4-FFF2-40B4-BE49-F238E27FC236}">
                <a16:creationId xmlns:a16="http://schemas.microsoft.com/office/drawing/2014/main" id="{74E11A62-75A9-1A77-B77D-A599ABEEB12B}"/>
              </a:ext>
            </a:extLst>
          </p:cNvPr>
          <p:cNvSpPr txBox="1"/>
          <p:nvPr/>
        </p:nvSpPr>
        <p:spPr>
          <a:xfrm>
            <a:off x="6041389" y="1222366"/>
            <a:ext cx="6096000" cy="2031325"/>
          </a:xfrm>
          <a:prstGeom prst="rect">
            <a:avLst/>
          </a:prstGeom>
          <a:noFill/>
        </p:spPr>
        <p:txBody>
          <a:bodyPr wrap="square">
            <a:spAutoFit/>
          </a:bodyPr>
          <a:lstStyle/>
          <a:p>
            <a:r>
              <a:rPr lang="zh-CN" altLang="en-US" dirty="0"/>
              <a:t>此图显示</a:t>
            </a:r>
            <a:r>
              <a:rPr lang="en-US" altLang="zh-CN" b="1" dirty="0"/>
              <a:t>RT-Fall</a:t>
            </a:r>
            <a:r>
              <a:rPr lang="zh-CN" altLang="en-US" b="1" dirty="0"/>
              <a:t>系统的用户界面</a:t>
            </a:r>
            <a:r>
              <a:rPr lang="en-US" altLang="zh-CN" b="1" dirty="0"/>
              <a:t>:</a:t>
            </a:r>
            <a:r>
              <a:rPr lang="zh-CN" altLang="en-US" dirty="0"/>
              <a:t>在线显示</a:t>
            </a:r>
            <a:r>
              <a:rPr lang="zh-CN" altLang="en-US" b="1" dirty="0"/>
              <a:t>实时视频</a:t>
            </a:r>
            <a:r>
              <a:rPr lang="zh-CN" altLang="en-US" dirty="0"/>
              <a:t>、</a:t>
            </a:r>
            <a:r>
              <a:rPr lang="en-US" altLang="zh-CN" b="1" dirty="0"/>
              <a:t>CSI</a:t>
            </a:r>
            <a:r>
              <a:rPr lang="zh-CN" altLang="en-US" b="1" dirty="0"/>
              <a:t>振幅和相位差数据</a:t>
            </a:r>
            <a:r>
              <a:rPr lang="zh-CN" altLang="en-US" dirty="0"/>
              <a:t>、分割的活动流以及</a:t>
            </a:r>
            <a:r>
              <a:rPr lang="zh-CN" altLang="en-US" b="1" dirty="0"/>
              <a:t>检测结果</a:t>
            </a:r>
            <a:r>
              <a:rPr lang="zh-CN" altLang="en-US" dirty="0"/>
              <a:t>，允许用户自然连续地执行活动，系统自动分割</a:t>
            </a:r>
            <a:r>
              <a:rPr lang="en-US" altLang="zh-CN" dirty="0"/>
              <a:t>CSI</a:t>
            </a:r>
            <a:r>
              <a:rPr lang="zh-CN" altLang="en-US" dirty="0"/>
              <a:t>流并实时报告结果。图片直观展示系统如何在线监控和报告活动：</a:t>
            </a:r>
            <a:endParaRPr lang="en-US" altLang="zh-CN" dirty="0"/>
          </a:p>
          <a:p>
            <a:r>
              <a:rPr lang="zh-CN" altLang="en-US" dirty="0"/>
              <a:t>视频提供</a:t>
            </a:r>
            <a:r>
              <a:rPr lang="zh-CN" altLang="en-US" b="1" dirty="0"/>
              <a:t>地面真值</a:t>
            </a:r>
            <a:r>
              <a:rPr lang="zh-CN" altLang="en-US" dirty="0"/>
              <a:t>，</a:t>
            </a:r>
            <a:r>
              <a:rPr lang="en-US" altLang="zh-CN" dirty="0"/>
              <a:t>CSI</a:t>
            </a:r>
            <a:r>
              <a:rPr lang="zh-CN" altLang="en-US" dirty="0"/>
              <a:t>数据用于实时处理，检测结果更新在界面中。让受试者进行活动，并要求单独的学生记录完整的实验结果，用于性能评估。</a:t>
            </a:r>
            <a:endParaRPr lang="en-US" altLang="zh-CN" b="0" i="1" dirty="0">
              <a:solidFill>
                <a:srgbClr val="333333"/>
              </a:solidFill>
              <a:effectLst/>
              <a:latin typeface="KaTeX_Math"/>
            </a:endParaRPr>
          </a:p>
        </p:txBody>
      </p:sp>
      <p:pic>
        <p:nvPicPr>
          <p:cNvPr id="2" name="图片 1">
            <a:extLst>
              <a:ext uri="{FF2B5EF4-FFF2-40B4-BE49-F238E27FC236}">
                <a16:creationId xmlns:a16="http://schemas.microsoft.com/office/drawing/2014/main" id="{F45AC5F7-33E7-98DE-5B87-713F486D8646}"/>
              </a:ext>
            </a:extLst>
          </p:cNvPr>
          <p:cNvPicPr>
            <a:picLocks noChangeAspect="1"/>
          </p:cNvPicPr>
          <p:nvPr/>
        </p:nvPicPr>
        <p:blipFill>
          <a:blip r:embed="rId6"/>
          <a:stretch>
            <a:fillRect/>
          </a:stretch>
        </p:blipFill>
        <p:spPr>
          <a:xfrm>
            <a:off x="122671" y="2362380"/>
            <a:ext cx="5709199" cy="3218767"/>
          </a:xfrm>
          <a:prstGeom prst="rect">
            <a:avLst/>
          </a:prstGeom>
        </p:spPr>
      </p:pic>
      <p:sp>
        <p:nvSpPr>
          <p:cNvPr id="10" name="文本框 9">
            <a:extLst>
              <a:ext uri="{FF2B5EF4-FFF2-40B4-BE49-F238E27FC236}">
                <a16:creationId xmlns:a16="http://schemas.microsoft.com/office/drawing/2014/main" id="{60E0230E-2650-1301-0CB2-85A871CDC635}"/>
              </a:ext>
            </a:extLst>
          </p:cNvPr>
          <p:cNvSpPr txBox="1"/>
          <p:nvPr/>
        </p:nvSpPr>
        <p:spPr>
          <a:xfrm>
            <a:off x="6095682" y="3505411"/>
            <a:ext cx="6096000" cy="1754326"/>
          </a:xfrm>
          <a:prstGeom prst="rect">
            <a:avLst/>
          </a:prstGeom>
          <a:noFill/>
        </p:spPr>
        <p:txBody>
          <a:bodyPr wrap="square">
            <a:spAutoFit/>
          </a:bodyPr>
          <a:lstStyle/>
          <a:p>
            <a:r>
              <a:rPr lang="zh-CN" altLang="zh-CN" sz="1800" dirty="0">
                <a:effectLst/>
                <a:ea typeface="等线" panose="02010600030101010101" pitchFamily="2" charset="-122"/>
                <a:cs typeface="Times New Roman" panose="02020603050405020304" pitchFamily="18" charset="0"/>
              </a:rPr>
              <a:t>招募</a:t>
            </a:r>
            <a:r>
              <a:rPr lang="en-US" altLang="zh-CN" sz="1800" b="1" dirty="0">
                <a:effectLst/>
                <a:ea typeface="等线" panose="02010600030101010101" pitchFamily="2" charset="-122"/>
                <a:cs typeface="Times New Roman" panose="02020603050405020304" pitchFamily="18" charset="0"/>
              </a:rPr>
              <a:t>6</a:t>
            </a:r>
            <a:r>
              <a:rPr lang="zh-CN" altLang="zh-CN" sz="1800" b="1" dirty="0">
                <a:effectLst/>
                <a:ea typeface="等线" panose="02010600030101010101" pitchFamily="2" charset="-122"/>
                <a:cs typeface="Times New Roman" panose="02020603050405020304" pitchFamily="18" charset="0"/>
              </a:rPr>
              <a:t>名志愿者</a:t>
            </a:r>
            <a:r>
              <a:rPr lang="zh-CN" altLang="zh-CN" sz="1800" dirty="0">
                <a:effectLst/>
                <a:ea typeface="等线" panose="02010600030101010101" pitchFamily="2" charset="-122"/>
                <a:cs typeface="Times New Roman" panose="02020603050405020304" pitchFamily="18" charset="0"/>
              </a:rPr>
              <a:t>（年龄</a:t>
            </a:r>
            <a:r>
              <a:rPr lang="en-US" altLang="zh-CN" sz="1800" dirty="0">
                <a:effectLst/>
                <a:ea typeface="等线" panose="02010600030101010101" pitchFamily="2" charset="-122"/>
                <a:cs typeface="Times New Roman" panose="02020603050405020304" pitchFamily="18" charset="0"/>
              </a:rPr>
              <a:t>21-32</a:t>
            </a:r>
            <a:r>
              <a:rPr lang="zh-CN" altLang="zh-CN" sz="1800" dirty="0">
                <a:effectLst/>
                <a:ea typeface="等线" panose="02010600030101010101" pitchFamily="2" charset="-122"/>
                <a:cs typeface="Times New Roman" panose="02020603050405020304" pitchFamily="18" charset="0"/>
              </a:rPr>
              <a:t>岁，身高</a:t>
            </a:r>
            <a:r>
              <a:rPr lang="en-US" altLang="zh-CN" sz="1800" dirty="0">
                <a:effectLst/>
                <a:ea typeface="等线" panose="02010600030101010101" pitchFamily="2" charset="-122"/>
                <a:cs typeface="Times New Roman" panose="02020603050405020304" pitchFamily="18" charset="0"/>
              </a:rPr>
              <a:t>1.6-1.83m</a:t>
            </a:r>
            <a:r>
              <a:rPr lang="zh-CN" altLang="zh-CN" sz="1800" dirty="0">
                <a:effectLst/>
                <a:ea typeface="等线" panose="02010600030101010101" pitchFamily="2" charset="-122"/>
                <a:cs typeface="Times New Roman" panose="02020603050405020304" pitchFamily="18" charset="0"/>
              </a:rPr>
              <a:t>），在两个月内于四种环境中执行各种日常活动，包括</a:t>
            </a:r>
            <a:r>
              <a:rPr lang="zh-CN" altLang="zh-CN" sz="1800" b="1" dirty="0">
                <a:effectLst/>
                <a:ea typeface="等线" panose="02010600030101010101" pitchFamily="2" charset="-122"/>
                <a:cs typeface="Times New Roman" panose="02020603050405020304" pitchFamily="18" charset="0"/>
              </a:rPr>
              <a:t>跌倒</a:t>
            </a:r>
            <a:r>
              <a:rPr lang="zh-CN" altLang="zh-CN" sz="1800" dirty="0">
                <a:effectLst/>
                <a:ea typeface="等线" panose="02010600030101010101" pitchFamily="2" charset="-122"/>
                <a:cs typeface="Times New Roman" panose="02020603050405020304" pitchFamily="18" charset="0"/>
              </a:rPr>
              <a:t>（如站立跌倒、行走跌倒）、</a:t>
            </a:r>
            <a:r>
              <a:rPr lang="zh-CN" altLang="zh-CN" sz="1800" b="1" dirty="0">
                <a:effectLst/>
                <a:ea typeface="等线" panose="02010600030101010101" pitchFamily="2" charset="-122"/>
                <a:cs typeface="Times New Roman" panose="02020603050405020304" pitchFamily="18" charset="0"/>
              </a:rPr>
              <a:t>跌倒类似活动</a:t>
            </a:r>
            <a:r>
              <a:rPr lang="zh-CN" altLang="zh-CN" sz="1800" dirty="0">
                <a:effectLst/>
                <a:ea typeface="等线" panose="02010600030101010101" pitchFamily="2" charset="-122"/>
                <a:cs typeface="Times New Roman" panose="02020603050405020304" pitchFamily="18" charset="0"/>
              </a:rPr>
              <a:t>（如坐下、躺下）和</a:t>
            </a:r>
            <a:r>
              <a:rPr lang="zh-CN" altLang="zh-CN" sz="1800" b="1" dirty="0">
                <a:effectLst/>
                <a:ea typeface="等线" panose="02010600030101010101" pitchFamily="2" charset="-122"/>
                <a:cs typeface="Times New Roman" panose="02020603050405020304" pitchFamily="18" charset="0"/>
              </a:rPr>
              <a:t>其他活动</a:t>
            </a:r>
            <a:r>
              <a:rPr lang="zh-CN" altLang="zh-CN" sz="1800" dirty="0">
                <a:effectLst/>
                <a:ea typeface="等线" panose="02010600030101010101" pitchFamily="2" charset="-122"/>
                <a:cs typeface="Times New Roman" panose="02020603050405020304" pitchFamily="18" charset="0"/>
              </a:rPr>
              <a:t>（如行走、跑步）。活动基于</a:t>
            </a:r>
            <a:r>
              <a:rPr lang="zh-CN" altLang="zh-CN" sz="1800" b="1" dirty="0">
                <a:effectLst/>
                <a:ea typeface="等线" panose="02010600030101010101" pitchFamily="2" charset="-122"/>
                <a:cs typeface="Times New Roman" panose="02020603050405020304" pitchFamily="18" charset="0"/>
              </a:rPr>
              <a:t>日常生活活动（</a:t>
            </a:r>
            <a:r>
              <a:rPr lang="en-US" altLang="zh-CN" sz="1800" b="1" dirty="0">
                <a:effectLst/>
                <a:ea typeface="等线" panose="02010600030101010101" pitchFamily="2" charset="-122"/>
                <a:cs typeface="Times New Roman" panose="02020603050405020304" pitchFamily="18" charset="0"/>
              </a:rPr>
              <a:t>ADL</a:t>
            </a:r>
            <a:r>
              <a:rPr lang="zh-CN" altLang="zh-CN" sz="1800" b="1" dirty="0">
                <a:effectLst/>
                <a:ea typeface="等线" panose="02010600030101010101" pitchFamily="2" charset="-122"/>
                <a:cs typeface="Times New Roman" panose="02020603050405020304" pitchFamily="18" charset="0"/>
              </a:rPr>
              <a:t>）</a:t>
            </a:r>
            <a:r>
              <a:rPr lang="zh-CN" altLang="zh-CN" sz="1800" dirty="0">
                <a:effectLst/>
                <a:ea typeface="等线" panose="02010600030101010101" pitchFamily="2" charset="-122"/>
                <a:cs typeface="Times New Roman" panose="02020603050405020304" pitchFamily="18" charset="0"/>
              </a:rPr>
              <a:t>总结</a:t>
            </a:r>
            <a:r>
              <a:rPr lang="zh-CN" altLang="en-US" dirty="0"/>
              <a:t>。</a:t>
            </a:r>
            <a:r>
              <a:rPr lang="zh-CN" altLang="en-US" dirty="0">
                <a:ea typeface="等线" panose="02010600030101010101" pitchFamily="2" charset="-122"/>
                <a:cs typeface="Times New Roman" panose="02020603050405020304" pitchFamily="18" charset="0"/>
              </a:rPr>
              <a:t>数据收集持续</a:t>
            </a:r>
            <a:r>
              <a:rPr lang="zh-CN" altLang="en-US" b="1" dirty="0">
                <a:ea typeface="等线" panose="02010600030101010101" pitchFamily="2" charset="-122"/>
                <a:cs typeface="Times New Roman" panose="02020603050405020304" pitchFamily="18" charset="0"/>
              </a:rPr>
              <a:t>两个月</a:t>
            </a:r>
            <a:r>
              <a:rPr lang="zh-CN" altLang="en-US" dirty="0">
                <a:ea typeface="等线" panose="02010600030101010101" pitchFamily="2" charset="-122"/>
                <a:cs typeface="Times New Roman" panose="02020603050405020304" pitchFamily="18" charset="0"/>
              </a:rPr>
              <a:t>，活动以</a:t>
            </a:r>
            <a:r>
              <a:rPr lang="zh-CN" altLang="en-US" b="1" dirty="0">
                <a:ea typeface="等线" panose="02010600030101010101" pitchFamily="2" charset="-122"/>
                <a:cs typeface="Times New Roman" panose="02020603050405020304" pitchFamily="18" charset="0"/>
              </a:rPr>
              <a:t>连续流</a:t>
            </a:r>
            <a:r>
              <a:rPr lang="zh-CN" altLang="en-US" dirty="0">
                <a:ea typeface="等线" panose="02010600030101010101" pitchFamily="2" charset="-122"/>
                <a:cs typeface="Times New Roman" panose="02020603050405020304" pitchFamily="18" charset="0"/>
              </a:rPr>
              <a:t>形式进行，混合跌倒和非跌倒活动，模拟真实家庭环境。</a:t>
            </a:r>
          </a:p>
        </p:txBody>
      </p:sp>
      <p:sp>
        <p:nvSpPr>
          <p:cNvPr id="15" name="文本框 14">
            <a:extLst>
              <a:ext uri="{FF2B5EF4-FFF2-40B4-BE49-F238E27FC236}">
                <a16:creationId xmlns:a16="http://schemas.microsoft.com/office/drawing/2014/main" id="{FB29495C-FC96-C602-A1B8-65E47F927B07}"/>
              </a:ext>
            </a:extLst>
          </p:cNvPr>
          <p:cNvSpPr txBox="1"/>
          <p:nvPr/>
        </p:nvSpPr>
        <p:spPr>
          <a:xfrm>
            <a:off x="224789" y="5632667"/>
            <a:ext cx="5870893" cy="1200329"/>
          </a:xfrm>
          <a:prstGeom prst="rect">
            <a:avLst/>
          </a:prstGeom>
          <a:noFill/>
        </p:spPr>
        <p:txBody>
          <a:bodyPr wrap="square">
            <a:spAutoFit/>
          </a:bodyPr>
          <a:lstStyle/>
          <a:p>
            <a:r>
              <a:rPr lang="zh-CN" altLang="en-US" b="0" i="0" dirty="0">
                <a:solidFill>
                  <a:srgbClr val="000000"/>
                </a:solidFill>
                <a:effectLst/>
                <a:latin typeface="-apple-system"/>
              </a:rPr>
              <a:t>​</a:t>
            </a:r>
            <a:r>
              <a:rPr lang="en-US" altLang="zh-CN" b="1" i="0" dirty="0">
                <a:solidFill>
                  <a:srgbClr val="000000"/>
                </a:solidFill>
                <a:effectLst/>
                <a:latin typeface="-apple-system"/>
              </a:rPr>
              <a:t>ADL</a:t>
            </a:r>
            <a:r>
              <a:rPr lang="zh-CN" altLang="en-US" b="1" i="0" dirty="0">
                <a:solidFill>
                  <a:srgbClr val="000000"/>
                </a:solidFill>
                <a:effectLst/>
                <a:latin typeface="-apple-system"/>
              </a:rPr>
              <a:t>（</a:t>
            </a:r>
            <a:r>
              <a:rPr lang="en-US" altLang="zh-CN" b="1" i="0" dirty="0">
                <a:solidFill>
                  <a:srgbClr val="000000"/>
                </a:solidFill>
                <a:effectLst/>
                <a:latin typeface="-apple-system"/>
              </a:rPr>
              <a:t>Activities of Daily Living</a:t>
            </a:r>
            <a:r>
              <a:rPr lang="zh-CN" altLang="en-US" b="1" i="0" dirty="0">
                <a:solidFill>
                  <a:srgbClr val="000000"/>
                </a:solidFill>
                <a:effectLst/>
                <a:latin typeface="-apple-system"/>
              </a:rPr>
              <a:t>，日常生活活动）​</a:t>
            </a:r>
            <a:r>
              <a:rPr lang="zh-CN" altLang="en-US" b="0" i="0" dirty="0">
                <a:solidFill>
                  <a:srgbClr val="000000"/>
                </a:solidFill>
                <a:effectLst/>
                <a:latin typeface="-apple-system"/>
              </a:rPr>
              <a:t>​：指日常人类活动，如行走、坐下、跌倒、捡东西等。本文基于</a:t>
            </a:r>
            <a:r>
              <a:rPr lang="en-US" altLang="zh-CN" b="0" i="0" dirty="0">
                <a:solidFill>
                  <a:srgbClr val="000000"/>
                </a:solidFill>
                <a:effectLst/>
                <a:latin typeface="-apple-system"/>
              </a:rPr>
              <a:t>ADL</a:t>
            </a:r>
            <a:r>
              <a:rPr lang="zh-CN" altLang="en-US" b="0" i="0" dirty="0">
                <a:solidFill>
                  <a:srgbClr val="000000"/>
                </a:solidFill>
                <a:effectLst/>
                <a:latin typeface="-apple-system"/>
              </a:rPr>
              <a:t>总结活动类型确保数据集全面覆盖真实家庭环境中的常见行为，减少检测盲点</a:t>
            </a:r>
            <a:endParaRPr lang="zh-CN" altLang="en-US" dirty="0"/>
          </a:p>
        </p:txBody>
      </p:sp>
      <p:sp>
        <p:nvSpPr>
          <p:cNvPr id="17" name="文本框 16">
            <a:extLst>
              <a:ext uri="{FF2B5EF4-FFF2-40B4-BE49-F238E27FC236}">
                <a16:creationId xmlns:a16="http://schemas.microsoft.com/office/drawing/2014/main" id="{82D63594-7899-F611-C608-FF350ABD79C9}"/>
              </a:ext>
            </a:extLst>
          </p:cNvPr>
          <p:cNvSpPr txBox="1"/>
          <p:nvPr/>
        </p:nvSpPr>
        <p:spPr>
          <a:xfrm>
            <a:off x="6015989" y="5632667"/>
            <a:ext cx="6146800" cy="923330"/>
          </a:xfrm>
          <a:prstGeom prst="rect">
            <a:avLst/>
          </a:prstGeom>
          <a:noFill/>
        </p:spPr>
        <p:txBody>
          <a:bodyPr wrap="square">
            <a:spAutoFit/>
          </a:bodyPr>
          <a:lstStyle/>
          <a:p>
            <a:r>
              <a:rPr lang="zh-CN" altLang="en-US" b="1" i="0" dirty="0">
                <a:solidFill>
                  <a:srgbClr val="000000"/>
                </a:solidFill>
                <a:effectLst/>
                <a:latin typeface="-apple-system"/>
              </a:rPr>
              <a:t>地面真值（</a:t>
            </a:r>
            <a:r>
              <a:rPr lang="en-US" altLang="zh-CN" b="1" i="0" dirty="0">
                <a:solidFill>
                  <a:srgbClr val="000000"/>
                </a:solidFill>
                <a:effectLst/>
                <a:latin typeface="-apple-system"/>
              </a:rPr>
              <a:t>Ground Truth</a:t>
            </a:r>
            <a:r>
              <a:rPr lang="zh-CN" altLang="en-US" b="1" i="0" dirty="0">
                <a:solidFill>
                  <a:srgbClr val="000000"/>
                </a:solidFill>
                <a:effectLst/>
                <a:latin typeface="-apple-system"/>
              </a:rPr>
              <a:t>）​</a:t>
            </a:r>
            <a:r>
              <a:rPr lang="zh-CN" altLang="en-US" b="0" i="0" dirty="0">
                <a:solidFill>
                  <a:srgbClr val="000000"/>
                </a:solidFill>
                <a:effectLst/>
                <a:latin typeface="-apple-system"/>
              </a:rPr>
              <a:t>​：通过摄像头记录的视频数据，作为活动标签的参考标准，用于训练和测试系统的准确性。视频提供视觉确认，确保数据标注可靠</a:t>
            </a:r>
            <a:endParaRPr lang="zh-CN" altLang="en-US" dirty="0"/>
          </a:p>
        </p:txBody>
      </p:sp>
    </p:spTree>
    <p:custDataLst>
      <p:tags r:id="rId1"/>
    </p:custDataLst>
    <p:extLst>
      <p:ext uri="{BB962C8B-B14F-4D97-AF65-F5344CB8AC3E}">
        <p14:creationId xmlns:p14="http://schemas.microsoft.com/office/powerpoint/2010/main" val="79481840"/>
      </p:ext>
    </p:extLst>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a:extLst>
            <a:ext uri="{FF2B5EF4-FFF2-40B4-BE49-F238E27FC236}">
              <a16:creationId xmlns:a16="http://schemas.microsoft.com/office/drawing/2014/main" id="{CC6303E4-D09E-6FAD-4605-D8E2A4D7C447}"/>
            </a:ext>
          </a:extLst>
        </p:cNvPr>
        <p:cNvGrpSpPr/>
        <p:nvPr/>
      </p:nvGrpSpPr>
      <p:grpSpPr>
        <a:xfrm>
          <a:off x="0" y="0"/>
          <a:ext cx="0" cy="0"/>
          <a:chOff x="0" y="0"/>
          <a:chExt cx="0" cy="0"/>
        </a:xfrm>
      </p:grpSpPr>
      <p:sp>
        <p:nvSpPr>
          <p:cNvPr id="20" name="矩形 19">
            <a:extLst>
              <a:ext uri="{FF2B5EF4-FFF2-40B4-BE49-F238E27FC236}">
                <a16:creationId xmlns:a16="http://schemas.microsoft.com/office/drawing/2014/main" id="{96A32E5B-5A14-5134-AF1F-3E19EB7EC402}"/>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A2B87351-AE21-8E3A-5E67-5A2FEF436BD9}"/>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152EBA61-2214-4BCA-5E75-0CDABB8AD932}"/>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A0E1426D-9AA9-C273-3758-5C90ADF3FCE3}"/>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E2F51142-8C65-085D-4182-6D9AB555D2A1}"/>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评估</a:t>
            </a:r>
          </a:p>
        </p:txBody>
      </p:sp>
      <p:sp>
        <p:nvSpPr>
          <p:cNvPr id="4" name="文本框 3">
            <a:extLst>
              <a:ext uri="{FF2B5EF4-FFF2-40B4-BE49-F238E27FC236}">
                <a16:creationId xmlns:a16="http://schemas.microsoft.com/office/drawing/2014/main" id="{24CA8FF8-3BFD-ADED-D30E-91DC0B0D9F27}"/>
              </a:ext>
            </a:extLst>
          </p:cNvPr>
          <p:cNvSpPr txBox="1"/>
          <p:nvPr/>
        </p:nvSpPr>
        <p:spPr>
          <a:xfrm>
            <a:off x="279400" y="1133000"/>
            <a:ext cx="6096000" cy="461665"/>
          </a:xfrm>
          <a:prstGeom prst="rect">
            <a:avLst/>
          </a:prstGeom>
          <a:noFill/>
        </p:spPr>
        <p:txBody>
          <a:bodyPr wrap="square">
            <a:spAutoFit/>
          </a:bodyPr>
          <a:lstStyle/>
          <a:p>
            <a:r>
              <a:rPr lang="zh-CN" altLang="en-US" sz="2400" b="1" dirty="0">
                <a:solidFill>
                  <a:srgbClr val="000000"/>
                </a:solidFill>
                <a:latin typeface="Helvetica Neue"/>
              </a:rPr>
              <a:t>基线方法和性能指标</a:t>
            </a:r>
          </a:p>
        </p:txBody>
      </p:sp>
      <p:sp>
        <p:nvSpPr>
          <p:cNvPr id="6" name="文本框 5">
            <a:extLst>
              <a:ext uri="{FF2B5EF4-FFF2-40B4-BE49-F238E27FC236}">
                <a16:creationId xmlns:a16="http://schemas.microsoft.com/office/drawing/2014/main" id="{D7CFF99C-AC34-9B2A-C23A-E0A549BE6E6E}"/>
              </a:ext>
            </a:extLst>
          </p:cNvPr>
          <p:cNvSpPr txBox="1"/>
          <p:nvPr/>
        </p:nvSpPr>
        <p:spPr>
          <a:xfrm>
            <a:off x="279400" y="1798045"/>
            <a:ext cx="6096000" cy="369332"/>
          </a:xfrm>
          <a:prstGeom prst="rect">
            <a:avLst/>
          </a:prstGeom>
          <a:noFill/>
        </p:spPr>
        <p:txBody>
          <a:bodyPr wrap="square">
            <a:spAutoFit/>
          </a:bodyPr>
          <a:lstStyle/>
          <a:p>
            <a:r>
              <a:rPr lang="zh-CN" altLang="en-US" b="1" dirty="0"/>
              <a:t>定义</a:t>
            </a:r>
            <a:endParaRPr lang="zh-CN" altLang="en-US" b="1" i="0" dirty="0">
              <a:solidFill>
                <a:srgbClr val="000000"/>
              </a:solidFill>
              <a:effectLst/>
              <a:latin typeface="Helvetica Neue"/>
            </a:endParaRPr>
          </a:p>
        </p:txBody>
      </p:sp>
      <p:sp>
        <p:nvSpPr>
          <p:cNvPr id="11" name="文本框 10">
            <a:extLst>
              <a:ext uri="{FF2B5EF4-FFF2-40B4-BE49-F238E27FC236}">
                <a16:creationId xmlns:a16="http://schemas.microsoft.com/office/drawing/2014/main" id="{2AF12BD8-E29A-4DD4-0AD9-B2EDEDA9641C}"/>
              </a:ext>
            </a:extLst>
          </p:cNvPr>
          <p:cNvSpPr txBox="1"/>
          <p:nvPr/>
        </p:nvSpPr>
        <p:spPr>
          <a:xfrm>
            <a:off x="5554980" y="1323466"/>
            <a:ext cx="6096000" cy="646331"/>
          </a:xfrm>
          <a:prstGeom prst="rect">
            <a:avLst/>
          </a:prstGeom>
          <a:noFill/>
        </p:spPr>
        <p:txBody>
          <a:bodyPr wrap="square">
            <a:spAutoFit/>
          </a:bodyPr>
          <a:lstStyle/>
          <a:p>
            <a:r>
              <a:rPr lang="zh-CN" altLang="en-US" dirty="0"/>
              <a:t>定义了用于</a:t>
            </a:r>
            <a:r>
              <a:rPr lang="zh-CN" altLang="en-US" b="1" dirty="0"/>
              <a:t>评估</a:t>
            </a:r>
            <a:r>
              <a:rPr lang="en-US" altLang="zh-CN" b="1" dirty="0"/>
              <a:t>RT-Fall</a:t>
            </a:r>
            <a:r>
              <a:rPr lang="zh-CN" altLang="en-US" dirty="0"/>
              <a:t>系统的</a:t>
            </a:r>
            <a:r>
              <a:rPr lang="zh-CN" altLang="en-US" b="1" dirty="0"/>
              <a:t>基线方法（</a:t>
            </a:r>
            <a:r>
              <a:rPr lang="en-US" altLang="zh-CN" b="1" dirty="0" err="1"/>
              <a:t>WiFall</a:t>
            </a:r>
            <a:r>
              <a:rPr lang="zh-CN" altLang="en-US" b="1" dirty="0"/>
              <a:t>）</a:t>
            </a:r>
            <a:r>
              <a:rPr lang="zh-CN" altLang="en-US" dirty="0"/>
              <a:t>和</a:t>
            </a:r>
            <a:r>
              <a:rPr lang="zh-CN" altLang="en-US" b="1" dirty="0"/>
              <a:t>性能指标（敏感性和特异性）</a:t>
            </a:r>
            <a:r>
              <a:rPr lang="en-US" altLang="zh-CN" b="1" dirty="0"/>
              <a:t>,</a:t>
            </a:r>
            <a:r>
              <a:rPr lang="zh-CN" altLang="en-US" dirty="0"/>
              <a:t>用于评估</a:t>
            </a:r>
            <a:r>
              <a:rPr lang="en-US" altLang="zh-CN" dirty="0"/>
              <a:t>RT-Fall</a:t>
            </a:r>
            <a:r>
              <a:rPr lang="zh-CN" altLang="en-US" dirty="0"/>
              <a:t>系统。</a:t>
            </a:r>
            <a:endParaRPr lang="zh-CN" altLang="zh-CN" dirty="0"/>
          </a:p>
        </p:txBody>
      </p:sp>
      <p:sp>
        <p:nvSpPr>
          <p:cNvPr id="15" name="文本框 14">
            <a:extLst>
              <a:ext uri="{FF2B5EF4-FFF2-40B4-BE49-F238E27FC236}">
                <a16:creationId xmlns:a16="http://schemas.microsoft.com/office/drawing/2014/main" id="{5CA14C0A-EF82-D311-04B9-B5CFBCF76193}"/>
              </a:ext>
            </a:extLst>
          </p:cNvPr>
          <p:cNvSpPr txBox="1"/>
          <p:nvPr/>
        </p:nvSpPr>
        <p:spPr>
          <a:xfrm>
            <a:off x="224789" y="5632667"/>
            <a:ext cx="5870893" cy="369332"/>
          </a:xfrm>
          <a:prstGeom prst="rect">
            <a:avLst/>
          </a:prstGeom>
          <a:noFill/>
        </p:spPr>
        <p:txBody>
          <a:bodyPr wrap="square">
            <a:spAutoFit/>
          </a:bodyPr>
          <a:lstStyle/>
          <a:p>
            <a:r>
              <a:rPr lang="zh-CN" altLang="en-US" b="0" i="0" dirty="0">
                <a:solidFill>
                  <a:srgbClr val="000000"/>
                </a:solidFill>
                <a:effectLst/>
                <a:latin typeface="-apple-system"/>
              </a:rPr>
              <a:t>​</a:t>
            </a:r>
            <a:endParaRPr lang="zh-CN" altLang="en-US" dirty="0"/>
          </a:p>
        </p:txBody>
      </p:sp>
      <p:sp>
        <p:nvSpPr>
          <p:cNvPr id="5" name="文本框 4">
            <a:extLst>
              <a:ext uri="{FF2B5EF4-FFF2-40B4-BE49-F238E27FC236}">
                <a16:creationId xmlns:a16="http://schemas.microsoft.com/office/drawing/2014/main" id="{738490CE-84F4-5DD3-164F-8A3E96BC9FC8}"/>
              </a:ext>
            </a:extLst>
          </p:cNvPr>
          <p:cNvSpPr txBox="1"/>
          <p:nvPr/>
        </p:nvSpPr>
        <p:spPr>
          <a:xfrm>
            <a:off x="112235" y="5319887"/>
            <a:ext cx="6096000" cy="1477328"/>
          </a:xfrm>
          <a:prstGeom prst="rect">
            <a:avLst/>
          </a:prstGeom>
          <a:noFill/>
        </p:spPr>
        <p:txBody>
          <a:bodyPr wrap="square">
            <a:spAutoFit/>
          </a:bodyPr>
          <a:lstStyle/>
          <a:p>
            <a:r>
              <a:rPr lang="en-US" altLang="zh-CN" b="1" i="0" dirty="0" err="1">
                <a:solidFill>
                  <a:srgbClr val="000000"/>
                </a:solidFill>
                <a:effectLst/>
                <a:latin typeface="-apple-system"/>
              </a:rPr>
              <a:t>WiFall</a:t>
            </a:r>
            <a:r>
              <a:rPr lang="zh-CN" altLang="en-US" b="0" i="0" dirty="0">
                <a:solidFill>
                  <a:srgbClr val="000000"/>
                </a:solidFill>
                <a:effectLst/>
                <a:latin typeface="-apple-system"/>
              </a:rPr>
              <a:t>​：</a:t>
            </a:r>
            <a:r>
              <a:rPr lang="zh-CN" altLang="en-US" dirty="0"/>
              <a:t>现有基于</a:t>
            </a:r>
            <a:r>
              <a:rPr lang="en-US" altLang="zh-CN" dirty="0" err="1"/>
              <a:t>WiFi</a:t>
            </a:r>
            <a:r>
              <a:rPr lang="en-US" altLang="zh-CN" dirty="0"/>
              <a:t> CSI</a:t>
            </a:r>
            <a:r>
              <a:rPr lang="zh-CN" altLang="en-US" dirty="0"/>
              <a:t>的跌倒检测方法的</a:t>
            </a:r>
            <a:r>
              <a:rPr lang="zh-CN" altLang="en-US" b="0" i="0" dirty="0">
                <a:solidFill>
                  <a:srgbClr val="000000"/>
                </a:solidFill>
                <a:effectLst/>
                <a:latin typeface="-apple-system"/>
              </a:rPr>
              <a:t>基线方法，利用</a:t>
            </a:r>
            <a:r>
              <a:rPr lang="en-US" altLang="zh-CN" b="0" i="0" dirty="0">
                <a:solidFill>
                  <a:srgbClr val="000000"/>
                </a:solidFill>
                <a:effectLst/>
                <a:latin typeface="-apple-system"/>
              </a:rPr>
              <a:t>CSI</a:t>
            </a:r>
            <a:r>
              <a:rPr lang="zh-CN" altLang="en-US" b="0" i="0" dirty="0">
                <a:solidFill>
                  <a:srgbClr val="000000"/>
                </a:solidFill>
                <a:effectLst/>
                <a:latin typeface="-apple-system"/>
              </a:rPr>
              <a:t>振幅信息进行跌倒检测。其</a:t>
            </a:r>
            <a:r>
              <a:rPr lang="zh-CN" altLang="en-US" b="1" i="0" dirty="0">
                <a:solidFill>
                  <a:srgbClr val="000000"/>
                </a:solidFill>
                <a:effectLst/>
                <a:latin typeface="-apple-system"/>
              </a:rPr>
              <a:t>局限性</a:t>
            </a:r>
            <a:r>
              <a:rPr lang="zh-CN" altLang="en-US" b="0" i="0" dirty="0">
                <a:solidFill>
                  <a:srgbClr val="000000"/>
                </a:solidFill>
                <a:effectLst/>
                <a:latin typeface="-apple-system"/>
              </a:rPr>
              <a:t>在于假设活动预定义且不连续（</a:t>
            </a:r>
            <a:r>
              <a:rPr lang="zh-CN" altLang="en-US" dirty="0"/>
              <a:t>仅允许四种活动，且活动间需有静止间隔</a:t>
            </a:r>
            <a:r>
              <a:rPr lang="en-US" altLang="zh-CN" b="0" i="0" dirty="0">
                <a:solidFill>
                  <a:srgbClr val="000000"/>
                </a:solidFill>
                <a:effectLst/>
                <a:latin typeface="-apple-system"/>
              </a:rPr>
              <a:t>,</a:t>
            </a:r>
            <a:r>
              <a:rPr lang="zh-CN" altLang="en-US" b="0" i="0" dirty="0">
                <a:solidFill>
                  <a:srgbClr val="000000"/>
                </a:solidFill>
                <a:effectLst/>
                <a:latin typeface="-apple-system"/>
              </a:rPr>
              <a:t>本文通过先应用</a:t>
            </a:r>
            <a:r>
              <a:rPr lang="en-US" altLang="zh-CN" b="0" i="0" dirty="0">
                <a:solidFill>
                  <a:srgbClr val="000000"/>
                </a:solidFill>
                <a:effectLst/>
                <a:latin typeface="-apple-system"/>
              </a:rPr>
              <a:t>RT-Fall</a:t>
            </a:r>
            <a:r>
              <a:rPr lang="zh-CN" altLang="en-US" b="0" i="0" dirty="0">
                <a:solidFill>
                  <a:srgbClr val="000000"/>
                </a:solidFill>
                <a:effectLst/>
                <a:latin typeface="-apple-system"/>
              </a:rPr>
              <a:t>的活动分割方法，再使用</a:t>
            </a:r>
            <a:r>
              <a:rPr lang="en-US" altLang="zh-CN" b="0" i="0" dirty="0" err="1">
                <a:solidFill>
                  <a:srgbClr val="000000"/>
                </a:solidFill>
                <a:effectLst/>
                <a:latin typeface="-apple-system"/>
              </a:rPr>
              <a:t>WiFall</a:t>
            </a:r>
            <a:r>
              <a:rPr lang="zh-CN" altLang="en-US" b="0" i="0" dirty="0">
                <a:solidFill>
                  <a:srgbClr val="000000"/>
                </a:solidFill>
                <a:effectLst/>
                <a:latin typeface="-apple-system"/>
              </a:rPr>
              <a:t>分类器，以公平比较。</a:t>
            </a:r>
            <a:endParaRPr lang="zh-CN" altLang="en-US" dirty="0"/>
          </a:p>
        </p:txBody>
      </p:sp>
      <p:sp>
        <p:nvSpPr>
          <p:cNvPr id="16" name="文本框 15">
            <a:extLst>
              <a:ext uri="{FF2B5EF4-FFF2-40B4-BE49-F238E27FC236}">
                <a16:creationId xmlns:a16="http://schemas.microsoft.com/office/drawing/2014/main" id="{60995B70-B902-AC6B-A51F-0ECF3142D34A}"/>
              </a:ext>
            </a:extLst>
          </p:cNvPr>
          <p:cNvSpPr txBox="1"/>
          <p:nvPr/>
        </p:nvSpPr>
        <p:spPr>
          <a:xfrm>
            <a:off x="6148224" y="5381829"/>
            <a:ext cx="6203950" cy="1200329"/>
          </a:xfrm>
          <a:prstGeom prst="rect">
            <a:avLst/>
          </a:prstGeom>
          <a:noFill/>
        </p:spPr>
        <p:txBody>
          <a:bodyPr wrap="square">
            <a:spAutoFit/>
          </a:bodyPr>
          <a:lstStyle/>
          <a:p>
            <a:r>
              <a:rPr lang="zh-CN" altLang="en-US" b="1" dirty="0"/>
              <a:t>性能指标（敏感性和特异性）</a:t>
            </a:r>
            <a:r>
              <a:rPr lang="en-US" altLang="zh-CN" b="1" dirty="0"/>
              <a:t>:</a:t>
            </a:r>
            <a:r>
              <a:rPr lang="zh-CN" altLang="en-US" dirty="0"/>
              <a:t>基于</a:t>
            </a:r>
            <a:r>
              <a:rPr lang="zh-CN" altLang="en-US" b="1" dirty="0"/>
              <a:t>混淆矩阵</a:t>
            </a:r>
            <a:r>
              <a:rPr lang="zh-CN" altLang="en-US" dirty="0"/>
              <a:t>（</a:t>
            </a:r>
            <a:r>
              <a:rPr lang="en-US" altLang="zh-CN" dirty="0"/>
              <a:t>Confusion Matrix</a:t>
            </a:r>
            <a:r>
              <a:rPr lang="zh-CN" altLang="en-US" dirty="0"/>
              <a:t>）计算</a:t>
            </a:r>
            <a:endParaRPr lang="en-US" altLang="zh-CN" dirty="0"/>
          </a:p>
          <a:p>
            <a:r>
              <a:rPr lang="zh-CN" altLang="en-US" b="1" dirty="0">
                <a:solidFill>
                  <a:srgbClr val="000000"/>
                </a:solidFill>
                <a:latin typeface="-apple-system"/>
              </a:rPr>
              <a:t>敏感性</a:t>
            </a:r>
            <a:r>
              <a:rPr lang="en-US" altLang="zh-CN" dirty="0">
                <a:solidFill>
                  <a:srgbClr val="000000"/>
                </a:solidFill>
                <a:latin typeface="-apple-system"/>
              </a:rPr>
              <a:t>=TP/(TP+FN),</a:t>
            </a:r>
            <a:r>
              <a:rPr lang="zh-CN" altLang="en-US" dirty="0">
                <a:solidFill>
                  <a:srgbClr val="000000"/>
                </a:solidFill>
                <a:latin typeface="-apple-system"/>
              </a:rPr>
              <a:t>正确检测跌倒性能</a:t>
            </a:r>
            <a:endParaRPr lang="en-US" altLang="zh-CN" dirty="0">
              <a:solidFill>
                <a:srgbClr val="000000"/>
              </a:solidFill>
              <a:latin typeface="-apple-system"/>
            </a:endParaRPr>
          </a:p>
          <a:p>
            <a:r>
              <a:rPr lang="zh-CN" altLang="en-US" b="1" dirty="0">
                <a:solidFill>
                  <a:srgbClr val="000000"/>
                </a:solidFill>
                <a:latin typeface="-apple-system"/>
              </a:rPr>
              <a:t>特异性</a:t>
            </a:r>
            <a:r>
              <a:rPr lang="en-US" altLang="zh-CN" dirty="0">
                <a:solidFill>
                  <a:srgbClr val="000000"/>
                </a:solidFill>
                <a:latin typeface="-apple-system"/>
              </a:rPr>
              <a:t>=TN/(TN+FP),</a:t>
            </a:r>
            <a:r>
              <a:rPr lang="zh-CN" altLang="en-US" dirty="0">
                <a:solidFill>
                  <a:srgbClr val="000000"/>
                </a:solidFill>
                <a:latin typeface="-apple-system"/>
              </a:rPr>
              <a:t>正确排除跌倒性能</a:t>
            </a:r>
            <a:endParaRPr lang="zh-CN" altLang="en-US" dirty="0"/>
          </a:p>
        </p:txBody>
      </p:sp>
      <p:pic>
        <p:nvPicPr>
          <p:cNvPr id="19" name="图片 18">
            <a:extLst>
              <a:ext uri="{FF2B5EF4-FFF2-40B4-BE49-F238E27FC236}">
                <a16:creationId xmlns:a16="http://schemas.microsoft.com/office/drawing/2014/main" id="{691FB76B-7F5C-A48E-D44C-FB2E0B19BF1E}"/>
              </a:ext>
            </a:extLst>
          </p:cNvPr>
          <p:cNvPicPr>
            <a:picLocks noChangeAspect="1"/>
          </p:cNvPicPr>
          <p:nvPr/>
        </p:nvPicPr>
        <p:blipFill>
          <a:blip r:embed="rId6"/>
          <a:stretch>
            <a:fillRect/>
          </a:stretch>
        </p:blipFill>
        <p:spPr>
          <a:xfrm>
            <a:off x="279400" y="2375389"/>
            <a:ext cx="11737648" cy="2434074"/>
          </a:xfrm>
          <a:prstGeom prst="rect">
            <a:avLst/>
          </a:prstGeom>
        </p:spPr>
      </p:pic>
      <p:sp>
        <p:nvSpPr>
          <p:cNvPr id="28" name="箭头: 右 27">
            <a:extLst>
              <a:ext uri="{FF2B5EF4-FFF2-40B4-BE49-F238E27FC236}">
                <a16:creationId xmlns:a16="http://schemas.microsoft.com/office/drawing/2014/main" id="{397C3C0B-6F0B-A21A-1D80-1AA325232841}"/>
              </a:ext>
            </a:extLst>
          </p:cNvPr>
          <p:cNvSpPr/>
          <p:nvPr/>
        </p:nvSpPr>
        <p:spPr>
          <a:xfrm rot="19224072">
            <a:off x="2441141" y="2896216"/>
            <a:ext cx="762000" cy="1397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F0ABF9C0-0AEC-DA14-A2C7-40E1939F2A82}"/>
              </a:ext>
            </a:extLst>
          </p:cNvPr>
          <p:cNvSpPr txBox="1"/>
          <p:nvPr/>
        </p:nvSpPr>
        <p:spPr>
          <a:xfrm>
            <a:off x="4678680" y="4780548"/>
            <a:ext cx="6172200" cy="369332"/>
          </a:xfrm>
          <a:prstGeom prst="rect">
            <a:avLst/>
          </a:prstGeom>
          <a:noFill/>
        </p:spPr>
        <p:txBody>
          <a:bodyPr wrap="square">
            <a:spAutoFit/>
          </a:bodyPr>
          <a:lstStyle/>
          <a:p>
            <a:r>
              <a:rPr lang="zh-CN" altLang="en-US" b="1" i="0" dirty="0">
                <a:solidFill>
                  <a:srgbClr val="000000"/>
                </a:solidFill>
                <a:effectLst/>
                <a:latin typeface="-apple-system"/>
              </a:rPr>
              <a:t>混淆矩阵</a:t>
            </a:r>
            <a:r>
              <a:rPr lang="zh-CN" altLang="en-US" b="0" i="0" dirty="0">
                <a:solidFill>
                  <a:srgbClr val="000000"/>
                </a:solidFill>
                <a:effectLst/>
                <a:latin typeface="-apple-system"/>
              </a:rPr>
              <a:t>的示意图</a:t>
            </a:r>
            <a:endParaRPr lang="en-US" altLang="zh-CN" b="0" i="0" dirty="0">
              <a:solidFill>
                <a:srgbClr val="000000"/>
              </a:solidFill>
              <a:effectLst/>
              <a:latin typeface="-apple-system"/>
            </a:endParaRPr>
          </a:p>
        </p:txBody>
      </p:sp>
      <p:sp>
        <p:nvSpPr>
          <p:cNvPr id="32" name="文本框 31">
            <a:extLst>
              <a:ext uri="{FF2B5EF4-FFF2-40B4-BE49-F238E27FC236}">
                <a16:creationId xmlns:a16="http://schemas.microsoft.com/office/drawing/2014/main" id="{6559E6DF-F094-0551-A52C-3EAC55B4DACF}"/>
              </a:ext>
            </a:extLst>
          </p:cNvPr>
          <p:cNvSpPr txBox="1"/>
          <p:nvPr/>
        </p:nvSpPr>
        <p:spPr>
          <a:xfrm>
            <a:off x="3122135" y="2361330"/>
            <a:ext cx="6172200" cy="646331"/>
          </a:xfrm>
          <a:prstGeom prst="rect">
            <a:avLst/>
          </a:prstGeom>
          <a:noFill/>
        </p:spPr>
        <p:txBody>
          <a:bodyPr wrap="square">
            <a:spAutoFit/>
          </a:bodyPr>
          <a:lstStyle/>
          <a:p>
            <a:r>
              <a:rPr lang="en-US" altLang="zh-CN" b="0" i="0" dirty="0">
                <a:solidFill>
                  <a:srgbClr val="C00000"/>
                </a:solidFill>
                <a:effectLst/>
                <a:latin typeface="-apple-system"/>
              </a:rPr>
              <a:t>TP</a:t>
            </a:r>
            <a:r>
              <a:rPr lang="zh-CN" altLang="en-US" b="0" i="0" dirty="0">
                <a:solidFill>
                  <a:srgbClr val="C00000"/>
                </a:solidFill>
                <a:effectLst/>
                <a:latin typeface="-apple-system"/>
              </a:rPr>
              <a:t>表示跌倒被正确检测，</a:t>
            </a:r>
            <a:r>
              <a:rPr lang="en-US" altLang="zh-CN" dirty="0">
                <a:solidFill>
                  <a:srgbClr val="C00000"/>
                </a:solidFill>
                <a:latin typeface="-apple-system"/>
              </a:rPr>
              <a:t>FN</a:t>
            </a:r>
            <a:r>
              <a:rPr lang="zh-CN" altLang="en-US" dirty="0">
                <a:solidFill>
                  <a:srgbClr val="C00000"/>
                </a:solidFill>
                <a:latin typeface="-apple-system"/>
              </a:rPr>
              <a:t>表示跌倒被漏报。</a:t>
            </a:r>
            <a:endParaRPr lang="zh-CN" altLang="en-US" dirty="0">
              <a:solidFill>
                <a:srgbClr val="C00000"/>
              </a:solidFill>
            </a:endParaRPr>
          </a:p>
          <a:p>
            <a:endParaRPr lang="en-US" altLang="zh-CN" b="0" i="0" dirty="0">
              <a:solidFill>
                <a:srgbClr val="000000"/>
              </a:solidFill>
              <a:effectLst/>
              <a:latin typeface="-apple-system"/>
            </a:endParaRPr>
          </a:p>
        </p:txBody>
      </p:sp>
      <p:sp>
        <p:nvSpPr>
          <p:cNvPr id="33" name="箭头: 右 32">
            <a:extLst>
              <a:ext uri="{FF2B5EF4-FFF2-40B4-BE49-F238E27FC236}">
                <a16:creationId xmlns:a16="http://schemas.microsoft.com/office/drawing/2014/main" id="{CFB01171-1429-FFB1-76E6-EF76FB9E9CFE}"/>
              </a:ext>
            </a:extLst>
          </p:cNvPr>
          <p:cNvSpPr/>
          <p:nvPr/>
        </p:nvSpPr>
        <p:spPr>
          <a:xfrm rot="1722637">
            <a:off x="3080018" y="3863275"/>
            <a:ext cx="762000" cy="1397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文本框 34">
            <a:extLst>
              <a:ext uri="{FF2B5EF4-FFF2-40B4-BE49-F238E27FC236}">
                <a16:creationId xmlns:a16="http://schemas.microsoft.com/office/drawing/2014/main" id="{5D390583-4575-9C69-A5DE-0688A8595B5A}"/>
              </a:ext>
            </a:extLst>
          </p:cNvPr>
          <p:cNvSpPr txBox="1"/>
          <p:nvPr/>
        </p:nvSpPr>
        <p:spPr>
          <a:xfrm>
            <a:off x="3967480" y="3958870"/>
            <a:ext cx="6883400" cy="646331"/>
          </a:xfrm>
          <a:prstGeom prst="rect">
            <a:avLst/>
          </a:prstGeom>
          <a:noFill/>
        </p:spPr>
        <p:txBody>
          <a:bodyPr wrap="square">
            <a:spAutoFit/>
          </a:bodyPr>
          <a:lstStyle/>
          <a:p>
            <a:r>
              <a:rPr lang="en-US" altLang="zh-CN" b="0" i="0" dirty="0">
                <a:solidFill>
                  <a:srgbClr val="C00000"/>
                </a:solidFill>
                <a:effectLst/>
                <a:latin typeface="-apple-system"/>
              </a:rPr>
              <a:t>FP</a:t>
            </a:r>
            <a:r>
              <a:rPr lang="zh-CN" altLang="en-US" b="0" i="0" dirty="0">
                <a:solidFill>
                  <a:srgbClr val="C00000"/>
                </a:solidFill>
                <a:effectLst/>
                <a:latin typeface="-apple-system"/>
              </a:rPr>
              <a:t>表示非跌倒活动被误报为跌倒</a:t>
            </a:r>
            <a:r>
              <a:rPr lang="en-US" altLang="zh-CN" dirty="0">
                <a:solidFill>
                  <a:srgbClr val="C00000"/>
                </a:solidFill>
                <a:latin typeface="-apple-system"/>
              </a:rPr>
              <a:t>, TN</a:t>
            </a:r>
            <a:r>
              <a:rPr lang="zh-CN" altLang="en-US" dirty="0">
                <a:solidFill>
                  <a:srgbClr val="C00000"/>
                </a:solidFill>
                <a:latin typeface="-apple-system"/>
              </a:rPr>
              <a:t>表示非跌倒活动被正确排除</a:t>
            </a:r>
            <a:endParaRPr lang="en-US" altLang="zh-CN" dirty="0">
              <a:solidFill>
                <a:srgbClr val="000000"/>
              </a:solidFill>
              <a:latin typeface="-apple-system"/>
            </a:endParaRPr>
          </a:p>
          <a:p>
            <a:endParaRPr lang="zh-CN" altLang="en-US" dirty="0"/>
          </a:p>
        </p:txBody>
      </p:sp>
    </p:spTree>
    <p:custDataLst>
      <p:tags r:id="rId1"/>
    </p:custDataLst>
    <p:extLst>
      <p:ext uri="{BB962C8B-B14F-4D97-AF65-F5344CB8AC3E}">
        <p14:creationId xmlns:p14="http://schemas.microsoft.com/office/powerpoint/2010/main" val="2340577570"/>
      </p:ext>
    </p:extLst>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a:extLst>
            <a:ext uri="{FF2B5EF4-FFF2-40B4-BE49-F238E27FC236}">
              <a16:creationId xmlns:a16="http://schemas.microsoft.com/office/drawing/2014/main" id="{FBE657D8-0CD7-5B40-3CF6-EB866B3328DA}"/>
            </a:ext>
          </a:extLst>
        </p:cNvPr>
        <p:cNvGrpSpPr/>
        <p:nvPr/>
      </p:nvGrpSpPr>
      <p:grpSpPr>
        <a:xfrm>
          <a:off x="0" y="0"/>
          <a:ext cx="0" cy="0"/>
          <a:chOff x="0" y="0"/>
          <a:chExt cx="0" cy="0"/>
        </a:xfrm>
      </p:grpSpPr>
      <p:sp>
        <p:nvSpPr>
          <p:cNvPr id="20" name="矩形 19">
            <a:extLst>
              <a:ext uri="{FF2B5EF4-FFF2-40B4-BE49-F238E27FC236}">
                <a16:creationId xmlns:a16="http://schemas.microsoft.com/office/drawing/2014/main" id="{EDF9B4EB-9452-CE54-D94C-9F6635B7DCC9}"/>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09272C70-3637-EA4B-1CD2-18AD036ADCEC}"/>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E3499B74-6200-0EAE-7A70-7A6C04A3B2F3}"/>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04DAB365-2041-6319-9290-5EF5B8086FB8}"/>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7F3E78E3-0906-02C3-81D0-2348B2DC0A1C}"/>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评估</a:t>
            </a:r>
          </a:p>
        </p:txBody>
      </p:sp>
      <p:sp>
        <p:nvSpPr>
          <p:cNvPr id="4" name="文本框 3">
            <a:extLst>
              <a:ext uri="{FF2B5EF4-FFF2-40B4-BE49-F238E27FC236}">
                <a16:creationId xmlns:a16="http://schemas.microsoft.com/office/drawing/2014/main" id="{5EDAC5E8-BECE-D766-89B0-FB8E3172508E}"/>
              </a:ext>
            </a:extLst>
          </p:cNvPr>
          <p:cNvSpPr txBox="1"/>
          <p:nvPr/>
        </p:nvSpPr>
        <p:spPr>
          <a:xfrm>
            <a:off x="279400" y="1133000"/>
            <a:ext cx="6096000" cy="461665"/>
          </a:xfrm>
          <a:prstGeom prst="rect">
            <a:avLst/>
          </a:prstGeom>
          <a:noFill/>
        </p:spPr>
        <p:txBody>
          <a:bodyPr wrap="square">
            <a:spAutoFit/>
          </a:bodyPr>
          <a:lstStyle/>
          <a:p>
            <a:r>
              <a:rPr lang="zh-CN" altLang="en-US" sz="2400" b="1" dirty="0">
                <a:solidFill>
                  <a:srgbClr val="000000"/>
                </a:solidFill>
                <a:latin typeface="Helvetica Neue"/>
              </a:rPr>
              <a:t>系统性能与参与者数量</a:t>
            </a:r>
          </a:p>
        </p:txBody>
      </p:sp>
      <p:sp>
        <p:nvSpPr>
          <p:cNvPr id="6" name="文本框 5">
            <a:extLst>
              <a:ext uri="{FF2B5EF4-FFF2-40B4-BE49-F238E27FC236}">
                <a16:creationId xmlns:a16="http://schemas.microsoft.com/office/drawing/2014/main" id="{F5DE75B4-E9CC-4474-24CD-49ECCCC4AB60}"/>
              </a:ext>
            </a:extLst>
          </p:cNvPr>
          <p:cNvSpPr txBox="1"/>
          <p:nvPr/>
        </p:nvSpPr>
        <p:spPr>
          <a:xfrm>
            <a:off x="279400" y="1798045"/>
            <a:ext cx="6096000" cy="369332"/>
          </a:xfrm>
          <a:prstGeom prst="rect">
            <a:avLst/>
          </a:prstGeom>
          <a:noFill/>
        </p:spPr>
        <p:txBody>
          <a:bodyPr wrap="square">
            <a:spAutoFit/>
          </a:bodyPr>
          <a:lstStyle/>
          <a:p>
            <a:r>
              <a:rPr lang="zh-CN" altLang="en-US" b="1" dirty="0"/>
              <a:t>性能评估结果</a:t>
            </a:r>
            <a:endParaRPr lang="zh-CN" altLang="en-US" b="1" i="0" dirty="0">
              <a:solidFill>
                <a:srgbClr val="000000"/>
              </a:solidFill>
              <a:effectLst/>
              <a:latin typeface="Helvetica Neue"/>
            </a:endParaRPr>
          </a:p>
        </p:txBody>
      </p:sp>
      <p:sp>
        <p:nvSpPr>
          <p:cNvPr id="11" name="文本框 10">
            <a:extLst>
              <a:ext uri="{FF2B5EF4-FFF2-40B4-BE49-F238E27FC236}">
                <a16:creationId xmlns:a16="http://schemas.microsoft.com/office/drawing/2014/main" id="{386B1021-F6E6-25CC-D1AA-33A06BB26B60}"/>
              </a:ext>
            </a:extLst>
          </p:cNvPr>
          <p:cNvSpPr txBox="1"/>
          <p:nvPr/>
        </p:nvSpPr>
        <p:spPr>
          <a:xfrm>
            <a:off x="200732" y="2255635"/>
            <a:ext cx="3763011" cy="4524315"/>
          </a:xfrm>
          <a:prstGeom prst="rect">
            <a:avLst/>
          </a:prstGeom>
          <a:noFill/>
        </p:spPr>
        <p:txBody>
          <a:bodyPr wrap="square">
            <a:spAutoFit/>
          </a:bodyPr>
          <a:lstStyle/>
          <a:p>
            <a:r>
              <a:rPr lang="zh-CN" altLang="en-US" dirty="0"/>
              <a:t>本部分通过实验研究了</a:t>
            </a:r>
            <a:r>
              <a:rPr lang="zh-CN" altLang="en-US" b="1" dirty="0"/>
              <a:t>参与者数量</a:t>
            </a:r>
            <a:r>
              <a:rPr lang="zh-CN" altLang="en-US" dirty="0"/>
              <a:t>对系统性能的影响。</a:t>
            </a:r>
            <a:endParaRPr lang="en-US" altLang="zh-CN" dirty="0"/>
          </a:p>
          <a:p>
            <a:r>
              <a:rPr lang="zh-CN" altLang="en-US" dirty="0"/>
              <a:t>实验设计分为</a:t>
            </a:r>
            <a:r>
              <a:rPr lang="zh-CN" altLang="en-US" b="1" dirty="0"/>
              <a:t>训练数据收集</a:t>
            </a:r>
            <a:r>
              <a:rPr lang="zh-CN" altLang="en-US" dirty="0"/>
              <a:t>和</a:t>
            </a:r>
            <a:r>
              <a:rPr lang="zh-CN" altLang="en-US" b="1" dirty="0"/>
              <a:t>测试</a:t>
            </a:r>
            <a:r>
              <a:rPr lang="zh-CN" altLang="en-US" dirty="0"/>
              <a:t>两个阶段，通过逐步增加参与者数量（从</a:t>
            </a:r>
            <a:r>
              <a:rPr lang="en-US" altLang="zh-CN" dirty="0"/>
              <a:t>1</a:t>
            </a:r>
            <a:r>
              <a:rPr lang="zh-CN" altLang="en-US" dirty="0"/>
              <a:t>人到</a:t>
            </a:r>
            <a:r>
              <a:rPr lang="en-US" altLang="zh-CN" dirty="0"/>
              <a:t>3</a:t>
            </a:r>
            <a:r>
              <a:rPr lang="zh-CN" altLang="en-US" dirty="0"/>
              <a:t>人）来构建个性化模型和通用模型。</a:t>
            </a:r>
            <a:endParaRPr lang="en-US" altLang="zh-CN" dirty="0"/>
          </a:p>
          <a:p>
            <a:endParaRPr lang="en-US" altLang="zh-CN" dirty="0"/>
          </a:p>
          <a:p>
            <a:endParaRPr lang="en-US" altLang="zh-CN" dirty="0"/>
          </a:p>
          <a:p>
            <a:r>
              <a:rPr lang="zh-CN" altLang="en-US" dirty="0"/>
              <a:t>实验结果显示，当参与者数量增加到</a:t>
            </a:r>
            <a:r>
              <a:rPr lang="en-US" altLang="zh-CN" b="1" dirty="0"/>
              <a:t>3</a:t>
            </a:r>
            <a:r>
              <a:rPr lang="zh-CN" altLang="en-US" b="1" dirty="0"/>
              <a:t>人</a:t>
            </a:r>
            <a:r>
              <a:rPr lang="zh-CN" altLang="en-US" dirty="0"/>
              <a:t>时，模型性能趋于</a:t>
            </a:r>
            <a:r>
              <a:rPr lang="zh-CN" altLang="en-US" b="1" dirty="0"/>
              <a:t>稳定</a:t>
            </a:r>
            <a:r>
              <a:rPr lang="zh-CN" altLang="en-US" dirty="0"/>
              <a:t>，敏感性平均达到</a:t>
            </a:r>
            <a:r>
              <a:rPr lang="en-US" altLang="zh-CN" dirty="0"/>
              <a:t>93%</a:t>
            </a:r>
            <a:r>
              <a:rPr lang="zh-CN" altLang="en-US" dirty="0"/>
              <a:t>，特异性平均达到</a:t>
            </a:r>
            <a:r>
              <a:rPr lang="en-US" altLang="zh-CN" dirty="0"/>
              <a:t>89%</a:t>
            </a:r>
            <a:r>
              <a:rPr lang="zh-CN" altLang="en-US" dirty="0"/>
              <a:t>。所有跌倒活动均能被</a:t>
            </a:r>
            <a:r>
              <a:rPr lang="en-US" altLang="zh-CN" dirty="0"/>
              <a:t>100%</a:t>
            </a:r>
            <a:r>
              <a:rPr lang="zh-CN" altLang="en-US" dirty="0"/>
              <a:t>准确分割</a:t>
            </a:r>
            <a:endParaRPr lang="en-US" altLang="zh-CN" dirty="0"/>
          </a:p>
          <a:p>
            <a:r>
              <a:rPr lang="zh-CN" altLang="en-US" dirty="0"/>
              <a:t>但</a:t>
            </a:r>
            <a:r>
              <a:rPr lang="zh-CN" altLang="en-US" b="1" dirty="0"/>
              <a:t>通用模型</a:t>
            </a:r>
            <a:r>
              <a:rPr lang="zh-CN" altLang="en-US" dirty="0"/>
              <a:t>的性能</a:t>
            </a:r>
            <a:r>
              <a:rPr lang="zh-CN" altLang="en-US" b="1" dirty="0"/>
              <a:t>略低于个性化模型</a:t>
            </a:r>
            <a:r>
              <a:rPr lang="zh-CN" altLang="en-US" dirty="0"/>
              <a:t>，表明系统需要足够的训练数据才能达到最优性能。</a:t>
            </a:r>
            <a:endParaRPr lang="zh-CN" altLang="zh-CN" dirty="0"/>
          </a:p>
        </p:txBody>
      </p:sp>
      <p:sp>
        <p:nvSpPr>
          <p:cNvPr id="30" name="文本框 29">
            <a:extLst>
              <a:ext uri="{FF2B5EF4-FFF2-40B4-BE49-F238E27FC236}">
                <a16:creationId xmlns:a16="http://schemas.microsoft.com/office/drawing/2014/main" id="{089D6F72-404D-F1C5-F160-A2FE8646673C}"/>
              </a:ext>
            </a:extLst>
          </p:cNvPr>
          <p:cNvSpPr txBox="1"/>
          <p:nvPr/>
        </p:nvSpPr>
        <p:spPr>
          <a:xfrm>
            <a:off x="4678680" y="4780548"/>
            <a:ext cx="6172200" cy="369332"/>
          </a:xfrm>
          <a:prstGeom prst="rect">
            <a:avLst/>
          </a:prstGeom>
          <a:noFill/>
        </p:spPr>
        <p:txBody>
          <a:bodyPr wrap="square">
            <a:spAutoFit/>
          </a:bodyPr>
          <a:lstStyle/>
          <a:p>
            <a:r>
              <a:rPr lang="zh-CN" altLang="en-US" b="1" i="0" dirty="0">
                <a:solidFill>
                  <a:srgbClr val="000000"/>
                </a:solidFill>
                <a:effectLst/>
                <a:latin typeface="-apple-system"/>
              </a:rPr>
              <a:t>混淆矩阵</a:t>
            </a:r>
            <a:r>
              <a:rPr lang="zh-CN" altLang="en-US" b="0" i="0" dirty="0">
                <a:solidFill>
                  <a:srgbClr val="000000"/>
                </a:solidFill>
                <a:effectLst/>
                <a:latin typeface="-apple-system"/>
              </a:rPr>
              <a:t>的示意图</a:t>
            </a:r>
            <a:endParaRPr lang="en-US" altLang="zh-CN" b="0" i="0" dirty="0">
              <a:solidFill>
                <a:srgbClr val="000000"/>
              </a:solidFill>
              <a:effectLst/>
              <a:latin typeface="-apple-system"/>
            </a:endParaRPr>
          </a:p>
        </p:txBody>
      </p:sp>
      <p:pic>
        <p:nvPicPr>
          <p:cNvPr id="37" name="图片 36">
            <a:extLst>
              <a:ext uri="{FF2B5EF4-FFF2-40B4-BE49-F238E27FC236}">
                <a16:creationId xmlns:a16="http://schemas.microsoft.com/office/drawing/2014/main" id="{0E8FB57F-CC58-EE12-62AD-B91EFDE3B573}"/>
              </a:ext>
            </a:extLst>
          </p:cNvPr>
          <p:cNvPicPr>
            <a:picLocks noChangeAspect="1"/>
          </p:cNvPicPr>
          <p:nvPr/>
        </p:nvPicPr>
        <p:blipFill>
          <a:blip r:embed="rId6"/>
          <a:stretch>
            <a:fillRect/>
          </a:stretch>
        </p:blipFill>
        <p:spPr>
          <a:xfrm>
            <a:off x="3939686" y="1111525"/>
            <a:ext cx="7554939" cy="6017736"/>
          </a:xfrm>
          <a:prstGeom prst="rect">
            <a:avLst/>
          </a:prstGeom>
        </p:spPr>
      </p:pic>
      <p:sp>
        <p:nvSpPr>
          <p:cNvPr id="42" name="矩形 41">
            <a:extLst>
              <a:ext uri="{FF2B5EF4-FFF2-40B4-BE49-F238E27FC236}">
                <a16:creationId xmlns:a16="http://schemas.microsoft.com/office/drawing/2014/main" id="{2C37FE98-EB3A-3044-0F3D-9C60CB533365}"/>
              </a:ext>
            </a:extLst>
          </p:cNvPr>
          <p:cNvSpPr/>
          <p:nvPr/>
        </p:nvSpPr>
        <p:spPr>
          <a:xfrm>
            <a:off x="8519014" y="1246454"/>
            <a:ext cx="2908300" cy="3284905"/>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a:extLst>
              <a:ext uri="{FF2B5EF4-FFF2-40B4-BE49-F238E27FC236}">
                <a16:creationId xmlns:a16="http://schemas.microsoft.com/office/drawing/2014/main" id="{2708233E-D5DF-EB12-6A5F-AB93E8081601}"/>
              </a:ext>
            </a:extLst>
          </p:cNvPr>
          <p:cNvSpPr txBox="1"/>
          <p:nvPr/>
        </p:nvSpPr>
        <p:spPr>
          <a:xfrm>
            <a:off x="5871211" y="3963795"/>
            <a:ext cx="6096000" cy="369332"/>
          </a:xfrm>
          <a:prstGeom prst="rect">
            <a:avLst/>
          </a:prstGeom>
          <a:noFill/>
        </p:spPr>
        <p:txBody>
          <a:bodyPr wrap="square">
            <a:spAutoFit/>
          </a:bodyPr>
          <a:lstStyle/>
          <a:p>
            <a:r>
              <a:rPr lang="zh-CN" altLang="en-US" dirty="0">
                <a:solidFill>
                  <a:srgbClr val="C00000"/>
                </a:solidFill>
              </a:rPr>
              <a:t>用于训练模型的数据</a:t>
            </a:r>
          </a:p>
        </p:txBody>
      </p:sp>
      <p:sp>
        <p:nvSpPr>
          <p:cNvPr id="46" name="文本框 45">
            <a:extLst>
              <a:ext uri="{FF2B5EF4-FFF2-40B4-BE49-F238E27FC236}">
                <a16:creationId xmlns:a16="http://schemas.microsoft.com/office/drawing/2014/main" id="{7AB629BE-DA2C-0381-8BB5-BBCF2C21075D}"/>
              </a:ext>
            </a:extLst>
          </p:cNvPr>
          <p:cNvSpPr txBox="1"/>
          <p:nvPr/>
        </p:nvSpPr>
        <p:spPr>
          <a:xfrm>
            <a:off x="9093054" y="945155"/>
            <a:ext cx="6096000" cy="369332"/>
          </a:xfrm>
          <a:prstGeom prst="rect">
            <a:avLst/>
          </a:prstGeom>
          <a:noFill/>
        </p:spPr>
        <p:txBody>
          <a:bodyPr wrap="square">
            <a:spAutoFit/>
          </a:bodyPr>
          <a:lstStyle/>
          <a:p>
            <a:r>
              <a:rPr lang="zh-CN" altLang="en-US" dirty="0">
                <a:solidFill>
                  <a:srgbClr val="C00000"/>
                </a:solidFill>
              </a:rPr>
              <a:t>用于测试模型的数据</a:t>
            </a:r>
          </a:p>
        </p:txBody>
      </p:sp>
      <p:sp>
        <p:nvSpPr>
          <p:cNvPr id="47" name="矩形 46">
            <a:extLst>
              <a:ext uri="{FF2B5EF4-FFF2-40B4-BE49-F238E27FC236}">
                <a16:creationId xmlns:a16="http://schemas.microsoft.com/office/drawing/2014/main" id="{640CB9CE-89D9-48A2-FC5F-F6C6CA9DCE47}"/>
              </a:ext>
            </a:extLst>
          </p:cNvPr>
          <p:cNvSpPr/>
          <p:nvPr/>
        </p:nvSpPr>
        <p:spPr>
          <a:xfrm>
            <a:off x="5570220" y="1153320"/>
            <a:ext cx="2908300" cy="2717340"/>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ustDataLst>
      <p:tags r:id="rId1"/>
    </p:custDataLst>
    <p:extLst>
      <p:ext uri="{BB962C8B-B14F-4D97-AF65-F5344CB8AC3E}">
        <p14:creationId xmlns:p14="http://schemas.microsoft.com/office/powerpoint/2010/main" val="2034838477"/>
      </p:ext>
    </p:extLst>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a:extLst>
            <a:ext uri="{FF2B5EF4-FFF2-40B4-BE49-F238E27FC236}">
              <a16:creationId xmlns:a16="http://schemas.microsoft.com/office/drawing/2014/main" id="{E4B51652-ACA4-A00B-62BC-3BDF0380D525}"/>
            </a:ext>
          </a:extLst>
        </p:cNvPr>
        <p:cNvGrpSpPr/>
        <p:nvPr/>
      </p:nvGrpSpPr>
      <p:grpSpPr>
        <a:xfrm>
          <a:off x="0" y="0"/>
          <a:ext cx="0" cy="0"/>
          <a:chOff x="0" y="0"/>
          <a:chExt cx="0" cy="0"/>
        </a:xfrm>
      </p:grpSpPr>
      <p:sp>
        <p:nvSpPr>
          <p:cNvPr id="20" name="矩形 19">
            <a:extLst>
              <a:ext uri="{FF2B5EF4-FFF2-40B4-BE49-F238E27FC236}">
                <a16:creationId xmlns:a16="http://schemas.microsoft.com/office/drawing/2014/main" id="{4B5B159C-F8B5-582D-3351-AD83320C944B}"/>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56459668-D991-ED0A-3BB2-257688B239F7}"/>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4CF81D75-BC49-3BB2-66E3-B05B4C9B05F6}"/>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AD7CCAB2-2B18-45B1-BAF7-6306FF6F7E46}"/>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37BDAE38-1103-6BF5-4B32-528500DF331F}"/>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评估</a:t>
            </a:r>
          </a:p>
        </p:txBody>
      </p:sp>
      <p:sp>
        <p:nvSpPr>
          <p:cNvPr id="4" name="文本框 3">
            <a:extLst>
              <a:ext uri="{FF2B5EF4-FFF2-40B4-BE49-F238E27FC236}">
                <a16:creationId xmlns:a16="http://schemas.microsoft.com/office/drawing/2014/main" id="{088E4EF3-9461-3204-9A45-193AEFDF028B}"/>
              </a:ext>
            </a:extLst>
          </p:cNvPr>
          <p:cNvSpPr txBox="1"/>
          <p:nvPr/>
        </p:nvSpPr>
        <p:spPr>
          <a:xfrm>
            <a:off x="279400" y="1133000"/>
            <a:ext cx="6096000" cy="461665"/>
          </a:xfrm>
          <a:prstGeom prst="rect">
            <a:avLst/>
          </a:prstGeom>
          <a:noFill/>
        </p:spPr>
        <p:txBody>
          <a:bodyPr wrap="square">
            <a:spAutoFit/>
          </a:bodyPr>
          <a:lstStyle/>
          <a:p>
            <a:r>
              <a:rPr lang="zh-CN" altLang="en-US" sz="2400" b="1" dirty="0">
                <a:solidFill>
                  <a:srgbClr val="000000"/>
                </a:solidFill>
                <a:latin typeface="Helvetica Neue"/>
              </a:rPr>
              <a:t>系统评估与比较</a:t>
            </a:r>
          </a:p>
        </p:txBody>
      </p:sp>
      <p:sp>
        <p:nvSpPr>
          <p:cNvPr id="6" name="文本框 5">
            <a:extLst>
              <a:ext uri="{FF2B5EF4-FFF2-40B4-BE49-F238E27FC236}">
                <a16:creationId xmlns:a16="http://schemas.microsoft.com/office/drawing/2014/main" id="{61A8696D-2A0D-C478-E41D-9C36B63BCB23}"/>
              </a:ext>
            </a:extLst>
          </p:cNvPr>
          <p:cNvSpPr txBox="1"/>
          <p:nvPr/>
        </p:nvSpPr>
        <p:spPr>
          <a:xfrm>
            <a:off x="279400" y="1798045"/>
            <a:ext cx="6096000" cy="369332"/>
          </a:xfrm>
          <a:prstGeom prst="rect">
            <a:avLst/>
          </a:prstGeom>
          <a:noFill/>
        </p:spPr>
        <p:txBody>
          <a:bodyPr wrap="square">
            <a:spAutoFit/>
          </a:bodyPr>
          <a:lstStyle/>
          <a:p>
            <a:pPr fontAlgn="base"/>
            <a:r>
              <a:rPr lang="zh-CN" altLang="en-US" b="1" dirty="0"/>
              <a:t>性能比较</a:t>
            </a:r>
          </a:p>
        </p:txBody>
      </p:sp>
      <p:pic>
        <p:nvPicPr>
          <p:cNvPr id="8" name="图片 7">
            <a:extLst>
              <a:ext uri="{FF2B5EF4-FFF2-40B4-BE49-F238E27FC236}">
                <a16:creationId xmlns:a16="http://schemas.microsoft.com/office/drawing/2014/main" id="{AE7CD9F4-26AE-2977-18D8-0BC9C1E08CFE}"/>
              </a:ext>
            </a:extLst>
          </p:cNvPr>
          <p:cNvPicPr>
            <a:picLocks noChangeAspect="1"/>
          </p:cNvPicPr>
          <p:nvPr/>
        </p:nvPicPr>
        <p:blipFill>
          <a:blip r:embed="rId6"/>
          <a:stretch>
            <a:fillRect/>
          </a:stretch>
        </p:blipFill>
        <p:spPr>
          <a:xfrm>
            <a:off x="5016500" y="1394571"/>
            <a:ext cx="6896100" cy="5213885"/>
          </a:xfrm>
          <a:prstGeom prst="rect">
            <a:avLst/>
          </a:prstGeom>
        </p:spPr>
      </p:pic>
      <p:sp>
        <p:nvSpPr>
          <p:cNvPr id="10" name="文本框 9">
            <a:extLst>
              <a:ext uri="{FF2B5EF4-FFF2-40B4-BE49-F238E27FC236}">
                <a16:creationId xmlns:a16="http://schemas.microsoft.com/office/drawing/2014/main" id="{E1EC3245-18AE-E62D-B02B-EED8DB28AED2}"/>
              </a:ext>
            </a:extLst>
          </p:cNvPr>
          <p:cNvSpPr txBox="1"/>
          <p:nvPr/>
        </p:nvSpPr>
        <p:spPr>
          <a:xfrm>
            <a:off x="286385" y="2274619"/>
            <a:ext cx="4368800" cy="1754326"/>
          </a:xfrm>
          <a:prstGeom prst="rect">
            <a:avLst/>
          </a:prstGeom>
          <a:noFill/>
        </p:spPr>
        <p:txBody>
          <a:bodyPr wrap="square">
            <a:spAutoFit/>
          </a:bodyPr>
          <a:lstStyle/>
          <a:p>
            <a:r>
              <a:rPr lang="zh-CN" altLang="en-US" b="0" i="0" dirty="0">
                <a:solidFill>
                  <a:srgbClr val="000000"/>
                </a:solidFill>
                <a:effectLst/>
                <a:latin typeface="-apple-system"/>
              </a:rPr>
              <a:t>此图展示了在</a:t>
            </a:r>
            <a:r>
              <a:rPr lang="zh-CN" altLang="en-US" b="1" i="0" dirty="0">
                <a:solidFill>
                  <a:srgbClr val="000000"/>
                </a:solidFill>
                <a:effectLst/>
                <a:latin typeface="-apple-system"/>
              </a:rPr>
              <a:t>不同房间中的性能比较</a:t>
            </a:r>
            <a:r>
              <a:rPr lang="zh-CN" altLang="en-US" b="0" i="0" dirty="0">
                <a:solidFill>
                  <a:srgbClr val="000000"/>
                </a:solidFill>
                <a:effectLst/>
                <a:latin typeface="-apple-system"/>
              </a:rPr>
              <a:t>。</a:t>
            </a:r>
            <a:r>
              <a:rPr lang="en-US" altLang="zh-CN" b="0" i="0" dirty="0">
                <a:solidFill>
                  <a:srgbClr val="000000"/>
                </a:solidFill>
                <a:effectLst/>
                <a:latin typeface="-apple-system"/>
              </a:rPr>
              <a:t>(a)</a:t>
            </a:r>
            <a:r>
              <a:rPr lang="zh-CN" altLang="en-US" b="0" i="0" dirty="0">
                <a:solidFill>
                  <a:srgbClr val="000000"/>
                </a:solidFill>
                <a:effectLst/>
                <a:latin typeface="-apple-system"/>
              </a:rPr>
              <a:t>部分为实验设计，说明了在四种环境中的测试布局结果显示</a:t>
            </a:r>
            <a:endParaRPr lang="en-US" altLang="zh-CN" b="0" i="0" dirty="0">
              <a:solidFill>
                <a:srgbClr val="000000"/>
              </a:solidFill>
              <a:effectLst/>
              <a:latin typeface="-apple-system"/>
            </a:endParaRPr>
          </a:p>
          <a:p>
            <a:r>
              <a:rPr lang="en-US" altLang="zh-CN" b="0" i="0" dirty="0">
                <a:solidFill>
                  <a:srgbClr val="000000"/>
                </a:solidFill>
                <a:effectLst/>
                <a:latin typeface="-apple-system"/>
              </a:rPr>
              <a:t>RT-Fall</a:t>
            </a:r>
            <a:r>
              <a:rPr lang="zh-CN" altLang="en-US" b="0" i="0" dirty="0">
                <a:solidFill>
                  <a:srgbClr val="000000"/>
                </a:solidFill>
                <a:effectLst/>
                <a:latin typeface="-apple-system"/>
              </a:rPr>
              <a:t>在平均敏感性和特异性上分别达到</a:t>
            </a:r>
            <a:r>
              <a:rPr lang="en-US" altLang="zh-CN" b="0" i="0" dirty="0">
                <a:solidFill>
                  <a:srgbClr val="000000"/>
                </a:solidFill>
                <a:effectLst/>
                <a:latin typeface="-apple-system"/>
              </a:rPr>
              <a:t>91%</a:t>
            </a:r>
            <a:r>
              <a:rPr lang="zh-CN" altLang="en-US" b="0" i="0" dirty="0">
                <a:solidFill>
                  <a:srgbClr val="000000"/>
                </a:solidFill>
                <a:effectLst/>
                <a:latin typeface="-apple-system"/>
              </a:rPr>
              <a:t>和</a:t>
            </a:r>
            <a:r>
              <a:rPr lang="en-US" altLang="zh-CN" b="0" i="0" dirty="0">
                <a:solidFill>
                  <a:srgbClr val="000000"/>
                </a:solidFill>
                <a:effectLst/>
                <a:latin typeface="-apple-system"/>
              </a:rPr>
              <a:t>92%</a:t>
            </a:r>
            <a:r>
              <a:rPr lang="zh-CN" altLang="en-US" b="0" i="0" dirty="0">
                <a:solidFill>
                  <a:srgbClr val="000000"/>
                </a:solidFill>
                <a:effectLst/>
                <a:latin typeface="-apple-system"/>
              </a:rPr>
              <a:t>，相比</a:t>
            </a:r>
            <a:r>
              <a:rPr lang="en-US" altLang="zh-CN" b="0" i="0" dirty="0" err="1">
                <a:solidFill>
                  <a:srgbClr val="000000"/>
                </a:solidFill>
                <a:effectLst/>
                <a:latin typeface="-apple-system"/>
              </a:rPr>
              <a:t>WiFall</a:t>
            </a:r>
            <a:r>
              <a:rPr lang="zh-CN" altLang="en-US" b="1" i="0" dirty="0">
                <a:solidFill>
                  <a:srgbClr val="000000"/>
                </a:solidFill>
                <a:effectLst/>
                <a:latin typeface="-apple-system"/>
              </a:rPr>
              <a:t>提升了</a:t>
            </a:r>
            <a:r>
              <a:rPr lang="en-US" altLang="zh-CN" b="1" i="0" dirty="0">
                <a:solidFill>
                  <a:srgbClr val="000000"/>
                </a:solidFill>
                <a:effectLst/>
                <a:latin typeface="-apple-system"/>
              </a:rPr>
              <a:t>14%</a:t>
            </a:r>
            <a:r>
              <a:rPr lang="zh-CN" altLang="en-US" b="1" i="0" dirty="0">
                <a:solidFill>
                  <a:srgbClr val="000000"/>
                </a:solidFill>
                <a:effectLst/>
                <a:latin typeface="-apple-system"/>
              </a:rPr>
              <a:t>的敏感性和</a:t>
            </a:r>
            <a:r>
              <a:rPr lang="en-US" altLang="zh-CN" b="1" i="0" dirty="0">
                <a:solidFill>
                  <a:srgbClr val="000000"/>
                </a:solidFill>
                <a:effectLst/>
                <a:latin typeface="-apple-system"/>
              </a:rPr>
              <a:t>10%</a:t>
            </a:r>
            <a:r>
              <a:rPr lang="zh-CN" altLang="en-US" b="1" i="0" dirty="0">
                <a:solidFill>
                  <a:srgbClr val="000000"/>
                </a:solidFill>
                <a:effectLst/>
                <a:latin typeface="-apple-system"/>
              </a:rPr>
              <a:t>的特异性。</a:t>
            </a:r>
            <a:endParaRPr lang="zh-CN" altLang="en-US" b="1" dirty="0"/>
          </a:p>
        </p:txBody>
      </p:sp>
      <p:sp>
        <p:nvSpPr>
          <p:cNvPr id="13" name="文本框 12">
            <a:extLst>
              <a:ext uri="{FF2B5EF4-FFF2-40B4-BE49-F238E27FC236}">
                <a16:creationId xmlns:a16="http://schemas.microsoft.com/office/drawing/2014/main" id="{F62CA93C-EDA8-2712-70AB-930ABB53DA82}"/>
              </a:ext>
            </a:extLst>
          </p:cNvPr>
          <p:cNvSpPr txBox="1"/>
          <p:nvPr/>
        </p:nvSpPr>
        <p:spPr>
          <a:xfrm>
            <a:off x="279400" y="5124835"/>
            <a:ext cx="4521200" cy="1200329"/>
          </a:xfrm>
          <a:prstGeom prst="rect">
            <a:avLst/>
          </a:prstGeom>
          <a:noFill/>
        </p:spPr>
        <p:txBody>
          <a:bodyPr wrap="square">
            <a:spAutoFit/>
          </a:bodyPr>
          <a:lstStyle/>
          <a:p>
            <a:r>
              <a:rPr lang="zh-CN" altLang="en-US" b="1" dirty="0"/>
              <a:t>动态模型选择</a:t>
            </a:r>
            <a:r>
              <a:rPr lang="en-US" altLang="zh-CN" dirty="0">
                <a:effectLst/>
              </a:rPr>
              <a:t>:</a:t>
            </a:r>
            <a:r>
              <a:rPr lang="zh-CN" altLang="en-US" dirty="0"/>
              <a:t>系统通过分析信号波动（如</a:t>
            </a:r>
            <a:r>
              <a:rPr lang="en-US" altLang="zh-CN" dirty="0"/>
              <a:t>CSI</a:t>
            </a:r>
            <a:r>
              <a:rPr lang="zh-CN" altLang="en-US" dirty="0"/>
              <a:t>相位差的方差）来判断用户当前所处的子区域，并自动选择为该区域训练的特定模型进行分类，以此提升检测精度。</a:t>
            </a:r>
          </a:p>
        </p:txBody>
      </p:sp>
      <p:sp>
        <p:nvSpPr>
          <p:cNvPr id="14" name="矩形 13">
            <a:extLst>
              <a:ext uri="{FF2B5EF4-FFF2-40B4-BE49-F238E27FC236}">
                <a16:creationId xmlns:a16="http://schemas.microsoft.com/office/drawing/2014/main" id="{62EED9C9-ADB1-F49F-C9E8-BCEDC979E7D3}"/>
              </a:ext>
            </a:extLst>
          </p:cNvPr>
          <p:cNvSpPr/>
          <p:nvPr/>
        </p:nvSpPr>
        <p:spPr>
          <a:xfrm>
            <a:off x="6375400" y="1418847"/>
            <a:ext cx="2768600" cy="2717340"/>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矩形 14">
            <a:extLst>
              <a:ext uri="{FF2B5EF4-FFF2-40B4-BE49-F238E27FC236}">
                <a16:creationId xmlns:a16="http://schemas.microsoft.com/office/drawing/2014/main" id="{AB2C481B-FB38-BECE-2DE8-D9D4EB3289D9}"/>
              </a:ext>
            </a:extLst>
          </p:cNvPr>
          <p:cNvSpPr/>
          <p:nvPr/>
        </p:nvSpPr>
        <p:spPr>
          <a:xfrm>
            <a:off x="9144000" y="1556565"/>
            <a:ext cx="2908300" cy="2948954"/>
          </a:xfrm>
          <a:prstGeom prst="rect">
            <a:avLst/>
          </a:prstGeom>
          <a:no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文本框 16">
            <a:extLst>
              <a:ext uri="{FF2B5EF4-FFF2-40B4-BE49-F238E27FC236}">
                <a16:creationId xmlns:a16="http://schemas.microsoft.com/office/drawing/2014/main" id="{DA59E047-8AF4-FBDA-9DDE-042116EA584A}"/>
              </a:ext>
            </a:extLst>
          </p:cNvPr>
          <p:cNvSpPr txBox="1"/>
          <p:nvPr/>
        </p:nvSpPr>
        <p:spPr>
          <a:xfrm>
            <a:off x="6680200" y="994500"/>
            <a:ext cx="6096000" cy="369332"/>
          </a:xfrm>
          <a:prstGeom prst="rect">
            <a:avLst/>
          </a:prstGeom>
          <a:noFill/>
        </p:spPr>
        <p:txBody>
          <a:bodyPr wrap="square">
            <a:spAutoFit/>
          </a:bodyPr>
          <a:lstStyle/>
          <a:p>
            <a:r>
              <a:rPr lang="zh-CN" altLang="en-US" dirty="0">
                <a:solidFill>
                  <a:srgbClr val="C00000"/>
                </a:solidFill>
              </a:rPr>
              <a:t>用于训练模型的数据</a:t>
            </a:r>
          </a:p>
        </p:txBody>
      </p:sp>
      <p:sp>
        <p:nvSpPr>
          <p:cNvPr id="19" name="文本框 18">
            <a:extLst>
              <a:ext uri="{FF2B5EF4-FFF2-40B4-BE49-F238E27FC236}">
                <a16:creationId xmlns:a16="http://schemas.microsoft.com/office/drawing/2014/main" id="{8280885C-1DAE-9B66-0A11-56D06FBFAAA4}"/>
              </a:ext>
            </a:extLst>
          </p:cNvPr>
          <p:cNvSpPr txBox="1"/>
          <p:nvPr/>
        </p:nvSpPr>
        <p:spPr>
          <a:xfrm>
            <a:off x="9791700" y="4136187"/>
            <a:ext cx="6388100" cy="369332"/>
          </a:xfrm>
          <a:prstGeom prst="rect">
            <a:avLst/>
          </a:prstGeom>
          <a:noFill/>
        </p:spPr>
        <p:txBody>
          <a:bodyPr wrap="square">
            <a:spAutoFit/>
          </a:bodyPr>
          <a:lstStyle/>
          <a:p>
            <a:r>
              <a:rPr lang="zh-CN" altLang="en-US" dirty="0">
                <a:solidFill>
                  <a:srgbClr val="C00000"/>
                </a:solidFill>
              </a:rPr>
              <a:t>用于测试模型的数据</a:t>
            </a:r>
          </a:p>
        </p:txBody>
      </p:sp>
      <p:sp>
        <p:nvSpPr>
          <p:cNvPr id="25" name="文本框 24">
            <a:extLst>
              <a:ext uri="{FF2B5EF4-FFF2-40B4-BE49-F238E27FC236}">
                <a16:creationId xmlns:a16="http://schemas.microsoft.com/office/drawing/2014/main" id="{C521B16A-11AC-A5D0-55F1-A90C4C6ACB84}"/>
              </a:ext>
            </a:extLst>
          </p:cNvPr>
          <p:cNvSpPr txBox="1"/>
          <p:nvPr/>
        </p:nvSpPr>
        <p:spPr>
          <a:xfrm>
            <a:off x="279400" y="4136187"/>
            <a:ext cx="4521200" cy="923330"/>
          </a:xfrm>
          <a:prstGeom prst="rect">
            <a:avLst/>
          </a:prstGeom>
          <a:noFill/>
        </p:spPr>
        <p:txBody>
          <a:bodyPr wrap="square">
            <a:spAutoFit/>
          </a:bodyPr>
          <a:lstStyle/>
          <a:p>
            <a:r>
              <a:rPr lang="zh-CN" altLang="en-US" b="1" i="0" dirty="0">
                <a:solidFill>
                  <a:srgbClr val="000000"/>
                </a:solidFill>
                <a:effectLst/>
                <a:latin typeface="-apple-system"/>
              </a:rPr>
              <a:t>多设备同步：​</a:t>
            </a:r>
            <a:r>
              <a:rPr lang="zh-CN" altLang="en-US" b="0" i="0" dirty="0">
                <a:solidFill>
                  <a:srgbClr val="000000"/>
                </a:solidFill>
                <a:effectLst/>
                <a:latin typeface="-apple-system"/>
              </a:rPr>
              <a:t>​ 在公寓和大厅等大面积环境中，部署多个</a:t>
            </a:r>
            <a:r>
              <a:rPr lang="en-US" altLang="zh-CN" b="0" i="0" dirty="0" err="1">
                <a:solidFill>
                  <a:srgbClr val="000000"/>
                </a:solidFill>
                <a:effectLst/>
                <a:latin typeface="-apple-system"/>
              </a:rPr>
              <a:t>WiFi</a:t>
            </a:r>
            <a:r>
              <a:rPr lang="zh-CN" altLang="en-US" b="0" i="0" dirty="0">
                <a:solidFill>
                  <a:srgbClr val="000000"/>
                </a:solidFill>
                <a:effectLst/>
                <a:latin typeface="-apple-system"/>
              </a:rPr>
              <a:t>接收设备，并通过中央服务器同步它们的</a:t>
            </a:r>
            <a:r>
              <a:rPr lang="en-US" altLang="zh-CN" b="0" i="0" dirty="0">
                <a:solidFill>
                  <a:srgbClr val="000000"/>
                </a:solidFill>
                <a:effectLst/>
                <a:latin typeface="-apple-system"/>
              </a:rPr>
              <a:t>CSI</a:t>
            </a:r>
            <a:r>
              <a:rPr lang="zh-CN" altLang="en-US" b="0" i="0" dirty="0">
                <a:solidFill>
                  <a:srgbClr val="000000"/>
                </a:solidFill>
                <a:effectLst/>
                <a:latin typeface="-apple-system"/>
              </a:rPr>
              <a:t>数据，以确保全面覆盖。</a:t>
            </a:r>
            <a:endParaRPr lang="zh-CN" altLang="en-US" dirty="0"/>
          </a:p>
        </p:txBody>
      </p:sp>
    </p:spTree>
    <p:custDataLst>
      <p:tags r:id="rId1"/>
    </p:custDataLst>
    <p:extLst>
      <p:ext uri="{BB962C8B-B14F-4D97-AF65-F5344CB8AC3E}">
        <p14:creationId xmlns:p14="http://schemas.microsoft.com/office/powerpoint/2010/main" val="4112370921"/>
      </p:ext>
    </p:extLst>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a:extLst>
            <a:ext uri="{FF2B5EF4-FFF2-40B4-BE49-F238E27FC236}">
              <a16:creationId xmlns:a16="http://schemas.microsoft.com/office/drawing/2014/main" id="{071CCC5B-4646-4A60-CD66-F31E70699D32}"/>
            </a:ext>
          </a:extLst>
        </p:cNvPr>
        <p:cNvGrpSpPr/>
        <p:nvPr/>
      </p:nvGrpSpPr>
      <p:grpSpPr>
        <a:xfrm>
          <a:off x="0" y="0"/>
          <a:ext cx="0" cy="0"/>
          <a:chOff x="0" y="0"/>
          <a:chExt cx="0" cy="0"/>
        </a:xfrm>
      </p:grpSpPr>
      <p:sp>
        <p:nvSpPr>
          <p:cNvPr id="20" name="矩形 19">
            <a:extLst>
              <a:ext uri="{FF2B5EF4-FFF2-40B4-BE49-F238E27FC236}">
                <a16:creationId xmlns:a16="http://schemas.microsoft.com/office/drawing/2014/main" id="{37F19159-B608-EA19-54E0-688344B533FD}"/>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1F9641C5-337C-7E57-AFF7-98DAA869F1AC}"/>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C831D96C-70EC-9150-5709-86E880F59715}"/>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91E71552-B18C-E7A7-5CBE-8E2A7C254809}"/>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7875AC5B-3DE2-36E8-0927-8518DBAE2D1B}"/>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评估</a:t>
            </a:r>
          </a:p>
        </p:txBody>
      </p:sp>
      <p:sp>
        <p:nvSpPr>
          <p:cNvPr id="4" name="文本框 3">
            <a:extLst>
              <a:ext uri="{FF2B5EF4-FFF2-40B4-BE49-F238E27FC236}">
                <a16:creationId xmlns:a16="http://schemas.microsoft.com/office/drawing/2014/main" id="{709C7A14-D89A-D4E1-6517-EEBB81534608}"/>
              </a:ext>
            </a:extLst>
          </p:cNvPr>
          <p:cNvSpPr txBox="1"/>
          <p:nvPr/>
        </p:nvSpPr>
        <p:spPr>
          <a:xfrm>
            <a:off x="279400" y="1133000"/>
            <a:ext cx="6096000" cy="461665"/>
          </a:xfrm>
          <a:prstGeom prst="rect">
            <a:avLst/>
          </a:prstGeom>
          <a:noFill/>
        </p:spPr>
        <p:txBody>
          <a:bodyPr wrap="square">
            <a:spAutoFit/>
          </a:bodyPr>
          <a:lstStyle/>
          <a:p>
            <a:r>
              <a:rPr lang="zh-CN" altLang="en-US" sz="2400" b="1" dirty="0">
                <a:solidFill>
                  <a:srgbClr val="000000"/>
                </a:solidFill>
                <a:latin typeface="Helvetica Neue"/>
              </a:rPr>
              <a:t>系统评估与比较</a:t>
            </a:r>
          </a:p>
        </p:txBody>
      </p:sp>
      <p:sp>
        <p:nvSpPr>
          <p:cNvPr id="6" name="文本框 5">
            <a:extLst>
              <a:ext uri="{FF2B5EF4-FFF2-40B4-BE49-F238E27FC236}">
                <a16:creationId xmlns:a16="http://schemas.microsoft.com/office/drawing/2014/main" id="{C2841804-FA7D-7815-E005-0893D2BE1FCC}"/>
              </a:ext>
            </a:extLst>
          </p:cNvPr>
          <p:cNvSpPr txBox="1"/>
          <p:nvPr/>
        </p:nvSpPr>
        <p:spPr>
          <a:xfrm>
            <a:off x="279400" y="1798045"/>
            <a:ext cx="6096000" cy="369332"/>
          </a:xfrm>
          <a:prstGeom prst="rect">
            <a:avLst/>
          </a:prstGeom>
          <a:noFill/>
        </p:spPr>
        <p:txBody>
          <a:bodyPr wrap="square">
            <a:spAutoFit/>
          </a:bodyPr>
          <a:lstStyle/>
          <a:p>
            <a:pPr fontAlgn="base"/>
            <a:r>
              <a:rPr lang="zh-CN" altLang="en-US" b="1" dirty="0"/>
              <a:t>家具位置变化与鲁棒性</a:t>
            </a:r>
          </a:p>
        </p:txBody>
      </p:sp>
      <p:pic>
        <p:nvPicPr>
          <p:cNvPr id="3" name="图片 2">
            <a:extLst>
              <a:ext uri="{FF2B5EF4-FFF2-40B4-BE49-F238E27FC236}">
                <a16:creationId xmlns:a16="http://schemas.microsoft.com/office/drawing/2014/main" id="{7F654089-AF7D-1748-54FD-11A447C5A3EA}"/>
              </a:ext>
            </a:extLst>
          </p:cNvPr>
          <p:cNvPicPr>
            <a:picLocks noChangeAspect="1"/>
          </p:cNvPicPr>
          <p:nvPr/>
        </p:nvPicPr>
        <p:blipFill>
          <a:blip r:embed="rId6"/>
          <a:stretch>
            <a:fillRect/>
          </a:stretch>
        </p:blipFill>
        <p:spPr>
          <a:xfrm>
            <a:off x="5179805" y="1874191"/>
            <a:ext cx="6847619" cy="2390476"/>
          </a:xfrm>
          <a:prstGeom prst="rect">
            <a:avLst/>
          </a:prstGeom>
        </p:spPr>
      </p:pic>
      <p:sp>
        <p:nvSpPr>
          <p:cNvPr id="8" name="文本框 7">
            <a:extLst>
              <a:ext uri="{FF2B5EF4-FFF2-40B4-BE49-F238E27FC236}">
                <a16:creationId xmlns:a16="http://schemas.microsoft.com/office/drawing/2014/main" id="{E1893BFC-1F18-A72C-D459-8BA8652ADFE0}"/>
              </a:ext>
            </a:extLst>
          </p:cNvPr>
          <p:cNvSpPr txBox="1"/>
          <p:nvPr/>
        </p:nvSpPr>
        <p:spPr>
          <a:xfrm>
            <a:off x="164576" y="2863485"/>
            <a:ext cx="4712224" cy="1754326"/>
          </a:xfrm>
          <a:prstGeom prst="rect">
            <a:avLst/>
          </a:prstGeom>
          <a:noFill/>
        </p:spPr>
        <p:txBody>
          <a:bodyPr wrap="square">
            <a:spAutoFit/>
          </a:bodyPr>
          <a:lstStyle/>
          <a:p>
            <a:r>
              <a:rPr lang="zh-CN" altLang="en-US" b="0" i="0" dirty="0">
                <a:solidFill>
                  <a:srgbClr val="000000"/>
                </a:solidFill>
                <a:effectLst/>
                <a:latin typeface="-apple-system"/>
              </a:rPr>
              <a:t>评估家具位置变化对系统鲁棒性的影响。</a:t>
            </a:r>
            <a:endParaRPr lang="en-US" altLang="zh-CN" b="0" i="0" dirty="0">
              <a:solidFill>
                <a:srgbClr val="000000"/>
              </a:solidFill>
              <a:effectLst/>
              <a:latin typeface="-apple-system"/>
            </a:endParaRPr>
          </a:p>
          <a:p>
            <a:r>
              <a:rPr lang="zh-CN" altLang="en-US" dirty="0"/>
              <a:t>测试表明</a:t>
            </a:r>
            <a:r>
              <a:rPr lang="en-US" altLang="zh-CN" dirty="0"/>
              <a:t>,</a:t>
            </a:r>
            <a:r>
              <a:rPr lang="zh-CN" altLang="en-US" b="1" dirty="0"/>
              <a:t>轻微</a:t>
            </a:r>
            <a:r>
              <a:rPr lang="zh-CN" altLang="en-US" dirty="0"/>
              <a:t>的环境变化（如开关门、灯光变化）对性能影响</a:t>
            </a:r>
            <a:r>
              <a:rPr lang="zh-CN" altLang="en-US" b="1" dirty="0"/>
              <a:t>较小</a:t>
            </a:r>
            <a:r>
              <a:rPr lang="zh-CN" altLang="en-US" dirty="0"/>
              <a:t>；</a:t>
            </a:r>
            <a:endParaRPr lang="en-US" altLang="zh-CN" dirty="0"/>
          </a:p>
          <a:p>
            <a:r>
              <a:rPr lang="zh-CN" altLang="en-US" b="1" dirty="0"/>
              <a:t>重大</a:t>
            </a:r>
            <a:r>
              <a:rPr lang="zh-CN" altLang="en-US" dirty="0"/>
              <a:t>的布局变化</a:t>
            </a:r>
            <a:r>
              <a:rPr lang="en-US" altLang="zh-CN" dirty="0"/>
              <a:t>(LOS</a:t>
            </a:r>
            <a:r>
              <a:rPr lang="zh-CN" altLang="en-US" dirty="0"/>
              <a:t>路径</a:t>
            </a:r>
            <a:r>
              <a:rPr lang="en-US" altLang="zh-CN" dirty="0"/>
              <a:t>)</a:t>
            </a:r>
            <a:r>
              <a:rPr lang="zh-CN" altLang="en-US" dirty="0"/>
              <a:t>会导致性能</a:t>
            </a:r>
            <a:r>
              <a:rPr lang="zh-CN" altLang="en-US" b="1" dirty="0"/>
              <a:t>显著</a:t>
            </a:r>
            <a:r>
              <a:rPr lang="zh-CN" altLang="en-US" dirty="0"/>
              <a:t>下降。</a:t>
            </a:r>
            <a:endParaRPr lang="en-US" altLang="zh-CN" b="0" i="0" dirty="0">
              <a:solidFill>
                <a:srgbClr val="000000"/>
              </a:solidFill>
              <a:effectLst/>
              <a:latin typeface="-apple-system"/>
            </a:endParaRPr>
          </a:p>
          <a:p>
            <a:r>
              <a:rPr lang="zh-CN" altLang="en-US" b="0" i="0" dirty="0">
                <a:solidFill>
                  <a:srgbClr val="000000"/>
                </a:solidFill>
                <a:effectLst/>
                <a:latin typeface="-apple-system"/>
              </a:rPr>
              <a:t>但通过</a:t>
            </a:r>
            <a:r>
              <a:rPr lang="zh-CN" altLang="en-US" b="1" i="0" dirty="0">
                <a:solidFill>
                  <a:srgbClr val="000000"/>
                </a:solidFill>
                <a:effectLst/>
                <a:latin typeface="-apple-system"/>
              </a:rPr>
              <a:t>重新训练</a:t>
            </a:r>
            <a:r>
              <a:rPr lang="zh-CN" altLang="en-US" b="0" i="0" dirty="0">
                <a:solidFill>
                  <a:srgbClr val="000000"/>
                </a:solidFill>
                <a:effectLst/>
                <a:latin typeface="-apple-system"/>
              </a:rPr>
              <a:t>模型，性能可以得到</a:t>
            </a:r>
            <a:r>
              <a:rPr lang="zh-CN" altLang="en-US" b="1" i="0" dirty="0">
                <a:solidFill>
                  <a:srgbClr val="000000"/>
                </a:solidFill>
                <a:effectLst/>
                <a:latin typeface="-apple-system"/>
              </a:rPr>
              <a:t>恢复</a:t>
            </a:r>
            <a:r>
              <a:rPr lang="zh-CN" altLang="en-US" dirty="0"/>
              <a:t>。</a:t>
            </a:r>
          </a:p>
        </p:txBody>
      </p:sp>
      <p:sp>
        <p:nvSpPr>
          <p:cNvPr id="10" name="文本框 9">
            <a:extLst>
              <a:ext uri="{FF2B5EF4-FFF2-40B4-BE49-F238E27FC236}">
                <a16:creationId xmlns:a16="http://schemas.microsoft.com/office/drawing/2014/main" id="{ACC7050E-DBC7-880C-077D-DC184786E8CD}"/>
              </a:ext>
            </a:extLst>
          </p:cNvPr>
          <p:cNvSpPr txBox="1"/>
          <p:nvPr/>
        </p:nvSpPr>
        <p:spPr>
          <a:xfrm>
            <a:off x="7137402" y="4359527"/>
            <a:ext cx="6096000" cy="369332"/>
          </a:xfrm>
          <a:prstGeom prst="rect">
            <a:avLst/>
          </a:prstGeom>
          <a:noFill/>
        </p:spPr>
        <p:txBody>
          <a:bodyPr wrap="square">
            <a:spAutoFit/>
          </a:bodyPr>
          <a:lstStyle/>
          <a:p>
            <a:r>
              <a:rPr lang="zh-CN" altLang="en-US" dirty="0">
                <a:solidFill>
                  <a:srgbClr val="C00000"/>
                </a:solidFill>
                <a:latin typeface="-apple-system"/>
              </a:rPr>
              <a:t>移动到门口</a:t>
            </a:r>
          </a:p>
        </p:txBody>
      </p:sp>
      <p:sp>
        <p:nvSpPr>
          <p:cNvPr id="12" name="文本框 11">
            <a:extLst>
              <a:ext uri="{FF2B5EF4-FFF2-40B4-BE49-F238E27FC236}">
                <a16:creationId xmlns:a16="http://schemas.microsoft.com/office/drawing/2014/main" id="{51C1A038-A573-1033-8449-0A0E66A7E964}"/>
              </a:ext>
            </a:extLst>
          </p:cNvPr>
          <p:cNvSpPr txBox="1"/>
          <p:nvPr/>
        </p:nvSpPr>
        <p:spPr>
          <a:xfrm>
            <a:off x="8603614" y="4371523"/>
            <a:ext cx="6616700" cy="369332"/>
          </a:xfrm>
          <a:prstGeom prst="rect">
            <a:avLst/>
          </a:prstGeom>
          <a:noFill/>
        </p:spPr>
        <p:txBody>
          <a:bodyPr wrap="square">
            <a:spAutoFit/>
          </a:bodyPr>
          <a:lstStyle/>
          <a:p>
            <a:r>
              <a:rPr lang="zh-CN" altLang="en-US" dirty="0">
                <a:solidFill>
                  <a:srgbClr val="C00000"/>
                </a:solidFill>
                <a:latin typeface="-apple-system"/>
              </a:rPr>
              <a:t>移动到</a:t>
            </a:r>
            <a:r>
              <a:rPr lang="en-US" altLang="zh-CN" dirty="0">
                <a:solidFill>
                  <a:srgbClr val="C00000"/>
                </a:solidFill>
                <a:latin typeface="-apple-system"/>
              </a:rPr>
              <a:t>LOS</a:t>
            </a:r>
            <a:r>
              <a:rPr lang="zh-CN" altLang="en-US" dirty="0">
                <a:solidFill>
                  <a:srgbClr val="C00000"/>
                </a:solidFill>
                <a:latin typeface="-apple-system"/>
              </a:rPr>
              <a:t>路径</a:t>
            </a:r>
          </a:p>
        </p:txBody>
      </p:sp>
      <p:sp>
        <p:nvSpPr>
          <p:cNvPr id="14" name="文本框 13">
            <a:extLst>
              <a:ext uri="{FF2B5EF4-FFF2-40B4-BE49-F238E27FC236}">
                <a16:creationId xmlns:a16="http://schemas.microsoft.com/office/drawing/2014/main" id="{CF15CA74-C913-132A-D76F-7C9668368DA9}"/>
              </a:ext>
            </a:extLst>
          </p:cNvPr>
          <p:cNvSpPr txBox="1"/>
          <p:nvPr/>
        </p:nvSpPr>
        <p:spPr>
          <a:xfrm>
            <a:off x="10306050" y="4371523"/>
            <a:ext cx="7607300" cy="369332"/>
          </a:xfrm>
          <a:prstGeom prst="rect">
            <a:avLst/>
          </a:prstGeom>
          <a:noFill/>
        </p:spPr>
        <p:txBody>
          <a:bodyPr wrap="square">
            <a:spAutoFit/>
          </a:bodyPr>
          <a:lstStyle/>
          <a:p>
            <a:r>
              <a:rPr lang="zh-CN" altLang="en-US" b="0" i="0" dirty="0">
                <a:solidFill>
                  <a:srgbClr val="C00000"/>
                </a:solidFill>
                <a:effectLst/>
                <a:latin typeface="-apple-system"/>
              </a:rPr>
              <a:t>重新训练模型</a:t>
            </a:r>
            <a:endParaRPr lang="zh-CN" altLang="en-US" dirty="0">
              <a:solidFill>
                <a:srgbClr val="C00000"/>
              </a:solidFill>
            </a:endParaRPr>
          </a:p>
        </p:txBody>
      </p:sp>
    </p:spTree>
    <p:custDataLst>
      <p:tags r:id="rId1"/>
    </p:custDataLst>
    <p:extLst>
      <p:ext uri="{BB962C8B-B14F-4D97-AF65-F5344CB8AC3E}">
        <p14:creationId xmlns:p14="http://schemas.microsoft.com/office/powerpoint/2010/main" val="510379786"/>
      </p:ext>
    </p:extLst>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a:extLst>
            <a:ext uri="{FF2B5EF4-FFF2-40B4-BE49-F238E27FC236}">
              <a16:creationId xmlns:a16="http://schemas.microsoft.com/office/drawing/2014/main" id="{E6491D90-562B-47D3-5870-35EA612402E6}"/>
            </a:ext>
          </a:extLst>
        </p:cNvPr>
        <p:cNvGrpSpPr/>
        <p:nvPr/>
      </p:nvGrpSpPr>
      <p:grpSpPr>
        <a:xfrm>
          <a:off x="0" y="0"/>
          <a:ext cx="0" cy="0"/>
          <a:chOff x="0" y="0"/>
          <a:chExt cx="0" cy="0"/>
        </a:xfrm>
      </p:grpSpPr>
      <p:sp>
        <p:nvSpPr>
          <p:cNvPr id="20" name="矩形 19">
            <a:extLst>
              <a:ext uri="{FF2B5EF4-FFF2-40B4-BE49-F238E27FC236}">
                <a16:creationId xmlns:a16="http://schemas.microsoft.com/office/drawing/2014/main" id="{CD1250A7-08ED-83B6-8DF4-13D14579CB81}"/>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2C650EBB-15BD-460D-FE5E-4AB6F89C72CD}"/>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B2C554A6-A477-0E1A-B19B-2857D5F61285}"/>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178365A4-32B6-6964-3E9E-4B1CD862AFCA}"/>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78034C66-72BA-D7C7-6438-F854B6FEBF1C}"/>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评估</a:t>
            </a:r>
          </a:p>
        </p:txBody>
      </p:sp>
      <p:sp>
        <p:nvSpPr>
          <p:cNvPr id="4" name="文本框 3">
            <a:extLst>
              <a:ext uri="{FF2B5EF4-FFF2-40B4-BE49-F238E27FC236}">
                <a16:creationId xmlns:a16="http://schemas.microsoft.com/office/drawing/2014/main" id="{AC10779B-CAB7-BD65-531A-CC8D0CE8F542}"/>
              </a:ext>
            </a:extLst>
          </p:cNvPr>
          <p:cNvSpPr txBox="1"/>
          <p:nvPr/>
        </p:nvSpPr>
        <p:spPr>
          <a:xfrm>
            <a:off x="279400" y="1133000"/>
            <a:ext cx="6096000" cy="461665"/>
          </a:xfrm>
          <a:prstGeom prst="rect">
            <a:avLst/>
          </a:prstGeom>
          <a:noFill/>
        </p:spPr>
        <p:txBody>
          <a:bodyPr wrap="square">
            <a:spAutoFit/>
          </a:bodyPr>
          <a:lstStyle/>
          <a:p>
            <a:r>
              <a:rPr lang="zh-CN" altLang="en-US" sz="2400" b="1" dirty="0">
                <a:solidFill>
                  <a:srgbClr val="000000"/>
                </a:solidFill>
                <a:latin typeface="Helvetica Neue"/>
              </a:rPr>
              <a:t>系统评估与比较</a:t>
            </a:r>
          </a:p>
        </p:txBody>
      </p:sp>
      <p:sp>
        <p:nvSpPr>
          <p:cNvPr id="6" name="文本框 5">
            <a:extLst>
              <a:ext uri="{FF2B5EF4-FFF2-40B4-BE49-F238E27FC236}">
                <a16:creationId xmlns:a16="http://schemas.microsoft.com/office/drawing/2014/main" id="{3349D9BB-C15D-AD6A-939B-811642F2046C}"/>
              </a:ext>
            </a:extLst>
          </p:cNvPr>
          <p:cNvSpPr txBox="1"/>
          <p:nvPr/>
        </p:nvSpPr>
        <p:spPr>
          <a:xfrm>
            <a:off x="279400" y="1798045"/>
            <a:ext cx="6096000" cy="369332"/>
          </a:xfrm>
          <a:prstGeom prst="rect">
            <a:avLst/>
          </a:prstGeom>
          <a:noFill/>
        </p:spPr>
        <p:txBody>
          <a:bodyPr wrap="square">
            <a:spAutoFit/>
          </a:bodyPr>
          <a:lstStyle/>
          <a:p>
            <a:pPr fontAlgn="base"/>
            <a:r>
              <a:rPr lang="zh-CN" altLang="en-US" b="1" dirty="0"/>
              <a:t>不同房间环境与鲁棒性</a:t>
            </a:r>
          </a:p>
        </p:txBody>
      </p:sp>
      <p:pic>
        <p:nvPicPr>
          <p:cNvPr id="3" name="图片 2">
            <a:extLst>
              <a:ext uri="{FF2B5EF4-FFF2-40B4-BE49-F238E27FC236}">
                <a16:creationId xmlns:a16="http://schemas.microsoft.com/office/drawing/2014/main" id="{653749B6-F204-74BA-F276-8053EA3021CC}"/>
              </a:ext>
            </a:extLst>
          </p:cNvPr>
          <p:cNvPicPr>
            <a:picLocks noChangeAspect="1"/>
          </p:cNvPicPr>
          <p:nvPr/>
        </p:nvPicPr>
        <p:blipFill>
          <a:blip r:embed="rId6"/>
          <a:stretch>
            <a:fillRect/>
          </a:stretch>
        </p:blipFill>
        <p:spPr>
          <a:xfrm>
            <a:off x="4559300" y="1880546"/>
            <a:ext cx="7353300" cy="2586333"/>
          </a:xfrm>
          <a:prstGeom prst="rect">
            <a:avLst/>
          </a:prstGeom>
        </p:spPr>
      </p:pic>
      <p:sp>
        <p:nvSpPr>
          <p:cNvPr id="8" name="文本框 7">
            <a:extLst>
              <a:ext uri="{FF2B5EF4-FFF2-40B4-BE49-F238E27FC236}">
                <a16:creationId xmlns:a16="http://schemas.microsoft.com/office/drawing/2014/main" id="{1202C4C1-5401-46EF-49D3-1CC797515CAB}"/>
              </a:ext>
            </a:extLst>
          </p:cNvPr>
          <p:cNvSpPr txBox="1"/>
          <p:nvPr/>
        </p:nvSpPr>
        <p:spPr>
          <a:xfrm>
            <a:off x="114300" y="3063398"/>
            <a:ext cx="4445000" cy="1754326"/>
          </a:xfrm>
          <a:prstGeom prst="rect">
            <a:avLst/>
          </a:prstGeom>
          <a:noFill/>
        </p:spPr>
        <p:txBody>
          <a:bodyPr wrap="square">
            <a:spAutoFit/>
          </a:bodyPr>
          <a:lstStyle/>
          <a:p>
            <a:r>
              <a:rPr lang="zh-CN" altLang="en-US" b="0" i="0" dirty="0">
                <a:solidFill>
                  <a:srgbClr val="000000"/>
                </a:solidFill>
                <a:effectLst/>
                <a:latin typeface="-apple-system"/>
              </a:rPr>
              <a:t>图表比较了</a:t>
            </a:r>
            <a:r>
              <a:rPr lang="zh-CN" altLang="en-US" b="1" i="0" dirty="0">
                <a:solidFill>
                  <a:srgbClr val="000000"/>
                </a:solidFill>
                <a:effectLst/>
                <a:latin typeface="-apple-system"/>
              </a:rPr>
              <a:t>使用在办公室训练</a:t>
            </a:r>
            <a:r>
              <a:rPr lang="zh-CN" altLang="en-US" b="0" i="0" dirty="0">
                <a:solidFill>
                  <a:srgbClr val="000000"/>
                </a:solidFill>
                <a:effectLst/>
                <a:latin typeface="-apple-system"/>
              </a:rPr>
              <a:t>的模型直接在其他环境（公寓、会议室、大厅）中测试时的性能变化。</a:t>
            </a:r>
            <a:endParaRPr lang="en-US" altLang="zh-CN" b="0" i="0" dirty="0">
              <a:solidFill>
                <a:srgbClr val="000000"/>
              </a:solidFill>
              <a:effectLst/>
              <a:latin typeface="-apple-system"/>
            </a:endParaRPr>
          </a:p>
          <a:p>
            <a:endParaRPr lang="en-US" altLang="zh-CN" dirty="0">
              <a:solidFill>
                <a:srgbClr val="000000"/>
              </a:solidFill>
              <a:latin typeface="-apple-system"/>
            </a:endParaRPr>
          </a:p>
          <a:p>
            <a:r>
              <a:rPr lang="zh-CN" altLang="en-US" b="0" i="0" dirty="0">
                <a:solidFill>
                  <a:srgbClr val="000000"/>
                </a:solidFill>
                <a:effectLst/>
                <a:latin typeface="-apple-system"/>
              </a:rPr>
              <a:t>结果显示，</a:t>
            </a:r>
            <a:r>
              <a:rPr lang="zh-CN" altLang="en-US" b="1" i="0" dirty="0">
                <a:solidFill>
                  <a:srgbClr val="000000"/>
                </a:solidFill>
                <a:effectLst/>
                <a:latin typeface="-apple-system"/>
              </a:rPr>
              <a:t>跨环境</a:t>
            </a:r>
            <a:r>
              <a:rPr lang="zh-CN" altLang="en-US" b="0" i="0" dirty="0">
                <a:solidFill>
                  <a:srgbClr val="000000"/>
                </a:solidFill>
                <a:effectLst/>
                <a:latin typeface="-apple-system"/>
              </a:rPr>
              <a:t>测试时性能有所</a:t>
            </a:r>
            <a:r>
              <a:rPr lang="zh-CN" altLang="en-US" b="1" i="0" dirty="0">
                <a:solidFill>
                  <a:srgbClr val="000000"/>
                </a:solidFill>
                <a:effectLst/>
                <a:latin typeface="-apple-system"/>
              </a:rPr>
              <a:t>下降</a:t>
            </a:r>
            <a:r>
              <a:rPr lang="zh-CN" altLang="en-US" b="0" i="0" dirty="0">
                <a:solidFill>
                  <a:srgbClr val="000000"/>
                </a:solidFill>
                <a:effectLst/>
                <a:latin typeface="-apple-system"/>
              </a:rPr>
              <a:t>，</a:t>
            </a:r>
            <a:r>
              <a:rPr lang="zh-CN" altLang="en-US" dirty="0"/>
              <a:t>凸显了</a:t>
            </a:r>
            <a:r>
              <a:rPr lang="zh-CN" altLang="en-US" b="1" dirty="0"/>
              <a:t>模型对环境特征的依赖性</a:t>
            </a:r>
            <a:r>
              <a:rPr lang="zh-CN" altLang="en-US" b="0" i="0" dirty="0">
                <a:solidFill>
                  <a:srgbClr val="000000"/>
                </a:solidFill>
                <a:effectLst/>
                <a:latin typeface="-apple-system"/>
              </a:rPr>
              <a:t>。</a:t>
            </a:r>
            <a:endParaRPr lang="zh-CN" altLang="en-US" dirty="0"/>
          </a:p>
        </p:txBody>
      </p:sp>
      <p:sp>
        <p:nvSpPr>
          <p:cNvPr id="10" name="文本框 9">
            <a:extLst>
              <a:ext uri="{FF2B5EF4-FFF2-40B4-BE49-F238E27FC236}">
                <a16:creationId xmlns:a16="http://schemas.microsoft.com/office/drawing/2014/main" id="{744F62A6-D215-8F46-0617-1147445A62A0}"/>
              </a:ext>
            </a:extLst>
          </p:cNvPr>
          <p:cNvSpPr txBox="1"/>
          <p:nvPr/>
        </p:nvSpPr>
        <p:spPr>
          <a:xfrm>
            <a:off x="6794500" y="4479579"/>
            <a:ext cx="6096000" cy="369332"/>
          </a:xfrm>
          <a:prstGeom prst="rect">
            <a:avLst/>
          </a:prstGeom>
          <a:noFill/>
        </p:spPr>
        <p:txBody>
          <a:bodyPr wrap="square">
            <a:spAutoFit/>
          </a:bodyPr>
          <a:lstStyle/>
          <a:p>
            <a:r>
              <a:rPr lang="zh-CN" altLang="en-US" dirty="0">
                <a:solidFill>
                  <a:srgbClr val="C00000"/>
                </a:solidFill>
                <a:latin typeface="-apple-system"/>
              </a:rPr>
              <a:t>公寓中测试</a:t>
            </a:r>
          </a:p>
        </p:txBody>
      </p:sp>
      <p:sp>
        <p:nvSpPr>
          <p:cNvPr id="12" name="文本框 11">
            <a:extLst>
              <a:ext uri="{FF2B5EF4-FFF2-40B4-BE49-F238E27FC236}">
                <a16:creationId xmlns:a16="http://schemas.microsoft.com/office/drawing/2014/main" id="{5B1377FD-6BE8-98B7-2010-1F5EFA88FAEF}"/>
              </a:ext>
            </a:extLst>
          </p:cNvPr>
          <p:cNvSpPr txBox="1"/>
          <p:nvPr/>
        </p:nvSpPr>
        <p:spPr>
          <a:xfrm>
            <a:off x="8391525" y="4448392"/>
            <a:ext cx="6445250" cy="369332"/>
          </a:xfrm>
          <a:prstGeom prst="rect">
            <a:avLst/>
          </a:prstGeom>
          <a:noFill/>
        </p:spPr>
        <p:txBody>
          <a:bodyPr wrap="square">
            <a:spAutoFit/>
          </a:bodyPr>
          <a:lstStyle/>
          <a:p>
            <a:r>
              <a:rPr lang="zh-CN" altLang="en-US" dirty="0">
                <a:solidFill>
                  <a:srgbClr val="C00000"/>
                </a:solidFill>
                <a:latin typeface="-apple-system"/>
              </a:rPr>
              <a:t>会议室中测试</a:t>
            </a:r>
          </a:p>
        </p:txBody>
      </p:sp>
      <p:sp>
        <p:nvSpPr>
          <p:cNvPr id="14" name="文本框 13">
            <a:extLst>
              <a:ext uri="{FF2B5EF4-FFF2-40B4-BE49-F238E27FC236}">
                <a16:creationId xmlns:a16="http://schemas.microsoft.com/office/drawing/2014/main" id="{29BE49F5-C6BB-7DE4-3E82-AAA31F91C703}"/>
              </a:ext>
            </a:extLst>
          </p:cNvPr>
          <p:cNvSpPr txBox="1"/>
          <p:nvPr/>
        </p:nvSpPr>
        <p:spPr>
          <a:xfrm>
            <a:off x="10155238" y="4463986"/>
            <a:ext cx="7416800" cy="369332"/>
          </a:xfrm>
          <a:prstGeom prst="rect">
            <a:avLst/>
          </a:prstGeom>
          <a:noFill/>
        </p:spPr>
        <p:txBody>
          <a:bodyPr wrap="square">
            <a:spAutoFit/>
          </a:bodyPr>
          <a:lstStyle/>
          <a:p>
            <a:r>
              <a:rPr lang="zh-CN" altLang="en-US" dirty="0">
                <a:solidFill>
                  <a:srgbClr val="C00000"/>
                </a:solidFill>
                <a:latin typeface="-apple-system"/>
              </a:rPr>
              <a:t>大厅中测试</a:t>
            </a:r>
          </a:p>
        </p:txBody>
      </p:sp>
    </p:spTree>
    <p:custDataLst>
      <p:tags r:id="rId1"/>
    </p:custDataLst>
    <p:extLst>
      <p:ext uri="{BB962C8B-B14F-4D97-AF65-F5344CB8AC3E}">
        <p14:creationId xmlns:p14="http://schemas.microsoft.com/office/powerpoint/2010/main" val="327233332"/>
      </p:ext>
    </p:extLst>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80000"/>
            <a:lum/>
          </a:blip>
          <a:srcRect/>
          <a:stretch>
            <a:fillRect/>
          </a:stretch>
        </a:blipFill>
        <a:effectLst/>
      </p:bgPr>
    </p:bg>
    <p:spTree>
      <p:nvGrpSpPr>
        <p:cNvPr id="1" name="">
          <a:extLst>
            <a:ext uri="{FF2B5EF4-FFF2-40B4-BE49-F238E27FC236}">
              <a16:creationId xmlns:a16="http://schemas.microsoft.com/office/drawing/2014/main" id="{31EE9664-4FC3-8FE8-9F5F-F622D64672A1}"/>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5CC79B0E-41DB-BB59-7626-A9AE3EE597D2}"/>
              </a:ext>
            </a:extLst>
          </p:cNvPr>
          <p:cNvSpPr/>
          <p:nvPr/>
        </p:nvSpPr>
        <p:spPr>
          <a:xfrm>
            <a:off x="-635" y="2031365"/>
            <a:ext cx="12192000" cy="2795905"/>
          </a:xfrm>
          <a:prstGeom prst="rect">
            <a:avLst/>
          </a:prstGeom>
          <a:solidFill>
            <a:schemeClr val="bg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1931D550-D4DE-D32C-4462-B35F5A2E5245}"/>
              </a:ext>
            </a:extLst>
          </p:cNvPr>
          <p:cNvSpPr txBox="1"/>
          <p:nvPr/>
        </p:nvSpPr>
        <p:spPr>
          <a:xfrm>
            <a:off x="5233272" y="2965048"/>
            <a:ext cx="1723549" cy="1015663"/>
          </a:xfrm>
          <a:prstGeom prst="rect">
            <a:avLst/>
          </a:prstGeom>
          <a:noFill/>
        </p:spPr>
        <p:txBody>
          <a:bodyPr wrap="none" rtlCol="0">
            <a:spAutoFit/>
          </a:bodyPr>
          <a:lstStyle/>
          <a:p>
            <a:r>
              <a:rPr lang="zh-CN" altLang="en-US" sz="6000" dirty="0">
                <a:solidFill>
                  <a:srgbClr val="694B71"/>
                </a:solidFill>
                <a:latin typeface="微软雅黑" panose="020B0503020204020204" pitchFamily="34" charset="-122"/>
                <a:ea typeface="微软雅黑" panose="020B0503020204020204" pitchFamily="34" charset="-122"/>
              </a:rPr>
              <a:t>讨论</a:t>
            </a:r>
          </a:p>
        </p:txBody>
      </p:sp>
      <p:grpSp>
        <p:nvGrpSpPr>
          <p:cNvPr id="12" name="组合 11">
            <a:extLst>
              <a:ext uri="{FF2B5EF4-FFF2-40B4-BE49-F238E27FC236}">
                <a16:creationId xmlns:a16="http://schemas.microsoft.com/office/drawing/2014/main" id="{A9AC3658-424A-3C2B-E898-31CA1463EFF9}"/>
              </a:ext>
            </a:extLst>
          </p:cNvPr>
          <p:cNvGrpSpPr/>
          <p:nvPr/>
        </p:nvGrpSpPr>
        <p:grpSpPr>
          <a:xfrm>
            <a:off x="5555048" y="1471295"/>
            <a:ext cx="1080000" cy="1080000"/>
            <a:chOff x="8049" y="2049"/>
            <a:chExt cx="1701" cy="1701"/>
          </a:xfrm>
        </p:grpSpPr>
        <p:sp>
          <p:nvSpPr>
            <p:cNvPr id="10" name="椭圆 9">
              <a:extLst>
                <a:ext uri="{FF2B5EF4-FFF2-40B4-BE49-F238E27FC236}">
                  <a16:creationId xmlns:a16="http://schemas.microsoft.com/office/drawing/2014/main" id="{B86C578E-49C6-37AB-88E6-7B016FC99F68}"/>
                </a:ext>
              </a:extLst>
            </p:cNvPr>
            <p:cNvSpPr/>
            <p:nvPr/>
          </p:nvSpPr>
          <p:spPr>
            <a:xfrm>
              <a:off x="8049" y="2049"/>
              <a:ext cx="1701" cy="1701"/>
            </a:xfrm>
            <a:prstGeom prst="ellipse">
              <a:avLst/>
            </a:prstGeom>
            <a:solidFill>
              <a:srgbClr val="BA9FC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88D1880C-6F65-2795-63B1-BABDEB0BC262}"/>
                </a:ext>
              </a:extLst>
            </p:cNvPr>
            <p:cNvSpPr txBox="1"/>
            <p:nvPr/>
          </p:nvSpPr>
          <p:spPr>
            <a:xfrm>
              <a:off x="8380" y="2440"/>
              <a:ext cx="1048" cy="921"/>
            </a:xfrm>
            <a:prstGeom prst="rect">
              <a:avLst/>
            </a:prstGeom>
            <a:noFill/>
          </p:spPr>
          <p:txBody>
            <a:bodyPr wrap="non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rPr>
                <a:t>06</a:t>
              </a:r>
            </a:p>
          </p:txBody>
        </p:sp>
      </p:grpSp>
    </p:spTree>
    <p:custDataLst>
      <p:tags r:id="rId1"/>
    </p:custDataLst>
    <p:extLst>
      <p:ext uri="{BB962C8B-B14F-4D97-AF65-F5344CB8AC3E}">
        <p14:creationId xmlns:p14="http://schemas.microsoft.com/office/powerpoint/2010/main" val="1175103481"/>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a:extLst>
            <a:ext uri="{FF2B5EF4-FFF2-40B4-BE49-F238E27FC236}">
              <a16:creationId xmlns:a16="http://schemas.microsoft.com/office/drawing/2014/main" id="{8AFC8CD4-8F09-EE39-06DE-96A0A17B1AFF}"/>
            </a:ext>
          </a:extLst>
        </p:cNvPr>
        <p:cNvGrpSpPr/>
        <p:nvPr/>
      </p:nvGrpSpPr>
      <p:grpSpPr>
        <a:xfrm>
          <a:off x="0" y="0"/>
          <a:ext cx="0" cy="0"/>
          <a:chOff x="0" y="0"/>
          <a:chExt cx="0" cy="0"/>
        </a:xfrm>
      </p:grpSpPr>
      <p:sp>
        <p:nvSpPr>
          <p:cNvPr id="20" name="矩形 19">
            <a:extLst>
              <a:ext uri="{FF2B5EF4-FFF2-40B4-BE49-F238E27FC236}">
                <a16:creationId xmlns:a16="http://schemas.microsoft.com/office/drawing/2014/main" id="{82884B6E-76C3-34CE-A73C-DB55D6A15AA9}"/>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B12AFA77-146A-F317-0805-802B82376793}"/>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59FCA001-F7ED-DD4E-8759-38310D3A2B2E}"/>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8633A4D7-1232-EEDB-50E4-7FFB0CE05753}"/>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F142DD50-6886-5026-BA25-846848A93222}"/>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讨论</a:t>
            </a:r>
          </a:p>
        </p:txBody>
      </p:sp>
      <p:sp>
        <p:nvSpPr>
          <p:cNvPr id="3" name="文本框 2">
            <a:extLst>
              <a:ext uri="{FF2B5EF4-FFF2-40B4-BE49-F238E27FC236}">
                <a16:creationId xmlns:a16="http://schemas.microsoft.com/office/drawing/2014/main" id="{E0CB074A-F86F-D689-9D69-BAFC35C4156D}"/>
              </a:ext>
            </a:extLst>
          </p:cNvPr>
          <p:cNvSpPr txBox="1"/>
          <p:nvPr/>
        </p:nvSpPr>
        <p:spPr>
          <a:xfrm>
            <a:off x="203200" y="1270119"/>
            <a:ext cx="6096000" cy="461665"/>
          </a:xfrm>
          <a:prstGeom prst="rect">
            <a:avLst/>
          </a:prstGeom>
          <a:noFill/>
        </p:spPr>
        <p:txBody>
          <a:bodyPr wrap="square">
            <a:spAutoFit/>
          </a:bodyPr>
          <a:lstStyle/>
          <a:p>
            <a:pPr algn="l" fontAlgn="base">
              <a:buNone/>
            </a:pPr>
            <a:r>
              <a:rPr lang="zh-CN" altLang="en-US" sz="2400" b="1" dirty="0">
                <a:solidFill>
                  <a:srgbClr val="000000"/>
                </a:solidFill>
                <a:effectLst/>
              </a:rPr>
              <a:t>检测错误的主要原因</a:t>
            </a:r>
          </a:p>
        </p:txBody>
      </p:sp>
      <p:sp>
        <p:nvSpPr>
          <p:cNvPr id="5" name="文本框 4">
            <a:extLst>
              <a:ext uri="{FF2B5EF4-FFF2-40B4-BE49-F238E27FC236}">
                <a16:creationId xmlns:a16="http://schemas.microsoft.com/office/drawing/2014/main" id="{D54A589B-F9C4-962D-0FA2-54261DA8C9BB}"/>
              </a:ext>
            </a:extLst>
          </p:cNvPr>
          <p:cNvSpPr txBox="1"/>
          <p:nvPr/>
        </p:nvSpPr>
        <p:spPr>
          <a:xfrm>
            <a:off x="203200" y="1887319"/>
            <a:ext cx="6096000" cy="923330"/>
          </a:xfrm>
          <a:prstGeom prst="rect">
            <a:avLst/>
          </a:prstGeom>
          <a:noFill/>
        </p:spPr>
        <p:txBody>
          <a:bodyPr wrap="square">
            <a:spAutoFit/>
          </a:bodyPr>
          <a:lstStyle/>
          <a:p>
            <a:r>
              <a:rPr lang="zh-CN" altLang="en-US" b="1" i="0" dirty="0">
                <a:solidFill>
                  <a:srgbClr val="000000"/>
                </a:solidFill>
                <a:effectLst/>
                <a:latin typeface="-apple-system"/>
              </a:rPr>
              <a:t>特征相似性</a:t>
            </a:r>
            <a:r>
              <a:rPr lang="zh-CN" altLang="en-US" b="0" i="0" dirty="0">
                <a:solidFill>
                  <a:srgbClr val="000000"/>
                </a:solidFill>
                <a:effectLst/>
                <a:latin typeface="-apple-system"/>
              </a:rPr>
              <a:t>问题：某些快速且剧烈的非跌倒活动（例如快速坐到椅子上并向后靠）在时频域特征上与真实跌倒高度相似，导致分类器难以区分，从而引发误报</a:t>
            </a:r>
            <a:endParaRPr lang="zh-CN" altLang="en-US" dirty="0"/>
          </a:p>
        </p:txBody>
      </p:sp>
      <p:sp>
        <p:nvSpPr>
          <p:cNvPr id="8" name="文本框 7">
            <a:extLst>
              <a:ext uri="{FF2B5EF4-FFF2-40B4-BE49-F238E27FC236}">
                <a16:creationId xmlns:a16="http://schemas.microsoft.com/office/drawing/2014/main" id="{7AE40A2C-E448-A28D-3AB3-239993847676}"/>
              </a:ext>
            </a:extLst>
          </p:cNvPr>
          <p:cNvSpPr txBox="1"/>
          <p:nvPr/>
        </p:nvSpPr>
        <p:spPr>
          <a:xfrm>
            <a:off x="6299200" y="1903276"/>
            <a:ext cx="6096000" cy="923330"/>
          </a:xfrm>
          <a:prstGeom prst="rect">
            <a:avLst/>
          </a:prstGeom>
          <a:noFill/>
        </p:spPr>
        <p:txBody>
          <a:bodyPr wrap="square">
            <a:spAutoFit/>
          </a:bodyPr>
          <a:lstStyle/>
          <a:p>
            <a:r>
              <a:rPr lang="zh-CN" altLang="en-US" b="1" i="0" dirty="0">
                <a:solidFill>
                  <a:srgbClr val="000000"/>
                </a:solidFill>
                <a:effectLst/>
                <a:latin typeface="-apple-system"/>
              </a:rPr>
              <a:t>环境依赖性</a:t>
            </a:r>
            <a:r>
              <a:rPr lang="zh-CN" altLang="en-US" b="0" i="0" dirty="0">
                <a:solidFill>
                  <a:srgbClr val="000000"/>
                </a:solidFill>
                <a:effectLst/>
                <a:latin typeface="-apple-system"/>
              </a:rPr>
              <a:t>问题：同一活动在不同位置会因信号传播路径的不同而表现出不同的</a:t>
            </a:r>
            <a:r>
              <a:rPr lang="en-US" altLang="zh-CN" b="0" i="0" dirty="0">
                <a:solidFill>
                  <a:srgbClr val="000000"/>
                </a:solidFill>
                <a:effectLst/>
                <a:latin typeface="-apple-system"/>
              </a:rPr>
              <a:t>CSI</a:t>
            </a:r>
            <a:r>
              <a:rPr lang="zh-CN" altLang="en-US" b="0" i="0" dirty="0">
                <a:solidFill>
                  <a:srgbClr val="000000"/>
                </a:solidFill>
                <a:effectLst/>
                <a:latin typeface="-apple-system"/>
              </a:rPr>
              <a:t>特征，使用单一通用模型难以在所有位置都保持高精度。</a:t>
            </a:r>
            <a:endParaRPr lang="zh-CN" altLang="en-US" dirty="0"/>
          </a:p>
        </p:txBody>
      </p:sp>
      <p:sp>
        <p:nvSpPr>
          <p:cNvPr id="10" name="文本框 9">
            <a:extLst>
              <a:ext uri="{FF2B5EF4-FFF2-40B4-BE49-F238E27FC236}">
                <a16:creationId xmlns:a16="http://schemas.microsoft.com/office/drawing/2014/main" id="{444ECC54-732F-965F-3411-875D298DA6EE}"/>
              </a:ext>
            </a:extLst>
          </p:cNvPr>
          <p:cNvSpPr txBox="1"/>
          <p:nvPr/>
        </p:nvSpPr>
        <p:spPr>
          <a:xfrm>
            <a:off x="203200" y="3565531"/>
            <a:ext cx="6096000" cy="1477328"/>
          </a:xfrm>
          <a:prstGeom prst="rect">
            <a:avLst/>
          </a:prstGeom>
          <a:noFill/>
        </p:spPr>
        <p:txBody>
          <a:bodyPr wrap="square">
            <a:spAutoFit/>
          </a:bodyPr>
          <a:lstStyle/>
          <a:p>
            <a:pPr>
              <a:buNone/>
            </a:pPr>
            <a:r>
              <a:rPr lang="zh-CN" altLang="en-US" dirty="0">
                <a:effectLst/>
              </a:rPr>
              <a:t>例如，当受试者快速坐在椅子上并靠在椅背上时，有时会被定义为跌倒。</a:t>
            </a:r>
            <a:endParaRPr lang="en-US" altLang="zh-CN" dirty="0">
              <a:effectLst/>
            </a:endParaRPr>
          </a:p>
          <a:p>
            <a:pPr>
              <a:buNone/>
            </a:pPr>
            <a:endParaRPr lang="zh-CN" altLang="en-US" dirty="0">
              <a:effectLst/>
            </a:endParaRPr>
          </a:p>
          <a:p>
            <a:pPr>
              <a:buNone/>
            </a:pPr>
            <a:r>
              <a:rPr lang="zh-CN" altLang="en-US" dirty="0">
                <a:effectLst/>
              </a:rPr>
              <a:t>对于这种类型的错误分类，我们计划</a:t>
            </a:r>
            <a:r>
              <a:rPr lang="zh-CN" altLang="en-US" b="1" dirty="0">
                <a:effectLst/>
              </a:rPr>
              <a:t>引入更多的显著特征</a:t>
            </a:r>
            <a:r>
              <a:rPr lang="zh-CN" altLang="en-US" dirty="0">
                <a:effectLst/>
              </a:rPr>
              <a:t>作为输入，以帮助区分跌倒和类似跌倒的活动。</a:t>
            </a:r>
          </a:p>
        </p:txBody>
      </p:sp>
      <p:sp>
        <p:nvSpPr>
          <p:cNvPr id="12" name="文本框 11">
            <a:extLst>
              <a:ext uri="{FF2B5EF4-FFF2-40B4-BE49-F238E27FC236}">
                <a16:creationId xmlns:a16="http://schemas.microsoft.com/office/drawing/2014/main" id="{F84D5841-95EC-D288-B6AC-7AE3DB4D39AD}"/>
              </a:ext>
            </a:extLst>
          </p:cNvPr>
          <p:cNvSpPr txBox="1"/>
          <p:nvPr/>
        </p:nvSpPr>
        <p:spPr>
          <a:xfrm>
            <a:off x="6299200" y="3236592"/>
            <a:ext cx="2587625" cy="1477328"/>
          </a:xfrm>
          <a:prstGeom prst="rect">
            <a:avLst/>
          </a:prstGeom>
          <a:noFill/>
        </p:spPr>
        <p:txBody>
          <a:bodyPr wrap="square">
            <a:spAutoFit/>
          </a:bodyPr>
          <a:lstStyle/>
          <a:p>
            <a:r>
              <a:rPr lang="zh-CN" altLang="en-US" dirty="0">
                <a:effectLst/>
              </a:rPr>
              <a:t>以办公室为例我们注意到办公桌后面的位置（</a:t>
            </a:r>
            <a:r>
              <a:rPr lang="en-US" altLang="zh-CN" dirty="0">
                <a:effectLst/>
              </a:rPr>
              <a:t>a</a:t>
            </a:r>
            <a:r>
              <a:rPr lang="zh-CN" altLang="en-US" dirty="0">
                <a:effectLst/>
              </a:rPr>
              <a:t>，</a:t>
            </a:r>
            <a:r>
              <a:rPr lang="en-US" altLang="zh-CN" dirty="0">
                <a:effectLst/>
              </a:rPr>
              <a:t>b</a:t>
            </a:r>
            <a:r>
              <a:rPr lang="zh-CN" altLang="en-US" dirty="0">
                <a:effectLst/>
              </a:rPr>
              <a:t>）比</a:t>
            </a:r>
            <a:r>
              <a:rPr lang="en-US" altLang="zh-CN" dirty="0">
                <a:effectLst/>
              </a:rPr>
              <a:t>c</a:t>
            </a:r>
            <a:r>
              <a:rPr lang="zh-CN" altLang="en-US" dirty="0">
                <a:effectLst/>
              </a:rPr>
              <a:t>，</a:t>
            </a:r>
            <a:r>
              <a:rPr lang="en-US" altLang="zh-CN" dirty="0">
                <a:effectLst/>
              </a:rPr>
              <a:t>d</a:t>
            </a:r>
            <a:r>
              <a:rPr lang="zh-CN" altLang="en-US" dirty="0">
                <a:effectLst/>
              </a:rPr>
              <a:t>，</a:t>
            </a:r>
            <a:r>
              <a:rPr lang="en-US" altLang="zh-CN" dirty="0">
                <a:effectLst/>
              </a:rPr>
              <a:t>e</a:t>
            </a:r>
            <a:r>
              <a:rPr lang="zh-CN" altLang="en-US" dirty="0">
                <a:effectLst/>
              </a:rPr>
              <a:t>，</a:t>
            </a:r>
            <a:r>
              <a:rPr lang="en-US" altLang="zh-CN" dirty="0">
                <a:effectLst/>
              </a:rPr>
              <a:t>f</a:t>
            </a:r>
            <a:r>
              <a:rPr lang="zh-CN" altLang="en-US" dirty="0">
                <a:effectLst/>
              </a:rPr>
              <a:t>中的位置具有更低的检测率。</a:t>
            </a:r>
            <a:endParaRPr lang="zh-CN" altLang="en-US" dirty="0"/>
          </a:p>
        </p:txBody>
      </p:sp>
      <p:sp>
        <p:nvSpPr>
          <p:cNvPr id="14" name="文本框 13">
            <a:extLst>
              <a:ext uri="{FF2B5EF4-FFF2-40B4-BE49-F238E27FC236}">
                <a16:creationId xmlns:a16="http://schemas.microsoft.com/office/drawing/2014/main" id="{3781CC19-F95E-926C-C94B-A085F0D596F7}"/>
              </a:ext>
            </a:extLst>
          </p:cNvPr>
          <p:cNvSpPr txBox="1"/>
          <p:nvPr/>
        </p:nvSpPr>
        <p:spPr>
          <a:xfrm>
            <a:off x="6318250" y="5284413"/>
            <a:ext cx="5956300" cy="923330"/>
          </a:xfrm>
          <a:prstGeom prst="rect">
            <a:avLst/>
          </a:prstGeom>
          <a:noFill/>
        </p:spPr>
        <p:txBody>
          <a:bodyPr wrap="square">
            <a:spAutoFit/>
          </a:bodyPr>
          <a:lstStyle/>
          <a:p>
            <a:r>
              <a:rPr lang="zh-CN" altLang="en-US" dirty="0">
                <a:effectLst/>
              </a:rPr>
              <a:t>因此，在跌倒检测算法中</a:t>
            </a:r>
            <a:r>
              <a:rPr lang="zh-CN" altLang="en-US" b="1" dirty="0">
                <a:effectLst/>
              </a:rPr>
              <a:t>引入位置信息</a:t>
            </a:r>
            <a:r>
              <a:rPr lang="zh-CN" altLang="en-US" dirty="0">
                <a:effectLst/>
              </a:rPr>
              <a:t>等上下文以提高系统性能是一个很有前途的研究方向。</a:t>
            </a:r>
            <a:endParaRPr lang="en-US" altLang="zh-CN" dirty="0">
              <a:effectLst/>
            </a:endParaRPr>
          </a:p>
          <a:p>
            <a:r>
              <a:rPr lang="zh-CN" altLang="en-US" dirty="0">
                <a:effectLst/>
              </a:rPr>
              <a:t>例如，选择基于位置的分类模型进行跌倒检测。</a:t>
            </a:r>
            <a:endParaRPr lang="zh-CN" altLang="en-US" dirty="0"/>
          </a:p>
        </p:txBody>
      </p:sp>
      <p:pic>
        <p:nvPicPr>
          <p:cNvPr id="16" name="图片 15">
            <a:extLst>
              <a:ext uri="{FF2B5EF4-FFF2-40B4-BE49-F238E27FC236}">
                <a16:creationId xmlns:a16="http://schemas.microsoft.com/office/drawing/2014/main" id="{A2C5012C-80C9-885A-0871-78946592CE12}"/>
              </a:ext>
            </a:extLst>
          </p:cNvPr>
          <p:cNvPicPr>
            <a:picLocks noChangeAspect="1"/>
          </p:cNvPicPr>
          <p:nvPr/>
        </p:nvPicPr>
        <p:blipFill>
          <a:blip r:embed="rId6"/>
          <a:stretch>
            <a:fillRect/>
          </a:stretch>
        </p:blipFill>
        <p:spPr>
          <a:xfrm>
            <a:off x="8972816" y="2649089"/>
            <a:ext cx="3016848" cy="2604016"/>
          </a:xfrm>
          <a:prstGeom prst="rect">
            <a:avLst/>
          </a:prstGeom>
        </p:spPr>
      </p:pic>
      <p:cxnSp>
        <p:nvCxnSpPr>
          <p:cNvPr id="17" name="直接连接符 16">
            <a:extLst>
              <a:ext uri="{FF2B5EF4-FFF2-40B4-BE49-F238E27FC236}">
                <a16:creationId xmlns:a16="http://schemas.microsoft.com/office/drawing/2014/main" id="{BCCA3ADD-A117-C5F1-A19C-945C711D0703}"/>
              </a:ext>
            </a:extLst>
          </p:cNvPr>
          <p:cNvCxnSpPr>
            <a:cxnSpLocks/>
          </p:cNvCxnSpPr>
          <p:nvPr/>
        </p:nvCxnSpPr>
        <p:spPr>
          <a:xfrm>
            <a:off x="6213208" y="1270119"/>
            <a:ext cx="0" cy="5146829"/>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1982159656"/>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a:extLst>
            <a:ext uri="{FF2B5EF4-FFF2-40B4-BE49-F238E27FC236}">
              <a16:creationId xmlns:a16="http://schemas.microsoft.com/office/drawing/2014/main" id="{ECF6967D-B78D-F790-D5B3-3676E7D36700}"/>
            </a:ext>
          </a:extLst>
        </p:cNvPr>
        <p:cNvGrpSpPr/>
        <p:nvPr/>
      </p:nvGrpSpPr>
      <p:grpSpPr>
        <a:xfrm>
          <a:off x="0" y="0"/>
          <a:ext cx="0" cy="0"/>
          <a:chOff x="0" y="0"/>
          <a:chExt cx="0" cy="0"/>
        </a:xfrm>
      </p:grpSpPr>
      <p:sp>
        <p:nvSpPr>
          <p:cNvPr id="20" name="矩形 19">
            <a:extLst>
              <a:ext uri="{FF2B5EF4-FFF2-40B4-BE49-F238E27FC236}">
                <a16:creationId xmlns:a16="http://schemas.microsoft.com/office/drawing/2014/main" id="{E7FB792F-AAA8-0A5A-8429-E743D089C0A3}"/>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4E2EE5B5-ABEF-B5BE-9859-C291E5766422}"/>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C6FDC002-CB01-38D8-6092-FA0D1FFC6067}"/>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C911295C-3DE4-E76D-6BF2-D3153F3273BD}"/>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5B6016E3-FDF2-049C-C7D7-5D5E3A33D87D}"/>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讨论</a:t>
            </a:r>
          </a:p>
        </p:txBody>
      </p:sp>
      <p:sp>
        <p:nvSpPr>
          <p:cNvPr id="3" name="文本框 2">
            <a:extLst>
              <a:ext uri="{FF2B5EF4-FFF2-40B4-BE49-F238E27FC236}">
                <a16:creationId xmlns:a16="http://schemas.microsoft.com/office/drawing/2014/main" id="{BE96071C-50F5-6F78-52CF-1E7402C588D1}"/>
              </a:ext>
            </a:extLst>
          </p:cNvPr>
          <p:cNvSpPr txBox="1"/>
          <p:nvPr/>
        </p:nvSpPr>
        <p:spPr>
          <a:xfrm>
            <a:off x="203200" y="1270119"/>
            <a:ext cx="6096000" cy="461665"/>
          </a:xfrm>
          <a:prstGeom prst="rect">
            <a:avLst/>
          </a:prstGeom>
          <a:noFill/>
        </p:spPr>
        <p:txBody>
          <a:bodyPr wrap="square">
            <a:spAutoFit/>
          </a:bodyPr>
          <a:lstStyle/>
          <a:p>
            <a:pPr algn="l" fontAlgn="base">
              <a:buNone/>
            </a:pPr>
            <a:r>
              <a:rPr lang="zh-CN" altLang="en-US" sz="2400" b="1" dirty="0">
                <a:solidFill>
                  <a:srgbClr val="000000"/>
                </a:solidFill>
                <a:effectLst/>
              </a:rPr>
              <a:t>扩展到多房间设置</a:t>
            </a:r>
          </a:p>
        </p:txBody>
      </p:sp>
      <p:sp>
        <p:nvSpPr>
          <p:cNvPr id="9" name="文本框 8">
            <a:extLst>
              <a:ext uri="{FF2B5EF4-FFF2-40B4-BE49-F238E27FC236}">
                <a16:creationId xmlns:a16="http://schemas.microsoft.com/office/drawing/2014/main" id="{95ECEE87-CFD4-D9C2-21B5-2830B05FAA36}"/>
              </a:ext>
            </a:extLst>
          </p:cNvPr>
          <p:cNvSpPr txBox="1"/>
          <p:nvPr/>
        </p:nvSpPr>
        <p:spPr>
          <a:xfrm>
            <a:off x="203200" y="2223118"/>
            <a:ext cx="6096000" cy="1477328"/>
          </a:xfrm>
          <a:prstGeom prst="rect">
            <a:avLst/>
          </a:prstGeom>
          <a:noFill/>
        </p:spPr>
        <p:txBody>
          <a:bodyPr wrap="square">
            <a:spAutoFit/>
          </a:bodyPr>
          <a:lstStyle/>
          <a:p>
            <a:r>
              <a:rPr lang="zh-CN" altLang="en-US" dirty="0">
                <a:effectLst/>
              </a:rPr>
              <a:t>困难集中于</a:t>
            </a:r>
            <a:r>
              <a:rPr lang="zh-CN" altLang="en-US" b="1" dirty="0">
                <a:effectLst/>
              </a:rPr>
              <a:t>找到</a:t>
            </a:r>
            <a:r>
              <a:rPr lang="zh-CN" altLang="en-US" dirty="0">
                <a:effectLst/>
              </a:rPr>
              <a:t>安装</a:t>
            </a:r>
            <a:r>
              <a:rPr lang="en-US" altLang="zh-CN" dirty="0" err="1">
                <a:effectLst/>
              </a:rPr>
              <a:t>WiFi</a:t>
            </a:r>
            <a:r>
              <a:rPr lang="zh-CN" altLang="en-US" dirty="0">
                <a:effectLst/>
              </a:rPr>
              <a:t>接入点和设备的</a:t>
            </a:r>
            <a:r>
              <a:rPr lang="zh-CN" altLang="en-US" b="1" dirty="0">
                <a:effectLst/>
              </a:rPr>
              <a:t>最佳位置</a:t>
            </a:r>
            <a:r>
              <a:rPr lang="zh-CN" altLang="en-US" dirty="0">
                <a:effectLst/>
              </a:rPr>
              <a:t>以确保在多房间设置中具有良好的射频覆盖和一致的检测性能并不容易</a:t>
            </a:r>
            <a:endParaRPr lang="en-US" altLang="zh-CN" dirty="0">
              <a:effectLst/>
            </a:endParaRPr>
          </a:p>
          <a:p>
            <a:endParaRPr lang="en-US" altLang="zh-CN" dirty="0"/>
          </a:p>
          <a:p>
            <a:r>
              <a:rPr lang="zh-CN" altLang="en-US" dirty="0"/>
              <a:t>以多房间的公寓为例</a:t>
            </a:r>
          </a:p>
        </p:txBody>
      </p:sp>
      <p:sp>
        <p:nvSpPr>
          <p:cNvPr id="13" name="文本框 12">
            <a:extLst>
              <a:ext uri="{FF2B5EF4-FFF2-40B4-BE49-F238E27FC236}">
                <a16:creationId xmlns:a16="http://schemas.microsoft.com/office/drawing/2014/main" id="{D2ABECFC-1AD9-D517-FFA2-42C995EB68E0}"/>
              </a:ext>
            </a:extLst>
          </p:cNvPr>
          <p:cNvSpPr txBox="1"/>
          <p:nvPr/>
        </p:nvSpPr>
        <p:spPr>
          <a:xfrm>
            <a:off x="203200" y="3700446"/>
            <a:ext cx="6096000" cy="646331"/>
          </a:xfrm>
          <a:prstGeom prst="rect">
            <a:avLst/>
          </a:prstGeom>
          <a:noFill/>
        </p:spPr>
        <p:txBody>
          <a:bodyPr wrap="square">
            <a:spAutoFit/>
          </a:bodyPr>
          <a:lstStyle/>
          <a:p>
            <a:r>
              <a:rPr lang="zh-CN" altLang="en-US" dirty="0">
                <a:effectLst/>
              </a:rPr>
              <a:t>未来我们计划研究</a:t>
            </a:r>
            <a:r>
              <a:rPr lang="zh-CN" altLang="en-US" b="1" dirty="0">
                <a:effectLst/>
              </a:rPr>
              <a:t>射频覆盖和跌倒检测的最佳设备放置</a:t>
            </a:r>
            <a:r>
              <a:rPr lang="zh-CN" altLang="en-US" dirty="0">
                <a:effectLst/>
              </a:rPr>
              <a:t>问题</a:t>
            </a:r>
            <a:endParaRPr lang="zh-CN" altLang="en-US" dirty="0"/>
          </a:p>
        </p:txBody>
      </p:sp>
      <p:pic>
        <p:nvPicPr>
          <p:cNvPr id="18" name="图片 17">
            <a:extLst>
              <a:ext uri="{FF2B5EF4-FFF2-40B4-BE49-F238E27FC236}">
                <a16:creationId xmlns:a16="http://schemas.microsoft.com/office/drawing/2014/main" id="{039C067A-D3B3-5661-EDF6-A3803D370AB2}"/>
              </a:ext>
            </a:extLst>
          </p:cNvPr>
          <p:cNvPicPr>
            <a:picLocks noChangeAspect="1"/>
          </p:cNvPicPr>
          <p:nvPr/>
        </p:nvPicPr>
        <p:blipFill>
          <a:blip r:embed="rId6"/>
          <a:stretch>
            <a:fillRect/>
          </a:stretch>
        </p:blipFill>
        <p:spPr>
          <a:xfrm>
            <a:off x="241300" y="4294625"/>
            <a:ext cx="5537200" cy="2436375"/>
          </a:xfrm>
          <a:prstGeom prst="rect">
            <a:avLst/>
          </a:prstGeom>
        </p:spPr>
      </p:pic>
      <p:sp>
        <p:nvSpPr>
          <p:cNvPr id="24" name="文本框 23">
            <a:extLst>
              <a:ext uri="{FF2B5EF4-FFF2-40B4-BE49-F238E27FC236}">
                <a16:creationId xmlns:a16="http://schemas.microsoft.com/office/drawing/2014/main" id="{C89BDCA1-76A1-D647-886A-4096EA40D319}"/>
              </a:ext>
            </a:extLst>
          </p:cNvPr>
          <p:cNvSpPr txBox="1"/>
          <p:nvPr/>
        </p:nvSpPr>
        <p:spPr>
          <a:xfrm>
            <a:off x="6400800" y="1270119"/>
            <a:ext cx="6096000" cy="461665"/>
          </a:xfrm>
          <a:prstGeom prst="rect">
            <a:avLst/>
          </a:prstGeom>
          <a:noFill/>
        </p:spPr>
        <p:txBody>
          <a:bodyPr wrap="square">
            <a:spAutoFit/>
          </a:bodyPr>
          <a:lstStyle/>
          <a:p>
            <a:pPr algn="l" fontAlgn="base">
              <a:buNone/>
            </a:pPr>
            <a:r>
              <a:rPr lang="zh-CN" altLang="en-US" sz="2400" b="1" dirty="0">
                <a:solidFill>
                  <a:srgbClr val="000000"/>
                </a:solidFill>
                <a:effectLst/>
              </a:rPr>
              <a:t>扩展到多人物设置</a:t>
            </a:r>
          </a:p>
        </p:txBody>
      </p:sp>
      <p:sp>
        <p:nvSpPr>
          <p:cNvPr id="26" name="文本框 25">
            <a:extLst>
              <a:ext uri="{FF2B5EF4-FFF2-40B4-BE49-F238E27FC236}">
                <a16:creationId xmlns:a16="http://schemas.microsoft.com/office/drawing/2014/main" id="{0D681527-E6A3-0D56-14DE-91CD83A44A44}"/>
              </a:ext>
            </a:extLst>
          </p:cNvPr>
          <p:cNvSpPr txBox="1"/>
          <p:nvPr/>
        </p:nvSpPr>
        <p:spPr>
          <a:xfrm>
            <a:off x="6299200" y="2222282"/>
            <a:ext cx="6248400" cy="646331"/>
          </a:xfrm>
          <a:prstGeom prst="rect">
            <a:avLst/>
          </a:prstGeom>
          <a:noFill/>
        </p:spPr>
        <p:txBody>
          <a:bodyPr wrap="square">
            <a:spAutoFit/>
          </a:bodyPr>
          <a:lstStyle/>
          <a:p>
            <a:r>
              <a:rPr lang="zh-CN" altLang="en-US" b="0" i="0" dirty="0">
                <a:solidFill>
                  <a:srgbClr val="000000"/>
                </a:solidFill>
                <a:effectLst/>
                <a:latin typeface="-apple-system"/>
              </a:rPr>
              <a:t>当前设计下</a:t>
            </a:r>
            <a:r>
              <a:rPr lang="zh-CN" altLang="en-US" dirty="0"/>
              <a:t>只有当</a:t>
            </a:r>
            <a:r>
              <a:rPr lang="zh-CN" altLang="en-US" b="1" dirty="0"/>
              <a:t>只有一个人移动而其他人静止</a:t>
            </a:r>
            <a:r>
              <a:rPr lang="zh-CN" altLang="en-US" dirty="0"/>
              <a:t>时，检测系统才能正常工作。</a:t>
            </a:r>
          </a:p>
        </p:txBody>
      </p:sp>
      <p:sp>
        <p:nvSpPr>
          <p:cNvPr id="28" name="文本框 27">
            <a:extLst>
              <a:ext uri="{FF2B5EF4-FFF2-40B4-BE49-F238E27FC236}">
                <a16:creationId xmlns:a16="http://schemas.microsoft.com/office/drawing/2014/main" id="{3D304A83-1251-7A7A-2EF5-41D0E9464AE4}"/>
              </a:ext>
            </a:extLst>
          </p:cNvPr>
          <p:cNvSpPr txBox="1"/>
          <p:nvPr/>
        </p:nvSpPr>
        <p:spPr>
          <a:xfrm>
            <a:off x="6400800" y="3359111"/>
            <a:ext cx="6273800" cy="646331"/>
          </a:xfrm>
          <a:prstGeom prst="rect">
            <a:avLst/>
          </a:prstGeom>
          <a:noFill/>
        </p:spPr>
        <p:txBody>
          <a:bodyPr wrap="square">
            <a:spAutoFit/>
          </a:bodyPr>
          <a:lstStyle/>
          <a:p>
            <a:r>
              <a:rPr lang="zh-CN" altLang="en-US" b="0" i="0" dirty="0">
                <a:solidFill>
                  <a:srgbClr val="000000"/>
                </a:solidFill>
                <a:effectLst/>
                <a:latin typeface="-apple-system"/>
              </a:rPr>
              <a:t>​</a:t>
            </a:r>
            <a:r>
              <a:rPr lang="zh-CN" altLang="en-US" b="1" i="0" dirty="0">
                <a:solidFill>
                  <a:srgbClr val="000000"/>
                </a:solidFill>
                <a:effectLst/>
                <a:latin typeface="-apple-system"/>
              </a:rPr>
              <a:t>一旦多人同时活动</a:t>
            </a:r>
            <a:r>
              <a:rPr lang="zh-CN" altLang="en-US" b="0" i="0" dirty="0">
                <a:solidFill>
                  <a:srgbClr val="000000"/>
                </a:solidFill>
                <a:effectLst/>
                <a:latin typeface="-apple-system"/>
              </a:rPr>
              <a:t>，无法正确检测跌倒</a:t>
            </a:r>
            <a:r>
              <a:rPr lang="en-US" altLang="zh-CN" b="0" i="0" dirty="0">
                <a:solidFill>
                  <a:srgbClr val="000000"/>
                </a:solidFill>
                <a:effectLst/>
                <a:latin typeface="-apple-system"/>
              </a:rPr>
              <a:t>,</a:t>
            </a:r>
            <a:r>
              <a:rPr lang="zh-CN" altLang="en-US" b="0" i="0" dirty="0">
                <a:solidFill>
                  <a:srgbClr val="000000"/>
                </a:solidFill>
                <a:effectLst/>
                <a:latin typeface="-apple-system"/>
              </a:rPr>
              <a:t>文中认为这种情况另一人一般能帮助跌倒者</a:t>
            </a:r>
            <a:r>
              <a:rPr lang="zh-CN" altLang="en-US" dirty="0"/>
              <a:t>。</a:t>
            </a:r>
          </a:p>
        </p:txBody>
      </p:sp>
      <p:cxnSp>
        <p:nvCxnSpPr>
          <p:cNvPr id="29" name="直接连接符 28">
            <a:extLst>
              <a:ext uri="{FF2B5EF4-FFF2-40B4-BE49-F238E27FC236}">
                <a16:creationId xmlns:a16="http://schemas.microsoft.com/office/drawing/2014/main" id="{1DCE453A-D490-10A1-2E12-DBD683AD6B0E}"/>
              </a:ext>
            </a:extLst>
          </p:cNvPr>
          <p:cNvCxnSpPr>
            <a:cxnSpLocks/>
          </p:cNvCxnSpPr>
          <p:nvPr/>
        </p:nvCxnSpPr>
        <p:spPr>
          <a:xfrm>
            <a:off x="6238608" y="1391285"/>
            <a:ext cx="0" cy="5146829"/>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148461946"/>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bg>
      <p:bgPr>
        <a:blipFill dpi="0" rotWithShape="1">
          <a:blip r:embed="rId4">
            <a:alphaModFix amt="80000"/>
            <a:lum/>
          </a:blip>
          <a:srcRect/>
          <a:stretch>
            <a:fillRect/>
          </a:stretch>
        </a:blipFill>
        <a:effectLst/>
      </p:bgPr>
    </p:bg>
    <p:spTree>
      <p:nvGrpSpPr>
        <p:cNvPr id="1" name="">
          <a:extLst>
            <a:ext uri="{FF2B5EF4-FFF2-40B4-BE49-F238E27FC236}">
              <a16:creationId xmlns:a16="http://schemas.microsoft.com/office/drawing/2014/main" id="{E6F407F3-BA67-C8C5-307D-D1490E3B2901}"/>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279596F5-FE60-C175-EA48-16C99EE8FC51}"/>
              </a:ext>
            </a:extLst>
          </p:cNvPr>
          <p:cNvSpPr/>
          <p:nvPr/>
        </p:nvSpPr>
        <p:spPr>
          <a:xfrm>
            <a:off x="-635" y="2031365"/>
            <a:ext cx="12192000" cy="2795905"/>
          </a:xfrm>
          <a:prstGeom prst="rect">
            <a:avLst/>
          </a:prstGeom>
          <a:solidFill>
            <a:schemeClr val="bg1">
              <a:alpha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7E70F65A-47E8-C3D4-243B-8640691CB5AB}"/>
              </a:ext>
            </a:extLst>
          </p:cNvPr>
          <p:cNvSpPr txBox="1"/>
          <p:nvPr/>
        </p:nvSpPr>
        <p:spPr>
          <a:xfrm>
            <a:off x="5233272" y="2965048"/>
            <a:ext cx="1723549" cy="1015663"/>
          </a:xfrm>
          <a:prstGeom prst="rect">
            <a:avLst/>
          </a:prstGeom>
          <a:noFill/>
        </p:spPr>
        <p:txBody>
          <a:bodyPr wrap="none" rtlCol="0">
            <a:spAutoFit/>
          </a:bodyPr>
          <a:lstStyle/>
          <a:p>
            <a:r>
              <a:rPr lang="zh-CN" altLang="en-US" sz="6000" dirty="0">
                <a:solidFill>
                  <a:srgbClr val="694B71"/>
                </a:solidFill>
                <a:latin typeface="微软雅黑" panose="020B0503020204020204" pitchFamily="34" charset="-122"/>
                <a:ea typeface="微软雅黑" panose="020B0503020204020204" pitchFamily="34" charset="-122"/>
              </a:rPr>
              <a:t>结论</a:t>
            </a:r>
          </a:p>
        </p:txBody>
      </p:sp>
      <p:grpSp>
        <p:nvGrpSpPr>
          <p:cNvPr id="12" name="组合 11">
            <a:extLst>
              <a:ext uri="{FF2B5EF4-FFF2-40B4-BE49-F238E27FC236}">
                <a16:creationId xmlns:a16="http://schemas.microsoft.com/office/drawing/2014/main" id="{8310B88E-BA86-B736-3CC0-B432A3FA9207}"/>
              </a:ext>
            </a:extLst>
          </p:cNvPr>
          <p:cNvGrpSpPr/>
          <p:nvPr/>
        </p:nvGrpSpPr>
        <p:grpSpPr>
          <a:xfrm>
            <a:off x="5555048" y="1471295"/>
            <a:ext cx="1080000" cy="1080000"/>
            <a:chOff x="8049" y="2049"/>
            <a:chExt cx="1701" cy="1701"/>
          </a:xfrm>
        </p:grpSpPr>
        <p:sp>
          <p:nvSpPr>
            <p:cNvPr id="10" name="椭圆 9">
              <a:extLst>
                <a:ext uri="{FF2B5EF4-FFF2-40B4-BE49-F238E27FC236}">
                  <a16:creationId xmlns:a16="http://schemas.microsoft.com/office/drawing/2014/main" id="{80D2A2F9-AE48-96B7-3825-D98748728A86}"/>
                </a:ext>
              </a:extLst>
            </p:cNvPr>
            <p:cNvSpPr/>
            <p:nvPr/>
          </p:nvSpPr>
          <p:spPr>
            <a:xfrm>
              <a:off x="8049" y="2049"/>
              <a:ext cx="1701" cy="1701"/>
            </a:xfrm>
            <a:prstGeom prst="ellipse">
              <a:avLst/>
            </a:prstGeom>
            <a:solidFill>
              <a:srgbClr val="BA9FC0">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3C54DDDD-28CE-530C-D6F2-BAA17B95FD5F}"/>
                </a:ext>
              </a:extLst>
            </p:cNvPr>
            <p:cNvSpPr txBox="1"/>
            <p:nvPr/>
          </p:nvSpPr>
          <p:spPr>
            <a:xfrm>
              <a:off x="8380" y="2440"/>
              <a:ext cx="1048" cy="921"/>
            </a:xfrm>
            <a:prstGeom prst="rect">
              <a:avLst/>
            </a:prstGeom>
            <a:noFill/>
          </p:spPr>
          <p:txBody>
            <a:bodyPr wrap="none" rtlCol="0">
              <a:spAutoFit/>
            </a:bodyPr>
            <a:lstStyle/>
            <a:p>
              <a:r>
                <a:rPr lang="en-US" altLang="zh-CN" sz="3200" dirty="0">
                  <a:solidFill>
                    <a:schemeClr val="bg1"/>
                  </a:solidFill>
                  <a:latin typeface="微软雅黑" panose="020B0503020204020204" pitchFamily="34" charset="-122"/>
                  <a:ea typeface="微软雅黑" panose="020B0503020204020204" pitchFamily="34" charset="-122"/>
                </a:rPr>
                <a:t>07</a:t>
              </a:r>
            </a:p>
          </p:txBody>
        </p:sp>
      </p:grpSp>
    </p:spTree>
    <p:custDataLst>
      <p:tags r:id="rId1"/>
    </p:custDataLst>
    <p:extLst>
      <p:ext uri="{BB962C8B-B14F-4D97-AF65-F5344CB8AC3E}">
        <p14:creationId xmlns:p14="http://schemas.microsoft.com/office/powerpoint/2010/main" val="426656466"/>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bg>
      <p:bgPr>
        <a:blipFill rotWithShape="1">
          <a:blip r:embed="rId5">
            <a:alphaModFix amt="25000"/>
          </a:blip>
          <a:stretch>
            <a:fillRect l="-5000" r="-5000"/>
          </a:stretch>
        </a:blipFill>
        <a:effectLst/>
      </p:bgPr>
    </p:bg>
    <p:spTree>
      <p:nvGrpSpPr>
        <p:cNvPr id="1" name="">
          <a:extLst>
            <a:ext uri="{FF2B5EF4-FFF2-40B4-BE49-F238E27FC236}">
              <a16:creationId xmlns:a16="http://schemas.microsoft.com/office/drawing/2014/main" id="{47BCF741-D16D-B533-4C8E-DB65606668FB}"/>
            </a:ext>
          </a:extLst>
        </p:cNvPr>
        <p:cNvGrpSpPr/>
        <p:nvPr/>
      </p:nvGrpSpPr>
      <p:grpSpPr>
        <a:xfrm>
          <a:off x="0" y="0"/>
          <a:ext cx="0" cy="0"/>
          <a:chOff x="0" y="0"/>
          <a:chExt cx="0" cy="0"/>
        </a:xfrm>
      </p:grpSpPr>
      <p:sp>
        <p:nvSpPr>
          <p:cNvPr id="20" name="矩形 19">
            <a:extLst>
              <a:ext uri="{FF2B5EF4-FFF2-40B4-BE49-F238E27FC236}">
                <a16:creationId xmlns:a16="http://schemas.microsoft.com/office/drawing/2014/main" id="{7E30391F-E03B-7B54-29D9-B748D47BEE07}"/>
              </a:ext>
            </a:extLst>
          </p:cNvPr>
          <p:cNvSpPr/>
          <p:nvPr/>
        </p:nvSpPr>
        <p:spPr>
          <a:xfrm>
            <a:off x="0" y="700045"/>
            <a:ext cx="3588385" cy="78740"/>
          </a:xfrm>
          <a:prstGeom prst="rect">
            <a:avLst/>
          </a:prstGeom>
          <a:solidFill>
            <a:srgbClr val="C3BEF0">
              <a:alpha val="8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id="{49A2E813-E868-B959-4AC2-6BCB8650B9DE}"/>
              </a:ext>
            </a:extLst>
          </p:cNvPr>
          <p:cNvSpPr/>
          <p:nvPr/>
        </p:nvSpPr>
        <p:spPr>
          <a:xfrm>
            <a:off x="8603615" y="70004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2F73DD6E-E87E-3A6F-D6AC-668AA9EB6C49}"/>
              </a:ext>
            </a:extLst>
          </p:cNvPr>
          <p:cNvSpPr/>
          <p:nvPr/>
        </p:nvSpPr>
        <p:spPr>
          <a:xfrm>
            <a:off x="0" y="905785"/>
            <a:ext cx="3588385" cy="78740"/>
          </a:xfrm>
          <a:prstGeom prst="rect">
            <a:avLst/>
          </a:prstGeom>
          <a:solidFill>
            <a:srgbClr val="D8C7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id="{C8D59687-565B-FBDE-207E-14CE9791ADAC}"/>
              </a:ext>
            </a:extLst>
          </p:cNvPr>
          <p:cNvSpPr/>
          <p:nvPr/>
        </p:nvSpPr>
        <p:spPr>
          <a:xfrm>
            <a:off x="8603615" y="905785"/>
            <a:ext cx="3588385" cy="78740"/>
          </a:xfrm>
          <a:prstGeom prst="rect">
            <a:avLst/>
          </a:prstGeom>
          <a:solidFill>
            <a:srgbClr val="C7C1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1">
            <a:extLst>
              <a:ext uri="{FF2B5EF4-FFF2-40B4-BE49-F238E27FC236}">
                <a16:creationId xmlns:a16="http://schemas.microsoft.com/office/drawing/2014/main" id="{A36A7893-4F52-7382-8CD5-53E4D85AB87B}"/>
              </a:ext>
            </a:extLst>
          </p:cNvPr>
          <p:cNvSpPr txBox="1"/>
          <p:nvPr>
            <p:custDataLst>
              <p:tags r:id="rId2"/>
            </p:custDataLst>
          </p:nvPr>
        </p:nvSpPr>
        <p:spPr>
          <a:xfrm>
            <a:off x="4187190" y="312420"/>
            <a:ext cx="3816985" cy="1078865"/>
          </a:xfrm>
          <a:prstGeom prst="rect">
            <a:avLst/>
          </a:prstGeom>
        </p:spPr>
        <p:txBody>
          <a:bodyPr anchor="ctr" anchorCtr="0">
            <a:normAutofit/>
          </a:bodyPr>
          <a:lstStyle>
            <a:defPPr>
              <a:defRPr lang="zh-CN"/>
            </a:defPPr>
            <a:lvl1pPr algn="ctr">
              <a:lnSpc>
                <a:spcPct val="90000"/>
              </a:lnSpc>
              <a:spcBef>
                <a:spcPct val="0"/>
              </a:spcBef>
              <a:buNone/>
              <a:defRPr sz="4400">
                <a:latin typeface="Calibri Light" panose="020F0302020204030204" charset="0"/>
                <a:ea typeface="+mn-ea"/>
                <a:cs typeface="+mn-ea"/>
              </a:defRPr>
            </a:lvl1pPr>
          </a:lstStyle>
          <a:p>
            <a:r>
              <a:rPr lang="zh-CN" altLang="en-US" sz="3200" dirty="0">
                <a:solidFill>
                  <a:srgbClr val="694B71"/>
                </a:solidFill>
                <a:latin typeface="微软雅黑" panose="020B0503020204020204" pitchFamily="34" charset="-122"/>
                <a:ea typeface="微软雅黑" panose="020B0503020204020204" pitchFamily="34" charset="-122"/>
              </a:rPr>
              <a:t>结论</a:t>
            </a:r>
          </a:p>
        </p:txBody>
      </p:sp>
      <p:sp>
        <p:nvSpPr>
          <p:cNvPr id="3" name="文本框 2">
            <a:extLst>
              <a:ext uri="{FF2B5EF4-FFF2-40B4-BE49-F238E27FC236}">
                <a16:creationId xmlns:a16="http://schemas.microsoft.com/office/drawing/2014/main" id="{8CB71379-CA29-8CF0-8BEE-78F17DB47B96}"/>
              </a:ext>
            </a:extLst>
          </p:cNvPr>
          <p:cNvSpPr txBox="1"/>
          <p:nvPr/>
        </p:nvSpPr>
        <p:spPr>
          <a:xfrm>
            <a:off x="6194425" y="2949446"/>
            <a:ext cx="6096000" cy="1477328"/>
          </a:xfrm>
          <a:prstGeom prst="rect">
            <a:avLst/>
          </a:prstGeom>
          <a:noFill/>
        </p:spPr>
        <p:txBody>
          <a:bodyPr wrap="square">
            <a:spAutoFit/>
          </a:bodyPr>
          <a:lstStyle/>
          <a:p>
            <a:r>
              <a:rPr lang="zh-CN" altLang="en-US" b="1" i="0" dirty="0">
                <a:solidFill>
                  <a:srgbClr val="000000"/>
                </a:solidFill>
                <a:effectLst/>
                <a:latin typeface="-apple-system"/>
              </a:rPr>
              <a:t>未来工作</a:t>
            </a:r>
            <a:r>
              <a:rPr lang="zh-CN" altLang="en-US" b="0" i="0" dirty="0">
                <a:solidFill>
                  <a:srgbClr val="000000"/>
                </a:solidFill>
                <a:effectLst/>
                <a:latin typeface="-apple-system"/>
              </a:rPr>
              <a:t>​：</a:t>
            </a:r>
            <a:endParaRPr lang="en-US" altLang="zh-CN" b="0" i="0" dirty="0">
              <a:solidFill>
                <a:srgbClr val="000000"/>
              </a:solidFill>
              <a:effectLst/>
              <a:latin typeface="-apple-system"/>
            </a:endParaRPr>
          </a:p>
          <a:p>
            <a:r>
              <a:rPr lang="zh-CN" altLang="en-US" b="0" i="0" dirty="0">
                <a:solidFill>
                  <a:srgbClr val="000000"/>
                </a:solidFill>
                <a:effectLst/>
                <a:latin typeface="-apple-system"/>
              </a:rPr>
              <a:t>开发</a:t>
            </a:r>
            <a:r>
              <a:rPr lang="zh-CN" altLang="en-US" b="1" i="0" dirty="0">
                <a:solidFill>
                  <a:srgbClr val="000000"/>
                </a:solidFill>
                <a:effectLst/>
                <a:latin typeface="-apple-system"/>
              </a:rPr>
              <a:t>个性化检测器</a:t>
            </a:r>
            <a:r>
              <a:rPr lang="zh-CN" altLang="en-US" b="0" i="0" dirty="0">
                <a:solidFill>
                  <a:srgbClr val="000000"/>
                </a:solidFill>
                <a:effectLst/>
                <a:latin typeface="-apple-system"/>
              </a:rPr>
              <a:t>以适配不同用户和环境，研究</a:t>
            </a:r>
            <a:r>
              <a:rPr lang="zh-CN" altLang="en-US" b="1" i="0" dirty="0">
                <a:solidFill>
                  <a:srgbClr val="000000"/>
                </a:solidFill>
                <a:effectLst/>
                <a:latin typeface="-apple-system"/>
              </a:rPr>
              <a:t>环境自适应</a:t>
            </a:r>
            <a:r>
              <a:rPr lang="zh-CN" altLang="en-US" b="0" i="0" dirty="0">
                <a:solidFill>
                  <a:srgbClr val="000000"/>
                </a:solidFill>
                <a:effectLst/>
                <a:latin typeface="-apple-system"/>
              </a:rPr>
              <a:t>机制以处理动态变化，</a:t>
            </a:r>
            <a:endParaRPr lang="en-US" altLang="zh-CN" b="0" i="0" dirty="0">
              <a:solidFill>
                <a:srgbClr val="000000"/>
              </a:solidFill>
              <a:effectLst/>
              <a:latin typeface="-apple-system"/>
            </a:endParaRPr>
          </a:p>
          <a:p>
            <a:r>
              <a:rPr lang="zh-CN" altLang="en-US" b="0" i="0" dirty="0">
                <a:solidFill>
                  <a:srgbClr val="000000"/>
                </a:solidFill>
                <a:effectLst/>
                <a:latin typeface="-apple-system"/>
              </a:rPr>
              <a:t>以及</a:t>
            </a:r>
            <a:r>
              <a:rPr lang="zh-CN" altLang="en-US" b="1" i="0" dirty="0">
                <a:solidFill>
                  <a:srgbClr val="000000"/>
                </a:solidFill>
                <a:effectLst/>
                <a:latin typeface="-apple-system"/>
              </a:rPr>
              <a:t>扩展相位差</a:t>
            </a:r>
            <a:r>
              <a:rPr lang="zh-CN" altLang="en-US" b="0" i="0" dirty="0">
                <a:solidFill>
                  <a:srgbClr val="000000"/>
                </a:solidFill>
                <a:effectLst/>
                <a:latin typeface="-apple-system"/>
              </a:rPr>
              <a:t>技术到更广泛的活动识别领域（如手势或呼吸监测）。</a:t>
            </a:r>
            <a:endParaRPr lang="zh-CN" altLang="en-US" dirty="0"/>
          </a:p>
        </p:txBody>
      </p:sp>
      <p:sp>
        <p:nvSpPr>
          <p:cNvPr id="5" name="文本框 4">
            <a:extLst>
              <a:ext uri="{FF2B5EF4-FFF2-40B4-BE49-F238E27FC236}">
                <a16:creationId xmlns:a16="http://schemas.microsoft.com/office/drawing/2014/main" id="{E2B3693F-91EA-01C7-929D-06DCB634CE44}"/>
              </a:ext>
            </a:extLst>
          </p:cNvPr>
          <p:cNvSpPr txBox="1"/>
          <p:nvPr/>
        </p:nvSpPr>
        <p:spPr>
          <a:xfrm>
            <a:off x="250825" y="1518285"/>
            <a:ext cx="5692775" cy="2862322"/>
          </a:xfrm>
          <a:prstGeom prst="rect">
            <a:avLst/>
          </a:prstGeom>
          <a:noFill/>
        </p:spPr>
        <p:txBody>
          <a:bodyPr wrap="square">
            <a:spAutoFit/>
          </a:bodyPr>
          <a:lstStyle/>
          <a:p>
            <a:r>
              <a:rPr lang="zh-CN" altLang="en-US" b="1" i="0" dirty="0">
                <a:solidFill>
                  <a:srgbClr val="000000"/>
                </a:solidFill>
                <a:effectLst/>
                <a:latin typeface="-apple-system"/>
              </a:rPr>
              <a:t>技术贡献</a:t>
            </a:r>
            <a:r>
              <a:rPr lang="zh-CN" altLang="en-US" b="0" i="0" dirty="0">
                <a:solidFill>
                  <a:srgbClr val="000000"/>
                </a:solidFill>
                <a:effectLst/>
                <a:latin typeface="-apple-system"/>
              </a:rPr>
              <a:t>​：</a:t>
            </a:r>
            <a:endParaRPr lang="en-US" altLang="zh-CN" b="0" i="0" dirty="0">
              <a:solidFill>
                <a:srgbClr val="000000"/>
              </a:solidFill>
              <a:effectLst/>
              <a:latin typeface="-apple-system"/>
            </a:endParaRPr>
          </a:p>
          <a:p>
            <a:r>
              <a:rPr lang="zh-CN" altLang="en-US" dirty="0">
                <a:solidFill>
                  <a:srgbClr val="000000"/>
                </a:solidFill>
                <a:latin typeface="-apple-system"/>
              </a:rPr>
              <a:t>首次</a:t>
            </a:r>
            <a:r>
              <a:rPr lang="zh-CN" altLang="en-US" dirty="0"/>
              <a:t>在</a:t>
            </a:r>
            <a:r>
              <a:rPr lang="zh-CN" altLang="en-US" b="1" dirty="0"/>
              <a:t>自然连续</a:t>
            </a:r>
            <a:r>
              <a:rPr lang="zh-CN" altLang="en-US" dirty="0"/>
              <a:t>地进行大量</a:t>
            </a:r>
            <a:r>
              <a:rPr lang="zh-CN" altLang="en-US" b="1" dirty="0"/>
              <a:t>日常活动</a:t>
            </a:r>
            <a:r>
              <a:rPr lang="zh-CN" altLang="en-US" dirty="0"/>
              <a:t>的情况下检测跌倒</a:t>
            </a:r>
            <a:endParaRPr lang="en-US" altLang="zh-CN" b="0" i="0" dirty="0">
              <a:solidFill>
                <a:srgbClr val="000000"/>
              </a:solidFill>
              <a:effectLst/>
              <a:latin typeface="-apple-system"/>
            </a:endParaRPr>
          </a:p>
          <a:p>
            <a:r>
              <a:rPr lang="zh-CN" altLang="en-US" b="0" i="0" dirty="0">
                <a:solidFill>
                  <a:srgbClr val="000000"/>
                </a:solidFill>
                <a:effectLst/>
                <a:latin typeface="-apple-system"/>
              </a:rPr>
              <a:t>首次利用</a:t>
            </a:r>
            <a:r>
              <a:rPr lang="en-US" altLang="zh-CN" b="0" i="0" dirty="0">
                <a:solidFill>
                  <a:srgbClr val="000000"/>
                </a:solidFill>
                <a:effectLst/>
                <a:latin typeface="-apple-system"/>
              </a:rPr>
              <a:t>CSI</a:t>
            </a:r>
            <a:r>
              <a:rPr lang="zh-CN" altLang="en-US" b="1" i="0" dirty="0">
                <a:solidFill>
                  <a:srgbClr val="000000"/>
                </a:solidFill>
                <a:effectLst/>
                <a:latin typeface="-apple-system"/>
              </a:rPr>
              <a:t>相位差</a:t>
            </a:r>
            <a:r>
              <a:rPr lang="zh-CN" altLang="en-US" b="0" i="0" dirty="0">
                <a:solidFill>
                  <a:srgbClr val="000000"/>
                </a:solidFill>
                <a:effectLst/>
                <a:latin typeface="-apple-system"/>
              </a:rPr>
              <a:t>作为比振幅更敏感的基础信号，用于活动分割和跌倒检测；</a:t>
            </a:r>
            <a:endParaRPr lang="en-US" altLang="zh-CN" b="0" i="0" dirty="0">
              <a:solidFill>
                <a:srgbClr val="000000"/>
              </a:solidFill>
              <a:effectLst/>
              <a:latin typeface="-apple-system"/>
            </a:endParaRPr>
          </a:p>
          <a:p>
            <a:r>
              <a:rPr lang="zh-CN" altLang="en-US" b="0" i="0" dirty="0">
                <a:solidFill>
                  <a:srgbClr val="000000"/>
                </a:solidFill>
                <a:effectLst/>
                <a:latin typeface="-apple-system"/>
              </a:rPr>
              <a:t>发现并利用了跌倒活动在时频域中的</a:t>
            </a:r>
            <a:r>
              <a:rPr lang="zh-CN" altLang="en-US" b="1" i="0" dirty="0">
                <a:solidFill>
                  <a:srgbClr val="000000"/>
                </a:solidFill>
                <a:effectLst/>
                <a:latin typeface="-apple-system"/>
              </a:rPr>
              <a:t>急剧功率谱下降模式</a:t>
            </a:r>
            <a:r>
              <a:rPr lang="zh-CN" altLang="en-US" dirty="0">
                <a:solidFill>
                  <a:srgbClr val="000000"/>
                </a:solidFill>
                <a:latin typeface="-apple-system"/>
              </a:rPr>
              <a:t>。</a:t>
            </a:r>
            <a:endParaRPr lang="en-US" altLang="zh-CN" dirty="0">
              <a:solidFill>
                <a:srgbClr val="000000"/>
              </a:solidFill>
              <a:latin typeface="-apple-system"/>
            </a:endParaRPr>
          </a:p>
          <a:p>
            <a:r>
              <a:rPr lang="zh-CN" altLang="en-US" dirty="0"/>
              <a:t>在</a:t>
            </a:r>
            <a:r>
              <a:rPr lang="zh-CN" altLang="en-US" b="1" dirty="0"/>
              <a:t>商品</a:t>
            </a:r>
            <a:r>
              <a:rPr lang="en-US" altLang="zh-CN" b="1" dirty="0" err="1"/>
              <a:t>WiFi</a:t>
            </a:r>
            <a:r>
              <a:rPr lang="zh-CN" altLang="en-US" b="1" dirty="0"/>
              <a:t>设备</a:t>
            </a:r>
            <a:r>
              <a:rPr lang="zh-CN" altLang="en-US" dirty="0"/>
              <a:t>上设计并实现了实时活动分割和跌倒检测系统</a:t>
            </a:r>
            <a:r>
              <a:rPr lang="en-US" altLang="zh-CN" dirty="0"/>
              <a:t>RT-Fall </a:t>
            </a:r>
            <a:r>
              <a:rPr lang="zh-CN" altLang="en-US" dirty="0"/>
              <a:t>，</a:t>
            </a:r>
            <a:r>
              <a:rPr lang="zh-CN" altLang="en-US" dirty="0">
                <a:solidFill>
                  <a:srgbClr val="000000"/>
                </a:solidFill>
                <a:latin typeface="-apple-system"/>
              </a:rPr>
              <a:t>通过实验验证</a:t>
            </a:r>
            <a:r>
              <a:rPr lang="en-US" altLang="zh-CN" dirty="0"/>
              <a:t>RT-Fall</a:t>
            </a:r>
            <a:r>
              <a:rPr lang="zh-CN" altLang="en-US" dirty="0">
                <a:solidFill>
                  <a:srgbClr val="000000"/>
                </a:solidFill>
                <a:latin typeface="-apple-system"/>
              </a:rPr>
              <a:t>相比基线方法</a:t>
            </a:r>
            <a:r>
              <a:rPr lang="en-US" altLang="zh-CN" dirty="0" err="1">
                <a:solidFill>
                  <a:srgbClr val="000000"/>
                </a:solidFill>
                <a:latin typeface="-apple-system"/>
              </a:rPr>
              <a:t>WiFall</a:t>
            </a:r>
            <a:r>
              <a:rPr lang="zh-CN" altLang="en-US" dirty="0">
                <a:solidFill>
                  <a:srgbClr val="000000"/>
                </a:solidFill>
                <a:latin typeface="-apple-system"/>
              </a:rPr>
              <a:t>有</a:t>
            </a:r>
            <a:r>
              <a:rPr lang="zh-CN" altLang="en-US" b="1" dirty="0">
                <a:solidFill>
                  <a:srgbClr val="000000"/>
                </a:solidFill>
                <a:latin typeface="-apple-system"/>
              </a:rPr>
              <a:t>显著提升</a:t>
            </a:r>
            <a:r>
              <a:rPr lang="en-US" altLang="zh-CN" b="1" dirty="0">
                <a:solidFill>
                  <a:srgbClr val="000000"/>
                </a:solidFill>
                <a:latin typeface="-apple-system"/>
              </a:rPr>
              <a:t>,</a:t>
            </a:r>
          </a:p>
          <a:p>
            <a:r>
              <a:rPr lang="zh-CN" altLang="en-US" dirty="0">
                <a:solidFill>
                  <a:srgbClr val="000000"/>
                </a:solidFill>
                <a:latin typeface="-apple-system"/>
              </a:rPr>
              <a:t>系统低成本、非侵入性，具有良好的</a:t>
            </a:r>
            <a:r>
              <a:rPr lang="zh-CN" altLang="en-US" b="1" dirty="0">
                <a:solidFill>
                  <a:srgbClr val="000000"/>
                </a:solidFill>
                <a:latin typeface="-apple-system"/>
              </a:rPr>
              <a:t>实际应用潜力</a:t>
            </a:r>
            <a:endParaRPr lang="zh-CN" altLang="en-US" b="1" dirty="0"/>
          </a:p>
        </p:txBody>
      </p:sp>
      <p:sp>
        <p:nvSpPr>
          <p:cNvPr id="10" name="文本框 9">
            <a:extLst>
              <a:ext uri="{FF2B5EF4-FFF2-40B4-BE49-F238E27FC236}">
                <a16:creationId xmlns:a16="http://schemas.microsoft.com/office/drawing/2014/main" id="{3D8486C7-18D2-F3AC-4FB5-13C7AD0580ED}"/>
              </a:ext>
            </a:extLst>
          </p:cNvPr>
          <p:cNvSpPr txBox="1"/>
          <p:nvPr/>
        </p:nvSpPr>
        <p:spPr>
          <a:xfrm>
            <a:off x="6172200" y="1518285"/>
            <a:ext cx="6140450" cy="646331"/>
          </a:xfrm>
          <a:prstGeom prst="rect">
            <a:avLst/>
          </a:prstGeom>
          <a:noFill/>
        </p:spPr>
        <p:txBody>
          <a:bodyPr wrap="square">
            <a:spAutoFit/>
          </a:bodyPr>
          <a:lstStyle/>
          <a:p>
            <a:r>
              <a:rPr lang="zh-CN" altLang="en-US" b="1" i="0" dirty="0">
                <a:solidFill>
                  <a:srgbClr val="000000"/>
                </a:solidFill>
                <a:effectLst/>
                <a:latin typeface="-apple-system"/>
              </a:rPr>
              <a:t>局限性</a:t>
            </a:r>
            <a:r>
              <a:rPr lang="zh-CN" altLang="en-US" b="0" i="0" dirty="0">
                <a:solidFill>
                  <a:srgbClr val="000000"/>
                </a:solidFill>
                <a:effectLst/>
                <a:latin typeface="-apple-system"/>
              </a:rPr>
              <a:t>​：系统性能受环境变化影响（如家具移动），且在多人物同时活动场景下可靠性有限。</a:t>
            </a:r>
            <a:endParaRPr lang="zh-CN" altLang="en-US" dirty="0"/>
          </a:p>
        </p:txBody>
      </p:sp>
      <p:cxnSp>
        <p:nvCxnSpPr>
          <p:cNvPr id="11" name="直接连接符 10">
            <a:extLst>
              <a:ext uri="{FF2B5EF4-FFF2-40B4-BE49-F238E27FC236}">
                <a16:creationId xmlns:a16="http://schemas.microsoft.com/office/drawing/2014/main" id="{DD21D2AE-F356-C480-4F9C-1C61FF286AC1}"/>
              </a:ext>
            </a:extLst>
          </p:cNvPr>
          <p:cNvCxnSpPr>
            <a:cxnSpLocks/>
          </p:cNvCxnSpPr>
          <p:nvPr/>
        </p:nvCxnSpPr>
        <p:spPr>
          <a:xfrm>
            <a:off x="6096000" y="1391285"/>
            <a:ext cx="0" cy="5146829"/>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790997590"/>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DOC_GUID" val="{a430a092-4c0f-4c48-9dc9-eb6f5ee1d151}"/>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86617"/>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HIGHLIGHT" val="0"/>
  <p:tag name="KSO_WM_UNIT_COMPATIBLE" val="0"/>
  <p:tag name="KSO_WM_UNIT_DIAGRAM_ISNUMVISUAL" val="0"/>
  <p:tag name="KSO_WM_UNIT_DIAGRAM_ISREFERUNIT" val="0"/>
  <p:tag name="KSO_WM_UNIT_ID" val="_0**"/>
  <p:tag name="KSO_WM_UNIT_LAYERLEVEL" val="1"/>
  <p:tag name="KSO_WM_TEMPLATE_CATEGORY" val="custom"/>
  <p:tag name="KSO_WM_TEMPLATE_INDEX" val="20186617"/>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wm#"/>
  <p:tag name="KSO_WM_TAG_VERSION" val="1.0"/>
  <p:tag name="KSO_WM_TEMPLATE_INDEX" val="20186617"/>
  <p:tag name="KSO_WM_TEMPLATE_CATEGORY" val="custom"/>
  <p:tag name="KSO_WM_TEMPLATE_THUMBS_INDEX" val="1、2、3、4、5、6、7、8、9、10、11、12、13、14、15"/>
  <p:tag name="KSO_WM_TEMPLATE_TOPIC_ID" val="2869567"/>
  <p:tag name="KSO_WM_TEMPLATE_OUTLINE_ID" val="5"/>
  <p:tag name="KSO_WM_TEMPLATE_SCENE_ID" val="1"/>
  <p:tag name="KSO_WM_TEMPLATE_JOB_ID" val="5"/>
  <p:tag name="KSO_WM_TEMPLATE_TOPIC_DEFAULT" val="0"/>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08"/>
  <p:tag name="KSO_WM_SLIDE_INDEX" val="1"/>
  <p:tag name="KSO_WM_SLIDE_ITEM_CNT" val="3"/>
  <p:tag name="KSO_WM_SLIDE_LAYOUT" val="a_b_d"/>
  <p:tag name="KSO_WM_SLIDE_LAYOUT_CNT" val="1_1_1"/>
  <p:tag name="KSO_WM_SLIDE_TYPE" val="title"/>
  <p:tag name="KSO_WM_TAG_VERSION" val="1.0"/>
  <p:tag name="KSO_WM_SLIDE_MODEL_TYPE" val="cover"/>
</p:tagLst>
</file>

<file path=ppt/tags/tag78.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20186617"/>
</p:tagLst>
</file>

<file path=ppt/tags/tag79.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8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08"/>
  <p:tag name="KSO_WM_SLIDE_INDEX" val="1"/>
  <p:tag name="KSO_WM_SLIDE_ITEM_CNT" val="3"/>
  <p:tag name="KSO_WM_SLIDE_LAYOUT" val="a_b_d"/>
  <p:tag name="KSO_WM_SLIDE_LAYOUT_CNT" val="1_1_1"/>
  <p:tag name="KSO_WM_SLIDE_TYPE" val="title"/>
  <p:tag name="KSO_WM_TAG_VERSION" val="1.0"/>
</p:tagLst>
</file>

<file path=ppt/tags/tag8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85.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87.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89.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52"/>
  <p:tag name="KSO_WM_SLIDE_INDEX" val="8"/>
  <p:tag name="KSO_WM_SLIDE_ITEM_CNT" val="3"/>
  <p:tag name="KSO_WM_SLIDE_LAYOUT" val="l"/>
  <p:tag name="KSO_WM_SLIDE_LAYOUT_CNT" val="1"/>
  <p:tag name="KSO_WM_SLIDE_TYPE" val="contents"/>
  <p:tag name="KSO_WM_TAG_VERSION" val="1.0"/>
  <p:tag name="KSO_WM_DIAGRAM_GROUP_CODE" val="第六组"/>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9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94.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96.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98.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00.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0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04.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52"/>
  <p:tag name="KSO_WM_SLIDE_INDEX" val="8"/>
  <p:tag name="KSO_WM_SLIDE_ITEM_CNT" val="3"/>
  <p:tag name="KSO_WM_SLIDE_LAYOUT" val="l"/>
  <p:tag name="KSO_WM_SLIDE_LAYOUT_CNT" val="1"/>
  <p:tag name="KSO_WM_SLIDE_TYPE" val="contents"/>
  <p:tag name="KSO_WM_TAG_VERSION" val="1.0"/>
  <p:tag name="KSO_WM_DIAGRAM_GROUP_CODE" val="第六组"/>
</p:tagLst>
</file>

<file path=ppt/tags/tag10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07.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09.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52"/>
  <p:tag name="KSO_WM_SLIDE_INDEX" val="8"/>
  <p:tag name="KSO_WM_SLIDE_ITEM_CNT" val="3"/>
  <p:tag name="KSO_WM_SLIDE_LAYOUT" val="l"/>
  <p:tag name="KSO_WM_SLIDE_LAYOUT_CNT" val="1"/>
  <p:tag name="KSO_WM_SLIDE_TYPE" val="contents"/>
  <p:tag name="KSO_WM_TAG_VERSION" val="1.0"/>
  <p:tag name="KSO_WM_DIAGRAM_GROUP_CODE" val="第六组"/>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1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14.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16.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18.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20.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2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24.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26.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28.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30.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3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34.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36.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38.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40.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4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44.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46.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48.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50.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5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54.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56.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58.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60.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6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64.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66.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6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68.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6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70.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7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7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74.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76.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7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78.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7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80.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8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8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8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84.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8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52"/>
  <p:tag name="KSO_WM_SLIDE_INDEX" val="8"/>
  <p:tag name="KSO_WM_SLIDE_ITEM_CNT" val="3"/>
  <p:tag name="KSO_WM_SLIDE_LAYOUT" val="l"/>
  <p:tag name="KSO_WM_SLIDE_LAYOUT_CNT" val="1"/>
  <p:tag name="KSO_WM_SLIDE_TYPE" val="contents"/>
  <p:tag name="KSO_WM_TAG_VERSION" val="1.0"/>
  <p:tag name="KSO_WM_DIAGRAM_GROUP_CODE" val="第六组"/>
</p:tagLst>
</file>

<file path=ppt/tags/tag18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87.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8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89.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9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9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9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9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95.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52"/>
  <p:tag name="KSO_WM_SLIDE_INDEX" val="8"/>
  <p:tag name="KSO_WM_SLIDE_ITEM_CNT" val="3"/>
  <p:tag name="KSO_WM_SLIDE_LAYOUT" val="l"/>
  <p:tag name="KSO_WM_SLIDE_LAYOUT_CNT" val="1"/>
  <p:tag name="KSO_WM_SLIDE_TYPE" val="contents"/>
  <p:tag name="KSO_WM_TAG_VERSION" val="1.0"/>
  <p:tag name="KSO_WM_DIAGRAM_GROUP_CODE" val="第六组"/>
</p:tagLst>
</file>

<file path=ppt/tags/tag19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198.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19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200.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20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20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204.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20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206.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20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208.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20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210.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21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21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52"/>
  <p:tag name="KSO_WM_SLIDE_INDEX" val="8"/>
  <p:tag name="KSO_WM_SLIDE_ITEM_CNT" val="3"/>
  <p:tag name="KSO_WM_SLIDE_LAYOUT" val="l"/>
  <p:tag name="KSO_WM_SLIDE_LAYOUT_CNT" val="1"/>
  <p:tag name="KSO_WM_SLIDE_TYPE" val="contents"/>
  <p:tag name="KSO_WM_TAG_VERSION" val="1.0"/>
  <p:tag name="KSO_WM_DIAGRAM_GROUP_CODE" val="第六组"/>
</p:tagLst>
</file>

<file path=ppt/tags/tag21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215.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21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217.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ags/tag21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52"/>
  <p:tag name="KSO_WM_SLIDE_INDEX" val="8"/>
  <p:tag name="KSO_WM_SLIDE_ITEM_CNT" val="3"/>
  <p:tag name="KSO_WM_SLIDE_LAYOUT" val="l"/>
  <p:tag name="KSO_WM_SLIDE_LAYOUT_CNT" val="1"/>
  <p:tag name="KSO_WM_SLIDE_TYPE" val="contents"/>
  <p:tag name="KSO_WM_TAG_VERSION" val="1.0"/>
  <p:tag name="KSO_WM_DIAGRAM_GROUP_CODE" val="第六组"/>
</p:tagLst>
</file>

<file path=ppt/tags/tag21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preset"/>
  <p:tag name="KSO_WM_TEMPLATE_INDEX" val="1"/>
  <p:tag name="KSO_WM_SLIDE_ID" val="150995248"/>
  <p:tag name="KSO_WM_SLIDE_INDEX" val="7"/>
  <p:tag name="KSO_WM_SLIDE_ITEM_CNT" val="3"/>
  <p:tag name="KSO_WM_SLIDE_LAYOUT" val="a_l"/>
  <p:tag name="KSO_WM_SLIDE_LAYOUT_CNT" val="1_1"/>
  <p:tag name="KSO_WM_SLIDE_TYPE" val="contents"/>
  <p:tag name="KSO_WM_TAG_VERSION" val="1.0"/>
  <p:tag name="KSO_WM_DIAGRAM_GROUP_CODE" val="第五组"/>
</p:tagLst>
</file>

<file path=ppt/tags/tag220.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preset"/>
  <p:tag name="KSO_WM_TEMPLATE_INDEX" val="1"/>
  <p:tag name="KSO_WM_UNIT_TYPE" val="a"/>
  <p:tag name="KSO_WM_UNIT_INDEX" val="1"/>
  <p:tag name="KSO_WM_UNIT_ID" val="150995248*a*1"/>
  <p:tag name="KSO_WM_UNIT_CLEAR" val="1"/>
  <p:tag name="KSO_WM_UNIT_LAYERLEVEL" val="1"/>
  <p:tag name="KSO_WM_UNIT_ISCONTENTSTITLE" val="1"/>
  <p:tag name="KSO_WM_UNIT_VALUE" val="40"/>
  <p:tag name="KSO_WM_UNIT_HIGHLIGHT" val="0"/>
  <p:tag name="KSO_WM_UNIT_COMPATIBLE" val="0"/>
  <p:tag name="KSO_WM_UNIT_PRESET_TEXT" val="请在此处添加标题"/>
  <p:tag name="KSO_WM_BEAUTIFY_FLAG" val="#wm#"/>
</p:tagLst>
</file>

<file path=ppt/theme/theme1.xml><?xml version="1.0" encoding="utf-8"?>
<a:theme xmlns:a="http://schemas.openxmlformats.org/drawingml/2006/main" name="Office 主题​​">
  <a:themeElements>
    <a:clrScheme name="20186615">
      <a:dk1>
        <a:srgbClr val="000000"/>
      </a:dk1>
      <a:lt1>
        <a:srgbClr val="FFFFFF"/>
      </a:lt1>
      <a:dk2>
        <a:srgbClr val="0BA0BD"/>
      </a:dk2>
      <a:lt2>
        <a:srgbClr val="E6E4E4"/>
      </a:lt2>
      <a:accent1>
        <a:srgbClr val="E85955"/>
      </a:accent1>
      <a:accent2>
        <a:srgbClr val="DE9138"/>
      </a:accent2>
      <a:accent3>
        <a:srgbClr val="F8B62D"/>
      </a:accent3>
      <a:accent4>
        <a:srgbClr val="B1BE4D"/>
      </a:accent4>
      <a:accent5>
        <a:srgbClr val="559DB4"/>
      </a:accent5>
      <a:accent6>
        <a:srgbClr val="C4AF8F"/>
      </a:accent6>
      <a:hlink>
        <a:srgbClr val="0563C1"/>
      </a:hlink>
      <a:folHlink>
        <a:srgbClr val="954D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965</TotalTime>
  <Words>8274</Words>
  <Application>Microsoft Office PowerPoint</Application>
  <PresentationFormat>宽屏</PresentationFormat>
  <Paragraphs>444</Paragraphs>
  <Slides>76</Slides>
  <Notes>66</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1</vt:i4>
      </vt:variant>
      <vt:variant>
        <vt:lpstr>幻灯片标题</vt:lpstr>
      </vt:variant>
      <vt:variant>
        <vt:i4>76</vt:i4>
      </vt:variant>
    </vt:vector>
  </HeadingPairs>
  <TitlesOfParts>
    <vt:vector size="92" baseType="lpstr">
      <vt:lpstr>-apple-system</vt:lpstr>
      <vt:lpstr>Helvetica Neue</vt:lpstr>
      <vt:lpstr>inherit</vt:lpstr>
      <vt:lpstr>Inter</vt:lpstr>
      <vt:lpstr>KaTeX_Main</vt:lpstr>
      <vt:lpstr>KaTeX_Math</vt:lpstr>
      <vt:lpstr>等线</vt:lpstr>
      <vt:lpstr>微软雅黑</vt:lpstr>
      <vt:lpstr>微软雅黑 Light</vt:lpstr>
      <vt:lpstr>Arial</vt:lpstr>
      <vt:lpstr>Calibri</vt:lpstr>
      <vt:lpstr>Cambria Math</vt:lpstr>
      <vt:lpstr>Helvetica</vt:lpstr>
      <vt:lpstr>Times New Roman</vt:lpstr>
      <vt:lpstr>Office 主题​​</vt:lpstr>
      <vt:lpstr>文档</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吴 欣琪</dc:creator>
  <cp:lastModifiedBy>王锦鸿</cp:lastModifiedBy>
  <cp:revision>214</cp:revision>
  <dcterms:created xsi:type="dcterms:W3CDTF">2019-03-24T15:19:00Z</dcterms:created>
  <dcterms:modified xsi:type="dcterms:W3CDTF">2025-10-16T14:35:35Z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2052-11.8.2.12195</vt:lpwstr>
  </property>
  <property fmtid="{D5CDD505-2E9C-101B-9397-08002B2CF9AE}" pid="3" name="ICV">
    <vt:lpwstr>4B55492A4D5946159BFF1B442633507F</vt:lpwstr>
  </property>
</Properties>
</file>