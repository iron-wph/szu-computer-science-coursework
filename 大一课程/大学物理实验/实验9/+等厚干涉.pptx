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ctiveX/activeX1.bin" ContentType="application/vnd.ms-office.activeX"/>
  <Override PartName="/ppt/activeX/activeX1.xml" ContentType="application/vnd.ms-office.activeX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9"/>
  </p:notesMasterIdLst>
  <p:sldIdLst>
    <p:sldId id="391" r:id="rId4"/>
    <p:sldId id="270" r:id="rId5"/>
    <p:sldId id="283" r:id="rId6"/>
    <p:sldId id="271" r:id="rId7"/>
    <p:sldId id="257" r:id="rId8"/>
    <p:sldId id="417" r:id="rId10"/>
    <p:sldId id="404" r:id="rId11"/>
    <p:sldId id="272" r:id="rId12"/>
    <p:sldId id="275" r:id="rId13"/>
    <p:sldId id="276" r:id="rId14"/>
    <p:sldId id="277" r:id="rId15"/>
    <p:sldId id="416" r:id="rId16"/>
    <p:sldId id="279" r:id="rId17"/>
    <p:sldId id="280" r:id="rId18"/>
    <p:sldId id="437" r:id="rId19"/>
    <p:sldId id="281" r:id="rId20"/>
    <p:sldId id="406" r:id="rId21"/>
    <p:sldId id="405" r:id="rId22"/>
    <p:sldId id="411" r:id="rId23"/>
    <p:sldId id="412" r:id="rId24"/>
    <p:sldId id="413" r:id="rId25"/>
    <p:sldId id="414" r:id="rId26"/>
    <p:sldId id="415" r:id="rId27"/>
    <p:sldId id="282" r:id="rId28"/>
    <p:sldId id="407" r:id="rId29"/>
    <p:sldId id="408" r:id="rId30"/>
  </p:sldIdLst>
  <p:sldSz cx="12192000" cy="6858000"/>
  <p:notesSz cx="6858000" cy="9144000"/>
  <p:custDataLst>
    <p:tags r:id="rId34"/>
  </p:custDataLst>
  <p:defaultTextStyle>
    <a:defPPr>
      <a:defRPr lang="en-US"/>
    </a:defPPr>
    <a:lvl1pPr marL="0" lvl="0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lvl="1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lvl="2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lvl="3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lvl="4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lvl="5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lvl="6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lvl="7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lvl="8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8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8000"/>
    <a:srgbClr val="FF3300"/>
    <a:srgbClr val="99CCFF"/>
    <a:srgbClr val="EAEAEA"/>
    <a:srgbClr val="969696"/>
    <a:srgbClr val="336600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0591"/>
    <p:restoredTop sz="96699"/>
  </p:normalViewPr>
  <p:slideViewPr>
    <p:cSldViewPr snapToObjects="1" showGuides="1">
      <p:cViewPr varScale="1">
        <p:scale>
          <a:sx n="68" d="100"/>
          <a:sy n="68" d="100"/>
        </p:scale>
        <p:origin x="1188" y="54"/>
      </p:cViewPr>
      <p:guideLst>
        <p:guide orient="horz" pos="2148"/>
        <p:guide pos="380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4" Type="http://schemas.openxmlformats.org/officeDocument/2006/relationships/tags" Target="tags/tag66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9.wmf"/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.wmf"/><Relationship Id="rId8" Type="http://schemas.openxmlformats.org/officeDocument/2006/relationships/image" Target="../media/image24.wmf"/><Relationship Id="rId7" Type="http://schemas.openxmlformats.org/officeDocument/2006/relationships/image" Target="../media/image23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0" Type="http://schemas.openxmlformats.org/officeDocument/2006/relationships/image" Target="../media/image16.wmf"/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7.vml.rels><?xml version="1.0" encoding="UTF-8" standalone="yes"?>
<Relationships xmlns="http://schemas.openxmlformats.org/package/2006/relationships"><Relationship Id="rId4" Type="http://schemas.openxmlformats.org/officeDocument/2006/relationships/image" Target="../media/image40.wmf"/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F24D21E-AEE8-4B33-856E-B8EB8DCD996A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>
                <a:latin typeface="等线" panose="02010600030101010101" pitchFamily="2" charset="-122"/>
                <a:ea typeface="等线" panose="02010600030101010101" pitchFamily="2" charset="-122"/>
              </a:rPr>
            </a:fld>
            <a:endParaRPr lang="zh-CN" altLang="en-US" sz="12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9" name="Rectangle 2"/>
          <p:cNvSpPr>
            <a:spLocks noRo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9220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65B2310-F735-40DB-A981-CE26EF773D4A}" type="datetimeFigureOut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alibri" panose="020F0502020204030204" pitchFamily="34" charset="0"/>
              </a:rPr>
            </a:fld>
            <a:endParaRPr lang="en-US" altLang="zh-CN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65B2310-F735-40DB-A981-CE26EF773D4A}" type="datetimeFigureOut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alibri" panose="020F0502020204030204" pitchFamily="34" charset="0"/>
              </a:rPr>
            </a:fld>
            <a:endParaRPr lang="en-US" altLang="zh-CN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65B2310-F735-40DB-A981-CE26EF773D4A}" type="datetimeFigureOut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alibri" panose="020F0502020204030204" pitchFamily="34" charset="0"/>
              </a:rPr>
            </a:fld>
            <a:endParaRPr lang="en-US" altLang="zh-CN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65B2310-F735-40DB-A981-CE26EF773D4A}" type="datetimeFigureOut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alibri" panose="020F0502020204030204" pitchFamily="34" charset="0"/>
              </a:rPr>
            </a:fld>
            <a:endParaRPr lang="en-US" altLang="zh-CN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65B2310-F735-40DB-A981-CE26EF773D4A}" type="datetimeFigureOut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alibri" panose="020F0502020204030204" pitchFamily="34" charset="0"/>
              </a:rPr>
            </a:fld>
            <a:endParaRPr lang="en-US" altLang="zh-CN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65B2310-F735-40DB-A981-CE26EF773D4A}" type="datetimeFigureOut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alibri" panose="020F0502020204030204" pitchFamily="34" charset="0"/>
              </a:rPr>
            </a:fld>
            <a:endParaRPr lang="en-US" altLang="zh-CN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65B2310-F735-40DB-A981-CE26EF773D4A}" type="datetimeFigureOut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alibri" panose="020F0502020204030204" pitchFamily="34" charset="0"/>
              </a:rPr>
            </a:fld>
            <a:endParaRPr lang="en-US" altLang="zh-CN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65B2310-F735-40DB-A981-CE26EF773D4A}" type="datetimeFigureOut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alibri" panose="020F0502020204030204" pitchFamily="34" charset="0"/>
              </a:rPr>
            </a:fld>
            <a:endParaRPr lang="en-US" altLang="zh-CN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65B2310-F735-40DB-A981-CE26EF773D4A}" type="datetimeFigureOut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alibri" panose="020F0502020204030204" pitchFamily="34" charset="0"/>
              </a:rPr>
            </a:fld>
            <a:endParaRPr lang="en-US" altLang="zh-CN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65B2310-F735-40DB-A981-CE26EF773D4A}" type="datetimeFigureOut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alibri" panose="020F0502020204030204" pitchFamily="34" charset="0"/>
              </a:rPr>
            </a:fld>
            <a:endParaRPr lang="en-US" altLang="zh-CN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65B2310-F735-40DB-A981-CE26EF773D4A}" type="datetimeFigureOut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alibri" panose="020F0502020204030204" pitchFamily="34" charset="0"/>
              </a:rPr>
            </a:fld>
            <a:endParaRPr lang="en-US" altLang="zh-CN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62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9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Rectangle 10"/>
          <p:cNvSpPr>
            <a:spLocks noGrp="1" noChangeArrowheads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Rectangle 11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ea typeface="等线" panose="02010600030101010101" pitchFamily="2" charset="-122"/>
              </a:rPr>
            </a:fld>
            <a:endParaRPr lang="en-US" altLang="zh-CN" dirty="0">
              <a:ea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65B2310-F735-40DB-A981-CE26EF773D4A}" type="datetimeFigureOut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alibri" panose="020F0502020204030204" pitchFamily="34" charset="0"/>
              </a:rPr>
            </a:fld>
            <a:endParaRPr lang="en-US" altLang="zh-CN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65B2310-F735-40DB-A981-CE26EF773D4A}" type="datetimeFigureOut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alibri" panose="020F0502020204030204" pitchFamily="34" charset="0"/>
              </a:rPr>
            </a:fld>
            <a:endParaRPr lang="en-US" altLang="zh-CN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65B2310-F735-40DB-A981-CE26EF773D4A}" type="datetimeFigureOut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alibri" panose="020F0502020204030204" pitchFamily="34" charset="0"/>
              </a:rPr>
            </a:fld>
            <a:endParaRPr lang="en-US" altLang="zh-CN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65B2310-F735-40DB-A981-CE26EF773D4A}" type="datetimeFigureOut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alibri" panose="020F0502020204030204" pitchFamily="34" charset="0"/>
              </a:rPr>
            </a:fld>
            <a:endParaRPr lang="en-US" altLang="zh-CN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65B2310-F735-40DB-A981-CE26EF773D4A}" type="datetimeFigureOut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alibri" panose="020F0502020204030204" pitchFamily="34" charset="0"/>
              </a:rPr>
            </a:fld>
            <a:endParaRPr lang="en-US" altLang="zh-CN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65B2310-F735-40DB-A981-CE26EF773D4A}" type="datetimeFigureOut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alibri" panose="020F0502020204030204" pitchFamily="34" charset="0"/>
              </a:rPr>
            </a:fld>
            <a:endParaRPr lang="en-US" altLang="zh-CN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65B2310-F735-40DB-A981-CE26EF773D4A}" type="datetimeFigureOut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alibri" panose="020F0502020204030204" pitchFamily="34" charset="0"/>
              </a:rPr>
            </a:fld>
            <a:endParaRPr lang="en-US" altLang="zh-CN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65B2310-F735-40DB-A981-CE26EF773D4A}" type="datetimeFigureOut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alibri" panose="020F0502020204030204" pitchFamily="34" charset="0"/>
              </a:rPr>
            </a:fld>
            <a:endParaRPr lang="en-US" altLang="zh-CN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65B2310-F735-40DB-A981-CE26EF773D4A}" type="datetimeFigureOut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alibri" panose="020F0502020204030204" pitchFamily="34" charset="0"/>
              </a:rPr>
            </a:fld>
            <a:endParaRPr lang="en-US" altLang="zh-CN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65B2310-F735-40DB-A981-CE26EF773D4A}" type="datetimeFigureOut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alibri" panose="020F0502020204030204" pitchFamily="34" charset="0"/>
              </a:rPr>
            </a:fld>
            <a:endParaRPr lang="en-US" altLang="zh-CN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65B2310-F735-40DB-A981-CE26EF773D4A}" type="datetimeFigureOut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alibri" panose="020F0502020204030204" pitchFamily="34" charset="0"/>
              </a:rPr>
            </a:fld>
            <a:endParaRPr lang="en-US" altLang="zh-CN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62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9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Rectangle 10"/>
          <p:cNvSpPr>
            <a:spLocks noGrp="1" noChangeArrowheads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Rectangle 11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ea typeface="等线" panose="02010600030101010101" pitchFamily="2" charset="-122"/>
              </a:rPr>
            </a:fld>
            <a:endParaRPr lang="en-US" altLang="zh-CN" dirty="0">
              <a:ea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65B2310-F735-40DB-A981-CE26EF773D4A}" type="datetimeFigureOut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alibri" panose="020F0502020204030204" pitchFamily="34" charset="0"/>
              </a:rPr>
            </a:fld>
            <a:endParaRPr lang="en-US" altLang="zh-CN" dirty="0">
              <a:latin typeface="Calibri" panose="020F0502020204030204" pitchFamily="34" charset="0"/>
            </a:endParaRPr>
          </a:p>
        </p:txBody>
      </p:sp>
      <p:pic>
        <p:nvPicPr>
          <p:cNvPr id="1031" name="Picture 40" descr="bj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34100"/>
            <a:ext cx="12192000" cy="73977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032" name="Group 20"/>
          <p:cNvGrpSpPr/>
          <p:nvPr userDrawn="1"/>
        </p:nvGrpSpPr>
        <p:grpSpPr>
          <a:xfrm>
            <a:off x="9074150" y="6415088"/>
            <a:ext cx="265113" cy="327025"/>
            <a:chOff x="3492" y="3902"/>
            <a:chExt cx="155" cy="257"/>
          </a:xfrm>
        </p:grpSpPr>
        <p:sp>
          <p:nvSpPr>
            <p:cNvPr id="9" name="AutoShape 21">
              <a:hlinkClick r:id="" action="ppaction://hlinkshowjump?jump=lastslide"/>
            </p:cNvPr>
            <p:cNvSpPr>
              <a:spLocks noChangeArrowheads="1"/>
            </p:cNvSpPr>
            <p:nvPr/>
          </p:nvSpPr>
          <p:spPr bwMode="auto">
            <a:xfrm rot="5400000">
              <a:off x="3441" y="3953"/>
              <a:ext cx="257" cy="155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Line 22">
              <a:hlinkClick r:id="" action="ppaction://hlinkshowjump?jump=lastslide"/>
            </p:cNvPr>
            <p:cNvSpPr>
              <a:spLocks noChangeShapeType="1"/>
            </p:cNvSpPr>
            <p:nvPr/>
          </p:nvSpPr>
          <p:spPr bwMode="auto">
            <a:xfrm>
              <a:off x="3647" y="3923"/>
              <a:ext cx="0" cy="203"/>
            </a:xfrm>
            <a:prstGeom prst="line">
              <a:avLst/>
            </a:prstGeom>
            <a:noFill/>
            <a:ln w="28575">
              <a:solidFill>
                <a:srgbClr val="ACEAFE"/>
              </a:solidFill>
              <a:round/>
            </a:ln>
            <a:effectLst>
              <a:prstShdw prst="shdw17" dist="17961" dir="2700000">
                <a:srgbClr val="678C98"/>
              </a:prst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1" name="AutoShape 23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 rot="5400000">
            <a:off x="10016331" y="6446044"/>
            <a:ext cx="327025" cy="265113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AutoShape 24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 rot="16200000">
            <a:off x="10746581" y="6446044"/>
            <a:ext cx="327025" cy="265113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035" name="Group 25"/>
          <p:cNvGrpSpPr/>
          <p:nvPr userDrawn="1"/>
        </p:nvGrpSpPr>
        <p:grpSpPr>
          <a:xfrm>
            <a:off x="11688763" y="6415088"/>
            <a:ext cx="263525" cy="327025"/>
            <a:chOff x="4558" y="3875"/>
            <a:chExt cx="155" cy="257"/>
          </a:xfrm>
        </p:grpSpPr>
        <p:sp>
          <p:nvSpPr>
            <p:cNvPr id="14" name="AutoShape 26">
              <a:hlinkClick r:id="" action="ppaction://hlinkshowjump?jump=firstslide"/>
            </p:cNvPr>
            <p:cNvSpPr>
              <a:spLocks noChangeArrowheads="1"/>
            </p:cNvSpPr>
            <p:nvPr/>
          </p:nvSpPr>
          <p:spPr bwMode="auto">
            <a:xfrm rot="16200000">
              <a:off x="4507" y="3926"/>
              <a:ext cx="257" cy="155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Line 27"/>
            <p:cNvSpPr>
              <a:spLocks noChangeShapeType="1"/>
            </p:cNvSpPr>
            <p:nvPr/>
          </p:nvSpPr>
          <p:spPr bwMode="auto">
            <a:xfrm>
              <a:off x="4558" y="3896"/>
              <a:ext cx="0" cy="203"/>
            </a:xfrm>
            <a:prstGeom prst="line">
              <a:avLst/>
            </a:prstGeom>
            <a:noFill/>
            <a:ln w="28575">
              <a:solidFill>
                <a:srgbClr val="ACEAFE"/>
              </a:solidFill>
              <a:round/>
            </a:ln>
            <a:effectLst>
              <a:prstShdw prst="shdw17" dist="17961" dir="2700000">
                <a:srgbClr val="678C98"/>
              </a:prst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1036" name="Picture 37" descr="bj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911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" name="Rectangle 33"/>
          <p:cNvSpPr>
            <a:spLocks noChangeArrowheads="1"/>
          </p:cNvSpPr>
          <p:nvPr/>
        </p:nvSpPr>
        <p:spPr bwMode="auto">
          <a:xfrm>
            <a:off x="0" y="911225"/>
            <a:ext cx="12192000" cy="73025"/>
          </a:xfrm>
          <a:prstGeom prst="rect">
            <a:avLst/>
          </a:prstGeom>
          <a:gradFill rotWithShape="1">
            <a:gsLst>
              <a:gs pos="0">
                <a:srgbClr val="FF33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8" name="Rectangle 34"/>
          <p:cNvSpPr>
            <a:spLocks noChangeArrowheads="1"/>
          </p:cNvSpPr>
          <p:nvPr/>
        </p:nvSpPr>
        <p:spPr bwMode="auto">
          <a:xfrm>
            <a:off x="0" y="6173788"/>
            <a:ext cx="12192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FF3300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65B2310-F735-40DB-A981-CE26EF773D4A}" type="datetimeFigureOut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alibri" panose="020F0502020204030204" pitchFamily="34" charset="0"/>
              </a:rPr>
            </a:fld>
            <a:endParaRPr lang="en-US" altLang="zh-CN" dirty="0">
              <a:latin typeface="Calibri" panose="020F0502020204030204" pitchFamily="34" charset="0"/>
            </a:endParaRPr>
          </a:p>
        </p:txBody>
      </p:sp>
      <p:pic>
        <p:nvPicPr>
          <p:cNvPr id="1031" name="Picture 40" descr="bj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34100"/>
            <a:ext cx="12192000" cy="73977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032" name="Group 20"/>
          <p:cNvGrpSpPr/>
          <p:nvPr userDrawn="1"/>
        </p:nvGrpSpPr>
        <p:grpSpPr>
          <a:xfrm>
            <a:off x="9074150" y="6415088"/>
            <a:ext cx="265113" cy="327025"/>
            <a:chOff x="3492" y="3902"/>
            <a:chExt cx="155" cy="257"/>
          </a:xfrm>
        </p:grpSpPr>
        <p:sp>
          <p:nvSpPr>
            <p:cNvPr id="9" name="AutoShape 21">
              <a:hlinkClick r:id="" action="ppaction://hlinkshowjump?jump=lastslide"/>
            </p:cNvPr>
            <p:cNvSpPr>
              <a:spLocks noChangeArrowheads="1"/>
            </p:cNvSpPr>
            <p:nvPr/>
          </p:nvSpPr>
          <p:spPr bwMode="auto">
            <a:xfrm rot="5400000">
              <a:off x="3441" y="3953"/>
              <a:ext cx="257" cy="155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Line 22">
              <a:hlinkClick r:id="" action="ppaction://hlinkshowjump?jump=lastslide"/>
            </p:cNvPr>
            <p:cNvSpPr>
              <a:spLocks noChangeShapeType="1"/>
            </p:cNvSpPr>
            <p:nvPr/>
          </p:nvSpPr>
          <p:spPr bwMode="auto">
            <a:xfrm>
              <a:off x="3647" y="3923"/>
              <a:ext cx="0" cy="203"/>
            </a:xfrm>
            <a:prstGeom prst="line">
              <a:avLst/>
            </a:prstGeom>
            <a:noFill/>
            <a:ln w="28575">
              <a:solidFill>
                <a:srgbClr val="ACEAFE"/>
              </a:solidFill>
              <a:round/>
            </a:ln>
            <a:effectLst>
              <a:prstShdw prst="shdw17" dist="17961" dir="2700000">
                <a:srgbClr val="678C98"/>
              </a:prst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1" name="AutoShape 23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 rot="5400000">
            <a:off x="10016331" y="6446044"/>
            <a:ext cx="327025" cy="265113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AutoShape 24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 rot="16200000">
            <a:off x="10746581" y="6446044"/>
            <a:ext cx="327025" cy="265113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035" name="Group 25"/>
          <p:cNvGrpSpPr/>
          <p:nvPr userDrawn="1"/>
        </p:nvGrpSpPr>
        <p:grpSpPr>
          <a:xfrm>
            <a:off x="11688763" y="6415088"/>
            <a:ext cx="263525" cy="327025"/>
            <a:chOff x="4558" y="3875"/>
            <a:chExt cx="155" cy="257"/>
          </a:xfrm>
        </p:grpSpPr>
        <p:sp>
          <p:nvSpPr>
            <p:cNvPr id="14" name="AutoShape 26">
              <a:hlinkClick r:id="" action="ppaction://hlinkshowjump?jump=firstslide"/>
            </p:cNvPr>
            <p:cNvSpPr>
              <a:spLocks noChangeArrowheads="1"/>
            </p:cNvSpPr>
            <p:nvPr/>
          </p:nvSpPr>
          <p:spPr bwMode="auto">
            <a:xfrm rot="16200000">
              <a:off x="4507" y="3926"/>
              <a:ext cx="257" cy="155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Line 27"/>
            <p:cNvSpPr>
              <a:spLocks noChangeShapeType="1"/>
            </p:cNvSpPr>
            <p:nvPr/>
          </p:nvSpPr>
          <p:spPr bwMode="auto">
            <a:xfrm>
              <a:off x="4558" y="3896"/>
              <a:ext cx="0" cy="203"/>
            </a:xfrm>
            <a:prstGeom prst="line">
              <a:avLst/>
            </a:prstGeom>
            <a:noFill/>
            <a:ln w="28575">
              <a:solidFill>
                <a:srgbClr val="ACEAFE"/>
              </a:solidFill>
              <a:round/>
            </a:ln>
            <a:effectLst>
              <a:prstShdw prst="shdw17" dist="17961" dir="2700000">
                <a:srgbClr val="678C98"/>
              </a:prst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1036" name="Picture 37" descr="bj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911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" name="Rectangle 33"/>
          <p:cNvSpPr>
            <a:spLocks noChangeArrowheads="1"/>
          </p:cNvSpPr>
          <p:nvPr/>
        </p:nvSpPr>
        <p:spPr bwMode="auto">
          <a:xfrm>
            <a:off x="0" y="911225"/>
            <a:ext cx="12192000" cy="73025"/>
          </a:xfrm>
          <a:prstGeom prst="rect">
            <a:avLst/>
          </a:prstGeom>
          <a:gradFill rotWithShape="1">
            <a:gsLst>
              <a:gs pos="0">
                <a:srgbClr val="FF33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8" name="Rectangle 34"/>
          <p:cNvSpPr>
            <a:spLocks noChangeArrowheads="1"/>
          </p:cNvSpPr>
          <p:nvPr/>
        </p:nvSpPr>
        <p:spPr bwMode="auto">
          <a:xfrm>
            <a:off x="0" y="6173788"/>
            <a:ext cx="12192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FF3300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wmf"/><Relationship Id="rId8" Type="http://schemas.openxmlformats.org/officeDocument/2006/relationships/oleObject" Target="../embeddings/oleObject4.bin"/><Relationship Id="rId7" Type="http://schemas.openxmlformats.org/officeDocument/2006/relationships/image" Target="../media/image8.wmf"/><Relationship Id="rId6" Type="http://schemas.openxmlformats.org/officeDocument/2006/relationships/oleObject" Target="../embeddings/oleObject3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5" Type="http://schemas.openxmlformats.org/officeDocument/2006/relationships/notesSlide" Target="../notesSlides/notesSlide1.xml"/><Relationship Id="rId14" Type="http://schemas.openxmlformats.org/officeDocument/2006/relationships/vmlDrawing" Target="../drawings/vmlDrawing1.vml"/><Relationship Id="rId13" Type="http://schemas.openxmlformats.org/officeDocument/2006/relationships/slideLayout" Target="../slideLayouts/slideLayout4.xml"/><Relationship Id="rId12" Type="http://schemas.openxmlformats.org/officeDocument/2006/relationships/image" Target="../media/image11.png"/><Relationship Id="rId11" Type="http://schemas.openxmlformats.org/officeDocument/2006/relationships/image" Target="../media/image10.png"/><Relationship Id="rId10" Type="http://schemas.openxmlformats.org/officeDocument/2006/relationships/tags" Target="../tags/tag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2.wmf"/><Relationship Id="rId1" Type="http://schemas.openxmlformats.org/officeDocument/2006/relationships/control" Target="../activeX/activeX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4" Type="http://schemas.openxmlformats.org/officeDocument/2006/relationships/vmlDrawing" Target="../drawings/vmlDrawing4.vml"/><Relationship Id="rId53" Type="http://schemas.openxmlformats.org/officeDocument/2006/relationships/slideLayout" Target="../slideLayouts/slideLayout4.xml"/><Relationship Id="rId52" Type="http://schemas.openxmlformats.org/officeDocument/2006/relationships/tags" Target="../tags/tag49.xml"/><Relationship Id="rId51" Type="http://schemas.openxmlformats.org/officeDocument/2006/relationships/tags" Target="../tags/tag48.xml"/><Relationship Id="rId50" Type="http://schemas.openxmlformats.org/officeDocument/2006/relationships/tags" Target="../tags/tag47.xml"/><Relationship Id="rId5" Type="http://schemas.openxmlformats.org/officeDocument/2006/relationships/tags" Target="../tags/tag6.xml"/><Relationship Id="rId49" Type="http://schemas.openxmlformats.org/officeDocument/2006/relationships/tags" Target="../tags/tag46.xml"/><Relationship Id="rId48" Type="http://schemas.openxmlformats.org/officeDocument/2006/relationships/image" Target="../media/image16.wmf"/><Relationship Id="rId47" Type="http://schemas.openxmlformats.org/officeDocument/2006/relationships/oleObject" Target="../embeddings/oleObject7.bin"/><Relationship Id="rId46" Type="http://schemas.openxmlformats.org/officeDocument/2006/relationships/tags" Target="../tags/tag45.xml"/><Relationship Id="rId45" Type="http://schemas.openxmlformats.org/officeDocument/2006/relationships/image" Target="../media/image15.wmf"/><Relationship Id="rId44" Type="http://schemas.openxmlformats.org/officeDocument/2006/relationships/oleObject" Target="../embeddings/oleObject6.bin"/><Relationship Id="rId43" Type="http://schemas.openxmlformats.org/officeDocument/2006/relationships/tags" Target="../tags/tag44.xml"/><Relationship Id="rId42" Type="http://schemas.openxmlformats.org/officeDocument/2006/relationships/tags" Target="../tags/tag43.xml"/><Relationship Id="rId41" Type="http://schemas.openxmlformats.org/officeDocument/2006/relationships/tags" Target="../tags/tag42.xml"/><Relationship Id="rId40" Type="http://schemas.openxmlformats.org/officeDocument/2006/relationships/tags" Target="../tags/tag41.xml"/><Relationship Id="rId4" Type="http://schemas.openxmlformats.org/officeDocument/2006/relationships/tags" Target="../tags/tag5.xml"/><Relationship Id="rId39" Type="http://schemas.openxmlformats.org/officeDocument/2006/relationships/tags" Target="../tags/tag40.xml"/><Relationship Id="rId38" Type="http://schemas.openxmlformats.org/officeDocument/2006/relationships/tags" Target="../tags/tag39.xml"/><Relationship Id="rId37" Type="http://schemas.openxmlformats.org/officeDocument/2006/relationships/tags" Target="../tags/tag38.xml"/><Relationship Id="rId36" Type="http://schemas.openxmlformats.org/officeDocument/2006/relationships/tags" Target="../tags/tag37.xml"/><Relationship Id="rId35" Type="http://schemas.openxmlformats.org/officeDocument/2006/relationships/tags" Target="../tags/tag36.xml"/><Relationship Id="rId34" Type="http://schemas.openxmlformats.org/officeDocument/2006/relationships/tags" Target="../tags/tag35.xml"/><Relationship Id="rId33" Type="http://schemas.openxmlformats.org/officeDocument/2006/relationships/tags" Target="../tags/tag34.xml"/><Relationship Id="rId32" Type="http://schemas.openxmlformats.org/officeDocument/2006/relationships/tags" Target="../tags/tag33.xml"/><Relationship Id="rId31" Type="http://schemas.openxmlformats.org/officeDocument/2006/relationships/tags" Target="../tags/tag32.xml"/><Relationship Id="rId30" Type="http://schemas.openxmlformats.org/officeDocument/2006/relationships/tags" Target="../tags/tag31.xml"/><Relationship Id="rId3" Type="http://schemas.openxmlformats.org/officeDocument/2006/relationships/tags" Target="../tags/tag4.xml"/><Relationship Id="rId29" Type="http://schemas.openxmlformats.org/officeDocument/2006/relationships/tags" Target="../tags/tag30.xml"/><Relationship Id="rId28" Type="http://schemas.openxmlformats.org/officeDocument/2006/relationships/tags" Target="../tags/tag29.xml"/><Relationship Id="rId27" Type="http://schemas.openxmlformats.org/officeDocument/2006/relationships/tags" Target="../tags/tag28.xml"/><Relationship Id="rId26" Type="http://schemas.openxmlformats.org/officeDocument/2006/relationships/tags" Target="../tags/tag27.xml"/><Relationship Id="rId25" Type="http://schemas.openxmlformats.org/officeDocument/2006/relationships/tags" Target="../tags/tag26.xml"/><Relationship Id="rId24" Type="http://schemas.openxmlformats.org/officeDocument/2006/relationships/tags" Target="../tags/tag25.xml"/><Relationship Id="rId23" Type="http://schemas.openxmlformats.org/officeDocument/2006/relationships/tags" Target="../tags/tag24.xml"/><Relationship Id="rId22" Type="http://schemas.openxmlformats.org/officeDocument/2006/relationships/tags" Target="../tags/tag23.xml"/><Relationship Id="rId21" Type="http://schemas.openxmlformats.org/officeDocument/2006/relationships/tags" Target="../tags/tag22.xml"/><Relationship Id="rId20" Type="http://schemas.openxmlformats.org/officeDocument/2006/relationships/tags" Target="../tags/tag21.xml"/><Relationship Id="rId2" Type="http://schemas.openxmlformats.org/officeDocument/2006/relationships/tags" Target="../tags/tag3.xml"/><Relationship Id="rId19" Type="http://schemas.openxmlformats.org/officeDocument/2006/relationships/tags" Target="../tags/tag20.xml"/><Relationship Id="rId18" Type="http://schemas.openxmlformats.org/officeDocument/2006/relationships/tags" Target="../tags/tag19.xml"/><Relationship Id="rId17" Type="http://schemas.openxmlformats.org/officeDocument/2006/relationships/tags" Target="../tags/tag18.xml"/><Relationship Id="rId16" Type="http://schemas.openxmlformats.org/officeDocument/2006/relationships/tags" Target="../tags/tag17.xml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.bin"/><Relationship Id="rId8" Type="http://schemas.openxmlformats.org/officeDocument/2006/relationships/image" Target="../media/image20.wmf"/><Relationship Id="rId7" Type="http://schemas.openxmlformats.org/officeDocument/2006/relationships/oleObject" Target="../embeddings/oleObject11.bin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8.wmf"/><Relationship Id="rId3" Type="http://schemas.openxmlformats.org/officeDocument/2006/relationships/oleObject" Target="../embeddings/oleObject9.bin"/><Relationship Id="rId29" Type="http://schemas.openxmlformats.org/officeDocument/2006/relationships/vmlDrawing" Target="../drawings/vmlDrawing5.vml"/><Relationship Id="rId28" Type="http://schemas.openxmlformats.org/officeDocument/2006/relationships/slideLayout" Target="../slideLayouts/slideLayout12.xml"/><Relationship Id="rId27" Type="http://schemas.openxmlformats.org/officeDocument/2006/relationships/tags" Target="../tags/tag55.xml"/><Relationship Id="rId26" Type="http://schemas.openxmlformats.org/officeDocument/2006/relationships/tags" Target="../tags/tag54.xml"/><Relationship Id="rId25" Type="http://schemas.openxmlformats.org/officeDocument/2006/relationships/tags" Target="../tags/tag53.xml"/><Relationship Id="rId24" Type="http://schemas.openxmlformats.org/officeDocument/2006/relationships/tags" Target="../tags/tag52.xml"/><Relationship Id="rId23" Type="http://schemas.openxmlformats.org/officeDocument/2006/relationships/image" Target="../media/image16.wmf"/><Relationship Id="rId22" Type="http://schemas.openxmlformats.org/officeDocument/2006/relationships/oleObject" Target="../embeddings/oleObject17.bin"/><Relationship Id="rId21" Type="http://schemas.openxmlformats.org/officeDocument/2006/relationships/tags" Target="../tags/tag51.xml"/><Relationship Id="rId20" Type="http://schemas.openxmlformats.org/officeDocument/2006/relationships/image" Target="../media/image15.wmf"/><Relationship Id="rId2" Type="http://schemas.openxmlformats.org/officeDocument/2006/relationships/image" Target="../media/image17.wmf"/><Relationship Id="rId19" Type="http://schemas.openxmlformats.org/officeDocument/2006/relationships/oleObject" Target="../embeddings/oleObject16.bin"/><Relationship Id="rId18" Type="http://schemas.openxmlformats.org/officeDocument/2006/relationships/tags" Target="../tags/tag50.xml"/><Relationship Id="rId17" Type="http://schemas.openxmlformats.org/officeDocument/2006/relationships/image" Target="../media/image25.png"/><Relationship Id="rId16" Type="http://schemas.openxmlformats.org/officeDocument/2006/relationships/image" Target="../media/image24.wmf"/><Relationship Id="rId15" Type="http://schemas.openxmlformats.org/officeDocument/2006/relationships/oleObject" Target="../embeddings/oleObject15.bin"/><Relationship Id="rId14" Type="http://schemas.openxmlformats.org/officeDocument/2006/relationships/image" Target="../media/image23.wmf"/><Relationship Id="rId13" Type="http://schemas.openxmlformats.org/officeDocument/2006/relationships/oleObject" Target="../embeddings/oleObject14.bin"/><Relationship Id="rId12" Type="http://schemas.openxmlformats.org/officeDocument/2006/relationships/image" Target="../media/image22.wmf"/><Relationship Id="rId11" Type="http://schemas.openxmlformats.org/officeDocument/2006/relationships/oleObject" Target="../embeddings/oleObject13.bin"/><Relationship Id="rId10" Type="http://schemas.openxmlformats.org/officeDocument/2006/relationships/image" Target="../media/image21.wmf"/><Relationship Id="rId1" Type="http://schemas.openxmlformats.org/officeDocument/2006/relationships/oleObject" Target="../embeddings/oleObject8.bin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jpe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30.png"/><Relationship Id="rId3" Type="http://schemas.openxmlformats.org/officeDocument/2006/relationships/tags" Target="../tags/tag58.xml"/><Relationship Id="rId2" Type="http://schemas.openxmlformats.org/officeDocument/2006/relationships/image" Target="../media/image29.wmf"/><Relationship Id="rId1" Type="http://schemas.openxmlformats.org/officeDocument/2006/relationships/oleObject" Target="../embeddings/oleObject18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2.jpe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tags" Target="../tags/tag61.xml"/><Relationship Id="rId4" Type="http://schemas.openxmlformats.org/officeDocument/2006/relationships/image" Target="../media/image34.png"/><Relationship Id="rId3" Type="http://schemas.openxmlformats.org/officeDocument/2006/relationships/tags" Target="../tags/tag60.xml"/><Relationship Id="rId2" Type="http://schemas.openxmlformats.org/officeDocument/2006/relationships/image" Target="../media/image33.png"/><Relationship Id="rId1" Type="http://schemas.openxmlformats.org/officeDocument/2006/relationships/tags" Target="../tags/tag59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1" Type="http://schemas.openxmlformats.org/officeDocument/2006/relationships/tags" Target="../tags/tag6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image" Target="../media/image39.wmf"/><Relationship Id="rId7" Type="http://schemas.openxmlformats.org/officeDocument/2006/relationships/oleObject" Target="../embeddings/oleObject21.bin"/><Relationship Id="rId6" Type="http://schemas.openxmlformats.org/officeDocument/2006/relationships/tags" Target="../tags/tag64.xml"/><Relationship Id="rId5" Type="http://schemas.openxmlformats.org/officeDocument/2006/relationships/image" Target="../media/image38.wmf"/><Relationship Id="rId4" Type="http://schemas.openxmlformats.org/officeDocument/2006/relationships/oleObject" Target="../embeddings/oleObject20.bin"/><Relationship Id="rId3" Type="http://schemas.openxmlformats.org/officeDocument/2006/relationships/tags" Target="../tags/tag63.xml"/><Relationship Id="rId2" Type="http://schemas.openxmlformats.org/officeDocument/2006/relationships/image" Target="../media/image37.emf"/><Relationship Id="rId13" Type="http://schemas.openxmlformats.org/officeDocument/2006/relationships/vmlDrawing" Target="../drawings/vmlDrawing7.v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40.wmf"/><Relationship Id="rId10" Type="http://schemas.openxmlformats.org/officeDocument/2006/relationships/oleObject" Target="../embeddings/oleObject22.bin"/><Relationship Id="rId1" Type="http://schemas.openxmlformats.org/officeDocument/2006/relationships/oleObject" Target="../embeddings/oleObject19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emf"/><Relationship Id="rId1" Type="http://schemas.openxmlformats.org/officeDocument/2006/relationships/oleObject" Target="../embeddings/oleObject23.bin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2.emf"/><Relationship Id="rId1" Type="http://schemas.openxmlformats.org/officeDocument/2006/relationships/oleObject" Target="../embeddings/oleObject2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098" name="Picture 2" descr="图片1a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7937" y="549275"/>
            <a:ext cx="12199937" cy="5832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9" name="Rectangle 4"/>
          <p:cNvSpPr/>
          <p:nvPr/>
        </p:nvSpPr>
        <p:spPr>
          <a:xfrm>
            <a:off x="0" y="6115050"/>
            <a:ext cx="12192000" cy="773113"/>
          </a:xfrm>
          <a:prstGeom prst="rect">
            <a:avLst/>
          </a:prstGeom>
          <a:solidFill>
            <a:srgbClr val="008080"/>
          </a:solidFill>
          <a:ln w="9525">
            <a:noFill/>
          </a:ln>
        </p:spPr>
        <p:txBody>
          <a:bodyPr wrap="none"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6858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100" i="1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                                                   </a:t>
            </a:r>
            <a:endParaRPr lang="en-US" altLang="zh-CN" sz="2100" i="1" dirty="0">
              <a:solidFill>
                <a:srgbClr val="000066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4100" name="Rectangle 5"/>
          <p:cNvSpPr/>
          <p:nvPr/>
        </p:nvSpPr>
        <p:spPr>
          <a:xfrm>
            <a:off x="-7937" y="0"/>
            <a:ext cx="12199937" cy="774700"/>
          </a:xfrm>
          <a:prstGeom prst="rect">
            <a:avLst/>
          </a:prstGeom>
          <a:solidFill>
            <a:srgbClr val="008080"/>
          </a:solidFill>
          <a:ln w="9525">
            <a:noFill/>
          </a:ln>
        </p:spPr>
        <p:txBody>
          <a:bodyPr wrap="none"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6858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rgbClr val="00808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4101" name="WordArt 8"/>
          <p:cNvSpPr>
            <a:spLocks noTextEdit="1"/>
          </p:cNvSpPr>
          <p:nvPr/>
        </p:nvSpPr>
        <p:spPr>
          <a:xfrm>
            <a:off x="5422900" y="4491038"/>
            <a:ext cx="3095625" cy="377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30000"/>
          </a:bodyPr>
          <a:p>
            <a:pPr algn="ctr"/>
            <a:r>
              <a:rPr lang="zh-CN" altLang="en-US" sz="2700">
                <a:solidFill>
                  <a:srgbClr val="000066"/>
                </a:solidFill>
                <a:effectLst>
                  <a:prstShdw prst="shdw13" dist="53882" dir="13499999">
                    <a:srgbClr val="808080">
                      <a:alpha val="50000"/>
                    </a:srgbClr>
                  </a:prstShdw>
                </a:effectLst>
                <a:latin typeface="+mn-ea"/>
                <a:ea typeface="+mn-ea"/>
              </a:rPr>
              <a:t>物理实验（一）</a:t>
            </a:r>
            <a:endParaRPr lang="zh-CN" altLang="en-US" sz="2700">
              <a:solidFill>
                <a:srgbClr val="000066"/>
              </a:solidFill>
              <a:effectLst>
                <a:prstShdw prst="shdw13" dist="53882" dir="13499999">
                  <a:srgbClr val="808080">
                    <a:alpha val="50000"/>
                  </a:srgbClr>
                </a:prstShdw>
              </a:effectLst>
              <a:latin typeface="+mn-ea"/>
              <a:ea typeface="+mn-ea"/>
            </a:endParaRPr>
          </a:p>
          <a:p>
            <a:pPr algn="ctr"/>
            <a:r>
              <a:rPr lang="en-US" altLang="zh-CN" sz="2700">
                <a:solidFill>
                  <a:srgbClr val="000066"/>
                </a:solidFill>
                <a:effectLst>
                  <a:prstShdw prst="shdw13" dist="53882" dir="13499999">
                    <a:srgbClr val="808080">
                      <a:alpha val="50000"/>
                    </a:srgbClr>
                  </a:prstShdw>
                </a:effectLst>
                <a:latin typeface="+mn-ea"/>
                <a:ea typeface="+mn-ea"/>
              </a:rPr>
              <a:t>2023.05</a:t>
            </a:r>
            <a:endParaRPr lang="en-US" altLang="zh-CN" sz="2700">
              <a:solidFill>
                <a:srgbClr val="000066"/>
              </a:solidFill>
              <a:effectLst>
                <a:prstShdw prst="shdw13" dist="53882" dir="13499999">
                  <a:srgbClr val="808080">
                    <a:alpha val="50000"/>
                  </a:srgbClr>
                </a:prstShdw>
              </a:effectLst>
              <a:latin typeface="+mn-ea"/>
              <a:ea typeface="+mn-ea"/>
            </a:endParaRPr>
          </a:p>
        </p:txBody>
      </p:sp>
      <p:sp>
        <p:nvSpPr>
          <p:cNvPr id="4102" name="WordArt 9"/>
          <p:cNvSpPr>
            <a:spLocks noTextEdit="1"/>
          </p:cNvSpPr>
          <p:nvPr/>
        </p:nvSpPr>
        <p:spPr>
          <a:xfrm>
            <a:off x="5422900" y="2687638"/>
            <a:ext cx="4362450" cy="11731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593"/>
              </a:avLst>
            </a:prstTxWarp>
            <a:normAutofit/>
          </a:bodyPr>
          <a:p>
            <a:pPr algn="l"/>
            <a:r>
              <a:rPr lang="zh-CN" altLang="en-US" sz="2700">
                <a:solidFill>
                  <a:srgbClr val="002060"/>
                </a:solidFill>
                <a:effectLst>
                  <a:outerShdw dist="38100" dir="2699999" algn="tl" rotWithShape="0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等厚干涉</a:t>
            </a:r>
            <a:endParaRPr lang="zh-CN" altLang="en-US" sz="2700">
              <a:solidFill>
                <a:srgbClr val="002060"/>
              </a:solidFill>
              <a:effectLst>
                <a:outerShdw dist="38100" dir="2699999" algn="tl" rotWithShape="0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103" name="WordArt 8"/>
          <p:cNvSpPr>
            <a:spLocks noTextEdit="1"/>
          </p:cNvSpPr>
          <p:nvPr/>
        </p:nvSpPr>
        <p:spPr>
          <a:xfrm>
            <a:off x="5546725" y="4400550"/>
            <a:ext cx="3095625" cy="6223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/>
            <a:endParaRPr lang="zh-CN" altLang="en-US" sz="2700">
              <a:solidFill>
                <a:srgbClr val="000066"/>
              </a:solidFill>
              <a:effectLst>
                <a:prstShdw prst="shdw13" dist="53882" dir="13499999">
                  <a:srgbClr val="808080">
                    <a:alpha val="50000"/>
                  </a:srgbClr>
                </a:prstShdw>
              </a:effectLst>
              <a:latin typeface="+mn-ea"/>
              <a:ea typeface="+mn-ea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Text Box 2"/>
          <p:cNvSpPr txBox="1"/>
          <p:nvPr/>
        </p:nvSpPr>
        <p:spPr>
          <a:xfrm>
            <a:off x="192088" y="222250"/>
            <a:ext cx="3344862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今日提问</a:t>
            </a:r>
            <a:r>
              <a:rPr lang="en-US" altLang="zh-CN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sz="3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3" name="Rectangle 6"/>
          <p:cNvSpPr/>
          <p:nvPr/>
        </p:nvSpPr>
        <p:spPr>
          <a:xfrm>
            <a:off x="1890713" y="1431925"/>
            <a:ext cx="7272337" cy="33229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514350" lvl="0" indent="-514350" defTabSz="457200" eaLnBrk="1" hangingPunct="1">
              <a:lnSpc>
                <a:spcPct val="150000"/>
              </a:lnSpc>
              <a:spcBef>
                <a:spcPct val="0"/>
              </a:spcBef>
              <a:buFont typeface="Calibri Light" panose="020F0302020204030204" pitchFamily="34" charset="0"/>
              <a:buAutoNum type="arabicPeriod"/>
            </a:pPr>
            <a:r>
              <a:rPr lang="zh-CN" altLang="en-US" b="1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光的干涉形成的条件是什么？</a:t>
            </a:r>
            <a:endParaRPr lang="en-US" altLang="zh-CN" b="1" dirty="0">
              <a:solidFill>
                <a:srgbClr val="00206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514350" lvl="0" indent="-514350" defTabSz="457200" eaLnBrk="1" hangingPunct="1">
              <a:lnSpc>
                <a:spcPct val="150000"/>
              </a:lnSpc>
              <a:spcBef>
                <a:spcPct val="0"/>
              </a:spcBef>
              <a:buFont typeface="Calibri Light" panose="020F0302020204030204" pitchFamily="34" charset="0"/>
              <a:buAutoNum type="arabicPeriod"/>
            </a:pPr>
            <a:r>
              <a:rPr lang="zh-CN" altLang="en-US" b="1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干涉条纹明纹与暗纹的条件是什么？</a:t>
            </a:r>
            <a:endParaRPr lang="zh-CN" altLang="en-US" b="1" dirty="0">
              <a:solidFill>
                <a:srgbClr val="00206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514350" lvl="0" indent="-514350" defTabSz="457200" eaLnBrk="1" hangingPunct="1">
              <a:lnSpc>
                <a:spcPct val="150000"/>
              </a:lnSpc>
              <a:spcBef>
                <a:spcPct val="0"/>
              </a:spcBef>
              <a:buFont typeface="Calibri Light" panose="020F0302020204030204" pitchFamily="34" charset="0"/>
              <a:buAutoNum type="arabicPeriod"/>
            </a:pPr>
            <a:r>
              <a:rPr lang="zh-CN" altLang="en-US" b="1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如何消除显微镜的视差？</a:t>
            </a:r>
            <a:endParaRPr lang="en-US" altLang="zh-CN" b="1" dirty="0">
              <a:solidFill>
                <a:srgbClr val="00206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514350" lvl="0" indent="-514350" defTabSz="457200" eaLnBrk="1" hangingPunct="1">
              <a:lnSpc>
                <a:spcPct val="150000"/>
              </a:lnSpc>
              <a:spcBef>
                <a:spcPct val="0"/>
              </a:spcBef>
              <a:buFont typeface="Calibri Light" panose="020F0302020204030204" pitchFamily="34" charset="0"/>
              <a:buAutoNum type="arabicPeriod"/>
            </a:pPr>
            <a:r>
              <a:rPr lang="zh-CN" altLang="en-US" b="1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怎么样消除螺旋测微器的空程差？                                 </a:t>
            </a:r>
            <a:endParaRPr lang="zh-CN" altLang="en-US" b="1" dirty="0">
              <a:solidFill>
                <a:srgbClr val="00206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514350" lvl="0" indent="-514350" defTabSz="457200" eaLnBrk="1" hangingPunct="1">
              <a:lnSpc>
                <a:spcPct val="150000"/>
              </a:lnSpc>
              <a:spcBef>
                <a:spcPct val="0"/>
              </a:spcBef>
              <a:buFont typeface="Calibri Light" panose="020F0302020204030204" pitchFamily="34" charset="0"/>
              <a:buAutoNum type="arabicPeriod"/>
            </a:pPr>
            <a:endParaRPr lang="zh-CN" altLang="en-US" b="1" dirty="0">
              <a:solidFill>
                <a:srgbClr val="00206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标题 1"/>
          <p:cNvSpPr>
            <a:spLocks noGrp="1"/>
          </p:cNvSpPr>
          <p:nvPr>
            <p:ph type="title"/>
          </p:nvPr>
        </p:nvSpPr>
        <p:spPr>
          <a:xfrm>
            <a:off x="146050" y="203200"/>
            <a:ext cx="2376488" cy="706438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历史背景</a:t>
            </a:r>
            <a:endParaRPr lang="zh-CN" altLang="en-US" sz="3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47" name="内容占位符 2"/>
          <p:cNvSpPr>
            <a:spLocks noGrp="1"/>
          </p:cNvSpPr>
          <p:nvPr>
            <p:ph idx="1"/>
          </p:nvPr>
        </p:nvSpPr>
        <p:spPr>
          <a:xfrm>
            <a:off x="407988" y="1204913"/>
            <a:ext cx="10656887" cy="1647825"/>
          </a:xfrm>
        </p:spPr>
        <p:txBody>
          <a:bodyPr vert="horz" wrap="square" lIns="91440" tIns="45720" rIns="91440" bIns="45720" anchor="t" anchorCtr="0"/>
          <a:p>
            <a:pPr marL="0" indent="457200" eaLnBrk="1" hangingPunct="1">
              <a:buNone/>
            </a:pPr>
            <a:r>
              <a:rPr lang="zh-CN" altLang="en-US" b="1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牛顿环是牛顿在</a:t>
            </a:r>
            <a:r>
              <a:rPr lang="en-US" altLang="zh-CN" b="1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1675</a:t>
            </a:r>
            <a:r>
              <a:rPr lang="zh-CN" altLang="en-US" b="1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年首先观察到的。将一块</a:t>
            </a:r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曲率半径较大</a:t>
            </a:r>
            <a:r>
              <a:rPr lang="zh-CN" altLang="en-US" b="1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的平凸透镜放在一块玻璃平板上，用</a:t>
            </a:r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单色光</a:t>
            </a:r>
            <a:r>
              <a:rPr lang="zh-CN" altLang="en-US" b="1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照射透镜与玻璃板，就可以观察到一些明暗相间的同心圆环。</a:t>
            </a:r>
            <a:endParaRPr lang="zh-CN" altLang="en-US" b="1" dirty="0">
              <a:solidFill>
                <a:srgbClr val="00206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457200" eaLnBrk="1" hangingPunct="1">
              <a:buNone/>
            </a:pPr>
            <a:r>
              <a:rPr lang="zh-CN" altLang="en-US" dirty="0">
                <a:ea typeface="黑体" panose="02010609060101010101" pitchFamily="2" charset="-122"/>
                <a:sym typeface="+mn-ea"/>
              </a:rPr>
              <a:t>这一原理在实际工作中有很多应用，除了本实验用来测量透镜的曲率半径外，最典型的是在光学元件生产中用它来检验光学表面的加工质量，如光洁度和平面度等。</a:t>
            </a:r>
            <a:endParaRPr lang="zh-CN" altLang="en-US" b="1" dirty="0">
              <a:solidFill>
                <a:srgbClr val="00206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6148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5775" y="3716973"/>
            <a:ext cx="3338513" cy="24399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9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370" y="3572828"/>
            <a:ext cx="2600325" cy="25384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标题 1"/>
          <p:cNvSpPr>
            <a:spLocks noGrp="1"/>
          </p:cNvSpPr>
          <p:nvPr>
            <p:ph type="title"/>
          </p:nvPr>
        </p:nvSpPr>
        <p:spPr>
          <a:xfrm>
            <a:off x="192088" y="188913"/>
            <a:ext cx="2952750" cy="687387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实验目的</a:t>
            </a:r>
            <a:endParaRPr lang="zh-CN" altLang="en-US" sz="3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1" name="内容占位符 2"/>
          <p:cNvSpPr>
            <a:spLocks noGrp="1"/>
          </p:cNvSpPr>
          <p:nvPr>
            <p:ph idx="1"/>
          </p:nvPr>
        </p:nvSpPr>
        <p:spPr>
          <a:xfrm>
            <a:off x="695325" y="1196975"/>
            <a:ext cx="6985000" cy="1603375"/>
          </a:xfrm>
        </p:spPr>
        <p:txBody>
          <a:bodyPr vert="horz" wrap="square" lIns="91440" tIns="45720" rIns="91440" bIns="45720" anchor="t" anchorCtr="0"/>
          <a:p>
            <a:pPr marL="514350" indent="-431800" eaLnBrk="1" hangingPunct="1">
              <a:buFont typeface="Calibri Light" panose="020F0302020204030204" pitchFamily="34" charset="0"/>
              <a:buAutoNum type="arabicPeriod"/>
            </a:pPr>
            <a:r>
              <a:rPr lang="zh-CN" altLang="en-US" b="1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了解读数显微镜的调节和使用</a:t>
            </a:r>
            <a:endParaRPr lang="en-US" altLang="zh-CN" b="1" dirty="0">
              <a:solidFill>
                <a:srgbClr val="00206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514350" indent="-431800" eaLnBrk="1" hangingPunct="1">
              <a:buFont typeface="Calibri Light" panose="020F0302020204030204" pitchFamily="34" charset="0"/>
              <a:buAutoNum type="arabicPeriod"/>
            </a:pPr>
            <a:r>
              <a:rPr lang="zh-CN" altLang="en-US" b="1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利用等厚干涉图像测量玻璃的曲率半径</a:t>
            </a:r>
            <a:endParaRPr lang="en-US" altLang="zh-CN" b="1" dirty="0">
              <a:solidFill>
                <a:srgbClr val="00206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514350" indent="-431800" eaLnBrk="1" hangingPunct="1">
              <a:buFont typeface="Calibri Light" panose="020F0302020204030204" pitchFamily="34" charset="0"/>
              <a:buAutoNum type="arabicPeriod"/>
            </a:pPr>
            <a:r>
              <a:rPr lang="zh-CN" altLang="en-US" b="1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学习使用逐差法处理数据</a:t>
            </a:r>
            <a:endParaRPr lang="zh-CN" altLang="en-US" b="1" dirty="0">
              <a:solidFill>
                <a:srgbClr val="00206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Text Box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335280" y="1052830"/>
            <a:ext cx="6868795" cy="5187315"/>
          </a:xfrm>
          <a:prstGeom prst="rect">
            <a:avLst/>
          </a:prstGeom>
          <a:blipFill>
            <a:blip r:embed="rId1"/>
            <a:stretch>
              <a:fillRect l="-1618" t="-2157" r="-1541" b="-4510"/>
            </a:stretch>
          </a:blipFill>
          <a:ln>
            <a:noFill/>
          </a:ln>
        </p:spPr>
        <p:txBody>
          <a:bodyPr/>
          <a:lstStyle/>
          <a:p>
            <a:pPr marR="0" defTabSz="4572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noFill/>
                <a:latin typeface="Calibri" panose="020F0502020204030204" pitchFamily="34" charset="0"/>
                <a:ea typeface="+mn-ea"/>
                <a:cs typeface="+mn-cs"/>
              </a:rPr>
              <a:t> </a:t>
            </a:r>
            <a:endParaRPr kumimoji="0" lang="zh-CN" altLang="en-US" b="1" kern="1200" cap="none" spc="0" normalizeH="0" baseline="0" noProof="0" dirty="0">
              <a:solidFill>
                <a:srgbClr val="00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8195" name="Text Box 62"/>
          <p:cNvSpPr txBox="1"/>
          <p:nvPr/>
        </p:nvSpPr>
        <p:spPr>
          <a:xfrm>
            <a:off x="6086475" y="6673850"/>
            <a:ext cx="115252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50000"/>
              </a:spcBef>
              <a:buNone/>
            </a:pPr>
            <a:endParaRPr lang="zh-CN" altLang="zh-CN" sz="18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6" name="Text Box 48"/>
          <p:cNvSpPr txBox="1"/>
          <p:nvPr/>
        </p:nvSpPr>
        <p:spPr>
          <a:xfrm>
            <a:off x="11764963" y="4724400"/>
            <a:ext cx="48101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8199" name="Object 84"/>
          <p:cNvGraphicFramePr>
            <a:graphicFrameLocks noGrp="1"/>
          </p:cNvGraphicFramePr>
          <p:nvPr>
            <p:ph sz="half" idx="1"/>
          </p:nvPr>
        </p:nvGraphicFramePr>
        <p:xfrm>
          <a:off x="7648575" y="2989580"/>
          <a:ext cx="1690688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2" imgW="885190" imgH="107315" progId="Equation.3">
                  <p:embed/>
                </p:oleObj>
              </mc:Choice>
              <mc:Fallback>
                <p:oleObj name="" r:id="rId2" imgW="885190" imgH="107315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FFFFFF"/>
                          </a:clrFrom>
                          <a:clrTo>
                            <a:srgbClr val="0066FF"/>
                          </a:clrTo>
                        </a:clrChange>
                        <a:clrChange>
                          <a:clrFrom>
                            <a:srgbClr val="000000"/>
                          </a:clrFrom>
                          <a:clrTo>
                            <a:srgbClr val="0066FF"/>
                          </a:clrTo>
                        </a:clrChange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7648575" y="2989580"/>
                        <a:ext cx="1690688" cy="39846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00" name="Group 118"/>
          <p:cNvGrpSpPr/>
          <p:nvPr/>
        </p:nvGrpSpPr>
        <p:grpSpPr>
          <a:xfrm>
            <a:off x="7712075" y="227330"/>
            <a:ext cx="4105275" cy="4105275"/>
            <a:chOff x="3016" y="572"/>
            <a:chExt cx="2586" cy="2586"/>
          </a:xfrm>
        </p:grpSpPr>
        <p:sp>
          <p:nvSpPr>
            <p:cNvPr id="8205" name="AutoShape 93"/>
            <p:cNvSpPr/>
            <p:nvPr/>
          </p:nvSpPr>
          <p:spPr>
            <a:xfrm rot="10800000">
              <a:off x="3018" y="2478"/>
              <a:ext cx="2221" cy="49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21600">
                  <a:moveTo>
                    <a:pt x="10620" y="10800"/>
                  </a:moveTo>
                  <a:cubicBezTo>
                    <a:pt x="10620" y="10700"/>
                    <a:pt x="10700" y="10620"/>
                    <a:pt x="10800" y="10620"/>
                  </a:cubicBezTo>
                  <a:cubicBezTo>
                    <a:pt x="10899" y="10619"/>
                    <a:pt x="10979" y="10700"/>
                    <a:pt x="1098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lnTo>
                    <a:pt x="10620" y="10800"/>
                  </a:lnTo>
                  <a:close/>
                </a:path>
              </a:pathLst>
            </a:custGeom>
            <a:solidFill>
              <a:srgbClr val="CCFFFF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06" name="Rectangle 97"/>
            <p:cNvSpPr/>
            <p:nvPr/>
          </p:nvSpPr>
          <p:spPr>
            <a:xfrm>
              <a:off x="3016" y="2976"/>
              <a:ext cx="2223" cy="182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4572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zh-CN" altLang="en-US" sz="1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8207" name="Group 117"/>
            <p:cNvGrpSpPr/>
            <p:nvPr/>
          </p:nvGrpSpPr>
          <p:grpSpPr>
            <a:xfrm>
              <a:off x="3469" y="572"/>
              <a:ext cx="2133" cy="2541"/>
              <a:chOff x="3469" y="572"/>
              <a:chExt cx="2133" cy="2541"/>
            </a:xfrm>
          </p:grpSpPr>
          <p:sp>
            <p:nvSpPr>
              <p:cNvPr id="8208" name="Arc 11"/>
              <p:cNvSpPr/>
              <p:nvPr/>
            </p:nvSpPr>
            <p:spPr>
              <a:xfrm flipV="1">
                <a:off x="3469" y="1798"/>
                <a:ext cx="1951" cy="1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1600" h="1623" fill="none">
                    <a:moveTo>
                      <a:pt x="21538" y="0"/>
                    </a:moveTo>
                    <a:cubicBezTo>
                      <a:pt x="21579" y="540"/>
                      <a:pt x="21600" y="1081"/>
                      <a:pt x="21600" y="1623"/>
                    </a:cubicBezTo>
                  </a:path>
                  <a:path w="21600" h="1623" stroke="0">
                    <a:moveTo>
                      <a:pt x="21538" y="0"/>
                    </a:moveTo>
                    <a:cubicBezTo>
                      <a:pt x="21579" y="540"/>
                      <a:pt x="21600" y="1081"/>
                      <a:pt x="21600" y="1623"/>
                    </a:cubicBezTo>
                    <a:lnTo>
                      <a:pt x="0" y="1623"/>
                    </a:lnTo>
                    <a:lnTo>
                      <a:pt x="2153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209" name="Line 36"/>
              <p:cNvSpPr/>
              <p:nvPr/>
            </p:nvSpPr>
            <p:spPr>
              <a:xfrm>
                <a:off x="4694" y="2886"/>
                <a:ext cx="907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10" name="Line 38"/>
              <p:cNvSpPr/>
              <p:nvPr/>
            </p:nvSpPr>
            <p:spPr>
              <a:xfrm>
                <a:off x="5148" y="2977"/>
                <a:ext cx="45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11" name="Line 45"/>
              <p:cNvSpPr/>
              <p:nvPr/>
            </p:nvSpPr>
            <p:spPr>
              <a:xfrm>
                <a:off x="5420" y="2704"/>
                <a:ext cx="0" cy="18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212" name="Line 46"/>
              <p:cNvSpPr/>
              <p:nvPr/>
            </p:nvSpPr>
            <p:spPr>
              <a:xfrm flipV="1">
                <a:off x="5420" y="2976"/>
                <a:ext cx="0" cy="13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213" name="Text Box 49"/>
              <p:cNvSpPr txBox="1"/>
              <p:nvPr/>
            </p:nvSpPr>
            <p:spPr>
              <a:xfrm>
                <a:off x="4513" y="1521"/>
                <a:ext cx="27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228600" indent="-228600" algn="l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defTabSz="457200" eaLnBrk="1" hangingPunct="1">
                  <a:lnSpc>
                    <a:spcPct val="100000"/>
                  </a:lnSpc>
                  <a:spcBef>
                    <a:spcPct val="50000"/>
                  </a:spcBef>
                  <a:buNone/>
                </a:pPr>
                <a:r>
                  <a:rPr lang="en-US" altLang="zh-CN" sz="1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endParaRPr lang="en-US" altLang="zh-CN" sz="18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14" name="Text Box 50"/>
              <p:cNvSpPr txBox="1"/>
              <p:nvPr/>
            </p:nvSpPr>
            <p:spPr>
              <a:xfrm>
                <a:off x="3606" y="1525"/>
                <a:ext cx="499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228600" indent="-228600" algn="l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defTabSz="457200" eaLnBrk="1" hangingPunct="1">
                  <a:lnSpc>
                    <a:spcPct val="100000"/>
                  </a:lnSpc>
                  <a:spcBef>
                    <a:spcPct val="50000"/>
                  </a:spcBef>
                  <a:buNone/>
                </a:pPr>
                <a:r>
                  <a:rPr lang="en-US" altLang="zh-CN" sz="1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r>
                  <a:rPr lang="zh-CN" altLang="en-US" sz="1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－</a:t>
                </a:r>
                <a:r>
                  <a:rPr lang="en-US" altLang="zh-CN" sz="1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endParaRPr lang="en-US" altLang="zh-CN" sz="18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15" name="Line 51"/>
              <p:cNvSpPr/>
              <p:nvPr/>
            </p:nvSpPr>
            <p:spPr>
              <a:xfrm>
                <a:off x="4104" y="2886"/>
                <a:ext cx="681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16" name="Line 60"/>
              <p:cNvSpPr/>
              <p:nvPr/>
            </p:nvSpPr>
            <p:spPr>
              <a:xfrm>
                <a:off x="5012" y="572"/>
                <a:ext cx="0" cy="1044"/>
              </a:xfrm>
              <a:prstGeom prst="line">
                <a:avLst/>
              </a:prstGeom>
              <a:ln w="9525" cap="flat" cmpd="sng">
                <a:solidFill>
                  <a:srgbClr val="FF9900"/>
                </a:solidFill>
                <a:prstDash val="solid"/>
                <a:headEnd type="none" w="med" len="med"/>
                <a:tailEnd type="triangle" w="med" len="med"/>
              </a:ln>
            </p:spPr>
          </p:sp>
          <p:graphicFrame>
            <p:nvGraphicFramePr>
              <p:cNvPr id="8217" name="Object 66"/>
              <p:cNvGraphicFramePr/>
              <p:nvPr/>
            </p:nvGraphicFramePr>
            <p:xfrm>
              <a:off x="5103" y="2069"/>
              <a:ext cx="195" cy="2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90" name="" r:id="rId4" imgW="165100" imgH="190500" progId="Equation.3">
                      <p:embed/>
                    </p:oleObj>
                  </mc:Choice>
                  <mc:Fallback>
                    <p:oleObj name="" r:id="rId4" imgW="165100" imgH="190500" progId="Equation.3">
                      <p:embed/>
                      <p:pic>
                        <p:nvPicPr>
                          <p:cNvPr id="0" name="图片 3089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5103" y="2069"/>
                            <a:ext cx="195" cy="22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20" name="Object 89"/>
              <p:cNvGraphicFramePr/>
              <p:nvPr/>
            </p:nvGraphicFramePr>
            <p:xfrm>
              <a:off x="4740" y="2072"/>
              <a:ext cx="226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91" name="" r:id="rId6" imgW="152400" imgH="190500" progId="Equation.3">
                      <p:embed/>
                    </p:oleObj>
                  </mc:Choice>
                  <mc:Fallback>
                    <p:oleObj name="" r:id="rId6" imgW="152400" imgH="190500" progId="Equation.3">
                      <p:embed/>
                      <p:pic>
                        <p:nvPicPr>
                          <p:cNvPr id="0" name="图片 3090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4740" y="2072"/>
                            <a:ext cx="226" cy="22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221" name="Line 95"/>
              <p:cNvSpPr/>
              <p:nvPr/>
            </p:nvSpPr>
            <p:spPr>
              <a:xfrm>
                <a:off x="4105" y="573"/>
                <a:ext cx="0" cy="231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22" name="Line 100"/>
              <p:cNvSpPr/>
              <p:nvPr/>
            </p:nvSpPr>
            <p:spPr>
              <a:xfrm>
                <a:off x="4105" y="573"/>
                <a:ext cx="862" cy="231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23" name="Line 101"/>
              <p:cNvSpPr/>
              <p:nvPr/>
            </p:nvSpPr>
            <p:spPr>
              <a:xfrm flipH="1">
                <a:off x="4105" y="2886"/>
                <a:ext cx="86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24" name="Line 105"/>
              <p:cNvSpPr/>
              <p:nvPr/>
            </p:nvSpPr>
            <p:spPr>
              <a:xfrm>
                <a:off x="4967" y="2886"/>
                <a:ext cx="45" cy="91"/>
              </a:xfrm>
              <a:prstGeom prst="line">
                <a:avLst/>
              </a:prstGeom>
              <a:ln w="9525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25" name="Line 106"/>
              <p:cNvSpPr/>
              <p:nvPr/>
            </p:nvSpPr>
            <p:spPr>
              <a:xfrm flipV="1">
                <a:off x="5012" y="2886"/>
                <a:ext cx="45" cy="91"/>
              </a:xfrm>
              <a:prstGeom prst="line">
                <a:avLst/>
              </a:prstGeom>
              <a:ln w="9525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26" name="Line 107"/>
              <p:cNvSpPr/>
              <p:nvPr/>
            </p:nvSpPr>
            <p:spPr>
              <a:xfrm flipV="1">
                <a:off x="4967" y="1752"/>
                <a:ext cx="0" cy="1134"/>
              </a:xfrm>
              <a:prstGeom prst="line">
                <a:avLst/>
              </a:prstGeom>
              <a:ln w="9525" cap="flat" cmpd="sng">
                <a:solidFill>
                  <a:srgbClr val="FF99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227" name="Line 108"/>
              <p:cNvSpPr/>
              <p:nvPr/>
            </p:nvSpPr>
            <p:spPr>
              <a:xfrm flipV="1">
                <a:off x="5057" y="1752"/>
                <a:ext cx="0" cy="1134"/>
              </a:xfrm>
              <a:prstGeom prst="line">
                <a:avLst/>
              </a:prstGeom>
              <a:ln w="9525" cap="flat" cmpd="sng">
                <a:solidFill>
                  <a:srgbClr val="FF9900"/>
                </a:solidFill>
                <a:prstDash val="solid"/>
                <a:headEnd type="none" w="med" len="med"/>
                <a:tailEnd type="triangle" w="med" len="med"/>
              </a:ln>
            </p:spPr>
          </p:sp>
          <p:graphicFrame>
            <p:nvGraphicFramePr>
              <p:cNvPr id="8228" name="Object 110"/>
              <p:cNvGraphicFramePr/>
              <p:nvPr/>
            </p:nvGraphicFramePr>
            <p:xfrm>
              <a:off x="4377" y="2614"/>
              <a:ext cx="286" cy="3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9" name="" r:id="rId8" imgW="139700" imgH="228600" progId="Equation.3">
                      <p:embed/>
                    </p:oleObj>
                  </mc:Choice>
                  <mc:Fallback>
                    <p:oleObj name="" r:id="rId8" imgW="139700" imgH="228600" progId="Equation.3">
                      <p:embed/>
                      <p:pic>
                        <p:nvPicPr>
                          <p:cNvPr id="0" name="图片 3088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4377" y="2614"/>
                            <a:ext cx="286" cy="38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" name="Text Box 49"/>
              <p:cNvSpPr txBox="1"/>
              <p:nvPr/>
            </p:nvSpPr>
            <p:spPr>
              <a:xfrm>
                <a:off x="4967" y="726"/>
                <a:ext cx="41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>
                <a:lvl1pPr marL="228600" indent="-228600" algn="l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defTabSz="457200" eaLnBrk="1" hangingPunct="1">
                  <a:lnSpc>
                    <a:spcPct val="100000"/>
                  </a:lnSpc>
                  <a:spcBef>
                    <a:spcPct val="50000"/>
                  </a:spcBef>
                  <a:buNone/>
                </a:pPr>
                <a:r>
                  <a:rPr lang="en-US" altLang="zh-CN" sz="1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sz="1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pic>
        <p:nvPicPr>
          <p:cNvPr id="8202" name="Picture 15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009255" y="4475480"/>
            <a:ext cx="3087370" cy="25323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03" name="图片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66200" y="3667443"/>
            <a:ext cx="603250" cy="641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204" name="文本框 1"/>
          <p:cNvSpPr txBox="1"/>
          <p:nvPr/>
        </p:nvSpPr>
        <p:spPr>
          <a:xfrm>
            <a:off x="80963" y="233363"/>
            <a:ext cx="5329237" cy="647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二．实验原理</a:t>
            </a:r>
            <a:r>
              <a:rPr lang="en-US" altLang="zh-CN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en-US" altLang="zh-CN" b="1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1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牛顿环</a:t>
            </a:r>
            <a:endParaRPr lang="zh-CN" altLang="en-US" b="1" dirty="0">
              <a:solidFill>
                <a:srgbClr val="00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86475" y="6093460"/>
            <a:ext cx="15741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俯视图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ontrols>
      <mc:AlternateContent xmlns:mc="http://schemas.openxmlformats.org/markup-compatibility/2006">
        <mc:Choice xmlns:v="urn:schemas-microsoft-com:vml" Requires="v">
          <p:control spid="5" name="ShockwaveFlash1" r:id="rId1" imgW="8533765" imgH="4457065"/>
        </mc:Choice>
        <mc:Fallback>
          <p:control name="ShockwaveFlash1" r:id="rId1" imgW="8533765" imgH="4457065">
            <p:pic>
              <p:nvPicPr>
                <p:cNvPr id="0" name="ShockwaveFlash1"/>
                <p:cNvPicPr/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828800" y="1200150"/>
                  <a:ext cx="8533765" cy="4457065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 anchor="ctr" anchorCtr="0"/>
          <a:p>
            <a:r>
              <a:rPr lang="zh-CN" altLang="en-US" dirty="0">
                <a:ea typeface="黑体" panose="02010609060101010101" pitchFamily="2" charset="-122"/>
              </a:rPr>
              <a:t>牛顿环干涉条纹的特点</a:t>
            </a:r>
            <a:endParaRPr lang="zh-CN" altLang="en-US" dirty="0">
              <a:ea typeface="黑体" panose="02010609060101010101" pitchFamily="2" charset="-122"/>
            </a:endParaRPr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362585" y="1981200"/>
            <a:ext cx="7028815" cy="4114800"/>
          </a:xfrm>
        </p:spPr>
        <p:txBody>
          <a:bodyPr/>
          <a:p>
            <a:r>
              <a:rPr lang="zh-CN" altLang="en-US" dirty="0">
                <a:ea typeface="黑体" panose="02010609060101010101" pitchFamily="2" charset="-122"/>
              </a:rPr>
              <a:t>为一系列明暗相间的同心圆环。</a:t>
            </a:r>
            <a:endParaRPr lang="zh-CN" altLang="en-US" dirty="0">
              <a:ea typeface="黑体" panose="02010609060101010101" pitchFamily="2" charset="-122"/>
            </a:endParaRPr>
          </a:p>
          <a:p>
            <a:r>
              <a:rPr lang="zh-CN" altLang="en-US" dirty="0">
                <a:ea typeface="黑体" panose="02010609060101010101" pitchFamily="2" charset="-122"/>
              </a:rPr>
              <a:t>中央为零级暗斑。</a:t>
            </a:r>
            <a:endParaRPr lang="zh-CN" altLang="en-US" dirty="0">
              <a:ea typeface="黑体" panose="02010609060101010101" pitchFamily="2" charset="-122"/>
            </a:endParaRPr>
          </a:p>
          <a:p>
            <a:r>
              <a:rPr lang="zh-CN" altLang="en-US" dirty="0">
                <a:ea typeface="黑体" panose="02010609060101010101" pitchFamily="2" charset="-122"/>
              </a:rPr>
              <a:t>越往边缘处，干涉级次越大，条纹越密。</a:t>
            </a:r>
            <a:endParaRPr lang="zh-CN" altLang="en-US" dirty="0">
              <a:ea typeface="黑体" panose="02010609060101010101" pitchFamily="2" charset="-122"/>
            </a:endParaRPr>
          </a:p>
          <a:p>
            <a:r>
              <a:rPr lang="zh-CN" altLang="en-US" dirty="0">
                <a:ea typeface="黑体" panose="02010609060101010101" pitchFamily="2" charset="-122"/>
              </a:rPr>
              <a:t>条纹定域在空气薄膜表面。</a:t>
            </a:r>
            <a:endParaRPr lang="zh-CN" altLang="en-US" dirty="0">
              <a:ea typeface="黑体" panose="02010609060101010101" pitchFamily="2" charset="-122"/>
            </a:endParaRPr>
          </a:p>
          <a:p>
            <a:endParaRPr lang="zh-CN" altLang="en-US" dirty="0">
              <a:ea typeface="黑体" panose="02010609060101010101" pitchFamily="2" charset="-122"/>
            </a:endParaRPr>
          </a:p>
        </p:txBody>
      </p:sp>
      <p:sp>
        <p:nvSpPr>
          <p:cNvPr id="1029" name="矩形 1028"/>
          <p:cNvSpPr/>
          <p:nvPr/>
        </p:nvSpPr>
        <p:spPr>
          <a:xfrm>
            <a:off x="5462588" y="27955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028" name="对象 1027"/>
          <p:cNvGraphicFramePr/>
          <p:nvPr/>
        </p:nvGraphicFramePr>
        <p:xfrm>
          <a:off x="7672388" y="2643188"/>
          <a:ext cx="2614612" cy="2614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1270000" imgH="1270000" progId="Photoshop.Image.6">
                  <p:embed/>
                </p:oleObj>
              </mc:Choice>
              <mc:Fallback>
                <p:oleObj name="" r:id="rId1" imgW="1270000" imgH="1270000" progId="Photoshop.Image.6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672388" y="2643188"/>
                        <a:ext cx="2614612" cy="2614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Text Box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63525" y="1052830"/>
            <a:ext cx="7778115" cy="4453255"/>
          </a:xfrm>
          <a:prstGeom prst="rect">
            <a:avLst/>
          </a:prstGeom>
          <a:blipFill>
            <a:blip r:embed="rId1"/>
            <a:stretch>
              <a:fillRect l="-1343" t="-730"/>
            </a:stretch>
          </a:blipFill>
          <a:ln>
            <a:noFill/>
          </a:ln>
        </p:spPr>
        <p:txBody>
          <a:bodyPr/>
          <a:lstStyle/>
          <a:p>
            <a:pPr marR="0" defTabSz="4572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noFill/>
                <a:latin typeface="Calibri" panose="020F0502020204030204" pitchFamily="34" charset="0"/>
                <a:ea typeface="+mn-ea"/>
                <a:cs typeface="+mn-cs"/>
              </a:rPr>
              <a:t> </a:t>
            </a:r>
            <a:endParaRPr kumimoji="0" lang="zh-CN" altLang="en-US" kern="1200" cap="none" spc="0" normalizeH="0" baseline="0" noProof="0">
              <a:noFill/>
              <a:latin typeface="Calibri" panose="020F0502020204030204" pitchFamily="34" charset="0"/>
              <a:ea typeface="+mn-ea"/>
              <a:cs typeface="+mn-cs"/>
            </a:endParaRPr>
          </a:p>
        </p:txBody>
      </p:sp>
      <p:grpSp>
        <p:nvGrpSpPr>
          <p:cNvPr id="43010" name="组合 43009"/>
          <p:cNvGrpSpPr/>
          <p:nvPr/>
        </p:nvGrpSpPr>
        <p:grpSpPr>
          <a:xfrm>
            <a:off x="8461693" y="1080770"/>
            <a:ext cx="3124200" cy="3733800"/>
            <a:chOff x="3485" y="576"/>
            <a:chExt cx="1968" cy="2352"/>
          </a:xfrm>
        </p:grpSpPr>
        <p:sp>
          <p:nvSpPr>
            <p:cNvPr id="43011" name="矩形 43010"/>
            <p:cNvSpPr/>
            <p:nvPr>
              <p:custDataLst>
                <p:tags r:id="rId2"/>
              </p:custDataLst>
            </p:nvPr>
          </p:nvSpPr>
          <p:spPr>
            <a:xfrm>
              <a:off x="3485" y="576"/>
              <a:ext cx="1968" cy="235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43012" name="组合 43011"/>
            <p:cNvGrpSpPr/>
            <p:nvPr/>
          </p:nvGrpSpPr>
          <p:grpSpPr>
            <a:xfrm>
              <a:off x="3917" y="2016"/>
              <a:ext cx="864" cy="864"/>
              <a:chOff x="3888" y="1728"/>
              <a:chExt cx="1440" cy="1440"/>
            </a:xfrm>
          </p:grpSpPr>
          <p:sp>
            <p:nvSpPr>
              <p:cNvPr id="43013" name="椭圆 43012"/>
              <p:cNvSpPr/>
              <p:nvPr>
                <p:custDataLst>
                  <p:tags r:id="rId3"/>
                </p:custDataLst>
              </p:nvPr>
            </p:nvSpPr>
            <p:spPr>
              <a:xfrm>
                <a:off x="3888" y="1728"/>
                <a:ext cx="1440" cy="1440"/>
              </a:xfrm>
              <a:prstGeom prst="ellipse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3014" name="椭圆 43013"/>
              <p:cNvSpPr/>
              <p:nvPr>
                <p:custDataLst>
                  <p:tags r:id="rId4"/>
                </p:custDataLst>
              </p:nvPr>
            </p:nvSpPr>
            <p:spPr>
              <a:xfrm>
                <a:off x="3920" y="1761"/>
                <a:ext cx="1376" cy="1374"/>
              </a:xfrm>
              <a:prstGeom prst="ellipse">
                <a:avLst/>
              </a:prstGeom>
              <a:solidFill>
                <a:schemeClr val="tx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3015" name="椭圆 43014"/>
              <p:cNvSpPr/>
              <p:nvPr>
                <p:custDataLst>
                  <p:tags r:id="rId5"/>
                </p:custDataLst>
              </p:nvPr>
            </p:nvSpPr>
            <p:spPr>
              <a:xfrm>
                <a:off x="3953" y="1793"/>
                <a:ext cx="1310" cy="1310"/>
              </a:xfrm>
              <a:prstGeom prst="ellipse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3016" name="椭圆 43015"/>
              <p:cNvSpPr/>
              <p:nvPr>
                <p:custDataLst>
                  <p:tags r:id="rId6"/>
                </p:custDataLst>
              </p:nvPr>
            </p:nvSpPr>
            <p:spPr>
              <a:xfrm>
                <a:off x="3985" y="1826"/>
                <a:ext cx="1246" cy="1244"/>
              </a:xfrm>
              <a:prstGeom prst="ellipse">
                <a:avLst/>
              </a:prstGeom>
              <a:solidFill>
                <a:schemeClr val="tx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3017" name="椭圆 43016"/>
              <p:cNvSpPr/>
              <p:nvPr>
                <p:custDataLst>
                  <p:tags r:id="rId7"/>
                </p:custDataLst>
              </p:nvPr>
            </p:nvSpPr>
            <p:spPr>
              <a:xfrm>
                <a:off x="4018" y="1858"/>
                <a:ext cx="1180" cy="1180"/>
              </a:xfrm>
              <a:prstGeom prst="ellipse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3018" name="椭圆 43017"/>
              <p:cNvSpPr/>
              <p:nvPr>
                <p:custDataLst>
                  <p:tags r:id="rId8"/>
                </p:custDataLst>
              </p:nvPr>
            </p:nvSpPr>
            <p:spPr>
              <a:xfrm>
                <a:off x="4051" y="1891"/>
                <a:ext cx="1114" cy="1114"/>
              </a:xfrm>
              <a:prstGeom prst="ellipse">
                <a:avLst/>
              </a:prstGeom>
              <a:solidFill>
                <a:schemeClr val="tx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3019" name="椭圆 43018"/>
              <p:cNvSpPr/>
              <p:nvPr>
                <p:custDataLst>
                  <p:tags r:id="rId9"/>
                </p:custDataLst>
              </p:nvPr>
            </p:nvSpPr>
            <p:spPr>
              <a:xfrm>
                <a:off x="4085" y="1925"/>
                <a:ext cx="1046" cy="1046"/>
              </a:xfrm>
              <a:prstGeom prst="ellipse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3020" name="椭圆 43019"/>
              <p:cNvSpPr/>
              <p:nvPr>
                <p:custDataLst>
                  <p:tags r:id="rId10"/>
                </p:custDataLst>
              </p:nvPr>
            </p:nvSpPr>
            <p:spPr>
              <a:xfrm>
                <a:off x="4151" y="1990"/>
                <a:ext cx="914" cy="916"/>
              </a:xfrm>
              <a:prstGeom prst="ellipse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3021" name="椭圆 43020"/>
              <p:cNvSpPr/>
              <p:nvPr>
                <p:custDataLst>
                  <p:tags r:id="rId11"/>
                </p:custDataLst>
              </p:nvPr>
            </p:nvSpPr>
            <p:spPr>
              <a:xfrm>
                <a:off x="4118" y="1958"/>
                <a:ext cx="980" cy="980"/>
              </a:xfrm>
              <a:prstGeom prst="ellipse">
                <a:avLst/>
              </a:prstGeom>
              <a:solidFill>
                <a:schemeClr val="tx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3022" name="椭圆 43021"/>
              <p:cNvSpPr/>
              <p:nvPr>
                <p:custDataLst>
                  <p:tags r:id="rId12"/>
                </p:custDataLst>
              </p:nvPr>
            </p:nvSpPr>
            <p:spPr>
              <a:xfrm>
                <a:off x="4165" y="2006"/>
                <a:ext cx="886" cy="884"/>
              </a:xfrm>
              <a:prstGeom prst="ellipse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3023" name="椭圆 43022"/>
              <p:cNvSpPr/>
              <p:nvPr>
                <p:custDataLst>
                  <p:tags r:id="rId13"/>
                </p:custDataLst>
              </p:nvPr>
            </p:nvSpPr>
            <p:spPr>
              <a:xfrm>
                <a:off x="4216" y="2055"/>
                <a:ext cx="784" cy="786"/>
              </a:xfrm>
              <a:prstGeom prst="ellipse">
                <a:avLst/>
              </a:prstGeom>
              <a:solidFill>
                <a:schemeClr val="tx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3024" name="椭圆 43023"/>
              <p:cNvSpPr/>
              <p:nvPr>
                <p:custDataLst>
                  <p:tags r:id="rId14"/>
                </p:custDataLst>
              </p:nvPr>
            </p:nvSpPr>
            <p:spPr>
              <a:xfrm>
                <a:off x="4280" y="2121"/>
                <a:ext cx="656" cy="654"/>
              </a:xfrm>
              <a:prstGeom prst="ellipse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3025" name="椭圆 43024"/>
              <p:cNvSpPr/>
              <p:nvPr>
                <p:custDataLst>
                  <p:tags r:id="rId15"/>
                </p:custDataLst>
              </p:nvPr>
            </p:nvSpPr>
            <p:spPr>
              <a:xfrm>
                <a:off x="4331" y="2170"/>
                <a:ext cx="554" cy="556"/>
              </a:xfrm>
              <a:prstGeom prst="ellipse">
                <a:avLst/>
              </a:prstGeom>
              <a:solidFill>
                <a:schemeClr val="tx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3026" name="椭圆 43025"/>
              <p:cNvSpPr/>
              <p:nvPr>
                <p:custDataLst>
                  <p:tags r:id="rId16"/>
                </p:custDataLst>
              </p:nvPr>
            </p:nvSpPr>
            <p:spPr>
              <a:xfrm>
                <a:off x="4400" y="2239"/>
                <a:ext cx="416" cy="418"/>
              </a:xfrm>
              <a:prstGeom prst="ellipse">
                <a:avLst/>
              </a:prstGeom>
              <a:solidFill>
                <a:srgbClr val="FFCC00"/>
              </a:solidFill>
              <a:ln w="12700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3027" name="椭圆 43026"/>
              <p:cNvSpPr/>
              <p:nvPr>
                <p:custDataLst>
                  <p:tags r:id="rId17"/>
                </p:custDataLst>
              </p:nvPr>
            </p:nvSpPr>
            <p:spPr>
              <a:xfrm>
                <a:off x="4478" y="2318"/>
                <a:ext cx="260" cy="260"/>
              </a:xfrm>
              <a:prstGeom prst="ellipse">
                <a:avLst/>
              </a:prstGeom>
              <a:solidFill>
                <a:schemeClr val="tx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43028" name="组合 43027"/>
            <p:cNvGrpSpPr/>
            <p:nvPr/>
          </p:nvGrpSpPr>
          <p:grpSpPr>
            <a:xfrm>
              <a:off x="3533" y="1440"/>
              <a:ext cx="1616" cy="286"/>
              <a:chOff x="3625" y="1056"/>
              <a:chExt cx="1777" cy="336"/>
            </a:xfrm>
          </p:grpSpPr>
          <p:grpSp>
            <p:nvGrpSpPr>
              <p:cNvPr id="43029" name="组合 43028"/>
              <p:cNvGrpSpPr/>
              <p:nvPr/>
            </p:nvGrpSpPr>
            <p:grpSpPr>
              <a:xfrm>
                <a:off x="3625" y="1056"/>
                <a:ext cx="1777" cy="336"/>
                <a:chOff x="3625" y="1056"/>
                <a:chExt cx="1777" cy="336"/>
              </a:xfrm>
            </p:grpSpPr>
            <p:sp>
              <p:nvSpPr>
                <p:cNvPr id="43030" name="任意多边形 43029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3625" y="1056"/>
                  <a:ext cx="1777" cy="336"/>
                </a:xfrm>
                <a:custGeom>
                  <a:avLst/>
                  <a:gdLst>
                    <a:gd name="txL" fmla="*/ 0 w 42336"/>
                    <a:gd name="txT" fmla="*/ 0 h 21600"/>
                    <a:gd name="txR" fmla="*/ 42336 w 42336"/>
                    <a:gd name="txB" fmla="*/ 21600 h 21600"/>
                  </a:gdLst>
                  <a:ahLst/>
                  <a:cxnLst>
                    <a:cxn ang="0">
                      <a:pos x="42336" y="3861"/>
                    </a:cxn>
                    <a:cxn ang="180">
                      <a:pos x="0" y="4692"/>
                    </a:cxn>
                    <a:cxn ang="270">
                      <a:pos x="21084" y="0"/>
                    </a:cxn>
                  </a:cxnLst>
                  <a:rect l="txL" t="txT" r="txR" b="txB"/>
                  <a:pathLst>
                    <a:path w="42336" h="21600" fill="none">
                      <a:moveTo>
                        <a:pt x="42336" y="3861"/>
                      </a:moveTo>
                      <a:arcTo wR="21600" hR="21600" stAng="-20982179" swAng="9429415"/>
                    </a:path>
                    <a:path w="42336" h="21600" stroke="0">
                      <a:moveTo>
                        <a:pt x="42336" y="3861"/>
                      </a:moveTo>
                      <a:arcTo wR="21600" hR="21600" stAng="-20982179" swAng="9429415"/>
                      <a:lnTo>
                        <a:pt x="21084" y="0"/>
                      </a:lnTo>
                      <a:close/>
                    </a:path>
                  </a:pathLst>
                </a:custGeom>
                <a:solidFill>
                  <a:srgbClr val="66FFFF"/>
                </a:solidFill>
                <a:ln w="12700" cap="rnd" cmpd="sng">
                  <a:solidFill>
                    <a:schemeClr val="tx1"/>
                  </a:solidFill>
                  <a:prstDash val="solid"/>
                  <a:headEnd type="none" w="sm" len="lg"/>
                  <a:tailEnd type="none" w="sm" len="lg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43031" name="矩形 43030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3631" y="1056"/>
                  <a:ext cx="1770" cy="103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43032" name="任意多边形 43031"/>
              <p:cNvSpPr/>
              <p:nvPr>
                <p:custDataLst>
                  <p:tags r:id="rId20"/>
                </p:custDataLst>
              </p:nvPr>
            </p:nvSpPr>
            <p:spPr>
              <a:xfrm>
                <a:off x="3631" y="1056"/>
                <a:ext cx="1771" cy="104"/>
              </a:xfrm>
              <a:custGeom>
                <a:avLst/>
                <a:gdLst/>
                <a:ahLst/>
                <a:cxnLst/>
                <a:pathLst>
                  <a:path w="1771" h="104">
                    <a:moveTo>
                      <a:pt x="0" y="51"/>
                    </a:moveTo>
                    <a:lnTo>
                      <a:pt x="0" y="0"/>
                    </a:lnTo>
                    <a:lnTo>
                      <a:pt x="1770" y="0"/>
                    </a:lnTo>
                    <a:lnTo>
                      <a:pt x="1770" y="103"/>
                    </a:lnTo>
                  </a:path>
                </a:pathLst>
              </a:custGeom>
              <a:noFill/>
              <a:ln w="12700" cap="rnd" cmpd="sng">
                <a:solidFill>
                  <a:schemeClr val="tx1">
                    <a:alpha val="100000"/>
                  </a:schemeClr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3033" name="矩形 43032"/>
            <p:cNvSpPr/>
            <p:nvPr>
              <p:custDataLst>
                <p:tags r:id="rId21"/>
              </p:custDataLst>
            </p:nvPr>
          </p:nvSpPr>
          <p:spPr>
            <a:xfrm>
              <a:off x="3537" y="1733"/>
              <a:ext cx="1608" cy="198"/>
            </a:xfrm>
            <a:prstGeom prst="rect">
              <a:avLst/>
            </a:prstGeom>
            <a:solidFill>
              <a:srgbClr val="66CCFF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3034" name="直接连接符 43033"/>
            <p:cNvSpPr/>
            <p:nvPr>
              <p:custDataLst>
                <p:tags r:id="rId22"/>
              </p:custDataLst>
            </p:nvPr>
          </p:nvSpPr>
          <p:spPr>
            <a:xfrm>
              <a:off x="4349" y="624"/>
              <a:ext cx="668" cy="983"/>
            </a:xfrm>
            <a:prstGeom prst="line">
              <a:avLst/>
            </a:prstGeom>
            <a:ln w="19050" cap="flat" cmpd="sng">
              <a:solidFill>
                <a:srgbClr val="990099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43035" name="直接连接符 43034"/>
            <p:cNvSpPr/>
            <p:nvPr>
              <p:custDataLst>
                <p:tags r:id="rId23"/>
              </p:custDataLst>
            </p:nvPr>
          </p:nvSpPr>
          <p:spPr>
            <a:xfrm>
              <a:off x="3970" y="1156"/>
              <a:ext cx="0" cy="287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sm" len="lg"/>
              <a:tailEnd type="triangle" w="sm" len="lg"/>
            </a:ln>
          </p:spPr>
        </p:sp>
        <p:sp>
          <p:nvSpPr>
            <p:cNvPr id="43036" name="直接连接符 43035"/>
            <p:cNvSpPr/>
            <p:nvPr>
              <p:custDataLst>
                <p:tags r:id="rId24"/>
              </p:custDataLst>
            </p:nvPr>
          </p:nvSpPr>
          <p:spPr>
            <a:xfrm>
              <a:off x="3751" y="1156"/>
              <a:ext cx="0" cy="287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sm" len="lg"/>
              <a:tailEnd type="triangle" w="sm" len="lg"/>
            </a:ln>
          </p:spPr>
        </p:sp>
        <p:sp>
          <p:nvSpPr>
            <p:cNvPr id="43037" name="直接连接符 43036"/>
            <p:cNvSpPr/>
            <p:nvPr>
              <p:custDataLst>
                <p:tags r:id="rId25"/>
              </p:custDataLst>
            </p:nvPr>
          </p:nvSpPr>
          <p:spPr>
            <a:xfrm>
              <a:off x="4188" y="1156"/>
              <a:ext cx="0" cy="287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sm" len="lg"/>
              <a:tailEnd type="triangle" w="sm" len="lg"/>
            </a:ln>
          </p:spPr>
        </p:sp>
        <p:sp>
          <p:nvSpPr>
            <p:cNvPr id="43038" name="直接连接符 43037"/>
            <p:cNvSpPr/>
            <p:nvPr>
              <p:custDataLst>
                <p:tags r:id="rId26"/>
              </p:custDataLst>
            </p:nvPr>
          </p:nvSpPr>
          <p:spPr>
            <a:xfrm>
              <a:off x="4397" y="1152"/>
              <a:ext cx="0" cy="287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sm" len="lg"/>
              <a:tailEnd type="triangle" w="sm" len="lg"/>
            </a:ln>
          </p:spPr>
        </p:sp>
        <p:sp>
          <p:nvSpPr>
            <p:cNvPr id="43039" name="直接连接符 43038"/>
            <p:cNvSpPr/>
            <p:nvPr>
              <p:custDataLst>
                <p:tags r:id="rId27"/>
              </p:custDataLst>
            </p:nvPr>
          </p:nvSpPr>
          <p:spPr>
            <a:xfrm>
              <a:off x="4589" y="1152"/>
              <a:ext cx="0" cy="287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sm" len="lg"/>
              <a:tailEnd type="triangle" w="sm" len="lg"/>
            </a:ln>
          </p:spPr>
        </p:sp>
        <p:sp>
          <p:nvSpPr>
            <p:cNvPr id="43040" name="直接连接符 43039"/>
            <p:cNvSpPr/>
            <p:nvPr>
              <p:custDataLst>
                <p:tags r:id="rId28"/>
              </p:custDataLst>
            </p:nvPr>
          </p:nvSpPr>
          <p:spPr>
            <a:xfrm>
              <a:off x="4781" y="1152"/>
              <a:ext cx="0" cy="287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sm" len="lg"/>
              <a:tailEnd type="triangle" w="sm" len="lg"/>
            </a:ln>
          </p:spPr>
        </p:sp>
        <p:sp>
          <p:nvSpPr>
            <p:cNvPr id="43041" name="矩形 43040"/>
            <p:cNvSpPr/>
            <p:nvPr>
              <p:custDataLst>
                <p:tags r:id="rId29"/>
              </p:custDataLst>
            </p:nvPr>
          </p:nvSpPr>
          <p:spPr>
            <a:xfrm>
              <a:off x="4615" y="829"/>
              <a:ext cx="27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p>
              <a:pPr eaLnBrk="0" hangingPunct="0"/>
              <a:r>
                <a:rPr lang="en-US" altLang="zh-CN" sz="2800" i="1">
                  <a:solidFill>
                    <a:srgbClr val="000000"/>
                  </a:solidFill>
                  <a:latin typeface="Bookman Old Style" panose="020506040505050202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 i="1">
                <a:solidFill>
                  <a:srgbClr val="000000"/>
                </a:solidFill>
                <a:latin typeface="Bookman Old Style" panose="020506040505050202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42" name="直接连接符 43041"/>
            <p:cNvSpPr/>
            <p:nvPr>
              <p:custDataLst>
                <p:tags r:id="rId30"/>
              </p:custDataLst>
            </p:nvPr>
          </p:nvSpPr>
          <p:spPr>
            <a:xfrm>
              <a:off x="4973" y="1152"/>
              <a:ext cx="0" cy="287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sm" len="lg"/>
              <a:tailEnd type="triangle" w="sm" len="lg"/>
            </a:ln>
          </p:spPr>
        </p:sp>
        <p:sp>
          <p:nvSpPr>
            <p:cNvPr id="43043" name="直接连接符 43042"/>
            <p:cNvSpPr/>
            <p:nvPr>
              <p:custDataLst>
                <p:tags r:id="rId31"/>
              </p:custDataLst>
            </p:nvPr>
          </p:nvSpPr>
          <p:spPr>
            <a:xfrm flipV="1">
              <a:off x="4349" y="624"/>
              <a:ext cx="0" cy="1104"/>
            </a:xfrm>
            <a:prstGeom prst="line">
              <a:avLst/>
            </a:prstGeom>
            <a:ln w="19050" cap="flat" cmpd="sng">
              <a:solidFill>
                <a:srgbClr val="990099"/>
              </a:solidFill>
              <a:prstDash val="solid"/>
              <a:headEnd type="none" w="sm" len="lg"/>
              <a:tailEnd type="none" w="sm" len="lg"/>
            </a:ln>
          </p:spPr>
        </p:sp>
      </p:grpSp>
      <p:grpSp>
        <p:nvGrpSpPr>
          <p:cNvPr id="43047" name="组合 43046"/>
          <p:cNvGrpSpPr/>
          <p:nvPr/>
        </p:nvGrpSpPr>
        <p:grpSpPr>
          <a:xfrm>
            <a:off x="9853930" y="2314258"/>
            <a:ext cx="1228725" cy="519112"/>
            <a:chOff x="4362" y="1353"/>
            <a:chExt cx="774" cy="327"/>
          </a:xfrm>
        </p:grpSpPr>
        <p:sp>
          <p:nvSpPr>
            <p:cNvPr id="43048" name="直接连接符 43047"/>
            <p:cNvSpPr/>
            <p:nvPr>
              <p:custDataLst>
                <p:tags r:id="rId32"/>
              </p:custDataLst>
            </p:nvPr>
          </p:nvSpPr>
          <p:spPr>
            <a:xfrm>
              <a:off x="4362" y="1607"/>
              <a:ext cx="655" cy="1"/>
            </a:xfrm>
            <a:prstGeom prst="line">
              <a:avLst/>
            </a:prstGeom>
            <a:ln w="28575" cap="flat" cmpd="sng">
              <a:solidFill>
                <a:srgbClr val="FF6633"/>
              </a:solidFill>
              <a:prstDash val="solid"/>
              <a:headEnd type="triangle" w="sm" len="lg"/>
              <a:tailEnd type="triangle" w="sm" len="lg"/>
            </a:ln>
          </p:spPr>
        </p:sp>
        <p:sp>
          <p:nvSpPr>
            <p:cNvPr id="43049" name="矩形 43048"/>
            <p:cNvSpPr/>
            <p:nvPr>
              <p:custDataLst>
                <p:tags r:id="rId33"/>
              </p:custDataLst>
            </p:nvPr>
          </p:nvSpPr>
          <p:spPr>
            <a:xfrm>
              <a:off x="4541" y="1353"/>
              <a:ext cx="59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p>
              <a:pPr eaLnBrk="0" hangingPunct="0"/>
              <a:r>
                <a:rPr lang="en-US" altLang="zh-CN" sz="2800" i="1">
                  <a:solidFill>
                    <a:srgbClr val="000000"/>
                  </a:solidFill>
                  <a:latin typeface="Bookman Old Style" panose="020506040505050202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 i="1">
                <a:solidFill>
                  <a:srgbClr val="000000"/>
                </a:solidFill>
                <a:latin typeface="Bookman Old Style" panose="020506040505050202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3050" name="组合 43049"/>
          <p:cNvGrpSpPr/>
          <p:nvPr/>
        </p:nvGrpSpPr>
        <p:grpSpPr>
          <a:xfrm>
            <a:off x="9923780" y="2261870"/>
            <a:ext cx="2149475" cy="1104900"/>
            <a:chOff x="4406" y="1320"/>
            <a:chExt cx="1354" cy="696"/>
          </a:xfrm>
        </p:grpSpPr>
        <p:sp>
          <p:nvSpPr>
            <p:cNvPr id="43051" name="直接连接符 43050"/>
            <p:cNvSpPr/>
            <p:nvPr>
              <p:custDataLst>
                <p:tags r:id="rId34"/>
              </p:custDataLst>
            </p:nvPr>
          </p:nvSpPr>
          <p:spPr>
            <a:xfrm>
              <a:off x="5069" y="1729"/>
              <a:ext cx="259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headEnd type="none" w="sm" len="lg"/>
              <a:tailEnd type="none" w="sm" len="lg"/>
            </a:ln>
          </p:spPr>
        </p:sp>
        <p:sp>
          <p:nvSpPr>
            <p:cNvPr id="43052" name="直接连接符 43051"/>
            <p:cNvSpPr/>
            <p:nvPr>
              <p:custDataLst>
                <p:tags r:id="rId35"/>
              </p:custDataLst>
            </p:nvPr>
          </p:nvSpPr>
          <p:spPr>
            <a:xfrm>
              <a:off x="4406" y="1607"/>
              <a:ext cx="917" cy="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headEnd type="none" w="sm" len="lg"/>
              <a:tailEnd type="none" w="sm" len="lg"/>
            </a:ln>
          </p:spPr>
        </p:sp>
        <p:sp>
          <p:nvSpPr>
            <p:cNvPr id="43053" name="直接连接符 43052"/>
            <p:cNvSpPr/>
            <p:nvPr>
              <p:custDataLst>
                <p:tags r:id="rId36"/>
              </p:custDataLst>
            </p:nvPr>
          </p:nvSpPr>
          <p:spPr>
            <a:xfrm>
              <a:off x="5236" y="1320"/>
              <a:ext cx="0" cy="287"/>
            </a:xfrm>
            <a:prstGeom prst="line">
              <a:avLst/>
            </a:prstGeom>
            <a:ln w="12700" cap="flat" cmpd="sng">
              <a:solidFill>
                <a:srgbClr val="FF0066"/>
              </a:solidFill>
              <a:prstDash val="solid"/>
              <a:headEnd type="none" w="sm" len="lg"/>
              <a:tailEnd type="triangle" w="sm" len="lg"/>
            </a:ln>
          </p:spPr>
        </p:sp>
        <p:sp>
          <p:nvSpPr>
            <p:cNvPr id="43054" name="直接连接符 43053"/>
            <p:cNvSpPr/>
            <p:nvPr>
              <p:custDataLst>
                <p:tags r:id="rId37"/>
              </p:custDataLst>
            </p:nvPr>
          </p:nvSpPr>
          <p:spPr>
            <a:xfrm flipV="1">
              <a:off x="5236" y="1729"/>
              <a:ext cx="0" cy="287"/>
            </a:xfrm>
            <a:prstGeom prst="line">
              <a:avLst/>
            </a:prstGeom>
            <a:ln w="12700" cap="flat" cmpd="sng">
              <a:solidFill>
                <a:srgbClr val="FF0066"/>
              </a:solidFill>
              <a:prstDash val="solid"/>
              <a:headEnd type="none" w="sm" len="lg"/>
              <a:tailEnd type="triangle" w="sm" len="lg"/>
            </a:ln>
          </p:spPr>
        </p:sp>
        <p:sp>
          <p:nvSpPr>
            <p:cNvPr id="43055" name="矩形 43054"/>
            <p:cNvSpPr/>
            <p:nvPr>
              <p:custDataLst>
                <p:tags r:id="rId38"/>
              </p:custDataLst>
            </p:nvPr>
          </p:nvSpPr>
          <p:spPr>
            <a:xfrm>
              <a:off x="5213" y="1344"/>
              <a:ext cx="54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i="1">
                  <a:solidFill>
                    <a:srgbClr val="000000"/>
                  </a:solidFill>
                  <a:latin typeface="Bookman Old Style" panose="02050604050505020204" pitchFamily="18" charset="0"/>
                  <a:ea typeface="宋体" panose="02010600030101010101" pitchFamily="2" charset="-122"/>
                </a:rPr>
                <a:t>e</a:t>
              </a:r>
              <a:endParaRPr lang="en-US" altLang="zh-CN" sz="2800" i="1">
                <a:solidFill>
                  <a:srgbClr val="000000"/>
                </a:solidFill>
                <a:latin typeface="Bookman Old Style" panose="020506040505050202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矩形 1"/>
          <p:cNvSpPr/>
          <p:nvPr>
            <p:custDataLst>
              <p:tags r:id="rId39"/>
            </p:custDataLst>
          </p:nvPr>
        </p:nvSpPr>
        <p:spPr>
          <a:xfrm>
            <a:off x="9593263" y="676593"/>
            <a:ext cx="433070" cy="52197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p>
            <a:pPr eaLnBrk="0" hangingPunct="0"/>
            <a:r>
              <a:rPr lang="en-US" altLang="zh-CN" sz="2800" i="1">
                <a:solidFill>
                  <a:srgbClr val="000000"/>
                </a:solidFill>
                <a:latin typeface="Bookman Old Style" panose="02050604050505020204" pitchFamily="18" charset="0"/>
                <a:ea typeface="宋体" panose="02010600030101010101" pitchFamily="2" charset="-122"/>
              </a:rPr>
              <a:t>A</a:t>
            </a:r>
            <a:endParaRPr lang="en-US" altLang="zh-CN" sz="2800" i="1">
              <a:solidFill>
                <a:srgbClr val="000000"/>
              </a:solidFill>
              <a:latin typeface="Bookman Old Style" panose="02050604050505020204" pitchFamily="18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>
            <p:custDataLst>
              <p:tags r:id="rId40"/>
            </p:custDataLst>
          </p:nvPr>
        </p:nvSpPr>
        <p:spPr>
          <a:xfrm>
            <a:off x="9355138" y="2420938"/>
            <a:ext cx="440055" cy="52197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p>
            <a:pPr eaLnBrk="0" hangingPunct="0"/>
            <a:r>
              <a:rPr lang="en-US" altLang="zh-CN" sz="2800" i="1">
                <a:solidFill>
                  <a:srgbClr val="000000"/>
                </a:solidFill>
                <a:latin typeface="Bookman Old Style" panose="02050604050505020204" pitchFamily="18" charset="0"/>
                <a:ea typeface="宋体" panose="02010600030101010101" pitchFamily="2" charset="-122"/>
              </a:rPr>
              <a:t>B</a:t>
            </a:r>
            <a:endParaRPr lang="en-US" altLang="zh-CN" sz="2800" i="1">
              <a:solidFill>
                <a:srgbClr val="000000"/>
              </a:solidFill>
              <a:latin typeface="Bookman Old Style" panose="02050604050505020204" pitchFamily="18" charset="0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>
            <p:custDataLst>
              <p:tags r:id="rId41"/>
            </p:custDataLst>
          </p:nvPr>
        </p:nvSpPr>
        <p:spPr>
          <a:xfrm>
            <a:off x="10662603" y="2664143"/>
            <a:ext cx="440055" cy="52197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p>
            <a:pPr eaLnBrk="0" hangingPunct="0"/>
            <a:r>
              <a:rPr lang="en-US" altLang="zh-CN" sz="2800" i="1">
                <a:solidFill>
                  <a:srgbClr val="000000"/>
                </a:solidFill>
                <a:latin typeface="Bookman Old Style" panose="02050604050505020204" pitchFamily="18" charset="0"/>
                <a:ea typeface="宋体" panose="02010600030101010101" pitchFamily="2" charset="-122"/>
              </a:rPr>
              <a:t>C</a:t>
            </a:r>
            <a:endParaRPr lang="en-US" altLang="zh-CN" sz="2800" i="1">
              <a:solidFill>
                <a:srgbClr val="000000"/>
              </a:solidFill>
              <a:latin typeface="Bookman Old Style" panose="020506040505050202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>
            <p:custDataLst>
              <p:tags r:id="rId42"/>
            </p:custDataLst>
          </p:nvPr>
        </p:nvSpPr>
        <p:spPr>
          <a:xfrm>
            <a:off x="478473" y="332423"/>
            <a:ext cx="4879340" cy="52197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p>
            <a:pPr eaLnBrk="0" hangingPunct="0"/>
            <a:r>
              <a:rPr lang="zh-CN" altLang="en-US" sz="2800" b="1">
                <a:solidFill>
                  <a:srgbClr val="FF0000"/>
                </a:solidFill>
                <a:latin typeface="Bookman Old Style" panose="02050604050505020204" pitchFamily="18" charset="0"/>
                <a:ea typeface="宋体" panose="02010600030101010101" pitchFamily="2" charset="-122"/>
              </a:rPr>
              <a:t>三角形</a:t>
            </a:r>
            <a:r>
              <a:rPr lang="en-US" altLang="zh-CN" sz="2800" b="1">
                <a:solidFill>
                  <a:srgbClr val="FF0000"/>
                </a:solidFill>
                <a:latin typeface="Bookman Old Style" panose="02050604050505020204" pitchFamily="18" charset="0"/>
                <a:ea typeface="宋体" panose="02010600030101010101" pitchFamily="2" charset="-122"/>
              </a:rPr>
              <a:t>ABC</a:t>
            </a:r>
            <a:r>
              <a:rPr lang="zh-CN" altLang="en-US" sz="2800" b="1">
                <a:solidFill>
                  <a:srgbClr val="FF0000"/>
                </a:solidFill>
                <a:latin typeface="Bookman Old Style" panose="02050604050505020204" pitchFamily="18" charset="0"/>
                <a:ea typeface="宋体" panose="02010600030101010101" pitchFamily="2" charset="-122"/>
              </a:rPr>
              <a:t>中，由勾股定理得</a:t>
            </a:r>
            <a:endParaRPr lang="zh-CN" altLang="en-US" sz="2800" b="1">
              <a:solidFill>
                <a:srgbClr val="FF0000"/>
              </a:solidFill>
              <a:latin typeface="Bookman Old Style" panose="02050604050505020204" pitchFamily="18" charset="0"/>
              <a:ea typeface="宋体" panose="02010600030101010101" pitchFamily="2" charset="-122"/>
            </a:endParaRPr>
          </a:p>
        </p:txBody>
      </p:sp>
      <p:grpSp>
        <p:nvGrpSpPr>
          <p:cNvPr id="43056" name="组合 43055"/>
          <p:cNvGrpSpPr/>
          <p:nvPr/>
        </p:nvGrpSpPr>
        <p:grpSpPr>
          <a:xfrm>
            <a:off x="1322705" y="5445125"/>
            <a:ext cx="4608830" cy="1406993"/>
            <a:chOff x="2496" y="2971"/>
            <a:chExt cx="3408" cy="1090"/>
          </a:xfrm>
        </p:grpSpPr>
        <p:grpSp>
          <p:nvGrpSpPr>
            <p:cNvPr id="43057" name="组合 43056"/>
            <p:cNvGrpSpPr/>
            <p:nvPr/>
          </p:nvGrpSpPr>
          <p:grpSpPr>
            <a:xfrm>
              <a:off x="2863" y="2971"/>
              <a:ext cx="3041" cy="1090"/>
              <a:chOff x="2832" y="2971"/>
              <a:chExt cx="3041" cy="1090"/>
            </a:xfrm>
          </p:grpSpPr>
          <p:graphicFrame>
            <p:nvGraphicFramePr>
              <p:cNvPr id="43058" name="对象 43057"/>
              <p:cNvGraphicFramePr/>
              <p:nvPr>
                <p:custDataLst>
                  <p:tags r:id="rId43"/>
                </p:custDataLst>
              </p:nvPr>
            </p:nvGraphicFramePr>
            <p:xfrm>
              <a:off x="3021" y="2971"/>
              <a:ext cx="1418" cy="6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2" name="" r:id="rId44" imgW="1612265" imgH="660400" progId="Equation.3">
                      <p:embed/>
                    </p:oleObj>
                  </mc:Choice>
                  <mc:Fallback>
                    <p:oleObj name="" r:id="rId44" imgW="1612265" imgH="660400" progId="Equation.3">
                      <p:embed/>
                      <p:pic>
                        <p:nvPicPr>
                          <p:cNvPr id="0" name="图片 3101"/>
                          <p:cNvPicPr/>
                          <p:nvPr/>
                        </p:nvPicPr>
                        <p:blipFill>
                          <a:blip r:embed="rId45"/>
                          <a:stretch>
                            <a:fillRect/>
                          </a:stretch>
                        </p:blipFill>
                        <p:spPr>
                          <a:xfrm>
                            <a:off x="3021" y="2971"/>
                            <a:ext cx="1418" cy="67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3059" name="对象 43058"/>
              <p:cNvGraphicFramePr/>
              <p:nvPr>
                <p:custDataLst>
                  <p:tags r:id="rId46"/>
                </p:custDataLst>
              </p:nvPr>
            </p:nvGraphicFramePr>
            <p:xfrm>
              <a:off x="3021" y="3696"/>
              <a:ext cx="1087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1" name="" r:id="rId47" imgW="1015365" imgH="304800" progId="Equation.3">
                      <p:embed/>
                    </p:oleObj>
                  </mc:Choice>
                  <mc:Fallback>
                    <p:oleObj name="" r:id="rId47" imgW="1015365" imgH="304800" progId="Equation.3">
                      <p:embed/>
                      <p:pic>
                        <p:nvPicPr>
                          <p:cNvPr id="0" name="图片 3100"/>
                          <p:cNvPicPr/>
                          <p:nvPr/>
                        </p:nvPicPr>
                        <p:blipFill>
                          <a:blip r:embed="rId48"/>
                          <a:stretch>
                            <a:fillRect/>
                          </a:stretch>
                        </p:blipFill>
                        <p:spPr>
                          <a:xfrm>
                            <a:off x="3021" y="3696"/>
                            <a:ext cx="1087" cy="31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3060" name="矩形 43059"/>
              <p:cNvSpPr/>
              <p:nvPr>
                <p:custDataLst>
                  <p:tags r:id="rId49"/>
                </p:custDataLst>
              </p:nvPr>
            </p:nvSpPr>
            <p:spPr>
              <a:xfrm>
                <a:off x="4061" y="3657"/>
                <a:ext cx="1812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暗环半径</a:t>
                </a:r>
                <a:endParaRPr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061" name="矩形 43060"/>
              <p:cNvSpPr/>
              <p:nvPr>
                <p:custDataLst>
                  <p:tags r:id="rId50"/>
                </p:custDataLst>
              </p:nvPr>
            </p:nvSpPr>
            <p:spPr>
              <a:xfrm>
                <a:off x="4202" y="3081"/>
                <a:ext cx="1513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明环半径</a:t>
                </a:r>
                <a:endParaRPr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062" name="左大括号 43061"/>
              <p:cNvSpPr/>
              <p:nvPr>
                <p:custDataLst>
                  <p:tags r:id="rId51"/>
                </p:custDataLst>
              </p:nvPr>
            </p:nvSpPr>
            <p:spPr>
              <a:xfrm>
                <a:off x="2832" y="3264"/>
                <a:ext cx="142" cy="659"/>
              </a:xfrm>
              <a:prstGeom prst="leftBrace">
                <a:avLst>
                  <a:gd name="adj1" fmla="val 38673"/>
                  <a:gd name="adj2" fmla="val 50000"/>
                </a:avLst>
              </a:prstGeom>
              <a:noFill/>
              <a:ln w="28575" cap="flat" cmpd="sng">
                <a:solidFill>
                  <a:srgbClr val="CC00CC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3063" name="右箭头 43062"/>
            <p:cNvSpPr/>
            <p:nvPr>
              <p:custDataLst>
                <p:tags r:id="rId52"/>
              </p:custDataLst>
            </p:nvPr>
          </p:nvSpPr>
          <p:spPr>
            <a:xfrm>
              <a:off x="2496" y="3552"/>
              <a:ext cx="288" cy="96"/>
            </a:xfrm>
            <a:prstGeom prst="rightArrow">
              <a:avLst>
                <a:gd name="adj1" fmla="val 50000"/>
                <a:gd name="adj2" fmla="val 75000"/>
              </a:avLst>
            </a:prstGeom>
            <a:solidFill>
              <a:srgbClr val="FFCCFF">
                <a:alpha val="50000"/>
              </a:srgbClr>
            </a:solidFill>
            <a:ln w="19050" cap="flat" cmpd="sng">
              <a:solidFill>
                <a:srgbClr val="CC00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8" name="Text Box 15"/>
          <p:cNvSpPr txBox="1"/>
          <p:nvPr/>
        </p:nvSpPr>
        <p:spPr>
          <a:xfrm>
            <a:off x="7608888" y="1125538"/>
            <a:ext cx="28082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     </a:t>
            </a:r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为Ｋ级明环半径</a:t>
            </a:r>
            <a:endParaRPr lang="zh-CN" altLang="en-US" sz="2400" dirty="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1269" name="Text Box 22"/>
          <p:cNvSpPr txBox="1"/>
          <p:nvPr/>
        </p:nvSpPr>
        <p:spPr>
          <a:xfrm>
            <a:off x="7535863" y="2133600"/>
            <a:ext cx="288131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      </a:t>
            </a:r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为Ｋ级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暗环</a:t>
            </a:r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半径</a:t>
            </a:r>
            <a:endParaRPr lang="zh-CN" altLang="en-US" sz="2400" dirty="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1270" name="Text Box 23"/>
          <p:cNvSpPr txBox="1"/>
          <p:nvPr/>
        </p:nvSpPr>
        <p:spPr>
          <a:xfrm>
            <a:off x="2063750" y="3068638"/>
            <a:ext cx="64801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以        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.      </a:t>
            </a:r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分别表示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m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级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.n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级</a:t>
            </a:r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暗环的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半径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,</a:t>
            </a:r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则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:</a:t>
            </a:r>
            <a:endParaRPr lang="en-US" altLang="zh-CN" sz="2400" dirty="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11271" name="Object 24"/>
          <p:cNvGraphicFramePr>
            <a:graphicFrameLocks noChangeAspect="1"/>
          </p:cNvGraphicFramePr>
          <p:nvPr/>
        </p:nvGraphicFramePr>
        <p:xfrm>
          <a:off x="2525713" y="2997200"/>
          <a:ext cx="401637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152400" imgH="190500" progId="Equation.3">
                  <p:embed/>
                </p:oleObj>
              </mc:Choice>
              <mc:Fallback>
                <p:oleObj name="" r:id="rId1" imgW="152400" imgH="1905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25713" y="2997200"/>
                        <a:ext cx="401637" cy="576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2" name="Object 27"/>
          <p:cNvGraphicFramePr>
            <a:graphicFrameLocks noChangeAspect="1"/>
          </p:cNvGraphicFramePr>
          <p:nvPr/>
        </p:nvGraphicFramePr>
        <p:xfrm>
          <a:off x="3216275" y="2997200"/>
          <a:ext cx="503238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3" imgW="139700" imgH="190500" progId="Equation.3">
                  <p:embed/>
                </p:oleObj>
              </mc:Choice>
              <mc:Fallback>
                <p:oleObj name="" r:id="rId3" imgW="139700" imgH="1905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16275" y="2997200"/>
                        <a:ext cx="503238" cy="600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3" name="Object 31"/>
          <p:cNvGraphicFramePr>
            <a:graphicFrameLocks noChangeAspect="1"/>
          </p:cNvGraphicFramePr>
          <p:nvPr/>
        </p:nvGraphicFramePr>
        <p:xfrm>
          <a:off x="2063750" y="3933825"/>
          <a:ext cx="4392613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5" imgW="1384300" imgH="203200" progId="Equation.3">
                  <p:embed/>
                </p:oleObj>
              </mc:Choice>
              <mc:Fallback>
                <p:oleObj name="" r:id="rId5" imgW="1384300" imgH="2032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63750" y="3933825"/>
                        <a:ext cx="4392613" cy="477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" name="Object 34"/>
          <p:cNvGraphicFramePr>
            <a:graphicFrameLocks noChangeAspect="1"/>
          </p:cNvGraphicFramePr>
          <p:nvPr/>
        </p:nvGraphicFramePr>
        <p:xfrm>
          <a:off x="2063750" y="4784725"/>
          <a:ext cx="3671888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7" imgW="1104900" imgH="203200" progId="Equation.3">
                  <p:embed/>
                </p:oleObj>
              </mc:Choice>
              <mc:Fallback>
                <p:oleObj name="" r:id="rId7" imgW="1104900" imgH="2032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63750" y="4784725"/>
                        <a:ext cx="3671888" cy="515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6" name="Text Box 45"/>
          <p:cNvSpPr txBox="1"/>
          <p:nvPr/>
        </p:nvSpPr>
        <p:spPr>
          <a:xfrm>
            <a:off x="4008438" y="2060575"/>
            <a:ext cx="3240087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zh-CN" altLang="zh-CN" sz="18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1277" name="Object 46"/>
          <p:cNvGraphicFramePr>
            <a:graphicFrameLocks noChangeAspect="1"/>
          </p:cNvGraphicFramePr>
          <p:nvPr/>
        </p:nvGraphicFramePr>
        <p:xfrm>
          <a:off x="4460875" y="2190750"/>
          <a:ext cx="3148013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9" imgW="825500" imgH="152400" progId="Equation.3">
                  <p:embed/>
                </p:oleObj>
              </mc:Choice>
              <mc:Fallback>
                <p:oleObj name="" r:id="rId9" imgW="825500" imgH="1524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60875" y="2190750"/>
                        <a:ext cx="3148013" cy="446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8" name="Text Box 49"/>
          <p:cNvSpPr txBox="1"/>
          <p:nvPr/>
        </p:nvSpPr>
        <p:spPr>
          <a:xfrm>
            <a:off x="7032625" y="2205038"/>
            <a:ext cx="576263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zh-CN" altLang="zh-CN" sz="18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1279" name="Object 50"/>
          <p:cNvGraphicFramePr>
            <a:graphicFrameLocks noChangeAspect="1"/>
          </p:cNvGraphicFramePr>
          <p:nvPr/>
        </p:nvGraphicFramePr>
        <p:xfrm>
          <a:off x="7680325" y="2044700"/>
          <a:ext cx="431800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1" imgW="139700" imgH="190500" progId="Equation.3">
                  <p:embed/>
                </p:oleObj>
              </mc:Choice>
              <mc:Fallback>
                <p:oleObj name="" r:id="rId11" imgW="139700" imgH="1905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680325" y="2044700"/>
                        <a:ext cx="431800" cy="592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0" name="Text Box 53"/>
          <p:cNvSpPr txBox="1"/>
          <p:nvPr/>
        </p:nvSpPr>
        <p:spPr>
          <a:xfrm>
            <a:off x="2208213" y="1052513"/>
            <a:ext cx="5256212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zh-CN" altLang="zh-CN" sz="18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82" name="Text Box 57"/>
          <p:cNvSpPr txBox="1"/>
          <p:nvPr/>
        </p:nvSpPr>
        <p:spPr>
          <a:xfrm>
            <a:off x="4943475" y="1196975"/>
            <a:ext cx="252095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zh-CN" altLang="zh-CN" sz="18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1283" name="Object 58"/>
          <p:cNvGraphicFramePr>
            <a:graphicFrameLocks noChangeAspect="1"/>
          </p:cNvGraphicFramePr>
          <p:nvPr/>
        </p:nvGraphicFramePr>
        <p:xfrm>
          <a:off x="5087938" y="1196975"/>
          <a:ext cx="23050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3" imgW="698500" imgH="152400" progId="Equation.3">
                  <p:embed/>
                </p:oleObj>
              </mc:Choice>
              <mc:Fallback>
                <p:oleObj name="" r:id="rId13" imgW="698500" imgH="1524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087938" y="1196975"/>
                        <a:ext cx="2305050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4" name="Object 62"/>
          <p:cNvGraphicFramePr>
            <a:graphicFrameLocks noChangeAspect="1"/>
          </p:cNvGraphicFramePr>
          <p:nvPr/>
        </p:nvGraphicFramePr>
        <p:xfrm>
          <a:off x="7658100" y="1125538"/>
          <a:ext cx="442913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5" imgW="139700" imgH="190500" progId="Equation.3">
                  <p:embed/>
                </p:oleObj>
              </mc:Choice>
              <mc:Fallback>
                <p:oleObj name="" r:id="rId15" imgW="139700" imgH="1905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658100" y="1125538"/>
                        <a:ext cx="442913" cy="574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063940" y="5517419"/>
            <a:ext cx="4550348" cy="952055"/>
          </a:xfrm>
          <a:prstGeom prst="rect">
            <a:avLst/>
          </a:pr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pPr marR="0"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noFill/>
                <a:latin typeface="+mn-lt"/>
                <a:ea typeface="+mn-ea"/>
                <a:cs typeface="+mn-cs"/>
              </a:rPr>
              <a:t> </a:t>
            </a:r>
            <a:endParaRPr kumimoji="0" lang="zh-CN" altLang="en-US" kern="1200" cap="none" spc="0" normalizeH="0" baseline="0" noProof="0">
              <a:noFill/>
              <a:latin typeface="+mn-lt"/>
              <a:ea typeface="+mn-ea"/>
              <a:cs typeface="+mn-cs"/>
            </a:endParaRPr>
          </a:p>
        </p:txBody>
      </p:sp>
      <p:grpSp>
        <p:nvGrpSpPr>
          <p:cNvPr id="43057" name="组合 43056"/>
          <p:cNvGrpSpPr/>
          <p:nvPr/>
        </p:nvGrpSpPr>
        <p:grpSpPr>
          <a:xfrm rot="0">
            <a:off x="289560" y="970280"/>
            <a:ext cx="4758055" cy="1745615"/>
            <a:chOff x="2832" y="2971"/>
            <a:chExt cx="3041" cy="1037"/>
          </a:xfrm>
        </p:grpSpPr>
        <p:graphicFrame>
          <p:nvGraphicFramePr>
            <p:cNvPr id="43058" name="对象 43057"/>
            <p:cNvGraphicFramePr/>
            <p:nvPr>
              <p:custDataLst>
                <p:tags r:id="rId18"/>
              </p:custDataLst>
            </p:nvPr>
          </p:nvGraphicFramePr>
          <p:xfrm>
            <a:off x="3021" y="2971"/>
            <a:ext cx="1418" cy="6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2" name="" r:id="rId19" imgW="1612265" imgH="660400" progId="Equation.3">
                    <p:embed/>
                  </p:oleObj>
                </mc:Choice>
                <mc:Fallback>
                  <p:oleObj name="" r:id="rId19" imgW="1612265" imgH="660400" progId="Equation.3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021" y="2971"/>
                          <a:ext cx="1418" cy="67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59" name="对象 43058"/>
            <p:cNvGraphicFramePr/>
            <p:nvPr>
              <p:custDataLst>
                <p:tags r:id="rId21"/>
              </p:custDataLst>
            </p:nvPr>
          </p:nvGraphicFramePr>
          <p:xfrm>
            <a:off x="3021" y="3696"/>
            <a:ext cx="1087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" name="" r:id="rId22" imgW="1015365" imgH="304800" progId="Equation.3">
                    <p:embed/>
                  </p:oleObj>
                </mc:Choice>
                <mc:Fallback>
                  <p:oleObj name="" r:id="rId22" imgW="1015365" imgH="304800" progId="Equation.3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3021" y="3696"/>
                          <a:ext cx="1087" cy="3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60" name="矩形 43059"/>
            <p:cNvSpPr/>
            <p:nvPr>
              <p:custDataLst>
                <p:tags r:id="rId24"/>
              </p:custDataLst>
            </p:nvPr>
          </p:nvSpPr>
          <p:spPr>
            <a:xfrm>
              <a:off x="4061" y="3657"/>
              <a:ext cx="1812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暗环半径</a:t>
              </a:r>
              <a:endPara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61" name="矩形 43060"/>
            <p:cNvSpPr/>
            <p:nvPr>
              <p:custDataLst>
                <p:tags r:id="rId25"/>
              </p:custDataLst>
            </p:nvPr>
          </p:nvSpPr>
          <p:spPr>
            <a:xfrm>
              <a:off x="4202" y="3081"/>
              <a:ext cx="1513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明环半径</a:t>
              </a:r>
              <a:endPara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62" name="左大括号 43061"/>
            <p:cNvSpPr/>
            <p:nvPr>
              <p:custDataLst>
                <p:tags r:id="rId26"/>
              </p:custDataLst>
            </p:nvPr>
          </p:nvSpPr>
          <p:spPr>
            <a:xfrm>
              <a:off x="2832" y="3264"/>
              <a:ext cx="142" cy="659"/>
            </a:xfrm>
            <a:prstGeom prst="leftBrace">
              <a:avLst>
                <a:gd name="adj1" fmla="val 38673"/>
                <a:gd name="adj2" fmla="val 50000"/>
              </a:avLst>
            </a:prstGeom>
            <a:noFill/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5" name="Text Box 65"/>
          <p:cNvSpPr txBox="1"/>
          <p:nvPr>
            <p:custDataLst>
              <p:tags r:id="rId27"/>
            </p:custDataLst>
          </p:nvPr>
        </p:nvSpPr>
        <p:spPr>
          <a:xfrm>
            <a:off x="7824153" y="5589270"/>
            <a:ext cx="306133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D-</a:t>
            </a:r>
            <a:r>
              <a:rPr lang="zh-CN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牛顿环的直径</a:t>
            </a:r>
            <a:endParaRPr lang="zh-CN" altLang="en-US" sz="32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2" name="标题 1"/>
          <p:cNvSpPr>
            <a:spLocks noGrp="1" noRot="1" noChangeAspect="1" noMove="1" noResize="1" noEditPoints="1" noAdjustHandles="1" noChangeArrowheads="1" noChangeShapeType="1" noTextEdit="1"/>
          </p:cNvSpPr>
          <p:nvPr>
            <p:ph type="ctrTitle"/>
          </p:nvPr>
        </p:nvSpPr>
        <p:spPr bwMode="auto">
          <a:xfrm>
            <a:off x="1487645" y="1052636"/>
            <a:ext cx="6858000" cy="1439863"/>
          </a:xfrm>
          <a:blipFill>
            <a:blip r:embed="rId1"/>
            <a:stretch>
              <a:fillRect l="-1422" t="-31356"/>
            </a:stretch>
          </a:blipFill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+mj-lt"/>
                <a:ea typeface="+mj-ea"/>
                <a:cs typeface="+mj-cs"/>
              </a:rPr>
              <a:t> </a:t>
            </a:r>
            <a:b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12291" name="组合 1"/>
          <p:cNvGrpSpPr/>
          <p:nvPr/>
        </p:nvGrpSpPr>
        <p:grpSpPr>
          <a:xfrm>
            <a:off x="1174750" y="2701925"/>
            <a:ext cx="4032250" cy="4032250"/>
            <a:chOff x="2207568" y="1714500"/>
            <a:chExt cx="4032250" cy="4032250"/>
          </a:xfrm>
        </p:grpSpPr>
        <p:grpSp>
          <p:nvGrpSpPr>
            <p:cNvPr id="12293" name="组合 27"/>
            <p:cNvGrpSpPr/>
            <p:nvPr/>
          </p:nvGrpSpPr>
          <p:grpSpPr>
            <a:xfrm>
              <a:off x="2207568" y="1714500"/>
              <a:ext cx="4032250" cy="4032250"/>
              <a:chOff x="571472" y="214290"/>
              <a:chExt cx="4032000" cy="4032000"/>
            </a:xfrm>
          </p:grpSpPr>
          <p:sp>
            <p:nvSpPr>
              <p:cNvPr id="25" name="同心圆 24"/>
              <p:cNvSpPr/>
              <p:nvPr/>
            </p:nvSpPr>
            <p:spPr>
              <a:xfrm>
                <a:off x="1482641" y="1146095"/>
                <a:ext cx="2231887" cy="2231887"/>
              </a:xfrm>
              <a:prstGeom prst="donut">
                <a:avLst>
                  <a:gd name="adj" fmla="val 18863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12297" name="组合 22"/>
              <p:cNvGrpSpPr/>
              <p:nvPr/>
            </p:nvGrpSpPr>
            <p:grpSpPr>
              <a:xfrm>
                <a:off x="571472" y="214290"/>
                <a:ext cx="4032000" cy="4032000"/>
                <a:chOff x="2285984" y="1000108"/>
                <a:chExt cx="4032000" cy="4032000"/>
              </a:xfrm>
            </p:grpSpPr>
            <p:grpSp>
              <p:nvGrpSpPr>
                <p:cNvPr id="12298" name="组合 7"/>
                <p:cNvGrpSpPr/>
                <p:nvPr/>
              </p:nvGrpSpPr>
              <p:grpSpPr>
                <a:xfrm>
                  <a:off x="2285984" y="1000108"/>
                  <a:ext cx="4032000" cy="4032000"/>
                  <a:chOff x="2285984" y="1000108"/>
                  <a:chExt cx="4032000" cy="4032000"/>
                </a:xfrm>
              </p:grpSpPr>
              <p:sp>
                <p:nvSpPr>
                  <p:cNvPr id="3" name="同心圆 2"/>
                  <p:cNvSpPr/>
                  <p:nvPr/>
                </p:nvSpPr>
                <p:spPr>
                  <a:xfrm>
                    <a:off x="2285984" y="1000108"/>
                    <a:ext cx="4032000" cy="4032000"/>
                  </a:xfrm>
                  <a:prstGeom prst="donut">
                    <a:avLst>
                      <a:gd name="adj" fmla="val 11496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" name="椭圆 3"/>
                  <p:cNvSpPr/>
                  <p:nvPr/>
                </p:nvSpPr>
                <p:spPr>
                  <a:xfrm>
                    <a:off x="4286110" y="2963724"/>
                    <a:ext cx="36511" cy="36510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6" name="直接连接符 5"/>
                  <p:cNvCxnSpPr/>
                  <p:nvPr/>
                </p:nvCxnSpPr>
                <p:spPr>
                  <a:xfrm flipV="1">
                    <a:off x="2571716" y="4071731"/>
                    <a:ext cx="3455774" cy="0"/>
                  </a:xfrm>
                  <a:prstGeom prst="line">
                    <a:avLst/>
                  </a:prstGeom>
                  <a:ln w="1905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0" name="直接连接符 9"/>
                <p:cNvCxnSpPr>
                  <a:stCxn id="4" idx="1"/>
                </p:cNvCxnSpPr>
                <p:nvPr/>
              </p:nvCxnSpPr>
              <p:spPr>
                <a:xfrm rot="16200000" flipH="1" flipV="1">
                  <a:off x="2880467" y="2661324"/>
                  <a:ext cx="1101657" cy="1719156"/>
                </a:xfrm>
                <a:prstGeom prst="line">
                  <a:avLst/>
                </a:prstGeom>
                <a:ln>
                  <a:prstDash val="lgDas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>
                  <a:stCxn id="4" idx="1"/>
                </p:cNvCxnSpPr>
                <p:nvPr/>
              </p:nvCxnSpPr>
              <p:spPr>
                <a:xfrm rot="16200000" flipH="1" flipV="1">
                  <a:off x="3747188" y="3531220"/>
                  <a:ext cx="1115943" cy="0"/>
                </a:xfrm>
                <a:prstGeom prst="line">
                  <a:avLst/>
                </a:prstGeom>
                <a:ln>
                  <a:prstDash val="lgDas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15"/>
                <p:cNvCxnSpPr>
                  <a:stCxn id="4" idx="1"/>
                </p:cNvCxnSpPr>
                <p:nvPr/>
              </p:nvCxnSpPr>
              <p:spPr>
                <a:xfrm rot="5400000">
                  <a:off x="3528127" y="3299459"/>
                  <a:ext cx="1101657" cy="442886"/>
                </a:xfrm>
                <a:prstGeom prst="line">
                  <a:avLst/>
                </a:prstGeom>
                <a:ln>
                  <a:prstDash val="lgDas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2302" name="TextBox 18"/>
                <p:cNvSpPr txBox="1"/>
                <p:nvPr/>
              </p:nvSpPr>
              <p:spPr>
                <a:xfrm>
                  <a:off x="2643174" y="3429000"/>
                  <a:ext cx="479618" cy="3693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228600" indent="-228600" algn="l" rtl="0" eaLnBrk="0" fontAlgn="base" hangingPunct="0">
                    <a:lnSpc>
                      <a:spcPct val="90000"/>
                    </a:lnSpc>
                    <a:spcBef>
                      <a:spcPts val="1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rtl="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defTabSz="457200"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800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R</a:t>
                  </a:r>
                  <a:r>
                    <a:rPr lang="en-US" altLang="zh-CN" sz="1800" baseline="-25000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m</a:t>
                  </a:r>
                  <a:endParaRPr lang="zh-CN" altLang="en-US" sz="1800" baseline="-25000" dirty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303" name="TextBox 19"/>
                <p:cNvSpPr txBox="1"/>
                <p:nvPr/>
              </p:nvSpPr>
              <p:spPr>
                <a:xfrm>
                  <a:off x="3635596" y="3488296"/>
                  <a:ext cx="436338" cy="3693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228600" indent="-228600" algn="l" rtl="0" eaLnBrk="0" fontAlgn="base" hangingPunct="0">
                    <a:lnSpc>
                      <a:spcPct val="90000"/>
                    </a:lnSpc>
                    <a:spcBef>
                      <a:spcPts val="1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rtl="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defTabSz="457200"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800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R</a:t>
                  </a:r>
                  <a:r>
                    <a:rPr lang="en-US" altLang="zh-CN" sz="1800" baseline="-25000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n</a:t>
                  </a:r>
                  <a:endParaRPr lang="zh-CN" altLang="en-US" sz="1800" baseline="-25000" dirty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304" name="TextBox 20"/>
                <p:cNvSpPr txBox="1"/>
                <p:nvPr/>
              </p:nvSpPr>
              <p:spPr>
                <a:xfrm>
                  <a:off x="2928926" y="4000504"/>
                  <a:ext cx="389850" cy="3693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228600" indent="-228600" algn="l" rtl="0" eaLnBrk="0" fontAlgn="base" hangingPunct="0">
                    <a:lnSpc>
                      <a:spcPct val="90000"/>
                    </a:lnSpc>
                    <a:spcBef>
                      <a:spcPts val="1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rtl="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defTabSz="457200"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800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r</a:t>
                  </a:r>
                  <a:r>
                    <a:rPr lang="en-US" altLang="zh-CN" sz="1800" baseline="-25000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m</a:t>
                  </a:r>
                  <a:endParaRPr lang="zh-CN" altLang="en-US" sz="1800" baseline="-25000" dirty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305" name="TextBox 21"/>
                <p:cNvSpPr txBox="1"/>
                <p:nvPr/>
              </p:nvSpPr>
              <p:spPr>
                <a:xfrm>
                  <a:off x="3939678" y="3714752"/>
                  <a:ext cx="346570" cy="3693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228600" indent="-228600" algn="l" rtl="0" eaLnBrk="0" fontAlgn="base" hangingPunct="0">
                    <a:lnSpc>
                      <a:spcPct val="90000"/>
                    </a:lnSpc>
                    <a:spcBef>
                      <a:spcPts val="1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rtl="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defTabSz="457200"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800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r</a:t>
                  </a:r>
                  <a:r>
                    <a:rPr lang="en-US" altLang="zh-CN" sz="1800" baseline="-25000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n</a:t>
                  </a:r>
                  <a:endParaRPr lang="zh-CN" altLang="en-US" sz="1800" baseline="-25000" dirty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7" name="矩形 6"/>
            <p:cNvSpPr/>
            <p:nvPr/>
          </p:nvSpPr>
          <p:spPr>
            <a:xfrm>
              <a:off x="4064943" y="2884488"/>
              <a:ext cx="568325" cy="92233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0" i="0" u="none" strike="noStrike" kern="1200" cap="none" spc="0" normalizeH="0" baseline="0" noProof="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uLnTx/>
                  <a:uFillTx/>
                  <a:latin typeface="+mn-lt"/>
                  <a:ea typeface="+mn-ea"/>
                  <a:cs typeface="+mn-cs"/>
                </a:rPr>
                <a:t>o</a:t>
              </a:r>
              <a:endParaRPr kumimoji="0" lang="zh-CN" altLang="en-US" sz="5400" b="0" i="0" u="none" strike="noStrike" kern="1200" cap="none" spc="0" normalizeH="0" baseline="0" noProof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4152256" y="4654550"/>
              <a:ext cx="646112" cy="92233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0" i="0" u="none" strike="noStrike" kern="1200" cap="none" spc="0" normalizeH="0" baseline="0" noProof="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uLnTx/>
                  <a:uFillTx/>
                  <a:latin typeface="+mn-lt"/>
                  <a:ea typeface="+mn-ea"/>
                  <a:cs typeface="+mn-cs"/>
                </a:rPr>
                <a:t>P</a:t>
              </a:r>
              <a:endParaRPr kumimoji="0" lang="zh-CN" altLang="en-US" sz="5400" b="0" i="0" u="none" strike="noStrike" kern="1200" cap="none" spc="0" normalizeH="0" baseline="0" noProof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1" name="文本框 2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240381" y="5229442"/>
            <a:ext cx="4550349" cy="952055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R="0"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noFill/>
                <a:latin typeface="+mn-lt"/>
                <a:ea typeface="+mn-ea"/>
                <a:cs typeface="+mn-cs"/>
              </a:rPr>
              <a:t> </a:t>
            </a:r>
            <a:endParaRPr kumimoji="0" lang="zh-CN" altLang="en-US" kern="1200" cap="none" spc="0" normalizeH="0" baseline="0" noProof="0">
              <a:noFill/>
              <a:latin typeface="+mn-lt"/>
              <a:ea typeface="+mn-ea"/>
              <a:cs typeface="+mn-cs"/>
            </a:endParaRPr>
          </a:p>
        </p:txBody>
      </p:sp>
      <p:sp>
        <p:nvSpPr>
          <p:cNvPr id="2" name="Text Box 65"/>
          <p:cNvSpPr txBox="1"/>
          <p:nvPr>
            <p:custDataLst>
              <p:tags r:id="rId3"/>
            </p:custDataLst>
          </p:nvPr>
        </p:nvSpPr>
        <p:spPr>
          <a:xfrm>
            <a:off x="2495233" y="188595"/>
            <a:ext cx="630364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偏离牛顿环中心的影响</a:t>
            </a: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——</a:t>
            </a:r>
            <a:r>
              <a:rPr lang="zh-CN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无影响</a:t>
            </a:r>
            <a:endParaRPr lang="zh-CN" altLang="en-US" sz="32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Text Box 65"/>
          <p:cNvSpPr txBox="1"/>
          <p:nvPr>
            <p:custDataLst>
              <p:tags r:id="rId4"/>
            </p:custDataLst>
          </p:nvPr>
        </p:nvSpPr>
        <p:spPr>
          <a:xfrm>
            <a:off x="7464108" y="1700530"/>
            <a:ext cx="306133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D-</a:t>
            </a:r>
            <a:r>
              <a:rPr lang="zh-CN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牛顿环的直径</a:t>
            </a:r>
            <a:endParaRPr lang="zh-CN" altLang="en-US" sz="32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"/>
          <p:cNvSpPr>
            <a:spLocks noGrp="1" noChangeArrowheads="1"/>
          </p:cNvSpPr>
          <p:nvPr>
            <p:ph type="ctrTitle"/>
          </p:nvPr>
        </p:nvSpPr>
        <p:spPr>
          <a:xfrm>
            <a:off x="839470" y="116840"/>
            <a:ext cx="7772400" cy="792163"/>
          </a:xfrm>
        </p:spPr>
        <p:txBody>
          <a:bodyPr vert="horz" wrap="square" lIns="91440" tIns="45720" rIns="91440" bIns="45720" numCol="1" rtlCol="0" anchor="b" anchorCtr="0" compatLnSpc="1">
            <a:normAutofit fontScale="9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实验仪器</a:t>
            </a:r>
            <a:endParaRPr kumimoji="0" lang="zh-CN" altLang="en-US" sz="60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1314" name="文本框 141313"/>
          <p:cNvSpPr txBox="1"/>
          <p:nvPr/>
        </p:nvSpPr>
        <p:spPr>
          <a:xfrm>
            <a:off x="5050155" y="470535"/>
            <a:ext cx="6366510" cy="3016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>
              <a:spcBef>
                <a:spcPct val="50000"/>
              </a:spcBef>
            </a:pPr>
            <a:endParaRPr dirty="0">
              <a:latin typeface="Arial" panose="020B0604020202020204" pitchFamily="34" charset="0"/>
            </a:endParaRPr>
          </a:p>
        </p:txBody>
      </p:sp>
      <p:pic>
        <p:nvPicPr>
          <p:cNvPr id="141315" name="图片 141314" descr="等厚干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5775" y="644525"/>
            <a:ext cx="7531100" cy="55219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1316" name="矩形标注 141315"/>
          <p:cNvSpPr/>
          <p:nvPr/>
        </p:nvSpPr>
        <p:spPr>
          <a:xfrm>
            <a:off x="10523220" y="986790"/>
            <a:ext cx="1539240" cy="417830"/>
          </a:xfrm>
          <a:prstGeom prst="wedgeRectCallout">
            <a:avLst>
              <a:gd name="adj1" fmla="val -100681"/>
              <a:gd name="adj2" fmla="val 24264"/>
            </a:avLst>
          </a:prstGeom>
          <a:solidFill>
            <a:srgbClr val="FFFF00"/>
          </a:solidFill>
          <a:ln w="190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读数显微镜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1317" name="矩形标注 141316"/>
          <p:cNvSpPr/>
          <p:nvPr/>
        </p:nvSpPr>
        <p:spPr>
          <a:xfrm>
            <a:off x="10523855" y="3721735"/>
            <a:ext cx="1286510" cy="337185"/>
          </a:xfrm>
          <a:prstGeom prst="wedgeRectCallout">
            <a:avLst>
              <a:gd name="adj1" fmla="val -126604"/>
              <a:gd name="adj2" fmla="val -171280"/>
            </a:avLst>
          </a:prstGeom>
          <a:solidFill>
            <a:srgbClr val="FFFF00"/>
          </a:solidFill>
          <a:ln w="190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牛顿环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1318" name="矩形标注 141317"/>
          <p:cNvSpPr/>
          <p:nvPr/>
        </p:nvSpPr>
        <p:spPr>
          <a:xfrm>
            <a:off x="6096635" y="1777365"/>
            <a:ext cx="1483995" cy="499745"/>
          </a:xfrm>
          <a:prstGeom prst="wedgeRectCallout">
            <a:avLst>
              <a:gd name="adj1" fmla="val 73748"/>
              <a:gd name="adj2" fmla="val 157750"/>
            </a:avLst>
          </a:prstGeom>
          <a:solidFill>
            <a:srgbClr val="FFFF00"/>
          </a:solidFill>
          <a:ln w="190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钠光灯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1319" name="矩形标注 141318"/>
          <p:cNvSpPr/>
          <p:nvPr/>
        </p:nvSpPr>
        <p:spPr>
          <a:xfrm>
            <a:off x="4674870" y="3289935"/>
            <a:ext cx="1628140" cy="355600"/>
          </a:xfrm>
          <a:prstGeom prst="wedgeRectCallout">
            <a:avLst>
              <a:gd name="adj1" fmla="val 78856"/>
              <a:gd name="adj2" fmla="val 204778"/>
            </a:avLst>
          </a:prstGeom>
          <a:solidFill>
            <a:srgbClr val="FFFF00"/>
          </a:solidFill>
          <a:ln w="190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钠光灯电源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1320" name="矩形标注 141319"/>
          <p:cNvSpPr/>
          <p:nvPr/>
        </p:nvSpPr>
        <p:spPr>
          <a:xfrm>
            <a:off x="10416540" y="5445125"/>
            <a:ext cx="1482090" cy="456565"/>
          </a:xfrm>
          <a:prstGeom prst="wedgeRectCallout">
            <a:avLst>
              <a:gd name="adj1" fmla="val -80560"/>
              <a:gd name="adj2" fmla="val -209190"/>
            </a:avLst>
          </a:prstGeom>
          <a:solidFill>
            <a:srgbClr val="FFFF00"/>
          </a:solidFill>
          <a:ln w="190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高度调节架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3313"/>
          <p:cNvSpPr>
            <a:spLocks noGrp="1"/>
          </p:cNvSpPr>
          <p:nvPr/>
        </p:nvSpPr>
        <p:spPr>
          <a:xfrm>
            <a:off x="3011805" y="401320"/>
            <a:ext cx="35052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solidFill>
                  <a:srgbClr val="FF0000"/>
                </a:solidFill>
              </a:rPr>
              <a:t>读数显微镜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13339" name="对象 13338"/>
          <p:cNvGraphicFramePr/>
          <p:nvPr/>
        </p:nvGraphicFramePr>
        <p:xfrm>
          <a:off x="5374005" y="1239520"/>
          <a:ext cx="4246563" cy="523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103120" imgH="2590800" progId="Word.Picture.8">
                  <p:embed/>
                </p:oleObj>
              </mc:Choice>
              <mc:Fallback>
                <p:oleObj name="" r:id="rId1" imgW="2103120" imgH="2590800" progId="Word.Picture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74005" y="1239520"/>
                        <a:ext cx="4246563" cy="5235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40" name="圆角矩形标注 13339"/>
          <p:cNvSpPr/>
          <p:nvPr/>
        </p:nvSpPr>
        <p:spPr>
          <a:xfrm>
            <a:off x="8422005" y="96520"/>
            <a:ext cx="1600200" cy="609600"/>
          </a:xfrm>
          <a:prstGeom prst="wedgeRoundRectCallout">
            <a:avLst>
              <a:gd name="adj1" fmla="val -93750"/>
              <a:gd name="adj2" fmla="val 204949"/>
              <a:gd name="adj3" fmla="val 16667"/>
            </a:avLst>
          </a:prstGeom>
          <a:solidFill>
            <a:srgbClr val="66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r>
              <a:rPr lang="zh-CN" altLang="en-US" b="1" dirty="0">
                <a:solidFill>
                  <a:srgbClr val="FF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目镜</a:t>
            </a:r>
            <a:endParaRPr lang="zh-CN" altLang="en-US" b="1" dirty="0">
              <a:solidFill>
                <a:srgbClr val="FF000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3342" name="圆角矩形标注 13341"/>
          <p:cNvSpPr/>
          <p:nvPr/>
        </p:nvSpPr>
        <p:spPr>
          <a:xfrm>
            <a:off x="9869805" y="3144520"/>
            <a:ext cx="1371600" cy="533400"/>
          </a:xfrm>
          <a:prstGeom prst="wedgeRoundRectCallout">
            <a:avLst>
              <a:gd name="adj1" fmla="val -158565"/>
              <a:gd name="adj2" fmla="val 121431"/>
              <a:gd name="adj3" fmla="val 16667"/>
            </a:avLst>
          </a:prstGeom>
          <a:solidFill>
            <a:srgbClr val="66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r>
              <a:rPr lang="zh-CN" altLang="en-US" b="1" dirty="0">
                <a:solidFill>
                  <a:srgbClr val="FF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物镜</a:t>
            </a:r>
            <a:endParaRPr lang="zh-CN" altLang="en-US" b="1" dirty="0">
              <a:solidFill>
                <a:srgbClr val="FF000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3343" name="圆角矩形标注 13342"/>
          <p:cNvSpPr/>
          <p:nvPr/>
        </p:nvSpPr>
        <p:spPr>
          <a:xfrm>
            <a:off x="9336405" y="1772920"/>
            <a:ext cx="2438400" cy="533400"/>
          </a:xfrm>
          <a:prstGeom prst="wedgeRoundRectCallout">
            <a:avLst>
              <a:gd name="adj1" fmla="val -94597"/>
              <a:gd name="adj2" fmla="val 252977"/>
              <a:gd name="adj3" fmla="val 16667"/>
            </a:avLst>
          </a:prstGeom>
          <a:solidFill>
            <a:srgbClr val="66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r>
              <a:rPr lang="zh-CN" altLang="en-US" b="1" dirty="0">
                <a:solidFill>
                  <a:srgbClr val="FF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上下移动旋钮</a:t>
            </a:r>
            <a:endParaRPr lang="zh-CN" altLang="en-US" b="1" dirty="0">
              <a:solidFill>
                <a:srgbClr val="FF000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3344" name="圆角矩形标注 13343"/>
          <p:cNvSpPr/>
          <p:nvPr/>
        </p:nvSpPr>
        <p:spPr>
          <a:xfrm>
            <a:off x="9412605" y="4439920"/>
            <a:ext cx="2362200" cy="457200"/>
          </a:xfrm>
          <a:prstGeom prst="wedgeRoundRectCallout">
            <a:avLst>
              <a:gd name="adj1" fmla="val -96370"/>
              <a:gd name="adj2" fmla="val 33333"/>
              <a:gd name="adj3" fmla="val 16667"/>
            </a:avLst>
          </a:prstGeom>
          <a:solidFill>
            <a:srgbClr val="66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r>
              <a:rPr lang="zh-CN" altLang="en-US" b="1" dirty="0">
                <a:solidFill>
                  <a:srgbClr val="FF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水平移动旋钮</a:t>
            </a:r>
            <a:endParaRPr lang="zh-CN" altLang="en-US" b="1" dirty="0">
              <a:solidFill>
                <a:srgbClr val="FF000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3345" name="圆角矩形标注 13344"/>
          <p:cNvSpPr/>
          <p:nvPr/>
        </p:nvSpPr>
        <p:spPr>
          <a:xfrm>
            <a:off x="3559175" y="1468120"/>
            <a:ext cx="1820545" cy="457200"/>
          </a:xfrm>
          <a:prstGeom prst="wedgeRoundRectCallout">
            <a:avLst>
              <a:gd name="adj1" fmla="val 202875"/>
              <a:gd name="adj2" fmla="val 440625"/>
              <a:gd name="adj3" fmla="val 16667"/>
            </a:avLst>
          </a:prstGeom>
          <a:solidFill>
            <a:srgbClr val="66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r>
              <a:rPr lang="zh-CN" altLang="en-US" b="1" dirty="0">
                <a:solidFill>
                  <a:srgbClr val="FF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水平读数标尺</a:t>
            </a:r>
            <a:endParaRPr lang="zh-CN" altLang="en-US" b="1" dirty="0">
              <a:solidFill>
                <a:srgbClr val="FF000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3346" name="圆角矩形标注 13345"/>
          <p:cNvSpPr/>
          <p:nvPr/>
        </p:nvSpPr>
        <p:spPr>
          <a:xfrm>
            <a:off x="4208780" y="3754120"/>
            <a:ext cx="1165225" cy="457200"/>
          </a:xfrm>
          <a:prstGeom prst="wedgeRoundRectCallout">
            <a:avLst>
              <a:gd name="adj1" fmla="val 175273"/>
              <a:gd name="adj2" fmla="val 96181"/>
              <a:gd name="adj3" fmla="val 16667"/>
            </a:avLst>
          </a:prstGeom>
          <a:solidFill>
            <a:srgbClr val="66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r>
              <a:rPr lang="zh-CN" altLang="en-US" b="1" dirty="0">
                <a:solidFill>
                  <a:srgbClr val="FF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读数盘</a:t>
            </a:r>
            <a:endParaRPr lang="zh-CN" altLang="en-US" b="1" dirty="0">
              <a:solidFill>
                <a:srgbClr val="FF000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44078" t="33630" r="21089" b="5583"/>
          <a:stretch>
            <a:fillRect/>
          </a:stretch>
        </p:blipFill>
        <p:spPr>
          <a:xfrm>
            <a:off x="119380" y="2421255"/>
            <a:ext cx="3634740" cy="3568065"/>
          </a:xfrm>
          <a:prstGeom prst="rect">
            <a:avLst/>
          </a:prstGeom>
        </p:spPr>
      </p:pic>
      <p:sp>
        <p:nvSpPr>
          <p:cNvPr id="4" name="标题 13313"/>
          <p:cNvSpPr>
            <a:spLocks noGrp="1"/>
          </p:cNvSpPr>
          <p:nvPr/>
        </p:nvSpPr>
        <p:spPr>
          <a:xfrm>
            <a:off x="198120" y="6165215"/>
            <a:ext cx="630174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FF0000"/>
                </a:solidFill>
              </a:rPr>
              <a:t>注：与螺旋测微器相反，读数从上向下读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Text Box 5"/>
          <p:cNvSpPr txBox="1"/>
          <p:nvPr/>
        </p:nvSpPr>
        <p:spPr>
          <a:xfrm>
            <a:off x="4221798" y="2997200"/>
            <a:ext cx="10810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zh-CN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39" name="Text Box 6"/>
          <p:cNvSpPr txBox="1"/>
          <p:nvPr/>
        </p:nvSpPr>
        <p:spPr>
          <a:xfrm>
            <a:off x="3789998" y="1700213"/>
            <a:ext cx="158432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zh-CN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40" name="Text Box 7"/>
          <p:cNvSpPr txBox="1"/>
          <p:nvPr/>
        </p:nvSpPr>
        <p:spPr>
          <a:xfrm>
            <a:off x="3934460" y="2420938"/>
            <a:ext cx="17272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zh-CN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41" name="Text Box 8"/>
          <p:cNvSpPr txBox="1"/>
          <p:nvPr/>
        </p:nvSpPr>
        <p:spPr>
          <a:xfrm>
            <a:off x="5229860" y="3068638"/>
            <a:ext cx="93662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zh-CN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42" name="Text Box 9"/>
          <p:cNvSpPr txBox="1"/>
          <p:nvPr/>
        </p:nvSpPr>
        <p:spPr>
          <a:xfrm>
            <a:off x="3645535" y="1916113"/>
            <a:ext cx="187325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zh-CN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43" name="Text Box 10"/>
          <p:cNvSpPr txBox="1"/>
          <p:nvPr/>
        </p:nvSpPr>
        <p:spPr>
          <a:xfrm>
            <a:off x="3645535" y="2276475"/>
            <a:ext cx="158432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zh-CN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44" name="Text Box 11"/>
          <p:cNvSpPr txBox="1"/>
          <p:nvPr/>
        </p:nvSpPr>
        <p:spPr>
          <a:xfrm>
            <a:off x="3502660" y="2492375"/>
            <a:ext cx="201612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zh-CN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45" name="Text Box 1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3284855" y="260033"/>
            <a:ext cx="8604250" cy="6012352"/>
          </a:xfrm>
          <a:prstGeom prst="rect">
            <a:avLst/>
          </a:prstGeom>
          <a:blipFill>
            <a:blip r:embed="rId1"/>
            <a:stretch>
              <a:fillRect l="-1062" t="-1013" r="-992"/>
            </a:stretch>
          </a:blipFill>
          <a:ln>
            <a:noFill/>
          </a:ln>
        </p:spPr>
        <p:txBody>
          <a:bodyPr/>
          <a:lstStyle/>
          <a:p>
            <a:pPr marR="0" defTabSz="4572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noFill/>
                <a:latin typeface="Calibri" panose="020F0502020204030204" pitchFamily="34" charset="0"/>
                <a:ea typeface="+mn-ea"/>
                <a:cs typeface="+mn-cs"/>
              </a:rPr>
              <a:t> </a:t>
            </a:r>
            <a:endParaRPr kumimoji="0" lang="zh-CN" altLang="en-US" kern="1200" cap="none" spc="0" normalizeH="0" baseline="0" noProof="0">
              <a:noFill/>
              <a:latin typeface="Calibri" panose="020F0502020204030204" pitchFamily="34" charset="0"/>
              <a:ea typeface="+mn-ea"/>
              <a:cs typeface="+mn-cs"/>
            </a:endParaRPr>
          </a:p>
        </p:txBody>
      </p:sp>
      <p:grpSp>
        <p:nvGrpSpPr>
          <p:cNvPr id="14346" name="Group 67"/>
          <p:cNvGrpSpPr/>
          <p:nvPr/>
        </p:nvGrpSpPr>
        <p:grpSpPr>
          <a:xfrm>
            <a:off x="8437563" y="549275"/>
            <a:ext cx="3598862" cy="3311525"/>
            <a:chOff x="3334" y="709"/>
            <a:chExt cx="2267" cy="2086"/>
          </a:xfrm>
        </p:grpSpPr>
        <p:sp>
          <p:nvSpPr>
            <p:cNvPr id="14348" name="AutoShape 47"/>
            <p:cNvSpPr/>
            <p:nvPr/>
          </p:nvSpPr>
          <p:spPr>
            <a:xfrm>
              <a:off x="4376" y="799"/>
              <a:ext cx="862" cy="272"/>
            </a:xfrm>
            <a:prstGeom prst="wedgeRectCallout">
              <a:avLst>
                <a:gd name="adj1" fmla="val -91069"/>
                <a:gd name="adj2" fmla="val 43384"/>
              </a:avLst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defTabSz="45720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zh-CN" dirty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49" name="AutoShape 48"/>
            <p:cNvSpPr/>
            <p:nvPr/>
          </p:nvSpPr>
          <p:spPr>
            <a:xfrm>
              <a:off x="3378" y="2341"/>
              <a:ext cx="1089" cy="31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21600">
                  <a:moveTo>
                    <a:pt x="10949" y="10800"/>
                  </a:moveTo>
                  <a:cubicBezTo>
                    <a:pt x="10949" y="10882"/>
                    <a:pt x="10882" y="10949"/>
                    <a:pt x="10800" y="10949"/>
                  </a:cubicBezTo>
                  <a:cubicBezTo>
                    <a:pt x="10717" y="10949"/>
                    <a:pt x="10651" y="10882"/>
                    <a:pt x="10651" y="10800"/>
                  </a:cubicBezTo>
                  <a:lnTo>
                    <a:pt x="0" y="10800"/>
                  </a:lnTo>
                  <a:cubicBezTo>
                    <a:pt x="0" y="16764"/>
                    <a:pt x="4835" y="21600"/>
                    <a:pt x="10800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lnTo>
                    <a:pt x="10949" y="10800"/>
                  </a:lnTo>
                  <a:close/>
                </a:path>
              </a:pathLst>
            </a:custGeom>
            <a:solidFill>
              <a:srgbClr val="CCFFFF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350" name="Rectangle 49"/>
            <p:cNvSpPr/>
            <p:nvPr/>
          </p:nvSpPr>
          <p:spPr>
            <a:xfrm>
              <a:off x="3378" y="2659"/>
              <a:ext cx="1089" cy="136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45720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51" name="Rectangle 50"/>
            <p:cNvSpPr/>
            <p:nvPr/>
          </p:nvSpPr>
          <p:spPr>
            <a:xfrm rot="3089403">
              <a:off x="3864" y="1357"/>
              <a:ext cx="101" cy="1167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45720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52" name="Line 51"/>
            <p:cNvSpPr/>
            <p:nvPr/>
          </p:nvSpPr>
          <p:spPr>
            <a:xfrm>
              <a:off x="4059" y="1888"/>
              <a:ext cx="1179" cy="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arrow" w="med" len="med"/>
              <a:tailEnd type="none" w="med" len="med"/>
            </a:ln>
          </p:spPr>
        </p:sp>
        <p:sp>
          <p:nvSpPr>
            <p:cNvPr id="14353" name="Line 52"/>
            <p:cNvSpPr/>
            <p:nvPr/>
          </p:nvSpPr>
          <p:spPr>
            <a:xfrm>
              <a:off x="4059" y="1888"/>
              <a:ext cx="0" cy="544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354" name="Line 53"/>
            <p:cNvSpPr/>
            <p:nvPr/>
          </p:nvSpPr>
          <p:spPr>
            <a:xfrm>
              <a:off x="3787" y="2115"/>
              <a:ext cx="1451" cy="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arrow" w="med" len="med"/>
              <a:tailEnd type="none" w="med" len="med"/>
            </a:ln>
          </p:spPr>
        </p:sp>
        <p:sp>
          <p:nvSpPr>
            <p:cNvPr id="14355" name="Line 54"/>
            <p:cNvSpPr/>
            <p:nvPr/>
          </p:nvSpPr>
          <p:spPr>
            <a:xfrm>
              <a:off x="3787" y="2114"/>
              <a:ext cx="0" cy="318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356" name="Line 55"/>
            <p:cNvSpPr/>
            <p:nvPr/>
          </p:nvSpPr>
          <p:spPr>
            <a:xfrm flipV="1">
              <a:off x="3560" y="1253"/>
              <a:ext cx="0" cy="1406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357" name="Line 56"/>
            <p:cNvSpPr/>
            <p:nvPr/>
          </p:nvSpPr>
          <p:spPr>
            <a:xfrm flipV="1">
              <a:off x="3605" y="1253"/>
              <a:ext cx="0" cy="1361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358" name="Line 57"/>
            <p:cNvSpPr/>
            <p:nvPr/>
          </p:nvSpPr>
          <p:spPr>
            <a:xfrm flipV="1">
              <a:off x="4286" y="1253"/>
              <a:ext cx="0" cy="1406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359" name="Line 58"/>
            <p:cNvSpPr/>
            <p:nvPr/>
          </p:nvSpPr>
          <p:spPr>
            <a:xfrm flipV="1">
              <a:off x="4240" y="1253"/>
              <a:ext cx="0" cy="1361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360" name="Rectangle 59"/>
            <p:cNvSpPr/>
            <p:nvPr/>
          </p:nvSpPr>
          <p:spPr>
            <a:xfrm>
              <a:off x="3831" y="709"/>
              <a:ext cx="182" cy="3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45720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61" name="AutoShape 60"/>
            <p:cNvSpPr/>
            <p:nvPr/>
          </p:nvSpPr>
          <p:spPr>
            <a:xfrm>
              <a:off x="3831" y="1026"/>
              <a:ext cx="182" cy="9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21600">
                  <a:moveTo>
                    <a:pt x="0" y="0"/>
                  </a:moveTo>
                  <a:lnTo>
                    <a:pt x="5138" y="21600"/>
                  </a:lnTo>
                  <a:lnTo>
                    <a:pt x="16462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362" name="Text Box 61"/>
            <p:cNvSpPr txBox="1"/>
            <p:nvPr/>
          </p:nvSpPr>
          <p:spPr>
            <a:xfrm>
              <a:off x="4331" y="799"/>
              <a:ext cx="104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457200"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000" dirty="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49" charset="-122"/>
                </a:rPr>
                <a:t>显微镜物镜</a:t>
              </a:r>
              <a:endParaRPr lang="zh-CN" altLang="en-US" sz="2000" dirty="0">
                <a:solidFill>
                  <a:schemeClr val="bg2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4363" name="AutoShape 62"/>
            <p:cNvSpPr/>
            <p:nvPr/>
          </p:nvSpPr>
          <p:spPr>
            <a:xfrm>
              <a:off x="4558" y="1253"/>
              <a:ext cx="998" cy="317"/>
            </a:xfrm>
            <a:prstGeom prst="wedgeRectCallout">
              <a:avLst>
                <a:gd name="adj1" fmla="val -67736"/>
                <a:gd name="adj2" fmla="val 48736"/>
              </a:avLst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defTabSz="45720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zh-CN" dirty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64" name="Text Box 63"/>
            <p:cNvSpPr txBox="1"/>
            <p:nvPr/>
          </p:nvSpPr>
          <p:spPr>
            <a:xfrm>
              <a:off x="4581" y="1298"/>
              <a:ext cx="1020" cy="256"/>
            </a:xfrm>
            <a:prstGeom prst="rect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457200"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45</a:t>
              </a:r>
              <a:r>
                <a:rPr lang="en-US" altLang="zh-CN" sz="2000" baseline="30000" dirty="0">
                  <a:solidFill>
                    <a:schemeClr val="bg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r>
                <a:rPr lang="zh-CN" altLang="en-US" sz="2000" dirty="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49" charset="-122"/>
                </a:rPr>
                <a:t>反射玻璃</a:t>
              </a:r>
              <a:endParaRPr lang="zh-CN" altLang="en-US" sz="2000" dirty="0">
                <a:solidFill>
                  <a:schemeClr val="bg2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4365" name="Text Box 64"/>
            <p:cNvSpPr txBox="1"/>
            <p:nvPr/>
          </p:nvSpPr>
          <p:spPr>
            <a:xfrm>
              <a:off x="4512" y="1865"/>
              <a:ext cx="77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457200"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000" dirty="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49" charset="-122"/>
                </a:rPr>
                <a:t>入射钠光</a:t>
              </a:r>
              <a:endParaRPr lang="zh-CN" altLang="en-US" sz="2000" dirty="0">
                <a:solidFill>
                  <a:schemeClr val="bg2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4366" name="AutoShape 65"/>
            <p:cNvSpPr/>
            <p:nvPr/>
          </p:nvSpPr>
          <p:spPr>
            <a:xfrm>
              <a:off x="4603" y="2478"/>
              <a:ext cx="953" cy="272"/>
            </a:xfrm>
            <a:prstGeom prst="wedgeRectCallout">
              <a:avLst>
                <a:gd name="adj1" fmla="val -68468"/>
                <a:gd name="adj2" fmla="val -736"/>
              </a:avLst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defTabSz="45720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zh-CN" dirty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67" name="Text Box 66"/>
            <p:cNvSpPr txBox="1"/>
            <p:nvPr/>
          </p:nvSpPr>
          <p:spPr>
            <a:xfrm>
              <a:off x="4603" y="2478"/>
              <a:ext cx="95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457200"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000" dirty="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49" charset="-122"/>
                </a:rPr>
                <a:t>牛顿环装置</a:t>
              </a:r>
              <a:endParaRPr lang="zh-CN" altLang="en-US" sz="2000" dirty="0">
                <a:solidFill>
                  <a:schemeClr val="bg2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sp>
        <p:nvSpPr>
          <p:cNvPr id="14347" name="Text Box 68"/>
          <p:cNvSpPr txBox="1"/>
          <p:nvPr/>
        </p:nvSpPr>
        <p:spPr>
          <a:xfrm>
            <a:off x="9046845" y="4076700"/>
            <a:ext cx="26638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rgbClr val="0066FF"/>
                </a:solidFill>
                <a:latin typeface="Arial" panose="020B0604020202020204" pitchFamily="34" charset="0"/>
                <a:ea typeface="楷体_GB2312" pitchFamily="49" charset="-122"/>
              </a:rPr>
              <a:t>牛顿环干涉光路图</a:t>
            </a:r>
            <a:endParaRPr lang="zh-CN" altLang="en-US" sz="2400" dirty="0">
              <a:solidFill>
                <a:srgbClr val="0066FF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0723" name="文本占位符 30722"/>
          <p:cNvSpPr>
            <a:spLocks noGrp="1"/>
          </p:cNvSpPr>
          <p:nvPr>
            <p:ph type="body" idx="1"/>
          </p:nvPr>
        </p:nvSpPr>
        <p:spPr>
          <a:xfrm>
            <a:off x="119380" y="1124585"/>
            <a:ext cx="4321810" cy="4813300"/>
          </a:xfrm>
        </p:spPr>
        <p:txBody>
          <a:bodyPr/>
          <a:p>
            <a:pPr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布置光路；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钠光灯照亮视场；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目镜调焦、物镜调焦；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buNone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buNone/>
            </a:pPr>
            <a:endParaRPr lang="en-US" altLang="zh-CN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20485" name="组合 20484"/>
          <p:cNvGrpSpPr/>
          <p:nvPr/>
        </p:nvGrpSpPr>
        <p:grpSpPr>
          <a:xfrm>
            <a:off x="443865" y="3485515"/>
            <a:ext cx="2583815" cy="2418715"/>
            <a:chOff x="3748" y="6544"/>
            <a:chExt cx="5088" cy="4136"/>
          </a:xfrm>
        </p:grpSpPr>
        <p:sp>
          <p:nvSpPr>
            <p:cNvPr id="20486" name="直接连接符 20485"/>
            <p:cNvSpPr/>
            <p:nvPr/>
          </p:nvSpPr>
          <p:spPr>
            <a:xfrm flipV="1">
              <a:off x="6124" y="9420"/>
              <a:ext cx="0" cy="360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20487" name="任意多边形 20486"/>
            <p:cNvSpPr/>
            <p:nvPr/>
          </p:nvSpPr>
          <p:spPr>
            <a:xfrm>
              <a:off x="3825" y="8586"/>
              <a:ext cx="975" cy="354"/>
            </a:xfrm>
            <a:custGeom>
              <a:avLst/>
              <a:gdLst/>
              <a:ahLst/>
              <a:cxnLst/>
              <a:pathLst>
                <a:path w="975" h="408">
                  <a:moveTo>
                    <a:pt x="975" y="0"/>
                  </a:moveTo>
                  <a:lnTo>
                    <a:pt x="103" y="0"/>
                  </a:lnTo>
                  <a:lnTo>
                    <a:pt x="30" y="63"/>
                  </a:lnTo>
                  <a:lnTo>
                    <a:pt x="0" y="131"/>
                  </a:lnTo>
                  <a:lnTo>
                    <a:pt x="0" y="258"/>
                  </a:lnTo>
                  <a:cubicBezTo>
                    <a:pt x="17" y="383"/>
                    <a:pt x="13" y="308"/>
                    <a:pt x="30" y="333"/>
                  </a:cubicBezTo>
                  <a:lnTo>
                    <a:pt x="105" y="408"/>
                  </a:lnTo>
                  <a:lnTo>
                    <a:pt x="959" y="408"/>
                  </a:lnTo>
                  <a:lnTo>
                    <a:pt x="975" y="0"/>
                  </a:lnTo>
                  <a:close/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488" name="任意多边形 20487"/>
            <p:cNvSpPr/>
            <p:nvPr/>
          </p:nvSpPr>
          <p:spPr>
            <a:xfrm>
              <a:off x="3748" y="9990"/>
              <a:ext cx="3212" cy="630"/>
            </a:xfrm>
            <a:custGeom>
              <a:avLst/>
              <a:gdLst/>
              <a:ahLst/>
              <a:cxnLst/>
              <a:pathLst>
                <a:path w="3212" h="630">
                  <a:moveTo>
                    <a:pt x="272" y="0"/>
                  </a:moveTo>
                  <a:lnTo>
                    <a:pt x="3212" y="0"/>
                  </a:lnTo>
                  <a:lnTo>
                    <a:pt x="3212" y="630"/>
                  </a:lnTo>
                  <a:lnTo>
                    <a:pt x="0" y="630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rgbClr val="CCFFFF"/>
            </a:solidFill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489" name="任意多边形 20488"/>
            <p:cNvSpPr/>
            <p:nvPr/>
          </p:nvSpPr>
          <p:spPr>
            <a:xfrm>
              <a:off x="3900" y="9480"/>
              <a:ext cx="780" cy="510"/>
            </a:xfrm>
            <a:custGeom>
              <a:avLst/>
              <a:gdLst/>
              <a:ahLst/>
              <a:cxnLst/>
              <a:pathLst>
                <a:path w="780" h="510">
                  <a:moveTo>
                    <a:pt x="120" y="510"/>
                  </a:moveTo>
                  <a:lnTo>
                    <a:pt x="0" y="402"/>
                  </a:lnTo>
                  <a:lnTo>
                    <a:pt x="0" y="90"/>
                  </a:lnTo>
                  <a:lnTo>
                    <a:pt x="120" y="0"/>
                  </a:lnTo>
                  <a:lnTo>
                    <a:pt x="780" y="0"/>
                  </a:lnTo>
                  <a:lnTo>
                    <a:pt x="780" y="510"/>
                  </a:lnTo>
                  <a:lnTo>
                    <a:pt x="120" y="510"/>
                  </a:lnTo>
                  <a:close/>
                </a:path>
              </a:pathLst>
            </a:custGeom>
            <a:solidFill>
              <a:srgbClr val="CCFFFF"/>
            </a:solidFill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490" name="矩形 20489"/>
            <p:cNvSpPr/>
            <p:nvPr/>
          </p:nvSpPr>
          <p:spPr>
            <a:xfrm>
              <a:off x="4156" y="9042"/>
              <a:ext cx="360" cy="438"/>
            </a:xfrm>
            <a:prstGeom prst="rect">
              <a:avLst/>
            </a:prstGeom>
            <a:gradFill rotWithShape="0">
              <a:gsLst>
                <a:gs pos="0">
                  <a:srgbClr val="C0C0C0">
                    <a:gamma/>
                    <a:shade val="46275"/>
                    <a:invGamma/>
                  </a:srgbClr>
                </a:gs>
                <a:gs pos="50000">
                  <a:srgbClr val="C0C0C0"/>
                </a:gs>
                <a:gs pos="100000">
                  <a:srgbClr val="C0C0C0">
                    <a:gamma/>
                    <a:shade val="46275"/>
                    <a:invGamma/>
                  </a:srgbClr>
                </a:gs>
              </a:gsLst>
              <a:lin ang="0" scaled="1"/>
              <a:tileRect/>
            </a:gra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491" name="矩形 20490"/>
            <p:cNvSpPr/>
            <p:nvPr/>
          </p:nvSpPr>
          <p:spPr>
            <a:xfrm>
              <a:off x="4036" y="8466"/>
              <a:ext cx="600" cy="570"/>
            </a:xfrm>
            <a:prstGeom prst="rect">
              <a:avLst/>
            </a:prstGeom>
            <a:solidFill>
              <a:srgbClr val="CC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492" name="任意多边形 20491"/>
            <p:cNvSpPr/>
            <p:nvPr/>
          </p:nvSpPr>
          <p:spPr>
            <a:xfrm>
              <a:off x="4792" y="8040"/>
              <a:ext cx="688" cy="1062"/>
            </a:xfrm>
            <a:custGeom>
              <a:avLst/>
              <a:gdLst/>
              <a:ahLst/>
              <a:cxnLst/>
              <a:pathLst>
                <a:path w="688" h="1062">
                  <a:moveTo>
                    <a:pt x="0" y="990"/>
                  </a:moveTo>
                  <a:lnTo>
                    <a:pt x="0" y="90"/>
                  </a:lnTo>
                  <a:lnTo>
                    <a:pt x="88" y="0"/>
                  </a:lnTo>
                  <a:lnTo>
                    <a:pt x="688" y="0"/>
                  </a:lnTo>
                  <a:lnTo>
                    <a:pt x="688" y="1062"/>
                  </a:lnTo>
                  <a:lnTo>
                    <a:pt x="76" y="1062"/>
                  </a:lnTo>
                  <a:lnTo>
                    <a:pt x="0" y="990"/>
                  </a:lnTo>
                  <a:close/>
                </a:path>
              </a:pathLst>
            </a:custGeom>
            <a:solidFill>
              <a:srgbClr val="CCFFFF"/>
            </a:solidFill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493" name="矩形 20492"/>
            <p:cNvSpPr/>
            <p:nvPr/>
          </p:nvSpPr>
          <p:spPr>
            <a:xfrm>
              <a:off x="5476" y="8094"/>
              <a:ext cx="88" cy="888"/>
            </a:xfrm>
            <a:prstGeom prst="rect">
              <a:avLst/>
            </a:prstGeom>
            <a:solidFill>
              <a:srgbClr val="333333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494" name="椭圆 20493"/>
            <p:cNvSpPr/>
            <p:nvPr/>
          </p:nvSpPr>
          <p:spPr>
            <a:xfrm>
              <a:off x="4740" y="8196"/>
              <a:ext cx="792" cy="75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495" name="椭圆 20494"/>
            <p:cNvSpPr/>
            <p:nvPr/>
          </p:nvSpPr>
          <p:spPr>
            <a:xfrm>
              <a:off x="5000" y="8424"/>
              <a:ext cx="256" cy="27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496" name="椭圆 20495"/>
            <p:cNvSpPr/>
            <p:nvPr/>
          </p:nvSpPr>
          <p:spPr>
            <a:xfrm>
              <a:off x="4920" y="8682"/>
              <a:ext cx="148" cy="150"/>
            </a:xfrm>
            <a:prstGeom prst="ellipse">
              <a:avLst/>
            </a:prstGeom>
            <a:solidFill>
              <a:srgbClr val="C0C0C0"/>
            </a:solidFill>
            <a:ln w="38100" cap="flat" cmpd="sng">
              <a:solidFill>
                <a:srgbClr val="80808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497" name="矩形 20496"/>
            <p:cNvSpPr/>
            <p:nvPr/>
          </p:nvSpPr>
          <p:spPr>
            <a:xfrm>
              <a:off x="5888" y="7470"/>
              <a:ext cx="496" cy="1290"/>
            </a:xfrm>
            <a:prstGeom prst="rect">
              <a:avLst/>
            </a:prstGeom>
            <a:gradFill rotWithShape="0">
              <a:gsLst>
                <a:gs pos="0">
                  <a:srgbClr val="CCFFFF">
                    <a:gamma/>
                    <a:shade val="46275"/>
                    <a:invGamma/>
                  </a:srgbClr>
                </a:gs>
                <a:gs pos="50000">
                  <a:srgbClr val="CCFFFF"/>
                </a:gs>
                <a:gs pos="100000">
                  <a:srgbClr val="CCFFFF">
                    <a:gamma/>
                    <a:shade val="46275"/>
                    <a:invGamma/>
                  </a:srgbClr>
                </a:gs>
              </a:gsLst>
              <a:lin ang="0" scaled="1"/>
              <a:tileRect/>
            </a:gra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498" name="矩形 20497"/>
            <p:cNvSpPr/>
            <p:nvPr/>
          </p:nvSpPr>
          <p:spPr>
            <a:xfrm>
              <a:off x="5564" y="7872"/>
              <a:ext cx="360" cy="1080"/>
            </a:xfrm>
            <a:prstGeom prst="rect">
              <a:avLst/>
            </a:prstGeom>
            <a:solidFill>
              <a:srgbClr val="CC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499" name="矩形 20498"/>
            <p:cNvSpPr/>
            <p:nvPr/>
          </p:nvSpPr>
          <p:spPr>
            <a:xfrm>
              <a:off x="5984" y="8760"/>
              <a:ext cx="332" cy="60"/>
            </a:xfrm>
            <a:prstGeom prst="rect">
              <a:avLst/>
            </a:prstGeom>
            <a:solidFill>
              <a:srgbClr val="333333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00" name="任意多边形 20499"/>
            <p:cNvSpPr/>
            <p:nvPr/>
          </p:nvSpPr>
          <p:spPr>
            <a:xfrm>
              <a:off x="5848" y="7044"/>
              <a:ext cx="624" cy="294"/>
            </a:xfrm>
            <a:custGeom>
              <a:avLst/>
              <a:gdLst/>
              <a:ahLst/>
              <a:cxnLst/>
              <a:pathLst>
                <a:path w="624" h="294">
                  <a:moveTo>
                    <a:pt x="0" y="294"/>
                  </a:moveTo>
                  <a:lnTo>
                    <a:pt x="332" y="0"/>
                  </a:lnTo>
                  <a:lnTo>
                    <a:pt x="624" y="294"/>
                  </a:lnTo>
                  <a:lnTo>
                    <a:pt x="0" y="294"/>
                  </a:lnTo>
                  <a:close/>
                </a:path>
              </a:pathLst>
            </a:custGeom>
            <a:gradFill rotWithShape="0">
              <a:gsLst>
                <a:gs pos="0">
                  <a:srgbClr val="CCFFFF">
                    <a:gamma/>
                    <a:shade val="46275"/>
                    <a:invGamma/>
                  </a:srgbClr>
                </a:gs>
                <a:gs pos="50000">
                  <a:srgbClr val="CCFFFF"/>
                </a:gs>
                <a:gs pos="100000">
                  <a:srgbClr val="CCFFFF">
                    <a:gamma/>
                    <a:shade val="46275"/>
                    <a:invGamma/>
                  </a:srgbClr>
                </a:gs>
              </a:gsLst>
              <a:lin ang="18900000" scaled="1"/>
              <a:tileRect/>
            </a:gra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01" name="矩形 20500"/>
            <p:cNvSpPr/>
            <p:nvPr/>
          </p:nvSpPr>
          <p:spPr>
            <a:xfrm>
              <a:off x="6040" y="8832"/>
              <a:ext cx="212" cy="300"/>
            </a:xfrm>
            <a:prstGeom prst="rect">
              <a:avLst/>
            </a:prstGeom>
            <a:gradFill rotWithShape="0">
              <a:gsLst>
                <a:gs pos="0">
                  <a:srgbClr val="DDDDDD">
                    <a:gamma/>
                    <a:shade val="46275"/>
                    <a:invGamma/>
                  </a:srgbClr>
                </a:gs>
                <a:gs pos="50000">
                  <a:srgbClr val="DDDDDD"/>
                </a:gs>
                <a:gs pos="100000">
                  <a:srgbClr val="DDDDDD">
                    <a:gamma/>
                    <a:shade val="46275"/>
                    <a:invGamma/>
                  </a:srgbClr>
                </a:gs>
              </a:gsLst>
              <a:lin ang="0" scaled="1"/>
              <a:tileRect/>
            </a:gra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02" name="任意多边形 20501"/>
            <p:cNvSpPr/>
            <p:nvPr/>
          </p:nvSpPr>
          <p:spPr>
            <a:xfrm>
              <a:off x="6044" y="9156"/>
              <a:ext cx="212" cy="300"/>
            </a:xfrm>
            <a:custGeom>
              <a:avLst/>
              <a:gdLst/>
              <a:ahLst/>
              <a:cxnLst/>
              <a:pathLst>
                <a:path w="212" h="300">
                  <a:moveTo>
                    <a:pt x="0" y="0"/>
                  </a:moveTo>
                  <a:lnTo>
                    <a:pt x="212" y="0"/>
                  </a:lnTo>
                  <a:lnTo>
                    <a:pt x="212" y="162"/>
                  </a:lnTo>
                  <a:lnTo>
                    <a:pt x="0" y="30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DDDDDD">
                    <a:gamma/>
                    <a:shade val="46275"/>
                    <a:invGamma/>
                  </a:srgbClr>
                </a:gs>
                <a:gs pos="50000">
                  <a:srgbClr val="DDDDDD"/>
                </a:gs>
                <a:gs pos="100000">
                  <a:srgbClr val="DDDDDD">
                    <a:gamma/>
                    <a:shade val="46275"/>
                    <a:invGamma/>
                  </a:srgbClr>
                </a:gs>
              </a:gsLst>
              <a:lin ang="0" scaled="1"/>
              <a:tileRect/>
            </a:gra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03" name="矩形 20502"/>
            <p:cNvSpPr/>
            <p:nvPr/>
          </p:nvSpPr>
          <p:spPr>
            <a:xfrm>
              <a:off x="5836" y="7344"/>
              <a:ext cx="644" cy="120"/>
            </a:xfrm>
            <a:prstGeom prst="rect">
              <a:avLst/>
            </a:prstGeom>
            <a:gradFill rotWithShape="0">
              <a:gsLst>
                <a:gs pos="0">
                  <a:srgbClr val="CCFFFF">
                    <a:gamma/>
                    <a:shade val="46275"/>
                    <a:invGamma/>
                  </a:srgbClr>
                </a:gs>
                <a:gs pos="50000">
                  <a:srgbClr val="CCFFFF"/>
                </a:gs>
                <a:gs pos="100000">
                  <a:srgbClr val="CCFFFF">
                    <a:gamma/>
                    <a:shade val="46275"/>
                    <a:invGamma/>
                  </a:srgbClr>
                </a:gs>
              </a:gsLst>
              <a:lin ang="0" scaled="1"/>
              <a:tileRect/>
            </a:gra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04" name="矩形 20503"/>
            <p:cNvSpPr/>
            <p:nvPr/>
          </p:nvSpPr>
          <p:spPr>
            <a:xfrm rot="-2525468">
              <a:off x="5856" y="7104"/>
              <a:ext cx="316" cy="84"/>
            </a:xfrm>
            <a:prstGeom prst="rect">
              <a:avLst/>
            </a:prstGeom>
            <a:gradFill rotWithShape="0">
              <a:gsLst>
                <a:gs pos="0">
                  <a:srgbClr val="CCFFFF">
                    <a:gamma/>
                    <a:shade val="46275"/>
                    <a:invGamma/>
                  </a:srgbClr>
                </a:gs>
                <a:gs pos="50000">
                  <a:srgbClr val="CCFFFF"/>
                </a:gs>
                <a:gs pos="100000">
                  <a:srgbClr val="CCFFFF">
                    <a:gamma/>
                    <a:shade val="46275"/>
                    <a:invGamma/>
                  </a:srgbClr>
                </a:gs>
              </a:gsLst>
              <a:lin ang="0" scaled="1"/>
              <a:tileRect/>
            </a:gra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05" name="任意多边形 20504"/>
            <p:cNvSpPr/>
            <p:nvPr/>
          </p:nvSpPr>
          <p:spPr>
            <a:xfrm>
              <a:off x="5836" y="7212"/>
              <a:ext cx="632" cy="126"/>
            </a:xfrm>
            <a:custGeom>
              <a:avLst/>
              <a:gdLst/>
              <a:ahLst/>
              <a:cxnLst/>
              <a:pathLst>
                <a:path w="479" h="144">
                  <a:moveTo>
                    <a:pt x="0" y="144"/>
                  </a:moveTo>
                  <a:lnTo>
                    <a:pt x="20" y="96"/>
                  </a:lnTo>
                  <a:lnTo>
                    <a:pt x="96" y="36"/>
                  </a:lnTo>
                  <a:lnTo>
                    <a:pt x="179" y="8"/>
                  </a:lnTo>
                  <a:lnTo>
                    <a:pt x="244" y="0"/>
                  </a:lnTo>
                  <a:cubicBezTo>
                    <a:pt x="270" y="1"/>
                    <a:pt x="311" y="3"/>
                    <a:pt x="336" y="12"/>
                  </a:cubicBezTo>
                  <a:cubicBezTo>
                    <a:pt x="361" y="21"/>
                    <a:pt x="380" y="41"/>
                    <a:pt x="396" y="53"/>
                  </a:cubicBezTo>
                  <a:lnTo>
                    <a:pt x="434" y="83"/>
                  </a:lnTo>
                  <a:lnTo>
                    <a:pt x="479" y="143"/>
                  </a:lnTo>
                  <a:lnTo>
                    <a:pt x="0" y="144"/>
                  </a:lnTo>
                  <a:close/>
                </a:path>
              </a:pathLst>
            </a:custGeom>
            <a:gradFill rotWithShape="0">
              <a:gsLst>
                <a:gs pos="0">
                  <a:srgbClr val="CCFFFF">
                    <a:gamma/>
                    <a:shade val="46275"/>
                    <a:invGamma/>
                  </a:srgbClr>
                </a:gs>
                <a:gs pos="50000">
                  <a:srgbClr val="CCFFFF"/>
                </a:gs>
                <a:gs pos="100000">
                  <a:srgbClr val="CCFFFF">
                    <a:gamma/>
                    <a:shade val="46275"/>
                    <a:invGamma/>
                  </a:srgbClr>
                </a:gs>
              </a:gsLst>
              <a:lin ang="0" scaled="1"/>
              <a:tileRect/>
            </a:gra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0506" name="组合 20505"/>
            <p:cNvGrpSpPr/>
            <p:nvPr/>
          </p:nvGrpSpPr>
          <p:grpSpPr>
            <a:xfrm rot="-2382192">
              <a:off x="5576" y="6544"/>
              <a:ext cx="413" cy="638"/>
              <a:chOff x="7864" y="7686"/>
              <a:chExt cx="464" cy="798"/>
            </a:xfrm>
          </p:grpSpPr>
          <p:sp>
            <p:nvSpPr>
              <p:cNvPr id="20507" name="矩形 20506"/>
              <p:cNvSpPr/>
              <p:nvPr/>
            </p:nvSpPr>
            <p:spPr>
              <a:xfrm>
                <a:off x="7948" y="7986"/>
                <a:ext cx="300" cy="498"/>
              </a:xfrm>
              <a:prstGeom prst="rect">
                <a:avLst/>
              </a:prstGeom>
              <a:gradFill rotWithShape="0">
                <a:gsLst>
                  <a:gs pos="0">
                    <a:srgbClr val="CCFFFF">
                      <a:gamma/>
                      <a:shade val="34902"/>
                      <a:invGamma/>
                    </a:srgbClr>
                  </a:gs>
                  <a:gs pos="50000">
                    <a:srgbClr val="CCFFFF"/>
                  </a:gs>
                  <a:gs pos="100000">
                    <a:srgbClr val="CCFFFF">
                      <a:gamma/>
                      <a:shade val="34902"/>
                      <a:invGamma/>
                    </a:srgbClr>
                  </a:gs>
                </a:gsLst>
                <a:lin ang="18900000" scaled="1"/>
                <a:tileRect/>
              </a:gra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508" name="矩形 20507"/>
              <p:cNvSpPr/>
              <p:nvPr/>
            </p:nvSpPr>
            <p:spPr>
              <a:xfrm>
                <a:off x="7864" y="7842"/>
                <a:ext cx="464" cy="138"/>
              </a:xfrm>
              <a:prstGeom prst="rect">
                <a:avLst/>
              </a:prstGeom>
              <a:gradFill rotWithShape="0">
                <a:gsLst>
                  <a:gs pos="0">
                    <a:srgbClr val="CCFFFF">
                      <a:gamma/>
                      <a:shade val="34902"/>
                      <a:invGamma/>
                    </a:srgbClr>
                  </a:gs>
                  <a:gs pos="50000">
                    <a:srgbClr val="CCFFFF"/>
                  </a:gs>
                  <a:gs pos="100000">
                    <a:srgbClr val="CCFFFF">
                      <a:gamma/>
                      <a:shade val="34902"/>
                      <a:invGamma/>
                    </a:srgbClr>
                  </a:gs>
                </a:gsLst>
                <a:lin ang="18900000" scaled="1"/>
                <a:tileRect/>
              </a:gra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509" name="矩形 20508"/>
              <p:cNvSpPr/>
              <p:nvPr/>
            </p:nvSpPr>
            <p:spPr>
              <a:xfrm>
                <a:off x="7944" y="7758"/>
                <a:ext cx="300" cy="78"/>
              </a:xfrm>
              <a:prstGeom prst="rect">
                <a:avLst/>
              </a:prstGeom>
              <a:gradFill rotWithShape="0">
                <a:gsLst>
                  <a:gs pos="0">
                    <a:srgbClr val="CCFFFF">
                      <a:gamma/>
                      <a:shade val="34902"/>
                      <a:invGamma/>
                    </a:srgbClr>
                  </a:gs>
                  <a:gs pos="50000">
                    <a:srgbClr val="CCFFFF"/>
                  </a:gs>
                  <a:gs pos="100000">
                    <a:srgbClr val="CCFFFF">
                      <a:gamma/>
                      <a:shade val="34902"/>
                      <a:invGamma/>
                    </a:srgbClr>
                  </a:gs>
                </a:gsLst>
                <a:lin ang="18900000" scaled="1"/>
                <a:tileRect/>
              </a:gra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510" name="矩形 20509"/>
              <p:cNvSpPr/>
              <p:nvPr/>
            </p:nvSpPr>
            <p:spPr>
              <a:xfrm>
                <a:off x="7912" y="7686"/>
                <a:ext cx="404" cy="72"/>
              </a:xfrm>
              <a:prstGeom prst="rect">
                <a:avLst/>
              </a:prstGeom>
              <a:gradFill rotWithShape="0">
                <a:gsLst>
                  <a:gs pos="0">
                    <a:srgbClr val="CCFFFF">
                      <a:gamma/>
                      <a:shade val="34902"/>
                      <a:invGamma/>
                    </a:srgbClr>
                  </a:gs>
                  <a:gs pos="50000">
                    <a:srgbClr val="CCFFFF"/>
                  </a:gs>
                  <a:gs pos="100000">
                    <a:srgbClr val="CCFFFF">
                      <a:gamma/>
                      <a:shade val="34902"/>
                      <a:invGamma/>
                    </a:srgbClr>
                  </a:gs>
                </a:gsLst>
                <a:lin ang="18900000" scaled="1"/>
                <a:tileRect/>
              </a:gra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0511" name="椭圆 20510"/>
            <p:cNvSpPr/>
            <p:nvPr/>
          </p:nvSpPr>
          <p:spPr>
            <a:xfrm>
              <a:off x="5668" y="7692"/>
              <a:ext cx="408" cy="390"/>
            </a:xfrm>
            <a:prstGeom prst="ellipse">
              <a:avLst/>
            </a:prstGeom>
            <a:solidFill>
              <a:srgbClr val="80808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12" name="椭圆 20511"/>
            <p:cNvSpPr/>
            <p:nvPr/>
          </p:nvSpPr>
          <p:spPr>
            <a:xfrm>
              <a:off x="5760" y="7776"/>
              <a:ext cx="240" cy="24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13" name="矩形 20512"/>
            <p:cNvSpPr/>
            <p:nvPr/>
          </p:nvSpPr>
          <p:spPr>
            <a:xfrm>
              <a:off x="5804" y="9762"/>
              <a:ext cx="704" cy="222"/>
            </a:xfrm>
            <a:prstGeom prst="rect">
              <a:avLst/>
            </a:prstGeom>
            <a:gradFill rotWithShape="0">
              <a:gsLst>
                <a:gs pos="0">
                  <a:srgbClr val="808080">
                    <a:gamma/>
                    <a:shade val="6275"/>
                    <a:invGamma/>
                  </a:srgbClr>
                </a:gs>
                <a:gs pos="50000">
                  <a:srgbClr val="808080"/>
                </a:gs>
                <a:gs pos="100000">
                  <a:srgbClr val="808080">
                    <a:gamma/>
                    <a:shade val="6275"/>
                    <a:invGamma/>
                  </a:srgbClr>
                </a:gs>
              </a:gsLst>
              <a:lin ang="0" scaled="1"/>
              <a:tileRect/>
            </a:gra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14" name="任意多边形 20513"/>
            <p:cNvSpPr/>
            <p:nvPr/>
          </p:nvSpPr>
          <p:spPr>
            <a:xfrm>
              <a:off x="8008" y="8550"/>
              <a:ext cx="481" cy="1905"/>
            </a:xfrm>
            <a:custGeom>
              <a:avLst/>
              <a:gdLst/>
              <a:ahLst/>
              <a:cxnLst/>
              <a:pathLst>
                <a:path w="481" h="1905">
                  <a:moveTo>
                    <a:pt x="0" y="1905"/>
                  </a:moveTo>
                  <a:lnTo>
                    <a:pt x="1" y="222"/>
                  </a:lnTo>
                  <a:lnTo>
                    <a:pt x="89" y="42"/>
                  </a:lnTo>
                  <a:lnTo>
                    <a:pt x="253" y="0"/>
                  </a:lnTo>
                  <a:lnTo>
                    <a:pt x="420" y="45"/>
                  </a:lnTo>
                  <a:lnTo>
                    <a:pt x="480" y="225"/>
                  </a:lnTo>
                  <a:lnTo>
                    <a:pt x="481" y="1902"/>
                  </a:lnTo>
                  <a:lnTo>
                    <a:pt x="0" y="1905"/>
                  </a:lnTo>
                  <a:close/>
                </a:path>
              </a:pathLst>
            </a:custGeom>
            <a:solidFill>
              <a:srgbClr val="F0E738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15" name="任意多边形 20514"/>
            <p:cNvSpPr/>
            <p:nvPr/>
          </p:nvSpPr>
          <p:spPr>
            <a:xfrm>
              <a:off x="7725" y="10452"/>
              <a:ext cx="1111" cy="228"/>
            </a:xfrm>
            <a:custGeom>
              <a:avLst/>
              <a:gdLst/>
              <a:ahLst/>
              <a:cxnLst/>
              <a:pathLst>
                <a:path w="1111" h="228">
                  <a:moveTo>
                    <a:pt x="223" y="0"/>
                  </a:moveTo>
                  <a:lnTo>
                    <a:pt x="839" y="0"/>
                  </a:lnTo>
                  <a:lnTo>
                    <a:pt x="900" y="78"/>
                  </a:lnTo>
                  <a:lnTo>
                    <a:pt x="990" y="176"/>
                  </a:lnTo>
                  <a:lnTo>
                    <a:pt x="1111" y="228"/>
                  </a:lnTo>
                  <a:lnTo>
                    <a:pt x="0" y="228"/>
                  </a:lnTo>
                  <a:lnTo>
                    <a:pt x="98" y="161"/>
                  </a:lnTo>
                  <a:lnTo>
                    <a:pt x="158" y="93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80808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16" name="直接连接符 20515"/>
            <p:cNvSpPr/>
            <p:nvPr/>
          </p:nvSpPr>
          <p:spPr>
            <a:xfrm flipH="1">
              <a:off x="6177" y="9384"/>
              <a:ext cx="1652" cy="6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20517" name="直接连接符 20516"/>
            <p:cNvSpPr/>
            <p:nvPr/>
          </p:nvSpPr>
          <p:spPr>
            <a:xfrm>
              <a:off x="6224" y="9402"/>
              <a:ext cx="0" cy="360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headEnd type="none" w="med" len="med"/>
              <a:tailEnd type="triangle" w="sm" len="sm"/>
            </a:ln>
          </p:spPr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Text Box 6"/>
          <p:cNvSpPr txBox="1">
            <a:spLocks noChangeArrowheads="1"/>
          </p:cNvSpPr>
          <p:nvPr/>
        </p:nvSpPr>
        <p:spPr bwMode="auto">
          <a:xfrm>
            <a:off x="1774825" y="1125538"/>
            <a:ext cx="8497888" cy="36623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AutoNum type="arabicPeriod" startAt="2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定量测量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: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测量时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,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测微鼓轮只能沿一个方向旋转， 切忌反转，以免产生空程差。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干涉条纹如何定位？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在实验报告上说明你的定位方法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pic>
        <p:nvPicPr>
          <p:cNvPr id="15363" name="Picture 7" descr="00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3338" y="2420938"/>
            <a:ext cx="5257800" cy="3937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54135" t="36352" r="13974" b="12194"/>
          <a:stretch>
            <a:fillRect/>
          </a:stretch>
        </p:blipFill>
        <p:spPr>
          <a:xfrm>
            <a:off x="191770" y="1557020"/>
            <a:ext cx="3888105" cy="352869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58859" t="38454" r="13380" b="4852"/>
          <a:stretch>
            <a:fillRect/>
          </a:stretch>
        </p:blipFill>
        <p:spPr>
          <a:xfrm>
            <a:off x="4403725" y="1917065"/>
            <a:ext cx="3384550" cy="38881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58271" t="40556" r="12792" b="5898"/>
          <a:stretch>
            <a:fillRect/>
          </a:stretch>
        </p:blipFill>
        <p:spPr>
          <a:xfrm>
            <a:off x="8184515" y="1988820"/>
            <a:ext cx="3528060" cy="36722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Text Box 9"/>
          <p:cNvSpPr txBox="1"/>
          <p:nvPr/>
        </p:nvSpPr>
        <p:spPr>
          <a:xfrm>
            <a:off x="1897063" y="6429375"/>
            <a:ext cx="346075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结果表示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R=</a:t>
            </a:r>
            <a:r>
              <a:rPr lang="en-US" altLang="zh-CN" u="sng" dirty="0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±U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87" name="Text Box 11"/>
          <p:cNvSpPr txBox="1"/>
          <p:nvPr/>
        </p:nvSpPr>
        <p:spPr>
          <a:xfrm>
            <a:off x="1827213" y="-7937"/>
            <a:ext cx="2185987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l-GR" altLang="zh-CN" dirty="0">
                <a:latin typeface="Arial" panose="020B0604020202020204" pitchFamily="34" charset="0"/>
                <a:ea typeface="宋体" panose="02010600030101010101" pitchFamily="2" charset="-122"/>
              </a:rPr>
              <a:t>λ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＝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589.3nm</a:t>
            </a:r>
            <a:endParaRPr lang="el-GR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881189" y="764704"/>
          <a:ext cx="8072438" cy="5544021"/>
        </p:xfrm>
        <a:graphic>
          <a:graphicData uri="http://schemas.openxmlformats.org/drawingml/2006/table">
            <a:tbl>
              <a:tblPr/>
              <a:tblGrid>
                <a:gridCol w="1134778"/>
                <a:gridCol w="713351"/>
                <a:gridCol w="664865"/>
                <a:gridCol w="628889"/>
                <a:gridCol w="629007"/>
                <a:gridCol w="630436"/>
                <a:gridCol w="611852"/>
                <a:gridCol w="611852"/>
                <a:gridCol w="611852"/>
                <a:gridCol w="611852"/>
                <a:gridCol w="611852"/>
                <a:gridCol w="611852"/>
              </a:tblGrid>
              <a:tr h="327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环的级数</a:t>
                      </a:r>
                      <a:endParaRPr kumimoji="0" 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24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23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22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21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738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环的位置</a:t>
                      </a:r>
                      <a:endParaRPr kumimoji="0" 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右侧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(mm)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7384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左侧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(mm)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68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环的直径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Dm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(mm)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45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1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(mm</a:t>
                      </a:r>
                      <a:r>
                        <a:rPr kumimoji="0" lang="en-US" altLang="zh-CN" sz="1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 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81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环的级数</a:t>
                      </a:r>
                      <a:endParaRPr kumimoji="0" 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738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环的位置</a:t>
                      </a:r>
                      <a:endParaRPr kumimoji="0" 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右侧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(mm)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90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左侧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(mm)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0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环的直径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Dn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(mm)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8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1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(mm</a:t>
                      </a:r>
                      <a:r>
                        <a:rPr kumimoji="0" lang="en-US" altLang="zh-CN" sz="1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 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86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1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-D</a:t>
                      </a:r>
                      <a:r>
                        <a:rPr kumimoji="0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1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(mm</a:t>
                      </a:r>
                      <a:r>
                        <a:rPr kumimoji="0" lang="en-US" altLang="zh-CN" sz="1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 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9982">
                <a:tc>
                  <a:txBody>
                    <a:bodyPr/>
                    <a:lstStyle/>
                    <a:p>
                      <a:endParaRPr lang="zh-CN" dirty="0"/>
                    </a:p>
                  </a:txBody>
                  <a:tcPr marL="68582" marR="68582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2"/>
                      <a:stretch>
                        <a:fillRect l="-3226" t="-850000" r="-613441" b="-7093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(m)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  <a:cs typeface="宋体" panose="02010600030101010101" pitchFamily="2" charset="-122"/>
                        </a:rPr>
                        <a:t>U</a:t>
                      </a:r>
                      <a:r>
                        <a:rPr kumimoji="0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仿宋_GB2312" pitchFamily="49" charset="-122"/>
                          <a:cs typeface="宋体" panose="02010600030101010101" pitchFamily="2" charset="-122"/>
                        </a:rPr>
                        <a:t>R</a:t>
                      </a:r>
                      <a:endParaRPr kumimoji="0" lang="zh-CN" altLang="zh-CN" sz="1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itchFamily="49" charset="-122"/>
                        <a:cs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(m)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标题 28673"/>
          <p:cNvSpPr>
            <a:spLocks noGrp="1"/>
          </p:cNvSpPr>
          <p:nvPr>
            <p:ph type="title"/>
          </p:nvPr>
        </p:nvSpPr>
        <p:spPr>
          <a:xfrm>
            <a:off x="838200" y="-27305"/>
            <a:ext cx="10515600" cy="1325563"/>
          </a:xfrm>
        </p:spPr>
        <p:txBody>
          <a:bodyPr anchor="ctr" anchorCtr="0"/>
          <a:p>
            <a:r>
              <a:rPr lang="zh-CN" altLang="en-US" dirty="0">
                <a:ea typeface="黑体" panose="02010609060101010101" pitchFamily="2" charset="-122"/>
              </a:rPr>
              <a:t>不确定度的估算</a:t>
            </a:r>
            <a:endParaRPr lang="zh-CN" altLang="en-US" dirty="0">
              <a:ea typeface="黑体" panose="02010609060101010101" pitchFamily="2" charset="-122"/>
            </a:endParaRPr>
          </a:p>
        </p:txBody>
      </p:sp>
      <p:sp>
        <p:nvSpPr>
          <p:cNvPr id="28675" name="文本占位符 28674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buNone/>
            </a:pPr>
            <a:endParaRPr lang="zh-CN" altLang="en-US" dirty="0"/>
          </a:p>
          <a:p>
            <a:pPr>
              <a:buNone/>
            </a:pPr>
            <a:endParaRPr lang="zh-CN" altLang="en-US" dirty="0"/>
          </a:p>
        </p:txBody>
      </p:sp>
      <p:graphicFrame>
        <p:nvGraphicFramePr>
          <p:cNvPr id="28677" name="对象 28676"/>
          <p:cNvGraphicFramePr/>
          <p:nvPr/>
        </p:nvGraphicFramePr>
        <p:xfrm>
          <a:off x="1415098" y="2708910"/>
          <a:ext cx="8924290" cy="350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8089900" imgH="3175000" progId="Word.Document.8">
                  <p:embed/>
                </p:oleObj>
              </mc:Choice>
              <mc:Fallback>
                <p:oleObj name="" r:id="rId1" imgW="8089900" imgH="3175000" progId="Word.Document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15098" y="2708910"/>
                        <a:ext cx="8924290" cy="35001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对象 5"/>
          <p:cNvGraphicFramePr/>
          <p:nvPr>
            <p:custDataLst>
              <p:tags r:id="rId3"/>
            </p:custDataLst>
          </p:nvPr>
        </p:nvGraphicFramePr>
        <p:xfrm>
          <a:off x="2099628" y="1227455"/>
          <a:ext cx="2564765" cy="1003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4" imgW="1358900" imgH="685800" progId="Equation.KSEE3">
                  <p:embed/>
                </p:oleObj>
              </mc:Choice>
              <mc:Fallback>
                <p:oleObj name="" r:id="rId4" imgW="1358900" imgH="685800" progId="Equation.KSEE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99628" y="1227455"/>
                        <a:ext cx="2564765" cy="10039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对象 8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5627688" y="1298575"/>
          <a:ext cx="1412240" cy="829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7" imgW="736600" imgH="431800" progId="Equation.KSEE3">
                  <p:embed/>
                </p:oleObj>
              </mc:Choice>
              <mc:Fallback>
                <p:oleObj name="" r:id="rId7" imgW="736600" imgH="431800" progId="Equation.KSEE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27688" y="1298575"/>
                        <a:ext cx="1412240" cy="8293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对象 9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8161338" y="1316673"/>
          <a:ext cx="2121535" cy="585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0" imgW="1104900" imgH="304800" progId="Equation.KSEE3">
                  <p:embed/>
                </p:oleObj>
              </mc:Choice>
              <mc:Fallback>
                <p:oleObj name="" r:id="rId10" imgW="1104900" imgH="304800" progId="Equation.KSEE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161338" y="1316673"/>
                        <a:ext cx="2121535" cy="5854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标题 48129"/>
          <p:cNvSpPr>
            <a:spLocks noGrp="1"/>
          </p:cNvSpPr>
          <p:nvPr>
            <p:ph type="title"/>
          </p:nvPr>
        </p:nvSpPr>
        <p:spPr>
          <a:xfrm>
            <a:off x="838200" y="-171450"/>
            <a:ext cx="10515600" cy="1325563"/>
          </a:xfrm>
        </p:spPr>
        <p:txBody>
          <a:bodyPr anchor="ctr" anchorCtr="0"/>
          <a:p>
            <a:r>
              <a:rPr lang="zh-CN" altLang="en-US" dirty="0">
                <a:ea typeface="黑体" panose="02010609060101010101" pitchFamily="2" charset="-122"/>
              </a:rPr>
              <a:t>四、注意事项</a:t>
            </a:r>
            <a:endParaRPr lang="zh-CN" altLang="en-US" dirty="0">
              <a:ea typeface="黑体" panose="02010609060101010101" pitchFamily="2" charset="-122"/>
            </a:endParaRPr>
          </a:p>
        </p:txBody>
      </p:sp>
      <p:sp>
        <p:nvSpPr>
          <p:cNvPr id="48131" name="文本占位符 48130"/>
          <p:cNvSpPr>
            <a:spLocks noGrp="1"/>
          </p:cNvSpPr>
          <p:nvPr>
            <p:ph type="body" idx="1"/>
          </p:nvPr>
        </p:nvSpPr>
        <p:spPr>
          <a:xfrm>
            <a:off x="887095" y="1340485"/>
            <a:ext cx="10963910" cy="4572000"/>
          </a:xfrm>
        </p:spPr>
        <p:txBody>
          <a:bodyPr/>
          <a:p>
            <a:pPr algn="just">
              <a:buNone/>
            </a:pPr>
            <a:r>
              <a:rPr lang="en-US" altLang="zh-CN" sz="2800">
                <a:latin typeface="黑体" panose="02010609060101010101" pitchFamily="2" charset="-122"/>
                <a:ea typeface="黑体" panose="02010609060101010101" pitchFamily="2" charset="-122"/>
              </a:rPr>
              <a:t>1、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在布置光路时，注意将显微镜底座中的反光镜转到背光一侧。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just">
              <a:buNone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2、在测量过程中，鼓轮应沿同一方向转动。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just">
              <a:buNone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3、对物镜调焦时，应使物镜筒从最低点自下而上缓慢地调节，以免损坏仪器。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just">
              <a:buNone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4、调节时，应预先使显微镜筒标尺位置处在可移动范围的中点，以避免在测量时超出标尺的测量范围。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just">
              <a:buNone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5、测量过程中，不要碰动牛顿环和震动实验台，以免影响测量的准确性。</a:t>
            </a:r>
            <a:r>
              <a:rPr lang="zh-CN" altLang="en-US" b="1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endParaRPr lang="en-US" altLang="zh-CN" b="1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标题 29697"/>
          <p:cNvSpPr>
            <a:spLocks noGrp="1"/>
          </p:cNvSpPr>
          <p:nvPr>
            <p:ph type="title"/>
          </p:nvPr>
        </p:nvSpPr>
        <p:spPr>
          <a:xfrm>
            <a:off x="3071495" y="-99060"/>
            <a:ext cx="7772400" cy="1143000"/>
          </a:xfrm>
        </p:spPr>
        <p:txBody>
          <a:bodyPr anchor="ctr" anchorCtr="0"/>
          <a:p>
            <a:pPr algn="l"/>
            <a:r>
              <a:rPr lang="zh-CN" altLang="en-US" dirty="0">
                <a:ea typeface="黑体" panose="02010609060101010101" pitchFamily="2" charset="-122"/>
              </a:rPr>
              <a:t>八、问题讨论</a:t>
            </a:r>
            <a:endParaRPr lang="zh-CN" altLang="en-US" dirty="0">
              <a:ea typeface="黑体" panose="02010609060101010101" pitchFamily="2" charset="-122"/>
            </a:endParaRPr>
          </a:p>
        </p:txBody>
      </p:sp>
      <p:sp>
        <p:nvSpPr>
          <p:cNvPr id="29699" name="文本占位符 29698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buNone/>
            </a:pPr>
            <a:r>
              <a:rPr lang="zh-CN" altLang="en-US" dirty="0">
                <a:solidFill>
                  <a:srgbClr val="000066"/>
                </a:solidFill>
                <a:ea typeface="黑体" panose="02010609060101010101" pitchFamily="2" charset="-122"/>
              </a:rPr>
              <a:t>1、本实验是用什么方法处理数据的？此法有何优点？</a:t>
            </a:r>
            <a:endParaRPr lang="zh-CN" altLang="en-US" dirty="0">
              <a:solidFill>
                <a:srgbClr val="000066"/>
              </a:solidFill>
              <a:ea typeface="黑体" panose="02010609060101010101" pitchFamily="2" charset="-122"/>
            </a:endParaRPr>
          </a:p>
          <a:p>
            <a:pPr>
              <a:buNone/>
            </a:pPr>
            <a:r>
              <a:rPr lang="zh-CN" altLang="en-US" dirty="0">
                <a:ea typeface="黑体" panose="02010609060101010101" pitchFamily="2" charset="-122"/>
              </a:rPr>
              <a:t>答：是用逐差法处理数据的。优点为：可以充分利用数据，体现出多次测量的优点，减小了测量误差。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标题 31745"/>
          <p:cNvSpPr>
            <a:spLocks noGrp="1"/>
          </p:cNvSpPr>
          <p:nvPr>
            <p:ph type="title"/>
          </p:nvPr>
        </p:nvSpPr>
        <p:spPr>
          <a:xfrm>
            <a:off x="3352800" y="457200"/>
            <a:ext cx="7772400" cy="1143000"/>
          </a:xfrm>
        </p:spPr>
        <p:txBody>
          <a:bodyPr anchor="ctr" anchorCtr="0"/>
          <a:p>
            <a:pPr algn="l"/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问题讨论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1747" name="文本占位符 31746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buNone/>
            </a:pPr>
            <a:r>
              <a:rPr lang="zh-CN" altLang="en-US" dirty="0">
                <a:solidFill>
                  <a:srgbClr val="000066"/>
                </a:solidFill>
                <a:ea typeface="黑体" panose="02010609060101010101" pitchFamily="2" charset="-122"/>
              </a:rPr>
              <a:t>2、实验中，如何避免螺纹的空程差？</a:t>
            </a:r>
            <a:endParaRPr lang="zh-CN" altLang="en-US" dirty="0">
              <a:solidFill>
                <a:srgbClr val="000066"/>
              </a:solidFill>
              <a:ea typeface="黑体" panose="02010609060101010101" pitchFamily="2" charset="-122"/>
            </a:endParaRPr>
          </a:p>
          <a:p>
            <a:pPr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答：在测量过程中，显微镜的鼓轮应沿同一方向转动，中途不可倒转，以便消除螺纹的间隙误差。 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31751" name="组合 31750"/>
          <p:cNvGrpSpPr/>
          <p:nvPr/>
        </p:nvGrpSpPr>
        <p:grpSpPr>
          <a:xfrm>
            <a:off x="3841750" y="4114800"/>
            <a:ext cx="4616450" cy="2106613"/>
            <a:chOff x="2405" y="1967"/>
            <a:chExt cx="7271" cy="3317"/>
          </a:xfrm>
        </p:grpSpPr>
        <p:sp>
          <p:nvSpPr>
            <p:cNvPr id="31752" name="矩形 31751"/>
            <p:cNvSpPr/>
            <p:nvPr/>
          </p:nvSpPr>
          <p:spPr>
            <a:xfrm>
              <a:off x="2405" y="2959"/>
              <a:ext cx="3300" cy="62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31753" name="组合 31752"/>
            <p:cNvGrpSpPr/>
            <p:nvPr/>
          </p:nvGrpSpPr>
          <p:grpSpPr>
            <a:xfrm>
              <a:off x="2807" y="2742"/>
              <a:ext cx="341" cy="1798"/>
              <a:chOff x="3461" y="2680"/>
              <a:chExt cx="341" cy="1798"/>
            </a:xfrm>
          </p:grpSpPr>
          <p:sp>
            <p:nvSpPr>
              <p:cNvPr id="31754" name="矩形 31753"/>
              <p:cNvSpPr/>
              <p:nvPr/>
            </p:nvSpPr>
            <p:spPr>
              <a:xfrm>
                <a:off x="3472" y="2959"/>
                <a:ext cx="330" cy="1209"/>
              </a:xfrm>
              <a:prstGeom prst="rect">
                <a:avLst/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755" name="等腰三角形 31754"/>
              <p:cNvSpPr/>
              <p:nvPr/>
            </p:nvSpPr>
            <p:spPr>
              <a:xfrm>
                <a:off x="3472" y="2680"/>
                <a:ext cx="330" cy="279"/>
              </a:xfrm>
              <a:prstGeom prst="triangle">
                <a:avLst>
                  <a:gd name="adj" fmla="val 50000"/>
                </a:avLst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756" name="等腰三角形 31755"/>
              <p:cNvSpPr/>
              <p:nvPr/>
            </p:nvSpPr>
            <p:spPr>
              <a:xfrm rot="-10800000">
                <a:off x="3461" y="4168"/>
                <a:ext cx="330" cy="310"/>
              </a:xfrm>
              <a:prstGeom prst="triangle">
                <a:avLst>
                  <a:gd name="adj" fmla="val 50000"/>
                </a:avLst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31757" name="组合 31756"/>
            <p:cNvGrpSpPr/>
            <p:nvPr/>
          </p:nvGrpSpPr>
          <p:grpSpPr>
            <a:xfrm>
              <a:off x="3150" y="2742"/>
              <a:ext cx="341" cy="1798"/>
              <a:chOff x="3461" y="2680"/>
              <a:chExt cx="341" cy="1798"/>
            </a:xfrm>
          </p:grpSpPr>
          <p:sp>
            <p:nvSpPr>
              <p:cNvPr id="31758" name="矩形 31757"/>
              <p:cNvSpPr/>
              <p:nvPr/>
            </p:nvSpPr>
            <p:spPr>
              <a:xfrm>
                <a:off x="3472" y="2959"/>
                <a:ext cx="330" cy="1209"/>
              </a:xfrm>
              <a:prstGeom prst="rect">
                <a:avLst/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759" name="等腰三角形 31758"/>
              <p:cNvSpPr/>
              <p:nvPr/>
            </p:nvSpPr>
            <p:spPr>
              <a:xfrm>
                <a:off x="3472" y="2680"/>
                <a:ext cx="330" cy="279"/>
              </a:xfrm>
              <a:prstGeom prst="triangle">
                <a:avLst>
                  <a:gd name="adj" fmla="val 50000"/>
                </a:avLst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760" name="等腰三角形 31759"/>
              <p:cNvSpPr/>
              <p:nvPr/>
            </p:nvSpPr>
            <p:spPr>
              <a:xfrm rot="-10800000">
                <a:off x="3461" y="4168"/>
                <a:ext cx="330" cy="310"/>
              </a:xfrm>
              <a:prstGeom prst="triangle">
                <a:avLst>
                  <a:gd name="adj" fmla="val 50000"/>
                </a:avLst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31761" name="组合 31760"/>
            <p:cNvGrpSpPr/>
            <p:nvPr/>
          </p:nvGrpSpPr>
          <p:grpSpPr>
            <a:xfrm>
              <a:off x="3491" y="2742"/>
              <a:ext cx="341" cy="1798"/>
              <a:chOff x="3461" y="2680"/>
              <a:chExt cx="341" cy="1798"/>
            </a:xfrm>
          </p:grpSpPr>
          <p:sp>
            <p:nvSpPr>
              <p:cNvPr id="31762" name="矩形 31761"/>
              <p:cNvSpPr/>
              <p:nvPr/>
            </p:nvSpPr>
            <p:spPr>
              <a:xfrm>
                <a:off x="3472" y="2959"/>
                <a:ext cx="330" cy="1209"/>
              </a:xfrm>
              <a:prstGeom prst="rect">
                <a:avLst/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763" name="等腰三角形 31762"/>
              <p:cNvSpPr/>
              <p:nvPr/>
            </p:nvSpPr>
            <p:spPr>
              <a:xfrm>
                <a:off x="3472" y="2680"/>
                <a:ext cx="330" cy="279"/>
              </a:xfrm>
              <a:prstGeom prst="triangle">
                <a:avLst>
                  <a:gd name="adj" fmla="val 50000"/>
                </a:avLst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764" name="等腰三角形 31763"/>
              <p:cNvSpPr/>
              <p:nvPr/>
            </p:nvSpPr>
            <p:spPr>
              <a:xfrm rot="-10800000">
                <a:off x="3461" y="4168"/>
                <a:ext cx="330" cy="310"/>
              </a:xfrm>
              <a:prstGeom prst="triangle">
                <a:avLst>
                  <a:gd name="adj" fmla="val 50000"/>
                </a:avLst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31765" name="组合 31764"/>
            <p:cNvGrpSpPr/>
            <p:nvPr/>
          </p:nvGrpSpPr>
          <p:grpSpPr>
            <a:xfrm>
              <a:off x="3838" y="2742"/>
              <a:ext cx="341" cy="1798"/>
              <a:chOff x="3461" y="2680"/>
              <a:chExt cx="341" cy="1798"/>
            </a:xfrm>
          </p:grpSpPr>
          <p:sp>
            <p:nvSpPr>
              <p:cNvPr id="31766" name="矩形 31765"/>
              <p:cNvSpPr/>
              <p:nvPr/>
            </p:nvSpPr>
            <p:spPr>
              <a:xfrm>
                <a:off x="3472" y="2959"/>
                <a:ext cx="330" cy="1209"/>
              </a:xfrm>
              <a:prstGeom prst="rect">
                <a:avLst/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767" name="等腰三角形 31766"/>
              <p:cNvSpPr/>
              <p:nvPr/>
            </p:nvSpPr>
            <p:spPr>
              <a:xfrm>
                <a:off x="3472" y="2680"/>
                <a:ext cx="330" cy="279"/>
              </a:xfrm>
              <a:prstGeom prst="triangle">
                <a:avLst>
                  <a:gd name="adj" fmla="val 50000"/>
                </a:avLst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768" name="等腰三角形 31767"/>
              <p:cNvSpPr/>
              <p:nvPr/>
            </p:nvSpPr>
            <p:spPr>
              <a:xfrm rot="-10800000">
                <a:off x="3461" y="4168"/>
                <a:ext cx="330" cy="310"/>
              </a:xfrm>
              <a:prstGeom prst="triangle">
                <a:avLst>
                  <a:gd name="adj" fmla="val 50000"/>
                </a:avLst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31769" name="组合 31768"/>
            <p:cNvGrpSpPr/>
            <p:nvPr/>
          </p:nvGrpSpPr>
          <p:grpSpPr>
            <a:xfrm>
              <a:off x="4184" y="2742"/>
              <a:ext cx="341" cy="1798"/>
              <a:chOff x="3461" y="2680"/>
              <a:chExt cx="341" cy="1798"/>
            </a:xfrm>
          </p:grpSpPr>
          <p:sp>
            <p:nvSpPr>
              <p:cNvPr id="31770" name="矩形 31769"/>
              <p:cNvSpPr/>
              <p:nvPr/>
            </p:nvSpPr>
            <p:spPr>
              <a:xfrm>
                <a:off x="3472" y="2959"/>
                <a:ext cx="330" cy="1209"/>
              </a:xfrm>
              <a:prstGeom prst="rect">
                <a:avLst/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771" name="等腰三角形 31770"/>
              <p:cNvSpPr/>
              <p:nvPr/>
            </p:nvSpPr>
            <p:spPr>
              <a:xfrm>
                <a:off x="3472" y="2680"/>
                <a:ext cx="330" cy="279"/>
              </a:xfrm>
              <a:prstGeom prst="triangle">
                <a:avLst>
                  <a:gd name="adj" fmla="val 50000"/>
                </a:avLst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772" name="等腰三角形 31771"/>
              <p:cNvSpPr/>
              <p:nvPr/>
            </p:nvSpPr>
            <p:spPr>
              <a:xfrm rot="-10800000">
                <a:off x="3461" y="4168"/>
                <a:ext cx="330" cy="310"/>
              </a:xfrm>
              <a:prstGeom prst="triangle">
                <a:avLst>
                  <a:gd name="adj" fmla="val 50000"/>
                </a:avLst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31773" name="组合 31772"/>
            <p:cNvGrpSpPr/>
            <p:nvPr/>
          </p:nvGrpSpPr>
          <p:grpSpPr>
            <a:xfrm>
              <a:off x="4531" y="2742"/>
              <a:ext cx="341" cy="1798"/>
              <a:chOff x="3461" y="2680"/>
              <a:chExt cx="341" cy="1798"/>
            </a:xfrm>
          </p:grpSpPr>
          <p:sp>
            <p:nvSpPr>
              <p:cNvPr id="31774" name="矩形 31773"/>
              <p:cNvSpPr/>
              <p:nvPr/>
            </p:nvSpPr>
            <p:spPr>
              <a:xfrm>
                <a:off x="3472" y="2959"/>
                <a:ext cx="330" cy="1209"/>
              </a:xfrm>
              <a:prstGeom prst="rect">
                <a:avLst/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775" name="等腰三角形 31774"/>
              <p:cNvSpPr/>
              <p:nvPr/>
            </p:nvSpPr>
            <p:spPr>
              <a:xfrm>
                <a:off x="3472" y="2680"/>
                <a:ext cx="330" cy="279"/>
              </a:xfrm>
              <a:prstGeom prst="triangle">
                <a:avLst>
                  <a:gd name="adj" fmla="val 50000"/>
                </a:avLst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776" name="等腰三角形 31775"/>
              <p:cNvSpPr/>
              <p:nvPr/>
            </p:nvSpPr>
            <p:spPr>
              <a:xfrm rot="-10800000">
                <a:off x="3461" y="4168"/>
                <a:ext cx="330" cy="310"/>
              </a:xfrm>
              <a:prstGeom prst="triangle">
                <a:avLst>
                  <a:gd name="adj" fmla="val 50000"/>
                </a:avLst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31777" name="组合 31776"/>
            <p:cNvGrpSpPr/>
            <p:nvPr/>
          </p:nvGrpSpPr>
          <p:grpSpPr>
            <a:xfrm>
              <a:off x="4873" y="2742"/>
              <a:ext cx="341" cy="1798"/>
              <a:chOff x="3461" y="2680"/>
              <a:chExt cx="341" cy="1798"/>
            </a:xfrm>
          </p:grpSpPr>
          <p:sp>
            <p:nvSpPr>
              <p:cNvPr id="31778" name="矩形 31777"/>
              <p:cNvSpPr/>
              <p:nvPr/>
            </p:nvSpPr>
            <p:spPr>
              <a:xfrm>
                <a:off x="3472" y="2959"/>
                <a:ext cx="330" cy="1209"/>
              </a:xfrm>
              <a:prstGeom prst="rect">
                <a:avLst/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779" name="等腰三角形 31778"/>
              <p:cNvSpPr/>
              <p:nvPr/>
            </p:nvSpPr>
            <p:spPr>
              <a:xfrm>
                <a:off x="3472" y="2680"/>
                <a:ext cx="330" cy="279"/>
              </a:xfrm>
              <a:prstGeom prst="triangle">
                <a:avLst>
                  <a:gd name="adj" fmla="val 50000"/>
                </a:avLst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780" name="等腰三角形 31779"/>
              <p:cNvSpPr/>
              <p:nvPr/>
            </p:nvSpPr>
            <p:spPr>
              <a:xfrm rot="-10800000">
                <a:off x="3461" y="4168"/>
                <a:ext cx="330" cy="310"/>
              </a:xfrm>
              <a:prstGeom prst="triangle">
                <a:avLst>
                  <a:gd name="adj" fmla="val 50000"/>
                </a:avLst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31781" name="组合 31780"/>
            <p:cNvGrpSpPr/>
            <p:nvPr/>
          </p:nvGrpSpPr>
          <p:grpSpPr>
            <a:xfrm>
              <a:off x="5215" y="2742"/>
              <a:ext cx="341" cy="1798"/>
              <a:chOff x="3461" y="2680"/>
              <a:chExt cx="341" cy="1798"/>
            </a:xfrm>
          </p:grpSpPr>
          <p:sp>
            <p:nvSpPr>
              <p:cNvPr id="31782" name="矩形 31781"/>
              <p:cNvSpPr/>
              <p:nvPr/>
            </p:nvSpPr>
            <p:spPr>
              <a:xfrm>
                <a:off x="3472" y="2959"/>
                <a:ext cx="330" cy="1209"/>
              </a:xfrm>
              <a:prstGeom prst="rect">
                <a:avLst/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783" name="等腰三角形 31782"/>
              <p:cNvSpPr/>
              <p:nvPr/>
            </p:nvSpPr>
            <p:spPr>
              <a:xfrm>
                <a:off x="3472" y="2680"/>
                <a:ext cx="330" cy="279"/>
              </a:xfrm>
              <a:prstGeom prst="triangle">
                <a:avLst>
                  <a:gd name="adj" fmla="val 50000"/>
                </a:avLst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784" name="等腰三角形 31783"/>
              <p:cNvSpPr/>
              <p:nvPr/>
            </p:nvSpPr>
            <p:spPr>
              <a:xfrm rot="-10800000">
                <a:off x="3461" y="4168"/>
                <a:ext cx="330" cy="310"/>
              </a:xfrm>
              <a:prstGeom prst="triangle">
                <a:avLst>
                  <a:gd name="adj" fmla="val 50000"/>
                </a:avLst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31785" name="矩形 31784"/>
            <p:cNvSpPr/>
            <p:nvPr/>
          </p:nvSpPr>
          <p:spPr>
            <a:xfrm>
              <a:off x="2427" y="2742"/>
              <a:ext cx="418" cy="1860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1786" name="矩形 31785"/>
            <p:cNvSpPr/>
            <p:nvPr/>
          </p:nvSpPr>
          <p:spPr>
            <a:xfrm>
              <a:off x="5441" y="2711"/>
              <a:ext cx="418" cy="1860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1787" name="直接连接符 31786"/>
            <p:cNvSpPr/>
            <p:nvPr/>
          </p:nvSpPr>
          <p:spPr>
            <a:xfrm flipV="1">
              <a:off x="2806" y="2433"/>
              <a:ext cx="2634" cy="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88" name="直接连接符 31787"/>
            <p:cNvSpPr/>
            <p:nvPr/>
          </p:nvSpPr>
          <p:spPr>
            <a:xfrm>
              <a:off x="2790" y="4819"/>
              <a:ext cx="2629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89" name="直接连接符 31788"/>
            <p:cNvSpPr/>
            <p:nvPr/>
          </p:nvSpPr>
          <p:spPr>
            <a:xfrm flipH="1">
              <a:off x="2801" y="2432"/>
              <a:ext cx="0" cy="241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90" name="直接连接符 31789"/>
            <p:cNvSpPr/>
            <p:nvPr/>
          </p:nvSpPr>
          <p:spPr>
            <a:xfrm>
              <a:off x="5441" y="2432"/>
              <a:ext cx="0" cy="235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1791" name="组合 31790"/>
            <p:cNvGrpSpPr/>
            <p:nvPr/>
          </p:nvGrpSpPr>
          <p:grpSpPr>
            <a:xfrm>
              <a:off x="6959" y="2742"/>
              <a:ext cx="341" cy="1798"/>
              <a:chOff x="3461" y="2680"/>
              <a:chExt cx="341" cy="1798"/>
            </a:xfrm>
          </p:grpSpPr>
          <p:sp>
            <p:nvSpPr>
              <p:cNvPr id="31792" name="矩形 31791"/>
              <p:cNvSpPr/>
              <p:nvPr/>
            </p:nvSpPr>
            <p:spPr>
              <a:xfrm>
                <a:off x="3472" y="2959"/>
                <a:ext cx="330" cy="1209"/>
              </a:xfrm>
              <a:prstGeom prst="rect">
                <a:avLst/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793" name="等腰三角形 31792"/>
              <p:cNvSpPr/>
              <p:nvPr/>
            </p:nvSpPr>
            <p:spPr>
              <a:xfrm>
                <a:off x="3472" y="2680"/>
                <a:ext cx="330" cy="279"/>
              </a:xfrm>
              <a:prstGeom prst="triangle">
                <a:avLst>
                  <a:gd name="adj" fmla="val 50000"/>
                </a:avLst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794" name="等腰三角形 31793"/>
              <p:cNvSpPr/>
              <p:nvPr/>
            </p:nvSpPr>
            <p:spPr>
              <a:xfrm rot="-10800000">
                <a:off x="3461" y="4168"/>
                <a:ext cx="330" cy="310"/>
              </a:xfrm>
              <a:prstGeom prst="triangle">
                <a:avLst>
                  <a:gd name="adj" fmla="val 50000"/>
                </a:avLst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31795" name="组合 31794"/>
            <p:cNvGrpSpPr/>
            <p:nvPr/>
          </p:nvGrpSpPr>
          <p:grpSpPr>
            <a:xfrm>
              <a:off x="7652" y="2742"/>
              <a:ext cx="341" cy="1798"/>
              <a:chOff x="3461" y="2680"/>
              <a:chExt cx="341" cy="1798"/>
            </a:xfrm>
          </p:grpSpPr>
          <p:sp>
            <p:nvSpPr>
              <p:cNvPr id="31796" name="矩形 31795"/>
              <p:cNvSpPr/>
              <p:nvPr/>
            </p:nvSpPr>
            <p:spPr>
              <a:xfrm>
                <a:off x="3472" y="2959"/>
                <a:ext cx="330" cy="1209"/>
              </a:xfrm>
              <a:prstGeom prst="rect">
                <a:avLst/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797" name="等腰三角形 31796"/>
              <p:cNvSpPr/>
              <p:nvPr/>
            </p:nvSpPr>
            <p:spPr>
              <a:xfrm>
                <a:off x="3472" y="2680"/>
                <a:ext cx="330" cy="279"/>
              </a:xfrm>
              <a:prstGeom prst="triangle">
                <a:avLst>
                  <a:gd name="adj" fmla="val 50000"/>
                </a:avLst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798" name="等腰三角形 31797"/>
              <p:cNvSpPr/>
              <p:nvPr/>
            </p:nvSpPr>
            <p:spPr>
              <a:xfrm rot="-10800000">
                <a:off x="3461" y="4168"/>
                <a:ext cx="330" cy="310"/>
              </a:xfrm>
              <a:prstGeom prst="triangle">
                <a:avLst>
                  <a:gd name="adj" fmla="val 50000"/>
                </a:avLst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31799" name="组合 31798"/>
            <p:cNvGrpSpPr/>
            <p:nvPr/>
          </p:nvGrpSpPr>
          <p:grpSpPr>
            <a:xfrm>
              <a:off x="7993" y="2742"/>
              <a:ext cx="341" cy="1798"/>
              <a:chOff x="3461" y="2680"/>
              <a:chExt cx="341" cy="1798"/>
            </a:xfrm>
          </p:grpSpPr>
          <p:sp>
            <p:nvSpPr>
              <p:cNvPr id="31800" name="矩形 31799"/>
              <p:cNvSpPr/>
              <p:nvPr/>
            </p:nvSpPr>
            <p:spPr>
              <a:xfrm>
                <a:off x="3472" y="2959"/>
                <a:ext cx="330" cy="1209"/>
              </a:xfrm>
              <a:prstGeom prst="rect">
                <a:avLst/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801" name="等腰三角形 31800"/>
              <p:cNvSpPr/>
              <p:nvPr/>
            </p:nvSpPr>
            <p:spPr>
              <a:xfrm>
                <a:off x="3472" y="2680"/>
                <a:ext cx="330" cy="279"/>
              </a:xfrm>
              <a:prstGeom prst="triangle">
                <a:avLst>
                  <a:gd name="adj" fmla="val 50000"/>
                </a:avLst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802" name="等腰三角形 31801"/>
              <p:cNvSpPr/>
              <p:nvPr/>
            </p:nvSpPr>
            <p:spPr>
              <a:xfrm rot="-10800000">
                <a:off x="3461" y="4168"/>
                <a:ext cx="330" cy="310"/>
              </a:xfrm>
              <a:prstGeom prst="triangle">
                <a:avLst>
                  <a:gd name="adj" fmla="val 50000"/>
                </a:avLst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31803" name="组合 31802"/>
            <p:cNvGrpSpPr/>
            <p:nvPr/>
          </p:nvGrpSpPr>
          <p:grpSpPr>
            <a:xfrm>
              <a:off x="8334" y="2742"/>
              <a:ext cx="341" cy="1798"/>
              <a:chOff x="3461" y="2680"/>
              <a:chExt cx="341" cy="1798"/>
            </a:xfrm>
          </p:grpSpPr>
          <p:sp>
            <p:nvSpPr>
              <p:cNvPr id="31804" name="矩形 31803"/>
              <p:cNvSpPr/>
              <p:nvPr/>
            </p:nvSpPr>
            <p:spPr>
              <a:xfrm>
                <a:off x="3472" y="2959"/>
                <a:ext cx="330" cy="1209"/>
              </a:xfrm>
              <a:prstGeom prst="rect">
                <a:avLst/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805" name="等腰三角形 31804"/>
              <p:cNvSpPr/>
              <p:nvPr/>
            </p:nvSpPr>
            <p:spPr>
              <a:xfrm>
                <a:off x="3472" y="2680"/>
                <a:ext cx="330" cy="279"/>
              </a:xfrm>
              <a:prstGeom prst="triangle">
                <a:avLst>
                  <a:gd name="adj" fmla="val 50000"/>
                </a:avLst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806" name="等腰三角形 31805"/>
              <p:cNvSpPr/>
              <p:nvPr/>
            </p:nvSpPr>
            <p:spPr>
              <a:xfrm rot="-10800000">
                <a:off x="3461" y="4168"/>
                <a:ext cx="330" cy="310"/>
              </a:xfrm>
              <a:prstGeom prst="triangle">
                <a:avLst>
                  <a:gd name="adj" fmla="val 50000"/>
                </a:avLst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31807" name="组合 31806"/>
            <p:cNvGrpSpPr/>
            <p:nvPr/>
          </p:nvGrpSpPr>
          <p:grpSpPr>
            <a:xfrm>
              <a:off x="8675" y="2742"/>
              <a:ext cx="341" cy="1798"/>
              <a:chOff x="3461" y="2680"/>
              <a:chExt cx="341" cy="1798"/>
            </a:xfrm>
          </p:grpSpPr>
          <p:sp>
            <p:nvSpPr>
              <p:cNvPr id="31808" name="矩形 31807"/>
              <p:cNvSpPr/>
              <p:nvPr/>
            </p:nvSpPr>
            <p:spPr>
              <a:xfrm>
                <a:off x="3472" y="2959"/>
                <a:ext cx="330" cy="1209"/>
              </a:xfrm>
              <a:prstGeom prst="rect">
                <a:avLst/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809" name="等腰三角形 31808"/>
              <p:cNvSpPr/>
              <p:nvPr/>
            </p:nvSpPr>
            <p:spPr>
              <a:xfrm>
                <a:off x="3472" y="2680"/>
                <a:ext cx="330" cy="279"/>
              </a:xfrm>
              <a:prstGeom prst="triangle">
                <a:avLst>
                  <a:gd name="adj" fmla="val 50000"/>
                </a:avLst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810" name="等腰三角形 31809"/>
              <p:cNvSpPr/>
              <p:nvPr/>
            </p:nvSpPr>
            <p:spPr>
              <a:xfrm rot="-10800000">
                <a:off x="3461" y="4168"/>
                <a:ext cx="330" cy="310"/>
              </a:xfrm>
              <a:prstGeom prst="triangle">
                <a:avLst>
                  <a:gd name="adj" fmla="val 50000"/>
                </a:avLst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31811" name="组合 31810"/>
            <p:cNvGrpSpPr/>
            <p:nvPr/>
          </p:nvGrpSpPr>
          <p:grpSpPr>
            <a:xfrm>
              <a:off x="9018" y="2742"/>
              <a:ext cx="341" cy="1798"/>
              <a:chOff x="3461" y="2680"/>
              <a:chExt cx="341" cy="1798"/>
            </a:xfrm>
          </p:grpSpPr>
          <p:sp>
            <p:nvSpPr>
              <p:cNvPr id="31812" name="矩形 31811"/>
              <p:cNvSpPr/>
              <p:nvPr/>
            </p:nvSpPr>
            <p:spPr>
              <a:xfrm>
                <a:off x="3472" y="2959"/>
                <a:ext cx="330" cy="1209"/>
              </a:xfrm>
              <a:prstGeom prst="rect">
                <a:avLst/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813" name="等腰三角形 31812"/>
              <p:cNvSpPr/>
              <p:nvPr/>
            </p:nvSpPr>
            <p:spPr>
              <a:xfrm>
                <a:off x="3472" y="2680"/>
                <a:ext cx="330" cy="279"/>
              </a:xfrm>
              <a:prstGeom prst="triangle">
                <a:avLst>
                  <a:gd name="adj" fmla="val 50000"/>
                </a:avLst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814" name="等腰三角形 31813"/>
              <p:cNvSpPr/>
              <p:nvPr/>
            </p:nvSpPr>
            <p:spPr>
              <a:xfrm rot="-10800000">
                <a:off x="3461" y="4168"/>
                <a:ext cx="330" cy="310"/>
              </a:xfrm>
              <a:prstGeom prst="triangle">
                <a:avLst>
                  <a:gd name="adj" fmla="val 50000"/>
                </a:avLst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31815" name="矩形 31814"/>
            <p:cNvSpPr/>
            <p:nvPr/>
          </p:nvSpPr>
          <p:spPr>
            <a:xfrm>
              <a:off x="6244" y="2898"/>
              <a:ext cx="418" cy="1860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1816" name="矩形 31815"/>
            <p:cNvSpPr/>
            <p:nvPr/>
          </p:nvSpPr>
          <p:spPr>
            <a:xfrm>
              <a:off x="9258" y="2711"/>
              <a:ext cx="418" cy="1860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1817" name="直接连接符 31816"/>
            <p:cNvSpPr/>
            <p:nvPr/>
          </p:nvSpPr>
          <p:spPr>
            <a:xfrm>
              <a:off x="6618" y="2433"/>
              <a:ext cx="2642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18" name="直接连接符 31817"/>
            <p:cNvSpPr/>
            <p:nvPr/>
          </p:nvSpPr>
          <p:spPr>
            <a:xfrm flipV="1">
              <a:off x="6607" y="4818"/>
              <a:ext cx="2651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19" name="直接连接符 31818"/>
            <p:cNvSpPr/>
            <p:nvPr/>
          </p:nvSpPr>
          <p:spPr>
            <a:xfrm flipH="1">
              <a:off x="6614" y="2432"/>
              <a:ext cx="4" cy="238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20" name="直接连接符 31819"/>
            <p:cNvSpPr/>
            <p:nvPr/>
          </p:nvSpPr>
          <p:spPr>
            <a:xfrm>
              <a:off x="9258" y="2432"/>
              <a:ext cx="0" cy="238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21" name="直接连接符 31820"/>
            <p:cNvSpPr/>
            <p:nvPr/>
          </p:nvSpPr>
          <p:spPr>
            <a:xfrm flipH="1">
              <a:off x="3362" y="2277"/>
              <a:ext cx="55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1822" name="直接连接符 31821"/>
            <p:cNvSpPr/>
            <p:nvPr/>
          </p:nvSpPr>
          <p:spPr>
            <a:xfrm rot="-10800000" flipH="1">
              <a:off x="8202" y="2277"/>
              <a:ext cx="56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1823" name="文本框 31822"/>
            <p:cNvSpPr txBox="1"/>
            <p:nvPr/>
          </p:nvSpPr>
          <p:spPr>
            <a:xfrm>
              <a:off x="5464" y="1967"/>
              <a:ext cx="1440" cy="52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>
                <a:spcBef>
                  <a:spcPct val="0"/>
                </a:spcBef>
              </a:pP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螺纹间隙</a:t>
              </a:r>
              <a:endParaRPr lang="zh-CN" altLang="en-US" sz="9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824" name="文本框 31823"/>
            <p:cNvSpPr txBox="1"/>
            <p:nvPr/>
          </p:nvSpPr>
          <p:spPr>
            <a:xfrm>
              <a:off x="7267" y="1998"/>
              <a:ext cx="1440" cy="52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>
                <a:spcBef>
                  <a:spcPct val="0"/>
                </a:spcBef>
              </a:pP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空程</a:t>
              </a:r>
              <a:endParaRPr lang="zh-CN" altLang="en-US" sz="9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825" name="直接连接符 31824"/>
            <p:cNvSpPr/>
            <p:nvPr/>
          </p:nvSpPr>
          <p:spPr>
            <a:xfrm flipV="1">
              <a:off x="5133" y="2215"/>
              <a:ext cx="418" cy="58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26" name="直接连接符 31825"/>
            <p:cNvSpPr/>
            <p:nvPr/>
          </p:nvSpPr>
          <p:spPr>
            <a:xfrm flipV="1">
              <a:off x="7138" y="2121"/>
              <a:ext cx="0" cy="62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27" name="直接连接符 31826"/>
            <p:cNvSpPr/>
            <p:nvPr/>
          </p:nvSpPr>
          <p:spPr>
            <a:xfrm flipV="1">
              <a:off x="7038" y="2124"/>
              <a:ext cx="0" cy="62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28" name="直接连接符 31827"/>
            <p:cNvSpPr/>
            <p:nvPr/>
          </p:nvSpPr>
          <p:spPr>
            <a:xfrm rot="-10800000" flipH="1">
              <a:off x="6793" y="2277"/>
              <a:ext cx="23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31829" name="直接连接符 31828"/>
            <p:cNvSpPr/>
            <p:nvPr/>
          </p:nvSpPr>
          <p:spPr>
            <a:xfrm rot="-21600000" flipH="1">
              <a:off x="7135" y="2277"/>
              <a:ext cx="23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31830" name="直接连接符 31829"/>
            <p:cNvSpPr/>
            <p:nvPr/>
          </p:nvSpPr>
          <p:spPr>
            <a:xfrm flipH="1">
              <a:off x="3384" y="4974"/>
              <a:ext cx="55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1831" name="直接连接符 31830"/>
            <p:cNvSpPr/>
            <p:nvPr/>
          </p:nvSpPr>
          <p:spPr>
            <a:xfrm rot="-10800000" flipH="1">
              <a:off x="8257" y="4974"/>
              <a:ext cx="56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1832" name="文本框 31831"/>
            <p:cNvSpPr txBox="1"/>
            <p:nvPr/>
          </p:nvSpPr>
          <p:spPr>
            <a:xfrm>
              <a:off x="4011" y="4757"/>
              <a:ext cx="1440" cy="52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>
                <a:spcBef>
                  <a:spcPct val="0"/>
                </a:spcBef>
              </a:pP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螺纹正向旋转</a:t>
              </a:r>
              <a:endParaRPr lang="zh-CN" altLang="en-US" sz="9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833" name="文本框 31832"/>
            <p:cNvSpPr txBox="1"/>
            <p:nvPr/>
          </p:nvSpPr>
          <p:spPr>
            <a:xfrm>
              <a:off x="6728" y="4757"/>
              <a:ext cx="1440" cy="52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>
                <a:spcBef>
                  <a:spcPct val="0"/>
                </a:spcBef>
              </a:pP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螺纹反向旋转</a:t>
              </a:r>
              <a:endParaRPr lang="zh-CN" altLang="en-US" sz="9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834" name="直接连接符 31833"/>
            <p:cNvSpPr/>
            <p:nvPr/>
          </p:nvSpPr>
          <p:spPr>
            <a:xfrm flipV="1">
              <a:off x="2852" y="2676"/>
              <a:ext cx="160" cy="27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35" name="直接连接符 31834"/>
            <p:cNvSpPr/>
            <p:nvPr/>
          </p:nvSpPr>
          <p:spPr>
            <a:xfrm>
              <a:off x="3012" y="2679"/>
              <a:ext cx="180" cy="3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36" name="直接连接符 31835"/>
            <p:cNvSpPr/>
            <p:nvPr/>
          </p:nvSpPr>
          <p:spPr>
            <a:xfrm flipV="1">
              <a:off x="3186" y="2688"/>
              <a:ext cx="164" cy="28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37" name="直接连接符 31836"/>
            <p:cNvSpPr/>
            <p:nvPr/>
          </p:nvSpPr>
          <p:spPr>
            <a:xfrm>
              <a:off x="3352" y="2688"/>
              <a:ext cx="178" cy="29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38" name="直接连接符 31837"/>
            <p:cNvSpPr/>
            <p:nvPr/>
          </p:nvSpPr>
          <p:spPr>
            <a:xfrm flipV="1">
              <a:off x="3522" y="2676"/>
              <a:ext cx="174" cy="30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39" name="直接连接符 31838"/>
            <p:cNvSpPr/>
            <p:nvPr/>
          </p:nvSpPr>
          <p:spPr>
            <a:xfrm>
              <a:off x="3698" y="2685"/>
              <a:ext cx="174" cy="3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40" name="直接连接符 31839"/>
            <p:cNvSpPr/>
            <p:nvPr/>
          </p:nvSpPr>
          <p:spPr>
            <a:xfrm flipV="1">
              <a:off x="3870" y="2679"/>
              <a:ext cx="178" cy="3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41" name="直接连接符 31840"/>
            <p:cNvSpPr/>
            <p:nvPr/>
          </p:nvSpPr>
          <p:spPr>
            <a:xfrm>
              <a:off x="4048" y="2688"/>
              <a:ext cx="168" cy="28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42" name="直接连接符 31841"/>
            <p:cNvSpPr/>
            <p:nvPr/>
          </p:nvSpPr>
          <p:spPr>
            <a:xfrm flipV="1">
              <a:off x="4216" y="2688"/>
              <a:ext cx="170" cy="29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43" name="直接连接符 31842"/>
            <p:cNvSpPr/>
            <p:nvPr/>
          </p:nvSpPr>
          <p:spPr>
            <a:xfrm>
              <a:off x="4392" y="2694"/>
              <a:ext cx="174" cy="29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44" name="直接连接符 31843"/>
            <p:cNvSpPr/>
            <p:nvPr/>
          </p:nvSpPr>
          <p:spPr>
            <a:xfrm flipV="1">
              <a:off x="4562" y="2685"/>
              <a:ext cx="172" cy="30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45" name="直接连接符 31844"/>
            <p:cNvSpPr/>
            <p:nvPr/>
          </p:nvSpPr>
          <p:spPr>
            <a:xfrm>
              <a:off x="4736" y="2688"/>
              <a:ext cx="180" cy="29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46" name="直接连接符 31845"/>
            <p:cNvSpPr/>
            <p:nvPr/>
          </p:nvSpPr>
          <p:spPr>
            <a:xfrm flipV="1">
              <a:off x="4910" y="2682"/>
              <a:ext cx="174" cy="3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47" name="直接连接符 31846"/>
            <p:cNvSpPr/>
            <p:nvPr/>
          </p:nvSpPr>
          <p:spPr>
            <a:xfrm>
              <a:off x="5090" y="2682"/>
              <a:ext cx="172" cy="28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48" name="直接连接符 31847"/>
            <p:cNvSpPr/>
            <p:nvPr/>
          </p:nvSpPr>
          <p:spPr>
            <a:xfrm flipV="1">
              <a:off x="5256" y="2685"/>
              <a:ext cx="174" cy="28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49" name="直接连接符 31848"/>
            <p:cNvSpPr/>
            <p:nvPr/>
          </p:nvSpPr>
          <p:spPr>
            <a:xfrm>
              <a:off x="2840" y="4299"/>
              <a:ext cx="154" cy="28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50" name="直接连接符 31849"/>
            <p:cNvSpPr/>
            <p:nvPr/>
          </p:nvSpPr>
          <p:spPr>
            <a:xfrm flipV="1">
              <a:off x="3002" y="4260"/>
              <a:ext cx="178" cy="33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51" name="直接连接符 31850"/>
            <p:cNvSpPr/>
            <p:nvPr/>
          </p:nvSpPr>
          <p:spPr>
            <a:xfrm>
              <a:off x="3168" y="4266"/>
              <a:ext cx="164" cy="30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52" name="直接连接符 31851"/>
            <p:cNvSpPr/>
            <p:nvPr/>
          </p:nvSpPr>
          <p:spPr>
            <a:xfrm flipV="1">
              <a:off x="3348" y="4263"/>
              <a:ext cx="172" cy="31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53" name="直接连接符 31852"/>
            <p:cNvSpPr/>
            <p:nvPr/>
          </p:nvSpPr>
          <p:spPr>
            <a:xfrm>
              <a:off x="3506" y="4263"/>
              <a:ext cx="172" cy="32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54" name="直接连接符 31853"/>
            <p:cNvSpPr/>
            <p:nvPr/>
          </p:nvSpPr>
          <p:spPr>
            <a:xfrm flipV="1">
              <a:off x="3686" y="4263"/>
              <a:ext cx="178" cy="32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55" name="直接连接符 31854"/>
            <p:cNvSpPr/>
            <p:nvPr/>
          </p:nvSpPr>
          <p:spPr>
            <a:xfrm>
              <a:off x="3856" y="4272"/>
              <a:ext cx="168" cy="30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56" name="直接连接符 31855"/>
            <p:cNvSpPr/>
            <p:nvPr/>
          </p:nvSpPr>
          <p:spPr>
            <a:xfrm flipV="1">
              <a:off x="4038" y="4263"/>
              <a:ext cx="168" cy="30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57" name="直接连接符 31856"/>
            <p:cNvSpPr/>
            <p:nvPr/>
          </p:nvSpPr>
          <p:spPr>
            <a:xfrm>
              <a:off x="4196" y="4257"/>
              <a:ext cx="174" cy="31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58" name="直接连接符 31857"/>
            <p:cNvSpPr/>
            <p:nvPr/>
          </p:nvSpPr>
          <p:spPr>
            <a:xfrm flipV="1">
              <a:off x="4388" y="4251"/>
              <a:ext cx="168" cy="32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59" name="直接连接符 31858"/>
            <p:cNvSpPr/>
            <p:nvPr/>
          </p:nvSpPr>
          <p:spPr>
            <a:xfrm>
              <a:off x="4542" y="4251"/>
              <a:ext cx="182" cy="32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60" name="直接连接符 31859"/>
            <p:cNvSpPr/>
            <p:nvPr/>
          </p:nvSpPr>
          <p:spPr>
            <a:xfrm flipV="1">
              <a:off x="4732" y="4257"/>
              <a:ext cx="166" cy="31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61" name="直接连接符 31860"/>
            <p:cNvSpPr/>
            <p:nvPr/>
          </p:nvSpPr>
          <p:spPr>
            <a:xfrm>
              <a:off x="4888" y="4260"/>
              <a:ext cx="174" cy="30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62" name="直接连接符 31861"/>
            <p:cNvSpPr/>
            <p:nvPr/>
          </p:nvSpPr>
          <p:spPr>
            <a:xfrm flipV="1">
              <a:off x="5076" y="4260"/>
              <a:ext cx="168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63" name="直接连接符 31862"/>
            <p:cNvSpPr/>
            <p:nvPr/>
          </p:nvSpPr>
          <p:spPr>
            <a:xfrm>
              <a:off x="5234" y="4266"/>
              <a:ext cx="162" cy="29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64" name="直接连接符 31863"/>
            <p:cNvSpPr/>
            <p:nvPr/>
          </p:nvSpPr>
          <p:spPr>
            <a:xfrm flipV="1">
              <a:off x="5414" y="4503"/>
              <a:ext cx="30" cy="6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65" name="直接连接符 31864"/>
            <p:cNvSpPr/>
            <p:nvPr/>
          </p:nvSpPr>
          <p:spPr>
            <a:xfrm flipV="1">
              <a:off x="6658" y="2673"/>
              <a:ext cx="80" cy="13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66" name="直接连接符 31865"/>
            <p:cNvSpPr/>
            <p:nvPr/>
          </p:nvSpPr>
          <p:spPr>
            <a:xfrm>
              <a:off x="6750" y="2673"/>
              <a:ext cx="170" cy="29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67" name="直接连接符 31866"/>
            <p:cNvSpPr/>
            <p:nvPr/>
          </p:nvSpPr>
          <p:spPr>
            <a:xfrm flipV="1">
              <a:off x="6922" y="2679"/>
              <a:ext cx="168" cy="29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68" name="直接连接符 31867"/>
            <p:cNvSpPr/>
            <p:nvPr/>
          </p:nvSpPr>
          <p:spPr>
            <a:xfrm>
              <a:off x="7098" y="2676"/>
              <a:ext cx="168" cy="28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69" name="直接连接符 31868"/>
            <p:cNvSpPr/>
            <p:nvPr/>
          </p:nvSpPr>
          <p:spPr>
            <a:xfrm flipV="1">
              <a:off x="7266" y="2673"/>
              <a:ext cx="174" cy="28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70" name="直接连接符 31869"/>
            <p:cNvSpPr/>
            <p:nvPr/>
          </p:nvSpPr>
          <p:spPr>
            <a:xfrm>
              <a:off x="7444" y="2682"/>
              <a:ext cx="170" cy="28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71" name="直接连接符 31870"/>
            <p:cNvSpPr/>
            <p:nvPr/>
          </p:nvSpPr>
          <p:spPr>
            <a:xfrm flipV="1">
              <a:off x="7610" y="2676"/>
              <a:ext cx="178" cy="29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72" name="直接连接符 31871"/>
            <p:cNvSpPr/>
            <p:nvPr/>
          </p:nvSpPr>
          <p:spPr>
            <a:xfrm>
              <a:off x="7792" y="2676"/>
              <a:ext cx="166" cy="28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73" name="直接连接符 31872"/>
            <p:cNvSpPr/>
            <p:nvPr/>
          </p:nvSpPr>
          <p:spPr>
            <a:xfrm flipV="1">
              <a:off x="7962" y="2673"/>
              <a:ext cx="170" cy="28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74" name="直接连接符 31873"/>
            <p:cNvSpPr/>
            <p:nvPr/>
          </p:nvSpPr>
          <p:spPr>
            <a:xfrm>
              <a:off x="8134" y="2673"/>
              <a:ext cx="170" cy="29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75" name="直接连接符 31874"/>
            <p:cNvSpPr/>
            <p:nvPr/>
          </p:nvSpPr>
          <p:spPr>
            <a:xfrm flipV="1">
              <a:off x="8294" y="2676"/>
              <a:ext cx="174" cy="28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76" name="直接连接符 31875"/>
            <p:cNvSpPr/>
            <p:nvPr/>
          </p:nvSpPr>
          <p:spPr>
            <a:xfrm>
              <a:off x="8476" y="2682"/>
              <a:ext cx="166" cy="27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77" name="直接连接符 31876"/>
            <p:cNvSpPr/>
            <p:nvPr/>
          </p:nvSpPr>
          <p:spPr>
            <a:xfrm flipV="1">
              <a:off x="8640" y="2676"/>
              <a:ext cx="176" cy="28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78" name="直接连接符 31877"/>
            <p:cNvSpPr/>
            <p:nvPr/>
          </p:nvSpPr>
          <p:spPr>
            <a:xfrm>
              <a:off x="8818" y="2679"/>
              <a:ext cx="172" cy="28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79" name="直接连接符 31878"/>
            <p:cNvSpPr/>
            <p:nvPr/>
          </p:nvSpPr>
          <p:spPr>
            <a:xfrm flipV="1">
              <a:off x="8994" y="2682"/>
              <a:ext cx="164" cy="28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80" name="直接连接符 31879"/>
            <p:cNvSpPr/>
            <p:nvPr/>
          </p:nvSpPr>
          <p:spPr>
            <a:xfrm>
              <a:off x="9162" y="2682"/>
              <a:ext cx="92" cy="14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1881" name="组合 31880"/>
            <p:cNvGrpSpPr/>
            <p:nvPr/>
          </p:nvGrpSpPr>
          <p:grpSpPr>
            <a:xfrm>
              <a:off x="7299" y="2742"/>
              <a:ext cx="341" cy="1798"/>
              <a:chOff x="3461" y="2680"/>
              <a:chExt cx="341" cy="1798"/>
            </a:xfrm>
          </p:grpSpPr>
          <p:sp>
            <p:nvSpPr>
              <p:cNvPr id="31882" name="矩形 31881"/>
              <p:cNvSpPr/>
              <p:nvPr/>
            </p:nvSpPr>
            <p:spPr>
              <a:xfrm>
                <a:off x="3472" y="2959"/>
                <a:ext cx="330" cy="1209"/>
              </a:xfrm>
              <a:prstGeom prst="rect">
                <a:avLst/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883" name="等腰三角形 31882"/>
              <p:cNvSpPr/>
              <p:nvPr/>
            </p:nvSpPr>
            <p:spPr>
              <a:xfrm>
                <a:off x="3472" y="2680"/>
                <a:ext cx="330" cy="279"/>
              </a:xfrm>
              <a:prstGeom prst="triangle">
                <a:avLst>
                  <a:gd name="adj" fmla="val 50000"/>
                </a:avLst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884" name="等腰三角形 31883"/>
              <p:cNvSpPr/>
              <p:nvPr/>
            </p:nvSpPr>
            <p:spPr>
              <a:xfrm rot="-10800000">
                <a:off x="3461" y="4168"/>
                <a:ext cx="330" cy="310"/>
              </a:xfrm>
              <a:prstGeom prst="triangle">
                <a:avLst>
                  <a:gd name="adj" fmla="val 50000"/>
                </a:avLst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31885" name="组合 31884"/>
            <p:cNvGrpSpPr/>
            <p:nvPr/>
          </p:nvGrpSpPr>
          <p:grpSpPr>
            <a:xfrm>
              <a:off x="6607" y="2738"/>
              <a:ext cx="341" cy="1798"/>
              <a:chOff x="3461" y="2680"/>
              <a:chExt cx="341" cy="1798"/>
            </a:xfrm>
          </p:grpSpPr>
          <p:sp>
            <p:nvSpPr>
              <p:cNvPr id="31886" name="矩形 31885"/>
              <p:cNvSpPr/>
              <p:nvPr/>
            </p:nvSpPr>
            <p:spPr>
              <a:xfrm>
                <a:off x="3472" y="2959"/>
                <a:ext cx="330" cy="1209"/>
              </a:xfrm>
              <a:prstGeom prst="rect">
                <a:avLst/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887" name="等腰三角形 31886"/>
              <p:cNvSpPr/>
              <p:nvPr/>
            </p:nvSpPr>
            <p:spPr>
              <a:xfrm>
                <a:off x="3472" y="2680"/>
                <a:ext cx="330" cy="279"/>
              </a:xfrm>
              <a:prstGeom prst="triangle">
                <a:avLst>
                  <a:gd name="adj" fmla="val 50000"/>
                </a:avLst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888" name="等腰三角形 31887"/>
              <p:cNvSpPr/>
              <p:nvPr/>
            </p:nvSpPr>
            <p:spPr>
              <a:xfrm rot="-10800000">
                <a:off x="3461" y="4168"/>
                <a:ext cx="330" cy="310"/>
              </a:xfrm>
              <a:prstGeom prst="triangle">
                <a:avLst>
                  <a:gd name="adj" fmla="val 50000"/>
                </a:avLst>
              </a:prstGeom>
              <a:solidFill>
                <a:srgbClr val="80808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31889" name="直接连接符 31888"/>
            <p:cNvSpPr/>
            <p:nvPr/>
          </p:nvSpPr>
          <p:spPr>
            <a:xfrm>
              <a:off x="6614" y="4380"/>
              <a:ext cx="124" cy="21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90" name="直接连接符 31889"/>
            <p:cNvSpPr/>
            <p:nvPr/>
          </p:nvSpPr>
          <p:spPr>
            <a:xfrm flipH="1">
              <a:off x="6738" y="4308"/>
              <a:ext cx="162" cy="29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91" name="直接连接符 31890"/>
            <p:cNvSpPr/>
            <p:nvPr/>
          </p:nvSpPr>
          <p:spPr>
            <a:xfrm>
              <a:off x="6908" y="4305"/>
              <a:ext cx="180" cy="30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92" name="直接连接符 31891"/>
            <p:cNvSpPr/>
            <p:nvPr/>
          </p:nvSpPr>
          <p:spPr>
            <a:xfrm flipV="1">
              <a:off x="7088" y="4311"/>
              <a:ext cx="162" cy="3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93" name="直接连接符 31892"/>
            <p:cNvSpPr/>
            <p:nvPr/>
          </p:nvSpPr>
          <p:spPr>
            <a:xfrm flipV="1">
              <a:off x="9156" y="4404"/>
              <a:ext cx="98" cy="20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94" name="直接连接符 31893"/>
            <p:cNvSpPr/>
            <p:nvPr/>
          </p:nvSpPr>
          <p:spPr>
            <a:xfrm flipH="1" flipV="1">
              <a:off x="8976" y="4296"/>
              <a:ext cx="182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95" name="直接连接符 31894"/>
            <p:cNvSpPr/>
            <p:nvPr/>
          </p:nvSpPr>
          <p:spPr>
            <a:xfrm flipH="1">
              <a:off x="8810" y="4293"/>
              <a:ext cx="168" cy="31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96" name="直接连接符 31895"/>
            <p:cNvSpPr/>
            <p:nvPr/>
          </p:nvSpPr>
          <p:spPr>
            <a:xfrm flipH="1" flipV="1">
              <a:off x="8636" y="4296"/>
              <a:ext cx="174" cy="31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97" name="直接连接符 31896"/>
            <p:cNvSpPr/>
            <p:nvPr/>
          </p:nvSpPr>
          <p:spPr>
            <a:xfrm flipH="1">
              <a:off x="8466" y="4302"/>
              <a:ext cx="168" cy="30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98" name="直接连接符 31897"/>
            <p:cNvSpPr/>
            <p:nvPr/>
          </p:nvSpPr>
          <p:spPr>
            <a:xfrm flipH="1" flipV="1">
              <a:off x="8290" y="4284"/>
              <a:ext cx="174" cy="32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99" name="直接连接符 31898"/>
            <p:cNvSpPr/>
            <p:nvPr/>
          </p:nvSpPr>
          <p:spPr>
            <a:xfrm flipH="1">
              <a:off x="8120" y="4284"/>
              <a:ext cx="174" cy="31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900" name="直接连接符 31899"/>
            <p:cNvSpPr/>
            <p:nvPr/>
          </p:nvSpPr>
          <p:spPr>
            <a:xfrm flipH="1" flipV="1">
              <a:off x="7946" y="4302"/>
              <a:ext cx="174" cy="3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901" name="直接连接符 31900"/>
            <p:cNvSpPr/>
            <p:nvPr/>
          </p:nvSpPr>
          <p:spPr>
            <a:xfrm flipH="1">
              <a:off x="7784" y="4299"/>
              <a:ext cx="160" cy="30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902" name="直接连接符 31901"/>
            <p:cNvSpPr/>
            <p:nvPr/>
          </p:nvSpPr>
          <p:spPr>
            <a:xfrm flipH="1" flipV="1">
              <a:off x="7602" y="4290"/>
              <a:ext cx="182" cy="31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903" name="直接连接符 31902"/>
            <p:cNvSpPr/>
            <p:nvPr/>
          </p:nvSpPr>
          <p:spPr>
            <a:xfrm flipH="1">
              <a:off x="7416" y="4293"/>
              <a:ext cx="186" cy="32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904" name="直接连接符 31903"/>
            <p:cNvSpPr/>
            <p:nvPr/>
          </p:nvSpPr>
          <p:spPr>
            <a:xfrm flipH="1" flipV="1">
              <a:off x="7256" y="4305"/>
              <a:ext cx="168" cy="30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标题 33793"/>
          <p:cNvSpPr>
            <a:spLocks noGrp="1"/>
          </p:cNvSpPr>
          <p:nvPr>
            <p:ph type="title"/>
          </p:nvPr>
        </p:nvSpPr>
        <p:spPr>
          <a:xfrm>
            <a:off x="3352800" y="457200"/>
            <a:ext cx="7772400" cy="1143000"/>
          </a:xfrm>
        </p:spPr>
        <p:txBody>
          <a:bodyPr anchor="ctr" anchorCtr="0"/>
          <a:p>
            <a:pPr algn="l"/>
            <a:r>
              <a:rPr lang="zh-CN" altLang="en-US" dirty="0">
                <a:ea typeface="黑体" panose="02010609060101010101" pitchFamily="2" charset="-122"/>
              </a:rPr>
              <a:t>问题讨论</a:t>
            </a:r>
            <a:endParaRPr lang="zh-CN" altLang="en-US" dirty="0">
              <a:ea typeface="黑体" panose="02010609060101010101" pitchFamily="2" charset="-122"/>
            </a:endParaRPr>
          </a:p>
        </p:txBody>
      </p:sp>
      <p:sp>
        <p:nvSpPr>
          <p:cNvPr id="33795" name="文本占位符 33794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buNone/>
            </a:pPr>
            <a:r>
              <a:rPr lang="zh-CN" altLang="en-US" dirty="0">
                <a:solidFill>
                  <a:srgbClr val="000066"/>
                </a:solidFill>
                <a:ea typeface="黑体" panose="02010609060101010101" pitchFamily="2" charset="-122"/>
              </a:rPr>
              <a:t>3、在测量各个直径时，如果显微镜的叉丝交点没有通过牛顿环的中心，因而测量的是弦而非真正的直径，对实验结果是否有影响？为什么？ </a:t>
            </a:r>
            <a:endParaRPr lang="zh-CN" altLang="en-US" dirty="0">
              <a:solidFill>
                <a:srgbClr val="000066"/>
              </a:solidFill>
              <a:ea typeface="黑体" panose="02010609060101010101" pitchFamily="2" charset="-122"/>
            </a:endParaRPr>
          </a:p>
          <a:p>
            <a:pPr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答：对实验结果没有影响。因为两个同心圆的直径的平方差等于弦的平方差 。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标题 34817"/>
          <p:cNvSpPr>
            <a:spLocks noGrp="1"/>
          </p:cNvSpPr>
          <p:nvPr>
            <p:ph type="title"/>
          </p:nvPr>
        </p:nvSpPr>
        <p:spPr>
          <a:xfrm>
            <a:off x="3352800" y="457200"/>
            <a:ext cx="7772400" cy="1143000"/>
          </a:xfrm>
        </p:spPr>
        <p:txBody>
          <a:bodyPr anchor="ctr" anchorCtr="0"/>
          <a:p>
            <a:pPr algn="l"/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问题讨论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4819" name="文本占位符 34818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buNone/>
            </a:pPr>
            <a:r>
              <a:rPr lang="zh-CN" altLang="en-US" dirty="0">
                <a:solidFill>
                  <a:srgbClr val="000066"/>
                </a:solidFill>
                <a:ea typeface="黑体" panose="02010609060101010101" pitchFamily="2" charset="-122"/>
              </a:rPr>
              <a:t>4、透射光产生的牛顿环与反射光产生的牛顿环有何不同？</a:t>
            </a:r>
            <a:endParaRPr lang="zh-CN" altLang="en-US" dirty="0">
              <a:solidFill>
                <a:srgbClr val="000066"/>
              </a:solidFill>
              <a:ea typeface="黑体" panose="02010609060101010101" pitchFamily="2" charset="-122"/>
            </a:endParaRPr>
          </a:p>
          <a:p>
            <a:pPr>
              <a:buNone/>
            </a:pPr>
            <a:r>
              <a:rPr lang="zh-CN" altLang="en-US" dirty="0">
                <a:ea typeface="黑体" panose="02010609060101010101" pitchFamily="2" charset="-122"/>
              </a:rPr>
              <a:t>答：透射光产生的牛顿环也是明暗相间的同心圆环，但是中央为零级暗斑，条纹的明暗正好与反射光产生的牛顿环的明暗互补，且条纹的明暗对比度差。</a:t>
            </a:r>
            <a:endParaRPr lang="zh-CN" altLang="en-US" dirty="0"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标题 35841"/>
          <p:cNvSpPr>
            <a:spLocks noGrp="1"/>
          </p:cNvSpPr>
          <p:nvPr>
            <p:ph type="title"/>
          </p:nvPr>
        </p:nvSpPr>
        <p:spPr>
          <a:xfrm>
            <a:off x="3352800" y="457200"/>
            <a:ext cx="7772400" cy="1143000"/>
          </a:xfrm>
        </p:spPr>
        <p:txBody>
          <a:bodyPr anchor="ctr" anchorCtr="0"/>
          <a:p>
            <a:pPr algn="l"/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问题讨论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5843" name="文本占位符 35842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lnSpc>
                <a:spcPct val="90000"/>
              </a:lnSpc>
              <a:buNone/>
            </a:pPr>
            <a:r>
              <a:rPr lang="zh-CN" altLang="en-US" dirty="0">
                <a:solidFill>
                  <a:srgbClr val="000066"/>
                </a:solidFill>
                <a:ea typeface="黑体" panose="02010609060101010101" pitchFamily="2" charset="-122"/>
              </a:rPr>
              <a:t>5、若牛顿环中心是亮斑而不是暗斑，可能是什么原因造成的？对测量结果有无影响？</a:t>
            </a:r>
            <a:endParaRPr lang="zh-CN" altLang="en-US" dirty="0">
              <a:solidFill>
                <a:srgbClr val="000066"/>
              </a:solidFill>
              <a:ea typeface="黑体" panose="0201060906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dirty="0">
                <a:solidFill>
                  <a:srgbClr val="000066"/>
                </a:solidFill>
                <a:ea typeface="黑体" panose="02010609060101010101" pitchFamily="2" charset="-122"/>
              </a:rPr>
              <a:t>6、牛顿环的中心一定是目镜视场中所观察到的零级暗斑的中心吗？为什么？</a:t>
            </a:r>
            <a:endParaRPr lang="zh-CN" altLang="en-US" dirty="0">
              <a:solidFill>
                <a:srgbClr val="000066"/>
              </a:solidFill>
              <a:ea typeface="黑体" panose="0201060906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dirty="0">
                <a:solidFill>
                  <a:srgbClr val="000066"/>
                </a:solidFill>
                <a:ea typeface="黑体" panose="02010609060101010101" pitchFamily="2" charset="-122"/>
              </a:rPr>
              <a:t>7、若把光源换成白光，将会看见什么样的条纹？</a:t>
            </a:r>
            <a:endParaRPr lang="zh-CN" altLang="en-US" dirty="0">
              <a:solidFill>
                <a:srgbClr val="000066"/>
              </a:solidFill>
              <a:ea typeface="黑体" panose="0201060906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dirty="0">
                <a:solidFill>
                  <a:srgbClr val="000066"/>
                </a:solidFill>
                <a:ea typeface="黑体" panose="02010609060101010101" pitchFamily="2" charset="-122"/>
              </a:rPr>
              <a:t>8、测量中应如何避免显微镜视差的影响？</a:t>
            </a:r>
            <a:endParaRPr lang="zh-CN" altLang="en-US" dirty="0">
              <a:solidFill>
                <a:srgbClr val="000066"/>
              </a:solidFill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196975"/>
            <a:ext cx="10515600" cy="4979988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思考题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分析本次牛顿环实验误差的可能来源。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若测量某种透明液体光学介质的折射率，设计具体的实验装置（放置牛顿环的装置，包含设计简图），及分析需要注意的事项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标题 4096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 dirty="0">
                <a:ea typeface="黑体" panose="02010609060101010101" pitchFamily="2" charset="-122"/>
              </a:rPr>
              <a:t>数据处理举例</a:t>
            </a:r>
            <a:endParaRPr lang="zh-CN" altLang="en-US" dirty="0">
              <a:ea typeface="黑体" panose="02010609060101010101" pitchFamily="2" charset="-122"/>
            </a:endParaRPr>
          </a:p>
        </p:txBody>
      </p:sp>
      <p:graphicFrame>
        <p:nvGraphicFramePr>
          <p:cNvPr id="40964" name="对象 40963"/>
          <p:cNvGraphicFramePr/>
          <p:nvPr/>
        </p:nvGraphicFramePr>
        <p:xfrm>
          <a:off x="3405506" y="4279266"/>
          <a:ext cx="7136765" cy="4011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6813550" imgH="3822700" progId="Word.Document.8">
                  <p:embed/>
                </p:oleObj>
              </mc:Choice>
              <mc:Fallback>
                <p:oleObj name="" r:id="rId1" imgW="6813550" imgH="3822700" progId="Word.Document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05506" y="4279266"/>
                        <a:ext cx="7136765" cy="40112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标题 4198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 dirty="0">
                <a:ea typeface="黑体" panose="02010609060101010101" pitchFamily="2" charset="-122"/>
              </a:rPr>
              <a:t>数据处理举例</a:t>
            </a:r>
            <a:endParaRPr lang="zh-CN" altLang="en-US" dirty="0">
              <a:ea typeface="黑体" panose="02010609060101010101" pitchFamily="2" charset="-122"/>
            </a:endParaRPr>
          </a:p>
        </p:txBody>
      </p:sp>
      <p:graphicFrame>
        <p:nvGraphicFramePr>
          <p:cNvPr id="41988" name="对象 41987"/>
          <p:cNvGraphicFramePr/>
          <p:nvPr/>
        </p:nvGraphicFramePr>
        <p:xfrm>
          <a:off x="3571558" y="1811496"/>
          <a:ext cx="7785735" cy="5325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5803900" imgH="4159250" progId="Word.Document.8">
                  <p:embed/>
                </p:oleObj>
              </mc:Choice>
              <mc:Fallback>
                <p:oleObj name="" r:id="rId1" imgW="5803900" imgH="4159250" progId="Word.Document.8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71558" y="1811496"/>
                        <a:ext cx="7785735" cy="53257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9185,&quot;width&quot;:19212.499212598424}"/>
</p:tagLst>
</file>

<file path=ppt/tags/tag2.xml><?xml version="1.0" encoding="utf-8"?>
<p:tagLst xmlns:p="http://schemas.openxmlformats.org/presentationml/2006/main">
  <p:tag name="KSO_WM_UNIT_PLACING_PICTURE_USER_VIEWPORT" val="{&quot;height&quot;:2395,&quot;width&quot;:2920}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UNIT_TABLE_BEAUTIFY" val="smartTable{99042421-eebc-4f44-95eb-44b8c447a77f}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COMMONDATA" val="eyJoZGlkIjoiZGE3Y2I3OTRlNTA1NjUwZGY1NGI3NTM4NWZhMGI4N2IifQ=="/>
  <p:tag name="KSO_WPP_MARK_KEY" val="6be90212-a55d-450a-aa22-bfb1302dae02"/>
</p:tagLst>
</file>

<file path=ppt/theme/theme1.xml><?xml version="1.0" encoding="utf-8"?>
<a:theme xmlns:a="http://schemas.openxmlformats.org/drawingml/2006/main" name="古瓶荷花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古瓶荷花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1681</Words>
  <Application>WPS 演示</Application>
  <PresentationFormat/>
  <Paragraphs>307</Paragraphs>
  <Slides>26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24</vt:i4>
      </vt:variant>
      <vt:variant>
        <vt:lpstr>幻灯片标题</vt:lpstr>
      </vt:variant>
      <vt:variant>
        <vt:i4>26</vt:i4>
      </vt:variant>
    </vt:vector>
  </HeadingPairs>
  <TitlesOfParts>
    <vt:vector size="70" baseType="lpstr">
      <vt:lpstr>Arial</vt:lpstr>
      <vt:lpstr>宋体</vt:lpstr>
      <vt:lpstr>Wingdings</vt:lpstr>
      <vt:lpstr>Calibri</vt:lpstr>
      <vt:lpstr>华文中宋</vt:lpstr>
      <vt:lpstr>Calibri Light</vt:lpstr>
      <vt:lpstr>等线</vt:lpstr>
      <vt:lpstr>Times New Roman</vt:lpstr>
      <vt:lpstr>微软雅黑</vt:lpstr>
      <vt:lpstr>黑体</vt:lpstr>
      <vt:lpstr>楷体_GB2312</vt:lpstr>
      <vt:lpstr>新宋体</vt:lpstr>
      <vt:lpstr>Arial Unicode MS</vt:lpstr>
      <vt:lpstr>等线 Light</vt:lpstr>
      <vt:lpstr>Arial Narrow</vt:lpstr>
      <vt:lpstr>仿宋_GB2312</vt:lpstr>
      <vt:lpstr>仿宋</vt:lpstr>
      <vt:lpstr>Bookman Old Style</vt:lpstr>
      <vt:lpstr>古瓶荷花</vt:lpstr>
      <vt:lpstr>1_古瓶荷花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Word.Picture.8</vt:lpstr>
      <vt:lpstr>Word.Document.8</vt:lpstr>
      <vt:lpstr>Equation.3</vt:lpstr>
      <vt:lpstr>Equation.KSEE3</vt:lpstr>
      <vt:lpstr>Equation.KSEE3</vt:lpstr>
      <vt:lpstr>Equation.KSEE3</vt:lpstr>
      <vt:lpstr>Word.Document.8</vt:lpstr>
      <vt:lpstr>Word.Document.8</vt:lpstr>
      <vt:lpstr>Equation.3</vt:lpstr>
      <vt:lpstr>Equation.3</vt:lpstr>
      <vt:lpstr>Photoshop.Image.6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历史背景</vt:lpstr>
      <vt:lpstr>实验目的</vt:lpstr>
      <vt:lpstr>PowerPoint 演示文稿</vt:lpstr>
      <vt:lpstr>PowerPoint 演示文稿</vt:lpstr>
      <vt:lpstr>牛顿环干涉条纹的特点</vt:lpstr>
      <vt:lpstr>PowerPoint 演示文稿</vt:lpstr>
      <vt:lpstr>PowerPoint 演示文稿</vt:lpstr>
      <vt:lpstr> </vt:lpstr>
      <vt:lpstr>实验仪器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不确定度的估算</vt:lpstr>
      <vt:lpstr>四、注意事项</vt:lpstr>
      <vt:lpstr>八、问题讨论</vt:lpstr>
      <vt:lpstr>问题讨论</vt:lpstr>
      <vt:lpstr>问题讨论</vt:lpstr>
      <vt:lpstr>问题讨论</vt:lpstr>
      <vt:lpstr>问题讨论</vt:lpstr>
      <vt:lpstr>PowerPoint 演示文稿</vt:lpstr>
      <vt:lpstr>数据处理举例</vt:lpstr>
      <vt:lpstr>数据处理举例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大学物理实验</dc:title>
  <dc:creator>User</dc:creator>
  <cp:lastModifiedBy>王光辉</cp:lastModifiedBy>
  <cp:revision>82</cp:revision>
  <dcterms:created xsi:type="dcterms:W3CDTF">2007-03-01T02:00:00Z</dcterms:created>
  <dcterms:modified xsi:type="dcterms:W3CDTF">2023-05-19T02:22:18Z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C2433B6D730F4342A02E9FCCD387BA08</vt:lpwstr>
  </property>
  <property fmtid="{D5CDD505-2E9C-101B-9397-08002B2CF9AE}" pid="3" name="KSOProductBuildVer">
    <vt:lpwstr>2052-11.1.0.14036</vt:lpwstr>
  </property>
</Properties>
</file>