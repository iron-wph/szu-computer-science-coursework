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30"/>
  </p:handoutMasterIdLst>
  <p:sldIdLst>
    <p:sldId id="390" r:id="rId3"/>
    <p:sldId id="431" r:id="rId4"/>
    <p:sldId id="392" r:id="rId5"/>
    <p:sldId id="463" r:id="rId6"/>
    <p:sldId id="446" r:id="rId7"/>
    <p:sldId id="465" r:id="rId9"/>
    <p:sldId id="447" r:id="rId10"/>
    <p:sldId id="466" r:id="rId11"/>
    <p:sldId id="448" r:id="rId12"/>
    <p:sldId id="467" r:id="rId13"/>
    <p:sldId id="432" r:id="rId14"/>
    <p:sldId id="468" r:id="rId15"/>
    <p:sldId id="428" r:id="rId16"/>
    <p:sldId id="486" r:id="rId17"/>
    <p:sldId id="449" r:id="rId18"/>
    <p:sldId id="450" r:id="rId19"/>
    <p:sldId id="451" r:id="rId20"/>
    <p:sldId id="452" r:id="rId21"/>
    <p:sldId id="436" r:id="rId22"/>
    <p:sldId id="427" r:id="rId23"/>
    <p:sldId id="434" r:id="rId24"/>
    <p:sldId id="403" r:id="rId25"/>
    <p:sldId id="429" r:id="rId26"/>
    <p:sldId id="402" r:id="rId27"/>
    <p:sldId id="433" r:id="rId28"/>
    <p:sldId id="435" r:id="rId29"/>
  </p:sldIdLst>
  <p:sldSz cx="9144000" cy="6858000" type="screen4x3"/>
  <p:notesSz cx="6858000" cy="9144000"/>
  <p:custDataLst>
    <p:tags r:id="rId3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66"/>
    <a:srgbClr val="003300"/>
    <a:srgbClr val="66FF99"/>
    <a:srgbClr val="C0C0C0"/>
    <a:srgbClr val="333333"/>
    <a:srgbClr val="00CCF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89"/>
    <p:restoredTop sz="97537"/>
  </p:normalViewPr>
  <p:slideViewPr>
    <p:cSldViewPr snapToObjects="1" showGuides="1">
      <p:cViewPr varScale="1">
        <p:scale>
          <a:sx n="53" d="100"/>
          <a:sy n="53" d="100"/>
        </p:scale>
        <p:origin x="132" y="714"/>
      </p:cViewPr>
      <p:guideLst>
        <p:guide orient="horz" pos="2160"/>
        <p:guide pos="28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28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.wmf"/><Relationship Id="rId8" Type="http://schemas.openxmlformats.org/officeDocument/2006/relationships/image" Target="../media/image13.wmf"/><Relationship Id="rId7" Type="http://schemas.openxmlformats.org/officeDocument/2006/relationships/image" Target="../media/image12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2" Type="http://schemas.openxmlformats.org/officeDocument/2006/relationships/image" Target="../media/image27.wmf"/><Relationship Id="rId21" Type="http://schemas.openxmlformats.org/officeDocument/2006/relationships/image" Target="../media/image26.wmf"/><Relationship Id="rId20" Type="http://schemas.openxmlformats.org/officeDocument/2006/relationships/image" Target="../media/image25.wmf"/><Relationship Id="rId2" Type="http://schemas.openxmlformats.org/officeDocument/2006/relationships/image" Target="../media/image7.wmf"/><Relationship Id="rId19" Type="http://schemas.openxmlformats.org/officeDocument/2006/relationships/image" Target="../media/image24.wmf"/><Relationship Id="rId18" Type="http://schemas.openxmlformats.org/officeDocument/2006/relationships/image" Target="../media/image23.wmf"/><Relationship Id="rId17" Type="http://schemas.openxmlformats.org/officeDocument/2006/relationships/image" Target="../media/image22.wmf"/><Relationship Id="rId16" Type="http://schemas.openxmlformats.org/officeDocument/2006/relationships/image" Target="../media/image21.wmf"/><Relationship Id="rId15" Type="http://schemas.openxmlformats.org/officeDocument/2006/relationships/image" Target="../media/image20.wmf"/><Relationship Id="rId14" Type="http://schemas.openxmlformats.org/officeDocument/2006/relationships/image" Target="../media/image19.wmf"/><Relationship Id="rId13" Type="http://schemas.openxmlformats.org/officeDocument/2006/relationships/image" Target="../media/image18.wmf"/><Relationship Id="rId12" Type="http://schemas.openxmlformats.org/officeDocument/2006/relationships/image" Target="../media/image17.wmf"/><Relationship Id="rId11" Type="http://schemas.openxmlformats.org/officeDocument/2006/relationships/image" Target="../media/image16.wmf"/><Relationship Id="rId10" Type="http://schemas.openxmlformats.org/officeDocument/2006/relationships/image" Target="../media/image15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2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2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2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push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>
    <p:push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push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push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push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>
    <p:push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>
    <p:push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push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push dir="d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" Target="../slides/slide1.xml"/><Relationship Id="rId13" Type="http://schemas.openxmlformats.org/officeDocument/2006/relationships/slide" Target="../slides/slide3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0" descr="bj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13410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7" name="Group 20"/>
          <p:cNvGrpSpPr/>
          <p:nvPr userDrawn="1"/>
        </p:nvGrpSpPr>
        <p:grpSpPr>
          <a:xfrm>
            <a:off x="6805613" y="6415088"/>
            <a:ext cx="198437" cy="327025"/>
            <a:chOff x="3492" y="3902"/>
            <a:chExt cx="155" cy="257"/>
          </a:xfrm>
        </p:grpSpPr>
        <p:sp>
          <p:nvSpPr>
            <p:cNvPr id="462869" name="AutoShape 21">
              <a:hlinkClick r:id="" action="ppaction://hlinkshowjump?jump=lastslide"/>
            </p:cNvPr>
            <p:cNvSpPr>
              <a:spLocks noChangeArrowheads="1"/>
            </p:cNvSpPr>
            <p:nvPr/>
          </p:nvSpPr>
          <p:spPr bwMode="auto">
            <a:xfrm rot="5400000">
              <a:off x="3441" y="3953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endParaRPr>
            </a:p>
          </p:txBody>
        </p:sp>
        <p:sp>
          <p:nvSpPr>
            <p:cNvPr id="1042" name="Line 22">
              <a:hlinkClick r:id="" action="ppaction://hlinkshowjump?jump=lastslide"/>
            </p:cNvPr>
            <p:cNvSpPr/>
            <p:nvPr userDrawn="1"/>
          </p:nvSpPr>
          <p:spPr>
            <a:xfrm>
              <a:off x="3647" y="3923"/>
              <a:ext cx="0" cy="203"/>
            </a:xfrm>
            <a:prstGeom prst="line">
              <a:avLst/>
            </a:prstGeom>
            <a:ln w="28575" cap="flat" cmpd="sng">
              <a:solidFill>
                <a:srgbClr val="ACEAFE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rgbClr val="678C98"/>
              </a:prstShdw>
            </a:effectLst>
          </p:spPr>
        </p:sp>
      </p:grpSp>
      <p:sp>
        <p:nvSpPr>
          <p:cNvPr id="462871" name="AutoShape 2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5400000">
            <a:off x="7471569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462872" name="AutoShape 24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 rot="16200000">
            <a:off x="8019256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grpSp>
        <p:nvGrpSpPr>
          <p:cNvPr id="1030" name="Group 25"/>
          <p:cNvGrpSpPr/>
          <p:nvPr userDrawn="1"/>
        </p:nvGrpSpPr>
        <p:grpSpPr>
          <a:xfrm>
            <a:off x="8766175" y="6415088"/>
            <a:ext cx="198438" cy="327025"/>
            <a:chOff x="4558" y="3875"/>
            <a:chExt cx="155" cy="257"/>
          </a:xfrm>
        </p:grpSpPr>
        <p:sp>
          <p:nvSpPr>
            <p:cNvPr id="462874" name="AutoShape 26">
              <a:hlinkClick r:id="" action="ppaction://hlinkshowjump?jump=firstslide"/>
            </p:cNvPr>
            <p:cNvSpPr>
              <a:spLocks noChangeArrowheads="1"/>
            </p:cNvSpPr>
            <p:nvPr/>
          </p:nvSpPr>
          <p:spPr bwMode="auto">
            <a:xfrm rot="16200000">
              <a:off x="4507" y="3926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endParaRPr>
            </a:p>
          </p:txBody>
        </p:sp>
        <p:sp>
          <p:nvSpPr>
            <p:cNvPr id="1040" name="Line 27"/>
            <p:cNvSpPr/>
            <p:nvPr userDrawn="1"/>
          </p:nvSpPr>
          <p:spPr>
            <a:xfrm>
              <a:off x="4558" y="3896"/>
              <a:ext cx="0" cy="203"/>
            </a:xfrm>
            <a:prstGeom prst="line">
              <a:avLst/>
            </a:prstGeom>
            <a:ln w="28575" cap="flat" cmpd="sng">
              <a:solidFill>
                <a:srgbClr val="ACEAFE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rgbClr val="678C98"/>
              </a:prstShdw>
            </a:effectLst>
          </p:spPr>
        </p:sp>
      </p:grpSp>
      <p:pic>
        <p:nvPicPr>
          <p:cNvPr id="1031" name="Picture 37" descr="bj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2" name="Rectangle 33"/>
          <p:cNvSpPr>
            <a:spLocks noChangeArrowheads="1"/>
          </p:cNvSpPr>
          <p:nvPr/>
        </p:nvSpPr>
        <p:spPr bwMode="auto">
          <a:xfrm>
            <a:off x="0" y="765175"/>
            <a:ext cx="9144000" cy="73025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033" name="Rectangle 34"/>
          <p:cNvSpPr>
            <a:spLocks noChangeArrowheads="1"/>
          </p:cNvSpPr>
          <p:nvPr/>
        </p:nvSpPr>
        <p:spPr bwMode="auto">
          <a:xfrm>
            <a:off x="0" y="6173788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034" name="Text Box 41"/>
          <p:cNvSpPr txBox="1">
            <a:spLocks noChangeArrowheads="1"/>
          </p:cNvSpPr>
          <p:nvPr/>
        </p:nvSpPr>
        <p:spPr bwMode="auto">
          <a:xfrm>
            <a:off x="6408738" y="23813"/>
            <a:ext cx="5397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  <a:cs typeface="+mn-cs"/>
                <a:hlinkClick r:id="rId13" action="ppaction://hlinksldjump"/>
              </a:rPr>
              <a:t>目的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Arial" panose="020B0604020202020204" pitchFamily="34" charset="0"/>
              <a:ea typeface="华文隶书" panose="02010800040101010101" pitchFamily="2" charset="-122"/>
              <a:cs typeface="+mn-cs"/>
            </a:endParaRPr>
          </a:p>
        </p:txBody>
      </p:sp>
      <p:sp>
        <p:nvSpPr>
          <p:cNvPr id="1035" name="Text Box 42"/>
          <p:cNvSpPr txBox="1">
            <a:spLocks noChangeArrowheads="1"/>
          </p:cNvSpPr>
          <p:nvPr/>
        </p:nvSpPr>
        <p:spPr bwMode="auto">
          <a:xfrm>
            <a:off x="6840538" y="23813"/>
            <a:ext cx="5397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  <a:cs typeface="+mn-cs"/>
                <a:hlinkClick r:id="rId14" action="ppaction://hlinksldjump"/>
              </a:rPr>
              <a:t>原理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Arial" panose="020B0604020202020204" pitchFamily="34" charset="0"/>
              <a:ea typeface="华文隶书" panose="02010800040101010101" pitchFamily="2" charset="-122"/>
              <a:cs typeface="+mn-cs"/>
            </a:endParaRPr>
          </a:p>
        </p:txBody>
      </p:sp>
      <p:sp>
        <p:nvSpPr>
          <p:cNvPr id="1036" name="Text Box 43"/>
          <p:cNvSpPr txBox="1">
            <a:spLocks noChangeArrowheads="1"/>
          </p:cNvSpPr>
          <p:nvPr/>
        </p:nvSpPr>
        <p:spPr bwMode="auto">
          <a:xfrm>
            <a:off x="7272338" y="23813"/>
            <a:ext cx="5397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  <a:cs typeface="+mn-cs"/>
                <a:hlinkClick r:id="" action="ppaction://noaction"/>
              </a:rPr>
              <a:t>仪器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Arial" panose="020B0604020202020204" pitchFamily="34" charset="0"/>
              <a:ea typeface="华文隶书" panose="02010800040101010101" pitchFamily="2" charset="-122"/>
              <a:cs typeface="+mn-cs"/>
            </a:endParaRPr>
          </a:p>
        </p:txBody>
      </p:sp>
      <p:sp>
        <p:nvSpPr>
          <p:cNvPr id="1037" name="Text Box 44"/>
          <p:cNvSpPr txBox="1">
            <a:spLocks noChangeArrowheads="1"/>
          </p:cNvSpPr>
          <p:nvPr/>
        </p:nvSpPr>
        <p:spPr bwMode="auto">
          <a:xfrm>
            <a:off x="7777163" y="23813"/>
            <a:ext cx="5397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  <a:cs typeface="+mn-cs"/>
                <a:hlinkClick r:id="" action="ppaction://noaction"/>
              </a:rPr>
              <a:t>步骤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Arial" panose="020B0604020202020204" pitchFamily="34" charset="0"/>
              <a:ea typeface="华文隶书" panose="02010800040101010101" pitchFamily="2" charset="-122"/>
              <a:cs typeface="+mn-cs"/>
            </a:endParaRPr>
          </a:p>
        </p:txBody>
      </p:sp>
      <p:sp>
        <p:nvSpPr>
          <p:cNvPr id="1038" name="Text Box 45"/>
          <p:cNvSpPr txBox="1">
            <a:spLocks noChangeArrowheads="1"/>
          </p:cNvSpPr>
          <p:nvPr/>
        </p:nvSpPr>
        <p:spPr bwMode="auto">
          <a:xfrm>
            <a:off x="8228013" y="23813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  <a:cs typeface="+mn-cs"/>
                <a:hlinkClick r:id="" action="ppaction://noaction"/>
              </a:rPr>
              <a:t>报告要求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Arial" panose="020B0604020202020204" pitchFamily="34" charset="0"/>
              <a:ea typeface="华文隶书" panose="0201080004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d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9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8.wmf"/><Relationship Id="rId53" Type="http://schemas.openxmlformats.org/officeDocument/2006/relationships/vmlDrawing" Target="../drawings/vmlDrawing1.vml"/><Relationship Id="rId52" Type="http://schemas.openxmlformats.org/officeDocument/2006/relationships/slideLayout" Target="../slideLayouts/slideLayout7.xml"/><Relationship Id="rId51" Type="http://schemas.openxmlformats.org/officeDocument/2006/relationships/tags" Target="../tags/tag2.xml"/><Relationship Id="rId50" Type="http://schemas.openxmlformats.org/officeDocument/2006/relationships/oleObject" Target="../embeddings/oleObject28.bin"/><Relationship Id="rId5" Type="http://schemas.openxmlformats.org/officeDocument/2006/relationships/oleObject" Target="../embeddings/oleObject3.bin"/><Relationship Id="rId49" Type="http://schemas.openxmlformats.org/officeDocument/2006/relationships/image" Target="../media/image27.wmf"/><Relationship Id="rId48" Type="http://schemas.openxmlformats.org/officeDocument/2006/relationships/oleObject" Target="../embeddings/oleObject27.bin"/><Relationship Id="rId47" Type="http://schemas.openxmlformats.org/officeDocument/2006/relationships/image" Target="../media/image26.wmf"/><Relationship Id="rId46" Type="http://schemas.openxmlformats.org/officeDocument/2006/relationships/oleObject" Target="../embeddings/oleObject26.bin"/><Relationship Id="rId45" Type="http://schemas.openxmlformats.org/officeDocument/2006/relationships/image" Target="../media/image25.wmf"/><Relationship Id="rId44" Type="http://schemas.openxmlformats.org/officeDocument/2006/relationships/oleObject" Target="../embeddings/oleObject25.bin"/><Relationship Id="rId43" Type="http://schemas.openxmlformats.org/officeDocument/2006/relationships/image" Target="../media/image24.wmf"/><Relationship Id="rId42" Type="http://schemas.openxmlformats.org/officeDocument/2006/relationships/oleObject" Target="../embeddings/oleObject24.bin"/><Relationship Id="rId41" Type="http://schemas.openxmlformats.org/officeDocument/2006/relationships/image" Target="../media/image23.wmf"/><Relationship Id="rId40" Type="http://schemas.openxmlformats.org/officeDocument/2006/relationships/oleObject" Target="../embeddings/oleObject23.bin"/><Relationship Id="rId4" Type="http://schemas.openxmlformats.org/officeDocument/2006/relationships/image" Target="../media/image7.wmf"/><Relationship Id="rId39" Type="http://schemas.openxmlformats.org/officeDocument/2006/relationships/image" Target="../media/image22.wmf"/><Relationship Id="rId38" Type="http://schemas.openxmlformats.org/officeDocument/2006/relationships/oleObject" Target="../embeddings/oleObject22.bin"/><Relationship Id="rId37" Type="http://schemas.openxmlformats.org/officeDocument/2006/relationships/image" Target="../media/image21.wmf"/><Relationship Id="rId36" Type="http://schemas.openxmlformats.org/officeDocument/2006/relationships/oleObject" Target="../embeddings/oleObject21.bin"/><Relationship Id="rId35" Type="http://schemas.openxmlformats.org/officeDocument/2006/relationships/oleObject" Target="../embeddings/oleObject20.bin"/><Relationship Id="rId34" Type="http://schemas.openxmlformats.org/officeDocument/2006/relationships/oleObject" Target="../embeddings/oleObject19.bin"/><Relationship Id="rId33" Type="http://schemas.openxmlformats.org/officeDocument/2006/relationships/oleObject" Target="../embeddings/oleObject18.bin"/><Relationship Id="rId32" Type="http://schemas.openxmlformats.org/officeDocument/2006/relationships/image" Target="../media/image20.wmf"/><Relationship Id="rId31" Type="http://schemas.openxmlformats.org/officeDocument/2006/relationships/oleObject" Target="../embeddings/oleObject17.bin"/><Relationship Id="rId30" Type="http://schemas.openxmlformats.org/officeDocument/2006/relationships/image" Target="../media/image19.wmf"/><Relationship Id="rId3" Type="http://schemas.openxmlformats.org/officeDocument/2006/relationships/oleObject" Target="../embeddings/oleObject2.bin"/><Relationship Id="rId29" Type="http://schemas.openxmlformats.org/officeDocument/2006/relationships/oleObject" Target="../embeddings/oleObject16.bin"/><Relationship Id="rId28" Type="http://schemas.openxmlformats.org/officeDocument/2006/relationships/image" Target="../media/image18.wmf"/><Relationship Id="rId27" Type="http://schemas.openxmlformats.org/officeDocument/2006/relationships/oleObject" Target="../embeddings/oleObject15.bin"/><Relationship Id="rId26" Type="http://schemas.openxmlformats.org/officeDocument/2006/relationships/oleObject" Target="../embeddings/oleObject14.bin"/><Relationship Id="rId25" Type="http://schemas.openxmlformats.org/officeDocument/2006/relationships/oleObject" Target="../embeddings/oleObject13.bin"/><Relationship Id="rId24" Type="http://schemas.openxmlformats.org/officeDocument/2006/relationships/image" Target="../media/image17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6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5.wmf"/><Relationship Id="rId2" Type="http://schemas.openxmlformats.org/officeDocument/2006/relationships/image" Target="../media/image6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4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13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12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11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0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image" Target="../media/image28.jpe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1.png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30.png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NULL" TargetMode="External"/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hyperlink" Target="file:///D:\zgq\&#25968;&#23383;&#31034;&#27874;&#22120;\2005118112740image007.gif" TargetMode="Externa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7.jpeg"/><Relationship Id="rId4" Type="http://schemas.openxmlformats.org/officeDocument/2006/relationships/tags" Target="../tags/tag14.xml"/><Relationship Id="rId3" Type="http://schemas.openxmlformats.org/officeDocument/2006/relationships/image" Target="../media/image36.wmf"/><Relationship Id="rId2" Type="http://schemas.openxmlformats.org/officeDocument/2006/relationships/oleObject" Target="../embeddings/oleObject29.bin"/><Relationship Id="rId1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microsoft.com/office/2007/relationships/media" Target="file:///G:\&#26032;&#24314;&#25991;&#20214;&#22841;%20(4)\&#26446;&#33678;&#33593;&#22270;2341.avi" TargetMode="External"/><Relationship Id="rId7" Type="http://schemas.openxmlformats.org/officeDocument/2006/relationships/video" Target="file:///G:\&#26032;&#24314;&#25991;&#20214;&#22841;%20(4)\&#26446;&#33678;&#33593;&#22270;2341.avi" TargetMode="External"/><Relationship Id="rId6" Type="http://schemas.openxmlformats.org/officeDocument/2006/relationships/image" Target="../media/image39.png"/><Relationship Id="rId5" Type="http://schemas.microsoft.com/office/2007/relationships/media" Target="file:///G:\&#26032;&#24314;&#25991;&#20214;&#22841;%20(4)\&#26446;&#33678;&#33593;&#22270;1221.avi" TargetMode="External"/><Relationship Id="rId4" Type="http://schemas.openxmlformats.org/officeDocument/2006/relationships/video" Target="file:///G:\&#26032;&#24314;&#25991;&#20214;&#22841;%20(4)\&#26446;&#33678;&#33593;&#22270;1221.avi" TargetMode="External"/><Relationship Id="rId3" Type="http://schemas.openxmlformats.org/officeDocument/2006/relationships/image" Target="../media/image38.png"/><Relationship Id="rId2" Type="http://schemas.microsoft.com/office/2007/relationships/media" Target="file:///G:\&#26032;&#24314;&#25991;&#20214;&#22841;%20(4)\&#26446;&#33678;&#33593;&#22270;21.avi" TargetMode="External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6.wmf"/><Relationship Id="rId11" Type="http://schemas.openxmlformats.org/officeDocument/2006/relationships/oleObject" Target="../embeddings/oleObject30.bin"/><Relationship Id="rId10" Type="http://schemas.openxmlformats.org/officeDocument/2006/relationships/image" Target="../media/image35.png"/><Relationship Id="rId1" Type="http://schemas.openxmlformats.org/officeDocument/2006/relationships/video" Target="file:///G:\&#26032;&#24314;&#25991;&#20214;&#22841;%20(4)\&#26446;&#33678;&#33593;&#22270;21.avi" TargetMode="Externa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tags" Target="../tags/tag19.xml"/><Relationship Id="rId7" Type="http://schemas.openxmlformats.org/officeDocument/2006/relationships/image" Target="../media/image42.wmf"/><Relationship Id="rId6" Type="http://schemas.openxmlformats.org/officeDocument/2006/relationships/oleObject" Target="../embeddings/oleObject31.bin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image" Target="../media/image41.jpeg"/><Relationship Id="rId18" Type="http://schemas.openxmlformats.org/officeDocument/2006/relationships/vmlDrawing" Target="../drawings/vmlDrawing4.v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5.png"/><Relationship Id="rId3" Type="http://schemas.microsoft.com/office/2007/relationships/media" Target="file:///J:\&#25945;&#23398;&#24037;&#20316;\03&#32423;&#35838;&#20214;\3&#12289;&#26426;&#26800;&#25391;&#21160;\&#21516;&#39057;&#29575;&#22402;&#30452;&#25391;&#21160;&#21512;&#25104;41.avi" TargetMode="External"/><Relationship Id="rId2" Type="http://schemas.openxmlformats.org/officeDocument/2006/relationships/video" Target="file:///J:\&#25945;&#23398;&#24037;&#20316;\03&#32423;&#35838;&#20214;\3&#12289;&#26426;&#26800;&#25391;&#21160;\&#21516;&#39057;&#29575;&#22402;&#30452;&#25391;&#21160;&#21512;&#25104;41.avi" TargetMode="External"/><Relationship Id="rId1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vmlDrawing" Target="../drawings/vmlDrawing5.v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image" Target="../media/image47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0.jpeg"/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image" Target="../media/image4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jpeg"/><Relationship Id="rId8" Type="http://schemas.openxmlformats.org/officeDocument/2006/relationships/image" Target="../media/image59.jpeg"/><Relationship Id="rId7" Type="http://schemas.openxmlformats.org/officeDocument/2006/relationships/image" Target="../media/image58.jpeg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jpeg"/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63.jpeg"/><Relationship Id="rId11" Type="http://schemas.openxmlformats.org/officeDocument/2006/relationships/image" Target="../media/image62.jpeg"/><Relationship Id="rId10" Type="http://schemas.openxmlformats.org/officeDocument/2006/relationships/image" Target="../media/image61.jpeg"/><Relationship Id="rId1" Type="http://schemas.openxmlformats.org/officeDocument/2006/relationships/image" Target="../media/image5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8.wmf"/><Relationship Id="rId1" Type="http://schemas.openxmlformats.org/officeDocument/2006/relationships/oleObject" Target="../embeddings/oleObject32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microsoft.com/office/2007/relationships/media" Target="file:///G:\&#26032;&#24314;&#25991;&#20214;&#22841;%20(4)\&#26446;&#33678;&#33593;&#22270;2341.avi" TargetMode="External"/><Relationship Id="rId7" Type="http://schemas.openxmlformats.org/officeDocument/2006/relationships/video" Target="file:///G:\&#26032;&#24314;&#25991;&#20214;&#22841;%20(4)\&#26446;&#33678;&#33593;&#22270;2341.avi" TargetMode="External"/><Relationship Id="rId6" Type="http://schemas.openxmlformats.org/officeDocument/2006/relationships/image" Target="../media/image39.png"/><Relationship Id="rId5" Type="http://schemas.microsoft.com/office/2007/relationships/media" Target="file:///G:\&#26032;&#24314;&#25991;&#20214;&#22841;%20(4)\&#26446;&#33678;&#33593;&#22270;1221.avi" TargetMode="External"/><Relationship Id="rId4" Type="http://schemas.openxmlformats.org/officeDocument/2006/relationships/video" Target="file:///G:\&#26032;&#24314;&#25991;&#20214;&#22841;%20(4)\&#26446;&#33678;&#33593;&#22270;1221.avi" TargetMode="External"/><Relationship Id="rId3" Type="http://schemas.openxmlformats.org/officeDocument/2006/relationships/image" Target="../media/image38.png"/><Relationship Id="rId2" Type="http://schemas.microsoft.com/office/2007/relationships/media" Target="file:///G:\&#26032;&#24314;&#25991;&#20214;&#22841;%20(4)\&#26446;&#33678;&#33593;&#22270;21.avi" TargetMode="External"/><Relationship Id="rId10" Type="http://schemas.openxmlformats.org/officeDocument/2006/relationships/slideLayout" Target="../slideLayouts/slideLayout7.xml"/><Relationship Id="rId1" Type="http://schemas.openxmlformats.org/officeDocument/2006/relationships/video" Target="file:///G:\&#26032;&#24314;&#25991;&#20214;&#22841;%20(4)\&#26446;&#33678;&#33593;&#22270;21.avi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图片1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9275"/>
            <a:ext cx="9144000" cy="630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Rectangle 4"/>
          <p:cNvSpPr/>
          <p:nvPr/>
        </p:nvSpPr>
        <p:spPr>
          <a:xfrm>
            <a:off x="0" y="5949950"/>
            <a:ext cx="9144000" cy="908050"/>
          </a:xfrm>
          <a:prstGeom prst="rect">
            <a:avLst/>
          </a:prstGeom>
          <a:solidFill>
            <a:srgbClr val="0099FF"/>
          </a:solidFill>
          <a:ln w="2857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sz="2800" b="1" i="1" dirty="0">
                <a:latin typeface="Times New Roman" panose="02020603050405020304" pitchFamily="18" charset="0"/>
              </a:rPr>
              <a:t>                                                       </a:t>
            </a:r>
            <a:endParaRPr lang="en-US" altLang="zh-CN" sz="2800" b="1" i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6" name="Rectangle 5"/>
          <p:cNvSpPr/>
          <p:nvPr/>
        </p:nvSpPr>
        <p:spPr>
          <a:xfrm>
            <a:off x="0" y="0"/>
            <a:ext cx="9144000" cy="908050"/>
          </a:xfrm>
          <a:prstGeom prst="rect">
            <a:avLst/>
          </a:prstGeom>
          <a:solidFill>
            <a:srgbClr val="6699FF"/>
          </a:solidFill>
          <a:ln w="2857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77" name="WordArt 8"/>
          <p:cNvSpPr>
            <a:spLocks noTextEdit="1"/>
          </p:cNvSpPr>
          <p:nvPr/>
        </p:nvSpPr>
        <p:spPr>
          <a:xfrm>
            <a:off x="4716463" y="4510088"/>
            <a:ext cx="309562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37500" lnSpcReduction="10000"/>
          </a:bodyPr>
          <a:lstStyle/>
          <a:p>
            <a:pPr algn="ctr"/>
            <a:r>
              <a:rPr lang="zh-CN" altLang="en-US" sz="3600" b="1">
                <a:ln w="9525" cap="flat" cmpd="sng">
                  <a:solidFill>
                    <a:srgbClr val="000066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0066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数字示波器的使用</a:t>
            </a:r>
            <a:endParaRPr lang="zh-CN" altLang="en-US" sz="3600" b="1">
              <a:ln w="9525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  <a:solidFill>
                <a:srgbClr val="000066"/>
              </a:solidFill>
              <a:effectLst>
                <a:outerShdw dist="35921" dir="2699999" algn="ctr" rotWithShape="0">
                  <a:srgbClr val="C0C0C0">
                    <a:alpha val="79999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en-US" altLang="zh-CN" sz="3600" b="1">
                <a:ln w="9525" cap="flat" cmpd="sng">
                  <a:solidFill>
                    <a:srgbClr val="000066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0066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2023.04</a:t>
            </a:r>
            <a:endParaRPr lang="en-US" altLang="zh-CN" sz="3600" b="1">
              <a:ln w="9525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  <a:solidFill>
                <a:srgbClr val="000066"/>
              </a:solidFill>
              <a:effectLst>
                <a:outerShdw dist="35921" dir="2699999" algn="ctr" rotWithShape="0">
                  <a:srgbClr val="C0C0C0">
                    <a:alpha val="79999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78" name="WordArt 9"/>
          <p:cNvSpPr>
            <a:spLocks noTextEdit="1"/>
          </p:cNvSpPr>
          <p:nvPr/>
        </p:nvSpPr>
        <p:spPr>
          <a:xfrm>
            <a:off x="3924300" y="2854325"/>
            <a:ext cx="4575175" cy="9350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593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12700" cap="flat" cmpd="sng">
                  <a:solidFill>
                    <a:srgbClr val="EAEAEA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0066"/>
                </a:solidFill>
                <a:effectLst>
                  <a:outerShdw dist="35921" dir="2699999" sy="50000" kx="2115830" algn="bl" rotWithShape="0">
                    <a:srgbClr val="C0C0C0">
                      <a:alpha val="79999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大学物理实验</a:t>
            </a:r>
            <a:endParaRPr lang="zh-CN" altLang="en-US" sz="3600">
              <a:ln w="12700" cap="flat" cmpd="sng">
                <a:solidFill>
                  <a:srgbClr val="EAEAEA"/>
                </a:solidFill>
                <a:prstDash val="solid"/>
                <a:headEnd type="none" w="med" len="med"/>
                <a:tailEnd type="none" w="med" len="med"/>
              </a:ln>
              <a:solidFill>
                <a:srgbClr val="000066"/>
              </a:solidFill>
              <a:effectLst>
                <a:outerShdw dist="35921" dir="2699999" sy="50000" kx="2115830" algn="bl" rotWithShape="0">
                  <a:srgbClr val="C0C0C0">
                    <a:alpha val="79999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457200" y="45403"/>
            <a:ext cx="8229600" cy="706437"/>
          </a:xfrm>
          <a:noFill/>
          <a:ln>
            <a:noFill/>
          </a:ln>
        </p:spPr>
        <p:txBody>
          <a:bodyPr/>
          <a:lstStyle/>
          <a:p>
            <a:pPr algn="l"/>
            <a:r>
              <a:rPr lang="zh-CN" altLang="en-US" dirty="0">
                <a:solidFill>
                  <a:srgbClr val="FF0000"/>
                </a:solidFill>
              </a:rPr>
              <a:t>历史背景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099" name="内容占位符 6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 altLang="zh-CN" sz="2800" dirty="0"/>
              <a:t>       </a:t>
            </a:r>
            <a:r>
              <a:rPr lang="zh-CN" altLang="en-US" sz="2800" b="1" dirty="0">
                <a:solidFill>
                  <a:srgbClr val="FF0000"/>
                </a:solidFill>
              </a:rPr>
              <a:t>卡尔</a:t>
            </a:r>
            <a:r>
              <a:rPr lang="en-US" altLang="zh-CN" sz="2800" b="1" dirty="0">
                <a:solidFill>
                  <a:srgbClr val="FF0000"/>
                </a:solidFill>
              </a:rPr>
              <a:t>·</a:t>
            </a:r>
            <a:r>
              <a:rPr lang="zh-CN" altLang="en-US" sz="2800" b="1" dirty="0">
                <a:solidFill>
                  <a:srgbClr val="FF0000"/>
                </a:solidFill>
              </a:rPr>
              <a:t>费迪南德</a:t>
            </a:r>
            <a:r>
              <a:rPr lang="en-US" altLang="zh-CN" sz="2800" b="1" dirty="0">
                <a:solidFill>
                  <a:srgbClr val="FF0000"/>
                </a:solidFill>
              </a:rPr>
              <a:t>·</a:t>
            </a:r>
            <a:r>
              <a:rPr lang="zh-CN" altLang="en-US" sz="2800" b="1" dirty="0">
                <a:solidFill>
                  <a:srgbClr val="FF0000"/>
                </a:solidFill>
              </a:rPr>
              <a:t>布劳恩</a:t>
            </a:r>
            <a:r>
              <a:rPr lang="zh-CN" altLang="en-US" sz="2800" dirty="0"/>
              <a:t>，德国物理学家，诺贝尔物理学奖获得者，阴极射线管发明者。</a:t>
            </a:r>
            <a:r>
              <a:rPr lang="en-US" altLang="zh-CN" sz="2800" dirty="0"/>
              <a:t>1874</a:t>
            </a:r>
            <a:r>
              <a:rPr lang="zh-CN" altLang="en-US" sz="2800" dirty="0"/>
              <a:t>年，他发现某些金属硫化物具有使电流单方向通过的特性，并利用这个特性制成了检波器。</a:t>
            </a:r>
            <a:endParaRPr lang="zh-CN" altLang="en-US" sz="2800" dirty="0"/>
          </a:p>
        </p:txBody>
      </p:sp>
      <p:pic>
        <p:nvPicPr>
          <p:cNvPr id="4100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7028" y="3354388"/>
            <a:ext cx="2552700" cy="2867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478" y="3308350"/>
            <a:ext cx="2951162" cy="2759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7239" name="Rectangle 7"/>
          <p:cNvSpPr/>
          <p:nvPr>
            <p:custDataLst>
              <p:tags r:id="rId3"/>
            </p:custDataLst>
          </p:nvPr>
        </p:nvSpPr>
        <p:spPr>
          <a:xfrm>
            <a:off x="273050" y="982028"/>
            <a:ext cx="8353425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000066"/>
                </a:solidFill>
                <a:latin typeface="Arial" panose="020B0604020202020204" pitchFamily="34" charset="0"/>
              </a:rPr>
              <a:t>示波器是显示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</a:rPr>
              <a:t>电压随时间变化波形</a:t>
            </a:r>
            <a:r>
              <a:rPr lang="zh-CN" altLang="en-US" sz="2800" b="1" dirty="0">
                <a:solidFill>
                  <a:srgbClr val="000066"/>
                </a:solidFill>
                <a:latin typeface="Arial" panose="020B0604020202020204" pitchFamily="34" charset="0"/>
              </a:rPr>
              <a:t>的仪器</a:t>
            </a:r>
            <a:endParaRPr lang="zh-CN" altLang="en-US" sz="2800" b="1" dirty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/>
          <p:nvPr/>
        </p:nvSpPr>
        <p:spPr>
          <a:xfrm>
            <a:off x="273050" y="101600"/>
            <a:ext cx="20129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</a:rPr>
              <a:t>实验目的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07240" name="Rectangle 8"/>
          <p:cNvSpPr/>
          <p:nvPr/>
        </p:nvSpPr>
        <p:spPr>
          <a:xfrm>
            <a:off x="323215" y="1052830"/>
            <a:ext cx="8353425" cy="319214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indent="266700"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000066"/>
                </a:solidFill>
                <a:latin typeface="华文中宋" panose="02010600040101010101" pitchFamily="2" charset="-122"/>
              </a:rPr>
              <a:t>1.</a:t>
            </a:r>
            <a:r>
              <a:rPr lang="zh-CN" altLang="en-US" sz="2800" b="1" dirty="0">
                <a:solidFill>
                  <a:srgbClr val="000066"/>
                </a:solidFill>
                <a:latin typeface="华文中宋" panose="02010600040101010101" pitchFamily="2" charset="-122"/>
              </a:rPr>
              <a:t>用数字示波器观察交流电压信号，了解示波器扫描频率和信号频率的关系；</a:t>
            </a:r>
            <a:endParaRPr lang="zh-CN" altLang="en-US" sz="2800" b="1" dirty="0">
              <a:solidFill>
                <a:srgbClr val="000066"/>
              </a:solidFill>
              <a:latin typeface="华文中宋" panose="02010600040101010101" pitchFamily="2" charset="-122"/>
            </a:endParaRPr>
          </a:p>
          <a:p>
            <a:pPr indent="266700"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000066"/>
                </a:solidFill>
                <a:latin typeface="华文中宋" panose="02010600040101010101" pitchFamily="2" charset="-122"/>
              </a:rPr>
              <a:t>2.</a:t>
            </a:r>
            <a:r>
              <a:rPr lang="zh-CN" altLang="en-US" sz="2800" b="1" dirty="0">
                <a:solidFill>
                  <a:srgbClr val="000066"/>
                </a:solidFill>
                <a:latin typeface="华文中宋" panose="02010600040101010101" pitchFamily="2" charset="-122"/>
              </a:rPr>
              <a:t>学习用示波器测定电信号的频率、幅度；</a:t>
            </a:r>
            <a:endParaRPr lang="zh-CN" altLang="en-US" sz="2800" b="1" dirty="0">
              <a:solidFill>
                <a:srgbClr val="000066"/>
              </a:solidFill>
              <a:latin typeface="华文中宋" panose="02010600040101010101" pitchFamily="2" charset="-122"/>
            </a:endParaRPr>
          </a:p>
          <a:p>
            <a:pPr indent="266700"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000066"/>
                </a:solidFill>
                <a:latin typeface="华文中宋" panose="02010600040101010101" pitchFamily="2" charset="-122"/>
              </a:rPr>
              <a:t>3.</a:t>
            </a:r>
            <a:r>
              <a:rPr lang="zh-CN" altLang="en-US" sz="2800" b="1" dirty="0">
                <a:solidFill>
                  <a:srgbClr val="000066"/>
                </a:solidFill>
                <a:latin typeface="华文中宋" panose="02010600040101010101" pitchFamily="2" charset="-122"/>
              </a:rPr>
              <a:t>用示波器观察李萨如图形，理解两个互相垂直正弦信号合成理论；</a:t>
            </a:r>
            <a:endParaRPr lang="zh-CN" altLang="en-US" sz="2800" b="1" dirty="0">
              <a:solidFill>
                <a:srgbClr val="000066"/>
              </a:solidFill>
              <a:latin typeface="华文中宋" panose="02010600040101010101" pitchFamily="2" charset="-122"/>
            </a:endParaRPr>
          </a:p>
          <a:p>
            <a:pPr indent="266700"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000066"/>
                </a:solidFill>
                <a:latin typeface="华文中宋" panose="02010600040101010101" pitchFamily="2" charset="-122"/>
              </a:rPr>
              <a:t>4.</a:t>
            </a:r>
            <a:r>
              <a:rPr lang="zh-CN" altLang="en-US" sz="2800" b="1" dirty="0">
                <a:solidFill>
                  <a:srgbClr val="000066"/>
                </a:solidFill>
                <a:latin typeface="华文中宋" panose="02010600040101010101" pitchFamily="2" charset="-122"/>
              </a:rPr>
              <a:t>通过对以上内容的观察，掌握示波器的使用方法。</a:t>
            </a:r>
            <a:endParaRPr lang="zh-CN" altLang="en-US" sz="2800" b="1" dirty="0">
              <a:solidFill>
                <a:srgbClr val="000066"/>
              </a:solidFill>
              <a:latin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07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2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05" name="矩形 90204"/>
          <p:cNvSpPr/>
          <p:nvPr/>
        </p:nvSpPr>
        <p:spPr>
          <a:xfrm>
            <a:off x="4787900" y="990600"/>
            <a:ext cx="3962400" cy="4876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14" name="直接连接符 90113"/>
          <p:cNvSpPr/>
          <p:nvPr/>
        </p:nvSpPr>
        <p:spPr>
          <a:xfrm flipV="1">
            <a:off x="5740400" y="1914525"/>
            <a:ext cx="28590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90116" name="直接连接符 90115"/>
          <p:cNvSpPr/>
          <p:nvPr/>
        </p:nvSpPr>
        <p:spPr>
          <a:xfrm flipV="1">
            <a:off x="5740400" y="3414713"/>
            <a:ext cx="28162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90117" name="直接连接符 90116"/>
          <p:cNvSpPr/>
          <p:nvPr/>
        </p:nvSpPr>
        <p:spPr>
          <a:xfrm>
            <a:off x="5740400" y="5102225"/>
            <a:ext cx="28162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90119" name="直接连接符 90118"/>
          <p:cNvSpPr/>
          <p:nvPr/>
        </p:nvSpPr>
        <p:spPr>
          <a:xfrm>
            <a:off x="6151563" y="1476375"/>
            <a:ext cx="0" cy="4251325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90120" name="直接连接符 90119"/>
          <p:cNvSpPr/>
          <p:nvPr/>
        </p:nvSpPr>
        <p:spPr>
          <a:xfrm>
            <a:off x="6616700" y="1476375"/>
            <a:ext cx="0" cy="4251325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90121" name="直接连接符 90120"/>
          <p:cNvSpPr/>
          <p:nvPr/>
        </p:nvSpPr>
        <p:spPr>
          <a:xfrm>
            <a:off x="7073900" y="1476375"/>
            <a:ext cx="0" cy="4251325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90122" name="直接连接符 90121"/>
          <p:cNvSpPr/>
          <p:nvPr/>
        </p:nvSpPr>
        <p:spPr>
          <a:xfrm>
            <a:off x="7531100" y="1476375"/>
            <a:ext cx="0" cy="4251325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90123" name="直接连接符 90122"/>
          <p:cNvSpPr/>
          <p:nvPr/>
        </p:nvSpPr>
        <p:spPr>
          <a:xfrm>
            <a:off x="7912100" y="1476375"/>
            <a:ext cx="0" cy="4251325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90128" name="直接连接符 90127"/>
          <p:cNvSpPr/>
          <p:nvPr/>
        </p:nvSpPr>
        <p:spPr>
          <a:xfrm>
            <a:off x="5740400" y="1476375"/>
            <a:ext cx="26638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90129" name="直接连接符 90128"/>
          <p:cNvSpPr/>
          <p:nvPr/>
        </p:nvSpPr>
        <p:spPr>
          <a:xfrm>
            <a:off x="5740400" y="2351088"/>
            <a:ext cx="26638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90140" name="直接连接符 90139"/>
          <p:cNvSpPr/>
          <p:nvPr/>
        </p:nvSpPr>
        <p:spPr>
          <a:xfrm flipV="1">
            <a:off x="5740400" y="1163638"/>
            <a:ext cx="0" cy="13128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90141" name="直接连接符 90140"/>
          <p:cNvSpPr/>
          <p:nvPr/>
        </p:nvSpPr>
        <p:spPr>
          <a:xfrm flipV="1">
            <a:off x="5740400" y="2727325"/>
            <a:ext cx="0" cy="1374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90142" name="直接连接符 90141"/>
          <p:cNvSpPr/>
          <p:nvPr/>
        </p:nvSpPr>
        <p:spPr>
          <a:xfrm flipV="1">
            <a:off x="5740400" y="4289425"/>
            <a:ext cx="0" cy="1563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90143" name="直接连接符 90142"/>
          <p:cNvSpPr/>
          <p:nvPr/>
        </p:nvSpPr>
        <p:spPr>
          <a:xfrm flipH="1">
            <a:off x="5740400" y="2914650"/>
            <a:ext cx="26209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90144" name="直接连接符 90143"/>
          <p:cNvSpPr/>
          <p:nvPr/>
        </p:nvSpPr>
        <p:spPr>
          <a:xfrm flipH="1">
            <a:off x="5740400" y="3914775"/>
            <a:ext cx="26209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90145" name="直接连接符 90144"/>
          <p:cNvSpPr/>
          <p:nvPr/>
        </p:nvSpPr>
        <p:spPr>
          <a:xfrm flipH="1">
            <a:off x="5740400" y="4540250"/>
            <a:ext cx="26860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grpSp>
        <p:nvGrpSpPr>
          <p:cNvPr id="90225" name="组合 90224"/>
          <p:cNvGrpSpPr/>
          <p:nvPr/>
        </p:nvGrpSpPr>
        <p:grpSpPr>
          <a:xfrm>
            <a:off x="6346825" y="1038225"/>
            <a:ext cx="1365250" cy="376238"/>
            <a:chOff x="3958" y="654"/>
            <a:chExt cx="860" cy="237"/>
          </a:xfrm>
        </p:grpSpPr>
        <p:sp>
          <p:nvSpPr>
            <p:cNvPr id="90192" name="矩形 90191"/>
            <p:cNvSpPr/>
            <p:nvPr/>
          </p:nvSpPr>
          <p:spPr>
            <a:xfrm>
              <a:off x="3958" y="654"/>
              <a:ext cx="860" cy="237"/>
            </a:xfrm>
            <a:prstGeom prst="rect">
              <a:avLst/>
            </a:prstGeom>
            <a:gradFill rotWithShape="0">
              <a:gsLst>
                <a:gs pos="0">
                  <a:srgbClr val="CCECFF"/>
                </a:gs>
                <a:gs pos="50000">
                  <a:srgbClr val="CCECFF">
                    <a:gamma/>
                    <a:tint val="0"/>
                    <a:invGamma/>
                  </a:srgbClr>
                </a:gs>
                <a:gs pos="100000">
                  <a:srgbClr val="CCECFF"/>
                </a:gs>
              </a:gsLst>
              <a:lin ang="5400000" scaled="1"/>
              <a:tileRect/>
            </a:gradFill>
            <a:ln w="1905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0147" name="对象 90146"/>
            <p:cNvGraphicFramePr/>
            <p:nvPr/>
          </p:nvGraphicFramePr>
          <p:xfrm>
            <a:off x="3999" y="654"/>
            <a:ext cx="546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2" name="" r:id="rId1" imgW="481965" imgH="215900" progId="Equation.3">
                    <p:embed/>
                  </p:oleObj>
                </mc:Choice>
                <mc:Fallback>
                  <p:oleObj name="" r:id="rId1" imgW="481965" imgH="2159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99" y="654"/>
                          <a:ext cx="546" cy="2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0152" name="文本框 90151"/>
          <p:cNvSpPr txBox="1"/>
          <p:nvPr/>
        </p:nvSpPr>
        <p:spPr>
          <a:xfrm>
            <a:off x="7150100" y="952500"/>
            <a:ext cx="5413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94" name="矩形 90193"/>
          <p:cNvSpPr/>
          <p:nvPr/>
        </p:nvSpPr>
        <p:spPr>
          <a:xfrm>
            <a:off x="6346825" y="2476500"/>
            <a:ext cx="1365250" cy="37465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 w="1905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0148" name="对象 90147"/>
          <p:cNvGraphicFramePr/>
          <p:nvPr/>
        </p:nvGraphicFramePr>
        <p:xfrm>
          <a:off x="6411913" y="2476500"/>
          <a:ext cx="8382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3" name="" r:id="rId3" imgW="304800" imgH="152400" progId="Equation.3">
                  <p:embed/>
                </p:oleObj>
              </mc:Choice>
              <mc:Fallback>
                <p:oleObj name="" r:id="rId3" imgW="304800" imgH="1524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11913" y="2476500"/>
                        <a:ext cx="838200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53" name="矩形 90152"/>
          <p:cNvSpPr/>
          <p:nvPr/>
        </p:nvSpPr>
        <p:spPr>
          <a:xfrm>
            <a:off x="7150100" y="2387600"/>
            <a:ext cx="5064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96" name="矩形 90195"/>
          <p:cNvSpPr/>
          <p:nvPr/>
        </p:nvSpPr>
        <p:spPr>
          <a:xfrm>
            <a:off x="6346825" y="4029075"/>
            <a:ext cx="1365250" cy="37465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50000">
                <a:schemeClr val="folHlink">
                  <a:gamma/>
                  <a:tint val="0"/>
                  <a:invGamma/>
                </a:schemeClr>
              </a:gs>
              <a:gs pos="100000">
                <a:schemeClr val="folHlink"/>
              </a:gs>
            </a:gsLst>
            <a:lin ang="5400000" scaled="1"/>
            <a:tileRect/>
          </a:gradFill>
          <a:ln w="19050" cap="flat" cmpd="sng">
            <a:solidFill>
              <a:srgbClr val="99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0149" name="对象 90148"/>
          <p:cNvGraphicFramePr/>
          <p:nvPr/>
        </p:nvGraphicFramePr>
        <p:xfrm>
          <a:off x="6499225" y="4029075"/>
          <a:ext cx="8223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" name="" r:id="rId5" imgW="481965" imgH="215900" progId="Equation.3">
                  <p:embed/>
                </p:oleObj>
              </mc:Choice>
              <mc:Fallback>
                <p:oleObj name="" r:id="rId5" imgW="481965" imgH="2159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99225" y="4029075"/>
                        <a:ext cx="822325" cy="352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54" name="矩形 90153"/>
          <p:cNvSpPr/>
          <p:nvPr/>
        </p:nvSpPr>
        <p:spPr>
          <a:xfrm>
            <a:off x="7197725" y="3951288"/>
            <a:ext cx="54133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0166" name="对象 90165"/>
          <p:cNvGraphicFramePr/>
          <p:nvPr/>
        </p:nvGraphicFramePr>
        <p:xfrm>
          <a:off x="7524750" y="1914525"/>
          <a:ext cx="28575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" name="" r:id="rId7" imgW="203200" imgH="228600" progId="Equation.3">
                  <p:embed/>
                </p:oleObj>
              </mc:Choice>
              <mc:Fallback>
                <p:oleObj name="" r:id="rId7" imgW="203200" imgH="2286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24750" y="1914525"/>
                        <a:ext cx="285750" cy="312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68" name="对象 90167"/>
          <p:cNvGraphicFramePr/>
          <p:nvPr/>
        </p:nvGraphicFramePr>
        <p:xfrm>
          <a:off x="5113338" y="2816225"/>
          <a:ext cx="59531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" name="" r:id="rId9" imgW="419100" imgH="241300" progId="Equation.3">
                  <p:embed/>
                </p:oleObj>
              </mc:Choice>
              <mc:Fallback>
                <p:oleObj name="" r:id="rId9" imgW="419100" imgH="2413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13338" y="2816225"/>
                        <a:ext cx="595312" cy="327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69" name="对象 90168"/>
          <p:cNvGraphicFramePr/>
          <p:nvPr/>
        </p:nvGraphicFramePr>
        <p:xfrm>
          <a:off x="4918075" y="3698875"/>
          <a:ext cx="801688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" name="" r:id="rId11" imgW="596900" imgH="241300" progId="Equation.3">
                  <p:embed/>
                </p:oleObj>
              </mc:Choice>
              <mc:Fallback>
                <p:oleObj name="" r:id="rId11" imgW="596900" imgH="2413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18075" y="3698875"/>
                        <a:ext cx="801688" cy="307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70" name="对象 90169"/>
          <p:cNvGraphicFramePr/>
          <p:nvPr/>
        </p:nvGraphicFramePr>
        <p:xfrm>
          <a:off x="5064125" y="4452938"/>
          <a:ext cx="6985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" name="" r:id="rId13" imgW="507365" imgH="304800" progId="Equation.3">
                  <p:embed/>
                </p:oleObj>
              </mc:Choice>
              <mc:Fallback>
                <p:oleObj name="" r:id="rId13" imgW="507365" imgH="3048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64125" y="4452938"/>
                        <a:ext cx="698500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71" name="对象 90170"/>
          <p:cNvGraphicFramePr/>
          <p:nvPr/>
        </p:nvGraphicFramePr>
        <p:xfrm>
          <a:off x="4787900" y="5341938"/>
          <a:ext cx="9715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" name="" r:id="rId15" imgW="685165" imgH="304800" progId="Equation.3">
                  <p:embed/>
                </p:oleObj>
              </mc:Choice>
              <mc:Fallback>
                <p:oleObj name="" r:id="rId15" imgW="685165" imgH="3048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787900" y="5341938"/>
                        <a:ext cx="971550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73" name="对象 90172"/>
          <p:cNvGraphicFramePr/>
          <p:nvPr/>
        </p:nvGraphicFramePr>
        <p:xfrm>
          <a:off x="5762625" y="1101725"/>
          <a:ext cx="3016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" name="" r:id="rId17" imgW="177800" imgH="189865" progId="Equation.3">
                  <p:embed/>
                </p:oleObj>
              </mc:Choice>
              <mc:Fallback>
                <p:oleObj name="" r:id="rId17" imgW="177800" imgH="189865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62625" y="1101725"/>
                        <a:ext cx="301625" cy="312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74" name="对象 90173"/>
          <p:cNvGraphicFramePr/>
          <p:nvPr/>
        </p:nvGraphicFramePr>
        <p:xfrm>
          <a:off x="5762625" y="2601913"/>
          <a:ext cx="2841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" name="" r:id="rId19" imgW="228600" imgH="241300" progId="Equation.3">
                  <p:embed/>
                </p:oleObj>
              </mc:Choice>
              <mc:Fallback>
                <p:oleObj name="" r:id="rId19" imgW="228600" imgH="2413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762625" y="2601913"/>
                        <a:ext cx="284163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75" name="对象 90174"/>
          <p:cNvGraphicFramePr/>
          <p:nvPr/>
        </p:nvGraphicFramePr>
        <p:xfrm>
          <a:off x="5805488" y="4165600"/>
          <a:ext cx="3016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" name="" r:id="rId21" imgW="177800" imgH="189865" progId="Equation.3">
                  <p:embed/>
                </p:oleObj>
              </mc:Choice>
              <mc:Fallback>
                <p:oleObj name="" r:id="rId21" imgW="177800" imgH="189865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805488" y="4165600"/>
                        <a:ext cx="301625" cy="312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81" name="对象 90180"/>
          <p:cNvGraphicFramePr/>
          <p:nvPr/>
        </p:nvGraphicFramePr>
        <p:xfrm>
          <a:off x="8402638" y="1538288"/>
          <a:ext cx="2190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3" name="" r:id="rId23" imgW="114300" imgH="215265" progId="Equation.3">
                  <p:embed/>
                </p:oleObj>
              </mc:Choice>
              <mc:Fallback>
                <p:oleObj name="" r:id="rId23" imgW="114300" imgH="215265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402638" y="1538288"/>
                        <a:ext cx="219075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82" name="对象 90181"/>
          <p:cNvGraphicFramePr/>
          <p:nvPr/>
        </p:nvGraphicFramePr>
        <p:xfrm>
          <a:off x="8383588" y="3040063"/>
          <a:ext cx="20478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4" name="" r:id="rId25" imgW="114300" imgH="215265" progId="Equation.3">
                  <p:embed/>
                </p:oleObj>
              </mc:Choice>
              <mc:Fallback>
                <p:oleObj name="" r:id="rId25" imgW="114300" imgH="215265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383588" y="3040063"/>
                        <a:ext cx="204787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83" name="对象 90182"/>
          <p:cNvGraphicFramePr/>
          <p:nvPr/>
        </p:nvGraphicFramePr>
        <p:xfrm>
          <a:off x="8426450" y="4665663"/>
          <a:ext cx="2174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" r:id="rId26" imgW="114300" imgH="215265" progId="Equation.3">
                  <p:embed/>
                </p:oleObj>
              </mc:Choice>
              <mc:Fallback>
                <p:oleObj name="" r:id="rId26" imgW="114300" imgH="215265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426450" y="4665663"/>
                        <a:ext cx="217488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84" name="对象 90183"/>
          <p:cNvGraphicFramePr/>
          <p:nvPr/>
        </p:nvGraphicFramePr>
        <p:xfrm>
          <a:off x="5416550" y="1350963"/>
          <a:ext cx="303213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" r:id="rId27" imgW="215900" imgH="228600" progId="Equation.3">
                  <p:embed/>
                </p:oleObj>
              </mc:Choice>
              <mc:Fallback>
                <p:oleObj name="" r:id="rId27" imgW="215900" imgH="2286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416550" y="1350963"/>
                        <a:ext cx="303213" cy="312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85" name="对象 90184"/>
          <p:cNvGraphicFramePr/>
          <p:nvPr/>
        </p:nvGraphicFramePr>
        <p:xfrm>
          <a:off x="5221288" y="2163763"/>
          <a:ext cx="431800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" r:id="rId29" imgW="393700" imgH="228600" progId="Equation.3">
                  <p:embed/>
                </p:oleObj>
              </mc:Choice>
              <mc:Fallback>
                <p:oleObj name="" r:id="rId29" imgW="393700" imgH="2286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221288" y="2163763"/>
                        <a:ext cx="431800" cy="312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88" name="对象 90187"/>
          <p:cNvGraphicFramePr/>
          <p:nvPr/>
        </p:nvGraphicFramePr>
        <p:xfrm>
          <a:off x="5407025" y="1789113"/>
          <a:ext cx="3556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" name="" r:id="rId31" imgW="127000" imgH="139700" progId="Equation.3">
                  <p:embed/>
                </p:oleObj>
              </mc:Choice>
              <mc:Fallback>
                <p:oleObj name="" r:id="rId31" imgW="127000" imgH="1397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407025" y="1789113"/>
                        <a:ext cx="3556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89" name="对象 90188"/>
          <p:cNvGraphicFramePr/>
          <p:nvPr/>
        </p:nvGraphicFramePr>
        <p:xfrm>
          <a:off x="5407025" y="4914900"/>
          <a:ext cx="3556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" name="" r:id="rId33" imgW="127000" imgH="139700" progId="Equation.3">
                  <p:embed/>
                </p:oleObj>
              </mc:Choice>
              <mc:Fallback>
                <p:oleObj name="" r:id="rId33" imgW="127000" imgH="1397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407025" y="4914900"/>
                        <a:ext cx="355600" cy="376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90" name="对象 90189"/>
          <p:cNvGraphicFramePr/>
          <p:nvPr/>
        </p:nvGraphicFramePr>
        <p:xfrm>
          <a:off x="5407025" y="3227388"/>
          <a:ext cx="3556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" name="" r:id="rId34" imgW="127000" imgH="139700" progId="Equation.3">
                  <p:embed/>
                </p:oleObj>
              </mc:Choice>
              <mc:Fallback>
                <p:oleObj name="" r:id="rId34" imgW="127000" imgH="1397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407025" y="3227388"/>
                        <a:ext cx="3556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03" name="直接连接符 90202"/>
          <p:cNvSpPr/>
          <p:nvPr/>
        </p:nvSpPr>
        <p:spPr>
          <a:xfrm flipH="1">
            <a:off x="5762625" y="5665788"/>
            <a:ext cx="26638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graphicFrame>
        <p:nvGraphicFramePr>
          <p:cNvPr id="90210" name="对象 90209"/>
          <p:cNvGraphicFramePr/>
          <p:nvPr/>
        </p:nvGraphicFramePr>
        <p:xfrm>
          <a:off x="7272338" y="5108575"/>
          <a:ext cx="28575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" name="" r:id="rId35" imgW="203200" imgH="228600" progId="Equation.3">
                  <p:embed/>
                </p:oleObj>
              </mc:Choice>
              <mc:Fallback>
                <p:oleObj name="" r:id="rId35" imgW="203200" imgH="2286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72338" y="5108575"/>
                        <a:ext cx="285750" cy="312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5" name="对象 90124"/>
          <p:cNvGraphicFramePr/>
          <p:nvPr/>
        </p:nvGraphicFramePr>
        <p:xfrm>
          <a:off x="787400" y="1016000"/>
          <a:ext cx="27813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" name="" r:id="rId36" imgW="1332865" imgH="241300" progId="Equation.3">
                  <p:embed/>
                </p:oleObj>
              </mc:Choice>
              <mc:Fallback>
                <p:oleObj name="" r:id="rId36" imgW="1332865" imgH="2413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787400" y="1016000"/>
                        <a:ext cx="2781300" cy="5016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CECFF"/>
                          </a:gs>
                          <a:gs pos="50000">
                            <a:srgbClr val="CCECFF">
                              <a:gamma/>
                              <a:tint val="0"/>
                              <a:invGamma/>
                            </a:srgbClr>
                          </a:gs>
                          <a:gs pos="100000">
                            <a:srgbClr val="CCECFF"/>
                          </a:gs>
                        </a:gsLst>
                        <a:lin ang="5400000" scaled="1"/>
                        <a:tileRect/>
                      </a:gradFill>
                      <a:ln w="19050" cap="flat" cmpd="sng">
                        <a:solidFill>
                          <a:srgbClr val="0000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227" name="组合 90226"/>
          <p:cNvGrpSpPr/>
          <p:nvPr/>
        </p:nvGrpSpPr>
        <p:grpSpPr>
          <a:xfrm>
            <a:off x="2438400" y="1778000"/>
            <a:ext cx="1676400" cy="579438"/>
            <a:chOff x="1632" y="1104"/>
            <a:chExt cx="1056" cy="365"/>
          </a:xfrm>
        </p:grpSpPr>
        <p:graphicFrame>
          <p:nvGraphicFramePr>
            <p:cNvPr id="90146" name="对象 90145"/>
            <p:cNvGraphicFramePr/>
            <p:nvPr/>
          </p:nvGraphicFramePr>
          <p:xfrm>
            <a:off x="1988" y="1112"/>
            <a:ext cx="700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3" name="" r:id="rId38" imgW="444500" imgH="241300" progId="Equation.3">
                    <p:embed/>
                  </p:oleObj>
                </mc:Choice>
                <mc:Fallback>
                  <p:oleObj name="" r:id="rId38" imgW="444500" imgH="24130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1988" y="1112"/>
                          <a:ext cx="700" cy="3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50" name="文本框 90149"/>
            <p:cNvSpPr txBox="1"/>
            <p:nvPr/>
          </p:nvSpPr>
          <p:spPr>
            <a:xfrm>
              <a:off x="1632" y="1104"/>
              <a:ext cx="37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取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90176" name="对象 90175"/>
          <p:cNvGraphicFramePr/>
          <p:nvPr/>
        </p:nvGraphicFramePr>
        <p:xfrm>
          <a:off x="1016000" y="1549400"/>
          <a:ext cx="12954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" name="" r:id="rId40" imgW="596900" imgH="469900" progId="Equation.3">
                  <p:embed/>
                </p:oleObj>
              </mc:Choice>
              <mc:Fallback>
                <p:oleObj name="" r:id="rId40" imgW="596900" imgH="4699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016000" y="1549400"/>
                        <a:ext cx="1295400" cy="1020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6" name="对象 90125"/>
          <p:cNvGraphicFramePr/>
          <p:nvPr/>
        </p:nvGraphicFramePr>
        <p:xfrm>
          <a:off x="1003300" y="3105150"/>
          <a:ext cx="364648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" name="" r:id="rId42" imgW="1651000" imgH="469900" progId="Equation.3">
                  <p:embed/>
                </p:oleObj>
              </mc:Choice>
              <mc:Fallback>
                <p:oleObj name="" r:id="rId42" imgW="1651000" imgH="4699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003300" y="3105150"/>
                        <a:ext cx="3646488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77" name="对象 90176"/>
          <p:cNvGraphicFramePr/>
          <p:nvPr/>
        </p:nvGraphicFramePr>
        <p:xfrm>
          <a:off x="787400" y="2647950"/>
          <a:ext cx="3657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" name="" r:id="rId44" imgW="1574165" imgH="241300" progId="Equation.3">
                  <p:embed/>
                </p:oleObj>
              </mc:Choice>
              <mc:Fallback>
                <p:oleObj name="" r:id="rId44" imgW="1574165" imgH="2413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787400" y="2647950"/>
                        <a:ext cx="3657600" cy="5175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chemeClr val="accent1">
                              <a:gamma/>
                              <a:tint val="0"/>
                              <a:invGamma/>
                            </a:schemeClr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9050" cap="flat" cmpd="sng">
                        <a:solidFill>
                          <a:srgbClr val="008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7" name="对象 90126"/>
          <p:cNvGraphicFramePr/>
          <p:nvPr/>
        </p:nvGraphicFramePr>
        <p:xfrm>
          <a:off x="1003300" y="4933950"/>
          <a:ext cx="37512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" name="" r:id="rId46" imgW="1699895" imgH="266065" progId="Equation.3">
                  <p:embed/>
                </p:oleObj>
              </mc:Choice>
              <mc:Fallback>
                <p:oleObj name="" r:id="rId46" imgW="1699895" imgH="266065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003300" y="4933950"/>
                        <a:ext cx="3751263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78" name="对象 90177"/>
          <p:cNvGraphicFramePr/>
          <p:nvPr/>
        </p:nvGraphicFramePr>
        <p:xfrm>
          <a:off x="762000" y="4171950"/>
          <a:ext cx="40068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" name="" r:id="rId48" imgW="1674495" imgH="266065" progId="Equation.3">
                  <p:embed/>
                </p:oleObj>
              </mc:Choice>
              <mc:Fallback>
                <p:oleObj name="" r:id="rId48" imgW="1674495" imgH="266065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762000" y="4171950"/>
                        <a:ext cx="4006850" cy="5810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folHlink"/>
                          </a:gs>
                          <a:gs pos="50000">
                            <a:schemeClr val="folHlink">
                              <a:gamma/>
                              <a:tint val="0"/>
                              <a:invGamma/>
                            </a:schemeClr>
                          </a:gs>
                          <a:gs pos="100000">
                            <a:schemeClr val="folHlink"/>
                          </a:gs>
                        </a:gsLst>
                        <a:lin ang="5400000" scaled="1"/>
                        <a:tileRect/>
                      </a:gradFill>
                      <a:ln w="19050" cap="flat" cmpd="sng">
                        <a:solidFill>
                          <a:srgbClr val="99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08" name="任意多边形 90207"/>
          <p:cNvSpPr>
            <a:spLocks noChangeAspect="1"/>
          </p:cNvSpPr>
          <p:nvPr/>
        </p:nvSpPr>
        <p:spPr>
          <a:xfrm>
            <a:off x="5740400" y="1460500"/>
            <a:ext cx="2260600" cy="914400"/>
          </a:xfrm>
          <a:custGeom>
            <a:avLst/>
            <a:gdLst/>
            <a:ahLst/>
            <a:cxnLst/>
            <a:rect l="0" t="0" r="0" b="0"/>
            <a:pathLst>
              <a:path w="2625" h="1183">
                <a:moveTo>
                  <a:pt x="0" y="0"/>
                </a:moveTo>
                <a:lnTo>
                  <a:pt x="37" y="4"/>
                </a:lnTo>
                <a:lnTo>
                  <a:pt x="71" y="14"/>
                </a:lnTo>
                <a:lnTo>
                  <a:pt x="108" y="32"/>
                </a:lnTo>
                <a:lnTo>
                  <a:pt x="144" y="58"/>
                </a:lnTo>
                <a:lnTo>
                  <a:pt x="180" y="89"/>
                </a:lnTo>
                <a:lnTo>
                  <a:pt x="215" y="127"/>
                </a:lnTo>
                <a:lnTo>
                  <a:pt x="251" y="170"/>
                </a:lnTo>
                <a:lnTo>
                  <a:pt x="287" y="219"/>
                </a:lnTo>
                <a:lnTo>
                  <a:pt x="324" y="272"/>
                </a:lnTo>
                <a:lnTo>
                  <a:pt x="359" y="329"/>
                </a:lnTo>
                <a:lnTo>
                  <a:pt x="395" y="390"/>
                </a:lnTo>
                <a:lnTo>
                  <a:pt x="432" y="453"/>
                </a:lnTo>
                <a:lnTo>
                  <a:pt x="467" y="517"/>
                </a:lnTo>
                <a:lnTo>
                  <a:pt x="503" y="583"/>
                </a:lnTo>
                <a:lnTo>
                  <a:pt x="540" y="649"/>
                </a:lnTo>
                <a:lnTo>
                  <a:pt x="575" y="713"/>
                </a:lnTo>
                <a:lnTo>
                  <a:pt x="612" y="777"/>
                </a:lnTo>
                <a:lnTo>
                  <a:pt x="646" y="839"/>
                </a:lnTo>
                <a:lnTo>
                  <a:pt x="683" y="896"/>
                </a:lnTo>
                <a:lnTo>
                  <a:pt x="720" y="951"/>
                </a:lnTo>
                <a:lnTo>
                  <a:pt x="754" y="1001"/>
                </a:lnTo>
                <a:lnTo>
                  <a:pt x="791" y="1046"/>
                </a:lnTo>
                <a:lnTo>
                  <a:pt x="828" y="1085"/>
                </a:lnTo>
                <a:lnTo>
                  <a:pt x="863" y="1118"/>
                </a:lnTo>
                <a:lnTo>
                  <a:pt x="899" y="1145"/>
                </a:lnTo>
                <a:lnTo>
                  <a:pt x="936" y="1165"/>
                </a:lnTo>
                <a:lnTo>
                  <a:pt x="971" y="1178"/>
                </a:lnTo>
                <a:lnTo>
                  <a:pt x="1008" y="1183"/>
                </a:lnTo>
                <a:lnTo>
                  <a:pt x="1042" y="1182"/>
                </a:lnTo>
                <a:lnTo>
                  <a:pt x="1079" y="1173"/>
                </a:lnTo>
                <a:lnTo>
                  <a:pt x="1115" y="1157"/>
                </a:lnTo>
                <a:lnTo>
                  <a:pt x="1151" y="1134"/>
                </a:lnTo>
                <a:lnTo>
                  <a:pt x="1186" y="1104"/>
                </a:lnTo>
                <a:lnTo>
                  <a:pt x="1223" y="1068"/>
                </a:lnTo>
                <a:lnTo>
                  <a:pt x="1259" y="1026"/>
                </a:lnTo>
                <a:lnTo>
                  <a:pt x="1295" y="979"/>
                </a:lnTo>
                <a:lnTo>
                  <a:pt x="1331" y="927"/>
                </a:lnTo>
                <a:lnTo>
                  <a:pt x="1366" y="870"/>
                </a:lnTo>
                <a:lnTo>
                  <a:pt x="1403" y="811"/>
                </a:lnTo>
                <a:lnTo>
                  <a:pt x="1437" y="749"/>
                </a:lnTo>
                <a:lnTo>
                  <a:pt x="1474" y="685"/>
                </a:lnTo>
                <a:lnTo>
                  <a:pt x="1511" y="620"/>
                </a:lnTo>
                <a:lnTo>
                  <a:pt x="1546" y="553"/>
                </a:lnTo>
                <a:lnTo>
                  <a:pt x="1582" y="488"/>
                </a:lnTo>
                <a:lnTo>
                  <a:pt x="1619" y="424"/>
                </a:lnTo>
                <a:lnTo>
                  <a:pt x="1654" y="362"/>
                </a:lnTo>
                <a:lnTo>
                  <a:pt x="1691" y="303"/>
                </a:lnTo>
                <a:lnTo>
                  <a:pt x="1727" y="247"/>
                </a:lnTo>
                <a:lnTo>
                  <a:pt x="1762" y="197"/>
                </a:lnTo>
                <a:lnTo>
                  <a:pt x="1799" y="150"/>
                </a:lnTo>
                <a:lnTo>
                  <a:pt x="1834" y="109"/>
                </a:lnTo>
                <a:lnTo>
                  <a:pt x="1870" y="75"/>
                </a:lnTo>
                <a:lnTo>
                  <a:pt x="1907" y="45"/>
                </a:lnTo>
                <a:lnTo>
                  <a:pt x="1942" y="24"/>
                </a:lnTo>
                <a:lnTo>
                  <a:pt x="1979" y="9"/>
                </a:lnTo>
                <a:lnTo>
                  <a:pt x="2014" y="1"/>
                </a:lnTo>
                <a:lnTo>
                  <a:pt x="2050" y="1"/>
                </a:lnTo>
                <a:lnTo>
                  <a:pt x="2086" y="8"/>
                </a:lnTo>
                <a:lnTo>
                  <a:pt x="2123" y="22"/>
                </a:lnTo>
                <a:lnTo>
                  <a:pt x="2157" y="43"/>
                </a:lnTo>
                <a:lnTo>
                  <a:pt x="2194" y="71"/>
                </a:lnTo>
                <a:lnTo>
                  <a:pt x="2230" y="105"/>
                </a:lnTo>
                <a:lnTo>
                  <a:pt x="2265" y="146"/>
                </a:lnTo>
                <a:lnTo>
                  <a:pt x="2302" y="191"/>
                </a:lnTo>
                <a:lnTo>
                  <a:pt x="2337" y="242"/>
                </a:lnTo>
                <a:lnTo>
                  <a:pt x="2374" y="298"/>
                </a:lnTo>
                <a:lnTo>
                  <a:pt x="2410" y="356"/>
                </a:lnTo>
                <a:lnTo>
                  <a:pt x="2445" y="418"/>
                </a:lnTo>
                <a:lnTo>
                  <a:pt x="2482" y="481"/>
                </a:lnTo>
                <a:lnTo>
                  <a:pt x="2519" y="547"/>
                </a:lnTo>
                <a:lnTo>
                  <a:pt x="2553" y="613"/>
                </a:lnTo>
                <a:lnTo>
                  <a:pt x="2590" y="679"/>
                </a:lnTo>
                <a:lnTo>
                  <a:pt x="2625" y="742"/>
                </a:lnTo>
              </a:path>
            </a:pathLst>
          </a:custGeom>
          <a:noFill/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209" name="任意多边形 90208"/>
          <p:cNvSpPr>
            <a:spLocks noChangeAspect="1"/>
          </p:cNvSpPr>
          <p:nvPr/>
        </p:nvSpPr>
        <p:spPr>
          <a:xfrm flipV="1">
            <a:off x="5734050" y="4572000"/>
            <a:ext cx="2254250" cy="1103313"/>
          </a:xfrm>
          <a:custGeom>
            <a:avLst/>
            <a:gdLst/>
            <a:ahLst/>
            <a:cxnLst/>
            <a:rect l="0" t="0" r="0" b="0"/>
            <a:pathLst>
              <a:path w="2625" h="1183">
                <a:moveTo>
                  <a:pt x="0" y="0"/>
                </a:moveTo>
                <a:lnTo>
                  <a:pt x="37" y="4"/>
                </a:lnTo>
                <a:lnTo>
                  <a:pt x="71" y="14"/>
                </a:lnTo>
                <a:lnTo>
                  <a:pt x="108" y="32"/>
                </a:lnTo>
                <a:lnTo>
                  <a:pt x="144" y="58"/>
                </a:lnTo>
                <a:lnTo>
                  <a:pt x="180" y="89"/>
                </a:lnTo>
                <a:lnTo>
                  <a:pt x="215" y="127"/>
                </a:lnTo>
                <a:lnTo>
                  <a:pt x="251" y="170"/>
                </a:lnTo>
                <a:lnTo>
                  <a:pt x="287" y="219"/>
                </a:lnTo>
                <a:lnTo>
                  <a:pt x="324" y="272"/>
                </a:lnTo>
                <a:lnTo>
                  <a:pt x="359" y="329"/>
                </a:lnTo>
                <a:lnTo>
                  <a:pt x="395" y="390"/>
                </a:lnTo>
                <a:lnTo>
                  <a:pt x="432" y="453"/>
                </a:lnTo>
                <a:lnTo>
                  <a:pt x="467" y="517"/>
                </a:lnTo>
                <a:lnTo>
                  <a:pt x="503" y="583"/>
                </a:lnTo>
                <a:lnTo>
                  <a:pt x="540" y="649"/>
                </a:lnTo>
                <a:lnTo>
                  <a:pt x="575" y="713"/>
                </a:lnTo>
                <a:lnTo>
                  <a:pt x="612" y="777"/>
                </a:lnTo>
                <a:lnTo>
                  <a:pt x="646" y="839"/>
                </a:lnTo>
                <a:lnTo>
                  <a:pt x="683" y="896"/>
                </a:lnTo>
                <a:lnTo>
                  <a:pt x="720" y="951"/>
                </a:lnTo>
                <a:lnTo>
                  <a:pt x="754" y="1001"/>
                </a:lnTo>
                <a:lnTo>
                  <a:pt x="791" y="1046"/>
                </a:lnTo>
                <a:lnTo>
                  <a:pt x="828" y="1085"/>
                </a:lnTo>
                <a:lnTo>
                  <a:pt x="863" y="1118"/>
                </a:lnTo>
                <a:lnTo>
                  <a:pt x="899" y="1145"/>
                </a:lnTo>
                <a:lnTo>
                  <a:pt x="936" y="1165"/>
                </a:lnTo>
                <a:lnTo>
                  <a:pt x="971" y="1178"/>
                </a:lnTo>
                <a:lnTo>
                  <a:pt x="1008" y="1183"/>
                </a:lnTo>
                <a:lnTo>
                  <a:pt x="1042" y="1182"/>
                </a:lnTo>
                <a:lnTo>
                  <a:pt x="1079" y="1173"/>
                </a:lnTo>
                <a:lnTo>
                  <a:pt x="1115" y="1157"/>
                </a:lnTo>
                <a:lnTo>
                  <a:pt x="1151" y="1134"/>
                </a:lnTo>
                <a:lnTo>
                  <a:pt x="1186" y="1104"/>
                </a:lnTo>
                <a:lnTo>
                  <a:pt x="1223" y="1068"/>
                </a:lnTo>
                <a:lnTo>
                  <a:pt x="1259" y="1026"/>
                </a:lnTo>
                <a:lnTo>
                  <a:pt x="1295" y="979"/>
                </a:lnTo>
                <a:lnTo>
                  <a:pt x="1331" y="927"/>
                </a:lnTo>
                <a:lnTo>
                  <a:pt x="1366" y="870"/>
                </a:lnTo>
                <a:lnTo>
                  <a:pt x="1403" y="811"/>
                </a:lnTo>
                <a:lnTo>
                  <a:pt x="1437" y="749"/>
                </a:lnTo>
                <a:lnTo>
                  <a:pt x="1474" y="685"/>
                </a:lnTo>
                <a:lnTo>
                  <a:pt x="1511" y="620"/>
                </a:lnTo>
                <a:lnTo>
                  <a:pt x="1546" y="553"/>
                </a:lnTo>
                <a:lnTo>
                  <a:pt x="1582" y="488"/>
                </a:lnTo>
                <a:lnTo>
                  <a:pt x="1619" y="424"/>
                </a:lnTo>
                <a:lnTo>
                  <a:pt x="1654" y="362"/>
                </a:lnTo>
                <a:lnTo>
                  <a:pt x="1691" y="303"/>
                </a:lnTo>
                <a:lnTo>
                  <a:pt x="1727" y="247"/>
                </a:lnTo>
                <a:lnTo>
                  <a:pt x="1762" y="197"/>
                </a:lnTo>
                <a:lnTo>
                  <a:pt x="1799" y="150"/>
                </a:lnTo>
                <a:lnTo>
                  <a:pt x="1834" y="109"/>
                </a:lnTo>
                <a:lnTo>
                  <a:pt x="1870" y="75"/>
                </a:lnTo>
                <a:lnTo>
                  <a:pt x="1907" y="45"/>
                </a:lnTo>
                <a:lnTo>
                  <a:pt x="1942" y="24"/>
                </a:lnTo>
                <a:lnTo>
                  <a:pt x="1979" y="9"/>
                </a:lnTo>
                <a:lnTo>
                  <a:pt x="2014" y="1"/>
                </a:lnTo>
                <a:lnTo>
                  <a:pt x="2050" y="1"/>
                </a:lnTo>
                <a:lnTo>
                  <a:pt x="2086" y="8"/>
                </a:lnTo>
                <a:lnTo>
                  <a:pt x="2123" y="22"/>
                </a:lnTo>
                <a:lnTo>
                  <a:pt x="2157" y="43"/>
                </a:lnTo>
                <a:lnTo>
                  <a:pt x="2194" y="71"/>
                </a:lnTo>
                <a:lnTo>
                  <a:pt x="2230" y="105"/>
                </a:lnTo>
                <a:lnTo>
                  <a:pt x="2265" y="146"/>
                </a:lnTo>
                <a:lnTo>
                  <a:pt x="2302" y="191"/>
                </a:lnTo>
                <a:lnTo>
                  <a:pt x="2337" y="242"/>
                </a:lnTo>
                <a:lnTo>
                  <a:pt x="2374" y="298"/>
                </a:lnTo>
                <a:lnTo>
                  <a:pt x="2410" y="356"/>
                </a:lnTo>
                <a:lnTo>
                  <a:pt x="2445" y="418"/>
                </a:lnTo>
                <a:lnTo>
                  <a:pt x="2482" y="481"/>
                </a:lnTo>
                <a:lnTo>
                  <a:pt x="2519" y="547"/>
                </a:lnTo>
                <a:lnTo>
                  <a:pt x="2553" y="613"/>
                </a:lnTo>
                <a:lnTo>
                  <a:pt x="2590" y="679"/>
                </a:lnTo>
                <a:lnTo>
                  <a:pt x="2625" y="742"/>
                </a:lnTo>
              </a:path>
            </a:pathLst>
          </a:custGeom>
          <a:noFill/>
          <a:ln w="28575" cap="flat" cmpd="sng">
            <a:solidFill>
              <a:srgbClr val="CC00CC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211" name="任意多边形 90210"/>
          <p:cNvSpPr/>
          <p:nvPr/>
        </p:nvSpPr>
        <p:spPr>
          <a:xfrm>
            <a:off x="5740400" y="2933700"/>
            <a:ext cx="2184400" cy="990600"/>
          </a:xfrm>
          <a:custGeom>
            <a:avLst/>
            <a:gdLst/>
            <a:ahLst/>
            <a:cxnLst/>
            <a:rect l="0" t="0" r="0" b="0"/>
            <a:pathLst>
              <a:path w="3290" h="1327">
                <a:moveTo>
                  <a:pt x="0" y="664"/>
                </a:moveTo>
                <a:lnTo>
                  <a:pt x="34" y="714"/>
                </a:lnTo>
                <a:lnTo>
                  <a:pt x="66" y="765"/>
                </a:lnTo>
                <a:lnTo>
                  <a:pt x="100" y="816"/>
                </a:lnTo>
                <a:lnTo>
                  <a:pt x="133" y="865"/>
                </a:lnTo>
                <a:lnTo>
                  <a:pt x="166" y="912"/>
                </a:lnTo>
                <a:lnTo>
                  <a:pt x="199" y="959"/>
                </a:lnTo>
                <a:lnTo>
                  <a:pt x="232" y="1003"/>
                </a:lnTo>
                <a:lnTo>
                  <a:pt x="265" y="1046"/>
                </a:lnTo>
                <a:lnTo>
                  <a:pt x="299" y="1086"/>
                </a:lnTo>
                <a:lnTo>
                  <a:pt x="332" y="1124"/>
                </a:lnTo>
                <a:lnTo>
                  <a:pt x="365" y="1160"/>
                </a:lnTo>
                <a:lnTo>
                  <a:pt x="399" y="1192"/>
                </a:lnTo>
                <a:lnTo>
                  <a:pt x="431" y="1221"/>
                </a:lnTo>
                <a:lnTo>
                  <a:pt x="465" y="1247"/>
                </a:lnTo>
                <a:lnTo>
                  <a:pt x="499" y="1270"/>
                </a:lnTo>
                <a:lnTo>
                  <a:pt x="531" y="1289"/>
                </a:lnTo>
                <a:lnTo>
                  <a:pt x="565" y="1304"/>
                </a:lnTo>
                <a:lnTo>
                  <a:pt x="597" y="1315"/>
                </a:lnTo>
                <a:lnTo>
                  <a:pt x="631" y="1323"/>
                </a:lnTo>
                <a:lnTo>
                  <a:pt x="665" y="1327"/>
                </a:lnTo>
                <a:lnTo>
                  <a:pt x="697" y="1327"/>
                </a:lnTo>
                <a:lnTo>
                  <a:pt x="731" y="1323"/>
                </a:lnTo>
                <a:lnTo>
                  <a:pt x="765" y="1315"/>
                </a:lnTo>
                <a:lnTo>
                  <a:pt x="797" y="1303"/>
                </a:lnTo>
                <a:lnTo>
                  <a:pt x="831" y="1287"/>
                </a:lnTo>
                <a:lnTo>
                  <a:pt x="865" y="1269"/>
                </a:lnTo>
                <a:lnTo>
                  <a:pt x="897" y="1246"/>
                </a:lnTo>
                <a:lnTo>
                  <a:pt x="931" y="1220"/>
                </a:lnTo>
                <a:lnTo>
                  <a:pt x="963" y="1189"/>
                </a:lnTo>
                <a:lnTo>
                  <a:pt x="997" y="1157"/>
                </a:lnTo>
                <a:lnTo>
                  <a:pt x="1030" y="1121"/>
                </a:lnTo>
                <a:lnTo>
                  <a:pt x="1063" y="1083"/>
                </a:lnTo>
                <a:lnTo>
                  <a:pt x="1096" y="1043"/>
                </a:lnTo>
                <a:lnTo>
                  <a:pt x="1130" y="1000"/>
                </a:lnTo>
                <a:lnTo>
                  <a:pt x="1163" y="955"/>
                </a:lnTo>
                <a:lnTo>
                  <a:pt x="1196" y="908"/>
                </a:lnTo>
                <a:lnTo>
                  <a:pt x="1230" y="860"/>
                </a:lnTo>
                <a:lnTo>
                  <a:pt x="1262" y="811"/>
                </a:lnTo>
                <a:lnTo>
                  <a:pt x="1296" y="762"/>
                </a:lnTo>
                <a:lnTo>
                  <a:pt x="1328" y="711"/>
                </a:lnTo>
                <a:lnTo>
                  <a:pt x="1362" y="659"/>
                </a:lnTo>
                <a:lnTo>
                  <a:pt x="1396" y="608"/>
                </a:lnTo>
                <a:lnTo>
                  <a:pt x="1428" y="558"/>
                </a:lnTo>
                <a:lnTo>
                  <a:pt x="1462" y="509"/>
                </a:lnTo>
                <a:lnTo>
                  <a:pt x="1496" y="459"/>
                </a:lnTo>
                <a:lnTo>
                  <a:pt x="1528" y="412"/>
                </a:lnTo>
                <a:lnTo>
                  <a:pt x="1562" y="366"/>
                </a:lnTo>
                <a:lnTo>
                  <a:pt x="1596" y="321"/>
                </a:lnTo>
                <a:lnTo>
                  <a:pt x="1628" y="278"/>
                </a:lnTo>
                <a:lnTo>
                  <a:pt x="1662" y="238"/>
                </a:lnTo>
                <a:lnTo>
                  <a:pt x="1694" y="200"/>
                </a:lnTo>
                <a:lnTo>
                  <a:pt x="1728" y="165"/>
                </a:lnTo>
                <a:lnTo>
                  <a:pt x="1762" y="132"/>
                </a:lnTo>
                <a:lnTo>
                  <a:pt x="1794" y="105"/>
                </a:lnTo>
                <a:lnTo>
                  <a:pt x="1828" y="79"/>
                </a:lnTo>
                <a:lnTo>
                  <a:pt x="1861" y="55"/>
                </a:lnTo>
                <a:lnTo>
                  <a:pt x="1894" y="37"/>
                </a:lnTo>
                <a:lnTo>
                  <a:pt x="1927" y="23"/>
                </a:lnTo>
                <a:lnTo>
                  <a:pt x="1961" y="11"/>
                </a:lnTo>
                <a:lnTo>
                  <a:pt x="1993" y="3"/>
                </a:lnTo>
                <a:lnTo>
                  <a:pt x="2027" y="0"/>
                </a:lnTo>
                <a:lnTo>
                  <a:pt x="2060" y="0"/>
                </a:lnTo>
                <a:lnTo>
                  <a:pt x="2093" y="5"/>
                </a:lnTo>
                <a:lnTo>
                  <a:pt x="2127" y="14"/>
                </a:lnTo>
                <a:lnTo>
                  <a:pt x="2159" y="26"/>
                </a:lnTo>
                <a:lnTo>
                  <a:pt x="2193" y="42"/>
                </a:lnTo>
                <a:lnTo>
                  <a:pt x="2227" y="62"/>
                </a:lnTo>
                <a:lnTo>
                  <a:pt x="2259" y="85"/>
                </a:lnTo>
                <a:lnTo>
                  <a:pt x="2293" y="111"/>
                </a:lnTo>
                <a:lnTo>
                  <a:pt x="2327" y="140"/>
                </a:lnTo>
                <a:lnTo>
                  <a:pt x="2359" y="172"/>
                </a:lnTo>
                <a:lnTo>
                  <a:pt x="2393" y="209"/>
                </a:lnTo>
                <a:lnTo>
                  <a:pt x="2425" y="247"/>
                </a:lnTo>
                <a:lnTo>
                  <a:pt x="2459" y="287"/>
                </a:lnTo>
                <a:lnTo>
                  <a:pt x="2493" y="330"/>
                </a:lnTo>
                <a:lnTo>
                  <a:pt x="2525" y="376"/>
                </a:lnTo>
                <a:lnTo>
                  <a:pt x="2559" y="423"/>
                </a:lnTo>
                <a:lnTo>
                  <a:pt x="2593" y="470"/>
                </a:lnTo>
                <a:lnTo>
                  <a:pt x="2625" y="519"/>
                </a:lnTo>
                <a:lnTo>
                  <a:pt x="2659" y="570"/>
                </a:lnTo>
                <a:lnTo>
                  <a:pt x="2692" y="621"/>
                </a:lnTo>
                <a:lnTo>
                  <a:pt x="2725" y="671"/>
                </a:lnTo>
                <a:lnTo>
                  <a:pt x="2758" y="722"/>
                </a:lnTo>
                <a:lnTo>
                  <a:pt x="2791" y="773"/>
                </a:lnTo>
                <a:lnTo>
                  <a:pt x="2824" y="823"/>
                </a:lnTo>
                <a:lnTo>
                  <a:pt x="2858" y="871"/>
                </a:lnTo>
                <a:lnTo>
                  <a:pt x="2890" y="919"/>
                </a:lnTo>
                <a:lnTo>
                  <a:pt x="2924" y="966"/>
                </a:lnTo>
                <a:lnTo>
                  <a:pt x="2958" y="1009"/>
                </a:lnTo>
                <a:lnTo>
                  <a:pt x="2990" y="1052"/>
                </a:lnTo>
                <a:lnTo>
                  <a:pt x="3024" y="1092"/>
                </a:lnTo>
                <a:lnTo>
                  <a:pt x="3058" y="1131"/>
                </a:lnTo>
                <a:lnTo>
                  <a:pt x="3090" y="1164"/>
                </a:lnTo>
                <a:lnTo>
                  <a:pt x="3124" y="1197"/>
                </a:lnTo>
                <a:lnTo>
                  <a:pt x="3156" y="1226"/>
                </a:lnTo>
                <a:lnTo>
                  <a:pt x="3190" y="1250"/>
                </a:lnTo>
                <a:lnTo>
                  <a:pt x="3224" y="1273"/>
                </a:lnTo>
                <a:lnTo>
                  <a:pt x="3256" y="1292"/>
                </a:lnTo>
                <a:lnTo>
                  <a:pt x="3290" y="1306"/>
                </a:lnTo>
              </a:path>
            </a:pathLst>
          </a:custGeom>
          <a:noFill/>
          <a:ln w="28575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0226" name="对象 90225"/>
          <p:cNvGraphicFramePr/>
          <p:nvPr/>
        </p:nvGraphicFramePr>
        <p:xfrm>
          <a:off x="7277100" y="3429000"/>
          <a:ext cx="28575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" name="" r:id="rId50" imgW="203200" imgH="228600" progId="Equation.3">
                  <p:embed/>
                </p:oleObj>
              </mc:Choice>
              <mc:Fallback>
                <p:oleObj name="" r:id="rId50" imgW="203200" imgH="2286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77100" y="3429000"/>
                        <a:ext cx="285750" cy="312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90" name="文本框 186389"/>
          <p:cNvSpPr txBox="1"/>
          <p:nvPr>
            <p:custDataLst>
              <p:tags r:id="rId51"/>
            </p:custDataLst>
          </p:nvPr>
        </p:nvSpPr>
        <p:spPr>
          <a:xfrm>
            <a:off x="2267559" y="116840"/>
            <a:ext cx="263271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简谐运动方程</a:t>
            </a:r>
            <a:endParaRPr lang="zh-CN" altLang="en-US" sz="3200" b="1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9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90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9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9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90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3" name="矩形 652292"/>
          <p:cNvSpPr/>
          <p:nvPr/>
        </p:nvSpPr>
        <p:spPr>
          <a:xfrm>
            <a:off x="104775" y="806450"/>
            <a:ext cx="89169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>
                <a:latin typeface="Arial" panose="020B0604020202020204" pitchFamily="34" charset="0"/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  <a:ea typeface="华文中宋" panose="02010600040101010101" pitchFamily="2" charset="-122"/>
              </a:rPr>
              <a:t>、示波器主要包括：</a:t>
            </a:r>
            <a:r>
              <a:rPr lang="zh-CN" altLang="en-US" sz="28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电子枪、偏转系统和荧光屏三部分</a:t>
            </a:r>
            <a:endParaRPr lang="zh-CN" altLang="en-US" sz="2800" b="1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pSp>
        <p:nvGrpSpPr>
          <p:cNvPr id="652294" name="组合 652293"/>
          <p:cNvGrpSpPr/>
          <p:nvPr/>
        </p:nvGrpSpPr>
        <p:grpSpPr>
          <a:xfrm>
            <a:off x="1713230" y="1963738"/>
            <a:ext cx="5273675" cy="2024062"/>
            <a:chOff x="431" y="785"/>
            <a:chExt cx="3322" cy="1275"/>
          </a:xfrm>
        </p:grpSpPr>
        <p:sp>
          <p:nvSpPr>
            <p:cNvPr id="652295" name="矩形 652294"/>
            <p:cNvSpPr/>
            <p:nvPr/>
          </p:nvSpPr>
          <p:spPr>
            <a:xfrm>
              <a:off x="431" y="1117"/>
              <a:ext cx="1950" cy="635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296" name="椭圆 652295"/>
            <p:cNvSpPr/>
            <p:nvPr/>
          </p:nvSpPr>
          <p:spPr>
            <a:xfrm>
              <a:off x="2045" y="845"/>
              <a:ext cx="1134" cy="1134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297" name="直接连接符 652296"/>
            <p:cNvSpPr/>
            <p:nvPr/>
          </p:nvSpPr>
          <p:spPr>
            <a:xfrm>
              <a:off x="2889" y="918"/>
              <a:ext cx="0" cy="998"/>
            </a:xfrm>
            <a:prstGeom prst="line">
              <a:avLst/>
            </a:prstGeom>
            <a:ln w="38100" cap="flat" cmpd="sng">
              <a:solidFill>
                <a:srgbClr val="00FF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2298" name="直接连接符 652297"/>
            <p:cNvSpPr/>
            <p:nvPr/>
          </p:nvSpPr>
          <p:spPr>
            <a:xfrm>
              <a:off x="2916" y="918"/>
              <a:ext cx="0" cy="998"/>
            </a:xfrm>
            <a:prstGeom prst="line">
              <a:avLst/>
            </a:prstGeom>
            <a:ln w="38100" cap="flat" cmpd="sng">
              <a:solidFill>
                <a:srgbClr val="DDDDDD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2299" name="矩形 652298"/>
            <p:cNvSpPr/>
            <p:nvPr/>
          </p:nvSpPr>
          <p:spPr>
            <a:xfrm>
              <a:off x="3061" y="785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荧光屏</a:t>
              </a:r>
              <a:endPara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652300" name="矩形 652299"/>
            <p:cNvSpPr/>
            <p:nvPr/>
          </p:nvSpPr>
          <p:spPr>
            <a:xfrm>
              <a:off x="468" y="1772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电子枪</a:t>
              </a:r>
              <a:endPara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652301" name="任意多边形 652300"/>
            <p:cNvSpPr/>
            <p:nvPr/>
          </p:nvSpPr>
          <p:spPr>
            <a:xfrm>
              <a:off x="458" y="1389"/>
              <a:ext cx="544" cy="91"/>
            </a:xfrm>
            <a:custGeom>
              <a:avLst/>
              <a:gdLst/>
              <a:ahLst/>
              <a:cxnLst/>
              <a:rect l="0" t="0" r="0" b="0"/>
              <a:pathLst>
                <a:path w="952" h="181">
                  <a:moveTo>
                    <a:pt x="0" y="0"/>
                  </a:moveTo>
                  <a:lnTo>
                    <a:pt x="635" y="0"/>
                  </a:lnTo>
                  <a:lnTo>
                    <a:pt x="952" y="90"/>
                  </a:lnTo>
                  <a:lnTo>
                    <a:pt x="635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FF"/>
            </a:solidFill>
            <a:ln w="28575" cap="flat" cmpd="sng">
              <a:solidFill>
                <a:srgbClr val="DDDDDD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302" name="直接连接符 652301"/>
            <p:cNvSpPr/>
            <p:nvPr/>
          </p:nvSpPr>
          <p:spPr>
            <a:xfrm flipV="1">
              <a:off x="793" y="1534"/>
              <a:ext cx="0" cy="29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2303" name="任意多边形 652302"/>
            <p:cNvSpPr/>
            <p:nvPr/>
          </p:nvSpPr>
          <p:spPr>
            <a:xfrm>
              <a:off x="1165" y="1398"/>
              <a:ext cx="560" cy="228"/>
            </a:xfrm>
            <a:custGeom>
              <a:avLst/>
              <a:gdLst/>
              <a:ahLst/>
              <a:cxnLst/>
              <a:rect l="0" t="0" r="0" b="0"/>
              <a:pathLst>
                <a:path w="560" h="228">
                  <a:moveTo>
                    <a:pt x="560" y="64"/>
                  </a:moveTo>
                  <a:lnTo>
                    <a:pt x="368" y="0"/>
                  </a:lnTo>
                  <a:lnTo>
                    <a:pt x="118" y="4"/>
                  </a:lnTo>
                  <a:lnTo>
                    <a:pt x="0" y="165"/>
                  </a:lnTo>
                  <a:lnTo>
                    <a:pt x="313" y="155"/>
                  </a:lnTo>
                  <a:lnTo>
                    <a:pt x="487" y="228"/>
                  </a:lnTo>
                  <a:lnTo>
                    <a:pt x="560" y="64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28575">
              <a:noFill/>
            </a:ln>
            <a:effectLst>
              <a:prstShdw prst="shdw17" dist="17961" dir="2699999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304" name="任意多边形 652303"/>
            <p:cNvSpPr/>
            <p:nvPr/>
          </p:nvSpPr>
          <p:spPr>
            <a:xfrm rot="11133597">
              <a:off x="1416" y="1407"/>
              <a:ext cx="67" cy="182"/>
            </a:xfrm>
            <a:custGeom>
              <a:avLst/>
              <a:gdLst/>
              <a:ahLst/>
              <a:cxnLst/>
              <a:rect l="0" t="0" r="0" b="0"/>
              <a:pathLst>
                <a:path w="67" h="224">
                  <a:moveTo>
                    <a:pt x="67" y="0"/>
                  </a:moveTo>
                  <a:lnTo>
                    <a:pt x="0" y="224"/>
                  </a:lnTo>
                </a:path>
              </a:pathLst>
            </a:custGeom>
            <a:solidFill>
              <a:srgbClr val="00FFFF">
                <a:alpha val="100000"/>
              </a:srgbClr>
            </a:solidFill>
            <a:ln w="28575">
              <a:noFill/>
            </a:ln>
            <a:effectLst>
              <a:prstShdw prst="shdw17" dist="17961" dir="2699999">
                <a:srgbClr val="00FFFF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305" name="任意多边形 652304"/>
            <p:cNvSpPr/>
            <p:nvPr/>
          </p:nvSpPr>
          <p:spPr>
            <a:xfrm>
              <a:off x="1458" y="1407"/>
              <a:ext cx="75" cy="150"/>
            </a:xfrm>
            <a:custGeom>
              <a:avLst/>
              <a:gdLst/>
              <a:ahLst/>
              <a:cxnLst/>
              <a:rect l="0" t="0" r="0" b="0"/>
              <a:pathLst>
                <a:path w="75" h="150">
                  <a:moveTo>
                    <a:pt x="0" y="150"/>
                  </a:moveTo>
                  <a:lnTo>
                    <a:pt x="75" y="0"/>
                  </a:lnTo>
                </a:path>
              </a:pathLst>
            </a:custGeom>
            <a:noFill/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306" name="任意多边形 652305"/>
            <p:cNvSpPr/>
            <p:nvPr/>
          </p:nvSpPr>
          <p:spPr>
            <a:xfrm>
              <a:off x="1183" y="1545"/>
              <a:ext cx="454" cy="71"/>
            </a:xfrm>
            <a:custGeom>
              <a:avLst/>
              <a:gdLst/>
              <a:ahLst/>
              <a:cxnLst/>
              <a:rect l="0" t="0" r="0" b="0"/>
              <a:pathLst>
                <a:path w="454" h="71">
                  <a:moveTo>
                    <a:pt x="0" y="25"/>
                  </a:moveTo>
                  <a:lnTo>
                    <a:pt x="280" y="0"/>
                  </a:lnTo>
                  <a:lnTo>
                    <a:pt x="454" y="71"/>
                  </a:lnTo>
                </a:path>
              </a:pathLst>
            </a:custGeom>
            <a:noFill/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307" name="任意多边形 652306"/>
            <p:cNvSpPr/>
            <p:nvPr/>
          </p:nvSpPr>
          <p:spPr>
            <a:xfrm>
              <a:off x="1202" y="1243"/>
              <a:ext cx="526" cy="227"/>
            </a:xfrm>
            <a:custGeom>
              <a:avLst/>
              <a:gdLst/>
              <a:ahLst/>
              <a:cxnLst/>
              <a:rect l="0" t="0" r="0" b="0"/>
              <a:pathLst>
                <a:path w="526" h="227">
                  <a:moveTo>
                    <a:pt x="0" y="227"/>
                  </a:moveTo>
                  <a:lnTo>
                    <a:pt x="317" y="227"/>
                  </a:lnTo>
                  <a:lnTo>
                    <a:pt x="444" y="211"/>
                  </a:lnTo>
                  <a:lnTo>
                    <a:pt x="526" y="0"/>
                  </a:lnTo>
                </a:path>
              </a:pathLst>
            </a:custGeom>
            <a:noFill/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308" name="任意多边形 652307"/>
            <p:cNvSpPr/>
            <p:nvPr/>
          </p:nvSpPr>
          <p:spPr>
            <a:xfrm>
              <a:off x="2064" y="1117"/>
              <a:ext cx="423" cy="275"/>
            </a:xfrm>
            <a:custGeom>
              <a:avLst/>
              <a:gdLst/>
              <a:ahLst/>
              <a:cxnLst/>
              <a:rect l="0" t="0" r="0" b="0"/>
              <a:pathLst>
                <a:path w="423" h="275">
                  <a:moveTo>
                    <a:pt x="0" y="85"/>
                  </a:moveTo>
                  <a:lnTo>
                    <a:pt x="0" y="267"/>
                  </a:lnTo>
                  <a:lnTo>
                    <a:pt x="249" y="275"/>
                  </a:lnTo>
                  <a:lnTo>
                    <a:pt x="423" y="202"/>
                  </a:lnTo>
                  <a:lnTo>
                    <a:pt x="386" y="0"/>
                  </a:lnTo>
                  <a:lnTo>
                    <a:pt x="227" y="85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chemeClr val="bg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309" name="直接连接符 652308"/>
            <p:cNvSpPr/>
            <p:nvPr/>
          </p:nvSpPr>
          <p:spPr>
            <a:xfrm>
              <a:off x="2744" y="1389"/>
              <a:ext cx="0" cy="1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2310" name="任意多边形 652309"/>
            <p:cNvSpPr/>
            <p:nvPr/>
          </p:nvSpPr>
          <p:spPr>
            <a:xfrm>
              <a:off x="975" y="1051"/>
              <a:ext cx="1960" cy="383"/>
            </a:xfrm>
            <a:custGeom>
              <a:avLst/>
              <a:gdLst/>
              <a:ahLst/>
              <a:cxnLst/>
              <a:rect l="0" t="0" r="0" b="0"/>
              <a:pathLst>
                <a:path w="1960" h="383">
                  <a:moveTo>
                    <a:pt x="0" y="383"/>
                  </a:moveTo>
                  <a:lnTo>
                    <a:pt x="1530" y="202"/>
                  </a:lnTo>
                  <a:lnTo>
                    <a:pt x="1960" y="0"/>
                  </a:lnTo>
                </a:path>
              </a:pathLst>
            </a:custGeom>
            <a:noFill/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52311" name="组合 652310"/>
            <p:cNvGrpSpPr/>
            <p:nvPr/>
          </p:nvGrpSpPr>
          <p:grpSpPr>
            <a:xfrm>
              <a:off x="1202" y="1244"/>
              <a:ext cx="524" cy="227"/>
              <a:chOff x="1211" y="1979"/>
              <a:chExt cx="524" cy="227"/>
            </a:xfrm>
          </p:grpSpPr>
          <p:sp>
            <p:nvSpPr>
              <p:cNvPr id="652312" name="任意多边形 652311"/>
              <p:cNvSpPr/>
              <p:nvPr/>
            </p:nvSpPr>
            <p:spPr>
              <a:xfrm>
                <a:off x="1211" y="1979"/>
                <a:ext cx="524" cy="227"/>
              </a:xfrm>
              <a:custGeom>
                <a:avLst/>
                <a:gdLst/>
                <a:ahLst/>
                <a:cxnLst/>
                <a:rect l="0" t="0" r="0" b="0"/>
                <a:pathLst>
                  <a:path w="524" h="227">
                    <a:moveTo>
                      <a:pt x="0" y="227"/>
                    </a:moveTo>
                    <a:lnTo>
                      <a:pt x="277" y="225"/>
                    </a:lnTo>
                    <a:lnTo>
                      <a:pt x="451" y="186"/>
                    </a:lnTo>
                    <a:lnTo>
                      <a:pt x="524" y="0"/>
                    </a:lnTo>
                    <a:lnTo>
                      <a:pt x="341" y="42"/>
                    </a:lnTo>
                    <a:lnTo>
                      <a:pt x="91" y="42"/>
                    </a:lnTo>
                    <a:lnTo>
                      <a:pt x="0" y="227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28575">
                <a:noFill/>
              </a:ln>
              <a:effectLst>
                <a:prstShdw prst="shdw17" dist="17961" dir="2699999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2313" name="任意多边形 652312"/>
              <p:cNvSpPr/>
              <p:nvPr/>
            </p:nvSpPr>
            <p:spPr>
              <a:xfrm>
                <a:off x="1439" y="2024"/>
                <a:ext cx="67" cy="182"/>
              </a:xfrm>
              <a:custGeom>
                <a:avLst/>
                <a:gdLst/>
                <a:ahLst/>
                <a:cxnLst/>
                <a:rect l="0" t="0" r="0" b="0"/>
                <a:pathLst>
                  <a:path w="67" h="224">
                    <a:moveTo>
                      <a:pt x="67" y="0"/>
                    </a:moveTo>
                    <a:lnTo>
                      <a:pt x="0" y="224"/>
                    </a:lnTo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28575">
                <a:noFill/>
              </a:ln>
              <a:effectLst>
                <a:prstShdw prst="shdw17" dist="17961" dir="2699999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2314" name="直接连接符 652313"/>
              <p:cNvSpPr/>
              <p:nvPr/>
            </p:nvSpPr>
            <p:spPr>
              <a:xfrm flipH="1">
                <a:off x="1472" y="2024"/>
                <a:ext cx="67" cy="182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52315" name="任意多边形 652314"/>
            <p:cNvSpPr/>
            <p:nvPr/>
          </p:nvSpPr>
          <p:spPr>
            <a:xfrm>
              <a:off x="2018" y="1253"/>
              <a:ext cx="377" cy="293"/>
            </a:xfrm>
            <a:custGeom>
              <a:avLst/>
              <a:gdLst/>
              <a:ahLst/>
              <a:cxnLst/>
              <a:rect l="0" t="0" r="0" b="0"/>
              <a:pathLst>
                <a:path w="377" h="293">
                  <a:moveTo>
                    <a:pt x="0" y="0"/>
                  </a:moveTo>
                  <a:lnTo>
                    <a:pt x="203" y="18"/>
                  </a:lnTo>
                  <a:lnTo>
                    <a:pt x="359" y="83"/>
                  </a:lnTo>
                  <a:lnTo>
                    <a:pt x="377" y="293"/>
                  </a:lnTo>
                  <a:lnTo>
                    <a:pt x="203" y="220"/>
                  </a:lnTo>
                  <a:lnTo>
                    <a:pt x="0" y="2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chemeClr val="bg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52340" name="矩形 652339"/>
          <p:cNvSpPr/>
          <p:nvPr/>
        </p:nvSpPr>
        <p:spPr>
          <a:xfrm>
            <a:off x="622300" y="1341438"/>
            <a:ext cx="6856413" cy="466725"/>
          </a:xfrm>
          <a:prstGeom prst="rect">
            <a:avLst/>
          </a:prstGeom>
          <a:noFill/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垂直偏转系统（待测信号一般加在这个系统上）</a:t>
            </a:r>
            <a:endParaRPr lang="zh-CN" altLang="en-US" sz="2400" b="1">
              <a:solidFill>
                <a:schemeClr val="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52341" name="直接连接符 652340"/>
          <p:cNvSpPr/>
          <p:nvPr/>
        </p:nvSpPr>
        <p:spPr>
          <a:xfrm flipH="1" flipV="1">
            <a:off x="2771775" y="1808480"/>
            <a:ext cx="855980" cy="95567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2342" name="任意多边形 652341"/>
          <p:cNvSpPr/>
          <p:nvPr/>
        </p:nvSpPr>
        <p:spPr>
          <a:xfrm>
            <a:off x="4932998" y="2951163"/>
            <a:ext cx="1439862" cy="406400"/>
          </a:xfrm>
          <a:custGeom>
            <a:avLst/>
            <a:gdLst/>
            <a:ahLst/>
            <a:cxnLst/>
            <a:rect l="0" t="0" r="0" b="0"/>
            <a:pathLst>
              <a:path w="716" h="675">
                <a:moveTo>
                  <a:pt x="0" y="0"/>
                </a:moveTo>
                <a:lnTo>
                  <a:pt x="716" y="675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2343" name="矩形 652342"/>
          <p:cNvSpPr/>
          <p:nvPr/>
        </p:nvSpPr>
        <p:spPr>
          <a:xfrm>
            <a:off x="6372860" y="2565400"/>
            <a:ext cx="2665413" cy="1196975"/>
          </a:xfrm>
          <a:prstGeom prst="rect">
            <a:avLst/>
          </a:prstGeom>
          <a:noFill/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水平偏转系统（内部扫描电压加在这个系统上）</a:t>
            </a:r>
            <a:endParaRPr lang="zh-CN" altLang="en-US" sz="2400" b="1">
              <a:solidFill>
                <a:schemeClr val="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52344" name="文本框 652343"/>
          <p:cNvSpPr txBox="1"/>
          <p:nvPr/>
        </p:nvSpPr>
        <p:spPr>
          <a:xfrm>
            <a:off x="273050" y="101600"/>
            <a:ext cx="29273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二、实验原理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6147" name="Picture 2" descr="https://timgsa.baidu.com/timg?image&amp;quality=80&amp;size=b9999_10000&amp;sec=1492363002892&amp;di=964f3ab20dff7985ff633a15784ae779&amp;imgtype=0&amp;src=http%3A%2F%2Fwww.elecfans.com%2Fsoft%2FUploadPic%2F2008-12%2F200812320335979890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15060" y="4117023"/>
            <a:ext cx="4978400" cy="23050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148" name="组合 11"/>
          <p:cNvGrpSpPr/>
          <p:nvPr/>
        </p:nvGrpSpPr>
        <p:grpSpPr>
          <a:xfrm>
            <a:off x="6587173" y="4548823"/>
            <a:ext cx="1944687" cy="1584325"/>
            <a:chOff x="6622626" y="3430754"/>
            <a:chExt cx="1944216" cy="1584176"/>
          </a:xfrm>
        </p:grpSpPr>
        <p:sp>
          <p:nvSpPr>
            <p:cNvPr id="3" name="矩形 2"/>
            <p:cNvSpPr/>
            <p:nvPr>
              <p:custDataLst>
                <p:tags r:id="rId3"/>
              </p:custDataLst>
            </p:nvPr>
          </p:nvSpPr>
          <p:spPr>
            <a:xfrm>
              <a:off x="6622626" y="3430754"/>
              <a:ext cx="1944216" cy="158417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4"/>
              </p:custDataLst>
            </p:nvPr>
          </p:nvCxnSpPr>
          <p:spPr>
            <a:xfrm>
              <a:off x="6740073" y="4226016"/>
              <a:ext cx="1728368" cy="0"/>
            </a:xfrm>
            <a:prstGeom prst="line">
              <a:avLst/>
            </a:prstGeom>
            <a:ln w="158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>
              <p:custDataLst>
                <p:tags r:id="rId5"/>
              </p:custDataLst>
            </p:nvPr>
          </p:nvCxnSpPr>
          <p:spPr>
            <a:xfrm>
              <a:off x="7587592" y="3502184"/>
              <a:ext cx="0" cy="1368296"/>
            </a:xfrm>
            <a:prstGeom prst="line">
              <a:avLst/>
            </a:prstGeom>
            <a:ln w="158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8" name="矩形 10"/>
            <p:cNvSpPr/>
            <p:nvPr>
              <p:custDataLst>
                <p:tags r:id="rId6"/>
              </p:custDataLst>
            </p:nvPr>
          </p:nvSpPr>
          <p:spPr>
            <a:xfrm>
              <a:off x="8206647" y="4186838"/>
              <a:ext cx="30489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dirty="0"/>
                <a:t>X</a:t>
              </a:r>
              <a:endParaRPr lang="zh-CN" altLang="en-US" sz="1800" dirty="0"/>
            </a:p>
          </p:txBody>
        </p:sp>
        <p:sp>
          <p:nvSpPr>
            <p:cNvPr id="6159" name="矩形 12"/>
            <p:cNvSpPr/>
            <p:nvPr>
              <p:custDataLst>
                <p:tags r:id="rId7"/>
              </p:custDataLst>
            </p:nvPr>
          </p:nvSpPr>
          <p:spPr>
            <a:xfrm>
              <a:off x="7604611" y="3453729"/>
              <a:ext cx="30489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dirty="0"/>
                <a:t>Y</a:t>
              </a:r>
              <a:endParaRPr lang="zh-CN" altLang="en-US" sz="1800" dirty="0"/>
            </a:p>
          </p:txBody>
        </p:sp>
      </p:grpSp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3" name="矩形 652292"/>
          <p:cNvSpPr/>
          <p:nvPr/>
        </p:nvSpPr>
        <p:spPr>
          <a:xfrm>
            <a:off x="104775" y="806450"/>
            <a:ext cx="89169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>
                <a:latin typeface="Arial" panose="020B0604020202020204" pitchFamily="34" charset="0"/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  <a:ea typeface="华文中宋" panose="02010600040101010101" pitchFamily="2" charset="-122"/>
              </a:rPr>
              <a:t>、示波器主要包括：</a:t>
            </a:r>
            <a:r>
              <a:rPr lang="zh-CN" altLang="en-US" sz="28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电子枪、偏转系统和荧光屏三部分</a:t>
            </a:r>
            <a:endParaRPr lang="zh-CN" altLang="en-US" sz="2800" b="1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pSp>
        <p:nvGrpSpPr>
          <p:cNvPr id="652294" name="组合 652293"/>
          <p:cNvGrpSpPr/>
          <p:nvPr/>
        </p:nvGrpSpPr>
        <p:grpSpPr>
          <a:xfrm>
            <a:off x="1713230" y="1963738"/>
            <a:ext cx="5273675" cy="2024062"/>
            <a:chOff x="431" y="785"/>
            <a:chExt cx="3322" cy="1275"/>
          </a:xfrm>
        </p:grpSpPr>
        <p:sp>
          <p:nvSpPr>
            <p:cNvPr id="652295" name="矩形 652294"/>
            <p:cNvSpPr/>
            <p:nvPr/>
          </p:nvSpPr>
          <p:spPr>
            <a:xfrm>
              <a:off x="431" y="1117"/>
              <a:ext cx="1950" cy="635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296" name="椭圆 652295"/>
            <p:cNvSpPr/>
            <p:nvPr/>
          </p:nvSpPr>
          <p:spPr>
            <a:xfrm>
              <a:off x="2045" y="845"/>
              <a:ext cx="1134" cy="1134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297" name="直接连接符 652296"/>
            <p:cNvSpPr/>
            <p:nvPr/>
          </p:nvSpPr>
          <p:spPr>
            <a:xfrm>
              <a:off x="2889" y="918"/>
              <a:ext cx="0" cy="998"/>
            </a:xfrm>
            <a:prstGeom prst="line">
              <a:avLst/>
            </a:prstGeom>
            <a:ln w="38100" cap="flat" cmpd="sng">
              <a:solidFill>
                <a:srgbClr val="00FF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2298" name="直接连接符 652297"/>
            <p:cNvSpPr/>
            <p:nvPr/>
          </p:nvSpPr>
          <p:spPr>
            <a:xfrm>
              <a:off x="2916" y="918"/>
              <a:ext cx="0" cy="998"/>
            </a:xfrm>
            <a:prstGeom prst="line">
              <a:avLst/>
            </a:prstGeom>
            <a:ln w="38100" cap="flat" cmpd="sng">
              <a:solidFill>
                <a:srgbClr val="DDDDDD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2299" name="矩形 652298"/>
            <p:cNvSpPr/>
            <p:nvPr/>
          </p:nvSpPr>
          <p:spPr>
            <a:xfrm>
              <a:off x="3061" y="785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荧光屏</a:t>
              </a:r>
              <a:endPara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652300" name="矩形 652299"/>
            <p:cNvSpPr/>
            <p:nvPr/>
          </p:nvSpPr>
          <p:spPr>
            <a:xfrm>
              <a:off x="468" y="1772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电子枪</a:t>
              </a:r>
              <a:endPara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652301" name="任意多边形 652300"/>
            <p:cNvSpPr/>
            <p:nvPr/>
          </p:nvSpPr>
          <p:spPr>
            <a:xfrm>
              <a:off x="458" y="1389"/>
              <a:ext cx="544" cy="91"/>
            </a:xfrm>
            <a:custGeom>
              <a:avLst/>
              <a:gdLst/>
              <a:ahLst/>
              <a:cxnLst/>
              <a:rect l="0" t="0" r="0" b="0"/>
              <a:pathLst>
                <a:path w="952" h="181">
                  <a:moveTo>
                    <a:pt x="0" y="0"/>
                  </a:moveTo>
                  <a:lnTo>
                    <a:pt x="635" y="0"/>
                  </a:lnTo>
                  <a:lnTo>
                    <a:pt x="952" y="90"/>
                  </a:lnTo>
                  <a:lnTo>
                    <a:pt x="635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FF"/>
            </a:solidFill>
            <a:ln w="28575" cap="flat" cmpd="sng">
              <a:solidFill>
                <a:srgbClr val="DDDDDD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302" name="直接连接符 652301"/>
            <p:cNvSpPr/>
            <p:nvPr/>
          </p:nvSpPr>
          <p:spPr>
            <a:xfrm flipV="1">
              <a:off x="793" y="1534"/>
              <a:ext cx="0" cy="29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2303" name="任意多边形 652302"/>
            <p:cNvSpPr/>
            <p:nvPr/>
          </p:nvSpPr>
          <p:spPr>
            <a:xfrm>
              <a:off x="1165" y="1398"/>
              <a:ext cx="560" cy="228"/>
            </a:xfrm>
            <a:custGeom>
              <a:avLst/>
              <a:gdLst/>
              <a:ahLst/>
              <a:cxnLst/>
              <a:rect l="0" t="0" r="0" b="0"/>
              <a:pathLst>
                <a:path w="560" h="228">
                  <a:moveTo>
                    <a:pt x="560" y="64"/>
                  </a:moveTo>
                  <a:lnTo>
                    <a:pt x="368" y="0"/>
                  </a:lnTo>
                  <a:lnTo>
                    <a:pt x="118" y="4"/>
                  </a:lnTo>
                  <a:lnTo>
                    <a:pt x="0" y="165"/>
                  </a:lnTo>
                  <a:lnTo>
                    <a:pt x="313" y="155"/>
                  </a:lnTo>
                  <a:lnTo>
                    <a:pt x="487" y="228"/>
                  </a:lnTo>
                  <a:lnTo>
                    <a:pt x="560" y="64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28575">
              <a:noFill/>
            </a:ln>
            <a:effectLst>
              <a:prstShdw prst="shdw17" dist="17961" dir="2699999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304" name="任意多边形 652303"/>
            <p:cNvSpPr/>
            <p:nvPr/>
          </p:nvSpPr>
          <p:spPr>
            <a:xfrm rot="11133597">
              <a:off x="1416" y="1407"/>
              <a:ext cx="67" cy="182"/>
            </a:xfrm>
            <a:custGeom>
              <a:avLst/>
              <a:gdLst/>
              <a:ahLst/>
              <a:cxnLst/>
              <a:rect l="0" t="0" r="0" b="0"/>
              <a:pathLst>
                <a:path w="67" h="224">
                  <a:moveTo>
                    <a:pt x="67" y="0"/>
                  </a:moveTo>
                  <a:lnTo>
                    <a:pt x="0" y="224"/>
                  </a:lnTo>
                </a:path>
              </a:pathLst>
            </a:custGeom>
            <a:solidFill>
              <a:srgbClr val="00FFFF">
                <a:alpha val="100000"/>
              </a:srgbClr>
            </a:solidFill>
            <a:ln w="28575">
              <a:noFill/>
            </a:ln>
            <a:effectLst>
              <a:prstShdw prst="shdw17" dist="17961" dir="2699999">
                <a:srgbClr val="00FFFF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305" name="任意多边形 652304"/>
            <p:cNvSpPr/>
            <p:nvPr/>
          </p:nvSpPr>
          <p:spPr>
            <a:xfrm>
              <a:off x="1458" y="1407"/>
              <a:ext cx="75" cy="150"/>
            </a:xfrm>
            <a:custGeom>
              <a:avLst/>
              <a:gdLst/>
              <a:ahLst/>
              <a:cxnLst/>
              <a:rect l="0" t="0" r="0" b="0"/>
              <a:pathLst>
                <a:path w="75" h="150">
                  <a:moveTo>
                    <a:pt x="0" y="150"/>
                  </a:moveTo>
                  <a:lnTo>
                    <a:pt x="75" y="0"/>
                  </a:lnTo>
                </a:path>
              </a:pathLst>
            </a:custGeom>
            <a:noFill/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306" name="任意多边形 652305"/>
            <p:cNvSpPr/>
            <p:nvPr/>
          </p:nvSpPr>
          <p:spPr>
            <a:xfrm>
              <a:off x="1183" y="1545"/>
              <a:ext cx="454" cy="71"/>
            </a:xfrm>
            <a:custGeom>
              <a:avLst/>
              <a:gdLst/>
              <a:ahLst/>
              <a:cxnLst/>
              <a:rect l="0" t="0" r="0" b="0"/>
              <a:pathLst>
                <a:path w="454" h="71">
                  <a:moveTo>
                    <a:pt x="0" y="25"/>
                  </a:moveTo>
                  <a:lnTo>
                    <a:pt x="280" y="0"/>
                  </a:lnTo>
                  <a:lnTo>
                    <a:pt x="454" y="71"/>
                  </a:lnTo>
                </a:path>
              </a:pathLst>
            </a:custGeom>
            <a:noFill/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307" name="任意多边形 652306"/>
            <p:cNvSpPr/>
            <p:nvPr/>
          </p:nvSpPr>
          <p:spPr>
            <a:xfrm>
              <a:off x="1202" y="1243"/>
              <a:ext cx="526" cy="227"/>
            </a:xfrm>
            <a:custGeom>
              <a:avLst/>
              <a:gdLst/>
              <a:ahLst/>
              <a:cxnLst/>
              <a:rect l="0" t="0" r="0" b="0"/>
              <a:pathLst>
                <a:path w="526" h="227">
                  <a:moveTo>
                    <a:pt x="0" y="227"/>
                  </a:moveTo>
                  <a:lnTo>
                    <a:pt x="317" y="227"/>
                  </a:lnTo>
                  <a:lnTo>
                    <a:pt x="444" y="211"/>
                  </a:lnTo>
                  <a:lnTo>
                    <a:pt x="526" y="0"/>
                  </a:lnTo>
                </a:path>
              </a:pathLst>
            </a:custGeom>
            <a:noFill/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308" name="任意多边形 652307"/>
            <p:cNvSpPr/>
            <p:nvPr/>
          </p:nvSpPr>
          <p:spPr>
            <a:xfrm>
              <a:off x="2064" y="1117"/>
              <a:ext cx="423" cy="275"/>
            </a:xfrm>
            <a:custGeom>
              <a:avLst/>
              <a:gdLst/>
              <a:ahLst/>
              <a:cxnLst/>
              <a:rect l="0" t="0" r="0" b="0"/>
              <a:pathLst>
                <a:path w="423" h="275">
                  <a:moveTo>
                    <a:pt x="0" y="85"/>
                  </a:moveTo>
                  <a:lnTo>
                    <a:pt x="0" y="267"/>
                  </a:lnTo>
                  <a:lnTo>
                    <a:pt x="249" y="275"/>
                  </a:lnTo>
                  <a:lnTo>
                    <a:pt x="423" y="202"/>
                  </a:lnTo>
                  <a:lnTo>
                    <a:pt x="386" y="0"/>
                  </a:lnTo>
                  <a:lnTo>
                    <a:pt x="227" y="85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chemeClr val="bg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309" name="直接连接符 652308"/>
            <p:cNvSpPr/>
            <p:nvPr/>
          </p:nvSpPr>
          <p:spPr>
            <a:xfrm>
              <a:off x="2744" y="1389"/>
              <a:ext cx="0" cy="1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2310" name="任意多边形 652309"/>
            <p:cNvSpPr/>
            <p:nvPr/>
          </p:nvSpPr>
          <p:spPr>
            <a:xfrm>
              <a:off x="975" y="1051"/>
              <a:ext cx="1960" cy="383"/>
            </a:xfrm>
            <a:custGeom>
              <a:avLst/>
              <a:gdLst/>
              <a:ahLst/>
              <a:cxnLst/>
              <a:rect l="0" t="0" r="0" b="0"/>
              <a:pathLst>
                <a:path w="1960" h="383">
                  <a:moveTo>
                    <a:pt x="0" y="383"/>
                  </a:moveTo>
                  <a:lnTo>
                    <a:pt x="1530" y="202"/>
                  </a:lnTo>
                  <a:lnTo>
                    <a:pt x="1960" y="0"/>
                  </a:lnTo>
                </a:path>
              </a:pathLst>
            </a:custGeom>
            <a:noFill/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52311" name="组合 652310"/>
            <p:cNvGrpSpPr/>
            <p:nvPr/>
          </p:nvGrpSpPr>
          <p:grpSpPr>
            <a:xfrm>
              <a:off x="1202" y="1244"/>
              <a:ext cx="524" cy="227"/>
              <a:chOff x="1211" y="1979"/>
              <a:chExt cx="524" cy="227"/>
            </a:xfrm>
          </p:grpSpPr>
          <p:sp>
            <p:nvSpPr>
              <p:cNvPr id="652312" name="任意多边形 652311"/>
              <p:cNvSpPr/>
              <p:nvPr/>
            </p:nvSpPr>
            <p:spPr>
              <a:xfrm>
                <a:off x="1211" y="1979"/>
                <a:ext cx="524" cy="227"/>
              </a:xfrm>
              <a:custGeom>
                <a:avLst/>
                <a:gdLst/>
                <a:ahLst/>
                <a:cxnLst/>
                <a:rect l="0" t="0" r="0" b="0"/>
                <a:pathLst>
                  <a:path w="524" h="227">
                    <a:moveTo>
                      <a:pt x="0" y="227"/>
                    </a:moveTo>
                    <a:lnTo>
                      <a:pt x="277" y="225"/>
                    </a:lnTo>
                    <a:lnTo>
                      <a:pt x="451" y="186"/>
                    </a:lnTo>
                    <a:lnTo>
                      <a:pt x="524" y="0"/>
                    </a:lnTo>
                    <a:lnTo>
                      <a:pt x="341" y="42"/>
                    </a:lnTo>
                    <a:lnTo>
                      <a:pt x="91" y="42"/>
                    </a:lnTo>
                    <a:lnTo>
                      <a:pt x="0" y="227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28575">
                <a:noFill/>
              </a:ln>
              <a:effectLst>
                <a:prstShdw prst="shdw17" dist="17961" dir="2699999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2313" name="任意多边形 652312"/>
              <p:cNvSpPr/>
              <p:nvPr/>
            </p:nvSpPr>
            <p:spPr>
              <a:xfrm>
                <a:off x="1439" y="2024"/>
                <a:ext cx="67" cy="182"/>
              </a:xfrm>
              <a:custGeom>
                <a:avLst/>
                <a:gdLst/>
                <a:ahLst/>
                <a:cxnLst/>
                <a:rect l="0" t="0" r="0" b="0"/>
                <a:pathLst>
                  <a:path w="67" h="224">
                    <a:moveTo>
                      <a:pt x="67" y="0"/>
                    </a:moveTo>
                    <a:lnTo>
                      <a:pt x="0" y="224"/>
                    </a:lnTo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28575">
                <a:noFill/>
              </a:ln>
              <a:effectLst>
                <a:prstShdw prst="shdw17" dist="17961" dir="2699999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2314" name="直接连接符 652313"/>
              <p:cNvSpPr/>
              <p:nvPr/>
            </p:nvSpPr>
            <p:spPr>
              <a:xfrm flipH="1">
                <a:off x="1472" y="2024"/>
                <a:ext cx="67" cy="182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52315" name="任意多边形 652314"/>
            <p:cNvSpPr/>
            <p:nvPr/>
          </p:nvSpPr>
          <p:spPr>
            <a:xfrm>
              <a:off x="2018" y="1253"/>
              <a:ext cx="377" cy="293"/>
            </a:xfrm>
            <a:custGeom>
              <a:avLst/>
              <a:gdLst/>
              <a:ahLst/>
              <a:cxnLst/>
              <a:rect l="0" t="0" r="0" b="0"/>
              <a:pathLst>
                <a:path w="377" h="293">
                  <a:moveTo>
                    <a:pt x="0" y="0"/>
                  </a:moveTo>
                  <a:lnTo>
                    <a:pt x="203" y="18"/>
                  </a:lnTo>
                  <a:lnTo>
                    <a:pt x="359" y="83"/>
                  </a:lnTo>
                  <a:lnTo>
                    <a:pt x="377" y="293"/>
                  </a:lnTo>
                  <a:lnTo>
                    <a:pt x="203" y="220"/>
                  </a:lnTo>
                  <a:lnTo>
                    <a:pt x="0" y="2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chemeClr val="bg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52340" name="矩形 652339"/>
          <p:cNvSpPr/>
          <p:nvPr/>
        </p:nvSpPr>
        <p:spPr>
          <a:xfrm>
            <a:off x="622300" y="1341438"/>
            <a:ext cx="6856413" cy="466725"/>
          </a:xfrm>
          <a:prstGeom prst="rect">
            <a:avLst/>
          </a:prstGeom>
          <a:noFill/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垂直偏转系统（待测信号一般加在这个系统上）</a:t>
            </a:r>
            <a:endParaRPr lang="zh-CN" altLang="en-US" sz="2400" b="1">
              <a:solidFill>
                <a:schemeClr val="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52341" name="直接连接符 652340"/>
          <p:cNvSpPr/>
          <p:nvPr/>
        </p:nvSpPr>
        <p:spPr>
          <a:xfrm flipH="1" flipV="1">
            <a:off x="2771775" y="1808480"/>
            <a:ext cx="855980" cy="95567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2342" name="任意多边形 652341"/>
          <p:cNvSpPr/>
          <p:nvPr/>
        </p:nvSpPr>
        <p:spPr>
          <a:xfrm>
            <a:off x="4932998" y="2951163"/>
            <a:ext cx="1439862" cy="406400"/>
          </a:xfrm>
          <a:custGeom>
            <a:avLst/>
            <a:gdLst/>
            <a:ahLst/>
            <a:cxnLst/>
            <a:rect l="0" t="0" r="0" b="0"/>
            <a:pathLst>
              <a:path w="716" h="675">
                <a:moveTo>
                  <a:pt x="0" y="0"/>
                </a:moveTo>
                <a:lnTo>
                  <a:pt x="716" y="675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2343" name="矩形 652342"/>
          <p:cNvSpPr/>
          <p:nvPr/>
        </p:nvSpPr>
        <p:spPr>
          <a:xfrm>
            <a:off x="6372860" y="2565400"/>
            <a:ext cx="2665413" cy="1196975"/>
          </a:xfrm>
          <a:prstGeom prst="rect">
            <a:avLst/>
          </a:prstGeom>
          <a:noFill/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水平偏转系统（内部扫描电压加在这个系统上）</a:t>
            </a:r>
            <a:endParaRPr lang="zh-CN" altLang="en-US" sz="2400" b="1">
              <a:solidFill>
                <a:schemeClr val="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52344" name="文本框 652343"/>
          <p:cNvSpPr txBox="1"/>
          <p:nvPr/>
        </p:nvSpPr>
        <p:spPr>
          <a:xfrm>
            <a:off x="273050" y="101600"/>
            <a:ext cx="29273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二、实验原理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pSp>
        <p:nvGrpSpPr>
          <p:cNvPr id="652350" name="组合 652349"/>
          <p:cNvGrpSpPr/>
          <p:nvPr/>
        </p:nvGrpSpPr>
        <p:grpSpPr>
          <a:xfrm>
            <a:off x="323851" y="4797425"/>
            <a:ext cx="3194050" cy="1785938"/>
            <a:chOff x="459" y="3158"/>
            <a:chExt cx="2012" cy="1125"/>
          </a:xfrm>
        </p:grpSpPr>
        <p:pic>
          <p:nvPicPr>
            <p:cNvPr id="652348" name="图片 65234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59" y="3158"/>
              <a:ext cx="2012" cy="59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52349" name="文本框 652348"/>
            <p:cNvSpPr txBox="1"/>
            <p:nvPr/>
          </p:nvSpPr>
          <p:spPr>
            <a:xfrm>
              <a:off x="486" y="3838"/>
              <a:ext cx="1969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内部扫描电压</a:t>
              </a:r>
              <a:endParaRPr lang="zh-CN" altLang="en-US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  <a:p>
              <a:r>
                <a:rPr lang="en-US" altLang="zh-CN" b="1" dirty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-</a:t>
              </a:r>
              <a:r>
                <a:rPr lang="zh-CN" altLang="en-US" b="1" dirty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使电子束</a:t>
              </a:r>
              <a:r>
                <a:rPr lang="zh-CN" altLang="en-US" b="1" dirty="0">
                  <a:solidFill>
                    <a:srgbClr val="FF0000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水平匀速偏转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652419" name="组合 652418"/>
          <p:cNvGrpSpPr/>
          <p:nvPr/>
        </p:nvGrpSpPr>
        <p:grpSpPr>
          <a:xfrm>
            <a:off x="3995738" y="4581525"/>
            <a:ext cx="1554162" cy="1874838"/>
            <a:chOff x="2816" y="2976"/>
            <a:chExt cx="979" cy="1181"/>
          </a:xfrm>
        </p:grpSpPr>
        <p:grpSp>
          <p:nvGrpSpPr>
            <p:cNvPr id="652377" name="组合 652376"/>
            <p:cNvGrpSpPr/>
            <p:nvPr/>
          </p:nvGrpSpPr>
          <p:grpSpPr>
            <a:xfrm>
              <a:off x="2835" y="2976"/>
              <a:ext cx="960" cy="761"/>
              <a:chOff x="3274" y="2851"/>
              <a:chExt cx="1437" cy="1063"/>
            </a:xfrm>
          </p:grpSpPr>
          <p:grpSp>
            <p:nvGrpSpPr>
              <p:cNvPr id="652352" name="组合 652351"/>
              <p:cNvGrpSpPr/>
              <p:nvPr/>
            </p:nvGrpSpPr>
            <p:grpSpPr>
              <a:xfrm>
                <a:off x="3274" y="2851"/>
                <a:ext cx="1437" cy="1063"/>
                <a:chOff x="385" y="1071"/>
                <a:chExt cx="3810" cy="2223"/>
              </a:xfrm>
            </p:grpSpPr>
            <p:sp>
              <p:nvSpPr>
                <p:cNvPr id="652353" name="矩形 652352"/>
                <p:cNvSpPr/>
                <p:nvPr/>
              </p:nvSpPr>
              <p:spPr>
                <a:xfrm>
                  <a:off x="385" y="1071"/>
                  <a:ext cx="3810" cy="2223"/>
                </a:xfrm>
                <a:prstGeom prst="rect">
                  <a:avLst/>
                </a:prstGeom>
                <a:solidFill>
                  <a:srgbClr val="333333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652354" name="组合 652353"/>
                <p:cNvGrpSpPr/>
                <p:nvPr/>
              </p:nvGrpSpPr>
              <p:grpSpPr>
                <a:xfrm>
                  <a:off x="703" y="1071"/>
                  <a:ext cx="3492" cy="2223"/>
                  <a:chOff x="703" y="1071"/>
                  <a:chExt cx="3492" cy="2767"/>
                </a:xfrm>
              </p:grpSpPr>
              <p:sp>
                <p:nvSpPr>
                  <p:cNvPr id="652355" name="直接连接符 652354"/>
                  <p:cNvSpPr/>
                  <p:nvPr/>
                </p:nvSpPr>
                <p:spPr>
                  <a:xfrm>
                    <a:off x="703" y="1071"/>
                    <a:ext cx="0" cy="2767"/>
                  </a:xfrm>
                  <a:prstGeom prst="line">
                    <a:avLst/>
                  </a:prstGeom>
                  <a:ln w="9525" cap="flat" cmpd="sng">
                    <a:solidFill>
                      <a:srgbClr val="C0C0C0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52356" name="直接连接符 652355"/>
                  <p:cNvSpPr/>
                  <p:nvPr/>
                </p:nvSpPr>
                <p:spPr>
                  <a:xfrm>
                    <a:off x="1020" y="1071"/>
                    <a:ext cx="0" cy="2767"/>
                  </a:xfrm>
                  <a:prstGeom prst="line">
                    <a:avLst/>
                  </a:prstGeom>
                  <a:ln w="9525" cap="flat" cmpd="sng">
                    <a:solidFill>
                      <a:srgbClr val="C0C0C0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52357" name="直接连接符 652356"/>
                  <p:cNvSpPr/>
                  <p:nvPr/>
                </p:nvSpPr>
                <p:spPr>
                  <a:xfrm>
                    <a:off x="1338" y="1071"/>
                    <a:ext cx="0" cy="2767"/>
                  </a:xfrm>
                  <a:prstGeom prst="line">
                    <a:avLst/>
                  </a:prstGeom>
                  <a:ln w="9525" cap="flat" cmpd="sng">
                    <a:solidFill>
                      <a:srgbClr val="C0C0C0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52358" name="直接连接符 652357"/>
                  <p:cNvSpPr/>
                  <p:nvPr/>
                </p:nvSpPr>
                <p:spPr>
                  <a:xfrm>
                    <a:off x="1651" y="1071"/>
                    <a:ext cx="0" cy="2767"/>
                  </a:xfrm>
                  <a:prstGeom prst="line">
                    <a:avLst/>
                  </a:prstGeom>
                  <a:ln w="9525" cap="flat" cmpd="sng">
                    <a:solidFill>
                      <a:srgbClr val="C0C0C0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52359" name="直接连接符 652358"/>
                  <p:cNvSpPr/>
                  <p:nvPr/>
                </p:nvSpPr>
                <p:spPr>
                  <a:xfrm>
                    <a:off x="1968" y="1071"/>
                    <a:ext cx="0" cy="2767"/>
                  </a:xfrm>
                  <a:prstGeom prst="line">
                    <a:avLst/>
                  </a:prstGeom>
                  <a:ln w="9525" cap="flat" cmpd="sng">
                    <a:solidFill>
                      <a:srgbClr val="C0C0C0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52360" name="直接连接符 652359"/>
                  <p:cNvSpPr/>
                  <p:nvPr/>
                </p:nvSpPr>
                <p:spPr>
                  <a:xfrm>
                    <a:off x="2286" y="1071"/>
                    <a:ext cx="0" cy="2767"/>
                  </a:xfrm>
                  <a:prstGeom prst="line">
                    <a:avLst/>
                  </a:prstGeom>
                  <a:ln w="9525" cap="flat" cmpd="sng">
                    <a:solidFill>
                      <a:srgbClr val="C0C0C0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52361" name="直接连接符 652360"/>
                  <p:cNvSpPr/>
                  <p:nvPr/>
                </p:nvSpPr>
                <p:spPr>
                  <a:xfrm>
                    <a:off x="2612" y="1071"/>
                    <a:ext cx="0" cy="2767"/>
                  </a:xfrm>
                  <a:prstGeom prst="line">
                    <a:avLst/>
                  </a:prstGeom>
                  <a:ln w="9525" cap="flat" cmpd="sng">
                    <a:solidFill>
                      <a:srgbClr val="C0C0C0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52362" name="直接连接符 652361"/>
                  <p:cNvSpPr/>
                  <p:nvPr/>
                </p:nvSpPr>
                <p:spPr>
                  <a:xfrm>
                    <a:off x="2929" y="1071"/>
                    <a:ext cx="0" cy="2767"/>
                  </a:xfrm>
                  <a:prstGeom prst="line">
                    <a:avLst/>
                  </a:prstGeom>
                  <a:ln w="9525" cap="flat" cmpd="sng">
                    <a:solidFill>
                      <a:srgbClr val="C0C0C0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52363" name="直接连接符 652362"/>
                  <p:cNvSpPr/>
                  <p:nvPr/>
                </p:nvSpPr>
                <p:spPr>
                  <a:xfrm>
                    <a:off x="3247" y="1071"/>
                    <a:ext cx="0" cy="2767"/>
                  </a:xfrm>
                  <a:prstGeom prst="line">
                    <a:avLst/>
                  </a:prstGeom>
                  <a:ln w="9525" cap="flat" cmpd="sng">
                    <a:solidFill>
                      <a:srgbClr val="C0C0C0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52364" name="直接连接符 652363"/>
                  <p:cNvSpPr/>
                  <p:nvPr/>
                </p:nvSpPr>
                <p:spPr>
                  <a:xfrm>
                    <a:off x="3560" y="1071"/>
                    <a:ext cx="0" cy="2767"/>
                  </a:xfrm>
                  <a:prstGeom prst="line">
                    <a:avLst/>
                  </a:prstGeom>
                  <a:ln w="9525" cap="flat" cmpd="sng">
                    <a:solidFill>
                      <a:srgbClr val="C0C0C0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52365" name="直接连接符 652364"/>
                  <p:cNvSpPr/>
                  <p:nvPr/>
                </p:nvSpPr>
                <p:spPr>
                  <a:xfrm>
                    <a:off x="3877" y="1071"/>
                    <a:ext cx="0" cy="2767"/>
                  </a:xfrm>
                  <a:prstGeom prst="line">
                    <a:avLst/>
                  </a:prstGeom>
                  <a:ln w="9525" cap="flat" cmpd="sng">
                    <a:solidFill>
                      <a:srgbClr val="C0C0C0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52366" name="直接连接符 652365"/>
                  <p:cNvSpPr/>
                  <p:nvPr/>
                </p:nvSpPr>
                <p:spPr>
                  <a:xfrm>
                    <a:off x="4195" y="1071"/>
                    <a:ext cx="0" cy="2767"/>
                  </a:xfrm>
                  <a:prstGeom prst="line">
                    <a:avLst/>
                  </a:prstGeom>
                  <a:ln w="9525" cap="flat" cmpd="sng">
                    <a:solidFill>
                      <a:srgbClr val="C0C0C0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652367" name="直接连接符 652366"/>
                <p:cNvSpPr/>
                <p:nvPr/>
              </p:nvSpPr>
              <p:spPr>
                <a:xfrm>
                  <a:off x="385" y="1389"/>
                  <a:ext cx="3810" cy="0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2368" name="直接连接符 652367"/>
                <p:cNvSpPr/>
                <p:nvPr/>
              </p:nvSpPr>
              <p:spPr>
                <a:xfrm>
                  <a:off x="385" y="1661"/>
                  <a:ext cx="3810" cy="0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2369" name="直接连接符 652368"/>
                <p:cNvSpPr/>
                <p:nvPr/>
              </p:nvSpPr>
              <p:spPr>
                <a:xfrm>
                  <a:off x="385" y="1933"/>
                  <a:ext cx="3810" cy="0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2370" name="直接连接符 652369"/>
                <p:cNvSpPr/>
                <p:nvPr/>
              </p:nvSpPr>
              <p:spPr>
                <a:xfrm>
                  <a:off x="385" y="2205"/>
                  <a:ext cx="3810" cy="0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2371" name="直接连接符 652370"/>
                <p:cNvSpPr/>
                <p:nvPr/>
              </p:nvSpPr>
              <p:spPr>
                <a:xfrm>
                  <a:off x="385" y="2478"/>
                  <a:ext cx="3810" cy="0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2372" name="直接连接符 652371"/>
                <p:cNvSpPr/>
                <p:nvPr/>
              </p:nvSpPr>
              <p:spPr>
                <a:xfrm>
                  <a:off x="385" y="2750"/>
                  <a:ext cx="3810" cy="0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2373" name="直接连接符 652372"/>
                <p:cNvSpPr/>
                <p:nvPr/>
              </p:nvSpPr>
              <p:spPr>
                <a:xfrm>
                  <a:off x="385" y="3022"/>
                  <a:ext cx="3810" cy="0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2374" name="直接连接符 652373"/>
                <p:cNvSpPr/>
                <p:nvPr/>
              </p:nvSpPr>
              <p:spPr>
                <a:xfrm>
                  <a:off x="385" y="3294"/>
                  <a:ext cx="3810" cy="0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52376" name="直接连接符 652375"/>
              <p:cNvSpPr/>
              <p:nvPr/>
            </p:nvSpPr>
            <p:spPr>
              <a:xfrm>
                <a:off x="3274" y="3393"/>
                <a:ext cx="1437" cy="0"/>
              </a:xfrm>
              <a:prstGeom prst="line">
                <a:avLst/>
              </a:prstGeom>
              <a:ln w="38100" cap="flat" cmpd="sng">
                <a:solidFill>
                  <a:srgbClr val="33CC33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52417" name="文本框 652416"/>
            <p:cNvSpPr txBox="1"/>
            <p:nvPr/>
          </p:nvSpPr>
          <p:spPr>
            <a:xfrm>
              <a:off x="2816" y="3712"/>
              <a:ext cx="917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不加信号时</a:t>
              </a:r>
              <a:endParaRPr lang="zh-CN" altLang="en-US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  <a:p>
              <a:r>
                <a:rPr lang="zh-CN" altLang="en-US" b="1" dirty="0">
                  <a:solidFill>
                    <a:srgbClr val="FF0000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扫描周期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652418" name="文本框 652417"/>
          <p:cNvSpPr txBox="1"/>
          <p:nvPr/>
        </p:nvSpPr>
        <p:spPr>
          <a:xfrm>
            <a:off x="6084888" y="6021388"/>
            <a:ext cx="2470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双通道加正弦信号时</a:t>
            </a:r>
            <a:endParaRPr lang="zh-CN" altLang="en-US" b="1" dirty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52421" name="任意多边形 652420"/>
          <p:cNvSpPr/>
          <p:nvPr/>
        </p:nvSpPr>
        <p:spPr>
          <a:xfrm>
            <a:off x="319088" y="4941888"/>
            <a:ext cx="3173412" cy="776287"/>
          </a:xfrm>
          <a:custGeom>
            <a:avLst/>
            <a:gdLst/>
            <a:ahLst/>
            <a:cxnLst/>
            <a:rect l="0" t="0" r="0" b="0"/>
            <a:pathLst>
              <a:path w="1999" h="489">
                <a:moveTo>
                  <a:pt x="0" y="462"/>
                </a:moveTo>
                <a:lnTo>
                  <a:pt x="275" y="45"/>
                </a:lnTo>
                <a:lnTo>
                  <a:pt x="265" y="444"/>
                </a:lnTo>
                <a:lnTo>
                  <a:pt x="585" y="23"/>
                </a:lnTo>
                <a:lnTo>
                  <a:pt x="576" y="471"/>
                </a:lnTo>
                <a:lnTo>
                  <a:pt x="865" y="45"/>
                </a:lnTo>
                <a:lnTo>
                  <a:pt x="887" y="480"/>
                </a:lnTo>
                <a:lnTo>
                  <a:pt x="1170" y="41"/>
                </a:lnTo>
                <a:lnTo>
                  <a:pt x="1189" y="453"/>
                </a:lnTo>
                <a:lnTo>
                  <a:pt x="1500" y="0"/>
                </a:lnTo>
                <a:lnTo>
                  <a:pt x="1463" y="489"/>
                </a:lnTo>
                <a:lnTo>
                  <a:pt x="1772" y="0"/>
                </a:lnTo>
                <a:lnTo>
                  <a:pt x="1765" y="462"/>
                </a:lnTo>
                <a:lnTo>
                  <a:pt x="1999" y="136"/>
                </a:lnTo>
              </a:path>
            </a:pathLst>
          </a:custGeom>
          <a:noFill/>
          <a:ln w="57150" cap="flat" cmpd="sng">
            <a:solidFill>
              <a:srgbClr val="33CC33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52443" name="组合 652442"/>
          <p:cNvGrpSpPr/>
          <p:nvPr/>
        </p:nvGrpSpPr>
        <p:grpSpPr>
          <a:xfrm>
            <a:off x="6227763" y="4076700"/>
            <a:ext cx="2303462" cy="1871663"/>
            <a:chOff x="1474" y="1525"/>
            <a:chExt cx="1451" cy="1179"/>
          </a:xfrm>
        </p:grpSpPr>
        <p:sp>
          <p:nvSpPr>
            <p:cNvPr id="652440" name="矩形 652439"/>
            <p:cNvSpPr/>
            <p:nvPr/>
          </p:nvSpPr>
          <p:spPr>
            <a:xfrm>
              <a:off x="1491" y="1525"/>
              <a:ext cx="1417" cy="1179"/>
            </a:xfrm>
            <a:prstGeom prst="rect">
              <a:avLst/>
            </a:prstGeom>
            <a:pattFill prst="cross">
              <a:fgClr>
                <a:srgbClr val="333333"/>
              </a:fgClr>
              <a:bgClr>
                <a:srgbClr val="003300"/>
              </a:bgClr>
            </a:patt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441" name="任意多边形 652440"/>
            <p:cNvSpPr/>
            <p:nvPr/>
          </p:nvSpPr>
          <p:spPr>
            <a:xfrm rot="10800000">
              <a:off x="1474" y="1616"/>
              <a:ext cx="1406" cy="542"/>
            </a:xfrm>
            <a:custGeom>
              <a:avLst/>
              <a:gdLst/>
              <a:ahLst/>
              <a:cxnLst/>
              <a:rect l="0" t="0" r="0" b="0"/>
              <a:pathLst>
                <a:path w="1406" h="542">
                  <a:moveTo>
                    <a:pt x="0" y="459"/>
                  </a:moveTo>
                  <a:cubicBezTo>
                    <a:pt x="30" y="228"/>
                    <a:pt x="56" y="0"/>
                    <a:pt x="91" y="6"/>
                  </a:cubicBezTo>
                  <a:cubicBezTo>
                    <a:pt x="126" y="12"/>
                    <a:pt x="175" y="495"/>
                    <a:pt x="213" y="495"/>
                  </a:cubicBezTo>
                  <a:cubicBezTo>
                    <a:pt x="251" y="495"/>
                    <a:pt x="278" y="4"/>
                    <a:pt x="318" y="6"/>
                  </a:cubicBezTo>
                  <a:cubicBezTo>
                    <a:pt x="358" y="8"/>
                    <a:pt x="415" y="506"/>
                    <a:pt x="454" y="505"/>
                  </a:cubicBezTo>
                  <a:cubicBezTo>
                    <a:pt x="493" y="504"/>
                    <a:pt x="513" y="2"/>
                    <a:pt x="551" y="2"/>
                  </a:cubicBezTo>
                  <a:cubicBezTo>
                    <a:pt x="589" y="2"/>
                    <a:pt x="637" y="504"/>
                    <a:pt x="681" y="505"/>
                  </a:cubicBezTo>
                  <a:cubicBezTo>
                    <a:pt x="725" y="506"/>
                    <a:pt x="779" y="6"/>
                    <a:pt x="817" y="6"/>
                  </a:cubicBezTo>
                  <a:cubicBezTo>
                    <a:pt x="855" y="6"/>
                    <a:pt x="869" y="505"/>
                    <a:pt x="907" y="505"/>
                  </a:cubicBezTo>
                  <a:cubicBezTo>
                    <a:pt x="945" y="505"/>
                    <a:pt x="1000" y="11"/>
                    <a:pt x="1043" y="6"/>
                  </a:cubicBezTo>
                  <a:cubicBezTo>
                    <a:pt x="1086" y="1"/>
                    <a:pt x="1126" y="477"/>
                    <a:pt x="1164" y="477"/>
                  </a:cubicBezTo>
                  <a:cubicBezTo>
                    <a:pt x="1202" y="477"/>
                    <a:pt x="1237" y="9"/>
                    <a:pt x="1270" y="6"/>
                  </a:cubicBezTo>
                  <a:cubicBezTo>
                    <a:pt x="1303" y="3"/>
                    <a:pt x="1338" y="376"/>
                    <a:pt x="1361" y="459"/>
                  </a:cubicBezTo>
                  <a:cubicBezTo>
                    <a:pt x="1384" y="542"/>
                    <a:pt x="1395" y="523"/>
                    <a:pt x="1406" y="505"/>
                  </a:cubicBezTo>
                </a:path>
              </a:pathLst>
            </a:custGeom>
            <a:noFill/>
            <a:ln w="38100" cap="flat" cmpd="sng">
              <a:solidFill>
                <a:srgbClr val="33CC33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442" name="任意多边形 652441"/>
            <p:cNvSpPr/>
            <p:nvPr/>
          </p:nvSpPr>
          <p:spPr>
            <a:xfrm>
              <a:off x="1474" y="2251"/>
              <a:ext cx="1451" cy="406"/>
            </a:xfrm>
            <a:custGeom>
              <a:avLst/>
              <a:gdLst/>
              <a:ahLst/>
              <a:cxnLst/>
              <a:rect l="0" t="0" r="0" b="0"/>
              <a:pathLst>
                <a:path w="1406" h="542">
                  <a:moveTo>
                    <a:pt x="0" y="459"/>
                  </a:moveTo>
                  <a:cubicBezTo>
                    <a:pt x="30" y="228"/>
                    <a:pt x="56" y="0"/>
                    <a:pt x="91" y="6"/>
                  </a:cubicBezTo>
                  <a:cubicBezTo>
                    <a:pt x="126" y="12"/>
                    <a:pt x="175" y="495"/>
                    <a:pt x="213" y="495"/>
                  </a:cubicBezTo>
                  <a:cubicBezTo>
                    <a:pt x="251" y="495"/>
                    <a:pt x="278" y="4"/>
                    <a:pt x="318" y="6"/>
                  </a:cubicBezTo>
                  <a:cubicBezTo>
                    <a:pt x="358" y="8"/>
                    <a:pt x="415" y="506"/>
                    <a:pt x="454" y="505"/>
                  </a:cubicBezTo>
                  <a:cubicBezTo>
                    <a:pt x="493" y="504"/>
                    <a:pt x="513" y="2"/>
                    <a:pt x="551" y="2"/>
                  </a:cubicBezTo>
                  <a:cubicBezTo>
                    <a:pt x="589" y="2"/>
                    <a:pt x="637" y="504"/>
                    <a:pt x="681" y="505"/>
                  </a:cubicBezTo>
                  <a:cubicBezTo>
                    <a:pt x="725" y="506"/>
                    <a:pt x="779" y="6"/>
                    <a:pt x="817" y="6"/>
                  </a:cubicBezTo>
                  <a:cubicBezTo>
                    <a:pt x="855" y="6"/>
                    <a:pt x="869" y="505"/>
                    <a:pt x="907" y="505"/>
                  </a:cubicBezTo>
                  <a:cubicBezTo>
                    <a:pt x="945" y="505"/>
                    <a:pt x="1000" y="11"/>
                    <a:pt x="1043" y="6"/>
                  </a:cubicBezTo>
                  <a:cubicBezTo>
                    <a:pt x="1086" y="1"/>
                    <a:pt x="1126" y="477"/>
                    <a:pt x="1164" y="477"/>
                  </a:cubicBezTo>
                  <a:cubicBezTo>
                    <a:pt x="1202" y="477"/>
                    <a:pt x="1237" y="9"/>
                    <a:pt x="1270" y="6"/>
                  </a:cubicBezTo>
                  <a:cubicBezTo>
                    <a:pt x="1303" y="3"/>
                    <a:pt x="1338" y="376"/>
                    <a:pt x="1361" y="459"/>
                  </a:cubicBezTo>
                  <a:cubicBezTo>
                    <a:pt x="1384" y="542"/>
                    <a:pt x="1395" y="523"/>
                    <a:pt x="1406" y="505"/>
                  </a:cubicBezTo>
                </a:path>
              </a:pathLst>
            </a:custGeom>
            <a:noFill/>
            <a:ln w="38100" cap="flat" cmpd="sng">
              <a:solidFill>
                <a:srgbClr val="33CC33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08305" y="4109085"/>
            <a:ext cx="60750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光点在荧光屏上偏移的距离与偏转板上所加电压成正比</a:t>
            </a:r>
            <a:r>
              <a:rPr lang="zh-CN" altLang="en-US" sz="180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180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4" name="文本框 657413"/>
          <p:cNvSpPr txBox="1"/>
          <p:nvPr/>
        </p:nvSpPr>
        <p:spPr>
          <a:xfrm>
            <a:off x="273050" y="30163"/>
            <a:ext cx="29273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二、实验原理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57415" name="矩形 657414"/>
          <p:cNvSpPr/>
          <p:nvPr/>
        </p:nvSpPr>
        <p:spPr>
          <a:xfrm>
            <a:off x="34925" y="765175"/>
            <a:ext cx="5716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>
                <a:latin typeface="Arial" panose="020B0604020202020204" pitchFamily="34" charset="0"/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  <a:ea typeface="华文中宋" panose="02010600040101010101" pitchFamily="2" charset="-122"/>
              </a:rPr>
              <a:t>、扫描频率和信号频率之间的关系</a:t>
            </a:r>
            <a:endParaRPr lang="zh-CN" altLang="en-US" sz="2800" b="1" dirty="0"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7171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7723" y="1597025"/>
            <a:ext cx="7134225" cy="3771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6"/>
          <p:cNvSpPr txBox="1"/>
          <p:nvPr>
            <p:custDataLst>
              <p:tags r:id="rId3"/>
            </p:custDataLst>
          </p:nvPr>
        </p:nvSpPr>
        <p:spPr>
          <a:xfrm>
            <a:off x="1332548" y="1885950"/>
            <a:ext cx="145415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X</a:t>
            </a: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轴扫描电压</a:t>
            </a:r>
            <a:endParaRPr kumimoji="0" lang="zh-CN" altLang="en-US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TextBox 7"/>
          <p:cNvSpPr txBox="1"/>
          <p:nvPr>
            <p:custDataLst>
              <p:tags r:id="rId4"/>
            </p:custDataLst>
          </p:nvPr>
        </p:nvSpPr>
        <p:spPr>
          <a:xfrm>
            <a:off x="4175760" y="1525588"/>
            <a:ext cx="145415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Y</a:t>
            </a: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轴电压信号</a:t>
            </a:r>
            <a:endParaRPr kumimoji="0" lang="zh-CN" altLang="en-US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TextBox 9"/>
          <p:cNvSpPr txBox="1"/>
          <p:nvPr>
            <p:custDataLst>
              <p:tags r:id="rId5"/>
            </p:custDataLst>
          </p:nvPr>
        </p:nvSpPr>
        <p:spPr>
          <a:xfrm>
            <a:off x="6301423" y="1374775"/>
            <a:ext cx="156845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屏幕合成信号</a:t>
            </a:r>
            <a:endParaRPr kumimoji="0" lang="zh-CN" altLang="en-US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9160" y="5368925"/>
            <a:ext cx="77171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为得到稳定的波形，上述扫描电压的周期</a:t>
            </a:r>
            <a:r>
              <a:rPr lang="en-US" altLang="zh-CN" sz="1800" i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T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x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(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或频率</a:t>
            </a:r>
            <a:r>
              <a:rPr lang="en-US" altLang="zh-CN" sz="1800" i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f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x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与被测信号的周期</a:t>
            </a:r>
            <a:r>
              <a:rPr lang="en-US" altLang="zh-CN" sz="1800" i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T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y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(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或频率</a:t>
            </a:r>
            <a:r>
              <a:rPr lang="en-US" altLang="zh-CN" sz="1800" i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f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y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必须满足：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7172" name="Picture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314700" y="6021388"/>
            <a:ext cx="3135313" cy="6842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4" name="文本框 657413"/>
          <p:cNvSpPr txBox="1"/>
          <p:nvPr/>
        </p:nvSpPr>
        <p:spPr>
          <a:xfrm>
            <a:off x="273050" y="30163"/>
            <a:ext cx="29273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二、实验原理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57415" name="矩形 657414"/>
          <p:cNvSpPr/>
          <p:nvPr/>
        </p:nvSpPr>
        <p:spPr>
          <a:xfrm>
            <a:off x="34925" y="765175"/>
            <a:ext cx="5716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>
                <a:latin typeface="Arial" panose="020B0604020202020204" pitchFamily="34" charset="0"/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  <a:ea typeface="华文中宋" panose="02010600040101010101" pitchFamily="2" charset="-122"/>
              </a:rPr>
              <a:t>、扫描频率和信号频率之间的关系</a:t>
            </a:r>
            <a:endParaRPr lang="zh-CN" altLang="en-US" sz="2800" b="1" dirty="0"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pSp>
        <p:nvGrpSpPr>
          <p:cNvPr id="657416" name="组合 657415"/>
          <p:cNvGrpSpPr/>
          <p:nvPr/>
        </p:nvGrpSpPr>
        <p:grpSpPr>
          <a:xfrm>
            <a:off x="6443663" y="1341438"/>
            <a:ext cx="2281237" cy="1687512"/>
            <a:chOff x="867" y="1588"/>
            <a:chExt cx="3810" cy="2223"/>
          </a:xfrm>
        </p:grpSpPr>
        <p:grpSp>
          <p:nvGrpSpPr>
            <p:cNvPr id="657417" name="组合 657416"/>
            <p:cNvGrpSpPr/>
            <p:nvPr/>
          </p:nvGrpSpPr>
          <p:grpSpPr>
            <a:xfrm>
              <a:off x="867" y="1588"/>
              <a:ext cx="3810" cy="2223"/>
              <a:chOff x="385" y="1071"/>
              <a:chExt cx="3810" cy="2223"/>
            </a:xfrm>
          </p:grpSpPr>
          <p:sp>
            <p:nvSpPr>
              <p:cNvPr id="657418" name="矩形 657417"/>
              <p:cNvSpPr/>
              <p:nvPr/>
            </p:nvSpPr>
            <p:spPr>
              <a:xfrm>
                <a:off x="385" y="1071"/>
                <a:ext cx="3810" cy="2223"/>
              </a:xfrm>
              <a:prstGeom prst="rect">
                <a:avLst/>
              </a:prstGeom>
              <a:solidFill>
                <a:srgbClr val="333333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57419" name="组合 657418"/>
              <p:cNvGrpSpPr/>
              <p:nvPr/>
            </p:nvGrpSpPr>
            <p:grpSpPr>
              <a:xfrm>
                <a:off x="703" y="1071"/>
                <a:ext cx="3492" cy="2223"/>
                <a:chOff x="703" y="1071"/>
                <a:chExt cx="3492" cy="2767"/>
              </a:xfrm>
            </p:grpSpPr>
            <p:sp>
              <p:nvSpPr>
                <p:cNvPr id="657420" name="直接连接符 657419"/>
                <p:cNvSpPr/>
                <p:nvPr/>
              </p:nvSpPr>
              <p:spPr>
                <a:xfrm>
                  <a:off x="703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7421" name="直接连接符 657420"/>
                <p:cNvSpPr/>
                <p:nvPr/>
              </p:nvSpPr>
              <p:spPr>
                <a:xfrm>
                  <a:off x="1020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7422" name="直接连接符 657421"/>
                <p:cNvSpPr/>
                <p:nvPr/>
              </p:nvSpPr>
              <p:spPr>
                <a:xfrm>
                  <a:off x="1338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7423" name="直接连接符 657422"/>
                <p:cNvSpPr/>
                <p:nvPr/>
              </p:nvSpPr>
              <p:spPr>
                <a:xfrm>
                  <a:off x="1651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7424" name="直接连接符 657423"/>
                <p:cNvSpPr/>
                <p:nvPr/>
              </p:nvSpPr>
              <p:spPr>
                <a:xfrm>
                  <a:off x="1968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7425" name="直接连接符 657424"/>
                <p:cNvSpPr/>
                <p:nvPr/>
              </p:nvSpPr>
              <p:spPr>
                <a:xfrm>
                  <a:off x="2286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7426" name="直接连接符 657425"/>
                <p:cNvSpPr/>
                <p:nvPr/>
              </p:nvSpPr>
              <p:spPr>
                <a:xfrm>
                  <a:off x="2612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7427" name="直接连接符 657426"/>
                <p:cNvSpPr/>
                <p:nvPr/>
              </p:nvSpPr>
              <p:spPr>
                <a:xfrm>
                  <a:off x="2929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7428" name="直接连接符 657427"/>
                <p:cNvSpPr/>
                <p:nvPr/>
              </p:nvSpPr>
              <p:spPr>
                <a:xfrm>
                  <a:off x="3247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7429" name="直接连接符 657428"/>
                <p:cNvSpPr/>
                <p:nvPr/>
              </p:nvSpPr>
              <p:spPr>
                <a:xfrm>
                  <a:off x="3560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7430" name="直接连接符 657429"/>
                <p:cNvSpPr/>
                <p:nvPr/>
              </p:nvSpPr>
              <p:spPr>
                <a:xfrm>
                  <a:off x="3877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657431" name="直接连接符 657430"/>
                <p:cNvSpPr/>
                <p:nvPr/>
              </p:nvSpPr>
              <p:spPr>
                <a:xfrm>
                  <a:off x="4195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57432" name="直接连接符 657431"/>
              <p:cNvSpPr/>
              <p:nvPr/>
            </p:nvSpPr>
            <p:spPr>
              <a:xfrm>
                <a:off x="385" y="1389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657433" name="直接连接符 657432"/>
              <p:cNvSpPr/>
              <p:nvPr/>
            </p:nvSpPr>
            <p:spPr>
              <a:xfrm>
                <a:off x="385" y="1661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657434" name="直接连接符 657433"/>
              <p:cNvSpPr/>
              <p:nvPr/>
            </p:nvSpPr>
            <p:spPr>
              <a:xfrm>
                <a:off x="385" y="1933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657435" name="直接连接符 657434"/>
              <p:cNvSpPr/>
              <p:nvPr/>
            </p:nvSpPr>
            <p:spPr>
              <a:xfrm>
                <a:off x="385" y="2205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657436" name="直接连接符 657435"/>
              <p:cNvSpPr/>
              <p:nvPr/>
            </p:nvSpPr>
            <p:spPr>
              <a:xfrm>
                <a:off x="385" y="2478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657437" name="直接连接符 657436"/>
              <p:cNvSpPr/>
              <p:nvPr/>
            </p:nvSpPr>
            <p:spPr>
              <a:xfrm>
                <a:off x="385" y="2750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657438" name="直接连接符 657437"/>
              <p:cNvSpPr/>
              <p:nvPr/>
            </p:nvSpPr>
            <p:spPr>
              <a:xfrm>
                <a:off x="385" y="3022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657439" name="直接连接符 657438"/>
              <p:cNvSpPr/>
              <p:nvPr/>
            </p:nvSpPr>
            <p:spPr>
              <a:xfrm>
                <a:off x="385" y="3294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sp>
          <p:nvSpPr>
            <p:cNvPr id="657440" name="任意多边形 657439"/>
            <p:cNvSpPr/>
            <p:nvPr/>
          </p:nvSpPr>
          <p:spPr>
            <a:xfrm>
              <a:off x="869" y="2344"/>
              <a:ext cx="3803" cy="747"/>
            </a:xfrm>
            <a:custGeom>
              <a:avLst/>
              <a:gdLst/>
              <a:ahLst/>
              <a:cxnLst/>
              <a:rect l="0" t="0" r="0" b="0"/>
              <a:pathLst>
                <a:path w="3803" h="747">
                  <a:moveTo>
                    <a:pt x="0" y="518"/>
                  </a:moveTo>
                  <a:cubicBezTo>
                    <a:pt x="183" y="436"/>
                    <a:pt x="779" y="48"/>
                    <a:pt x="1097" y="24"/>
                  </a:cubicBezTo>
                  <a:cubicBezTo>
                    <a:pt x="1415" y="0"/>
                    <a:pt x="1631" y="251"/>
                    <a:pt x="1910" y="371"/>
                  </a:cubicBezTo>
                  <a:cubicBezTo>
                    <a:pt x="2189" y="491"/>
                    <a:pt x="2508" y="747"/>
                    <a:pt x="2770" y="746"/>
                  </a:cubicBezTo>
                  <a:cubicBezTo>
                    <a:pt x="3032" y="745"/>
                    <a:pt x="3311" y="469"/>
                    <a:pt x="3483" y="362"/>
                  </a:cubicBezTo>
                  <a:cubicBezTo>
                    <a:pt x="3655" y="255"/>
                    <a:pt x="3736" y="159"/>
                    <a:pt x="3803" y="106"/>
                  </a:cubicBezTo>
                </a:path>
              </a:pathLst>
            </a:custGeom>
            <a:noFill/>
            <a:ln w="28575" cap="flat" cmpd="sng">
              <a:solidFill>
                <a:srgbClr val="33CC33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57489" name="矩形 657488"/>
          <p:cNvSpPr/>
          <p:nvPr/>
        </p:nvSpPr>
        <p:spPr>
          <a:xfrm>
            <a:off x="468313" y="1341438"/>
            <a:ext cx="5759450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当扫描周期和信号周期一致或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n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倍时，示波器上正好显示一个或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n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个周期的信号。（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数字示波器横轴有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12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格，所以显示的比一个周期多一点）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57490" name="矩形 657489"/>
          <p:cNvSpPr/>
          <p:nvPr/>
        </p:nvSpPr>
        <p:spPr>
          <a:xfrm>
            <a:off x="34925" y="3055938"/>
            <a:ext cx="8763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问题</a:t>
            </a:r>
            <a:r>
              <a:rPr lang="en-US" altLang="zh-CN" sz="2400" b="1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：如果信号为频率为</a:t>
            </a:r>
            <a:r>
              <a:rPr lang="en-US" altLang="zh-CN" sz="2400" b="1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1KHz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的正弦波，要在屏幕上看到一个完整周期的信号，扫描周期调到多少？</a:t>
            </a:r>
            <a:endParaRPr lang="zh-CN" altLang="en-US" sz="2400" b="1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57492" name="矩形 657491"/>
          <p:cNvSpPr/>
          <p:nvPr/>
        </p:nvSpPr>
        <p:spPr>
          <a:xfrm>
            <a:off x="34925" y="4005263"/>
            <a:ext cx="91090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问题</a:t>
            </a:r>
            <a:r>
              <a:rPr lang="en-US" altLang="zh-CN" sz="2400" b="1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：如果扫描频率小于信号频率，在屏幕会看到什么变化？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pSp>
        <p:nvGrpSpPr>
          <p:cNvPr id="657509" name="组合 657508"/>
          <p:cNvGrpSpPr/>
          <p:nvPr/>
        </p:nvGrpSpPr>
        <p:grpSpPr>
          <a:xfrm>
            <a:off x="584200" y="4624388"/>
            <a:ext cx="7950200" cy="1997075"/>
            <a:chOff x="368" y="2913"/>
            <a:chExt cx="5008" cy="1258"/>
          </a:xfrm>
        </p:grpSpPr>
        <p:grpSp>
          <p:nvGrpSpPr>
            <p:cNvPr id="657504" name="组合 657503"/>
            <p:cNvGrpSpPr/>
            <p:nvPr/>
          </p:nvGrpSpPr>
          <p:grpSpPr>
            <a:xfrm>
              <a:off x="1202" y="3773"/>
              <a:ext cx="2858" cy="398"/>
              <a:chOff x="1791" y="3612"/>
              <a:chExt cx="2858" cy="398"/>
            </a:xfrm>
          </p:grpSpPr>
          <p:sp>
            <p:nvSpPr>
              <p:cNvPr id="657498" name="右箭头 657497"/>
              <p:cNvSpPr/>
              <p:nvPr/>
            </p:nvSpPr>
            <p:spPr>
              <a:xfrm>
                <a:off x="1791" y="3819"/>
                <a:ext cx="2858" cy="191"/>
              </a:xfrm>
              <a:prstGeom prst="rightArrow">
                <a:avLst>
                  <a:gd name="adj1" fmla="val 50000"/>
                  <a:gd name="adj2" fmla="val 374083"/>
                </a:avLst>
              </a:prstGeom>
              <a:solidFill>
                <a:schemeClr val="hlink"/>
              </a:solidFill>
              <a:ln w="9525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7499" name="矩形 657498"/>
              <p:cNvSpPr/>
              <p:nvPr/>
            </p:nvSpPr>
            <p:spPr>
              <a:xfrm>
                <a:off x="2426" y="3612"/>
                <a:ext cx="12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hlink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rPr>
                  <a:t>扫描频率变小</a:t>
                </a:r>
                <a:endParaRPr lang="zh-CN" altLang="en-US" sz="2400" b="1" dirty="0">
                  <a:solidFill>
                    <a:schemeClr val="hlink"/>
                  </a:solidFill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657508" name="组合 657507"/>
            <p:cNvGrpSpPr/>
            <p:nvPr/>
          </p:nvGrpSpPr>
          <p:grpSpPr>
            <a:xfrm>
              <a:off x="368" y="2913"/>
              <a:ext cx="5008" cy="771"/>
              <a:chOff x="368" y="2913"/>
              <a:chExt cx="5008" cy="771"/>
            </a:xfrm>
          </p:grpSpPr>
          <p:pic>
            <p:nvPicPr>
              <p:cNvPr id="657501" name="图片 657500"/>
              <p:cNvPicPr>
                <a:picLocks noChangeAspect="1"/>
              </p:cNvPicPr>
              <p:nvPr/>
            </p:nvPicPr>
            <p:blipFill>
              <a:blip r:embed="rId1"/>
              <a:srcRect b="23553"/>
              <a:stretch>
                <a:fillRect/>
              </a:stretch>
            </p:blipFill>
            <p:spPr>
              <a:xfrm>
                <a:off x="3504" y="2913"/>
                <a:ext cx="1872" cy="77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657506" name="矩形 657505"/>
              <p:cNvSpPr/>
              <p:nvPr/>
            </p:nvSpPr>
            <p:spPr>
              <a:xfrm>
                <a:off x="368" y="2913"/>
                <a:ext cx="1372" cy="767"/>
              </a:xfrm>
              <a:prstGeom prst="rect">
                <a:avLst/>
              </a:prstGeom>
              <a:pattFill prst="cross">
                <a:fgClr>
                  <a:srgbClr val="333333"/>
                </a:fgClr>
                <a:bgClr>
                  <a:srgbClr val="003300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7502" name="任意多边形 657501"/>
              <p:cNvSpPr/>
              <p:nvPr/>
            </p:nvSpPr>
            <p:spPr>
              <a:xfrm>
                <a:off x="368" y="3061"/>
                <a:ext cx="1372" cy="437"/>
              </a:xfrm>
              <a:custGeom>
                <a:avLst/>
                <a:gdLst/>
                <a:ahLst/>
                <a:cxnLst/>
                <a:rect l="0" t="0" r="0" b="0"/>
                <a:pathLst>
                  <a:path w="1372" h="277">
                    <a:moveTo>
                      <a:pt x="0" y="18"/>
                    </a:moveTo>
                    <a:cubicBezTo>
                      <a:pt x="12" y="32"/>
                      <a:pt x="34" y="61"/>
                      <a:pt x="74" y="101"/>
                    </a:cubicBezTo>
                    <a:cubicBezTo>
                      <a:pt x="114" y="141"/>
                      <a:pt x="173" y="273"/>
                      <a:pt x="238" y="256"/>
                    </a:cubicBezTo>
                    <a:cubicBezTo>
                      <a:pt x="303" y="239"/>
                      <a:pt x="388" y="0"/>
                      <a:pt x="467" y="0"/>
                    </a:cubicBezTo>
                    <a:cubicBezTo>
                      <a:pt x="546" y="0"/>
                      <a:pt x="630" y="251"/>
                      <a:pt x="714" y="256"/>
                    </a:cubicBezTo>
                    <a:cubicBezTo>
                      <a:pt x="798" y="261"/>
                      <a:pt x="888" y="27"/>
                      <a:pt x="970" y="28"/>
                    </a:cubicBezTo>
                    <a:cubicBezTo>
                      <a:pt x="1052" y="29"/>
                      <a:pt x="1140" y="253"/>
                      <a:pt x="1207" y="265"/>
                    </a:cubicBezTo>
                    <a:cubicBezTo>
                      <a:pt x="1274" y="277"/>
                      <a:pt x="1338" y="135"/>
                      <a:pt x="1372" y="101"/>
                    </a:cubicBezTo>
                  </a:path>
                </a:pathLst>
              </a:custGeom>
              <a:pattFill prst="cross">
                <a:fgClr>
                  <a:srgbClr val="333333">
                    <a:alpha val="100000"/>
                  </a:srgbClr>
                </a:fgClr>
                <a:bgClr>
                  <a:srgbClr val="003300">
                    <a:alpha val="100000"/>
                  </a:srgbClr>
                </a:bgClr>
              </a:pattFill>
              <a:ln w="28575" cap="flat" cmpd="sng">
                <a:solidFill>
                  <a:srgbClr val="33CC33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7507" name="矩形 657506"/>
              <p:cNvSpPr/>
              <p:nvPr/>
            </p:nvSpPr>
            <p:spPr>
              <a:xfrm>
                <a:off x="1837" y="2913"/>
                <a:ext cx="1417" cy="767"/>
              </a:xfrm>
              <a:prstGeom prst="rect">
                <a:avLst/>
              </a:prstGeom>
              <a:pattFill prst="cross">
                <a:fgClr>
                  <a:srgbClr val="333333"/>
                </a:fgClr>
                <a:bgClr>
                  <a:srgbClr val="003300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7503" name="任意多边形 657502"/>
              <p:cNvSpPr/>
              <p:nvPr/>
            </p:nvSpPr>
            <p:spPr>
              <a:xfrm>
                <a:off x="1848" y="2998"/>
                <a:ext cx="1406" cy="542"/>
              </a:xfrm>
              <a:custGeom>
                <a:avLst/>
                <a:gdLst/>
                <a:ahLst/>
                <a:cxnLst/>
                <a:rect l="0" t="0" r="0" b="0"/>
                <a:pathLst>
                  <a:path w="1406" h="542">
                    <a:moveTo>
                      <a:pt x="0" y="459"/>
                    </a:moveTo>
                    <a:cubicBezTo>
                      <a:pt x="30" y="228"/>
                      <a:pt x="56" y="0"/>
                      <a:pt x="91" y="6"/>
                    </a:cubicBezTo>
                    <a:cubicBezTo>
                      <a:pt x="126" y="12"/>
                      <a:pt x="175" y="495"/>
                      <a:pt x="213" y="495"/>
                    </a:cubicBezTo>
                    <a:cubicBezTo>
                      <a:pt x="251" y="495"/>
                      <a:pt x="278" y="4"/>
                      <a:pt x="318" y="6"/>
                    </a:cubicBezTo>
                    <a:cubicBezTo>
                      <a:pt x="358" y="8"/>
                      <a:pt x="415" y="506"/>
                      <a:pt x="454" y="505"/>
                    </a:cubicBezTo>
                    <a:cubicBezTo>
                      <a:pt x="493" y="504"/>
                      <a:pt x="513" y="2"/>
                      <a:pt x="551" y="2"/>
                    </a:cubicBezTo>
                    <a:cubicBezTo>
                      <a:pt x="589" y="2"/>
                      <a:pt x="637" y="504"/>
                      <a:pt x="681" y="505"/>
                    </a:cubicBezTo>
                    <a:cubicBezTo>
                      <a:pt x="725" y="506"/>
                      <a:pt x="779" y="6"/>
                      <a:pt x="817" y="6"/>
                    </a:cubicBezTo>
                    <a:cubicBezTo>
                      <a:pt x="855" y="6"/>
                      <a:pt x="869" y="505"/>
                      <a:pt x="907" y="505"/>
                    </a:cubicBezTo>
                    <a:cubicBezTo>
                      <a:pt x="945" y="505"/>
                      <a:pt x="1000" y="11"/>
                      <a:pt x="1043" y="6"/>
                    </a:cubicBezTo>
                    <a:cubicBezTo>
                      <a:pt x="1086" y="1"/>
                      <a:pt x="1126" y="477"/>
                      <a:pt x="1164" y="477"/>
                    </a:cubicBezTo>
                    <a:cubicBezTo>
                      <a:pt x="1202" y="477"/>
                      <a:pt x="1237" y="9"/>
                      <a:pt x="1270" y="6"/>
                    </a:cubicBezTo>
                    <a:cubicBezTo>
                      <a:pt x="1303" y="3"/>
                      <a:pt x="1338" y="376"/>
                      <a:pt x="1361" y="459"/>
                    </a:cubicBezTo>
                    <a:cubicBezTo>
                      <a:pt x="1384" y="542"/>
                      <a:pt x="1395" y="523"/>
                      <a:pt x="1406" y="505"/>
                    </a:cubicBezTo>
                  </a:path>
                </a:pathLst>
              </a:custGeom>
              <a:noFill/>
              <a:ln w="9525" cap="flat" cmpd="sng">
                <a:solidFill>
                  <a:srgbClr val="33CC33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57510" name="文本框 657509"/>
          <p:cNvSpPr txBox="1"/>
          <p:nvPr/>
        </p:nvSpPr>
        <p:spPr>
          <a:xfrm>
            <a:off x="6381750" y="3608388"/>
            <a:ext cx="16414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0.1 ms/div</a:t>
            </a:r>
            <a:endParaRPr lang="en-US" altLang="zh-CN"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5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4" name="矩形 660483"/>
          <p:cNvSpPr/>
          <p:nvPr/>
        </p:nvSpPr>
        <p:spPr>
          <a:xfrm>
            <a:off x="34925" y="765175"/>
            <a:ext cx="2160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>
                <a:latin typeface="Arial" panose="020B0604020202020204" pitchFamily="34" charset="0"/>
                <a:ea typeface="华文中宋" panose="02010600040101010101" pitchFamily="2" charset="-122"/>
              </a:rPr>
              <a:t>3</a:t>
            </a:r>
            <a:r>
              <a:rPr lang="zh-CN" altLang="en-US" sz="2800" b="1" dirty="0">
                <a:latin typeface="Arial" panose="020B0604020202020204" pitchFamily="34" charset="0"/>
                <a:ea typeface="华文中宋" panose="02010600040101010101" pitchFamily="2" charset="-122"/>
              </a:rPr>
              <a:t>、触发扫描</a:t>
            </a:r>
            <a:endParaRPr lang="zh-CN" altLang="en-US" sz="2800" b="1" dirty="0"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660486" name="图片 660485">
            <a:hlinkClick r:id="rId1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1557338"/>
            <a:ext cx="4305300" cy="3295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0487" name="图片 660486" descr="E:/深大/2023上学期/实验1课件（新）/1-数字示波器的使用214/http:/210.39.15.106/phys/UploadFile/2007062108140439412.jpg"/>
          <p:cNvPicPr>
            <a:picLocks noChangeAspect="1"/>
          </p:cNvPicPr>
          <p:nvPr/>
        </p:nvPicPr>
        <p:blipFill>
          <a:blip r:embed="rId3" r:link="rId4"/>
          <a:stretch>
            <a:fillRect/>
          </a:stretch>
        </p:blipFill>
        <p:spPr>
          <a:xfrm>
            <a:off x="4932363" y="2060575"/>
            <a:ext cx="3733800" cy="2019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2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900113" y="1382713"/>
            <a:ext cx="8064500" cy="2246768"/>
          </a:xfrm>
          <a:prstGeom prst="rect">
            <a:avLst/>
          </a:prstGeom>
          <a:blipFill>
            <a:blip r:embed="rId1"/>
            <a:stretch>
              <a:fillRect l="-1587" t="-2989" r="-983"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" name="Text Box 24"/>
          <p:cNvSpPr txBox="1"/>
          <p:nvPr/>
        </p:nvSpPr>
        <p:spPr>
          <a:xfrm>
            <a:off x="273050" y="101600"/>
            <a:ext cx="2954338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</a:rPr>
              <a:t>二、实验原理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175" name="对象 1"/>
          <p:cNvGraphicFramePr>
            <a:graphicFrameLocks noChangeAspect="1"/>
          </p:cNvGraphicFramePr>
          <p:nvPr/>
        </p:nvGraphicFramePr>
        <p:xfrm>
          <a:off x="5318125" y="2297113"/>
          <a:ext cx="1387475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" r:id="rId2" imgW="520700" imgH="431800" progId="Equation.DSMT4">
                  <p:embed/>
                </p:oleObj>
              </mc:Choice>
              <mc:Fallback>
                <p:oleObj name="" r:id="rId2" imgW="520700" imgH="431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18125" y="2297113"/>
                        <a:ext cx="1387475" cy="728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5" name="Picture 2" descr="https://timgsa.baidu.com/timg?image&amp;quality=80&amp;size=b9999_10000&amp;sec=1492365567997&amp;di=ba5ea8e8e4d4725ab906a51263d3bde7&amp;imgtype=0&amp;src=http%3A%2F%2Fwww.wendangwang.com%2Fpic%2F4a1ba231ab39401cf848da76%2F1-348-jpg_6_0_______-376-0-0-376.jp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51368" y="3285490"/>
            <a:ext cx="3133725" cy="2905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490" name="李莎茹图21.avi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916238" y="3141663"/>
            <a:ext cx="3095625" cy="30241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7491" name="李莎茹图1221.avi">
            <a:hlinkClick r:id="" action="ppaction://media"/>
          </p:cNvPr>
          <p:cNvPicPr>
            <a:picLocks noRot="1"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4950" y="3141663"/>
            <a:ext cx="2897188" cy="30241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7492" name="李莎茹图2341.avi">
            <a:hlinkClick r:id="" action="ppaction://media"/>
          </p:cNvPr>
          <p:cNvPicPr>
            <a:picLocks noRot="1"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link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711825" y="3141663"/>
            <a:ext cx="3432175" cy="3024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4" name="Rectangle 2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900113" y="1382713"/>
            <a:ext cx="8064500" cy="2246768"/>
          </a:xfrm>
          <a:prstGeom prst="rect">
            <a:avLst/>
          </a:prstGeom>
          <a:blipFill>
            <a:blip r:embed="rId10"/>
            <a:stretch>
              <a:fillRect l="-1587" t="-2989" r="-983"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 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" name="Text Box 24"/>
          <p:cNvSpPr txBox="1"/>
          <p:nvPr/>
        </p:nvSpPr>
        <p:spPr>
          <a:xfrm>
            <a:off x="273050" y="101600"/>
            <a:ext cx="2954338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</a:rPr>
              <a:t>二、实验原理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175" name="对象 1"/>
          <p:cNvGraphicFramePr>
            <a:graphicFrameLocks noChangeAspect="1"/>
          </p:cNvGraphicFramePr>
          <p:nvPr/>
        </p:nvGraphicFramePr>
        <p:xfrm>
          <a:off x="5318125" y="2297113"/>
          <a:ext cx="1387475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" r:id="rId11" imgW="520700" imgH="431800" progId="Equation.DSMT4">
                  <p:embed/>
                </p:oleObj>
              </mc:Choice>
              <mc:Fallback>
                <p:oleObj name="" r:id="rId11" imgW="520700" imgH="431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18125" y="2297113"/>
                        <a:ext cx="1387475" cy="728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17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1749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749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17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174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7491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17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61749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7492"/>
                  </p:tgtEl>
                </p:cond>
              </p:nextCondLst>
            </p:seq>
            <p:video>
              <p:cMediaNode>
                <p:cTn id="1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17490"/>
                </p:tgtEl>
              </p:cMediaNode>
            </p:video>
            <p:video>
              <p:cMediaNode>
                <p:cTn id="1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17491"/>
                </p:tgtEl>
              </p:cMediaNode>
            </p:video>
            <p:video>
              <p:cMediaNode>
                <p:cTn id="1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1749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s://timgsa.baidu.com/timg?image&amp;quality=80&amp;size=b9999_10000&amp;sec=1492365329456&amp;di=1a42dcea7b33c1f38dad6ffa863b33cf&amp;imgtype=0&amp;src=http%3A%2F%2Fc.hiphotos.baidu.com%2Fzhidao%2Fpic%2Fitem%2F9f510fb30f2442a7a316a046d743ad4bd113023c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9750" y="1916113"/>
            <a:ext cx="8353425" cy="46815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7" name="矩形 2"/>
          <p:cNvSpPr/>
          <p:nvPr>
            <p:custDataLst>
              <p:tags r:id="rId3"/>
            </p:custDataLst>
          </p:nvPr>
        </p:nvSpPr>
        <p:spPr>
          <a:xfrm>
            <a:off x="539433" y="189230"/>
            <a:ext cx="763905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影响李萨如图形形状是由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方向和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方向上的波的频率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ωx,ωy,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相位差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Δφ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决定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电压只决定图形的长宽大小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268" name="Rectangle 5"/>
          <p:cNvSpPr/>
          <p:nvPr>
            <p:custDataLst>
              <p:tags r:id="rId4"/>
            </p:custDataLst>
          </p:nvPr>
        </p:nvSpPr>
        <p:spPr>
          <a:xfrm>
            <a:off x="1116013" y="1149350"/>
            <a:ext cx="4824412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李萨如图形与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轴和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轴的最多交点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满足：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269" name="Object 2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6011863" y="806450"/>
          <a:ext cx="12255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" r:id="rId6" imgW="533400" imgH="469900" progId="Equation.DSMT4">
                  <p:embed/>
                </p:oleObj>
              </mc:Choice>
              <mc:Fallback>
                <p:oleObj name="" r:id="rId6" imgW="533400" imgH="4699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11863" y="806450"/>
                        <a:ext cx="1225550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0" name="组合 6"/>
          <p:cNvGrpSpPr/>
          <p:nvPr/>
        </p:nvGrpSpPr>
        <p:grpSpPr>
          <a:xfrm>
            <a:off x="827088" y="2189163"/>
            <a:ext cx="873125" cy="3463925"/>
            <a:chOff x="827584" y="2188470"/>
            <a:chExt cx="872322" cy="3465109"/>
          </a:xfrm>
        </p:grpSpPr>
        <p:pic>
          <p:nvPicPr>
            <p:cNvPr id="11275" name="图片 5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827584" y="2188470"/>
              <a:ext cx="821478" cy="31244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276" name="图片 7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844676" y="3228837"/>
              <a:ext cx="821478" cy="31244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277" name="图片 8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827584" y="4293096"/>
              <a:ext cx="821478" cy="31244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278" name="图片 9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878428" y="5341132"/>
              <a:ext cx="821478" cy="312447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271" name="矩形 1"/>
          <p:cNvSpPr/>
          <p:nvPr>
            <p:custDataLst>
              <p:tags r:id="rId13"/>
            </p:custDataLst>
          </p:nvPr>
        </p:nvSpPr>
        <p:spPr>
          <a:xfrm>
            <a:off x="600075" y="2493963"/>
            <a:ext cx="13271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黑体" panose="02010609060101010101" pitchFamily="49" charset="-122"/>
              </a:rPr>
              <a:t>f</a:t>
            </a:r>
            <a:r>
              <a:rPr lang="en-US" altLang="zh-CN" sz="2000" baseline="-25000" dirty="0">
                <a:ea typeface="黑体" panose="02010609060101010101" pitchFamily="49" charset="-122"/>
              </a:rPr>
              <a:t>x </a:t>
            </a:r>
            <a:r>
              <a:rPr lang="en-US" altLang="zh-CN" sz="2000" dirty="0">
                <a:ea typeface="黑体" panose="02010609060101010101" pitchFamily="49" charset="-122"/>
              </a:rPr>
              <a:t>: f</a:t>
            </a:r>
            <a:r>
              <a:rPr lang="en-US" altLang="zh-CN" sz="2000" baseline="-25000" dirty="0">
                <a:ea typeface="黑体" panose="02010609060101010101" pitchFamily="49" charset="-122"/>
              </a:rPr>
              <a:t>y </a:t>
            </a:r>
            <a:r>
              <a:rPr lang="en-US" altLang="zh-CN" sz="2000" dirty="0">
                <a:ea typeface="黑体" panose="02010609060101010101" pitchFamily="49" charset="-122"/>
              </a:rPr>
              <a:t>= 1 : 1</a:t>
            </a:r>
            <a:endParaRPr lang="zh-CN" altLang="en-US" sz="2000" dirty="0"/>
          </a:p>
        </p:txBody>
      </p:sp>
      <p:sp>
        <p:nvSpPr>
          <p:cNvPr id="11272" name="矩形 10"/>
          <p:cNvSpPr/>
          <p:nvPr>
            <p:custDataLst>
              <p:tags r:id="rId14"/>
            </p:custDataLst>
          </p:nvPr>
        </p:nvSpPr>
        <p:spPr>
          <a:xfrm>
            <a:off x="611188" y="3481388"/>
            <a:ext cx="13271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黑体" panose="02010609060101010101" pitchFamily="49" charset="-122"/>
              </a:rPr>
              <a:t>f</a:t>
            </a:r>
            <a:r>
              <a:rPr lang="en-US" altLang="zh-CN" sz="2000" baseline="-25000" dirty="0">
                <a:ea typeface="黑体" panose="02010609060101010101" pitchFamily="49" charset="-122"/>
              </a:rPr>
              <a:t>x </a:t>
            </a:r>
            <a:r>
              <a:rPr lang="en-US" altLang="zh-CN" sz="2000" dirty="0">
                <a:ea typeface="黑体" panose="02010609060101010101" pitchFamily="49" charset="-122"/>
              </a:rPr>
              <a:t>: f</a:t>
            </a:r>
            <a:r>
              <a:rPr lang="en-US" altLang="zh-CN" sz="2000" baseline="-25000" dirty="0">
                <a:ea typeface="黑体" panose="02010609060101010101" pitchFamily="49" charset="-122"/>
              </a:rPr>
              <a:t>y </a:t>
            </a:r>
            <a:r>
              <a:rPr lang="en-US" altLang="zh-CN" sz="2000" dirty="0">
                <a:ea typeface="黑体" panose="02010609060101010101" pitchFamily="49" charset="-122"/>
              </a:rPr>
              <a:t>= 1 : 2</a:t>
            </a:r>
            <a:endParaRPr lang="zh-CN" altLang="en-US" sz="2000" dirty="0"/>
          </a:p>
        </p:txBody>
      </p:sp>
      <p:sp>
        <p:nvSpPr>
          <p:cNvPr id="11273" name="矩形 11"/>
          <p:cNvSpPr/>
          <p:nvPr>
            <p:custDataLst>
              <p:tags r:id="rId15"/>
            </p:custDataLst>
          </p:nvPr>
        </p:nvSpPr>
        <p:spPr>
          <a:xfrm>
            <a:off x="600075" y="4581525"/>
            <a:ext cx="13271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黑体" panose="02010609060101010101" pitchFamily="49" charset="-122"/>
              </a:rPr>
              <a:t>f</a:t>
            </a:r>
            <a:r>
              <a:rPr lang="en-US" altLang="zh-CN" sz="2000" baseline="-25000" dirty="0">
                <a:ea typeface="黑体" panose="02010609060101010101" pitchFamily="49" charset="-122"/>
              </a:rPr>
              <a:t>x </a:t>
            </a:r>
            <a:r>
              <a:rPr lang="en-US" altLang="zh-CN" sz="2000" dirty="0">
                <a:ea typeface="黑体" panose="02010609060101010101" pitchFamily="49" charset="-122"/>
              </a:rPr>
              <a:t>: f</a:t>
            </a:r>
            <a:r>
              <a:rPr lang="en-US" altLang="zh-CN" sz="2000" baseline="-25000" dirty="0">
                <a:ea typeface="黑体" panose="02010609060101010101" pitchFamily="49" charset="-122"/>
              </a:rPr>
              <a:t>y </a:t>
            </a:r>
            <a:r>
              <a:rPr lang="en-US" altLang="zh-CN" sz="2000" dirty="0">
                <a:ea typeface="黑体" panose="02010609060101010101" pitchFamily="49" charset="-122"/>
              </a:rPr>
              <a:t>= 1 : 3</a:t>
            </a:r>
            <a:endParaRPr lang="zh-CN" altLang="en-US" sz="2000" dirty="0"/>
          </a:p>
        </p:txBody>
      </p:sp>
      <p:sp>
        <p:nvSpPr>
          <p:cNvPr id="11274" name="矩形 12"/>
          <p:cNvSpPr/>
          <p:nvPr>
            <p:custDataLst>
              <p:tags r:id="rId16"/>
            </p:custDataLst>
          </p:nvPr>
        </p:nvSpPr>
        <p:spPr>
          <a:xfrm>
            <a:off x="611188" y="5608638"/>
            <a:ext cx="13271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黑体" panose="02010609060101010101" pitchFamily="49" charset="-122"/>
              </a:rPr>
              <a:t>f</a:t>
            </a:r>
            <a:r>
              <a:rPr lang="en-US" altLang="zh-CN" sz="2000" baseline="-25000" dirty="0">
                <a:ea typeface="黑体" panose="02010609060101010101" pitchFamily="49" charset="-122"/>
              </a:rPr>
              <a:t>x </a:t>
            </a:r>
            <a:r>
              <a:rPr lang="en-US" altLang="zh-CN" sz="2000" dirty="0">
                <a:ea typeface="黑体" panose="02010609060101010101" pitchFamily="49" charset="-122"/>
              </a:rPr>
              <a:t>: f</a:t>
            </a:r>
            <a:r>
              <a:rPr lang="en-US" altLang="zh-CN" sz="2000" baseline="-25000" dirty="0">
                <a:ea typeface="黑体" panose="02010609060101010101" pitchFamily="49" charset="-122"/>
              </a:rPr>
              <a:t>y </a:t>
            </a:r>
            <a:r>
              <a:rPr lang="en-US" altLang="zh-CN" sz="2000" dirty="0">
                <a:ea typeface="黑体" panose="02010609060101010101" pitchFamily="49" charset="-122"/>
              </a:rPr>
              <a:t>= 2 : 3</a:t>
            </a:r>
            <a:endParaRPr lang="zh-CN" altLang="en-US" sz="2000" dirty="0"/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/>
          <p:nvPr/>
        </p:nvSpPr>
        <p:spPr>
          <a:xfrm>
            <a:off x="250825" y="806450"/>
            <a:ext cx="8748713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3399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问题</a:t>
            </a:r>
            <a:r>
              <a:rPr lang="en-US" altLang="zh-CN" sz="2400" b="1" dirty="0">
                <a:solidFill>
                  <a:srgbClr val="FF3399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1</a:t>
            </a:r>
            <a:r>
              <a:rPr lang="zh-CN" altLang="en-US" sz="2400" b="1" dirty="0">
                <a:solidFill>
                  <a:srgbClr val="FF3399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：用李萨如图形测频率实验时，屏幕上图形在时刻转动，为什么？</a:t>
            </a:r>
            <a:endParaRPr lang="zh-CN" altLang="en-US" sz="2400" b="1" dirty="0">
              <a:solidFill>
                <a:srgbClr val="FF3399"/>
              </a:solidFill>
              <a:latin typeface="Arial" panose="020B0604020202020204" pitchFamily="34" charset="0"/>
              <a:ea typeface="华文隶书" panose="0201080004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733425" y="1674813"/>
            <a:ext cx="6777038" cy="3841750"/>
            <a:chOff x="462" y="1328"/>
            <a:chExt cx="4269" cy="2420"/>
          </a:xfrm>
        </p:grpSpPr>
        <p:pic>
          <p:nvPicPr>
            <p:cNvPr id="8197" name="Picture 4"/>
            <p:cNvPicPr>
              <a:picLocks noChangeAspect="1"/>
            </p:cNvPicPr>
            <p:nvPr/>
          </p:nvPicPr>
          <p:blipFill>
            <a:blip r:embed="rId1"/>
            <a:srcRect l="27849" t="12587" r="25635" b="18489"/>
            <a:stretch>
              <a:fillRect/>
            </a:stretch>
          </p:blipFill>
          <p:spPr>
            <a:xfrm>
              <a:off x="462" y="1328"/>
              <a:ext cx="1919" cy="213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8" name="Rectangle 5"/>
            <p:cNvSpPr/>
            <p:nvPr/>
          </p:nvSpPr>
          <p:spPr>
            <a:xfrm>
              <a:off x="612" y="3460"/>
              <a:ext cx="149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eaLnBrk="1" hangingPunct="1"/>
              <a:r>
                <a:rPr lang="zh-CN" altLang="en-US" sz="2400" b="1" dirty="0">
                  <a:solidFill>
                    <a:srgbClr val="FF3399"/>
                  </a:solidFill>
                  <a:latin typeface="Arial" panose="020B0604020202020204" pitchFamily="34" charset="0"/>
                  <a:ea typeface="华文隶书" panose="02010800040101010101" pitchFamily="2" charset="-122"/>
                </a:rPr>
                <a:t>相位差：</a:t>
              </a:r>
              <a:r>
                <a:rPr lang="en-US" altLang="zh-CN" sz="2400" b="1" dirty="0">
                  <a:solidFill>
                    <a:srgbClr val="FF3399"/>
                  </a:solidFill>
                  <a:latin typeface="Arial" panose="020B0604020202020204" pitchFamily="34" charset="0"/>
                  <a:ea typeface="华文隶书" panose="02010800040101010101" pitchFamily="2" charset="-122"/>
                </a:rPr>
                <a:t>90</a:t>
              </a:r>
              <a:r>
                <a:rPr lang="en-US" altLang="zh-CN" sz="2400" b="1" baseline="30000" dirty="0">
                  <a:solidFill>
                    <a:srgbClr val="FF3399"/>
                  </a:solidFill>
                  <a:latin typeface="Arial" panose="020B0604020202020204" pitchFamily="34" charset="0"/>
                  <a:ea typeface="华文隶书" panose="02010800040101010101" pitchFamily="2" charset="-122"/>
                </a:rPr>
                <a:t>0</a:t>
              </a:r>
              <a:endParaRPr lang="en-US" altLang="zh-CN" sz="2400" b="1" baseline="30000" dirty="0">
                <a:solidFill>
                  <a:srgbClr val="FF3399"/>
                </a:solidFill>
                <a:latin typeface="Arial" panose="020B0604020202020204" pitchFamily="34" charset="0"/>
                <a:ea typeface="华文隶书" panose="02010800040101010101" pitchFamily="2" charset="-122"/>
              </a:endParaRPr>
            </a:p>
          </p:txBody>
        </p:sp>
        <p:sp>
          <p:nvSpPr>
            <p:cNvPr id="8199" name="Rectangle 6"/>
            <p:cNvSpPr/>
            <p:nvPr/>
          </p:nvSpPr>
          <p:spPr>
            <a:xfrm>
              <a:off x="3098" y="3460"/>
              <a:ext cx="149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eaLnBrk="1" hangingPunct="1"/>
              <a:r>
                <a:rPr lang="zh-CN" altLang="en-US" sz="2400" b="1" dirty="0">
                  <a:solidFill>
                    <a:srgbClr val="FF3399"/>
                  </a:solidFill>
                  <a:latin typeface="Arial" panose="020B0604020202020204" pitchFamily="34" charset="0"/>
                  <a:ea typeface="华文隶书" panose="02010800040101010101" pitchFamily="2" charset="-122"/>
                </a:rPr>
                <a:t>相位差：</a:t>
              </a:r>
              <a:r>
                <a:rPr lang="en-US" altLang="zh-CN" sz="2400" b="1" dirty="0">
                  <a:solidFill>
                    <a:srgbClr val="FF3399"/>
                  </a:solidFill>
                  <a:latin typeface="Arial" panose="020B0604020202020204" pitchFamily="34" charset="0"/>
                  <a:ea typeface="华文隶书" panose="02010800040101010101" pitchFamily="2" charset="-122"/>
                </a:rPr>
                <a:t>45</a:t>
              </a:r>
              <a:r>
                <a:rPr lang="en-US" altLang="zh-CN" sz="2400" b="1" baseline="30000" dirty="0">
                  <a:solidFill>
                    <a:srgbClr val="FF3399"/>
                  </a:solidFill>
                  <a:latin typeface="Arial" panose="020B0604020202020204" pitchFamily="34" charset="0"/>
                  <a:ea typeface="华文隶书" panose="02010800040101010101" pitchFamily="2" charset="-122"/>
                </a:rPr>
                <a:t>0</a:t>
              </a:r>
              <a:endParaRPr lang="en-US" altLang="zh-CN" sz="2400" b="1" baseline="30000" dirty="0">
                <a:solidFill>
                  <a:srgbClr val="FF3399"/>
                </a:solidFill>
                <a:latin typeface="Arial" panose="020B0604020202020204" pitchFamily="34" charset="0"/>
                <a:ea typeface="华文隶书" panose="02010800040101010101" pitchFamily="2" charset="-122"/>
              </a:endParaRPr>
            </a:p>
          </p:txBody>
        </p:sp>
        <p:pic>
          <p:nvPicPr>
            <p:cNvPr id="7176" name="同频率垂直振动合成41.avi">
              <a:hlinkClick r:id="" action="ppaction://media"/>
            </p:cNvPr>
            <p:cNvPicPr>
              <a:picLocks noRot="1"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link="rId3"/>
                </p:ext>
              </p:extLst>
            </p:nvPr>
          </p:nvPicPr>
          <p:blipFill>
            <a:blip r:embed="rId4"/>
            <a:srcRect l="14122" t="6380" r="17239" b="12758"/>
            <a:stretch>
              <a:fillRect/>
            </a:stretch>
          </p:blipFill>
          <p:spPr>
            <a:xfrm>
              <a:off x="2880" y="1328"/>
              <a:ext cx="1851" cy="21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8196" name="Text Box 8"/>
          <p:cNvSpPr txBox="1"/>
          <p:nvPr/>
        </p:nvSpPr>
        <p:spPr>
          <a:xfrm>
            <a:off x="273050" y="101600"/>
            <a:ext cx="2954338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</a:rPr>
              <a:t>二、实验原理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4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19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矩形 120833"/>
          <p:cNvSpPr/>
          <p:nvPr/>
        </p:nvSpPr>
        <p:spPr>
          <a:xfrm>
            <a:off x="838200" y="990600"/>
            <a:ext cx="1905000" cy="48006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0835" name="文本框 120834"/>
          <p:cNvSpPr txBox="1"/>
          <p:nvPr/>
        </p:nvSpPr>
        <p:spPr>
          <a:xfrm>
            <a:off x="863600" y="1374775"/>
            <a:ext cx="1947863" cy="5254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sz="3200" dirty="0">
                <a:latin typeface="宋体" panose="02010600030101010101" pitchFamily="2" charset="-122"/>
              </a:rPr>
              <a:t>    两相互垂直同频率不同相位差简谐运动的合成图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sz="32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  <p:controls/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8" name="矩形 641027"/>
          <p:cNvSpPr/>
          <p:nvPr/>
        </p:nvSpPr>
        <p:spPr>
          <a:xfrm>
            <a:off x="611188" y="4783138"/>
            <a:ext cx="1871662" cy="406400"/>
          </a:xfrm>
          <a:prstGeom prst="rect">
            <a:avLst/>
          </a:prstGeom>
          <a:noFill/>
          <a:ln w="9525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r>
              <a:rPr lang="en-US" altLang="zh-CN" b="1">
                <a:latin typeface="Arial" panose="020B0604020202020204" pitchFamily="34" charset="0"/>
                <a:ea typeface="华文中宋" panose="02010600040101010101" pitchFamily="2" charset="-122"/>
              </a:rPr>
              <a:t>Vertical</a:t>
            </a:r>
            <a:r>
              <a:rPr lang="zh-CN" altLang="en-US" b="1" dirty="0">
                <a:latin typeface="Arial" panose="020B0604020202020204" pitchFamily="34" charset="0"/>
                <a:ea typeface="华文中宋" panose="02010600040101010101" pitchFamily="2" charset="-122"/>
              </a:rPr>
              <a:t>：垂直</a:t>
            </a:r>
            <a:endParaRPr lang="zh-CN" altLang="en-US" b="1" dirty="0"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1029" name="矩形 641028"/>
          <p:cNvSpPr/>
          <p:nvPr/>
        </p:nvSpPr>
        <p:spPr>
          <a:xfrm>
            <a:off x="3381375" y="4783138"/>
            <a:ext cx="4011613" cy="406400"/>
          </a:xfrm>
          <a:prstGeom prst="rect">
            <a:avLst/>
          </a:prstGeom>
          <a:noFill/>
          <a:ln w="9525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r>
              <a:rPr lang="en-US" altLang="zh-CN" b="1">
                <a:latin typeface="Arial" panose="020B0604020202020204" pitchFamily="34" charset="0"/>
                <a:ea typeface="华文中宋" panose="02010600040101010101" pitchFamily="2" charset="-122"/>
              </a:rPr>
              <a:t>horizontal [</a:t>
            </a:r>
            <a:r>
              <a:rPr lang="zh-CN" altLang="en-US" b="1" dirty="0">
                <a:latin typeface="Arial" panose="020B0604020202020204" pitchFamily="34" charset="0"/>
                <a:ea typeface="华文中宋" panose="02010600040101010101" pitchFamily="2" charset="-122"/>
              </a:rPr>
              <a:t>英</a:t>
            </a:r>
            <a:r>
              <a:rPr lang="en-US" altLang="zh-CN" b="1">
                <a:latin typeface="Arial" panose="020B0604020202020204" pitchFamily="34" charset="0"/>
                <a:ea typeface="华文中宋" panose="02010600040101010101" pitchFamily="2" charset="-122"/>
              </a:rPr>
              <a:t>] [</a:t>
            </a:r>
            <a:r>
              <a:rPr lang="en-US" altLang="zh-CN" b="1" dirty="0" err="1">
                <a:latin typeface="Arial" panose="020B0604020202020204" pitchFamily="34" charset="0"/>
                <a:ea typeface="华文中宋" panose="02010600040101010101" pitchFamily="2" charset="-122"/>
              </a:rPr>
              <a:t>hɔrizɔntəl</a:t>
            </a:r>
            <a:r>
              <a:rPr lang="zh-CN" altLang="en-US" b="1" dirty="0">
                <a:latin typeface="Arial" panose="020B0604020202020204" pitchFamily="34" charset="0"/>
                <a:ea typeface="华文中宋" panose="02010600040101010101" pitchFamily="2" charset="-122"/>
              </a:rPr>
              <a:t>：水平 </a:t>
            </a:r>
            <a:endParaRPr lang="zh-CN" altLang="en-US" b="1" dirty="0"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1030" name="矩形 641029"/>
          <p:cNvSpPr/>
          <p:nvPr/>
        </p:nvSpPr>
        <p:spPr>
          <a:xfrm>
            <a:off x="452438" y="5553075"/>
            <a:ext cx="5845175" cy="406400"/>
          </a:xfrm>
          <a:prstGeom prst="rect">
            <a:avLst/>
          </a:prstGeom>
          <a:noFill/>
          <a:ln w="9525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r>
              <a:rPr lang="en-US" altLang="zh-CN" b="1">
                <a:latin typeface="Arial" panose="020B0604020202020204" pitchFamily="34" charset="0"/>
                <a:ea typeface="华文中宋" panose="02010600040101010101" pitchFamily="2" charset="-122"/>
              </a:rPr>
              <a:t>trigger [</a:t>
            </a:r>
            <a:r>
              <a:rPr lang="zh-CN" altLang="en-US" b="1" dirty="0">
                <a:latin typeface="Arial" panose="020B0604020202020204" pitchFamily="34" charset="0"/>
                <a:ea typeface="华文中宋" panose="02010600040101010101" pitchFamily="2" charset="-122"/>
              </a:rPr>
              <a:t>英</a:t>
            </a:r>
            <a:r>
              <a:rPr lang="en-US" altLang="zh-CN" b="1">
                <a:latin typeface="Arial" panose="020B0604020202020204" pitchFamily="34" charset="0"/>
                <a:ea typeface="华文中宋" panose="02010600040101010101" pitchFamily="2" charset="-122"/>
              </a:rPr>
              <a:t>] [</a:t>
            </a:r>
            <a:r>
              <a:rPr lang="en-US" altLang="zh-CN" b="1" dirty="0" err="1">
                <a:latin typeface="Arial" panose="020B0604020202020204" pitchFamily="34" charset="0"/>
                <a:ea typeface="华文中宋" panose="02010600040101010101" pitchFamily="2" charset="-122"/>
              </a:rPr>
              <a:t>triɡə</a:t>
            </a:r>
            <a:r>
              <a:rPr lang="zh-CN" altLang="en-US" b="1">
                <a:latin typeface="Arial" panose="020B0604020202020204" pitchFamily="34" charset="0"/>
                <a:ea typeface="华文中宋" panose="02010600040101010101" pitchFamily="2" charset="-122"/>
              </a:rPr>
              <a:t>】</a:t>
            </a:r>
            <a:r>
              <a:rPr lang="zh-CN" altLang="en-US" b="1" dirty="0">
                <a:latin typeface="Arial" panose="020B0604020202020204" pitchFamily="34" charset="0"/>
                <a:ea typeface="华文中宋" panose="02010600040101010101" pitchFamily="2" charset="-122"/>
                <a:sym typeface="Wingdings" panose="05000000000000000000" pitchFamily="2" charset="2"/>
              </a:rPr>
              <a:t>（</a:t>
            </a:r>
            <a:r>
              <a:rPr lang="zh-CN" altLang="en-US" b="1" dirty="0">
                <a:latin typeface="Arial" panose="020B0604020202020204" pitchFamily="34" charset="0"/>
                <a:ea typeface="华文中宋" panose="02010600040101010101" pitchFamily="2" charset="-122"/>
              </a:rPr>
              <a:t>扳机</a:t>
            </a:r>
            <a:r>
              <a:rPr lang="en-US" altLang="zh-CN" b="1">
                <a:latin typeface="Arial" panose="020B0604020202020204" pitchFamily="34" charset="0"/>
                <a:ea typeface="华文中宋" panose="02010600040101010101" pitchFamily="2" charset="-122"/>
              </a:rPr>
              <a:t>2. </a:t>
            </a:r>
            <a:r>
              <a:rPr lang="zh-CN" altLang="en-US" b="1" dirty="0">
                <a:latin typeface="Arial" panose="020B0604020202020204" pitchFamily="34" charset="0"/>
                <a:ea typeface="华文中宋" panose="02010600040101010101" pitchFamily="2" charset="-122"/>
              </a:rPr>
              <a:t>引 爆器）：触发控制</a:t>
            </a:r>
            <a:endParaRPr lang="zh-CN" altLang="en-US" b="1" dirty="0"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pSp>
        <p:nvGrpSpPr>
          <p:cNvPr id="641031" name="组合 641030"/>
          <p:cNvGrpSpPr/>
          <p:nvPr/>
        </p:nvGrpSpPr>
        <p:grpSpPr>
          <a:xfrm>
            <a:off x="452438" y="822325"/>
            <a:ext cx="6856412" cy="3084513"/>
            <a:chOff x="-46" y="142"/>
            <a:chExt cx="5806" cy="3020"/>
          </a:xfrm>
        </p:grpSpPr>
        <p:grpSp>
          <p:nvGrpSpPr>
            <p:cNvPr id="641032" name="组合 641031"/>
            <p:cNvGrpSpPr/>
            <p:nvPr/>
          </p:nvGrpSpPr>
          <p:grpSpPr>
            <a:xfrm>
              <a:off x="-46" y="142"/>
              <a:ext cx="5806" cy="3020"/>
              <a:chOff x="-46" y="845"/>
              <a:chExt cx="5806" cy="3020"/>
            </a:xfrm>
          </p:grpSpPr>
          <p:grpSp>
            <p:nvGrpSpPr>
              <p:cNvPr id="641033" name="组合 641032"/>
              <p:cNvGrpSpPr/>
              <p:nvPr/>
            </p:nvGrpSpPr>
            <p:grpSpPr>
              <a:xfrm>
                <a:off x="-46" y="845"/>
                <a:ext cx="5806" cy="3020"/>
                <a:chOff x="-46" y="709"/>
                <a:chExt cx="5806" cy="3020"/>
              </a:xfrm>
            </p:grpSpPr>
            <p:pic>
              <p:nvPicPr>
                <p:cNvPr id="641034" name="图片 641033" descr="图片2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-46" y="709"/>
                  <a:ext cx="5806" cy="302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641035" name="图片 641034" descr="W]0Q~_IK{]$6AU7$9ZAN1HT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85" y="830"/>
                  <a:ext cx="596" cy="11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641036" name="图片 641035" descr="W]0Q~_IK{]$6AU7$9ZAN1HT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819" y="869"/>
                  <a:ext cx="596" cy="1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sp>
            <p:nvSpPr>
              <p:cNvPr id="641037" name="文本框 641036"/>
              <p:cNvSpPr txBox="1"/>
              <p:nvPr/>
            </p:nvSpPr>
            <p:spPr>
              <a:xfrm>
                <a:off x="903" y="926"/>
                <a:ext cx="890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1600">
                    <a:solidFill>
                      <a:srgbClr val="003300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rPr>
                  <a:t>DS1052E</a:t>
                </a:r>
                <a:endParaRPr lang="en-US" altLang="zh-CN" sz="1600">
                  <a:solidFill>
                    <a:srgbClr val="003300"/>
                  </a:solidFill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</p:grpSp>
        <p:pic>
          <p:nvPicPr>
            <p:cNvPr id="641038" name="图片 641037" descr="H]Y1X$P@YRX8_E}V17K7S0H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334" y="1849"/>
              <a:ext cx="252" cy="1726"/>
            </a:xfrm>
            <a:prstGeom prst="rect">
              <a:avLst/>
            </a:prstGeom>
            <a:noFill/>
            <a:ln w="9525">
              <a:noFill/>
            </a:ln>
            <a:effectLst>
              <a:prstShdw prst="shdw17" dist="17961" dir="13499999">
                <a:srgbClr val="FFFFFF">
                  <a:gamma/>
                  <a:shade val="60000"/>
                  <a:invGamma/>
                </a:srgbClr>
              </a:prstShdw>
            </a:effectLst>
          </p:spPr>
        </p:pic>
      </p:grpSp>
      <p:sp>
        <p:nvSpPr>
          <p:cNvPr id="641039" name="矩形 641038"/>
          <p:cNvSpPr/>
          <p:nvPr/>
        </p:nvSpPr>
        <p:spPr>
          <a:xfrm>
            <a:off x="611188" y="4005263"/>
            <a:ext cx="2141537" cy="406400"/>
          </a:xfrm>
          <a:prstGeom prst="rect">
            <a:avLst/>
          </a:prstGeom>
          <a:noFill/>
          <a:ln w="9525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r>
              <a:rPr lang="en-US" altLang="zh-CN" b="1">
                <a:latin typeface="Arial" panose="020B0604020202020204" pitchFamily="34" charset="0"/>
                <a:ea typeface="华文中宋" panose="02010600040101010101" pitchFamily="2" charset="-122"/>
              </a:rPr>
              <a:t>menu</a:t>
            </a:r>
            <a:r>
              <a:rPr lang="zh-CN" altLang="en-US" b="1" dirty="0">
                <a:latin typeface="Arial" panose="020B0604020202020204" pitchFamily="34" charset="0"/>
                <a:ea typeface="华文中宋" panose="02010600040101010101" pitchFamily="2" charset="-122"/>
              </a:rPr>
              <a:t>：常用菜单</a:t>
            </a:r>
            <a:endParaRPr lang="zh-CN" altLang="en-US" b="1" dirty="0"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1040" name="矩形 641039"/>
          <p:cNvSpPr/>
          <p:nvPr/>
        </p:nvSpPr>
        <p:spPr>
          <a:xfrm>
            <a:off x="3816350" y="4005263"/>
            <a:ext cx="3397250" cy="406400"/>
          </a:xfrm>
          <a:prstGeom prst="rect">
            <a:avLst/>
          </a:prstGeom>
          <a:noFill/>
          <a:ln w="9525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r>
              <a:rPr lang="en-US" altLang="zh-CN" b="1">
                <a:latin typeface="Arial" panose="020B0604020202020204" pitchFamily="34" charset="0"/>
                <a:ea typeface="华文中宋" panose="02010600040101010101" pitchFamily="2" charset="-122"/>
              </a:rPr>
              <a:t>Run control</a:t>
            </a:r>
            <a:r>
              <a:rPr lang="zh-CN" altLang="en-US" b="1" dirty="0">
                <a:latin typeface="Arial" panose="020B0604020202020204" pitchFamily="34" charset="0"/>
                <a:ea typeface="华文中宋" panose="02010600040101010101" pitchFamily="2" charset="-122"/>
              </a:rPr>
              <a:t>：运行控制菜单</a:t>
            </a:r>
            <a:endParaRPr lang="zh-CN" altLang="en-US" b="1" dirty="0"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1041" name="文本框 641040"/>
          <p:cNvSpPr txBox="1"/>
          <p:nvPr/>
        </p:nvSpPr>
        <p:spPr>
          <a:xfrm>
            <a:off x="273050" y="101600"/>
            <a:ext cx="20129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实验仪器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1042" name="直接连接符 641041"/>
          <p:cNvSpPr/>
          <p:nvPr/>
        </p:nvSpPr>
        <p:spPr>
          <a:xfrm flipV="1">
            <a:off x="2286000" y="1120775"/>
            <a:ext cx="3222625" cy="27860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1043" name="直接连接符 641042"/>
          <p:cNvSpPr/>
          <p:nvPr/>
        </p:nvSpPr>
        <p:spPr>
          <a:xfrm flipV="1">
            <a:off x="5508625" y="1700213"/>
            <a:ext cx="1439863" cy="38528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1044" name="直接连接符 641043"/>
          <p:cNvSpPr/>
          <p:nvPr/>
        </p:nvSpPr>
        <p:spPr>
          <a:xfrm flipV="1">
            <a:off x="5508625" y="1062038"/>
            <a:ext cx="1223963" cy="29432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1045" name="直接连接符 641044"/>
          <p:cNvSpPr/>
          <p:nvPr/>
        </p:nvSpPr>
        <p:spPr>
          <a:xfrm flipV="1">
            <a:off x="4430713" y="1700213"/>
            <a:ext cx="1724025" cy="30829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1047" name="直接连接符 641046"/>
          <p:cNvSpPr/>
          <p:nvPr/>
        </p:nvSpPr>
        <p:spPr>
          <a:xfrm flipV="1">
            <a:off x="2482850" y="1700213"/>
            <a:ext cx="2809875" cy="30829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0014" name="组合 640013"/>
          <p:cNvGrpSpPr/>
          <p:nvPr/>
        </p:nvGrpSpPr>
        <p:grpSpPr>
          <a:xfrm>
            <a:off x="-73025" y="611188"/>
            <a:ext cx="9217025" cy="4794250"/>
            <a:chOff x="-46" y="142"/>
            <a:chExt cx="5806" cy="3020"/>
          </a:xfrm>
        </p:grpSpPr>
        <p:grpSp>
          <p:nvGrpSpPr>
            <p:cNvPr id="640013" name="组合 640012"/>
            <p:cNvGrpSpPr/>
            <p:nvPr/>
          </p:nvGrpSpPr>
          <p:grpSpPr>
            <a:xfrm>
              <a:off x="-46" y="142"/>
              <a:ext cx="5806" cy="3020"/>
              <a:chOff x="-46" y="845"/>
              <a:chExt cx="5806" cy="3020"/>
            </a:xfrm>
          </p:grpSpPr>
          <p:grpSp>
            <p:nvGrpSpPr>
              <p:cNvPr id="640012" name="组合 640011"/>
              <p:cNvGrpSpPr/>
              <p:nvPr/>
            </p:nvGrpSpPr>
            <p:grpSpPr>
              <a:xfrm>
                <a:off x="-46" y="845"/>
                <a:ext cx="5806" cy="3020"/>
                <a:chOff x="-46" y="709"/>
                <a:chExt cx="5806" cy="3020"/>
              </a:xfrm>
            </p:grpSpPr>
            <p:pic>
              <p:nvPicPr>
                <p:cNvPr id="640005" name="图片 640004" descr="图片2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-46" y="709"/>
                  <a:ext cx="5806" cy="302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640008" name="图片 640007" descr="W]0Q~_IK{]$6AU7$9ZAN1HT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85" y="830"/>
                  <a:ext cx="596" cy="11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640010" name="图片 640009" descr="W]0Q~_IK{]$6AU7$9ZAN1HT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819" y="869"/>
                  <a:ext cx="596" cy="1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sp>
            <p:nvSpPr>
              <p:cNvPr id="640009" name="文本框 640008"/>
              <p:cNvSpPr txBox="1"/>
              <p:nvPr/>
            </p:nvSpPr>
            <p:spPr>
              <a:xfrm>
                <a:off x="903" y="927"/>
                <a:ext cx="66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1600">
                    <a:solidFill>
                      <a:srgbClr val="003300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rPr>
                  <a:t>DS1052E</a:t>
                </a:r>
                <a:endParaRPr lang="en-US" altLang="zh-CN" sz="1600">
                  <a:solidFill>
                    <a:srgbClr val="003300"/>
                  </a:solidFill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</p:grpSp>
        <p:pic>
          <p:nvPicPr>
            <p:cNvPr id="640006" name="图片 640005" descr="H]Y1X$P@YRX8_E}V17K7S0H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334" y="1849"/>
              <a:ext cx="252" cy="1726"/>
            </a:xfrm>
            <a:prstGeom prst="rect">
              <a:avLst/>
            </a:prstGeom>
            <a:noFill/>
            <a:ln w="9525">
              <a:noFill/>
            </a:ln>
            <a:effectLst>
              <a:prstShdw prst="shdw17" dist="17961" dir="13499999">
                <a:srgbClr val="FFFFFF">
                  <a:gamma/>
                  <a:shade val="60000"/>
                  <a:invGamma/>
                </a:srgbClr>
              </a:prstShdw>
            </a:effectLst>
          </p:spPr>
        </p:pic>
      </p:grpSp>
      <p:sp>
        <p:nvSpPr>
          <p:cNvPr id="640017" name="圆角矩形标注 640016"/>
          <p:cNvSpPr/>
          <p:nvPr/>
        </p:nvSpPr>
        <p:spPr>
          <a:xfrm>
            <a:off x="-73025" y="5645150"/>
            <a:ext cx="2084388" cy="360363"/>
          </a:xfrm>
          <a:prstGeom prst="wedgeRoundRectCallout">
            <a:avLst>
              <a:gd name="adj1" fmla="val 32255"/>
              <a:gd name="adj2" fmla="val -272028"/>
              <a:gd name="adj3" fmla="val 16667"/>
            </a:avLst>
          </a:pr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en-US" altLang="zh-CN" b="1">
                <a:solidFill>
                  <a:srgbClr val="333333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USB</a:t>
            </a:r>
            <a:r>
              <a:rPr lang="zh-CN" altLang="en-US" b="1" dirty="0">
                <a:solidFill>
                  <a:srgbClr val="333333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接口</a:t>
            </a:r>
            <a:endParaRPr lang="zh-CN" altLang="en-US" b="1" dirty="0">
              <a:solidFill>
                <a:srgbClr val="333333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0018" name="圆角矩形标注 640017"/>
          <p:cNvSpPr/>
          <p:nvPr/>
        </p:nvSpPr>
        <p:spPr>
          <a:xfrm>
            <a:off x="-74612" y="3716338"/>
            <a:ext cx="2084387" cy="360362"/>
          </a:xfrm>
          <a:prstGeom prst="wedgeRoundRectCallout">
            <a:avLst>
              <a:gd name="adj1" fmla="val 69269"/>
              <a:gd name="adj2" fmla="val -135023"/>
              <a:gd name="adj3" fmla="val 16667"/>
            </a:avLst>
          </a:pr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333333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液晶显示屏</a:t>
            </a:r>
            <a:endParaRPr lang="zh-CN" altLang="en-US" b="1" dirty="0">
              <a:solidFill>
                <a:srgbClr val="333333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0019" name="圆角矩形 640018"/>
          <p:cNvSpPr/>
          <p:nvPr/>
        </p:nvSpPr>
        <p:spPr>
          <a:xfrm>
            <a:off x="6227763" y="984250"/>
            <a:ext cx="1439862" cy="788988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0021" name="圆角矩形标注 640020"/>
          <p:cNvSpPr/>
          <p:nvPr/>
        </p:nvSpPr>
        <p:spPr>
          <a:xfrm>
            <a:off x="4143375" y="250825"/>
            <a:ext cx="2084388" cy="360363"/>
          </a:xfrm>
          <a:prstGeom prst="wedgeRoundRectCallout">
            <a:avLst>
              <a:gd name="adj1" fmla="val 55713"/>
              <a:gd name="adj2" fmla="val 157046"/>
              <a:gd name="adj3" fmla="val 16667"/>
            </a:avLst>
          </a:pr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333333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常用菜单</a:t>
            </a:r>
            <a:endParaRPr lang="zh-CN" altLang="en-US" b="1" dirty="0">
              <a:solidFill>
                <a:srgbClr val="333333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0030" name="圆角矩形 640029"/>
          <p:cNvSpPr/>
          <p:nvPr/>
        </p:nvSpPr>
        <p:spPr>
          <a:xfrm>
            <a:off x="7775575" y="984250"/>
            <a:ext cx="1260475" cy="788988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0031" name="圆角矩形标注 640030"/>
          <p:cNvSpPr/>
          <p:nvPr/>
        </p:nvSpPr>
        <p:spPr>
          <a:xfrm>
            <a:off x="5867400" y="69850"/>
            <a:ext cx="2087563" cy="360363"/>
          </a:xfrm>
          <a:prstGeom prst="wedgeRoundRectCallout">
            <a:avLst>
              <a:gd name="adj1" fmla="val 72130"/>
              <a:gd name="adj2" fmla="val 146917"/>
              <a:gd name="adj3" fmla="val 16667"/>
            </a:avLst>
          </a:pr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运行控制菜单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640032" name="图片 640031" descr="]WZYOV__Y`68}JM8IDJTP1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2925" y="3409950"/>
            <a:ext cx="674688" cy="4333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0034" name="椭圆 640033"/>
          <p:cNvSpPr/>
          <p:nvPr/>
        </p:nvSpPr>
        <p:spPr>
          <a:xfrm>
            <a:off x="4818063" y="1601788"/>
            <a:ext cx="649287" cy="2374900"/>
          </a:xfrm>
          <a:prstGeom prst="ellipse">
            <a:avLst/>
          </a:prstGeom>
          <a:noFill/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0037" name="圆角矩形标注 640036"/>
          <p:cNvSpPr/>
          <p:nvPr/>
        </p:nvSpPr>
        <p:spPr>
          <a:xfrm>
            <a:off x="1844675" y="69850"/>
            <a:ext cx="2084388" cy="360363"/>
          </a:xfrm>
          <a:prstGeom prst="wedgeRoundRectCallout">
            <a:avLst>
              <a:gd name="adj1" fmla="val 103236"/>
              <a:gd name="adj2" fmla="val 392731"/>
              <a:gd name="adj3" fmla="val 16667"/>
            </a:avLst>
          </a:pr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333333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菜单操作键</a:t>
            </a:r>
            <a:endParaRPr lang="zh-CN" altLang="en-US" b="1" dirty="0">
              <a:solidFill>
                <a:srgbClr val="333333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0038" name="椭圆 640037"/>
          <p:cNvSpPr/>
          <p:nvPr/>
        </p:nvSpPr>
        <p:spPr>
          <a:xfrm>
            <a:off x="5622925" y="1900238"/>
            <a:ext cx="604838" cy="1943100"/>
          </a:xfrm>
          <a:prstGeom prst="ellipse">
            <a:avLst/>
          </a:prstGeom>
          <a:noFill/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0040" name="圆角矩形标注 640039"/>
          <p:cNvSpPr/>
          <p:nvPr/>
        </p:nvSpPr>
        <p:spPr>
          <a:xfrm>
            <a:off x="4143375" y="5824538"/>
            <a:ext cx="2444750" cy="360362"/>
          </a:xfrm>
          <a:prstGeom prst="wedgeRoundRectCallout">
            <a:avLst>
              <a:gd name="adj1" fmla="val 55519"/>
              <a:gd name="adj2" fmla="val -617843"/>
              <a:gd name="adj3" fmla="val 16667"/>
            </a:avLst>
          </a:pr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信号电压灵敏度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0041" name="圆角矩形标注 640040"/>
          <p:cNvSpPr/>
          <p:nvPr/>
        </p:nvSpPr>
        <p:spPr>
          <a:xfrm>
            <a:off x="6242050" y="5284788"/>
            <a:ext cx="2433638" cy="360362"/>
          </a:xfrm>
          <a:prstGeom prst="wedgeRoundRectCallout">
            <a:avLst>
              <a:gd name="adj1" fmla="val 16273"/>
              <a:gd name="adj2" fmla="val -468060"/>
              <a:gd name="adj3" fmla="val 16667"/>
            </a:avLst>
          </a:pr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扫描时间控制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0042" name="椭圆 640041"/>
          <p:cNvSpPr/>
          <p:nvPr/>
        </p:nvSpPr>
        <p:spPr>
          <a:xfrm>
            <a:off x="8372475" y="2033588"/>
            <a:ext cx="604838" cy="1943100"/>
          </a:xfrm>
          <a:prstGeom prst="ellipse">
            <a:avLst/>
          </a:prstGeom>
          <a:noFill/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0043" name="圆角矩形标注 640042"/>
          <p:cNvSpPr/>
          <p:nvPr/>
        </p:nvSpPr>
        <p:spPr>
          <a:xfrm>
            <a:off x="2535238" y="2033588"/>
            <a:ext cx="2084387" cy="360362"/>
          </a:xfrm>
          <a:prstGeom prst="wedgeRoundRectCallout">
            <a:avLst>
              <a:gd name="adj1" fmla="val 111537"/>
              <a:gd name="adj2" fmla="val 138986"/>
              <a:gd name="adj3" fmla="val 16667"/>
            </a:avLst>
          </a:pr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通道选择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0044" name="圆角矩形标注 640043"/>
          <p:cNvSpPr/>
          <p:nvPr/>
        </p:nvSpPr>
        <p:spPr>
          <a:xfrm>
            <a:off x="7329488" y="1773238"/>
            <a:ext cx="2084387" cy="360362"/>
          </a:xfrm>
          <a:prstGeom prst="wedgeRoundRectCallout">
            <a:avLst>
              <a:gd name="adj1" fmla="val -1333"/>
              <a:gd name="adj2" fmla="val 195375"/>
              <a:gd name="adj3" fmla="val 16667"/>
            </a:avLst>
          </a:pr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333333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触发选择</a:t>
            </a:r>
            <a:endParaRPr lang="zh-CN" altLang="en-US" b="1" dirty="0">
              <a:solidFill>
                <a:srgbClr val="333333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0045" name="圆角矩形标注 640044"/>
          <p:cNvSpPr/>
          <p:nvPr/>
        </p:nvSpPr>
        <p:spPr>
          <a:xfrm>
            <a:off x="5076825" y="3976688"/>
            <a:ext cx="1514475" cy="874712"/>
          </a:xfrm>
          <a:prstGeom prst="wedgeRoundRectCallout">
            <a:avLst>
              <a:gd name="adj1" fmla="val 58912"/>
              <a:gd name="adj2" fmla="val -225134"/>
              <a:gd name="adj3" fmla="val 16667"/>
            </a:avLst>
          </a:pr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垂直位置控制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0046" name="圆角矩形标注 640045"/>
          <p:cNvSpPr/>
          <p:nvPr/>
        </p:nvSpPr>
        <p:spPr>
          <a:xfrm>
            <a:off x="7018338" y="3405188"/>
            <a:ext cx="1514475" cy="874712"/>
          </a:xfrm>
          <a:prstGeom prst="wedgeRoundRectCallout">
            <a:avLst>
              <a:gd name="adj1" fmla="val -7755"/>
              <a:gd name="adj2" fmla="val -161796"/>
              <a:gd name="adj3" fmla="val 16667"/>
            </a:avLst>
          </a:pr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水平位置控制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0047" name="圆角矩形标注 640046"/>
          <p:cNvSpPr/>
          <p:nvPr/>
        </p:nvSpPr>
        <p:spPr>
          <a:xfrm>
            <a:off x="3576638" y="684213"/>
            <a:ext cx="2084387" cy="360362"/>
          </a:xfrm>
          <a:prstGeom prst="wedgeRoundRectCallout">
            <a:avLst>
              <a:gd name="adj1" fmla="val 55713"/>
              <a:gd name="adj2" fmla="val 157046"/>
              <a:gd name="adj3" fmla="val 16667"/>
            </a:avLst>
          </a:pr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333333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多功能钮</a:t>
            </a:r>
            <a:endParaRPr lang="zh-CN" altLang="en-US" b="1" dirty="0">
              <a:solidFill>
                <a:srgbClr val="333333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40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40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4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4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40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40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40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4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40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40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40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40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40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40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40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640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0017" grpId="0" bldLvl="0" animBg="1"/>
      <p:bldP spid="640018" grpId="0" bldLvl="0" animBg="1"/>
      <p:bldP spid="640021" grpId="0" bldLvl="0" animBg="1"/>
      <p:bldP spid="640031" grpId="0" bldLvl="0" animBg="1"/>
      <p:bldP spid="640037" grpId="0" bldLvl="0" animBg="1"/>
      <p:bldP spid="640040" grpId="0" bldLvl="0" animBg="1"/>
      <p:bldP spid="640041" grpId="0" bldLvl="0" animBg="1"/>
      <p:bldP spid="640043" grpId="0" bldLvl="0" animBg="1"/>
      <p:bldP spid="640044" grpId="0" bldLvl="0" animBg="1"/>
      <p:bldP spid="640045" grpId="0" bldLvl="0" animBg="1"/>
      <p:bldP spid="640046" grpId="0" bldLvl="0" animBg="1"/>
      <p:bldP spid="640047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文本框 608257"/>
          <p:cNvSpPr txBox="1"/>
          <p:nvPr/>
        </p:nvSpPr>
        <p:spPr>
          <a:xfrm>
            <a:off x="273050" y="115888"/>
            <a:ext cx="42735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常用菜单</a:t>
            </a:r>
            <a:r>
              <a:rPr lang="en-US" altLang="zh-CN" sz="3600" b="1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MENU</a:t>
            </a:r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介绍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08284" name="矩形 608283"/>
          <p:cNvSpPr/>
          <p:nvPr/>
        </p:nvSpPr>
        <p:spPr>
          <a:xfrm>
            <a:off x="3708400" y="742950"/>
            <a:ext cx="5332413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33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measure</a:t>
            </a:r>
            <a:r>
              <a:rPr lang="zh-CN" altLang="en-US" sz="2400" b="1" dirty="0">
                <a:solidFill>
                  <a:srgbClr val="0033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（侧量）：信源选择、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电压测量</a:t>
            </a:r>
            <a:r>
              <a:rPr lang="zh-CN" altLang="en-US" sz="2400" b="1" dirty="0">
                <a:solidFill>
                  <a:srgbClr val="0033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、时间测量、清除测量、全部测量、关闭</a:t>
            </a:r>
            <a:endParaRPr lang="zh-CN" altLang="en-US" sz="2400" b="1" dirty="0">
              <a:solidFill>
                <a:srgbClr val="0033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08285" name="矩形 608284"/>
          <p:cNvSpPr/>
          <p:nvPr/>
        </p:nvSpPr>
        <p:spPr>
          <a:xfrm>
            <a:off x="3708400" y="1905000"/>
            <a:ext cx="5332413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33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Acquirer</a:t>
            </a:r>
            <a:r>
              <a:rPr lang="zh-CN" altLang="en-US" sz="2400" b="1" dirty="0">
                <a:solidFill>
                  <a:srgbClr val="0033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（获取方式）：普通、平均、峰值检测</a:t>
            </a:r>
            <a:endParaRPr lang="zh-CN" altLang="en-US" sz="2400" b="1" dirty="0">
              <a:solidFill>
                <a:srgbClr val="0033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08286" name="矩形 608285"/>
          <p:cNvSpPr/>
          <p:nvPr/>
        </p:nvSpPr>
        <p:spPr>
          <a:xfrm>
            <a:off x="565150" y="2894013"/>
            <a:ext cx="84756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33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storage</a:t>
            </a:r>
            <a:r>
              <a:rPr lang="zh-CN" altLang="en-US" sz="2400" b="1" dirty="0">
                <a:solidFill>
                  <a:srgbClr val="0033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（存储方式）：存储类型、波形存储、内部存储</a:t>
            </a:r>
            <a:endParaRPr lang="zh-CN" altLang="en-US" sz="2400" b="1" dirty="0">
              <a:solidFill>
                <a:srgbClr val="0033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08287" name="矩形 608286"/>
          <p:cNvSpPr/>
          <p:nvPr/>
        </p:nvSpPr>
        <p:spPr>
          <a:xfrm>
            <a:off x="565150" y="3351213"/>
            <a:ext cx="7899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33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Cursor</a:t>
            </a:r>
            <a:r>
              <a:rPr lang="zh-CN" altLang="en-US" sz="2400" b="1" dirty="0">
                <a:solidFill>
                  <a:srgbClr val="0033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b="1" dirty="0" err="1">
                <a:latin typeface="Arial" panose="020B0604020202020204" pitchFamily="34" charset="0"/>
                <a:ea typeface="华文中宋" panose="02010600040101010101" pitchFamily="2" charset="-122"/>
              </a:rPr>
              <a:t>kɜ:sə</a:t>
            </a:r>
            <a:r>
              <a:rPr lang="zh-CN" altLang="en-US" b="1" dirty="0">
                <a:latin typeface="Arial" panose="020B0604020202020204" pitchFamily="34" charset="0"/>
                <a:ea typeface="华文中宋" panose="02010600040101010101" pitchFamily="2" charset="-122"/>
              </a:rPr>
              <a:t>）</a:t>
            </a:r>
            <a:r>
              <a:rPr lang="zh-CN" altLang="en-US" dirty="0">
                <a:latin typeface="Arial" panose="020B0604020202020204" pitchFamily="34" charset="0"/>
                <a:ea typeface="华文中宋" panose="02010600040101010101" pitchFamily="2" charset="-122"/>
              </a:rPr>
              <a:t> </a:t>
            </a:r>
            <a:r>
              <a:rPr lang="zh-CN" altLang="en-US" sz="2400" b="1" dirty="0">
                <a:solidFill>
                  <a:srgbClr val="0033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（光标方式）：光标模式、光标类型、信源选择</a:t>
            </a:r>
            <a:endParaRPr lang="zh-CN" altLang="en-US" sz="2400" b="1" dirty="0">
              <a:solidFill>
                <a:srgbClr val="0033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08288" name="图片 608287" descr="432MH7`R3LB{3GLWOGCQTH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908050"/>
            <a:ext cx="3171825" cy="1819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8289" name="矩形 608288"/>
          <p:cNvSpPr/>
          <p:nvPr/>
        </p:nvSpPr>
        <p:spPr>
          <a:xfrm>
            <a:off x="565150" y="4173538"/>
            <a:ext cx="7899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33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display</a:t>
            </a:r>
            <a:r>
              <a:rPr lang="zh-CN" altLang="en-US" sz="2400" b="1" dirty="0">
                <a:solidFill>
                  <a:srgbClr val="0033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（显示）：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显示类型</a:t>
            </a:r>
            <a:r>
              <a:rPr lang="zh-CN" altLang="en-US" sz="2400" b="1" dirty="0">
                <a:solidFill>
                  <a:srgbClr val="0033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、清楚显示、波形保持、波形亮度</a:t>
            </a:r>
            <a:endParaRPr lang="zh-CN" altLang="en-US" sz="2400" b="1" dirty="0">
              <a:solidFill>
                <a:srgbClr val="0033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08290" name="矩形 608289"/>
          <p:cNvSpPr/>
          <p:nvPr/>
        </p:nvSpPr>
        <p:spPr>
          <a:xfrm>
            <a:off x="565150" y="5229225"/>
            <a:ext cx="7899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33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utility</a:t>
            </a:r>
            <a:r>
              <a:rPr lang="zh-CN" altLang="en-US" sz="2400" b="1" dirty="0">
                <a:solidFill>
                  <a:srgbClr val="0033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（工具）：接口设置、声音、频率计、语言设置</a:t>
            </a:r>
            <a:endParaRPr lang="zh-CN" altLang="en-US" sz="2400" b="1" dirty="0">
              <a:solidFill>
                <a:srgbClr val="0033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154" name="组合 645153"/>
          <p:cNvGrpSpPr/>
          <p:nvPr/>
        </p:nvGrpSpPr>
        <p:grpSpPr>
          <a:xfrm>
            <a:off x="684213" y="1681163"/>
            <a:ext cx="7920037" cy="4098925"/>
            <a:chOff x="431" y="1512"/>
            <a:chExt cx="4989" cy="2582"/>
          </a:xfrm>
        </p:grpSpPr>
        <p:grpSp>
          <p:nvGrpSpPr>
            <p:cNvPr id="645152" name="组合 645151"/>
            <p:cNvGrpSpPr/>
            <p:nvPr/>
          </p:nvGrpSpPr>
          <p:grpSpPr>
            <a:xfrm>
              <a:off x="431" y="1512"/>
              <a:ext cx="4989" cy="2582"/>
              <a:chOff x="431" y="1512"/>
              <a:chExt cx="4989" cy="2582"/>
            </a:xfrm>
          </p:grpSpPr>
          <p:pic>
            <p:nvPicPr>
              <p:cNvPr id="645123" name="内容占位符 645122" descr="ds1102cd"/>
              <p:cNvPicPr>
                <a:picLocks noGrp="1" noChangeAspect="1"/>
              </p:cNvPicPr>
              <p:nvPr>
                <p:ph idx="1"/>
              </p:nvPr>
            </p:nvPicPr>
            <p:blipFill>
              <a:blip r:embed="rId1"/>
              <a:stretch>
                <a:fillRect/>
              </a:stretch>
            </p:blipFill>
            <p:spPr>
              <a:xfrm>
                <a:off x="431" y="1512"/>
                <a:ext cx="4989" cy="258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</p:pic>
          <p:pic>
            <p:nvPicPr>
              <p:cNvPr id="645148" name="图片 645147" descr="XA(J6B]AFSMS]Z`S7$UYXS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39" y="1610"/>
                <a:ext cx="1814" cy="190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645149" name="文本框 645148"/>
            <p:cNvSpPr txBox="1"/>
            <p:nvPr/>
          </p:nvSpPr>
          <p:spPr>
            <a:xfrm>
              <a:off x="1239" y="1610"/>
              <a:ext cx="68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600" b="1">
                  <a:solidFill>
                    <a:srgbClr val="003300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DS1052E    </a:t>
              </a:r>
              <a:endParaRPr lang="en-US" altLang="zh-CN" sz="1600" b="1">
                <a:solidFill>
                  <a:srgbClr val="003300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645153" name="文本框 645152"/>
            <p:cNvSpPr txBox="1"/>
            <p:nvPr/>
          </p:nvSpPr>
          <p:spPr>
            <a:xfrm>
              <a:off x="2555" y="1524"/>
              <a:ext cx="688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400">
                  <a:solidFill>
                    <a:srgbClr val="003300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2chanel</a:t>
              </a:r>
              <a:endParaRPr lang="en-US" altLang="zh-CN" sz="1400">
                <a:solidFill>
                  <a:srgbClr val="003300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  <a:p>
              <a:r>
                <a:rPr lang="en-US" altLang="zh-CN" sz="1400">
                  <a:solidFill>
                    <a:srgbClr val="003300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50MHz </a:t>
              </a:r>
              <a:endParaRPr lang="en-US" altLang="zh-CN" sz="1400">
                <a:solidFill>
                  <a:srgbClr val="003300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645124" name="云形标注 645123"/>
          <p:cNvSpPr/>
          <p:nvPr/>
        </p:nvSpPr>
        <p:spPr>
          <a:xfrm>
            <a:off x="6443663" y="1125538"/>
            <a:ext cx="1152525" cy="574675"/>
          </a:xfrm>
          <a:prstGeom prst="cloudCallout">
            <a:avLst>
              <a:gd name="adj1" fmla="val -66116"/>
              <a:gd name="adj2" fmla="val 111051"/>
            </a:avLst>
          </a:prstGeom>
          <a:solidFill>
            <a:schemeClr val="accent1">
              <a:alpha val="66000"/>
            </a:schemeClr>
          </a:solidFill>
          <a:ln w="9525" cap="flat" cmpd="sng">
            <a:solidFill>
              <a:srgbClr val="6666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点击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45125" name="图片 645124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13" y="2281238"/>
            <a:ext cx="3095625" cy="2373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26" name="云形标注 645125"/>
          <p:cNvSpPr/>
          <p:nvPr/>
        </p:nvSpPr>
        <p:spPr>
          <a:xfrm>
            <a:off x="4859338" y="1270000"/>
            <a:ext cx="2089150" cy="1079500"/>
          </a:xfrm>
          <a:prstGeom prst="cloudCallout">
            <a:avLst>
              <a:gd name="adj1" fmla="val -58889"/>
              <a:gd name="adj2" fmla="val 82500"/>
            </a:avLst>
          </a:prstGeom>
          <a:solidFill>
            <a:schemeClr val="accent1">
              <a:alpha val="66000"/>
            </a:schemeClr>
          </a:solidFill>
          <a:ln w="9525" cap="flat" cmpd="sng">
            <a:solidFill>
              <a:srgbClr val="6666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CH1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、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CH2</a:t>
            </a:r>
            <a:endParaRPr lang="en-US" altLang="zh-CN" b="1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ctr"/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信源选择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45127" name="云形标注 645126"/>
          <p:cNvSpPr/>
          <p:nvPr/>
        </p:nvSpPr>
        <p:spPr>
          <a:xfrm>
            <a:off x="5508625" y="2278063"/>
            <a:ext cx="1008063" cy="576262"/>
          </a:xfrm>
          <a:prstGeom prst="cloudCallout">
            <a:avLst>
              <a:gd name="adj1" fmla="val -68426"/>
              <a:gd name="adj2" fmla="val 110880"/>
            </a:avLst>
          </a:prstGeom>
          <a:solidFill>
            <a:schemeClr val="accent1">
              <a:alpha val="66000"/>
            </a:schemeClr>
          </a:solidFill>
          <a:ln w="9525" cap="flat" cmpd="sng">
            <a:solidFill>
              <a:srgbClr val="6666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点击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45128" name="图片 645127" descr="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813" y="2278063"/>
            <a:ext cx="3095625" cy="2376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29" name="任意多边形 645128"/>
          <p:cNvSpPr/>
          <p:nvPr/>
        </p:nvSpPr>
        <p:spPr>
          <a:xfrm>
            <a:off x="5364163" y="2133600"/>
            <a:ext cx="792162" cy="431800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270">
                <a:pos x="8836" y="180"/>
              </a:cxn>
              <a:cxn ang="180">
                <a:pos x="3235" y="13696"/>
              </a:cxn>
              <a:cxn ang="270">
                <a:pos x="9818" y="5490"/>
              </a:cxn>
              <a:cxn ang="0">
                <a:pos x="24300" y="10800"/>
              </a:cxn>
              <a:cxn ang="0">
                <a:pos x="18900" y="16200"/>
              </a:cxn>
              <a:cxn ang="0">
                <a:pos x="13500" y="10800"/>
              </a:cxn>
            </a:cxnLst>
            <a:rect l="txL" t="txT" r="txR" b="txB"/>
            <a:pathLst>
              <a:path w="21600" h="21600">
                <a:moveTo>
                  <a:pt x="16200" y="10800"/>
                </a:moveTo>
                <a:arcTo wR="5400" hR="5400" stAng="0" swAng="-12057180"/>
                <a:lnTo>
                  <a:pt x="714" y="14662"/>
                </a:lnTo>
                <a:arcTo wR="10800" hR="10800" stAng="9542820" swAng="12057180"/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chemeClr val="accent1">
              <a:alpha val="66000"/>
            </a:schemeClr>
          </a:soli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45130" name="图片 645129" descr="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813" y="2278063"/>
            <a:ext cx="3095625" cy="23764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5131" name="图片 645130" descr="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7813" y="2278063"/>
            <a:ext cx="3095625" cy="2376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32" name="云形标注 645131"/>
          <p:cNvSpPr/>
          <p:nvPr/>
        </p:nvSpPr>
        <p:spPr>
          <a:xfrm>
            <a:off x="5508625" y="2709863"/>
            <a:ext cx="1008063" cy="504825"/>
          </a:xfrm>
          <a:prstGeom prst="cloudCallout">
            <a:avLst>
              <a:gd name="adj1" fmla="val -68426"/>
              <a:gd name="adj2" fmla="val 119495"/>
            </a:avLst>
          </a:prstGeom>
          <a:solidFill>
            <a:schemeClr val="accent1">
              <a:alpha val="66000"/>
            </a:schemeClr>
          </a:solidFill>
          <a:ln w="9525" cap="flat" cmpd="sng">
            <a:solidFill>
              <a:srgbClr val="6666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点击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45133" name="图片 645132" descr="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7813" y="2278063"/>
            <a:ext cx="3095625" cy="23764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5134" name="图片 645133" descr="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7813" y="2278063"/>
            <a:ext cx="3095625" cy="23764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5135" name="图片 645134" descr="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7813" y="2278063"/>
            <a:ext cx="3095625" cy="2376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36" name="云形标注 645135"/>
          <p:cNvSpPr/>
          <p:nvPr/>
        </p:nvSpPr>
        <p:spPr>
          <a:xfrm>
            <a:off x="6084888" y="1341438"/>
            <a:ext cx="1439862" cy="792162"/>
          </a:xfrm>
          <a:prstGeom prst="cloudCallout">
            <a:avLst>
              <a:gd name="adj1" fmla="val -62898"/>
              <a:gd name="adj2" fmla="val 94287"/>
            </a:avLst>
          </a:prstGeom>
          <a:solidFill>
            <a:schemeClr val="accent1">
              <a:alpha val="66000"/>
            </a:schemeClr>
          </a:solidFill>
          <a:ln w="9525" cap="flat" cmpd="sng">
            <a:solidFill>
              <a:srgbClr val="6666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选中点击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45137" name="图片 645136" descr="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7813" y="2278063"/>
            <a:ext cx="3095625" cy="2376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38" name="圆角矩形 645137"/>
          <p:cNvSpPr/>
          <p:nvPr/>
        </p:nvSpPr>
        <p:spPr>
          <a:xfrm>
            <a:off x="1692275" y="4294188"/>
            <a:ext cx="1800225" cy="215900"/>
          </a:xfrm>
          <a:prstGeom prst="roundRect">
            <a:avLst>
              <a:gd name="adj" fmla="val 0"/>
            </a:avLst>
          </a:prstGeom>
          <a:noFill/>
          <a:ln w="28575" cap="flat" cmpd="sng">
            <a:solidFill>
              <a:srgbClr val="E13C0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5139" name="云形标注 645138"/>
          <p:cNvSpPr/>
          <p:nvPr/>
        </p:nvSpPr>
        <p:spPr>
          <a:xfrm>
            <a:off x="5508625" y="2997200"/>
            <a:ext cx="1079500" cy="576263"/>
          </a:xfrm>
          <a:prstGeom prst="cloudCallout">
            <a:avLst>
              <a:gd name="adj1" fmla="val -67204"/>
              <a:gd name="adj2" fmla="val 110880"/>
            </a:avLst>
          </a:prstGeom>
          <a:solidFill>
            <a:schemeClr val="accent1">
              <a:alpha val="66000"/>
            </a:schemeClr>
          </a:solidFill>
          <a:ln w="9525" cap="flat" cmpd="sng">
            <a:solidFill>
              <a:srgbClr val="6666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点击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45140" name="图片 645139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13" y="2281238"/>
            <a:ext cx="3095625" cy="2373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41" name="云形标注 645140"/>
          <p:cNvSpPr/>
          <p:nvPr/>
        </p:nvSpPr>
        <p:spPr>
          <a:xfrm>
            <a:off x="5508625" y="3502025"/>
            <a:ext cx="1079500" cy="503238"/>
          </a:xfrm>
          <a:prstGeom prst="cloudCallout">
            <a:avLst>
              <a:gd name="adj1" fmla="val -67204"/>
              <a:gd name="adj2" fmla="val 119718"/>
            </a:avLst>
          </a:prstGeom>
          <a:solidFill>
            <a:schemeClr val="accent1">
              <a:alpha val="66000"/>
            </a:schemeClr>
          </a:solidFill>
          <a:ln w="9525" cap="flat" cmpd="sng">
            <a:solidFill>
              <a:srgbClr val="6666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点击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45142" name="图片 645141" descr="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47813" y="2278063"/>
            <a:ext cx="3095625" cy="2376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43" name="圆角矩形 645142"/>
          <p:cNvSpPr/>
          <p:nvPr/>
        </p:nvSpPr>
        <p:spPr>
          <a:xfrm>
            <a:off x="1692275" y="3789363"/>
            <a:ext cx="2374900" cy="649287"/>
          </a:xfrm>
          <a:prstGeom prst="roundRect">
            <a:avLst>
              <a:gd name="adj" fmla="val 14708"/>
            </a:avLst>
          </a:prstGeom>
          <a:noFill/>
          <a:ln w="28575" cap="flat" cmpd="sng">
            <a:solidFill>
              <a:srgbClr val="E13C0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5155" name="矩形 645154"/>
          <p:cNvSpPr/>
          <p:nvPr/>
        </p:nvSpPr>
        <p:spPr>
          <a:xfrm>
            <a:off x="252413" y="881063"/>
            <a:ext cx="484981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measure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（侧量）：操作示范</a:t>
            </a:r>
            <a:endParaRPr lang="zh-CN" altLang="en-US" sz="2800" b="1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45156" name="矩形 645155"/>
          <p:cNvSpPr/>
          <p:nvPr/>
        </p:nvSpPr>
        <p:spPr>
          <a:xfrm>
            <a:off x="1027113" y="5668963"/>
            <a:ext cx="3028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其他项目如法炮制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645157" name="图片 645156" descr="H]Y1X$P@YRX8_E}V17K7S0H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35238" y="4976813"/>
            <a:ext cx="2740025" cy="400050"/>
          </a:xfrm>
          <a:prstGeom prst="rect">
            <a:avLst/>
          </a:prstGeom>
          <a:noFill/>
          <a:ln w="9525">
            <a:noFill/>
          </a:ln>
          <a:effectLst>
            <a:prstShdw prst="shdw17" dist="17961" dir="13499999">
              <a:srgbClr val="FFFFFF">
                <a:gamma/>
                <a:shade val="60000"/>
                <a:invGamma/>
              </a:srgbClr>
            </a:prstShdw>
          </a:effectLst>
        </p:spPr>
      </p:pic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" dur="500"/>
                                        <p:tgtEl>
                                          <p:spTgt spid="64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" dur="500"/>
                                        <p:tgtEl>
                                          <p:spTgt spid="64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4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64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45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4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4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45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4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4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64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64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45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45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45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45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45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45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64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45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45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64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64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64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64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24" grpId="0" bldLvl="0" animBg="1"/>
      <p:bldP spid="645126" grpId="0" bldLvl="0" animBg="1"/>
      <p:bldP spid="645126" grpId="1" bldLvl="0" animBg="1"/>
      <p:bldP spid="645127" grpId="0" bldLvl="0" animBg="1"/>
      <p:bldP spid="645132" grpId="0" bldLvl="0" animBg="1"/>
      <p:bldP spid="645136" grpId="0" bldLvl="0" animBg="1"/>
      <p:bldP spid="645139" grpId="0" bldLvl="0" animBg="1"/>
      <p:bldP spid="645141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478" y="836930"/>
            <a:ext cx="4583112" cy="2363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969963" y="3197225"/>
            <a:ext cx="7200900" cy="3477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1. 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显示屏 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2. 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功能键 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3. 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数字键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4.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调节旋钮 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5. 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电源</a:t>
            </a:r>
            <a:r>
              <a:rPr kumimoji="0" lang="zh-CN" altLang="en-US" kern="1200" cap="none" spc="0" normalizeH="0" baseline="0" noProof="0" dirty="0" smtClean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按钮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6. 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菜单软键 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7. CHA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、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CHB 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输出 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8. 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同步输出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/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计数输入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9. U 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盘插座 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10. 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方向</a:t>
            </a:r>
            <a:r>
              <a:rPr kumimoji="0" lang="zh-CN" altLang="en-US" kern="1200" cap="none" spc="0" normalizeH="0" baseline="0" noProof="0" dirty="0" smtClean="0"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键</a:t>
            </a:r>
            <a:endParaRPr kumimoji="0" lang="en-US" altLang="zh-CN" kern="1200" cap="none" spc="0" normalizeH="0" baseline="0" noProof="0" dirty="0" smtClean="0"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  <a:p>
            <a:pPr>
              <a:defRPr/>
            </a:pPr>
            <a:r>
              <a:rPr lang="zh-CN" altLang="en-US" dirty="0"/>
              <a:t>注</a:t>
            </a:r>
            <a:r>
              <a:rPr lang="zh-CN" altLang="en-US" dirty="0">
                <a:solidFill>
                  <a:srgbClr val="FF0000"/>
                </a:solidFill>
              </a:rPr>
              <a:t>：通道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>
                <a:solidFill>
                  <a:srgbClr val="FF0000"/>
                </a:solidFill>
              </a:rPr>
              <a:t>电缆插头上的指示灯要点</a:t>
            </a:r>
            <a:r>
              <a:rPr lang="zh-CN" altLang="en-US" dirty="0" smtClean="0">
                <a:solidFill>
                  <a:srgbClr val="FF0000"/>
                </a:solidFill>
              </a:rPr>
              <a:t>亮   按</a:t>
            </a:r>
            <a:r>
              <a:rPr lang="en-US" altLang="zh-CN" dirty="0" smtClean="0">
                <a:solidFill>
                  <a:srgbClr val="FF0000"/>
                </a:solidFill>
              </a:rPr>
              <a:t>Output</a:t>
            </a:r>
            <a:r>
              <a:rPr lang="zh-CN" altLang="en-US" dirty="0" smtClean="0">
                <a:solidFill>
                  <a:srgbClr val="FF0000"/>
                </a:solidFill>
              </a:rPr>
              <a:t>键</a:t>
            </a:r>
            <a:endParaRPr kumimoji="0" lang="zh-CN" altLang="en-US" kern="1200" cap="none" spc="0" normalizeH="0" baseline="0" noProof="0" dirty="0">
              <a:solidFill>
                <a:srgbClr val="FF0000"/>
              </a:solidFill>
            </a:endParaRPr>
          </a:p>
        </p:txBody>
      </p:sp>
      <p:sp>
        <p:nvSpPr>
          <p:cNvPr id="11268" name="文本框 1"/>
          <p:cNvSpPr txBox="1"/>
          <p:nvPr/>
        </p:nvSpPr>
        <p:spPr>
          <a:xfrm>
            <a:off x="539750" y="414338"/>
            <a:ext cx="540067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信号发生器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4"/>
          <p:cNvSpPr txBox="1"/>
          <p:nvPr/>
        </p:nvSpPr>
        <p:spPr>
          <a:xfrm>
            <a:off x="273050" y="101600"/>
            <a:ext cx="2954338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</a:rPr>
              <a:t>四、实验内容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2291" name="Rectangle 6"/>
          <p:cNvSpPr/>
          <p:nvPr/>
        </p:nvSpPr>
        <p:spPr>
          <a:xfrm>
            <a:off x="193675" y="876300"/>
            <a:ext cx="6754813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defTabSz="914400" eaLnBrk="1" hangingPunct="1">
              <a:tabLst>
                <a:tab pos="476250" algn="l"/>
              </a:tabLst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、观察频率为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1KHz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的正弦，方波、三角波波形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647329" name="Rectangle 161"/>
          <p:cNvSpPr/>
          <p:nvPr/>
        </p:nvSpPr>
        <p:spPr>
          <a:xfrm>
            <a:off x="273050" y="1333500"/>
            <a:ext cx="8402638" cy="193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）将待测信号输入通道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CH1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或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CH2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；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）按下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AUTO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按键，示波器将自动使波形显示达到最佳状态。可调节垂直、水平档位，直至波形显示符合要求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在示波器上显示出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占满屏幕上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80%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范围</a:t>
            </a:r>
            <a:r>
              <a:rPr lang="zh-CN" altLang="en-US" sz="2400" b="1" u="sng" dirty="0">
                <a:solidFill>
                  <a:srgbClr val="000066"/>
                </a:solidFill>
                <a:latin typeface="Arial" panose="020B0604020202020204" pitchFamily="34" charset="0"/>
              </a:rPr>
              <a:t>一个完整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波形。将波形分别画在坐标纸上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,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对应记录示波器的扫描频率</a:t>
            </a:r>
            <a:r>
              <a:rPr lang="en-US" altLang="zh-CN" sz="2400" b="1" i="1" dirty="0">
                <a:solidFill>
                  <a:srgbClr val="000066"/>
                </a:solidFill>
                <a:latin typeface="Arial" panose="020B0604020202020204" pitchFamily="34" charset="0"/>
              </a:rPr>
              <a:t>fx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。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163"/>
          <p:cNvGrpSpPr/>
          <p:nvPr/>
        </p:nvGrpSpPr>
        <p:grpSpPr>
          <a:xfrm>
            <a:off x="836613" y="3478213"/>
            <a:ext cx="2281237" cy="1687512"/>
            <a:chOff x="867" y="1588"/>
            <a:chExt cx="3810" cy="2223"/>
          </a:xfrm>
        </p:grpSpPr>
        <p:grpSp>
          <p:nvGrpSpPr>
            <p:cNvPr id="12343" name="Group 160"/>
            <p:cNvGrpSpPr/>
            <p:nvPr/>
          </p:nvGrpSpPr>
          <p:grpSpPr>
            <a:xfrm>
              <a:off x="867" y="1588"/>
              <a:ext cx="3810" cy="2223"/>
              <a:chOff x="385" y="1071"/>
              <a:chExt cx="3810" cy="2223"/>
            </a:xfrm>
          </p:grpSpPr>
          <p:sp>
            <p:nvSpPr>
              <p:cNvPr id="12345" name="Rectangle 138"/>
              <p:cNvSpPr/>
              <p:nvPr/>
            </p:nvSpPr>
            <p:spPr>
              <a:xfrm>
                <a:off x="385" y="1071"/>
                <a:ext cx="3810" cy="2223"/>
              </a:xfrm>
              <a:prstGeom prst="rect">
                <a:avLst/>
              </a:prstGeom>
              <a:solidFill>
                <a:srgbClr val="333333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12346" name="Group 159"/>
              <p:cNvGrpSpPr/>
              <p:nvPr/>
            </p:nvGrpSpPr>
            <p:grpSpPr>
              <a:xfrm>
                <a:off x="703" y="1071"/>
                <a:ext cx="3492" cy="2223"/>
                <a:chOff x="703" y="1071"/>
                <a:chExt cx="3492" cy="2767"/>
              </a:xfrm>
            </p:grpSpPr>
            <p:sp>
              <p:nvSpPr>
                <p:cNvPr id="12355" name="Line 139"/>
                <p:cNvSpPr/>
                <p:nvPr/>
              </p:nvSpPr>
              <p:spPr>
                <a:xfrm>
                  <a:off x="703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2356" name="Line 140"/>
                <p:cNvSpPr/>
                <p:nvPr/>
              </p:nvSpPr>
              <p:spPr>
                <a:xfrm>
                  <a:off x="1020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2357" name="Line 141"/>
                <p:cNvSpPr/>
                <p:nvPr/>
              </p:nvSpPr>
              <p:spPr>
                <a:xfrm>
                  <a:off x="1338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2358" name="Line 142"/>
                <p:cNvSpPr/>
                <p:nvPr/>
              </p:nvSpPr>
              <p:spPr>
                <a:xfrm>
                  <a:off x="1651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2359" name="Line 143"/>
                <p:cNvSpPr/>
                <p:nvPr/>
              </p:nvSpPr>
              <p:spPr>
                <a:xfrm>
                  <a:off x="1968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2360" name="Line 144"/>
                <p:cNvSpPr/>
                <p:nvPr/>
              </p:nvSpPr>
              <p:spPr>
                <a:xfrm>
                  <a:off x="2286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2361" name="Line 145"/>
                <p:cNvSpPr/>
                <p:nvPr/>
              </p:nvSpPr>
              <p:spPr>
                <a:xfrm>
                  <a:off x="2612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2362" name="Line 146"/>
                <p:cNvSpPr/>
                <p:nvPr/>
              </p:nvSpPr>
              <p:spPr>
                <a:xfrm>
                  <a:off x="2929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2363" name="Line 147"/>
                <p:cNvSpPr/>
                <p:nvPr/>
              </p:nvSpPr>
              <p:spPr>
                <a:xfrm>
                  <a:off x="3247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2364" name="Line 148"/>
                <p:cNvSpPr/>
                <p:nvPr/>
              </p:nvSpPr>
              <p:spPr>
                <a:xfrm>
                  <a:off x="3560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2365" name="Line 149"/>
                <p:cNvSpPr/>
                <p:nvPr/>
              </p:nvSpPr>
              <p:spPr>
                <a:xfrm>
                  <a:off x="3877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2366" name="Line 150"/>
                <p:cNvSpPr/>
                <p:nvPr/>
              </p:nvSpPr>
              <p:spPr>
                <a:xfrm>
                  <a:off x="4195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2347" name="Line 151"/>
              <p:cNvSpPr/>
              <p:nvPr/>
            </p:nvSpPr>
            <p:spPr>
              <a:xfrm>
                <a:off x="385" y="1389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48" name="Line 152"/>
              <p:cNvSpPr/>
              <p:nvPr/>
            </p:nvSpPr>
            <p:spPr>
              <a:xfrm>
                <a:off x="385" y="1661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49" name="Line 153"/>
              <p:cNvSpPr/>
              <p:nvPr/>
            </p:nvSpPr>
            <p:spPr>
              <a:xfrm>
                <a:off x="385" y="1933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50" name="Line 154"/>
              <p:cNvSpPr/>
              <p:nvPr/>
            </p:nvSpPr>
            <p:spPr>
              <a:xfrm>
                <a:off x="385" y="2205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51" name="Line 155"/>
              <p:cNvSpPr/>
              <p:nvPr/>
            </p:nvSpPr>
            <p:spPr>
              <a:xfrm>
                <a:off x="385" y="2478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52" name="Line 156"/>
              <p:cNvSpPr/>
              <p:nvPr/>
            </p:nvSpPr>
            <p:spPr>
              <a:xfrm>
                <a:off x="385" y="2750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53" name="Line 157"/>
              <p:cNvSpPr/>
              <p:nvPr/>
            </p:nvSpPr>
            <p:spPr>
              <a:xfrm>
                <a:off x="385" y="3022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54" name="Line 158"/>
              <p:cNvSpPr/>
              <p:nvPr/>
            </p:nvSpPr>
            <p:spPr>
              <a:xfrm>
                <a:off x="385" y="3294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sp>
          <p:nvSpPr>
            <p:cNvPr id="12344" name="Freeform 162"/>
            <p:cNvSpPr/>
            <p:nvPr/>
          </p:nvSpPr>
          <p:spPr>
            <a:xfrm>
              <a:off x="869" y="2344"/>
              <a:ext cx="3803" cy="747"/>
            </a:xfrm>
            <a:custGeom>
              <a:avLst/>
              <a:gdLst>
                <a:gd name="txL" fmla="*/ 0 w 3803"/>
                <a:gd name="txT" fmla="*/ 0 h 747"/>
                <a:gd name="txR" fmla="*/ 3803 w 3803"/>
                <a:gd name="txB" fmla="*/ 747 h 747"/>
              </a:gdLst>
              <a:ahLst/>
              <a:cxnLst>
                <a:cxn ang="0">
                  <a:pos x="0" y="518"/>
                </a:cxn>
                <a:cxn ang="0">
                  <a:pos x="1097" y="24"/>
                </a:cxn>
                <a:cxn ang="0">
                  <a:pos x="1910" y="371"/>
                </a:cxn>
                <a:cxn ang="0">
                  <a:pos x="2770" y="746"/>
                </a:cxn>
                <a:cxn ang="0">
                  <a:pos x="3483" y="362"/>
                </a:cxn>
                <a:cxn ang="0">
                  <a:pos x="3803" y="106"/>
                </a:cxn>
              </a:cxnLst>
              <a:rect l="txL" t="txT" r="txR" b="txB"/>
              <a:pathLst>
                <a:path w="3803" h="747">
                  <a:moveTo>
                    <a:pt x="0" y="518"/>
                  </a:moveTo>
                  <a:cubicBezTo>
                    <a:pt x="183" y="436"/>
                    <a:pt x="779" y="48"/>
                    <a:pt x="1097" y="24"/>
                  </a:cubicBezTo>
                  <a:cubicBezTo>
                    <a:pt x="1415" y="0"/>
                    <a:pt x="1631" y="251"/>
                    <a:pt x="1910" y="371"/>
                  </a:cubicBezTo>
                  <a:cubicBezTo>
                    <a:pt x="2189" y="491"/>
                    <a:pt x="2508" y="747"/>
                    <a:pt x="2770" y="746"/>
                  </a:cubicBezTo>
                  <a:cubicBezTo>
                    <a:pt x="3032" y="745"/>
                    <a:pt x="3311" y="469"/>
                    <a:pt x="3483" y="362"/>
                  </a:cubicBezTo>
                  <a:cubicBezTo>
                    <a:pt x="3655" y="255"/>
                    <a:pt x="3736" y="159"/>
                    <a:pt x="3803" y="106"/>
                  </a:cubicBezTo>
                </a:path>
              </a:pathLst>
            </a:custGeom>
            <a:noFill/>
            <a:ln w="28575" cap="flat" cmpd="sng">
              <a:solidFill>
                <a:srgbClr val="FFCC00">
                  <a:alpha val="100000"/>
                </a:srgbClr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65"/>
          <p:cNvGrpSpPr/>
          <p:nvPr/>
        </p:nvGrpSpPr>
        <p:grpSpPr>
          <a:xfrm>
            <a:off x="3367088" y="3489325"/>
            <a:ext cx="2281237" cy="1687513"/>
            <a:chOff x="385" y="1071"/>
            <a:chExt cx="3810" cy="2223"/>
          </a:xfrm>
        </p:grpSpPr>
        <p:sp>
          <p:nvSpPr>
            <p:cNvPr id="12321" name="Rectangle 166"/>
            <p:cNvSpPr/>
            <p:nvPr/>
          </p:nvSpPr>
          <p:spPr>
            <a:xfrm>
              <a:off x="385" y="1071"/>
              <a:ext cx="3810" cy="2223"/>
            </a:xfrm>
            <a:prstGeom prst="rect">
              <a:avLst/>
            </a:prstGeom>
            <a:solidFill>
              <a:srgbClr val="333333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2322" name="Group 167"/>
            <p:cNvGrpSpPr/>
            <p:nvPr/>
          </p:nvGrpSpPr>
          <p:grpSpPr>
            <a:xfrm>
              <a:off x="703" y="1071"/>
              <a:ext cx="3492" cy="2223"/>
              <a:chOff x="703" y="1071"/>
              <a:chExt cx="3492" cy="2767"/>
            </a:xfrm>
          </p:grpSpPr>
          <p:sp>
            <p:nvSpPr>
              <p:cNvPr id="12331" name="Line 168"/>
              <p:cNvSpPr/>
              <p:nvPr/>
            </p:nvSpPr>
            <p:spPr>
              <a:xfrm>
                <a:off x="703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32" name="Line 169"/>
              <p:cNvSpPr/>
              <p:nvPr/>
            </p:nvSpPr>
            <p:spPr>
              <a:xfrm>
                <a:off x="1020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33" name="Line 170"/>
              <p:cNvSpPr/>
              <p:nvPr/>
            </p:nvSpPr>
            <p:spPr>
              <a:xfrm>
                <a:off x="1338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34" name="Line 171"/>
              <p:cNvSpPr/>
              <p:nvPr/>
            </p:nvSpPr>
            <p:spPr>
              <a:xfrm>
                <a:off x="1651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35" name="Line 172"/>
              <p:cNvSpPr/>
              <p:nvPr/>
            </p:nvSpPr>
            <p:spPr>
              <a:xfrm>
                <a:off x="1968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36" name="Line 173"/>
              <p:cNvSpPr/>
              <p:nvPr/>
            </p:nvSpPr>
            <p:spPr>
              <a:xfrm>
                <a:off x="2286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37" name="Line 174"/>
              <p:cNvSpPr/>
              <p:nvPr/>
            </p:nvSpPr>
            <p:spPr>
              <a:xfrm>
                <a:off x="2612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38" name="Line 175"/>
              <p:cNvSpPr/>
              <p:nvPr/>
            </p:nvSpPr>
            <p:spPr>
              <a:xfrm>
                <a:off x="2929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39" name="Line 176"/>
              <p:cNvSpPr/>
              <p:nvPr/>
            </p:nvSpPr>
            <p:spPr>
              <a:xfrm>
                <a:off x="3247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40" name="Line 177"/>
              <p:cNvSpPr/>
              <p:nvPr/>
            </p:nvSpPr>
            <p:spPr>
              <a:xfrm>
                <a:off x="3560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41" name="Line 178"/>
              <p:cNvSpPr/>
              <p:nvPr/>
            </p:nvSpPr>
            <p:spPr>
              <a:xfrm>
                <a:off x="3877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42" name="Line 179"/>
              <p:cNvSpPr/>
              <p:nvPr/>
            </p:nvSpPr>
            <p:spPr>
              <a:xfrm>
                <a:off x="4195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sp>
          <p:nvSpPr>
            <p:cNvPr id="12323" name="Line 180"/>
            <p:cNvSpPr/>
            <p:nvPr/>
          </p:nvSpPr>
          <p:spPr>
            <a:xfrm>
              <a:off x="385" y="1389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24" name="Line 181"/>
            <p:cNvSpPr/>
            <p:nvPr/>
          </p:nvSpPr>
          <p:spPr>
            <a:xfrm>
              <a:off x="385" y="1661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25" name="Line 182"/>
            <p:cNvSpPr/>
            <p:nvPr/>
          </p:nvSpPr>
          <p:spPr>
            <a:xfrm>
              <a:off x="385" y="1933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26" name="Line 183"/>
            <p:cNvSpPr/>
            <p:nvPr/>
          </p:nvSpPr>
          <p:spPr>
            <a:xfrm>
              <a:off x="385" y="2205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27" name="Line 184"/>
            <p:cNvSpPr/>
            <p:nvPr/>
          </p:nvSpPr>
          <p:spPr>
            <a:xfrm>
              <a:off x="385" y="2478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28" name="Line 185"/>
            <p:cNvSpPr/>
            <p:nvPr/>
          </p:nvSpPr>
          <p:spPr>
            <a:xfrm>
              <a:off x="385" y="2750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29" name="Line 186"/>
            <p:cNvSpPr/>
            <p:nvPr/>
          </p:nvSpPr>
          <p:spPr>
            <a:xfrm>
              <a:off x="385" y="3022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30" name="Line 187"/>
            <p:cNvSpPr/>
            <p:nvPr/>
          </p:nvSpPr>
          <p:spPr>
            <a:xfrm>
              <a:off x="385" y="3294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647357" name="Freeform 189"/>
          <p:cNvSpPr/>
          <p:nvPr/>
        </p:nvSpPr>
        <p:spPr>
          <a:xfrm>
            <a:off x="3368675" y="3817938"/>
            <a:ext cx="2373313" cy="581025"/>
          </a:xfrm>
          <a:custGeom>
            <a:avLst/>
            <a:gdLst>
              <a:gd name="txL" fmla="*/ 0 w 1495"/>
              <a:gd name="txT" fmla="*/ 0 h 366"/>
              <a:gd name="txR" fmla="*/ 1495 w 1495"/>
              <a:gd name="txB" fmla="*/ 366 h 366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495" h="366">
                <a:moveTo>
                  <a:pt x="0" y="275"/>
                </a:moveTo>
                <a:lnTo>
                  <a:pt x="480" y="0"/>
                </a:lnTo>
                <a:lnTo>
                  <a:pt x="1056" y="366"/>
                </a:lnTo>
                <a:lnTo>
                  <a:pt x="1495" y="82"/>
                </a:lnTo>
              </a:path>
            </a:pathLst>
          </a:custGeom>
          <a:noFill/>
          <a:ln w="28575" cap="flat" cmpd="sng">
            <a:solidFill>
              <a:srgbClr val="FFCC00">
                <a:alpha val="100000"/>
              </a:srgbClr>
            </a:solidFill>
            <a:prstDash val="sysDot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190"/>
          <p:cNvGrpSpPr/>
          <p:nvPr/>
        </p:nvGrpSpPr>
        <p:grpSpPr>
          <a:xfrm>
            <a:off x="6162675" y="3440113"/>
            <a:ext cx="2281238" cy="1687512"/>
            <a:chOff x="385" y="1071"/>
            <a:chExt cx="3810" cy="2223"/>
          </a:xfrm>
        </p:grpSpPr>
        <p:sp>
          <p:nvSpPr>
            <p:cNvPr id="12299" name="Rectangle 191"/>
            <p:cNvSpPr/>
            <p:nvPr/>
          </p:nvSpPr>
          <p:spPr>
            <a:xfrm>
              <a:off x="385" y="1071"/>
              <a:ext cx="3810" cy="2223"/>
            </a:xfrm>
            <a:prstGeom prst="rect">
              <a:avLst/>
            </a:prstGeom>
            <a:solidFill>
              <a:srgbClr val="333333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2300" name="Group 192"/>
            <p:cNvGrpSpPr/>
            <p:nvPr/>
          </p:nvGrpSpPr>
          <p:grpSpPr>
            <a:xfrm>
              <a:off x="703" y="1071"/>
              <a:ext cx="3492" cy="2223"/>
              <a:chOff x="703" y="1071"/>
              <a:chExt cx="3492" cy="2767"/>
            </a:xfrm>
          </p:grpSpPr>
          <p:sp>
            <p:nvSpPr>
              <p:cNvPr id="12309" name="Line 193"/>
              <p:cNvSpPr/>
              <p:nvPr/>
            </p:nvSpPr>
            <p:spPr>
              <a:xfrm>
                <a:off x="703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10" name="Line 194"/>
              <p:cNvSpPr/>
              <p:nvPr/>
            </p:nvSpPr>
            <p:spPr>
              <a:xfrm>
                <a:off x="1020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11" name="Line 195"/>
              <p:cNvSpPr/>
              <p:nvPr/>
            </p:nvSpPr>
            <p:spPr>
              <a:xfrm>
                <a:off x="1338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12" name="Line 196"/>
              <p:cNvSpPr/>
              <p:nvPr/>
            </p:nvSpPr>
            <p:spPr>
              <a:xfrm>
                <a:off x="1651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13" name="Line 197"/>
              <p:cNvSpPr/>
              <p:nvPr/>
            </p:nvSpPr>
            <p:spPr>
              <a:xfrm>
                <a:off x="1968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14" name="Line 198"/>
              <p:cNvSpPr/>
              <p:nvPr/>
            </p:nvSpPr>
            <p:spPr>
              <a:xfrm>
                <a:off x="2286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15" name="Line 199"/>
              <p:cNvSpPr/>
              <p:nvPr/>
            </p:nvSpPr>
            <p:spPr>
              <a:xfrm>
                <a:off x="2612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16" name="Line 200"/>
              <p:cNvSpPr/>
              <p:nvPr/>
            </p:nvSpPr>
            <p:spPr>
              <a:xfrm>
                <a:off x="2929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17" name="Line 201"/>
              <p:cNvSpPr/>
              <p:nvPr/>
            </p:nvSpPr>
            <p:spPr>
              <a:xfrm>
                <a:off x="3247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18" name="Line 202"/>
              <p:cNvSpPr/>
              <p:nvPr/>
            </p:nvSpPr>
            <p:spPr>
              <a:xfrm>
                <a:off x="3560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19" name="Line 203"/>
              <p:cNvSpPr/>
              <p:nvPr/>
            </p:nvSpPr>
            <p:spPr>
              <a:xfrm>
                <a:off x="3877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2320" name="Line 204"/>
              <p:cNvSpPr/>
              <p:nvPr/>
            </p:nvSpPr>
            <p:spPr>
              <a:xfrm>
                <a:off x="4195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sp>
          <p:nvSpPr>
            <p:cNvPr id="12301" name="Line 205"/>
            <p:cNvSpPr/>
            <p:nvPr/>
          </p:nvSpPr>
          <p:spPr>
            <a:xfrm>
              <a:off x="385" y="1389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02" name="Line 206"/>
            <p:cNvSpPr/>
            <p:nvPr/>
          </p:nvSpPr>
          <p:spPr>
            <a:xfrm>
              <a:off x="385" y="1661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03" name="Line 207"/>
            <p:cNvSpPr/>
            <p:nvPr/>
          </p:nvSpPr>
          <p:spPr>
            <a:xfrm>
              <a:off x="385" y="1933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04" name="Line 208"/>
            <p:cNvSpPr/>
            <p:nvPr/>
          </p:nvSpPr>
          <p:spPr>
            <a:xfrm>
              <a:off x="385" y="2205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05" name="Line 209"/>
            <p:cNvSpPr/>
            <p:nvPr/>
          </p:nvSpPr>
          <p:spPr>
            <a:xfrm>
              <a:off x="385" y="2478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06" name="Line 210"/>
            <p:cNvSpPr/>
            <p:nvPr/>
          </p:nvSpPr>
          <p:spPr>
            <a:xfrm>
              <a:off x="385" y="2750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07" name="Line 211"/>
            <p:cNvSpPr/>
            <p:nvPr/>
          </p:nvSpPr>
          <p:spPr>
            <a:xfrm>
              <a:off x="385" y="3022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308" name="Line 212"/>
            <p:cNvSpPr/>
            <p:nvPr/>
          </p:nvSpPr>
          <p:spPr>
            <a:xfrm>
              <a:off x="385" y="3294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647384" name="Freeform 216"/>
          <p:cNvSpPr/>
          <p:nvPr/>
        </p:nvSpPr>
        <p:spPr>
          <a:xfrm>
            <a:off x="6156325" y="3757613"/>
            <a:ext cx="2293938" cy="892175"/>
          </a:xfrm>
          <a:custGeom>
            <a:avLst/>
            <a:gdLst>
              <a:gd name="txL" fmla="*/ 0 w 1445"/>
              <a:gd name="txT" fmla="*/ 0 h 562"/>
              <a:gd name="txR" fmla="*/ 1445 w 1445"/>
              <a:gd name="txB" fmla="*/ 562 h 562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1445" h="562">
                <a:moveTo>
                  <a:pt x="0" y="515"/>
                </a:moveTo>
                <a:lnTo>
                  <a:pt x="136" y="515"/>
                </a:lnTo>
                <a:lnTo>
                  <a:pt x="136" y="16"/>
                </a:lnTo>
                <a:lnTo>
                  <a:pt x="725" y="16"/>
                </a:lnTo>
                <a:lnTo>
                  <a:pt x="725" y="561"/>
                </a:lnTo>
                <a:lnTo>
                  <a:pt x="1325" y="562"/>
                </a:lnTo>
                <a:lnTo>
                  <a:pt x="1334" y="4"/>
                </a:lnTo>
                <a:lnTo>
                  <a:pt x="1445" y="0"/>
                </a:lnTo>
              </a:path>
            </a:pathLst>
          </a:custGeom>
          <a:noFill/>
          <a:ln w="28575" cap="flat" cmpd="sng">
            <a:solidFill>
              <a:srgbClr val="FFCC00">
                <a:alpha val="100000"/>
              </a:srgbClr>
            </a:solidFill>
            <a:prstDash val="sysDot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7385" name="Rectangle 217"/>
          <p:cNvSpPr/>
          <p:nvPr/>
        </p:nvSpPr>
        <p:spPr>
          <a:xfrm>
            <a:off x="404813" y="5437188"/>
            <a:ext cx="8402637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（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数字示波器横轴有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12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格，当灵敏度为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0.1ms/div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时去掉两格正好显示一个周期）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47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4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4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47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329" grpId="0"/>
      <p:bldP spid="64738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/>
          <p:nvPr/>
        </p:nvSpPr>
        <p:spPr>
          <a:xfrm>
            <a:off x="467360" y="1094105"/>
            <a:ext cx="762190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defTabSz="914400" eaLnBrk="1" hangingPunct="1">
              <a:tabLst>
                <a:tab pos="476250" algn="l"/>
              </a:tabLst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、观察频率为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1KHz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的正弦波形，研究扫描频率与信号频率的关系，改变扫描时间灵敏度，显示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个和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1/2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个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正弦波</a:t>
            </a:r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并画出，并记录示波器的扫描时间。</a:t>
            </a:r>
            <a:endParaRPr lang="en-US" altLang="zh-CN" sz="240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914400" eaLnBrk="1" hangingPunct="1">
              <a:tabLst>
                <a:tab pos="476250" algn="l"/>
              </a:tabLst>
            </a:pP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grpSp>
        <p:nvGrpSpPr>
          <p:cNvPr id="13315" name="Group 160"/>
          <p:cNvGrpSpPr/>
          <p:nvPr/>
        </p:nvGrpSpPr>
        <p:grpSpPr>
          <a:xfrm>
            <a:off x="644525" y="2921000"/>
            <a:ext cx="2281238" cy="1687513"/>
            <a:chOff x="385" y="1071"/>
            <a:chExt cx="3810" cy="2223"/>
          </a:xfrm>
        </p:grpSpPr>
        <p:sp>
          <p:nvSpPr>
            <p:cNvPr id="13319" name="Rectangle 138"/>
            <p:cNvSpPr/>
            <p:nvPr/>
          </p:nvSpPr>
          <p:spPr>
            <a:xfrm>
              <a:off x="385" y="1071"/>
              <a:ext cx="3810" cy="2223"/>
            </a:xfrm>
            <a:prstGeom prst="rect">
              <a:avLst/>
            </a:prstGeom>
            <a:solidFill>
              <a:srgbClr val="333333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3320" name="Group 159"/>
            <p:cNvGrpSpPr/>
            <p:nvPr/>
          </p:nvGrpSpPr>
          <p:grpSpPr>
            <a:xfrm>
              <a:off x="703" y="1071"/>
              <a:ext cx="3492" cy="2223"/>
              <a:chOff x="703" y="1071"/>
              <a:chExt cx="3492" cy="2767"/>
            </a:xfrm>
          </p:grpSpPr>
          <p:sp>
            <p:nvSpPr>
              <p:cNvPr id="13329" name="Line 139"/>
              <p:cNvSpPr/>
              <p:nvPr/>
            </p:nvSpPr>
            <p:spPr>
              <a:xfrm>
                <a:off x="703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3330" name="Line 140"/>
              <p:cNvSpPr/>
              <p:nvPr/>
            </p:nvSpPr>
            <p:spPr>
              <a:xfrm>
                <a:off x="1020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3331" name="Line 141"/>
              <p:cNvSpPr/>
              <p:nvPr/>
            </p:nvSpPr>
            <p:spPr>
              <a:xfrm>
                <a:off x="1338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3332" name="Line 142"/>
              <p:cNvSpPr/>
              <p:nvPr/>
            </p:nvSpPr>
            <p:spPr>
              <a:xfrm>
                <a:off x="1651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3333" name="Line 143"/>
              <p:cNvSpPr/>
              <p:nvPr/>
            </p:nvSpPr>
            <p:spPr>
              <a:xfrm>
                <a:off x="1968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3334" name="Line 144"/>
              <p:cNvSpPr/>
              <p:nvPr/>
            </p:nvSpPr>
            <p:spPr>
              <a:xfrm>
                <a:off x="2286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3335" name="Line 145"/>
              <p:cNvSpPr/>
              <p:nvPr/>
            </p:nvSpPr>
            <p:spPr>
              <a:xfrm>
                <a:off x="2612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3336" name="Line 146"/>
              <p:cNvSpPr/>
              <p:nvPr/>
            </p:nvSpPr>
            <p:spPr>
              <a:xfrm>
                <a:off x="2929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3337" name="Line 147"/>
              <p:cNvSpPr/>
              <p:nvPr/>
            </p:nvSpPr>
            <p:spPr>
              <a:xfrm>
                <a:off x="3247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3338" name="Line 148"/>
              <p:cNvSpPr/>
              <p:nvPr/>
            </p:nvSpPr>
            <p:spPr>
              <a:xfrm>
                <a:off x="3560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3339" name="Line 149"/>
              <p:cNvSpPr/>
              <p:nvPr/>
            </p:nvSpPr>
            <p:spPr>
              <a:xfrm>
                <a:off x="3877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3340" name="Line 150"/>
              <p:cNvSpPr/>
              <p:nvPr/>
            </p:nvSpPr>
            <p:spPr>
              <a:xfrm>
                <a:off x="4195" y="1071"/>
                <a:ext cx="0" cy="276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sp>
          <p:nvSpPr>
            <p:cNvPr id="13321" name="Line 151"/>
            <p:cNvSpPr/>
            <p:nvPr/>
          </p:nvSpPr>
          <p:spPr>
            <a:xfrm>
              <a:off x="385" y="1389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3322" name="Line 152"/>
            <p:cNvSpPr/>
            <p:nvPr/>
          </p:nvSpPr>
          <p:spPr>
            <a:xfrm>
              <a:off x="385" y="1661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3323" name="Line 153"/>
            <p:cNvSpPr/>
            <p:nvPr/>
          </p:nvSpPr>
          <p:spPr>
            <a:xfrm>
              <a:off x="385" y="1933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3324" name="Line 154"/>
            <p:cNvSpPr/>
            <p:nvPr/>
          </p:nvSpPr>
          <p:spPr>
            <a:xfrm>
              <a:off x="385" y="2205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3325" name="Line 155"/>
            <p:cNvSpPr/>
            <p:nvPr/>
          </p:nvSpPr>
          <p:spPr>
            <a:xfrm>
              <a:off x="385" y="2478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3326" name="Line 156"/>
            <p:cNvSpPr/>
            <p:nvPr/>
          </p:nvSpPr>
          <p:spPr>
            <a:xfrm>
              <a:off x="385" y="2750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3327" name="Line 157"/>
            <p:cNvSpPr/>
            <p:nvPr/>
          </p:nvSpPr>
          <p:spPr>
            <a:xfrm>
              <a:off x="385" y="3022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3328" name="Line 158"/>
            <p:cNvSpPr/>
            <p:nvPr/>
          </p:nvSpPr>
          <p:spPr>
            <a:xfrm>
              <a:off x="385" y="3294"/>
              <a:ext cx="3810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dash"/>
              <a:headEnd type="none" w="med" len="med"/>
              <a:tailEnd type="none" w="med" len="med"/>
            </a:ln>
          </p:spPr>
        </p:sp>
      </p:grpSp>
      <p:pic>
        <p:nvPicPr>
          <p:cNvPr id="13316" name="图片 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0075" y="2908300"/>
            <a:ext cx="2292350" cy="17002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43" y="3301714"/>
            <a:ext cx="2270820" cy="1299734"/>
          </a:xfrm>
          <a:prstGeom prst="rect">
            <a:avLst/>
          </a:prstGeom>
          <a:effectLst>
            <a:glow rad="12700">
              <a:srgbClr val="FF0000">
                <a:alpha val="95000"/>
              </a:srgbClr>
            </a:glow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120" y="2986247"/>
            <a:ext cx="2235305" cy="1209307"/>
          </a:xfrm>
          <a:prstGeom prst="rect">
            <a:avLst/>
          </a:prstGeom>
          <a:effectLst>
            <a:glow rad="12700">
              <a:srgbClr val="FF0000"/>
            </a:glow>
          </a:effectLst>
        </p:spPr>
      </p:pic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5"/>
          <p:cNvSpPr txBox="1"/>
          <p:nvPr/>
        </p:nvSpPr>
        <p:spPr>
          <a:xfrm>
            <a:off x="273050" y="101600"/>
            <a:ext cx="20129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</a:rPr>
              <a:t>实验步骤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18510" name="Rectangle 14"/>
          <p:cNvSpPr/>
          <p:nvPr/>
        </p:nvSpPr>
        <p:spPr>
          <a:xfrm>
            <a:off x="395288" y="1125538"/>
            <a:ext cx="835342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2800" b="1" dirty="0">
                <a:latin typeface="Arial" panose="020B0604020202020204" pitchFamily="34" charset="0"/>
              </a:rPr>
              <a:t>3</a:t>
            </a:r>
            <a:r>
              <a:rPr lang="zh-CN" altLang="en-US" sz="2800" b="1" dirty="0">
                <a:latin typeface="Arial" panose="020B0604020202020204" pitchFamily="34" charset="0"/>
              </a:rPr>
              <a:t>、测量正弦信号的电压有效值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618511" name="Rectangle 15"/>
          <p:cNvSpPr/>
          <p:nvPr/>
        </p:nvSpPr>
        <p:spPr>
          <a:xfrm>
            <a:off x="755650" y="2205038"/>
            <a:ext cx="8066088" cy="3048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）直接测量</a:t>
            </a:r>
            <a:endParaRPr lang="en-US" altLang="zh-CN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a.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按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measure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键，在右侧显示自动测量菜单；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按下菜单操作键的第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个键，选择信源（ 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CH1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或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CH2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）；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b.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按下菜单操作键的第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个键，选择电压测量；在电压测量菜单中选择均方根值（即为有效电压）</a:t>
            </a:r>
            <a:endParaRPr lang="en-US" altLang="zh-CN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）记录示波器电压灵敏度数值（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S=    V/div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）；纪录正弦波从最低点到最高点的格数 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n=     div ;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电压有效值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4341" name="对象 1"/>
          <p:cNvGraphicFramePr>
            <a:graphicFrameLocks noChangeAspect="1"/>
          </p:cNvGraphicFramePr>
          <p:nvPr/>
        </p:nvGraphicFramePr>
        <p:xfrm>
          <a:off x="2301875" y="5443538"/>
          <a:ext cx="2281238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" r:id="rId1" imgW="723900" imgH="419100" progId="Equation.DSMT4">
                  <p:embed/>
                </p:oleObj>
              </mc:Choice>
              <mc:Fallback>
                <p:oleObj name="" r:id="rId1" imgW="723900" imgH="4191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01875" y="5443538"/>
                        <a:ext cx="2281238" cy="579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163"/>
          <p:cNvGrpSpPr/>
          <p:nvPr/>
        </p:nvGrpSpPr>
        <p:grpSpPr>
          <a:xfrm>
            <a:off x="5926138" y="800100"/>
            <a:ext cx="2281237" cy="1687513"/>
            <a:chOff x="867" y="1588"/>
            <a:chExt cx="3810" cy="2223"/>
          </a:xfrm>
        </p:grpSpPr>
        <p:grpSp>
          <p:nvGrpSpPr>
            <p:cNvPr id="14343" name="Group 160"/>
            <p:cNvGrpSpPr/>
            <p:nvPr/>
          </p:nvGrpSpPr>
          <p:grpSpPr>
            <a:xfrm>
              <a:off x="867" y="1588"/>
              <a:ext cx="3810" cy="2223"/>
              <a:chOff x="385" y="1071"/>
              <a:chExt cx="3810" cy="2223"/>
            </a:xfrm>
          </p:grpSpPr>
          <p:sp>
            <p:nvSpPr>
              <p:cNvPr id="14345" name="Rectangle 138"/>
              <p:cNvSpPr/>
              <p:nvPr/>
            </p:nvSpPr>
            <p:spPr>
              <a:xfrm>
                <a:off x="385" y="1071"/>
                <a:ext cx="3810" cy="2223"/>
              </a:xfrm>
              <a:prstGeom prst="rect">
                <a:avLst/>
              </a:prstGeom>
              <a:solidFill>
                <a:srgbClr val="333333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14346" name="Group 159"/>
              <p:cNvGrpSpPr/>
              <p:nvPr/>
            </p:nvGrpSpPr>
            <p:grpSpPr>
              <a:xfrm>
                <a:off x="703" y="1071"/>
                <a:ext cx="3492" cy="2223"/>
                <a:chOff x="703" y="1071"/>
                <a:chExt cx="3492" cy="2767"/>
              </a:xfrm>
            </p:grpSpPr>
            <p:sp>
              <p:nvSpPr>
                <p:cNvPr id="14355" name="Line 139"/>
                <p:cNvSpPr/>
                <p:nvPr/>
              </p:nvSpPr>
              <p:spPr>
                <a:xfrm>
                  <a:off x="703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4356" name="Line 140"/>
                <p:cNvSpPr/>
                <p:nvPr/>
              </p:nvSpPr>
              <p:spPr>
                <a:xfrm>
                  <a:off x="1020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4357" name="Line 141"/>
                <p:cNvSpPr/>
                <p:nvPr/>
              </p:nvSpPr>
              <p:spPr>
                <a:xfrm>
                  <a:off x="1338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4358" name="Line 142"/>
                <p:cNvSpPr/>
                <p:nvPr/>
              </p:nvSpPr>
              <p:spPr>
                <a:xfrm>
                  <a:off x="1651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4359" name="Line 143"/>
                <p:cNvSpPr/>
                <p:nvPr/>
              </p:nvSpPr>
              <p:spPr>
                <a:xfrm>
                  <a:off x="1968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4360" name="Line 144"/>
                <p:cNvSpPr/>
                <p:nvPr/>
              </p:nvSpPr>
              <p:spPr>
                <a:xfrm>
                  <a:off x="2286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4361" name="Line 145"/>
                <p:cNvSpPr/>
                <p:nvPr/>
              </p:nvSpPr>
              <p:spPr>
                <a:xfrm>
                  <a:off x="2612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4362" name="Line 146"/>
                <p:cNvSpPr/>
                <p:nvPr/>
              </p:nvSpPr>
              <p:spPr>
                <a:xfrm>
                  <a:off x="2929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4363" name="Line 147"/>
                <p:cNvSpPr/>
                <p:nvPr/>
              </p:nvSpPr>
              <p:spPr>
                <a:xfrm>
                  <a:off x="3247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4364" name="Line 148"/>
                <p:cNvSpPr/>
                <p:nvPr/>
              </p:nvSpPr>
              <p:spPr>
                <a:xfrm>
                  <a:off x="3560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4365" name="Line 149"/>
                <p:cNvSpPr/>
                <p:nvPr/>
              </p:nvSpPr>
              <p:spPr>
                <a:xfrm>
                  <a:off x="3877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4366" name="Line 150"/>
                <p:cNvSpPr/>
                <p:nvPr/>
              </p:nvSpPr>
              <p:spPr>
                <a:xfrm>
                  <a:off x="4195" y="1071"/>
                  <a:ext cx="0" cy="2767"/>
                </a:xfrm>
                <a:prstGeom prst="line">
                  <a:avLst/>
                </a:prstGeom>
                <a:ln w="9525" cap="flat" cmpd="sng">
                  <a:solidFill>
                    <a:srgbClr val="C0C0C0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347" name="Line 151"/>
              <p:cNvSpPr/>
              <p:nvPr/>
            </p:nvSpPr>
            <p:spPr>
              <a:xfrm>
                <a:off x="385" y="1389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4348" name="Line 152"/>
              <p:cNvSpPr/>
              <p:nvPr/>
            </p:nvSpPr>
            <p:spPr>
              <a:xfrm>
                <a:off x="385" y="1661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4349" name="Line 153"/>
              <p:cNvSpPr/>
              <p:nvPr/>
            </p:nvSpPr>
            <p:spPr>
              <a:xfrm>
                <a:off x="385" y="1933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4350" name="Line 154"/>
              <p:cNvSpPr/>
              <p:nvPr/>
            </p:nvSpPr>
            <p:spPr>
              <a:xfrm>
                <a:off x="385" y="2205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4351" name="Line 155"/>
              <p:cNvSpPr/>
              <p:nvPr/>
            </p:nvSpPr>
            <p:spPr>
              <a:xfrm>
                <a:off x="385" y="2478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4352" name="Line 156"/>
              <p:cNvSpPr/>
              <p:nvPr/>
            </p:nvSpPr>
            <p:spPr>
              <a:xfrm>
                <a:off x="385" y="2750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4353" name="Line 157"/>
              <p:cNvSpPr/>
              <p:nvPr/>
            </p:nvSpPr>
            <p:spPr>
              <a:xfrm>
                <a:off x="385" y="3022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4354" name="Line 158"/>
              <p:cNvSpPr/>
              <p:nvPr/>
            </p:nvSpPr>
            <p:spPr>
              <a:xfrm>
                <a:off x="385" y="3294"/>
                <a:ext cx="381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sp>
          <p:nvSpPr>
            <p:cNvPr id="14344" name="Freeform 162"/>
            <p:cNvSpPr/>
            <p:nvPr/>
          </p:nvSpPr>
          <p:spPr>
            <a:xfrm>
              <a:off x="869" y="2344"/>
              <a:ext cx="3803" cy="747"/>
            </a:xfrm>
            <a:custGeom>
              <a:avLst/>
              <a:gdLst>
                <a:gd name="txL" fmla="*/ 0 w 3803"/>
                <a:gd name="txT" fmla="*/ 0 h 747"/>
                <a:gd name="txR" fmla="*/ 3803 w 3803"/>
                <a:gd name="txB" fmla="*/ 747 h 747"/>
              </a:gdLst>
              <a:ahLst/>
              <a:cxnLst>
                <a:cxn ang="0">
                  <a:pos x="0" y="518"/>
                </a:cxn>
                <a:cxn ang="0">
                  <a:pos x="1097" y="24"/>
                </a:cxn>
                <a:cxn ang="0">
                  <a:pos x="1910" y="371"/>
                </a:cxn>
                <a:cxn ang="0">
                  <a:pos x="2770" y="746"/>
                </a:cxn>
                <a:cxn ang="0">
                  <a:pos x="3483" y="362"/>
                </a:cxn>
                <a:cxn ang="0">
                  <a:pos x="3803" y="106"/>
                </a:cxn>
              </a:cxnLst>
              <a:rect l="txL" t="txT" r="txR" b="txB"/>
              <a:pathLst>
                <a:path w="3803" h="747">
                  <a:moveTo>
                    <a:pt x="0" y="518"/>
                  </a:moveTo>
                  <a:cubicBezTo>
                    <a:pt x="183" y="436"/>
                    <a:pt x="779" y="48"/>
                    <a:pt x="1097" y="24"/>
                  </a:cubicBezTo>
                  <a:cubicBezTo>
                    <a:pt x="1415" y="0"/>
                    <a:pt x="1631" y="251"/>
                    <a:pt x="1910" y="371"/>
                  </a:cubicBezTo>
                  <a:cubicBezTo>
                    <a:pt x="2189" y="491"/>
                    <a:pt x="2508" y="747"/>
                    <a:pt x="2770" y="746"/>
                  </a:cubicBezTo>
                  <a:cubicBezTo>
                    <a:pt x="3032" y="745"/>
                    <a:pt x="3311" y="469"/>
                    <a:pt x="3483" y="362"/>
                  </a:cubicBezTo>
                  <a:cubicBezTo>
                    <a:pt x="3655" y="255"/>
                    <a:pt x="3736" y="159"/>
                    <a:pt x="3803" y="106"/>
                  </a:cubicBezTo>
                </a:path>
              </a:pathLst>
            </a:custGeom>
            <a:noFill/>
            <a:ln w="28575" cap="flat" cmpd="sng">
              <a:solidFill>
                <a:srgbClr val="FFCC00">
                  <a:alpha val="100000"/>
                </a:srgbClr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8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8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510" grpId="0"/>
      <p:bldP spid="6185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8" name="Rectangle 4"/>
          <p:cNvSpPr/>
          <p:nvPr/>
        </p:nvSpPr>
        <p:spPr>
          <a:xfrm>
            <a:off x="0" y="836613"/>
            <a:ext cx="835342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2800" b="1" dirty="0">
                <a:latin typeface="Arial" panose="020B0604020202020204" pitchFamily="34" charset="0"/>
              </a:rPr>
              <a:t>4</a:t>
            </a:r>
            <a:r>
              <a:rPr lang="zh-CN" altLang="en-US" sz="2800" b="1" dirty="0">
                <a:latin typeface="Arial" panose="020B0604020202020204" pitchFamily="34" charset="0"/>
              </a:rPr>
              <a:t>、观察李萨如图形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651269" name="Rectangle 5"/>
          <p:cNvSpPr/>
          <p:nvPr/>
        </p:nvSpPr>
        <p:spPr>
          <a:xfrm>
            <a:off x="0" y="1959610"/>
            <a:ext cx="7993063" cy="34150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）将两个正弦信号输入通道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CH1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或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CH2 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；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）若通道未被显示，按下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CH1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或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CH2 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按钮；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）按下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auto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键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4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）调整ＳＣＡＬＥ旋钮使两路信号幅度大致相等；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（５）按下水平控制栏下的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MENU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菜单按钮以调出水平控制菜单（在屏幕的右侧显示）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（６）按下时基菜单按钮选择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X-Y,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可显示李萨如图形，按下运行控制栏的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</a:rPr>
              <a:t>RUN/STOP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可使李萨如图形静止。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96285" y="105918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5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5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1268" grpId="0"/>
      <p:bldP spid="65126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7"/>
          <p:cNvSpPr/>
          <p:nvPr/>
        </p:nvSpPr>
        <p:spPr>
          <a:xfrm>
            <a:off x="539750" y="766604"/>
            <a:ext cx="7577138" cy="18148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7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）、观察李萨如图形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       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设置频率比为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fy:fx=1:2;1:3;2:3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并画图</a:t>
            </a:r>
            <a:r>
              <a:rPr lang="zh-CN" altLang="en-US" sz="2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，记录相应的信号频率。</a:t>
            </a:r>
            <a:endParaRPr lang="zh-CN" altLang="en-US" sz="280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pic>
        <p:nvPicPr>
          <p:cNvPr id="617490" name="李莎茹图21.avi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916238" y="3141663"/>
            <a:ext cx="3095625" cy="30241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7491" name="李莎茹图1221.avi">
            <a:hlinkClick r:id="" action="ppaction://media"/>
          </p:cNvPr>
          <p:cNvPicPr>
            <a:picLocks noRot="1"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4950" y="3141663"/>
            <a:ext cx="2897188" cy="30241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7492" name="李莎茹图2341.avi">
            <a:hlinkClick r:id="" action="ppaction://media"/>
          </p:cNvPr>
          <p:cNvPicPr>
            <a:picLocks noRot="1"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link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711825" y="3141663"/>
            <a:ext cx="3432175" cy="3024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90" name="Text Box 24"/>
          <p:cNvSpPr txBox="1"/>
          <p:nvPr/>
        </p:nvSpPr>
        <p:spPr>
          <a:xfrm>
            <a:off x="273050" y="101600"/>
            <a:ext cx="2954338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</a:rPr>
              <a:t>四、实验内容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17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1749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749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17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174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7491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17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61749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7492"/>
                  </p:tgtEl>
                </p:cond>
              </p:nextCondLst>
            </p:seq>
            <p:video>
              <p:cMediaNode>
                <p:cTn id="1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17490"/>
                </p:tgtEl>
              </p:cMediaNode>
            </p:video>
            <p:video>
              <p:cMediaNode>
                <p:cTn id="1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17491"/>
                </p:tgtEl>
              </p:cMediaNode>
            </p:video>
            <p:video>
              <p:cMediaNode>
                <p:cTn id="1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17492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467360" y="-27622"/>
            <a:ext cx="8229600" cy="1143000"/>
          </a:xfrm>
          <a:noFill/>
          <a:ln>
            <a:noFill/>
          </a:ln>
        </p:spPr>
        <p:txBody>
          <a:bodyPr/>
          <a:lstStyle/>
          <a:p>
            <a:pPr algn="l"/>
            <a:r>
              <a:rPr lang="zh-CN" altLang="en-US" dirty="0">
                <a:solidFill>
                  <a:srgbClr val="C00000"/>
                </a:solidFill>
              </a:rPr>
              <a:t>五、数据处理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zh-CN" altLang="en-US" dirty="0"/>
              <a:t>将所有图形重新在坐标纸上画一次。</a:t>
            </a:r>
            <a:endParaRPr lang="en-US" altLang="zh-CN" dirty="0"/>
          </a:p>
          <a:p>
            <a:r>
              <a:rPr lang="zh-CN" altLang="en-US" dirty="0"/>
              <a:t>计算出正弦电压有效值，并与直接测量的有效值比较，计算误差</a:t>
            </a:r>
            <a:endParaRPr lang="zh-CN" altLang="en-US" dirty="0"/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395605" y="116523"/>
            <a:ext cx="8229600" cy="1143000"/>
          </a:xfrm>
          <a:noFill/>
          <a:ln>
            <a:noFill/>
          </a:ln>
        </p:spPr>
        <p:txBody>
          <a:bodyPr/>
          <a:lstStyle/>
          <a:p>
            <a:pPr algn="l"/>
            <a:r>
              <a:rPr lang="zh-CN" altLang="en-US" dirty="0">
                <a:solidFill>
                  <a:srgbClr val="FF0000"/>
                </a:solidFill>
              </a:rPr>
              <a:t>六、思考题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13586" y="869370"/>
            <a:ext cx="8280920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227965" indent="-457200" eaLnBrk="1" latinLnBrk="1" hangingPunct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AutoNum type="arabicParenBoth"/>
              <a:tabLst>
                <a:tab pos="464820" algn="l"/>
              </a:tabLst>
            </a:pPr>
            <a:r>
              <a:rPr lang="zh-CN" altLang="en-US" dirty="0" smtClean="0"/>
              <a:t>在</a:t>
            </a:r>
            <a:r>
              <a:rPr lang="zh-CN" altLang="en-US" dirty="0"/>
              <a:t>观察李萨如图形时，如果把</a:t>
            </a:r>
            <a:r>
              <a:rPr lang="en-US" altLang="zh-CN" dirty="0" err="1"/>
              <a:t>f</a:t>
            </a:r>
            <a:r>
              <a:rPr lang="en-US" altLang="zh-CN" baseline="-10000" dirty="0" err="1"/>
              <a:t>x</a:t>
            </a:r>
            <a:r>
              <a:rPr lang="zh-CN" altLang="en-US" dirty="0"/>
              <a:t>、</a:t>
            </a:r>
            <a:r>
              <a:rPr lang="en-US" altLang="zh-CN" dirty="0" err="1"/>
              <a:t>f</a:t>
            </a:r>
            <a:r>
              <a:rPr lang="en-US" altLang="zh-CN" sz="2400" baseline="-10000" dirty="0" err="1"/>
              <a:t>y</a:t>
            </a:r>
            <a:r>
              <a:rPr lang="zh-CN" altLang="en-US" dirty="0"/>
              <a:t> 对调，图形会怎么样</a:t>
            </a:r>
            <a:r>
              <a:rPr lang="en-US" altLang="zh-CN" dirty="0"/>
              <a:t>? </a:t>
            </a:r>
            <a:endParaRPr lang="en-US" altLang="zh-CN" dirty="0" smtClean="0"/>
          </a:p>
          <a:p>
            <a:pPr marL="457200" marR="227965" indent="-457200" eaLnBrk="1" latinLnBrk="1" hangingPunct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AutoNum type="arabicParenBoth"/>
              <a:tabLst>
                <a:tab pos="464820" algn="l"/>
              </a:tabLst>
            </a:pPr>
            <a:r>
              <a:rPr lang="zh-CN" altLang="en-US" dirty="0" smtClean="0"/>
              <a:t>用</a:t>
            </a:r>
            <a:r>
              <a:rPr lang="zh-CN" altLang="en-US" dirty="0"/>
              <a:t>李萨如图形测频率实验时，屏幕上的图形在时刻转动，为什么</a:t>
            </a:r>
            <a:r>
              <a:rPr lang="en-US" altLang="zh-CN" dirty="0"/>
              <a:t>? </a:t>
            </a:r>
            <a:endParaRPr lang="en-US" altLang="zh-CN" dirty="0"/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COMMONDATA" val="eyJoZGlkIjoiMTA4OWFkYWY0ZjcxYzM1Nzg0MzNiYjA4OGE2MGE0ZGQifQ=="/>
  <p:tag name="KSO_WPP_MARK_KEY" val="fd37af4f-07d3-4c0d-8699-3c25d879e971"/>
</p:tagLst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2404</Words>
  <Application>WPS 演示</Application>
  <PresentationFormat>全屏显示(4:3)</PresentationFormat>
  <Paragraphs>270</Paragraphs>
  <Slides>26</Slides>
  <Notes>2</Notes>
  <HiddenSlides>0</HiddenSlides>
  <MMClips>7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32</vt:i4>
      </vt:variant>
      <vt:variant>
        <vt:lpstr>幻灯片标题</vt:lpstr>
      </vt:variant>
      <vt:variant>
        <vt:i4>26</vt:i4>
      </vt:variant>
    </vt:vector>
  </HeadingPairs>
  <TitlesOfParts>
    <vt:vector size="71" baseType="lpstr">
      <vt:lpstr>Arial</vt:lpstr>
      <vt:lpstr>宋体</vt:lpstr>
      <vt:lpstr>Wingdings</vt:lpstr>
      <vt:lpstr>华文中宋</vt:lpstr>
      <vt:lpstr>华文隶书</vt:lpstr>
      <vt:lpstr>Times New Roman</vt:lpstr>
      <vt:lpstr>黑体</vt:lpstr>
      <vt:lpstr>微软雅黑</vt:lpstr>
      <vt:lpstr>Arial Unicode MS</vt:lpstr>
      <vt:lpstr>Calibri</vt:lpstr>
      <vt:lpstr>楷体_GB2312</vt:lpstr>
      <vt:lpstr>新宋体</vt:lpstr>
      <vt:lpstr>古瓶荷花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历史背景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五、数据处理</vt:lpstr>
      <vt:lpstr>六、思考题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大学物理实验</dc:title>
  <dc:creator>User</dc:creator>
  <cp:lastModifiedBy>王锦鸿</cp:lastModifiedBy>
  <cp:revision>136</cp:revision>
  <dcterms:created xsi:type="dcterms:W3CDTF">2007-03-01T02:00:00Z</dcterms:created>
  <dcterms:modified xsi:type="dcterms:W3CDTF">2023-05-04T07:44:08Z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4D8A7477337E4358A433034035897D58</vt:lpwstr>
  </property>
  <property fmtid="{D5CDD505-2E9C-101B-9397-08002B2CF9AE}" pid="3" name="KSOProductBuildVer">
    <vt:lpwstr>2052-11.1.0.13012</vt:lpwstr>
  </property>
</Properties>
</file>