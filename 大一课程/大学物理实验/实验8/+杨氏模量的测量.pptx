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27"/>
  </p:handoutMasterIdLst>
  <p:sldIdLst>
    <p:sldId id="390" r:id="rId3"/>
    <p:sldId id="393" r:id="rId4"/>
    <p:sldId id="410" r:id="rId5"/>
    <p:sldId id="397" r:id="rId6"/>
    <p:sldId id="399" r:id="rId7"/>
    <p:sldId id="398" r:id="rId8"/>
    <p:sldId id="418" r:id="rId9"/>
    <p:sldId id="402" r:id="rId10"/>
    <p:sldId id="408" r:id="rId11"/>
    <p:sldId id="411" r:id="rId12"/>
    <p:sldId id="409" r:id="rId13"/>
    <p:sldId id="432" r:id="rId15"/>
    <p:sldId id="431" r:id="rId16"/>
    <p:sldId id="430" r:id="rId17"/>
    <p:sldId id="412" r:id="rId18"/>
    <p:sldId id="413" r:id="rId19"/>
    <p:sldId id="433" r:id="rId20"/>
    <p:sldId id="414" r:id="rId21"/>
    <p:sldId id="415" r:id="rId22"/>
    <p:sldId id="416" r:id="rId23"/>
    <p:sldId id="417" r:id="rId24"/>
    <p:sldId id="443" r:id="rId25"/>
    <p:sldId id="396" r:id="rId26"/>
  </p:sldIdLst>
  <p:sldSz cx="9144000" cy="6858000" type="screen4x3"/>
  <p:notesSz cx="6858000" cy="9144000"/>
  <p:custDataLst>
    <p:tags r:id="rId3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0066"/>
    <a:srgbClr val="292929"/>
    <a:srgbClr val="4D4D4D"/>
    <a:srgbClr val="EAEAEA"/>
    <a:srgbClr val="006666"/>
    <a:srgbClr val="153A3F"/>
    <a:srgbClr val="0E3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8"/>
    <p:restoredTop sz="98194"/>
  </p:normalViewPr>
  <p:slideViewPr>
    <p:cSldViewPr snapToObjects="1" showGuides="1">
      <p:cViewPr varScale="1">
        <p:scale>
          <a:sx n="84" d="100"/>
          <a:sy n="84" d="100"/>
        </p:scale>
        <p:origin x="-1494" y="-78"/>
      </p:cViewPr>
      <p:guideLst>
        <p:guide orient="horz" pos="2139"/>
        <p:guide pos="28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0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7" Type="http://schemas.openxmlformats.org/officeDocument/2006/relationships/image" Target="../media/image62.wmf"/><Relationship Id="rId26" Type="http://schemas.openxmlformats.org/officeDocument/2006/relationships/image" Target="../media/image61.wmf"/><Relationship Id="rId25" Type="http://schemas.openxmlformats.org/officeDocument/2006/relationships/image" Target="../media/image60.wmf"/><Relationship Id="rId24" Type="http://schemas.openxmlformats.org/officeDocument/2006/relationships/image" Target="../media/image59.wmf"/><Relationship Id="rId23" Type="http://schemas.openxmlformats.org/officeDocument/2006/relationships/image" Target="../media/image58.wmf"/><Relationship Id="rId22" Type="http://schemas.openxmlformats.org/officeDocument/2006/relationships/image" Target="../media/image57.wmf"/><Relationship Id="rId21" Type="http://schemas.openxmlformats.org/officeDocument/2006/relationships/image" Target="../media/image56.wmf"/><Relationship Id="rId20" Type="http://schemas.openxmlformats.org/officeDocument/2006/relationships/image" Target="../media/image55.wmf"/><Relationship Id="rId2" Type="http://schemas.openxmlformats.org/officeDocument/2006/relationships/image" Target="../media/image37.wmf"/><Relationship Id="rId19" Type="http://schemas.openxmlformats.org/officeDocument/2006/relationships/image" Target="../media/image54.wmf"/><Relationship Id="rId18" Type="http://schemas.openxmlformats.org/officeDocument/2006/relationships/image" Target="../media/image53.wmf"/><Relationship Id="rId17" Type="http://schemas.openxmlformats.org/officeDocument/2006/relationships/image" Target="../media/image52.wmf"/><Relationship Id="rId16" Type="http://schemas.openxmlformats.org/officeDocument/2006/relationships/image" Target="../media/image51.wmf"/><Relationship Id="rId15" Type="http://schemas.openxmlformats.org/officeDocument/2006/relationships/image" Target="../media/image50.wmf"/><Relationship Id="rId14" Type="http://schemas.openxmlformats.org/officeDocument/2006/relationships/image" Target="../media/image49.wmf"/><Relationship Id="rId13" Type="http://schemas.openxmlformats.org/officeDocument/2006/relationships/image" Target="../media/image48.wmf"/><Relationship Id="rId12" Type="http://schemas.openxmlformats.org/officeDocument/2006/relationships/image" Target="../media/image47.wmf"/><Relationship Id="rId11" Type="http://schemas.openxmlformats.org/officeDocument/2006/relationships/image" Target="../media/image46.wmf"/><Relationship Id="rId10" Type="http://schemas.openxmlformats.org/officeDocument/2006/relationships/image" Target="../media/image45.wmf"/><Relationship Id="rId1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1" Type="http://schemas.openxmlformats.org/officeDocument/2006/relationships/image" Target="../media/image79.wmf"/><Relationship Id="rId10" Type="http://schemas.openxmlformats.org/officeDocument/2006/relationships/image" Target="../media/image78.wmf"/><Relationship Id="rId1" Type="http://schemas.openxmlformats.org/officeDocument/2006/relationships/image" Target="../media/image69.wmf"/></Relationships>
</file>

<file path=ppt/drawings/_rels/vmlDrawing12.vml.rels><?xml version="1.0" encoding="UTF-8" standalone="yes"?>
<Relationships xmlns="http://schemas.openxmlformats.org/package/2006/relationships"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2063A-5600-4543-9F1D-9E16AECE2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0B60EB-0BB0-44CC-B979-37F83D6503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0" descr="bj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5" name="Group 20"/>
          <p:cNvGrpSpPr/>
          <p:nvPr userDrawn="1"/>
        </p:nvGrpSpPr>
        <p:grpSpPr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>
              <a:spLocks noChangeShapeType="1"/>
            </p:cNvSpPr>
            <p:nvPr/>
          </p:nvSpPr>
          <p:spPr bwMode="auto">
            <a:xfrm>
              <a:off x="3647" y="3923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7471569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8019256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8" name="Group 25"/>
          <p:cNvGrpSpPr/>
          <p:nvPr userDrawn="1"/>
        </p:nvGrpSpPr>
        <p:grpSpPr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Line 27"/>
            <p:cNvSpPr>
              <a:spLocks noChangeShapeType="1"/>
            </p:cNvSpPr>
            <p:nvPr/>
          </p:nvSpPr>
          <p:spPr bwMode="auto">
            <a:xfrm>
              <a:off x="4558" y="3896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9" name="Picture 37" descr="bj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33"/>
          <p:cNvSpPr>
            <a:spLocks noChangeArrowheads="1"/>
          </p:cNvSpPr>
          <p:nvPr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34"/>
          <p:cNvSpPr>
            <a:spLocks noChangeArrowheads="1"/>
          </p:cNvSpPr>
          <p:nvPr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wmf"/><Relationship Id="rId8" Type="http://schemas.openxmlformats.org/officeDocument/2006/relationships/oleObject" Target="../embeddings/oleObject13.bin"/><Relationship Id="rId7" Type="http://schemas.openxmlformats.org/officeDocument/2006/relationships/image" Target="../media/image19.wmf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17.wmf"/><Relationship Id="rId2" Type="http://schemas.openxmlformats.org/officeDocument/2006/relationships/oleObject" Target="../embeddings/oleObject10.bin"/><Relationship Id="rId19" Type="http://schemas.openxmlformats.org/officeDocument/2006/relationships/vmlDrawing" Target="../drawings/vmlDrawing4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3.wmf"/><Relationship Id="rId16" Type="http://schemas.openxmlformats.org/officeDocument/2006/relationships/oleObject" Target="../embeddings/oleObject17.bin"/><Relationship Id="rId15" Type="http://schemas.openxmlformats.org/officeDocument/2006/relationships/image" Target="../media/image22.wmf"/><Relationship Id="rId14" Type="http://schemas.openxmlformats.org/officeDocument/2006/relationships/oleObject" Target="../embeddings/oleObject16.bin"/><Relationship Id="rId13" Type="http://schemas.openxmlformats.org/officeDocument/2006/relationships/image" Target="../media/image7.wmf"/><Relationship Id="rId12" Type="http://schemas.openxmlformats.org/officeDocument/2006/relationships/oleObject" Target="../embeddings/oleObject15.bin"/><Relationship Id="rId11" Type="http://schemas.openxmlformats.org/officeDocument/2006/relationships/image" Target="../media/image21.wmf"/><Relationship Id="rId10" Type="http://schemas.openxmlformats.org/officeDocument/2006/relationships/oleObject" Target="../embeddings/oleObject14.bin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4.wmf"/><Relationship Id="rId15" Type="http://schemas.openxmlformats.org/officeDocument/2006/relationships/vmlDrawing" Target="../drawings/vmlDrawing5.vml"/><Relationship Id="rId14" Type="http://schemas.openxmlformats.org/officeDocument/2006/relationships/slideLayout" Target="../slideLayouts/slideLayout7.xml"/><Relationship Id="rId13" Type="http://schemas.openxmlformats.org/officeDocument/2006/relationships/themeOverride" Target="../theme/themeOverride1.xml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3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7.bin"/><Relationship Id="rId4" Type="http://schemas.openxmlformats.org/officeDocument/2006/relationships/tags" Target="../tags/tag2.xml"/><Relationship Id="rId3" Type="http://schemas.openxmlformats.org/officeDocument/2006/relationships/image" Target="../media/image31.wmf"/><Relationship Id="rId2" Type="http://schemas.openxmlformats.org/officeDocument/2006/relationships/oleObject" Target="../embeddings/oleObject26.bin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oleObject" Target="../embeddings/oleObject30.bin"/><Relationship Id="rId7" Type="http://schemas.openxmlformats.org/officeDocument/2006/relationships/tags" Target="../tags/tag6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4" Type="http://schemas.openxmlformats.org/officeDocument/2006/relationships/tags" Target="../tags/tag5.xml"/><Relationship Id="rId3" Type="http://schemas.openxmlformats.org/officeDocument/2006/relationships/image" Target="../media/image33.wmf"/><Relationship Id="rId2" Type="http://schemas.openxmlformats.org/officeDocument/2006/relationships/oleObject" Target="../embeddings/oleObject28.bin"/><Relationship Id="rId13" Type="http://schemas.openxmlformats.org/officeDocument/2006/relationships/vmlDrawing" Target="../drawings/vmlDrawing8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5.wmf"/><Relationship Id="rId10" Type="http://schemas.openxmlformats.org/officeDocument/2006/relationships/oleObject" Target="../embeddings/oleObject31.bin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8.wmf"/><Relationship Id="rId58" Type="http://schemas.openxmlformats.org/officeDocument/2006/relationships/notesSlide" Target="../notesSlides/notesSlide3.xml"/><Relationship Id="rId57" Type="http://schemas.openxmlformats.org/officeDocument/2006/relationships/vmlDrawing" Target="../drawings/vmlDrawing9.vml"/><Relationship Id="rId56" Type="http://schemas.openxmlformats.org/officeDocument/2006/relationships/slideLayout" Target="../slideLayouts/slideLayout7.xml"/><Relationship Id="rId55" Type="http://schemas.openxmlformats.org/officeDocument/2006/relationships/image" Target="../media/image62.wmf"/><Relationship Id="rId54" Type="http://schemas.openxmlformats.org/officeDocument/2006/relationships/oleObject" Target="../embeddings/oleObject59.bin"/><Relationship Id="rId53" Type="http://schemas.openxmlformats.org/officeDocument/2006/relationships/image" Target="../media/image61.wmf"/><Relationship Id="rId52" Type="http://schemas.openxmlformats.org/officeDocument/2006/relationships/oleObject" Target="../embeddings/oleObject58.bin"/><Relationship Id="rId51" Type="http://schemas.openxmlformats.org/officeDocument/2006/relationships/image" Target="../media/image60.wmf"/><Relationship Id="rId50" Type="http://schemas.openxmlformats.org/officeDocument/2006/relationships/oleObject" Target="../embeddings/oleObject57.bin"/><Relationship Id="rId5" Type="http://schemas.openxmlformats.org/officeDocument/2006/relationships/oleObject" Target="../embeddings/oleObject34.bin"/><Relationship Id="rId49" Type="http://schemas.openxmlformats.org/officeDocument/2006/relationships/image" Target="../media/image59.wmf"/><Relationship Id="rId48" Type="http://schemas.openxmlformats.org/officeDocument/2006/relationships/oleObject" Target="../embeddings/oleObject56.bin"/><Relationship Id="rId47" Type="http://schemas.openxmlformats.org/officeDocument/2006/relationships/image" Target="../media/image58.wmf"/><Relationship Id="rId46" Type="http://schemas.openxmlformats.org/officeDocument/2006/relationships/oleObject" Target="../embeddings/oleObject55.bin"/><Relationship Id="rId45" Type="http://schemas.openxmlformats.org/officeDocument/2006/relationships/image" Target="../media/image57.wmf"/><Relationship Id="rId44" Type="http://schemas.openxmlformats.org/officeDocument/2006/relationships/oleObject" Target="../embeddings/oleObject54.bin"/><Relationship Id="rId43" Type="http://schemas.openxmlformats.org/officeDocument/2006/relationships/oleObject" Target="../embeddings/oleObject53.bin"/><Relationship Id="rId42" Type="http://schemas.openxmlformats.org/officeDocument/2006/relationships/image" Target="../media/image56.wmf"/><Relationship Id="rId41" Type="http://schemas.openxmlformats.org/officeDocument/2006/relationships/oleObject" Target="../embeddings/oleObject52.bin"/><Relationship Id="rId40" Type="http://schemas.openxmlformats.org/officeDocument/2006/relationships/image" Target="../media/image55.wmf"/><Relationship Id="rId4" Type="http://schemas.openxmlformats.org/officeDocument/2006/relationships/image" Target="../media/image37.wmf"/><Relationship Id="rId39" Type="http://schemas.openxmlformats.org/officeDocument/2006/relationships/oleObject" Target="../embeddings/oleObject51.bin"/><Relationship Id="rId38" Type="http://schemas.openxmlformats.org/officeDocument/2006/relationships/image" Target="../media/image54.wmf"/><Relationship Id="rId37" Type="http://schemas.openxmlformats.org/officeDocument/2006/relationships/oleObject" Target="../embeddings/oleObject50.bin"/><Relationship Id="rId36" Type="http://schemas.openxmlformats.org/officeDocument/2006/relationships/image" Target="../media/image53.wmf"/><Relationship Id="rId35" Type="http://schemas.openxmlformats.org/officeDocument/2006/relationships/oleObject" Target="../embeddings/oleObject49.bin"/><Relationship Id="rId34" Type="http://schemas.openxmlformats.org/officeDocument/2006/relationships/image" Target="../media/image52.wmf"/><Relationship Id="rId33" Type="http://schemas.openxmlformats.org/officeDocument/2006/relationships/oleObject" Target="../embeddings/oleObject48.bin"/><Relationship Id="rId32" Type="http://schemas.openxmlformats.org/officeDocument/2006/relationships/image" Target="../media/image51.wmf"/><Relationship Id="rId31" Type="http://schemas.openxmlformats.org/officeDocument/2006/relationships/oleObject" Target="../embeddings/oleObject47.bin"/><Relationship Id="rId30" Type="http://schemas.openxmlformats.org/officeDocument/2006/relationships/image" Target="../media/image50.wmf"/><Relationship Id="rId3" Type="http://schemas.openxmlformats.org/officeDocument/2006/relationships/oleObject" Target="../embeddings/oleObject33.bin"/><Relationship Id="rId29" Type="http://schemas.openxmlformats.org/officeDocument/2006/relationships/oleObject" Target="../embeddings/oleObject46.bin"/><Relationship Id="rId28" Type="http://schemas.openxmlformats.org/officeDocument/2006/relationships/image" Target="../media/image49.wmf"/><Relationship Id="rId27" Type="http://schemas.openxmlformats.org/officeDocument/2006/relationships/oleObject" Target="../embeddings/oleObject45.bin"/><Relationship Id="rId26" Type="http://schemas.openxmlformats.org/officeDocument/2006/relationships/image" Target="../media/image48.wmf"/><Relationship Id="rId25" Type="http://schemas.openxmlformats.org/officeDocument/2006/relationships/oleObject" Target="../embeddings/oleObject44.bin"/><Relationship Id="rId24" Type="http://schemas.openxmlformats.org/officeDocument/2006/relationships/image" Target="../media/image47.wmf"/><Relationship Id="rId23" Type="http://schemas.openxmlformats.org/officeDocument/2006/relationships/oleObject" Target="../embeddings/oleObject43.bin"/><Relationship Id="rId22" Type="http://schemas.openxmlformats.org/officeDocument/2006/relationships/image" Target="../media/image46.wmf"/><Relationship Id="rId21" Type="http://schemas.openxmlformats.org/officeDocument/2006/relationships/oleObject" Target="../embeddings/oleObject42.bin"/><Relationship Id="rId20" Type="http://schemas.openxmlformats.org/officeDocument/2006/relationships/image" Target="../media/image45.w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41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40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tags" Target="../tags/tag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.bin"/><Relationship Id="rId8" Type="http://schemas.openxmlformats.org/officeDocument/2006/relationships/image" Target="../media/image66.w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63.wmf"/><Relationship Id="rId15" Type="http://schemas.openxmlformats.org/officeDocument/2006/relationships/notesSlide" Target="../notesSlides/notesSlide6.xml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8.wmf"/><Relationship Id="rId11" Type="http://schemas.openxmlformats.org/officeDocument/2006/relationships/oleObject" Target="../embeddings/oleObject65.bin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6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67.bin"/><Relationship Id="rId25" Type="http://schemas.openxmlformats.org/officeDocument/2006/relationships/notesSlide" Target="../notesSlides/notesSlide7.xml"/><Relationship Id="rId24" Type="http://schemas.openxmlformats.org/officeDocument/2006/relationships/vmlDrawing" Target="../drawings/vmlDrawing11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79.wmf"/><Relationship Id="rId21" Type="http://schemas.openxmlformats.org/officeDocument/2006/relationships/oleObject" Target="../embeddings/oleObject76.bin"/><Relationship Id="rId20" Type="http://schemas.openxmlformats.org/officeDocument/2006/relationships/image" Target="../media/image78.wmf"/><Relationship Id="rId2" Type="http://schemas.openxmlformats.org/officeDocument/2006/relationships/image" Target="../media/image69.wmf"/><Relationship Id="rId19" Type="http://schemas.openxmlformats.org/officeDocument/2006/relationships/oleObject" Target="../embeddings/oleObject75.bin"/><Relationship Id="rId18" Type="http://schemas.openxmlformats.org/officeDocument/2006/relationships/image" Target="../media/image77.wmf"/><Relationship Id="rId17" Type="http://schemas.openxmlformats.org/officeDocument/2006/relationships/oleObject" Target="../embeddings/oleObject74.bin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73.bin"/><Relationship Id="rId14" Type="http://schemas.openxmlformats.org/officeDocument/2006/relationships/image" Target="../media/image75.wmf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66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83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80.wmf"/><Relationship Id="rId13" Type="http://schemas.openxmlformats.org/officeDocument/2006/relationships/notesSlide" Target="../notesSlides/notesSlide8.xml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4.wmf"/><Relationship Id="rId1" Type="http://schemas.openxmlformats.org/officeDocument/2006/relationships/oleObject" Target="../embeddings/oleObject77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5.wmf"/><Relationship Id="rId2" Type="http://schemas.openxmlformats.org/officeDocument/2006/relationships/oleObject" Target="../embeddings/oleObject82.bin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7.png"/><Relationship Id="rId3" Type="http://schemas.microsoft.com/office/2007/relationships/media" Target="file:///C:\Documents%20and%20Settings\new\&#26700;&#38754;\&#26032;&#24314;&#25991;&#20214;&#22841;%20(2)\006.06.%20&#26790;&#20013;&#30340;&#23130;&#31036;%20MARIAGE%20D'%20AMOUR.mp3" TargetMode="External"/><Relationship Id="rId2" Type="http://schemas.openxmlformats.org/officeDocument/2006/relationships/audio" Target="file:///C:\Documents%20and%20Settings\new\&#26700;&#38754;\&#26032;&#24314;&#25991;&#20214;&#22841;%20(2)\006.06.%20&#26790;&#20013;&#30340;&#23130;&#31036;%20MARIAGE%20D'%20AMOUR.mp3" TargetMode="External"/><Relationship Id="rId1" Type="http://schemas.openxmlformats.org/officeDocument/2006/relationships/image" Target="../media/image8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图片1a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549275"/>
            <a:ext cx="9144000" cy="630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4"/>
          <p:cNvSpPr/>
          <p:nvPr/>
        </p:nvSpPr>
        <p:spPr>
          <a:xfrm>
            <a:off x="0" y="5949950"/>
            <a:ext cx="9144000" cy="908050"/>
          </a:xfrm>
          <a:prstGeom prst="rect">
            <a:avLst/>
          </a:prstGeom>
          <a:solidFill>
            <a:srgbClr val="0099FF"/>
          </a:solidFill>
          <a:ln w="2857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              </a:t>
            </a:r>
            <a:endParaRPr lang="en-US" altLang="zh-CN" sz="2800" b="1" i="1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00" name="Rectangle 5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rgbClr val="6699FF"/>
          </a:solidFill>
          <a:ln w="28575">
            <a:noFill/>
          </a:ln>
        </p:spPr>
        <p:txBody>
          <a:bodyPr wrap="none" anchor="ctr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5192" name="WordArt 8"/>
          <p:cNvSpPr>
            <a:spLocks noChangeArrowheads="1" noChangeShapeType="1" noTextEdit="1"/>
          </p:cNvSpPr>
          <p:nvPr/>
        </p:nvSpPr>
        <p:spPr bwMode="auto">
          <a:xfrm>
            <a:off x="4716463" y="4510088"/>
            <a:ext cx="3095625" cy="503237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大学物理</a:t>
            </a:r>
            <a:r>
              <a:rPr kumimoji="0" lang="zh-CN" altLang="en-US" sz="3600" b="1" i="0" u="none" strike="noStrike" kern="10" cap="none" spc="0" normalizeH="0" baseline="0" noProof="0" dirty="0" smtClean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实验</a:t>
            </a:r>
            <a:r>
              <a:rPr kumimoji="0" lang="en-US" altLang="zh-CN" sz="3600" b="1" i="0" u="none" strike="noStrike" kern="10" cap="none" spc="0" normalizeH="0" baseline="0" noProof="0" dirty="0" smtClean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1</a:t>
            </a:r>
            <a:endParaRPr kumimoji="0" lang="en-US" altLang="zh-CN" sz="3600" b="1" i="0" u="none" strike="noStrike" kern="10" cap="none" spc="0" normalizeH="0" baseline="0" noProof="0" dirty="0" smtClean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2023.05</a:t>
            </a:r>
            <a:endParaRPr kumimoji="0" lang="en-US" altLang="zh-CN" sz="3600" b="1" i="0" u="none" strike="noStrike" kern="10" cap="none" spc="0" normalizeH="0" baseline="0" noProof="0" dirty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4102" name="WordArt 9"/>
          <p:cNvSpPr>
            <a:spLocks noTextEdit="1"/>
          </p:cNvSpPr>
          <p:nvPr/>
        </p:nvSpPr>
        <p:spPr>
          <a:xfrm>
            <a:off x="1476375" y="2386013"/>
            <a:ext cx="7023100" cy="12588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 dirty="0" smtClean="0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杨氏模量的测量</a:t>
            </a:r>
            <a:endParaRPr lang="zh-CN" altLang="en-US" sz="3600" b="1" dirty="0">
              <a:ln w="952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  <a:solidFill>
                <a:srgbClr val="000066"/>
              </a:solidFill>
              <a:effectLst>
                <a:outerShdw dist="35921" dir="2699999" algn="ctr" rotWithShape="0">
                  <a:srgbClr val="C0C0C0">
                    <a:alpha val="79999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4103" name="Text Box 11"/>
          <p:cNvSpPr txBox="1"/>
          <p:nvPr/>
        </p:nvSpPr>
        <p:spPr>
          <a:xfrm>
            <a:off x="2555875" y="6207125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深圳大学物理实验教学中心</a:t>
            </a:r>
            <a:endParaRPr lang="zh-CN" altLang="en-US" sz="2400" b="1" dirty="0">
              <a:solidFill>
                <a:srgbClr val="292929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4000" y="14285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实验背景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4000" y="856357"/>
            <a:ext cx="846140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1807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年因英国医生兼物理学家托马斯</a:t>
            </a:r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杨</a:t>
            </a:r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(Thomas Young, 1773-1829) 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得到的结果而命名。根据胡克定律，在物体的弹性限度内，应力与应变成正比，比值被称为材料的杨氏模量，它是表征材料性质的一个物理量，仅取决于材料本身的物理性质。杨氏模量的大小标志了材料的刚性，杨氏模量越大，越不容易发生形变。</a:t>
            </a:r>
            <a:endParaRPr lang="zh-CN" altLang="en-US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杨氏弹性模量是选定机械零件材料的依据之一，是工程技术设计中常用的参数。杨氏模量的测定对研究金属材料、光纤材料、半导体、纳米材料、聚合物、陶瓷、橡胶等各种材料的力学性质有着重要意义，还可用于机械零部件设计、生物力学、地质等领域。</a:t>
            </a:r>
            <a:endParaRPr lang="zh-CN" altLang="en-US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4000" y="14285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实验背景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4000" y="856356"/>
            <a:ext cx="36036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测量杨氏模量的方法一般有拉伸法、梁弯曲法、振动法、内耗法等，还出现了利用光纤位移传感器、莫尔条纹、电涡流传感器和波动传递技术（微波或超声波）等实验技术和方法测量杨氏模量。</a:t>
            </a:r>
            <a:endParaRPr lang="en-US" altLang="zh-CN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本实验用拉伸法测量杨氏模量。</a:t>
            </a:r>
            <a:endParaRPr lang="zh-CN" altLang="en-US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071934" y="1120116"/>
          <a:ext cx="4814896" cy="3825256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3149794"/>
                <a:gridCol w="1665102"/>
              </a:tblGrid>
              <a:tr h="284790"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材料</a:t>
                      </a:r>
                      <a:endParaRPr lang="zh-CN" altLang="en-US" sz="2000" dirty="0"/>
                    </a:p>
                  </a:txBody>
                  <a:tcPr marL="91439" marR="91439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杨氏模量</a:t>
                      </a:r>
                      <a:r>
                        <a:rPr lang="en-US" altLang="zh-CN" sz="2000" dirty="0" smtClean="0"/>
                        <a:t>E</a:t>
                      </a:r>
                      <a:r>
                        <a:rPr lang="zh-CN" altLang="en-US" sz="2000" dirty="0" smtClean="0"/>
                        <a:t>（</a:t>
                      </a:r>
                      <a:r>
                        <a:rPr lang="en-US" altLang="zh-CN" sz="2000" dirty="0" err="1" smtClean="0"/>
                        <a:t>GPa</a:t>
                      </a:r>
                      <a:r>
                        <a:rPr lang="zh-CN" altLang="en-US" sz="2000" dirty="0" smtClean="0"/>
                        <a:t>）</a:t>
                      </a:r>
                      <a:endParaRPr lang="zh-CN" altLang="en-US" sz="2000" dirty="0"/>
                    </a:p>
                  </a:txBody>
                  <a:tcPr marL="91439" marR="91439" marT="45723" marB="45723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橡胶（微小应变）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/>
                        <a:t>0.01-0.1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尼龙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2~4 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高强度混凝土（受到压缩）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30 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金属镁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45 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玻璃（所有种类）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71.7 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铝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69 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黄铜和青铜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103~124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合金与钢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190~210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 dirty="0"/>
                        <a:t>钨 </a:t>
                      </a:r>
                      <a:r>
                        <a:rPr lang="en-US" altLang="zh-CN" sz="2000" b="1" u="none" strike="noStrike" dirty="0"/>
                        <a:t>(</a:t>
                      </a:r>
                      <a:r>
                        <a:rPr lang="en-US" sz="2000" b="1" u="none" strike="noStrike" dirty="0"/>
                        <a:t>W)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400~410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  <a:tr h="24314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1" u="none" strike="noStrike"/>
                        <a:t>钻石</a:t>
                      </a:r>
                      <a:endParaRPr lang="zh-CN" altLang="en-US" sz="2000" b="1" i="0" u="none" strike="noStrike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" marR="7620" marT="762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 smtClean="0"/>
                        <a:t>1050~1200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1" marB="0" anchor="ctr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/>
          <p:nvPr/>
        </p:nvSpPr>
        <p:spPr>
          <a:xfrm>
            <a:off x="337237" y="88325"/>
            <a:ext cx="5921814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一、 实验原理</a:t>
            </a:r>
            <a:r>
              <a:rPr lang="en-US" altLang="zh-CN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1.1</a:t>
            </a:r>
            <a:r>
              <a:rPr lang="zh-CN" altLang="en-US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基本原理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Group 3"/>
          <p:cNvGrpSpPr/>
          <p:nvPr/>
        </p:nvGrpSpPr>
        <p:grpSpPr bwMode="auto">
          <a:xfrm>
            <a:off x="1546225" y="3294063"/>
            <a:ext cx="2233613" cy="939800"/>
            <a:chOff x="0" y="0"/>
            <a:chExt cx="1257" cy="459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0" y="0"/>
            <a:ext cx="251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1" imgW="7620000" imgH="12192000" progId="Equation.DSMT4">
                    <p:embed/>
                  </p:oleObj>
                </mc:Choice>
                <mc:Fallback>
                  <p:oleObj name="" r:id="rId1" imgW="7620000" imgH="12192000" progId="Equation.DSMT4">
                    <p:embed/>
                    <p:pic>
                      <p:nvPicPr>
                        <p:cNvPr id="0" name="Object 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51" cy="4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49" y="25"/>
              <a:ext cx="908" cy="25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4A7DA"/>
                  </a:solidFill>
                  <a:latin typeface="华文中宋" panose="02010600040101010101" pitchFamily="2" charset="-122"/>
                </a:rPr>
                <a:t>:</a:t>
              </a:r>
              <a:r>
                <a:rPr lang="zh-CN" altLang="en-US" sz="2800" b="1" i="1">
                  <a:solidFill>
                    <a:srgbClr val="04A7DA"/>
                  </a:solidFill>
                  <a:latin typeface="华文中宋" panose="02010600040101010101" pitchFamily="2" charset="-122"/>
                </a:rPr>
                <a:t>应变</a:t>
              </a:r>
              <a:endParaRPr lang="zh-CN" altLang="en-US" sz="2800" b="1">
                <a:solidFill>
                  <a:srgbClr val="04A7DA"/>
                </a:solidFill>
                <a:latin typeface="华文中宋" panose="02010600040101010101" pitchFamily="2" charset="-122"/>
              </a:endParaRPr>
            </a:p>
          </p:txBody>
        </p:sp>
      </p:grp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875463" y="3213100"/>
          <a:ext cx="16573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3" imgW="21640800" imgH="12192000" progId="Equation.DSMT4">
                  <p:embed/>
                </p:oleObj>
              </mc:Choice>
              <mc:Fallback>
                <p:oleObj name="" r:id="rId3" imgW="21640800" imgH="121920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75463" y="3213100"/>
                        <a:ext cx="1657350" cy="935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36550" y="1473200"/>
            <a:ext cx="862838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假设一根横截面积为</a:t>
            </a: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S,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长为</a:t>
            </a: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的材料</a:t>
            </a: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在大小为</a:t>
            </a: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 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的力的拉压下</a:t>
            </a: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伸缩短了△</a:t>
            </a: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en-US" altLang="zh-CN" sz="24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995738" y="3203575"/>
          <a:ext cx="5222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5" imgW="4572000" imgH="9448800" progId="Equation.DSMT4">
                  <p:embed/>
                </p:oleObj>
              </mc:Choice>
              <mc:Fallback>
                <p:oleObj name="" r:id="rId5" imgW="4572000" imgH="94488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5738" y="3203575"/>
                        <a:ext cx="522287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716463" y="3284538"/>
            <a:ext cx="1800225" cy="793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>
                <a:solidFill>
                  <a:srgbClr val="04A7DA"/>
                </a:solidFill>
              </a:rPr>
              <a:t>:</a:t>
            </a:r>
            <a:r>
              <a:rPr lang="zh-CN" altLang="en-US" sz="2800" b="1" i="1">
                <a:solidFill>
                  <a:srgbClr val="04A7DA"/>
                </a:solidFill>
                <a:latin typeface="华文中宋" panose="02010600040101010101" pitchFamily="2" charset="-122"/>
              </a:rPr>
              <a:t>应力</a:t>
            </a:r>
            <a:r>
              <a:rPr lang="en-US" altLang="zh-CN" sz="1800" b="1">
                <a:solidFill>
                  <a:srgbClr val="003300"/>
                </a:solidFill>
                <a:latin typeface="华文中宋" panose="02010600040101010101" pitchFamily="2" charset="-122"/>
              </a:rPr>
              <a:t>(</a:t>
            </a:r>
            <a:r>
              <a:rPr lang="zh-CN" altLang="en-US" sz="1800" b="1">
                <a:solidFill>
                  <a:srgbClr val="003300"/>
                </a:solidFill>
              </a:rPr>
              <a:t>单位截面上内力</a:t>
            </a:r>
            <a:r>
              <a:rPr lang="zh-CN" altLang="en-US" sz="1800">
                <a:solidFill>
                  <a:srgbClr val="003300"/>
                </a:solidFill>
              </a:rPr>
              <a:t> </a:t>
            </a:r>
            <a:r>
              <a:rPr lang="en-US" altLang="zh-CN" sz="1800" b="1">
                <a:solidFill>
                  <a:srgbClr val="003300"/>
                </a:solidFill>
                <a:latin typeface="华文中宋" panose="02010600040101010101" pitchFamily="2" charset="-122"/>
              </a:rPr>
              <a:t>)</a:t>
            </a:r>
            <a:endParaRPr lang="en-US" altLang="zh-CN" sz="1800" b="1">
              <a:solidFill>
                <a:srgbClr val="003300"/>
              </a:solidFill>
              <a:latin typeface="华文中宋" panose="02010600040101010101" pitchFamily="2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73113" y="4287838"/>
            <a:ext cx="4185761" cy="5116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应力和应变的比成为</a:t>
            </a:r>
            <a:r>
              <a:rPr lang="zh-CN" altLang="en-US" sz="2400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杨式模量</a:t>
            </a:r>
            <a:endParaRPr lang="zh-CN" altLang="en-US" sz="2400" b="1" dirty="0">
              <a:solidFill>
                <a:srgbClr val="00B0F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42888" y="941388"/>
            <a:ext cx="254889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、杨氏模量：</a:t>
            </a:r>
            <a:endParaRPr lang="zh-CN" altLang="en-US" sz="2800" b="1" dirty="0">
              <a:solidFill>
                <a:srgbClr val="0000FF"/>
              </a:solidFill>
              <a:latin typeface="华文中宋" panose="02010600040101010101" pitchFamily="2" charset="-122"/>
            </a:endParaRPr>
          </a:p>
        </p:txBody>
      </p:sp>
      <p:sp>
        <p:nvSpPr>
          <p:cNvPr id="13" name="AutoShape 12"/>
          <p:cNvSpPr>
            <a:spLocks noChangeArrowheads="1"/>
          </p:cNvSpPr>
          <p:nvPr/>
        </p:nvSpPr>
        <p:spPr bwMode="auto">
          <a:xfrm>
            <a:off x="5400675" y="5084763"/>
            <a:ext cx="3635375" cy="1152525"/>
          </a:xfrm>
          <a:prstGeom prst="cloudCallout">
            <a:avLst>
              <a:gd name="adj1" fmla="val -117074"/>
              <a:gd name="adj2" fmla="val -25481"/>
            </a:avLst>
          </a:prstGeom>
          <a:gradFill rotWithShape="1">
            <a:gsLst>
              <a:gs pos="0">
                <a:schemeClr val="bg1"/>
              </a:gs>
              <a:gs pos="100000">
                <a:srgbClr val="66FF99"/>
              </a:gs>
            </a:gsLst>
            <a:path path="rect">
              <a:fillToRect l="50000" t="50000" r="50000" b="50000"/>
            </a:path>
          </a:gradFill>
          <a:ln w="9525">
            <a:noFill/>
            <a:round/>
          </a:ln>
          <a:effectLst>
            <a:prstShdw prst="shdw17" dist="17961" dir="2700000">
              <a:srgbClr val="3D995C"/>
            </a:prstShdw>
          </a:effectLst>
        </p:spPr>
        <p:txBody>
          <a:bodyPr/>
          <a:lstStyle/>
          <a:p>
            <a:pPr algn="ctr"/>
            <a:r>
              <a:rPr lang="zh-CN" altLang="en-US" b="1">
                <a:solidFill>
                  <a:srgbClr val="003300"/>
                </a:solidFill>
                <a:ea typeface="华文隶书" panose="02010800040101010101" pitchFamily="2" charset="-122"/>
              </a:rPr>
              <a:t>本实验目标：</a:t>
            </a:r>
            <a:r>
              <a:rPr lang="zh-CN" altLang="en-US" b="1">
                <a:solidFill>
                  <a:schemeClr val="tx2"/>
                </a:solidFill>
                <a:ea typeface="华文隶书" panose="02010800040101010101" pitchFamily="2" charset="-122"/>
              </a:rPr>
              <a:t>  </a:t>
            </a:r>
            <a:r>
              <a:rPr lang="zh-CN" altLang="en-US" b="1">
                <a:solidFill>
                  <a:srgbClr val="FF0000"/>
                </a:solidFill>
                <a:ea typeface="华文隶书" panose="02010800040101010101" pitchFamily="2" charset="-122"/>
              </a:rPr>
              <a:t>钢材的杨氏模量</a:t>
            </a:r>
            <a:r>
              <a:rPr lang="zh-CN" altLang="en-US" b="1">
                <a:solidFill>
                  <a:schemeClr val="tx2"/>
                </a:solidFill>
                <a:ea typeface="华文隶书" panose="02010800040101010101" pitchFamily="2" charset="-122"/>
              </a:rPr>
              <a:t>      </a:t>
            </a:r>
            <a:endParaRPr lang="zh-CN" altLang="en-US" b="1">
              <a:solidFill>
                <a:schemeClr val="tx2"/>
              </a:solidFill>
              <a:ea typeface="华文隶书" panose="02010800040101010101" pitchFamily="2" charset="-122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392238" y="4806950"/>
          <a:ext cx="157003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7" imgW="15240000" imgH="9448800" progId="Equation.DSMT4">
                  <p:embed/>
                </p:oleObj>
              </mc:Choice>
              <mc:Fallback>
                <p:oleObj name="" r:id="rId7" imgW="15240000" imgH="9448800" progId="Equation.DSMT4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92238" y="4806950"/>
                        <a:ext cx="1570037" cy="974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392238" y="2852738"/>
            <a:ext cx="2387600" cy="144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779838" y="2852738"/>
            <a:ext cx="647700" cy="144462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3803650" y="2917825"/>
            <a:ext cx="973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4735513" y="2671763"/>
          <a:ext cx="42703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" r:id="rId9" imgW="3962400" imgH="4572000" progId="Equation.DSMT4">
                  <p:embed/>
                </p:oleObj>
              </mc:Choice>
              <mc:Fallback>
                <p:oleObj name="" r:id="rId9" imgW="3962400" imgH="4572000" progId="Equation.DSMT4">
                  <p:embed/>
                  <p:pic>
                    <p:nvPicPr>
                      <p:cNvPr id="0" name="Object 1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35513" y="2671763"/>
                        <a:ext cx="427037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3803650" y="3043238"/>
          <a:ext cx="4175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" r:id="rId11" imgW="5486400" imgH="3962400" progId="Equation.DSMT4">
                  <p:embed/>
                </p:oleObj>
              </mc:Choice>
              <mc:Fallback>
                <p:oleObj name="" r:id="rId11" imgW="5486400" imgH="3962400" progId="Equation.DSMT4">
                  <p:embed/>
                  <p:pic>
                    <p:nvPicPr>
                      <p:cNvPr id="0" name="Object 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03650" y="3043238"/>
                        <a:ext cx="417513" cy="301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5921814" cy="1200329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一、 实验原理</a:t>
            </a:r>
            <a:r>
              <a:rPr lang="en-US" altLang="zh-CN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1.1</a:t>
            </a:r>
            <a:r>
              <a:rPr lang="zh-CN" altLang="en-US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基本原理</a:t>
            </a:r>
            <a:endParaRPr lang="zh-CN" altLang="en-US" sz="3200" b="1" dirty="0" smtClean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/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2888" y="941388"/>
            <a:ext cx="5027612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</a:rPr>
              <a:t>、钢丝杨式模量的测量方法：</a:t>
            </a:r>
            <a:endParaRPr lang="zh-CN" altLang="en-US" sz="2800" b="1" dirty="0">
              <a:solidFill>
                <a:srgbClr val="0000FF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187450" y="1517650"/>
          <a:ext cx="15700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15240000" imgH="9448800" progId="Equation.DSMT4">
                  <p:embed/>
                </p:oleObj>
              </mc:Choice>
              <mc:Fallback>
                <p:oleObj name="" r:id="rId1" imgW="15240000" imgH="94488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1517650"/>
                        <a:ext cx="1570038" cy="974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74700" y="4508500"/>
            <a:ext cx="828040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ΔL: 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是一个微小长度变化量，本实验利用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光杠杆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的光学放大作用实现对金属丝微小伸长量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 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的间接测量。</a:t>
            </a:r>
            <a:endParaRPr lang="zh-CN" altLang="en-US" sz="24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27088" y="3933825"/>
            <a:ext cx="61563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lang="zh-CN" altLang="en-US" sz="2400" b="1" i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为细铁丝的直径，可用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螺旋测微仪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测量</a:t>
            </a:r>
            <a:endParaRPr lang="zh-CN" altLang="en-US" sz="24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827088" y="2781300"/>
            <a:ext cx="71151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 : 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可由实验中钢丝下面悬挂的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砝码的重力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给出</a:t>
            </a:r>
            <a:endParaRPr lang="zh-CN" altLang="en-US" sz="24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41375" y="3357563"/>
            <a:ext cx="252344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</a:t>
            </a:r>
            <a:r>
              <a:rPr lang="zh-CN" altLang="en-US" sz="2400" b="1" i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可由</a:t>
            </a: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米尺</a:t>
            </a:r>
            <a:r>
              <a:rPr lang="zh-CN" altLang="en-US" sz="24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测量</a:t>
            </a:r>
            <a:endParaRPr lang="zh-CN" altLang="en-US" sz="2400" b="1" dirty="0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3343275" y="1527175"/>
          <a:ext cx="14446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" r:id="rId3" imgW="584200" imgH="419100" progId="Equation.DSMT4">
                  <p:embed/>
                </p:oleObj>
              </mc:Choice>
              <mc:Fallback>
                <p:oleObj name="" r:id="rId3" imgW="584200" imgH="419100" progId="Equation.DSMT4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3275" y="1527175"/>
                        <a:ext cx="1444625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/>
          <p:nvPr/>
        </p:nvSpPr>
        <p:spPr>
          <a:xfrm>
            <a:off x="337237" y="88325"/>
            <a:ext cx="8449749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一、 实验原理</a:t>
            </a:r>
            <a:r>
              <a:rPr lang="en-US" altLang="zh-CN" sz="4000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1.2</a:t>
            </a:r>
            <a:r>
              <a:rPr lang="zh-CN" altLang="en-US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光杠杆的光学放大原理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Picture 2" descr="未命名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643306" y="1341438"/>
            <a:ext cx="47625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/>
          <p:nvPr/>
        </p:nvGrpSpPr>
        <p:grpSpPr bwMode="auto">
          <a:xfrm>
            <a:off x="821812" y="2565400"/>
            <a:ext cx="2160588" cy="2562225"/>
            <a:chOff x="0" y="0"/>
            <a:chExt cx="1365" cy="1803"/>
          </a:xfrm>
        </p:grpSpPr>
        <p:pic>
          <p:nvPicPr>
            <p:cNvPr id="5" name="Picture 5" descr="未命名2"/>
            <p:cNvPicPr>
              <a:picLocks noChangeAspect="1" noChangeArrowheads="1"/>
            </p:cNvPicPr>
            <p:nvPr/>
          </p:nvPicPr>
          <p:blipFill>
            <a:blip r:embed="rId2" cstate="print"/>
            <a:srcRect l="70111" t="13747"/>
            <a:stretch>
              <a:fillRect/>
            </a:stretch>
          </p:blipFill>
          <p:spPr bwMode="auto">
            <a:xfrm>
              <a:off x="23" y="0"/>
              <a:ext cx="1342" cy="1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0" y="1524"/>
              <a:ext cx="1134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2"/>
                  </a:solidFill>
                  <a:latin typeface="华文中宋" panose="02010600040101010101" pitchFamily="2" charset="-122"/>
                </a:rPr>
                <a:t>光杠杆常数</a:t>
              </a:r>
              <a:r>
                <a:rPr lang="zh-CN" altLang="en-US" sz="2000" b="1" i="1">
                  <a:solidFill>
                    <a:schemeClr val="accent2"/>
                  </a:solidFill>
                  <a:latin typeface="华文中宋" panose="02010600040101010101" pitchFamily="2" charset="-122"/>
                </a:rPr>
                <a:t> </a:t>
              </a:r>
              <a:r>
                <a:rPr lang="en-US" altLang="zh-CN" sz="2000" b="1" i="1">
                  <a:solidFill>
                    <a:schemeClr val="accent2"/>
                  </a:solidFill>
                  <a:latin typeface="华文中宋" panose="02010600040101010101" pitchFamily="2" charset="-122"/>
                </a:rPr>
                <a:t>b</a:t>
              </a:r>
              <a:endParaRPr lang="en-US" altLang="zh-CN" sz="2000" b="1" i="1">
                <a:solidFill>
                  <a:schemeClr val="accent2"/>
                </a:solidFill>
                <a:latin typeface="华文中宋" panose="02010600040101010101" pitchFamily="2" charset="-122"/>
              </a:endParaRPr>
            </a:p>
          </p:txBody>
        </p:sp>
        <p:sp>
          <p:nvSpPr>
            <p:cNvPr id="7" name="未知"/>
            <p:cNvSpPr/>
            <p:nvPr/>
          </p:nvSpPr>
          <p:spPr bwMode="auto">
            <a:xfrm>
              <a:off x="453" y="1071"/>
              <a:ext cx="91" cy="408"/>
            </a:xfrm>
            <a:custGeom>
              <a:avLst/>
              <a:gdLst>
                <a:gd name="T0" fmla="*/ 0 w 91"/>
                <a:gd name="T1" fmla="*/ 0 h 589"/>
                <a:gd name="T2" fmla="*/ 45 w 91"/>
                <a:gd name="T3" fmla="*/ 283 h 589"/>
                <a:gd name="T4" fmla="*/ 91 w 91"/>
                <a:gd name="T5" fmla="*/ 408 h 589"/>
                <a:gd name="T6" fmla="*/ 0 60000 65536"/>
                <a:gd name="T7" fmla="*/ 0 60000 65536"/>
                <a:gd name="T8" fmla="*/ 0 60000 65536"/>
                <a:gd name="T9" fmla="*/ 0 w 91"/>
                <a:gd name="T10" fmla="*/ 0 h 589"/>
                <a:gd name="T11" fmla="*/ 91 w 91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589">
                  <a:moveTo>
                    <a:pt x="0" y="0"/>
                  </a:moveTo>
                  <a:lnTo>
                    <a:pt x="45" y="408"/>
                  </a:lnTo>
                  <a:lnTo>
                    <a:pt x="91" y="589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071538" y="150017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沧海校区仪器</a:t>
            </a:r>
            <a:endParaRPr lang="zh-CN" altLang="en-US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/>
          <p:nvPr/>
        </p:nvSpPr>
        <p:spPr>
          <a:xfrm>
            <a:off x="337237" y="88325"/>
            <a:ext cx="8449749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一、 实验原理</a:t>
            </a:r>
            <a:r>
              <a:rPr lang="en-US" altLang="zh-CN" sz="4000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1.2</a:t>
            </a:r>
            <a:r>
              <a:rPr lang="zh-CN" altLang="en-US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光杠杆的光学放大原理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4326" y="123856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丽湖校区仪器</a:t>
            </a:r>
            <a:endParaRPr lang="zh-CN" altLang="en-US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0" name="图片 1279" descr="IMG_20160503_112304-1副本-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63852" y="1628775"/>
            <a:ext cx="1538288" cy="427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269" descr="望远镜副本-1"/>
          <p:cNvPicPr>
            <a:picLocks noChangeAspect="1" noChangeArrowheads="1"/>
          </p:cNvPicPr>
          <p:nvPr/>
        </p:nvPicPr>
        <p:blipFill>
          <a:blip r:embed="rId2" cstate="print"/>
          <a:srcRect b="3267"/>
          <a:stretch>
            <a:fillRect/>
          </a:stretch>
        </p:blipFill>
        <p:spPr bwMode="auto">
          <a:xfrm>
            <a:off x="1357290" y="4365625"/>
            <a:ext cx="1149350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" name="对象 2"/>
          <p:cNvGraphicFramePr>
            <a:graphicFrameLocks noChangeAspect="1"/>
          </p:cNvGraphicFramePr>
          <p:nvPr/>
        </p:nvGraphicFramePr>
        <p:xfrm>
          <a:off x="5486400" y="2570163"/>
          <a:ext cx="2628900" cy="323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Picture" r:id="rId3" imgW="1628775" imgH="2000250" progId="Word.Picture.8">
                  <p:embed/>
                </p:oleObj>
              </mc:Choice>
              <mc:Fallback>
                <p:oleObj name="Picture" r:id="rId3" imgW="1628775" imgH="2000250" progId="Word.Picture.8">
                  <p:embed/>
                  <p:pic>
                    <p:nvPicPr>
                      <p:cNvPr id="0" name="对象 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6400" y="2570163"/>
                        <a:ext cx="2628900" cy="3233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 bwMode="auto">
          <a:xfrm>
            <a:off x="2051050" y="1790680"/>
            <a:ext cx="6769100" cy="3589338"/>
            <a:chOff x="0" y="0"/>
            <a:chExt cx="4264" cy="2261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2503" y="1972"/>
              <a:ext cx="274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600" y="1507"/>
              <a:ext cx="630" cy="143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2"/>
                </a:gs>
                <a:gs pos="100000">
                  <a:srgbClr val="4D4D4D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915" y="0"/>
              <a:ext cx="77" cy="2085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rgbClr val="EAEAEA"/>
                </a:gs>
                <a:gs pos="100000">
                  <a:srgbClr val="4D4D4D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8" descr="浅色横线"/>
            <p:cNvSpPr>
              <a:spLocks noChangeArrowheads="1"/>
            </p:cNvSpPr>
            <p:nvPr/>
          </p:nvSpPr>
          <p:spPr bwMode="auto">
            <a:xfrm>
              <a:off x="3567" y="1491"/>
              <a:ext cx="49" cy="174"/>
            </a:xfrm>
            <a:prstGeom prst="rect">
              <a:avLst/>
            </a:prstGeom>
            <a:blipFill dpi="0" rotWithShape="0">
              <a:blip r:embed="rId1" cstate="print"/>
              <a:srcRect/>
              <a:tile tx="0" ty="0" sx="100000" sy="100000" flip="none" algn="tl"/>
            </a:blip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4231" y="1539"/>
              <a:ext cx="33" cy="79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rgbClr val="EAEAEA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rgbClr val="4D4D4D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207" y="1443"/>
              <a:ext cx="0" cy="271"/>
            </a:xfrm>
            <a:prstGeom prst="line">
              <a:avLst/>
            </a:prstGeom>
            <a:noFill/>
            <a:ln w="57150">
              <a:solidFill>
                <a:srgbClr val="0033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H="1">
              <a:off x="675" y="1714"/>
              <a:ext cx="532" cy="0"/>
            </a:xfrm>
            <a:prstGeom prst="line">
              <a:avLst/>
            </a:prstGeom>
            <a:noFill/>
            <a:ln w="31750">
              <a:solidFill>
                <a:srgbClr val="0033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H="1" flipV="1">
              <a:off x="1124" y="1458"/>
              <a:ext cx="66" cy="256"/>
            </a:xfrm>
            <a:prstGeom prst="line">
              <a:avLst/>
            </a:prstGeom>
            <a:noFill/>
            <a:ln w="57150">
              <a:solidFill>
                <a:srgbClr val="4D4D4D"/>
              </a:solidFill>
              <a:prstDash val="sysDot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/>
            <p:cNvSpPr/>
            <p:nvPr/>
          </p:nvSpPr>
          <p:spPr bwMode="auto">
            <a:xfrm>
              <a:off x="712" y="1717"/>
              <a:ext cx="497" cy="128"/>
            </a:xfrm>
            <a:custGeom>
              <a:avLst/>
              <a:gdLst>
                <a:gd name="T0" fmla="*/ 497 w 576"/>
                <a:gd name="T1" fmla="*/ 0 h 119"/>
                <a:gd name="T2" fmla="*/ 0 w 576"/>
                <a:gd name="T3" fmla="*/ 128 h 119"/>
                <a:gd name="T4" fmla="*/ 0 60000 65536"/>
                <a:gd name="T5" fmla="*/ 0 60000 65536"/>
                <a:gd name="T6" fmla="*/ 0 w 576"/>
                <a:gd name="T7" fmla="*/ 0 h 119"/>
                <a:gd name="T8" fmla="*/ 576 w 576"/>
                <a:gd name="T9" fmla="*/ 119 h 1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76" h="119">
                  <a:moveTo>
                    <a:pt x="576" y="0"/>
                  </a:moveTo>
                  <a:lnTo>
                    <a:pt x="0" y="119"/>
                  </a:lnTo>
                </a:path>
              </a:pathLst>
            </a:custGeom>
            <a:noFill/>
            <a:ln w="31750">
              <a:solidFill>
                <a:srgbClr val="4D4D4D"/>
              </a:solidFill>
              <a:prstDash val="sysDot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>
              <a:off x="1158" y="1570"/>
              <a:ext cx="2392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1190" y="91"/>
              <a:ext cx="2758" cy="1463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V="1">
              <a:off x="1158" y="1252"/>
              <a:ext cx="1362" cy="31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1207" y="1825"/>
              <a:ext cx="0" cy="334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2406" y="1947"/>
              <a:ext cx="28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H="1">
              <a:off x="1207" y="2079"/>
              <a:ext cx="1164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2686" y="2079"/>
              <a:ext cx="1229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692" y="1888"/>
              <a:ext cx="0" cy="254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849" y="1904"/>
              <a:ext cx="149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1025" y="2079"/>
              <a:ext cx="182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H="1">
              <a:off x="692" y="2079"/>
              <a:ext cx="184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H="1">
              <a:off x="360" y="1714"/>
              <a:ext cx="249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H="1">
              <a:off x="360" y="1847"/>
              <a:ext cx="249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476" y="1523"/>
              <a:ext cx="0" cy="191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flipV="1">
              <a:off x="476" y="1878"/>
              <a:ext cx="0" cy="144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0" y="1618"/>
              <a:ext cx="602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△</a:t>
              </a: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1721" y="1141"/>
              <a:ext cx="283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endPara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1701" y="1361"/>
              <a:ext cx="299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endPara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759" y="1381"/>
              <a:ext cx="266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endPara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3251" y="1570"/>
              <a:ext cx="930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prstDash val="sysDot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4115" y="966"/>
              <a:ext cx="0" cy="604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V="1">
              <a:off x="4115" y="107"/>
              <a:ext cx="0" cy="637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3915" y="107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" name="Object 37"/>
            <p:cNvGraphicFramePr>
              <a:graphicFrameLocks noChangeAspect="1"/>
            </p:cNvGraphicFramePr>
            <p:nvPr/>
          </p:nvGraphicFramePr>
          <p:xfrm>
            <a:off x="4076" y="762"/>
            <a:ext cx="10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" name="" r:id="rId2" imgW="88900" imgH="177800" progId="Equation.DSMT4">
                    <p:embed/>
                  </p:oleObj>
                </mc:Choice>
                <mc:Fallback>
                  <p:oleObj name="" r:id="rId2" imgW="88900" imgH="177800" progId="Equation.DSMT4">
                    <p:embed/>
                    <p:pic>
                      <p:nvPicPr>
                        <p:cNvPr id="0" name="Object 3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076" y="762"/>
                          <a:ext cx="102" cy="2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38"/>
          <p:cNvGraphicFramePr>
            <a:graphicFrameLocks noChangeAspect="1"/>
          </p:cNvGraphicFramePr>
          <p:nvPr/>
        </p:nvGraphicFramePr>
        <p:xfrm>
          <a:off x="684213" y="1009630"/>
          <a:ext cx="1476375" cy="186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r:id="rId4" imgW="723900" imgH="812800" progId="Equation.DSMT4">
                  <p:embed/>
                </p:oleObj>
              </mc:Choice>
              <mc:Fallback>
                <p:oleObj name="" r:id="rId4" imgW="723900" imgH="812800" progId="Equation.DSMT4">
                  <p:embed/>
                  <p:pic>
                    <p:nvPicPr>
                      <p:cNvPr id="0" name="Object 38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13" y="1009630"/>
                        <a:ext cx="1476375" cy="1862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9"/>
          <p:cNvGraphicFramePr>
            <a:graphicFrameLocks noChangeAspect="1"/>
          </p:cNvGraphicFramePr>
          <p:nvPr/>
        </p:nvGraphicFramePr>
        <p:xfrm>
          <a:off x="2268538" y="1225530"/>
          <a:ext cx="79216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" r:id="rId6" imgW="558800" imgH="203200" progId="Equation.DSMT4">
                  <p:embed/>
                </p:oleObj>
              </mc:Choice>
              <mc:Fallback>
                <p:oleObj name="" r:id="rId6" imgW="558800" imgH="203200" progId="Equation.DSMT4">
                  <p:embed/>
                  <p:pic>
                    <p:nvPicPr>
                      <p:cNvPr id="0" name="Object 39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8538" y="1225530"/>
                        <a:ext cx="792162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AutoShape 40"/>
          <p:cNvSpPr>
            <a:spLocks noChangeArrowheads="1"/>
          </p:cNvSpPr>
          <p:nvPr/>
        </p:nvSpPr>
        <p:spPr bwMode="auto">
          <a:xfrm>
            <a:off x="2195513" y="1730355"/>
            <a:ext cx="1008062" cy="71438"/>
          </a:xfrm>
          <a:prstGeom prst="rightArrow">
            <a:avLst>
              <a:gd name="adj1" fmla="val 50000"/>
              <a:gd name="adj2" fmla="val 352775"/>
            </a:avLst>
          </a:prstGeom>
          <a:solidFill>
            <a:srgbClr val="FF99FF"/>
          </a:solidFill>
          <a:ln w="9525">
            <a:solidFill>
              <a:srgbClr val="FF99FF"/>
            </a:solidFill>
            <a:miter lim="800000"/>
          </a:ln>
          <a:effectLst>
            <a:prstShdw prst="shdw17" dist="17961" dir="13500000">
              <a:srgbClr val="995C99"/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" name="Object 41"/>
          <p:cNvGraphicFramePr>
            <a:graphicFrameLocks noChangeAspect="1"/>
          </p:cNvGraphicFramePr>
          <p:nvPr/>
        </p:nvGraphicFramePr>
        <p:xfrm>
          <a:off x="3203575" y="938193"/>
          <a:ext cx="1185863" cy="18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" r:id="rId8" imgW="508000" imgH="812800" progId="Equation.DSMT4">
                  <p:embed/>
                </p:oleObj>
              </mc:Choice>
              <mc:Fallback>
                <p:oleObj name="" r:id="rId8" imgW="508000" imgH="812800" progId="Equation.DSMT4">
                  <p:embed/>
                  <p:pic>
                    <p:nvPicPr>
                      <p:cNvPr id="0" name="Object 41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03575" y="938193"/>
                        <a:ext cx="1185863" cy="186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AutoShape 42"/>
          <p:cNvSpPr>
            <a:spLocks noChangeArrowheads="1"/>
          </p:cNvSpPr>
          <p:nvPr/>
        </p:nvSpPr>
        <p:spPr bwMode="auto">
          <a:xfrm flipV="1">
            <a:off x="4427538" y="1730355"/>
            <a:ext cx="1008062" cy="73025"/>
          </a:xfrm>
          <a:prstGeom prst="rightArrow">
            <a:avLst>
              <a:gd name="adj1" fmla="val 50000"/>
              <a:gd name="adj2" fmla="val 345109"/>
            </a:avLst>
          </a:prstGeom>
          <a:solidFill>
            <a:srgbClr val="FF99FF"/>
          </a:solidFill>
          <a:ln w="9525">
            <a:noFill/>
            <a:miter lim="800000"/>
          </a:ln>
          <a:effectLst>
            <a:prstShdw prst="shdw17" dist="17961" dir="13500000">
              <a:srgbClr val="995C99"/>
            </a:prstShdw>
          </a:effec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3" name="Object 43"/>
          <p:cNvGraphicFramePr>
            <a:graphicFrameLocks noChangeAspect="1"/>
          </p:cNvGraphicFramePr>
          <p:nvPr/>
        </p:nvGraphicFramePr>
        <p:xfrm>
          <a:off x="5507038" y="1225530"/>
          <a:ext cx="1509712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" r:id="rId10" imgW="609600" imgH="393700" progId="Equation.DSMT4">
                  <p:embed/>
                </p:oleObj>
              </mc:Choice>
              <mc:Fallback>
                <p:oleObj name="" r:id="rId10" imgW="609600" imgH="393700" progId="Equation.DSMT4">
                  <p:embed/>
                  <p:pic>
                    <p:nvPicPr>
                      <p:cNvPr id="0" name="Object 43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07038" y="1225530"/>
                        <a:ext cx="1509712" cy="1069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4"/>
          <p:cNvGraphicFramePr>
            <a:graphicFrameLocks noChangeAspect="1"/>
          </p:cNvGraphicFramePr>
          <p:nvPr/>
        </p:nvGraphicFramePr>
        <p:xfrm>
          <a:off x="7113588" y="796211"/>
          <a:ext cx="157003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" r:id="rId12" imgW="15240000" imgH="9448800" progId="Equation.DSMT4">
                  <p:embed/>
                </p:oleObj>
              </mc:Choice>
              <mc:Fallback>
                <p:oleObj name="" r:id="rId12" imgW="15240000" imgH="9448800" progId="Equation.DSMT4">
                  <p:embed/>
                  <p:pic>
                    <p:nvPicPr>
                      <p:cNvPr id="0" name="Object 44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113588" y="796211"/>
                        <a:ext cx="1570037" cy="9747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noFill/>
                      </a:ln>
                      <a:effectLst>
                        <a:prstShdw prst="shdw17" dist="17961" dir="2699999">
                          <a:srgbClr val="7A8E99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5"/>
          <p:cNvGraphicFramePr>
            <a:graphicFrameLocks noChangeAspect="1"/>
          </p:cNvGraphicFramePr>
          <p:nvPr/>
        </p:nvGraphicFramePr>
        <p:xfrm>
          <a:off x="273050" y="4516418"/>
          <a:ext cx="178911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" r:id="rId14" imgW="723900" imgH="393700" progId="Equation.DSMT4">
                  <p:embed/>
                </p:oleObj>
              </mc:Choice>
              <mc:Fallback>
                <p:oleObj name="" r:id="rId14" imgW="723900" imgH="393700" progId="Equation.DSMT4">
                  <p:embed/>
                  <p:pic>
                    <p:nvPicPr>
                      <p:cNvPr id="0" name="Object 4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3050" y="4516418"/>
                        <a:ext cx="1789113" cy="97472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 w="9525">
                        <a:noFill/>
                      </a:ln>
                      <a:effectLst>
                        <a:prstShdw prst="shdw17" dist="17961" dir="2699999">
                          <a:srgbClr val="997A7A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46"/>
          <p:cNvGrpSpPr/>
          <p:nvPr/>
        </p:nvGrpSpPr>
        <p:grpSpPr bwMode="auto">
          <a:xfrm>
            <a:off x="468313" y="2798743"/>
            <a:ext cx="5086350" cy="1195387"/>
            <a:chOff x="0" y="0"/>
            <a:chExt cx="3204" cy="753"/>
          </a:xfrm>
        </p:grpSpPr>
        <p:sp>
          <p:nvSpPr>
            <p:cNvPr id="47" name="Text Box 47"/>
            <p:cNvSpPr txBox="1">
              <a:spLocks noChangeArrowheads="1"/>
            </p:cNvSpPr>
            <p:nvPr/>
          </p:nvSpPr>
          <p:spPr bwMode="auto">
            <a:xfrm>
              <a:off x="1480" y="263"/>
              <a:ext cx="172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i="1">
                  <a:solidFill>
                    <a:schemeClr val="accent2"/>
                  </a:solidFill>
                  <a:latin typeface="华文中宋" panose="02010600040101010101" pitchFamily="2" charset="-122"/>
                  <a:sym typeface="Symbol" panose="05050102010706020507" pitchFamily="18" charset="2"/>
                </a:rPr>
                <a:t> </a:t>
              </a:r>
              <a:r>
                <a:rPr lang="zh-CN" altLang="en-US" b="1" i="1">
                  <a:solidFill>
                    <a:schemeClr val="accent2"/>
                  </a:solidFill>
                  <a:latin typeface="华文中宋" panose="02010600040101010101" pitchFamily="2" charset="-122"/>
                </a:rPr>
                <a:t>叫光杠杆放大率</a:t>
              </a:r>
              <a:endParaRPr lang="zh-CN" altLang="en-US" b="1" i="1">
                <a:solidFill>
                  <a:schemeClr val="accent2"/>
                </a:solidFill>
                <a:latin typeface="华文中宋" panose="02010600040101010101" pitchFamily="2" charset="-122"/>
              </a:endParaRPr>
            </a:p>
          </p:txBody>
        </p:sp>
        <p:grpSp>
          <p:nvGrpSpPr>
            <p:cNvPr id="48" name="Group 48"/>
            <p:cNvGrpSpPr/>
            <p:nvPr/>
          </p:nvGrpSpPr>
          <p:grpSpPr bwMode="auto">
            <a:xfrm>
              <a:off x="0" y="0"/>
              <a:ext cx="3204" cy="753"/>
              <a:chOff x="0" y="0"/>
              <a:chExt cx="3204" cy="753"/>
            </a:xfrm>
          </p:grpSpPr>
          <p:graphicFrame>
            <p:nvGraphicFramePr>
              <p:cNvPr id="49" name="Object 49"/>
              <p:cNvGraphicFramePr>
                <a:graphicFrameLocks noChangeAspect="1"/>
              </p:cNvGraphicFramePr>
              <p:nvPr/>
            </p:nvGraphicFramePr>
            <p:xfrm>
              <a:off x="87" y="81"/>
              <a:ext cx="1270" cy="5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4" name="" r:id="rId16" imgW="889000" imgH="393700" progId="Equation.DSMT4">
                      <p:embed/>
                    </p:oleObj>
                  </mc:Choice>
                  <mc:Fallback>
                    <p:oleObj name="" r:id="rId16" imgW="889000" imgH="393700" progId="Equation.DSMT4">
                      <p:embed/>
                      <p:pic>
                        <p:nvPicPr>
                          <p:cNvPr id="0" name="Object 4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87" y="81"/>
                            <a:ext cx="1270" cy="56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" name="Rectangle 5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204" cy="753"/>
              </a:xfrm>
              <a:prstGeom prst="rect">
                <a:avLst/>
              </a:prstGeom>
              <a:noFill/>
              <a:ln w="9525">
                <a:solidFill>
                  <a:srgbClr val="99FF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1" name="Text Box 51"/>
          <p:cNvSpPr txBox="1">
            <a:spLocks noChangeArrowheads="1"/>
          </p:cNvSpPr>
          <p:nvPr/>
        </p:nvSpPr>
        <p:spPr bwMode="auto">
          <a:xfrm>
            <a:off x="392935" y="5867383"/>
            <a:ext cx="5691505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</a:rPr>
              <a:t>将微小的伸长量△</a:t>
            </a:r>
            <a:r>
              <a:rPr lang="en-US" altLang="zh-CN" sz="2400" dirty="0">
                <a:latin typeface="Arial" panose="020B0604020202020204" pitchFamily="34" charset="0"/>
                <a:ea typeface="华文中宋" panose="02010600040101010101" pitchFamily="2" charset="-122"/>
              </a:rPr>
              <a:t>L </a:t>
            </a: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</a:rPr>
              <a:t>放大为竖尺上的</a:t>
            </a:r>
            <a:r>
              <a:rPr lang="zh-CN" altLang="en-US" sz="2400" dirty="0" smtClean="0">
                <a:latin typeface="Arial" panose="020B0604020202020204" pitchFamily="34" charset="0"/>
                <a:ea typeface="华文中宋" panose="02010600040101010101" pitchFamily="2" charset="-122"/>
              </a:rPr>
              <a:t>位移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l</a:t>
            </a:r>
            <a:endParaRPr lang="en-US" altLang="zh-CN" sz="2400" i="1" dirty="0" smtClean="0">
              <a:latin typeface="Times New Roman" panose="02020603050405020304" pitchFamily="18" charset="0"/>
            </a:endParaRPr>
          </a:p>
          <a:p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注：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的测量误差的影响</a:t>
            </a:r>
            <a:endParaRPr lang="zh-CN" altLang="en-US" sz="24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Text Box 4"/>
          <p:cNvSpPr txBox="1"/>
          <p:nvPr/>
        </p:nvSpPr>
        <p:spPr>
          <a:xfrm>
            <a:off x="337237" y="88325"/>
            <a:ext cx="8449749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一、 实验原理</a:t>
            </a:r>
            <a:r>
              <a:rPr lang="en-US" altLang="zh-CN" sz="4000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1.2</a:t>
            </a:r>
            <a:r>
              <a:rPr lang="zh-CN" altLang="en-US" sz="3200" b="1" dirty="0" smtClean="0">
                <a:solidFill>
                  <a:srgbClr val="006666"/>
                </a:solidFill>
                <a:latin typeface="微软雅黑" panose="020B0503020204020204" charset="-122"/>
                <a:ea typeface="微软雅黑" panose="020B0503020204020204" charset="-122"/>
              </a:rPr>
              <a:t>光杠杆的光学放大原理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二、实验仪器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71472" y="928670"/>
            <a:ext cx="7643866" cy="5435334"/>
            <a:chOff x="214282" y="1071546"/>
            <a:chExt cx="7643866" cy="5435334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214282" y="1071546"/>
              <a:ext cx="7643866" cy="54353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55000"/>
                </a:lnSpc>
              </a:pP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杨氏模量测定仪</a:t>
              </a:r>
              <a:endPara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pPr eaLnBrk="0" hangingPunct="0">
                <a:lnSpc>
                  <a:spcPct val="155000"/>
                </a:lnSpc>
              </a:pP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螺旋测微计 </a:t>
              </a:r>
              <a:r>
                <a:rPr lang="en-US" altLang="zh-CN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(</a:t>
              </a: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仪器误差：              ）</a:t>
              </a:r>
              <a:endPara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pPr eaLnBrk="0" hangingPunct="0">
                <a:lnSpc>
                  <a:spcPct val="155000"/>
                </a:lnSpc>
              </a:pP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游标卡尺</a:t>
              </a:r>
              <a:r>
                <a:rPr lang="en-US" altLang="zh-CN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(</a:t>
              </a: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仪器误差：            ）</a:t>
              </a:r>
              <a:endPara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pPr eaLnBrk="0" hangingPunct="0">
                <a:lnSpc>
                  <a:spcPct val="155000"/>
                </a:lnSpc>
              </a:pP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米尺</a:t>
              </a:r>
              <a:r>
                <a:rPr lang="en-US" altLang="zh-CN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(</a:t>
              </a: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仪器误差：          ）</a:t>
              </a:r>
              <a:endPara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pPr eaLnBrk="0" hangingPunct="0">
                <a:lnSpc>
                  <a:spcPct val="155000"/>
                </a:lnSpc>
              </a:pP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砝码</a:t>
              </a:r>
              <a:r>
                <a:rPr lang="en-US" altLang="zh-CN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(</a:t>
              </a: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仪器误差：       ）</a:t>
              </a:r>
              <a:r>
                <a:rPr lang="en-US" altLang="zh-CN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(</a:t>
              </a: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沧海校区用）</a:t>
              </a:r>
              <a:endParaRPr lang="en-US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pPr>
                <a:lnSpc>
                  <a:spcPct val="155000"/>
                </a:lnSpc>
              </a:pP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数字拉力计</a:t>
              </a:r>
              <a:r>
                <a:rPr lang="en-US" altLang="zh-CN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(</a:t>
              </a: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仪器误差：        ）（丽湖校区用）</a:t>
              </a:r>
              <a:endPara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pPr eaLnBrk="0" hangingPunct="0">
                <a:lnSpc>
                  <a:spcPct val="155000"/>
                </a:lnSpc>
              </a:pP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标尺</a:t>
              </a:r>
              <a:r>
                <a:rPr lang="en-US" altLang="zh-CN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(</a:t>
              </a: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仪器误差：              ）</a:t>
              </a:r>
              <a:endPara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  <a:p>
              <a:pPr eaLnBrk="0" hangingPunct="0">
                <a:lnSpc>
                  <a:spcPct val="155000"/>
                </a:lnSpc>
              </a:pPr>
              <a:r>
                <a:rPr lang="zh-CN" altLang="en-US" sz="2800" b="1" dirty="0" smtClean="0">
                  <a:solidFill>
                    <a:srgbClr val="000066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待测金属丝</a:t>
              </a:r>
              <a:endPara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6" name="Object 4"/>
            <p:cNvGraphicFramePr>
              <a:graphicFrameLocks noChangeAspect="1"/>
            </p:cNvGraphicFramePr>
            <p:nvPr/>
          </p:nvGraphicFramePr>
          <p:xfrm>
            <a:off x="3959195" y="2008171"/>
            <a:ext cx="1514475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1" name="" r:id="rId1" imgW="723265" imgH="177800" progId="Equation.3">
                    <p:embed/>
                  </p:oleObj>
                </mc:Choice>
                <mc:Fallback>
                  <p:oleObj name="" r:id="rId1" imgW="723265" imgH="177800" progId="Equation.3">
                    <p:embed/>
                    <p:pic>
                      <p:nvPicPr>
                        <p:cNvPr id="0" name="Object 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59195" y="2008171"/>
                          <a:ext cx="1514475" cy="37306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5"/>
            <p:cNvGraphicFramePr>
              <a:graphicFrameLocks noChangeAspect="1"/>
            </p:cNvGraphicFramePr>
            <p:nvPr/>
          </p:nvGraphicFramePr>
          <p:xfrm>
            <a:off x="3432145" y="2642377"/>
            <a:ext cx="1355725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" r:id="rId3" imgW="647065" imgH="177800" progId="Equation.3">
                    <p:embed/>
                  </p:oleObj>
                </mc:Choice>
                <mc:Fallback>
                  <p:oleObj name="" r:id="rId3" imgW="647065" imgH="177800" progId="Equation.3">
                    <p:embed/>
                    <p:pic>
                      <p:nvPicPr>
                        <p:cNvPr id="0" name="Object 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32145" y="2642377"/>
                          <a:ext cx="1355725" cy="3730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6"/>
            <p:cNvGraphicFramePr>
              <a:graphicFrameLocks noChangeAspect="1"/>
            </p:cNvGraphicFramePr>
            <p:nvPr/>
          </p:nvGraphicFramePr>
          <p:xfrm>
            <a:off x="2716888" y="3259826"/>
            <a:ext cx="1071563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" r:id="rId5" imgW="431165" imgH="177800" progId="Equation.3">
                    <p:embed/>
                  </p:oleObj>
                </mc:Choice>
                <mc:Fallback>
                  <p:oleObj name="" r:id="rId5" imgW="431165" imgH="177800" progId="Equation.3">
                    <p:embed/>
                    <p:pic>
                      <p:nvPicPr>
                        <p:cNvPr id="0" name="Object 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16888" y="3259826"/>
                          <a:ext cx="1071563" cy="4413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2732940" y="3907879"/>
            <a:ext cx="755650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" r:id="rId7" imgW="304800" imgH="203200" progId="Equation.3">
                    <p:embed/>
                  </p:oleObj>
                </mc:Choice>
                <mc:Fallback>
                  <p:oleObj name="" r:id="rId7" imgW="304800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32940" y="3907879"/>
                          <a:ext cx="755650" cy="5048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2723326" y="5214950"/>
            <a:ext cx="1417638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name="" r:id="rId9" imgW="570865" imgH="177800" progId="Equation.3">
                    <p:embed/>
                  </p:oleObj>
                </mc:Choice>
                <mc:Fallback>
                  <p:oleObj name="" r:id="rId9" imgW="570865" imgH="177800" progId="Equation.3">
                    <p:embed/>
                    <p:pic>
                      <p:nvPicPr>
                        <p:cNvPr id="0" name="Object 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23326" y="5214950"/>
                          <a:ext cx="1417638" cy="4413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7" name="Object 7"/>
            <p:cNvGraphicFramePr>
              <a:graphicFrameLocks noChangeAspect="1"/>
            </p:cNvGraphicFramePr>
            <p:nvPr/>
          </p:nvGraphicFramePr>
          <p:xfrm>
            <a:off x="4000496" y="4565662"/>
            <a:ext cx="693738" cy="506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11" imgW="6705600" imgH="4876800" progId="Equation.DSMT4">
                    <p:embed/>
                  </p:oleObj>
                </mc:Choice>
                <mc:Fallback>
                  <p:oleObj name="Equation" r:id="rId11" imgW="6705600" imgH="4876800" progId="Equation.DSMT4">
                    <p:embed/>
                    <p:pic>
                      <p:nvPicPr>
                        <p:cNvPr id="0" name="图片 51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00496" y="4565662"/>
                          <a:ext cx="693738" cy="5064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二、实验仪器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609600" y="3789363"/>
          <a:ext cx="78517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r:id="rId1" imgW="3517265" imgH="444500" progId="Equation.DSMT4">
                  <p:embed/>
                </p:oleObj>
              </mc:Choice>
              <mc:Fallback>
                <p:oleObj name="" r:id="rId1" imgW="3517265" imgH="4445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3789363"/>
                        <a:ext cx="7851775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550863" y="2066925"/>
          <a:ext cx="17891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" r:id="rId3" imgW="723900" imgH="393700" progId="Equation.DSMT4">
                  <p:embed/>
                </p:oleObj>
              </mc:Choice>
              <mc:Fallback>
                <p:oleObj name="" r:id="rId3" imgW="723900" imgH="3937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0863" y="2066925"/>
                        <a:ext cx="1789112" cy="97472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 w="9525">
                        <a:noFill/>
                      </a:ln>
                      <a:effectLst>
                        <a:prstShdw prst="shdw17" dist="17961" dir="2699999">
                          <a:srgbClr val="997A7A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1"/>
          <p:cNvGrpSpPr/>
          <p:nvPr/>
        </p:nvGrpSpPr>
        <p:grpSpPr bwMode="auto">
          <a:xfrm>
            <a:off x="2339975" y="3121025"/>
            <a:ext cx="1143000" cy="900113"/>
            <a:chOff x="0" y="0"/>
            <a:chExt cx="994" cy="907"/>
          </a:xfrm>
        </p:grpSpPr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0" y="363"/>
              <a:ext cx="390" cy="5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215" y="0"/>
              <a:ext cx="779" cy="5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chemeClr val="accent2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砝码</a:t>
              </a:r>
              <a:endParaRPr lang="zh-CN" altLang="en-US" sz="2800" b="1">
                <a:solidFill>
                  <a:schemeClr val="accent2"/>
                </a:solidFill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</p:grpSp>
      <p:grpSp>
        <p:nvGrpSpPr>
          <p:cNvPr id="16" name="Group 14"/>
          <p:cNvGrpSpPr/>
          <p:nvPr/>
        </p:nvGrpSpPr>
        <p:grpSpPr bwMode="auto">
          <a:xfrm>
            <a:off x="3405188" y="3089275"/>
            <a:ext cx="1204912" cy="1017588"/>
            <a:chOff x="0" y="0"/>
            <a:chExt cx="759" cy="907"/>
          </a:xfrm>
        </p:grpSpPr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0" y="363"/>
              <a:ext cx="390" cy="5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195" y="0"/>
              <a:ext cx="564" cy="4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800" b="1">
                  <a:solidFill>
                    <a:schemeClr val="accent2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卷尺</a:t>
              </a:r>
              <a:endParaRPr lang="zh-CN" altLang="en-US" sz="2800" b="1">
                <a:solidFill>
                  <a:schemeClr val="accent2"/>
                </a:solidFill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</p:grpSp>
      <p:grpSp>
        <p:nvGrpSpPr>
          <p:cNvPr id="19" name="Group 17"/>
          <p:cNvGrpSpPr/>
          <p:nvPr/>
        </p:nvGrpSpPr>
        <p:grpSpPr bwMode="auto">
          <a:xfrm>
            <a:off x="4610100" y="3089275"/>
            <a:ext cx="1066800" cy="900113"/>
            <a:chOff x="0" y="0"/>
            <a:chExt cx="672" cy="907"/>
          </a:xfrm>
        </p:grpSpPr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108" y="0"/>
              <a:ext cx="564" cy="5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chemeClr val="accent2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卷尺</a:t>
              </a:r>
              <a:endParaRPr lang="zh-CN" altLang="en-US" sz="2800" b="1">
                <a:solidFill>
                  <a:schemeClr val="accent2"/>
                </a:solidFill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V="1">
              <a:off x="0" y="363"/>
              <a:ext cx="390" cy="5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0"/>
          <p:cNvGrpSpPr/>
          <p:nvPr/>
        </p:nvGrpSpPr>
        <p:grpSpPr bwMode="auto">
          <a:xfrm>
            <a:off x="5762625" y="3089275"/>
            <a:ext cx="1250950" cy="900113"/>
            <a:chOff x="0" y="0"/>
            <a:chExt cx="788" cy="907"/>
          </a:xfrm>
        </p:grpSpPr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V="1">
              <a:off x="87" y="327"/>
              <a:ext cx="390" cy="58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788" cy="5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800" b="1">
                  <a:solidFill>
                    <a:schemeClr val="accent2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千分尺</a:t>
              </a:r>
              <a:endParaRPr lang="zh-CN" altLang="en-US" sz="2800" b="1">
                <a:solidFill>
                  <a:schemeClr val="accent2"/>
                </a:solidFill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</p:grpSp>
      <p:grpSp>
        <p:nvGrpSpPr>
          <p:cNvPr id="25" name="Group 23"/>
          <p:cNvGrpSpPr/>
          <p:nvPr/>
        </p:nvGrpSpPr>
        <p:grpSpPr bwMode="auto">
          <a:xfrm>
            <a:off x="7013575" y="3063875"/>
            <a:ext cx="895350" cy="1100138"/>
            <a:chOff x="0" y="0"/>
            <a:chExt cx="564" cy="907"/>
          </a:xfrm>
        </p:grpSpPr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0" y="363"/>
              <a:ext cx="390" cy="5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564" cy="42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chemeClr val="accent2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卡尺</a:t>
              </a:r>
              <a:endParaRPr lang="zh-CN" altLang="en-US" sz="2800" b="1">
                <a:solidFill>
                  <a:schemeClr val="accent2"/>
                </a:solidFill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</p:grpSp>
      <p:grpSp>
        <p:nvGrpSpPr>
          <p:cNvPr id="28" name="Group 26"/>
          <p:cNvGrpSpPr/>
          <p:nvPr/>
        </p:nvGrpSpPr>
        <p:grpSpPr bwMode="auto">
          <a:xfrm>
            <a:off x="7908925" y="3063875"/>
            <a:ext cx="895350" cy="1100138"/>
            <a:chOff x="0" y="0"/>
            <a:chExt cx="564" cy="907"/>
          </a:xfrm>
        </p:grpSpPr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564" cy="42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800" b="1">
                  <a:solidFill>
                    <a:schemeClr val="accent2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米尺</a:t>
              </a:r>
              <a:endParaRPr lang="zh-CN" altLang="en-US" sz="2800" b="1">
                <a:solidFill>
                  <a:schemeClr val="accent2"/>
                </a:solidFill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V="1">
              <a:off x="0" y="363"/>
              <a:ext cx="390" cy="54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28596" y="121442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测量仪器的选择</a:t>
            </a:r>
            <a:endParaRPr lang="zh-CN" altLang="en-US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三、实验步骤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84213" y="1022350"/>
            <a:ext cx="4248150" cy="625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>
                <a:latin typeface="华文中宋" panose="02010600040101010101" pitchFamily="2" charset="-122"/>
              </a:rPr>
              <a:t>1</a:t>
            </a:r>
            <a:r>
              <a:rPr lang="zh-CN" sz="2800" b="1">
                <a:latin typeface="华文中宋" panose="02010600040101010101" pitchFamily="2" charset="-122"/>
              </a:rPr>
              <a:t>、调节仪器：</a:t>
            </a:r>
            <a:endParaRPr lang="zh-CN" sz="2800" b="1">
              <a:latin typeface="华文中宋" panose="02010600040101010101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203575" y="1022350"/>
            <a:ext cx="4608513" cy="625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sz="2800" b="1">
                <a:latin typeface="华文中宋" panose="02010600040101010101" pitchFamily="2" charset="-122"/>
              </a:rPr>
              <a:t>调节光杠杆和望远镜：</a:t>
            </a:r>
            <a:endParaRPr lang="zh-CN" sz="2800" b="1">
              <a:latin typeface="华文中宋" panose="02010600040101010101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52425" y="1724025"/>
            <a:ext cx="7848600" cy="5769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　</a:t>
            </a: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（1）调整望远镜水平,光杠杆平面镜竖直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；</a:t>
            </a:r>
            <a:endParaRPr lang="zh-CN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84213" y="2349500"/>
            <a:ext cx="7343775" cy="5769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（2）调整望远镜与光杠杆平面镜高度相同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；</a:t>
            </a:r>
            <a:endParaRPr lang="zh-CN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84213" y="2997200"/>
            <a:ext cx="8459787" cy="1692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（3）沿望远镜外侧边沿上方使凹口、瞄准星面镜在同一直线上，左、右移动望远镜在镜子里找到竖直尺的像;若找不到,可微调镜子的角度,直到找到为止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；</a:t>
            </a:r>
            <a:endParaRPr lang="zh-CN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179705" y="981075"/>
          <a:ext cx="4361815" cy="4648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3276600" imgH="3295650" progId="Paint.Picture">
                  <p:embed/>
                </p:oleObj>
              </mc:Choice>
              <mc:Fallback>
                <p:oleObj name="" r:id="rId2" imgW="3276600" imgH="32956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705" y="981075"/>
                        <a:ext cx="4361815" cy="4648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>
            <p:custDataLst>
              <p:tags r:id="rId4"/>
            </p:custDataLst>
          </p:nvPr>
        </p:nvGraphicFramePr>
        <p:xfrm>
          <a:off x="5032375" y="765175"/>
          <a:ext cx="3402330" cy="487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1600200" imgH="3111500" progId="Paint.Picture">
                  <p:embed/>
                </p:oleObj>
              </mc:Choice>
              <mc:Fallback>
                <p:oleObj name="" r:id="rId5" imgW="1600200" imgH="31115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2375" y="765175"/>
                        <a:ext cx="3402330" cy="487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>
            <p:custDataLst>
              <p:tags r:id="rId7"/>
            </p:custDataLst>
          </p:nvPr>
        </p:nvSpPr>
        <p:spPr>
          <a:xfrm>
            <a:off x="611505" y="2781300"/>
            <a:ext cx="1080135" cy="136779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三、实验步骤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84213" y="1022350"/>
            <a:ext cx="4248150" cy="625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>
                <a:latin typeface="华文中宋" panose="02010600040101010101" pitchFamily="2" charset="-122"/>
              </a:rPr>
              <a:t>1</a:t>
            </a:r>
            <a:r>
              <a:rPr lang="zh-CN" sz="2800" b="1">
                <a:latin typeface="华文中宋" panose="02010600040101010101" pitchFamily="2" charset="-122"/>
              </a:rPr>
              <a:t>、调节仪器：</a:t>
            </a:r>
            <a:endParaRPr lang="zh-CN" sz="2800" b="1">
              <a:latin typeface="华文中宋" panose="02010600040101010101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203575" y="1022350"/>
            <a:ext cx="4608513" cy="625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sz="2800" b="1">
                <a:latin typeface="华文中宋" panose="02010600040101010101" pitchFamily="2" charset="-122"/>
              </a:rPr>
              <a:t>调节光杠杆和望远镜：</a:t>
            </a:r>
            <a:endParaRPr lang="zh-CN" sz="2800" b="1">
              <a:latin typeface="华文中宋" panose="02010600040101010101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52425" y="1724025"/>
            <a:ext cx="7848600" cy="629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　</a:t>
            </a:r>
            <a:endParaRPr lang="zh-CN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67043" y="2060902"/>
            <a:ext cx="7848600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（4）旋动望远镜目镜,使十字叉丝清晰;</a:t>
            </a:r>
            <a:endParaRPr lang="en-US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再旋动聚焦手轮,直到看清竖直尺的像。</a:t>
            </a:r>
            <a:endParaRPr lang="zh-CN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107950" y="45085"/>
          <a:ext cx="3895725" cy="306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3892550" imgH="3067050" progId="Paint.Picture">
                  <p:embed/>
                </p:oleObj>
              </mc:Choice>
              <mc:Fallback>
                <p:oleObj name="" r:id="rId2" imgW="3892550" imgH="30670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950" y="45085"/>
                        <a:ext cx="3895725" cy="3069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椭圆 3"/>
          <p:cNvSpPr/>
          <p:nvPr/>
        </p:nvSpPr>
        <p:spPr>
          <a:xfrm>
            <a:off x="107950" y="1269365"/>
            <a:ext cx="1080135" cy="136779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对象 4"/>
          <p:cNvGraphicFramePr/>
          <p:nvPr>
            <p:custDataLst>
              <p:tags r:id="rId4"/>
            </p:custDataLst>
          </p:nvPr>
        </p:nvGraphicFramePr>
        <p:xfrm>
          <a:off x="5076190" y="189230"/>
          <a:ext cx="3234690" cy="3196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3232150" imgH="3194050" progId="Paint.Picture">
                  <p:embed/>
                </p:oleObj>
              </mc:Choice>
              <mc:Fallback>
                <p:oleObj name="" r:id="rId5" imgW="3232150" imgH="31940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6190" y="189230"/>
                        <a:ext cx="3234690" cy="3196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>
            <p:custDataLst>
              <p:tags r:id="rId7"/>
            </p:custDataLst>
          </p:nvPr>
        </p:nvGraphicFramePr>
        <p:xfrm>
          <a:off x="179705" y="3501390"/>
          <a:ext cx="3895725" cy="306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8" imgW="3892550" imgH="3067050" progId="Paint.Picture">
                  <p:embed/>
                </p:oleObj>
              </mc:Choice>
              <mc:Fallback>
                <p:oleObj name="" r:id="rId8" imgW="3892550" imgH="30670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705" y="3501390"/>
                        <a:ext cx="3895725" cy="3069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椭圆 8"/>
          <p:cNvSpPr/>
          <p:nvPr/>
        </p:nvSpPr>
        <p:spPr>
          <a:xfrm>
            <a:off x="2411730" y="4149090"/>
            <a:ext cx="1080135" cy="136779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0" name="对象 9"/>
          <p:cNvGraphicFramePr/>
          <p:nvPr>
            <p:custDataLst>
              <p:tags r:id="rId9"/>
            </p:custDataLst>
          </p:nvPr>
        </p:nvGraphicFramePr>
        <p:xfrm>
          <a:off x="5580380" y="3515360"/>
          <a:ext cx="1328420" cy="334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0" imgW="1327150" imgH="3340100" progId="Paint.Picture">
                  <p:embed/>
                </p:oleObj>
              </mc:Choice>
              <mc:Fallback>
                <p:oleObj name="" r:id="rId10" imgW="1327150" imgH="33401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80380" y="3515360"/>
                        <a:ext cx="1328420" cy="3342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三、实验步骤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36563" y="1444625"/>
            <a:ext cx="8482012" cy="1158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逐次加一个砝码，在望远镜中读对应标尺的位置，共7次；然后将所加砝码逐次去掉，并读取相应读数。</a:t>
            </a:r>
            <a:endParaRPr lang="zh-CN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30188" y="742950"/>
            <a:ext cx="5111750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3200" b="1">
                <a:latin typeface="华文中宋" panose="02010600040101010101" pitchFamily="2" charset="-122"/>
              </a:rPr>
              <a:t>2</a:t>
            </a:r>
            <a:r>
              <a:rPr lang="zh-CN" sz="3200" b="1">
                <a:latin typeface="华文中宋" panose="02010600040101010101" pitchFamily="2" charset="-122"/>
              </a:rPr>
              <a:t>、记录金属丝伸长变化</a:t>
            </a:r>
            <a:endParaRPr lang="zh-CN" sz="3200" b="1">
              <a:latin typeface="华文中宋" panose="02010600040101010101" pitchFamily="2" charset="-122"/>
            </a:endParaRPr>
          </a:p>
        </p:txBody>
      </p:sp>
      <p:grpSp>
        <p:nvGrpSpPr>
          <p:cNvPr id="5" name="Group 5"/>
          <p:cNvGrpSpPr/>
          <p:nvPr/>
        </p:nvGrpSpPr>
        <p:grpSpPr bwMode="auto">
          <a:xfrm>
            <a:off x="681038" y="2533650"/>
            <a:ext cx="7346950" cy="1471613"/>
            <a:chOff x="0" y="0"/>
            <a:chExt cx="4799" cy="1385"/>
          </a:xfrm>
        </p:grpSpPr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2077" y="486"/>
            <a:ext cx="30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69" name="" r:id="rId1" imgW="152400" imgH="215900" progId="Equation.3">
                    <p:embed/>
                  </p:oleObj>
                </mc:Choice>
                <mc:Fallback>
                  <p:oleObj name="" r:id="rId1" imgW="152400" imgH="215900" progId="Equation.3">
                    <p:embed/>
                    <p:pic>
                      <p:nvPicPr>
                        <p:cNvPr id="0" name="Object 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77" y="486"/>
                          <a:ext cx="305" cy="4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2530" y="474"/>
            <a:ext cx="305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" name="" r:id="rId3" imgW="152400" imgH="228600" progId="Equation.3">
                    <p:embed/>
                  </p:oleObj>
                </mc:Choice>
                <mc:Fallback>
                  <p:oleObj name="" r:id="rId3" imgW="1524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30" y="474"/>
                          <a:ext cx="305" cy="4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3052" y="486"/>
            <a:ext cx="305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name="" r:id="rId5" imgW="152400" imgH="215900" progId="Equation.3">
                    <p:embed/>
                  </p:oleObj>
                </mc:Choice>
                <mc:Fallback>
                  <p:oleObj name="" r:id="rId5" imgW="1524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52" y="486"/>
                          <a:ext cx="305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3506" y="473"/>
            <a:ext cx="305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name="" r:id="rId7" imgW="152400" imgH="228600" progId="Equation.3">
                    <p:embed/>
                  </p:oleObj>
                </mc:Choice>
                <mc:Fallback>
                  <p:oleObj name="" r:id="rId7" imgW="1524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06" y="473"/>
                          <a:ext cx="305" cy="4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4016" y="473"/>
            <a:ext cx="305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4" name="" r:id="rId9" imgW="152400" imgH="228600" progId="Equation.3">
                    <p:embed/>
                  </p:oleObj>
                </mc:Choice>
                <mc:Fallback>
                  <p:oleObj name="" r:id="rId9" imgW="1524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16" y="473"/>
                          <a:ext cx="305" cy="4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1102" y="474"/>
            <a:ext cx="30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" name="" r:id="rId11" imgW="152400" imgH="228600" progId="Equation.3">
                    <p:embed/>
                  </p:oleObj>
                </mc:Choice>
                <mc:Fallback>
                  <p:oleObj name="" r:id="rId11" imgW="1524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02" y="474"/>
                          <a:ext cx="305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1147" y="928"/>
            <a:ext cx="25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6" name="" r:id="rId13" imgW="127000" imgH="228600" progId="Equation.3">
                    <p:embed/>
                  </p:oleObj>
                </mc:Choice>
                <mc:Fallback>
                  <p:oleObj name="" r:id="rId13" imgW="1270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47" y="928"/>
                          <a:ext cx="254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1600" y="942"/>
            <a:ext cx="254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" r:id="rId15" imgW="127000" imgH="215900" progId="Equation.3">
                    <p:embed/>
                  </p:oleObj>
                </mc:Choice>
                <mc:Fallback>
                  <p:oleObj name="" r:id="rId15" imgW="127000" imgH="215900" progId="Equation.3">
                    <p:embed/>
                    <p:pic>
                      <p:nvPicPr>
                        <p:cNvPr id="0" name="Object 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00" y="942"/>
                          <a:ext cx="254" cy="4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2064" y="942"/>
            <a:ext cx="280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" r:id="rId17" imgW="139700" imgH="215900" progId="Equation.3">
                    <p:embed/>
                  </p:oleObj>
                </mc:Choice>
                <mc:Fallback>
                  <p:oleObj name="" r:id="rId17" imgW="139700" imgH="215900" progId="Equation.3">
                    <p:embed/>
                    <p:pic>
                      <p:nvPicPr>
                        <p:cNvPr id="0" name="Object 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64" y="942"/>
                          <a:ext cx="280" cy="4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2563" y="928"/>
            <a:ext cx="280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" name="" r:id="rId19" imgW="139700" imgH="229235" progId="Equation.3">
                    <p:embed/>
                  </p:oleObj>
                </mc:Choice>
                <mc:Fallback>
                  <p:oleObj name="" r:id="rId19" imgW="139700" imgH="229235" progId="Equation.3">
                    <p:embed/>
                    <p:pic>
                      <p:nvPicPr>
                        <p:cNvPr id="0" name="Object 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563" y="928"/>
                          <a:ext cx="280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3052" y="942"/>
            <a:ext cx="254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0" name="" r:id="rId21" imgW="127000" imgH="215900" progId="Equation.3">
                    <p:embed/>
                  </p:oleObj>
                </mc:Choice>
                <mc:Fallback>
                  <p:oleObj name="" r:id="rId21" imgW="127000" imgH="215900" progId="Equation.3">
                    <p:embed/>
                    <p:pic>
                      <p:nvPicPr>
                        <p:cNvPr id="0" name="Object 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052" y="942"/>
                          <a:ext cx="254" cy="4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551" y="929"/>
            <a:ext cx="25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1" name="" r:id="rId23" imgW="127000" imgH="228600" progId="Equation.3">
                    <p:embed/>
                  </p:oleObj>
                </mc:Choice>
                <mc:Fallback>
                  <p:oleObj name="" r:id="rId23" imgW="12700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551" y="929"/>
                          <a:ext cx="254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4041" y="929"/>
            <a:ext cx="25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2" name="" r:id="rId25" imgW="127000" imgH="228600" progId="Equation.3">
                    <p:embed/>
                  </p:oleObj>
                </mc:Choice>
                <mc:Fallback>
                  <p:oleObj name="" r:id="rId25" imgW="127000" imgH="228600" progId="Equation.3">
                    <p:embed/>
                    <p:pic>
                      <p:nvPicPr>
                        <p:cNvPr id="0" name="Object 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041" y="929"/>
                          <a:ext cx="254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1104" y="10"/>
            <a:ext cx="25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3" name="Equation" r:id="rId27" imgW="127000" imgH="228600" progId="Equation.DSMT4">
                    <p:embed/>
                  </p:oleObj>
                </mc:Choice>
                <mc:Fallback>
                  <p:oleObj name="Equation" r:id="rId27" imgW="127000" imgH="228600" progId="Equation.DSMT4">
                    <p:embed/>
                    <p:pic>
                      <p:nvPicPr>
                        <p:cNvPr id="0" name="Object 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104" y="10"/>
                          <a:ext cx="255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1600" y="0"/>
            <a:ext cx="255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name="" r:id="rId29" imgW="127000" imgH="215900" progId="Equation.3">
                    <p:embed/>
                  </p:oleObj>
                </mc:Choice>
                <mc:Fallback>
                  <p:oleObj name="" r:id="rId29" imgW="127000" imgH="215900" progId="Equation.3">
                    <p:embed/>
                    <p:pic>
                      <p:nvPicPr>
                        <p:cNvPr id="0" name="Object 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600" y="0"/>
                          <a:ext cx="255" cy="4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2110" y="22"/>
            <a:ext cx="280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5" name="" r:id="rId31" imgW="139700" imgH="215900" progId="Equation.3">
                    <p:embed/>
                  </p:oleObj>
                </mc:Choice>
                <mc:Fallback>
                  <p:oleObj name="" r:id="rId31" imgW="139700" imgH="215900" progId="Equation.3">
                    <p:embed/>
                    <p:pic>
                      <p:nvPicPr>
                        <p:cNvPr id="0" name="Object 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110" y="22"/>
                          <a:ext cx="280" cy="4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2563" y="10"/>
            <a:ext cx="281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6" name="" r:id="rId33" imgW="139700" imgH="229235" progId="Equation.3">
                    <p:embed/>
                  </p:oleObj>
                </mc:Choice>
                <mc:Fallback>
                  <p:oleObj name="" r:id="rId33" imgW="139700" imgH="229235" progId="Equation.3">
                    <p:embed/>
                    <p:pic>
                      <p:nvPicPr>
                        <p:cNvPr id="0" name="Object 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2563" y="10"/>
                          <a:ext cx="281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3075" y="0"/>
            <a:ext cx="255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" name="" r:id="rId35" imgW="127000" imgH="215900" progId="Equation.3">
                    <p:embed/>
                  </p:oleObj>
                </mc:Choice>
                <mc:Fallback>
                  <p:oleObj name="" r:id="rId35" imgW="127000" imgH="215900" progId="Equation.3">
                    <p:embed/>
                    <p:pic>
                      <p:nvPicPr>
                        <p:cNvPr id="0" name="Object 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075" y="0"/>
                          <a:ext cx="255" cy="4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3528" y="10"/>
            <a:ext cx="25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8" name="" r:id="rId37" imgW="127000" imgH="228600" progId="Equation.3">
                    <p:embed/>
                  </p:oleObj>
                </mc:Choice>
                <mc:Fallback>
                  <p:oleObj name="" r:id="rId37" imgW="127000" imgH="228600" progId="Equation.3">
                    <p:embed/>
                    <p:pic>
                      <p:nvPicPr>
                        <p:cNvPr id="0" name="Object 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528" y="10"/>
                          <a:ext cx="255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4041" y="10"/>
            <a:ext cx="25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name="" r:id="rId39" imgW="127000" imgH="228600" progId="Equation.3">
                    <p:embed/>
                  </p:oleObj>
                </mc:Choice>
                <mc:Fallback>
                  <p:oleObj name="" r:id="rId39" imgW="127000" imgH="228600" progId="Equation.3">
                    <p:embed/>
                    <p:pic>
                      <p:nvPicPr>
                        <p:cNvPr id="0" name="Object 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4041" y="10"/>
                          <a:ext cx="255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4513" y="22"/>
            <a:ext cx="281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0" name="" r:id="rId41" imgW="139700" imgH="215900" progId="Equation.3">
                    <p:embed/>
                  </p:oleObj>
                </mc:Choice>
                <mc:Fallback>
                  <p:oleObj name="" r:id="rId41" imgW="139700" imgH="215900" progId="Equation.3">
                    <p:embed/>
                    <p:pic>
                      <p:nvPicPr>
                        <p:cNvPr id="0" name="Object 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4513" y="22"/>
                          <a:ext cx="281" cy="4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7"/>
            <p:cNvGraphicFramePr>
              <a:graphicFrameLocks noChangeAspect="1"/>
            </p:cNvGraphicFramePr>
            <p:nvPr/>
          </p:nvGraphicFramePr>
          <p:xfrm>
            <a:off x="4503" y="941"/>
            <a:ext cx="281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1" name="" r:id="rId43" imgW="139700" imgH="215900" progId="Equation.3">
                    <p:embed/>
                  </p:oleObj>
                </mc:Choice>
                <mc:Fallback>
                  <p:oleObj name="" r:id="rId43" imgW="139700" imgH="215900" progId="Equation.3">
                    <p:embed/>
                    <p:pic>
                      <p:nvPicPr>
                        <p:cNvPr id="0" name="Object 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4503" y="941"/>
                          <a:ext cx="281" cy="4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13" y="121"/>
              <a:ext cx="866" cy="4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加砝码</a:t>
              </a:r>
              <a:endParaRPr lang="zh-CN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13" y="529"/>
              <a:ext cx="866" cy="4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减砝码</a:t>
              </a:r>
              <a:endParaRPr lang="zh-CN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13" y="938"/>
              <a:ext cx="866" cy="4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平均值</a:t>
              </a:r>
              <a:endParaRPr lang="zh-CN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" name="Object 31"/>
            <p:cNvGraphicFramePr>
              <a:graphicFrameLocks noChangeAspect="1"/>
            </p:cNvGraphicFramePr>
            <p:nvPr/>
          </p:nvGraphicFramePr>
          <p:xfrm>
            <a:off x="1600" y="463"/>
            <a:ext cx="30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2" name="" r:id="rId44" imgW="152400" imgH="215900" progId="Equation.3">
                    <p:embed/>
                  </p:oleObj>
                </mc:Choice>
                <mc:Fallback>
                  <p:oleObj name="" r:id="rId44" imgW="152400" imgH="215900" progId="Equation.3">
                    <p:embed/>
                    <p:pic>
                      <p:nvPicPr>
                        <p:cNvPr id="0" name="Object 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1600" y="463"/>
                          <a:ext cx="305" cy="4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1516" y="134"/>
              <a:ext cx="0" cy="1225"/>
            </a:xfrm>
            <a:prstGeom prst="line">
              <a:avLst/>
            </a:prstGeom>
            <a:noFill/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1999" y="134"/>
              <a:ext cx="0" cy="1225"/>
            </a:xfrm>
            <a:prstGeom prst="line">
              <a:avLst/>
            </a:prstGeom>
            <a:noFill/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2482" y="134"/>
              <a:ext cx="0" cy="1225"/>
            </a:xfrm>
            <a:prstGeom prst="line">
              <a:avLst/>
            </a:prstGeom>
            <a:noFill/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>
              <a:off x="2964" y="135"/>
              <a:ext cx="0" cy="1225"/>
            </a:xfrm>
            <a:prstGeom prst="line">
              <a:avLst/>
            </a:prstGeom>
            <a:noFill/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3447" y="134"/>
              <a:ext cx="0" cy="1225"/>
            </a:xfrm>
            <a:prstGeom prst="line">
              <a:avLst/>
            </a:prstGeom>
            <a:noFill/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3930" y="135"/>
              <a:ext cx="0" cy="1225"/>
            </a:xfrm>
            <a:prstGeom prst="line">
              <a:avLst/>
            </a:prstGeom>
            <a:noFill/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4413" y="134"/>
              <a:ext cx="0" cy="1225"/>
            </a:xfrm>
            <a:prstGeom prst="line">
              <a:avLst/>
            </a:prstGeom>
            <a:noFill/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1034" y="135"/>
              <a:ext cx="0" cy="1225"/>
            </a:xfrm>
            <a:prstGeom prst="line">
              <a:avLst/>
            </a:prstGeom>
            <a:noFill/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>
              <a:off x="13" y="127"/>
              <a:ext cx="4779" cy="0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3" y="529"/>
              <a:ext cx="4781" cy="0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13" y="923"/>
              <a:ext cx="4779" cy="0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18" y="1369"/>
              <a:ext cx="4781" cy="0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4" name="Line 44"/>
            <p:cNvSpPr>
              <a:spLocks noChangeShapeType="1"/>
            </p:cNvSpPr>
            <p:nvPr/>
          </p:nvSpPr>
          <p:spPr bwMode="auto">
            <a:xfrm>
              <a:off x="0" y="123"/>
              <a:ext cx="0" cy="1228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5" name="Line 45"/>
            <p:cNvSpPr>
              <a:spLocks noChangeShapeType="1"/>
            </p:cNvSpPr>
            <p:nvPr/>
          </p:nvSpPr>
          <p:spPr bwMode="auto">
            <a:xfrm>
              <a:off x="879" y="131"/>
              <a:ext cx="0" cy="1228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1502" y="131"/>
              <a:ext cx="0" cy="1228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1971" y="131"/>
              <a:ext cx="0" cy="1228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2441" y="121"/>
              <a:ext cx="0" cy="1228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9" name="Line 49"/>
            <p:cNvSpPr>
              <a:spLocks noChangeShapeType="1"/>
            </p:cNvSpPr>
            <p:nvPr/>
          </p:nvSpPr>
          <p:spPr bwMode="auto">
            <a:xfrm>
              <a:off x="2912" y="134"/>
              <a:ext cx="0" cy="1230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3381" y="134"/>
              <a:ext cx="0" cy="1230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3853" y="134"/>
              <a:ext cx="0" cy="1230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4323" y="127"/>
              <a:ext cx="0" cy="1228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4794" y="134"/>
              <a:ext cx="0" cy="1230"/>
            </a:xfrm>
            <a:prstGeom prst="line">
              <a:avLst/>
            </a:prstGeom>
            <a:noFill/>
            <a:ln w="9525" cmpd="sng">
              <a:solidFill>
                <a:schemeClr val="accent2"/>
              </a:solidFill>
              <a:round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aphicFrame>
        <p:nvGraphicFramePr>
          <p:cNvPr id="54" name="Object 54"/>
          <p:cNvGraphicFramePr>
            <a:graphicFrameLocks noChangeAspect="1"/>
          </p:cNvGraphicFramePr>
          <p:nvPr/>
        </p:nvGraphicFramePr>
        <p:xfrm>
          <a:off x="798513" y="4751388"/>
          <a:ext cx="11572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46" imgW="609600" imgH="228600" progId="Equation.DSMT4">
                  <p:embed/>
                </p:oleObj>
              </mc:Choice>
              <mc:Fallback>
                <p:oleObj name="Equation" r:id="rId46" imgW="609600" imgH="228600" progId="Equation.DSMT4">
                  <p:embed/>
                  <p:pic>
                    <p:nvPicPr>
                      <p:cNvPr id="0" name="Object 54"/>
                      <p:cNvPicPr>
                        <a:picLocks noChangeAspect="1"/>
                      </p:cNvPicPr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798513" y="4751388"/>
                        <a:ext cx="1157287" cy="433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6"/>
          <p:cNvGraphicFramePr>
            <a:graphicFrameLocks noChangeAspect="1"/>
          </p:cNvGraphicFramePr>
          <p:nvPr/>
        </p:nvGraphicFramePr>
        <p:xfrm>
          <a:off x="4032250" y="4751388"/>
          <a:ext cx="12969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48" imgW="622300" imgH="228600" progId="Equation.DSMT4">
                  <p:embed/>
                </p:oleObj>
              </mc:Choice>
              <mc:Fallback>
                <p:oleObj name="Equation" r:id="rId48" imgW="622300" imgH="228600" progId="Equation.DSMT4">
                  <p:embed/>
                  <p:pic>
                    <p:nvPicPr>
                      <p:cNvPr id="0" name="Object 56"/>
                      <p:cNvPicPr>
                        <a:picLocks noChangeAspect="1"/>
                      </p:cNvPicPr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032250" y="4751388"/>
                        <a:ext cx="1296988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7"/>
          <p:cNvGraphicFramePr>
            <a:graphicFrameLocks noChangeAspect="1"/>
          </p:cNvGraphicFramePr>
          <p:nvPr/>
        </p:nvGraphicFramePr>
        <p:xfrm>
          <a:off x="5719763" y="4751388"/>
          <a:ext cx="129063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Equation" r:id="rId50" imgW="622300" imgH="228600" progId="Equation.DSMT4">
                  <p:embed/>
                </p:oleObj>
              </mc:Choice>
              <mc:Fallback>
                <p:oleObj name="Equation" r:id="rId50" imgW="622300" imgH="228600" progId="Equation.DSMT4">
                  <p:embed/>
                  <p:pic>
                    <p:nvPicPr>
                      <p:cNvPr id="0" name="Object 57"/>
                      <p:cNvPicPr>
                        <a:picLocks noChangeAspect="1"/>
                      </p:cNvPicPr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719763" y="4751388"/>
                        <a:ext cx="1290637" cy="4714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8"/>
          <p:cNvGraphicFramePr>
            <a:graphicFrameLocks noChangeAspect="1"/>
          </p:cNvGraphicFramePr>
          <p:nvPr/>
        </p:nvGraphicFramePr>
        <p:xfrm>
          <a:off x="1258888" y="5607050"/>
          <a:ext cx="28098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" r:id="rId52" imgW="114300" imgH="190500" progId="Equation.DSMT4">
                  <p:embed/>
                </p:oleObj>
              </mc:Choice>
              <mc:Fallback>
                <p:oleObj name="" r:id="rId52" imgW="114300" imgH="190500" progId="Equation.DSMT4">
                  <p:embed/>
                  <p:pic>
                    <p:nvPicPr>
                      <p:cNvPr id="0" name="Object 58"/>
                      <p:cNvPicPr>
                        <a:picLocks noChangeAspect="1"/>
                      </p:cNvPicPr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1258888" y="5607050"/>
                        <a:ext cx="28098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59"/>
          <p:cNvSpPr>
            <a:spLocks noChangeArrowheads="1"/>
          </p:cNvSpPr>
          <p:nvPr/>
        </p:nvSpPr>
        <p:spPr bwMode="auto">
          <a:xfrm>
            <a:off x="0" y="208756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9" name="Group 60"/>
          <p:cNvGraphicFramePr>
            <a:graphicFrameLocks noGrp="1"/>
          </p:cNvGraphicFramePr>
          <p:nvPr/>
        </p:nvGraphicFramePr>
        <p:xfrm>
          <a:off x="795338" y="5229225"/>
          <a:ext cx="7375526" cy="866775"/>
        </p:xfrm>
        <a:graphic>
          <a:graphicData uri="http://schemas.openxmlformats.org/drawingml/2006/table">
            <a:tbl>
              <a:tblPr/>
              <a:tblGrid>
                <a:gridCol w="1228725"/>
                <a:gridCol w="1230312"/>
                <a:gridCol w="1228725"/>
                <a:gridCol w="1228725"/>
                <a:gridCol w="1146191"/>
                <a:gridCol w="1312848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</a:t>
                      </a:r>
                      <a:endParaRPr kumimoji="0" 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" name="Rectangle 83"/>
          <p:cNvSpPr>
            <a:spLocks noChangeArrowheads="1"/>
          </p:cNvSpPr>
          <p:nvPr/>
        </p:nvSpPr>
        <p:spPr bwMode="auto">
          <a:xfrm>
            <a:off x="609600" y="4129088"/>
            <a:ext cx="7586663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用</a:t>
            </a:r>
            <a:r>
              <a:rPr lang="zh-CN" alt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逐</a:t>
            </a:r>
            <a:r>
              <a:rPr 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差法计算每增减</a:t>
            </a:r>
            <a:r>
              <a:rPr lang="zh-CN" alt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4</a:t>
            </a:r>
            <a:r>
              <a:rPr lang="zh-CN" sz="2800" b="1" dirty="0">
                <a:solidFill>
                  <a:srgbClr val="000066"/>
                </a:solidFill>
                <a:latin typeface="华文中宋" panose="02010600040101010101" pitchFamily="2" charset="-122"/>
              </a:rPr>
              <a:t>个砝码，钢丝的伸长量</a:t>
            </a:r>
            <a:endParaRPr lang="zh-CN" sz="2800" b="1" dirty="0">
              <a:solidFill>
                <a:srgbClr val="000066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61" name="Object 84"/>
          <p:cNvGraphicFramePr>
            <a:graphicFrameLocks noChangeAspect="1"/>
          </p:cNvGraphicFramePr>
          <p:nvPr/>
        </p:nvGraphicFramePr>
        <p:xfrm>
          <a:off x="2447925" y="4751388"/>
          <a:ext cx="11557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54" imgW="609600" imgH="228600" progId="Equation.DSMT4">
                  <p:embed/>
                </p:oleObj>
              </mc:Choice>
              <mc:Fallback>
                <p:oleObj name="Equation" r:id="rId54" imgW="609600" imgH="228600" progId="Equation.DSMT4">
                  <p:embed/>
                  <p:pic>
                    <p:nvPicPr>
                      <p:cNvPr id="0" name="Object 84"/>
                      <p:cNvPicPr>
                        <a:picLocks noChangeAspect="1"/>
                      </p:cNvPicPr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2447925" y="4751388"/>
                        <a:ext cx="1155700" cy="433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三、实验步骤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611188" y="3346450"/>
            <a:ext cx="8532812" cy="630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(2)在钢丝上选不同部位用螺旋测微计测量d（测5次）</a:t>
            </a:r>
            <a:endParaRPr lang="zh-CN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68313" y="1052513"/>
            <a:ext cx="8135937" cy="1158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>
                <a:latin typeface="华文中宋" panose="02010600040101010101" pitchFamily="2" charset="-122"/>
              </a:rPr>
              <a:t>3</a:t>
            </a:r>
            <a:r>
              <a:rPr lang="zh-CN" sz="2800" b="1">
                <a:latin typeface="华文中宋" panose="02010600040101010101" pitchFamily="2" charset="-122"/>
              </a:rPr>
              <a:t>、测量金属丝长度</a:t>
            </a:r>
            <a:r>
              <a:rPr lang="zh-CN" altLang="zh-CN" sz="2800" b="1" i="1">
                <a:latin typeface="华文中宋" panose="02010600040101010101" pitchFamily="2" charset="-122"/>
              </a:rPr>
              <a:t>L</a:t>
            </a:r>
            <a:r>
              <a:rPr lang="zh-CN" sz="2800" b="1">
                <a:latin typeface="华文中宋" panose="02010600040101010101" pitchFamily="2" charset="-122"/>
              </a:rPr>
              <a:t>、平面镜与竖尺之间的距离</a:t>
            </a:r>
            <a:r>
              <a:rPr lang="zh-CN" altLang="zh-CN" sz="2800" b="1" i="1">
                <a:latin typeface="华文中宋" panose="02010600040101010101" pitchFamily="2" charset="-122"/>
              </a:rPr>
              <a:t>D</a:t>
            </a:r>
            <a:r>
              <a:rPr lang="zh-CN" sz="2800" b="1">
                <a:latin typeface="华文中宋" panose="02010600040101010101" pitchFamily="2" charset="-122"/>
              </a:rPr>
              <a:t>，金属丝直径</a:t>
            </a:r>
            <a:r>
              <a:rPr lang="zh-CN" altLang="zh-CN" sz="2800" b="1" i="1">
                <a:latin typeface="华文中宋" panose="02010600040101010101" pitchFamily="2" charset="-122"/>
              </a:rPr>
              <a:t>d</a:t>
            </a:r>
            <a:r>
              <a:rPr lang="zh-CN" sz="2800" b="1">
                <a:latin typeface="华文中宋" panose="02010600040101010101" pitchFamily="2" charset="-122"/>
              </a:rPr>
              <a:t>，光杠杆常数</a:t>
            </a:r>
            <a:r>
              <a:rPr lang="zh-CN" altLang="zh-CN" sz="2800" b="1" i="1">
                <a:latin typeface="华文中宋" panose="02010600040101010101" pitchFamily="2" charset="-122"/>
              </a:rPr>
              <a:t>b</a:t>
            </a:r>
            <a:r>
              <a:rPr lang="zh-CN" sz="2800" b="1">
                <a:latin typeface="华文中宋" panose="02010600040101010101" pitchFamily="2" charset="-122"/>
              </a:rPr>
              <a:t>。</a:t>
            </a:r>
            <a:endParaRPr lang="zh-CN" sz="2800" b="1">
              <a:latin typeface="华文中宋" panose="0201060004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11188" y="2509838"/>
            <a:ext cx="6696075" cy="5808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(1)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用钢卷尺测量</a:t>
            </a: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L 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和</a:t>
            </a: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D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</a:t>
            </a: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L 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、</a:t>
            </a: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D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测一次）</a:t>
            </a:r>
            <a:endParaRPr lang="zh-CN" altLang="en-US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94050" y="4184650"/>
            <a:ext cx="7777162" cy="1692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800" b="1" dirty="0" smtClean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(3)取下光杠杆在展开的白纸上同时按下三个尖脚的位置，用直尺作出光杠杆后脚尖到前两尖脚连线的垂线，用游标卡尺测出b</a:t>
            </a:r>
            <a:endParaRPr lang="zh-CN" altLang="zh-CN" sz="2800" b="1" dirty="0" smtClean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-2147481922" descr="未命名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7405" y="1412875"/>
            <a:ext cx="7370445" cy="33585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三、实验步骤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611188" y="1341438"/>
            <a:ext cx="7705725" cy="1476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、实验系统调好后，一旦开始测量，在实验过程中不能对系统的任何一部分进行调整，否则，所有数据将重新再测。</a:t>
            </a:r>
            <a:endParaRPr lang="zh-CN" altLang="en-US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11188" y="2776446"/>
            <a:ext cx="8032778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2、加减砝码时要轻拿轻放，并将砝码缺口方位对称，系统稳定后才能读取刻度尺，读数过程中不要按压桌面。</a:t>
            </a:r>
            <a:endParaRPr lang="zh-CN" altLang="zh-CN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11188" y="3846015"/>
            <a:ext cx="7200900" cy="5116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3、光杠杆后脚尖不能接触钢丝。</a:t>
            </a:r>
            <a:endParaRPr lang="zh-CN" altLang="zh-CN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11188" y="836613"/>
            <a:ext cx="5111750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sz="3200" b="1" dirty="0">
                <a:solidFill>
                  <a:srgbClr val="FF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注意：</a:t>
            </a:r>
            <a:endParaRPr lang="zh-CN" sz="3200" b="1" dirty="0">
              <a:solidFill>
                <a:srgbClr val="FF0066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11188" y="4408812"/>
            <a:ext cx="8032778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400" b="1" dirty="0" smtClean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4、注意维护钢丝的平直状态,在钢丝两端夹点外测量直径,避免伸长部分扭折。</a:t>
            </a:r>
            <a:endParaRPr lang="zh-CN" altLang="zh-CN" sz="2400" b="1" dirty="0" smtClean="0">
              <a:solidFill>
                <a:srgbClr val="00206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四、报告要求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23850" y="836613"/>
            <a:ext cx="30654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r>
              <a:rPr lang="zh-CN" altLang="zh-CN" b="1">
                <a:latin typeface="华文中宋" panose="02010600040101010101" pitchFamily="2" charset="-122"/>
              </a:rPr>
              <a:t>1</a:t>
            </a:r>
            <a:r>
              <a:rPr lang="zh-CN" b="1">
                <a:latin typeface="华文中宋" panose="02010600040101010101" pitchFamily="2" charset="-122"/>
              </a:rPr>
              <a:t>、计算杨氏模量 </a:t>
            </a:r>
            <a:r>
              <a:rPr lang="zh-CN" altLang="zh-CN" b="1" i="1">
                <a:latin typeface="宋体" panose="02010600030101010101" pitchFamily="2" charset="-122"/>
              </a:rPr>
              <a:t>E</a:t>
            </a:r>
            <a:r>
              <a:rPr lang="zh-CN" b="1" i="1">
                <a:latin typeface="宋体" panose="02010600030101010101" pitchFamily="2" charset="-122"/>
              </a:rPr>
              <a:t>：</a:t>
            </a:r>
            <a:endParaRPr lang="zh-CN" b="1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64503" y="1268413"/>
          <a:ext cx="160464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" r:id="rId1" imgW="749300" imgH="393700" progId="Equation.DSMT4">
                  <p:embed/>
                </p:oleObj>
              </mc:Choice>
              <mc:Fallback>
                <p:oleObj name="" r:id="rId1" imgW="749300" imgH="3937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503" y="1268413"/>
                        <a:ext cx="1604645" cy="841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443163" y="1412875"/>
            <a:ext cx="50101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sz="2000">
                <a:solidFill>
                  <a:srgbClr val="003300"/>
                </a:solidFill>
              </a:rPr>
              <a:t>注意各个量的单位以及有效数字的计算规则</a:t>
            </a:r>
            <a:endParaRPr lang="zh-CN" sz="2000">
              <a:solidFill>
                <a:srgbClr val="003300"/>
              </a:solidFill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966720" y="4096711"/>
          <a:ext cx="2908935" cy="56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" r:id="rId3" imgW="1384300" imgH="266700" progId="Equation.3">
                  <p:embed/>
                </p:oleObj>
              </mc:Choice>
              <mc:Fallback>
                <p:oleObj name="" r:id="rId3" imgW="1384300" imgH="2667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66720" y="4096711"/>
                        <a:ext cx="2908935" cy="560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79475" y="5326063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67995" y="2149476"/>
          <a:ext cx="797306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" r:id="rId5" imgW="3771900" imgH="482600" progId="Equation.3">
                  <p:embed/>
                </p:oleObj>
              </mc:Choice>
              <mc:Fallback>
                <p:oleObj name="" r:id="rId5" imgW="3771900" imgH="4826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995" y="2149476"/>
                        <a:ext cx="7973060" cy="1019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19113" y="3160716"/>
          <a:ext cx="8124853" cy="91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7" imgW="91744800" imgH="10363200" progId="Equation.DSMT4">
                  <p:embed/>
                </p:oleObj>
              </mc:Choice>
              <mc:Fallback>
                <p:oleObj name="Equation" r:id="rId7" imgW="91744800" imgH="103632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113" y="3160716"/>
                        <a:ext cx="8124853" cy="911226"/>
                      </a:xfrm>
                      <a:prstGeom prst="rect">
                        <a:avLst/>
                      </a:prstGeom>
                      <a:solidFill>
                        <a:srgbClr val="66FF99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1130618" y="5123021"/>
          <a:ext cx="4773295" cy="62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" r:id="rId9" imgW="3175000" imgH="419100" progId="Equation.3">
                  <p:embed/>
                </p:oleObj>
              </mc:Choice>
              <mc:Fallback>
                <p:oleObj name="" r:id="rId9" imgW="3175000" imgH="419100" progId="Equation.3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30618" y="5123021"/>
                        <a:ext cx="4773295" cy="629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68313" y="4757750"/>
            <a:ext cx="79914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dirty="0">
                <a:solidFill>
                  <a:srgbClr val="0033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例：测量金属丝长度 </a:t>
            </a:r>
            <a:r>
              <a:rPr lang="zh-CN" altLang="zh-CN" dirty="0">
                <a:solidFill>
                  <a:srgbClr val="0033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L=37.42cm</a:t>
            </a:r>
            <a:r>
              <a:rPr lang="zh-CN" dirty="0">
                <a:solidFill>
                  <a:srgbClr val="0033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，钢卷尺仪器误差 为 </a:t>
            </a:r>
            <a:r>
              <a:rPr lang="zh-CN" altLang="zh-CN" dirty="0">
                <a:solidFill>
                  <a:srgbClr val="0033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0.1cm</a:t>
            </a:r>
            <a:endParaRPr lang="zh-CN" altLang="zh-CN" dirty="0">
              <a:solidFill>
                <a:srgbClr val="0033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1435100" y="5800725"/>
          <a:ext cx="32813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" r:id="rId11" imgW="1307465" imgH="203200" progId="Equation.3">
                  <p:embed/>
                </p:oleObj>
              </mc:Choice>
              <mc:Fallback>
                <p:oleObj name="" r:id="rId11" imgW="1307465" imgH="203200" progId="Equation.3">
                  <p:embed/>
                  <p:pic>
                    <p:nvPicPr>
                      <p:cNvPr id="0" name="Object 1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35100" y="5800725"/>
                        <a:ext cx="3281363" cy="365125"/>
                      </a:xfrm>
                      <a:prstGeom prst="rect">
                        <a:avLst/>
                      </a:prstGeom>
                      <a:solidFill>
                        <a:srgbClr val="FF0066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1490663" y="1508125"/>
            <a:ext cx="1046162" cy="481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444750" y="1843088"/>
            <a:ext cx="24320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sz="1800" i="1"/>
              <a:t>注意</a:t>
            </a:r>
            <a:r>
              <a:rPr lang="zh-CN" altLang="zh-CN" sz="1800" i="1"/>
              <a:t>:</a:t>
            </a:r>
            <a:r>
              <a:rPr lang="zh-CN" sz="1800" i="1"/>
              <a:t>为</a:t>
            </a:r>
            <a:r>
              <a:rPr lang="zh-CN" altLang="zh-CN" sz="1800" i="1"/>
              <a:t>4</a:t>
            </a:r>
            <a:r>
              <a:rPr lang="zh-CN" sz="1800" i="1"/>
              <a:t>个砝码的重量</a:t>
            </a:r>
            <a:endParaRPr lang="zh-CN" sz="1800" i="1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四、报告要求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030413" y="1557338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" r:id="rId1" imgW="101600" imgH="190500" progId="Equation.3">
                  <p:embed/>
                </p:oleObj>
              </mc:Choice>
              <mc:Fallback>
                <p:oleObj name="" r:id="rId1" imgW="101600" imgH="1905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0413" y="1557338"/>
                        <a:ext cx="101600" cy="190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91465" y="6315075"/>
          <a:ext cx="6746240" cy="399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3" imgW="3288665" imgH="215900" progId="Equation.DSMT4">
                  <p:embed/>
                </p:oleObj>
              </mc:Choice>
              <mc:Fallback>
                <p:oleObj name="Equation" r:id="rId3" imgW="3288665" imgH="2159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465" y="6315075"/>
                        <a:ext cx="6746240" cy="399415"/>
                      </a:xfrm>
                      <a:prstGeom prst="rect">
                        <a:avLst/>
                      </a:prstGeom>
                      <a:solidFill>
                        <a:srgbClr val="66FF99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20725" y="1666875"/>
            <a:ext cx="8270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3600" b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780530" y="112395"/>
          <a:ext cx="2206625" cy="108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" r:id="rId5" imgW="850900" imgH="431800" progId="Equation.3">
                  <p:embed/>
                </p:oleObj>
              </mc:Choice>
              <mc:Fallback>
                <p:oleObj name="" r:id="rId5" imgW="850900" imgH="4318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80530" y="112395"/>
                        <a:ext cx="2206625" cy="10864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900113" y="1630363"/>
            <a:ext cx="36004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3600" b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707765" y="33020"/>
          <a:ext cx="2870200" cy="1185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" r:id="rId7" imgW="1244600" imgH="685800" progId="Equation.3">
                  <p:embed/>
                </p:oleObj>
              </mc:Choice>
              <mc:Fallback>
                <p:oleObj name="" r:id="rId7" imgW="1244600" imgH="6858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07765" y="33020"/>
                        <a:ext cx="2870200" cy="1185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39115" y="1288415"/>
          <a:ext cx="38449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" r:id="rId9" imgW="1181100" imgH="292100" progId="Equation.3">
                  <p:embed/>
                </p:oleObj>
              </mc:Choice>
              <mc:Fallback>
                <p:oleObj name="" r:id="rId9" imgW="1181100" imgH="292100" progId="Equation.3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9115" y="1288415"/>
                        <a:ext cx="3844925" cy="796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824413" y="2173288"/>
            <a:ext cx="25558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3600" b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68313" y="2243138"/>
            <a:ext cx="80200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sz="2000">
                <a:solidFill>
                  <a:srgbClr val="0033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例：测量金属丝直径 </a:t>
            </a:r>
            <a:r>
              <a:rPr lang="zh-CN" altLang="zh-CN" sz="2000">
                <a:solidFill>
                  <a:srgbClr val="0033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5</a:t>
            </a:r>
            <a:r>
              <a:rPr lang="zh-CN" sz="2000">
                <a:solidFill>
                  <a:srgbClr val="0033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次测量值分别为，螺旋仪器仪器误差 为 </a:t>
            </a:r>
            <a:r>
              <a:rPr lang="zh-CN" altLang="zh-CN" sz="2000">
                <a:solidFill>
                  <a:srgbClr val="0033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0.004mm</a:t>
            </a:r>
            <a:endParaRPr lang="zh-CN" altLang="zh-CN" sz="2000">
              <a:solidFill>
                <a:srgbClr val="0033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885950" y="1858963"/>
            <a:ext cx="579438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885950" y="1858963"/>
            <a:ext cx="579438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Group 14"/>
          <p:cNvGraphicFramePr>
            <a:graphicFrameLocks noGrp="1"/>
          </p:cNvGraphicFramePr>
          <p:nvPr/>
        </p:nvGraphicFramePr>
        <p:xfrm>
          <a:off x="1835150" y="2747963"/>
          <a:ext cx="4752975" cy="1311274"/>
        </p:xfrm>
        <a:graphic>
          <a:graphicData uri="http://schemas.openxmlformats.org/drawingml/2006/table">
            <a:tbl>
              <a:tblPr/>
              <a:tblGrid>
                <a:gridCol w="615950"/>
                <a:gridCol w="730250"/>
                <a:gridCol w="608013"/>
                <a:gridCol w="852487"/>
                <a:gridCol w="608013"/>
                <a:gridCol w="608012"/>
                <a:gridCol w="730250"/>
              </a:tblGrid>
              <a:tr h="274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次数</a:t>
                      </a:r>
                      <a:endParaRPr kumimoji="0" 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平均值</a:t>
                      </a:r>
                      <a:endParaRPr kumimoji="0" 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0.488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0.490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0.489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0.492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0.490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0.490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0.002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0.000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0.001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0.002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0.000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1" marB="4573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Object 48"/>
          <p:cNvGraphicFramePr>
            <a:graphicFrameLocks noChangeAspect="1"/>
          </p:cNvGraphicFramePr>
          <p:nvPr/>
        </p:nvGraphicFramePr>
        <p:xfrm>
          <a:off x="1966913" y="3684588"/>
          <a:ext cx="2286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" r:id="rId11" imgW="228600" imgH="177800" progId="Equation.3">
                  <p:embed/>
                </p:oleObj>
              </mc:Choice>
              <mc:Fallback>
                <p:oleObj name="" r:id="rId11" imgW="228600" imgH="177800" progId="Equation.3">
                  <p:embed/>
                  <p:pic>
                    <p:nvPicPr>
                      <p:cNvPr id="0" name="Object 4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66913" y="3684588"/>
                        <a:ext cx="228600" cy="180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9"/>
          <p:cNvGraphicFramePr>
            <a:graphicFrameLocks noChangeAspect="1"/>
          </p:cNvGraphicFramePr>
          <p:nvPr/>
        </p:nvGraphicFramePr>
        <p:xfrm>
          <a:off x="2052638" y="3251200"/>
          <a:ext cx="14287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" r:id="rId13" imgW="139700" imgH="177800" progId="Equation.3">
                  <p:embed/>
                </p:oleObj>
              </mc:Choice>
              <mc:Fallback>
                <p:oleObj name="" r:id="rId13" imgW="139700" imgH="177800" progId="Equation.3">
                  <p:embed/>
                  <p:pic>
                    <p:nvPicPr>
                      <p:cNvPr id="0" name="Object 4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52638" y="3251200"/>
                        <a:ext cx="142875" cy="180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50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Object 51"/>
          <p:cNvGraphicFramePr>
            <a:graphicFrameLocks noChangeAspect="1"/>
          </p:cNvGraphicFramePr>
          <p:nvPr/>
        </p:nvGraphicFramePr>
        <p:xfrm>
          <a:off x="452120" y="4308317"/>
          <a:ext cx="8535035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" r:id="rId15" imgW="6680200" imgH="482600" progId="Equation.3">
                  <p:embed/>
                </p:oleObj>
              </mc:Choice>
              <mc:Fallback>
                <p:oleObj name="" r:id="rId15" imgW="6680200" imgH="482600" progId="Equation.3">
                  <p:embed/>
                  <p:pic>
                    <p:nvPicPr>
                      <p:cNvPr id="0" name="Object 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2120" y="4308317"/>
                        <a:ext cx="8535035" cy="621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52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Object 53"/>
          <p:cNvGraphicFramePr>
            <a:graphicFrameLocks noChangeAspect="1"/>
          </p:cNvGraphicFramePr>
          <p:nvPr/>
        </p:nvGraphicFramePr>
        <p:xfrm>
          <a:off x="492284" y="5011896"/>
          <a:ext cx="2220595" cy="648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" r:id="rId17" imgW="1435100" imgH="419100" progId="Equation.3">
                  <p:embed/>
                </p:oleObj>
              </mc:Choice>
              <mc:Fallback>
                <p:oleObj name="" r:id="rId17" imgW="1435100" imgH="419100" progId="Equation.3">
                  <p:embed/>
                  <p:pic>
                    <p:nvPicPr>
                      <p:cNvPr id="0" name="Object 5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2284" y="5011896"/>
                        <a:ext cx="2220595" cy="648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54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Object 55"/>
          <p:cNvGraphicFramePr>
            <a:graphicFrameLocks noChangeAspect="1"/>
          </p:cNvGraphicFramePr>
          <p:nvPr/>
        </p:nvGraphicFramePr>
        <p:xfrm>
          <a:off x="444818" y="5876925"/>
          <a:ext cx="435229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" r:id="rId19" imgW="2895600" imgH="292100" progId="Equation.3">
                  <p:embed/>
                </p:oleObj>
              </mc:Choice>
              <mc:Fallback>
                <p:oleObj name="" r:id="rId19" imgW="2895600" imgH="292100" progId="Equation.3">
                  <p:embed/>
                  <p:pic>
                    <p:nvPicPr>
                      <p:cNvPr id="0" name="Object 5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4818" y="5876925"/>
                        <a:ext cx="4352290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56"/>
          <p:cNvSpPr txBox="1">
            <a:spLocks noChangeArrowheads="1"/>
          </p:cNvSpPr>
          <p:nvPr/>
        </p:nvSpPr>
        <p:spPr bwMode="auto">
          <a:xfrm>
            <a:off x="5765800" y="5176838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graphicFrame>
        <p:nvGraphicFramePr>
          <p:cNvPr id="25" name="Object 57"/>
          <p:cNvGraphicFramePr>
            <a:graphicFrameLocks noGrp="1" noChangeAspect="1"/>
          </p:cNvGraphicFramePr>
          <p:nvPr/>
        </p:nvGraphicFramePr>
        <p:xfrm>
          <a:off x="5448300" y="5589588"/>
          <a:ext cx="35163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" r:id="rId21" imgW="1434465" imgH="203200" progId="Equation.3">
                  <p:embed/>
                </p:oleObj>
              </mc:Choice>
              <mc:Fallback>
                <p:oleObj name="" r:id="rId21" imgW="1434465" imgH="203200" progId="Equation.3">
                  <p:embed/>
                  <p:pic>
                    <p:nvPicPr>
                      <p:cNvPr id="0" name="Object 57"/>
                      <p:cNvPicPr>
                        <a:picLocks noGrp="1"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48300" y="5589588"/>
                        <a:ext cx="3516313" cy="431800"/>
                      </a:xfrm>
                      <a:prstGeom prst="rect">
                        <a:avLst/>
                      </a:prstGeom>
                      <a:solidFill>
                        <a:srgbClr val="FF0066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337237" y="88325"/>
            <a:ext cx="3262432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四、报告要求</a:t>
            </a:r>
            <a:endParaRPr lang="zh-CN" altLang="en-US" sz="3200" b="1" dirty="0">
              <a:solidFill>
                <a:srgbClr val="00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77838" y="1125538"/>
            <a:ext cx="848677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zh-CN" b="1"/>
              <a:t>2</a:t>
            </a:r>
            <a:r>
              <a:rPr lang="zh-CN" b="1"/>
              <a:t>、计算</a:t>
            </a:r>
            <a:r>
              <a:rPr lang="en-US" altLang="zh-CN" b="1"/>
              <a:t>U</a:t>
            </a:r>
            <a:r>
              <a:rPr lang="zh-CN" altLang="zh-CN" b="1" i="1" baseline="-25000">
                <a:latin typeface="Times New Roman" panose="02020603050405020304" pitchFamily="18" charset="0"/>
              </a:rPr>
              <a:t>E</a:t>
            </a:r>
            <a:r>
              <a:rPr lang="zh-CN" b="1" i="1">
                <a:latin typeface="Times New Roman" panose="02020603050405020304" pitchFamily="18" charset="0"/>
              </a:rPr>
              <a:t>：</a:t>
            </a:r>
            <a:r>
              <a:rPr lang="zh-CN" b="1"/>
              <a:t>测量结果的相对不确定度</a:t>
            </a:r>
            <a:endParaRPr lang="zh-CN" b="1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53403" y="1714342"/>
          <a:ext cx="7954645" cy="779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" r:id="rId1" imgW="3657600" imgH="508000" progId="Equation.3">
                  <p:embed/>
                </p:oleObj>
              </mc:Choice>
              <mc:Fallback>
                <p:oleObj name="" r:id="rId1" imgW="3657600" imgH="5080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3403" y="1714342"/>
                        <a:ext cx="7954645" cy="779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535272" y="2628742"/>
          <a:ext cx="3023870" cy="72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" r:id="rId3" imgW="1612900" imgH="393700" progId="Equation.3">
                  <p:embed/>
                </p:oleObj>
              </mc:Choice>
              <mc:Fallback>
                <p:oleObj name="" r:id="rId3" imgW="1612900" imgH="3937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5272" y="2628742"/>
                        <a:ext cx="3023870" cy="7289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/>
          <p:cNvGrpSpPr/>
          <p:nvPr/>
        </p:nvGrpSpPr>
        <p:grpSpPr bwMode="auto">
          <a:xfrm>
            <a:off x="539750" y="3284537"/>
            <a:ext cx="5745163" cy="1679576"/>
            <a:chOff x="0" y="-91"/>
            <a:chExt cx="3619" cy="1058"/>
          </a:xfrm>
        </p:grpSpPr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2298" y="-91"/>
            <a:ext cx="132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" r:id="rId5" imgW="736600" imgH="228600" progId="Equation.3">
                    <p:embed/>
                  </p:oleObj>
                </mc:Choice>
                <mc:Fallback>
                  <p:oleObj name="" r:id="rId5" imgW="7366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98" y="-91"/>
                          <a:ext cx="1321" cy="3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2311" y="510"/>
            <a:ext cx="880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5" name="" r:id="rId7" imgW="673100" imgH="393700" progId="Equation.3">
                    <p:embed/>
                  </p:oleObj>
                </mc:Choice>
                <mc:Fallback>
                  <p:oleObj name="" r:id="rId7" imgW="673100" imgH="393700" progId="Equation.3">
                    <p:embed/>
                    <p:pic>
                      <p:nvPicPr>
                        <p:cNvPr id="0" name="Object 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11" y="510"/>
                          <a:ext cx="880" cy="4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2322" y="237"/>
            <a:ext cx="12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" r:id="rId9" imgW="621665" imgH="177800" progId="Equation.3">
                    <p:embed/>
                  </p:oleObj>
                </mc:Choice>
                <mc:Fallback>
                  <p:oleObj name="" r:id="rId9" imgW="621665" imgH="177800" progId="Equation.3">
                    <p:embed/>
                    <p:pic>
                      <p:nvPicPr>
                        <p:cNvPr id="0" name="Object 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22" y="237"/>
                          <a:ext cx="1288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AutoShape 10"/>
            <p:cNvSpPr/>
            <p:nvPr/>
          </p:nvSpPr>
          <p:spPr bwMode="auto">
            <a:xfrm>
              <a:off x="2107" y="79"/>
              <a:ext cx="161" cy="769"/>
            </a:xfrm>
            <a:prstGeom prst="leftBrace">
              <a:avLst>
                <a:gd name="adj1" fmla="val 3980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0" y="302"/>
              <a:ext cx="196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zh-CN" altLang="zh-CN" b="1">
                  <a:latin typeface="华文中宋" panose="02010600040101010101" pitchFamily="2" charset="-122"/>
                </a:rPr>
                <a:t>3</a:t>
              </a:r>
              <a:r>
                <a:rPr lang="zh-CN" b="1">
                  <a:latin typeface="华文中宋" panose="02010600040101010101" pitchFamily="2" charset="-122"/>
                </a:rPr>
                <a:t>、规范表示测量结果</a:t>
              </a:r>
              <a:endParaRPr lang="zh-CN" b="1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179705" y="2061210"/>
          <a:ext cx="8658225" cy="2760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9251950" imgH="3073400" progId="Paint.Picture">
                  <p:embed/>
                </p:oleObj>
              </mc:Choice>
              <mc:Fallback>
                <p:oleObj name="" r:id="rId2" imgW="9251950" imgH="30734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705" y="2061210"/>
                        <a:ext cx="8658225" cy="2760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8" r="12035"/>
          <a:stretch>
            <a:fillRect/>
          </a:stretch>
        </p:blipFill>
        <p:spPr>
          <a:xfrm>
            <a:off x="-1" y="13235"/>
            <a:ext cx="9575669" cy="7160181"/>
          </a:xfrm>
          <a:prstGeom prst="rect">
            <a:avLst/>
          </a:prstGeom>
        </p:spPr>
      </p:pic>
      <p:grpSp>
        <p:nvGrpSpPr>
          <p:cNvPr id="2" name="Group 11"/>
          <p:cNvGrpSpPr/>
          <p:nvPr/>
        </p:nvGrpSpPr>
        <p:grpSpPr>
          <a:xfrm>
            <a:off x="1908175" y="1687513"/>
            <a:ext cx="5873750" cy="2897187"/>
            <a:chOff x="1202" y="1063"/>
            <a:chExt cx="3700" cy="1825"/>
          </a:xfrm>
        </p:grpSpPr>
        <p:sp>
          <p:nvSpPr>
            <p:cNvPr id="12297" name="Text Box 5"/>
            <p:cNvSpPr txBox="1"/>
            <p:nvPr/>
          </p:nvSpPr>
          <p:spPr>
            <a:xfrm>
              <a:off x="1561" y="1063"/>
              <a:ext cx="11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endParaRPr lang="zh-CN" altLang="en-US" sz="2800" b="1" dirty="0">
                <a:solidFill>
                  <a:srgbClr val="33CC33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295" name="Text Box 7"/>
            <p:cNvSpPr txBox="1"/>
            <p:nvPr/>
          </p:nvSpPr>
          <p:spPr>
            <a:xfrm>
              <a:off x="1202" y="2523"/>
              <a:ext cx="37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1" dirty="0">
                  <a:solidFill>
                    <a:srgbClr val="00CC66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深圳大学大学物理教学实验中心</a:t>
              </a:r>
              <a:endParaRPr lang="zh-CN" altLang="en-US" sz="3200" b="1" dirty="0">
                <a:solidFill>
                  <a:srgbClr val="00CC66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2292" name="WordArt 9"/>
          <p:cNvSpPr>
            <a:spLocks noTextEdit="1"/>
          </p:cNvSpPr>
          <p:nvPr/>
        </p:nvSpPr>
        <p:spPr>
          <a:xfrm>
            <a:off x="3348038" y="4724400"/>
            <a:ext cx="2895600" cy="121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BottomLeft">
                <a:rot lat="0" lon="0" rev="0"/>
              </a:camera>
              <a:lightRig rig="legacyFlat3" dir="t"/>
            </a:scene3d>
            <a:sp3d extrusionH="430200" prstMaterial="legacyMatte">
              <a:extrusionClr>
                <a:srgbClr val="FF66FF"/>
              </a:extrusionClr>
            </a:sp3d>
          </a:bodyPr>
          <a:lstStyle/>
          <a:p>
            <a:pPr algn="ctr"/>
            <a:r>
              <a:rPr lang="zh-CN" altLang="en-US" sz="5400" dirty="0">
                <a:gradFill rotWithShape="1">
                  <a:gsLst>
                    <a:gs pos="0">
                      <a:srgbClr val="FF66FF"/>
                    </a:gs>
                    <a:gs pos="100000">
                      <a:schemeClr val="hlink"/>
                    </a:gs>
                  </a:gsLst>
                  <a:lin ang="5400000" scaled="1"/>
                  <a:tileRect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再见！</a:t>
            </a:r>
            <a:endParaRPr lang="zh-CN" altLang="en-US" sz="5400" dirty="0">
              <a:gradFill rotWithShape="1">
                <a:gsLst>
                  <a:gs pos="0">
                    <a:srgbClr val="FF66FF"/>
                  </a:gs>
                  <a:gs pos="100000">
                    <a:schemeClr val="hlink"/>
                  </a:gs>
                </a:gsLst>
                <a:lin ang="5400000" scaled="1"/>
                <a:tileRect/>
              </a:gra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591882" name="006.06. 梦中的婚礼 MARIAGE D' AMOUR.mp3">
            <a:hlinkClick r:id="" action="ppaction://media"/>
          </p:cNvPr>
          <p:cNvPicPr>
            <a:picLocks noRot="1"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7596188" y="65532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70" decel="100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70" decel="100000"/>
                                        <p:tgtEl>
                                          <p:spTgt spid="1229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" dur="77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188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ZGE3Y2I3OTRlNTA1NjUwZGY1NGI3NTM4NWZhMGI4N2IifQ=="/>
  <p:tag name="KSO_WPP_MARK_KEY" val="971abe1a-5351-4021-bfcc-1a3d671d98cd"/>
</p:tagLst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古瓶荷花 1">
    <a:dk1>
      <a:srgbClr val="0033CC"/>
    </a:dk1>
    <a:lt1>
      <a:srgbClr val="FFFFFF"/>
    </a:lt1>
    <a:dk2>
      <a:srgbClr val="007572"/>
    </a:dk2>
    <a:lt2>
      <a:srgbClr val="C0C0C0"/>
    </a:lt2>
    <a:accent1>
      <a:srgbClr val="CCECFF"/>
    </a:accent1>
    <a:accent2>
      <a:srgbClr val="3399FF"/>
    </a:accent2>
    <a:accent3>
      <a:srgbClr val="FFFFFF"/>
    </a:accent3>
    <a:accent4>
      <a:srgbClr val="002AAE"/>
    </a:accent4>
    <a:accent5>
      <a:srgbClr val="E2F4FF"/>
    </a:accent5>
    <a:accent6>
      <a:srgbClr val="2D8AE7"/>
    </a:accent6>
    <a:hlink>
      <a:srgbClr val="CC0066"/>
    </a:hlink>
    <a:folHlink>
      <a:srgbClr val="7D7D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WPS 演示</Application>
  <PresentationFormat>全屏显示(4:3)</PresentationFormat>
  <Paragraphs>275</Paragraphs>
  <Slides>23</Slides>
  <Notes>7</Notes>
  <HiddenSlides>0</HiddenSlides>
  <MMClips>1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82</vt:i4>
      </vt:variant>
      <vt:variant>
        <vt:lpstr>幻灯片标题</vt:lpstr>
      </vt:variant>
      <vt:variant>
        <vt:i4>23</vt:i4>
      </vt:variant>
    </vt:vector>
  </HeadingPairs>
  <TitlesOfParts>
    <vt:vector size="119" baseType="lpstr">
      <vt:lpstr>Arial</vt:lpstr>
      <vt:lpstr>宋体</vt:lpstr>
      <vt:lpstr>Wingdings</vt:lpstr>
      <vt:lpstr>Times New Roman</vt:lpstr>
      <vt:lpstr>华文中宋</vt:lpstr>
      <vt:lpstr>华文隶书</vt:lpstr>
      <vt:lpstr>微软雅黑</vt:lpstr>
      <vt:lpstr>Symbol</vt:lpstr>
      <vt:lpstr>Arial Unicode MS</vt:lpstr>
      <vt:lpstr>Calibri</vt:lpstr>
      <vt:lpstr>华文仿宋</vt:lpstr>
      <vt:lpstr>华文新魏</vt:lpstr>
      <vt:lpstr>华文行楷</vt:lpstr>
      <vt:lpstr>古瓶荷花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Paint.Picture</vt:lpstr>
      <vt:lpstr>Paint.Picture</vt:lpstr>
      <vt:lpstr>Paint.Picture</vt:lpstr>
      <vt:lpstr>Paint.Picture</vt:lpstr>
      <vt:lpstr>Equation.DSMT4</vt:lpstr>
      <vt:lpstr>Paint.Picture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Paint.Picture</vt:lpstr>
      <vt:lpstr>Word.Picture.8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王光辉</cp:lastModifiedBy>
  <cp:revision>163</cp:revision>
  <dcterms:created xsi:type="dcterms:W3CDTF">2007-03-01T02:00:00Z</dcterms:created>
  <dcterms:modified xsi:type="dcterms:W3CDTF">2023-05-18T00:24:48Z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A40A4673E4884D78A62722737EE8F31E</vt:lpwstr>
  </property>
</Properties>
</file>