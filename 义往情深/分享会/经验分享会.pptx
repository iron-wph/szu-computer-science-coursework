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" r:id="rId2"/>
    <p:sldId id="257" r:id="rId3"/>
    <p:sldId id="271" r:id="rId4"/>
    <p:sldId id="258" r:id="rId5"/>
    <p:sldId id="272" r:id="rId6"/>
    <p:sldId id="270" r:id="rId7"/>
    <p:sldId id="268" r:id="rId8"/>
    <p:sldId id="274" r:id="rId9"/>
    <p:sldId id="27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901CA-8B78-49EC-9A15-D24B26C0939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0BEB3-53A5-4AD7-A9D7-DD71786B1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77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根据考试大纲，尽量少扩展与考试无关的分享，主要是通过考试、取得好成绩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0BEB3-53A5-4AD7-A9D7-DD71786B1C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51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根据考试大纲，尽量少扩展与考试无关的分享，主要是通过考试、取得好成绩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0BEB3-53A5-4AD7-A9D7-DD71786B1C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822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根据考试大纲，尽量少扩展与考试无关的分享，主要是通过考试、取得好成绩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0BEB3-53A5-4AD7-A9D7-DD71786B1C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85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7375-A98E-489B-A4B4-1A0731F7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B12FE-CA5F-4593-813C-12235CE2F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B09B75-89AE-4C04-A825-096F886C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D7B876-E1C2-4279-85AA-68421EA0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B4BD08-44AB-4B3D-999F-48C6F4A3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09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AEF7C-409D-41C1-886B-0FFE3D82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D5D023-684D-4003-B9A9-5CCBE6B0D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D86A7-428A-49D2-96A7-96AA9973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11813-67AB-4A1C-B5B9-B29B99BF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A4E99-D0FA-4A15-98E0-17E0F9A9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5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6198E-CE70-45D0-8308-BE2FBEA5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6016F7-641E-4ECC-AC88-E505F18DB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546C95-ABC9-412F-957F-9CF93E28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CCB38-D5E2-4265-8A88-DB908F2F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68D6D4-93C9-460E-AE77-397754A9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0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23BE2-1B05-4D3C-8C2F-B358FEA4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348123-5D21-4F2D-A606-E7C725747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4E9D0F-73D2-4BCF-BBE0-5F5181737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045A78-E2F5-488E-847C-09BD0812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CF68B3-ABC5-4B81-949D-BECED7A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7A6A82-0B44-41E5-9F47-EDBBF7C0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5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19050-945C-4756-8E4A-DC296F3E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1777E1-4DD3-4CC1-AC77-E942831F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FB8867-E420-406F-8038-69EBC94D4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DA9B7B-5D63-4C8E-96DD-4C04320E3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CC4B66-C852-43D7-B67E-4B04B1D2D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1A0A1-D55E-477B-B683-26E8C212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E77F09-E7F6-41C2-B2F5-E38EF4CC2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BAAC23-52A3-418E-BF0B-6D13B19C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32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7EF7A8-2DC2-41E1-961F-B7DAD3FA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E72091-CDB0-4230-A533-25B538CE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54A6B1-2CB2-4586-AF0A-8CD07731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E7F44F-189C-49B5-A43D-329D2CC7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34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ACEEDE-C9F3-4602-B5AF-92D1A256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40B9A5-58B6-4490-BBDF-55A4DBFB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29BEBA-1FCB-42FA-84AC-CFF6A879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8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D8E6E-526A-4865-B6DC-493CAD84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2BAE83-7046-4A3E-AB1B-05CF03E4A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73FAF8-B058-4B80-8278-2166975F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523803-0B47-404C-A381-542DC13B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DB7B52-AB31-4284-8568-2DCCE7F6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0F86EF-FBF3-4451-8A11-61EC31E0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50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70240-3C7B-46E0-A258-AE31B6D61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ACB6A9-B431-491E-802D-AC33A7EAE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867ED4-9ED8-4982-AD5D-55A1BAD26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4572EB-5560-44CE-8968-F279DBFE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75574B-46A7-49A7-9188-AF6CC595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B4D792-7E60-4521-8A09-B5ECC777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18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95DF7-C5DB-4840-92FC-8D6560D1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41B3CB-F8A4-4244-B325-3FCBA73C6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AAC780-F60C-4FC1-AB3E-CFC29D2F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FA72D0-22FE-444F-81D2-C4E9AD4B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C9CB07-CFFE-4DA9-8C33-8BE1762D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15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30E594-0787-447B-BAE3-C24994320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C7D25B-CC7A-489B-8843-11D3236F6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DE6496-CF7A-4ED6-A5F5-454ED904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624BD-1A19-434B-92BB-786A74E7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23B988-0EFB-4791-80CF-138A3EFB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7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>
            <a:extLst>
              <a:ext uri="{FF2B5EF4-FFF2-40B4-BE49-F238E27FC236}">
                <a16:creationId xmlns:a16="http://schemas.microsoft.com/office/drawing/2014/main" id="{D3815F4D-174B-4F2E-A13C-56A372AA41CD}"/>
              </a:ext>
            </a:extLst>
          </p:cNvPr>
          <p:cNvSpPr/>
          <p:nvPr userDrawn="1"/>
        </p:nvSpPr>
        <p:spPr>
          <a:xfrm>
            <a:off x="1136071" y="296736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068CE35-2FEB-45FB-BD51-47F6590FA4B5}"/>
              </a:ext>
            </a:extLst>
          </p:cNvPr>
          <p:cNvGrpSpPr/>
          <p:nvPr userDrawn="1"/>
        </p:nvGrpSpPr>
        <p:grpSpPr>
          <a:xfrm>
            <a:off x="-1" y="-17097"/>
            <a:ext cx="1136073" cy="864235"/>
            <a:chOff x="0" y="-18269"/>
            <a:chExt cx="1136073" cy="864235"/>
          </a:xfrm>
          <a:solidFill>
            <a:srgbClr val="0BD0D9">
              <a:lumMod val="60000"/>
              <a:lumOff val="40000"/>
            </a:srgbClr>
          </a:solidFill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BC54E442-C5EA-4CB9-8EC7-D02C217C409C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F511B690-151A-4BF0-8EF0-CFB955AE1C93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5A4A411E-3F71-4456-A8C7-F6258DD64752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573EA69B-53E1-4C01-BBD2-F5FD46A0E9C9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6A971EA6-064C-49D8-8FA1-882230405445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7BD9F-84EF-491F-B4D4-113B0C999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850C87-F0EE-4947-A3F7-160293A51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3074D-FF71-4984-99C1-7DFA41181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963CB-2A01-46D2-A217-0EE7ACFB51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BDFDD9-73F7-4EA1-B658-8E88DC885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D5D4E3-FC00-42AF-B29E-4FBD5D232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8E4DE-749A-4802-9511-3033E3918E0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11FEA12-536B-42A6-AF11-C24D64D6360D}"/>
              </a:ext>
            </a:extLst>
          </p:cNvPr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31A640A-B339-48EA-9E75-8A3DCD12B824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40B8C03-A26C-411C-9D91-61D8E51CF5F9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FA59CE2D-B9E9-4DF5-ABB1-B84AA63ACFE0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760E140C-6D38-4DE5-A78E-0252951D8EBA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8B2E58A-98E7-40BA-B19B-3182561F59F7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881F39CD-750B-46B4-96EF-499A2386D4A2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B43AE309-A3E6-4381-9B2E-07B325CCF8D1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EFAA2802-7560-438E-A151-F4752D5981E5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C09256E8-AA40-4D80-B0DA-4B5077641BD2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DAA7A0CA-6CBB-4374-B3A5-4EFE8A079C32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80724B1E-9398-4293-8CBD-2E806AB38246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83389A32-C287-47A4-ABE2-7622D49FB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7772FDA0-5FB9-4376-B276-2B193E52CCFC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44B6DEA4-D166-4795-AF5F-913F82FC570F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A0CDD7EB-6BE1-437C-B211-E7EAD5D36377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F7262992-4336-4B72-8F03-F40271F5185F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A1F3FF5B-38B0-47D3-9FD1-39A439FB4EEF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8933A092-270C-40C6-A78C-C6D229592C75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1ECA5DF-7D00-4EA7-80E9-E652E1AA77B6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445B1BD7-1233-49ED-B902-8FCF26680DA2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8ED00796-1F84-4EB6-BD2F-52BB3BF1003A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ADCA3D1D-05DD-4CC5-9460-5A5E88368888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91557BD2-394E-4A24-B292-EBAB6AA8A15D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BB38449D-34D4-45D9-B3D6-FB65663D2DA7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6478E2B1-4FC0-4B8D-9CE0-BF7A11AEDDAD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4E6F6E02-07F6-44E5-AE7F-93F4DE770585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53831614-142A-4A60-B899-0DCBB3EC0049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F8201F81-8C7E-4C08-B7A0-6FD2B3C52ED1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F009B237-A9F9-45B7-974C-0D78473101F3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D4102613-9500-4794-8CBA-8EAB337CE247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A897DF8A-9B27-47B1-8239-6B10EEC807E0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C65F0FB0-D446-477E-AFBE-CA3597BB42C4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B94735F8-BD6F-432A-B454-BDB6421C6973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3595A1B2-804B-4E91-9554-9E26617CC9E0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013DB970-83A7-45FD-AD62-CA576BB33E23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A5FB35EE-EBC6-4408-BE25-7817BD1DD5A8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CCC2852C-1018-4AA9-85B3-05583BCCD3D9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761148F5-5DB1-41C1-B98D-99567B547290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33B552D5-84ED-412E-A1B9-0B1B475C2032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F2DD54B8-B7E0-47A0-9718-CC9837BC07AF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FE2DF2F8-0EFC-4B4A-97C6-77B1D62498DE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0BFB8B75-3443-464E-8C6D-C583FD0587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B9D8F119-FD00-4550-B11D-7D333A946042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7D4E722E-B4E6-4873-8085-FE00325891F8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1474CA6D-103C-40A7-8B0C-69EC0D6500AF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D8DBEB96-F96A-43A1-BF9D-D8AB186D4CDE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E37D8CD1-2B01-43A5-9DDF-45BA08971110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AE5121BE-B1FA-4C17-BCD5-00A24B8493F7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3462B009-444F-4060-9E9E-8C25604DD983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95DD9F0A-A07F-4593-ACDC-665069D1B1B8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9538C3FE-D8AE-4EBB-9F3E-49CB4A3600B7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8A9A3B54-0295-4AEA-A395-B022D6B20ECB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DF30E02C-2E94-4491-9517-AE8AC7717C4C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2BC7E65C-D4E0-45DF-A772-A8A97627952A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Oval 59">
              <a:extLst>
                <a:ext uri="{FF2B5EF4-FFF2-40B4-BE49-F238E27FC236}">
                  <a16:creationId xmlns:a16="http://schemas.microsoft.com/office/drawing/2014/main" id="{71D710DD-18C7-4040-83A8-1E124D5EA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Oval 60">
              <a:extLst>
                <a:ext uri="{FF2B5EF4-FFF2-40B4-BE49-F238E27FC236}">
                  <a16:creationId xmlns:a16="http://schemas.microsoft.com/office/drawing/2014/main" id="{1443167E-8941-49A1-9EE0-DF95923AE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1">
              <a:extLst>
                <a:ext uri="{FF2B5EF4-FFF2-40B4-BE49-F238E27FC236}">
                  <a16:creationId xmlns:a16="http://schemas.microsoft.com/office/drawing/2014/main" id="{E6FC955A-EA10-43EB-9FD3-2D49B662CC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2">
              <a:extLst>
                <a:ext uri="{FF2B5EF4-FFF2-40B4-BE49-F238E27FC236}">
                  <a16:creationId xmlns:a16="http://schemas.microsoft.com/office/drawing/2014/main" id="{7A0F7163-4252-4374-ADC3-D6FFF9F1CE35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63">
              <a:extLst>
                <a:ext uri="{FF2B5EF4-FFF2-40B4-BE49-F238E27FC236}">
                  <a16:creationId xmlns:a16="http://schemas.microsoft.com/office/drawing/2014/main" id="{BFBEE87C-A4B4-4990-BA2E-B7654DDD7C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64">
              <a:extLst>
                <a:ext uri="{FF2B5EF4-FFF2-40B4-BE49-F238E27FC236}">
                  <a16:creationId xmlns:a16="http://schemas.microsoft.com/office/drawing/2014/main" id="{2437FAA5-084A-4758-904C-7A2857D928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65">
              <a:extLst>
                <a:ext uri="{FF2B5EF4-FFF2-40B4-BE49-F238E27FC236}">
                  <a16:creationId xmlns:a16="http://schemas.microsoft.com/office/drawing/2014/main" id="{D3BB137B-2BC8-45F5-A8D7-88ED853D04F4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66">
              <a:extLst>
                <a:ext uri="{FF2B5EF4-FFF2-40B4-BE49-F238E27FC236}">
                  <a16:creationId xmlns:a16="http://schemas.microsoft.com/office/drawing/2014/main" id="{F219D948-3870-4E69-ADE5-DD9A372EE349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67">
              <a:extLst>
                <a:ext uri="{FF2B5EF4-FFF2-40B4-BE49-F238E27FC236}">
                  <a16:creationId xmlns:a16="http://schemas.microsoft.com/office/drawing/2014/main" id="{5E4C803D-3AF8-40E3-9B94-2D8D42F15BD9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68">
              <a:extLst>
                <a:ext uri="{FF2B5EF4-FFF2-40B4-BE49-F238E27FC236}">
                  <a16:creationId xmlns:a16="http://schemas.microsoft.com/office/drawing/2014/main" id="{F9F78EB9-51F8-4906-A248-6DDE93E3B5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69">
              <a:extLst>
                <a:ext uri="{FF2B5EF4-FFF2-40B4-BE49-F238E27FC236}">
                  <a16:creationId xmlns:a16="http://schemas.microsoft.com/office/drawing/2014/main" id="{17BF4170-99FD-4807-BF8A-60E24CB603AF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70">
              <a:extLst>
                <a:ext uri="{FF2B5EF4-FFF2-40B4-BE49-F238E27FC236}">
                  <a16:creationId xmlns:a16="http://schemas.microsoft.com/office/drawing/2014/main" id="{EBBD2499-9771-4FC3-8C53-458AD0006963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969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6372915" y="4072815"/>
            <a:ext cx="375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王培鸿</a:t>
            </a:r>
          </a:p>
        </p:txBody>
      </p:sp>
      <p:sp>
        <p:nvSpPr>
          <p:cNvPr id="98" name="标题 3073"/>
          <p:cNvSpPr txBox="1"/>
          <p:nvPr/>
        </p:nvSpPr>
        <p:spPr>
          <a:xfrm>
            <a:off x="4252835" y="2715669"/>
            <a:ext cx="6459203" cy="147002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latin typeface="Arial" panose="020B0604020202020204" pitchFamily="34" charset="0"/>
                <a:ea typeface="宋体" panose="02010600030101010101" pitchFamily="2" charset="-122"/>
              </a:rPr>
              <a:t>经验分享会</a:t>
            </a:r>
            <a:endParaRPr lang="en-US" altLang="zh-CN" sz="5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310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AB379F-2893-4F51-9A7E-6E28433F2198}"/>
              </a:ext>
            </a:extLst>
          </p:cNvPr>
          <p:cNvSpPr txBox="1"/>
          <p:nvPr/>
        </p:nvSpPr>
        <p:spPr>
          <a:xfrm>
            <a:off x="4060746" y="20669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如何备课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D5891D-B955-4CB5-A8C6-1D092BA84776}"/>
              </a:ext>
            </a:extLst>
          </p:cNvPr>
          <p:cNvSpPr txBox="1"/>
          <p:nvPr/>
        </p:nvSpPr>
        <p:spPr>
          <a:xfrm>
            <a:off x="4060746" y="29813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如何讲课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82DEE4-0FE9-40E8-ACFF-0B8405368F98}"/>
              </a:ext>
            </a:extLst>
          </p:cNvPr>
          <p:cNvSpPr txBox="1"/>
          <p:nvPr/>
        </p:nvSpPr>
        <p:spPr>
          <a:xfrm>
            <a:off x="4060746" y="3895725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如何做好课后反馈</a:t>
            </a:r>
          </a:p>
        </p:txBody>
      </p:sp>
    </p:spTree>
    <p:extLst>
      <p:ext uri="{BB962C8B-B14F-4D97-AF65-F5344CB8AC3E}">
        <p14:creationId xmlns:p14="http://schemas.microsoft.com/office/powerpoint/2010/main" val="40100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201FF-B38F-4EC6-A558-2E78CD7FB1BC}"/>
              </a:ext>
            </a:extLst>
          </p:cNvPr>
          <p:cNvSpPr txBox="1"/>
          <p:nvPr/>
        </p:nvSpPr>
        <p:spPr>
          <a:xfrm>
            <a:off x="1107996" y="2857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如何备课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A92744-28C0-4DB3-9A57-716394961BCE}"/>
              </a:ext>
            </a:extLst>
          </p:cNvPr>
          <p:cNvSpPr txBox="1"/>
          <p:nvPr/>
        </p:nvSpPr>
        <p:spPr>
          <a:xfrm>
            <a:off x="440690" y="105224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确定讲述内容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D67FC4-A298-470A-BC82-7AA1BA594703}"/>
              </a:ext>
            </a:extLst>
          </p:cNvPr>
          <p:cNvSpPr txBox="1"/>
          <p:nvPr/>
        </p:nvSpPr>
        <p:spPr>
          <a:xfrm>
            <a:off x="1743075" y="1684525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锁定</a:t>
            </a:r>
            <a:r>
              <a:rPr lang="zh-CN" altLang="en-US" sz="2000" b="1" dirty="0"/>
              <a:t>考纲</a:t>
            </a:r>
            <a:r>
              <a:rPr lang="zh-CN" altLang="en-US" dirty="0"/>
              <a:t>，按目录进行阶段划分课程章节，串联知识内容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BD721C-F7E3-4040-AE9B-E8FBD71C74B0}"/>
              </a:ext>
            </a:extLst>
          </p:cNvPr>
          <p:cNvSpPr txBox="1"/>
          <p:nvPr/>
        </p:nvSpPr>
        <p:spPr>
          <a:xfrm>
            <a:off x="1743075" y="2118925"/>
            <a:ext cx="88677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</a:t>
            </a:r>
            <a:r>
              <a:rPr lang="zh-CN" altLang="en-US" sz="2000" b="1" dirty="0"/>
              <a:t>问卷调查</a:t>
            </a:r>
            <a:r>
              <a:rPr lang="en-US" altLang="zh-CN" sz="2000" b="1" dirty="0"/>
              <a:t>or</a:t>
            </a:r>
            <a:r>
              <a:rPr lang="zh-CN" altLang="en-US" sz="2000" b="1" dirty="0"/>
              <a:t>口头询问</a:t>
            </a:r>
            <a:r>
              <a:rPr lang="zh-CN" altLang="en-US" dirty="0"/>
              <a:t>，针对性地设置知识内容，穿插</a:t>
            </a:r>
            <a:r>
              <a:rPr lang="zh-CN" altLang="en-US" sz="2000" b="1" dirty="0"/>
              <a:t>考试技巧、方法</a:t>
            </a:r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AFA8C1-0F72-4DCB-B708-6110F772D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434" y="2746264"/>
            <a:ext cx="3172992" cy="399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201FF-B38F-4EC6-A558-2E78CD7FB1BC}"/>
              </a:ext>
            </a:extLst>
          </p:cNvPr>
          <p:cNvSpPr txBox="1"/>
          <p:nvPr/>
        </p:nvSpPr>
        <p:spPr>
          <a:xfrm>
            <a:off x="1107996" y="2857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如何备课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DD32CB-4A49-42C2-B763-9B0C0F213597}"/>
              </a:ext>
            </a:extLst>
          </p:cNvPr>
          <p:cNvSpPr txBox="1"/>
          <p:nvPr/>
        </p:nvSpPr>
        <p:spPr>
          <a:xfrm>
            <a:off x="539565" y="108119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搜查相关资料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F96EEA-AE19-44FA-A834-8E62E6271D00}"/>
              </a:ext>
            </a:extLst>
          </p:cNvPr>
          <p:cNvSpPr txBox="1"/>
          <p:nvPr/>
        </p:nvSpPr>
        <p:spPr>
          <a:xfrm>
            <a:off x="1107996" y="1652200"/>
            <a:ext cx="10408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</a:t>
            </a:r>
            <a:r>
              <a:rPr lang="zh-CN" altLang="en-US" sz="2000" b="1" dirty="0"/>
              <a:t>课程书籍</a:t>
            </a:r>
            <a:r>
              <a:rPr lang="zh-CN" altLang="en-US" dirty="0"/>
              <a:t>、官网、博客如</a:t>
            </a:r>
            <a:r>
              <a:rPr lang="en-US" altLang="zh-CN" dirty="0"/>
              <a:t>CSDN</a:t>
            </a:r>
            <a:r>
              <a:rPr lang="zh-CN" altLang="en-US" dirty="0"/>
              <a:t>、</a:t>
            </a:r>
            <a:r>
              <a:rPr lang="en-US" altLang="zh-CN" sz="2000" b="1" dirty="0" err="1"/>
              <a:t>Github</a:t>
            </a:r>
            <a:r>
              <a:rPr lang="zh-CN" altLang="en-US" dirty="0"/>
              <a:t>、百度文库等等查询知识点、题目；</a:t>
            </a:r>
            <a:endParaRPr lang="en-US" altLang="zh-CN" dirty="0"/>
          </a:p>
          <a:p>
            <a:r>
              <a:rPr lang="zh-CN" altLang="en-US" dirty="0"/>
              <a:t>或者</a:t>
            </a:r>
            <a:r>
              <a:rPr lang="zh-CN" altLang="en-US" sz="2000" b="1" dirty="0"/>
              <a:t>直接复用课程老师的资料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8277F5-C518-41F6-A9DF-4B62091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594" y="3473576"/>
            <a:ext cx="3182027" cy="26843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F21B36-9426-46EE-90AF-C666B6C99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1" y="2998815"/>
            <a:ext cx="4080802" cy="254044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D98CF1D-08E7-4EC5-92BD-C7AB34073091}"/>
              </a:ext>
            </a:extLst>
          </p:cNvPr>
          <p:cNvSpPr txBox="1"/>
          <p:nvPr/>
        </p:nvSpPr>
        <p:spPr>
          <a:xfrm>
            <a:off x="1979815" y="55392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课程配套课件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96767B-D2B2-442A-90C8-49DB2B157587}"/>
              </a:ext>
            </a:extLst>
          </p:cNvPr>
          <p:cNvSpPr txBox="1"/>
          <p:nvPr/>
        </p:nvSpPr>
        <p:spPr>
          <a:xfrm>
            <a:off x="7783574" y="6202517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Github</a:t>
            </a:r>
            <a:r>
              <a:rPr lang="zh-CN" altLang="en-US" dirty="0"/>
              <a:t>共享项目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05EB93-FB02-41EA-9850-3AF92DC69A20}"/>
              </a:ext>
            </a:extLst>
          </p:cNvPr>
          <p:cNvSpPr txBox="1"/>
          <p:nvPr/>
        </p:nvSpPr>
        <p:spPr>
          <a:xfrm>
            <a:off x="5199361" y="2721114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https://github.com/Hytidel/SZU_Math_and_Computer/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0FD57D-44CD-4453-86F7-1D8EB3980252}"/>
              </a:ext>
            </a:extLst>
          </p:cNvPr>
          <p:cNvSpPr txBox="1"/>
          <p:nvPr/>
        </p:nvSpPr>
        <p:spPr>
          <a:xfrm>
            <a:off x="5199361" y="3059668"/>
            <a:ext cx="8193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https://github.com/Alex-Shen1121/SZU_Learning_Resource.git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94027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201FF-B38F-4EC6-A558-2E78CD7FB1BC}"/>
              </a:ext>
            </a:extLst>
          </p:cNvPr>
          <p:cNvSpPr txBox="1"/>
          <p:nvPr/>
        </p:nvSpPr>
        <p:spPr>
          <a:xfrm>
            <a:off x="1107996" y="2857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如何备课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B102FF-532E-4BC1-9F35-266B5C18933B}"/>
              </a:ext>
            </a:extLst>
          </p:cNvPr>
          <p:cNvSpPr txBox="1"/>
          <p:nvPr/>
        </p:nvSpPr>
        <p:spPr>
          <a:xfrm>
            <a:off x="501466" y="1258919"/>
            <a:ext cx="318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划分重难点</a:t>
            </a:r>
            <a:r>
              <a:rPr lang="zh-CN" altLang="en-US" dirty="0"/>
              <a:t>，</a:t>
            </a:r>
            <a:r>
              <a:rPr lang="zh-CN" altLang="en-US" sz="2400" b="1" dirty="0"/>
              <a:t>详细得当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FB57AD-79EC-4064-BE5A-E5157140C109}"/>
              </a:ext>
            </a:extLst>
          </p:cNvPr>
          <p:cNvSpPr txBox="1"/>
          <p:nvPr/>
        </p:nvSpPr>
        <p:spPr>
          <a:xfrm>
            <a:off x="965650" y="1806626"/>
            <a:ext cx="104080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PPT</a:t>
            </a:r>
            <a:r>
              <a:rPr lang="zh-CN" altLang="en-US" dirty="0"/>
              <a:t>尽量简洁，</a:t>
            </a:r>
            <a:r>
              <a:rPr lang="zh-CN" altLang="en-US" b="1" dirty="0"/>
              <a:t>避免过多文字或无关元素</a:t>
            </a:r>
            <a:r>
              <a:rPr lang="zh-CN" altLang="en-US" dirty="0"/>
              <a:t>，多用</a:t>
            </a:r>
            <a:r>
              <a:rPr lang="zh-CN" altLang="en-US" sz="2000" b="1" dirty="0"/>
              <a:t>图表</a:t>
            </a:r>
            <a:r>
              <a:rPr lang="zh-CN" altLang="en-US" dirty="0"/>
              <a:t>的形式展现思想、知识点；</a:t>
            </a:r>
            <a:endParaRPr lang="en-US" altLang="zh-CN" dirty="0"/>
          </a:p>
          <a:p>
            <a:r>
              <a:rPr lang="zh-CN" altLang="en-US" dirty="0"/>
              <a:t>以复习课的形式突破重难点，查漏补缺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4AB10D-1375-470A-ACDF-DB4D253A2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01" y="2706551"/>
            <a:ext cx="6821168" cy="39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4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201FF-B38F-4EC6-A558-2E78CD7FB1BC}"/>
              </a:ext>
            </a:extLst>
          </p:cNvPr>
          <p:cNvSpPr txBox="1"/>
          <p:nvPr/>
        </p:nvSpPr>
        <p:spPr>
          <a:xfrm>
            <a:off x="1107996" y="2857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如何讲课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981DC1-6F3B-4432-A86E-DBCC77B4F1AF}"/>
              </a:ext>
            </a:extLst>
          </p:cNvPr>
          <p:cNvSpPr txBox="1"/>
          <p:nvPr/>
        </p:nvSpPr>
        <p:spPr>
          <a:xfrm>
            <a:off x="522976" y="3418533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注意同学们的反馈，及时解答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B33B10-F10A-4E99-988F-A9DBC94BF12A}"/>
              </a:ext>
            </a:extLst>
          </p:cNvPr>
          <p:cNvSpPr txBox="1"/>
          <p:nvPr/>
        </p:nvSpPr>
        <p:spPr>
          <a:xfrm>
            <a:off x="1184196" y="4142313"/>
            <a:ext cx="9960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在讲解或者解题时，</a:t>
            </a:r>
            <a:r>
              <a:rPr lang="zh-CN" altLang="en-US" sz="2000" b="1" dirty="0"/>
              <a:t>适当停留</a:t>
            </a:r>
            <a:r>
              <a:rPr lang="zh-CN" altLang="en-US" dirty="0"/>
              <a:t>，大胆地去问同学们哪些地方不理解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720DC5-CE10-4E8A-9DFC-DB25CA4DEA52}"/>
              </a:ext>
            </a:extLst>
          </p:cNvPr>
          <p:cNvSpPr txBox="1"/>
          <p:nvPr/>
        </p:nvSpPr>
        <p:spPr>
          <a:xfrm>
            <a:off x="522976" y="145352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适当提问，带动思考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674D74-3FB2-46D8-9418-EDD932477FF0}"/>
              </a:ext>
            </a:extLst>
          </p:cNvPr>
          <p:cNvSpPr txBox="1"/>
          <p:nvPr/>
        </p:nvSpPr>
        <p:spPr>
          <a:xfrm>
            <a:off x="1214595" y="2116874"/>
            <a:ext cx="9960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讲课同时穿插一些大小</a:t>
            </a:r>
            <a:r>
              <a:rPr lang="zh-CN" altLang="en-US" sz="2000" b="1" dirty="0"/>
              <a:t>问题的提问或者题目</a:t>
            </a:r>
            <a:r>
              <a:rPr lang="zh-CN" altLang="en-US" dirty="0"/>
              <a:t>，带着问题思考，保持注意避免走神</a:t>
            </a:r>
          </a:p>
        </p:txBody>
      </p:sp>
    </p:spTree>
    <p:extLst>
      <p:ext uri="{BB962C8B-B14F-4D97-AF65-F5344CB8AC3E}">
        <p14:creationId xmlns:p14="http://schemas.microsoft.com/office/powerpoint/2010/main" val="144912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201FF-B38F-4EC6-A558-2E78CD7FB1BC}"/>
              </a:ext>
            </a:extLst>
          </p:cNvPr>
          <p:cNvSpPr txBox="1"/>
          <p:nvPr/>
        </p:nvSpPr>
        <p:spPr>
          <a:xfrm>
            <a:off x="1107996" y="28575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如何做好课后反馈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4C133-CE4B-4BCD-B6CD-E6C679575899}"/>
              </a:ext>
            </a:extLst>
          </p:cNvPr>
          <p:cNvSpPr txBox="1"/>
          <p:nvPr/>
        </p:nvSpPr>
        <p:spPr>
          <a:xfrm>
            <a:off x="513267" y="112811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提供练习渠道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871450-F9E8-4A82-AB66-53C04A74AE13}"/>
              </a:ext>
            </a:extLst>
          </p:cNvPr>
          <p:cNvSpPr txBox="1"/>
          <p:nvPr/>
        </p:nvSpPr>
        <p:spPr>
          <a:xfrm>
            <a:off x="1002634" y="1669884"/>
            <a:ext cx="10790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分享题库，制定</a:t>
            </a:r>
            <a:r>
              <a:rPr lang="zh-CN" altLang="en-US" sz="2000" b="1" dirty="0"/>
              <a:t>每日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周一题</a:t>
            </a:r>
            <a:r>
              <a:rPr lang="zh-CN" altLang="en-US" dirty="0"/>
              <a:t>形式，让同学们坚持训练，并及时地给予答案讲解。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FCC2CA-BCAB-4036-A57E-EB32B25C7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3086100"/>
            <a:ext cx="4800600" cy="22288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1F44B7A-FB05-4AFB-8213-ADF41A3D4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212" y="2386012"/>
            <a:ext cx="51149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2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201FF-B38F-4EC6-A558-2E78CD7FB1BC}"/>
              </a:ext>
            </a:extLst>
          </p:cNvPr>
          <p:cNvSpPr txBox="1"/>
          <p:nvPr/>
        </p:nvSpPr>
        <p:spPr>
          <a:xfrm>
            <a:off x="1107996" y="28575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如何做好课后反馈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C05C09-C8ED-4B49-AB0E-C3A139ADDE95}"/>
              </a:ext>
            </a:extLst>
          </p:cNvPr>
          <p:cNvSpPr txBox="1"/>
          <p:nvPr/>
        </p:nvSpPr>
        <p:spPr>
          <a:xfrm>
            <a:off x="618042" y="15824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答疑解惑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F0FA12-75DE-4357-9A1B-546C096D6AB3}"/>
              </a:ext>
            </a:extLst>
          </p:cNvPr>
          <p:cNvSpPr txBox="1"/>
          <p:nvPr/>
        </p:nvSpPr>
        <p:spPr>
          <a:xfrm>
            <a:off x="1150252" y="2078066"/>
            <a:ext cx="10790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课后</a:t>
            </a:r>
            <a:r>
              <a:rPr lang="en-US" altLang="zh-CN" dirty="0"/>
              <a:t>5-10</a:t>
            </a:r>
            <a:r>
              <a:rPr lang="zh-CN" altLang="en-US" dirty="0"/>
              <a:t>分钟时间询问同学们的问题或是</a:t>
            </a:r>
            <a:r>
              <a:rPr lang="zh-CN" altLang="en-US" sz="2000" b="1" dirty="0"/>
              <a:t>疑惑</a:t>
            </a:r>
            <a:r>
              <a:rPr lang="zh-CN" altLang="en-US" dirty="0"/>
              <a:t>的点，及时纠错、补充知识漏洞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67CF7-E23E-4DA8-8AAD-141602553EE3}"/>
              </a:ext>
            </a:extLst>
          </p:cNvPr>
          <p:cNvSpPr txBox="1"/>
          <p:nvPr/>
        </p:nvSpPr>
        <p:spPr>
          <a:xfrm>
            <a:off x="618042" y="30669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积极鼓励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4B88E2-5F01-4BBA-84C0-05448F56B264}"/>
              </a:ext>
            </a:extLst>
          </p:cNvPr>
          <p:cNvSpPr txBox="1"/>
          <p:nvPr/>
        </p:nvSpPr>
        <p:spPr>
          <a:xfrm>
            <a:off x="1150252" y="3562573"/>
            <a:ext cx="10790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主动询问、打破</a:t>
            </a:r>
            <a:r>
              <a:rPr lang="zh-CN" altLang="en-US" sz="2000" b="1" dirty="0"/>
              <a:t>社交恐惧</a:t>
            </a:r>
            <a:r>
              <a:rPr lang="zh-CN" altLang="en-US" dirty="0"/>
              <a:t>壁垒</a:t>
            </a:r>
          </a:p>
        </p:txBody>
      </p:sp>
    </p:spTree>
    <p:extLst>
      <p:ext uri="{BB962C8B-B14F-4D97-AF65-F5344CB8AC3E}">
        <p14:creationId xmlns:p14="http://schemas.microsoft.com/office/powerpoint/2010/main" val="99056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D46E80-FCBF-4E8A-A985-2EE36FE3CA57}"/>
              </a:ext>
            </a:extLst>
          </p:cNvPr>
          <p:cNvSpPr txBox="1"/>
          <p:nvPr/>
        </p:nvSpPr>
        <p:spPr>
          <a:xfrm>
            <a:off x="5041063" y="2932959"/>
            <a:ext cx="210987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/>
              <a:t>谢 谢</a:t>
            </a:r>
          </a:p>
        </p:txBody>
      </p:sp>
    </p:spTree>
    <p:extLst>
      <p:ext uri="{BB962C8B-B14F-4D97-AF65-F5344CB8AC3E}">
        <p14:creationId xmlns:p14="http://schemas.microsoft.com/office/powerpoint/2010/main" val="371022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348</Words>
  <Application>Microsoft Office PowerPoint</Application>
  <PresentationFormat>宽屏</PresentationFormat>
  <Paragraphs>41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思源黑体 CN Heavy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31</cp:revision>
  <dcterms:created xsi:type="dcterms:W3CDTF">2024-05-07T15:22:49Z</dcterms:created>
  <dcterms:modified xsi:type="dcterms:W3CDTF">2025-10-24T02:37:28Z</dcterms:modified>
</cp:coreProperties>
</file>