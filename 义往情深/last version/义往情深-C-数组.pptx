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67" r:id="rId2"/>
    <p:sldId id="593" r:id="rId3"/>
    <p:sldId id="765" r:id="rId4"/>
    <p:sldId id="822" r:id="rId5"/>
    <p:sldId id="823" r:id="rId6"/>
    <p:sldId id="767" r:id="rId7"/>
    <p:sldId id="768" r:id="rId8"/>
    <p:sldId id="770" r:id="rId9"/>
    <p:sldId id="771" r:id="rId10"/>
    <p:sldId id="772" r:id="rId11"/>
    <p:sldId id="773" r:id="rId12"/>
    <p:sldId id="774" r:id="rId13"/>
    <p:sldId id="775" r:id="rId14"/>
    <p:sldId id="824" r:id="rId15"/>
    <p:sldId id="777" r:id="rId16"/>
    <p:sldId id="778" r:id="rId17"/>
    <p:sldId id="779" r:id="rId18"/>
    <p:sldId id="780" r:id="rId19"/>
    <p:sldId id="825" r:id="rId20"/>
    <p:sldId id="781" r:id="rId21"/>
    <p:sldId id="782" r:id="rId22"/>
    <p:sldId id="783" r:id="rId23"/>
    <p:sldId id="786" r:id="rId24"/>
    <p:sldId id="787" r:id="rId25"/>
    <p:sldId id="788" r:id="rId26"/>
    <p:sldId id="789" r:id="rId27"/>
    <p:sldId id="790" r:id="rId28"/>
    <p:sldId id="792" r:id="rId29"/>
    <p:sldId id="814" r:id="rId30"/>
    <p:sldId id="791" r:id="rId31"/>
    <p:sldId id="793" r:id="rId32"/>
    <p:sldId id="794" r:id="rId33"/>
    <p:sldId id="795" r:id="rId34"/>
    <p:sldId id="796" r:id="rId35"/>
    <p:sldId id="797" r:id="rId36"/>
    <p:sldId id="798" r:id="rId37"/>
    <p:sldId id="799" r:id="rId38"/>
    <p:sldId id="800" r:id="rId39"/>
    <p:sldId id="801" r:id="rId40"/>
    <p:sldId id="802" r:id="rId41"/>
    <p:sldId id="803" r:id="rId42"/>
    <p:sldId id="804" r:id="rId43"/>
    <p:sldId id="805" r:id="rId44"/>
    <p:sldId id="806" r:id="rId45"/>
    <p:sldId id="808" r:id="rId46"/>
    <p:sldId id="807" r:id="rId47"/>
    <p:sldId id="826" r:id="rId48"/>
    <p:sldId id="810" r:id="rId49"/>
    <p:sldId id="811" r:id="rId50"/>
    <p:sldId id="812" r:id="rId51"/>
    <p:sldId id="813"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2C85BD-AA3F-4F2A-B69A-0873CED6D9E7}" type="datetimeFigureOut">
              <a:rPr lang="zh-CN" altLang="en-US" smtClean="0"/>
              <a:t>2023/11/25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85996B-3835-4287-972E-0C6818D677EC}" type="slidenum">
              <a:rPr lang="zh-CN" altLang="en-US" smtClean="0"/>
              <a:t>‹#›</a:t>
            </a:fld>
            <a:endParaRPr lang="zh-CN" altLang="en-US"/>
          </a:p>
        </p:txBody>
      </p:sp>
    </p:spTree>
    <p:extLst>
      <p:ext uri="{BB962C8B-B14F-4D97-AF65-F5344CB8AC3E}">
        <p14:creationId xmlns:p14="http://schemas.microsoft.com/office/powerpoint/2010/main" val="4031737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3</a:t>
            </a:fld>
            <a:endParaRPr lang="en-US" altLang="zh-CN" dirty="0"/>
          </a:p>
        </p:txBody>
      </p:sp>
    </p:spTree>
    <p:extLst>
      <p:ext uri="{BB962C8B-B14F-4D97-AF65-F5344CB8AC3E}">
        <p14:creationId xmlns:p14="http://schemas.microsoft.com/office/powerpoint/2010/main" val="4275846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ED05E4-5582-465F-B662-B642058D94E5}" type="slidenum">
              <a:rPr lang="en-US" altLang="zh-CN"/>
              <a:pPr/>
              <a:t>4</a:t>
            </a:fld>
            <a:endParaRPr lang="en-US" altLang="zh-CN" dirty="0"/>
          </a:p>
        </p:txBody>
      </p:sp>
      <p:sp>
        <p:nvSpPr>
          <p:cNvPr id="959490" name="Rectangle 2"/>
          <p:cNvSpPr>
            <a:spLocks noGrp="1" noRot="1" noChangeAspect="1" noChangeArrowheads="1" noTextEdit="1"/>
          </p:cNvSpPr>
          <p:nvPr>
            <p:ph type="sldImg"/>
          </p:nvPr>
        </p:nvSpPr>
        <p:spPr>
          <a:xfrm>
            <a:off x="381000" y="685800"/>
            <a:ext cx="6096000" cy="3429000"/>
          </a:xfrm>
          <a:ln/>
        </p:spPr>
      </p:sp>
      <p:sp>
        <p:nvSpPr>
          <p:cNvPr id="959491"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a:t>年，第一台电子计算机问世，应用领域迅速扩大，软硬件飞速发展，程序设计语言相继问世。</a:t>
            </a:r>
          </a:p>
          <a:p>
            <a:r>
              <a:rPr lang="zh-CN" altLang="en-US"/>
              <a:t>程序设计语言</a:t>
            </a:r>
            <a:r>
              <a:rPr lang="en-US" altLang="zh-CN" dirty="0"/>
              <a:t>:</a:t>
            </a:r>
            <a:r>
              <a:rPr lang="zh-CN" altLang="en-US"/>
              <a:t>将自然语言形式化为有格式的语言</a:t>
            </a:r>
          </a:p>
          <a:p>
            <a:r>
              <a:rPr lang="en-US" altLang="zh-CN" dirty="0"/>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dirty="0"/>
              <a:t>《</a:t>
            </a:r>
            <a:r>
              <a:rPr lang="zh-CN" altLang="en-US"/>
              <a:t>计算机组成</a:t>
            </a:r>
            <a:r>
              <a:rPr lang="en-US" altLang="zh-CN" dirty="0"/>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dirty="0"/>
              <a:t>CPU</a:t>
            </a:r>
            <a:r>
              <a:rPr lang="zh-CN" altLang="en-US"/>
              <a:t>的指令系统，由该</a:t>
            </a:r>
            <a:r>
              <a:rPr lang="en-US" altLang="zh-CN" dirty="0"/>
              <a:t>CPU</a:t>
            </a:r>
            <a:r>
              <a:rPr lang="zh-CN" altLang="en-US"/>
              <a:t>可识别的</a:t>
            </a:r>
            <a:r>
              <a:rPr lang="en-US" altLang="zh-CN" dirty="0"/>
              <a:t>0</a:t>
            </a:r>
            <a:r>
              <a:rPr lang="zh-CN" altLang="en-US"/>
              <a:t>、</a:t>
            </a:r>
            <a:r>
              <a:rPr lang="en-US" altLang="zh-CN" dirty="0"/>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dirty="0"/>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dirty="0"/>
              <a:t>----</a:t>
            </a:r>
            <a:r>
              <a:rPr lang="zh-CN" altLang="en-US"/>
              <a:t>依</a:t>
            </a:r>
            <a:r>
              <a:rPr lang="en-US" altLang="zh-CN" dirty="0"/>
              <a:t>CPU</a:t>
            </a:r>
            <a:r>
              <a:rPr lang="zh-CN" altLang="en-US"/>
              <a:t>不同而异）</a:t>
            </a:r>
          </a:p>
          <a:p>
            <a:r>
              <a:rPr lang="en-US" altLang="zh-CN" dirty="0"/>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dirty="0"/>
              <a:t>=</a:t>
            </a:r>
            <a:r>
              <a:rPr lang="zh-CN" altLang="en-US"/>
              <a:t>数据结构</a:t>
            </a:r>
            <a:r>
              <a:rPr lang="en-US" altLang="zh-CN" dirty="0"/>
              <a:t>+</a:t>
            </a:r>
            <a:r>
              <a:rPr lang="zh-CN" altLang="en-US"/>
              <a:t>算法</a:t>
            </a:r>
          </a:p>
          <a:p>
            <a:r>
              <a:rPr lang="en-US" altLang="zh-CN" dirty="0"/>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dirty="0"/>
          </a:p>
        </p:txBody>
      </p:sp>
    </p:spTree>
    <p:extLst>
      <p:ext uri="{BB962C8B-B14F-4D97-AF65-F5344CB8AC3E}">
        <p14:creationId xmlns:p14="http://schemas.microsoft.com/office/powerpoint/2010/main" val="2543036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ED05E4-5582-465F-B662-B642058D94E5}" type="slidenum">
              <a:rPr lang="en-US" altLang="zh-CN"/>
              <a:pPr/>
              <a:t>5</a:t>
            </a:fld>
            <a:endParaRPr lang="en-US" altLang="zh-CN" dirty="0"/>
          </a:p>
        </p:txBody>
      </p:sp>
      <p:sp>
        <p:nvSpPr>
          <p:cNvPr id="959490" name="Rectangle 2"/>
          <p:cNvSpPr>
            <a:spLocks noGrp="1" noRot="1" noChangeAspect="1" noChangeArrowheads="1" noTextEdit="1"/>
          </p:cNvSpPr>
          <p:nvPr>
            <p:ph type="sldImg"/>
          </p:nvPr>
        </p:nvSpPr>
        <p:spPr>
          <a:xfrm>
            <a:off x="381000" y="685800"/>
            <a:ext cx="6096000" cy="3429000"/>
          </a:xfrm>
          <a:ln/>
        </p:spPr>
      </p:sp>
      <p:sp>
        <p:nvSpPr>
          <p:cNvPr id="959491"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a:t>年，第一台电子计算机问世，应用领域迅速扩大，软硬件飞速发展，程序设计语言相继问世。</a:t>
            </a:r>
          </a:p>
          <a:p>
            <a:r>
              <a:rPr lang="zh-CN" altLang="en-US"/>
              <a:t>程序设计语言</a:t>
            </a:r>
            <a:r>
              <a:rPr lang="en-US" altLang="zh-CN" dirty="0"/>
              <a:t>:</a:t>
            </a:r>
            <a:r>
              <a:rPr lang="zh-CN" altLang="en-US"/>
              <a:t>将自然语言形式化为有格式的语言</a:t>
            </a:r>
          </a:p>
          <a:p>
            <a:r>
              <a:rPr lang="en-US" altLang="zh-CN" dirty="0"/>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dirty="0"/>
              <a:t>《</a:t>
            </a:r>
            <a:r>
              <a:rPr lang="zh-CN" altLang="en-US"/>
              <a:t>计算机组成</a:t>
            </a:r>
            <a:r>
              <a:rPr lang="en-US" altLang="zh-CN" dirty="0"/>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dirty="0"/>
              <a:t>CPU</a:t>
            </a:r>
            <a:r>
              <a:rPr lang="zh-CN" altLang="en-US"/>
              <a:t>的指令系统，由该</a:t>
            </a:r>
            <a:r>
              <a:rPr lang="en-US" altLang="zh-CN" dirty="0"/>
              <a:t>CPU</a:t>
            </a:r>
            <a:r>
              <a:rPr lang="zh-CN" altLang="en-US"/>
              <a:t>可识别的</a:t>
            </a:r>
            <a:r>
              <a:rPr lang="en-US" altLang="zh-CN" dirty="0"/>
              <a:t>0</a:t>
            </a:r>
            <a:r>
              <a:rPr lang="zh-CN" altLang="en-US"/>
              <a:t>、</a:t>
            </a:r>
            <a:r>
              <a:rPr lang="en-US" altLang="zh-CN" dirty="0"/>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dirty="0"/>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dirty="0"/>
              <a:t>----</a:t>
            </a:r>
            <a:r>
              <a:rPr lang="zh-CN" altLang="en-US"/>
              <a:t>依</a:t>
            </a:r>
            <a:r>
              <a:rPr lang="en-US" altLang="zh-CN" dirty="0"/>
              <a:t>CPU</a:t>
            </a:r>
            <a:r>
              <a:rPr lang="zh-CN" altLang="en-US"/>
              <a:t>不同而异）</a:t>
            </a:r>
          </a:p>
          <a:p>
            <a:r>
              <a:rPr lang="en-US" altLang="zh-CN" dirty="0"/>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dirty="0"/>
              <a:t>=</a:t>
            </a:r>
            <a:r>
              <a:rPr lang="zh-CN" altLang="en-US"/>
              <a:t>数据结构</a:t>
            </a:r>
            <a:r>
              <a:rPr lang="en-US" altLang="zh-CN" dirty="0"/>
              <a:t>+</a:t>
            </a:r>
            <a:r>
              <a:rPr lang="zh-CN" altLang="en-US"/>
              <a:t>算法</a:t>
            </a:r>
          </a:p>
          <a:p>
            <a:r>
              <a:rPr lang="en-US" altLang="zh-CN" dirty="0"/>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dirty="0"/>
          </a:p>
        </p:txBody>
      </p:sp>
    </p:spTree>
    <p:extLst>
      <p:ext uri="{BB962C8B-B14F-4D97-AF65-F5344CB8AC3E}">
        <p14:creationId xmlns:p14="http://schemas.microsoft.com/office/powerpoint/2010/main" val="3303240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15FC08-4687-4D50-9811-9DD0E5273DDA}" type="slidenum">
              <a:rPr lang="en-US" altLang="zh-CN"/>
              <a:pPr/>
              <a:t>6</a:t>
            </a:fld>
            <a:endParaRPr lang="en-US" altLang="zh-CN"/>
          </a:p>
        </p:txBody>
      </p:sp>
      <p:sp>
        <p:nvSpPr>
          <p:cNvPr id="961538" name="Rectangle 2"/>
          <p:cNvSpPr>
            <a:spLocks noGrp="1" noRot="1" noChangeAspect="1" noChangeArrowheads="1" noTextEdit="1"/>
          </p:cNvSpPr>
          <p:nvPr>
            <p:ph type="sldImg"/>
          </p:nvPr>
        </p:nvSpPr>
        <p:spPr>
          <a:xfrm>
            <a:off x="381000" y="685800"/>
            <a:ext cx="6096000" cy="3429000"/>
          </a:xfrm>
          <a:ln/>
        </p:spPr>
      </p:sp>
      <p:sp>
        <p:nvSpPr>
          <p:cNvPr id="9615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1348360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D264AC-461C-4BFF-A5BE-2A3C7887535D}" type="slidenum">
              <a:rPr lang="en-US" altLang="zh-CN"/>
              <a:pPr/>
              <a:t>7</a:t>
            </a:fld>
            <a:endParaRPr lang="en-US" altLang="zh-CN"/>
          </a:p>
        </p:txBody>
      </p:sp>
      <p:sp>
        <p:nvSpPr>
          <p:cNvPr id="963586" name="Rectangle 2"/>
          <p:cNvSpPr>
            <a:spLocks noGrp="1" noRot="1" noChangeAspect="1" noChangeArrowheads="1" noTextEdit="1"/>
          </p:cNvSpPr>
          <p:nvPr>
            <p:ph type="sldImg"/>
          </p:nvPr>
        </p:nvSpPr>
        <p:spPr>
          <a:xfrm>
            <a:off x="381000" y="685800"/>
            <a:ext cx="6096000" cy="3429000"/>
          </a:xfrm>
          <a:ln/>
        </p:spPr>
      </p:sp>
      <p:sp>
        <p:nvSpPr>
          <p:cNvPr id="9635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1906191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4D24C5-1915-4FF9-877F-311F659C1840}" type="slidenum">
              <a:rPr lang="en-US" altLang="zh-CN"/>
              <a:pPr/>
              <a:t>8</a:t>
            </a:fld>
            <a:endParaRPr lang="en-US" altLang="zh-CN"/>
          </a:p>
        </p:txBody>
      </p:sp>
      <p:sp>
        <p:nvSpPr>
          <p:cNvPr id="967682" name="Rectangle 2"/>
          <p:cNvSpPr>
            <a:spLocks noGrp="1" noRot="1" noChangeAspect="1" noChangeArrowheads="1" noTextEdit="1"/>
          </p:cNvSpPr>
          <p:nvPr>
            <p:ph type="sldImg"/>
          </p:nvPr>
        </p:nvSpPr>
        <p:spPr>
          <a:xfrm>
            <a:off x="381000" y="685800"/>
            <a:ext cx="6096000" cy="3429000"/>
          </a:xfrm>
          <a:ln/>
        </p:spPr>
      </p:sp>
      <p:sp>
        <p:nvSpPr>
          <p:cNvPr id="9676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368871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2754AD-0A49-481A-A26A-AEDEE2024AD1}" type="slidenum">
              <a:rPr lang="en-US" altLang="zh-CN"/>
              <a:pPr/>
              <a:t>9</a:t>
            </a:fld>
            <a:endParaRPr lang="en-US" altLang="zh-CN"/>
          </a:p>
        </p:txBody>
      </p:sp>
      <p:sp>
        <p:nvSpPr>
          <p:cNvPr id="969730" name="Rectangle 2"/>
          <p:cNvSpPr>
            <a:spLocks noGrp="1" noRot="1" noChangeAspect="1" noChangeArrowheads="1" noTextEdit="1"/>
          </p:cNvSpPr>
          <p:nvPr>
            <p:ph type="sldImg"/>
          </p:nvPr>
        </p:nvSpPr>
        <p:spPr>
          <a:xfrm>
            <a:off x="381000" y="685800"/>
            <a:ext cx="6096000" cy="3429000"/>
          </a:xfrm>
          <a:ln/>
        </p:spPr>
      </p:sp>
      <p:sp>
        <p:nvSpPr>
          <p:cNvPr id="9697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3016117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438368-4F89-4E34-A028-704D61A85F67}" type="slidenum">
              <a:rPr lang="en-US" altLang="zh-CN"/>
              <a:pPr/>
              <a:t>10</a:t>
            </a:fld>
            <a:endParaRPr lang="en-US" altLang="zh-CN"/>
          </a:p>
        </p:txBody>
      </p:sp>
      <p:sp>
        <p:nvSpPr>
          <p:cNvPr id="971778" name="Rectangle 2"/>
          <p:cNvSpPr>
            <a:spLocks noGrp="1" noRot="1" noChangeAspect="1" noChangeArrowheads="1" noTextEdit="1"/>
          </p:cNvSpPr>
          <p:nvPr>
            <p:ph type="sldImg"/>
          </p:nvPr>
        </p:nvSpPr>
        <p:spPr>
          <a:xfrm>
            <a:off x="381000" y="685800"/>
            <a:ext cx="6096000" cy="3429000"/>
          </a:xfrm>
          <a:ln/>
        </p:spPr>
      </p:sp>
      <p:sp>
        <p:nvSpPr>
          <p:cNvPr id="9717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4093478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25048D-0F4F-4D2F-9A7B-6F0B357E2914}" type="slidenum">
              <a:rPr lang="en-US" altLang="zh-CN"/>
              <a:pPr/>
              <a:t>11</a:t>
            </a:fld>
            <a:endParaRPr lang="en-US" altLang="zh-CN"/>
          </a:p>
        </p:txBody>
      </p:sp>
      <p:sp>
        <p:nvSpPr>
          <p:cNvPr id="973826" name="Rectangle 2"/>
          <p:cNvSpPr>
            <a:spLocks noGrp="1" noRot="1" noChangeAspect="1" noChangeArrowheads="1" noTextEdit="1"/>
          </p:cNvSpPr>
          <p:nvPr>
            <p:ph type="sldImg"/>
          </p:nvPr>
        </p:nvSpPr>
        <p:spPr>
          <a:xfrm>
            <a:off x="381000" y="685800"/>
            <a:ext cx="6096000" cy="3429000"/>
          </a:xfrm>
          <a:ln/>
        </p:spPr>
      </p:sp>
      <p:sp>
        <p:nvSpPr>
          <p:cNvPr id="9738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3420698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187EB5-DD2E-4D04-A50B-C734C3B779F9}" type="slidenum">
              <a:rPr lang="en-US" altLang="zh-CN"/>
              <a:pPr/>
              <a:t>12</a:t>
            </a:fld>
            <a:endParaRPr lang="en-US" altLang="zh-CN"/>
          </a:p>
        </p:txBody>
      </p:sp>
      <p:sp>
        <p:nvSpPr>
          <p:cNvPr id="975874" name="Rectangle 2"/>
          <p:cNvSpPr>
            <a:spLocks noGrp="1" noRot="1" noChangeAspect="1" noChangeArrowheads="1" noTextEdit="1"/>
          </p:cNvSpPr>
          <p:nvPr>
            <p:ph type="sldImg"/>
          </p:nvPr>
        </p:nvSpPr>
        <p:spPr>
          <a:xfrm>
            <a:off x="381000" y="685800"/>
            <a:ext cx="6096000" cy="3429000"/>
          </a:xfrm>
          <a:ln/>
        </p:spPr>
      </p:sp>
      <p:sp>
        <p:nvSpPr>
          <p:cNvPr id="9758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3407943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9B04FC-5720-4D6D-84B3-1E5B679162D1}" type="slidenum">
              <a:rPr lang="en-US" altLang="zh-CN"/>
              <a:pPr/>
              <a:t>13</a:t>
            </a:fld>
            <a:endParaRPr lang="en-US" altLang="zh-CN"/>
          </a:p>
        </p:txBody>
      </p:sp>
      <p:sp>
        <p:nvSpPr>
          <p:cNvPr id="977922" name="Rectangle 2"/>
          <p:cNvSpPr>
            <a:spLocks noGrp="1" noRot="1" noChangeAspect="1" noChangeArrowheads="1" noTextEdit="1"/>
          </p:cNvSpPr>
          <p:nvPr>
            <p:ph type="sldImg"/>
          </p:nvPr>
        </p:nvSpPr>
        <p:spPr>
          <a:xfrm>
            <a:off x="381000" y="685800"/>
            <a:ext cx="6096000" cy="3429000"/>
          </a:xfrm>
          <a:ln/>
        </p:spPr>
      </p:sp>
      <p:sp>
        <p:nvSpPr>
          <p:cNvPr id="9779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3314887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62251B-52B8-4C68-BC7A-E99EB72B4CC1}" type="slidenum">
              <a:rPr lang="en-US" altLang="zh-CN"/>
              <a:pPr/>
              <a:t>15</a:t>
            </a:fld>
            <a:endParaRPr lang="en-US" altLang="zh-CN"/>
          </a:p>
        </p:txBody>
      </p:sp>
      <p:sp>
        <p:nvSpPr>
          <p:cNvPr id="982018" name="Rectangle 2"/>
          <p:cNvSpPr>
            <a:spLocks noGrp="1" noRot="1" noChangeAspect="1" noChangeArrowheads="1" noTextEdit="1"/>
          </p:cNvSpPr>
          <p:nvPr>
            <p:ph type="sldImg"/>
          </p:nvPr>
        </p:nvSpPr>
        <p:spPr>
          <a:xfrm>
            <a:off x="381000" y="685800"/>
            <a:ext cx="6096000" cy="3429000"/>
          </a:xfrm>
          <a:ln/>
        </p:spPr>
      </p:sp>
      <p:sp>
        <p:nvSpPr>
          <p:cNvPr id="98201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1175695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12B9E9-8539-4B38-BC7D-51E7E5C08E88}" type="slidenum">
              <a:rPr lang="en-US" altLang="zh-CN"/>
              <a:pPr/>
              <a:t>20</a:t>
            </a:fld>
            <a:endParaRPr lang="en-US" altLang="zh-CN"/>
          </a:p>
        </p:txBody>
      </p:sp>
      <p:sp>
        <p:nvSpPr>
          <p:cNvPr id="987138" name="Rectangle 2"/>
          <p:cNvSpPr>
            <a:spLocks noGrp="1" noRot="1" noChangeAspect="1" noChangeArrowheads="1" noTextEdit="1"/>
          </p:cNvSpPr>
          <p:nvPr>
            <p:ph type="sldImg"/>
          </p:nvPr>
        </p:nvSpPr>
        <p:spPr>
          <a:xfrm>
            <a:off x="381000" y="685800"/>
            <a:ext cx="6096000" cy="3429000"/>
          </a:xfrm>
          <a:ln/>
        </p:spPr>
      </p:sp>
      <p:sp>
        <p:nvSpPr>
          <p:cNvPr id="9871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1430630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2BEFB51-7512-4167-A8F2-6E5C9E848DFC}" type="slidenum">
              <a:rPr lang="en-US" altLang="zh-CN" smtClean="0"/>
              <a:pPr/>
              <a:t>21</a:t>
            </a:fld>
            <a:endParaRPr lang="en-US" altLang="zh-CN"/>
          </a:p>
        </p:txBody>
      </p:sp>
    </p:spTree>
    <p:extLst>
      <p:ext uri="{BB962C8B-B14F-4D97-AF65-F5344CB8AC3E}">
        <p14:creationId xmlns:p14="http://schemas.microsoft.com/office/powerpoint/2010/main" val="3435291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2BEFB51-7512-4167-A8F2-6E5C9E848DFC}" type="slidenum">
              <a:rPr lang="en-US" altLang="zh-CN" smtClean="0"/>
              <a:pPr/>
              <a:t>24</a:t>
            </a:fld>
            <a:endParaRPr lang="en-US" altLang="zh-CN"/>
          </a:p>
        </p:txBody>
      </p:sp>
    </p:spTree>
    <p:extLst>
      <p:ext uri="{BB962C8B-B14F-4D97-AF65-F5344CB8AC3E}">
        <p14:creationId xmlns:p14="http://schemas.microsoft.com/office/powerpoint/2010/main" val="3279981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35</a:t>
            </a:fld>
            <a:endParaRPr lang="en-US" altLang="zh-CN"/>
          </a:p>
        </p:txBody>
      </p:sp>
    </p:spTree>
    <p:extLst>
      <p:ext uri="{BB962C8B-B14F-4D97-AF65-F5344CB8AC3E}">
        <p14:creationId xmlns:p14="http://schemas.microsoft.com/office/powerpoint/2010/main" val="713672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40</a:t>
            </a:fld>
            <a:endParaRPr lang="en-US" altLang="zh-CN"/>
          </a:p>
        </p:txBody>
      </p:sp>
    </p:spTree>
    <p:extLst>
      <p:ext uri="{BB962C8B-B14F-4D97-AF65-F5344CB8AC3E}">
        <p14:creationId xmlns:p14="http://schemas.microsoft.com/office/powerpoint/2010/main" val="142629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D42E3D-4844-4866-84DB-6E5F1E6DB6C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45087CD-FDF5-42FA-9492-801D53D507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D3802DB-7B79-4DCB-B471-9CB06F67FD88}"/>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5" name="页脚占位符 4">
            <a:extLst>
              <a:ext uri="{FF2B5EF4-FFF2-40B4-BE49-F238E27FC236}">
                <a16:creationId xmlns:a16="http://schemas.microsoft.com/office/drawing/2014/main" id="{DB23A790-035C-426E-B638-829FA2A6EB2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EF7433-176E-48D3-B845-05F29F63A62C}"/>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4814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082811-7E19-4D95-8746-333D4E0BCF5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168EEB0-6547-4026-9769-C8F8B5ACE57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1A51E4-6834-4F64-9922-005E9206AD44}"/>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5" name="页脚占位符 4">
            <a:extLst>
              <a:ext uri="{FF2B5EF4-FFF2-40B4-BE49-F238E27FC236}">
                <a16:creationId xmlns:a16="http://schemas.microsoft.com/office/drawing/2014/main" id="{1CF30348-FBA4-4CB7-9D5A-7262D2CE60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018FA9-32D4-4431-8CCC-C8936805DD01}"/>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3779332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BB9EAD-D34E-4668-BD90-D4910E32AED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087BFCF-B5CE-42EC-886C-14F34B40DD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B1E14B-AB13-48B5-AA67-E0EB3BDAAB67}"/>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5" name="页脚占位符 4">
            <a:extLst>
              <a:ext uri="{FF2B5EF4-FFF2-40B4-BE49-F238E27FC236}">
                <a16:creationId xmlns:a16="http://schemas.microsoft.com/office/drawing/2014/main" id="{DC34FBB5-0C29-48E3-8267-F995E987B4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07B517-DA1B-409C-AABC-6EA04E4AD6F2}"/>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1383660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AC6AEF-1CFF-4B19-84A2-B5021F2D769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DD1365B-7C1B-48CD-A1F1-5DF8A5961FD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EDECE99-75AB-446F-ACB6-53D3F459781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B2A0C36-7AF2-48B0-81E2-E96C9C0285B7}"/>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6" name="页脚占位符 5">
            <a:extLst>
              <a:ext uri="{FF2B5EF4-FFF2-40B4-BE49-F238E27FC236}">
                <a16:creationId xmlns:a16="http://schemas.microsoft.com/office/drawing/2014/main" id="{EBB6A66D-24D2-49A1-AD3A-DC16444A8CA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7D67090-E331-4A71-B6CF-418912A1159A}"/>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2753502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68064C-DA10-48F3-B63B-71002F5E24F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228F64E-E7DF-457F-9965-0B45AF3CAB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5B685F6-CDB9-4DD7-BCBC-314FFD2F824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8FE259F-5DB4-44B7-A8A1-108B62692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4993EB2-6131-4612-8A45-B673EEF8D1F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8C63D0D-3CBC-44A9-85B2-4ABE53F034CD}"/>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8" name="页脚占位符 7">
            <a:extLst>
              <a:ext uri="{FF2B5EF4-FFF2-40B4-BE49-F238E27FC236}">
                <a16:creationId xmlns:a16="http://schemas.microsoft.com/office/drawing/2014/main" id="{142483CD-80F7-4484-8BD8-E103A8BDB43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2EA1BE0-B36C-4BC0-BF77-8D50465258FE}"/>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2928564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0E8D44-56F9-48FA-B796-17E4B562586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D48272D-C022-4C4B-8804-3EEBD8EA70DE}"/>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4" name="页脚占位符 3">
            <a:extLst>
              <a:ext uri="{FF2B5EF4-FFF2-40B4-BE49-F238E27FC236}">
                <a16:creationId xmlns:a16="http://schemas.microsoft.com/office/drawing/2014/main" id="{B150ABA2-2149-4A98-AA22-E42152CEAA9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2620ACA-9B91-42DB-9B14-6BEE330B86FE}"/>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1269866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750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B06F38-4E68-4CE9-A614-39EA37B83E8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8B762B-EAA2-41C5-B023-B2DF79F377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E5A9932-EB05-49CF-9235-B8D3A3DF3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73C2E87-AD8F-454A-ADCE-8C58AF83B931}"/>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6" name="页脚占位符 5">
            <a:extLst>
              <a:ext uri="{FF2B5EF4-FFF2-40B4-BE49-F238E27FC236}">
                <a16:creationId xmlns:a16="http://schemas.microsoft.com/office/drawing/2014/main" id="{806D7916-2DAD-4911-A345-022E77E0486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3CDB769-DA2F-466B-B3FE-1057770EEA09}"/>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1750280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5D469-9AEA-4FB6-A7F7-A5143E41A1D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B435F08-1215-41D4-89F8-0963E62168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17815AF-7D4F-48A6-89ED-4CC6F3E16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060F1D7-057F-4D0E-AEB5-11394E0362ED}"/>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6" name="页脚占位符 5">
            <a:extLst>
              <a:ext uri="{FF2B5EF4-FFF2-40B4-BE49-F238E27FC236}">
                <a16:creationId xmlns:a16="http://schemas.microsoft.com/office/drawing/2014/main" id="{2ADCC5B4-45F0-4CB2-9A93-5096D36767D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3E48AD-A339-4FDB-9544-2CA1D95B3F91}"/>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2245421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59D38B-D43A-4BE3-A7D4-1739A6349B1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79BBFC2-89D8-4CD5-AB15-229AE139DAB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540F68-942A-4B68-8FB9-BA27C9714F02}"/>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5" name="页脚占位符 4">
            <a:extLst>
              <a:ext uri="{FF2B5EF4-FFF2-40B4-BE49-F238E27FC236}">
                <a16:creationId xmlns:a16="http://schemas.microsoft.com/office/drawing/2014/main" id="{74A0A4AE-50EB-479F-9726-24B6AAF78B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30E3D5D-91B1-4E91-81A4-0D2200F3BCA9}"/>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1725545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3" name="竖排文字占位符 2">
            <a:extLst>
              <a:ext uri="{FF2B5EF4-FFF2-40B4-BE49-F238E27FC236}">
                <a16:creationId xmlns:a16="http://schemas.microsoft.com/office/drawing/2014/main" id="{54011623-70E4-4388-8943-2D4ABC0230E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EA0263-78DA-4425-AD2C-FCD6E0CF2984}"/>
              </a:ext>
            </a:extLst>
          </p:cNvPr>
          <p:cNvSpPr>
            <a:spLocks noGrp="1"/>
          </p:cNvSpPr>
          <p:nvPr>
            <p:ph type="dt" sz="half" idx="10"/>
          </p:nvPr>
        </p:nvSpPr>
        <p:spPr/>
        <p:txBody>
          <a:bodyPr/>
          <a:lstStyle/>
          <a:p>
            <a:fld id="{70770724-3599-4F81-82BC-DAFC1E228230}" type="datetimeFigureOut">
              <a:rPr lang="zh-CN" altLang="en-US" smtClean="0"/>
              <a:t>2023/11/25</a:t>
            </a:fld>
            <a:endParaRPr lang="zh-CN" altLang="en-US"/>
          </a:p>
        </p:txBody>
      </p:sp>
      <p:sp>
        <p:nvSpPr>
          <p:cNvPr id="5" name="页脚占位符 4">
            <a:extLst>
              <a:ext uri="{FF2B5EF4-FFF2-40B4-BE49-F238E27FC236}">
                <a16:creationId xmlns:a16="http://schemas.microsoft.com/office/drawing/2014/main" id="{48D734C6-94DA-487B-8566-D101D0B4D3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D931C97-D8E3-4BCA-8D44-814801B8112E}"/>
              </a:ext>
            </a:extLst>
          </p:cNvPr>
          <p:cNvSpPr>
            <a:spLocks noGrp="1"/>
          </p:cNvSpPr>
          <p:nvPr>
            <p:ph type="sldNum" sz="quarter" idx="12"/>
          </p:nvPr>
        </p:nvSpPr>
        <p:spPr/>
        <p:txBody>
          <a:bodyPr/>
          <a:lstStyle/>
          <a:p>
            <a:fld id="{28187930-C9B5-4389-8632-AE3304F36090}" type="slidenum">
              <a:rPr lang="zh-CN" altLang="en-US" smtClean="0"/>
              <a:t>‹#›</a:t>
            </a:fld>
            <a:endParaRPr lang="zh-CN" altLang="en-US"/>
          </a:p>
        </p:txBody>
      </p:sp>
    </p:spTree>
    <p:extLst>
      <p:ext uri="{BB962C8B-B14F-4D97-AF65-F5344CB8AC3E}">
        <p14:creationId xmlns:p14="http://schemas.microsoft.com/office/powerpoint/2010/main" val="3972948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19244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4" name="矩形 73">
            <a:extLst>
              <a:ext uri="{FF2B5EF4-FFF2-40B4-BE49-F238E27FC236}">
                <a16:creationId xmlns:a16="http://schemas.microsoft.com/office/drawing/2014/main" id="{30453978-BB24-4ACE-A1FB-80623D33A1E3}"/>
              </a:ext>
            </a:extLst>
          </p:cNvPr>
          <p:cNvSpPr/>
          <p:nvPr userDrawn="1"/>
        </p:nvSpPr>
        <p:spPr>
          <a:xfrm>
            <a:off x="1136072" y="295564"/>
            <a:ext cx="11055928" cy="550402"/>
          </a:xfrm>
          <a:prstGeom prst="rect">
            <a:avLst/>
          </a:prstGeom>
          <a:solidFill>
            <a:srgbClr val="00B0F0"/>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 name="标题占位符 1">
            <a:extLst>
              <a:ext uri="{FF2B5EF4-FFF2-40B4-BE49-F238E27FC236}">
                <a16:creationId xmlns:a16="http://schemas.microsoft.com/office/drawing/2014/main" id="{753AECC0-F3D8-4348-B79E-07585B5760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8B0B46E-5A4E-4A79-BF84-122237111E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F30B4E3-8206-485F-99F0-B4DAD702C6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770724-3599-4F81-82BC-DAFC1E228230}" type="datetimeFigureOut">
              <a:rPr lang="zh-CN" altLang="en-US" smtClean="0"/>
              <a:t>2023/11/25</a:t>
            </a:fld>
            <a:endParaRPr lang="zh-CN" altLang="en-US"/>
          </a:p>
        </p:txBody>
      </p:sp>
      <p:sp>
        <p:nvSpPr>
          <p:cNvPr id="5" name="页脚占位符 4">
            <a:extLst>
              <a:ext uri="{FF2B5EF4-FFF2-40B4-BE49-F238E27FC236}">
                <a16:creationId xmlns:a16="http://schemas.microsoft.com/office/drawing/2014/main" id="{5D754206-CE1D-4563-B599-AA942854BC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9AFCF62-1006-4C71-8DF6-8CC31C14C1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187930-C9B5-4389-8632-AE3304F36090}" type="slidenum">
              <a:rPr lang="zh-CN" altLang="en-US" smtClean="0"/>
              <a:t>‹#›</a:t>
            </a:fld>
            <a:endParaRPr lang="zh-CN" altLang="en-US"/>
          </a:p>
        </p:txBody>
      </p:sp>
      <p:grpSp>
        <p:nvGrpSpPr>
          <p:cNvPr id="7" name="组合 6">
            <a:extLst>
              <a:ext uri="{FF2B5EF4-FFF2-40B4-BE49-F238E27FC236}">
                <a16:creationId xmlns:a16="http://schemas.microsoft.com/office/drawing/2014/main" id="{E7B07C0F-B2AC-4C2F-A9A5-E05D00D8237D}"/>
              </a:ext>
            </a:extLst>
          </p:cNvPr>
          <p:cNvGrpSpPr/>
          <p:nvPr userDrawn="1"/>
        </p:nvGrpSpPr>
        <p:grpSpPr>
          <a:xfrm>
            <a:off x="9814110" y="267547"/>
            <a:ext cx="2096408" cy="605580"/>
            <a:chOff x="3854450" y="4787900"/>
            <a:chExt cx="4462463" cy="1289050"/>
          </a:xfrm>
          <a:solidFill>
            <a:srgbClr val="C00000"/>
          </a:solidFill>
        </p:grpSpPr>
        <p:sp>
          <p:nvSpPr>
            <p:cNvPr id="8" name="Freeform 5">
              <a:extLst>
                <a:ext uri="{FF2B5EF4-FFF2-40B4-BE49-F238E27FC236}">
                  <a16:creationId xmlns:a16="http://schemas.microsoft.com/office/drawing/2014/main" id="{D7D106B0-FFA8-4A5B-A945-31C028E4526F}"/>
                </a:ext>
              </a:extLst>
            </p:cNvPr>
            <p:cNvSpPr/>
            <p:nvPr/>
          </p:nvSpPr>
          <p:spPr bwMode="auto">
            <a:xfrm>
              <a:off x="7772400" y="5827713"/>
              <a:ext cx="112713" cy="158750"/>
            </a:xfrm>
            <a:custGeom>
              <a:avLst/>
              <a:gdLst>
                <a:gd name="T0" fmla="*/ 0 w 20"/>
                <a:gd name="T1" fmla="*/ 16 h 28"/>
                <a:gd name="T2" fmla="*/ 0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8 w 20"/>
                <a:gd name="T21" fmla="*/ 9 h 28"/>
                <a:gd name="T22" fmla="*/ 18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9 w 20"/>
                <a:gd name="T35" fmla="*/ 28 h 28"/>
                <a:gd name="T36" fmla="*/ 2 w 20"/>
                <a:gd name="T37" fmla="*/ 26 h 28"/>
                <a:gd name="T38" fmla="*/ 0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0" y="16"/>
                  </a:cubicBezTo>
                  <a:cubicBezTo>
                    <a:pt x="1" y="16"/>
                    <a:pt x="1" y="16"/>
                    <a:pt x="1" y="17"/>
                  </a:cubicBezTo>
                  <a:cubicBezTo>
                    <a:pt x="2" y="22"/>
                    <a:pt x="4"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6" y="1"/>
                    <a:pt x="17" y="1"/>
                  </a:cubicBezTo>
                  <a:cubicBezTo>
                    <a:pt x="17" y="1"/>
                    <a:pt x="18" y="1"/>
                    <a:pt x="18" y="2"/>
                  </a:cubicBezTo>
                  <a:cubicBezTo>
                    <a:pt x="18" y="9"/>
                    <a:pt x="18" y="9"/>
                    <a:pt x="18" y="9"/>
                  </a:cubicBezTo>
                  <a:cubicBezTo>
                    <a:pt x="18" y="10"/>
                    <a:pt x="18" y="10"/>
                    <a:pt x="18" y="10"/>
                  </a:cubicBezTo>
                  <a:cubicBezTo>
                    <a:pt x="18" y="10"/>
                    <a:pt x="18" y="11"/>
                    <a:pt x="18" y="11"/>
                  </a:cubicBezTo>
                  <a:cubicBezTo>
                    <a:pt x="18" y="11"/>
                    <a:pt x="18" y="10"/>
                    <a:pt x="17" y="8"/>
                  </a:cubicBezTo>
                  <a:cubicBezTo>
                    <a:pt x="15" y="4"/>
                    <a:pt x="13" y="2"/>
                    <a:pt x="9" y="2"/>
                  </a:cubicBezTo>
                  <a:cubicBezTo>
                    <a:pt x="6" y="2"/>
                    <a:pt x="4" y="3"/>
                    <a:pt x="4" y="6"/>
                  </a:cubicBezTo>
                  <a:cubicBezTo>
                    <a:pt x="4" y="12"/>
                    <a:pt x="20" y="8"/>
                    <a:pt x="20" y="19"/>
                  </a:cubicBezTo>
                  <a:cubicBezTo>
                    <a:pt x="20" y="24"/>
                    <a:pt x="15" y="28"/>
                    <a:pt x="9" y="28"/>
                  </a:cubicBezTo>
                  <a:cubicBezTo>
                    <a:pt x="6" y="28"/>
                    <a:pt x="4" y="26"/>
                    <a:pt x="2" y="26"/>
                  </a:cubicBezTo>
                  <a:cubicBezTo>
                    <a:pt x="1" y="26"/>
                    <a:pt x="1" y="28"/>
                    <a:pt x="0"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Freeform 6">
              <a:extLst>
                <a:ext uri="{FF2B5EF4-FFF2-40B4-BE49-F238E27FC236}">
                  <a16:creationId xmlns:a16="http://schemas.microsoft.com/office/drawing/2014/main" id="{7B7972CE-A095-4C47-86B6-0FA87AC011C6}"/>
                </a:ext>
              </a:extLst>
            </p:cNvPr>
            <p:cNvSpPr/>
            <p:nvPr/>
          </p:nvSpPr>
          <p:spPr bwMode="auto">
            <a:xfrm>
              <a:off x="7435850" y="5832475"/>
              <a:ext cx="134938" cy="153988"/>
            </a:xfrm>
            <a:custGeom>
              <a:avLst/>
              <a:gdLst>
                <a:gd name="T0" fmla="*/ 4 w 24"/>
                <a:gd name="T1" fmla="*/ 3 h 27"/>
                <a:gd name="T2" fmla="*/ 0 w 24"/>
                <a:gd name="T3" fmla="*/ 0 h 27"/>
                <a:gd name="T4" fmla="*/ 1 w 24"/>
                <a:gd name="T5" fmla="*/ 0 h 27"/>
                <a:gd name="T6" fmla="*/ 7 w 24"/>
                <a:gd name="T7" fmla="*/ 0 h 27"/>
                <a:gd name="T8" fmla="*/ 21 w 24"/>
                <a:gd name="T9" fmla="*/ 0 h 27"/>
                <a:gd name="T10" fmla="*/ 23 w 24"/>
                <a:gd name="T11" fmla="*/ 7 h 27"/>
                <a:gd name="T12" fmla="*/ 23 w 24"/>
                <a:gd name="T13" fmla="*/ 8 h 27"/>
                <a:gd name="T14" fmla="*/ 22 w 24"/>
                <a:gd name="T15" fmla="*/ 9 h 27"/>
                <a:gd name="T16" fmla="*/ 21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6 w 24"/>
                <a:gd name="T29" fmla="*/ 6 h 27"/>
                <a:gd name="T30" fmla="*/ 16 w 24"/>
                <a:gd name="T31" fmla="*/ 7 h 27"/>
                <a:gd name="T32" fmla="*/ 16 w 24"/>
                <a:gd name="T33" fmla="*/ 19 h 27"/>
                <a:gd name="T34" fmla="*/ 16 w 24"/>
                <a:gd name="T35" fmla="*/ 19 h 27"/>
                <a:gd name="T36" fmla="*/ 15 w 24"/>
                <a:gd name="T37" fmla="*/ 18 h 27"/>
                <a:gd name="T38" fmla="*/ 10 w 24"/>
                <a:gd name="T39" fmla="*/ 14 h 27"/>
                <a:gd name="T40" fmla="*/ 9 w 24"/>
                <a:gd name="T41" fmla="*/ 14 h 27"/>
                <a:gd name="T42" fmla="*/ 9 w 24"/>
                <a:gd name="T43" fmla="*/ 23 h 27"/>
                <a:gd name="T44" fmla="*/ 13 w 24"/>
                <a:gd name="T45" fmla="*/ 25 h 27"/>
                <a:gd name="T46" fmla="*/ 23 w 24"/>
                <a:gd name="T47" fmla="*/ 17 h 27"/>
                <a:gd name="T48" fmla="*/ 24 w 24"/>
                <a:gd name="T49" fmla="*/ 16 h 27"/>
                <a:gd name="T50" fmla="*/ 24 w 24"/>
                <a:gd name="T51" fmla="*/ 17 h 27"/>
                <a:gd name="T52" fmla="*/ 24 w 24"/>
                <a:gd name="T53" fmla="*/ 18 h 27"/>
                <a:gd name="T54" fmla="*/ 22 w 24"/>
                <a:gd name="T55" fmla="*/ 27 h 27"/>
                <a:gd name="T56" fmla="*/ 7 w 24"/>
                <a:gd name="T57" fmla="*/ 27 h 27"/>
                <a:gd name="T58" fmla="*/ 1 w 24"/>
                <a:gd name="T59" fmla="*/ 27 h 27"/>
                <a:gd name="T60" fmla="*/ 0 w 24"/>
                <a:gd name="T61" fmla="*/ 26 h 27"/>
                <a:gd name="T62" fmla="*/ 4 w 24"/>
                <a:gd name="T63" fmla="*/ 23 h 27"/>
                <a:gd name="T64" fmla="*/ 4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4" y="3"/>
                  </a:moveTo>
                  <a:cubicBezTo>
                    <a:pt x="4" y="0"/>
                    <a:pt x="0" y="1"/>
                    <a:pt x="0" y="0"/>
                  </a:cubicBezTo>
                  <a:cubicBezTo>
                    <a:pt x="0" y="0"/>
                    <a:pt x="0" y="0"/>
                    <a:pt x="1" y="0"/>
                  </a:cubicBezTo>
                  <a:cubicBezTo>
                    <a:pt x="3" y="0"/>
                    <a:pt x="5" y="0"/>
                    <a:pt x="7" y="0"/>
                  </a:cubicBezTo>
                  <a:cubicBezTo>
                    <a:pt x="11" y="0"/>
                    <a:pt x="16" y="0"/>
                    <a:pt x="21" y="0"/>
                  </a:cubicBezTo>
                  <a:cubicBezTo>
                    <a:pt x="23" y="7"/>
                    <a:pt x="23" y="7"/>
                    <a:pt x="23" y="7"/>
                  </a:cubicBezTo>
                  <a:cubicBezTo>
                    <a:pt x="23" y="8"/>
                    <a:pt x="23" y="8"/>
                    <a:pt x="23" y="8"/>
                  </a:cubicBezTo>
                  <a:cubicBezTo>
                    <a:pt x="23" y="9"/>
                    <a:pt x="23" y="9"/>
                    <a:pt x="22" y="9"/>
                  </a:cubicBezTo>
                  <a:cubicBezTo>
                    <a:pt x="22" y="9"/>
                    <a:pt x="22" y="8"/>
                    <a:pt x="21" y="5"/>
                  </a:cubicBezTo>
                  <a:cubicBezTo>
                    <a:pt x="19"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6" y="6"/>
                  </a:cubicBezTo>
                  <a:cubicBezTo>
                    <a:pt x="16" y="6"/>
                    <a:pt x="16" y="6"/>
                    <a:pt x="16" y="7"/>
                  </a:cubicBezTo>
                  <a:cubicBezTo>
                    <a:pt x="16" y="19"/>
                    <a:pt x="16" y="19"/>
                    <a:pt x="16" y="19"/>
                  </a:cubicBezTo>
                  <a:cubicBezTo>
                    <a:pt x="16" y="19"/>
                    <a:pt x="16" y="19"/>
                    <a:pt x="16"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1" y="25"/>
                    <a:pt x="13" y="25"/>
                  </a:cubicBezTo>
                  <a:cubicBezTo>
                    <a:pt x="18" y="25"/>
                    <a:pt x="22" y="21"/>
                    <a:pt x="23" y="17"/>
                  </a:cubicBezTo>
                  <a:cubicBezTo>
                    <a:pt x="24" y="17"/>
                    <a:pt x="24" y="16"/>
                    <a:pt x="24" y="16"/>
                  </a:cubicBezTo>
                  <a:cubicBezTo>
                    <a:pt x="24" y="16"/>
                    <a:pt x="24" y="17"/>
                    <a:pt x="24" y="17"/>
                  </a:cubicBezTo>
                  <a:cubicBezTo>
                    <a:pt x="24" y="17"/>
                    <a:pt x="24" y="18"/>
                    <a:pt x="24" y="18"/>
                  </a:cubicBezTo>
                  <a:cubicBezTo>
                    <a:pt x="22" y="27"/>
                    <a:pt x="22" y="27"/>
                    <a:pt x="22" y="27"/>
                  </a:cubicBezTo>
                  <a:cubicBezTo>
                    <a:pt x="17" y="27"/>
                    <a:pt x="12" y="27"/>
                    <a:pt x="7" y="27"/>
                  </a:cubicBezTo>
                  <a:cubicBezTo>
                    <a:pt x="5" y="27"/>
                    <a:pt x="3" y="27"/>
                    <a:pt x="1" y="27"/>
                  </a:cubicBezTo>
                  <a:cubicBezTo>
                    <a:pt x="0" y="27"/>
                    <a:pt x="0" y="27"/>
                    <a:pt x="0" y="26"/>
                  </a:cubicBezTo>
                  <a:cubicBezTo>
                    <a:pt x="0" y="25"/>
                    <a:pt x="4" y="27"/>
                    <a:pt x="4" y="23"/>
                  </a:cubicBezTo>
                  <a:lnTo>
                    <a:pt x="4"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Freeform 7">
              <a:extLst>
                <a:ext uri="{FF2B5EF4-FFF2-40B4-BE49-F238E27FC236}">
                  <a16:creationId xmlns:a16="http://schemas.microsoft.com/office/drawing/2014/main" id="{78CBD5D7-7683-4EA4-83C2-E4F303600CC3}"/>
                </a:ext>
              </a:extLst>
            </p:cNvPr>
            <p:cNvSpPr/>
            <p:nvPr/>
          </p:nvSpPr>
          <p:spPr bwMode="auto">
            <a:xfrm>
              <a:off x="6999288" y="5832475"/>
              <a:ext cx="161925" cy="158750"/>
            </a:xfrm>
            <a:custGeom>
              <a:avLst/>
              <a:gdLst>
                <a:gd name="T0" fmla="*/ 7 w 29"/>
                <a:gd name="T1" fmla="*/ 21 h 28"/>
                <a:gd name="T2" fmla="*/ 9 w 29"/>
                <a:gd name="T3" fmla="*/ 26 h 28"/>
                <a:gd name="T4" fmla="*/ 11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7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9" y="26"/>
                  </a:cubicBezTo>
                  <a:cubicBezTo>
                    <a:pt x="10" y="26"/>
                    <a:pt x="11" y="26"/>
                    <a:pt x="11" y="26"/>
                  </a:cubicBezTo>
                  <a:cubicBezTo>
                    <a:pt x="11" y="27"/>
                    <a:pt x="11" y="27"/>
                    <a:pt x="11" y="27"/>
                  </a:cubicBezTo>
                  <a:cubicBezTo>
                    <a:pt x="10" y="27"/>
                    <a:pt x="7" y="27"/>
                    <a:pt x="5" y="27"/>
                  </a:cubicBezTo>
                  <a:cubicBezTo>
                    <a:pt x="3" y="27"/>
                    <a:pt x="2" y="27"/>
                    <a:pt x="1" y="27"/>
                  </a:cubicBezTo>
                  <a:cubicBezTo>
                    <a:pt x="0" y="27"/>
                    <a:pt x="0" y="27"/>
                    <a:pt x="0" y="26"/>
                  </a:cubicBezTo>
                  <a:cubicBezTo>
                    <a:pt x="0" y="26"/>
                    <a:pt x="1" y="26"/>
                    <a:pt x="2" y="26"/>
                  </a:cubicBezTo>
                  <a:cubicBezTo>
                    <a:pt x="3"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7" y="1"/>
                    <a:pt x="17" y="0"/>
                  </a:cubicBezTo>
                  <a:cubicBezTo>
                    <a:pt x="17" y="0"/>
                    <a:pt x="18" y="0"/>
                    <a:pt x="18" y="0"/>
                  </a:cubicBezTo>
                  <a:cubicBezTo>
                    <a:pt x="19" y="0"/>
                    <a:pt x="22" y="0"/>
                    <a:pt x="24" y="0"/>
                  </a:cubicBezTo>
                  <a:cubicBezTo>
                    <a:pt x="25"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Freeform 8">
              <a:extLst>
                <a:ext uri="{FF2B5EF4-FFF2-40B4-BE49-F238E27FC236}">
                  <a16:creationId xmlns:a16="http://schemas.microsoft.com/office/drawing/2014/main" id="{B044C5F5-F7A2-4351-BF3B-E10C23F98A8F}"/>
                </a:ext>
              </a:extLst>
            </p:cNvPr>
            <p:cNvSpPr/>
            <p:nvPr/>
          </p:nvSpPr>
          <p:spPr bwMode="auto">
            <a:xfrm>
              <a:off x="5440363" y="5827713"/>
              <a:ext cx="112713" cy="158750"/>
            </a:xfrm>
            <a:custGeom>
              <a:avLst/>
              <a:gdLst>
                <a:gd name="T0" fmla="*/ 0 w 20"/>
                <a:gd name="T1" fmla="*/ 16 h 28"/>
                <a:gd name="T2" fmla="*/ 1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9 w 20"/>
                <a:gd name="T21" fmla="*/ 9 h 28"/>
                <a:gd name="T22" fmla="*/ 19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10 w 20"/>
                <a:gd name="T35" fmla="*/ 28 h 28"/>
                <a:gd name="T36" fmla="*/ 2 w 20"/>
                <a:gd name="T37" fmla="*/ 26 h 28"/>
                <a:gd name="T38" fmla="*/ 1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1" y="16"/>
                  </a:cubicBezTo>
                  <a:cubicBezTo>
                    <a:pt x="1" y="16"/>
                    <a:pt x="1" y="16"/>
                    <a:pt x="1" y="17"/>
                  </a:cubicBezTo>
                  <a:cubicBezTo>
                    <a:pt x="2" y="22"/>
                    <a:pt x="5"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7" y="1"/>
                    <a:pt x="17" y="1"/>
                  </a:cubicBezTo>
                  <a:cubicBezTo>
                    <a:pt x="18" y="1"/>
                    <a:pt x="18" y="1"/>
                    <a:pt x="18" y="2"/>
                  </a:cubicBezTo>
                  <a:cubicBezTo>
                    <a:pt x="19" y="9"/>
                    <a:pt x="19" y="9"/>
                    <a:pt x="19" y="9"/>
                  </a:cubicBezTo>
                  <a:cubicBezTo>
                    <a:pt x="19" y="10"/>
                    <a:pt x="19" y="10"/>
                    <a:pt x="19" y="10"/>
                  </a:cubicBezTo>
                  <a:cubicBezTo>
                    <a:pt x="19" y="10"/>
                    <a:pt x="19" y="11"/>
                    <a:pt x="18" y="11"/>
                  </a:cubicBezTo>
                  <a:cubicBezTo>
                    <a:pt x="18" y="11"/>
                    <a:pt x="18" y="10"/>
                    <a:pt x="17" y="8"/>
                  </a:cubicBezTo>
                  <a:cubicBezTo>
                    <a:pt x="16" y="4"/>
                    <a:pt x="13" y="2"/>
                    <a:pt x="9" y="2"/>
                  </a:cubicBezTo>
                  <a:cubicBezTo>
                    <a:pt x="7" y="2"/>
                    <a:pt x="4" y="3"/>
                    <a:pt x="4" y="6"/>
                  </a:cubicBezTo>
                  <a:cubicBezTo>
                    <a:pt x="4" y="12"/>
                    <a:pt x="20" y="8"/>
                    <a:pt x="20" y="19"/>
                  </a:cubicBezTo>
                  <a:cubicBezTo>
                    <a:pt x="20" y="24"/>
                    <a:pt x="16" y="28"/>
                    <a:pt x="10" y="28"/>
                  </a:cubicBezTo>
                  <a:cubicBezTo>
                    <a:pt x="6" y="28"/>
                    <a:pt x="4" y="26"/>
                    <a:pt x="2" y="26"/>
                  </a:cubicBezTo>
                  <a:cubicBezTo>
                    <a:pt x="1" y="26"/>
                    <a:pt x="1" y="28"/>
                    <a:pt x="1"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Freeform 9">
              <a:extLst>
                <a:ext uri="{FF2B5EF4-FFF2-40B4-BE49-F238E27FC236}">
                  <a16:creationId xmlns:a16="http://schemas.microsoft.com/office/drawing/2014/main" id="{CEE6B366-508D-4E07-9848-1A0ACECC4185}"/>
                </a:ext>
              </a:extLst>
            </p:cNvPr>
            <p:cNvSpPr/>
            <p:nvPr/>
          </p:nvSpPr>
          <p:spPr bwMode="auto">
            <a:xfrm>
              <a:off x="5580063"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Freeform 10">
              <a:extLst>
                <a:ext uri="{FF2B5EF4-FFF2-40B4-BE49-F238E27FC236}">
                  <a16:creationId xmlns:a16="http://schemas.microsoft.com/office/drawing/2014/main" id="{E562A2EE-03D2-4489-8DC1-0C92EB36ADE1}"/>
                </a:ext>
              </a:extLst>
            </p:cNvPr>
            <p:cNvSpPr/>
            <p:nvPr/>
          </p:nvSpPr>
          <p:spPr bwMode="auto">
            <a:xfrm>
              <a:off x="5765800" y="5832475"/>
              <a:ext cx="134938"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Freeform 11">
              <a:extLst>
                <a:ext uri="{FF2B5EF4-FFF2-40B4-BE49-F238E27FC236}">
                  <a16:creationId xmlns:a16="http://schemas.microsoft.com/office/drawing/2014/main" id="{AE3FD0E8-423F-4455-91D4-554B6CD92D83}"/>
                </a:ext>
              </a:extLst>
            </p:cNvPr>
            <p:cNvSpPr/>
            <p:nvPr/>
          </p:nvSpPr>
          <p:spPr bwMode="auto">
            <a:xfrm>
              <a:off x="5916613"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 name="Freeform 12">
              <a:extLst>
                <a:ext uri="{FF2B5EF4-FFF2-40B4-BE49-F238E27FC236}">
                  <a16:creationId xmlns:a16="http://schemas.microsoft.com/office/drawing/2014/main" id="{19435E1C-F6A2-4616-A380-D6F29286F704}"/>
                </a:ext>
              </a:extLst>
            </p:cNvPr>
            <p:cNvSpPr/>
            <p:nvPr/>
          </p:nvSpPr>
          <p:spPr bwMode="auto">
            <a:xfrm>
              <a:off x="6096000" y="5832475"/>
              <a:ext cx="119063" cy="153988"/>
            </a:xfrm>
            <a:custGeom>
              <a:avLst/>
              <a:gdLst>
                <a:gd name="T0" fmla="*/ 10 w 21"/>
                <a:gd name="T1" fmla="*/ 25 h 27"/>
                <a:gd name="T2" fmla="*/ 19 w 21"/>
                <a:gd name="T3" fmla="*/ 21 h 27"/>
                <a:gd name="T4" fmla="*/ 21 w 21"/>
                <a:gd name="T5" fmla="*/ 16 h 27"/>
                <a:gd name="T6" fmla="*/ 21 w 21"/>
                <a:gd name="T7" fmla="*/ 17 h 27"/>
                <a:gd name="T8" fmla="*/ 21 w 21"/>
                <a:gd name="T9" fmla="*/ 18 h 27"/>
                <a:gd name="T10" fmla="*/ 19 w 21"/>
                <a:gd name="T11" fmla="*/ 27 h 27"/>
                <a:gd name="T12" fmla="*/ 10 w 21"/>
                <a:gd name="T13" fmla="*/ 27 h 27"/>
                <a:gd name="T14" fmla="*/ 0 w 21"/>
                <a:gd name="T15" fmla="*/ 27 h 27"/>
                <a:gd name="T16" fmla="*/ 0 w 21"/>
                <a:gd name="T17" fmla="*/ 26 h 27"/>
                <a:gd name="T18" fmla="*/ 0 w 21"/>
                <a:gd name="T19" fmla="*/ 25 h 27"/>
                <a:gd name="T20" fmla="*/ 14 w 21"/>
                <a:gd name="T21" fmla="*/ 2 h 27"/>
                <a:gd name="T22" fmla="*/ 12 w 21"/>
                <a:gd name="T23" fmla="*/ 2 h 27"/>
                <a:gd name="T24" fmla="*/ 3 w 21"/>
                <a:gd name="T25" fmla="*/ 5 h 27"/>
                <a:gd name="T26" fmla="*/ 1 w 21"/>
                <a:gd name="T27" fmla="*/ 9 h 27"/>
                <a:gd name="T28" fmla="*/ 1 w 21"/>
                <a:gd name="T29" fmla="*/ 8 h 27"/>
                <a:gd name="T30" fmla="*/ 1 w 21"/>
                <a:gd name="T31" fmla="*/ 7 h 27"/>
                <a:gd name="T32" fmla="*/ 3 w 21"/>
                <a:gd name="T33" fmla="*/ 0 h 27"/>
                <a:gd name="T34" fmla="*/ 12 w 21"/>
                <a:gd name="T35" fmla="*/ 0 h 27"/>
                <a:gd name="T36" fmla="*/ 21 w 21"/>
                <a:gd name="T37" fmla="*/ 0 h 27"/>
                <a:gd name="T38" fmla="*/ 21 w 21"/>
                <a:gd name="T39" fmla="*/ 0 h 27"/>
                <a:gd name="T40" fmla="*/ 21 w 21"/>
                <a:gd name="T41" fmla="*/ 1 h 27"/>
                <a:gd name="T42" fmla="*/ 7 w 21"/>
                <a:gd name="T43" fmla="*/ 25 h 27"/>
                <a:gd name="T44" fmla="*/ 10 w 21"/>
                <a:gd name="T4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7">
                  <a:moveTo>
                    <a:pt x="10" y="25"/>
                  </a:moveTo>
                  <a:cubicBezTo>
                    <a:pt x="16" y="25"/>
                    <a:pt x="17" y="24"/>
                    <a:pt x="19" y="21"/>
                  </a:cubicBezTo>
                  <a:cubicBezTo>
                    <a:pt x="20" y="19"/>
                    <a:pt x="20" y="16"/>
                    <a:pt x="21" y="16"/>
                  </a:cubicBezTo>
                  <a:cubicBezTo>
                    <a:pt x="21" y="16"/>
                    <a:pt x="21" y="17"/>
                    <a:pt x="21" y="17"/>
                  </a:cubicBezTo>
                  <a:cubicBezTo>
                    <a:pt x="21" y="17"/>
                    <a:pt x="21" y="18"/>
                    <a:pt x="21" y="18"/>
                  </a:cubicBezTo>
                  <a:cubicBezTo>
                    <a:pt x="19" y="27"/>
                    <a:pt x="19" y="27"/>
                    <a:pt x="19" y="27"/>
                  </a:cubicBezTo>
                  <a:cubicBezTo>
                    <a:pt x="16" y="27"/>
                    <a:pt x="13" y="27"/>
                    <a:pt x="10" y="27"/>
                  </a:cubicBezTo>
                  <a:cubicBezTo>
                    <a:pt x="7" y="27"/>
                    <a:pt x="3" y="27"/>
                    <a:pt x="0" y="27"/>
                  </a:cubicBezTo>
                  <a:cubicBezTo>
                    <a:pt x="0" y="27"/>
                    <a:pt x="0" y="27"/>
                    <a:pt x="0" y="26"/>
                  </a:cubicBezTo>
                  <a:cubicBezTo>
                    <a:pt x="0" y="26"/>
                    <a:pt x="0" y="26"/>
                    <a:pt x="0" y="25"/>
                  </a:cubicBezTo>
                  <a:cubicBezTo>
                    <a:pt x="14" y="2"/>
                    <a:pt x="14" y="2"/>
                    <a:pt x="14" y="2"/>
                  </a:cubicBezTo>
                  <a:cubicBezTo>
                    <a:pt x="12" y="2"/>
                    <a:pt x="12" y="2"/>
                    <a:pt x="12" y="2"/>
                  </a:cubicBezTo>
                  <a:cubicBezTo>
                    <a:pt x="6" y="2"/>
                    <a:pt x="5" y="2"/>
                    <a:pt x="3" y="5"/>
                  </a:cubicBezTo>
                  <a:cubicBezTo>
                    <a:pt x="2" y="8"/>
                    <a:pt x="2" y="9"/>
                    <a:pt x="1" y="9"/>
                  </a:cubicBezTo>
                  <a:cubicBezTo>
                    <a:pt x="1" y="9"/>
                    <a:pt x="1" y="9"/>
                    <a:pt x="1" y="8"/>
                  </a:cubicBezTo>
                  <a:cubicBezTo>
                    <a:pt x="1" y="8"/>
                    <a:pt x="1" y="8"/>
                    <a:pt x="1" y="7"/>
                  </a:cubicBezTo>
                  <a:cubicBezTo>
                    <a:pt x="3" y="0"/>
                    <a:pt x="3" y="0"/>
                    <a:pt x="3" y="0"/>
                  </a:cubicBezTo>
                  <a:cubicBezTo>
                    <a:pt x="6" y="0"/>
                    <a:pt x="9" y="0"/>
                    <a:pt x="12" y="0"/>
                  </a:cubicBezTo>
                  <a:cubicBezTo>
                    <a:pt x="15" y="0"/>
                    <a:pt x="18" y="0"/>
                    <a:pt x="21" y="0"/>
                  </a:cubicBezTo>
                  <a:cubicBezTo>
                    <a:pt x="21" y="0"/>
                    <a:pt x="21" y="0"/>
                    <a:pt x="21" y="0"/>
                  </a:cubicBezTo>
                  <a:cubicBezTo>
                    <a:pt x="21" y="0"/>
                    <a:pt x="21" y="1"/>
                    <a:pt x="21" y="1"/>
                  </a:cubicBezTo>
                  <a:cubicBezTo>
                    <a:pt x="7" y="25"/>
                    <a:pt x="7" y="25"/>
                    <a:pt x="7" y="25"/>
                  </a:cubicBezTo>
                  <a:lnTo>
                    <a:pt x="10" y="2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 name="Freeform 13">
              <a:extLst>
                <a:ext uri="{FF2B5EF4-FFF2-40B4-BE49-F238E27FC236}">
                  <a16:creationId xmlns:a16="http://schemas.microsoft.com/office/drawing/2014/main" id="{943F0611-C1CC-4B0D-9027-7BE3C12FDC9B}"/>
                </a:ext>
              </a:extLst>
            </p:cNvPr>
            <p:cNvSpPr/>
            <p:nvPr/>
          </p:nvSpPr>
          <p:spPr bwMode="auto">
            <a:xfrm>
              <a:off x="6837363" y="5832475"/>
              <a:ext cx="150813" cy="153988"/>
            </a:xfrm>
            <a:custGeom>
              <a:avLst/>
              <a:gdLst>
                <a:gd name="T0" fmla="*/ 23 w 27"/>
                <a:gd name="T1" fmla="*/ 18 h 27"/>
                <a:gd name="T2" fmla="*/ 13 w 27"/>
                <a:gd name="T3" fmla="*/ 27 h 27"/>
                <a:gd name="T4" fmla="*/ 3 w 27"/>
                <a:gd name="T5" fmla="*/ 20 h 27"/>
                <a:gd name="T6" fmla="*/ 3 w 27"/>
                <a:gd name="T7" fmla="*/ 3 h 27"/>
                <a:gd name="T8" fmla="*/ 0 w 27"/>
                <a:gd name="T9" fmla="*/ 0 h 27"/>
                <a:gd name="T10" fmla="*/ 1 w 27"/>
                <a:gd name="T11" fmla="*/ 0 h 27"/>
                <a:gd name="T12" fmla="*/ 6 w 27"/>
                <a:gd name="T13" fmla="*/ 0 h 27"/>
                <a:gd name="T14" fmla="*/ 12 w 27"/>
                <a:gd name="T15" fmla="*/ 0 h 27"/>
                <a:gd name="T16" fmla="*/ 12 w 27"/>
                <a:gd name="T17" fmla="*/ 0 h 27"/>
                <a:gd name="T18" fmla="*/ 9 w 27"/>
                <a:gd name="T19" fmla="*/ 3 h 27"/>
                <a:gd name="T20" fmla="*/ 9 w 27"/>
                <a:gd name="T21" fmla="*/ 20 h 27"/>
                <a:gd name="T22" fmla="*/ 15 w 27"/>
                <a:gd name="T23" fmla="*/ 26 h 27"/>
                <a:gd name="T24" fmla="*/ 21 w 27"/>
                <a:gd name="T25" fmla="*/ 19 h 27"/>
                <a:gd name="T26" fmla="*/ 21 w 27"/>
                <a:gd name="T27" fmla="*/ 7 h 27"/>
                <a:gd name="T28" fmla="*/ 18 w 27"/>
                <a:gd name="T29" fmla="*/ 1 h 27"/>
                <a:gd name="T30" fmla="*/ 17 w 27"/>
                <a:gd name="T31" fmla="*/ 0 h 27"/>
                <a:gd name="T32" fmla="*/ 17 w 27"/>
                <a:gd name="T33" fmla="*/ 0 h 27"/>
                <a:gd name="T34" fmla="*/ 22 w 27"/>
                <a:gd name="T35" fmla="*/ 0 h 27"/>
                <a:gd name="T36" fmla="*/ 27 w 27"/>
                <a:gd name="T37" fmla="*/ 0 h 27"/>
                <a:gd name="T38" fmla="*/ 27 w 27"/>
                <a:gd name="T39" fmla="*/ 0 h 27"/>
                <a:gd name="T40" fmla="*/ 26 w 27"/>
                <a:gd name="T41" fmla="*/ 1 h 27"/>
                <a:gd name="T42" fmla="*/ 23 w 27"/>
                <a:gd name="T43" fmla="*/ 7 h 27"/>
                <a:gd name="T44" fmla="*/ 23 w 27"/>
                <a:gd name="T45"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27">
                  <a:moveTo>
                    <a:pt x="23" y="18"/>
                  </a:moveTo>
                  <a:cubicBezTo>
                    <a:pt x="23" y="24"/>
                    <a:pt x="19" y="27"/>
                    <a:pt x="13" y="27"/>
                  </a:cubicBezTo>
                  <a:cubicBezTo>
                    <a:pt x="7" y="27"/>
                    <a:pt x="3" y="24"/>
                    <a:pt x="3" y="20"/>
                  </a:cubicBezTo>
                  <a:cubicBezTo>
                    <a:pt x="3" y="3"/>
                    <a:pt x="3" y="3"/>
                    <a:pt x="3" y="3"/>
                  </a:cubicBez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20"/>
                    <a:pt x="9" y="20"/>
                    <a:pt x="9" y="20"/>
                  </a:cubicBezTo>
                  <a:cubicBezTo>
                    <a:pt x="9" y="24"/>
                    <a:pt x="12" y="26"/>
                    <a:pt x="15" y="26"/>
                  </a:cubicBezTo>
                  <a:cubicBezTo>
                    <a:pt x="18" y="26"/>
                    <a:pt x="21" y="23"/>
                    <a:pt x="21" y="19"/>
                  </a:cubicBezTo>
                  <a:cubicBezTo>
                    <a:pt x="21" y="7"/>
                    <a:pt x="21" y="7"/>
                    <a:pt x="21" y="7"/>
                  </a:cubicBezTo>
                  <a:cubicBezTo>
                    <a:pt x="21" y="3"/>
                    <a:pt x="20" y="1"/>
                    <a:pt x="18" y="1"/>
                  </a:cubicBezTo>
                  <a:cubicBezTo>
                    <a:pt x="17" y="1"/>
                    <a:pt x="17" y="1"/>
                    <a:pt x="17" y="0"/>
                  </a:cubicBezTo>
                  <a:cubicBezTo>
                    <a:pt x="17" y="0"/>
                    <a:pt x="17" y="0"/>
                    <a:pt x="17" y="0"/>
                  </a:cubicBezTo>
                  <a:cubicBezTo>
                    <a:pt x="18" y="0"/>
                    <a:pt x="21" y="0"/>
                    <a:pt x="22" y="0"/>
                  </a:cubicBezTo>
                  <a:cubicBezTo>
                    <a:pt x="24" y="0"/>
                    <a:pt x="26" y="0"/>
                    <a:pt x="27" y="0"/>
                  </a:cubicBezTo>
                  <a:cubicBezTo>
                    <a:pt x="27" y="0"/>
                    <a:pt x="27" y="0"/>
                    <a:pt x="27" y="0"/>
                  </a:cubicBezTo>
                  <a:cubicBezTo>
                    <a:pt x="27" y="1"/>
                    <a:pt x="26" y="1"/>
                    <a:pt x="26" y="1"/>
                  </a:cubicBezTo>
                  <a:cubicBezTo>
                    <a:pt x="24" y="1"/>
                    <a:pt x="23" y="3"/>
                    <a:pt x="23" y="7"/>
                  </a:cubicBezTo>
                  <a:lnTo>
                    <a:pt x="23" y="1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 name="Freeform 14">
              <a:extLst>
                <a:ext uri="{FF2B5EF4-FFF2-40B4-BE49-F238E27FC236}">
                  <a16:creationId xmlns:a16="http://schemas.microsoft.com/office/drawing/2014/main" id="{B7E201B5-E735-468E-A451-12F0360976F5}"/>
                </a:ext>
              </a:extLst>
            </p:cNvPr>
            <p:cNvSpPr/>
            <p:nvPr/>
          </p:nvSpPr>
          <p:spPr bwMode="auto">
            <a:xfrm>
              <a:off x="7178675" y="5832475"/>
              <a:ext cx="73025" cy="153988"/>
            </a:xfrm>
            <a:custGeom>
              <a:avLst/>
              <a:gdLst>
                <a:gd name="T0" fmla="*/ 3 w 13"/>
                <a:gd name="T1" fmla="*/ 3 h 27"/>
                <a:gd name="T2" fmla="*/ 0 w 13"/>
                <a:gd name="T3" fmla="*/ 0 h 27"/>
                <a:gd name="T4" fmla="*/ 1 w 13"/>
                <a:gd name="T5" fmla="*/ 0 h 27"/>
                <a:gd name="T6" fmla="*/ 6 w 13"/>
                <a:gd name="T7" fmla="*/ 0 h 27"/>
                <a:gd name="T8" fmla="*/ 12 w 13"/>
                <a:gd name="T9" fmla="*/ 0 h 27"/>
                <a:gd name="T10" fmla="*/ 13 w 13"/>
                <a:gd name="T11" fmla="*/ 0 h 27"/>
                <a:gd name="T12" fmla="*/ 9 w 13"/>
                <a:gd name="T13" fmla="*/ 3 h 27"/>
                <a:gd name="T14" fmla="*/ 9 w 13"/>
                <a:gd name="T15" fmla="*/ 23 h 27"/>
                <a:gd name="T16" fmla="*/ 13 w 13"/>
                <a:gd name="T17" fmla="*/ 26 h 27"/>
                <a:gd name="T18" fmla="*/ 12 w 13"/>
                <a:gd name="T19" fmla="*/ 27 h 27"/>
                <a:gd name="T20" fmla="*/ 6 w 13"/>
                <a:gd name="T21" fmla="*/ 27 h 27"/>
                <a:gd name="T22" fmla="*/ 1 w 13"/>
                <a:gd name="T23" fmla="*/ 27 h 27"/>
                <a:gd name="T24" fmla="*/ 0 w 13"/>
                <a:gd name="T25" fmla="*/ 26 h 27"/>
                <a:gd name="T26" fmla="*/ 3 w 13"/>
                <a:gd name="T27" fmla="*/ 23 h 27"/>
                <a:gd name="T28" fmla="*/ 3 w 13"/>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27">
                  <a:moveTo>
                    <a:pt x="3" y="3"/>
                  </a:moveTo>
                  <a:cubicBezTo>
                    <a:pt x="3" y="0"/>
                    <a:pt x="0" y="1"/>
                    <a:pt x="0" y="0"/>
                  </a:cubicBezTo>
                  <a:cubicBezTo>
                    <a:pt x="0" y="0"/>
                    <a:pt x="0" y="0"/>
                    <a:pt x="1" y="0"/>
                  </a:cubicBezTo>
                  <a:cubicBezTo>
                    <a:pt x="3" y="0"/>
                    <a:pt x="5" y="0"/>
                    <a:pt x="6" y="0"/>
                  </a:cubicBezTo>
                  <a:cubicBezTo>
                    <a:pt x="8" y="0"/>
                    <a:pt x="10" y="0"/>
                    <a:pt x="12" y="0"/>
                  </a:cubicBezTo>
                  <a:cubicBezTo>
                    <a:pt x="12" y="0"/>
                    <a:pt x="13" y="0"/>
                    <a:pt x="13" y="0"/>
                  </a:cubicBezTo>
                  <a:cubicBezTo>
                    <a:pt x="13" y="1"/>
                    <a:pt x="9" y="0"/>
                    <a:pt x="9" y="3"/>
                  </a:cubicBezTo>
                  <a:cubicBezTo>
                    <a:pt x="9" y="23"/>
                    <a:pt x="9" y="23"/>
                    <a:pt x="9" y="23"/>
                  </a:cubicBezTo>
                  <a:cubicBezTo>
                    <a:pt x="9" y="27"/>
                    <a:pt x="13" y="25"/>
                    <a:pt x="13" y="26"/>
                  </a:cubicBezTo>
                  <a:cubicBezTo>
                    <a:pt x="13"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Freeform 15">
              <a:extLst>
                <a:ext uri="{FF2B5EF4-FFF2-40B4-BE49-F238E27FC236}">
                  <a16:creationId xmlns:a16="http://schemas.microsoft.com/office/drawing/2014/main" id="{22BB9561-88FC-4FC9-B8B5-9D99EFC693DC}"/>
                </a:ext>
              </a:extLst>
            </p:cNvPr>
            <p:cNvSpPr/>
            <p:nvPr/>
          </p:nvSpPr>
          <p:spPr bwMode="auto">
            <a:xfrm>
              <a:off x="7267575" y="5832475"/>
              <a:ext cx="157163" cy="153988"/>
            </a:xfrm>
            <a:custGeom>
              <a:avLst/>
              <a:gdLst>
                <a:gd name="T0" fmla="*/ 20 w 28"/>
                <a:gd name="T1" fmla="*/ 7 h 27"/>
                <a:gd name="T2" fmla="*/ 20 w 28"/>
                <a:gd name="T3" fmla="*/ 4 h 27"/>
                <a:gd name="T4" fmla="*/ 17 w 28"/>
                <a:gd name="T5" fmla="*/ 0 h 27"/>
                <a:gd name="T6" fmla="*/ 18 w 28"/>
                <a:gd name="T7" fmla="*/ 0 h 27"/>
                <a:gd name="T8" fmla="*/ 21 w 28"/>
                <a:gd name="T9" fmla="*/ 0 h 27"/>
                <a:gd name="T10" fmla="*/ 27 w 28"/>
                <a:gd name="T11" fmla="*/ 0 h 27"/>
                <a:gd name="T12" fmla="*/ 28 w 28"/>
                <a:gd name="T13" fmla="*/ 0 h 27"/>
                <a:gd name="T14" fmla="*/ 23 w 28"/>
                <a:gd name="T15" fmla="*/ 6 h 27"/>
                <a:gd name="T16" fmla="*/ 14 w 28"/>
                <a:gd name="T17" fmla="*/ 26 h 27"/>
                <a:gd name="T18" fmla="*/ 13 w 28"/>
                <a:gd name="T19" fmla="*/ 27 h 27"/>
                <a:gd name="T20" fmla="*/ 13 w 28"/>
                <a:gd name="T21" fmla="*/ 26 h 27"/>
                <a:gd name="T22" fmla="*/ 3 w 28"/>
                <a:gd name="T23" fmla="*/ 3 h 27"/>
                <a:gd name="T24" fmla="*/ 0 w 28"/>
                <a:gd name="T25" fmla="*/ 0 h 27"/>
                <a:gd name="T26" fmla="*/ 0 w 28"/>
                <a:gd name="T27" fmla="*/ 0 h 27"/>
                <a:gd name="T28" fmla="*/ 6 w 28"/>
                <a:gd name="T29" fmla="*/ 0 h 27"/>
                <a:gd name="T30" fmla="*/ 11 w 28"/>
                <a:gd name="T31" fmla="*/ 0 h 27"/>
                <a:gd name="T32" fmla="*/ 12 w 28"/>
                <a:gd name="T33" fmla="*/ 0 h 27"/>
                <a:gd name="T34" fmla="*/ 9 w 28"/>
                <a:gd name="T35" fmla="*/ 2 h 27"/>
                <a:gd name="T36" fmla="*/ 10 w 28"/>
                <a:gd name="T37" fmla="*/ 4 h 27"/>
                <a:gd name="T38" fmla="*/ 15 w 28"/>
                <a:gd name="T39" fmla="*/ 18 h 27"/>
                <a:gd name="T40" fmla="*/ 20 w 28"/>
                <a:gd name="T4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7">
                  <a:moveTo>
                    <a:pt x="20" y="7"/>
                  </a:moveTo>
                  <a:cubicBezTo>
                    <a:pt x="20" y="6"/>
                    <a:pt x="20" y="5"/>
                    <a:pt x="20" y="4"/>
                  </a:cubicBezTo>
                  <a:cubicBezTo>
                    <a:pt x="20" y="0"/>
                    <a:pt x="17" y="1"/>
                    <a:pt x="17" y="0"/>
                  </a:cubicBezTo>
                  <a:cubicBezTo>
                    <a:pt x="17" y="0"/>
                    <a:pt x="17" y="0"/>
                    <a:pt x="18" y="0"/>
                  </a:cubicBezTo>
                  <a:cubicBezTo>
                    <a:pt x="19" y="0"/>
                    <a:pt x="20" y="0"/>
                    <a:pt x="21" y="0"/>
                  </a:cubicBezTo>
                  <a:cubicBezTo>
                    <a:pt x="23" y="0"/>
                    <a:pt x="25" y="0"/>
                    <a:pt x="27" y="0"/>
                  </a:cubicBezTo>
                  <a:cubicBezTo>
                    <a:pt x="27" y="0"/>
                    <a:pt x="28" y="0"/>
                    <a:pt x="28" y="0"/>
                  </a:cubicBezTo>
                  <a:cubicBezTo>
                    <a:pt x="28" y="2"/>
                    <a:pt x="25" y="0"/>
                    <a:pt x="23" y="6"/>
                  </a:cubicBezTo>
                  <a:cubicBezTo>
                    <a:pt x="14" y="26"/>
                    <a:pt x="14" y="26"/>
                    <a:pt x="14" y="26"/>
                  </a:cubicBezTo>
                  <a:cubicBezTo>
                    <a:pt x="14" y="27"/>
                    <a:pt x="14" y="27"/>
                    <a:pt x="13" y="27"/>
                  </a:cubicBezTo>
                  <a:cubicBezTo>
                    <a:pt x="13" y="27"/>
                    <a:pt x="13" y="27"/>
                    <a:pt x="13" y="26"/>
                  </a:cubicBezTo>
                  <a:cubicBezTo>
                    <a:pt x="3" y="3"/>
                    <a:pt x="3" y="3"/>
                    <a:pt x="3" y="3"/>
                  </a:cubicBezTo>
                  <a:cubicBezTo>
                    <a:pt x="2" y="0"/>
                    <a:pt x="0" y="1"/>
                    <a:pt x="0" y="0"/>
                  </a:cubicBezTo>
                  <a:cubicBezTo>
                    <a:pt x="0" y="0"/>
                    <a:pt x="0" y="0"/>
                    <a:pt x="0" y="0"/>
                  </a:cubicBezTo>
                  <a:cubicBezTo>
                    <a:pt x="2" y="0"/>
                    <a:pt x="4" y="0"/>
                    <a:pt x="6" y="0"/>
                  </a:cubicBezTo>
                  <a:cubicBezTo>
                    <a:pt x="8" y="0"/>
                    <a:pt x="9" y="0"/>
                    <a:pt x="11" y="0"/>
                  </a:cubicBezTo>
                  <a:cubicBezTo>
                    <a:pt x="12" y="0"/>
                    <a:pt x="12" y="0"/>
                    <a:pt x="12" y="0"/>
                  </a:cubicBezTo>
                  <a:cubicBezTo>
                    <a:pt x="12" y="1"/>
                    <a:pt x="9" y="0"/>
                    <a:pt x="9" y="2"/>
                  </a:cubicBezTo>
                  <a:cubicBezTo>
                    <a:pt x="9" y="3"/>
                    <a:pt x="10" y="3"/>
                    <a:pt x="10" y="4"/>
                  </a:cubicBezTo>
                  <a:cubicBezTo>
                    <a:pt x="15" y="18"/>
                    <a:pt x="15" y="18"/>
                    <a:pt x="15" y="18"/>
                  </a:cubicBezTo>
                  <a:lnTo>
                    <a:pt x="20" y="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Freeform 16">
              <a:extLst>
                <a:ext uri="{FF2B5EF4-FFF2-40B4-BE49-F238E27FC236}">
                  <a16:creationId xmlns:a16="http://schemas.microsoft.com/office/drawing/2014/main" id="{C5C56BB5-CBFF-4A79-BA4C-0041AA0BDCE9}"/>
                </a:ext>
              </a:extLst>
            </p:cNvPr>
            <p:cNvSpPr>
              <a:spLocks noEditPoints="1"/>
            </p:cNvSpPr>
            <p:nvPr/>
          </p:nvSpPr>
          <p:spPr bwMode="auto">
            <a:xfrm>
              <a:off x="7599363" y="5832475"/>
              <a:ext cx="157163" cy="153988"/>
            </a:xfrm>
            <a:custGeom>
              <a:avLst/>
              <a:gdLst>
                <a:gd name="T0" fmla="*/ 14 w 28"/>
                <a:gd name="T1" fmla="*/ 17 h 27"/>
                <a:gd name="T2" fmla="*/ 9 w 28"/>
                <a:gd name="T3" fmla="*/ 14 h 27"/>
                <a:gd name="T4" fmla="*/ 9 w 28"/>
                <a:gd name="T5" fmla="*/ 23 h 27"/>
                <a:gd name="T6" fmla="*/ 13 w 28"/>
                <a:gd name="T7" fmla="*/ 26 h 27"/>
                <a:gd name="T8" fmla="*/ 12 w 28"/>
                <a:gd name="T9" fmla="*/ 27 h 27"/>
                <a:gd name="T10" fmla="*/ 6 w 28"/>
                <a:gd name="T11" fmla="*/ 27 h 27"/>
                <a:gd name="T12" fmla="*/ 1 w 28"/>
                <a:gd name="T13" fmla="*/ 27 h 27"/>
                <a:gd name="T14" fmla="*/ 0 w 28"/>
                <a:gd name="T15" fmla="*/ 26 h 27"/>
                <a:gd name="T16" fmla="*/ 4 w 28"/>
                <a:gd name="T17" fmla="*/ 23 h 27"/>
                <a:gd name="T18" fmla="*/ 4 w 28"/>
                <a:gd name="T19" fmla="*/ 3 h 27"/>
                <a:gd name="T20" fmla="*/ 0 w 28"/>
                <a:gd name="T21" fmla="*/ 0 h 27"/>
                <a:gd name="T22" fmla="*/ 1 w 28"/>
                <a:gd name="T23" fmla="*/ 0 h 27"/>
                <a:gd name="T24" fmla="*/ 6 w 28"/>
                <a:gd name="T25" fmla="*/ 0 h 27"/>
                <a:gd name="T26" fmla="*/ 13 w 28"/>
                <a:gd name="T27" fmla="*/ 0 h 27"/>
                <a:gd name="T28" fmla="*/ 23 w 28"/>
                <a:gd name="T29" fmla="*/ 7 h 27"/>
                <a:gd name="T30" fmla="*/ 13 w 28"/>
                <a:gd name="T31" fmla="*/ 14 h 27"/>
                <a:gd name="T32" fmla="*/ 13 w 28"/>
                <a:gd name="T33" fmla="*/ 14 h 27"/>
                <a:gd name="T34" fmla="*/ 21 w 28"/>
                <a:gd name="T35" fmla="*/ 18 h 27"/>
                <a:gd name="T36" fmla="*/ 24 w 28"/>
                <a:gd name="T37" fmla="*/ 24 h 27"/>
                <a:gd name="T38" fmla="*/ 28 w 28"/>
                <a:gd name="T39" fmla="*/ 26 h 27"/>
                <a:gd name="T40" fmla="*/ 28 w 28"/>
                <a:gd name="T41" fmla="*/ 27 h 27"/>
                <a:gd name="T42" fmla="*/ 23 w 28"/>
                <a:gd name="T43" fmla="*/ 27 h 27"/>
                <a:gd name="T44" fmla="*/ 19 w 28"/>
                <a:gd name="T45" fmla="*/ 27 h 27"/>
                <a:gd name="T46" fmla="*/ 14 w 28"/>
                <a:gd name="T47" fmla="*/ 17 h 27"/>
                <a:gd name="T48" fmla="*/ 9 w 28"/>
                <a:gd name="T49" fmla="*/ 12 h 27"/>
                <a:gd name="T50" fmla="*/ 11 w 28"/>
                <a:gd name="T51" fmla="*/ 12 h 27"/>
                <a:gd name="T52" fmla="*/ 17 w 28"/>
                <a:gd name="T53" fmla="*/ 7 h 27"/>
                <a:gd name="T54" fmla="*/ 12 w 28"/>
                <a:gd name="T55" fmla="*/ 2 h 27"/>
                <a:gd name="T56" fmla="*/ 9 w 28"/>
                <a:gd name="T57" fmla="*/ 2 h 27"/>
                <a:gd name="T58" fmla="*/ 9 w 28"/>
                <a:gd name="T5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27">
                  <a:moveTo>
                    <a:pt x="14" y="17"/>
                  </a:moveTo>
                  <a:cubicBezTo>
                    <a:pt x="13" y="15"/>
                    <a:pt x="12" y="14"/>
                    <a:pt x="9" y="14"/>
                  </a:cubicBezTo>
                  <a:cubicBezTo>
                    <a:pt x="9" y="23"/>
                    <a:pt x="9" y="23"/>
                    <a:pt x="9" y="23"/>
                  </a:cubicBezTo>
                  <a:cubicBezTo>
                    <a:pt x="9" y="27"/>
                    <a:pt x="13" y="25"/>
                    <a:pt x="13" y="26"/>
                  </a:cubicBezTo>
                  <a:cubicBezTo>
                    <a:pt x="13" y="27"/>
                    <a:pt x="13" y="27"/>
                    <a:pt x="12" y="27"/>
                  </a:cubicBezTo>
                  <a:cubicBezTo>
                    <a:pt x="10" y="27"/>
                    <a:pt x="8" y="27"/>
                    <a:pt x="6" y="27"/>
                  </a:cubicBezTo>
                  <a:cubicBezTo>
                    <a:pt x="5" y="27"/>
                    <a:pt x="3" y="27"/>
                    <a:pt x="1" y="27"/>
                  </a:cubicBezTo>
                  <a:cubicBezTo>
                    <a:pt x="0" y="27"/>
                    <a:pt x="0" y="27"/>
                    <a:pt x="0" y="26"/>
                  </a:cubicBezTo>
                  <a:cubicBezTo>
                    <a:pt x="0" y="25"/>
                    <a:pt x="4" y="27"/>
                    <a:pt x="4" y="23"/>
                  </a:cubicBezTo>
                  <a:cubicBezTo>
                    <a:pt x="4" y="3"/>
                    <a:pt x="4" y="3"/>
                    <a:pt x="4" y="3"/>
                  </a:cubicBezTo>
                  <a:cubicBezTo>
                    <a:pt x="4" y="0"/>
                    <a:pt x="0" y="1"/>
                    <a:pt x="0" y="0"/>
                  </a:cubicBezTo>
                  <a:cubicBezTo>
                    <a:pt x="0" y="0"/>
                    <a:pt x="0" y="0"/>
                    <a:pt x="1" y="0"/>
                  </a:cubicBezTo>
                  <a:cubicBezTo>
                    <a:pt x="3" y="0"/>
                    <a:pt x="5" y="0"/>
                    <a:pt x="6" y="0"/>
                  </a:cubicBezTo>
                  <a:cubicBezTo>
                    <a:pt x="8" y="0"/>
                    <a:pt x="10" y="0"/>
                    <a:pt x="13" y="0"/>
                  </a:cubicBezTo>
                  <a:cubicBezTo>
                    <a:pt x="19" y="0"/>
                    <a:pt x="23" y="3"/>
                    <a:pt x="23" y="7"/>
                  </a:cubicBezTo>
                  <a:cubicBezTo>
                    <a:pt x="23" y="10"/>
                    <a:pt x="21" y="13"/>
                    <a:pt x="13" y="14"/>
                  </a:cubicBezTo>
                  <a:cubicBezTo>
                    <a:pt x="13" y="14"/>
                    <a:pt x="13" y="14"/>
                    <a:pt x="13" y="14"/>
                  </a:cubicBezTo>
                  <a:cubicBezTo>
                    <a:pt x="17" y="14"/>
                    <a:pt x="19" y="15"/>
                    <a:pt x="21" y="18"/>
                  </a:cubicBezTo>
                  <a:cubicBezTo>
                    <a:pt x="24" y="24"/>
                    <a:pt x="24" y="24"/>
                    <a:pt x="24" y="24"/>
                  </a:cubicBezTo>
                  <a:cubicBezTo>
                    <a:pt x="25" y="27"/>
                    <a:pt x="28" y="25"/>
                    <a:pt x="28" y="26"/>
                  </a:cubicBezTo>
                  <a:cubicBezTo>
                    <a:pt x="28" y="27"/>
                    <a:pt x="28" y="27"/>
                    <a:pt x="28" y="27"/>
                  </a:cubicBezTo>
                  <a:cubicBezTo>
                    <a:pt x="26" y="27"/>
                    <a:pt x="25" y="27"/>
                    <a:pt x="23" y="27"/>
                  </a:cubicBezTo>
                  <a:cubicBezTo>
                    <a:pt x="19" y="27"/>
                    <a:pt x="19" y="27"/>
                    <a:pt x="19" y="27"/>
                  </a:cubicBezTo>
                  <a:lnTo>
                    <a:pt x="14" y="17"/>
                  </a:lnTo>
                  <a:close/>
                  <a:moveTo>
                    <a:pt x="9" y="12"/>
                  </a:moveTo>
                  <a:cubicBezTo>
                    <a:pt x="11" y="12"/>
                    <a:pt x="11" y="12"/>
                    <a:pt x="11" y="12"/>
                  </a:cubicBezTo>
                  <a:cubicBezTo>
                    <a:pt x="15" y="12"/>
                    <a:pt x="17" y="10"/>
                    <a:pt x="17" y="7"/>
                  </a:cubicBezTo>
                  <a:cubicBezTo>
                    <a:pt x="17" y="3"/>
                    <a:pt x="15" y="2"/>
                    <a:pt x="12" y="2"/>
                  </a:cubicBezTo>
                  <a:cubicBezTo>
                    <a:pt x="9" y="2"/>
                    <a:pt x="9" y="2"/>
                    <a:pt x="9" y="2"/>
                  </a:cubicBezTo>
                  <a:lnTo>
                    <a:pt x="9"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17">
              <a:extLst>
                <a:ext uri="{FF2B5EF4-FFF2-40B4-BE49-F238E27FC236}">
                  <a16:creationId xmlns:a16="http://schemas.microsoft.com/office/drawing/2014/main" id="{F324E8D6-46BD-422E-9EF8-F63F231847B3}"/>
                </a:ext>
              </a:extLst>
            </p:cNvPr>
            <p:cNvSpPr/>
            <p:nvPr/>
          </p:nvSpPr>
          <p:spPr bwMode="auto">
            <a:xfrm>
              <a:off x="7913688" y="5832475"/>
              <a:ext cx="66675" cy="153988"/>
            </a:xfrm>
            <a:custGeom>
              <a:avLst/>
              <a:gdLst>
                <a:gd name="T0" fmla="*/ 3 w 12"/>
                <a:gd name="T1" fmla="*/ 3 h 27"/>
                <a:gd name="T2" fmla="*/ 0 w 12"/>
                <a:gd name="T3" fmla="*/ 0 h 27"/>
                <a:gd name="T4" fmla="*/ 0 w 12"/>
                <a:gd name="T5" fmla="*/ 0 h 27"/>
                <a:gd name="T6" fmla="*/ 6 w 12"/>
                <a:gd name="T7" fmla="*/ 0 h 27"/>
                <a:gd name="T8" fmla="*/ 11 w 12"/>
                <a:gd name="T9" fmla="*/ 0 h 27"/>
                <a:gd name="T10" fmla="*/ 12 w 12"/>
                <a:gd name="T11" fmla="*/ 0 h 27"/>
                <a:gd name="T12" fmla="*/ 9 w 12"/>
                <a:gd name="T13" fmla="*/ 3 h 27"/>
                <a:gd name="T14" fmla="*/ 9 w 12"/>
                <a:gd name="T15" fmla="*/ 23 h 27"/>
                <a:gd name="T16" fmla="*/ 12 w 12"/>
                <a:gd name="T17" fmla="*/ 26 h 27"/>
                <a:gd name="T18" fmla="*/ 11 w 12"/>
                <a:gd name="T19" fmla="*/ 27 h 27"/>
                <a:gd name="T20" fmla="*/ 6 w 12"/>
                <a:gd name="T21" fmla="*/ 27 h 27"/>
                <a:gd name="T22" fmla="*/ 0 w 12"/>
                <a:gd name="T23" fmla="*/ 27 h 27"/>
                <a:gd name="T24" fmla="*/ 0 w 12"/>
                <a:gd name="T25" fmla="*/ 26 h 27"/>
                <a:gd name="T26" fmla="*/ 3 w 12"/>
                <a:gd name="T27" fmla="*/ 23 h 27"/>
                <a:gd name="T28" fmla="*/ 3 w 12"/>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27">
                  <a:moveTo>
                    <a:pt x="3" y="3"/>
                  </a:moveTo>
                  <a:cubicBezTo>
                    <a:pt x="3" y="0"/>
                    <a:pt x="0" y="1"/>
                    <a:pt x="0" y="0"/>
                  </a:cubicBezTo>
                  <a:cubicBezTo>
                    <a:pt x="0" y="0"/>
                    <a:pt x="0" y="0"/>
                    <a:pt x="0" y="0"/>
                  </a:cubicBezTo>
                  <a:cubicBezTo>
                    <a:pt x="2" y="0"/>
                    <a:pt x="4" y="0"/>
                    <a:pt x="6" y="0"/>
                  </a:cubicBezTo>
                  <a:cubicBezTo>
                    <a:pt x="7" y="0"/>
                    <a:pt x="9" y="0"/>
                    <a:pt x="11" y="0"/>
                  </a:cubicBezTo>
                  <a:cubicBezTo>
                    <a:pt x="12" y="0"/>
                    <a:pt x="12" y="0"/>
                    <a:pt x="12" y="0"/>
                  </a:cubicBezTo>
                  <a:cubicBezTo>
                    <a:pt x="12" y="1"/>
                    <a:pt x="9" y="0"/>
                    <a:pt x="9" y="3"/>
                  </a:cubicBezTo>
                  <a:cubicBezTo>
                    <a:pt x="9" y="23"/>
                    <a:pt x="9" y="23"/>
                    <a:pt x="9" y="23"/>
                  </a:cubicBezTo>
                  <a:cubicBezTo>
                    <a:pt x="9" y="27"/>
                    <a:pt x="12" y="25"/>
                    <a:pt x="12" y="26"/>
                  </a:cubicBezTo>
                  <a:cubicBezTo>
                    <a:pt x="12" y="27"/>
                    <a:pt x="12" y="27"/>
                    <a:pt x="11" y="27"/>
                  </a:cubicBezTo>
                  <a:cubicBezTo>
                    <a:pt x="9" y="27"/>
                    <a:pt x="7" y="27"/>
                    <a:pt x="6" y="27"/>
                  </a:cubicBezTo>
                  <a:cubicBezTo>
                    <a:pt x="4" y="27"/>
                    <a:pt x="2" y="27"/>
                    <a:pt x="0"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18">
              <a:extLst>
                <a:ext uri="{FF2B5EF4-FFF2-40B4-BE49-F238E27FC236}">
                  <a16:creationId xmlns:a16="http://schemas.microsoft.com/office/drawing/2014/main" id="{EE5BC1DB-435C-492A-A00E-9E88F6636B06}"/>
                </a:ext>
              </a:extLst>
            </p:cNvPr>
            <p:cNvSpPr/>
            <p:nvPr/>
          </p:nvSpPr>
          <p:spPr bwMode="auto">
            <a:xfrm>
              <a:off x="8002588" y="5827713"/>
              <a:ext cx="134938" cy="158750"/>
            </a:xfrm>
            <a:custGeom>
              <a:avLst/>
              <a:gdLst>
                <a:gd name="T0" fmla="*/ 9 w 24"/>
                <a:gd name="T1" fmla="*/ 2 h 28"/>
                <a:gd name="T2" fmla="*/ 0 w 24"/>
                <a:gd name="T3" fmla="*/ 10 h 28"/>
                <a:gd name="T4" fmla="*/ 0 w 24"/>
                <a:gd name="T5" fmla="*/ 10 h 28"/>
                <a:gd name="T6" fmla="*/ 0 w 24"/>
                <a:gd name="T7" fmla="*/ 8 h 28"/>
                <a:gd name="T8" fmla="*/ 1 w 24"/>
                <a:gd name="T9" fmla="*/ 1 h 28"/>
                <a:gd name="T10" fmla="*/ 1 w 24"/>
                <a:gd name="T11" fmla="*/ 0 h 28"/>
                <a:gd name="T12" fmla="*/ 2 w 24"/>
                <a:gd name="T13" fmla="*/ 1 h 28"/>
                <a:gd name="T14" fmla="*/ 3 w 24"/>
                <a:gd name="T15" fmla="*/ 1 h 28"/>
                <a:gd name="T16" fmla="*/ 21 w 24"/>
                <a:gd name="T17" fmla="*/ 1 h 28"/>
                <a:gd name="T18" fmla="*/ 22 w 24"/>
                <a:gd name="T19" fmla="*/ 1 h 28"/>
                <a:gd name="T20" fmla="*/ 22 w 24"/>
                <a:gd name="T21" fmla="*/ 0 h 28"/>
                <a:gd name="T22" fmla="*/ 23 w 24"/>
                <a:gd name="T23" fmla="*/ 1 h 28"/>
                <a:gd name="T24" fmla="*/ 24 w 24"/>
                <a:gd name="T25" fmla="*/ 8 h 28"/>
                <a:gd name="T26" fmla="*/ 24 w 24"/>
                <a:gd name="T27" fmla="*/ 10 h 28"/>
                <a:gd name="T28" fmla="*/ 24 w 24"/>
                <a:gd name="T29" fmla="*/ 10 h 28"/>
                <a:gd name="T30" fmla="*/ 15 w 24"/>
                <a:gd name="T31" fmla="*/ 2 h 28"/>
                <a:gd name="T32" fmla="*/ 15 w 24"/>
                <a:gd name="T33" fmla="*/ 24 h 28"/>
                <a:gd name="T34" fmla="*/ 18 w 24"/>
                <a:gd name="T35" fmla="*/ 27 h 28"/>
                <a:gd name="T36" fmla="*/ 19 w 24"/>
                <a:gd name="T37" fmla="*/ 27 h 28"/>
                <a:gd name="T38" fmla="*/ 18 w 24"/>
                <a:gd name="T39" fmla="*/ 28 h 28"/>
                <a:gd name="T40" fmla="*/ 12 w 24"/>
                <a:gd name="T41" fmla="*/ 28 h 28"/>
                <a:gd name="T42" fmla="*/ 6 w 24"/>
                <a:gd name="T43" fmla="*/ 28 h 28"/>
                <a:gd name="T44" fmla="*/ 5 w 24"/>
                <a:gd name="T45" fmla="*/ 27 h 28"/>
                <a:gd name="T46" fmla="*/ 6 w 24"/>
                <a:gd name="T47" fmla="*/ 27 h 28"/>
                <a:gd name="T48" fmla="*/ 9 w 24"/>
                <a:gd name="T49" fmla="*/ 24 h 28"/>
                <a:gd name="T50" fmla="*/ 9 w 24"/>
                <a:gd name="T5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 h="28">
                  <a:moveTo>
                    <a:pt x="9" y="2"/>
                  </a:moveTo>
                  <a:cubicBezTo>
                    <a:pt x="1" y="5"/>
                    <a:pt x="1" y="10"/>
                    <a:pt x="0" y="10"/>
                  </a:cubicBezTo>
                  <a:cubicBezTo>
                    <a:pt x="0" y="10"/>
                    <a:pt x="0" y="10"/>
                    <a:pt x="0" y="10"/>
                  </a:cubicBezTo>
                  <a:cubicBezTo>
                    <a:pt x="0" y="10"/>
                    <a:pt x="0" y="9"/>
                    <a:pt x="0" y="8"/>
                  </a:cubicBezTo>
                  <a:cubicBezTo>
                    <a:pt x="1" y="1"/>
                    <a:pt x="1" y="1"/>
                    <a:pt x="1" y="1"/>
                  </a:cubicBezTo>
                  <a:cubicBezTo>
                    <a:pt x="1" y="0"/>
                    <a:pt x="1" y="0"/>
                    <a:pt x="1" y="0"/>
                  </a:cubicBezTo>
                  <a:cubicBezTo>
                    <a:pt x="2" y="0"/>
                    <a:pt x="2" y="0"/>
                    <a:pt x="2" y="1"/>
                  </a:cubicBezTo>
                  <a:cubicBezTo>
                    <a:pt x="2" y="1"/>
                    <a:pt x="3" y="1"/>
                    <a:pt x="3" y="1"/>
                  </a:cubicBezTo>
                  <a:cubicBezTo>
                    <a:pt x="21" y="1"/>
                    <a:pt x="21" y="1"/>
                    <a:pt x="21" y="1"/>
                  </a:cubicBezTo>
                  <a:cubicBezTo>
                    <a:pt x="21" y="1"/>
                    <a:pt x="22" y="1"/>
                    <a:pt x="22" y="1"/>
                  </a:cubicBezTo>
                  <a:cubicBezTo>
                    <a:pt x="22" y="0"/>
                    <a:pt x="22" y="0"/>
                    <a:pt x="22" y="0"/>
                  </a:cubicBezTo>
                  <a:cubicBezTo>
                    <a:pt x="22" y="0"/>
                    <a:pt x="23" y="0"/>
                    <a:pt x="23" y="1"/>
                  </a:cubicBezTo>
                  <a:cubicBezTo>
                    <a:pt x="24" y="8"/>
                    <a:pt x="24" y="8"/>
                    <a:pt x="24" y="8"/>
                  </a:cubicBezTo>
                  <a:cubicBezTo>
                    <a:pt x="24" y="9"/>
                    <a:pt x="24" y="10"/>
                    <a:pt x="24" y="10"/>
                  </a:cubicBezTo>
                  <a:cubicBezTo>
                    <a:pt x="24" y="10"/>
                    <a:pt x="24" y="10"/>
                    <a:pt x="24" y="10"/>
                  </a:cubicBezTo>
                  <a:cubicBezTo>
                    <a:pt x="23" y="10"/>
                    <a:pt x="23" y="5"/>
                    <a:pt x="15" y="2"/>
                  </a:cubicBezTo>
                  <a:cubicBezTo>
                    <a:pt x="15" y="24"/>
                    <a:pt x="15" y="24"/>
                    <a:pt x="15" y="24"/>
                  </a:cubicBezTo>
                  <a:cubicBezTo>
                    <a:pt x="15" y="26"/>
                    <a:pt x="16" y="27"/>
                    <a:pt x="18" y="27"/>
                  </a:cubicBezTo>
                  <a:cubicBezTo>
                    <a:pt x="18" y="27"/>
                    <a:pt x="19" y="27"/>
                    <a:pt x="19" y="27"/>
                  </a:cubicBezTo>
                  <a:cubicBezTo>
                    <a:pt x="19" y="28"/>
                    <a:pt x="18" y="28"/>
                    <a:pt x="18" y="28"/>
                  </a:cubicBezTo>
                  <a:cubicBezTo>
                    <a:pt x="16" y="28"/>
                    <a:pt x="14" y="28"/>
                    <a:pt x="12" y="28"/>
                  </a:cubicBezTo>
                  <a:cubicBezTo>
                    <a:pt x="10" y="28"/>
                    <a:pt x="8" y="28"/>
                    <a:pt x="6" y="28"/>
                  </a:cubicBezTo>
                  <a:cubicBezTo>
                    <a:pt x="5" y="28"/>
                    <a:pt x="5" y="28"/>
                    <a:pt x="5" y="27"/>
                  </a:cubicBezTo>
                  <a:cubicBezTo>
                    <a:pt x="5" y="27"/>
                    <a:pt x="5" y="27"/>
                    <a:pt x="6" y="27"/>
                  </a:cubicBezTo>
                  <a:cubicBezTo>
                    <a:pt x="8" y="27"/>
                    <a:pt x="9" y="26"/>
                    <a:pt x="9" y="24"/>
                  </a:cubicBezTo>
                  <a:lnTo>
                    <a:pt x="9" y="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19">
              <a:extLst>
                <a:ext uri="{FF2B5EF4-FFF2-40B4-BE49-F238E27FC236}">
                  <a16:creationId xmlns:a16="http://schemas.microsoft.com/office/drawing/2014/main" id="{F4192A04-5A10-443B-A34F-DB946D906E07}"/>
                </a:ext>
              </a:extLst>
            </p:cNvPr>
            <p:cNvSpPr/>
            <p:nvPr/>
          </p:nvSpPr>
          <p:spPr bwMode="auto">
            <a:xfrm>
              <a:off x="8148638" y="5832475"/>
              <a:ext cx="146050" cy="153988"/>
            </a:xfrm>
            <a:custGeom>
              <a:avLst/>
              <a:gdLst>
                <a:gd name="T0" fmla="*/ 15 w 26"/>
                <a:gd name="T1" fmla="*/ 12 h 27"/>
                <a:gd name="T2" fmla="*/ 18 w 26"/>
                <a:gd name="T3" fmla="*/ 8 h 27"/>
                <a:gd name="T4" fmla="*/ 19 w 26"/>
                <a:gd name="T5" fmla="*/ 3 h 27"/>
                <a:gd name="T6" fmla="*/ 17 w 26"/>
                <a:gd name="T7" fmla="*/ 0 h 27"/>
                <a:gd name="T8" fmla="*/ 18 w 26"/>
                <a:gd name="T9" fmla="*/ 0 h 27"/>
                <a:gd name="T10" fmla="*/ 22 w 26"/>
                <a:gd name="T11" fmla="*/ 0 h 27"/>
                <a:gd name="T12" fmla="*/ 26 w 26"/>
                <a:gd name="T13" fmla="*/ 0 h 27"/>
                <a:gd name="T14" fmla="*/ 26 w 26"/>
                <a:gd name="T15" fmla="*/ 0 h 27"/>
                <a:gd name="T16" fmla="*/ 21 w 26"/>
                <a:gd name="T17" fmla="*/ 6 h 27"/>
                <a:gd name="T18" fmla="*/ 16 w 26"/>
                <a:gd name="T19" fmla="*/ 14 h 27"/>
                <a:gd name="T20" fmla="*/ 16 w 26"/>
                <a:gd name="T21" fmla="*/ 23 h 27"/>
                <a:gd name="T22" fmla="*/ 19 w 26"/>
                <a:gd name="T23" fmla="*/ 26 h 27"/>
                <a:gd name="T24" fmla="*/ 18 w 26"/>
                <a:gd name="T25" fmla="*/ 27 h 27"/>
                <a:gd name="T26" fmla="*/ 13 w 26"/>
                <a:gd name="T27" fmla="*/ 27 h 27"/>
                <a:gd name="T28" fmla="*/ 8 w 26"/>
                <a:gd name="T29" fmla="*/ 27 h 27"/>
                <a:gd name="T30" fmla="*/ 7 w 26"/>
                <a:gd name="T31" fmla="*/ 26 h 27"/>
                <a:gd name="T32" fmla="*/ 10 w 26"/>
                <a:gd name="T33" fmla="*/ 23 h 27"/>
                <a:gd name="T34" fmla="*/ 10 w 26"/>
                <a:gd name="T35" fmla="*/ 15 h 27"/>
                <a:gd name="T36" fmla="*/ 4 w 26"/>
                <a:gd name="T37" fmla="*/ 3 h 27"/>
                <a:gd name="T38" fmla="*/ 0 w 26"/>
                <a:gd name="T39" fmla="*/ 0 h 27"/>
                <a:gd name="T40" fmla="*/ 1 w 26"/>
                <a:gd name="T41" fmla="*/ 0 h 27"/>
                <a:gd name="T42" fmla="*/ 6 w 26"/>
                <a:gd name="T43" fmla="*/ 0 h 27"/>
                <a:gd name="T44" fmla="*/ 12 w 26"/>
                <a:gd name="T45" fmla="*/ 0 h 27"/>
                <a:gd name="T46" fmla="*/ 13 w 26"/>
                <a:gd name="T47" fmla="*/ 0 h 27"/>
                <a:gd name="T48" fmla="*/ 10 w 26"/>
                <a:gd name="T49" fmla="*/ 2 h 27"/>
                <a:gd name="T50" fmla="*/ 11 w 26"/>
                <a:gd name="T51" fmla="*/ 5 h 27"/>
                <a:gd name="T52" fmla="*/ 15 w 26"/>
                <a:gd name="T53"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 h="27">
                  <a:moveTo>
                    <a:pt x="15" y="12"/>
                  </a:moveTo>
                  <a:cubicBezTo>
                    <a:pt x="18" y="8"/>
                    <a:pt x="18" y="8"/>
                    <a:pt x="18" y="8"/>
                  </a:cubicBezTo>
                  <a:cubicBezTo>
                    <a:pt x="19" y="6"/>
                    <a:pt x="19" y="4"/>
                    <a:pt x="19" y="3"/>
                  </a:cubicBezTo>
                  <a:cubicBezTo>
                    <a:pt x="19" y="1"/>
                    <a:pt x="17" y="1"/>
                    <a:pt x="17" y="0"/>
                  </a:cubicBezTo>
                  <a:cubicBezTo>
                    <a:pt x="17" y="0"/>
                    <a:pt x="17" y="0"/>
                    <a:pt x="18" y="0"/>
                  </a:cubicBezTo>
                  <a:cubicBezTo>
                    <a:pt x="19" y="0"/>
                    <a:pt x="20" y="0"/>
                    <a:pt x="22" y="0"/>
                  </a:cubicBezTo>
                  <a:cubicBezTo>
                    <a:pt x="23" y="0"/>
                    <a:pt x="25" y="0"/>
                    <a:pt x="26" y="0"/>
                  </a:cubicBezTo>
                  <a:cubicBezTo>
                    <a:pt x="26" y="0"/>
                    <a:pt x="26" y="0"/>
                    <a:pt x="26" y="0"/>
                  </a:cubicBezTo>
                  <a:cubicBezTo>
                    <a:pt x="26" y="1"/>
                    <a:pt x="24" y="0"/>
                    <a:pt x="21" y="6"/>
                  </a:cubicBezTo>
                  <a:cubicBezTo>
                    <a:pt x="16" y="14"/>
                    <a:pt x="16" y="14"/>
                    <a:pt x="16" y="14"/>
                  </a:cubicBezTo>
                  <a:cubicBezTo>
                    <a:pt x="16" y="23"/>
                    <a:pt x="16" y="23"/>
                    <a:pt x="16" y="23"/>
                  </a:cubicBezTo>
                  <a:cubicBezTo>
                    <a:pt x="16" y="27"/>
                    <a:pt x="19" y="25"/>
                    <a:pt x="19" y="26"/>
                  </a:cubicBezTo>
                  <a:cubicBezTo>
                    <a:pt x="19" y="27"/>
                    <a:pt x="19" y="27"/>
                    <a:pt x="18" y="27"/>
                  </a:cubicBezTo>
                  <a:cubicBezTo>
                    <a:pt x="16" y="27"/>
                    <a:pt x="15" y="27"/>
                    <a:pt x="13" y="27"/>
                  </a:cubicBezTo>
                  <a:cubicBezTo>
                    <a:pt x="11" y="27"/>
                    <a:pt x="10" y="27"/>
                    <a:pt x="8" y="27"/>
                  </a:cubicBezTo>
                  <a:cubicBezTo>
                    <a:pt x="7" y="27"/>
                    <a:pt x="7" y="27"/>
                    <a:pt x="7" y="26"/>
                  </a:cubicBezTo>
                  <a:cubicBezTo>
                    <a:pt x="7" y="25"/>
                    <a:pt x="10" y="27"/>
                    <a:pt x="10" y="23"/>
                  </a:cubicBezTo>
                  <a:cubicBezTo>
                    <a:pt x="10" y="15"/>
                    <a:pt x="10" y="15"/>
                    <a:pt x="10" y="15"/>
                  </a:cubicBezTo>
                  <a:cubicBezTo>
                    <a:pt x="4" y="3"/>
                    <a:pt x="4" y="3"/>
                    <a:pt x="4" y="3"/>
                  </a:cubicBezTo>
                  <a:cubicBezTo>
                    <a:pt x="2" y="0"/>
                    <a:pt x="0" y="1"/>
                    <a:pt x="0" y="0"/>
                  </a:cubicBezTo>
                  <a:cubicBezTo>
                    <a:pt x="0" y="0"/>
                    <a:pt x="0" y="0"/>
                    <a:pt x="1" y="0"/>
                  </a:cubicBezTo>
                  <a:cubicBezTo>
                    <a:pt x="3" y="0"/>
                    <a:pt x="4" y="0"/>
                    <a:pt x="6" y="0"/>
                  </a:cubicBezTo>
                  <a:cubicBezTo>
                    <a:pt x="8" y="0"/>
                    <a:pt x="10" y="0"/>
                    <a:pt x="12" y="0"/>
                  </a:cubicBezTo>
                  <a:cubicBezTo>
                    <a:pt x="12" y="0"/>
                    <a:pt x="13" y="0"/>
                    <a:pt x="13" y="0"/>
                  </a:cubicBezTo>
                  <a:cubicBezTo>
                    <a:pt x="13" y="1"/>
                    <a:pt x="10" y="0"/>
                    <a:pt x="10" y="2"/>
                  </a:cubicBezTo>
                  <a:cubicBezTo>
                    <a:pt x="10" y="3"/>
                    <a:pt x="10" y="4"/>
                    <a:pt x="11" y="5"/>
                  </a:cubicBezTo>
                  <a:lnTo>
                    <a:pt x="15"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20">
              <a:extLst>
                <a:ext uri="{FF2B5EF4-FFF2-40B4-BE49-F238E27FC236}">
                  <a16:creationId xmlns:a16="http://schemas.microsoft.com/office/drawing/2014/main" id="{C45D25FA-AA70-43F0-B0F3-9436F122B095}"/>
                </a:ext>
              </a:extLst>
            </p:cNvPr>
            <p:cNvSpPr/>
            <p:nvPr/>
          </p:nvSpPr>
          <p:spPr bwMode="auto">
            <a:xfrm>
              <a:off x="6242050"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Freeform 21">
              <a:extLst>
                <a:ext uri="{FF2B5EF4-FFF2-40B4-BE49-F238E27FC236}">
                  <a16:creationId xmlns:a16="http://schemas.microsoft.com/office/drawing/2014/main" id="{05D4766F-FA17-48B2-A52B-E9083B447DC0}"/>
                </a:ext>
              </a:extLst>
            </p:cNvPr>
            <p:cNvSpPr/>
            <p:nvPr/>
          </p:nvSpPr>
          <p:spPr bwMode="auto">
            <a:xfrm>
              <a:off x="6427788" y="5832475"/>
              <a:ext cx="133350"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22">
              <a:extLst>
                <a:ext uri="{FF2B5EF4-FFF2-40B4-BE49-F238E27FC236}">
                  <a16:creationId xmlns:a16="http://schemas.microsoft.com/office/drawing/2014/main" id="{B096057A-6D92-459B-8AAE-1EF8DC0C1B1E}"/>
                </a:ext>
              </a:extLst>
            </p:cNvPr>
            <p:cNvSpPr/>
            <p:nvPr/>
          </p:nvSpPr>
          <p:spPr bwMode="auto">
            <a:xfrm>
              <a:off x="6578600"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23">
              <a:extLst>
                <a:ext uri="{FF2B5EF4-FFF2-40B4-BE49-F238E27FC236}">
                  <a16:creationId xmlns:a16="http://schemas.microsoft.com/office/drawing/2014/main" id="{3A4BF158-86AC-436C-B855-4FC1559D8B26}"/>
                </a:ext>
              </a:extLst>
            </p:cNvPr>
            <p:cNvSpPr/>
            <p:nvPr/>
          </p:nvSpPr>
          <p:spPr bwMode="auto">
            <a:xfrm>
              <a:off x="5614988" y="5475288"/>
              <a:ext cx="117475" cy="136525"/>
            </a:xfrm>
            <a:custGeom>
              <a:avLst/>
              <a:gdLst>
                <a:gd name="T0" fmla="*/ 11 w 21"/>
                <a:gd name="T1" fmla="*/ 2 h 24"/>
                <a:gd name="T2" fmla="*/ 1 w 21"/>
                <a:gd name="T3" fmla="*/ 13 h 24"/>
                <a:gd name="T4" fmla="*/ 11 w 21"/>
                <a:gd name="T5" fmla="*/ 24 h 24"/>
                <a:gd name="T6" fmla="*/ 14 w 21"/>
                <a:gd name="T7" fmla="*/ 22 h 24"/>
                <a:gd name="T8" fmla="*/ 21 w 21"/>
                <a:gd name="T9" fmla="*/ 9 h 24"/>
                <a:gd name="T10" fmla="*/ 21 w 21"/>
                <a:gd name="T11" fmla="*/ 8 h 24"/>
                <a:gd name="T12" fmla="*/ 11 w 21"/>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1" h="24">
                  <a:moveTo>
                    <a:pt x="11" y="2"/>
                  </a:moveTo>
                  <a:cubicBezTo>
                    <a:pt x="6" y="4"/>
                    <a:pt x="2" y="9"/>
                    <a:pt x="1" y="13"/>
                  </a:cubicBezTo>
                  <a:cubicBezTo>
                    <a:pt x="0" y="20"/>
                    <a:pt x="6" y="22"/>
                    <a:pt x="11" y="24"/>
                  </a:cubicBezTo>
                  <a:cubicBezTo>
                    <a:pt x="12" y="24"/>
                    <a:pt x="13" y="24"/>
                    <a:pt x="14" y="22"/>
                  </a:cubicBezTo>
                  <a:cubicBezTo>
                    <a:pt x="15" y="17"/>
                    <a:pt x="17" y="13"/>
                    <a:pt x="21" y="9"/>
                  </a:cubicBezTo>
                  <a:cubicBezTo>
                    <a:pt x="21" y="8"/>
                    <a:pt x="21" y="8"/>
                    <a:pt x="21" y="8"/>
                  </a:cubicBezTo>
                  <a:cubicBezTo>
                    <a:pt x="20" y="1"/>
                    <a:pt x="15" y="0"/>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24">
              <a:extLst>
                <a:ext uri="{FF2B5EF4-FFF2-40B4-BE49-F238E27FC236}">
                  <a16:creationId xmlns:a16="http://schemas.microsoft.com/office/drawing/2014/main" id="{235235FC-8104-4376-8ADA-9A29CE1A5D73}"/>
                </a:ext>
              </a:extLst>
            </p:cNvPr>
            <p:cNvSpPr/>
            <p:nvPr/>
          </p:nvSpPr>
          <p:spPr bwMode="auto">
            <a:xfrm>
              <a:off x="5440363" y="5140325"/>
              <a:ext cx="146050" cy="442913"/>
            </a:xfrm>
            <a:custGeom>
              <a:avLst/>
              <a:gdLst>
                <a:gd name="T0" fmla="*/ 20 w 26"/>
                <a:gd name="T1" fmla="*/ 52 h 78"/>
                <a:gd name="T2" fmla="*/ 18 w 26"/>
                <a:gd name="T3" fmla="*/ 25 h 78"/>
                <a:gd name="T4" fmla="*/ 22 w 26"/>
                <a:gd name="T5" fmla="*/ 7 h 78"/>
                <a:gd name="T6" fmla="*/ 10 w 26"/>
                <a:gd name="T7" fmla="*/ 4 h 78"/>
                <a:gd name="T8" fmla="*/ 1 w 26"/>
                <a:gd name="T9" fmla="*/ 48 h 78"/>
                <a:gd name="T10" fmla="*/ 11 w 26"/>
                <a:gd name="T11" fmla="*/ 78 h 78"/>
                <a:gd name="T12" fmla="*/ 25 w 26"/>
                <a:gd name="T13" fmla="*/ 51 h 78"/>
                <a:gd name="T14" fmla="*/ 20 w 26"/>
                <a:gd name="T15" fmla="*/ 5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78">
                  <a:moveTo>
                    <a:pt x="20" y="52"/>
                  </a:moveTo>
                  <a:cubicBezTo>
                    <a:pt x="14" y="49"/>
                    <a:pt x="17" y="30"/>
                    <a:pt x="18" y="25"/>
                  </a:cubicBezTo>
                  <a:cubicBezTo>
                    <a:pt x="20" y="20"/>
                    <a:pt x="22" y="12"/>
                    <a:pt x="22" y="7"/>
                  </a:cubicBezTo>
                  <a:cubicBezTo>
                    <a:pt x="17" y="0"/>
                    <a:pt x="15" y="1"/>
                    <a:pt x="10" y="4"/>
                  </a:cubicBezTo>
                  <a:cubicBezTo>
                    <a:pt x="0" y="17"/>
                    <a:pt x="1" y="30"/>
                    <a:pt x="1" y="48"/>
                  </a:cubicBezTo>
                  <a:cubicBezTo>
                    <a:pt x="2" y="57"/>
                    <a:pt x="2" y="73"/>
                    <a:pt x="11" y="78"/>
                  </a:cubicBezTo>
                  <a:cubicBezTo>
                    <a:pt x="19" y="77"/>
                    <a:pt x="26" y="60"/>
                    <a:pt x="25" y="51"/>
                  </a:cubicBezTo>
                  <a:cubicBezTo>
                    <a:pt x="24" y="47"/>
                    <a:pt x="23" y="52"/>
                    <a:pt x="20" y="5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25">
              <a:extLst>
                <a:ext uri="{FF2B5EF4-FFF2-40B4-BE49-F238E27FC236}">
                  <a16:creationId xmlns:a16="http://schemas.microsoft.com/office/drawing/2014/main" id="{E43BC62D-826F-4BD3-8AAE-6FD11CA4902B}"/>
                </a:ext>
              </a:extLst>
            </p:cNvPr>
            <p:cNvSpPr/>
            <p:nvPr/>
          </p:nvSpPr>
          <p:spPr bwMode="auto">
            <a:xfrm>
              <a:off x="5614988" y="4902200"/>
              <a:ext cx="323850" cy="782638"/>
            </a:xfrm>
            <a:custGeom>
              <a:avLst/>
              <a:gdLst>
                <a:gd name="T0" fmla="*/ 44 w 58"/>
                <a:gd name="T1" fmla="*/ 72 h 138"/>
                <a:gd name="T2" fmla="*/ 48 w 58"/>
                <a:gd name="T3" fmla="*/ 70 h 138"/>
                <a:gd name="T4" fmla="*/ 50 w 58"/>
                <a:gd name="T5" fmla="*/ 62 h 138"/>
                <a:gd name="T6" fmla="*/ 48 w 58"/>
                <a:gd name="T7" fmla="*/ 62 h 138"/>
                <a:gd name="T8" fmla="*/ 32 w 58"/>
                <a:gd name="T9" fmla="*/ 58 h 138"/>
                <a:gd name="T10" fmla="*/ 42 w 58"/>
                <a:gd name="T11" fmla="*/ 40 h 138"/>
                <a:gd name="T12" fmla="*/ 38 w 58"/>
                <a:gd name="T13" fmla="*/ 33 h 138"/>
                <a:gd name="T14" fmla="*/ 39 w 58"/>
                <a:gd name="T15" fmla="*/ 32 h 138"/>
                <a:gd name="T16" fmla="*/ 48 w 58"/>
                <a:gd name="T17" fmla="*/ 23 h 138"/>
                <a:gd name="T18" fmla="*/ 54 w 58"/>
                <a:gd name="T19" fmla="*/ 16 h 138"/>
                <a:gd name="T20" fmla="*/ 48 w 58"/>
                <a:gd name="T21" fmla="*/ 1 h 138"/>
                <a:gd name="T22" fmla="*/ 34 w 58"/>
                <a:gd name="T23" fmla="*/ 2 h 138"/>
                <a:gd name="T24" fmla="*/ 24 w 58"/>
                <a:gd name="T25" fmla="*/ 8 h 138"/>
                <a:gd name="T26" fmla="*/ 22 w 58"/>
                <a:gd name="T27" fmla="*/ 10 h 138"/>
                <a:gd name="T28" fmla="*/ 28 w 58"/>
                <a:gd name="T29" fmla="*/ 18 h 138"/>
                <a:gd name="T30" fmla="*/ 41 w 58"/>
                <a:gd name="T31" fmla="*/ 13 h 138"/>
                <a:gd name="T32" fmla="*/ 41 w 58"/>
                <a:gd name="T33" fmla="*/ 15 h 138"/>
                <a:gd name="T34" fmla="*/ 41 w 58"/>
                <a:gd name="T35" fmla="*/ 15 h 138"/>
                <a:gd name="T36" fmla="*/ 29 w 58"/>
                <a:gd name="T37" fmla="*/ 30 h 138"/>
                <a:gd name="T38" fmla="*/ 30 w 58"/>
                <a:gd name="T39" fmla="*/ 46 h 138"/>
                <a:gd name="T40" fmla="*/ 29 w 58"/>
                <a:gd name="T41" fmla="*/ 51 h 138"/>
                <a:gd name="T42" fmla="*/ 18 w 58"/>
                <a:gd name="T43" fmla="*/ 65 h 138"/>
                <a:gd name="T44" fmla="*/ 12 w 58"/>
                <a:gd name="T45" fmla="*/ 72 h 138"/>
                <a:gd name="T46" fmla="*/ 11 w 58"/>
                <a:gd name="T47" fmla="*/ 73 h 138"/>
                <a:gd name="T48" fmla="*/ 0 w 58"/>
                <a:gd name="T49" fmla="*/ 84 h 138"/>
                <a:gd name="T50" fmla="*/ 0 w 58"/>
                <a:gd name="T51" fmla="*/ 85 h 138"/>
                <a:gd name="T52" fmla="*/ 11 w 58"/>
                <a:gd name="T53" fmla="*/ 89 h 138"/>
                <a:gd name="T54" fmla="*/ 13 w 58"/>
                <a:gd name="T55" fmla="*/ 89 h 138"/>
                <a:gd name="T56" fmla="*/ 14 w 58"/>
                <a:gd name="T57" fmla="*/ 89 h 138"/>
                <a:gd name="T58" fmla="*/ 14 w 58"/>
                <a:gd name="T59" fmla="*/ 88 h 138"/>
                <a:gd name="T60" fmla="*/ 14 w 58"/>
                <a:gd name="T61" fmla="*/ 87 h 138"/>
                <a:gd name="T62" fmla="*/ 27 w 58"/>
                <a:gd name="T63" fmla="*/ 77 h 138"/>
                <a:gd name="T64" fmla="*/ 28 w 58"/>
                <a:gd name="T65" fmla="*/ 114 h 138"/>
                <a:gd name="T66" fmla="*/ 25 w 58"/>
                <a:gd name="T67" fmla="*/ 115 h 138"/>
                <a:gd name="T68" fmla="*/ 25 w 58"/>
                <a:gd name="T69" fmla="*/ 116 h 138"/>
                <a:gd name="T70" fmla="*/ 22 w 58"/>
                <a:gd name="T71" fmla="*/ 120 h 138"/>
                <a:gd name="T72" fmla="*/ 22 w 58"/>
                <a:gd name="T73" fmla="*/ 120 h 138"/>
                <a:gd name="T74" fmla="*/ 30 w 58"/>
                <a:gd name="T75" fmla="*/ 138 h 138"/>
                <a:gd name="T76" fmla="*/ 39 w 58"/>
                <a:gd name="T77" fmla="*/ 126 h 138"/>
                <a:gd name="T78" fmla="*/ 39 w 58"/>
                <a:gd name="T79" fmla="*/ 74 h 138"/>
                <a:gd name="T80" fmla="*/ 44 w 58"/>
                <a:gd name="T81"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138">
                  <a:moveTo>
                    <a:pt x="44" y="72"/>
                  </a:moveTo>
                  <a:cubicBezTo>
                    <a:pt x="45" y="71"/>
                    <a:pt x="47" y="71"/>
                    <a:pt x="48" y="70"/>
                  </a:cubicBezTo>
                  <a:cubicBezTo>
                    <a:pt x="51" y="68"/>
                    <a:pt x="54" y="66"/>
                    <a:pt x="50" y="62"/>
                  </a:cubicBezTo>
                  <a:cubicBezTo>
                    <a:pt x="50" y="62"/>
                    <a:pt x="49" y="62"/>
                    <a:pt x="48" y="62"/>
                  </a:cubicBezTo>
                  <a:cubicBezTo>
                    <a:pt x="42" y="62"/>
                    <a:pt x="32" y="66"/>
                    <a:pt x="32" y="58"/>
                  </a:cubicBezTo>
                  <a:cubicBezTo>
                    <a:pt x="35" y="53"/>
                    <a:pt x="42" y="45"/>
                    <a:pt x="42" y="40"/>
                  </a:cubicBezTo>
                  <a:cubicBezTo>
                    <a:pt x="38" y="38"/>
                    <a:pt x="38" y="37"/>
                    <a:pt x="38" y="33"/>
                  </a:cubicBezTo>
                  <a:cubicBezTo>
                    <a:pt x="39" y="33"/>
                    <a:pt x="39" y="33"/>
                    <a:pt x="39" y="32"/>
                  </a:cubicBezTo>
                  <a:cubicBezTo>
                    <a:pt x="42" y="30"/>
                    <a:pt x="45" y="27"/>
                    <a:pt x="48" y="23"/>
                  </a:cubicBezTo>
                  <a:cubicBezTo>
                    <a:pt x="50" y="21"/>
                    <a:pt x="52" y="18"/>
                    <a:pt x="54" y="16"/>
                  </a:cubicBezTo>
                  <a:cubicBezTo>
                    <a:pt x="58" y="6"/>
                    <a:pt x="54" y="2"/>
                    <a:pt x="48" y="1"/>
                  </a:cubicBezTo>
                  <a:cubicBezTo>
                    <a:pt x="44" y="0"/>
                    <a:pt x="38" y="1"/>
                    <a:pt x="34" y="2"/>
                  </a:cubicBezTo>
                  <a:cubicBezTo>
                    <a:pt x="32" y="3"/>
                    <a:pt x="24" y="6"/>
                    <a:pt x="24" y="8"/>
                  </a:cubicBezTo>
                  <a:cubicBezTo>
                    <a:pt x="23" y="9"/>
                    <a:pt x="22" y="9"/>
                    <a:pt x="22" y="10"/>
                  </a:cubicBezTo>
                  <a:cubicBezTo>
                    <a:pt x="19" y="16"/>
                    <a:pt x="22" y="18"/>
                    <a:pt x="28" y="18"/>
                  </a:cubicBezTo>
                  <a:cubicBezTo>
                    <a:pt x="31" y="17"/>
                    <a:pt x="37" y="8"/>
                    <a:pt x="41" y="13"/>
                  </a:cubicBezTo>
                  <a:cubicBezTo>
                    <a:pt x="41" y="13"/>
                    <a:pt x="40" y="14"/>
                    <a:pt x="41" y="15"/>
                  </a:cubicBezTo>
                  <a:cubicBezTo>
                    <a:pt x="40" y="15"/>
                    <a:pt x="41" y="15"/>
                    <a:pt x="41" y="15"/>
                  </a:cubicBezTo>
                  <a:cubicBezTo>
                    <a:pt x="39" y="19"/>
                    <a:pt x="31" y="27"/>
                    <a:pt x="29" y="30"/>
                  </a:cubicBezTo>
                  <a:cubicBezTo>
                    <a:pt x="26" y="35"/>
                    <a:pt x="30" y="40"/>
                    <a:pt x="30" y="46"/>
                  </a:cubicBezTo>
                  <a:cubicBezTo>
                    <a:pt x="30" y="48"/>
                    <a:pt x="29" y="49"/>
                    <a:pt x="29" y="51"/>
                  </a:cubicBezTo>
                  <a:cubicBezTo>
                    <a:pt x="25" y="55"/>
                    <a:pt x="22" y="62"/>
                    <a:pt x="18" y="65"/>
                  </a:cubicBezTo>
                  <a:cubicBezTo>
                    <a:pt x="16" y="67"/>
                    <a:pt x="13" y="70"/>
                    <a:pt x="12" y="72"/>
                  </a:cubicBezTo>
                  <a:cubicBezTo>
                    <a:pt x="12" y="72"/>
                    <a:pt x="11" y="73"/>
                    <a:pt x="11" y="73"/>
                  </a:cubicBezTo>
                  <a:cubicBezTo>
                    <a:pt x="7" y="77"/>
                    <a:pt x="4" y="81"/>
                    <a:pt x="0" y="84"/>
                  </a:cubicBezTo>
                  <a:cubicBezTo>
                    <a:pt x="0" y="84"/>
                    <a:pt x="0" y="85"/>
                    <a:pt x="0" y="85"/>
                  </a:cubicBezTo>
                  <a:cubicBezTo>
                    <a:pt x="2" y="87"/>
                    <a:pt x="7" y="88"/>
                    <a:pt x="11" y="89"/>
                  </a:cubicBezTo>
                  <a:cubicBezTo>
                    <a:pt x="12" y="89"/>
                    <a:pt x="12" y="89"/>
                    <a:pt x="13" y="89"/>
                  </a:cubicBezTo>
                  <a:cubicBezTo>
                    <a:pt x="13" y="89"/>
                    <a:pt x="14" y="89"/>
                    <a:pt x="14" y="89"/>
                  </a:cubicBezTo>
                  <a:cubicBezTo>
                    <a:pt x="14" y="88"/>
                    <a:pt x="14" y="88"/>
                    <a:pt x="14" y="88"/>
                  </a:cubicBezTo>
                  <a:cubicBezTo>
                    <a:pt x="14" y="88"/>
                    <a:pt x="14" y="87"/>
                    <a:pt x="14" y="87"/>
                  </a:cubicBezTo>
                  <a:cubicBezTo>
                    <a:pt x="18" y="82"/>
                    <a:pt x="20" y="78"/>
                    <a:pt x="27" y="77"/>
                  </a:cubicBezTo>
                  <a:cubicBezTo>
                    <a:pt x="27" y="78"/>
                    <a:pt x="27" y="84"/>
                    <a:pt x="28" y="114"/>
                  </a:cubicBezTo>
                  <a:cubicBezTo>
                    <a:pt x="27" y="114"/>
                    <a:pt x="28" y="114"/>
                    <a:pt x="25" y="115"/>
                  </a:cubicBezTo>
                  <a:cubicBezTo>
                    <a:pt x="25" y="115"/>
                    <a:pt x="25" y="116"/>
                    <a:pt x="25" y="116"/>
                  </a:cubicBezTo>
                  <a:cubicBezTo>
                    <a:pt x="23" y="117"/>
                    <a:pt x="22" y="118"/>
                    <a:pt x="22" y="120"/>
                  </a:cubicBezTo>
                  <a:cubicBezTo>
                    <a:pt x="22" y="120"/>
                    <a:pt x="22" y="120"/>
                    <a:pt x="22" y="120"/>
                  </a:cubicBezTo>
                  <a:cubicBezTo>
                    <a:pt x="22" y="127"/>
                    <a:pt x="23" y="133"/>
                    <a:pt x="30" y="138"/>
                  </a:cubicBezTo>
                  <a:cubicBezTo>
                    <a:pt x="35" y="137"/>
                    <a:pt x="37" y="131"/>
                    <a:pt x="39" y="126"/>
                  </a:cubicBezTo>
                  <a:cubicBezTo>
                    <a:pt x="39" y="119"/>
                    <a:pt x="39" y="119"/>
                    <a:pt x="39" y="74"/>
                  </a:cubicBezTo>
                  <a:cubicBezTo>
                    <a:pt x="41" y="73"/>
                    <a:pt x="42" y="72"/>
                    <a:pt x="44" y="7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26">
              <a:extLst>
                <a:ext uri="{FF2B5EF4-FFF2-40B4-BE49-F238E27FC236}">
                  <a16:creationId xmlns:a16="http://schemas.microsoft.com/office/drawing/2014/main" id="{68688905-1225-4984-8FAF-517F788D8D85}"/>
                </a:ext>
              </a:extLst>
            </p:cNvPr>
            <p:cNvSpPr/>
            <p:nvPr/>
          </p:nvSpPr>
          <p:spPr bwMode="auto">
            <a:xfrm>
              <a:off x="5843588" y="5413375"/>
              <a:ext cx="141288" cy="152400"/>
            </a:xfrm>
            <a:custGeom>
              <a:avLst/>
              <a:gdLst>
                <a:gd name="T0" fmla="*/ 8 w 25"/>
                <a:gd name="T1" fmla="*/ 1 h 27"/>
                <a:gd name="T2" fmla="*/ 7 w 25"/>
                <a:gd name="T3" fmla="*/ 1 h 27"/>
                <a:gd name="T4" fmla="*/ 6 w 25"/>
                <a:gd name="T5" fmla="*/ 10 h 27"/>
                <a:gd name="T6" fmla="*/ 0 w 25"/>
                <a:gd name="T7" fmla="*/ 25 h 27"/>
                <a:gd name="T8" fmla="*/ 0 w 25"/>
                <a:gd name="T9" fmla="*/ 26 h 27"/>
                <a:gd name="T10" fmla="*/ 3 w 25"/>
                <a:gd name="T11" fmla="*/ 27 h 27"/>
                <a:gd name="T12" fmla="*/ 7 w 25"/>
                <a:gd name="T13" fmla="*/ 26 h 27"/>
                <a:gd name="T14" fmla="*/ 23 w 25"/>
                <a:gd name="T15" fmla="*/ 11 h 27"/>
                <a:gd name="T16" fmla="*/ 8 w 25"/>
                <a:gd name="T1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7">
                  <a:moveTo>
                    <a:pt x="8" y="1"/>
                  </a:moveTo>
                  <a:cubicBezTo>
                    <a:pt x="8" y="1"/>
                    <a:pt x="8" y="1"/>
                    <a:pt x="7" y="1"/>
                  </a:cubicBezTo>
                  <a:cubicBezTo>
                    <a:pt x="4" y="3"/>
                    <a:pt x="2" y="7"/>
                    <a:pt x="6" y="10"/>
                  </a:cubicBezTo>
                  <a:cubicBezTo>
                    <a:pt x="8" y="18"/>
                    <a:pt x="2" y="20"/>
                    <a:pt x="0" y="25"/>
                  </a:cubicBezTo>
                  <a:cubicBezTo>
                    <a:pt x="0" y="25"/>
                    <a:pt x="0" y="26"/>
                    <a:pt x="0" y="26"/>
                  </a:cubicBezTo>
                  <a:cubicBezTo>
                    <a:pt x="1" y="26"/>
                    <a:pt x="2" y="27"/>
                    <a:pt x="3" y="27"/>
                  </a:cubicBezTo>
                  <a:cubicBezTo>
                    <a:pt x="4" y="27"/>
                    <a:pt x="6" y="26"/>
                    <a:pt x="7" y="26"/>
                  </a:cubicBezTo>
                  <a:cubicBezTo>
                    <a:pt x="15" y="24"/>
                    <a:pt x="25" y="21"/>
                    <a:pt x="23" y="11"/>
                  </a:cubicBezTo>
                  <a:cubicBezTo>
                    <a:pt x="19" y="2"/>
                    <a:pt x="15" y="0"/>
                    <a:pt x="8"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27">
              <a:extLst>
                <a:ext uri="{FF2B5EF4-FFF2-40B4-BE49-F238E27FC236}">
                  <a16:creationId xmlns:a16="http://schemas.microsoft.com/office/drawing/2014/main" id="{C62AF2F4-6DED-4825-93EC-9E2C64EFB788}"/>
                </a:ext>
              </a:extLst>
            </p:cNvPr>
            <p:cNvSpPr/>
            <p:nvPr/>
          </p:nvSpPr>
          <p:spPr bwMode="auto">
            <a:xfrm>
              <a:off x="5435600" y="4975225"/>
              <a:ext cx="144463" cy="136525"/>
            </a:xfrm>
            <a:custGeom>
              <a:avLst/>
              <a:gdLst>
                <a:gd name="T0" fmla="*/ 14 w 26"/>
                <a:gd name="T1" fmla="*/ 24 h 24"/>
                <a:gd name="T2" fmla="*/ 25 w 26"/>
                <a:gd name="T3" fmla="*/ 20 h 24"/>
                <a:gd name="T4" fmla="*/ 25 w 26"/>
                <a:gd name="T5" fmla="*/ 20 h 24"/>
                <a:gd name="T6" fmla="*/ 25 w 26"/>
                <a:gd name="T7" fmla="*/ 19 h 24"/>
                <a:gd name="T8" fmla="*/ 22 w 26"/>
                <a:gd name="T9" fmla="*/ 7 h 24"/>
                <a:gd name="T10" fmla="*/ 14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14" y="24"/>
                  </a:moveTo>
                  <a:cubicBezTo>
                    <a:pt x="20" y="24"/>
                    <a:pt x="21" y="24"/>
                    <a:pt x="25" y="20"/>
                  </a:cubicBezTo>
                  <a:cubicBezTo>
                    <a:pt x="25" y="20"/>
                    <a:pt x="25" y="20"/>
                    <a:pt x="25" y="20"/>
                  </a:cubicBezTo>
                  <a:cubicBezTo>
                    <a:pt x="25" y="20"/>
                    <a:pt x="25" y="20"/>
                    <a:pt x="25" y="19"/>
                  </a:cubicBezTo>
                  <a:cubicBezTo>
                    <a:pt x="26" y="13"/>
                    <a:pt x="23" y="8"/>
                    <a:pt x="22" y="7"/>
                  </a:cubicBezTo>
                  <a:cubicBezTo>
                    <a:pt x="9" y="0"/>
                    <a:pt x="0" y="17"/>
                    <a:pt x="14" y="2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28">
              <a:extLst>
                <a:ext uri="{FF2B5EF4-FFF2-40B4-BE49-F238E27FC236}">
                  <a16:creationId xmlns:a16="http://schemas.microsoft.com/office/drawing/2014/main" id="{E02430A2-35E0-4D19-B202-8F94AE4ACC8C}"/>
                </a:ext>
              </a:extLst>
            </p:cNvPr>
            <p:cNvSpPr/>
            <p:nvPr/>
          </p:nvSpPr>
          <p:spPr bwMode="auto">
            <a:xfrm>
              <a:off x="5603875" y="5032375"/>
              <a:ext cx="106363" cy="114300"/>
            </a:xfrm>
            <a:custGeom>
              <a:avLst/>
              <a:gdLst>
                <a:gd name="T0" fmla="*/ 9 w 19"/>
                <a:gd name="T1" fmla="*/ 20 h 20"/>
                <a:gd name="T2" fmla="*/ 11 w 19"/>
                <a:gd name="T3" fmla="*/ 19 h 20"/>
                <a:gd name="T4" fmla="*/ 13 w 19"/>
                <a:gd name="T5" fmla="*/ 18 h 20"/>
                <a:gd name="T6" fmla="*/ 16 w 19"/>
                <a:gd name="T7" fmla="*/ 1 h 20"/>
                <a:gd name="T8" fmla="*/ 13 w 19"/>
                <a:gd name="T9" fmla="*/ 0 h 20"/>
                <a:gd name="T10" fmla="*/ 9 w 19"/>
                <a:gd name="T11" fmla="*/ 20 h 20"/>
              </a:gdLst>
              <a:ahLst/>
              <a:cxnLst>
                <a:cxn ang="0">
                  <a:pos x="T0" y="T1"/>
                </a:cxn>
                <a:cxn ang="0">
                  <a:pos x="T2" y="T3"/>
                </a:cxn>
                <a:cxn ang="0">
                  <a:pos x="T4" y="T5"/>
                </a:cxn>
                <a:cxn ang="0">
                  <a:pos x="T6" y="T7"/>
                </a:cxn>
                <a:cxn ang="0">
                  <a:pos x="T8" y="T9"/>
                </a:cxn>
                <a:cxn ang="0">
                  <a:pos x="T10" y="T11"/>
                </a:cxn>
              </a:cxnLst>
              <a:rect l="0" t="0" r="r" b="b"/>
              <a:pathLst>
                <a:path w="19" h="20">
                  <a:moveTo>
                    <a:pt x="9" y="20"/>
                  </a:moveTo>
                  <a:cubicBezTo>
                    <a:pt x="10" y="20"/>
                    <a:pt x="10" y="20"/>
                    <a:pt x="11" y="19"/>
                  </a:cubicBezTo>
                  <a:cubicBezTo>
                    <a:pt x="12" y="19"/>
                    <a:pt x="12" y="18"/>
                    <a:pt x="13" y="18"/>
                  </a:cubicBezTo>
                  <a:cubicBezTo>
                    <a:pt x="16" y="13"/>
                    <a:pt x="19" y="5"/>
                    <a:pt x="16" y="1"/>
                  </a:cubicBezTo>
                  <a:cubicBezTo>
                    <a:pt x="15" y="0"/>
                    <a:pt x="14" y="0"/>
                    <a:pt x="13" y="0"/>
                  </a:cubicBezTo>
                  <a:cubicBezTo>
                    <a:pt x="6" y="1"/>
                    <a:pt x="0" y="14"/>
                    <a:pt x="9" y="2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Freeform 29">
              <a:extLst>
                <a:ext uri="{FF2B5EF4-FFF2-40B4-BE49-F238E27FC236}">
                  <a16:creationId xmlns:a16="http://schemas.microsoft.com/office/drawing/2014/main" id="{B62994BA-DFBE-4F9F-9166-F47A5EF73307}"/>
                </a:ext>
              </a:extLst>
            </p:cNvPr>
            <p:cNvSpPr/>
            <p:nvPr/>
          </p:nvSpPr>
          <p:spPr bwMode="auto">
            <a:xfrm>
              <a:off x="6230938" y="5043488"/>
              <a:ext cx="212725" cy="504825"/>
            </a:xfrm>
            <a:custGeom>
              <a:avLst/>
              <a:gdLst>
                <a:gd name="T0" fmla="*/ 33 w 38"/>
                <a:gd name="T1" fmla="*/ 59 h 89"/>
                <a:gd name="T2" fmla="*/ 24 w 38"/>
                <a:gd name="T3" fmla="*/ 44 h 89"/>
                <a:gd name="T4" fmla="*/ 38 w 38"/>
                <a:gd name="T5" fmla="*/ 30 h 89"/>
                <a:gd name="T6" fmla="*/ 38 w 38"/>
                <a:gd name="T7" fmla="*/ 30 h 89"/>
                <a:gd name="T8" fmla="*/ 38 w 38"/>
                <a:gd name="T9" fmla="*/ 30 h 89"/>
                <a:gd name="T10" fmla="*/ 38 w 38"/>
                <a:gd name="T11" fmla="*/ 30 h 89"/>
                <a:gd name="T12" fmla="*/ 38 w 38"/>
                <a:gd name="T13" fmla="*/ 30 h 89"/>
                <a:gd name="T14" fmla="*/ 38 w 38"/>
                <a:gd name="T15" fmla="*/ 30 h 89"/>
                <a:gd name="T16" fmla="*/ 38 w 38"/>
                <a:gd name="T17" fmla="*/ 30 h 89"/>
                <a:gd name="T18" fmla="*/ 38 w 38"/>
                <a:gd name="T19" fmla="*/ 30 h 89"/>
                <a:gd name="T20" fmla="*/ 38 w 38"/>
                <a:gd name="T21" fmla="*/ 30 h 89"/>
                <a:gd name="T22" fmla="*/ 38 w 38"/>
                <a:gd name="T23" fmla="*/ 30 h 89"/>
                <a:gd name="T24" fmla="*/ 38 w 38"/>
                <a:gd name="T25" fmla="*/ 29 h 89"/>
                <a:gd name="T26" fmla="*/ 38 w 38"/>
                <a:gd name="T27" fmla="*/ 29 h 89"/>
                <a:gd name="T28" fmla="*/ 38 w 38"/>
                <a:gd name="T29" fmla="*/ 29 h 89"/>
                <a:gd name="T30" fmla="*/ 38 w 38"/>
                <a:gd name="T31" fmla="*/ 29 h 89"/>
                <a:gd name="T32" fmla="*/ 38 w 38"/>
                <a:gd name="T33" fmla="*/ 29 h 89"/>
                <a:gd name="T34" fmla="*/ 38 w 38"/>
                <a:gd name="T35" fmla="*/ 29 h 89"/>
                <a:gd name="T36" fmla="*/ 38 w 38"/>
                <a:gd name="T37" fmla="*/ 29 h 89"/>
                <a:gd name="T38" fmla="*/ 38 w 38"/>
                <a:gd name="T39" fmla="*/ 29 h 89"/>
                <a:gd name="T40" fmla="*/ 38 w 38"/>
                <a:gd name="T41" fmla="*/ 29 h 89"/>
                <a:gd name="T42" fmla="*/ 38 w 38"/>
                <a:gd name="T43" fmla="*/ 29 h 89"/>
                <a:gd name="T44" fmla="*/ 38 w 38"/>
                <a:gd name="T45" fmla="*/ 29 h 89"/>
                <a:gd name="T46" fmla="*/ 38 w 38"/>
                <a:gd name="T47" fmla="*/ 29 h 89"/>
                <a:gd name="T48" fmla="*/ 38 w 38"/>
                <a:gd name="T49" fmla="*/ 29 h 89"/>
                <a:gd name="T50" fmla="*/ 38 w 38"/>
                <a:gd name="T51" fmla="*/ 29 h 89"/>
                <a:gd name="T52" fmla="*/ 38 w 38"/>
                <a:gd name="T53" fmla="*/ 29 h 89"/>
                <a:gd name="T54" fmla="*/ 38 w 38"/>
                <a:gd name="T55" fmla="*/ 29 h 89"/>
                <a:gd name="T56" fmla="*/ 38 w 38"/>
                <a:gd name="T57" fmla="*/ 29 h 89"/>
                <a:gd name="T58" fmla="*/ 38 w 38"/>
                <a:gd name="T59" fmla="*/ 29 h 89"/>
                <a:gd name="T60" fmla="*/ 38 w 38"/>
                <a:gd name="T61" fmla="*/ 29 h 89"/>
                <a:gd name="T62" fmla="*/ 38 w 38"/>
                <a:gd name="T63" fmla="*/ 29 h 89"/>
                <a:gd name="T64" fmla="*/ 38 w 38"/>
                <a:gd name="T65" fmla="*/ 28 h 89"/>
                <a:gd name="T66" fmla="*/ 38 w 38"/>
                <a:gd name="T67" fmla="*/ 28 h 89"/>
                <a:gd name="T68" fmla="*/ 38 w 38"/>
                <a:gd name="T69" fmla="*/ 28 h 89"/>
                <a:gd name="T70" fmla="*/ 29 w 38"/>
                <a:gd name="T71" fmla="*/ 19 h 89"/>
                <a:gd name="T72" fmla="*/ 17 w 38"/>
                <a:gd name="T73" fmla="*/ 8 h 89"/>
                <a:gd name="T74" fmla="*/ 3 w 38"/>
                <a:gd name="T75" fmla="*/ 37 h 89"/>
                <a:gd name="T76" fmla="*/ 7 w 38"/>
                <a:gd name="T77" fmla="*/ 68 h 89"/>
                <a:gd name="T78" fmla="*/ 37 w 38"/>
                <a:gd name="T79" fmla="*/ 5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89">
                  <a:moveTo>
                    <a:pt x="33" y="58"/>
                  </a:moveTo>
                  <a:cubicBezTo>
                    <a:pt x="33" y="58"/>
                    <a:pt x="33" y="58"/>
                    <a:pt x="33" y="59"/>
                  </a:cubicBezTo>
                  <a:cubicBezTo>
                    <a:pt x="30" y="61"/>
                    <a:pt x="26" y="69"/>
                    <a:pt x="22" y="70"/>
                  </a:cubicBezTo>
                  <a:cubicBezTo>
                    <a:pt x="21" y="61"/>
                    <a:pt x="23" y="52"/>
                    <a:pt x="24" y="44"/>
                  </a:cubicBezTo>
                  <a:cubicBezTo>
                    <a:pt x="26" y="39"/>
                    <a:pt x="27" y="39"/>
                    <a:pt x="32" y="37"/>
                  </a:cubicBezTo>
                  <a:cubicBezTo>
                    <a:pt x="35" y="35"/>
                    <a:pt x="37" y="33"/>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7" y="21"/>
                    <a:pt x="35" y="20"/>
                    <a:pt x="29" y="19"/>
                  </a:cubicBezTo>
                  <a:cubicBezTo>
                    <a:pt x="28" y="14"/>
                    <a:pt x="29" y="9"/>
                    <a:pt x="28" y="4"/>
                  </a:cubicBezTo>
                  <a:cubicBezTo>
                    <a:pt x="25" y="0"/>
                    <a:pt x="19" y="5"/>
                    <a:pt x="17" y="8"/>
                  </a:cubicBezTo>
                  <a:cubicBezTo>
                    <a:pt x="10" y="13"/>
                    <a:pt x="15" y="20"/>
                    <a:pt x="14" y="29"/>
                  </a:cubicBezTo>
                  <a:cubicBezTo>
                    <a:pt x="11" y="31"/>
                    <a:pt x="6" y="34"/>
                    <a:pt x="3" y="37"/>
                  </a:cubicBezTo>
                  <a:cubicBezTo>
                    <a:pt x="0" y="45"/>
                    <a:pt x="1" y="47"/>
                    <a:pt x="9" y="50"/>
                  </a:cubicBezTo>
                  <a:cubicBezTo>
                    <a:pt x="10" y="54"/>
                    <a:pt x="7" y="64"/>
                    <a:pt x="7" y="68"/>
                  </a:cubicBezTo>
                  <a:cubicBezTo>
                    <a:pt x="7" y="74"/>
                    <a:pt x="6" y="85"/>
                    <a:pt x="13" y="89"/>
                  </a:cubicBezTo>
                  <a:cubicBezTo>
                    <a:pt x="21" y="87"/>
                    <a:pt x="38" y="67"/>
                    <a:pt x="37" y="57"/>
                  </a:cubicBezTo>
                  <a:cubicBezTo>
                    <a:pt x="36" y="57"/>
                    <a:pt x="35" y="57"/>
                    <a:pt x="33" y="58"/>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Freeform 30">
              <a:extLst>
                <a:ext uri="{FF2B5EF4-FFF2-40B4-BE49-F238E27FC236}">
                  <a16:creationId xmlns:a16="http://schemas.microsoft.com/office/drawing/2014/main" id="{F36AF06F-EF09-4667-8C4C-A2A15214B5AF}"/>
                </a:ext>
              </a:extLst>
            </p:cNvPr>
            <p:cNvSpPr/>
            <p:nvPr/>
          </p:nvSpPr>
          <p:spPr bwMode="auto">
            <a:xfrm>
              <a:off x="6443663" y="5140325"/>
              <a:ext cx="101600" cy="352425"/>
            </a:xfrm>
            <a:custGeom>
              <a:avLst/>
              <a:gdLst>
                <a:gd name="T0" fmla="*/ 4 w 18"/>
                <a:gd name="T1" fmla="*/ 10 h 62"/>
                <a:gd name="T2" fmla="*/ 3 w 18"/>
                <a:gd name="T3" fmla="*/ 43 h 62"/>
                <a:gd name="T4" fmla="*/ 0 w 18"/>
                <a:gd name="T5" fmla="*/ 57 h 62"/>
                <a:gd name="T6" fmla="*/ 0 w 18"/>
                <a:gd name="T7" fmla="*/ 59 h 62"/>
                <a:gd name="T8" fmla="*/ 1 w 18"/>
                <a:gd name="T9" fmla="*/ 62 h 62"/>
                <a:gd name="T10" fmla="*/ 10 w 18"/>
                <a:gd name="T11" fmla="*/ 56 h 62"/>
                <a:gd name="T12" fmla="*/ 16 w 18"/>
                <a:gd name="T13" fmla="*/ 9 h 62"/>
                <a:gd name="T14" fmla="*/ 4 w 18"/>
                <a:gd name="T15" fmla="*/ 1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62">
                  <a:moveTo>
                    <a:pt x="4" y="10"/>
                  </a:moveTo>
                  <a:cubicBezTo>
                    <a:pt x="5" y="21"/>
                    <a:pt x="5" y="32"/>
                    <a:pt x="3" y="43"/>
                  </a:cubicBezTo>
                  <a:cubicBezTo>
                    <a:pt x="2" y="47"/>
                    <a:pt x="0" y="52"/>
                    <a:pt x="0" y="57"/>
                  </a:cubicBezTo>
                  <a:cubicBezTo>
                    <a:pt x="0" y="57"/>
                    <a:pt x="0" y="58"/>
                    <a:pt x="0" y="59"/>
                  </a:cubicBezTo>
                  <a:cubicBezTo>
                    <a:pt x="0" y="60"/>
                    <a:pt x="0" y="61"/>
                    <a:pt x="1" y="62"/>
                  </a:cubicBezTo>
                  <a:cubicBezTo>
                    <a:pt x="4" y="62"/>
                    <a:pt x="7" y="60"/>
                    <a:pt x="10" y="56"/>
                  </a:cubicBezTo>
                  <a:cubicBezTo>
                    <a:pt x="16" y="43"/>
                    <a:pt x="18" y="23"/>
                    <a:pt x="16" y="9"/>
                  </a:cubicBezTo>
                  <a:cubicBezTo>
                    <a:pt x="13" y="0"/>
                    <a:pt x="7" y="4"/>
                    <a:pt x="4" y="1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31">
              <a:extLst>
                <a:ext uri="{FF2B5EF4-FFF2-40B4-BE49-F238E27FC236}">
                  <a16:creationId xmlns:a16="http://schemas.microsoft.com/office/drawing/2014/main" id="{D06010F1-F40C-4D2C-91C5-89A3A0C6DC77}"/>
                </a:ext>
              </a:extLst>
            </p:cNvPr>
            <p:cNvSpPr/>
            <p:nvPr/>
          </p:nvSpPr>
          <p:spPr bwMode="auto">
            <a:xfrm>
              <a:off x="6640513" y="4999038"/>
              <a:ext cx="84138" cy="681038"/>
            </a:xfrm>
            <a:custGeom>
              <a:avLst/>
              <a:gdLst>
                <a:gd name="T0" fmla="*/ 11 w 15"/>
                <a:gd name="T1" fmla="*/ 2 h 120"/>
                <a:gd name="T2" fmla="*/ 2 w 15"/>
                <a:gd name="T3" fmla="*/ 4 h 120"/>
                <a:gd name="T4" fmla="*/ 2 w 15"/>
                <a:gd name="T5" fmla="*/ 6 h 120"/>
                <a:gd name="T6" fmla="*/ 2 w 15"/>
                <a:gd name="T7" fmla="*/ 113 h 120"/>
                <a:gd name="T8" fmla="*/ 4 w 15"/>
                <a:gd name="T9" fmla="*/ 120 h 120"/>
                <a:gd name="T10" fmla="*/ 15 w 15"/>
                <a:gd name="T11" fmla="*/ 107 h 120"/>
                <a:gd name="T12" fmla="*/ 15 w 15"/>
                <a:gd name="T13" fmla="*/ 69 h 120"/>
                <a:gd name="T14" fmla="*/ 15 w 15"/>
                <a:gd name="T15" fmla="*/ 55 h 120"/>
                <a:gd name="T16" fmla="*/ 15 w 15"/>
                <a:gd name="T17" fmla="*/ 6 h 120"/>
                <a:gd name="T18" fmla="*/ 11 w 15"/>
                <a:gd name="T1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1" y="2"/>
                  </a:moveTo>
                  <a:cubicBezTo>
                    <a:pt x="7" y="0"/>
                    <a:pt x="5" y="2"/>
                    <a:pt x="2" y="4"/>
                  </a:cubicBezTo>
                  <a:cubicBezTo>
                    <a:pt x="2" y="5"/>
                    <a:pt x="2" y="6"/>
                    <a:pt x="2" y="6"/>
                  </a:cubicBezTo>
                  <a:cubicBezTo>
                    <a:pt x="3" y="41"/>
                    <a:pt x="4" y="77"/>
                    <a:pt x="2" y="113"/>
                  </a:cubicBezTo>
                  <a:cubicBezTo>
                    <a:pt x="1" y="116"/>
                    <a:pt x="0" y="118"/>
                    <a:pt x="4" y="120"/>
                  </a:cubicBezTo>
                  <a:cubicBezTo>
                    <a:pt x="12" y="120"/>
                    <a:pt x="13" y="116"/>
                    <a:pt x="15" y="107"/>
                  </a:cubicBezTo>
                  <a:cubicBezTo>
                    <a:pt x="15" y="99"/>
                    <a:pt x="15" y="69"/>
                    <a:pt x="15" y="69"/>
                  </a:cubicBezTo>
                  <a:cubicBezTo>
                    <a:pt x="15" y="66"/>
                    <a:pt x="15" y="56"/>
                    <a:pt x="15" y="55"/>
                  </a:cubicBezTo>
                  <a:cubicBezTo>
                    <a:pt x="15" y="26"/>
                    <a:pt x="15" y="26"/>
                    <a:pt x="15" y="6"/>
                  </a:cubicBezTo>
                  <a:cubicBezTo>
                    <a:pt x="14" y="4"/>
                    <a:pt x="13" y="3"/>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32">
              <a:extLst>
                <a:ext uri="{FF2B5EF4-FFF2-40B4-BE49-F238E27FC236}">
                  <a16:creationId xmlns:a16="http://schemas.microsoft.com/office/drawing/2014/main" id="{86B3FADD-EC93-452D-B4E3-B70F75EAA205}"/>
                </a:ext>
              </a:extLst>
            </p:cNvPr>
            <p:cNvSpPr/>
            <p:nvPr/>
          </p:nvSpPr>
          <p:spPr bwMode="auto">
            <a:xfrm>
              <a:off x="6538913" y="5157788"/>
              <a:ext cx="101600" cy="260350"/>
            </a:xfrm>
            <a:custGeom>
              <a:avLst/>
              <a:gdLst>
                <a:gd name="T0" fmla="*/ 15 w 18"/>
                <a:gd name="T1" fmla="*/ 3 h 46"/>
                <a:gd name="T2" fmla="*/ 6 w 18"/>
                <a:gd name="T3" fmla="*/ 16 h 46"/>
                <a:gd name="T4" fmla="*/ 8 w 18"/>
                <a:gd name="T5" fmla="*/ 46 h 46"/>
                <a:gd name="T6" fmla="*/ 13 w 18"/>
                <a:gd name="T7" fmla="*/ 44 h 46"/>
                <a:gd name="T8" fmla="*/ 18 w 18"/>
                <a:gd name="T9" fmla="*/ 6 h 46"/>
                <a:gd name="T10" fmla="*/ 15 w 18"/>
                <a:gd name="T11" fmla="*/ 3 h 46"/>
              </a:gdLst>
              <a:ahLst/>
              <a:cxnLst>
                <a:cxn ang="0">
                  <a:pos x="T0" y="T1"/>
                </a:cxn>
                <a:cxn ang="0">
                  <a:pos x="T2" y="T3"/>
                </a:cxn>
                <a:cxn ang="0">
                  <a:pos x="T4" y="T5"/>
                </a:cxn>
                <a:cxn ang="0">
                  <a:pos x="T6" y="T7"/>
                </a:cxn>
                <a:cxn ang="0">
                  <a:pos x="T8" y="T9"/>
                </a:cxn>
                <a:cxn ang="0">
                  <a:pos x="T10" y="T11"/>
                </a:cxn>
              </a:cxnLst>
              <a:rect l="0" t="0" r="r" b="b"/>
              <a:pathLst>
                <a:path w="18" h="46">
                  <a:moveTo>
                    <a:pt x="15" y="3"/>
                  </a:moveTo>
                  <a:cubicBezTo>
                    <a:pt x="9" y="0"/>
                    <a:pt x="8" y="11"/>
                    <a:pt x="6" y="16"/>
                  </a:cubicBezTo>
                  <a:cubicBezTo>
                    <a:pt x="5" y="22"/>
                    <a:pt x="0" y="42"/>
                    <a:pt x="8" y="46"/>
                  </a:cubicBezTo>
                  <a:cubicBezTo>
                    <a:pt x="10" y="46"/>
                    <a:pt x="12" y="45"/>
                    <a:pt x="13" y="44"/>
                  </a:cubicBezTo>
                  <a:cubicBezTo>
                    <a:pt x="18" y="32"/>
                    <a:pt x="17" y="18"/>
                    <a:pt x="18" y="6"/>
                  </a:cubicBezTo>
                  <a:cubicBezTo>
                    <a:pt x="17" y="5"/>
                    <a:pt x="16" y="4"/>
                    <a:pt x="15" y="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33">
              <a:extLst>
                <a:ext uri="{FF2B5EF4-FFF2-40B4-BE49-F238E27FC236}">
                  <a16:creationId xmlns:a16="http://schemas.microsoft.com/office/drawing/2014/main" id="{EFD5205F-61E3-4ED3-AD30-3CCE68D455DE}"/>
                </a:ext>
              </a:extLst>
            </p:cNvPr>
            <p:cNvSpPr/>
            <p:nvPr/>
          </p:nvSpPr>
          <p:spPr bwMode="auto">
            <a:xfrm>
              <a:off x="7262813" y="5356225"/>
              <a:ext cx="285750" cy="255588"/>
            </a:xfrm>
            <a:custGeom>
              <a:avLst/>
              <a:gdLst>
                <a:gd name="T0" fmla="*/ 37 w 51"/>
                <a:gd name="T1" fmla="*/ 29 h 45"/>
                <a:gd name="T2" fmla="*/ 36 w 51"/>
                <a:gd name="T3" fmla="*/ 29 h 45"/>
                <a:gd name="T4" fmla="*/ 36 w 51"/>
                <a:gd name="T5" fmla="*/ 28 h 45"/>
                <a:gd name="T6" fmla="*/ 35 w 51"/>
                <a:gd name="T7" fmla="*/ 28 h 45"/>
                <a:gd name="T8" fmla="*/ 29 w 51"/>
                <a:gd name="T9" fmla="*/ 23 h 45"/>
                <a:gd name="T10" fmla="*/ 27 w 51"/>
                <a:gd name="T11" fmla="*/ 22 h 45"/>
                <a:gd name="T12" fmla="*/ 24 w 51"/>
                <a:gd name="T13" fmla="*/ 19 h 45"/>
                <a:gd name="T14" fmla="*/ 22 w 51"/>
                <a:gd name="T15" fmla="*/ 17 h 45"/>
                <a:gd name="T16" fmla="*/ 18 w 51"/>
                <a:gd name="T17" fmla="*/ 14 h 45"/>
                <a:gd name="T18" fmla="*/ 18 w 51"/>
                <a:gd name="T19" fmla="*/ 14 h 45"/>
                <a:gd name="T20" fmla="*/ 13 w 51"/>
                <a:gd name="T21" fmla="*/ 8 h 45"/>
                <a:gd name="T22" fmla="*/ 7 w 51"/>
                <a:gd name="T23" fmla="*/ 0 h 45"/>
                <a:gd name="T24" fmla="*/ 1 w 51"/>
                <a:gd name="T25" fmla="*/ 6 h 45"/>
                <a:gd name="T26" fmla="*/ 13 w 51"/>
                <a:gd name="T27" fmla="*/ 28 h 45"/>
                <a:gd name="T28" fmla="*/ 32 w 51"/>
                <a:gd name="T29" fmla="*/ 44 h 45"/>
                <a:gd name="T30" fmla="*/ 50 w 51"/>
                <a:gd name="T31" fmla="*/ 39 h 45"/>
                <a:gd name="T32" fmla="*/ 50 w 51"/>
                <a:gd name="T33" fmla="*/ 36 h 45"/>
                <a:gd name="T34" fmla="*/ 37 w 51"/>
                <a:gd name="T3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45">
                  <a:moveTo>
                    <a:pt x="37" y="29"/>
                  </a:moveTo>
                  <a:cubicBezTo>
                    <a:pt x="37" y="29"/>
                    <a:pt x="36" y="29"/>
                    <a:pt x="36" y="29"/>
                  </a:cubicBezTo>
                  <a:cubicBezTo>
                    <a:pt x="35" y="28"/>
                    <a:pt x="36" y="28"/>
                    <a:pt x="36" y="28"/>
                  </a:cubicBezTo>
                  <a:cubicBezTo>
                    <a:pt x="35" y="28"/>
                    <a:pt x="35" y="28"/>
                    <a:pt x="35" y="28"/>
                  </a:cubicBezTo>
                  <a:cubicBezTo>
                    <a:pt x="33" y="27"/>
                    <a:pt x="30" y="24"/>
                    <a:pt x="29" y="23"/>
                  </a:cubicBezTo>
                  <a:cubicBezTo>
                    <a:pt x="29" y="23"/>
                    <a:pt x="27" y="22"/>
                    <a:pt x="27" y="22"/>
                  </a:cubicBezTo>
                  <a:cubicBezTo>
                    <a:pt x="25" y="21"/>
                    <a:pt x="25" y="20"/>
                    <a:pt x="24" y="19"/>
                  </a:cubicBezTo>
                  <a:cubicBezTo>
                    <a:pt x="23" y="18"/>
                    <a:pt x="23" y="18"/>
                    <a:pt x="22" y="17"/>
                  </a:cubicBezTo>
                  <a:cubicBezTo>
                    <a:pt x="20" y="16"/>
                    <a:pt x="19" y="15"/>
                    <a:pt x="18" y="14"/>
                  </a:cubicBezTo>
                  <a:cubicBezTo>
                    <a:pt x="18" y="14"/>
                    <a:pt x="18" y="14"/>
                    <a:pt x="18" y="14"/>
                  </a:cubicBezTo>
                  <a:cubicBezTo>
                    <a:pt x="16" y="11"/>
                    <a:pt x="14" y="9"/>
                    <a:pt x="13" y="8"/>
                  </a:cubicBezTo>
                  <a:cubicBezTo>
                    <a:pt x="11" y="5"/>
                    <a:pt x="9" y="3"/>
                    <a:pt x="7" y="0"/>
                  </a:cubicBezTo>
                  <a:cubicBezTo>
                    <a:pt x="3" y="0"/>
                    <a:pt x="0" y="2"/>
                    <a:pt x="1" y="6"/>
                  </a:cubicBezTo>
                  <a:cubicBezTo>
                    <a:pt x="3" y="14"/>
                    <a:pt x="7" y="21"/>
                    <a:pt x="13" y="28"/>
                  </a:cubicBezTo>
                  <a:cubicBezTo>
                    <a:pt x="18" y="35"/>
                    <a:pt x="25" y="41"/>
                    <a:pt x="32" y="44"/>
                  </a:cubicBezTo>
                  <a:cubicBezTo>
                    <a:pt x="39" y="44"/>
                    <a:pt x="45" y="45"/>
                    <a:pt x="50" y="39"/>
                  </a:cubicBezTo>
                  <a:cubicBezTo>
                    <a:pt x="50" y="38"/>
                    <a:pt x="51" y="37"/>
                    <a:pt x="50" y="36"/>
                  </a:cubicBezTo>
                  <a:cubicBezTo>
                    <a:pt x="45" y="33"/>
                    <a:pt x="41" y="31"/>
                    <a:pt x="37"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Freeform 34">
              <a:extLst>
                <a:ext uri="{FF2B5EF4-FFF2-40B4-BE49-F238E27FC236}">
                  <a16:creationId xmlns:a16="http://schemas.microsoft.com/office/drawing/2014/main" id="{FCCCDAA9-C1DA-4507-B41F-564F37640CA3}"/>
                </a:ext>
              </a:extLst>
            </p:cNvPr>
            <p:cNvSpPr/>
            <p:nvPr/>
          </p:nvSpPr>
          <p:spPr bwMode="auto">
            <a:xfrm>
              <a:off x="7016750" y="4999038"/>
              <a:ext cx="392113" cy="595313"/>
            </a:xfrm>
            <a:custGeom>
              <a:avLst/>
              <a:gdLst>
                <a:gd name="T0" fmla="*/ 57 w 70"/>
                <a:gd name="T1" fmla="*/ 41 h 105"/>
                <a:gd name="T2" fmla="*/ 68 w 70"/>
                <a:gd name="T3" fmla="*/ 25 h 105"/>
                <a:gd name="T4" fmla="*/ 60 w 70"/>
                <a:gd name="T5" fmla="*/ 19 h 105"/>
                <a:gd name="T6" fmla="*/ 57 w 70"/>
                <a:gd name="T7" fmla="*/ 21 h 105"/>
                <a:gd name="T8" fmla="*/ 52 w 70"/>
                <a:gd name="T9" fmla="*/ 24 h 105"/>
                <a:gd name="T10" fmla="*/ 51 w 70"/>
                <a:gd name="T11" fmla="*/ 8 h 105"/>
                <a:gd name="T12" fmla="*/ 41 w 70"/>
                <a:gd name="T13" fmla="*/ 0 h 105"/>
                <a:gd name="T14" fmla="*/ 39 w 70"/>
                <a:gd name="T15" fmla="*/ 9 h 105"/>
                <a:gd name="T16" fmla="*/ 39 w 70"/>
                <a:gd name="T17" fmla="*/ 28 h 105"/>
                <a:gd name="T18" fmla="*/ 18 w 70"/>
                <a:gd name="T19" fmla="*/ 39 h 105"/>
                <a:gd name="T20" fmla="*/ 14 w 70"/>
                <a:gd name="T21" fmla="*/ 49 h 105"/>
                <a:gd name="T22" fmla="*/ 28 w 70"/>
                <a:gd name="T23" fmla="*/ 54 h 105"/>
                <a:gd name="T24" fmla="*/ 27 w 70"/>
                <a:gd name="T25" fmla="*/ 62 h 105"/>
                <a:gd name="T26" fmla="*/ 21 w 70"/>
                <a:gd name="T27" fmla="*/ 76 h 105"/>
                <a:gd name="T28" fmla="*/ 1 w 70"/>
                <a:gd name="T29" fmla="*/ 96 h 105"/>
                <a:gd name="T30" fmla="*/ 0 w 70"/>
                <a:gd name="T31" fmla="*/ 98 h 105"/>
                <a:gd name="T32" fmla="*/ 8 w 70"/>
                <a:gd name="T33" fmla="*/ 105 h 105"/>
                <a:gd name="T34" fmla="*/ 20 w 70"/>
                <a:gd name="T35" fmla="*/ 102 h 105"/>
                <a:gd name="T36" fmla="*/ 39 w 70"/>
                <a:gd name="T37" fmla="*/ 67 h 105"/>
                <a:gd name="T38" fmla="*/ 39 w 70"/>
                <a:gd name="T39" fmla="*/ 66 h 105"/>
                <a:gd name="T40" fmla="*/ 50 w 70"/>
                <a:gd name="T41" fmla="*/ 44 h 105"/>
                <a:gd name="T42" fmla="*/ 57 w 70"/>
                <a:gd name="T43" fmla="*/ 4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5">
                  <a:moveTo>
                    <a:pt x="57" y="41"/>
                  </a:moveTo>
                  <a:cubicBezTo>
                    <a:pt x="63" y="38"/>
                    <a:pt x="70" y="36"/>
                    <a:pt x="68" y="25"/>
                  </a:cubicBezTo>
                  <a:cubicBezTo>
                    <a:pt x="65" y="21"/>
                    <a:pt x="64" y="20"/>
                    <a:pt x="60" y="19"/>
                  </a:cubicBezTo>
                  <a:cubicBezTo>
                    <a:pt x="59" y="20"/>
                    <a:pt x="58" y="20"/>
                    <a:pt x="57" y="21"/>
                  </a:cubicBezTo>
                  <a:cubicBezTo>
                    <a:pt x="53" y="23"/>
                    <a:pt x="52" y="24"/>
                    <a:pt x="52" y="24"/>
                  </a:cubicBezTo>
                  <a:cubicBezTo>
                    <a:pt x="51" y="18"/>
                    <a:pt x="51" y="13"/>
                    <a:pt x="51" y="8"/>
                  </a:cubicBezTo>
                  <a:cubicBezTo>
                    <a:pt x="48" y="1"/>
                    <a:pt x="47" y="0"/>
                    <a:pt x="41" y="0"/>
                  </a:cubicBezTo>
                  <a:cubicBezTo>
                    <a:pt x="36" y="1"/>
                    <a:pt x="31" y="6"/>
                    <a:pt x="39" y="9"/>
                  </a:cubicBezTo>
                  <a:cubicBezTo>
                    <a:pt x="42" y="12"/>
                    <a:pt x="41" y="25"/>
                    <a:pt x="39" y="28"/>
                  </a:cubicBezTo>
                  <a:cubicBezTo>
                    <a:pt x="32" y="32"/>
                    <a:pt x="25" y="35"/>
                    <a:pt x="18" y="39"/>
                  </a:cubicBezTo>
                  <a:cubicBezTo>
                    <a:pt x="15" y="42"/>
                    <a:pt x="14" y="45"/>
                    <a:pt x="14" y="49"/>
                  </a:cubicBezTo>
                  <a:cubicBezTo>
                    <a:pt x="16" y="59"/>
                    <a:pt x="21" y="52"/>
                    <a:pt x="28" y="54"/>
                  </a:cubicBezTo>
                  <a:cubicBezTo>
                    <a:pt x="29" y="55"/>
                    <a:pt x="28" y="61"/>
                    <a:pt x="27" y="62"/>
                  </a:cubicBezTo>
                  <a:cubicBezTo>
                    <a:pt x="27" y="65"/>
                    <a:pt x="22" y="75"/>
                    <a:pt x="21" y="76"/>
                  </a:cubicBezTo>
                  <a:cubicBezTo>
                    <a:pt x="19" y="84"/>
                    <a:pt x="7" y="92"/>
                    <a:pt x="1" y="96"/>
                  </a:cubicBezTo>
                  <a:cubicBezTo>
                    <a:pt x="1" y="96"/>
                    <a:pt x="0" y="97"/>
                    <a:pt x="0" y="98"/>
                  </a:cubicBezTo>
                  <a:cubicBezTo>
                    <a:pt x="0" y="103"/>
                    <a:pt x="4" y="105"/>
                    <a:pt x="8" y="105"/>
                  </a:cubicBezTo>
                  <a:cubicBezTo>
                    <a:pt x="13" y="105"/>
                    <a:pt x="16" y="105"/>
                    <a:pt x="20" y="102"/>
                  </a:cubicBezTo>
                  <a:cubicBezTo>
                    <a:pt x="27" y="91"/>
                    <a:pt x="34" y="79"/>
                    <a:pt x="39" y="67"/>
                  </a:cubicBezTo>
                  <a:cubicBezTo>
                    <a:pt x="39" y="67"/>
                    <a:pt x="39" y="66"/>
                    <a:pt x="39" y="66"/>
                  </a:cubicBezTo>
                  <a:cubicBezTo>
                    <a:pt x="41" y="59"/>
                    <a:pt x="46" y="50"/>
                    <a:pt x="50" y="44"/>
                  </a:cubicBezTo>
                  <a:cubicBezTo>
                    <a:pt x="52" y="43"/>
                    <a:pt x="54" y="42"/>
                    <a:pt x="57" y="4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35">
              <a:extLst>
                <a:ext uri="{FF2B5EF4-FFF2-40B4-BE49-F238E27FC236}">
                  <a16:creationId xmlns:a16="http://schemas.microsoft.com/office/drawing/2014/main" id="{8E90C45D-3E10-4E71-9E51-63F7858C30AE}"/>
                </a:ext>
              </a:extLst>
            </p:cNvPr>
            <p:cNvSpPr/>
            <p:nvPr/>
          </p:nvSpPr>
          <p:spPr bwMode="auto">
            <a:xfrm>
              <a:off x="7951788" y="4906963"/>
              <a:ext cx="90488" cy="239713"/>
            </a:xfrm>
            <a:custGeom>
              <a:avLst/>
              <a:gdLst>
                <a:gd name="T0" fmla="*/ 5 w 16"/>
                <a:gd name="T1" fmla="*/ 42 h 42"/>
                <a:gd name="T2" fmla="*/ 9 w 16"/>
                <a:gd name="T3" fmla="*/ 41 h 42"/>
                <a:gd name="T4" fmla="*/ 11 w 16"/>
                <a:gd name="T5" fmla="*/ 37 h 42"/>
                <a:gd name="T6" fmla="*/ 16 w 16"/>
                <a:gd name="T7" fmla="*/ 10 h 42"/>
                <a:gd name="T8" fmla="*/ 14 w 16"/>
                <a:gd name="T9" fmla="*/ 1 h 42"/>
                <a:gd name="T10" fmla="*/ 9 w 16"/>
                <a:gd name="T11" fmla="*/ 2 h 42"/>
                <a:gd name="T12" fmla="*/ 7 w 16"/>
                <a:gd name="T13" fmla="*/ 5 h 42"/>
                <a:gd name="T14" fmla="*/ 2 w 16"/>
                <a:gd name="T15" fmla="*/ 29 h 42"/>
                <a:gd name="T16" fmla="*/ 5 w 16"/>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2">
                  <a:moveTo>
                    <a:pt x="5" y="42"/>
                  </a:moveTo>
                  <a:cubicBezTo>
                    <a:pt x="7" y="42"/>
                    <a:pt x="8" y="42"/>
                    <a:pt x="9" y="41"/>
                  </a:cubicBezTo>
                  <a:cubicBezTo>
                    <a:pt x="10" y="40"/>
                    <a:pt x="11" y="39"/>
                    <a:pt x="11" y="37"/>
                  </a:cubicBezTo>
                  <a:cubicBezTo>
                    <a:pt x="13" y="28"/>
                    <a:pt x="15" y="20"/>
                    <a:pt x="16" y="10"/>
                  </a:cubicBezTo>
                  <a:cubicBezTo>
                    <a:pt x="16" y="7"/>
                    <a:pt x="15" y="4"/>
                    <a:pt x="14" y="1"/>
                  </a:cubicBezTo>
                  <a:cubicBezTo>
                    <a:pt x="11" y="0"/>
                    <a:pt x="9" y="1"/>
                    <a:pt x="9" y="2"/>
                  </a:cubicBezTo>
                  <a:cubicBezTo>
                    <a:pt x="8" y="3"/>
                    <a:pt x="7" y="4"/>
                    <a:pt x="7" y="5"/>
                  </a:cubicBezTo>
                  <a:cubicBezTo>
                    <a:pt x="5" y="13"/>
                    <a:pt x="3" y="21"/>
                    <a:pt x="2" y="29"/>
                  </a:cubicBezTo>
                  <a:cubicBezTo>
                    <a:pt x="2" y="34"/>
                    <a:pt x="0" y="39"/>
                    <a:pt x="5" y="4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Freeform 36">
              <a:extLst>
                <a:ext uri="{FF2B5EF4-FFF2-40B4-BE49-F238E27FC236}">
                  <a16:creationId xmlns:a16="http://schemas.microsoft.com/office/drawing/2014/main" id="{CF41B875-33C0-4B2B-A866-B68F609FEFD0}"/>
                </a:ext>
              </a:extLst>
            </p:cNvPr>
            <p:cNvSpPr/>
            <p:nvPr/>
          </p:nvSpPr>
          <p:spPr bwMode="auto">
            <a:xfrm>
              <a:off x="7907338" y="4845050"/>
              <a:ext cx="392113" cy="425450"/>
            </a:xfrm>
            <a:custGeom>
              <a:avLst/>
              <a:gdLst>
                <a:gd name="T0" fmla="*/ 31 w 70"/>
                <a:gd name="T1" fmla="*/ 43 h 75"/>
                <a:gd name="T2" fmla="*/ 31 w 70"/>
                <a:gd name="T3" fmla="*/ 49 h 75"/>
                <a:gd name="T4" fmla="*/ 29 w 70"/>
                <a:gd name="T5" fmla="*/ 52 h 75"/>
                <a:gd name="T6" fmla="*/ 27 w 70"/>
                <a:gd name="T7" fmla="*/ 55 h 75"/>
                <a:gd name="T8" fmla="*/ 20 w 70"/>
                <a:gd name="T9" fmla="*/ 59 h 75"/>
                <a:gd name="T10" fmla="*/ 16 w 70"/>
                <a:gd name="T11" fmla="*/ 62 h 75"/>
                <a:gd name="T12" fmla="*/ 4 w 70"/>
                <a:gd name="T13" fmla="*/ 69 h 75"/>
                <a:gd name="T14" fmla="*/ 4 w 70"/>
                <a:gd name="T15" fmla="*/ 69 h 75"/>
                <a:gd name="T16" fmla="*/ 0 w 70"/>
                <a:gd name="T17" fmla="*/ 71 h 75"/>
                <a:gd name="T18" fmla="*/ 4 w 70"/>
                <a:gd name="T19" fmla="*/ 73 h 75"/>
                <a:gd name="T20" fmla="*/ 9 w 70"/>
                <a:gd name="T21" fmla="*/ 72 h 75"/>
                <a:gd name="T22" fmla="*/ 17 w 70"/>
                <a:gd name="T23" fmla="*/ 69 h 75"/>
                <a:gd name="T24" fmla="*/ 33 w 70"/>
                <a:gd name="T25" fmla="*/ 64 h 75"/>
                <a:gd name="T26" fmla="*/ 48 w 70"/>
                <a:gd name="T27" fmla="*/ 61 h 75"/>
                <a:gd name="T28" fmla="*/ 53 w 70"/>
                <a:gd name="T29" fmla="*/ 62 h 75"/>
                <a:gd name="T30" fmla="*/ 46 w 70"/>
                <a:gd name="T31" fmla="*/ 73 h 75"/>
                <a:gd name="T32" fmla="*/ 49 w 70"/>
                <a:gd name="T33" fmla="*/ 75 h 75"/>
                <a:gd name="T34" fmla="*/ 70 w 70"/>
                <a:gd name="T35" fmla="*/ 62 h 75"/>
                <a:gd name="T36" fmla="*/ 57 w 70"/>
                <a:gd name="T37" fmla="*/ 50 h 75"/>
                <a:gd name="T38" fmla="*/ 46 w 70"/>
                <a:gd name="T39" fmla="*/ 51 h 75"/>
                <a:gd name="T40" fmla="*/ 36 w 70"/>
                <a:gd name="T41" fmla="*/ 53 h 75"/>
                <a:gd name="T42" fmla="*/ 43 w 70"/>
                <a:gd name="T43" fmla="*/ 47 h 75"/>
                <a:gd name="T44" fmla="*/ 39 w 70"/>
                <a:gd name="T45" fmla="*/ 40 h 75"/>
                <a:gd name="T46" fmla="*/ 49 w 70"/>
                <a:gd name="T47" fmla="*/ 30 h 75"/>
                <a:gd name="T48" fmla="*/ 45 w 70"/>
                <a:gd name="T49" fmla="*/ 26 h 75"/>
                <a:gd name="T50" fmla="*/ 41 w 70"/>
                <a:gd name="T51" fmla="*/ 24 h 75"/>
                <a:gd name="T52" fmla="*/ 47 w 70"/>
                <a:gd name="T53" fmla="*/ 19 h 75"/>
                <a:gd name="T54" fmla="*/ 47 w 70"/>
                <a:gd name="T55" fmla="*/ 3 h 75"/>
                <a:gd name="T56" fmla="*/ 36 w 70"/>
                <a:gd name="T57" fmla="*/ 4 h 75"/>
                <a:gd name="T58" fmla="*/ 36 w 70"/>
                <a:gd name="T59" fmla="*/ 4 h 75"/>
                <a:gd name="T60" fmla="*/ 36 w 70"/>
                <a:gd name="T61" fmla="*/ 16 h 75"/>
                <a:gd name="T62" fmla="*/ 33 w 70"/>
                <a:gd name="T63" fmla="*/ 17 h 75"/>
                <a:gd name="T64" fmla="*/ 31 w 70"/>
                <a:gd name="T65" fmla="*/ 19 h 75"/>
                <a:gd name="T66" fmla="*/ 30 w 70"/>
                <a:gd name="T67" fmla="*/ 27 h 75"/>
                <a:gd name="T68" fmla="*/ 29 w 70"/>
                <a:gd name="T69" fmla="*/ 29 h 75"/>
                <a:gd name="T70" fmla="*/ 25 w 70"/>
                <a:gd name="T71" fmla="*/ 40 h 75"/>
                <a:gd name="T72" fmla="*/ 31 w 70"/>
                <a:gd name="T7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75">
                  <a:moveTo>
                    <a:pt x="31" y="43"/>
                  </a:moveTo>
                  <a:cubicBezTo>
                    <a:pt x="32" y="44"/>
                    <a:pt x="31" y="48"/>
                    <a:pt x="31" y="49"/>
                  </a:cubicBezTo>
                  <a:cubicBezTo>
                    <a:pt x="31" y="50"/>
                    <a:pt x="30" y="51"/>
                    <a:pt x="29" y="52"/>
                  </a:cubicBezTo>
                  <a:cubicBezTo>
                    <a:pt x="29" y="52"/>
                    <a:pt x="27" y="54"/>
                    <a:pt x="27" y="55"/>
                  </a:cubicBezTo>
                  <a:cubicBezTo>
                    <a:pt x="24" y="58"/>
                    <a:pt x="23" y="57"/>
                    <a:pt x="20" y="59"/>
                  </a:cubicBezTo>
                  <a:cubicBezTo>
                    <a:pt x="19" y="60"/>
                    <a:pt x="17" y="61"/>
                    <a:pt x="16" y="62"/>
                  </a:cubicBezTo>
                  <a:cubicBezTo>
                    <a:pt x="13" y="65"/>
                    <a:pt x="9" y="66"/>
                    <a:pt x="4" y="69"/>
                  </a:cubicBezTo>
                  <a:cubicBezTo>
                    <a:pt x="4" y="69"/>
                    <a:pt x="4" y="69"/>
                    <a:pt x="4" y="69"/>
                  </a:cubicBezTo>
                  <a:cubicBezTo>
                    <a:pt x="3" y="69"/>
                    <a:pt x="2" y="71"/>
                    <a:pt x="0" y="71"/>
                  </a:cubicBezTo>
                  <a:cubicBezTo>
                    <a:pt x="0" y="73"/>
                    <a:pt x="2" y="74"/>
                    <a:pt x="4" y="73"/>
                  </a:cubicBezTo>
                  <a:cubicBezTo>
                    <a:pt x="6" y="73"/>
                    <a:pt x="8" y="72"/>
                    <a:pt x="9" y="72"/>
                  </a:cubicBezTo>
                  <a:cubicBezTo>
                    <a:pt x="12" y="71"/>
                    <a:pt x="14" y="70"/>
                    <a:pt x="17" y="69"/>
                  </a:cubicBezTo>
                  <a:cubicBezTo>
                    <a:pt x="22" y="67"/>
                    <a:pt x="27" y="65"/>
                    <a:pt x="33" y="64"/>
                  </a:cubicBezTo>
                  <a:cubicBezTo>
                    <a:pt x="36" y="64"/>
                    <a:pt x="43" y="62"/>
                    <a:pt x="48" y="61"/>
                  </a:cubicBezTo>
                  <a:cubicBezTo>
                    <a:pt x="50" y="61"/>
                    <a:pt x="51" y="62"/>
                    <a:pt x="53" y="62"/>
                  </a:cubicBezTo>
                  <a:cubicBezTo>
                    <a:pt x="55" y="67"/>
                    <a:pt x="48" y="71"/>
                    <a:pt x="46" y="73"/>
                  </a:cubicBezTo>
                  <a:cubicBezTo>
                    <a:pt x="46" y="74"/>
                    <a:pt x="48" y="74"/>
                    <a:pt x="49" y="75"/>
                  </a:cubicBezTo>
                  <a:cubicBezTo>
                    <a:pt x="57" y="74"/>
                    <a:pt x="68" y="73"/>
                    <a:pt x="70" y="62"/>
                  </a:cubicBezTo>
                  <a:cubicBezTo>
                    <a:pt x="70" y="52"/>
                    <a:pt x="63" y="51"/>
                    <a:pt x="57" y="50"/>
                  </a:cubicBezTo>
                  <a:cubicBezTo>
                    <a:pt x="55" y="50"/>
                    <a:pt x="51" y="50"/>
                    <a:pt x="46" y="51"/>
                  </a:cubicBezTo>
                  <a:cubicBezTo>
                    <a:pt x="43" y="51"/>
                    <a:pt x="37" y="53"/>
                    <a:pt x="36" y="53"/>
                  </a:cubicBezTo>
                  <a:cubicBezTo>
                    <a:pt x="38" y="51"/>
                    <a:pt x="41" y="49"/>
                    <a:pt x="43" y="47"/>
                  </a:cubicBezTo>
                  <a:cubicBezTo>
                    <a:pt x="43" y="43"/>
                    <a:pt x="41" y="43"/>
                    <a:pt x="39" y="40"/>
                  </a:cubicBezTo>
                  <a:cubicBezTo>
                    <a:pt x="37" y="32"/>
                    <a:pt x="46" y="35"/>
                    <a:pt x="49" y="30"/>
                  </a:cubicBezTo>
                  <a:cubicBezTo>
                    <a:pt x="49" y="28"/>
                    <a:pt x="47" y="27"/>
                    <a:pt x="45" y="26"/>
                  </a:cubicBezTo>
                  <a:cubicBezTo>
                    <a:pt x="43" y="25"/>
                    <a:pt x="42" y="24"/>
                    <a:pt x="41" y="24"/>
                  </a:cubicBezTo>
                  <a:cubicBezTo>
                    <a:pt x="41" y="20"/>
                    <a:pt x="44" y="20"/>
                    <a:pt x="47" y="19"/>
                  </a:cubicBezTo>
                  <a:cubicBezTo>
                    <a:pt x="52" y="16"/>
                    <a:pt x="49" y="7"/>
                    <a:pt x="47" y="3"/>
                  </a:cubicBezTo>
                  <a:cubicBezTo>
                    <a:pt x="44" y="1"/>
                    <a:pt x="37" y="0"/>
                    <a:pt x="36" y="4"/>
                  </a:cubicBezTo>
                  <a:cubicBezTo>
                    <a:pt x="36" y="4"/>
                    <a:pt x="36" y="4"/>
                    <a:pt x="36" y="4"/>
                  </a:cubicBezTo>
                  <a:cubicBezTo>
                    <a:pt x="37" y="8"/>
                    <a:pt x="38" y="11"/>
                    <a:pt x="36" y="16"/>
                  </a:cubicBezTo>
                  <a:cubicBezTo>
                    <a:pt x="35" y="16"/>
                    <a:pt x="34" y="16"/>
                    <a:pt x="33" y="17"/>
                  </a:cubicBezTo>
                  <a:cubicBezTo>
                    <a:pt x="32" y="17"/>
                    <a:pt x="31" y="18"/>
                    <a:pt x="31" y="19"/>
                  </a:cubicBezTo>
                  <a:cubicBezTo>
                    <a:pt x="30" y="22"/>
                    <a:pt x="31" y="26"/>
                    <a:pt x="30" y="27"/>
                  </a:cubicBezTo>
                  <a:cubicBezTo>
                    <a:pt x="30" y="28"/>
                    <a:pt x="29" y="29"/>
                    <a:pt x="29" y="29"/>
                  </a:cubicBezTo>
                  <a:cubicBezTo>
                    <a:pt x="27" y="32"/>
                    <a:pt x="24" y="36"/>
                    <a:pt x="25" y="40"/>
                  </a:cubicBezTo>
                  <a:cubicBezTo>
                    <a:pt x="26" y="43"/>
                    <a:pt x="29" y="40"/>
                    <a:pt x="31" y="4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Freeform 37">
              <a:extLst>
                <a:ext uri="{FF2B5EF4-FFF2-40B4-BE49-F238E27FC236}">
                  <a16:creationId xmlns:a16="http://schemas.microsoft.com/office/drawing/2014/main" id="{865DBD4D-12AA-488F-A47F-EA449B0516E9}"/>
                </a:ext>
              </a:extLst>
            </p:cNvPr>
            <p:cNvSpPr/>
            <p:nvPr/>
          </p:nvSpPr>
          <p:spPr bwMode="auto">
            <a:xfrm>
              <a:off x="7856538" y="4941888"/>
              <a:ext cx="95250" cy="209550"/>
            </a:xfrm>
            <a:custGeom>
              <a:avLst/>
              <a:gdLst>
                <a:gd name="T0" fmla="*/ 10 w 17"/>
                <a:gd name="T1" fmla="*/ 37 h 37"/>
                <a:gd name="T2" fmla="*/ 13 w 17"/>
                <a:gd name="T3" fmla="*/ 37 h 37"/>
                <a:gd name="T4" fmla="*/ 16 w 17"/>
                <a:gd name="T5" fmla="*/ 35 h 37"/>
                <a:gd name="T6" fmla="*/ 13 w 17"/>
                <a:gd name="T7" fmla="*/ 28 h 37"/>
                <a:gd name="T8" fmla="*/ 13 w 17"/>
                <a:gd name="T9" fmla="*/ 28 h 37"/>
                <a:gd name="T10" fmla="*/ 13 w 17"/>
                <a:gd name="T11" fmla="*/ 18 h 37"/>
                <a:gd name="T12" fmla="*/ 17 w 17"/>
                <a:gd name="T13" fmla="*/ 8 h 37"/>
                <a:gd name="T14" fmla="*/ 14 w 17"/>
                <a:gd name="T15" fmla="*/ 0 h 37"/>
                <a:gd name="T16" fmla="*/ 13 w 17"/>
                <a:gd name="T17" fmla="*/ 0 h 37"/>
                <a:gd name="T18" fmla="*/ 5 w 17"/>
                <a:gd name="T19" fmla="*/ 7 h 37"/>
                <a:gd name="T20" fmla="*/ 2 w 17"/>
                <a:gd name="T21" fmla="*/ 15 h 37"/>
                <a:gd name="T22" fmla="*/ 2 w 17"/>
                <a:gd name="T23" fmla="*/ 31 h 37"/>
                <a:gd name="T24" fmla="*/ 10 w 17"/>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7">
                  <a:moveTo>
                    <a:pt x="10" y="37"/>
                  </a:moveTo>
                  <a:cubicBezTo>
                    <a:pt x="11" y="37"/>
                    <a:pt x="12" y="37"/>
                    <a:pt x="13" y="37"/>
                  </a:cubicBezTo>
                  <a:cubicBezTo>
                    <a:pt x="14" y="37"/>
                    <a:pt x="15" y="36"/>
                    <a:pt x="16" y="35"/>
                  </a:cubicBezTo>
                  <a:cubicBezTo>
                    <a:pt x="16" y="32"/>
                    <a:pt x="14" y="30"/>
                    <a:pt x="13" y="28"/>
                  </a:cubicBezTo>
                  <a:cubicBezTo>
                    <a:pt x="13" y="28"/>
                    <a:pt x="13" y="28"/>
                    <a:pt x="13" y="28"/>
                  </a:cubicBezTo>
                  <a:cubicBezTo>
                    <a:pt x="12" y="24"/>
                    <a:pt x="13" y="21"/>
                    <a:pt x="13" y="18"/>
                  </a:cubicBezTo>
                  <a:cubicBezTo>
                    <a:pt x="14" y="15"/>
                    <a:pt x="16" y="12"/>
                    <a:pt x="17" y="8"/>
                  </a:cubicBezTo>
                  <a:cubicBezTo>
                    <a:pt x="17" y="3"/>
                    <a:pt x="17" y="1"/>
                    <a:pt x="14" y="0"/>
                  </a:cubicBezTo>
                  <a:cubicBezTo>
                    <a:pt x="14" y="0"/>
                    <a:pt x="14" y="0"/>
                    <a:pt x="13" y="0"/>
                  </a:cubicBezTo>
                  <a:cubicBezTo>
                    <a:pt x="8" y="0"/>
                    <a:pt x="7" y="2"/>
                    <a:pt x="5" y="7"/>
                  </a:cubicBezTo>
                  <a:cubicBezTo>
                    <a:pt x="4" y="9"/>
                    <a:pt x="3" y="12"/>
                    <a:pt x="2" y="15"/>
                  </a:cubicBezTo>
                  <a:cubicBezTo>
                    <a:pt x="1" y="20"/>
                    <a:pt x="0" y="26"/>
                    <a:pt x="2" y="31"/>
                  </a:cubicBezTo>
                  <a:cubicBezTo>
                    <a:pt x="4" y="34"/>
                    <a:pt x="6" y="36"/>
                    <a:pt x="10" y="3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38">
              <a:extLst>
                <a:ext uri="{FF2B5EF4-FFF2-40B4-BE49-F238E27FC236}">
                  <a16:creationId xmlns:a16="http://schemas.microsoft.com/office/drawing/2014/main" id="{D47B9CD8-07E5-477E-B708-41235D31A996}"/>
                </a:ext>
              </a:extLst>
            </p:cNvPr>
            <p:cNvSpPr/>
            <p:nvPr/>
          </p:nvSpPr>
          <p:spPr bwMode="auto">
            <a:xfrm>
              <a:off x="7862888" y="5270500"/>
              <a:ext cx="454025" cy="442913"/>
            </a:xfrm>
            <a:custGeom>
              <a:avLst/>
              <a:gdLst>
                <a:gd name="T0" fmla="*/ 50 w 81"/>
                <a:gd name="T1" fmla="*/ 29 h 78"/>
                <a:gd name="T2" fmla="*/ 41 w 81"/>
                <a:gd name="T3" fmla="*/ 28 h 78"/>
                <a:gd name="T4" fmla="*/ 39 w 81"/>
                <a:gd name="T5" fmla="*/ 26 h 78"/>
                <a:gd name="T6" fmla="*/ 41 w 81"/>
                <a:gd name="T7" fmla="*/ 22 h 78"/>
                <a:gd name="T8" fmla="*/ 46 w 81"/>
                <a:gd name="T9" fmla="*/ 15 h 78"/>
                <a:gd name="T10" fmla="*/ 41 w 81"/>
                <a:gd name="T11" fmla="*/ 2 h 78"/>
                <a:gd name="T12" fmla="*/ 40 w 81"/>
                <a:gd name="T13" fmla="*/ 1 h 78"/>
                <a:gd name="T14" fmla="*/ 33 w 81"/>
                <a:gd name="T15" fmla="*/ 0 h 78"/>
                <a:gd name="T16" fmla="*/ 26 w 81"/>
                <a:gd name="T17" fmla="*/ 2 h 78"/>
                <a:gd name="T18" fmla="*/ 25 w 81"/>
                <a:gd name="T19" fmla="*/ 6 h 78"/>
                <a:gd name="T20" fmla="*/ 32 w 81"/>
                <a:gd name="T21" fmla="*/ 9 h 78"/>
                <a:gd name="T22" fmla="*/ 35 w 81"/>
                <a:gd name="T23" fmla="*/ 15 h 78"/>
                <a:gd name="T24" fmla="*/ 32 w 81"/>
                <a:gd name="T25" fmla="*/ 30 h 78"/>
                <a:gd name="T26" fmla="*/ 25 w 81"/>
                <a:gd name="T27" fmla="*/ 32 h 78"/>
                <a:gd name="T28" fmla="*/ 15 w 81"/>
                <a:gd name="T29" fmla="*/ 37 h 78"/>
                <a:gd name="T30" fmla="*/ 12 w 81"/>
                <a:gd name="T31" fmla="*/ 38 h 78"/>
                <a:gd name="T32" fmla="*/ 1 w 81"/>
                <a:gd name="T33" fmla="*/ 39 h 78"/>
                <a:gd name="T34" fmla="*/ 0 w 81"/>
                <a:gd name="T35" fmla="*/ 39 h 78"/>
                <a:gd name="T36" fmla="*/ 1 w 81"/>
                <a:gd name="T37" fmla="*/ 43 h 78"/>
                <a:gd name="T38" fmla="*/ 8 w 81"/>
                <a:gd name="T39" fmla="*/ 47 h 78"/>
                <a:gd name="T40" fmla="*/ 14 w 81"/>
                <a:gd name="T41" fmla="*/ 46 h 78"/>
                <a:gd name="T42" fmla="*/ 25 w 81"/>
                <a:gd name="T43" fmla="*/ 43 h 78"/>
                <a:gd name="T44" fmla="*/ 36 w 81"/>
                <a:gd name="T45" fmla="*/ 44 h 78"/>
                <a:gd name="T46" fmla="*/ 32 w 81"/>
                <a:gd name="T47" fmla="*/ 60 h 78"/>
                <a:gd name="T48" fmla="*/ 25 w 81"/>
                <a:gd name="T49" fmla="*/ 58 h 78"/>
                <a:gd name="T50" fmla="*/ 25 w 81"/>
                <a:gd name="T51" fmla="*/ 58 h 78"/>
                <a:gd name="T52" fmla="*/ 19 w 81"/>
                <a:gd name="T53" fmla="*/ 53 h 78"/>
                <a:gd name="T54" fmla="*/ 20 w 81"/>
                <a:gd name="T55" fmla="*/ 67 h 78"/>
                <a:gd name="T56" fmla="*/ 25 w 81"/>
                <a:gd name="T57" fmla="*/ 76 h 78"/>
                <a:gd name="T58" fmla="*/ 28 w 81"/>
                <a:gd name="T59" fmla="*/ 78 h 78"/>
                <a:gd name="T60" fmla="*/ 41 w 81"/>
                <a:gd name="T61" fmla="*/ 69 h 78"/>
                <a:gd name="T62" fmla="*/ 41 w 81"/>
                <a:gd name="T63" fmla="*/ 69 h 78"/>
                <a:gd name="T64" fmla="*/ 41 w 81"/>
                <a:gd name="T65" fmla="*/ 68 h 78"/>
                <a:gd name="T66" fmla="*/ 48 w 81"/>
                <a:gd name="T67" fmla="*/ 42 h 78"/>
                <a:gd name="T68" fmla="*/ 63 w 81"/>
                <a:gd name="T69" fmla="*/ 41 h 78"/>
                <a:gd name="T70" fmla="*/ 70 w 81"/>
                <a:gd name="T71" fmla="*/ 44 h 78"/>
                <a:gd name="T72" fmla="*/ 76 w 81"/>
                <a:gd name="T73" fmla="*/ 27 h 78"/>
                <a:gd name="T74" fmla="*/ 50 w 81"/>
                <a:gd name="T75" fmla="*/ 2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78">
                  <a:moveTo>
                    <a:pt x="50" y="29"/>
                  </a:moveTo>
                  <a:cubicBezTo>
                    <a:pt x="46" y="29"/>
                    <a:pt x="43" y="30"/>
                    <a:pt x="41" y="28"/>
                  </a:cubicBezTo>
                  <a:cubicBezTo>
                    <a:pt x="40" y="27"/>
                    <a:pt x="40" y="27"/>
                    <a:pt x="39" y="26"/>
                  </a:cubicBezTo>
                  <a:cubicBezTo>
                    <a:pt x="39" y="25"/>
                    <a:pt x="40" y="23"/>
                    <a:pt x="41" y="22"/>
                  </a:cubicBezTo>
                  <a:cubicBezTo>
                    <a:pt x="42" y="20"/>
                    <a:pt x="45" y="17"/>
                    <a:pt x="46" y="15"/>
                  </a:cubicBezTo>
                  <a:cubicBezTo>
                    <a:pt x="48" y="7"/>
                    <a:pt x="46" y="6"/>
                    <a:pt x="41" y="2"/>
                  </a:cubicBezTo>
                  <a:cubicBezTo>
                    <a:pt x="40" y="1"/>
                    <a:pt x="40" y="1"/>
                    <a:pt x="40" y="1"/>
                  </a:cubicBezTo>
                  <a:cubicBezTo>
                    <a:pt x="38" y="0"/>
                    <a:pt x="35" y="0"/>
                    <a:pt x="33" y="0"/>
                  </a:cubicBezTo>
                  <a:cubicBezTo>
                    <a:pt x="33" y="0"/>
                    <a:pt x="27" y="0"/>
                    <a:pt x="26" y="2"/>
                  </a:cubicBezTo>
                  <a:cubicBezTo>
                    <a:pt x="26" y="3"/>
                    <a:pt x="26" y="5"/>
                    <a:pt x="25" y="6"/>
                  </a:cubicBezTo>
                  <a:cubicBezTo>
                    <a:pt x="25" y="7"/>
                    <a:pt x="30" y="6"/>
                    <a:pt x="32" y="9"/>
                  </a:cubicBezTo>
                  <a:cubicBezTo>
                    <a:pt x="34" y="11"/>
                    <a:pt x="35" y="12"/>
                    <a:pt x="35" y="15"/>
                  </a:cubicBezTo>
                  <a:cubicBezTo>
                    <a:pt x="31" y="21"/>
                    <a:pt x="29" y="23"/>
                    <a:pt x="32" y="30"/>
                  </a:cubicBezTo>
                  <a:cubicBezTo>
                    <a:pt x="30" y="31"/>
                    <a:pt x="27" y="31"/>
                    <a:pt x="25" y="32"/>
                  </a:cubicBezTo>
                  <a:cubicBezTo>
                    <a:pt x="18" y="35"/>
                    <a:pt x="16" y="36"/>
                    <a:pt x="15" y="37"/>
                  </a:cubicBezTo>
                  <a:cubicBezTo>
                    <a:pt x="14" y="37"/>
                    <a:pt x="12" y="37"/>
                    <a:pt x="12" y="38"/>
                  </a:cubicBezTo>
                  <a:cubicBezTo>
                    <a:pt x="11" y="38"/>
                    <a:pt x="10" y="38"/>
                    <a:pt x="1" y="39"/>
                  </a:cubicBezTo>
                  <a:cubicBezTo>
                    <a:pt x="1" y="39"/>
                    <a:pt x="0" y="39"/>
                    <a:pt x="0" y="39"/>
                  </a:cubicBezTo>
                  <a:cubicBezTo>
                    <a:pt x="0" y="40"/>
                    <a:pt x="0" y="41"/>
                    <a:pt x="1" y="43"/>
                  </a:cubicBezTo>
                  <a:cubicBezTo>
                    <a:pt x="3" y="46"/>
                    <a:pt x="4" y="46"/>
                    <a:pt x="8" y="47"/>
                  </a:cubicBezTo>
                  <a:cubicBezTo>
                    <a:pt x="8" y="47"/>
                    <a:pt x="13" y="47"/>
                    <a:pt x="14" y="46"/>
                  </a:cubicBezTo>
                  <a:cubicBezTo>
                    <a:pt x="18" y="46"/>
                    <a:pt x="21" y="44"/>
                    <a:pt x="25" y="43"/>
                  </a:cubicBezTo>
                  <a:cubicBezTo>
                    <a:pt x="29" y="43"/>
                    <a:pt x="34" y="43"/>
                    <a:pt x="36" y="44"/>
                  </a:cubicBezTo>
                  <a:cubicBezTo>
                    <a:pt x="37" y="48"/>
                    <a:pt x="34" y="56"/>
                    <a:pt x="32" y="60"/>
                  </a:cubicBezTo>
                  <a:cubicBezTo>
                    <a:pt x="29" y="63"/>
                    <a:pt x="27" y="62"/>
                    <a:pt x="25" y="58"/>
                  </a:cubicBezTo>
                  <a:cubicBezTo>
                    <a:pt x="25" y="58"/>
                    <a:pt x="25" y="58"/>
                    <a:pt x="25" y="58"/>
                  </a:cubicBezTo>
                  <a:cubicBezTo>
                    <a:pt x="23" y="53"/>
                    <a:pt x="23" y="52"/>
                    <a:pt x="19" y="53"/>
                  </a:cubicBezTo>
                  <a:cubicBezTo>
                    <a:pt x="18" y="57"/>
                    <a:pt x="19" y="62"/>
                    <a:pt x="20" y="67"/>
                  </a:cubicBezTo>
                  <a:cubicBezTo>
                    <a:pt x="21" y="72"/>
                    <a:pt x="21" y="74"/>
                    <a:pt x="25" y="76"/>
                  </a:cubicBezTo>
                  <a:cubicBezTo>
                    <a:pt x="25" y="77"/>
                    <a:pt x="26" y="77"/>
                    <a:pt x="28" y="78"/>
                  </a:cubicBezTo>
                  <a:cubicBezTo>
                    <a:pt x="34" y="77"/>
                    <a:pt x="37" y="75"/>
                    <a:pt x="41" y="69"/>
                  </a:cubicBezTo>
                  <a:cubicBezTo>
                    <a:pt x="41" y="69"/>
                    <a:pt x="41" y="69"/>
                    <a:pt x="41" y="69"/>
                  </a:cubicBezTo>
                  <a:cubicBezTo>
                    <a:pt x="41" y="68"/>
                    <a:pt x="41" y="69"/>
                    <a:pt x="41" y="68"/>
                  </a:cubicBezTo>
                  <a:cubicBezTo>
                    <a:pt x="46" y="60"/>
                    <a:pt x="49" y="52"/>
                    <a:pt x="48" y="42"/>
                  </a:cubicBezTo>
                  <a:cubicBezTo>
                    <a:pt x="50" y="40"/>
                    <a:pt x="60" y="40"/>
                    <a:pt x="63" y="41"/>
                  </a:cubicBezTo>
                  <a:cubicBezTo>
                    <a:pt x="65" y="42"/>
                    <a:pt x="68" y="42"/>
                    <a:pt x="70" y="44"/>
                  </a:cubicBezTo>
                  <a:cubicBezTo>
                    <a:pt x="76" y="44"/>
                    <a:pt x="81" y="34"/>
                    <a:pt x="76" y="27"/>
                  </a:cubicBezTo>
                  <a:cubicBezTo>
                    <a:pt x="67" y="25"/>
                    <a:pt x="59" y="27"/>
                    <a:pt x="50"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39">
              <a:extLst>
                <a:ext uri="{FF2B5EF4-FFF2-40B4-BE49-F238E27FC236}">
                  <a16:creationId xmlns:a16="http://schemas.microsoft.com/office/drawing/2014/main" id="{2585FAA2-5577-4144-A1C6-BD0BA8191520}"/>
                </a:ext>
              </a:extLst>
            </p:cNvPr>
            <p:cNvSpPr/>
            <p:nvPr/>
          </p:nvSpPr>
          <p:spPr bwMode="auto">
            <a:xfrm>
              <a:off x="7767638" y="5180013"/>
              <a:ext cx="117475" cy="209550"/>
            </a:xfrm>
            <a:custGeom>
              <a:avLst/>
              <a:gdLst>
                <a:gd name="T0" fmla="*/ 18 w 21"/>
                <a:gd name="T1" fmla="*/ 21 h 37"/>
                <a:gd name="T2" fmla="*/ 19 w 21"/>
                <a:gd name="T3" fmla="*/ 2 h 37"/>
                <a:gd name="T4" fmla="*/ 18 w 21"/>
                <a:gd name="T5" fmla="*/ 2 h 37"/>
                <a:gd name="T6" fmla="*/ 4 w 21"/>
                <a:gd name="T7" fmla="*/ 18 h 37"/>
                <a:gd name="T8" fmla="*/ 11 w 21"/>
                <a:gd name="T9" fmla="*/ 37 h 37"/>
                <a:gd name="T10" fmla="*/ 18 w 21"/>
                <a:gd name="T11" fmla="*/ 24 h 37"/>
                <a:gd name="T12" fmla="*/ 18 w 21"/>
                <a:gd name="T13" fmla="*/ 21 h 37"/>
              </a:gdLst>
              <a:ahLst/>
              <a:cxnLst>
                <a:cxn ang="0">
                  <a:pos x="T0" y="T1"/>
                </a:cxn>
                <a:cxn ang="0">
                  <a:pos x="T2" y="T3"/>
                </a:cxn>
                <a:cxn ang="0">
                  <a:pos x="T4" y="T5"/>
                </a:cxn>
                <a:cxn ang="0">
                  <a:pos x="T6" y="T7"/>
                </a:cxn>
                <a:cxn ang="0">
                  <a:pos x="T8" y="T9"/>
                </a:cxn>
                <a:cxn ang="0">
                  <a:pos x="T10" y="T11"/>
                </a:cxn>
                <a:cxn ang="0">
                  <a:pos x="T12" y="T13"/>
                </a:cxn>
              </a:cxnLst>
              <a:rect l="0" t="0" r="r" b="b"/>
              <a:pathLst>
                <a:path w="21" h="37">
                  <a:moveTo>
                    <a:pt x="18" y="21"/>
                  </a:moveTo>
                  <a:cubicBezTo>
                    <a:pt x="19" y="15"/>
                    <a:pt x="21" y="6"/>
                    <a:pt x="19" y="2"/>
                  </a:cubicBezTo>
                  <a:cubicBezTo>
                    <a:pt x="18" y="2"/>
                    <a:pt x="18" y="2"/>
                    <a:pt x="18" y="2"/>
                  </a:cubicBezTo>
                  <a:cubicBezTo>
                    <a:pt x="12" y="0"/>
                    <a:pt x="6" y="14"/>
                    <a:pt x="4" y="18"/>
                  </a:cubicBezTo>
                  <a:cubicBezTo>
                    <a:pt x="2" y="29"/>
                    <a:pt x="0" y="33"/>
                    <a:pt x="11" y="37"/>
                  </a:cubicBezTo>
                  <a:cubicBezTo>
                    <a:pt x="16" y="35"/>
                    <a:pt x="17" y="29"/>
                    <a:pt x="18" y="24"/>
                  </a:cubicBezTo>
                  <a:cubicBezTo>
                    <a:pt x="18" y="23"/>
                    <a:pt x="18" y="22"/>
                    <a:pt x="18" y="2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Freeform 40">
              <a:extLst>
                <a:ext uri="{FF2B5EF4-FFF2-40B4-BE49-F238E27FC236}">
                  <a16:creationId xmlns:a16="http://schemas.microsoft.com/office/drawing/2014/main" id="{159BE166-6371-40C8-90B3-72F5925EDF5E}"/>
                </a:ext>
              </a:extLst>
            </p:cNvPr>
            <p:cNvSpPr/>
            <p:nvPr/>
          </p:nvSpPr>
          <p:spPr bwMode="auto">
            <a:xfrm>
              <a:off x="5664200" y="5089525"/>
              <a:ext cx="90488" cy="141288"/>
            </a:xfrm>
            <a:custGeom>
              <a:avLst/>
              <a:gdLst>
                <a:gd name="T0" fmla="*/ 2 w 16"/>
                <a:gd name="T1" fmla="*/ 14 h 25"/>
                <a:gd name="T2" fmla="*/ 2 w 16"/>
                <a:gd name="T3" fmla="*/ 14 h 25"/>
                <a:gd name="T4" fmla="*/ 2 w 16"/>
                <a:gd name="T5" fmla="*/ 14 h 25"/>
                <a:gd name="T6" fmla="*/ 1 w 16"/>
                <a:gd name="T7" fmla="*/ 15 h 25"/>
                <a:gd name="T8" fmla="*/ 1 w 16"/>
                <a:gd name="T9" fmla="*/ 21 h 25"/>
                <a:gd name="T10" fmla="*/ 1 w 16"/>
                <a:gd name="T11" fmla="*/ 21 h 25"/>
                <a:gd name="T12" fmla="*/ 1 w 16"/>
                <a:gd name="T13" fmla="*/ 21 h 25"/>
                <a:gd name="T14" fmla="*/ 2 w 16"/>
                <a:gd name="T15" fmla="*/ 22 h 25"/>
                <a:gd name="T16" fmla="*/ 3 w 16"/>
                <a:gd name="T17" fmla="*/ 23 h 25"/>
                <a:gd name="T18" fmla="*/ 3 w 16"/>
                <a:gd name="T19" fmla="*/ 23 h 25"/>
                <a:gd name="T20" fmla="*/ 3 w 16"/>
                <a:gd name="T21" fmla="*/ 23 h 25"/>
                <a:gd name="T22" fmla="*/ 3 w 16"/>
                <a:gd name="T23" fmla="*/ 23 h 25"/>
                <a:gd name="T24" fmla="*/ 3 w 16"/>
                <a:gd name="T25" fmla="*/ 23 h 25"/>
                <a:gd name="T26" fmla="*/ 7 w 16"/>
                <a:gd name="T27" fmla="*/ 25 h 25"/>
                <a:gd name="T28" fmla="*/ 16 w 16"/>
                <a:gd name="T29" fmla="*/ 10 h 25"/>
                <a:gd name="T30" fmla="*/ 2 w 16"/>
                <a:gd name="T31"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25">
                  <a:moveTo>
                    <a:pt x="2" y="14"/>
                  </a:moveTo>
                  <a:cubicBezTo>
                    <a:pt x="2" y="14"/>
                    <a:pt x="2" y="14"/>
                    <a:pt x="2" y="14"/>
                  </a:cubicBezTo>
                  <a:cubicBezTo>
                    <a:pt x="2" y="14"/>
                    <a:pt x="2" y="14"/>
                    <a:pt x="2" y="14"/>
                  </a:cubicBezTo>
                  <a:cubicBezTo>
                    <a:pt x="2" y="14"/>
                    <a:pt x="1" y="15"/>
                    <a:pt x="1" y="15"/>
                  </a:cubicBezTo>
                  <a:cubicBezTo>
                    <a:pt x="0" y="18"/>
                    <a:pt x="0" y="20"/>
                    <a:pt x="1" y="21"/>
                  </a:cubicBezTo>
                  <a:cubicBezTo>
                    <a:pt x="1" y="21"/>
                    <a:pt x="1" y="21"/>
                    <a:pt x="1" y="21"/>
                  </a:cubicBezTo>
                  <a:cubicBezTo>
                    <a:pt x="1" y="21"/>
                    <a:pt x="1" y="21"/>
                    <a:pt x="1" y="21"/>
                  </a:cubicBezTo>
                  <a:cubicBezTo>
                    <a:pt x="1" y="22"/>
                    <a:pt x="2" y="22"/>
                    <a:pt x="2" y="22"/>
                  </a:cubicBezTo>
                  <a:cubicBezTo>
                    <a:pt x="2" y="22"/>
                    <a:pt x="2" y="22"/>
                    <a:pt x="3" y="23"/>
                  </a:cubicBezTo>
                  <a:cubicBezTo>
                    <a:pt x="3" y="23"/>
                    <a:pt x="3" y="23"/>
                    <a:pt x="3" y="23"/>
                  </a:cubicBezTo>
                  <a:cubicBezTo>
                    <a:pt x="3" y="23"/>
                    <a:pt x="3" y="23"/>
                    <a:pt x="3" y="23"/>
                  </a:cubicBezTo>
                  <a:cubicBezTo>
                    <a:pt x="3" y="23"/>
                    <a:pt x="3" y="23"/>
                    <a:pt x="3" y="23"/>
                  </a:cubicBezTo>
                  <a:cubicBezTo>
                    <a:pt x="3" y="23"/>
                    <a:pt x="3" y="23"/>
                    <a:pt x="3" y="23"/>
                  </a:cubicBezTo>
                  <a:cubicBezTo>
                    <a:pt x="4" y="23"/>
                    <a:pt x="5" y="24"/>
                    <a:pt x="7" y="25"/>
                  </a:cubicBezTo>
                  <a:cubicBezTo>
                    <a:pt x="13" y="23"/>
                    <a:pt x="15" y="17"/>
                    <a:pt x="16" y="10"/>
                  </a:cubicBezTo>
                  <a:cubicBezTo>
                    <a:pt x="15" y="0"/>
                    <a:pt x="5" y="8"/>
                    <a:pt x="2" y="1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Freeform 41">
              <a:extLst>
                <a:ext uri="{FF2B5EF4-FFF2-40B4-BE49-F238E27FC236}">
                  <a16:creationId xmlns:a16="http://schemas.microsoft.com/office/drawing/2014/main" id="{DB8E0B2A-D707-4661-A240-B3E53FCFB225}"/>
                </a:ext>
              </a:extLst>
            </p:cNvPr>
            <p:cNvSpPr/>
            <p:nvPr/>
          </p:nvSpPr>
          <p:spPr bwMode="auto">
            <a:xfrm>
              <a:off x="4525963" y="4856163"/>
              <a:ext cx="112713" cy="125413"/>
            </a:xfrm>
            <a:custGeom>
              <a:avLst/>
              <a:gdLst>
                <a:gd name="T0" fmla="*/ 14 w 20"/>
                <a:gd name="T1" fmla="*/ 16 h 22"/>
                <a:gd name="T2" fmla="*/ 7 w 20"/>
                <a:gd name="T3" fmla="*/ 21 h 22"/>
                <a:gd name="T4" fmla="*/ 0 w 20"/>
                <a:gd name="T5" fmla="*/ 15 h 22"/>
                <a:gd name="T6" fmla="*/ 2 w 20"/>
                <a:gd name="T7" fmla="*/ 3 h 22"/>
                <a:gd name="T8" fmla="*/ 0 w 20"/>
                <a:gd name="T9" fmla="*/ 1 h 22"/>
                <a:gd name="T10" fmla="*/ 1 w 20"/>
                <a:gd name="T11" fmla="*/ 0 h 22"/>
                <a:gd name="T12" fmla="*/ 5 w 20"/>
                <a:gd name="T13" fmla="*/ 1 h 22"/>
                <a:gd name="T14" fmla="*/ 9 w 20"/>
                <a:gd name="T15" fmla="*/ 2 h 22"/>
                <a:gd name="T16" fmla="*/ 9 w 20"/>
                <a:gd name="T17" fmla="*/ 2 h 22"/>
                <a:gd name="T18" fmla="*/ 6 w 20"/>
                <a:gd name="T19" fmla="*/ 4 h 22"/>
                <a:gd name="T20" fmla="*/ 4 w 20"/>
                <a:gd name="T21" fmla="*/ 16 h 22"/>
                <a:gd name="T22" fmla="*/ 8 w 20"/>
                <a:gd name="T23" fmla="*/ 20 h 22"/>
                <a:gd name="T24" fmla="*/ 14 w 20"/>
                <a:gd name="T25" fmla="*/ 16 h 22"/>
                <a:gd name="T26" fmla="*/ 15 w 20"/>
                <a:gd name="T27" fmla="*/ 8 h 22"/>
                <a:gd name="T28" fmla="*/ 14 w 20"/>
                <a:gd name="T29" fmla="*/ 3 h 22"/>
                <a:gd name="T30" fmla="*/ 13 w 20"/>
                <a:gd name="T31" fmla="*/ 3 h 22"/>
                <a:gd name="T32" fmla="*/ 13 w 20"/>
                <a:gd name="T33" fmla="*/ 2 h 22"/>
                <a:gd name="T34" fmla="*/ 16 w 20"/>
                <a:gd name="T35" fmla="*/ 3 h 22"/>
                <a:gd name="T36" fmla="*/ 19 w 20"/>
                <a:gd name="T37" fmla="*/ 3 h 22"/>
                <a:gd name="T38" fmla="*/ 19 w 20"/>
                <a:gd name="T39" fmla="*/ 4 h 22"/>
                <a:gd name="T40" fmla="*/ 19 w 20"/>
                <a:gd name="T41" fmla="*/ 4 h 22"/>
                <a:gd name="T42" fmla="*/ 16 w 20"/>
                <a:gd name="T43" fmla="*/ 8 h 22"/>
                <a:gd name="T44" fmla="*/ 14 w 20"/>
                <a:gd name="T45"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2">
                  <a:moveTo>
                    <a:pt x="14" y="16"/>
                  </a:moveTo>
                  <a:cubicBezTo>
                    <a:pt x="14" y="20"/>
                    <a:pt x="11" y="22"/>
                    <a:pt x="7" y="21"/>
                  </a:cubicBezTo>
                  <a:cubicBezTo>
                    <a:pt x="2" y="20"/>
                    <a:pt x="0" y="18"/>
                    <a:pt x="0" y="15"/>
                  </a:cubicBezTo>
                  <a:cubicBezTo>
                    <a:pt x="2" y="3"/>
                    <a:pt x="2" y="3"/>
                    <a:pt x="2" y="3"/>
                  </a:cubicBezTo>
                  <a:cubicBezTo>
                    <a:pt x="3" y="1"/>
                    <a:pt x="0" y="1"/>
                    <a:pt x="0" y="1"/>
                  </a:cubicBezTo>
                  <a:cubicBezTo>
                    <a:pt x="0" y="0"/>
                    <a:pt x="0" y="0"/>
                    <a:pt x="1" y="0"/>
                  </a:cubicBezTo>
                  <a:cubicBezTo>
                    <a:pt x="2" y="1"/>
                    <a:pt x="4" y="1"/>
                    <a:pt x="5" y="1"/>
                  </a:cubicBezTo>
                  <a:cubicBezTo>
                    <a:pt x="6" y="1"/>
                    <a:pt x="7" y="1"/>
                    <a:pt x="9" y="2"/>
                  </a:cubicBezTo>
                  <a:cubicBezTo>
                    <a:pt x="9" y="2"/>
                    <a:pt x="9" y="2"/>
                    <a:pt x="9" y="2"/>
                  </a:cubicBezTo>
                  <a:cubicBezTo>
                    <a:pt x="9" y="3"/>
                    <a:pt x="7" y="1"/>
                    <a:pt x="6" y="4"/>
                  </a:cubicBezTo>
                  <a:cubicBezTo>
                    <a:pt x="4" y="16"/>
                    <a:pt x="4" y="16"/>
                    <a:pt x="4" y="16"/>
                  </a:cubicBezTo>
                  <a:cubicBezTo>
                    <a:pt x="4" y="18"/>
                    <a:pt x="6" y="20"/>
                    <a:pt x="8" y="20"/>
                  </a:cubicBezTo>
                  <a:cubicBezTo>
                    <a:pt x="11" y="21"/>
                    <a:pt x="13" y="19"/>
                    <a:pt x="14" y="16"/>
                  </a:cubicBezTo>
                  <a:cubicBezTo>
                    <a:pt x="15" y="8"/>
                    <a:pt x="15" y="8"/>
                    <a:pt x="15" y="8"/>
                  </a:cubicBezTo>
                  <a:cubicBezTo>
                    <a:pt x="15" y="5"/>
                    <a:pt x="15" y="4"/>
                    <a:pt x="14" y="3"/>
                  </a:cubicBezTo>
                  <a:cubicBezTo>
                    <a:pt x="13" y="3"/>
                    <a:pt x="13" y="3"/>
                    <a:pt x="13" y="3"/>
                  </a:cubicBezTo>
                  <a:cubicBezTo>
                    <a:pt x="13" y="2"/>
                    <a:pt x="13" y="2"/>
                    <a:pt x="13" y="2"/>
                  </a:cubicBezTo>
                  <a:cubicBezTo>
                    <a:pt x="14" y="2"/>
                    <a:pt x="15" y="3"/>
                    <a:pt x="16" y="3"/>
                  </a:cubicBezTo>
                  <a:cubicBezTo>
                    <a:pt x="17" y="3"/>
                    <a:pt x="18" y="3"/>
                    <a:pt x="19" y="3"/>
                  </a:cubicBezTo>
                  <a:cubicBezTo>
                    <a:pt x="19" y="3"/>
                    <a:pt x="20" y="3"/>
                    <a:pt x="19" y="4"/>
                  </a:cubicBezTo>
                  <a:cubicBezTo>
                    <a:pt x="19" y="4"/>
                    <a:pt x="19" y="4"/>
                    <a:pt x="19" y="4"/>
                  </a:cubicBezTo>
                  <a:cubicBezTo>
                    <a:pt x="17" y="4"/>
                    <a:pt x="16" y="5"/>
                    <a:pt x="16" y="8"/>
                  </a:cubicBezTo>
                  <a:lnTo>
                    <a:pt x="14"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42">
              <a:extLst>
                <a:ext uri="{FF2B5EF4-FFF2-40B4-BE49-F238E27FC236}">
                  <a16:creationId xmlns:a16="http://schemas.microsoft.com/office/drawing/2014/main" id="{91CC42C9-5819-4C26-9FA6-4B6DDA84FC15}"/>
                </a:ext>
              </a:extLst>
            </p:cNvPr>
            <p:cNvSpPr/>
            <p:nvPr/>
          </p:nvSpPr>
          <p:spPr bwMode="auto">
            <a:xfrm>
              <a:off x="4627563" y="4884738"/>
              <a:ext cx="146050" cy="142875"/>
            </a:xfrm>
            <a:custGeom>
              <a:avLst/>
              <a:gdLst>
                <a:gd name="T0" fmla="*/ 5 w 26"/>
                <a:gd name="T1" fmla="*/ 15 h 25"/>
                <a:gd name="T2" fmla="*/ 5 w 26"/>
                <a:gd name="T3" fmla="*/ 19 h 25"/>
                <a:gd name="T4" fmla="*/ 6 w 26"/>
                <a:gd name="T5" fmla="*/ 20 h 25"/>
                <a:gd name="T6" fmla="*/ 6 w 26"/>
                <a:gd name="T7" fmla="*/ 20 h 25"/>
                <a:gd name="T8" fmla="*/ 3 w 26"/>
                <a:gd name="T9" fmla="*/ 19 h 25"/>
                <a:gd name="T10" fmla="*/ 0 w 26"/>
                <a:gd name="T11" fmla="*/ 18 h 25"/>
                <a:gd name="T12" fmla="*/ 0 w 26"/>
                <a:gd name="T13" fmla="*/ 17 h 25"/>
                <a:gd name="T14" fmla="*/ 1 w 26"/>
                <a:gd name="T15" fmla="*/ 17 h 25"/>
                <a:gd name="T16" fmla="*/ 4 w 26"/>
                <a:gd name="T17" fmla="*/ 15 h 25"/>
                <a:gd name="T18" fmla="*/ 9 w 26"/>
                <a:gd name="T19" fmla="*/ 4 h 25"/>
                <a:gd name="T20" fmla="*/ 8 w 26"/>
                <a:gd name="T21" fmla="*/ 1 h 25"/>
                <a:gd name="T22" fmla="*/ 7 w 26"/>
                <a:gd name="T23" fmla="*/ 0 h 25"/>
                <a:gd name="T24" fmla="*/ 8 w 26"/>
                <a:gd name="T25" fmla="*/ 0 h 25"/>
                <a:gd name="T26" fmla="*/ 10 w 26"/>
                <a:gd name="T27" fmla="*/ 1 h 25"/>
                <a:gd name="T28" fmla="*/ 13 w 26"/>
                <a:gd name="T29" fmla="*/ 3 h 25"/>
                <a:gd name="T30" fmla="*/ 17 w 26"/>
                <a:gd name="T31" fmla="*/ 18 h 25"/>
                <a:gd name="T32" fmla="*/ 17 w 26"/>
                <a:gd name="T33" fmla="*/ 18 h 25"/>
                <a:gd name="T34" fmla="*/ 21 w 26"/>
                <a:gd name="T35" fmla="*/ 11 h 25"/>
                <a:gd name="T36" fmla="*/ 21 w 26"/>
                <a:gd name="T37" fmla="*/ 7 h 25"/>
                <a:gd name="T38" fmla="*/ 19 w 26"/>
                <a:gd name="T39" fmla="*/ 6 h 25"/>
                <a:gd name="T40" fmla="*/ 20 w 26"/>
                <a:gd name="T41" fmla="*/ 6 h 25"/>
                <a:gd name="T42" fmla="*/ 23 w 26"/>
                <a:gd name="T43" fmla="*/ 7 h 25"/>
                <a:gd name="T44" fmla="*/ 26 w 26"/>
                <a:gd name="T45" fmla="*/ 8 h 25"/>
                <a:gd name="T46" fmla="*/ 26 w 26"/>
                <a:gd name="T47" fmla="*/ 9 h 25"/>
                <a:gd name="T48" fmla="*/ 24 w 26"/>
                <a:gd name="T49" fmla="*/ 8 h 25"/>
                <a:gd name="T50" fmla="*/ 21 w 26"/>
                <a:gd name="T51" fmla="*/ 11 h 25"/>
                <a:gd name="T52" fmla="*/ 15 w 26"/>
                <a:gd name="T53" fmla="*/ 24 h 25"/>
                <a:gd name="T54" fmla="*/ 15 w 26"/>
                <a:gd name="T55" fmla="*/ 25 h 25"/>
                <a:gd name="T56" fmla="*/ 14 w 26"/>
                <a:gd name="T57" fmla="*/ 24 h 25"/>
                <a:gd name="T58" fmla="*/ 10 w 26"/>
                <a:gd name="T59" fmla="*/ 5 h 25"/>
                <a:gd name="T60" fmla="*/ 9 w 26"/>
                <a:gd name="T61" fmla="*/ 5 h 25"/>
                <a:gd name="T62" fmla="*/ 5 w 26"/>
                <a:gd name="T63"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25">
                  <a:moveTo>
                    <a:pt x="5" y="15"/>
                  </a:moveTo>
                  <a:cubicBezTo>
                    <a:pt x="4" y="17"/>
                    <a:pt x="4" y="18"/>
                    <a:pt x="5" y="19"/>
                  </a:cubicBezTo>
                  <a:cubicBezTo>
                    <a:pt x="6" y="20"/>
                    <a:pt x="6" y="20"/>
                    <a:pt x="6" y="20"/>
                  </a:cubicBezTo>
                  <a:cubicBezTo>
                    <a:pt x="6" y="20"/>
                    <a:pt x="6" y="20"/>
                    <a:pt x="6" y="20"/>
                  </a:cubicBezTo>
                  <a:cubicBezTo>
                    <a:pt x="5" y="20"/>
                    <a:pt x="4" y="19"/>
                    <a:pt x="3" y="19"/>
                  </a:cubicBezTo>
                  <a:cubicBezTo>
                    <a:pt x="2" y="18"/>
                    <a:pt x="1" y="18"/>
                    <a:pt x="0" y="18"/>
                  </a:cubicBezTo>
                  <a:cubicBezTo>
                    <a:pt x="0" y="18"/>
                    <a:pt x="0" y="17"/>
                    <a:pt x="0" y="17"/>
                  </a:cubicBezTo>
                  <a:cubicBezTo>
                    <a:pt x="0" y="17"/>
                    <a:pt x="0" y="17"/>
                    <a:pt x="1" y="17"/>
                  </a:cubicBezTo>
                  <a:cubicBezTo>
                    <a:pt x="2" y="17"/>
                    <a:pt x="3" y="17"/>
                    <a:pt x="4" y="15"/>
                  </a:cubicBezTo>
                  <a:cubicBezTo>
                    <a:pt x="9" y="4"/>
                    <a:pt x="9" y="4"/>
                    <a:pt x="9" y="4"/>
                  </a:cubicBezTo>
                  <a:cubicBezTo>
                    <a:pt x="9" y="2"/>
                    <a:pt x="8" y="1"/>
                    <a:pt x="8" y="1"/>
                  </a:cubicBezTo>
                  <a:cubicBezTo>
                    <a:pt x="7" y="1"/>
                    <a:pt x="7" y="1"/>
                    <a:pt x="7" y="0"/>
                  </a:cubicBezTo>
                  <a:cubicBezTo>
                    <a:pt x="7" y="0"/>
                    <a:pt x="7" y="0"/>
                    <a:pt x="8" y="0"/>
                  </a:cubicBezTo>
                  <a:cubicBezTo>
                    <a:pt x="8" y="0"/>
                    <a:pt x="9" y="1"/>
                    <a:pt x="10" y="1"/>
                  </a:cubicBezTo>
                  <a:cubicBezTo>
                    <a:pt x="13" y="3"/>
                    <a:pt x="13" y="3"/>
                    <a:pt x="13" y="3"/>
                  </a:cubicBezTo>
                  <a:cubicBezTo>
                    <a:pt x="17" y="18"/>
                    <a:pt x="17" y="18"/>
                    <a:pt x="17" y="18"/>
                  </a:cubicBezTo>
                  <a:cubicBezTo>
                    <a:pt x="17" y="18"/>
                    <a:pt x="17" y="18"/>
                    <a:pt x="17" y="18"/>
                  </a:cubicBezTo>
                  <a:cubicBezTo>
                    <a:pt x="21" y="11"/>
                    <a:pt x="21" y="11"/>
                    <a:pt x="21" y="11"/>
                  </a:cubicBezTo>
                  <a:cubicBezTo>
                    <a:pt x="22" y="9"/>
                    <a:pt x="21" y="7"/>
                    <a:pt x="21" y="7"/>
                  </a:cubicBezTo>
                  <a:cubicBezTo>
                    <a:pt x="20" y="6"/>
                    <a:pt x="19" y="6"/>
                    <a:pt x="19" y="6"/>
                  </a:cubicBezTo>
                  <a:cubicBezTo>
                    <a:pt x="19" y="6"/>
                    <a:pt x="20" y="5"/>
                    <a:pt x="20" y="6"/>
                  </a:cubicBezTo>
                  <a:cubicBezTo>
                    <a:pt x="21" y="6"/>
                    <a:pt x="22" y="6"/>
                    <a:pt x="23" y="7"/>
                  </a:cubicBezTo>
                  <a:cubicBezTo>
                    <a:pt x="24" y="7"/>
                    <a:pt x="25" y="8"/>
                    <a:pt x="26" y="8"/>
                  </a:cubicBezTo>
                  <a:cubicBezTo>
                    <a:pt x="26" y="8"/>
                    <a:pt x="26" y="8"/>
                    <a:pt x="26" y="9"/>
                  </a:cubicBezTo>
                  <a:cubicBezTo>
                    <a:pt x="26" y="9"/>
                    <a:pt x="25" y="8"/>
                    <a:pt x="24" y="8"/>
                  </a:cubicBezTo>
                  <a:cubicBezTo>
                    <a:pt x="23" y="8"/>
                    <a:pt x="22" y="9"/>
                    <a:pt x="21" y="11"/>
                  </a:cubicBezTo>
                  <a:cubicBezTo>
                    <a:pt x="15" y="24"/>
                    <a:pt x="15" y="24"/>
                    <a:pt x="15" y="24"/>
                  </a:cubicBezTo>
                  <a:cubicBezTo>
                    <a:pt x="15" y="25"/>
                    <a:pt x="15" y="25"/>
                    <a:pt x="15" y="25"/>
                  </a:cubicBezTo>
                  <a:cubicBezTo>
                    <a:pt x="15" y="25"/>
                    <a:pt x="15" y="24"/>
                    <a:pt x="14" y="24"/>
                  </a:cubicBezTo>
                  <a:cubicBezTo>
                    <a:pt x="10" y="5"/>
                    <a:pt x="10" y="5"/>
                    <a:pt x="10" y="5"/>
                  </a:cubicBezTo>
                  <a:cubicBezTo>
                    <a:pt x="9" y="5"/>
                    <a:pt x="9" y="5"/>
                    <a:pt x="9" y="5"/>
                  </a:cubicBezTo>
                  <a:lnTo>
                    <a:pt x="5"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Freeform 43">
              <a:extLst>
                <a:ext uri="{FF2B5EF4-FFF2-40B4-BE49-F238E27FC236}">
                  <a16:creationId xmlns:a16="http://schemas.microsoft.com/office/drawing/2014/main" id="{E9B0F5BD-85D9-4FDF-AD23-D3F07BA57381}"/>
                </a:ext>
              </a:extLst>
            </p:cNvPr>
            <p:cNvSpPr/>
            <p:nvPr/>
          </p:nvSpPr>
          <p:spPr bwMode="auto">
            <a:xfrm>
              <a:off x="4740275" y="4953000"/>
              <a:ext cx="100013" cy="114300"/>
            </a:xfrm>
            <a:custGeom>
              <a:avLst/>
              <a:gdLst>
                <a:gd name="T0" fmla="*/ 12 w 18"/>
                <a:gd name="T1" fmla="*/ 3 h 20"/>
                <a:gd name="T2" fmla="*/ 11 w 18"/>
                <a:gd name="T3" fmla="*/ 0 h 20"/>
                <a:gd name="T4" fmla="*/ 11 w 18"/>
                <a:gd name="T5" fmla="*/ 0 h 20"/>
                <a:gd name="T6" fmla="*/ 15 w 18"/>
                <a:gd name="T7" fmla="*/ 2 h 20"/>
                <a:gd name="T8" fmla="*/ 18 w 18"/>
                <a:gd name="T9" fmla="*/ 5 h 20"/>
                <a:gd name="T10" fmla="*/ 18 w 18"/>
                <a:gd name="T11" fmla="*/ 5 h 20"/>
                <a:gd name="T12" fmla="*/ 15 w 18"/>
                <a:gd name="T13" fmla="*/ 5 h 20"/>
                <a:gd name="T14" fmla="*/ 6 w 18"/>
                <a:gd name="T15" fmla="*/ 17 h 20"/>
                <a:gd name="T16" fmla="*/ 7 w 18"/>
                <a:gd name="T17" fmla="*/ 20 h 20"/>
                <a:gd name="T18" fmla="*/ 7 w 18"/>
                <a:gd name="T19" fmla="*/ 20 h 20"/>
                <a:gd name="T20" fmla="*/ 3 w 18"/>
                <a:gd name="T21" fmla="*/ 18 h 20"/>
                <a:gd name="T22" fmla="*/ 0 w 18"/>
                <a:gd name="T23" fmla="*/ 16 h 20"/>
                <a:gd name="T24" fmla="*/ 0 w 18"/>
                <a:gd name="T25" fmla="*/ 15 h 20"/>
                <a:gd name="T26" fmla="*/ 3 w 18"/>
                <a:gd name="T27" fmla="*/ 15 h 20"/>
                <a:gd name="T28" fmla="*/ 12 w 18"/>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2" y="3"/>
                  </a:moveTo>
                  <a:cubicBezTo>
                    <a:pt x="13" y="1"/>
                    <a:pt x="10" y="1"/>
                    <a:pt x="11" y="0"/>
                  </a:cubicBezTo>
                  <a:cubicBezTo>
                    <a:pt x="11" y="0"/>
                    <a:pt x="11" y="0"/>
                    <a:pt x="11" y="0"/>
                  </a:cubicBezTo>
                  <a:cubicBezTo>
                    <a:pt x="13" y="1"/>
                    <a:pt x="14" y="2"/>
                    <a:pt x="15" y="2"/>
                  </a:cubicBezTo>
                  <a:cubicBezTo>
                    <a:pt x="15" y="3"/>
                    <a:pt x="17" y="4"/>
                    <a:pt x="18" y="5"/>
                  </a:cubicBezTo>
                  <a:cubicBezTo>
                    <a:pt x="18" y="5"/>
                    <a:pt x="18" y="5"/>
                    <a:pt x="18" y="5"/>
                  </a:cubicBezTo>
                  <a:cubicBezTo>
                    <a:pt x="18" y="6"/>
                    <a:pt x="16" y="4"/>
                    <a:pt x="15" y="5"/>
                  </a:cubicBezTo>
                  <a:cubicBezTo>
                    <a:pt x="6" y="17"/>
                    <a:pt x="6" y="17"/>
                    <a:pt x="6" y="17"/>
                  </a:cubicBezTo>
                  <a:cubicBezTo>
                    <a:pt x="5" y="19"/>
                    <a:pt x="8" y="20"/>
                    <a:pt x="7" y="20"/>
                  </a:cubicBezTo>
                  <a:cubicBezTo>
                    <a:pt x="7" y="20"/>
                    <a:pt x="7" y="20"/>
                    <a:pt x="7" y="20"/>
                  </a:cubicBezTo>
                  <a:cubicBezTo>
                    <a:pt x="5" y="19"/>
                    <a:pt x="4" y="19"/>
                    <a:pt x="3" y="18"/>
                  </a:cubicBezTo>
                  <a:cubicBezTo>
                    <a:pt x="3" y="17"/>
                    <a:pt x="1" y="17"/>
                    <a:pt x="0" y="16"/>
                  </a:cubicBezTo>
                  <a:cubicBezTo>
                    <a:pt x="0" y="15"/>
                    <a:pt x="0" y="15"/>
                    <a:pt x="0" y="15"/>
                  </a:cubicBezTo>
                  <a:cubicBezTo>
                    <a:pt x="0" y="14"/>
                    <a:pt x="2" y="17"/>
                    <a:pt x="3" y="15"/>
                  </a:cubicBezTo>
                  <a:lnTo>
                    <a:pt x="12"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Freeform 44">
              <a:extLst>
                <a:ext uri="{FF2B5EF4-FFF2-40B4-BE49-F238E27FC236}">
                  <a16:creationId xmlns:a16="http://schemas.microsoft.com/office/drawing/2014/main" id="{87BAD3DD-77C8-4251-9AC8-A7DF1DA1716B}"/>
                </a:ext>
              </a:extLst>
            </p:cNvPr>
            <p:cNvSpPr/>
            <p:nvPr/>
          </p:nvSpPr>
          <p:spPr bwMode="auto">
            <a:xfrm>
              <a:off x="4824413" y="4999038"/>
              <a:ext cx="117475" cy="119063"/>
            </a:xfrm>
            <a:custGeom>
              <a:avLst/>
              <a:gdLst>
                <a:gd name="T0" fmla="*/ 14 w 21"/>
                <a:gd name="T1" fmla="*/ 14 h 21"/>
                <a:gd name="T2" fmla="*/ 16 w 21"/>
                <a:gd name="T3" fmla="*/ 13 h 21"/>
                <a:gd name="T4" fmla="*/ 16 w 21"/>
                <a:gd name="T5" fmla="*/ 10 h 21"/>
                <a:gd name="T6" fmla="*/ 17 w 21"/>
                <a:gd name="T7" fmla="*/ 10 h 21"/>
                <a:gd name="T8" fmla="*/ 19 w 21"/>
                <a:gd name="T9" fmla="*/ 12 h 21"/>
                <a:gd name="T10" fmla="*/ 21 w 21"/>
                <a:gd name="T11" fmla="*/ 14 h 21"/>
                <a:gd name="T12" fmla="*/ 21 w 21"/>
                <a:gd name="T13" fmla="*/ 15 h 21"/>
                <a:gd name="T14" fmla="*/ 16 w 21"/>
                <a:gd name="T15" fmla="*/ 15 h 21"/>
                <a:gd name="T16" fmla="*/ 1 w 21"/>
                <a:gd name="T17" fmla="*/ 20 h 21"/>
                <a:gd name="T18" fmla="*/ 0 w 21"/>
                <a:gd name="T19" fmla="*/ 21 h 21"/>
                <a:gd name="T20" fmla="*/ 0 w 21"/>
                <a:gd name="T21" fmla="*/ 20 h 21"/>
                <a:gd name="T22" fmla="*/ 7 w 21"/>
                <a:gd name="T23" fmla="*/ 4 h 21"/>
                <a:gd name="T24" fmla="*/ 7 w 21"/>
                <a:gd name="T25" fmla="*/ 0 h 21"/>
                <a:gd name="T26" fmla="*/ 8 w 21"/>
                <a:gd name="T27" fmla="*/ 0 h 21"/>
                <a:gd name="T28" fmla="*/ 10 w 21"/>
                <a:gd name="T29" fmla="*/ 3 h 21"/>
                <a:gd name="T30" fmla="*/ 13 w 21"/>
                <a:gd name="T31" fmla="*/ 6 h 21"/>
                <a:gd name="T32" fmla="*/ 13 w 21"/>
                <a:gd name="T33" fmla="*/ 7 h 21"/>
                <a:gd name="T34" fmla="*/ 11 w 21"/>
                <a:gd name="T35" fmla="*/ 6 h 21"/>
                <a:gd name="T36" fmla="*/ 10 w 21"/>
                <a:gd name="T37" fmla="*/ 7 h 21"/>
                <a:gd name="T38" fmla="*/ 5 w 21"/>
                <a:gd name="T39" fmla="*/ 18 h 21"/>
                <a:gd name="T40" fmla="*/ 14 w 21"/>
                <a:gd name="T4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1">
                  <a:moveTo>
                    <a:pt x="14" y="14"/>
                  </a:moveTo>
                  <a:cubicBezTo>
                    <a:pt x="15" y="14"/>
                    <a:pt x="15" y="14"/>
                    <a:pt x="16" y="13"/>
                  </a:cubicBezTo>
                  <a:cubicBezTo>
                    <a:pt x="18" y="12"/>
                    <a:pt x="16" y="10"/>
                    <a:pt x="16" y="10"/>
                  </a:cubicBezTo>
                  <a:cubicBezTo>
                    <a:pt x="16" y="10"/>
                    <a:pt x="17" y="10"/>
                    <a:pt x="17" y="10"/>
                  </a:cubicBezTo>
                  <a:cubicBezTo>
                    <a:pt x="17" y="11"/>
                    <a:pt x="18" y="11"/>
                    <a:pt x="19" y="12"/>
                  </a:cubicBezTo>
                  <a:cubicBezTo>
                    <a:pt x="19" y="13"/>
                    <a:pt x="20" y="13"/>
                    <a:pt x="21" y="14"/>
                  </a:cubicBezTo>
                  <a:cubicBezTo>
                    <a:pt x="21" y="14"/>
                    <a:pt x="21" y="15"/>
                    <a:pt x="21" y="15"/>
                  </a:cubicBezTo>
                  <a:cubicBezTo>
                    <a:pt x="20" y="15"/>
                    <a:pt x="20" y="13"/>
                    <a:pt x="16" y="15"/>
                  </a:cubicBezTo>
                  <a:cubicBezTo>
                    <a:pt x="1" y="20"/>
                    <a:pt x="1" y="20"/>
                    <a:pt x="1" y="20"/>
                  </a:cubicBezTo>
                  <a:cubicBezTo>
                    <a:pt x="0" y="21"/>
                    <a:pt x="0" y="21"/>
                    <a:pt x="0" y="21"/>
                  </a:cubicBezTo>
                  <a:cubicBezTo>
                    <a:pt x="0" y="20"/>
                    <a:pt x="0" y="20"/>
                    <a:pt x="0" y="20"/>
                  </a:cubicBezTo>
                  <a:cubicBezTo>
                    <a:pt x="7" y="4"/>
                    <a:pt x="7" y="4"/>
                    <a:pt x="7" y="4"/>
                  </a:cubicBezTo>
                  <a:cubicBezTo>
                    <a:pt x="8" y="1"/>
                    <a:pt x="7" y="1"/>
                    <a:pt x="7" y="0"/>
                  </a:cubicBezTo>
                  <a:cubicBezTo>
                    <a:pt x="7" y="0"/>
                    <a:pt x="7" y="0"/>
                    <a:pt x="8" y="0"/>
                  </a:cubicBezTo>
                  <a:cubicBezTo>
                    <a:pt x="9" y="1"/>
                    <a:pt x="9" y="2"/>
                    <a:pt x="10" y="3"/>
                  </a:cubicBezTo>
                  <a:cubicBezTo>
                    <a:pt x="11" y="4"/>
                    <a:pt x="12" y="5"/>
                    <a:pt x="13" y="6"/>
                  </a:cubicBezTo>
                  <a:cubicBezTo>
                    <a:pt x="13" y="6"/>
                    <a:pt x="13" y="6"/>
                    <a:pt x="13" y="7"/>
                  </a:cubicBezTo>
                  <a:cubicBezTo>
                    <a:pt x="13" y="7"/>
                    <a:pt x="12" y="5"/>
                    <a:pt x="11" y="6"/>
                  </a:cubicBezTo>
                  <a:cubicBezTo>
                    <a:pt x="11" y="6"/>
                    <a:pt x="10" y="7"/>
                    <a:pt x="10" y="7"/>
                  </a:cubicBezTo>
                  <a:cubicBezTo>
                    <a:pt x="5" y="18"/>
                    <a:pt x="5" y="18"/>
                    <a:pt x="5" y="18"/>
                  </a:cubicBezTo>
                  <a:lnTo>
                    <a:pt x="14" y="1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Freeform 45">
              <a:extLst>
                <a:ext uri="{FF2B5EF4-FFF2-40B4-BE49-F238E27FC236}">
                  <a16:creationId xmlns:a16="http://schemas.microsoft.com/office/drawing/2014/main" id="{B26F2B87-89A5-4032-B690-91D1E75418E6}"/>
                </a:ext>
              </a:extLst>
            </p:cNvPr>
            <p:cNvSpPr/>
            <p:nvPr/>
          </p:nvSpPr>
          <p:spPr bwMode="auto">
            <a:xfrm>
              <a:off x="4862513" y="5094288"/>
              <a:ext cx="134938" cy="136525"/>
            </a:xfrm>
            <a:custGeom>
              <a:avLst/>
              <a:gdLst>
                <a:gd name="T0" fmla="*/ 15 w 24"/>
                <a:gd name="T1" fmla="*/ 4 h 24"/>
                <a:gd name="T2" fmla="*/ 16 w 24"/>
                <a:gd name="T3" fmla="*/ 1 h 24"/>
                <a:gd name="T4" fmla="*/ 16 w 24"/>
                <a:gd name="T5" fmla="*/ 1 h 24"/>
                <a:gd name="T6" fmla="*/ 18 w 24"/>
                <a:gd name="T7" fmla="*/ 4 h 24"/>
                <a:gd name="T8" fmla="*/ 24 w 24"/>
                <a:gd name="T9" fmla="*/ 13 h 24"/>
                <a:gd name="T10" fmla="*/ 20 w 24"/>
                <a:gd name="T11" fmla="*/ 17 h 24"/>
                <a:gd name="T12" fmla="*/ 19 w 24"/>
                <a:gd name="T13" fmla="*/ 17 h 24"/>
                <a:gd name="T14" fmla="*/ 19 w 24"/>
                <a:gd name="T15" fmla="*/ 17 h 24"/>
                <a:gd name="T16" fmla="*/ 20 w 24"/>
                <a:gd name="T17" fmla="*/ 15 h 24"/>
                <a:gd name="T18" fmla="*/ 20 w 24"/>
                <a:gd name="T19" fmla="*/ 8 h 24"/>
                <a:gd name="T20" fmla="*/ 19 w 24"/>
                <a:gd name="T21" fmla="*/ 6 h 24"/>
                <a:gd name="T22" fmla="*/ 12 w 24"/>
                <a:gd name="T23" fmla="*/ 10 h 24"/>
                <a:gd name="T24" fmla="*/ 12 w 24"/>
                <a:gd name="T25" fmla="*/ 11 h 24"/>
                <a:gd name="T26" fmla="*/ 17 w 24"/>
                <a:gd name="T27" fmla="*/ 12 h 24"/>
                <a:gd name="T28" fmla="*/ 18 w 24"/>
                <a:gd name="T29" fmla="*/ 12 h 24"/>
                <a:gd name="T30" fmla="*/ 18 w 24"/>
                <a:gd name="T31" fmla="*/ 13 h 24"/>
                <a:gd name="T32" fmla="*/ 10 w 24"/>
                <a:gd name="T33" fmla="*/ 17 h 24"/>
                <a:gd name="T34" fmla="*/ 10 w 24"/>
                <a:gd name="T35" fmla="*/ 17 h 24"/>
                <a:gd name="T36" fmla="*/ 10 w 24"/>
                <a:gd name="T37" fmla="*/ 16 h 24"/>
                <a:gd name="T38" fmla="*/ 12 w 24"/>
                <a:gd name="T39" fmla="*/ 11 h 24"/>
                <a:gd name="T40" fmla="*/ 11 w 24"/>
                <a:gd name="T41" fmla="*/ 11 h 24"/>
                <a:gd name="T42" fmla="*/ 5 w 24"/>
                <a:gd name="T43" fmla="*/ 14 h 24"/>
                <a:gd name="T44" fmla="*/ 5 w 24"/>
                <a:gd name="T45" fmla="*/ 17 h 24"/>
                <a:gd name="T46" fmla="*/ 14 w 24"/>
                <a:gd name="T47" fmla="*/ 21 h 24"/>
                <a:gd name="T48" fmla="*/ 15 w 24"/>
                <a:gd name="T49" fmla="*/ 21 h 24"/>
                <a:gd name="T50" fmla="*/ 15 w 24"/>
                <a:gd name="T51" fmla="*/ 21 h 24"/>
                <a:gd name="T52" fmla="*/ 14 w 24"/>
                <a:gd name="T53" fmla="*/ 22 h 24"/>
                <a:gd name="T54" fmla="*/ 8 w 24"/>
                <a:gd name="T55" fmla="*/ 24 h 24"/>
                <a:gd name="T56" fmla="*/ 2 w 24"/>
                <a:gd name="T57" fmla="*/ 14 h 24"/>
                <a:gd name="T58" fmla="*/ 0 w 24"/>
                <a:gd name="T59" fmla="*/ 11 h 24"/>
                <a:gd name="T60" fmla="*/ 0 w 24"/>
                <a:gd name="T61" fmla="*/ 10 h 24"/>
                <a:gd name="T62" fmla="*/ 3 w 24"/>
                <a:gd name="T63" fmla="*/ 11 h 24"/>
                <a:gd name="T64" fmla="*/ 15 w 24"/>
                <a:gd name="T6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15" y="4"/>
                  </a:moveTo>
                  <a:cubicBezTo>
                    <a:pt x="17" y="2"/>
                    <a:pt x="15" y="1"/>
                    <a:pt x="16" y="1"/>
                  </a:cubicBezTo>
                  <a:cubicBezTo>
                    <a:pt x="16" y="0"/>
                    <a:pt x="16" y="0"/>
                    <a:pt x="16" y="1"/>
                  </a:cubicBezTo>
                  <a:cubicBezTo>
                    <a:pt x="17" y="2"/>
                    <a:pt x="18" y="3"/>
                    <a:pt x="18" y="4"/>
                  </a:cubicBezTo>
                  <a:cubicBezTo>
                    <a:pt x="20" y="7"/>
                    <a:pt x="22" y="10"/>
                    <a:pt x="24" y="13"/>
                  </a:cubicBezTo>
                  <a:cubicBezTo>
                    <a:pt x="20" y="17"/>
                    <a:pt x="20" y="17"/>
                    <a:pt x="20" y="17"/>
                  </a:cubicBezTo>
                  <a:cubicBezTo>
                    <a:pt x="19" y="17"/>
                    <a:pt x="19" y="17"/>
                    <a:pt x="19" y="17"/>
                  </a:cubicBezTo>
                  <a:cubicBezTo>
                    <a:pt x="19" y="17"/>
                    <a:pt x="19" y="17"/>
                    <a:pt x="19" y="17"/>
                  </a:cubicBezTo>
                  <a:cubicBezTo>
                    <a:pt x="19" y="17"/>
                    <a:pt x="19" y="17"/>
                    <a:pt x="20" y="15"/>
                  </a:cubicBezTo>
                  <a:cubicBezTo>
                    <a:pt x="21" y="13"/>
                    <a:pt x="21" y="11"/>
                    <a:pt x="20" y="8"/>
                  </a:cubicBezTo>
                  <a:cubicBezTo>
                    <a:pt x="19" y="6"/>
                    <a:pt x="19" y="6"/>
                    <a:pt x="19" y="6"/>
                  </a:cubicBezTo>
                  <a:cubicBezTo>
                    <a:pt x="12" y="10"/>
                    <a:pt x="12" y="10"/>
                    <a:pt x="12" y="10"/>
                  </a:cubicBezTo>
                  <a:cubicBezTo>
                    <a:pt x="12" y="11"/>
                    <a:pt x="12" y="11"/>
                    <a:pt x="12" y="11"/>
                  </a:cubicBezTo>
                  <a:cubicBezTo>
                    <a:pt x="13" y="13"/>
                    <a:pt x="15" y="13"/>
                    <a:pt x="17" y="12"/>
                  </a:cubicBezTo>
                  <a:cubicBezTo>
                    <a:pt x="18" y="12"/>
                    <a:pt x="18" y="12"/>
                    <a:pt x="18" y="12"/>
                  </a:cubicBezTo>
                  <a:cubicBezTo>
                    <a:pt x="18" y="12"/>
                    <a:pt x="18" y="13"/>
                    <a:pt x="18" y="13"/>
                  </a:cubicBezTo>
                  <a:cubicBezTo>
                    <a:pt x="10" y="17"/>
                    <a:pt x="10" y="17"/>
                    <a:pt x="10" y="17"/>
                  </a:cubicBezTo>
                  <a:cubicBezTo>
                    <a:pt x="10" y="17"/>
                    <a:pt x="10" y="17"/>
                    <a:pt x="10" y="17"/>
                  </a:cubicBezTo>
                  <a:cubicBezTo>
                    <a:pt x="10" y="17"/>
                    <a:pt x="10" y="17"/>
                    <a:pt x="10" y="16"/>
                  </a:cubicBezTo>
                  <a:cubicBezTo>
                    <a:pt x="12" y="15"/>
                    <a:pt x="13" y="13"/>
                    <a:pt x="12" y="11"/>
                  </a:cubicBezTo>
                  <a:cubicBezTo>
                    <a:pt x="11" y="11"/>
                    <a:pt x="11" y="11"/>
                    <a:pt x="11" y="11"/>
                  </a:cubicBezTo>
                  <a:cubicBezTo>
                    <a:pt x="5" y="14"/>
                    <a:pt x="5" y="14"/>
                    <a:pt x="5" y="14"/>
                  </a:cubicBezTo>
                  <a:cubicBezTo>
                    <a:pt x="4" y="15"/>
                    <a:pt x="4" y="16"/>
                    <a:pt x="5" y="17"/>
                  </a:cubicBezTo>
                  <a:cubicBezTo>
                    <a:pt x="7" y="21"/>
                    <a:pt x="11" y="22"/>
                    <a:pt x="14" y="21"/>
                  </a:cubicBezTo>
                  <a:cubicBezTo>
                    <a:pt x="14" y="21"/>
                    <a:pt x="15" y="21"/>
                    <a:pt x="15" y="21"/>
                  </a:cubicBezTo>
                  <a:cubicBezTo>
                    <a:pt x="15" y="21"/>
                    <a:pt x="15" y="21"/>
                    <a:pt x="15" y="21"/>
                  </a:cubicBezTo>
                  <a:cubicBezTo>
                    <a:pt x="14" y="21"/>
                    <a:pt x="14" y="22"/>
                    <a:pt x="14" y="22"/>
                  </a:cubicBezTo>
                  <a:cubicBezTo>
                    <a:pt x="8" y="24"/>
                    <a:pt x="8" y="24"/>
                    <a:pt x="8" y="24"/>
                  </a:cubicBezTo>
                  <a:cubicBezTo>
                    <a:pt x="6" y="21"/>
                    <a:pt x="4" y="17"/>
                    <a:pt x="2" y="14"/>
                  </a:cubicBezTo>
                  <a:cubicBezTo>
                    <a:pt x="1" y="13"/>
                    <a:pt x="1" y="12"/>
                    <a:pt x="0" y="11"/>
                  </a:cubicBezTo>
                  <a:cubicBezTo>
                    <a:pt x="0" y="10"/>
                    <a:pt x="0" y="10"/>
                    <a:pt x="0" y="10"/>
                  </a:cubicBezTo>
                  <a:cubicBezTo>
                    <a:pt x="1" y="10"/>
                    <a:pt x="1" y="12"/>
                    <a:pt x="3" y="11"/>
                  </a:cubicBezTo>
                  <a:lnTo>
                    <a:pt x="15" y="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46">
              <a:extLst>
                <a:ext uri="{FF2B5EF4-FFF2-40B4-BE49-F238E27FC236}">
                  <a16:creationId xmlns:a16="http://schemas.microsoft.com/office/drawing/2014/main" id="{FCF2956F-9273-4A87-AD3E-B012B084980D}"/>
                </a:ext>
              </a:extLst>
            </p:cNvPr>
            <p:cNvSpPr>
              <a:spLocks noEditPoints="1"/>
            </p:cNvSpPr>
            <p:nvPr/>
          </p:nvSpPr>
          <p:spPr bwMode="auto">
            <a:xfrm>
              <a:off x="4919663" y="5219700"/>
              <a:ext cx="122238" cy="141288"/>
            </a:xfrm>
            <a:custGeom>
              <a:avLst/>
              <a:gdLst>
                <a:gd name="T0" fmla="*/ 9 w 22"/>
                <a:gd name="T1" fmla="*/ 13 h 25"/>
                <a:gd name="T2" fmla="*/ 10 w 22"/>
                <a:gd name="T3" fmla="*/ 9 h 25"/>
                <a:gd name="T4" fmla="*/ 4 w 22"/>
                <a:gd name="T5" fmla="*/ 11 h 25"/>
                <a:gd name="T6" fmla="*/ 3 w 22"/>
                <a:gd name="T7" fmla="*/ 14 h 25"/>
                <a:gd name="T8" fmla="*/ 2 w 22"/>
                <a:gd name="T9" fmla="*/ 14 h 25"/>
                <a:gd name="T10" fmla="*/ 1 w 22"/>
                <a:gd name="T11" fmla="*/ 10 h 25"/>
                <a:gd name="T12" fmla="*/ 0 w 22"/>
                <a:gd name="T13" fmla="*/ 6 h 25"/>
                <a:gd name="T14" fmla="*/ 0 w 22"/>
                <a:gd name="T15" fmla="*/ 6 h 25"/>
                <a:gd name="T16" fmla="*/ 3 w 22"/>
                <a:gd name="T17" fmla="*/ 7 h 25"/>
                <a:gd name="T18" fmla="*/ 17 w 22"/>
                <a:gd name="T19" fmla="*/ 3 h 25"/>
                <a:gd name="T20" fmla="*/ 18 w 22"/>
                <a:gd name="T21" fmla="*/ 0 h 25"/>
                <a:gd name="T22" fmla="*/ 18 w 22"/>
                <a:gd name="T23" fmla="*/ 1 h 25"/>
                <a:gd name="T24" fmla="*/ 19 w 22"/>
                <a:gd name="T25" fmla="*/ 5 h 25"/>
                <a:gd name="T26" fmla="*/ 21 w 22"/>
                <a:gd name="T27" fmla="*/ 9 h 25"/>
                <a:gd name="T28" fmla="*/ 18 w 22"/>
                <a:gd name="T29" fmla="*/ 17 h 25"/>
                <a:gd name="T30" fmla="*/ 11 w 22"/>
                <a:gd name="T31" fmla="*/ 12 h 25"/>
                <a:gd name="T32" fmla="*/ 11 w 22"/>
                <a:gd name="T33" fmla="*/ 12 h 25"/>
                <a:gd name="T34" fmla="*/ 10 w 22"/>
                <a:gd name="T35" fmla="*/ 18 h 25"/>
                <a:gd name="T36" fmla="*/ 7 w 22"/>
                <a:gd name="T37" fmla="*/ 21 h 25"/>
                <a:gd name="T38" fmla="*/ 6 w 22"/>
                <a:gd name="T39" fmla="*/ 25 h 25"/>
                <a:gd name="T40" fmla="*/ 5 w 22"/>
                <a:gd name="T41" fmla="*/ 25 h 25"/>
                <a:gd name="T42" fmla="*/ 4 w 22"/>
                <a:gd name="T43" fmla="*/ 22 h 25"/>
                <a:gd name="T44" fmla="*/ 4 w 22"/>
                <a:gd name="T45" fmla="*/ 19 h 25"/>
                <a:gd name="T46" fmla="*/ 9 w 22"/>
                <a:gd name="T47" fmla="*/ 13 h 25"/>
                <a:gd name="T48" fmla="*/ 11 w 22"/>
                <a:gd name="T49" fmla="*/ 9 h 25"/>
                <a:gd name="T50" fmla="*/ 11 w 22"/>
                <a:gd name="T51" fmla="*/ 10 h 25"/>
                <a:gd name="T52" fmla="*/ 17 w 22"/>
                <a:gd name="T53" fmla="*/ 13 h 25"/>
                <a:gd name="T54" fmla="*/ 20 w 22"/>
                <a:gd name="T55" fmla="*/ 8 h 25"/>
                <a:gd name="T56" fmla="*/ 19 w 22"/>
                <a:gd name="T57" fmla="*/ 7 h 25"/>
                <a:gd name="T58" fmla="*/ 11 w 22"/>
                <a:gd name="T5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 h="25">
                  <a:moveTo>
                    <a:pt x="9" y="13"/>
                  </a:moveTo>
                  <a:cubicBezTo>
                    <a:pt x="11" y="12"/>
                    <a:pt x="11" y="11"/>
                    <a:pt x="10" y="9"/>
                  </a:cubicBezTo>
                  <a:cubicBezTo>
                    <a:pt x="4" y="11"/>
                    <a:pt x="4" y="11"/>
                    <a:pt x="4" y="11"/>
                  </a:cubicBezTo>
                  <a:cubicBezTo>
                    <a:pt x="2" y="12"/>
                    <a:pt x="3" y="14"/>
                    <a:pt x="3" y="14"/>
                  </a:cubicBezTo>
                  <a:cubicBezTo>
                    <a:pt x="2" y="14"/>
                    <a:pt x="2" y="14"/>
                    <a:pt x="2" y="14"/>
                  </a:cubicBezTo>
                  <a:cubicBezTo>
                    <a:pt x="2" y="12"/>
                    <a:pt x="1" y="11"/>
                    <a:pt x="1" y="10"/>
                  </a:cubicBezTo>
                  <a:cubicBezTo>
                    <a:pt x="1" y="9"/>
                    <a:pt x="0" y="8"/>
                    <a:pt x="0" y="6"/>
                  </a:cubicBezTo>
                  <a:cubicBezTo>
                    <a:pt x="0" y="6"/>
                    <a:pt x="0" y="6"/>
                    <a:pt x="0" y="6"/>
                  </a:cubicBezTo>
                  <a:cubicBezTo>
                    <a:pt x="1" y="5"/>
                    <a:pt x="0" y="8"/>
                    <a:pt x="3" y="7"/>
                  </a:cubicBezTo>
                  <a:cubicBezTo>
                    <a:pt x="17" y="3"/>
                    <a:pt x="17" y="3"/>
                    <a:pt x="17" y="3"/>
                  </a:cubicBezTo>
                  <a:cubicBezTo>
                    <a:pt x="19" y="3"/>
                    <a:pt x="17" y="1"/>
                    <a:pt x="18" y="0"/>
                  </a:cubicBezTo>
                  <a:cubicBezTo>
                    <a:pt x="18" y="0"/>
                    <a:pt x="18" y="0"/>
                    <a:pt x="18" y="1"/>
                  </a:cubicBezTo>
                  <a:cubicBezTo>
                    <a:pt x="19" y="2"/>
                    <a:pt x="19" y="4"/>
                    <a:pt x="19" y="5"/>
                  </a:cubicBezTo>
                  <a:cubicBezTo>
                    <a:pt x="20" y="6"/>
                    <a:pt x="20" y="7"/>
                    <a:pt x="21" y="9"/>
                  </a:cubicBezTo>
                  <a:cubicBezTo>
                    <a:pt x="22" y="13"/>
                    <a:pt x="21" y="17"/>
                    <a:pt x="18" y="17"/>
                  </a:cubicBezTo>
                  <a:cubicBezTo>
                    <a:pt x="16" y="18"/>
                    <a:pt x="13" y="17"/>
                    <a:pt x="11" y="12"/>
                  </a:cubicBezTo>
                  <a:cubicBezTo>
                    <a:pt x="11" y="12"/>
                    <a:pt x="11" y="12"/>
                    <a:pt x="11" y="12"/>
                  </a:cubicBezTo>
                  <a:cubicBezTo>
                    <a:pt x="12" y="15"/>
                    <a:pt x="12" y="16"/>
                    <a:pt x="10" y="18"/>
                  </a:cubicBezTo>
                  <a:cubicBezTo>
                    <a:pt x="7" y="21"/>
                    <a:pt x="7" y="21"/>
                    <a:pt x="7" y="21"/>
                  </a:cubicBezTo>
                  <a:cubicBezTo>
                    <a:pt x="5" y="23"/>
                    <a:pt x="6" y="24"/>
                    <a:pt x="6" y="25"/>
                  </a:cubicBezTo>
                  <a:cubicBezTo>
                    <a:pt x="6" y="25"/>
                    <a:pt x="5" y="25"/>
                    <a:pt x="5" y="25"/>
                  </a:cubicBezTo>
                  <a:cubicBezTo>
                    <a:pt x="5" y="24"/>
                    <a:pt x="5" y="23"/>
                    <a:pt x="4" y="22"/>
                  </a:cubicBezTo>
                  <a:cubicBezTo>
                    <a:pt x="4" y="19"/>
                    <a:pt x="4" y="19"/>
                    <a:pt x="4" y="19"/>
                  </a:cubicBezTo>
                  <a:lnTo>
                    <a:pt x="9" y="13"/>
                  </a:lnTo>
                  <a:close/>
                  <a:moveTo>
                    <a:pt x="11" y="9"/>
                  </a:moveTo>
                  <a:cubicBezTo>
                    <a:pt x="11" y="10"/>
                    <a:pt x="11" y="10"/>
                    <a:pt x="11" y="10"/>
                  </a:cubicBezTo>
                  <a:cubicBezTo>
                    <a:pt x="12" y="13"/>
                    <a:pt x="14" y="14"/>
                    <a:pt x="17" y="13"/>
                  </a:cubicBezTo>
                  <a:cubicBezTo>
                    <a:pt x="20" y="13"/>
                    <a:pt x="21" y="11"/>
                    <a:pt x="20" y="8"/>
                  </a:cubicBezTo>
                  <a:cubicBezTo>
                    <a:pt x="19" y="7"/>
                    <a:pt x="19" y="7"/>
                    <a:pt x="19" y="7"/>
                  </a:cubicBezTo>
                  <a:lnTo>
                    <a:pt x="11"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Freeform 47">
              <a:extLst>
                <a:ext uri="{FF2B5EF4-FFF2-40B4-BE49-F238E27FC236}">
                  <a16:creationId xmlns:a16="http://schemas.microsoft.com/office/drawing/2014/main" id="{1872BD01-686E-4076-BE0B-BE5BC9036DFE}"/>
                </a:ext>
              </a:extLst>
            </p:cNvPr>
            <p:cNvSpPr/>
            <p:nvPr/>
          </p:nvSpPr>
          <p:spPr bwMode="auto">
            <a:xfrm>
              <a:off x="4946650" y="5367338"/>
              <a:ext cx="112713" cy="85725"/>
            </a:xfrm>
            <a:custGeom>
              <a:avLst/>
              <a:gdLst>
                <a:gd name="T0" fmla="*/ 8 w 20"/>
                <a:gd name="T1" fmla="*/ 0 h 15"/>
                <a:gd name="T2" fmla="*/ 9 w 20"/>
                <a:gd name="T3" fmla="*/ 0 h 15"/>
                <a:gd name="T4" fmla="*/ 8 w 20"/>
                <a:gd name="T5" fmla="*/ 1 h 15"/>
                <a:gd name="T6" fmla="*/ 1 w 20"/>
                <a:gd name="T7" fmla="*/ 7 h 15"/>
                <a:gd name="T8" fmla="*/ 5 w 20"/>
                <a:gd name="T9" fmla="*/ 12 h 15"/>
                <a:gd name="T10" fmla="*/ 14 w 20"/>
                <a:gd name="T11" fmla="*/ 0 h 15"/>
                <a:gd name="T12" fmla="*/ 20 w 20"/>
                <a:gd name="T13" fmla="*/ 6 h 15"/>
                <a:gd name="T14" fmla="*/ 19 w 20"/>
                <a:gd name="T15" fmla="*/ 11 h 15"/>
                <a:gd name="T16" fmla="*/ 20 w 20"/>
                <a:gd name="T17" fmla="*/ 12 h 15"/>
                <a:gd name="T18" fmla="*/ 19 w 20"/>
                <a:gd name="T19" fmla="*/ 12 h 15"/>
                <a:gd name="T20" fmla="*/ 14 w 20"/>
                <a:gd name="T21" fmla="*/ 13 h 15"/>
                <a:gd name="T22" fmla="*/ 13 w 20"/>
                <a:gd name="T23" fmla="*/ 13 h 15"/>
                <a:gd name="T24" fmla="*/ 13 w 20"/>
                <a:gd name="T25" fmla="*/ 13 h 15"/>
                <a:gd name="T26" fmla="*/ 15 w 20"/>
                <a:gd name="T27" fmla="*/ 12 h 15"/>
                <a:gd name="T28" fmla="*/ 19 w 20"/>
                <a:gd name="T29" fmla="*/ 6 h 15"/>
                <a:gd name="T30" fmla="*/ 16 w 20"/>
                <a:gd name="T31" fmla="*/ 3 h 15"/>
                <a:gd name="T32" fmla="*/ 7 w 20"/>
                <a:gd name="T33" fmla="*/ 14 h 15"/>
                <a:gd name="T34" fmla="*/ 0 w 20"/>
                <a:gd name="T35" fmla="*/ 7 h 15"/>
                <a:gd name="T36" fmla="*/ 1 w 20"/>
                <a:gd name="T37" fmla="*/ 2 h 15"/>
                <a:gd name="T38" fmla="*/ 0 w 20"/>
                <a:gd name="T39" fmla="*/ 1 h 15"/>
                <a:gd name="T40" fmla="*/ 0 w 20"/>
                <a:gd name="T41" fmla="*/ 1 h 15"/>
                <a:gd name="T42" fmla="*/ 8 w 20"/>
                <a:gd name="T4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15">
                  <a:moveTo>
                    <a:pt x="8" y="0"/>
                  </a:moveTo>
                  <a:cubicBezTo>
                    <a:pt x="9" y="0"/>
                    <a:pt x="9" y="0"/>
                    <a:pt x="9" y="0"/>
                  </a:cubicBezTo>
                  <a:cubicBezTo>
                    <a:pt x="9" y="1"/>
                    <a:pt x="8" y="1"/>
                    <a:pt x="8" y="1"/>
                  </a:cubicBezTo>
                  <a:cubicBezTo>
                    <a:pt x="4" y="2"/>
                    <a:pt x="1" y="3"/>
                    <a:pt x="1" y="7"/>
                  </a:cubicBezTo>
                  <a:cubicBezTo>
                    <a:pt x="1" y="10"/>
                    <a:pt x="2" y="12"/>
                    <a:pt x="5" y="12"/>
                  </a:cubicBezTo>
                  <a:cubicBezTo>
                    <a:pt x="10" y="11"/>
                    <a:pt x="7" y="0"/>
                    <a:pt x="14" y="0"/>
                  </a:cubicBezTo>
                  <a:cubicBezTo>
                    <a:pt x="17" y="0"/>
                    <a:pt x="20" y="3"/>
                    <a:pt x="20" y="6"/>
                  </a:cubicBezTo>
                  <a:cubicBezTo>
                    <a:pt x="20" y="9"/>
                    <a:pt x="19" y="10"/>
                    <a:pt x="19" y="11"/>
                  </a:cubicBezTo>
                  <a:cubicBezTo>
                    <a:pt x="19" y="12"/>
                    <a:pt x="20" y="11"/>
                    <a:pt x="20" y="12"/>
                  </a:cubicBezTo>
                  <a:cubicBezTo>
                    <a:pt x="20" y="12"/>
                    <a:pt x="20" y="12"/>
                    <a:pt x="19" y="12"/>
                  </a:cubicBezTo>
                  <a:cubicBezTo>
                    <a:pt x="14" y="13"/>
                    <a:pt x="14" y="13"/>
                    <a:pt x="14" y="13"/>
                  </a:cubicBezTo>
                  <a:cubicBezTo>
                    <a:pt x="14" y="13"/>
                    <a:pt x="13" y="13"/>
                    <a:pt x="13" y="13"/>
                  </a:cubicBezTo>
                  <a:cubicBezTo>
                    <a:pt x="13" y="13"/>
                    <a:pt x="13" y="13"/>
                    <a:pt x="13" y="13"/>
                  </a:cubicBezTo>
                  <a:cubicBezTo>
                    <a:pt x="13" y="13"/>
                    <a:pt x="14" y="13"/>
                    <a:pt x="15" y="12"/>
                  </a:cubicBezTo>
                  <a:cubicBezTo>
                    <a:pt x="18" y="11"/>
                    <a:pt x="20" y="9"/>
                    <a:pt x="19" y="6"/>
                  </a:cubicBezTo>
                  <a:cubicBezTo>
                    <a:pt x="19" y="4"/>
                    <a:pt x="18" y="2"/>
                    <a:pt x="16" y="3"/>
                  </a:cubicBezTo>
                  <a:cubicBezTo>
                    <a:pt x="12" y="3"/>
                    <a:pt x="15" y="14"/>
                    <a:pt x="7" y="14"/>
                  </a:cubicBezTo>
                  <a:cubicBezTo>
                    <a:pt x="3" y="15"/>
                    <a:pt x="0" y="12"/>
                    <a:pt x="0" y="7"/>
                  </a:cubicBezTo>
                  <a:cubicBezTo>
                    <a:pt x="0" y="5"/>
                    <a:pt x="1" y="3"/>
                    <a:pt x="1" y="2"/>
                  </a:cubicBezTo>
                  <a:cubicBezTo>
                    <a:pt x="1" y="1"/>
                    <a:pt x="0" y="1"/>
                    <a:pt x="0" y="1"/>
                  </a:cubicBezTo>
                  <a:cubicBezTo>
                    <a:pt x="0" y="1"/>
                    <a:pt x="0" y="1"/>
                    <a:pt x="0" y="1"/>
                  </a:cubicBezTo>
                  <a:lnTo>
                    <a:pt x="8" y="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1" name="Freeform 48">
              <a:extLst>
                <a:ext uri="{FF2B5EF4-FFF2-40B4-BE49-F238E27FC236}">
                  <a16:creationId xmlns:a16="http://schemas.microsoft.com/office/drawing/2014/main" id="{730C768A-25EA-40DC-8F16-073468976EB5}"/>
                </a:ext>
              </a:extLst>
            </p:cNvPr>
            <p:cNvSpPr/>
            <p:nvPr/>
          </p:nvSpPr>
          <p:spPr bwMode="auto">
            <a:xfrm>
              <a:off x="4941888" y="5468938"/>
              <a:ext cx="111125" cy="63500"/>
            </a:xfrm>
            <a:custGeom>
              <a:avLst/>
              <a:gdLst>
                <a:gd name="T0" fmla="*/ 18 w 20"/>
                <a:gd name="T1" fmla="*/ 5 h 11"/>
                <a:gd name="T2" fmla="*/ 20 w 20"/>
                <a:gd name="T3" fmla="*/ 2 h 11"/>
                <a:gd name="T4" fmla="*/ 20 w 20"/>
                <a:gd name="T5" fmla="*/ 3 h 11"/>
                <a:gd name="T6" fmla="*/ 20 w 20"/>
                <a:gd name="T7" fmla="*/ 7 h 11"/>
                <a:gd name="T8" fmla="*/ 19 w 20"/>
                <a:gd name="T9" fmla="*/ 11 h 11"/>
                <a:gd name="T10" fmla="*/ 19 w 20"/>
                <a:gd name="T11" fmla="*/ 11 h 11"/>
                <a:gd name="T12" fmla="*/ 17 w 20"/>
                <a:gd name="T13" fmla="*/ 9 h 11"/>
                <a:gd name="T14" fmla="*/ 3 w 20"/>
                <a:gd name="T15" fmla="*/ 7 h 11"/>
                <a:gd name="T16" fmla="*/ 1 w 20"/>
                <a:gd name="T17" fmla="*/ 9 h 11"/>
                <a:gd name="T18" fmla="*/ 0 w 20"/>
                <a:gd name="T19" fmla="*/ 8 h 11"/>
                <a:gd name="T20" fmla="*/ 1 w 20"/>
                <a:gd name="T21" fmla="*/ 4 h 11"/>
                <a:gd name="T22" fmla="*/ 1 w 20"/>
                <a:gd name="T23" fmla="*/ 1 h 11"/>
                <a:gd name="T24" fmla="*/ 2 w 20"/>
                <a:gd name="T25" fmla="*/ 0 h 11"/>
                <a:gd name="T26" fmla="*/ 3 w 20"/>
                <a:gd name="T27" fmla="*/ 3 h 11"/>
                <a:gd name="T28" fmla="*/ 18 w 20"/>
                <a:gd name="T2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1">
                  <a:moveTo>
                    <a:pt x="18" y="5"/>
                  </a:moveTo>
                  <a:cubicBezTo>
                    <a:pt x="20" y="5"/>
                    <a:pt x="19" y="2"/>
                    <a:pt x="20" y="2"/>
                  </a:cubicBezTo>
                  <a:cubicBezTo>
                    <a:pt x="20" y="3"/>
                    <a:pt x="20" y="3"/>
                    <a:pt x="20" y="3"/>
                  </a:cubicBezTo>
                  <a:cubicBezTo>
                    <a:pt x="20" y="5"/>
                    <a:pt x="20" y="6"/>
                    <a:pt x="20" y="7"/>
                  </a:cubicBezTo>
                  <a:cubicBezTo>
                    <a:pt x="20" y="8"/>
                    <a:pt x="20" y="9"/>
                    <a:pt x="19" y="11"/>
                  </a:cubicBezTo>
                  <a:cubicBezTo>
                    <a:pt x="19" y="11"/>
                    <a:pt x="19" y="11"/>
                    <a:pt x="19" y="11"/>
                  </a:cubicBezTo>
                  <a:cubicBezTo>
                    <a:pt x="18" y="11"/>
                    <a:pt x="20" y="9"/>
                    <a:pt x="17" y="9"/>
                  </a:cubicBezTo>
                  <a:cubicBezTo>
                    <a:pt x="3" y="7"/>
                    <a:pt x="3" y="7"/>
                    <a:pt x="3" y="7"/>
                  </a:cubicBezTo>
                  <a:cubicBezTo>
                    <a:pt x="1" y="6"/>
                    <a:pt x="1" y="9"/>
                    <a:pt x="1" y="9"/>
                  </a:cubicBezTo>
                  <a:cubicBezTo>
                    <a:pt x="0" y="9"/>
                    <a:pt x="0" y="9"/>
                    <a:pt x="0" y="8"/>
                  </a:cubicBezTo>
                  <a:cubicBezTo>
                    <a:pt x="1" y="7"/>
                    <a:pt x="1" y="6"/>
                    <a:pt x="1" y="4"/>
                  </a:cubicBezTo>
                  <a:cubicBezTo>
                    <a:pt x="1" y="3"/>
                    <a:pt x="1" y="2"/>
                    <a:pt x="1" y="1"/>
                  </a:cubicBezTo>
                  <a:cubicBezTo>
                    <a:pt x="1" y="0"/>
                    <a:pt x="2" y="0"/>
                    <a:pt x="2" y="0"/>
                  </a:cubicBezTo>
                  <a:cubicBezTo>
                    <a:pt x="3" y="0"/>
                    <a:pt x="1" y="2"/>
                    <a:pt x="3" y="3"/>
                  </a:cubicBezTo>
                  <a:lnTo>
                    <a:pt x="18" y="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Freeform 49">
              <a:extLst>
                <a:ext uri="{FF2B5EF4-FFF2-40B4-BE49-F238E27FC236}">
                  <a16:creationId xmlns:a16="http://schemas.microsoft.com/office/drawing/2014/main" id="{A302F7C3-91F2-4EA7-B37F-7C37FAC1B9AC}"/>
                </a:ext>
              </a:extLst>
            </p:cNvPr>
            <p:cNvSpPr/>
            <p:nvPr/>
          </p:nvSpPr>
          <p:spPr bwMode="auto">
            <a:xfrm>
              <a:off x="4919663" y="5554663"/>
              <a:ext cx="122238" cy="101600"/>
            </a:xfrm>
            <a:custGeom>
              <a:avLst/>
              <a:gdLst>
                <a:gd name="T0" fmla="*/ 19 w 22"/>
                <a:gd name="T1" fmla="*/ 8 h 18"/>
                <a:gd name="T2" fmla="*/ 16 w 22"/>
                <a:gd name="T3" fmla="*/ 0 h 18"/>
                <a:gd name="T4" fmla="*/ 16 w 22"/>
                <a:gd name="T5" fmla="*/ 0 h 18"/>
                <a:gd name="T6" fmla="*/ 17 w 22"/>
                <a:gd name="T7" fmla="*/ 1 h 18"/>
                <a:gd name="T8" fmla="*/ 22 w 22"/>
                <a:gd name="T9" fmla="*/ 3 h 18"/>
                <a:gd name="T10" fmla="*/ 22 w 22"/>
                <a:gd name="T11" fmla="*/ 4 h 18"/>
                <a:gd name="T12" fmla="*/ 22 w 22"/>
                <a:gd name="T13" fmla="*/ 4 h 18"/>
                <a:gd name="T14" fmla="*/ 21 w 22"/>
                <a:gd name="T15" fmla="*/ 5 h 18"/>
                <a:gd name="T16" fmla="*/ 17 w 22"/>
                <a:gd name="T17" fmla="*/ 17 h 18"/>
                <a:gd name="T18" fmla="*/ 17 w 22"/>
                <a:gd name="T19" fmla="*/ 17 h 18"/>
                <a:gd name="T20" fmla="*/ 18 w 22"/>
                <a:gd name="T21" fmla="*/ 18 h 18"/>
                <a:gd name="T22" fmla="*/ 17 w 22"/>
                <a:gd name="T23" fmla="*/ 18 h 18"/>
                <a:gd name="T24" fmla="*/ 12 w 22"/>
                <a:gd name="T25" fmla="*/ 17 h 18"/>
                <a:gd name="T26" fmla="*/ 11 w 22"/>
                <a:gd name="T27" fmla="*/ 17 h 18"/>
                <a:gd name="T28" fmla="*/ 11 w 22"/>
                <a:gd name="T29" fmla="*/ 17 h 18"/>
                <a:gd name="T30" fmla="*/ 18 w 22"/>
                <a:gd name="T31" fmla="*/ 12 h 18"/>
                <a:gd name="T32" fmla="*/ 3 w 22"/>
                <a:gd name="T33" fmla="*/ 7 h 18"/>
                <a:gd name="T34" fmla="*/ 1 w 22"/>
                <a:gd name="T35" fmla="*/ 9 h 18"/>
                <a:gd name="T36" fmla="*/ 0 w 22"/>
                <a:gd name="T37" fmla="*/ 9 h 18"/>
                <a:gd name="T38" fmla="*/ 0 w 22"/>
                <a:gd name="T39" fmla="*/ 9 h 18"/>
                <a:gd name="T40" fmla="*/ 1 w 22"/>
                <a:gd name="T41" fmla="*/ 4 h 18"/>
                <a:gd name="T42" fmla="*/ 3 w 22"/>
                <a:gd name="T43" fmla="*/ 0 h 18"/>
                <a:gd name="T44" fmla="*/ 3 w 22"/>
                <a:gd name="T45" fmla="*/ 0 h 18"/>
                <a:gd name="T46" fmla="*/ 3 w 22"/>
                <a:gd name="T47" fmla="*/ 1 h 18"/>
                <a:gd name="T48" fmla="*/ 5 w 22"/>
                <a:gd name="T49" fmla="*/ 3 h 18"/>
                <a:gd name="T50" fmla="*/ 19 w 22"/>
                <a:gd name="T51"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18">
                  <a:moveTo>
                    <a:pt x="19" y="8"/>
                  </a:moveTo>
                  <a:cubicBezTo>
                    <a:pt x="20" y="3"/>
                    <a:pt x="16" y="1"/>
                    <a:pt x="16" y="0"/>
                  </a:cubicBezTo>
                  <a:cubicBezTo>
                    <a:pt x="16" y="0"/>
                    <a:pt x="16" y="0"/>
                    <a:pt x="16" y="0"/>
                  </a:cubicBezTo>
                  <a:cubicBezTo>
                    <a:pt x="16" y="0"/>
                    <a:pt x="17" y="0"/>
                    <a:pt x="17" y="1"/>
                  </a:cubicBezTo>
                  <a:cubicBezTo>
                    <a:pt x="22" y="3"/>
                    <a:pt x="22" y="3"/>
                    <a:pt x="22" y="3"/>
                  </a:cubicBezTo>
                  <a:cubicBezTo>
                    <a:pt x="22" y="3"/>
                    <a:pt x="22" y="4"/>
                    <a:pt x="22" y="4"/>
                  </a:cubicBezTo>
                  <a:cubicBezTo>
                    <a:pt x="22" y="4"/>
                    <a:pt x="22" y="4"/>
                    <a:pt x="22" y="4"/>
                  </a:cubicBezTo>
                  <a:cubicBezTo>
                    <a:pt x="22" y="4"/>
                    <a:pt x="22" y="4"/>
                    <a:pt x="21" y="5"/>
                  </a:cubicBezTo>
                  <a:cubicBezTo>
                    <a:pt x="17" y="17"/>
                    <a:pt x="17" y="17"/>
                    <a:pt x="17" y="17"/>
                  </a:cubicBezTo>
                  <a:cubicBezTo>
                    <a:pt x="17" y="17"/>
                    <a:pt x="17" y="17"/>
                    <a:pt x="17" y="17"/>
                  </a:cubicBezTo>
                  <a:cubicBezTo>
                    <a:pt x="18" y="17"/>
                    <a:pt x="18" y="18"/>
                    <a:pt x="18" y="18"/>
                  </a:cubicBezTo>
                  <a:cubicBezTo>
                    <a:pt x="17" y="18"/>
                    <a:pt x="17" y="18"/>
                    <a:pt x="17" y="18"/>
                  </a:cubicBezTo>
                  <a:cubicBezTo>
                    <a:pt x="12" y="17"/>
                    <a:pt x="12" y="17"/>
                    <a:pt x="12" y="17"/>
                  </a:cubicBezTo>
                  <a:cubicBezTo>
                    <a:pt x="11" y="17"/>
                    <a:pt x="11" y="17"/>
                    <a:pt x="11" y="17"/>
                  </a:cubicBezTo>
                  <a:cubicBezTo>
                    <a:pt x="11" y="17"/>
                    <a:pt x="11" y="17"/>
                    <a:pt x="11" y="17"/>
                  </a:cubicBezTo>
                  <a:cubicBezTo>
                    <a:pt x="11" y="16"/>
                    <a:pt x="15" y="17"/>
                    <a:pt x="18" y="12"/>
                  </a:cubicBezTo>
                  <a:cubicBezTo>
                    <a:pt x="3" y="7"/>
                    <a:pt x="3" y="7"/>
                    <a:pt x="3" y="7"/>
                  </a:cubicBezTo>
                  <a:cubicBezTo>
                    <a:pt x="2" y="7"/>
                    <a:pt x="1" y="7"/>
                    <a:pt x="1" y="9"/>
                  </a:cubicBezTo>
                  <a:cubicBezTo>
                    <a:pt x="1" y="9"/>
                    <a:pt x="0" y="9"/>
                    <a:pt x="0" y="9"/>
                  </a:cubicBezTo>
                  <a:cubicBezTo>
                    <a:pt x="0" y="9"/>
                    <a:pt x="0" y="9"/>
                    <a:pt x="0" y="9"/>
                  </a:cubicBezTo>
                  <a:cubicBezTo>
                    <a:pt x="0" y="7"/>
                    <a:pt x="1" y="6"/>
                    <a:pt x="1" y="4"/>
                  </a:cubicBezTo>
                  <a:cubicBezTo>
                    <a:pt x="2" y="3"/>
                    <a:pt x="2" y="2"/>
                    <a:pt x="3" y="0"/>
                  </a:cubicBezTo>
                  <a:cubicBezTo>
                    <a:pt x="3" y="0"/>
                    <a:pt x="3" y="0"/>
                    <a:pt x="3" y="0"/>
                  </a:cubicBezTo>
                  <a:cubicBezTo>
                    <a:pt x="3" y="0"/>
                    <a:pt x="3" y="0"/>
                    <a:pt x="3" y="1"/>
                  </a:cubicBezTo>
                  <a:cubicBezTo>
                    <a:pt x="3" y="2"/>
                    <a:pt x="3" y="3"/>
                    <a:pt x="5" y="3"/>
                  </a:cubicBezTo>
                  <a:lnTo>
                    <a:pt x="19" y="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50">
              <a:extLst>
                <a:ext uri="{FF2B5EF4-FFF2-40B4-BE49-F238E27FC236}">
                  <a16:creationId xmlns:a16="http://schemas.microsoft.com/office/drawing/2014/main" id="{DBEE7D68-EB1F-44CE-856D-4524ADF0B98B}"/>
                </a:ext>
              </a:extLst>
            </p:cNvPr>
            <p:cNvSpPr/>
            <p:nvPr/>
          </p:nvSpPr>
          <p:spPr bwMode="auto">
            <a:xfrm>
              <a:off x="4868863" y="5656263"/>
              <a:ext cx="128588" cy="125413"/>
            </a:xfrm>
            <a:custGeom>
              <a:avLst/>
              <a:gdLst>
                <a:gd name="T0" fmla="*/ 10 w 23"/>
                <a:gd name="T1" fmla="*/ 10 h 22"/>
                <a:gd name="T2" fmla="*/ 12 w 23"/>
                <a:gd name="T3" fmla="*/ 14 h 22"/>
                <a:gd name="T4" fmla="*/ 14 w 23"/>
                <a:gd name="T5" fmla="*/ 17 h 22"/>
                <a:gd name="T6" fmla="*/ 17 w 23"/>
                <a:gd name="T7" fmla="*/ 16 h 22"/>
                <a:gd name="T8" fmla="*/ 17 w 23"/>
                <a:gd name="T9" fmla="*/ 17 h 22"/>
                <a:gd name="T10" fmla="*/ 15 w 23"/>
                <a:gd name="T11" fmla="*/ 19 h 22"/>
                <a:gd name="T12" fmla="*/ 14 w 23"/>
                <a:gd name="T13" fmla="*/ 21 h 22"/>
                <a:gd name="T14" fmla="*/ 13 w 23"/>
                <a:gd name="T15" fmla="*/ 22 h 22"/>
                <a:gd name="T16" fmla="*/ 12 w 23"/>
                <a:gd name="T17" fmla="*/ 16 h 22"/>
                <a:gd name="T18" fmla="*/ 9 w 23"/>
                <a:gd name="T19" fmla="*/ 10 h 22"/>
                <a:gd name="T20" fmla="*/ 3 w 23"/>
                <a:gd name="T21" fmla="*/ 7 h 22"/>
                <a:gd name="T22" fmla="*/ 0 w 23"/>
                <a:gd name="T23" fmla="*/ 8 h 22"/>
                <a:gd name="T24" fmla="*/ 0 w 23"/>
                <a:gd name="T25" fmla="*/ 7 h 22"/>
                <a:gd name="T26" fmla="*/ 2 w 23"/>
                <a:gd name="T27" fmla="*/ 4 h 22"/>
                <a:gd name="T28" fmla="*/ 4 w 23"/>
                <a:gd name="T29" fmla="*/ 0 h 22"/>
                <a:gd name="T30" fmla="*/ 5 w 23"/>
                <a:gd name="T31" fmla="*/ 0 h 22"/>
                <a:gd name="T32" fmla="*/ 5 w 23"/>
                <a:gd name="T33" fmla="*/ 3 h 22"/>
                <a:gd name="T34" fmla="*/ 11 w 23"/>
                <a:gd name="T35" fmla="*/ 6 h 22"/>
                <a:gd name="T36" fmla="*/ 20 w 23"/>
                <a:gd name="T37" fmla="*/ 7 h 22"/>
                <a:gd name="T38" fmla="*/ 23 w 23"/>
                <a:gd name="T39" fmla="*/ 6 h 22"/>
                <a:gd name="T40" fmla="*/ 23 w 23"/>
                <a:gd name="T41" fmla="*/ 6 h 22"/>
                <a:gd name="T42" fmla="*/ 21 w 23"/>
                <a:gd name="T43" fmla="*/ 10 h 22"/>
                <a:gd name="T44" fmla="*/ 19 w 23"/>
                <a:gd name="T45" fmla="*/ 13 h 22"/>
                <a:gd name="T46" fmla="*/ 18 w 23"/>
                <a:gd name="T47" fmla="*/ 13 h 22"/>
                <a:gd name="T48" fmla="*/ 18 w 23"/>
                <a:gd name="T49" fmla="*/ 11 h 22"/>
                <a:gd name="T50" fmla="*/ 17 w 23"/>
                <a:gd name="T51" fmla="*/ 11 h 22"/>
                <a:gd name="T52" fmla="*/ 10 w 23"/>
                <a:gd name="T5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2">
                  <a:moveTo>
                    <a:pt x="10" y="10"/>
                  </a:moveTo>
                  <a:cubicBezTo>
                    <a:pt x="12" y="14"/>
                    <a:pt x="12" y="14"/>
                    <a:pt x="12" y="14"/>
                  </a:cubicBezTo>
                  <a:cubicBezTo>
                    <a:pt x="12" y="15"/>
                    <a:pt x="13" y="16"/>
                    <a:pt x="14" y="17"/>
                  </a:cubicBezTo>
                  <a:cubicBezTo>
                    <a:pt x="16" y="18"/>
                    <a:pt x="16" y="16"/>
                    <a:pt x="17" y="16"/>
                  </a:cubicBezTo>
                  <a:cubicBezTo>
                    <a:pt x="17" y="16"/>
                    <a:pt x="17" y="17"/>
                    <a:pt x="17" y="17"/>
                  </a:cubicBezTo>
                  <a:cubicBezTo>
                    <a:pt x="16" y="18"/>
                    <a:pt x="16" y="18"/>
                    <a:pt x="15" y="19"/>
                  </a:cubicBezTo>
                  <a:cubicBezTo>
                    <a:pt x="15" y="20"/>
                    <a:pt x="14" y="21"/>
                    <a:pt x="14" y="21"/>
                  </a:cubicBezTo>
                  <a:cubicBezTo>
                    <a:pt x="14" y="22"/>
                    <a:pt x="14" y="22"/>
                    <a:pt x="13" y="22"/>
                  </a:cubicBezTo>
                  <a:cubicBezTo>
                    <a:pt x="13" y="21"/>
                    <a:pt x="14" y="21"/>
                    <a:pt x="12" y="16"/>
                  </a:cubicBezTo>
                  <a:cubicBezTo>
                    <a:pt x="9" y="10"/>
                    <a:pt x="9" y="10"/>
                    <a:pt x="9" y="10"/>
                  </a:cubicBezTo>
                  <a:cubicBezTo>
                    <a:pt x="3" y="7"/>
                    <a:pt x="3" y="7"/>
                    <a:pt x="3" y="7"/>
                  </a:cubicBezTo>
                  <a:cubicBezTo>
                    <a:pt x="1" y="5"/>
                    <a:pt x="1" y="8"/>
                    <a:pt x="0" y="8"/>
                  </a:cubicBezTo>
                  <a:cubicBezTo>
                    <a:pt x="0" y="7"/>
                    <a:pt x="0" y="7"/>
                    <a:pt x="0" y="7"/>
                  </a:cubicBezTo>
                  <a:cubicBezTo>
                    <a:pt x="1" y="6"/>
                    <a:pt x="2" y="5"/>
                    <a:pt x="2" y="4"/>
                  </a:cubicBezTo>
                  <a:cubicBezTo>
                    <a:pt x="3" y="3"/>
                    <a:pt x="4" y="1"/>
                    <a:pt x="4" y="0"/>
                  </a:cubicBezTo>
                  <a:cubicBezTo>
                    <a:pt x="5" y="0"/>
                    <a:pt x="5" y="0"/>
                    <a:pt x="5" y="0"/>
                  </a:cubicBezTo>
                  <a:cubicBezTo>
                    <a:pt x="6" y="0"/>
                    <a:pt x="3" y="2"/>
                    <a:pt x="5" y="3"/>
                  </a:cubicBezTo>
                  <a:cubicBezTo>
                    <a:pt x="11" y="6"/>
                    <a:pt x="11" y="6"/>
                    <a:pt x="11" y="6"/>
                  </a:cubicBezTo>
                  <a:cubicBezTo>
                    <a:pt x="20" y="7"/>
                    <a:pt x="20" y="7"/>
                    <a:pt x="20" y="7"/>
                  </a:cubicBezTo>
                  <a:cubicBezTo>
                    <a:pt x="23" y="7"/>
                    <a:pt x="23" y="5"/>
                    <a:pt x="23" y="6"/>
                  </a:cubicBezTo>
                  <a:cubicBezTo>
                    <a:pt x="23" y="6"/>
                    <a:pt x="23" y="6"/>
                    <a:pt x="23" y="6"/>
                  </a:cubicBezTo>
                  <a:cubicBezTo>
                    <a:pt x="23" y="7"/>
                    <a:pt x="22" y="8"/>
                    <a:pt x="21" y="10"/>
                  </a:cubicBezTo>
                  <a:cubicBezTo>
                    <a:pt x="20" y="11"/>
                    <a:pt x="20" y="12"/>
                    <a:pt x="19" y="13"/>
                  </a:cubicBezTo>
                  <a:cubicBezTo>
                    <a:pt x="19" y="13"/>
                    <a:pt x="19" y="13"/>
                    <a:pt x="18" y="13"/>
                  </a:cubicBezTo>
                  <a:cubicBezTo>
                    <a:pt x="18" y="13"/>
                    <a:pt x="20" y="12"/>
                    <a:pt x="18" y="11"/>
                  </a:cubicBezTo>
                  <a:cubicBezTo>
                    <a:pt x="18" y="11"/>
                    <a:pt x="17" y="11"/>
                    <a:pt x="17" y="11"/>
                  </a:cubicBezTo>
                  <a:lnTo>
                    <a:pt x="10" y="1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Freeform 51">
              <a:extLst>
                <a:ext uri="{FF2B5EF4-FFF2-40B4-BE49-F238E27FC236}">
                  <a16:creationId xmlns:a16="http://schemas.microsoft.com/office/drawing/2014/main" id="{B035104D-1083-4FF2-86D3-2CF76BDEE2BB}"/>
                </a:ext>
              </a:extLst>
            </p:cNvPr>
            <p:cNvSpPr/>
            <p:nvPr/>
          </p:nvSpPr>
          <p:spPr bwMode="auto">
            <a:xfrm>
              <a:off x="4005263" y="5662613"/>
              <a:ext cx="128588" cy="112713"/>
            </a:xfrm>
            <a:custGeom>
              <a:avLst/>
              <a:gdLst>
                <a:gd name="T0" fmla="*/ 16 w 23"/>
                <a:gd name="T1" fmla="*/ 15 h 20"/>
                <a:gd name="T2" fmla="*/ 15 w 23"/>
                <a:gd name="T3" fmla="*/ 15 h 20"/>
                <a:gd name="T4" fmla="*/ 16 w 23"/>
                <a:gd name="T5" fmla="*/ 14 h 20"/>
                <a:gd name="T6" fmla="*/ 19 w 23"/>
                <a:gd name="T7" fmla="*/ 5 h 20"/>
                <a:gd name="T8" fmla="*/ 13 w 23"/>
                <a:gd name="T9" fmla="*/ 3 h 20"/>
                <a:gd name="T10" fmla="*/ 11 w 23"/>
                <a:gd name="T11" fmla="*/ 18 h 20"/>
                <a:gd name="T12" fmla="*/ 3 w 23"/>
                <a:gd name="T13" fmla="*/ 16 h 20"/>
                <a:gd name="T14" fmla="*/ 1 w 23"/>
                <a:gd name="T15" fmla="*/ 11 h 20"/>
                <a:gd name="T16" fmla="*/ 0 w 23"/>
                <a:gd name="T17" fmla="*/ 11 h 20"/>
                <a:gd name="T18" fmla="*/ 0 w 23"/>
                <a:gd name="T19" fmla="*/ 10 h 20"/>
                <a:gd name="T20" fmla="*/ 4 w 23"/>
                <a:gd name="T21" fmla="*/ 7 h 20"/>
                <a:gd name="T22" fmla="*/ 5 w 23"/>
                <a:gd name="T23" fmla="*/ 6 h 20"/>
                <a:gd name="T24" fmla="*/ 5 w 23"/>
                <a:gd name="T25" fmla="*/ 7 h 20"/>
                <a:gd name="T26" fmla="*/ 4 w 23"/>
                <a:gd name="T27" fmla="*/ 8 h 20"/>
                <a:gd name="T28" fmla="*/ 3 w 23"/>
                <a:gd name="T29" fmla="*/ 16 h 20"/>
                <a:gd name="T30" fmla="*/ 8 w 23"/>
                <a:gd name="T31" fmla="*/ 17 h 20"/>
                <a:gd name="T32" fmla="*/ 10 w 23"/>
                <a:gd name="T33" fmla="*/ 2 h 20"/>
                <a:gd name="T34" fmla="*/ 19 w 23"/>
                <a:gd name="T35" fmla="*/ 5 h 20"/>
                <a:gd name="T36" fmla="*/ 21 w 23"/>
                <a:gd name="T37" fmla="*/ 10 h 20"/>
                <a:gd name="T38" fmla="*/ 23 w 23"/>
                <a:gd name="T39" fmla="*/ 10 h 20"/>
                <a:gd name="T40" fmla="*/ 22 w 23"/>
                <a:gd name="T41" fmla="*/ 11 h 20"/>
                <a:gd name="T42" fmla="*/ 16 w 23"/>
                <a:gd name="T43"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0">
                  <a:moveTo>
                    <a:pt x="16" y="15"/>
                  </a:moveTo>
                  <a:cubicBezTo>
                    <a:pt x="16" y="15"/>
                    <a:pt x="16" y="15"/>
                    <a:pt x="15" y="15"/>
                  </a:cubicBezTo>
                  <a:cubicBezTo>
                    <a:pt x="15" y="15"/>
                    <a:pt x="16" y="15"/>
                    <a:pt x="16" y="14"/>
                  </a:cubicBezTo>
                  <a:cubicBezTo>
                    <a:pt x="19" y="12"/>
                    <a:pt x="21" y="8"/>
                    <a:pt x="19" y="5"/>
                  </a:cubicBezTo>
                  <a:cubicBezTo>
                    <a:pt x="17" y="3"/>
                    <a:pt x="15" y="2"/>
                    <a:pt x="13" y="3"/>
                  </a:cubicBezTo>
                  <a:cubicBezTo>
                    <a:pt x="8" y="6"/>
                    <a:pt x="17" y="14"/>
                    <a:pt x="11" y="18"/>
                  </a:cubicBezTo>
                  <a:cubicBezTo>
                    <a:pt x="8" y="20"/>
                    <a:pt x="5" y="19"/>
                    <a:pt x="3" y="16"/>
                  </a:cubicBezTo>
                  <a:cubicBezTo>
                    <a:pt x="1" y="14"/>
                    <a:pt x="1" y="12"/>
                    <a:pt x="1" y="11"/>
                  </a:cubicBezTo>
                  <a:cubicBezTo>
                    <a:pt x="0" y="11"/>
                    <a:pt x="0" y="11"/>
                    <a:pt x="0" y="11"/>
                  </a:cubicBezTo>
                  <a:cubicBezTo>
                    <a:pt x="0" y="11"/>
                    <a:pt x="0" y="11"/>
                    <a:pt x="0" y="10"/>
                  </a:cubicBezTo>
                  <a:cubicBezTo>
                    <a:pt x="4" y="7"/>
                    <a:pt x="4" y="7"/>
                    <a:pt x="4" y="7"/>
                  </a:cubicBezTo>
                  <a:cubicBezTo>
                    <a:pt x="5" y="7"/>
                    <a:pt x="5" y="7"/>
                    <a:pt x="5" y="6"/>
                  </a:cubicBezTo>
                  <a:cubicBezTo>
                    <a:pt x="5" y="6"/>
                    <a:pt x="5" y="6"/>
                    <a:pt x="5" y="7"/>
                  </a:cubicBezTo>
                  <a:cubicBezTo>
                    <a:pt x="5" y="7"/>
                    <a:pt x="5" y="7"/>
                    <a:pt x="4" y="8"/>
                  </a:cubicBezTo>
                  <a:cubicBezTo>
                    <a:pt x="2" y="11"/>
                    <a:pt x="2" y="13"/>
                    <a:pt x="3" y="16"/>
                  </a:cubicBezTo>
                  <a:cubicBezTo>
                    <a:pt x="4" y="17"/>
                    <a:pt x="6" y="18"/>
                    <a:pt x="8" y="17"/>
                  </a:cubicBezTo>
                  <a:cubicBezTo>
                    <a:pt x="12" y="14"/>
                    <a:pt x="3" y="6"/>
                    <a:pt x="10" y="2"/>
                  </a:cubicBezTo>
                  <a:cubicBezTo>
                    <a:pt x="13" y="0"/>
                    <a:pt x="17" y="1"/>
                    <a:pt x="19" y="5"/>
                  </a:cubicBezTo>
                  <a:cubicBezTo>
                    <a:pt x="21" y="7"/>
                    <a:pt x="20" y="9"/>
                    <a:pt x="21" y="10"/>
                  </a:cubicBezTo>
                  <a:cubicBezTo>
                    <a:pt x="22" y="11"/>
                    <a:pt x="22" y="10"/>
                    <a:pt x="23" y="10"/>
                  </a:cubicBezTo>
                  <a:cubicBezTo>
                    <a:pt x="23" y="10"/>
                    <a:pt x="23" y="11"/>
                    <a:pt x="22" y="11"/>
                  </a:cubicBezTo>
                  <a:lnTo>
                    <a:pt x="16"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Freeform 52">
              <a:extLst>
                <a:ext uri="{FF2B5EF4-FFF2-40B4-BE49-F238E27FC236}">
                  <a16:creationId xmlns:a16="http://schemas.microsoft.com/office/drawing/2014/main" id="{D97AABFA-0658-4094-B3FC-7DDCE5EE5B54}"/>
                </a:ext>
              </a:extLst>
            </p:cNvPr>
            <p:cNvSpPr/>
            <p:nvPr/>
          </p:nvSpPr>
          <p:spPr bwMode="auto">
            <a:xfrm>
              <a:off x="3938588" y="5526088"/>
              <a:ext cx="139700" cy="141288"/>
            </a:xfrm>
            <a:custGeom>
              <a:avLst/>
              <a:gdLst>
                <a:gd name="T0" fmla="*/ 8 w 25"/>
                <a:gd name="T1" fmla="*/ 22 h 25"/>
                <a:gd name="T2" fmla="*/ 7 w 25"/>
                <a:gd name="T3" fmla="*/ 25 h 25"/>
                <a:gd name="T4" fmla="*/ 6 w 25"/>
                <a:gd name="T5" fmla="*/ 25 h 25"/>
                <a:gd name="T6" fmla="*/ 5 w 25"/>
                <a:gd name="T7" fmla="*/ 21 h 25"/>
                <a:gd name="T8" fmla="*/ 4 w 25"/>
                <a:gd name="T9" fmla="*/ 17 h 25"/>
                <a:gd name="T10" fmla="*/ 4 w 25"/>
                <a:gd name="T11" fmla="*/ 17 h 25"/>
                <a:gd name="T12" fmla="*/ 7 w 25"/>
                <a:gd name="T13" fmla="*/ 18 h 25"/>
                <a:gd name="T14" fmla="*/ 13 w 25"/>
                <a:gd name="T15" fmla="*/ 16 h 25"/>
                <a:gd name="T16" fmla="*/ 10 w 25"/>
                <a:gd name="T17" fmla="*/ 9 h 25"/>
                <a:gd name="T18" fmla="*/ 4 w 25"/>
                <a:gd name="T19" fmla="*/ 11 h 25"/>
                <a:gd name="T20" fmla="*/ 3 w 25"/>
                <a:gd name="T21" fmla="*/ 14 h 25"/>
                <a:gd name="T22" fmla="*/ 3 w 25"/>
                <a:gd name="T23" fmla="*/ 14 h 25"/>
                <a:gd name="T24" fmla="*/ 1 w 25"/>
                <a:gd name="T25" fmla="*/ 10 h 25"/>
                <a:gd name="T26" fmla="*/ 0 w 25"/>
                <a:gd name="T27" fmla="*/ 7 h 25"/>
                <a:gd name="T28" fmla="*/ 0 w 25"/>
                <a:gd name="T29" fmla="*/ 6 h 25"/>
                <a:gd name="T30" fmla="*/ 3 w 25"/>
                <a:gd name="T31" fmla="*/ 8 h 25"/>
                <a:gd name="T32" fmla="*/ 17 w 25"/>
                <a:gd name="T33" fmla="*/ 3 h 25"/>
                <a:gd name="T34" fmla="*/ 18 w 25"/>
                <a:gd name="T35" fmla="*/ 0 h 25"/>
                <a:gd name="T36" fmla="*/ 18 w 25"/>
                <a:gd name="T37" fmla="*/ 0 h 25"/>
                <a:gd name="T38" fmla="*/ 19 w 25"/>
                <a:gd name="T39" fmla="*/ 4 h 25"/>
                <a:gd name="T40" fmla="*/ 21 w 25"/>
                <a:gd name="T41" fmla="*/ 8 h 25"/>
                <a:gd name="T42" fmla="*/ 21 w 25"/>
                <a:gd name="T43" fmla="*/ 9 h 25"/>
                <a:gd name="T44" fmla="*/ 18 w 25"/>
                <a:gd name="T45" fmla="*/ 7 h 25"/>
                <a:gd name="T46" fmla="*/ 11 w 25"/>
                <a:gd name="T47" fmla="*/ 9 h 25"/>
                <a:gd name="T48" fmla="*/ 13 w 25"/>
                <a:gd name="T49" fmla="*/ 16 h 25"/>
                <a:gd name="T50" fmla="*/ 20 w 25"/>
                <a:gd name="T51" fmla="*/ 14 h 25"/>
                <a:gd name="T52" fmla="*/ 21 w 25"/>
                <a:gd name="T53" fmla="*/ 11 h 25"/>
                <a:gd name="T54" fmla="*/ 22 w 25"/>
                <a:gd name="T55" fmla="*/ 11 h 25"/>
                <a:gd name="T56" fmla="*/ 23 w 25"/>
                <a:gd name="T57" fmla="*/ 15 h 25"/>
                <a:gd name="T58" fmla="*/ 24 w 25"/>
                <a:gd name="T59" fmla="*/ 19 h 25"/>
                <a:gd name="T60" fmla="*/ 24 w 25"/>
                <a:gd name="T61" fmla="*/ 19 h 25"/>
                <a:gd name="T62" fmla="*/ 22 w 25"/>
                <a:gd name="T63" fmla="*/ 18 h 25"/>
                <a:gd name="T64" fmla="*/ 8 w 25"/>
                <a:gd name="T65"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25">
                  <a:moveTo>
                    <a:pt x="8" y="22"/>
                  </a:moveTo>
                  <a:cubicBezTo>
                    <a:pt x="6" y="23"/>
                    <a:pt x="8" y="25"/>
                    <a:pt x="7" y="25"/>
                  </a:cubicBezTo>
                  <a:cubicBezTo>
                    <a:pt x="7" y="25"/>
                    <a:pt x="6" y="25"/>
                    <a:pt x="6" y="25"/>
                  </a:cubicBezTo>
                  <a:cubicBezTo>
                    <a:pt x="6" y="24"/>
                    <a:pt x="5" y="22"/>
                    <a:pt x="5" y="21"/>
                  </a:cubicBezTo>
                  <a:cubicBezTo>
                    <a:pt x="5" y="20"/>
                    <a:pt x="4" y="19"/>
                    <a:pt x="4" y="17"/>
                  </a:cubicBezTo>
                  <a:cubicBezTo>
                    <a:pt x="4" y="17"/>
                    <a:pt x="4" y="17"/>
                    <a:pt x="4" y="17"/>
                  </a:cubicBezTo>
                  <a:cubicBezTo>
                    <a:pt x="5" y="17"/>
                    <a:pt x="4" y="19"/>
                    <a:pt x="7" y="18"/>
                  </a:cubicBezTo>
                  <a:cubicBezTo>
                    <a:pt x="13" y="16"/>
                    <a:pt x="13" y="16"/>
                    <a:pt x="13" y="16"/>
                  </a:cubicBezTo>
                  <a:cubicBezTo>
                    <a:pt x="10" y="9"/>
                    <a:pt x="10" y="9"/>
                    <a:pt x="10" y="9"/>
                  </a:cubicBezTo>
                  <a:cubicBezTo>
                    <a:pt x="4" y="11"/>
                    <a:pt x="4" y="11"/>
                    <a:pt x="4" y="11"/>
                  </a:cubicBezTo>
                  <a:cubicBezTo>
                    <a:pt x="2" y="12"/>
                    <a:pt x="4" y="14"/>
                    <a:pt x="3" y="14"/>
                  </a:cubicBezTo>
                  <a:cubicBezTo>
                    <a:pt x="3" y="14"/>
                    <a:pt x="3" y="14"/>
                    <a:pt x="3" y="14"/>
                  </a:cubicBezTo>
                  <a:cubicBezTo>
                    <a:pt x="2" y="13"/>
                    <a:pt x="2" y="11"/>
                    <a:pt x="1" y="10"/>
                  </a:cubicBezTo>
                  <a:cubicBezTo>
                    <a:pt x="1" y="9"/>
                    <a:pt x="1" y="8"/>
                    <a:pt x="0" y="7"/>
                  </a:cubicBezTo>
                  <a:cubicBezTo>
                    <a:pt x="0" y="6"/>
                    <a:pt x="0" y="6"/>
                    <a:pt x="0" y="6"/>
                  </a:cubicBezTo>
                  <a:cubicBezTo>
                    <a:pt x="1" y="6"/>
                    <a:pt x="1" y="8"/>
                    <a:pt x="3" y="8"/>
                  </a:cubicBezTo>
                  <a:cubicBezTo>
                    <a:pt x="17" y="3"/>
                    <a:pt x="17" y="3"/>
                    <a:pt x="17" y="3"/>
                  </a:cubicBezTo>
                  <a:cubicBezTo>
                    <a:pt x="19" y="2"/>
                    <a:pt x="17" y="0"/>
                    <a:pt x="18" y="0"/>
                  </a:cubicBezTo>
                  <a:cubicBezTo>
                    <a:pt x="18" y="0"/>
                    <a:pt x="18" y="0"/>
                    <a:pt x="18" y="0"/>
                  </a:cubicBezTo>
                  <a:cubicBezTo>
                    <a:pt x="19" y="2"/>
                    <a:pt x="19" y="3"/>
                    <a:pt x="19" y="4"/>
                  </a:cubicBezTo>
                  <a:cubicBezTo>
                    <a:pt x="20" y="5"/>
                    <a:pt x="20" y="7"/>
                    <a:pt x="21" y="8"/>
                  </a:cubicBezTo>
                  <a:cubicBezTo>
                    <a:pt x="21" y="8"/>
                    <a:pt x="21" y="8"/>
                    <a:pt x="21" y="9"/>
                  </a:cubicBezTo>
                  <a:cubicBezTo>
                    <a:pt x="20" y="9"/>
                    <a:pt x="20" y="6"/>
                    <a:pt x="18" y="7"/>
                  </a:cubicBezTo>
                  <a:cubicBezTo>
                    <a:pt x="11" y="9"/>
                    <a:pt x="11" y="9"/>
                    <a:pt x="11" y="9"/>
                  </a:cubicBezTo>
                  <a:cubicBezTo>
                    <a:pt x="13" y="16"/>
                    <a:pt x="13" y="16"/>
                    <a:pt x="13" y="16"/>
                  </a:cubicBezTo>
                  <a:cubicBezTo>
                    <a:pt x="20" y="14"/>
                    <a:pt x="20" y="14"/>
                    <a:pt x="20" y="14"/>
                  </a:cubicBezTo>
                  <a:cubicBezTo>
                    <a:pt x="22" y="13"/>
                    <a:pt x="21" y="11"/>
                    <a:pt x="21" y="11"/>
                  </a:cubicBezTo>
                  <a:cubicBezTo>
                    <a:pt x="22" y="11"/>
                    <a:pt x="22" y="11"/>
                    <a:pt x="22" y="11"/>
                  </a:cubicBezTo>
                  <a:cubicBezTo>
                    <a:pt x="22" y="13"/>
                    <a:pt x="23" y="14"/>
                    <a:pt x="23" y="15"/>
                  </a:cubicBezTo>
                  <a:cubicBezTo>
                    <a:pt x="23" y="16"/>
                    <a:pt x="24" y="17"/>
                    <a:pt x="24" y="19"/>
                  </a:cubicBezTo>
                  <a:cubicBezTo>
                    <a:pt x="25" y="19"/>
                    <a:pt x="24" y="19"/>
                    <a:pt x="24" y="19"/>
                  </a:cubicBezTo>
                  <a:cubicBezTo>
                    <a:pt x="24" y="20"/>
                    <a:pt x="24" y="17"/>
                    <a:pt x="22" y="18"/>
                  </a:cubicBezTo>
                  <a:lnTo>
                    <a:pt x="8" y="2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53">
              <a:extLst>
                <a:ext uri="{FF2B5EF4-FFF2-40B4-BE49-F238E27FC236}">
                  <a16:creationId xmlns:a16="http://schemas.microsoft.com/office/drawing/2014/main" id="{8E47E8DD-EDCF-410F-B43A-605CCC8BB265}"/>
                </a:ext>
              </a:extLst>
            </p:cNvPr>
            <p:cNvSpPr/>
            <p:nvPr/>
          </p:nvSpPr>
          <p:spPr bwMode="auto">
            <a:xfrm>
              <a:off x="3927475" y="5407025"/>
              <a:ext cx="111125" cy="101600"/>
            </a:xfrm>
            <a:custGeom>
              <a:avLst/>
              <a:gdLst>
                <a:gd name="T0" fmla="*/ 3 w 20"/>
                <a:gd name="T1" fmla="*/ 16 h 18"/>
                <a:gd name="T2" fmla="*/ 1 w 20"/>
                <a:gd name="T3" fmla="*/ 18 h 18"/>
                <a:gd name="T4" fmla="*/ 0 w 20"/>
                <a:gd name="T5" fmla="*/ 18 h 18"/>
                <a:gd name="T6" fmla="*/ 0 w 20"/>
                <a:gd name="T7" fmla="*/ 14 h 18"/>
                <a:gd name="T8" fmla="*/ 0 w 20"/>
                <a:gd name="T9" fmla="*/ 4 h 18"/>
                <a:gd name="T10" fmla="*/ 5 w 20"/>
                <a:gd name="T11" fmla="*/ 2 h 18"/>
                <a:gd name="T12" fmla="*/ 6 w 20"/>
                <a:gd name="T13" fmla="*/ 2 h 18"/>
                <a:gd name="T14" fmla="*/ 6 w 20"/>
                <a:gd name="T15" fmla="*/ 2 h 18"/>
                <a:gd name="T16" fmla="*/ 4 w 20"/>
                <a:gd name="T17" fmla="*/ 3 h 18"/>
                <a:gd name="T18" fmla="*/ 1 w 20"/>
                <a:gd name="T19" fmla="*/ 10 h 18"/>
                <a:gd name="T20" fmla="*/ 1 w 20"/>
                <a:gd name="T21" fmla="*/ 12 h 18"/>
                <a:gd name="T22" fmla="*/ 9 w 20"/>
                <a:gd name="T23" fmla="*/ 11 h 18"/>
                <a:gd name="T24" fmla="*/ 9 w 20"/>
                <a:gd name="T25" fmla="*/ 11 h 18"/>
                <a:gd name="T26" fmla="*/ 5 w 20"/>
                <a:gd name="T27" fmla="*/ 7 h 18"/>
                <a:gd name="T28" fmla="*/ 5 w 20"/>
                <a:gd name="T29" fmla="*/ 7 h 18"/>
                <a:gd name="T30" fmla="*/ 5 w 20"/>
                <a:gd name="T31" fmla="*/ 7 h 18"/>
                <a:gd name="T32" fmla="*/ 13 w 20"/>
                <a:gd name="T33" fmla="*/ 6 h 18"/>
                <a:gd name="T34" fmla="*/ 14 w 20"/>
                <a:gd name="T35" fmla="*/ 6 h 18"/>
                <a:gd name="T36" fmla="*/ 13 w 20"/>
                <a:gd name="T37" fmla="*/ 7 h 18"/>
                <a:gd name="T38" fmla="*/ 10 w 20"/>
                <a:gd name="T39" fmla="*/ 10 h 18"/>
                <a:gd name="T40" fmla="*/ 10 w 20"/>
                <a:gd name="T41" fmla="*/ 11 h 18"/>
                <a:gd name="T42" fmla="*/ 17 w 20"/>
                <a:gd name="T43" fmla="*/ 11 h 18"/>
                <a:gd name="T44" fmla="*/ 19 w 20"/>
                <a:gd name="T45" fmla="*/ 8 h 18"/>
                <a:gd name="T46" fmla="*/ 12 w 20"/>
                <a:gd name="T47" fmla="*/ 1 h 18"/>
                <a:gd name="T48" fmla="*/ 11 w 20"/>
                <a:gd name="T49" fmla="*/ 1 h 18"/>
                <a:gd name="T50" fmla="*/ 12 w 20"/>
                <a:gd name="T51" fmla="*/ 0 h 18"/>
                <a:gd name="T52" fmla="*/ 13 w 20"/>
                <a:gd name="T53" fmla="*/ 0 h 18"/>
                <a:gd name="T54" fmla="*/ 19 w 20"/>
                <a:gd name="T55" fmla="*/ 1 h 18"/>
                <a:gd name="T56" fmla="*/ 19 w 20"/>
                <a:gd name="T57" fmla="*/ 13 h 18"/>
                <a:gd name="T58" fmla="*/ 20 w 20"/>
                <a:gd name="T59" fmla="*/ 17 h 18"/>
                <a:gd name="T60" fmla="*/ 19 w 20"/>
                <a:gd name="T61" fmla="*/ 17 h 18"/>
                <a:gd name="T62" fmla="*/ 17 w 20"/>
                <a:gd name="T63" fmla="*/ 15 h 18"/>
                <a:gd name="T64" fmla="*/ 3 w 20"/>
                <a:gd name="T6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18">
                  <a:moveTo>
                    <a:pt x="3" y="16"/>
                  </a:moveTo>
                  <a:cubicBezTo>
                    <a:pt x="0" y="16"/>
                    <a:pt x="2" y="18"/>
                    <a:pt x="1" y="18"/>
                  </a:cubicBezTo>
                  <a:cubicBezTo>
                    <a:pt x="1" y="18"/>
                    <a:pt x="0" y="18"/>
                    <a:pt x="0" y="18"/>
                  </a:cubicBezTo>
                  <a:cubicBezTo>
                    <a:pt x="0" y="16"/>
                    <a:pt x="0" y="15"/>
                    <a:pt x="0" y="14"/>
                  </a:cubicBezTo>
                  <a:cubicBezTo>
                    <a:pt x="0" y="10"/>
                    <a:pt x="0" y="7"/>
                    <a:pt x="0" y="4"/>
                  </a:cubicBezTo>
                  <a:cubicBezTo>
                    <a:pt x="5" y="2"/>
                    <a:pt x="5" y="2"/>
                    <a:pt x="5" y="2"/>
                  </a:cubicBezTo>
                  <a:cubicBezTo>
                    <a:pt x="5" y="2"/>
                    <a:pt x="6" y="2"/>
                    <a:pt x="6" y="2"/>
                  </a:cubicBezTo>
                  <a:cubicBezTo>
                    <a:pt x="6" y="2"/>
                    <a:pt x="6" y="2"/>
                    <a:pt x="6" y="2"/>
                  </a:cubicBezTo>
                  <a:cubicBezTo>
                    <a:pt x="6" y="2"/>
                    <a:pt x="6" y="2"/>
                    <a:pt x="4" y="3"/>
                  </a:cubicBezTo>
                  <a:cubicBezTo>
                    <a:pt x="2" y="5"/>
                    <a:pt x="1" y="7"/>
                    <a:pt x="1" y="10"/>
                  </a:cubicBezTo>
                  <a:cubicBezTo>
                    <a:pt x="1" y="12"/>
                    <a:pt x="1" y="12"/>
                    <a:pt x="1" y="12"/>
                  </a:cubicBezTo>
                  <a:cubicBezTo>
                    <a:pt x="9" y="11"/>
                    <a:pt x="9" y="11"/>
                    <a:pt x="9" y="11"/>
                  </a:cubicBezTo>
                  <a:cubicBezTo>
                    <a:pt x="9" y="11"/>
                    <a:pt x="9" y="11"/>
                    <a:pt x="9" y="11"/>
                  </a:cubicBezTo>
                  <a:cubicBezTo>
                    <a:pt x="9" y="9"/>
                    <a:pt x="7" y="7"/>
                    <a:pt x="5" y="7"/>
                  </a:cubicBezTo>
                  <a:cubicBezTo>
                    <a:pt x="5" y="7"/>
                    <a:pt x="5" y="7"/>
                    <a:pt x="5" y="7"/>
                  </a:cubicBezTo>
                  <a:cubicBezTo>
                    <a:pt x="4" y="7"/>
                    <a:pt x="5" y="7"/>
                    <a:pt x="5" y="7"/>
                  </a:cubicBezTo>
                  <a:cubicBezTo>
                    <a:pt x="13" y="6"/>
                    <a:pt x="13" y="6"/>
                    <a:pt x="13" y="6"/>
                  </a:cubicBezTo>
                  <a:cubicBezTo>
                    <a:pt x="14" y="6"/>
                    <a:pt x="14" y="6"/>
                    <a:pt x="14" y="6"/>
                  </a:cubicBezTo>
                  <a:cubicBezTo>
                    <a:pt x="14" y="7"/>
                    <a:pt x="14" y="7"/>
                    <a:pt x="13" y="7"/>
                  </a:cubicBezTo>
                  <a:cubicBezTo>
                    <a:pt x="11" y="7"/>
                    <a:pt x="9" y="9"/>
                    <a:pt x="10" y="10"/>
                  </a:cubicBezTo>
                  <a:cubicBezTo>
                    <a:pt x="10" y="11"/>
                    <a:pt x="10" y="11"/>
                    <a:pt x="10" y="11"/>
                  </a:cubicBezTo>
                  <a:cubicBezTo>
                    <a:pt x="17" y="11"/>
                    <a:pt x="17" y="11"/>
                    <a:pt x="17" y="11"/>
                  </a:cubicBezTo>
                  <a:cubicBezTo>
                    <a:pt x="18" y="11"/>
                    <a:pt x="19" y="10"/>
                    <a:pt x="19" y="8"/>
                  </a:cubicBezTo>
                  <a:cubicBezTo>
                    <a:pt x="18" y="4"/>
                    <a:pt x="15" y="2"/>
                    <a:pt x="12" y="1"/>
                  </a:cubicBezTo>
                  <a:cubicBezTo>
                    <a:pt x="12" y="1"/>
                    <a:pt x="11" y="1"/>
                    <a:pt x="11" y="1"/>
                  </a:cubicBezTo>
                  <a:cubicBezTo>
                    <a:pt x="11" y="1"/>
                    <a:pt x="12" y="0"/>
                    <a:pt x="12" y="0"/>
                  </a:cubicBezTo>
                  <a:cubicBezTo>
                    <a:pt x="12" y="0"/>
                    <a:pt x="12" y="0"/>
                    <a:pt x="13" y="0"/>
                  </a:cubicBezTo>
                  <a:cubicBezTo>
                    <a:pt x="19" y="1"/>
                    <a:pt x="19" y="1"/>
                    <a:pt x="19" y="1"/>
                  </a:cubicBezTo>
                  <a:cubicBezTo>
                    <a:pt x="19" y="5"/>
                    <a:pt x="19" y="9"/>
                    <a:pt x="19" y="13"/>
                  </a:cubicBezTo>
                  <a:cubicBezTo>
                    <a:pt x="19" y="14"/>
                    <a:pt x="20" y="15"/>
                    <a:pt x="20" y="17"/>
                  </a:cubicBezTo>
                  <a:cubicBezTo>
                    <a:pt x="20" y="17"/>
                    <a:pt x="19" y="17"/>
                    <a:pt x="19" y="17"/>
                  </a:cubicBezTo>
                  <a:cubicBezTo>
                    <a:pt x="18" y="17"/>
                    <a:pt x="19" y="15"/>
                    <a:pt x="17" y="15"/>
                  </a:cubicBezTo>
                  <a:lnTo>
                    <a:pt x="3"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Freeform 54">
              <a:extLst>
                <a:ext uri="{FF2B5EF4-FFF2-40B4-BE49-F238E27FC236}">
                  <a16:creationId xmlns:a16="http://schemas.microsoft.com/office/drawing/2014/main" id="{B7CDE535-6886-4DEB-A051-408F63580CEA}"/>
                </a:ext>
              </a:extLst>
            </p:cNvPr>
            <p:cNvSpPr/>
            <p:nvPr/>
          </p:nvSpPr>
          <p:spPr bwMode="auto">
            <a:xfrm>
              <a:off x="3927475" y="5253038"/>
              <a:ext cx="128588" cy="136525"/>
            </a:xfrm>
            <a:custGeom>
              <a:avLst/>
              <a:gdLst>
                <a:gd name="T0" fmla="*/ 15 w 23"/>
                <a:gd name="T1" fmla="*/ 19 h 24"/>
                <a:gd name="T2" fmla="*/ 19 w 23"/>
                <a:gd name="T3" fmla="*/ 18 h 24"/>
                <a:gd name="T4" fmla="*/ 20 w 23"/>
                <a:gd name="T5" fmla="*/ 17 h 24"/>
                <a:gd name="T6" fmla="*/ 20 w 23"/>
                <a:gd name="T7" fmla="*/ 17 h 24"/>
                <a:gd name="T8" fmla="*/ 20 w 23"/>
                <a:gd name="T9" fmla="*/ 21 h 24"/>
                <a:gd name="T10" fmla="*/ 19 w 23"/>
                <a:gd name="T11" fmla="*/ 24 h 24"/>
                <a:gd name="T12" fmla="*/ 18 w 23"/>
                <a:gd name="T13" fmla="*/ 24 h 24"/>
                <a:gd name="T14" fmla="*/ 18 w 23"/>
                <a:gd name="T15" fmla="*/ 22 h 24"/>
                <a:gd name="T16" fmla="*/ 15 w 23"/>
                <a:gd name="T17" fmla="*/ 20 h 24"/>
                <a:gd name="T18" fmla="*/ 3 w 23"/>
                <a:gd name="T19" fmla="*/ 17 h 24"/>
                <a:gd name="T20" fmla="*/ 1 w 23"/>
                <a:gd name="T21" fmla="*/ 19 h 24"/>
                <a:gd name="T22" fmla="*/ 0 w 23"/>
                <a:gd name="T23" fmla="*/ 20 h 24"/>
                <a:gd name="T24" fmla="*/ 0 w 23"/>
                <a:gd name="T25" fmla="*/ 20 h 24"/>
                <a:gd name="T26" fmla="*/ 1 w 23"/>
                <a:gd name="T27" fmla="*/ 17 h 24"/>
                <a:gd name="T28" fmla="*/ 2 w 23"/>
                <a:gd name="T29" fmla="*/ 14 h 24"/>
                <a:gd name="T30" fmla="*/ 16 w 23"/>
                <a:gd name="T31" fmla="*/ 6 h 24"/>
                <a:gd name="T32" fmla="*/ 16 w 23"/>
                <a:gd name="T33" fmla="*/ 6 h 24"/>
                <a:gd name="T34" fmla="*/ 8 w 23"/>
                <a:gd name="T35" fmla="*/ 5 h 24"/>
                <a:gd name="T36" fmla="*/ 4 w 23"/>
                <a:gd name="T37" fmla="*/ 6 h 24"/>
                <a:gd name="T38" fmla="*/ 3 w 23"/>
                <a:gd name="T39" fmla="*/ 7 h 24"/>
                <a:gd name="T40" fmla="*/ 3 w 23"/>
                <a:gd name="T41" fmla="*/ 6 h 24"/>
                <a:gd name="T42" fmla="*/ 4 w 23"/>
                <a:gd name="T43" fmla="*/ 3 h 24"/>
                <a:gd name="T44" fmla="*/ 4 w 23"/>
                <a:gd name="T45" fmla="*/ 0 h 24"/>
                <a:gd name="T46" fmla="*/ 5 w 23"/>
                <a:gd name="T47" fmla="*/ 0 h 24"/>
                <a:gd name="T48" fmla="*/ 5 w 23"/>
                <a:gd name="T49" fmla="*/ 1 h 24"/>
                <a:gd name="T50" fmla="*/ 8 w 23"/>
                <a:gd name="T51" fmla="*/ 4 h 24"/>
                <a:gd name="T52" fmla="*/ 22 w 23"/>
                <a:gd name="T53" fmla="*/ 7 h 24"/>
                <a:gd name="T54" fmla="*/ 23 w 23"/>
                <a:gd name="T55" fmla="*/ 7 h 24"/>
                <a:gd name="T56" fmla="*/ 22 w 23"/>
                <a:gd name="T57" fmla="*/ 8 h 24"/>
                <a:gd name="T58" fmla="*/ 4 w 23"/>
                <a:gd name="T59" fmla="*/ 17 h 24"/>
                <a:gd name="T60" fmla="*/ 4 w 23"/>
                <a:gd name="T61" fmla="*/ 17 h 24"/>
                <a:gd name="T62" fmla="*/ 15 w 23"/>
                <a:gd name="T63"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4">
                  <a:moveTo>
                    <a:pt x="15" y="19"/>
                  </a:moveTo>
                  <a:cubicBezTo>
                    <a:pt x="18" y="20"/>
                    <a:pt x="19" y="19"/>
                    <a:pt x="19" y="18"/>
                  </a:cubicBezTo>
                  <a:cubicBezTo>
                    <a:pt x="20" y="18"/>
                    <a:pt x="20" y="17"/>
                    <a:pt x="20" y="17"/>
                  </a:cubicBezTo>
                  <a:cubicBezTo>
                    <a:pt x="20" y="17"/>
                    <a:pt x="20" y="17"/>
                    <a:pt x="20" y="17"/>
                  </a:cubicBezTo>
                  <a:cubicBezTo>
                    <a:pt x="20" y="18"/>
                    <a:pt x="20" y="19"/>
                    <a:pt x="20" y="21"/>
                  </a:cubicBezTo>
                  <a:cubicBezTo>
                    <a:pt x="19" y="22"/>
                    <a:pt x="19" y="23"/>
                    <a:pt x="19" y="24"/>
                  </a:cubicBezTo>
                  <a:cubicBezTo>
                    <a:pt x="19" y="24"/>
                    <a:pt x="19" y="24"/>
                    <a:pt x="18" y="24"/>
                  </a:cubicBezTo>
                  <a:cubicBezTo>
                    <a:pt x="18" y="24"/>
                    <a:pt x="18" y="23"/>
                    <a:pt x="18" y="22"/>
                  </a:cubicBezTo>
                  <a:cubicBezTo>
                    <a:pt x="18" y="21"/>
                    <a:pt x="17" y="20"/>
                    <a:pt x="15" y="20"/>
                  </a:cubicBezTo>
                  <a:cubicBezTo>
                    <a:pt x="3" y="17"/>
                    <a:pt x="3" y="17"/>
                    <a:pt x="3" y="17"/>
                  </a:cubicBezTo>
                  <a:cubicBezTo>
                    <a:pt x="2" y="18"/>
                    <a:pt x="1" y="19"/>
                    <a:pt x="1" y="19"/>
                  </a:cubicBezTo>
                  <a:cubicBezTo>
                    <a:pt x="1" y="20"/>
                    <a:pt x="1" y="20"/>
                    <a:pt x="0" y="20"/>
                  </a:cubicBezTo>
                  <a:cubicBezTo>
                    <a:pt x="0" y="20"/>
                    <a:pt x="0" y="20"/>
                    <a:pt x="0" y="20"/>
                  </a:cubicBezTo>
                  <a:cubicBezTo>
                    <a:pt x="0" y="19"/>
                    <a:pt x="1" y="18"/>
                    <a:pt x="1" y="17"/>
                  </a:cubicBezTo>
                  <a:cubicBezTo>
                    <a:pt x="2" y="14"/>
                    <a:pt x="2" y="14"/>
                    <a:pt x="2" y="14"/>
                  </a:cubicBezTo>
                  <a:cubicBezTo>
                    <a:pt x="16" y="6"/>
                    <a:pt x="16" y="6"/>
                    <a:pt x="16" y="6"/>
                  </a:cubicBezTo>
                  <a:cubicBezTo>
                    <a:pt x="16" y="6"/>
                    <a:pt x="16" y="6"/>
                    <a:pt x="16" y="6"/>
                  </a:cubicBezTo>
                  <a:cubicBezTo>
                    <a:pt x="8" y="5"/>
                    <a:pt x="8" y="5"/>
                    <a:pt x="8" y="5"/>
                  </a:cubicBezTo>
                  <a:cubicBezTo>
                    <a:pt x="6" y="4"/>
                    <a:pt x="5" y="5"/>
                    <a:pt x="4" y="6"/>
                  </a:cubicBezTo>
                  <a:cubicBezTo>
                    <a:pt x="4" y="6"/>
                    <a:pt x="4" y="7"/>
                    <a:pt x="3" y="7"/>
                  </a:cubicBezTo>
                  <a:cubicBezTo>
                    <a:pt x="3" y="7"/>
                    <a:pt x="3" y="7"/>
                    <a:pt x="3" y="6"/>
                  </a:cubicBezTo>
                  <a:cubicBezTo>
                    <a:pt x="3" y="6"/>
                    <a:pt x="4" y="4"/>
                    <a:pt x="4" y="3"/>
                  </a:cubicBezTo>
                  <a:cubicBezTo>
                    <a:pt x="4" y="2"/>
                    <a:pt x="4" y="1"/>
                    <a:pt x="4" y="0"/>
                  </a:cubicBezTo>
                  <a:cubicBezTo>
                    <a:pt x="4" y="0"/>
                    <a:pt x="5" y="0"/>
                    <a:pt x="5" y="0"/>
                  </a:cubicBezTo>
                  <a:cubicBezTo>
                    <a:pt x="5" y="0"/>
                    <a:pt x="5" y="1"/>
                    <a:pt x="5" y="1"/>
                  </a:cubicBezTo>
                  <a:cubicBezTo>
                    <a:pt x="5" y="2"/>
                    <a:pt x="6" y="3"/>
                    <a:pt x="8" y="4"/>
                  </a:cubicBezTo>
                  <a:cubicBezTo>
                    <a:pt x="22" y="7"/>
                    <a:pt x="22" y="7"/>
                    <a:pt x="22" y="7"/>
                  </a:cubicBezTo>
                  <a:cubicBezTo>
                    <a:pt x="23" y="7"/>
                    <a:pt x="23" y="7"/>
                    <a:pt x="23" y="7"/>
                  </a:cubicBezTo>
                  <a:cubicBezTo>
                    <a:pt x="23" y="8"/>
                    <a:pt x="23" y="8"/>
                    <a:pt x="22" y="8"/>
                  </a:cubicBezTo>
                  <a:cubicBezTo>
                    <a:pt x="4" y="17"/>
                    <a:pt x="4" y="17"/>
                    <a:pt x="4" y="17"/>
                  </a:cubicBezTo>
                  <a:cubicBezTo>
                    <a:pt x="4" y="17"/>
                    <a:pt x="4" y="17"/>
                    <a:pt x="4" y="17"/>
                  </a:cubicBezTo>
                  <a:lnTo>
                    <a:pt x="15"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Freeform 55">
              <a:extLst>
                <a:ext uri="{FF2B5EF4-FFF2-40B4-BE49-F238E27FC236}">
                  <a16:creationId xmlns:a16="http://schemas.microsoft.com/office/drawing/2014/main" id="{7FC61612-DE01-48A4-BF1F-8ADE08497573}"/>
                </a:ext>
              </a:extLst>
            </p:cNvPr>
            <p:cNvSpPr/>
            <p:nvPr/>
          </p:nvSpPr>
          <p:spPr bwMode="auto">
            <a:xfrm>
              <a:off x="3965575" y="5151438"/>
              <a:ext cx="123825" cy="125413"/>
            </a:xfrm>
            <a:custGeom>
              <a:avLst/>
              <a:gdLst>
                <a:gd name="T0" fmla="*/ 19 w 22"/>
                <a:gd name="T1" fmla="*/ 15 h 22"/>
                <a:gd name="T2" fmla="*/ 19 w 22"/>
                <a:gd name="T3" fmla="*/ 8 h 22"/>
                <a:gd name="T4" fmla="*/ 16 w 22"/>
                <a:gd name="T5" fmla="*/ 5 h 22"/>
                <a:gd name="T6" fmla="*/ 17 w 22"/>
                <a:gd name="T7" fmla="*/ 5 h 22"/>
                <a:gd name="T8" fmla="*/ 18 w 22"/>
                <a:gd name="T9" fmla="*/ 6 h 22"/>
                <a:gd name="T10" fmla="*/ 22 w 22"/>
                <a:gd name="T11" fmla="*/ 9 h 22"/>
                <a:gd name="T12" fmla="*/ 19 w 22"/>
                <a:gd name="T13" fmla="*/ 16 h 22"/>
                <a:gd name="T14" fmla="*/ 17 w 22"/>
                <a:gd name="T15" fmla="*/ 22 h 22"/>
                <a:gd name="T16" fmla="*/ 16 w 22"/>
                <a:gd name="T17" fmla="*/ 22 h 22"/>
                <a:gd name="T18" fmla="*/ 16 w 22"/>
                <a:gd name="T19" fmla="*/ 21 h 22"/>
                <a:gd name="T20" fmla="*/ 4 w 22"/>
                <a:gd name="T21" fmla="*/ 4 h 22"/>
                <a:gd name="T22" fmla="*/ 4 w 22"/>
                <a:gd name="T23" fmla="*/ 6 h 22"/>
                <a:gd name="T24" fmla="*/ 4 w 22"/>
                <a:gd name="T25" fmla="*/ 13 h 22"/>
                <a:gd name="T26" fmla="*/ 5 w 22"/>
                <a:gd name="T27" fmla="*/ 15 h 22"/>
                <a:gd name="T28" fmla="*/ 5 w 22"/>
                <a:gd name="T29" fmla="*/ 16 h 22"/>
                <a:gd name="T30" fmla="*/ 4 w 22"/>
                <a:gd name="T31" fmla="*/ 15 h 22"/>
                <a:gd name="T32" fmla="*/ 0 w 22"/>
                <a:gd name="T33" fmla="*/ 12 h 22"/>
                <a:gd name="T34" fmla="*/ 3 w 22"/>
                <a:gd name="T35" fmla="*/ 6 h 22"/>
                <a:gd name="T36" fmla="*/ 5 w 22"/>
                <a:gd name="T37" fmla="*/ 0 h 22"/>
                <a:gd name="T38" fmla="*/ 6 w 22"/>
                <a:gd name="T39" fmla="*/ 0 h 22"/>
                <a:gd name="T40" fmla="*/ 6 w 22"/>
                <a:gd name="T41" fmla="*/ 1 h 22"/>
                <a:gd name="T42" fmla="*/ 18 w 22"/>
                <a:gd name="T43" fmla="*/ 17 h 22"/>
                <a:gd name="T44" fmla="*/ 19 w 22"/>
                <a:gd name="T45"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22">
                  <a:moveTo>
                    <a:pt x="19" y="15"/>
                  </a:moveTo>
                  <a:cubicBezTo>
                    <a:pt x="20" y="12"/>
                    <a:pt x="20" y="10"/>
                    <a:pt x="19" y="8"/>
                  </a:cubicBezTo>
                  <a:cubicBezTo>
                    <a:pt x="18" y="6"/>
                    <a:pt x="16" y="6"/>
                    <a:pt x="16" y="5"/>
                  </a:cubicBezTo>
                  <a:cubicBezTo>
                    <a:pt x="16" y="5"/>
                    <a:pt x="16" y="5"/>
                    <a:pt x="17" y="5"/>
                  </a:cubicBezTo>
                  <a:cubicBezTo>
                    <a:pt x="17" y="5"/>
                    <a:pt x="17" y="5"/>
                    <a:pt x="18" y="6"/>
                  </a:cubicBezTo>
                  <a:cubicBezTo>
                    <a:pt x="22" y="9"/>
                    <a:pt x="22" y="9"/>
                    <a:pt x="22" y="9"/>
                  </a:cubicBezTo>
                  <a:cubicBezTo>
                    <a:pt x="21" y="11"/>
                    <a:pt x="20" y="13"/>
                    <a:pt x="19" y="16"/>
                  </a:cubicBezTo>
                  <a:cubicBezTo>
                    <a:pt x="18" y="18"/>
                    <a:pt x="18" y="20"/>
                    <a:pt x="17" y="22"/>
                  </a:cubicBezTo>
                  <a:cubicBezTo>
                    <a:pt x="16" y="22"/>
                    <a:pt x="16" y="22"/>
                    <a:pt x="16" y="22"/>
                  </a:cubicBezTo>
                  <a:cubicBezTo>
                    <a:pt x="16" y="22"/>
                    <a:pt x="16" y="22"/>
                    <a:pt x="16" y="21"/>
                  </a:cubicBezTo>
                  <a:cubicBezTo>
                    <a:pt x="4" y="4"/>
                    <a:pt x="4" y="4"/>
                    <a:pt x="4" y="4"/>
                  </a:cubicBezTo>
                  <a:cubicBezTo>
                    <a:pt x="4" y="6"/>
                    <a:pt x="4" y="6"/>
                    <a:pt x="4" y="6"/>
                  </a:cubicBezTo>
                  <a:cubicBezTo>
                    <a:pt x="2" y="9"/>
                    <a:pt x="2" y="11"/>
                    <a:pt x="4" y="13"/>
                  </a:cubicBezTo>
                  <a:cubicBezTo>
                    <a:pt x="5" y="15"/>
                    <a:pt x="5" y="15"/>
                    <a:pt x="5" y="15"/>
                  </a:cubicBezTo>
                  <a:cubicBezTo>
                    <a:pt x="5" y="16"/>
                    <a:pt x="5" y="16"/>
                    <a:pt x="5" y="16"/>
                  </a:cubicBezTo>
                  <a:cubicBezTo>
                    <a:pt x="5" y="16"/>
                    <a:pt x="5" y="15"/>
                    <a:pt x="4" y="15"/>
                  </a:cubicBezTo>
                  <a:cubicBezTo>
                    <a:pt x="0" y="12"/>
                    <a:pt x="0" y="12"/>
                    <a:pt x="0" y="12"/>
                  </a:cubicBezTo>
                  <a:cubicBezTo>
                    <a:pt x="1" y="10"/>
                    <a:pt x="2" y="8"/>
                    <a:pt x="3" y="6"/>
                  </a:cubicBezTo>
                  <a:cubicBezTo>
                    <a:pt x="4" y="4"/>
                    <a:pt x="5" y="2"/>
                    <a:pt x="5" y="0"/>
                  </a:cubicBezTo>
                  <a:cubicBezTo>
                    <a:pt x="6" y="0"/>
                    <a:pt x="6" y="0"/>
                    <a:pt x="6" y="0"/>
                  </a:cubicBezTo>
                  <a:cubicBezTo>
                    <a:pt x="6" y="0"/>
                    <a:pt x="6" y="0"/>
                    <a:pt x="6" y="1"/>
                  </a:cubicBezTo>
                  <a:cubicBezTo>
                    <a:pt x="18" y="17"/>
                    <a:pt x="18" y="17"/>
                    <a:pt x="18" y="17"/>
                  </a:cubicBezTo>
                  <a:lnTo>
                    <a:pt x="19"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Freeform 56">
              <a:extLst>
                <a:ext uri="{FF2B5EF4-FFF2-40B4-BE49-F238E27FC236}">
                  <a16:creationId xmlns:a16="http://schemas.microsoft.com/office/drawing/2014/main" id="{DBCB1FA3-096C-4A7A-BC28-B4ACD20BA086}"/>
                </a:ext>
              </a:extLst>
            </p:cNvPr>
            <p:cNvSpPr/>
            <p:nvPr/>
          </p:nvSpPr>
          <p:spPr bwMode="auto">
            <a:xfrm>
              <a:off x="4016375" y="5032375"/>
              <a:ext cx="150813" cy="153988"/>
            </a:xfrm>
            <a:custGeom>
              <a:avLst/>
              <a:gdLst>
                <a:gd name="T0" fmla="*/ 3 w 27"/>
                <a:gd name="T1" fmla="*/ 15 h 27"/>
                <a:gd name="T2" fmla="*/ 0 w 27"/>
                <a:gd name="T3" fmla="*/ 16 h 27"/>
                <a:gd name="T4" fmla="*/ 0 w 27"/>
                <a:gd name="T5" fmla="*/ 15 h 27"/>
                <a:gd name="T6" fmla="*/ 3 w 27"/>
                <a:gd name="T7" fmla="*/ 12 h 27"/>
                <a:gd name="T8" fmla="*/ 5 w 27"/>
                <a:gd name="T9" fmla="*/ 9 h 27"/>
                <a:gd name="T10" fmla="*/ 6 w 27"/>
                <a:gd name="T11" fmla="*/ 9 h 27"/>
                <a:gd name="T12" fmla="*/ 6 w 27"/>
                <a:gd name="T13" fmla="*/ 12 h 27"/>
                <a:gd name="T14" fmla="*/ 11 w 27"/>
                <a:gd name="T15" fmla="*/ 16 h 27"/>
                <a:gd name="T16" fmla="*/ 15 w 27"/>
                <a:gd name="T17" fmla="*/ 10 h 27"/>
                <a:gd name="T18" fmla="*/ 10 w 27"/>
                <a:gd name="T19" fmla="*/ 6 h 27"/>
                <a:gd name="T20" fmla="*/ 7 w 27"/>
                <a:gd name="T21" fmla="*/ 7 h 27"/>
                <a:gd name="T22" fmla="*/ 7 w 27"/>
                <a:gd name="T23" fmla="*/ 6 h 27"/>
                <a:gd name="T24" fmla="*/ 10 w 27"/>
                <a:gd name="T25" fmla="*/ 3 h 27"/>
                <a:gd name="T26" fmla="*/ 12 w 27"/>
                <a:gd name="T27" fmla="*/ 0 h 27"/>
                <a:gd name="T28" fmla="*/ 13 w 27"/>
                <a:gd name="T29" fmla="*/ 0 h 27"/>
                <a:gd name="T30" fmla="*/ 13 w 27"/>
                <a:gd name="T31" fmla="*/ 3 h 27"/>
                <a:gd name="T32" fmla="*/ 24 w 27"/>
                <a:gd name="T33" fmla="*/ 12 h 27"/>
                <a:gd name="T34" fmla="*/ 27 w 27"/>
                <a:gd name="T35" fmla="*/ 11 h 27"/>
                <a:gd name="T36" fmla="*/ 27 w 27"/>
                <a:gd name="T37" fmla="*/ 12 h 27"/>
                <a:gd name="T38" fmla="*/ 25 w 27"/>
                <a:gd name="T39" fmla="*/ 15 h 27"/>
                <a:gd name="T40" fmla="*/ 22 w 27"/>
                <a:gd name="T41" fmla="*/ 18 h 27"/>
                <a:gd name="T42" fmla="*/ 22 w 27"/>
                <a:gd name="T43" fmla="*/ 18 h 27"/>
                <a:gd name="T44" fmla="*/ 22 w 27"/>
                <a:gd name="T45" fmla="*/ 15 h 27"/>
                <a:gd name="T46" fmla="*/ 16 w 27"/>
                <a:gd name="T47" fmla="*/ 11 h 27"/>
                <a:gd name="T48" fmla="*/ 11 w 27"/>
                <a:gd name="T49" fmla="*/ 16 h 27"/>
                <a:gd name="T50" fmla="*/ 17 w 27"/>
                <a:gd name="T51" fmla="*/ 21 h 27"/>
                <a:gd name="T52" fmla="*/ 20 w 27"/>
                <a:gd name="T53" fmla="*/ 20 h 27"/>
                <a:gd name="T54" fmla="*/ 20 w 27"/>
                <a:gd name="T55" fmla="*/ 21 h 27"/>
                <a:gd name="T56" fmla="*/ 17 w 27"/>
                <a:gd name="T57" fmla="*/ 24 h 27"/>
                <a:gd name="T58" fmla="*/ 15 w 27"/>
                <a:gd name="T59" fmla="*/ 27 h 27"/>
                <a:gd name="T60" fmla="*/ 14 w 27"/>
                <a:gd name="T61" fmla="*/ 27 h 27"/>
                <a:gd name="T62" fmla="*/ 14 w 27"/>
                <a:gd name="T63" fmla="*/ 24 h 27"/>
                <a:gd name="T64" fmla="*/ 3 w 27"/>
                <a:gd name="T6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27">
                  <a:moveTo>
                    <a:pt x="3" y="15"/>
                  </a:moveTo>
                  <a:cubicBezTo>
                    <a:pt x="1" y="14"/>
                    <a:pt x="1" y="16"/>
                    <a:pt x="0" y="16"/>
                  </a:cubicBezTo>
                  <a:cubicBezTo>
                    <a:pt x="0" y="16"/>
                    <a:pt x="0" y="15"/>
                    <a:pt x="0" y="15"/>
                  </a:cubicBezTo>
                  <a:cubicBezTo>
                    <a:pt x="1" y="14"/>
                    <a:pt x="2" y="13"/>
                    <a:pt x="3" y="12"/>
                  </a:cubicBezTo>
                  <a:cubicBezTo>
                    <a:pt x="3" y="11"/>
                    <a:pt x="4" y="10"/>
                    <a:pt x="5" y="9"/>
                  </a:cubicBezTo>
                  <a:cubicBezTo>
                    <a:pt x="5" y="9"/>
                    <a:pt x="5" y="9"/>
                    <a:pt x="6" y="9"/>
                  </a:cubicBezTo>
                  <a:cubicBezTo>
                    <a:pt x="6" y="9"/>
                    <a:pt x="4" y="10"/>
                    <a:pt x="6" y="12"/>
                  </a:cubicBezTo>
                  <a:cubicBezTo>
                    <a:pt x="11" y="16"/>
                    <a:pt x="11" y="16"/>
                    <a:pt x="11" y="16"/>
                  </a:cubicBezTo>
                  <a:cubicBezTo>
                    <a:pt x="15" y="10"/>
                    <a:pt x="15" y="10"/>
                    <a:pt x="15" y="10"/>
                  </a:cubicBezTo>
                  <a:cubicBezTo>
                    <a:pt x="10" y="6"/>
                    <a:pt x="10" y="6"/>
                    <a:pt x="10" y="6"/>
                  </a:cubicBezTo>
                  <a:cubicBezTo>
                    <a:pt x="8" y="5"/>
                    <a:pt x="8" y="7"/>
                    <a:pt x="7" y="7"/>
                  </a:cubicBezTo>
                  <a:cubicBezTo>
                    <a:pt x="7" y="7"/>
                    <a:pt x="7" y="6"/>
                    <a:pt x="7" y="6"/>
                  </a:cubicBezTo>
                  <a:cubicBezTo>
                    <a:pt x="8" y="5"/>
                    <a:pt x="9" y="4"/>
                    <a:pt x="10" y="3"/>
                  </a:cubicBezTo>
                  <a:cubicBezTo>
                    <a:pt x="10" y="2"/>
                    <a:pt x="11" y="1"/>
                    <a:pt x="12" y="0"/>
                  </a:cubicBezTo>
                  <a:cubicBezTo>
                    <a:pt x="12" y="0"/>
                    <a:pt x="13" y="0"/>
                    <a:pt x="13" y="0"/>
                  </a:cubicBezTo>
                  <a:cubicBezTo>
                    <a:pt x="13" y="0"/>
                    <a:pt x="11" y="1"/>
                    <a:pt x="13" y="3"/>
                  </a:cubicBezTo>
                  <a:cubicBezTo>
                    <a:pt x="24" y="12"/>
                    <a:pt x="24" y="12"/>
                    <a:pt x="24" y="12"/>
                  </a:cubicBezTo>
                  <a:cubicBezTo>
                    <a:pt x="26" y="13"/>
                    <a:pt x="27" y="11"/>
                    <a:pt x="27" y="11"/>
                  </a:cubicBezTo>
                  <a:cubicBezTo>
                    <a:pt x="27" y="11"/>
                    <a:pt x="27" y="12"/>
                    <a:pt x="27" y="12"/>
                  </a:cubicBezTo>
                  <a:cubicBezTo>
                    <a:pt x="26" y="13"/>
                    <a:pt x="25" y="14"/>
                    <a:pt x="25" y="15"/>
                  </a:cubicBezTo>
                  <a:cubicBezTo>
                    <a:pt x="24" y="16"/>
                    <a:pt x="23" y="17"/>
                    <a:pt x="22" y="18"/>
                  </a:cubicBezTo>
                  <a:cubicBezTo>
                    <a:pt x="22" y="18"/>
                    <a:pt x="22" y="18"/>
                    <a:pt x="22" y="18"/>
                  </a:cubicBezTo>
                  <a:cubicBezTo>
                    <a:pt x="21" y="18"/>
                    <a:pt x="23" y="17"/>
                    <a:pt x="22" y="15"/>
                  </a:cubicBezTo>
                  <a:cubicBezTo>
                    <a:pt x="16" y="11"/>
                    <a:pt x="16" y="11"/>
                    <a:pt x="16" y="11"/>
                  </a:cubicBezTo>
                  <a:cubicBezTo>
                    <a:pt x="11" y="16"/>
                    <a:pt x="11" y="16"/>
                    <a:pt x="11" y="16"/>
                  </a:cubicBezTo>
                  <a:cubicBezTo>
                    <a:pt x="17" y="21"/>
                    <a:pt x="17" y="21"/>
                    <a:pt x="17" y="21"/>
                  </a:cubicBezTo>
                  <a:cubicBezTo>
                    <a:pt x="19" y="22"/>
                    <a:pt x="19" y="20"/>
                    <a:pt x="20" y="20"/>
                  </a:cubicBezTo>
                  <a:cubicBezTo>
                    <a:pt x="20" y="20"/>
                    <a:pt x="20" y="21"/>
                    <a:pt x="20" y="21"/>
                  </a:cubicBezTo>
                  <a:cubicBezTo>
                    <a:pt x="19" y="22"/>
                    <a:pt x="18" y="23"/>
                    <a:pt x="17" y="24"/>
                  </a:cubicBezTo>
                  <a:cubicBezTo>
                    <a:pt x="17" y="25"/>
                    <a:pt x="16" y="26"/>
                    <a:pt x="15" y="27"/>
                  </a:cubicBezTo>
                  <a:cubicBezTo>
                    <a:pt x="15" y="27"/>
                    <a:pt x="15" y="27"/>
                    <a:pt x="14" y="27"/>
                  </a:cubicBezTo>
                  <a:cubicBezTo>
                    <a:pt x="14" y="27"/>
                    <a:pt x="16" y="26"/>
                    <a:pt x="14" y="24"/>
                  </a:cubicBezTo>
                  <a:lnTo>
                    <a:pt x="3"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57">
              <a:extLst>
                <a:ext uri="{FF2B5EF4-FFF2-40B4-BE49-F238E27FC236}">
                  <a16:creationId xmlns:a16="http://schemas.microsoft.com/office/drawing/2014/main" id="{E15D0057-2456-4A25-80C9-63A672DC7ABB}"/>
                </a:ext>
              </a:extLst>
            </p:cNvPr>
            <p:cNvSpPr/>
            <p:nvPr/>
          </p:nvSpPr>
          <p:spPr bwMode="auto">
            <a:xfrm>
              <a:off x="4122738" y="4946650"/>
              <a:ext cx="134938" cy="136525"/>
            </a:xfrm>
            <a:custGeom>
              <a:avLst/>
              <a:gdLst>
                <a:gd name="T0" fmla="*/ 3 w 24"/>
                <a:gd name="T1" fmla="*/ 9 h 24"/>
                <a:gd name="T2" fmla="*/ 0 w 24"/>
                <a:gd name="T3" fmla="*/ 9 h 24"/>
                <a:gd name="T4" fmla="*/ 1 w 24"/>
                <a:gd name="T5" fmla="*/ 8 h 24"/>
                <a:gd name="T6" fmla="*/ 4 w 24"/>
                <a:gd name="T7" fmla="*/ 6 h 24"/>
                <a:gd name="T8" fmla="*/ 12 w 24"/>
                <a:gd name="T9" fmla="*/ 0 h 24"/>
                <a:gd name="T10" fmla="*/ 16 w 24"/>
                <a:gd name="T11" fmla="*/ 4 h 24"/>
                <a:gd name="T12" fmla="*/ 17 w 24"/>
                <a:gd name="T13" fmla="*/ 4 h 24"/>
                <a:gd name="T14" fmla="*/ 17 w 24"/>
                <a:gd name="T15" fmla="*/ 4 h 24"/>
                <a:gd name="T16" fmla="*/ 14 w 24"/>
                <a:gd name="T17" fmla="*/ 3 h 24"/>
                <a:gd name="T18" fmla="*/ 7 w 24"/>
                <a:gd name="T19" fmla="*/ 4 h 24"/>
                <a:gd name="T20" fmla="*/ 6 w 24"/>
                <a:gd name="T21" fmla="*/ 5 h 24"/>
                <a:gd name="T22" fmla="*/ 11 w 24"/>
                <a:gd name="T23" fmla="*/ 12 h 24"/>
                <a:gd name="T24" fmla="*/ 11 w 24"/>
                <a:gd name="T25" fmla="*/ 11 h 24"/>
                <a:gd name="T26" fmla="*/ 12 w 24"/>
                <a:gd name="T27" fmla="*/ 7 h 24"/>
                <a:gd name="T28" fmla="*/ 12 w 24"/>
                <a:gd name="T29" fmla="*/ 6 h 24"/>
                <a:gd name="T30" fmla="*/ 12 w 24"/>
                <a:gd name="T31" fmla="*/ 6 h 24"/>
                <a:gd name="T32" fmla="*/ 17 w 24"/>
                <a:gd name="T33" fmla="*/ 13 h 24"/>
                <a:gd name="T34" fmla="*/ 17 w 24"/>
                <a:gd name="T35" fmla="*/ 13 h 24"/>
                <a:gd name="T36" fmla="*/ 17 w 24"/>
                <a:gd name="T37" fmla="*/ 13 h 24"/>
                <a:gd name="T38" fmla="*/ 11 w 24"/>
                <a:gd name="T39" fmla="*/ 12 h 24"/>
                <a:gd name="T40" fmla="*/ 11 w 24"/>
                <a:gd name="T41" fmla="*/ 12 h 24"/>
                <a:gd name="T42" fmla="*/ 15 w 24"/>
                <a:gd name="T43" fmla="*/ 18 h 24"/>
                <a:gd name="T44" fmla="*/ 18 w 24"/>
                <a:gd name="T45" fmla="*/ 18 h 24"/>
                <a:gd name="T46" fmla="*/ 21 w 24"/>
                <a:gd name="T47" fmla="*/ 9 h 24"/>
                <a:gd name="T48" fmla="*/ 21 w 24"/>
                <a:gd name="T49" fmla="*/ 8 h 24"/>
                <a:gd name="T50" fmla="*/ 21 w 24"/>
                <a:gd name="T51" fmla="*/ 8 h 24"/>
                <a:gd name="T52" fmla="*/ 22 w 24"/>
                <a:gd name="T53" fmla="*/ 9 h 24"/>
                <a:gd name="T54" fmla="*/ 24 w 24"/>
                <a:gd name="T55" fmla="*/ 15 h 24"/>
                <a:gd name="T56" fmla="*/ 15 w 24"/>
                <a:gd name="T57" fmla="*/ 21 h 24"/>
                <a:gd name="T58" fmla="*/ 12 w 24"/>
                <a:gd name="T59" fmla="*/ 24 h 24"/>
                <a:gd name="T60" fmla="*/ 11 w 24"/>
                <a:gd name="T61" fmla="*/ 24 h 24"/>
                <a:gd name="T62" fmla="*/ 12 w 24"/>
                <a:gd name="T63" fmla="*/ 21 h 24"/>
                <a:gd name="T64" fmla="*/ 3 w 24"/>
                <a:gd name="T65"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3" y="9"/>
                  </a:moveTo>
                  <a:cubicBezTo>
                    <a:pt x="2" y="7"/>
                    <a:pt x="1" y="9"/>
                    <a:pt x="0" y="9"/>
                  </a:cubicBezTo>
                  <a:cubicBezTo>
                    <a:pt x="0" y="9"/>
                    <a:pt x="0" y="8"/>
                    <a:pt x="1" y="8"/>
                  </a:cubicBezTo>
                  <a:cubicBezTo>
                    <a:pt x="2" y="7"/>
                    <a:pt x="3" y="7"/>
                    <a:pt x="4" y="6"/>
                  </a:cubicBezTo>
                  <a:cubicBezTo>
                    <a:pt x="7" y="4"/>
                    <a:pt x="9" y="2"/>
                    <a:pt x="12" y="0"/>
                  </a:cubicBezTo>
                  <a:cubicBezTo>
                    <a:pt x="16" y="4"/>
                    <a:pt x="16" y="4"/>
                    <a:pt x="16" y="4"/>
                  </a:cubicBezTo>
                  <a:cubicBezTo>
                    <a:pt x="17" y="4"/>
                    <a:pt x="17" y="4"/>
                    <a:pt x="17" y="4"/>
                  </a:cubicBezTo>
                  <a:cubicBezTo>
                    <a:pt x="17" y="4"/>
                    <a:pt x="17" y="4"/>
                    <a:pt x="17" y="4"/>
                  </a:cubicBezTo>
                  <a:cubicBezTo>
                    <a:pt x="17" y="5"/>
                    <a:pt x="16" y="4"/>
                    <a:pt x="14" y="3"/>
                  </a:cubicBezTo>
                  <a:cubicBezTo>
                    <a:pt x="12" y="2"/>
                    <a:pt x="10" y="2"/>
                    <a:pt x="7" y="4"/>
                  </a:cubicBezTo>
                  <a:cubicBezTo>
                    <a:pt x="6" y="5"/>
                    <a:pt x="6" y="5"/>
                    <a:pt x="6" y="5"/>
                  </a:cubicBezTo>
                  <a:cubicBezTo>
                    <a:pt x="11" y="12"/>
                    <a:pt x="11" y="12"/>
                    <a:pt x="11" y="12"/>
                  </a:cubicBezTo>
                  <a:cubicBezTo>
                    <a:pt x="11" y="11"/>
                    <a:pt x="11" y="11"/>
                    <a:pt x="11" y="11"/>
                  </a:cubicBezTo>
                  <a:cubicBezTo>
                    <a:pt x="13" y="10"/>
                    <a:pt x="13" y="8"/>
                    <a:pt x="12" y="7"/>
                  </a:cubicBezTo>
                  <a:cubicBezTo>
                    <a:pt x="12" y="6"/>
                    <a:pt x="12" y="6"/>
                    <a:pt x="12" y="6"/>
                  </a:cubicBezTo>
                  <a:cubicBezTo>
                    <a:pt x="12" y="6"/>
                    <a:pt x="12" y="6"/>
                    <a:pt x="12" y="6"/>
                  </a:cubicBezTo>
                  <a:cubicBezTo>
                    <a:pt x="17" y="13"/>
                    <a:pt x="17" y="13"/>
                    <a:pt x="17" y="13"/>
                  </a:cubicBezTo>
                  <a:cubicBezTo>
                    <a:pt x="17" y="13"/>
                    <a:pt x="17" y="13"/>
                    <a:pt x="17" y="13"/>
                  </a:cubicBezTo>
                  <a:cubicBezTo>
                    <a:pt x="17" y="14"/>
                    <a:pt x="17" y="13"/>
                    <a:pt x="17" y="13"/>
                  </a:cubicBezTo>
                  <a:cubicBezTo>
                    <a:pt x="15" y="11"/>
                    <a:pt x="13" y="11"/>
                    <a:pt x="11" y="12"/>
                  </a:cubicBezTo>
                  <a:cubicBezTo>
                    <a:pt x="11" y="12"/>
                    <a:pt x="11" y="12"/>
                    <a:pt x="11" y="12"/>
                  </a:cubicBezTo>
                  <a:cubicBezTo>
                    <a:pt x="15" y="18"/>
                    <a:pt x="15" y="18"/>
                    <a:pt x="15" y="18"/>
                  </a:cubicBezTo>
                  <a:cubicBezTo>
                    <a:pt x="16" y="19"/>
                    <a:pt x="17" y="19"/>
                    <a:pt x="18" y="18"/>
                  </a:cubicBezTo>
                  <a:cubicBezTo>
                    <a:pt x="22" y="16"/>
                    <a:pt x="22" y="12"/>
                    <a:pt x="21" y="9"/>
                  </a:cubicBezTo>
                  <a:cubicBezTo>
                    <a:pt x="21" y="9"/>
                    <a:pt x="21" y="8"/>
                    <a:pt x="21" y="8"/>
                  </a:cubicBezTo>
                  <a:cubicBezTo>
                    <a:pt x="21" y="8"/>
                    <a:pt x="21" y="8"/>
                    <a:pt x="21" y="8"/>
                  </a:cubicBezTo>
                  <a:cubicBezTo>
                    <a:pt x="21" y="9"/>
                    <a:pt x="21" y="9"/>
                    <a:pt x="22" y="9"/>
                  </a:cubicBezTo>
                  <a:cubicBezTo>
                    <a:pt x="24" y="15"/>
                    <a:pt x="24" y="15"/>
                    <a:pt x="24" y="15"/>
                  </a:cubicBezTo>
                  <a:cubicBezTo>
                    <a:pt x="21" y="17"/>
                    <a:pt x="18" y="19"/>
                    <a:pt x="15" y="21"/>
                  </a:cubicBezTo>
                  <a:cubicBezTo>
                    <a:pt x="14" y="22"/>
                    <a:pt x="13" y="23"/>
                    <a:pt x="12" y="24"/>
                  </a:cubicBezTo>
                  <a:cubicBezTo>
                    <a:pt x="11" y="24"/>
                    <a:pt x="11" y="24"/>
                    <a:pt x="11" y="24"/>
                  </a:cubicBezTo>
                  <a:cubicBezTo>
                    <a:pt x="11" y="23"/>
                    <a:pt x="13" y="23"/>
                    <a:pt x="12" y="21"/>
                  </a:cubicBezTo>
                  <a:lnTo>
                    <a:pt x="3"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58">
              <a:extLst>
                <a:ext uri="{FF2B5EF4-FFF2-40B4-BE49-F238E27FC236}">
                  <a16:creationId xmlns:a16="http://schemas.microsoft.com/office/drawing/2014/main" id="{4CEEDB8D-67FD-47F6-B58E-B502AA69CBF2}"/>
                </a:ext>
              </a:extLst>
            </p:cNvPr>
            <p:cNvSpPr/>
            <p:nvPr/>
          </p:nvSpPr>
          <p:spPr bwMode="auto">
            <a:xfrm>
              <a:off x="4240213" y="4879975"/>
              <a:ext cx="130175" cy="141288"/>
            </a:xfrm>
            <a:custGeom>
              <a:avLst/>
              <a:gdLst>
                <a:gd name="T0" fmla="*/ 8 w 23"/>
                <a:gd name="T1" fmla="*/ 19 h 25"/>
                <a:gd name="T2" fmla="*/ 11 w 23"/>
                <a:gd name="T3" fmla="*/ 22 h 25"/>
                <a:gd name="T4" fmla="*/ 13 w 23"/>
                <a:gd name="T5" fmla="*/ 22 h 25"/>
                <a:gd name="T6" fmla="*/ 13 w 23"/>
                <a:gd name="T7" fmla="*/ 22 h 25"/>
                <a:gd name="T8" fmla="*/ 10 w 23"/>
                <a:gd name="T9" fmla="*/ 23 h 25"/>
                <a:gd name="T10" fmla="*/ 7 w 23"/>
                <a:gd name="T11" fmla="*/ 25 h 25"/>
                <a:gd name="T12" fmla="*/ 6 w 23"/>
                <a:gd name="T13" fmla="*/ 24 h 25"/>
                <a:gd name="T14" fmla="*/ 7 w 23"/>
                <a:gd name="T15" fmla="*/ 23 h 25"/>
                <a:gd name="T16" fmla="*/ 8 w 23"/>
                <a:gd name="T17" fmla="*/ 19 h 25"/>
                <a:gd name="T18" fmla="*/ 3 w 23"/>
                <a:gd name="T19" fmla="*/ 8 h 25"/>
                <a:gd name="T20" fmla="*/ 0 w 23"/>
                <a:gd name="T21" fmla="*/ 7 h 25"/>
                <a:gd name="T22" fmla="*/ 0 w 23"/>
                <a:gd name="T23" fmla="*/ 7 h 25"/>
                <a:gd name="T24" fmla="*/ 0 w 23"/>
                <a:gd name="T25" fmla="*/ 7 h 25"/>
                <a:gd name="T26" fmla="*/ 3 w 23"/>
                <a:gd name="T27" fmla="*/ 6 h 25"/>
                <a:gd name="T28" fmla="*/ 6 w 23"/>
                <a:gd name="T29" fmla="*/ 5 h 25"/>
                <a:gd name="T30" fmla="*/ 20 w 23"/>
                <a:gd name="T31" fmla="*/ 13 h 25"/>
                <a:gd name="T32" fmla="*/ 20 w 23"/>
                <a:gd name="T33" fmla="*/ 13 h 25"/>
                <a:gd name="T34" fmla="*/ 17 w 23"/>
                <a:gd name="T35" fmla="*/ 5 h 25"/>
                <a:gd name="T36" fmla="*/ 14 w 23"/>
                <a:gd name="T37" fmla="*/ 2 h 25"/>
                <a:gd name="T38" fmla="*/ 12 w 23"/>
                <a:gd name="T39" fmla="*/ 2 h 25"/>
                <a:gd name="T40" fmla="*/ 12 w 23"/>
                <a:gd name="T41" fmla="*/ 2 h 25"/>
                <a:gd name="T42" fmla="*/ 15 w 23"/>
                <a:gd name="T43" fmla="*/ 1 h 25"/>
                <a:gd name="T44" fmla="*/ 18 w 23"/>
                <a:gd name="T45" fmla="*/ 0 h 25"/>
                <a:gd name="T46" fmla="*/ 19 w 23"/>
                <a:gd name="T47" fmla="*/ 0 h 25"/>
                <a:gd name="T48" fmla="*/ 18 w 23"/>
                <a:gd name="T49" fmla="*/ 1 h 25"/>
                <a:gd name="T50" fmla="*/ 17 w 23"/>
                <a:gd name="T51" fmla="*/ 5 h 25"/>
                <a:gd name="T52" fmla="*/ 22 w 23"/>
                <a:gd name="T53" fmla="*/ 18 h 25"/>
                <a:gd name="T54" fmla="*/ 23 w 23"/>
                <a:gd name="T55" fmla="*/ 19 h 25"/>
                <a:gd name="T56" fmla="*/ 22 w 23"/>
                <a:gd name="T57" fmla="*/ 19 h 25"/>
                <a:gd name="T58" fmla="*/ 4 w 23"/>
                <a:gd name="T59" fmla="*/ 9 h 25"/>
                <a:gd name="T60" fmla="*/ 4 w 23"/>
                <a:gd name="T61" fmla="*/ 9 h 25"/>
                <a:gd name="T62" fmla="*/ 8 w 23"/>
                <a:gd name="T63"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5">
                  <a:moveTo>
                    <a:pt x="8" y="19"/>
                  </a:moveTo>
                  <a:cubicBezTo>
                    <a:pt x="9" y="21"/>
                    <a:pt x="10" y="22"/>
                    <a:pt x="11" y="22"/>
                  </a:cubicBezTo>
                  <a:cubicBezTo>
                    <a:pt x="12" y="22"/>
                    <a:pt x="13" y="21"/>
                    <a:pt x="13" y="22"/>
                  </a:cubicBezTo>
                  <a:cubicBezTo>
                    <a:pt x="13" y="22"/>
                    <a:pt x="13" y="22"/>
                    <a:pt x="13" y="22"/>
                  </a:cubicBezTo>
                  <a:cubicBezTo>
                    <a:pt x="12" y="23"/>
                    <a:pt x="11" y="23"/>
                    <a:pt x="10" y="23"/>
                  </a:cubicBezTo>
                  <a:cubicBezTo>
                    <a:pt x="9" y="24"/>
                    <a:pt x="8" y="24"/>
                    <a:pt x="7" y="25"/>
                  </a:cubicBezTo>
                  <a:cubicBezTo>
                    <a:pt x="6" y="25"/>
                    <a:pt x="6" y="25"/>
                    <a:pt x="6" y="24"/>
                  </a:cubicBezTo>
                  <a:cubicBezTo>
                    <a:pt x="6" y="24"/>
                    <a:pt x="7" y="24"/>
                    <a:pt x="7" y="23"/>
                  </a:cubicBezTo>
                  <a:cubicBezTo>
                    <a:pt x="8" y="23"/>
                    <a:pt x="9" y="22"/>
                    <a:pt x="8" y="19"/>
                  </a:cubicBezTo>
                  <a:cubicBezTo>
                    <a:pt x="3" y="8"/>
                    <a:pt x="3" y="8"/>
                    <a:pt x="3" y="8"/>
                  </a:cubicBezTo>
                  <a:cubicBezTo>
                    <a:pt x="2" y="7"/>
                    <a:pt x="1" y="7"/>
                    <a:pt x="0" y="7"/>
                  </a:cubicBezTo>
                  <a:cubicBezTo>
                    <a:pt x="0" y="7"/>
                    <a:pt x="0" y="7"/>
                    <a:pt x="0" y="7"/>
                  </a:cubicBezTo>
                  <a:cubicBezTo>
                    <a:pt x="0" y="7"/>
                    <a:pt x="0" y="7"/>
                    <a:pt x="0" y="7"/>
                  </a:cubicBezTo>
                  <a:cubicBezTo>
                    <a:pt x="1" y="6"/>
                    <a:pt x="2" y="6"/>
                    <a:pt x="3" y="6"/>
                  </a:cubicBezTo>
                  <a:cubicBezTo>
                    <a:pt x="6" y="5"/>
                    <a:pt x="6" y="5"/>
                    <a:pt x="6" y="5"/>
                  </a:cubicBezTo>
                  <a:cubicBezTo>
                    <a:pt x="20" y="13"/>
                    <a:pt x="20" y="13"/>
                    <a:pt x="20" y="13"/>
                  </a:cubicBezTo>
                  <a:cubicBezTo>
                    <a:pt x="20" y="13"/>
                    <a:pt x="20" y="13"/>
                    <a:pt x="20" y="13"/>
                  </a:cubicBezTo>
                  <a:cubicBezTo>
                    <a:pt x="17" y="5"/>
                    <a:pt x="17" y="5"/>
                    <a:pt x="17" y="5"/>
                  </a:cubicBezTo>
                  <a:cubicBezTo>
                    <a:pt x="16" y="3"/>
                    <a:pt x="15" y="2"/>
                    <a:pt x="14" y="2"/>
                  </a:cubicBezTo>
                  <a:cubicBezTo>
                    <a:pt x="13" y="2"/>
                    <a:pt x="12" y="3"/>
                    <a:pt x="12" y="2"/>
                  </a:cubicBezTo>
                  <a:cubicBezTo>
                    <a:pt x="12" y="2"/>
                    <a:pt x="12" y="2"/>
                    <a:pt x="12" y="2"/>
                  </a:cubicBezTo>
                  <a:cubicBezTo>
                    <a:pt x="13" y="2"/>
                    <a:pt x="14" y="1"/>
                    <a:pt x="15" y="1"/>
                  </a:cubicBezTo>
                  <a:cubicBezTo>
                    <a:pt x="17" y="0"/>
                    <a:pt x="18" y="0"/>
                    <a:pt x="18" y="0"/>
                  </a:cubicBezTo>
                  <a:cubicBezTo>
                    <a:pt x="19" y="0"/>
                    <a:pt x="19" y="0"/>
                    <a:pt x="19" y="0"/>
                  </a:cubicBezTo>
                  <a:cubicBezTo>
                    <a:pt x="19" y="0"/>
                    <a:pt x="18" y="0"/>
                    <a:pt x="18" y="1"/>
                  </a:cubicBezTo>
                  <a:cubicBezTo>
                    <a:pt x="17" y="1"/>
                    <a:pt x="17" y="3"/>
                    <a:pt x="17" y="5"/>
                  </a:cubicBezTo>
                  <a:cubicBezTo>
                    <a:pt x="22" y="18"/>
                    <a:pt x="22" y="18"/>
                    <a:pt x="22" y="18"/>
                  </a:cubicBezTo>
                  <a:cubicBezTo>
                    <a:pt x="23" y="19"/>
                    <a:pt x="23" y="19"/>
                    <a:pt x="23" y="19"/>
                  </a:cubicBezTo>
                  <a:cubicBezTo>
                    <a:pt x="22" y="19"/>
                    <a:pt x="22" y="19"/>
                    <a:pt x="22" y="19"/>
                  </a:cubicBezTo>
                  <a:cubicBezTo>
                    <a:pt x="4" y="9"/>
                    <a:pt x="4" y="9"/>
                    <a:pt x="4" y="9"/>
                  </a:cubicBezTo>
                  <a:cubicBezTo>
                    <a:pt x="4" y="9"/>
                    <a:pt x="4" y="9"/>
                    <a:pt x="4" y="9"/>
                  </a:cubicBezTo>
                  <a:lnTo>
                    <a:pt x="8"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Oval 59">
              <a:extLst>
                <a:ext uri="{FF2B5EF4-FFF2-40B4-BE49-F238E27FC236}">
                  <a16:creationId xmlns:a16="http://schemas.microsoft.com/office/drawing/2014/main" id="{2A240B43-3EB7-4DB0-AAC9-8CBBBC3DC79E}"/>
                </a:ext>
              </a:extLst>
            </p:cNvPr>
            <p:cNvSpPr>
              <a:spLocks noChangeArrowheads="1"/>
            </p:cNvSpPr>
            <p:nvPr/>
          </p:nvSpPr>
          <p:spPr bwMode="auto">
            <a:xfrm>
              <a:off x="4195763"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Oval 60">
              <a:extLst>
                <a:ext uri="{FF2B5EF4-FFF2-40B4-BE49-F238E27FC236}">
                  <a16:creationId xmlns:a16="http://schemas.microsoft.com/office/drawing/2014/main" id="{4AC06848-DE72-4C3A-9D0F-3D1825F59FB9}"/>
                </a:ext>
              </a:extLst>
            </p:cNvPr>
            <p:cNvSpPr>
              <a:spLocks noChangeArrowheads="1"/>
            </p:cNvSpPr>
            <p:nvPr/>
          </p:nvSpPr>
          <p:spPr bwMode="auto">
            <a:xfrm>
              <a:off x="4756150"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61">
              <a:extLst>
                <a:ext uri="{FF2B5EF4-FFF2-40B4-BE49-F238E27FC236}">
                  <a16:creationId xmlns:a16="http://schemas.microsoft.com/office/drawing/2014/main" id="{BDF950CF-5834-4AEA-9938-2F65D8A0E97F}"/>
                </a:ext>
              </a:extLst>
            </p:cNvPr>
            <p:cNvSpPr>
              <a:spLocks noEditPoints="1"/>
            </p:cNvSpPr>
            <p:nvPr/>
          </p:nvSpPr>
          <p:spPr bwMode="auto">
            <a:xfrm>
              <a:off x="3854450" y="4787900"/>
              <a:ext cx="1271588" cy="1289050"/>
            </a:xfrm>
            <a:custGeom>
              <a:avLst/>
              <a:gdLst>
                <a:gd name="T0" fmla="*/ 114 w 227"/>
                <a:gd name="T1" fmla="*/ 227 h 227"/>
                <a:gd name="T2" fmla="*/ 70 w 227"/>
                <a:gd name="T3" fmla="*/ 218 h 227"/>
                <a:gd name="T4" fmla="*/ 34 w 227"/>
                <a:gd name="T5" fmla="*/ 194 h 227"/>
                <a:gd name="T6" fmla="*/ 9 w 227"/>
                <a:gd name="T7" fmla="*/ 158 h 227"/>
                <a:gd name="T8" fmla="*/ 0 w 227"/>
                <a:gd name="T9" fmla="*/ 114 h 227"/>
                <a:gd name="T10" fmla="*/ 9 w 227"/>
                <a:gd name="T11" fmla="*/ 69 h 227"/>
                <a:gd name="T12" fmla="*/ 34 w 227"/>
                <a:gd name="T13" fmla="*/ 33 h 227"/>
                <a:gd name="T14" fmla="*/ 70 w 227"/>
                <a:gd name="T15" fmla="*/ 9 h 227"/>
                <a:gd name="T16" fmla="*/ 114 w 227"/>
                <a:gd name="T17" fmla="*/ 0 h 227"/>
                <a:gd name="T18" fmla="*/ 158 w 227"/>
                <a:gd name="T19" fmla="*/ 9 h 227"/>
                <a:gd name="T20" fmla="*/ 194 w 227"/>
                <a:gd name="T21" fmla="*/ 33 h 227"/>
                <a:gd name="T22" fmla="*/ 218 w 227"/>
                <a:gd name="T23" fmla="*/ 69 h 227"/>
                <a:gd name="T24" fmla="*/ 227 w 227"/>
                <a:gd name="T25" fmla="*/ 114 h 227"/>
                <a:gd name="T26" fmla="*/ 218 w 227"/>
                <a:gd name="T27" fmla="*/ 158 h 227"/>
                <a:gd name="T28" fmla="*/ 194 w 227"/>
                <a:gd name="T29" fmla="*/ 194 h 227"/>
                <a:gd name="T30" fmla="*/ 158 w 227"/>
                <a:gd name="T31" fmla="*/ 218 h 227"/>
                <a:gd name="T32" fmla="*/ 114 w 227"/>
                <a:gd name="T33" fmla="*/ 227 h 227"/>
                <a:gd name="T34" fmla="*/ 114 w 227"/>
                <a:gd name="T35" fmla="*/ 5 h 227"/>
                <a:gd name="T36" fmla="*/ 6 w 227"/>
                <a:gd name="T37" fmla="*/ 114 h 227"/>
                <a:gd name="T38" fmla="*/ 114 w 227"/>
                <a:gd name="T39" fmla="*/ 222 h 227"/>
                <a:gd name="T40" fmla="*/ 222 w 227"/>
                <a:gd name="T41" fmla="*/ 114 h 227"/>
                <a:gd name="T42" fmla="*/ 114 w 227"/>
                <a:gd name="T43" fmla="*/ 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227">
                  <a:moveTo>
                    <a:pt x="114" y="227"/>
                  </a:moveTo>
                  <a:cubicBezTo>
                    <a:pt x="98" y="227"/>
                    <a:pt x="84" y="224"/>
                    <a:pt x="70" y="218"/>
                  </a:cubicBezTo>
                  <a:cubicBezTo>
                    <a:pt x="56" y="212"/>
                    <a:pt x="44" y="204"/>
                    <a:pt x="34" y="194"/>
                  </a:cubicBezTo>
                  <a:cubicBezTo>
                    <a:pt x="23" y="183"/>
                    <a:pt x="15" y="171"/>
                    <a:pt x="9" y="158"/>
                  </a:cubicBezTo>
                  <a:cubicBezTo>
                    <a:pt x="3" y="144"/>
                    <a:pt x="0" y="129"/>
                    <a:pt x="0" y="114"/>
                  </a:cubicBezTo>
                  <a:cubicBezTo>
                    <a:pt x="0" y="98"/>
                    <a:pt x="3" y="83"/>
                    <a:pt x="9" y="69"/>
                  </a:cubicBezTo>
                  <a:cubicBezTo>
                    <a:pt x="15" y="56"/>
                    <a:pt x="23" y="44"/>
                    <a:pt x="34" y="33"/>
                  </a:cubicBezTo>
                  <a:cubicBezTo>
                    <a:pt x="44" y="23"/>
                    <a:pt x="56" y="15"/>
                    <a:pt x="70" y="9"/>
                  </a:cubicBezTo>
                  <a:cubicBezTo>
                    <a:pt x="84" y="3"/>
                    <a:pt x="98" y="0"/>
                    <a:pt x="114" y="0"/>
                  </a:cubicBezTo>
                  <a:cubicBezTo>
                    <a:pt x="129" y="0"/>
                    <a:pt x="144" y="3"/>
                    <a:pt x="158" y="9"/>
                  </a:cubicBezTo>
                  <a:cubicBezTo>
                    <a:pt x="171" y="15"/>
                    <a:pt x="184" y="23"/>
                    <a:pt x="194" y="33"/>
                  </a:cubicBezTo>
                  <a:cubicBezTo>
                    <a:pt x="204" y="44"/>
                    <a:pt x="213" y="56"/>
                    <a:pt x="218" y="69"/>
                  </a:cubicBezTo>
                  <a:cubicBezTo>
                    <a:pt x="224" y="83"/>
                    <a:pt x="227" y="98"/>
                    <a:pt x="227" y="114"/>
                  </a:cubicBezTo>
                  <a:cubicBezTo>
                    <a:pt x="227" y="129"/>
                    <a:pt x="224" y="144"/>
                    <a:pt x="218" y="158"/>
                  </a:cubicBezTo>
                  <a:cubicBezTo>
                    <a:pt x="213" y="171"/>
                    <a:pt x="204" y="183"/>
                    <a:pt x="194" y="194"/>
                  </a:cubicBezTo>
                  <a:cubicBezTo>
                    <a:pt x="184" y="204"/>
                    <a:pt x="171" y="212"/>
                    <a:pt x="158" y="218"/>
                  </a:cubicBezTo>
                  <a:cubicBezTo>
                    <a:pt x="144" y="224"/>
                    <a:pt x="129" y="227"/>
                    <a:pt x="114" y="227"/>
                  </a:cubicBezTo>
                  <a:close/>
                  <a:moveTo>
                    <a:pt x="114" y="5"/>
                  </a:moveTo>
                  <a:cubicBezTo>
                    <a:pt x="54" y="5"/>
                    <a:pt x="6" y="54"/>
                    <a:pt x="6" y="114"/>
                  </a:cubicBezTo>
                  <a:cubicBezTo>
                    <a:pt x="6" y="173"/>
                    <a:pt x="54" y="222"/>
                    <a:pt x="114" y="222"/>
                  </a:cubicBezTo>
                  <a:cubicBezTo>
                    <a:pt x="173" y="222"/>
                    <a:pt x="222" y="173"/>
                    <a:pt x="222" y="114"/>
                  </a:cubicBezTo>
                  <a:cubicBezTo>
                    <a:pt x="222" y="54"/>
                    <a:pt x="173" y="5"/>
                    <a:pt x="114"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Freeform 62">
              <a:extLst>
                <a:ext uri="{FF2B5EF4-FFF2-40B4-BE49-F238E27FC236}">
                  <a16:creationId xmlns:a16="http://schemas.microsoft.com/office/drawing/2014/main" id="{1FC091C0-6D9F-42F7-AC9D-2EB849B2693D}"/>
                </a:ext>
              </a:extLst>
            </p:cNvPr>
            <p:cNvSpPr/>
            <p:nvPr/>
          </p:nvSpPr>
          <p:spPr bwMode="auto">
            <a:xfrm>
              <a:off x="4279900" y="5867400"/>
              <a:ext cx="73025" cy="119063"/>
            </a:xfrm>
            <a:custGeom>
              <a:avLst/>
              <a:gdLst>
                <a:gd name="T0" fmla="*/ 8 w 13"/>
                <a:gd name="T1" fmla="*/ 17 h 21"/>
                <a:gd name="T2" fmla="*/ 10 w 13"/>
                <a:gd name="T3" fmla="*/ 20 h 21"/>
                <a:gd name="T4" fmla="*/ 11 w 13"/>
                <a:gd name="T5" fmla="*/ 21 h 21"/>
                <a:gd name="T6" fmla="*/ 11 w 13"/>
                <a:gd name="T7" fmla="*/ 21 h 21"/>
                <a:gd name="T8" fmla="*/ 5 w 13"/>
                <a:gd name="T9" fmla="*/ 19 h 21"/>
                <a:gd name="T10" fmla="*/ 0 w 13"/>
                <a:gd name="T11" fmla="*/ 17 h 21"/>
                <a:gd name="T12" fmla="*/ 0 w 13"/>
                <a:gd name="T13" fmla="*/ 17 h 21"/>
                <a:gd name="T14" fmla="*/ 2 w 13"/>
                <a:gd name="T15" fmla="*/ 17 h 21"/>
                <a:gd name="T16" fmla="*/ 4 w 13"/>
                <a:gd name="T17" fmla="*/ 16 h 21"/>
                <a:gd name="T18" fmla="*/ 9 w 13"/>
                <a:gd name="T19" fmla="*/ 3 h 21"/>
                <a:gd name="T20" fmla="*/ 8 w 13"/>
                <a:gd name="T21" fmla="*/ 2 h 21"/>
                <a:gd name="T22" fmla="*/ 4 w 13"/>
                <a:gd name="T23" fmla="*/ 1 h 21"/>
                <a:gd name="T24" fmla="*/ 4 w 13"/>
                <a:gd name="T25" fmla="*/ 1 h 21"/>
                <a:gd name="T26" fmla="*/ 7 w 13"/>
                <a:gd name="T27" fmla="*/ 1 h 21"/>
                <a:gd name="T28" fmla="*/ 13 w 13"/>
                <a:gd name="T29" fmla="*/ 1 h 21"/>
                <a:gd name="T30" fmla="*/ 13 w 13"/>
                <a:gd name="T31" fmla="*/ 2 h 21"/>
                <a:gd name="T32" fmla="*/ 8 w 13"/>
                <a:gd name="T3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21">
                  <a:moveTo>
                    <a:pt x="8" y="17"/>
                  </a:moveTo>
                  <a:cubicBezTo>
                    <a:pt x="8" y="18"/>
                    <a:pt x="8" y="19"/>
                    <a:pt x="10" y="20"/>
                  </a:cubicBezTo>
                  <a:cubicBezTo>
                    <a:pt x="11" y="20"/>
                    <a:pt x="11" y="20"/>
                    <a:pt x="11" y="21"/>
                  </a:cubicBezTo>
                  <a:cubicBezTo>
                    <a:pt x="11" y="21"/>
                    <a:pt x="11" y="21"/>
                    <a:pt x="11" y="21"/>
                  </a:cubicBezTo>
                  <a:cubicBezTo>
                    <a:pt x="9" y="20"/>
                    <a:pt x="7" y="20"/>
                    <a:pt x="5" y="19"/>
                  </a:cubicBezTo>
                  <a:cubicBezTo>
                    <a:pt x="4" y="18"/>
                    <a:pt x="2" y="18"/>
                    <a:pt x="0" y="17"/>
                  </a:cubicBezTo>
                  <a:cubicBezTo>
                    <a:pt x="0" y="17"/>
                    <a:pt x="0" y="17"/>
                    <a:pt x="0" y="17"/>
                  </a:cubicBezTo>
                  <a:cubicBezTo>
                    <a:pt x="0" y="16"/>
                    <a:pt x="0" y="16"/>
                    <a:pt x="2" y="17"/>
                  </a:cubicBezTo>
                  <a:cubicBezTo>
                    <a:pt x="3" y="17"/>
                    <a:pt x="4" y="17"/>
                    <a:pt x="4" y="16"/>
                  </a:cubicBezTo>
                  <a:cubicBezTo>
                    <a:pt x="9" y="3"/>
                    <a:pt x="9" y="3"/>
                    <a:pt x="9" y="3"/>
                  </a:cubicBezTo>
                  <a:cubicBezTo>
                    <a:pt x="9" y="3"/>
                    <a:pt x="9" y="3"/>
                    <a:pt x="8" y="2"/>
                  </a:cubicBezTo>
                  <a:cubicBezTo>
                    <a:pt x="4" y="1"/>
                    <a:pt x="4" y="1"/>
                    <a:pt x="4" y="1"/>
                  </a:cubicBezTo>
                  <a:cubicBezTo>
                    <a:pt x="4" y="1"/>
                    <a:pt x="4" y="1"/>
                    <a:pt x="4" y="1"/>
                  </a:cubicBezTo>
                  <a:cubicBezTo>
                    <a:pt x="4" y="0"/>
                    <a:pt x="5" y="1"/>
                    <a:pt x="7" y="1"/>
                  </a:cubicBezTo>
                  <a:cubicBezTo>
                    <a:pt x="11" y="2"/>
                    <a:pt x="13" y="1"/>
                    <a:pt x="13" y="1"/>
                  </a:cubicBezTo>
                  <a:cubicBezTo>
                    <a:pt x="13" y="1"/>
                    <a:pt x="13" y="1"/>
                    <a:pt x="13" y="2"/>
                  </a:cubicBezTo>
                  <a:lnTo>
                    <a:pt x="8" y="1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63">
              <a:extLst>
                <a:ext uri="{FF2B5EF4-FFF2-40B4-BE49-F238E27FC236}">
                  <a16:creationId xmlns:a16="http://schemas.microsoft.com/office/drawing/2014/main" id="{E4E1FD64-32A3-4FEA-B787-590787432AD0}"/>
                </a:ext>
              </a:extLst>
            </p:cNvPr>
            <p:cNvSpPr>
              <a:spLocks noEditPoints="1"/>
            </p:cNvSpPr>
            <p:nvPr/>
          </p:nvSpPr>
          <p:spPr bwMode="auto">
            <a:xfrm>
              <a:off x="4392613" y="5889625"/>
              <a:ext cx="84138" cy="107950"/>
            </a:xfrm>
            <a:custGeom>
              <a:avLst/>
              <a:gdLst>
                <a:gd name="T0" fmla="*/ 8 w 15"/>
                <a:gd name="T1" fmla="*/ 0 h 19"/>
                <a:gd name="T2" fmla="*/ 14 w 15"/>
                <a:gd name="T3" fmla="*/ 9 h 19"/>
                <a:gd name="T4" fmla="*/ 2 w 15"/>
                <a:gd name="T5" fmla="*/ 19 h 19"/>
                <a:gd name="T6" fmla="*/ 2 w 15"/>
                <a:gd name="T7" fmla="*/ 19 h 19"/>
                <a:gd name="T8" fmla="*/ 10 w 15"/>
                <a:gd name="T9" fmla="*/ 11 h 19"/>
                <a:gd name="T10" fmla="*/ 6 w 15"/>
                <a:gd name="T11" fmla="*/ 12 h 19"/>
                <a:gd name="T12" fmla="*/ 0 w 15"/>
                <a:gd name="T13" fmla="*/ 5 h 19"/>
                <a:gd name="T14" fmla="*/ 8 w 15"/>
                <a:gd name="T15" fmla="*/ 0 h 19"/>
                <a:gd name="T16" fmla="*/ 7 w 15"/>
                <a:gd name="T17" fmla="*/ 11 h 19"/>
                <a:gd name="T18" fmla="*/ 10 w 15"/>
                <a:gd name="T19" fmla="*/ 10 h 19"/>
                <a:gd name="T20" fmla="*/ 11 w 15"/>
                <a:gd name="T21" fmla="*/ 7 h 19"/>
                <a:gd name="T22" fmla="*/ 8 w 15"/>
                <a:gd name="T23" fmla="*/ 1 h 19"/>
                <a:gd name="T24" fmla="*/ 4 w 15"/>
                <a:gd name="T25" fmla="*/ 6 h 19"/>
                <a:gd name="T26" fmla="*/ 7 w 15"/>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9">
                  <a:moveTo>
                    <a:pt x="8" y="0"/>
                  </a:moveTo>
                  <a:cubicBezTo>
                    <a:pt x="12" y="1"/>
                    <a:pt x="15" y="4"/>
                    <a:pt x="14" y="9"/>
                  </a:cubicBezTo>
                  <a:cubicBezTo>
                    <a:pt x="13" y="17"/>
                    <a:pt x="3" y="19"/>
                    <a:pt x="2" y="19"/>
                  </a:cubicBezTo>
                  <a:cubicBezTo>
                    <a:pt x="2" y="19"/>
                    <a:pt x="1" y="19"/>
                    <a:pt x="2" y="19"/>
                  </a:cubicBezTo>
                  <a:cubicBezTo>
                    <a:pt x="2" y="18"/>
                    <a:pt x="7" y="18"/>
                    <a:pt x="10" y="11"/>
                  </a:cubicBezTo>
                  <a:cubicBezTo>
                    <a:pt x="9" y="11"/>
                    <a:pt x="7" y="12"/>
                    <a:pt x="6" y="12"/>
                  </a:cubicBezTo>
                  <a:cubicBezTo>
                    <a:pt x="1" y="11"/>
                    <a:pt x="0" y="8"/>
                    <a:pt x="0" y="5"/>
                  </a:cubicBezTo>
                  <a:cubicBezTo>
                    <a:pt x="0" y="2"/>
                    <a:pt x="3" y="0"/>
                    <a:pt x="8" y="0"/>
                  </a:cubicBezTo>
                  <a:close/>
                  <a:moveTo>
                    <a:pt x="7" y="11"/>
                  </a:moveTo>
                  <a:cubicBezTo>
                    <a:pt x="8" y="11"/>
                    <a:pt x="10" y="10"/>
                    <a:pt x="10" y="10"/>
                  </a:cubicBezTo>
                  <a:cubicBezTo>
                    <a:pt x="10" y="10"/>
                    <a:pt x="10" y="9"/>
                    <a:pt x="11" y="7"/>
                  </a:cubicBezTo>
                  <a:cubicBezTo>
                    <a:pt x="11" y="2"/>
                    <a:pt x="10" y="1"/>
                    <a:pt x="8" y="1"/>
                  </a:cubicBezTo>
                  <a:cubicBezTo>
                    <a:pt x="6" y="0"/>
                    <a:pt x="4" y="1"/>
                    <a:pt x="4" y="6"/>
                  </a:cubicBezTo>
                  <a:cubicBezTo>
                    <a:pt x="3" y="9"/>
                    <a:pt x="5" y="11"/>
                    <a:pt x="7" y="1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64">
              <a:extLst>
                <a:ext uri="{FF2B5EF4-FFF2-40B4-BE49-F238E27FC236}">
                  <a16:creationId xmlns:a16="http://schemas.microsoft.com/office/drawing/2014/main" id="{43834552-3EDF-4CBF-ADF8-B86B2FA5B85F}"/>
                </a:ext>
              </a:extLst>
            </p:cNvPr>
            <p:cNvSpPr>
              <a:spLocks noEditPoints="1"/>
            </p:cNvSpPr>
            <p:nvPr/>
          </p:nvSpPr>
          <p:spPr bwMode="auto">
            <a:xfrm>
              <a:off x="4503738" y="5889625"/>
              <a:ext cx="79375" cy="112713"/>
            </a:xfrm>
            <a:custGeom>
              <a:avLst/>
              <a:gdLst>
                <a:gd name="T0" fmla="*/ 3 w 14"/>
                <a:gd name="T1" fmla="*/ 10 h 20"/>
                <a:gd name="T2" fmla="*/ 0 w 14"/>
                <a:gd name="T3" fmla="*/ 6 h 20"/>
                <a:gd name="T4" fmla="*/ 6 w 14"/>
                <a:gd name="T5" fmla="*/ 0 h 20"/>
                <a:gd name="T6" fmla="*/ 12 w 14"/>
                <a:gd name="T7" fmla="*/ 4 h 20"/>
                <a:gd name="T8" fmla="*/ 10 w 14"/>
                <a:gd name="T9" fmla="*/ 8 h 20"/>
                <a:gd name="T10" fmla="*/ 14 w 14"/>
                <a:gd name="T11" fmla="*/ 13 h 20"/>
                <a:gd name="T12" fmla="*/ 7 w 14"/>
                <a:gd name="T13" fmla="*/ 20 h 20"/>
                <a:gd name="T14" fmla="*/ 0 w 14"/>
                <a:gd name="T15" fmla="*/ 15 h 20"/>
                <a:gd name="T16" fmla="*/ 3 w 14"/>
                <a:gd name="T17" fmla="*/ 10 h 20"/>
                <a:gd name="T18" fmla="*/ 7 w 14"/>
                <a:gd name="T19" fmla="*/ 19 h 20"/>
                <a:gd name="T20" fmla="*/ 11 w 14"/>
                <a:gd name="T21" fmla="*/ 15 h 20"/>
                <a:gd name="T22" fmla="*/ 7 w 14"/>
                <a:gd name="T23" fmla="*/ 12 h 20"/>
                <a:gd name="T24" fmla="*/ 3 w 14"/>
                <a:gd name="T25" fmla="*/ 11 h 20"/>
                <a:gd name="T26" fmla="*/ 2 w 14"/>
                <a:gd name="T27" fmla="*/ 15 h 20"/>
                <a:gd name="T28" fmla="*/ 7 w 14"/>
                <a:gd name="T29" fmla="*/ 19 h 20"/>
                <a:gd name="T30" fmla="*/ 6 w 14"/>
                <a:gd name="T31" fmla="*/ 1 h 20"/>
                <a:gd name="T32" fmla="*/ 3 w 14"/>
                <a:gd name="T33" fmla="*/ 4 h 20"/>
                <a:gd name="T34" fmla="*/ 10 w 14"/>
                <a:gd name="T35" fmla="*/ 8 h 20"/>
                <a:gd name="T36" fmla="*/ 11 w 14"/>
                <a:gd name="T37" fmla="*/ 5 h 20"/>
                <a:gd name="T38" fmla="*/ 6 w 14"/>
                <a:gd name="T39"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20">
                  <a:moveTo>
                    <a:pt x="3" y="10"/>
                  </a:moveTo>
                  <a:cubicBezTo>
                    <a:pt x="1" y="9"/>
                    <a:pt x="0" y="8"/>
                    <a:pt x="0" y="6"/>
                  </a:cubicBezTo>
                  <a:cubicBezTo>
                    <a:pt x="0" y="3"/>
                    <a:pt x="2" y="1"/>
                    <a:pt x="6" y="0"/>
                  </a:cubicBezTo>
                  <a:cubicBezTo>
                    <a:pt x="9" y="0"/>
                    <a:pt x="12" y="2"/>
                    <a:pt x="12" y="4"/>
                  </a:cubicBezTo>
                  <a:cubicBezTo>
                    <a:pt x="12" y="6"/>
                    <a:pt x="12" y="7"/>
                    <a:pt x="10" y="8"/>
                  </a:cubicBezTo>
                  <a:cubicBezTo>
                    <a:pt x="13" y="9"/>
                    <a:pt x="14" y="11"/>
                    <a:pt x="14" y="13"/>
                  </a:cubicBezTo>
                  <a:cubicBezTo>
                    <a:pt x="14" y="17"/>
                    <a:pt x="11" y="19"/>
                    <a:pt x="7" y="20"/>
                  </a:cubicBezTo>
                  <a:cubicBezTo>
                    <a:pt x="3" y="20"/>
                    <a:pt x="0" y="18"/>
                    <a:pt x="0" y="15"/>
                  </a:cubicBezTo>
                  <a:cubicBezTo>
                    <a:pt x="0" y="14"/>
                    <a:pt x="1" y="12"/>
                    <a:pt x="3" y="10"/>
                  </a:cubicBezTo>
                  <a:close/>
                  <a:moveTo>
                    <a:pt x="7" y="19"/>
                  </a:moveTo>
                  <a:cubicBezTo>
                    <a:pt x="10" y="19"/>
                    <a:pt x="11" y="17"/>
                    <a:pt x="11" y="15"/>
                  </a:cubicBezTo>
                  <a:cubicBezTo>
                    <a:pt x="11" y="14"/>
                    <a:pt x="10" y="12"/>
                    <a:pt x="7" y="12"/>
                  </a:cubicBezTo>
                  <a:cubicBezTo>
                    <a:pt x="4" y="11"/>
                    <a:pt x="4" y="10"/>
                    <a:pt x="3" y="11"/>
                  </a:cubicBezTo>
                  <a:cubicBezTo>
                    <a:pt x="3" y="11"/>
                    <a:pt x="1" y="12"/>
                    <a:pt x="2" y="15"/>
                  </a:cubicBezTo>
                  <a:cubicBezTo>
                    <a:pt x="2" y="18"/>
                    <a:pt x="4" y="20"/>
                    <a:pt x="7" y="19"/>
                  </a:cubicBezTo>
                  <a:close/>
                  <a:moveTo>
                    <a:pt x="6" y="1"/>
                  </a:moveTo>
                  <a:cubicBezTo>
                    <a:pt x="4" y="1"/>
                    <a:pt x="3" y="2"/>
                    <a:pt x="3" y="4"/>
                  </a:cubicBezTo>
                  <a:cubicBezTo>
                    <a:pt x="4" y="7"/>
                    <a:pt x="8" y="8"/>
                    <a:pt x="10" y="8"/>
                  </a:cubicBezTo>
                  <a:cubicBezTo>
                    <a:pt x="11" y="8"/>
                    <a:pt x="11" y="7"/>
                    <a:pt x="11" y="5"/>
                  </a:cubicBezTo>
                  <a:cubicBezTo>
                    <a:pt x="11" y="2"/>
                    <a:pt x="9" y="1"/>
                    <a:pt x="6"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Freeform 65">
              <a:extLst>
                <a:ext uri="{FF2B5EF4-FFF2-40B4-BE49-F238E27FC236}">
                  <a16:creationId xmlns:a16="http://schemas.microsoft.com/office/drawing/2014/main" id="{6102B3B5-7BC0-4BEA-A33F-DD265E2A26AB}"/>
                </a:ext>
              </a:extLst>
            </p:cNvPr>
            <p:cNvSpPr/>
            <p:nvPr/>
          </p:nvSpPr>
          <p:spPr bwMode="auto">
            <a:xfrm>
              <a:off x="4605338" y="5867400"/>
              <a:ext cx="88900" cy="119063"/>
            </a:xfrm>
            <a:custGeom>
              <a:avLst/>
              <a:gdLst>
                <a:gd name="T0" fmla="*/ 11 w 16"/>
                <a:gd name="T1" fmla="*/ 7 h 21"/>
                <a:gd name="T2" fmla="*/ 15 w 16"/>
                <a:gd name="T3" fmla="*/ 11 h 21"/>
                <a:gd name="T4" fmla="*/ 10 w 16"/>
                <a:gd name="T5" fmla="*/ 20 h 21"/>
                <a:gd name="T6" fmla="*/ 2 w 16"/>
                <a:gd name="T7" fmla="*/ 18 h 21"/>
                <a:gd name="T8" fmla="*/ 4 w 16"/>
                <a:gd name="T9" fmla="*/ 16 h 21"/>
                <a:gd name="T10" fmla="*/ 6 w 16"/>
                <a:gd name="T11" fmla="*/ 18 h 21"/>
                <a:gd name="T12" fmla="*/ 10 w 16"/>
                <a:gd name="T13" fmla="*/ 19 h 21"/>
                <a:gd name="T14" fmla="*/ 12 w 16"/>
                <a:gd name="T15" fmla="*/ 14 h 21"/>
                <a:gd name="T16" fmla="*/ 8 w 16"/>
                <a:gd name="T17" fmla="*/ 10 h 21"/>
                <a:gd name="T18" fmla="*/ 5 w 16"/>
                <a:gd name="T19" fmla="*/ 11 h 21"/>
                <a:gd name="T20" fmla="*/ 8 w 16"/>
                <a:gd name="T21" fmla="*/ 9 h 21"/>
                <a:gd name="T22" fmla="*/ 8 w 16"/>
                <a:gd name="T23" fmla="*/ 6 h 21"/>
                <a:gd name="T24" fmla="*/ 3 w 16"/>
                <a:gd name="T25" fmla="*/ 4 h 21"/>
                <a:gd name="T26" fmla="*/ 0 w 16"/>
                <a:gd name="T27" fmla="*/ 7 h 21"/>
                <a:gd name="T28" fmla="*/ 0 w 16"/>
                <a:gd name="T29" fmla="*/ 7 h 21"/>
                <a:gd name="T30" fmla="*/ 5 w 16"/>
                <a:gd name="T31" fmla="*/ 1 h 21"/>
                <a:gd name="T32" fmla="*/ 11 w 16"/>
                <a:gd name="T33" fmla="*/ 4 h 21"/>
                <a:gd name="T34" fmla="*/ 11 w 16"/>
                <a:gd name="T3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1">
                  <a:moveTo>
                    <a:pt x="11" y="7"/>
                  </a:moveTo>
                  <a:cubicBezTo>
                    <a:pt x="13" y="8"/>
                    <a:pt x="14" y="9"/>
                    <a:pt x="15" y="11"/>
                  </a:cubicBezTo>
                  <a:cubicBezTo>
                    <a:pt x="16" y="15"/>
                    <a:pt x="14" y="19"/>
                    <a:pt x="10" y="20"/>
                  </a:cubicBezTo>
                  <a:cubicBezTo>
                    <a:pt x="6" y="21"/>
                    <a:pt x="3" y="20"/>
                    <a:pt x="2" y="18"/>
                  </a:cubicBezTo>
                  <a:cubicBezTo>
                    <a:pt x="2" y="17"/>
                    <a:pt x="2" y="16"/>
                    <a:pt x="4" y="16"/>
                  </a:cubicBezTo>
                  <a:cubicBezTo>
                    <a:pt x="5" y="15"/>
                    <a:pt x="6" y="16"/>
                    <a:pt x="6" y="18"/>
                  </a:cubicBezTo>
                  <a:cubicBezTo>
                    <a:pt x="7" y="19"/>
                    <a:pt x="8" y="20"/>
                    <a:pt x="10" y="19"/>
                  </a:cubicBezTo>
                  <a:cubicBezTo>
                    <a:pt x="12" y="19"/>
                    <a:pt x="13" y="17"/>
                    <a:pt x="12" y="14"/>
                  </a:cubicBezTo>
                  <a:cubicBezTo>
                    <a:pt x="11" y="12"/>
                    <a:pt x="9" y="10"/>
                    <a:pt x="8" y="10"/>
                  </a:cubicBezTo>
                  <a:cubicBezTo>
                    <a:pt x="7" y="10"/>
                    <a:pt x="5" y="11"/>
                    <a:pt x="5" y="11"/>
                  </a:cubicBezTo>
                  <a:cubicBezTo>
                    <a:pt x="5" y="10"/>
                    <a:pt x="6" y="10"/>
                    <a:pt x="8" y="9"/>
                  </a:cubicBezTo>
                  <a:cubicBezTo>
                    <a:pt x="8" y="8"/>
                    <a:pt x="8" y="7"/>
                    <a:pt x="8" y="6"/>
                  </a:cubicBezTo>
                  <a:cubicBezTo>
                    <a:pt x="7" y="4"/>
                    <a:pt x="6" y="3"/>
                    <a:pt x="3" y="4"/>
                  </a:cubicBezTo>
                  <a:cubicBezTo>
                    <a:pt x="1" y="4"/>
                    <a:pt x="1" y="7"/>
                    <a:pt x="0" y="7"/>
                  </a:cubicBezTo>
                  <a:cubicBezTo>
                    <a:pt x="0" y="7"/>
                    <a:pt x="0" y="7"/>
                    <a:pt x="0" y="7"/>
                  </a:cubicBezTo>
                  <a:cubicBezTo>
                    <a:pt x="0" y="6"/>
                    <a:pt x="1" y="2"/>
                    <a:pt x="5" y="1"/>
                  </a:cubicBezTo>
                  <a:cubicBezTo>
                    <a:pt x="7" y="0"/>
                    <a:pt x="10" y="1"/>
                    <a:pt x="11" y="4"/>
                  </a:cubicBezTo>
                  <a:cubicBezTo>
                    <a:pt x="12" y="5"/>
                    <a:pt x="11" y="6"/>
                    <a:pt x="11" y="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Freeform 66">
              <a:extLst>
                <a:ext uri="{FF2B5EF4-FFF2-40B4-BE49-F238E27FC236}">
                  <a16:creationId xmlns:a16="http://schemas.microsoft.com/office/drawing/2014/main" id="{78976336-AA63-4EE3-91FF-F437DAC088CB}"/>
                </a:ext>
              </a:extLst>
            </p:cNvPr>
            <p:cNvSpPr/>
            <p:nvPr/>
          </p:nvSpPr>
          <p:spPr bwMode="auto">
            <a:xfrm>
              <a:off x="4375150" y="5480050"/>
              <a:ext cx="22225" cy="6350"/>
            </a:xfrm>
            <a:custGeom>
              <a:avLst/>
              <a:gdLst>
                <a:gd name="T0" fmla="*/ 1 w 4"/>
                <a:gd name="T1" fmla="*/ 1 h 1"/>
                <a:gd name="T2" fmla="*/ 2 w 4"/>
                <a:gd name="T3" fmla="*/ 1 h 1"/>
                <a:gd name="T4" fmla="*/ 4 w 4"/>
                <a:gd name="T5" fmla="*/ 1 h 1"/>
                <a:gd name="T6" fmla="*/ 4 w 4"/>
                <a:gd name="T7" fmla="*/ 1 h 1"/>
                <a:gd name="T8" fmla="*/ 2 w 4"/>
                <a:gd name="T9" fmla="*/ 0 h 1"/>
                <a:gd name="T10" fmla="*/ 0 w 4"/>
                <a:gd name="T11" fmla="*/ 1 h 1"/>
                <a:gd name="T12" fmla="*/ 1 w 4"/>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4" h="1">
                  <a:moveTo>
                    <a:pt x="1" y="1"/>
                  </a:moveTo>
                  <a:cubicBezTo>
                    <a:pt x="2" y="1"/>
                    <a:pt x="2" y="1"/>
                    <a:pt x="2" y="1"/>
                  </a:cubicBezTo>
                  <a:cubicBezTo>
                    <a:pt x="3" y="1"/>
                    <a:pt x="3" y="1"/>
                    <a:pt x="4" y="1"/>
                  </a:cubicBezTo>
                  <a:cubicBezTo>
                    <a:pt x="4" y="1"/>
                    <a:pt x="4" y="1"/>
                    <a:pt x="4" y="1"/>
                  </a:cubicBezTo>
                  <a:cubicBezTo>
                    <a:pt x="4" y="0"/>
                    <a:pt x="3" y="0"/>
                    <a:pt x="2" y="0"/>
                  </a:cubicBezTo>
                  <a:cubicBezTo>
                    <a:pt x="2" y="0"/>
                    <a:pt x="0" y="0"/>
                    <a:pt x="0" y="1"/>
                  </a:cubicBezTo>
                  <a:cubicBezTo>
                    <a:pt x="0" y="1"/>
                    <a:pt x="1" y="1"/>
                    <a:pt x="1"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Freeform 67">
              <a:extLst>
                <a:ext uri="{FF2B5EF4-FFF2-40B4-BE49-F238E27FC236}">
                  <a16:creationId xmlns:a16="http://schemas.microsoft.com/office/drawing/2014/main" id="{1192D93F-99E4-48F4-B4AD-BC0F17A08FCB}"/>
                </a:ext>
              </a:extLst>
            </p:cNvPr>
            <p:cNvSpPr/>
            <p:nvPr/>
          </p:nvSpPr>
          <p:spPr bwMode="auto">
            <a:xfrm>
              <a:off x="4346575" y="5554663"/>
              <a:ext cx="73025" cy="17463"/>
            </a:xfrm>
            <a:custGeom>
              <a:avLst/>
              <a:gdLst>
                <a:gd name="T0" fmla="*/ 13 w 13"/>
                <a:gd name="T1" fmla="*/ 2 h 3"/>
                <a:gd name="T2" fmla="*/ 9 w 13"/>
                <a:gd name="T3" fmla="*/ 1 h 3"/>
                <a:gd name="T4" fmla="*/ 1 w 13"/>
                <a:gd name="T5" fmla="*/ 1 h 3"/>
                <a:gd name="T6" fmla="*/ 0 w 13"/>
                <a:gd name="T7" fmla="*/ 2 h 3"/>
                <a:gd name="T8" fmla="*/ 6 w 13"/>
                <a:gd name="T9" fmla="*/ 3 h 3"/>
                <a:gd name="T10" fmla="*/ 8 w 13"/>
                <a:gd name="T11" fmla="*/ 3 h 3"/>
                <a:gd name="T12" fmla="*/ 13 w 1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13" h="3">
                  <a:moveTo>
                    <a:pt x="13" y="2"/>
                  </a:moveTo>
                  <a:cubicBezTo>
                    <a:pt x="13" y="0"/>
                    <a:pt x="13" y="1"/>
                    <a:pt x="9" y="1"/>
                  </a:cubicBezTo>
                  <a:cubicBezTo>
                    <a:pt x="8" y="1"/>
                    <a:pt x="2" y="1"/>
                    <a:pt x="1" y="1"/>
                  </a:cubicBezTo>
                  <a:cubicBezTo>
                    <a:pt x="0" y="1"/>
                    <a:pt x="0" y="2"/>
                    <a:pt x="0" y="2"/>
                  </a:cubicBezTo>
                  <a:cubicBezTo>
                    <a:pt x="0" y="3"/>
                    <a:pt x="0" y="3"/>
                    <a:pt x="6" y="3"/>
                  </a:cubicBezTo>
                  <a:cubicBezTo>
                    <a:pt x="8" y="3"/>
                    <a:pt x="8" y="3"/>
                    <a:pt x="8" y="3"/>
                  </a:cubicBezTo>
                  <a:cubicBezTo>
                    <a:pt x="12" y="3"/>
                    <a:pt x="12" y="3"/>
                    <a:pt x="13"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Freeform 68">
              <a:extLst>
                <a:ext uri="{FF2B5EF4-FFF2-40B4-BE49-F238E27FC236}">
                  <a16:creationId xmlns:a16="http://schemas.microsoft.com/office/drawing/2014/main" id="{4464F822-9413-49E6-A03C-9CA6D381B964}"/>
                </a:ext>
              </a:extLst>
            </p:cNvPr>
            <p:cNvSpPr>
              <a:spLocks noEditPoints="1"/>
            </p:cNvSpPr>
            <p:nvPr/>
          </p:nvSpPr>
          <p:spPr bwMode="auto">
            <a:xfrm>
              <a:off x="4106863" y="5043488"/>
              <a:ext cx="766763" cy="777875"/>
            </a:xfrm>
            <a:custGeom>
              <a:avLst/>
              <a:gdLst>
                <a:gd name="T0" fmla="*/ 137 w 137"/>
                <a:gd name="T1" fmla="*/ 42 h 137"/>
                <a:gd name="T2" fmla="*/ 91 w 137"/>
                <a:gd name="T3" fmla="*/ 1 h 137"/>
                <a:gd name="T4" fmla="*/ 50 w 137"/>
                <a:gd name="T5" fmla="*/ 4 h 137"/>
                <a:gd name="T6" fmla="*/ 42 w 137"/>
                <a:gd name="T7" fmla="*/ 0 h 137"/>
                <a:gd name="T8" fmla="*/ 20 w 137"/>
                <a:gd name="T9" fmla="*/ 43 h 137"/>
                <a:gd name="T10" fmla="*/ 2 w 137"/>
                <a:gd name="T11" fmla="*/ 64 h 137"/>
                <a:gd name="T12" fmla="*/ 20 w 137"/>
                <a:gd name="T13" fmla="*/ 67 h 137"/>
                <a:gd name="T14" fmla="*/ 2 w 137"/>
                <a:gd name="T15" fmla="*/ 88 h 137"/>
                <a:gd name="T16" fmla="*/ 21 w 137"/>
                <a:gd name="T17" fmla="*/ 87 h 137"/>
                <a:gd name="T18" fmla="*/ 47 w 137"/>
                <a:gd name="T19" fmla="*/ 121 h 137"/>
                <a:gd name="T20" fmla="*/ 42 w 137"/>
                <a:gd name="T21" fmla="*/ 137 h 137"/>
                <a:gd name="T22" fmla="*/ 63 w 137"/>
                <a:gd name="T23" fmla="*/ 121 h 137"/>
                <a:gd name="T24" fmla="*/ 74 w 137"/>
                <a:gd name="T25" fmla="*/ 119 h 137"/>
                <a:gd name="T26" fmla="*/ 84 w 137"/>
                <a:gd name="T27" fmla="*/ 119 h 137"/>
                <a:gd name="T28" fmla="*/ 118 w 137"/>
                <a:gd name="T29" fmla="*/ 94 h 137"/>
                <a:gd name="T30" fmla="*/ 136 w 137"/>
                <a:gd name="T31" fmla="*/ 98 h 137"/>
                <a:gd name="T32" fmla="*/ 116 w 137"/>
                <a:gd name="T33" fmla="*/ 66 h 137"/>
                <a:gd name="T34" fmla="*/ 137 w 137"/>
                <a:gd name="T35" fmla="*/ 88 h 137"/>
                <a:gd name="T36" fmla="*/ 116 w 137"/>
                <a:gd name="T37" fmla="*/ 41 h 137"/>
                <a:gd name="T38" fmla="*/ 103 w 137"/>
                <a:gd name="T39" fmla="*/ 44 h 137"/>
                <a:gd name="T40" fmla="*/ 80 w 137"/>
                <a:gd name="T41" fmla="*/ 35 h 137"/>
                <a:gd name="T42" fmla="*/ 80 w 137"/>
                <a:gd name="T43" fmla="*/ 35 h 137"/>
                <a:gd name="T44" fmla="*/ 79 w 137"/>
                <a:gd name="T45" fmla="*/ 52 h 137"/>
                <a:gd name="T46" fmla="*/ 77 w 137"/>
                <a:gd name="T47" fmla="*/ 53 h 137"/>
                <a:gd name="T48" fmla="*/ 73 w 137"/>
                <a:gd name="T49" fmla="*/ 34 h 137"/>
                <a:gd name="T50" fmla="*/ 73 w 137"/>
                <a:gd name="T51" fmla="*/ 59 h 137"/>
                <a:gd name="T52" fmla="*/ 53 w 137"/>
                <a:gd name="T53" fmla="*/ 104 h 137"/>
                <a:gd name="T54" fmla="*/ 39 w 137"/>
                <a:gd name="T55" fmla="*/ 100 h 137"/>
                <a:gd name="T56" fmla="*/ 39 w 137"/>
                <a:gd name="T57" fmla="*/ 92 h 137"/>
                <a:gd name="T58" fmla="*/ 61 w 137"/>
                <a:gd name="T59" fmla="*/ 98 h 137"/>
                <a:gd name="T60" fmla="*/ 32 w 137"/>
                <a:gd name="T61" fmla="*/ 94 h 137"/>
                <a:gd name="T62" fmla="*/ 40 w 137"/>
                <a:gd name="T63" fmla="*/ 77 h 137"/>
                <a:gd name="T64" fmla="*/ 34 w 137"/>
                <a:gd name="T65" fmla="*/ 83 h 137"/>
                <a:gd name="T66" fmla="*/ 45 w 137"/>
                <a:gd name="T67" fmla="*/ 73 h 137"/>
                <a:gd name="T68" fmla="*/ 53 w 137"/>
                <a:gd name="T69" fmla="*/ 75 h 137"/>
                <a:gd name="T70" fmla="*/ 54 w 137"/>
                <a:gd name="T71" fmla="*/ 83 h 137"/>
                <a:gd name="T72" fmla="*/ 44 w 137"/>
                <a:gd name="T73" fmla="*/ 78 h 137"/>
                <a:gd name="T74" fmla="*/ 60 w 137"/>
                <a:gd name="T75" fmla="*/ 81 h 137"/>
                <a:gd name="T76" fmla="*/ 58 w 137"/>
                <a:gd name="T77" fmla="*/ 74 h 137"/>
                <a:gd name="T78" fmla="*/ 50 w 137"/>
                <a:gd name="T79" fmla="*/ 56 h 137"/>
                <a:gd name="T80" fmla="*/ 37 w 137"/>
                <a:gd name="T81" fmla="*/ 45 h 137"/>
                <a:gd name="T82" fmla="*/ 49 w 137"/>
                <a:gd name="T83" fmla="*/ 32 h 137"/>
                <a:gd name="T84" fmla="*/ 61 w 137"/>
                <a:gd name="T85" fmla="*/ 42 h 137"/>
                <a:gd name="T86" fmla="*/ 52 w 137"/>
                <a:gd name="T87" fmla="*/ 21 h 137"/>
                <a:gd name="T88" fmla="*/ 79 w 137"/>
                <a:gd name="T89" fmla="*/ 97 h 137"/>
                <a:gd name="T90" fmla="*/ 75 w 137"/>
                <a:gd name="T91" fmla="*/ 97 h 137"/>
                <a:gd name="T92" fmla="*/ 75 w 137"/>
                <a:gd name="T93" fmla="*/ 88 h 137"/>
                <a:gd name="T94" fmla="*/ 84 w 137"/>
                <a:gd name="T95" fmla="*/ 78 h 137"/>
                <a:gd name="T96" fmla="*/ 85 w 137"/>
                <a:gd name="T97" fmla="*/ 98 h 137"/>
                <a:gd name="T98" fmla="*/ 91 w 137"/>
                <a:gd name="T99" fmla="*/ 73 h 137"/>
                <a:gd name="T100" fmla="*/ 98 w 137"/>
                <a:gd name="T101" fmla="*/ 107 h 137"/>
                <a:gd name="T102" fmla="*/ 97 w 137"/>
                <a:gd name="T103" fmla="*/ 72 h 137"/>
                <a:gd name="T104" fmla="*/ 104 w 137"/>
                <a:gd name="T105" fmla="*/ 102 h 137"/>
                <a:gd name="T106" fmla="*/ 102 w 137"/>
                <a:gd name="T107" fmla="*/ 72 h 137"/>
                <a:gd name="T108" fmla="*/ 96 w 137"/>
                <a:gd name="T109" fmla="*/ 66 h 137"/>
                <a:gd name="T110" fmla="*/ 83 w 137"/>
                <a:gd name="T111" fmla="*/ 68 h 137"/>
                <a:gd name="T112" fmla="*/ 86 w 137"/>
                <a:gd name="T113" fmla="*/ 47 h 137"/>
                <a:gd name="T114" fmla="*/ 105 w 137"/>
                <a:gd name="T115" fmla="*/ 47 h 137"/>
                <a:gd name="T116" fmla="*/ 106 w 137"/>
                <a:gd name="T117" fmla="*/ 6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 h="137">
                  <a:moveTo>
                    <a:pt x="116" y="39"/>
                  </a:moveTo>
                  <a:cubicBezTo>
                    <a:pt x="116" y="40"/>
                    <a:pt x="117" y="42"/>
                    <a:pt x="118" y="43"/>
                  </a:cubicBezTo>
                  <a:cubicBezTo>
                    <a:pt x="118" y="43"/>
                    <a:pt x="118" y="43"/>
                    <a:pt x="118" y="43"/>
                  </a:cubicBezTo>
                  <a:cubicBezTo>
                    <a:pt x="136" y="61"/>
                    <a:pt x="136" y="61"/>
                    <a:pt x="136" y="61"/>
                  </a:cubicBezTo>
                  <a:cubicBezTo>
                    <a:pt x="136" y="61"/>
                    <a:pt x="136" y="61"/>
                    <a:pt x="136" y="61"/>
                  </a:cubicBezTo>
                  <a:cubicBezTo>
                    <a:pt x="137" y="61"/>
                    <a:pt x="137" y="63"/>
                    <a:pt x="137" y="64"/>
                  </a:cubicBezTo>
                  <a:cubicBezTo>
                    <a:pt x="137" y="42"/>
                    <a:pt x="137" y="42"/>
                    <a:pt x="137" y="42"/>
                  </a:cubicBezTo>
                  <a:cubicBezTo>
                    <a:pt x="137" y="41"/>
                    <a:pt x="137" y="39"/>
                    <a:pt x="136" y="39"/>
                  </a:cubicBezTo>
                  <a:cubicBezTo>
                    <a:pt x="99" y="1"/>
                    <a:pt x="99" y="1"/>
                    <a:pt x="99" y="1"/>
                  </a:cubicBezTo>
                  <a:cubicBezTo>
                    <a:pt x="98" y="0"/>
                    <a:pt x="96" y="0"/>
                    <a:pt x="95" y="0"/>
                  </a:cubicBezTo>
                  <a:cubicBezTo>
                    <a:pt x="93" y="0"/>
                    <a:pt x="93" y="0"/>
                    <a:pt x="93" y="0"/>
                  </a:cubicBezTo>
                  <a:cubicBezTo>
                    <a:pt x="93" y="0"/>
                    <a:pt x="93" y="0"/>
                    <a:pt x="93" y="0"/>
                  </a:cubicBezTo>
                  <a:cubicBezTo>
                    <a:pt x="93" y="0"/>
                    <a:pt x="93" y="0"/>
                    <a:pt x="93" y="0"/>
                  </a:cubicBezTo>
                  <a:cubicBezTo>
                    <a:pt x="92" y="0"/>
                    <a:pt x="91" y="0"/>
                    <a:pt x="91" y="1"/>
                  </a:cubicBezTo>
                  <a:cubicBezTo>
                    <a:pt x="91" y="19"/>
                    <a:pt x="91" y="19"/>
                    <a:pt x="91" y="19"/>
                  </a:cubicBezTo>
                  <a:cubicBezTo>
                    <a:pt x="91" y="20"/>
                    <a:pt x="90" y="21"/>
                    <a:pt x="89" y="21"/>
                  </a:cubicBezTo>
                  <a:cubicBezTo>
                    <a:pt x="87" y="21"/>
                    <a:pt x="87" y="21"/>
                    <a:pt x="87" y="21"/>
                  </a:cubicBezTo>
                  <a:cubicBezTo>
                    <a:pt x="87" y="4"/>
                    <a:pt x="87" y="4"/>
                    <a:pt x="87" y="4"/>
                  </a:cubicBezTo>
                  <a:cubicBezTo>
                    <a:pt x="87" y="2"/>
                    <a:pt x="85" y="0"/>
                    <a:pt x="83" y="0"/>
                  </a:cubicBezTo>
                  <a:cubicBezTo>
                    <a:pt x="54" y="0"/>
                    <a:pt x="54" y="0"/>
                    <a:pt x="54" y="0"/>
                  </a:cubicBezTo>
                  <a:cubicBezTo>
                    <a:pt x="52" y="0"/>
                    <a:pt x="50" y="2"/>
                    <a:pt x="50" y="4"/>
                  </a:cubicBezTo>
                  <a:cubicBezTo>
                    <a:pt x="50" y="21"/>
                    <a:pt x="50" y="21"/>
                    <a:pt x="50" y="21"/>
                  </a:cubicBezTo>
                  <a:cubicBezTo>
                    <a:pt x="48" y="21"/>
                    <a:pt x="48" y="21"/>
                    <a:pt x="48" y="21"/>
                  </a:cubicBezTo>
                  <a:cubicBezTo>
                    <a:pt x="47" y="21"/>
                    <a:pt x="46" y="20"/>
                    <a:pt x="46" y="19"/>
                  </a:cubicBezTo>
                  <a:cubicBezTo>
                    <a:pt x="46" y="1"/>
                    <a:pt x="46" y="1"/>
                    <a:pt x="46" y="1"/>
                  </a:cubicBezTo>
                  <a:cubicBezTo>
                    <a:pt x="46" y="0"/>
                    <a:pt x="46" y="0"/>
                    <a:pt x="45" y="0"/>
                  </a:cubicBezTo>
                  <a:cubicBezTo>
                    <a:pt x="45" y="0"/>
                    <a:pt x="45" y="0"/>
                    <a:pt x="45" y="0"/>
                  </a:cubicBezTo>
                  <a:cubicBezTo>
                    <a:pt x="42" y="0"/>
                    <a:pt x="42" y="0"/>
                    <a:pt x="42" y="0"/>
                  </a:cubicBezTo>
                  <a:cubicBezTo>
                    <a:pt x="41" y="0"/>
                    <a:pt x="40" y="0"/>
                    <a:pt x="39" y="1"/>
                  </a:cubicBezTo>
                  <a:cubicBezTo>
                    <a:pt x="2" y="39"/>
                    <a:pt x="2" y="39"/>
                    <a:pt x="2" y="39"/>
                  </a:cubicBezTo>
                  <a:cubicBezTo>
                    <a:pt x="1" y="39"/>
                    <a:pt x="0" y="41"/>
                    <a:pt x="0" y="42"/>
                  </a:cubicBezTo>
                  <a:cubicBezTo>
                    <a:pt x="0" y="64"/>
                    <a:pt x="0" y="64"/>
                    <a:pt x="0" y="64"/>
                  </a:cubicBezTo>
                  <a:cubicBezTo>
                    <a:pt x="0" y="63"/>
                    <a:pt x="1" y="61"/>
                    <a:pt x="2" y="61"/>
                  </a:cubicBezTo>
                  <a:cubicBezTo>
                    <a:pt x="2" y="61"/>
                    <a:pt x="2" y="61"/>
                    <a:pt x="2" y="61"/>
                  </a:cubicBezTo>
                  <a:cubicBezTo>
                    <a:pt x="20" y="43"/>
                    <a:pt x="20" y="43"/>
                    <a:pt x="20" y="43"/>
                  </a:cubicBezTo>
                  <a:cubicBezTo>
                    <a:pt x="20" y="43"/>
                    <a:pt x="20" y="43"/>
                    <a:pt x="20" y="43"/>
                  </a:cubicBezTo>
                  <a:cubicBezTo>
                    <a:pt x="21" y="42"/>
                    <a:pt x="21" y="40"/>
                    <a:pt x="21" y="39"/>
                  </a:cubicBezTo>
                  <a:cubicBezTo>
                    <a:pt x="21" y="41"/>
                    <a:pt x="21" y="41"/>
                    <a:pt x="21" y="41"/>
                  </a:cubicBezTo>
                  <a:cubicBezTo>
                    <a:pt x="21" y="43"/>
                    <a:pt x="21" y="43"/>
                    <a:pt x="21" y="43"/>
                  </a:cubicBezTo>
                  <a:cubicBezTo>
                    <a:pt x="21" y="44"/>
                    <a:pt x="21" y="45"/>
                    <a:pt x="20" y="46"/>
                  </a:cubicBezTo>
                  <a:cubicBezTo>
                    <a:pt x="20" y="46"/>
                    <a:pt x="20" y="46"/>
                    <a:pt x="20" y="46"/>
                  </a:cubicBezTo>
                  <a:cubicBezTo>
                    <a:pt x="2" y="64"/>
                    <a:pt x="2" y="64"/>
                    <a:pt x="2" y="64"/>
                  </a:cubicBezTo>
                  <a:cubicBezTo>
                    <a:pt x="2" y="64"/>
                    <a:pt x="2" y="64"/>
                    <a:pt x="2" y="64"/>
                  </a:cubicBezTo>
                  <a:cubicBezTo>
                    <a:pt x="1" y="65"/>
                    <a:pt x="0" y="66"/>
                    <a:pt x="0" y="68"/>
                  </a:cubicBezTo>
                  <a:cubicBezTo>
                    <a:pt x="0" y="88"/>
                    <a:pt x="0" y="88"/>
                    <a:pt x="0" y="88"/>
                  </a:cubicBezTo>
                  <a:cubicBezTo>
                    <a:pt x="0" y="87"/>
                    <a:pt x="1" y="85"/>
                    <a:pt x="2" y="84"/>
                  </a:cubicBezTo>
                  <a:cubicBezTo>
                    <a:pt x="2" y="84"/>
                    <a:pt x="2" y="84"/>
                    <a:pt x="2" y="84"/>
                  </a:cubicBezTo>
                  <a:cubicBezTo>
                    <a:pt x="20" y="67"/>
                    <a:pt x="20" y="67"/>
                    <a:pt x="20" y="67"/>
                  </a:cubicBezTo>
                  <a:cubicBezTo>
                    <a:pt x="20" y="67"/>
                    <a:pt x="20" y="67"/>
                    <a:pt x="20" y="67"/>
                  </a:cubicBezTo>
                  <a:cubicBezTo>
                    <a:pt x="21" y="66"/>
                    <a:pt x="21" y="64"/>
                    <a:pt x="21" y="63"/>
                  </a:cubicBezTo>
                  <a:cubicBezTo>
                    <a:pt x="21" y="65"/>
                    <a:pt x="21" y="65"/>
                    <a:pt x="21" y="65"/>
                  </a:cubicBezTo>
                  <a:cubicBezTo>
                    <a:pt x="21" y="66"/>
                    <a:pt x="21" y="66"/>
                    <a:pt x="21" y="66"/>
                  </a:cubicBezTo>
                  <a:cubicBezTo>
                    <a:pt x="21" y="68"/>
                    <a:pt x="21" y="69"/>
                    <a:pt x="20" y="70"/>
                  </a:cubicBezTo>
                  <a:cubicBezTo>
                    <a:pt x="20" y="70"/>
                    <a:pt x="20" y="70"/>
                    <a:pt x="20" y="70"/>
                  </a:cubicBezTo>
                  <a:cubicBezTo>
                    <a:pt x="2" y="88"/>
                    <a:pt x="2" y="88"/>
                    <a:pt x="2" y="88"/>
                  </a:cubicBezTo>
                  <a:cubicBezTo>
                    <a:pt x="2" y="88"/>
                    <a:pt x="2" y="88"/>
                    <a:pt x="2" y="88"/>
                  </a:cubicBezTo>
                  <a:cubicBezTo>
                    <a:pt x="1" y="89"/>
                    <a:pt x="0" y="90"/>
                    <a:pt x="0" y="92"/>
                  </a:cubicBezTo>
                  <a:cubicBezTo>
                    <a:pt x="0" y="95"/>
                    <a:pt x="0" y="95"/>
                    <a:pt x="0" y="95"/>
                  </a:cubicBezTo>
                  <a:cubicBezTo>
                    <a:pt x="0" y="96"/>
                    <a:pt x="1" y="97"/>
                    <a:pt x="2" y="98"/>
                  </a:cubicBezTo>
                  <a:cubicBezTo>
                    <a:pt x="7" y="103"/>
                    <a:pt x="7" y="103"/>
                    <a:pt x="7" y="103"/>
                  </a:cubicBezTo>
                  <a:cubicBezTo>
                    <a:pt x="20" y="91"/>
                    <a:pt x="20" y="91"/>
                    <a:pt x="20" y="91"/>
                  </a:cubicBezTo>
                  <a:cubicBezTo>
                    <a:pt x="20" y="91"/>
                    <a:pt x="20" y="91"/>
                    <a:pt x="20" y="91"/>
                  </a:cubicBezTo>
                  <a:cubicBezTo>
                    <a:pt x="21" y="90"/>
                    <a:pt x="21" y="88"/>
                    <a:pt x="21" y="87"/>
                  </a:cubicBezTo>
                  <a:cubicBezTo>
                    <a:pt x="21" y="89"/>
                    <a:pt x="21" y="89"/>
                    <a:pt x="21" y="89"/>
                  </a:cubicBezTo>
                  <a:cubicBezTo>
                    <a:pt x="21" y="90"/>
                    <a:pt x="21" y="90"/>
                    <a:pt x="21" y="90"/>
                  </a:cubicBezTo>
                  <a:cubicBezTo>
                    <a:pt x="21" y="92"/>
                    <a:pt x="21" y="93"/>
                    <a:pt x="20" y="94"/>
                  </a:cubicBezTo>
                  <a:cubicBezTo>
                    <a:pt x="20" y="94"/>
                    <a:pt x="20" y="94"/>
                    <a:pt x="20" y="94"/>
                  </a:cubicBezTo>
                  <a:cubicBezTo>
                    <a:pt x="9" y="105"/>
                    <a:pt x="9" y="105"/>
                    <a:pt x="9" y="105"/>
                  </a:cubicBezTo>
                  <a:cubicBezTo>
                    <a:pt x="39" y="135"/>
                    <a:pt x="39" y="135"/>
                    <a:pt x="39" y="135"/>
                  </a:cubicBezTo>
                  <a:cubicBezTo>
                    <a:pt x="47" y="121"/>
                    <a:pt x="47" y="121"/>
                    <a:pt x="47" y="121"/>
                  </a:cubicBezTo>
                  <a:cubicBezTo>
                    <a:pt x="48" y="119"/>
                    <a:pt x="49" y="119"/>
                    <a:pt x="51" y="119"/>
                  </a:cubicBezTo>
                  <a:cubicBezTo>
                    <a:pt x="52" y="119"/>
                    <a:pt x="52" y="119"/>
                    <a:pt x="52" y="119"/>
                  </a:cubicBezTo>
                  <a:cubicBezTo>
                    <a:pt x="54" y="119"/>
                    <a:pt x="54" y="119"/>
                    <a:pt x="54" y="119"/>
                  </a:cubicBezTo>
                  <a:cubicBezTo>
                    <a:pt x="52" y="119"/>
                    <a:pt x="51" y="119"/>
                    <a:pt x="50" y="121"/>
                  </a:cubicBezTo>
                  <a:cubicBezTo>
                    <a:pt x="50" y="121"/>
                    <a:pt x="50" y="121"/>
                    <a:pt x="50" y="121"/>
                  </a:cubicBezTo>
                  <a:cubicBezTo>
                    <a:pt x="41" y="137"/>
                    <a:pt x="41" y="137"/>
                    <a:pt x="41" y="137"/>
                  </a:cubicBezTo>
                  <a:cubicBezTo>
                    <a:pt x="42" y="137"/>
                    <a:pt x="42" y="137"/>
                    <a:pt x="42" y="137"/>
                  </a:cubicBezTo>
                  <a:cubicBezTo>
                    <a:pt x="58" y="137"/>
                    <a:pt x="58" y="137"/>
                    <a:pt x="58" y="137"/>
                  </a:cubicBezTo>
                  <a:cubicBezTo>
                    <a:pt x="61" y="121"/>
                    <a:pt x="61" y="121"/>
                    <a:pt x="61" y="121"/>
                  </a:cubicBezTo>
                  <a:cubicBezTo>
                    <a:pt x="61" y="119"/>
                    <a:pt x="62" y="119"/>
                    <a:pt x="63" y="119"/>
                  </a:cubicBezTo>
                  <a:cubicBezTo>
                    <a:pt x="63" y="119"/>
                    <a:pt x="63" y="119"/>
                    <a:pt x="63" y="119"/>
                  </a:cubicBezTo>
                  <a:cubicBezTo>
                    <a:pt x="64" y="119"/>
                    <a:pt x="64" y="119"/>
                    <a:pt x="64" y="119"/>
                  </a:cubicBezTo>
                  <a:cubicBezTo>
                    <a:pt x="66" y="119"/>
                    <a:pt x="66" y="119"/>
                    <a:pt x="66" y="119"/>
                  </a:cubicBezTo>
                  <a:cubicBezTo>
                    <a:pt x="65" y="119"/>
                    <a:pt x="64" y="119"/>
                    <a:pt x="63" y="121"/>
                  </a:cubicBezTo>
                  <a:cubicBezTo>
                    <a:pt x="60" y="137"/>
                    <a:pt x="60" y="137"/>
                    <a:pt x="60" y="137"/>
                  </a:cubicBezTo>
                  <a:cubicBezTo>
                    <a:pt x="77" y="137"/>
                    <a:pt x="77" y="137"/>
                    <a:pt x="77" y="137"/>
                  </a:cubicBezTo>
                  <a:cubicBezTo>
                    <a:pt x="74" y="121"/>
                    <a:pt x="74" y="121"/>
                    <a:pt x="74" y="121"/>
                  </a:cubicBezTo>
                  <a:cubicBezTo>
                    <a:pt x="74" y="119"/>
                    <a:pt x="73" y="119"/>
                    <a:pt x="72" y="119"/>
                  </a:cubicBezTo>
                  <a:cubicBezTo>
                    <a:pt x="74" y="119"/>
                    <a:pt x="74" y="119"/>
                    <a:pt x="74" y="119"/>
                  </a:cubicBezTo>
                  <a:cubicBezTo>
                    <a:pt x="74" y="119"/>
                    <a:pt x="74" y="119"/>
                    <a:pt x="74" y="119"/>
                  </a:cubicBezTo>
                  <a:cubicBezTo>
                    <a:pt x="74" y="119"/>
                    <a:pt x="74" y="119"/>
                    <a:pt x="74" y="119"/>
                  </a:cubicBezTo>
                  <a:cubicBezTo>
                    <a:pt x="76" y="119"/>
                    <a:pt x="77" y="119"/>
                    <a:pt x="77" y="121"/>
                  </a:cubicBezTo>
                  <a:cubicBezTo>
                    <a:pt x="80" y="137"/>
                    <a:pt x="80" y="137"/>
                    <a:pt x="80" y="137"/>
                  </a:cubicBezTo>
                  <a:cubicBezTo>
                    <a:pt x="95" y="137"/>
                    <a:pt x="95" y="137"/>
                    <a:pt x="95" y="137"/>
                  </a:cubicBezTo>
                  <a:cubicBezTo>
                    <a:pt x="96" y="137"/>
                    <a:pt x="96" y="137"/>
                    <a:pt x="97" y="137"/>
                  </a:cubicBezTo>
                  <a:cubicBezTo>
                    <a:pt x="88" y="121"/>
                    <a:pt x="88" y="121"/>
                    <a:pt x="88" y="121"/>
                  </a:cubicBezTo>
                  <a:cubicBezTo>
                    <a:pt x="88" y="121"/>
                    <a:pt x="88" y="121"/>
                    <a:pt x="88" y="121"/>
                  </a:cubicBezTo>
                  <a:cubicBezTo>
                    <a:pt x="87" y="119"/>
                    <a:pt x="86" y="119"/>
                    <a:pt x="84" y="119"/>
                  </a:cubicBezTo>
                  <a:cubicBezTo>
                    <a:pt x="86" y="119"/>
                    <a:pt x="86" y="119"/>
                    <a:pt x="86" y="119"/>
                  </a:cubicBezTo>
                  <a:cubicBezTo>
                    <a:pt x="87" y="119"/>
                    <a:pt x="87" y="119"/>
                    <a:pt x="87" y="119"/>
                  </a:cubicBezTo>
                  <a:cubicBezTo>
                    <a:pt x="89" y="119"/>
                    <a:pt x="90" y="119"/>
                    <a:pt x="91" y="121"/>
                  </a:cubicBezTo>
                  <a:cubicBezTo>
                    <a:pt x="99" y="135"/>
                    <a:pt x="99" y="135"/>
                    <a:pt x="99" y="135"/>
                  </a:cubicBezTo>
                  <a:cubicBezTo>
                    <a:pt x="129" y="105"/>
                    <a:pt x="129" y="105"/>
                    <a:pt x="129" y="105"/>
                  </a:cubicBezTo>
                  <a:cubicBezTo>
                    <a:pt x="118" y="94"/>
                    <a:pt x="118" y="94"/>
                    <a:pt x="118" y="94"/>
                  </a:cubicBezTo>
                  <a:cubicBezTo>
                    <a:pt x="118" y="94"/>
                    <a:pt x="118" y="94"/>
                    <a:pt x="118" y="94"/>
                  </a:cubicBezTo>
                  <a:cubicBezTo>
                    <a:pt x="117" y="93"/>
                    <a:pt x="116" y="92"/>
                    <a:pt x="116" y="90"/>
                  </a:cubicBezTo>
                  <a:cubicBezTo>
                    <a:pt x="116" y="89"/>
                    <a:pt x="116" y="89"/>
                    <a:pt x="116" y="89"/>
                  </a:cubicBezTo>
                  <a:cubicBezTo>
                    <a:pt x="116" y="87"/>
                    <a:pt x="116" y="87"/>
                    <a:pt x="116" y="87"/>
                  </a:cubicBezTo>
                  <a:cubicBezTo>
                    <a:pt x="116" y="88"/>
                    <a:pt x="117" y="90"/>
                    <a:pt x="118" y="91"/>
                  </a:cubicBezTo>
                  <a:cubicBezTo>
                    <a:pt x="118" y="91"/>
                    <a:pt x="118" y="91"/>
                    <a:pt x="118" y="91"/>
                  </a:cubicBezTo>
                  <a:cubicBezTo>
                    <a:pt x="131" y="103"/>
                    <a:pt x="131" y="103"/>
                    <a:pt x="131" y="103"/>
                  </a:cubicBezTo>
                  <a:cubicBezTo>
                    <a:pt x="136" y="98"/>
                    <a:pt x="136" y="98"/>
                    <a:pt x="136" y="98"/>
                  </a:cubicBezTo>
                  <a:cubicBezTo>
                    <a:pt x="137" y="97"/>
                    <a:pt x="137" y="96"/>
                    <a:pt x="137" y="95"/>
                  </a:cubicBezTo>
                  <a:cubicBezTo>
                    <a:pt x="137" y="92"/>
                    <a:pt x="137" y="92"/>
                    <a:pt x="137" y="92"/>
                  </a:cubicBezTo>
                  <a:cubicBezTo>
                    <a:pt x="137" y="90"/>
                    <a:pt x="137" y="89"/>
                    <a:pt x="136" y="88"/>
                  </a:cubicBezTo>
                  <a:cubicBezTo>
                    <a:pt x="136" y="88"/>
                    <a:pt x="136" y="88"/>
                    <a:pt x="136" y="88"/>
                  </a:cubicBezTo>
                  <a:cubicBezTo>
                    <a:pt x="118" y="70"/>
                    <a:pt x="118" y="70"/>
                    <a:pt x="118" y="70"/>
                  </a:cubicBezTo>
                  <a:cubicBezTo>
                    <a:pt x="118" y="70"/>
                    <a:pt x="118" y="70"/>
                    <a:pt x="118" y="70"/>
                  </a:cubicBezTo>
                  <a:cubicBezTo>
                    <a:pt x="117" y="69"/>
                    <a:pt x="116" y="68"/>
                    <a:pt x="116" y="66"/>
                  </a:cubicBezTo>
                  <a:cubicBezTo>
                    <a:pt x="116" y="65"/>
                    <a:pt x="116" y="65"/>
                    <a:pt x="116" y="65"/>
                  </a:cubicBezTo>
                  <a:cubicBezTo>
                    <a:pt x="116" y="63"/>
                    <a:pt x="116" y="63"/>
                    <a:pt x="116" y="63"/>
                  </a:cubicBezTo>
                  <a:cubicBezTo>
                    <a:pt x="116" y="64"/>
                    <a:pt x="117" y="66"/>
                    <a:pt x="118" y="67"/>
                  </a:cubicBezTo>
                  <a:cubicBezTo>
                    <a:pt x="118" y="67"/>
                    <a:pt x="118" y="67"/>
                    <a:pt x="118" y="67"/>
                  </a:cubicBezTo>
                  <a:cubicBezTo>
                    <a:pt x="136" y="84"/>
                    <a:pt x="136" y="84"/>
                    <a:pt x="136" y="84"/>
                  </a:cubicBezTo>
                  <a:cubicBezTo>
                    <a:pt x="136" y="84"/>
                    <a:pt x="136" y="84"/>
                    <a:pt x="136" y="84"/>
                  </a:cubicBezTo>
                  <a:cubicBezTo>
                    <a:pt x="137" y="85"/>
                    <a:pt x="137" y="87"/>
                    <a:pt x="137" y="88"/>
                  </a:cubicBezTo>
                  <a:cubicBezTo>
                    <a:pt x="137" y="68"/>
                    <a:pt x="137" y="68"/>
                    <a:pt x="137" y="68"/>
                  </a:cubicBezTo>
                  <a:cubicBezTo>
                    <a:pt x="137" y="66"/>
                    <a:pt x="137" y="65"/>
                    <a:pt x="136" y="64"/>
                  </a:cubicBezTo>
                  <a:cubicBezTo>
                    <a:pt x="136" y="64"/>
                    <a:pt x="136" y="64"/>
                    <a:pt x="136" y="64"/>
                  </a:cubicBezTo>
                  <a:cubicBezTo>
                    <a:pt x="118" y="46"/>
                    <a:pt x="118" y="46"/>
                    <a:pt x="118" y="46"/>
                  </a:cubicBezTo>
                  <a:cubicBezTo>
                    <a:pt x="118" y="46"/>
                    <a:pt x="118" y="46"/>
                    <a:pt x="118" y="46"/>
                  </a:cubicBezTo>
                  <a:cubicBezTo>
                    <a:pt x="117" y="45"/>
                    <a:pt x="116" y="44"/>
                    <a:pt x="116" y="43"/>
                  </a:cubicBezTo>
                  <a:cubicBezTo>
                    <a:pt x="116" y="41"/>
                    <a:pt x="116" y="41"/>
                    <a:pt x="116" y="41"/>
                  </a:cubicBezTo>
                  <a:lnTo>
                    <a:pt x="116" y="39"/>
                  </a:lnTo>
                  <a:close/>
                  <a:moveTo>
                    <a:pt x="83" y="40"/>
                  </a:moveTo>
                  <a:cubicBezTo>
                    <a:pt x="84" y="35"/>
                    <a:pt x="84" y="35"/>
                    <a:pt x="87" y="34"/>
                  </a:cubicBezTo>
                  <a:cubicBezTo>
                    <a:pt x="91" y="33"/>
                    <a:pt x="93" y="33"/>
                    <a:pt x="95" y="33"/>
                  </a:cubicBezTo>
                  <a:cubicBezTo>
                    <a:pt x="97" y="33"/>
                    <a:pt x="101" y="33"/>
                    <a:pt x="105" y="34"/>
                  </a:cubicBezTo>
                  <a:cubicBezTo>
                    <a:pt x="106" y="35"/>
                    <a:pt x="106" y="36"/>
                    <a:pt x="106" y="42"/>
                  </a:cubicBezTo>
                  <a:cubicBezTo>
                    <a:pt x="106" y="44"/>
                    <a:pt x="105" y="44"/>
                    <a:pt x="103" y="44"/>
                  </a:cubicBezTo>
                  <a:cubicBezTo>
                    <a:pt x="101" y="44"/>
                    <a:pt x="100" y="44"/>
                    <a:pt x="97" y="44"/>
                  </a:cubicBezTo>
                  <a:cubicBezTo>
                    <a:pt x="96" y="42"/>
                    <a:pt x="95" y="37"/>
                    <a:pt x="94" y="38"/>
                  </a:cubicBezTo>
                  <a:cubicBezTo>
                    <a:pt x="93" y="38"/>
                    <a:pt x="94" y="38"/>
                    <a:pt x="92" y="41"/>
                  </a:cubicBezTo>
                  <a:cubicBezTo>
                    <a:pt x="92" y="41"/>
                    <a:pt x="91" y="43"/>
                    <a:pt x="91" y="43"/>
                  </a:cubicBezTo>
                  <a:cubicBezTo>
                    <a:pt x="89" y="44"/>
                    <a:pt x="87" y="44"/>
                    <a:pt x="85" y="44"/>
                  </a:cubicBezTo>
                  <a:cubicBezTo>
                    <a:pt x="83" y="44"/>
                    <a:pt x="83" y="43"/>
                    <a:pt x="83" y="40"/>
                  </a:cubicBezTo>
                  <a:close/>
                  <a:moveTo>
                    <a:pt x="80" y="35"/>
                  </a:moveTo>
                  <a:cubicBezTo>
                    <a:pt x="80" y="34"/>
                    <a:pt x="80" y="34"/>
                    <a:pt x="80" y="34"/>
                  </a:cubicBezTo>
                  <a:cubicBezTo>
                    <a:pt x="82" y="34"/>
                    <a:pt x="82" y="34"/>
                    <a:pt x="82" y="35"/>
                  </a:cubicBezTo>
                  <a:cubicBezTo>
                    <a:pt x="82" y="36"/>
                    <a:pt x="82" y="39"/>
                    <a:pt x="82" y="41"/>
                  </a:cubicBezTo>
                  <a:cubicBezTo>
                    <a:pt x="82" y="43"/>
                    <a:pt x="82" y="45"/>
                    <a:pt x="81" y="46"/>
                  </a:cubicBezTo>
                  <a:cubicBezTo>
                    <a:pt x="80" y="46"/>
                    <a:pt x="79" y="46"/>
                    <a:pt x="79" y="45"/>
                  </a:cubicBezTo>
                  <a:cubicBezTo>
                    <a:pt x="79" y="44"/>
                    <a:pt x="79" y="43"/>
                    <a:pt x="80" y="42"/>
                  </a:cubicBezTo>
                  <a:cubicBezTo>
                    <a:pt x="80" y="40"/>
                    <a:pt x="80" y="37"/>
                    <a:pt x="80" y="35"/>
                  </a:cubicBezTo>
                  <a:close/>
                  <a:moveTo>
                    <a:pt x="80" y="49"/>
                  </a:moveTo>
                  <a:cubicBezTo>
                    <a:pt x="82" y="50"/>
                    <a:pt x="82" y="54"/>
                    <a:pt x="82" y="54"/>
                  </a:cubicBezTo>
                  <a:cubicBezTo>
                    <a:pt x="82" y="55"/>
                    <a:pt x="82" y="59"/>
                    <a:pt x="82" y="60"/>
                  </a:cubicBezTo>
                  <a:cubicBezTo>
                    <a:pt x="82" y="61"/>
                    <a:pt x="82" y="62"/>
                    <a:pt x="82" y="63"/>
                  </a:cubicBezTo>
                  <a:cubicBezTo>
                    <a:pt x="81" y="63"/>
                    <a:pt x="81" y="63"/>
                    <a:pt x="80" y="63"/>
                  </a:cubicBezTo>
                  <a:cubicBezTo>
                    <a:pt x="79" y="63"/>
                    <a:pt x="79" y="59"/>
                    <a:pt x="79" y="58"/>
                  </a:cubicBezTo>
                  <a:cubicBezTo>
                    <a:pt x="79" y="57"/>
                    <a:pt x="79" y="54"/>
                    <a:pt x="79" y="52"/>
                  </a:cubicBezTo>
                  <a:cubicBezTo>
                    <a:pt x="78" y="49"/>
                    <a:pt x="79" y="50"/>
                    <a:pt x="80" y="49"/>
                  </a:cubicBezTo>
                  <a:close/>
                  <a:moveTo>
                    <a:pt x="75" y="47"/>
                  </a:moveTo>
                  <a:cubicBezTo>
                    <a:pt x="75" y="45"/>
                    <a:pt x="76" y="39"/>
                    <a:pt x="75" y="37"/>
                  </a:cubicBezTo>
                  <a:cubicBezTo>
                    <a:pt x="76" y="36"/>
                    <a:pt x="75" y="35"/>
                    <a:pt x="76" y="34"/>
                  </a:cubicBezTo>
                  <a:cubicBezTo>
                    <a:pt x="76" y="33"/>
                    <a:pt x="76" y="33"/>
                    <a:pt x="77" y="33"/>
                  </a:cubicBezTo>
                  <a:cubicBezTo>
                    <a:pt x="79" y="33"/>
                    <a:pt x="78" y="38"/>
                    <a:pt x="78" y="38"/>
                  </a:cubicBezTo>
                  <a:cubicBezTo>
                    <a:pt x="78" y="42"/>
                    <a:pt x="77" y="51"/>
                    <a:pt x="77" y="53"/>
                  </a:cubicBezTo>
                  <a:cubicBezTo>
                    <a:pt x="77" y="57"/>
                    <a:pt x="78" y="67"/>
                    <a:pt x="77" y="68"/>
                  </a:cubicBezTo>
                  <a:cubicBezTo>
                    <a:pt x="77" y="68"/>
                    <a:pt x="76" y="69"/>
                    <a:pt x="76" y="68"/>
                  </a:cubicBezTo>
                  <a:cubicBezTo>
                    <a:pt x="75" y="65"/>
                    <a:pt x="75" y="61"/>
                    <a:pt x="74" y="57"/>
                  </a:cubicBezTo>
                  <a:cubicBezTo>
                    <a:pt x="74" y="53"/>
                    <a:pt x="75" y="49"/>
                    <a:pt x="75" y="47"/>
                  </a:cubicBezTo>
                  <a:close/>
                  <a:moveTo>
                    <a:pt x="71" y="41"/>
                  </a:moveTo>
                  <a:cubicBezTo>
                    <a:pt x="72" y="38"/>
                    <a:pt x="71" y="35"/>
                    <a:pt x="72" y="35"/>
                  </a:cubicBezTo>
                  <a:cubicBezTo>
                    <a:pt x="72" y="34"/>
                    <a:pt x="73" y="34"/>
                    <a:pt x="73" y="34"/>
                  </a:cubicBezTo>
                  <a:cubicBezTo>
                    <a:pt x="74" y="35"/>
                    <a:pt x="75" y="44"/>
                    <a:pt x="72" y="46"/>
                  </a:cubicBezTo>
                  <a:cubicBezTo>
                    <a:pt x="72" y="46"/>
                    <a:pt x="71" y="46"/>
                    <a:pt x="71" y="45"/>
                  </a:cubicBezTo>
                  <a:cubicBezTo>
                    <a:pt x="70" y="45"/>
                    <a:pt x="71" y="43"/>
                    <a:pt x="71" y="41"/>
                  </a:cubicBezTo>
                  <a:close/>
                  <a:moveTo>
                    <a:pt x="70" y="53"/>
                  </a:moveTo>
                  <a:cubicBezTo>
                    <a:pt x="70" y="49"/>
                    <a:pt x="70" y="49"/>
                    <a:pt x="71" y="48"/>
                  </a:cubicBezTo>
                  <a:cubicBezTo>
                    <a:pt x="72" y="47"/>
                    <a:pt x="73" y="48"/>
                    <a:pt x="73" y="48"/>
                  </a:cubicBezTo>
                  <a:cubicBezTo>
                    <a:pt x="74" y="50"/>
                    <a:pt x="73" y="56"/>
                    <a:pt x="73" y="59"/>
                  </a:cubicBezTo>
                  <a:cubicBezTo>
                    <a:pt x="72" y="61"/>
                    <a:pt x="73" y="64"/>
                    <a:pt x="72" y="65"/>
                  </a:cubicBezTo>
                  <a:cubicBezTo>
                    <a:pt x="71" y="65"/>
                    <a:pt x="70" y="65"/>
                    <a:pt x="70" y="64"/>
                  </a:cubicBezTo>
                  <a:cubicBezTo>
                    <a:pt x="70" y="61"/>
                    <a:pt x="70" y="53"/>
                    <a:pt x="70" y="53"/>
                  </a:cubicBezTo>
                  <a:close/>
                  <a:moveTo>
                    <a:pt x="67" y="96"/>
                  </a:moveTo>
                  <a:cubicBezTo>
                    <a:pt x="67" y="101"/>
                    <a:pt x="66" y="101"/>
                    <a:pt x="63" y="101"/>
                  </a:cubicBezTo>
                  <a:cubicBezTo>
                    <a:pt x="60" y="101"/>
                    <a:pt x="53" y="101"/>
                    <a:pt x="53" y="101"/>
                  </a:cubicBezTo>
                  <a:cubicBezTo>
                    <a:pt x="53" y="101"/>
                    <a:pt x="53" y="103"/>
                    <a:pt x="53" y="104"/>
                  </a:cubicBezTo>
                  <a:cubicBezTo>
                    <a:pt x="53" y="106"/>
                    <a:pt x="54" y="106"/>
                    <a:pt x="47" y="107"/>
                  </a:cubicBezTo>
                  <a:cubicBezTo>
                    <a:pt x="45" y="107"/>
                    <a:pt x="34" y="107"/>
                    <a:pt x="33" y="105"/>
                  </a:cubicBezTo>
                  <a:cubicBezTo>
                    <a:pt x="32" y="104"/>
                    <a:pt x="31" y="102"/>
                    <a:pt x="32" y="100"/>
                  </a:cubicBezTo>
                  <a:cubicBezTo>
                    <a:pt x="33" y="101"/>
                    <a:pt x="35" y="102"/>
                    <a:pt x="38" y="103"/>
                  </a:cubicBezTo>
                  <a:cubicBezTo>
                    <a:pt x="41" y="104"/>
                    <a:pt x="45" y="104"/>
                    <a:pt x="48" y="104"/>
                  </a:cubicBezTo>
                  <a:cubicBezTo>
                    <a:pt x="49" y="103"/>
                    <a:pt x="49" y="103"/>
                    <a:pt x="49" y="101"/>
                  </a:cubicBezTo>
                  <a:cubicBezTo>
                    <a:pt x="44" y="101"/>
                    <a:pt x="41" y="100"/>
                    <a:pt x="39" y="100"/>
                  </a:cubicBezTo>
                  <a:cubicBezTo>
                    <a:pt x="37" y="100"/>
                    <a:pt x="37" y="100"/>
                    <a:pt x="37" y="99"/>
                  </a:cubicBezTo>
                  <a:cubicBezTo>
                    <a:pt x="37" y="97"/>
                    <a:pt x="37" y="97"/>
                    <a:pt x="39" y="97"/>
                  </a:cubicBezTo>
                  <a:cubicBezTo>
                    <a:pt x="40" y="97"/>
                    <a:pt x="42" y="98"/>
                    <a:pt x="45" y="98"/>
                  </a:cubicBezTo>
                  <a:cubicBezTo>
                    <a:pt x="47" y="98"/>
                    <a:pt x="49" y="98"/>
                    <a:pt x="49" y="98"/>
                  </a:cubicBezTo>
                  <a:cubicBezTo>
                    <a:pt x="49" y="95"/>
                    <a:pt x="49" y="95"/>
                    <a:pt x="49" y="95"/>
                  </a:cubicBezTo>
                  <a:cubicBezTo>
                    <a:pt x="49" y="95"/>
                    <a:pt x="45" y="95"/>
                    <a:pt x="44" y="95"/>
                  </a:cubicBezTo>
                  <a:cubicBezTo>
                    <a:pt x="39" y="95"/>
                    <a:pt x="40" y="94"/>
                    <a:pt x="39" y="92"/>
                  </a:cubicBezTo>
                  <a:cubicBezTo>
                    <a:pt x="40" y="88"/>
                    <a:pt x="40" y="89"/>
                    <a:pt x="43" y="89"/>
                  </a:cubicBezTo>
                  <a:cubicBezTo>
                    <a:pt x="46" y="89"/>
                    <a:pt x="55" y="89"/>
                    <a:pt x="57" y="89"/>
                  </a:cubicBezTo>
                  <a:cubicBezTo>
                    <a:pt x="60" y="89"/>
                    <a:pt x="60" y="89"/>
                    <a:pt x="60" y="92"/>
                  </a:cubicBezTo>
                  <a:cubicBezTo>
                    <a:pt x="60" y="94"/>
                    <a:pt x="60" y="95"/>
                    <a:pt x="57" y="95"/>
                  </a:cubicBezTo>
                  <a:cubicBezTo>
                    <a:pt x="56" y="95"/>
                    <a:pt x="53" y="95"/>
                    <a:pt x="53" y="95"/>
                  </a:cubicBezTo>
                  <a:cubicBezTo>
                    <a:pt x="53" y="98"/>
                    <a:pt x="53" y="98"/>
                    <a:pt x="53" y="98"/>
                  </a:cubicBezTo>
                  <a:cubicBezTo>
                    <a:pt x="61" y="98"/>
                    <a:pt x="61" y="98"/>
                    <a:pt x="61" y="98"/>
                  </a:cubicBezTo>
                  <a:cubicBezTo>
                    <a:pt x="61" y="98"/>
                    <a:pt x="63" y="98"/>
                    <a:pt x="63" y="95"/>
                  </a:cubicBezTo>
                  <a:cubicBezTo>
                    <a:pt x="63" y="93"/>
                    <a:pt x="64" y="90"/>
                    <a:pt x="64" y="90"/>
                  </a:cubicBezTo>
                  <a:cubicBezTo>
                    <a:pt x="64" y="90"/>
                    <a:pt x="64" y="87"/>
                    <a:pt x="61" y="87"/>
                  </a:cubicBezTo>
                  <a:cubicBezTo>
                    <a:pt x="59" y="87"/>
                    <a:pt x="46" y="87"/>
                    <a:pt x="41" y="87"/>
                  </a:cubicBezTo>
                  <a:cubicBezTo>
                    <a:pt x="37" y="87"/>
                    <a:pt x="37" y="88"/>
                    <a:pt x="36" y="89"/>
                  </a:cubicBezTo>
                  <a:cubicBezTo>
                    <a:pt x="36" y="91"/>
                    <a:pt x="36" y="97"/>
                    <a:pt x="34" y="97"/>
                  </a:cubicBezTo>
                  <a:cubicBezTo>
                    <a:pt x="31" y="96"/>
                    <a:pt x="32" y="96"/>
                    <a:pt x="32" y="94"/>
                  </a:cubicBezTo>
                  <a:cubicBezTo>
                    <a:pt x="32" y="92"/>
                    <a:pt x="33" y="89"/>
                    <a:pt x="33" y="87"/>
                  </a:cubicBezTo>
                  <a:cubicBezTo>
                    <a:pt x="34" y="85"/>
                    <a:pt x="34" y="84"/>
                    <a:pt x="44" y="84"/>
                  </a:cubicBezTo>
                  <a:cubicBezTo>
                    <a:pt x="49" y="84"/>
                    <a:pt x="62" y="84"/>
                    <a:pt x="62" y="84"/>
                  </a:cubicBezTo>
                  <a:cubicBezTo>
                    <a:pt x="65" y="84"/>
                    <a:pt x="66" y="84"/>
                    <a:pt x="67" y="87"/>
                  </a:cubicBezTo>
                  <a:cubicBezTo>
                    <a:pt x="67" y="92"/>
                    <a:pt x="67" y="93"/>
                    <a:pt x="67" y="96"/>
                  </a:cubicBezTo>
                  <a:close/>
                  <a:moveTo>
                    <a:pt x="37" y="76"/>
                  </a:moveTo>
                  <a:cubicBezTo>
                    <a:pt x="37" y="77"/>
                    <a:pt x="38" y="77"/>
                    <a:pt x="40" y="77"/>
                  </a:cubicBezTo>
                  <a:cubicBezTo>
                    <a:pt x="42" y="77"/>
                    <a:pt x="42" y="76"/>
                    <a:pt x="42" y="78"/>
                  </a:cubicBezTo>
                  <a:cubicBezTo>
                    <a:pt x="42" y="78"/>
                    <a:pt x="42" y="79"/>
                    <a:pt x="41" y="79"/>
                  </a:cubicBezTo>
                  <a:cubicBezTo>
                    <a:pt x="36" y="79"/>
                    <a:pt x="37" y="79"/>
                    <a:pt x="37" y="80"/>
                  </a:cubicBezTo>
                  <a:cubicBezTo>
                    <a:pt x="37" y="81"/>
                    <a:pt x="37" y="81"/>
                    <a:pt x="40" y="80"/>
                  </a:cubicBezTo>
                  <a:cubicBezTo>
                    <a:pt x="42" y="80"/>
                    <a:pt x="42" y="80"/>
                    <a:pt x="42" y="81"/>
                  </a:cubicBezTo>
                  <a:cubicBezTo>
                    <a:pt x="43" y="82"/>
                    <a:pt x="42" y="83"/>
                    <a:pt x="42" y="83"/>
                  </a:cubicBezTo>
                  <a:cubicBezTo>
                    <a:pt x="41" y="83"/>
                    <a:pt x="36" y="83"/>
                    <a:pt x="34" y="83"/>
                  </a:cubicBezTo>
                  <a:cubicBezTo>
                    <a:pt x="33" y="83"/>
                    <a:pt x="33" y="83"/>
                    <a:pt x="33" y="80"/>
                  </a:cubicBezTo>
                  <a:cubicBezTo>
                    <a:pt x="33" y="78"/>
                    <a:pt x="33" y="75"/>
                    <a:pt x="34" y="73"/>
                  </a:cubicBezTo>
                  <a:cubicBezTo>
                    <a:pt x="35" y="72"/>
                    <a:pt x="35" y="72"/>
                    <a:pt x="40" y="72"/>
                  </a:cubicBezTo>
                  <a:cubicBezTo>
                    <a:pt x="43" y="72"/>
                    <a:pt x="43" y="72"/>
                    <a:pt x="43" y="74"/>
                  </a:cubicBezTo>
                  <a:cubicBezTo>
                    <a:pt x="43" y="74"/>
                    <a:pt x="43" y="74"/>
                    <a:pt x="38" y="75"/>
                  </a:cubicBezTo>
                  <a:cubicBezTo>
                    <a:pt x="36" y="75"/>
                    <a:pt x="37" y="75"/>
                    <a:pt x="37" y="76"/>
                  </a:cubicBezTo>
                  <a:close/>
                  <a:moveTo>
                    <a:pt x="45" y="73"/>
                  </a:moveTo>
                  <a:cubicBezTo>
                    <a:pt x="44" y="73"/>
                    <a:pt x="45" y="72"/>
                    <a:pt x="46" y="72"/>
                  </a:cubicBezTo>
                  <a:cubicBezTo>
                    <a:pt x="46" y="72"/>
                    <a:pt x="48" y="73"/>
                    <a:pt x="49" y="73"/>
                  </a:cubicBezTo>
                  <a:cubicBezTo>
                    <a:pt x="49" y="73"/>
                    <a:pt x="50" y="73"/>
                    <a:pt x="50" y="74"/>
                  </a:cubicBezTo>
                  <a:cubicBezTo>
                    <a:pt x="51" y="74"/>
                    <a:pt x="51" y="74"/>
                    <a:pt x="51" y="73"/>
                  </a:cubicBezTo>
                  <a:cubicBezTo>
                    <a:pt x="52" y="73"/>
                    <a:pt x="54" y="72"/>
                    <a:pt x="55" y="72"/>
                  </a:cubicBezTo>
                  <a:cubicBezTo>
                    <a:pt x="55" y="72"/>
                    <a:pt x="56" y="73"/>
                    <a:pt x="56" y="74"/>
                  </a:cubicBezTo>
                  <a:cubicBezTo>
                    <a:pt x="55" y="74"/>
                    <a:pt x="54" y="75"/>
                    <a:pt x="53" y="75"/>
                  </a:cubicBezTo>
                  <a:cubicBezTo>
                    <a:pt x="54" y="76"/>
                    <a:pt x="54" y="76"/>
                    <a:pt x="55" y="76"/>
                  </a:cubicBezTo>
                  <a:cubicBezTo>
                    <a:pt x="56" y="77"/>
                    <a:pt x="56" y="77"/>
                    <a:pt x="56" y="78"/>
                  </a:cubicBezTo>
                  <a:cubicBezTo>
                    <a:pt x="56" y="78"/>
                    <a:pt x="55" y="79"/>
                    <a:pt x="55" y="79"/>
                  </a:cubicBezTo>
                  <a:cubicBezTo>
                    <a:pt x="54" y="79"/>
                    <a:pt x="54" y="80"/>
                    <a:pt x="53" y="80"/>
                  </a:cubicBezTo>
                  <a:cubicBezTo>
                    <a:pt x="54" y="80"/>
                    <a:pt x="54" y="80"/>
                    <a:pt x="55" y="81"/>
                  </a:cubicBezTo>
                  <a:cubicBezTo>
                    <a:pt x="57" y="82"/>
                    <a:pt x="57" y="81"/>
                    <a:pt x="56" y="83"/>
                  </a:cubicBezTo>
                  <a:cubicBezTo>
                    <a:pt x="55" y="84"/>
                    <a:pt x="54" y="83"/>
                    <a:pt x="54" y="83"/>
                  </a:cubicBezTo>
                  <a:cubicBezTo>
                    <a:pt x="53" y="83"/>
                    <a:pt x="52" y="82"/>
                    <a:pt x="50" y="81"/>
                  </a:cubicBezTo>
                  <a:cubicBezTo>
                    <a:pt x="49" y="82"/>
                    <a:pt x="48" y="82"/>
                    <a:pt x="47" y="83"/>
                  </a:cubicBezTo>
                  <a:cubicBezTo>
                    <a:pt x="46" y="84"/>
                    <a:pt x="45" y="84"/>
                    <a:pt x="45" y="83"/>
                  </a:cubicBezTo>
                  <a:cubicBezTo>
                    <a:pt x="44" y="82"/>
                    <a:pt x="44" y="82"/>
                    <a:pt x="46" y="81"/>
                  </a:cubicBezTo>
                  <a:cubicBezTo>
                    <a:pt x="46" y="81"/>
                    <a:pt x="47" y="80"/>
                    <a:pt x="47" y="80"/>
                  </a:cubicBezTo>
                  <a:cubicBezTo>
                    <a:pt x="47" y="80"/>
                    <a:pt x="46" y="79"/>
                    <a:pt x="45" y="79"/>
                  </a:cubicBezTo>
                  <a:cubicBezTo>
                    <a:pt x="45" y="79"/>
                    <a:pt x="44" y="78"/>
                    <a:pt x="44" y="78"/>
                  </a:cubicBezTo>
                  <a:cubicBezTo>
                    <a:pt x="44" y="77"/>
                    <a:pt x="44" y="77"/>
                    <a:pt x="46" y="76"/>
                  </a:cubicBezTo>
                  <a:cubicBezTo>
                    <a:pt x="46" y="76"/>
                    <a:pt x="47" y="75"/>
                    <a:pt x="47" y="75"/>
                  </a:cubicBezTo>
                  <a:cubicBezTo>
                    <a:pt x="46" y="75"/>
                    <a:pt x="45" y="74"/>
                    <a:pt x="45" y="73"/>
                  </a:cubicBezTo>
                  <a:close/>
                  <a:moveTo>
                    <a:pt x="66" y="83"/>
                  </a:moveTo>
                  <a:cubicBezTo>
                    <a:pt x="65" y="83"/>
                    <a:pt x="59" y="83"/>
                    <a:pt x="58" y="83"/>
                  </a:cubicBezTo>
                  <a:cubicBezTo>
                    <a:pt x="58" y="83"/>
                    <a:pt x="58" y="83"/>
                    <a:pt x="58" y="82"/>
                  </a:cubicBezTo>
                  <a:cubicBezTo>
                    <a:pt x="58" y="81"/>
                    <a:pt x="58" y="81"/>
                    <a:pt x="60" y="81"/>
                  </a:cubicBezTo>
                  <a:cubicBezTo>
                    <a:pt x="62" y="81"/>
                    <a:pt x="64" y="81"/>
                    <a:pt x="64" y="80"/>
                  </a:cubicBezTo>
                  <a:cubicBezTo>
                    <a:pt x="64" y="79"/>
                    <a:pt x="63" y="79"/>
                    <a:pt x="60" y="79"/>
                  </a:cubicBezTo>
                  <a:cubicBezTo>
                    <a:pt x="58" y="79"/>
                    <a:pt x="58" y="79"/>
                    <a:pt x="58" y="78"/>
                  </a:cubicBezTo>
                  <a:cubicBezTo>
                    <a:pt x="58" y="77"/>
                    <a:pt x="58" y="77"/>
                    <a:pt x="59" y="76"/>
                  </a:cubicBezTo>
                  <a:cubicBezTo>
                    <a:pt x="62" y="76"/>
                    <a:pt x="64" y="76"/>
                    <a:pt x="64" y="76"/>
                  </a:cubicBezTo>
                  <a:cubicBezTo>
                    <a:pt x="64" y="75"/>
                    <a:pt x="64" y="75"/>
                    <a:pt x="62" y="75"/>
                  </a:cubicBezTo>
                  <a:cubicBezTo>
                    <a:pt x="58" y="75"/>
                    <a:pt x="58" y="75"/>
                    <a:pt x="58" y="74"/>
                  </a:cubicBezTo>
                  <a:cubicBezTo>
                    <a:pt x="58" y="73"/>
                    <a:pt x="57" y="72"/>
                    <a:pt x="60" y="72"/>
                  </a:cubicBezTo>
                  <a:cubicBezTo>
                    <a:pt x="63" y="72"/>
                    <a:pt x="66" y="72"/>
                    <a:pt x="66" y="73"/>
                  </a:cubicBezTo>
                  <a:cubicBezTo>
                    <a:pt x="67" y="75"/>
                    <a:pt x="67" y="77"/>
                    <a:pt x="67" y="80"/>
                  </a:cubicBezTo>
                  <a:cubicBezTo>
                    <a:pt x="67" y="83"/>
                    <a:pt x="67" y="83"/>
                    <a:pt x="66" y="83"/>
                  </a:cubicBezTo>
                  <a:close/>
                  <a:moveTo>
                    <a:pt x="65" y="69"/>
                  </a:moveTo>
                  <a:cubicBezTo>
                    <a:pt x="64" y="70"/>
                    <a:pt x="60" y="64"/>
                    <a:pt x="58" y="61"/>
                  </a:cubicBezTo>
                  <a:cubicBezTo>
                    <a:pt x="57" y="59"/>
                    <a:pt x="53" y="56"/>
                    <a:pt x="50" y="56"/>
                  </a:cubicBezTo>
                  <a:cubicBezTo>
                    <a:pt x="45" y="56"/>
                    <a:pt x="38" y="64"/>
                    <a:pt x="37" y="67"/>
                  </a:cubicBezTo>
                  <a:cubicBezTo>
                    <a:pt x="36" y="69"/>
                    <a:pt x="35" y="70"/>
                    <a:pt x="33" y="69"/>
                  </a:cubicBezTo>
                  <a:cubicBezTo>
                    <a:pt x="32" y="68"/>
                    <a:pt x="32" y="68"/>
                    <a:pt x="33" y="66"/>
                  </a:cubicBezTo>
                  <a:cubicBezTo>
                    <a:pt x="34" y="63"/>
                    <a:pt x="40" y="56"/>
                    <a:pt x="43" y="55"/>
                  </a:cubicBezTo>
                  <a:cubicBezTo>
                    <a:pt x="45" y="52"/>
                    <a:pt x="46" y="52"/>
                    <a:pt x="47" y="49"/>
                  </a:cubicBezTo>
                  <a:cubicBezTo>
                    <a:pt x="47" y="43"/>
                    <a:pt x="47" y="42"/>
                    <a:pt x="46" y="42"/>
                  </a:cubicBezTo>
                  <a:cubicBezTo>
                    <a:pt x="44" y="41"/>
                    <a:pt x="37" y="40"/>
                    <a:pt x="37" y="45"/>
                  </a:cubicBezTo>
                  <a:cubicBezTo>
                    <a:pt x="36" y="49"/>
                    <a:pt x="36" y="50"/>
                    <a:pt x="36" y="52"/>
                  </a:cubicBezTo>
                  <a:cubicBezTo>
                    <a:pt x="36" y="54"/>
                    <a:pt x="36" y="54"/>
                    <a:pt x="34" y="54"/>
                  </a:cubicBezTo>
                  <a:cubicBezTo>
                    <a:pt x="33" y="54"/>
                    <a:pt x="33" y="46"/>
                    <a:pt x="33" y="41"/>
                  </a:cubicBezTo>
                  <a:cubicBezTo>
                    <a:pt x="34" y="38"/>
                    <a:pt x="36" y="39"/>
                    <a:pt x="39" y="38"/>
                  </a:cubicBezTo>
                  <a:cubicBezTo>
                    <a:pt x="41" y="38"/>
                    <a:pt x="43" y="38"/>
                    <a:pt x="44" y="38"/>
                  </a:cubicBezTo>
                  <a:cubicBezTo>
                    <a:pt x="46" y="38"/>
                    <a:pt x="47" y="37"/>
                    <a:pt x="47" y="35"/>
                  </a:cubicBezTo>
                  <a:cubicBezTo>
                    <a:pt x="47" y="33"/>
                    <a:pt x="48" y="33"/>
                    <a:pt x="49" y="32"/>
                  </a:cubicBezTo>
                  <a:cubicBezTo>
                    <a:pt x="51" y="32"/>
                    <a:pt x="51" y="33"/>
                    <a:pt x="51" y="35"/>
                  </a:cubicBezTo>
                  <a:cubicBezTo>
                    <a:pt x="52" y="37"/>
                    <a:pt x="51" y="38"/>
                    <a:pt x="54" y="38"/>
                  </a:cubicBezTo>
                  <a:cubicBezTo>
                    <a:pt x="57" y="38"/>
                    <a:pt x="60" y="38"/>
                    <a:pt x="61" y="38"/>
                  </a:cubicBezTo>
                  <a:cubicBezTo>
                    <a:pt x="64" y="38"/>
                    <a:pt x="66" y="38"/>
                    <a:pt x="66" y="43"/>
                  </a:cubicBezTo>
                  <a:cubicBezTo>
                    <a:pt x="66" y="47"/>
                    <a:pt x="67" y="50"/>
                    <a:pt x="66" y="52"/>
                  </a:cubicBezTo>
                  <a:cubicBezTo>
                    <a:pt x="65" y="52"/>
                    <a:pt x="64" y="53"/>
                    <a:pt x="63" y="53"/>
                  </a:cubicBezTo>
                  <a:cubicBezTo>
                    <a:pt x="62" y="52"/>
                    <a:pt x="64" y="44"/>
                    <a:pt x="61" y="42"/>
                  </a:cubicBezTo>
                  <a:cubicBezTo>
                    <a:pt x="59" y="41"/>
                    <a:pt x="54" y="41"/>
                    <a:pt x="52" y="42"/>
                  </a:cubicBezTo>
                  <a:cubicBezTo>
                    <a:pt x="51" y="43"/>
                    <a:pt x="51" y="46"/>
                    <a:pt x="51" y="48"/>
                  </a:cubicBezTo>
                  <a:cubicBezTo>
                    <a:pt x="51" y="50"/>
                    <a:pt x="51" y="51"/>
                    <a:pt x="55" y="54"/>
                  </a:cubicBezTo>
                  <a:cubicBezTo>
                    <a:pt x="58" y="56"/>
                    <a:pt x="62" y="60"/>
                    <a:pt x="65" y="64"/>
                  </a:cubicBezTo>
                  <a:cubicBezTo>
                    <a:pt x="67" y="66"/>
                    <a:pt x="69" y="68"/>
                    <a:pt x="65" y="69"/>
                  </a:cubicBezTo>
                  <a:close/>
                  <a:moveTo>
                    <a:pt x="67" y="21"/>
                  </a:moveTo>
                  <a:cubicBezTo>
                    <a:pt x="52" y="21"/>
                    <a:pt x="52" y="21"/>
                    <a:pt x="52" y="21"/>
                  </a:cubicBezTo>
                  <a:cubicBezTo>
                    <a:pt x="52" y="19"/>
                    <a:pt x="53" y="17"/>
                    <a:pt x="56" y="17"/>
                  </a:cubicBezTo>
                  <a:cubicBezTo>
                    <a:pt x="65" y="17"/>
                    <a:pt x="65" y="17"/>
                    <a:pt x="65" y="17"/>
                  </a:cubicBezTo>
                  <a:cubicBezTo>
                    <a:pt x="67" y="17"/>
                    <a:pt x="67" y="18"/>
                    <a:pt x="67" y="19"/>
                  </a:cubicBezTo>
                  <a:lnTo>
                    <a:pt x="67" y="21"/>
                  </a:lnTo>
                  <a:close/>
                  <a:moveTo>
                    <a:pt x="83" y="89"/>
                  </a:moveTo>
                  <a:cubicBezTo>
                    <a:pt x="82" y="90"/>
                    <a:pt x="80" y="90"/>
                    <a:pt x="79" y="91"/>
                  </a:cubicBezTo>
                  <a:cubicBezTo>
                    <a:pt x="79" y="92"/>
                    <a:pt x="79" y="97"/>
                    <a:pt x="79" y="97"/>
                  </a:cubicBezTo>
                  <a:cubicBezTo>
                    <a:pt x="80" y="98"/>
                    <a:pt x="81" y="97"/>
                    <a:pt x="82" y="97"/>
                  </a:cubicBezTo>
                  <a:cubicBezTo>
                    <a:pt x="84" y="97"/>
                    <a:pt x="84" y="101"/>
                    <a:pt x="83" y="101"/>
                  </a:cubicBezTo>
                  <a:cubicBezTo>
                    <a:pt x="82" y="101"/>
                    <a:pt x="79" y="102"/>
                    <a:pt x="77" y="102"/>
                  </a:cubicBezTo>
                  <a:cubicBezTo>
                    <a:pt x="75" y="102"/>
                    <a:pt x="74" y="102"/>
                    <a:pt x="72" y="102"/>
                  </a:cubicBezTo>
                  <a:cubicBezTo>
                    <a:pt x="70" y="102"/>
                    <a:pt x="70" y="101"/>
                    <a:pt x="70" y="100"/>
                  </a:cubicBezTo>
                  <a:cubicBezTo>
                    <a:pt x="70" y="99"/>
                    <a:pt x="70" y="98"/>
                    <a:pt x="71" y="98"/>
                  </a:cubicBezTo>
                  <a:cubicBezTo>
                    <a:pt x="73" y="98"/>
                    <a:pt x="74" y="98"/>
                    <a:pt x="75" y="97"/>
                  </a:cubicBezTo>
                  <a:cubicBezTo>
                    <a:pt x="76" y="97"/>
                    <a:pt x="75" y="95"/>
                    <a:pt x="75" y="93"/>
                  </a:cubicBezTo>
                  <a:cubicBezTo>
                    <a:pt x="75" y="92"/>
                    <a:pt x="76" y="91"/>
                    <a:pt x="74" y="91"/>
                  </a:cubicBezTo>
                  <a:cubicBezTo>
                    <a:pt x="71" y="92"/>
                    <a:pt x="71" y="92"/>
                    <a:pt x="71" y="88"/>
                  </a:cubicBezTo>
                  <a:cubicBezTo>
                    <a:pt x="71" y="86"/>
                    <a:pt x="71" y="85"/>
                    <a:pt x="71" y="83"/>
                  </a:cubicBezTo>
                  <a:cubicBezTo>
                    <a:pt x="71" y="81"/>
                    <a:pt x="71" y="80"/>
                    <a:pt x="73" y="80"/>
                  </a:cubicBezTo>
                  <a:cubicBezTo>
                    <a:pt x="75" y="79"/>
                    <a:pt x="74" y="83"/>
                    <a:pt x="74" y="85"/>
                  </a:cubicBezTo>
                  <a:cubicBezTo>
                    <a:pt x="74" y="86"/>
                    <a:pt x="74" y="88"/>
                    <a:pt x="75" y="88"/>
                  </a:cubicBezTo>
                  <a:cubicBezTo>
                    <a:pt x="77" y="88"/>
                    <a:pt x="76" y="83"/>
                    <a:pt x="76" y="79"/>
                  </a:cubicBezTo>
                  <a:cubicBezTo>
                    <a:pt x="76" y="76"/>
                    <a:pt x="75" y="75"/>
                    <a:pt x="77" y="74"/>
                  </a:cubicBezTo>
                  <a:cubicBezTo>
                    <a:pt x="79" y="74"/>
                    <a:pt x="79" y="75"/>
                    <a:pt x="79" y="77"/>
                  </a:cubicBezTo>
                  <a:cubicBezTo>
                    <a:pt x="79" y="79"/>
                    <a:pt x="79" y="87"/>
                    <a:pt x="80" y="87"/>
                  </a:cubicBezTo>
                  <a:cubicBezTo>
                    <a:pt x="82" y="87"/>
                    <a:pt x="81" y="80"/>
                    <a:pt x="81" y="79"/>
                  </a:cubicBezTo>
                  <a:cubicBezTo>
                    <a:pt x="81" y="77"/>
                    <a:pt x="81" y="77"/>
                    <a:pt x="83" y="77"/>
                  </a:cubicBezTo>
                  <a:cubicBezTo>
                    <a:pt x="84" y="76"/>
                    <a:pt x="84" y="76"/>
                    <a:pt x="84" y="78"/>
                  </a:cubicBezTo>
                  <a:cubicBezTo>
                    <a:pt x="85" y="79"/>
                    <a:pt x="85" y="81"/>
                    <a:pt x="85" y="82"/>
                  </a:cubicBezTo>
                  <a:cubicBezTo>
                    <a:pt x="84" y="84"/>
                    <a:pt x="84" y="85"/>
                    <a:pt x="84" y="86"/>
                  </a:cubicBezTo>
                  <a:cubicBezTo>
                    <a:pt x="84" y="88"/>
                    <a:pt x="83" y="89"/>
                    <a:pt x="83" y="89"/>
                  </a:cubicBezTo>
                  <a:close/>
                  <a:moveTo>
                    <a:pt x="91" y="107"/>
                  </a:moveTo>
                  <a:cubicBezTo>
                    <a:pt x="90" y="107"/>
                    <a:pt x="89" y="107"/>
                    <a:pt x="88" y="107"/>
                  </a:cubicBezTo>
                  <a:cubicBezTo>
                    <a:pt x="87" y="107"/>
                    <a:pt x="87" y="106"/>
                    <a:pt x="86" y="103"/>
                  </a:cubicBezTo>
                  <a:cubicBezTo>
                    <a:pt x="86" y="102"/>
                    <a:pt x="85" y="101"/>
                    <a:pt x="85" y="98"/>
                  </a:cubicBezTo>
                  <a:cubicBezTo>
                    <a:pt x="85" y="95"/>
                    <a:pt x="84" y="92"/>
                    <a:pt x="85" y="90"/>
                  </a:cubicBezTo>
                  <a:cubicBezTo>
                    <a:pt x="85" y="89"/>
                    <a:pt x="86" y="87"/>
                    <a:pt x="87" y="86"/>
                  </a:cubicBezTo>
                  <a:cubicBezTo>
                    <a:pt x="87" y="85"/>
                    <a:pt x="88" y="84"/>
                    <a:pt x="88" y="81"/>
                  </a:cubicBezTo>
                  <a:cubicBezTo>
                    <a:pt x="89" y="79"/>
                    <a:pt x="89" y="79"/>
                    <a:pt x="88" y="77"/>
                  </a:cubicBezTo>
                  <a:cubicBezTo>
                    <a:pt x="88" y="76"/>
                    <a:pt x="88" y="75"/>
                    <a:pt x="87" y="74"/>
                  </a:cubicBezTo>
                  <a:cubicBezTo>
                    <a:pt x="87" y="72"/>
                    <a:pt x="86" y="72"/>
                    <a:pt x="88" y="71"/>
                  </a:cubicBezTo>
                  <a:cubicBezTo>
                    <a:pt x="90" y="71"/>
                    <a:pt x="90" y="71"/>
                    <a:pt x="91" y="73"/>
                  </a:cubicBezTo>
                  <a:cubicBezTo>
                    <a:pt x="92" y="76"/>
                    <a:pt x="92" y="77"/>
                    <a:pt x="92" y="77"/>
                  </a:cubicBezTo>
                  <a:cubicBezTo>
                    <a:pt x="92" y="79"/>
                    <a:pt x="92" y="82"/>
                    <a:pt x="90" y="86"/>
                  </a:cubicBezTo>
                  <a:cubicBezTo>
                    <a:pt x="89" y="89"/>
                    <a:pt x="88" y="91"/>
                    <a:pt x="88" y="94"/>
                  </a:cubicBezTo>
                  <a:cubicBezTo>
                    <a:pt x="88" y="98"/>
                    <a:pt x="89" y="102"/>
                    <a:pt x="90" y="103"/>
                  </a:cubicBezTo>
                  <a:cubicBezTo>
                    <a:pt x="90" y="104"/>
                    <a:pt x="92" y="107"/>
                    <a:pt x="91" y="107"/>
                  </a:cubicBezTo>
                  <a:close/>
                  <a:moveTo>
                    <a:pt x="97" y="102"/>
                  </a:moveTo>
                  <a:cubicBezTo>
                    <a:pt x="97" y="104"/>
                    <a:pt x="99" y="106"/>
                    <a:pt x="98" y="107"/>
                  </a:cubicBezTo>
                  <a:cubicBezTo>
                    <a:pt x="97" y="107"/>
                    <a:pt x="95" y="107"/>
                    <a:pt x="95" y="106"/>
                  </a:cubicBezTo>
                  <a:cubicBezTo>
                    <a:pt x="94" y="105"/>
                    <a:pt x="93" y="103"/>
                    <a:pt x="92" y="100"/>
                  </a:cubicBezTo>
                  <a:cubicBezTo>
                    <a:pt x="92" y="96"/>
                    <a:pt x="92" y="94"/>
                    <a:pt x="92" y="91"/>
                  </a:cubicBezTo>
                  <a:cubicBezTo>
                    <a:pt x="93" y="86"/>
                    <a:pt x="96" y="85"/>
                    <a:pt x="96" y="81"/>
                  </a:cubicBezTo>
                  <a:cubicBezTo>
                    <a:pt x="96" y="78"/>
                    <a:pt x="96" y="77"/>
                    <a:pt x="95" y="76"/>
                  </a:cubicBezTo>
                  <a:cubicBezTo>
                    <a:pt x="95" y="74"/>
                    <a:pt x="93" y="71"/>
                    <a:pt x="95" y="71"/>
                  </a:cubicBezTo>
                  <a:cubicBezTo>
                    <a:pt x="97" y="71"/>
                    <a:pt x="97" y="72"/>
                    <a:pt x="97" y="72"/>
                  </a:cubicBezTo>
                  <a:cubicBezTo>
                    <a:pt x="98" y="73"/>
                    <a:pt x="100" y="76"/>
                    <a:pt x="100" y="78"/>
                  </a:cubicBezTo>
                  <a:cubicBezTo>
                    <a:pt x="100" y="81"/>
                    <a:pt x="99" y="84"/>
                    <a:pt x="98" y="87"/>
                  </a:cubicBezTo>
                  <a:cubicBezTo>
                    <a:pt x="96" y="90"/>
                    <a:pt x="95" y="91"/>
                    <a:pt x="95" y="94"/>
                  </a:cubicBezTo>
                  <a:cubicBezTo>
                    <a:pt x="96" y="96"/>
                    <a:pt x="96" y="98"/>
                    <a:pt x="97" y="102"/>
                  </a:cubicBezTo>
                  <a:close/>
                  <a:moveTo>
                    <a:pt x="106" y="84"/>
                  </a:moveTo>
                  <a:cubicBezTo>
                    <a:pt x="104" y="89"/>
                    <a:pt x="103" y="88"/>
                    <a:pt x="102" y="93"/>
                  </a:cubicBezTo>
                  <a:cubicBezTo>
                    <a:pt x="102" y="95"/>
                    <a:pt x="103" y="100"/>
                    <a:pt x="104" y="102"/>
                  </a:cubicBezTo>
                  <a:cubicBezTo>
                    <a:pt x="104" y="103"/>
                    <a:pt x="106" y="106"/>
                    <a:pt x="105" y="106"/>
                  </a:cubicBezTo>
                  <a:cubicBezTo>
                    <a:pt x="104" y="107"/>
                    <a:pt x="102" y="106"/>
                    <a:pt x="102" y="106"/>
                  </a:cubicBezTo>
                  <a:cubicBezTo>
                    <a:pt x="101" y="105"/>
                    <a:pt x="100" y="102"/>
                    <a:pt x="100" y="101"/>
                  </a:cubicBezTo>
                  <a:cubicBezTo>
                    <a:pt x="99" y="98"/>
                    <a:pt x="98" y="92"/>
                    <a:pt x="100" y="88"/>
                  </a:cubicBezTo>
                  <a:cubicBezTo>
                    <a:pt x="101" y="87"/>
                    <a:pt x="102" y="85"/>
                    <a:pt x="103" y="81"/>
                  </a:cubicBezTo>
                  <a:cubicBezTo>
                    <a:pt x="103" y="77"/>
                    <a:pt x="102" y="76"/>
                    <a:pt x="102" y="74"/>
                  </a:cubicBezTo>
                  <a:cubicBezTo>
                    <a:pt x="101" y="73"/>
                    <a:pt x="100" y="72"/>
                    <a:pt x="102" y="72"/>
                  </a:cubicBezTo>
                  <a:cubicBezTo>
                    <a:pt x="105" y="72"/>
                    <a:pt x="105" y="73"/>
                    <a:pt x="106" y="75"/>
                  </a:cubicBezTo>
                  <a:cubicBezTo>
                    <a:pt x="106" y="78"/>
                    <a:pt x="106" y="79"/>
                    <a:pt x="106" y="84"/>
                  </a:cubicBezTo>
                  <a:close/>
                  <a:moveTo>
                    <a:pt x="105" y="67"/>
                  </a:moveTo>
                  <a:cubicBezTo>
                    <a:pt x="103" y="68"/>
                    <a:pt x="103" y="67"/>
                    <a:pt x="103" y="64"/>
                  </a:cubicBezTo>
                  <a:cubicBezTo>
                    <a:pt x="103" y="63"/>
                    <a:pt x="103" y="57"/>
                    <a:pt x="101" y="56"/>
                  </a:cubicBezTo>
                  <a:cubicBezTo>
                    <a:pt x="99" y="55"/>
                    <a:pt x="97" y="55"/>
                    <a:pt x="96" y="56"/>
                  </a:cubicBezTo>
                  <a:cubicBezTo>
                    <a:pt x="96" y="56"/>
                    <a:pt x="96" y="66"/>
                    <a:pt x="96" y="66"/>
                  </a:cubicBezTo>
                  <a:cubicBezTo>
                    <a:pt x="96" y="69"/>
                    <a:pt x="95" y="68"/>
                    <a:pt x="94" y="68"/>
                  </a:cubicBezTo>
                  <a:cubicBezTo>
                    <a:pt x="92" y="67"/>
                    <a:pt x="92" y="66"/>
                    <a:pt x="92" y="65"/>
                  </a:cubicBezTo>
                  <a:cubicBezTo>
                    <a:pt x="92" y="63"/>
                    <a:pt x="92" y="56"/>
                    <a:pt x="92" y="56"/>
                  </a:cubicBezTo>
                  <a:cubicBezTo>
                    <a:pt x="92" y="56"/>
                    <a:pt x="88" y="55"/>
                    <a:pt x="87" y="59"/>
                  </a:cubicBezTo>
                  <a:cubicBezTo>
                    <a:pt x="87" y="63"/>
                    <a:pt x="86" y="65"/>
                    <a:pt x="86" y="66"/>
                  </a:cubicBezTo>
                  <a:cubicBezTo>
                    <a:pt x="86" y="67"/>
                    <a:pt x="86" y="67"/>
                    <a:pt x="86" y="67"/>
                  </a:cubicBezTo>
                  <a:cubicBezTo>
                    <a:pt x="85" y="68"/>
                    <a:pt x="84" y="68"/>
                    <a:pt x="83" y="68"/>
                  </a:cubicBezTo>
                  <a:cubicBezTo>
                    <a:pt x="83" y="66"/>
                    <a:pt x="83" y="64"/>
                    <a:pt x="84" y="62"/>
                  </a:cubicBezTo>
                  <a:cubicBezTo>
                    <a:pt x="84" y="59"/>
                    <a:pt x="85" y="57"/>
                    <a:pt x="85" y="55"/>
                  </a:cubicBezTo>
                  <a:cubicBezTo>
                    <a:pt x="86" y="54"/>
                    <a:pt x="89" y="53"/>
                    <a:pt x="92" y="52"/>
                  </a:cubicBezTo>
                  <a:cubicBezTo>
                    <a:pt x="93" y="52"/>
                    <a:pt x="93" y="50"/>
                    <a:pt x="92" y="50"/>
                  </a:cubicBezTo>
                  <a:cubicBezTo>
                    <a:pt x="91" y="49"/>
                    <a:pt x="89" y="50"/>
                    <a:pt x="87" y="50"/>
                  </a:cubicBezTo>
                  <a:cubicBezTo>
                    <a:pt x="86" y="50"/>
                    <a:pt x="85" y="51"/>
                    <a:pt x="84" y="49"/>
                  </a:cubicBezTo>
                  <a:cubicBezTo>
                    <a:pt x="84" y="48"/>
                    <a:pt x="84" y="47"/>
                    <a:pt x="86" y="47"/>
                  </a:cubicBezTo>
                  <a:cubicBezTo>
                    <a:pt x="90" y="47"/>
                    <a:pt x="90" y="47"/>
                    <a:pt x="90" y="47"/>
                  </a:cubicBezTo>
                  <a:cubicBezTo>
                    <a:pt x="90" y="47"/>
                    <a:pt x="92" y="47"/>
                    <a:pt x="92" y="46"/>
                  </a:cubicBezTo>
                  <a:cubicBezTo>
                    <a:pt x="92" y="46"/>
                    <a:pt x="93" y="44"/>
                    <a:pt x="93" y="43"/>
                  </a:cubicBezTo>
                  <a:cubicBezTo>
                    <a:pt x="93" y="43"/>
                    <a:pt x="94" y="43"/>
                    <a:pt x="95" y="43"/>
                  </a:cubicBezTo>
                  <a:cubicBezTo>
                    <a:pt x="96" y="44"/>
                    <a:pt x="96" y="44"/>
                    <a:pt x="96" y="45"/>
                  </a:cubicBezTo>
                  <a:cubicBezTo>
                    <a:pt x="96" y="46"/>
                    <a:pt x="96" y="46"/>
                    <a:pt x="100" y="46"/>
                  </a:cubicBezTo>
                  <a:cubicBezTo>
                    <a:pt x="103" y="46"/>
                    <a:pt x="105" y="46"/>
                    <a:pt x="105" y="47"/>
                  </a:cubicBezTo>
                  <a:cubicBezTo>
                    <a:pt x="105" y="48"/>
                    <a:pt x="105" y="49"/>
                    <a:pt x="105" y="49"/>
                  </a:cubicBezTo>
                  <a:cubicBezTo>
                    <a:pt x="105" y="50"/>
                    <a:pt x="104" y="49"/>
                    <a:pt x="102" y="50"/>
                  </a:cubicBezTo>
                  <a:cubicBezTo>
                    <a:pt x="100" y="50"/>
                    <a:pt x="97" y="50"/>
                    <a:pt x="96" y="50"/>
                  </a:cubicBezTo>
                  <a:cubicBezTo>
                    <a:pt x="96" y="50"/>
                    <a:pt x="96" y="51"/>
                    <a:pt x="96" y="51"/>
                  </a:cubicBezTo>
                  <a:cubicBezTo>
                    <a:pt x="96" y="52"/>
                    <a:pt x="96" y="52"/>
                    <a:pt x="98" y="52"/>
                  </a:cubicBezTo>
                  <a:cubicBezTo>
                    <a:pt x="105" y="54"/>
                    <a:pt x="105" y="54"/>
                    <a:pt x="106" y="58"/>
                  </a:cubicBezTo>
                  <a:cubicBezTo>
                    <a:pt x="106" y="62"/>
                    <a:pt x="106" y="64"/>
                    <a:pt x="106" y="65"/>
                  </a:cubicBezTo>
                  <a:cubicBezTo>
                    <a:pt x="106" y="66"/>
                    <a:pt x="107" y="67"/>
                    <a:pt x="105" y="6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Freeform 69">
              <a:extLst>
                <a:ext uri="{FF2B5EF4-FFF2-40B4-BE49-F238E27FC236}">
                  <a16:creationId xmlns:a16="http://schemas.microsoft.com/office/drawing/2014/main" id="{E2119426-83B2-4BB5-A61E-F0C9D278FBF7}"/>
                </a:ext>
              </a:extLst>
            </p:cNvPr>
            <p:cNvSpPr/>
            <p:nvPr/>
          </p:nvSpPr>
          <p:spPr bwMode="auto">
            <a:xfrm>
              <a:off x="4656138" y="5248275"/>
              <a:ext cx="26988" cy="28575"/>
            </a:xfrm>
            <a:custGeom>
              <a:avLst/>
              <a:gdLst>
                <a:gd name="T0" fmla="*/ 3 w 5"/>
                <a:gd name="T1" fmla="*/ 5 h 5"/>
                <a:gd name="T2" fmla="*/ 4 w 5"/>
                <a:gd name="T3" fmla="*/ 5 h 5"/>
                <a:gd name="T4" fmla="*/ 5 w 5"/>
                <a:gd name="T5" fmla="*/ 1 h 5"/>
                <a:gd name="T6" fmla="*/ 1 w 5"/>
                <a:gd name="T7" fmla="*/ 0 h 5"/>
                <a:gd name="T8" fmla="*/ 0 w 5"/>
                <a:gd name="T9" fmla="*/ 1 h 5"/>
                <a:gd name="T10" fmla="*/ 3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3" y="5"/>
                  </a:moveTo>
                  <a:cubicBezTo>
                    <a:pt x="4" y="5"/>
                    <a:pt x="4" y="5"/>
                    <a:pt x="4" y="5"/>
                  </a:cubicBezTo>
                  <a:cubicBezTo>
                    <a:pt x="5" y="4"/>
                    <a:pt x="5" y="3"/>
                    <a:pt x="5" y="1"/>
                  </a:cubicBezTo>
                  <a:cubicBezTo>
                    <a:pt x="4" y="0"/>
                    <a:pt x="3" y="0"/>
                    <a:pt x="1" y="0"/>
                  </a:cubicBezTo>
                  <a:cubicBezTo>
                    <a:pt x="1" y="0"/>
                    <a:pt x="0" y="0"/>
                    <a:pt x="0" y="1"/>
                  </a:cubicBezTo>
                  <a:cubicBezTo>
                    <a:pt x="1" y="5"/>
                    <a:pt x="1" y="4"/>
                    <a:pt x="3"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Freeform 70">
              <a:extLst>
                <a:ext uri="{FF2B5EF4-FFF2-40B4-BE49-F238E27FC236}">
                  <a16:creationId xmlns:a16="http://schemas.microsoft.com/office/drawing/2014/main" id="{B223AA9B-0577-4B56-8177-A24996881703}"/>
                </a:ext>
              </a:extLst>
            </p:cNvPr>
            <p:cNvSpPr/>
            <p:nvPr/>
          </p:nvSpPr>
          <p:spPr bwMode="auto">
            <a:xfrm>
              <a:off x="4587875" y="5253038"/>
              <a:ext cx="28575" cy="23813"/>
            </a:xfrm>
            <a:custGeom>
              <a:avLst/>
              <a:gdLst>
                <a:gd name="T0" fmla="*/ 1 w 5"/>
                <a:gd name="T1" fmla="*/ 4 h 4"/>
                <a:gd name="T2" fmla="*/ 2 w 5"/>
                <a:gd name="T3" fmla="*/ 4 h 4"/>
                <a:gd name="T4" fmla="*/ 5 w 5"/>
                <a:gd name="T5" fmla="*/ 0 h 4"/>
                <a:gd name="T6" fmla="*/ 2 w 5"/>
                <a:gd name="T7" fmla="*/ 0 h 4"/>
                <a:gd name="T8" fmla="*/ 1 w 5"/>
                <a:gd name="T9" fmla="*/ 1 h 4"/>
                <a:gd name="T10" fmla="*/ 1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1" y="4"/>
                  </a:moveTo>
                  <a:cubicBezTo>
                    <a:pt x="2" y="4"/>
                    <a:pt x="2" y="4"/>
                    <a:pt x="2" y="4"/>
                  </a:cubicBezTo>
                  <a:cubicBezTo>
                    <a:pt x="4" y="4"/>
                    <a:pt x="4" y="2"/>
                    <a:pt x="5" y="0"/>
                  </a:cubicBezTo>
                  <a:cubicBezTo>
                    <a:pt x="5" y="0"/>
                    <a:pt x="3" y="0"/>
                    <a:pt x="2" y="0"/>
                  </a:cubicBezTo>
                  <a:cubicBezTo>
                    <a:pt x="1" y="0"/>
                    <a:pt x="1" y="0"/>
                    <a:pt x="1" y="1"/>
                  </a:cubicBezTo>
                  <a:cubicBezTo>
                    <a:pt x="0" y="2"/>
                    <a:pt x="0" y="4"/>
                    <a:pt x="1" y="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5" name="组合 74">
            <a:extLst>
              <a:ext uri="{FF2B5EF4-FFF2-40B4-BE49-F238E27FC236}">
                <a16:creationId xmlns:a16="http://schemas.microsoft.com/office/drawing/2014/main" id="{887D298D-AA6C-4781-BD36-9714F0539012}"/>
              </a:ext>
            </a:extLst>
          </p:cNvPr>
          <p:cNvGrpSpPr/>
          <p:nvPr userDrawn="1"/>
        </p:nvGrpSpPr>
        <p:grpSpPr>
          <a:xfrm>
            <a:off x="0" y="-18269"/>
            <a:ext cx="1136073" cy="864235"/>
            <a:chOff x="0" y="-18269"/>
            <a:chExt cx="1136073" cy="864235"/>
          </a:xfrm>
          <a:solidFill>
            <a:schemeClr val="accent1">
              <a:lumMod val="60000"/>
              <a:lumOff val="40000"/>
            </a:schemeClr>
          </a:solidFill>
        </p:grpSpPr>
        <p:sp>
          <p:nvSpPr>
            <p:cNvPr id="76" name="矩形 75">
              <a:extLst>
                <a:ext uri="{FF2B5EF4-FFF2-40B4-BE49-F238E27FC236}">
                  <a16:creationId xmlns:a16="http://schemas.microsoft.com/office/drawing/2014/main" id="{CF078A78-C05B-448B-B38E-B04F47E4EF6C}"/>
                </a:ext>
              </a:extLst>
            </p:cNvPr>
            <p:cNvSpPr/>
            <p:nvPr/>
          </p:nvSpPr>
          <p:spPr>
            <a:xfrm>
              <a:off x="0" y="551919"/>
              <a:ext cx="1136072" cy="294047"/>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77" name="矩形 76">
              <a:extLst>
                <a:ext uri="{FF2B5EF4-FFF2-40B4-BE49-F238E27FC236}">
                  <a16:creationId xmlns:a16="http://schemas.microsoft.com/office/drawing/2014/main" id="{1CA69F4C-078B-4174-85DB-DCF156B32501}"/>
                </a:ext>
              </a:extLst>
            </p:cNvPr>
            <p:cNvSpPr/>
            <p:nvPr/>
          </p:nvSpPr>
          <p:spPr>
            <a:xfrm>
              <a:off x="323274" y="300434"/>
              <a:ext cx="364736" cy="545532"/>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78" name="矩形 77">
              <a:extLst>
                <a:ext uri="{FF2B5EF4-FFF2-40B4-BE49-F238E27FC236}">
                  <a16:creationId xmlns:a16="http://schemas.microsoft.com/office/drawing/2014/main" id="{9BC181FA-65FA-4B0A-AE99-E48D70B569EE}"/>
                </a:ext>
              </a:extLst>
            </p:cNvPr>
            <p:cNvSpPr/>
            <p:nvPr/>
          </p:nvSpPr>
          <p:spPr>
            <a:xfrm>
              <a:off x="688011" y="-18269"/>
              <a:ext cx="448062" cy="570187"/>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79" name="矩形 78">
              <a:extLst>
                <a:ext uri="{FF2B5EF4-FFF2-40B4-BE49-F238E27FC236}">
                  <a16:creationId xmlns:a16="http://schemas.microsoft.com/office/drawing/2014/main" id="{54BC7EE2-BA55-4D85-A749-9C5159A78D74}"/>
                </a:ext>
              </a:extLst>
            </p:cNvPr>
            <p:cNvSpPr/>
            <p:nvPr/>
          </p:nvSpPr>
          <p:spPr>
            <a:xfrm>
              <a:off x="688010" y="295565"/>
              <a:ext cx="448062" cy="256354"/>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80" name="矩形 79">
              <a:extLst>
                <a:ext uri="{FF2B5EF4-FFF2-40B4-BE49-F238E27FC236}">
                  <a16:creationId xmlns:a16="http://schemas.microsoft.com/office/drawing/2014/main" id="{A1AEA0B3-85A7-4290-9764-D2648AA79A28}"/>
                </a:ext>
              </a:extLst>
            </p:cNvPr>
            <p:cNvSpPr/>
            <p:nvPr/>
          </p:nvSpPr>
          <p:spPr>
            <a:xfrm>
              <a:off x="688010" y="551918"/>
              <a:ext cx="448061" cy="294047"/>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Tree>
    <p:extLst>
      <p:ext uri="{BB962C8B-B14F-4D97-AF65-F5344CB8AC3E}">
        <p14:creationId xmlns:p14="http://schemas.microsoft.com/office/powerpoint/2010/main" val="1714717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audio" Target="../media/audio4.wav"/><Relationship Id="rId4" Type="http://schemas.openxmlformats.org/officeDocument/2006/relationships/audio" Target="../media/audio3.wav"/></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audio" Target="../media/audio3.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audio" Target="../media/audio3.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audio" Target="../media/audio3.wav"/></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audio" Target="../media/audio2.wav"/><Relationship Id="rId4" Type="http://schemas.openxmlformats.org/officeDocument/2006/relationships/audio" Target="../media/audio3.wav"/></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audio" Target="../media/audio5.wav"/><Relationship Id="rId4" Type="http://schemas.openxmlformats.org/officeDocument/2006/relationships/audio" Target="../media/audio3.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audio" Target="../media/audio3.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audio" Target="../media/audio4.wav"/><Relationship Id="rId4" Type="http://schemas.openxmlformats.org/officeDocument/2006/relationships/audio" Target="../media/audio3.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audio" Target="../media/audio3.wav"/></Relationships>
</file>

<file path=ppt/slides/_rels/slide14.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audio" Target="../media/audio2.wav"/></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 Id="rId4" Type="http://schemas.openxmlformats.org/officeDocument/2006/relationships/audio" Target="../media/audio4.wav"/></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audio" Target="../media/audio2.wav"/></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1.wav"/><Relationship Id="rId1" Type="http://schemas.openxmlformats.org/officeDocument/2006/relationships/slideLayout" Target="../slideLayouts/slideLayout12.xml"/><Relationship Id="rId4" Type="http://schemas.openxmlformats.org/officeDocument/2006/relationships/audio" Target="../media/audio2.wav"/></Relationships>
</file>

<file path=ppt/slides/_rels/slide24.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audio" Target="../media/audio1.wav"/><Relationship Id="rId4" Type="http://schemas.openxmlformats.org/officeDocument/2006/relationships/audio" Target="../media/audio2.wav"/></Relationships>
</file>

<file path=ppt/slides/_rels/slide25.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audio" Target="../media/audio6.wav"/><Relationship Id="rId7"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2.xml"/><Relationship Id="rId6" Type="http://schemas.openxmlformats.org/officeDocument/2006/relationships/audio" Target="../media/audio2.wav"/><Relationship Id="rId5" Type="http://schemas.openxmlformats.org/officeDocument/2006/relationships/audio" Target="../media/audio5.wav"/><Relationship Id="rId4" Type="http://schemas.openxmlformats.org/officeDocument/2006/relationships/audio" Target="../media/audio3.wav"/></Relationships>
</file>

<file path=ppt/slides/_rels/slide3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2.xml"/><Relationship Id="rId4" Type="http://schemas.openxmlformats.org/officeDocument/2006/relationships/audio" Target="../media/audio4.wav"/></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2.xml"/><Relationship Id="rId4" Type="http://schemas.openxmlformats.org/officeDocument/2006/relationships/audio" Target="../media/audio2.wav"/></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audio" Target="../media/audio4.wav"/><Relationship Id="rId4" Type="http://schemas.openxmlformats.org/officeDocument/2006/relationships/audio" Target="../media/audio3.wav"/></Relationships>
</file>

<file path=ppt/slides/_rels/slide3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2.xml"/><Relationship Id="rId4" Type="http://schemas.openxmlformats.org/officeDocument/2006/relationships/audio" Target="../media/audio4.wav"/></Relationships>
</file>

<file path=ppt/slides/_rels/slide39.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audio" Target="../media/audio3.wav"/></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l="4776" t="88" r="64" b="12548"/>
          <a:stretch>
            <a:fillRect/>
          </a:stretch>
        </p:blipFill>
        <p:spPr>
          <a:xfrm>
            <a:off x="482" y="0"/>
            <a:ext cx="12191999" cy="8267612"/>
          </a:xfrm>
          <a:prstGeom prst="rect">
            <a:avLst/>
          </a:prstGeom>
        </p:spPr>
      </p:pic>
      <p:sp>
        <p:nvSpPr>
          <p:cNvPr id="76" name="任意多边形: 形状 75"/>
          <p:cNvSpPr/>
          <p:nvPr/>
        </p:nvSpPr>
        <p:spPr>
          <a:xfrm rot="20940000">
            <a:off x="-230645" y="-1192196"/>
            <a:ext cx="12770482" cy="3627778"/>
          </a:xfrm>
          <a:custGeom>
            <a:avLst/>
            <a:gdLst>
              <a:gd name="connsiteX0" fmla="*/ 12770482 w 12770482"/>
              <a:gd name="connsiteY0" fmla="*/ 3571764 h 3627778"/>
              <a:gd name="connsiteX1" fmla="*/ 12770482 w 12770482"/>
              <a:gd name="connsiteY1" fmla="*/ 3627778 h 3627778"/>
              <a:gd name="connsiteX2" fmla="*/ 12759594 w 12770482"/>
              <a:gd name="connsiteY2" fmla="*/ 3627778 h 3627778"/>
              <a:gd name="connsiteX3" fmla="*/ 456753 w 12770482"/>
              <a:gd name="connsiteY3" fmla="*/ 0 h 3627778"/>
              <a:gd name="connsiteX4" fmla="*/ 12424752 w 12770482"/>
              <a:gd name="connsiteY4" fmla="*/ 2326343 h 3627778"/>
              <a:gd name="connsiteX5" fmla="*/ 12171778 w 12770482"/>
              <a:gd name="connsiteY5" fmla="*/ 3627778 h 3627778"/>
              <a:gd name="connsiteX6" fmla="*/ 1031105 w 12770482"/>
              <a:gd name="connsiteY6" fmla="*/ 3627778 h 3627778"/>
              <a:gd name="connsiteX7" fmla="*/ 0 w 12770482"/>
              <a:gd name="connsiteY7" fmla="*/ 2349789 h 36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70482" h="3627778">
                <a:moveTo>
                  <a:pt x="12770482" y="3571764"/>
                </a:moveTo>
                <a:lnTo>
                  <a:pt x="12770482" y="3627778"/>
                </a:lnTo>
                <a:lnTo>
                  <a:pt x="12759594" y="3627778"/>
                </a:lnTo>
                <a:close/>
                <a:moveTo>
                  <a:pt x="456753" y="0"/>
                </a:moveTo>
                <a:lnTo>
                  <a:pt x="12424752" y="2326343"/>
                </a:lnTo>
                <a:lnTo>
                  <a:pt x="12171778" y="3627778"/>
                </a:lnTo>
                <a:lnTo>
                  <a:pt x="1031105" y="3627778"/>
                </a:lnTo>
                <a:lnTo>
                  <a:pt x="0" y="2349789"/>
                </a:lnTo>
                <a:close/>
              </a:path>
            </a:pathLst>
          </a:custGeom>
          <a:solidFill>
            <a:srgbClr val="E2F4FA">
              <a:alpha val="7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37" name="任意多边形: 形状 36"/>
          <p:cNvSpPr/>
          <p:nvPr/>
        </p:nvSpPr>
        <p:spPr>
          <a:xfrm rot="600000">
            <a:off x="46696" y="2800202"/>
            <a:ext cx="821674" cy="797295"/>
          </a:xfrm>
          <a:custGeom>
            <a:avLst/>
            <a:gdLst>
              <a:gd name="connsiteX0" fmla="*/ 293485 w 821674"/>
              <a:gd name="connsiteY0" fmla="*/ 0 h 797295"/>
              <a:gd name="connsiteX1" fmla="*/ 821674 w 821674"/>
              <a:gd name="connsiteY1" fmla="*/ 797295 h 797295"/>
              <a:gd name="connsiteX2" fmla="*/ 62470 w 821674"/>
              <a:gd name="connsiteY2" fmla="*/ 797295 h 797295"/>
              <a:gd name="connsiteX3" fmla="*/ 0 w 821674"/>
              <a:gd name="connsiteY3" fmla="*/ 443012 h 797295"/>
            </a:gdLst>
            <a:ahLst/>
            <a:cxnLst>
              <a:cxn ang="0">
                <a:pos x="connsiteX0" y="connsiteY0"/>
              </a:cxn>
              <a:cxn ang="0">
                <a:pos x="connsiteX1" y="connsiteY1"/>
              </a:cxn>
              <a:cxn ang="0">
                <a:pos x="connsiteX2" y="connsiteY2"/>
              </a:cxn>
              <a:cxn ang="0">
                <a:pos x="connsiteX3" y="connsiteY3"/>
              </a:cxn>
            </a:cxnLst>
            <a:rect l="l" t="t" r="r" b="b"/>
            <a:pathLst>
              <a:path w="821674" h="797295">
                <a:moveTo>
                  <a:pt x="293485" y="0"/>
                </a:moveTo>
                <a:lnTo>
                  <a:pt x="821674" y="797295"/>
                </a:lnTo>
                <a:lnTo>
                  <a:pt x="62470" y="797295"/>
                </a:lnTo>
                <a:lnTo>
                  <a:pt x="0" y="443012"/>
                </a:lnTo>
                <a:close/>
              </a:path>
            </a:pathLst>
          </a:custGeom>
          <a:solidFill>
            <a:srgbClr val="E2F4F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u="sng" dirty="0"/>
          </a:p>
        </p:txBody>
      </p:sp>
      <p:sp>
        <p:nvSpPr>
          <p:cNvPr id="43" name="任意多边形: 形状 42"/>
          <p:cNvSpPr/>
          <p:nvPr/>
        </p:nvSpPr>
        <p:spPr>
          <a:xfrm rot="10141441">
            <a:off x="-107012" y="2843366"/>
            <a:ext cx="12466655" cy="244769"/>
          </a:xfrm>
          <a:custGeom>
            <a:avLst/>
            <a:gdLst>
              <a:gd name="connsiteX0" fmla="*/ 9485248 w 12466655"/>
              <a:gd name="connsiteY0" fmla="*/ 244769 h 244769"/>
              <a:gd name="connsiteX1" fmla="*/ 9424055 w 12466655"/>
              <a:gd name="connsiteY1" fmla="*/ 0 h 244769"/>
              <a:gd name="connsiteX2" fmla="*/ 12466655 w 12466655"/>
              <a:gd name="connsiteY2" fmla="*/ 0 h 244769"/>
              <a:gd name="connsiteX3" fmla="*/ 12419183 w 12466655"/>
              <a:gd name="connsiteY3" fmla="*/ 244769 h 244769"/>
              <a:gd name="connsiteX4" fmla="*/ 0 w 12466655"/>
              <a:gd name="connsiteY4" fmla="*/ 244769 h 244769"/>
              <a:gd name="connsiteX5" fmla="*/ 47472 w 12466655"/>
              <a:gd name="connsiteY5" fmla="*/ 0 h 244769"/>
              <a:gd name="connsiteX6" fmla="*/ 8762326 w 12466655"/>
              <a:gd name="connsiteY6" fmla="*/ 0 h 244769"/>
              <a:gd name="connsiteX7" fmla="*/ 8823518 w 12466655"/>
              <a:gd name="connsiteY7" fmla="*/ 244769 h 244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66655" h="244769">
                <a:moveTo>
                  <a:pt x="9485248" y="244769"/>
                </a:moveTo>
                <a:lnTo>
                  <a:pt x="9424055" y="0"/>
                </a:lnTo>
                <a:lnTo>
                  <a:pt x="12466655" y="0"/>
                </a:lnTo>
                <a:lnTo>
                  <a:pt x="12419183" y="244769"/>
                </a:lnTo>
                <a:close/>
                <a:moveTo>
                  <a:pt x="0" y="244769"/>
                </a:moveTo>
                <a:lnTo>
                  <a:pt x="47472" y="0"/>
                </a:lnTo>
                <a:lnTo>
                  <a:pt x="8762326" y="0"/>
                </a:lnTo>
                <a:lnTo>
                  <a:pt x="8823518" y="244769"/>
                </a:lnTo>
                <a:close/>
              </a:path>
            </a:pathLst>
          </a:custGeom>
          <a:solidFill>
            <a:srgbClr val="E2F4FA">
              <a:alpha val="7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51" name="直接连接符 50"/>
          <p:cNvCxnSpPr/>
          <p:nvPr/>
        </p:nvCxnSpPr>
        <p:spPr>
          <a:xfrm flipV="1">
            <a:off x="6096000" y="5919133"/>
            <a:ext cx="6224454" cy="955312"/>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V="1">
            <a:off x="6819900" y="6062052"/>
            <a:ext cx="5380251" cy="825746"/>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7581900" y="6162507"/>
            <a:ext cx="4720884" cy="724548"/>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8067675" y="6243073"/>
            <a:ext cx="4295954" cy="659331"/>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9016734" y="6374495"/>
            <a:ext cx="3373781" cy="517798"/>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9686925" y="6473754"/>
            <a:ext cx="2660415" cy="408313"/>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10325100" y="6594881"/>
            <a:ext cx="2007411" cy="308090"/>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11239500" y="6716292"/>
            <a:ext cx="1063284" cy="163189"/>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11677650" y="6804013"/>
            <a:ext cx="756042" cy="116034"/>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9814110" y="169889"/>
            <a:ext cx="2096408" cy="605580"/>
            <a:chOff x="3854450" y="4787900"/>
            <a:chExt cx="4462463" cy="1289050"/>
          </a:xfrm>
          <a:solidFill>
            <a:srgbClr val="C00000"/>
          </a:solidFill>
        </p:grpSpPr>
        <p:sp>
          <p:nvSpPr>
            <p:cNvPr id="18" name="Freeform 5"/>
            <p:cNvSpPr/>
            <p:nvPr/>
          </p:nvSpPr>
          <p:spPr bwMode="auto">
            <a:xfrm>
              <a:off x="7772400" y="5827713"/>
              <a:ext cx="112713" cy="158750"/>
            </a:xfrm>
            <a:custGeom>
              <a:avLst/>
              <a:gdLst>
                <a:gd name="T0" fmla="*/ 0 w 20"/>
                <a:gd name="T1" fmla="*/ 16 h 28"/>
                <a:gd name="T2" fmla="*/ 0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8 w 20"/>
                <a:gd name="T21" fmla="*/ 9 h 28"/>
                <a:gd name="T22" fmla="*/ 18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9 w 20"/>
                <a:gd name="T35" fmla="*/ 28 h 28"/>
                <a:gd name="T36" fmla="*/ 2 w 20"/>
                <a:gd name="T37" fmla="*/ 26 h 28"/>
                <a:gd name="T38" fmla="*/ 0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0" y="16"/>
                  </a:cubicBezTo>
                  <a:cubicBezTo>
                    <a:pt x="1" y="16"/>
                    <a:pt x="1" y="16"/>
                    <a:pt x="1" y="17"/>
                  </a:cubicBezTo>
                  <a:cubicBezTo>
                    <a:pt x="2" y="22"/>
                    <a:pt x="4"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6" y="1"/>
                    <a:pt x="17" y="1"/>
                  </a:cubicBezTo>
                  <a:cubicBezTo>
                    <a:pt x="17" y="1"/>
                    <a:pt x="18" y="1"/>
                    <a:pt x="18" y="2"/>
                  </a:cubicBezTo>
                  <a:cubicBezTo>
                    <a:pt x="18" y="9"/>
                    <a:pt x="18" y="9"/>
                    <a:pt x="18" y="9"/>
                  </a:cubicBezTo>
                  <a:cubicBezTo>
                    <a:pt x="18" y="10"/>
                    <a:pt x="18" y="10"/>
                    <a:pt x="18" y="10"/>
                  </a:cubicBezTo>
                  <a:cubicBezTo>
                    <a:pt x="18" y="10"/>
                    <a:pt x="18" y="11"/>
                    <a:pt x="18" y="11"/>
                  </a:cubicBezTo>
                  <a:cubicBezTo>
                    <a:pt x="18" y="11"/>
                    <a:pt x="18" y="10"/>
                    <a:pt x="17" y="8"/>
                  </a:cubicBezTo>
                  <a:cubicBezTo>
                    <a:pt x="15" y="4"/>
                    <a:pt x="13" y="2"/>
                    <a:pt x="9" y="2"/>
                  </a:cubicBezTo>
                  <a:cubicBezTo>
                    <a:pt x="6" y="2"/>
                    <a:pt x="4" y="3"/>
                    <a:pt x="4" y="6"/>
                  </a:cubicBezTo>
                  <a:cubicBezTo>
                    <a:pt x="4" y="12"/>
                    <a:pt x="20" y="8"/>
                    <a:pt x="20" y="19"/>
                  </a:cubicBezTo>
                  <a:cubicBezTo>
                    <a:pt x="20" y="24"/>
                    <a:pt x="15" y="28"/>
                    <a:pt x="9" y="28"/>
                  </a:cubicBezTo>
                  <a:cubicBezTo>
                    <a:pt x="6" y="28"/>
                    <a:pt x="4" y="26"/>
                    <a:pt x="2" y="26"/>
                  </a:cubicBezTo>
                  <a:cubicBezTo>
                    <a:pt x="1" y="26"/>
                    <a:pt x="1" y="28"/>
                    <a:pt x="0"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6"/>
            <p:cNvSpPr/>
            <p:nvPr/>
          </p:nvSpPr>
          <p:spPr bwMode="auto">
            <a:xfrm>
              <a:off x="7435850" y="5832475"/>
              <a:ext cx="134938" cy="153988"/>
            </a:xfrm>
            <a:custGeom>
              <a:avLst/>
              <a:gdLst>
                <a:gd name="T0" fmla="*/ 4 w 24"/>
                <a:gd name="T1" fmla="*/ 3 h 27"/>
                <a:gd name="T2" fmla="*/ 0 w 24"/>
                <a:gd name="T3" fmla="*/ 0 h 27"/>
                <a:gd name="T4" fmla="*/ 1 w 24"/>
                <a:gd name="T5" fmla="*/ 0 h 27"/>
                <a:gd name="T6" fmla="*/ 7 w 24"/>
                <a:gd name="T7" fmla="*/ 0 h 27"/>
                <a:gd name="T8" fmla="*/ 21 w 24"/>
                <a:gd name="T9" fmla="*/ 0 h 27"/>
                <a:gd name="T10" fmla="*/ 23 w 24"/>
                <a:gd name="T11" fmla="*/ 7 h 27"/>
                <a:gd name="T12" fmla="*/ 23 w 24"/>
                <a:gd name="T13" fmla="*/ 8 h 27"/>
                <a:gd name="T14" fmla="*/ 22 w 24"/>
                <a:gd name="T15" fmla="*/ 9 h 27"/>
                <a:gd name="T16" fmla="*/ 21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6 w 24"/>
                <a:gd name="T29" fmla="*/ 6 h 27"/>
                <a:gd name="T30" fmla="*/ 16 w 24"/>
                <a:gd name="T31" fmla="*/ 7 h 27"/>
                <a:gd name="T32" fmla="*/ 16 w 24"/>
                <a:gd name="T33" fmla="*/ 19 h 27"/>
                <a:gd name="T34" fmla="*/ 16 w 24"/>
                <a:gd name="T35" fmla="*/ 19 h 27"/>
                <a:gd name="T36" fmla="*/ 15 w 24"/>
                <a:gd name="T37" fmla="*/ 18 h 27"/>
                <a:gd name="T38" fmla="*/ 10 w 24"/>
                <a:gd name="T39" fmla="*/ 14 h 27"/>
                <a:gd name="T40" fmla="*/ 9 w 24"/>
                <a:gd name="T41" fmla="*/ 14 h 27"/>
                <a:gd name="T42" fmla="*/ 9 w 24"/>
                <a:gd name="T43" fmla="*/ 23 h 27"/>
                <a:gd name="T44" fmla="*/ 13 w 24"/>
                <a:gd name="T45" fmla="*/ 25 h 27"/>
                <a:gd name="T46" fmla="*/ 23 w 24"/>
                <a:gd name="T47" fmla="*/ 17 h 27"/>
                <a:gd name="T48" fmla="*/ 24 w 24"/>
                <a:gd name="T49" fmla="*/ 16 h 27"/>
                <a:gd name="T50" fmla="*/ 24 w 24"/>
                <a:gd name="T51" fmla="*/ 17 h 27"/>
                <a:gd name="T52" fmla="*/ 24 w 24"/>
                <a:gd name="T53" fmla="*/ 18 h 27"/>
                <a:gd name="T54" fmla="*/ 22 w 24"/>
                <a:gd name="T55" fmla="*/ 27 h 27"/>
                <a:gd name="T56" fmla="*/ 7 w 24"/>
                <a:gd name="T57" fmla="*/ 27 h 27"/>
                <a:gd name="T58" fmla="*/ 1 w 24"/>
                <a:gd name="T59" fmla="*/ 27 h 27"/>
                <a:gd name="T60" fmla="*/ 0 w 24"/>
                <a:gd name="T61" fmla="*/ 26 h 27"/>
                <a:gd name="T62" fmla="*/ 4 w 24"/>
                <a:gd name="T63" fmla="*/ 23 h 27"/>
                <a:gd name="T64" fmla="*/ 4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4" y="3"/>
                  </a:moveTo>
                  <a:cubicBezTo>
                    <a:pt x="4" y="0"/>
                    <a:pt x="0" y="1"/>
                    <a:pt x="0" y="0"/>
                  </a:cubicBezTo>
                  <a:cubicBezTo>
                    <a:pt x="0" y="0"/>
                    <a:pt x="0" y="0"/>
                    <a:pt x="1" y="0"/>
                  </a:cubicBezTo>
                  <a:cubicBezTo>
                    <a:pt x="3" y="0"/>
                    <a:pt x="5" y="0"/>
                    <a:pt x="7" y="0"/>
                  </a:cubicBezTo>
                  <a:cubicBezTo>
                    <a:pt x="11" y="0"/>
                    <a:pt x="16" y="0"/>
                    <a:pt x="21" y="0"/>
                  </a:cubicBezTo>
                  <a:cubicBezTo>
                    <a:pt x="23" y="7"/>
                    <a:pt x="23" y="7"/>
                    <a:pt x="23" y="7"/>
                  </a:cubicBezTo>
                  <a:cubicBezTo>
                    <a:pt x="23" y="8"/>
                    <a:pt x="23" y="8"/>
                    <a:pt x="23" y="8"/>
                  </a:cubicBezTo>
                  <a:cubicBezTo>
                    <a:pt x="23" y="9"/>
                    <a:pt x="23" y="9"/>
                    <a:pt x="22" y="9"/>
                  </a:cubicBezTo>
                  <a:cubicBezTo>
                    <a:pt x="22" y="9"/>
                    <a:pt x="22" y="8"/>
                    <a:pt x="21" y="5"/>
                  </a:cubicBezTo>
                  <a:cubicBezTo>
                    <a:pt x="19"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6" y="6"/>
                  </a:cubicBezTo>
                  <a:cubicBezTo>
                    <a:pt x="16" y="6"/>
                    <a:pt x="16" y="6"/>
                    <a:pt x="16" y="7"/>
                  </a:cubicBezTo>
                  <a:cubicBezTo>
                    <a:pt x="16" y="19"/>
                    <a:pt x="16" y="19"/>
                    <a:pt x="16" y="19"/>
                  </a:cubicBezTo>
                  <a:cubicBezTo>
                    <a:pt x="16" y="19"/>
                    <a:pt x="16" y="19"/>
                    <a:pt x="16"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1" y="25"/>
                    <a:pt x="13" y="25"/>
                  </a:cubicBezTo>
                  <a:cubicBezTo>
                    <a:pt x="18" y="25"/>
                    <a:pt x="22" y="21"/>
                    <a:pt x="23" y="17"/>
                  </a:cubicBezTo>
                  <a:cubicBezTo>
                    <a:pt x="24" y="17"/>
                    <a:pt x="24" y="16"/>
                    <a:pt x="24" y="16"/>
                  </a:cubicBezTo>
                  <a:cubicBezTo>
                    <a:pt x="24" y="16"/>
                    <a:pt x="24" y="17"/>
                    <a:pt x="24" y="17"/>
                  </a:cubicBezTo>
                  <a:cubicBezTo>
                    <a:pt x="24" y="17"/>
                    <a:pt x="24" y="18"/>
                    <a:pt x="24" y="18"/>
                  </a:cubicBezTo>
                  <a:cubicBezTo>
                    <a:pt x="22" y="27"/>
                    <a:pt x="22" y="27"/>
                    <a:pt x="22" y="27"/>
                  </a:cubicBezTo>
                  <a:cubicBezTo>
                    <a:pt x="17" y="27"/>
                    <a:pt x="12" y="27"/>
                    <a:pt x="7" y="27"/>
                  </a:cubicBezTo>
                  <a:cubicBezTo>
                    <a:pt x="5" y="27"/>
                    <a:pt x="3" y="27"/>
                    <a:pt x="1" y="27"/>
                  </a:cubicBezTo>
                  <a:cubicBezTo>
                    <a:pt x="0" y="27"/>
                    <a:pt x="0" y="27"/>
                    <a:pt x="0" y="26"/>
                  </a:cubicBezTo>
                  <a:cubicBezTo>
                    <a:pt x="0" y="25"/>
                    <a:pt x="4" y="27"/>
                    <a:pt x="4" y="23"/>
                  </a:cubicBezTo>
                  <a:lnTo>
                    <a:pt x="4"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7"/>
            <p:cNvSpPr/>
            <p:nvPr/>
          </p:nvSpPr>
          <p:spPr bwMode="auto">
            <a:xfrm>
              <a:off x="6999288" y="5832475"/>
              <a:ext cx="161925" cy="158750"/>
            </a:xfrm>
            <a:custGeom>
              <a:avLst/>
              <a:gdLst>
                <a:gd name="T0" fmla="*/ 7 w 29"/>
                <a:gd name="T1" fmla="*/ 21 h 28"/>
                <a:gd name="T2" fmla="*/ 9 w 29"/>
                <a:gd name="T3" fmla="*/ 26 h 28"/>
                <a:gd name="T4" fmla="*/ 11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7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9" y="26"/>
                  </a:cubicBezTo>
                  <a:cubicBezTo>
                    <a:pt x="10" y="26"/>
                    <a:pt x="11" y="26"/>
                    <a:pt x="11" y="26"/>
                  </a:cubicBezTo>
                  <a:cubicBezTo>
                    <a:pt x="11" y="27"/>
                    <a:pt x="11" y="27"/>
                    <a:pt x="11" y="27"/>
                  </a:cubicBezTo>
                  <a:cubicBezTo>
                    <a:pt x="10" y="27"/>
                    <a:pt x="7" y="27"/>
                    <a:pt x="5" y="27"/>
                  </a:cubicBezTo>
                  <a:cubicBezTo>
                    <a:pt x="3" y="27"/>
                    <a:pt x="2" y="27"/>
                    <a:pt x="1" y="27"/>
                  </a:cubicBezTo>
                  <a:cubicBezTo>
                    <a:pt x="0" y="27"/>
                    <a:pt x="0" y="27"/>
                    <a:pt x="0" y="26"/>
                  </a:cubicBezTo>
                  <a:cubicBezTo>
                    <a:pt x="0" y="26"/>
                    <a:pt x="1" y="26"/>
                    <a:pt x="2" y="26"/>
                  </a:cubicBezTo>
                  <a:cubicBezTo>
                    <a:pt x="3"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7" y="1"/>
                    <a:pt x="17" y="0"/>
                  </a:cubicBezTo>
                  <a:cubicBezTo>
                    <a:pt x="17" y="0"/>
                    <a:pt x="18" y="0"/>
                    <a:pt x="18" y="0"/>
                  </a:cubicBezTo>
                  <a:cubicBezTo>
                    <a:pt x="19" y="0"/>
                    <a:pt x="22" y="0"/>
                    <a:pt x="24" y="0"/>
                  </a:cubicBezTo>
                  <a:cubicBezTo>
                    <a:pt x="25"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8"/>
            <p:cNvSpPr/>
            <p:nvPr/>
          </p:nvSpPr>
          <p:spPr bwMode="auto">
            <a:xfrm>
              <a:off x="5440363" y="5827713"/>
              <a:ext cx="112713" cy="158750"/>
            </a:xfrm>
            <a:custGeom>
              <a:avLst/>
              <a:gdLst>
                <a:gd name="T0" fmla="*/ 0 w 20"/>
                <a:gd name="T1" fmla="*/ 16 h 28"/>
                <a:gd name="T2" fmla="*/ 1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9 w 20"/>
                <a:gd name="T21" fmla="*/ 9 h 28"/>
                <a:gd name="T22" fmla="*/ 19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10 w 20"/>
                <a:gd name="T35" fmla="*/ 28 h 28"/>
                <a:gd name="T36" fmla="*/ 2 w 20"/>
                <a:gd name="T37" fmla="*/ 26 h 28"/>
                <a:gd name="T38" fmla="*/ 1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1" y="16"/>
                  </a:cubicBezTo>
                  <a:cubicBezTo>
                    <a:pt x="1" y="16"/>
                    <a:pt x="1" y="16"/>
                    <a:pt x="1" y="17"/>
                  </a:cubicBezTo>
                  <a:cubicBezTo>
                    <a:pt x="2" y="22"/>
                    <a:pt x="5"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7" y="1"/>
                    <a:pt x="17" y="1"/>
                  </a:cubicBezTo>
                  <a:cubicBezTo>
                    <a:pt x="18" y="1"/>
                    <a:pt x="18" y="1"/>
                    <a:pt x="18" y="2"/>
                  </a:cubicBezTo>
                  <a:cubicBezTo>
                    <a:pt x="19" y="9"/>
                    <a:pt x="19" y="9"/>
                    <a:pt x="19" y="9"/>
                  </a:cubicBezTo>
                  <a:cubicBezTo>
                    <a:pt x="19" y="10"/>
                    <a:pt x="19" y="10"/>
                    <a:pt x="19" y="10"/>
                  </a:cubicBezTo>
                  <a:cubicBezTo>
                    <a:pt x="19" y="10"/>
                    <a:pt x="19" y="11"/>
                    <a:pt x="18" y="11"/>
                  </a:cubicBezTo>
                  <a:cubicBezTo>
                    <a:pt x="18" y="11"/>
                    <a:pt x="18" y="10"/>
                    <a:pt x="17" y="8"/>
                  </a:cubicBezTo>
                  <a:cubicBezTo>
                    <a:pt x="16" y="4"/>
                    <a:pt x="13" y="2"/>
                    <a:pt x="9" y="2"/>
                  </a:cubicBezTo>
                  <a:cubicBezTo>
                    <a:pt x="7" y="2"/>
                    <a:pt x="4" y="3"/>
                    <a:pt x="4" y="6"/>
                  </a:cubicBezTo>
                  <a:cubicBezTo>
                    <a:pt x="4" y="12"/>
                    <a:pt x="20" y="8"/>
                    <a:pt x="20" y="19"/>
                  </a:cubicBezTo>
                  <a:cubicBezTo>
                    <a:pt x="20" y="24"/>
                    <a:pt x="16" y="28"/>
                    <a:pt x="10" y="28"/>
                  </a:cubicBezTo>
                  <a:cubicBezTo>
                    <a:pt x="6" y="28"/>
                    <a:pt x="4" y="26"/>
                    <a:pt x="2" y="26"/>
                  </a:cubicBezTo>
                  <a:cubicBezTo>
                    <a:pt x="1" y="26"/>
                    <a:pt x="1" y="28"/>
                    <a:pt x="1"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9"/>
            <p:cNvSpPr/>
            <p:nvPr/>
          </p:nvSpPr>
          <p:spPr bwMode="auto">
            <a:xfrm>
              <a:off x="5580063"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Freeform 10"/>
            <p:cNvSpPr/>
            <p:nvPr/>
          </p:nvSpPr>
          <p:spPr bwMode="auto">
            <a:xfrm>
              <a:off x="5765800" y="5832475"/>
              <a:ext cx="134938"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11"/>
            <p:cNvSpPr/>
            <p:nvPr/>
          </p:nvSpPr>
          <p:spPr bwMode="auto">
            <a:xfrm>
              <a:off x="5916613"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12"/>
            <p:cNvSpPr/>
            <p:nvPr/>
          </p:nvSpPr>
          <p:spPr bwMode="auto">
            <a:xfrm>
              <a:off x="6096000" y="5832475"/>
              <a:ext cx="119063" cy="153988"/>
            </a:xfrm>
            <a:custGeom>
              <a:avLst/>
              <a:gdLst>
                <a:gd name="T0" fmla="*/ 10 w 21"/>
                <a:gd name="T1" fmla="*/ 25 h 27"/>
                <a:gd name="T2" fmla="*/ 19 w 21"/>
                <a:gd name="T3" fmla="*/ 21 h 27"/>
                <a:gd name="T4" fmla="*/ 21 w 21"/>
                <a:gd name="T5" fmla="*/ 16 h 27"/>
                <a:gd name="T6" fmla="*/ 21 w 21"/>
                <a:gd name="T7" fmla="*/ 17 h 27"/>
                <a:gd name="T8" fmla="*/ 21 w 21"/>
                <a:gd name="T9" fmla="*/ 18 h 27"/>
                <a:gd name="T10" fmla="*/ 19 w 21"/>
                <a:gd name="T11" fmla="*/ 27 h 27"/>
                <a:gd name="T12" fmla="*/ 10 w 21"/>
                <a:gd name="T13" fmla="*/ 27 h 27"/>
                <a:gd name="T14" fmla="*/ 0 w 21"/>
                <a:gd name="T15" fmla="*/ 27 h 27"/>
                <a:gd name="T16" fmla="*/ 0 w 21"/>
                <a:gd name="T17" fmla="*/ 26 h 27"/>
                <a:gd name="T18" fmla="*/ 0 w 21"/>
                <a:gd name="T19" fmla="*/ 25 h 27"/>
                <a:gd name="T20" fmla="*/ 14 w 21"/>
                <a:gd name="T21" fmla="*/ 2 h 27"/>
                <a:gd name="T22" fmla="*/ 12 w 21"/>
                <a:gd name="T23" fmla="*/ 2 h 27"/>
                <a:gd name="T24" fmla="*/ 3 w 21"/>
                <a:gd name="T25" fmla="*/ 5 h 27"/>
                <a:gd name="T26" fmla="*/ 1 w 21"/>
                <a:gd name="T27" fmla="*/ 9 h 27"/>
                <a:gd name="T28" fmla="*/ 1 w 21"/>
                <a:gd name="T29" fmla="*/ 8 h 27"/>
                <a:gd name="T30" fmla="*/ 1 w 21"/>
                <a:gd name="T31" fmla="*/ 7 h 27"/>
                <a:gd name="T32" fmla="*/ 3 w 21"/>
                <a:gd name="T33" fmla="*/ 0 h 27"/>
                <a:gd name="T34" fmla="*/ 12 w 21"/>
                <a:gd name="T35" fmla="*/ 0 h 27"/>
                <a:gd name="T36" fmla="*/ 21 w 21"/>
                <a:gd name="T37" fmla="*/ 0 h 27"/>
                <a:gd name="T38" fmla="*/ 21 w 21"/>
                <a:gd name="T39" fmla="*/ 0 h 27"/>
                <a:gd name="T40" fmla="*/ 21 w 21"/>
                <a:gd name="T41" fmla="*/ 1 h 27"/>
                <a:gd name="T42" fmla="*/ 7 w 21"/>
                <a:gd name="T43" fmla="*/ 25 h 27"/>
                <a:gd name="T44" fmla="*/ 10 w 21"/>
                <a:gd name="T4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7">
                  <a:moveTo>
                    <a:pt x="10" y="25"/>
                  </a:moveTo>
                  <a:cubicBezTo>
                    <a:pt x="16" y="25"/>
                    <a:pt x="17" y="24"/>
                    <a:pt x="19" y="21"/>
                  </a:cubicBezTo>
                  <a:cubicBezTo>
                    <a:pt x="20" y="19"/>
                    <a:pt x="20" y="16"/>
                    <a:pt x="21" y="16"/>
                  </a:cubicBezTo>
                  <a:cubicBezTo>
                    <a:pt x="21" y="16"/>
                    <a:pt x="21" y="17"/>
                    <a:pt x="21" y="17"/>
                  </a:cubicBezTo>
                  <a:cubicBezTo>
                    <a:pt x="21" y="17"/>
                    <a:pt x="21" y="18"/>
                    <a:pt x="21" y="18"/>
                  </a:cubicBezTo>
                  <a:cubicBezTo>
                    <a:pt x="19" y="27"/>
                    <a:pt x="19" y="27"/>
                    <a:pt x="19" y="27"/>
                  </a:cubicBezTo>
                  <a:cubicBezTo>
                    <a:pt x="16" y="27"/>
                    <a:pt x="13" y="27"/>
                    <a:pt x="10" y="27"/>
                  </a:cubicBezTo>
                  <a:cubicBezTo>
                    <a:pt x="7" y="27"/>
                    <a:pt x="3" y="27"/>
                    <a:pt x="0" y="27"/>
                  </a:cubicBezTo>
                  <a:cubicBezTo>
                    <a:pt x="0" y="27"/>
                    <a:pt x="0" y="27"/>
                    <a:pt x="0" y="26"/>
                  </a:cubicBezTo>
                  <a:cubicBezTo>
                    <a:pt x="0" y="26"/>
                    <a:pt x="0" y="26"/>
                    <a:pt x="0" y="25"/>
                  </a:cubicBezTo>
                  <a:cubicBezTo>
                    <a:pt x="14" y="2"/>
                    <a:pt x="14" y="2"/>
                    <a:pt x="14" y="2"/>
                  </a:cubicBezTo>
                  <a:cubicBezTo>
                    <a:pt x="12" y="2"/>
                    <a:pt x="12" y="2"/>
                    <a:pt x="12" y="2"/>
                  </a:cubicBezTo>
                  <a:cubicBezTo>
                    <a:pt x="6" y="2"/>
                    <a:pt x="5" y="2"/>
                    <a:pt x="3" y="5"/>
                  </a:cubicBezTo>
                  <a:cubicBezTo>
                    <a:pt x="2" y="8"/>
                    <a:pt x="2" y="9"/>
                    <a:pt x="1" y="9"/>
                  </a:cubicBezTo>
                  <a:cubicBezTo>
                    <a:pt x="1" y="9"/>
                    <a:pt x="1" y="9"/>
                    <a:pt x="1" y="8"/>
                  </a:cubicBezTo>
                  <a:cubicBezTo>
                    <a:pt x="1" y="8"/>
                    <a:pt x="1" y="8"/>
                    <a:pt x="1" y="7"/>
                  </a:cubicBezTo>
                  <a:cubicBezTo>
                    <a:pt x="3" y="0"/>
                    <a:pt x="3" y="0"/>
                    <a:pt x="3" y="0"/>
                  </a:cubicBezTo>
                  <a:cubicBezTo>
                    <a:pt x="6" y="0"/>
                    <a:pt x="9" y="0"/>
                    <a:pt x="12" y="0"/>
                  </a:cubicBezTo>
                  <a:cubicBezTo>
                    <a:pt x="15" y="0"/>
                    <a:pt x="18" y="0"/>
                    <a:pt x="21" y="0"/>
                  </a:cubicBezTo>
                  <a:cubicBezTo>
                    <a:pt x="21" y="0"/>
                    <a:pt x="21" y="0"/>
                    <a:pt x="21" y="0"/>
                  </a:cubicBezTo>
                  <a:cubicBezTo>
                    <a:pt x="21" y="0"/>
                    <a:pt x="21" y="1"/>
                    <a:pt x="21" y="1"/>
                  </a:cubicBezTo>
                  <a:cubicBezTo>
                    <a:pt x="7" y="25"/>
                    <a:pt x="7" y="25"/>
                    <a:pt x="7" y="25"/>
                  </a:cubicBezTo>
                  <a:lnTo>
                    <a:pt x="10" y="2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13"/>
            <p:cNvSpPr/>
            <p:nvPr/>
          </p:nvSpPr>
          <p:spPr bwMode="auto">
            <a:xfrm>
              <a:off x="6837363" y="5832475"/>
              <a:ext cx="150813" cy="153988"/>
            </a:xfrm>
            <a:custGeom>
              <a:avLst/>
              <a:gdLst>
                <a:gd name="T0" fmla="*/ 23 w 27"/>
                <a:gd name="T1" fmla="*/ 18 h 27"/>
                <a:gd name="T2" fmla="*/ 13 w 27"/>
                <a:gd name="T3" fmla="*/ 27 h 27"/>
                <a:gd name="T4" fmla="*/ 3 w 27"/>
                <a:gd name="T5" fmla="*/ 20 h 27"/>
                <a:gd name="T6" fmla="*/ 3 w 27"/>
                <a:gd name="T7" fmla="*/ 3 h 27"/>
                <a:gd name="T8" fmla="*/ 0 w 27"/>
                <a:gd name="T9" fmla="*/ 0 h 27"/>
                <a:gd name="T10" fmla="*/ 1 w 27"/>
                <a:gd name="T11" fmla="*/ 0 h 27"/>
                <a:gd name="T12" fmla="*/ 6 w 27"/>
                <a:gd name="T13" fmla="*/ 0 h 27"/>
                <a:gd name="T14" fmla="*/ 12 w 27"/>
                <a:gd name="T15" fmla="*/ 0 h 27"/>
                <a:gd name="T16" fmla="*/ 12 w 27"/>
                <a:gd name="T17" fmla="*/ 0 h 27"/>
                <a:gd name="T18" fmla="*/ 9 w 27"/>
                <a:gd name="T19" fmla="*/ 3 h 27"/>
                <a:gd name="T20" fmla="*/ 9 w 27"/>
                <a:gd name="T21" fmla="*/ 20 h 27"/>
                <a:gd name="T22" fmla="*/ 15 w 27"/>
                <a:gd name="T23" fmla="*/ 26 h 27"/>
                <a:gd name="T24" fmla="*/ 21 w 27"/>
                <a:gd name="T25" fmla="*/ 19 h 27"/>
                <a:gd name="T26" fmla="*/ 21 w 27"/>
                <a:gd name="T27" fmla="*/ 7 h 27"/>
                <a:gd name="T28" fmla="*/ 18 w 27"/>
                <a:gd name="T29" fmla="*/ 1 h 27"/>
                <a:gd name="T30" fmla="*/ 17 w 27"/>
                <a:gd name="T31" fmla="*/ 0 h 27"/>
                <a:gd name="T32" fmla="*/ 17 w 27"/>
                <a:gd name="T33" fmla="*/ 0 h 27"/>
                <a:gd name="T34" fmla="*/ 22 w 27"/>
                <a:gd name="T35" fmla="*/ 0 h 27"/>
                <a:gd name="T36" fmla="*/ 27 w 27"/>
                <a:gd name="T37" fmla="*/ 0 h 27"/>
                <a:gd name="T38" fmla="*/ 27 w 27"/>
                <a:gd name="T39" fmla="*/ 0 h 27"/>
                <a:gd name="T40" fmla="*/ 26 w 27"/>
                <a:gd name="T41" fmla="*/ 1 h 27"/>
                <a:gd name="T42" fmla="*/ 23 w 27"/>
                <a:gd name="T43" fmla="*/ 7 h 27"/>
                <a:gd name="T44" fmla="*/ 23 w 27"/>
                <a:gd name="T45"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27">
                  <a:moveTo>
                    <a:pt x="23" y="18"/>
                  </a:moveTo>
                  <a:cubicBezTo>
                    <a:pt x="23" y="24"/>
                    <a:pt x="19" y="27"/>
                    <a:pt x="13" y="27"/>
                  </a:cubicBezTo>
                  <a:cubicBezTo>
                    <a:pt x="7" y="27"/>
                    <a:pt x="3" y="24"/>
                    <a:pt x="3" y="20"/>
                  </a:cubicBezTo>
                  <a:cubicBezTo>
                    <a:pt x="3" y="3"/>
                    <a:pt x="3" y="3"/>
                    <a:pt x="3" y="3"/>
                  </a:cubicBez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20"/>
                    <a:pt x="9" y="20"/>
                    <a:pt x="9" y="20"/>
                  </a:cubicBezTo>
                  <a:cubicBezTo>
                    <a:pt x="9" y="24"/>
                    <a:pt x="12" y="26"/>
                    <a:pt x="15" y="26"/>
                  </a:cubicBezTo>
                  <a:cubicBezTo>
                    <a:pt x="18" y="26"/>
                    <a:pt x="21" y="23"/>
                    <a:pt x="21" y="19"/>
                  </a:cubicBezTo>
                  <a:cubicBezTo>
                    <a:pt x="21" y="7"/>
                    <a:pt x="21" y="7"/>
                    <a:pt x="21" y="7"/>
                  </a:cubicBezTo>
                  <a:cubicBezTo>
                    <a:pt x="21" y="3"/>
                    <a:pt x="20" y="1"/>
                    <a:pt x="18" y="1"/>
                  </a:cubicBezTo>
                  <a:cubicBezTo>
                    <a:pt x="17" y="1"/>
                    <a:pt x="17" y="1"/>
                    <a:pt x="17" y="0"/>
                  </a:cubicBezTo>
                  <a:cubicBezTo>
                    <a:pt x="17" y="0"/>
                    <a:pt x="17" y="0"/>
                    <a:pt x="17" y="0"/>
                  </a:cubicBezTo>
                  <a:cubicBezTo>
                    <a:pt x="18" y="0"/>
                    <a:pt x="21" y="0"/>
                    <a:pt x="22" y="0"/>
                  </a:cubicBezTo>
                  <a:cubicBezTo>
                    <a:pt x="24" y="0"/>
                    <a:pt x="26" y="0"/>
                    <a:pt x="27" y="0"/>
                  </a:cubicBezTo>
                  <a:cubicBezTo>
                    <a:pt x="27" y="0"/>
                    <a:pt x="27" y="0"/>
                    <a:pt x="27" y="0"/>
                  </a:cubicBezTo>
                  <a:cubicBezTo>
                    <a:pt x="27" y="1"/>
                    <a:pt x="26" y="1"/>
                    <a:pt x="26" y="1"/>
                  </a:cubicBezTo>
                  <a:cubicBezTo>
                    <a:pt x="24" y="1"/>
                    <a:pt x="23" y="3"/>
                    <a:pt x="23" y="7"/>
                  </a:cubicBezTo>
                  <a:lnTo>
                    <a:pt x="23" y="1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14"/>
            <p:cNvSpPr/>
            <p:nvPr/>
          </p:nvSpPr>
          <p:spPr bwMode="auto">
            <a:xfrm>
              <a:off x="7178675" y="5832475"/>
              <a:ext cx="73025" cy="153988"/>
            </a:xfrm>
            <a:custGeom>
              <a:avLst/>
              <a:gdLst>
                <a:gd name="T0" fmla="*/ 3 w 13"/>
                <a:gd name="T1" fmla="*/ 3 h 27"/>
                <a:gd name="T2" fmla="*/ 0 w 13"/>
                <a:gd name="T3" fmla="*/ 0 h 27"/>
                <a:gd name="T4" fmla="*/ 1 w 13"/>
                <a:gd name="T5" fmla="*/ 0 h 27"/>
                <a:gd name="T6" fmla="*/ 6 w 13"/>
                <a:gd name="T7" fmla="*/ 0 h 27"/>
                <a:gd name="T8" fmla="*/ 12 w 13"/>
                <a:gd name="T9" fmla="*/ 0 h 27"/>
                <a:gd name="T10" fmla="*/ 13 w 13"/>
                <a:gd name="T11" fmla="*/ 0 h 27"/>
                <a:gd name="T12" fmla="*/ 9 w 13"/>
                <a:gd name="T13" fmla="*/ 3 h 27"/>
                <a:gd name="T14" fmla="*/ 9 w 13"/>
                <a:gd name="T15" fmla="*/ 23 h 27"/>
                <a:gd name="T16" fmla="*/ 13 w 13"/>
                <a:gd name="T17" fmla="*/ 26 h 27"/>
                <a:gd name="T18" fmla="*/ 12 w 13"/>
                <a:gd name="T19" fmla="*/ 27 h 27"/>
                <a:gd name="T20" fmla="*/ 6 w 13"/>
                <a:gd name="T21" fmla="*/ 27 h 27"/>
                <a:gd name="T22" fmla="*/ 1 w 13"/>
                <a:gd name="T23" fmla="*/ 27 h 27"/>
                <a:gd name="T24" fmla="*/ 0 w 13"/>
                <a:gd name="T25" fmla="*/ 26 h 27"/>
                <a:gd name="T26" fmla="*/ 3 w 13"/>
                <a:gd name="T27" fmla="*/ 23 h 27"/>
                <a:gd name="T28" fmla="*/ 3 w 13"/>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27">
                  <a:moveTo>
                    <a:pt x="3" y="3"/>
                  </a:moveTo>
                  <a:cubicBezTo>
                    <a:pt x="3" y="0"/>
                    <a:pt x="0" y="1"/>
                    <a:pt x="0" y="0"/>
                  </a:cubicBezTo>
                  <a:cubicBezTo>
                    <a:pt x="0" y="0"/>
                    <a:pt x="0" y="0"/>
                    <a:pt x="1" y="0"/>
                  </a:cubicBezTo>
                  <a:cubicBezTo>
                    <a:pt x="3" y="0"/>
                    <a:pt x="5" y="0"/>
                    <a:pt x="6" y="0"/>
                  </a:cubicBezTo>
                  <a:cubicBezTo>
                    <a:pt x="8" y="0"/>
                    <a:pt x="10" y="0"/>
                    <a:pt x="12" y="0"/>
                  </a:cubicBezTo>
                  <a:cubicBezTo>
                    <a:pt x="12" y="0"/>
                    <a:pt x="13" y="0"/>
                    <a:pt x="13" y="0"/>
                  </a:cubicBezTo>
                  <a:cubicBezTo>
                    <a:pt x="13" y="1"/>
                    <a:pt x="9" y="0"/>
                    <a:pt x="9" y="3"/>
                  </a:cubicBezTo>
                  <a:cubicBezTo>
                    <a:pt x="9" y="23"/>
                    <a:pt x="9" y="23"/>
                    <a:pt x="9" y="23"/>
                  </a:cubicBezTo>
                  <a:cubicBezTo>
                    <a:pt x="9" y="27"/>
                    <a:pt x="13" y="25"/>
                    <a:pt x="13" y="26"/>
                  </a:cubicBezTo>
                  <a:cubicBezTo>
                    <a:pt x="13"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15"/>
            <p:cNvSpPr/>
            <p:nvPr/>
          </p:nvSpPr>
          <p:spPr bwMode="auto">
            <a:xfrm>
              <a:off x="7267575" y="5832475"/>
              <a:ext cx="157163" cy="153988"/>
            </a:xfrm>
            <a:custGeom>
              <a:avLst/>
              <a:gdLst>
                <a:gd name="T0" fmla="*/ 20 w 28"/>
                <a:gd name="T1" fmla="*/ 7 h 27"/>
                <a:gd name="T2" fmla="*/ 20 w 28"/>
                <a:gd name="T3" fmla="*/ 4 h 27"/>
                <a:gd name="T4" fmla="*/ 17 w 28"/>
                <a:gd name="T5" fmla="*/ 0 h 27"/>
                <a:gd name="T6" fmla="*/ 18 w 28"/>
                <a:gd name="T7" fmla="*/ 0 h 27"/>
                <a:gd name="T8" fmla="*/ 21 w 28"/>
                <a:gd name="T9" fmla="*/ 0 h 27"/>
                <a:gd name="T10" fmla="*/ 27 w 28"/>
                <a:gd name="T11" fmla="*/ 0 h 27"/>
                <a:gd name="T12" fmla="*/ 28 w 28"/>
                <a:gd name="T13" fmla="*/ 0 h 27"/>
                <a:gd name="T14" fmla="*/ 23 w 28"/>
                <a:gd name="T15" fmla="*/ 6 h 27"/>
                <a:gd name="T16" fmla="*/ 14 w 28"/>
                <a:gd name="T17" fmla="*/ 26 h 27"/>
                <a:gd name="T18" fmla="*/ 13 w 28"/>
                <a:gd name="T19" fmla="*/ 27 h 27"/>
                <a:gd name="T20" fmla="*/ 13 w 28"/>
                <a:gd name="T21" fmla="*/ 26 h 27"/>
                <a:gd name="T22" fmla="*/ 3 w 28"/>
                <a:gd name="T23" fmla="*/ 3 h 27"/>
                <a:gd name="T24" fmla="*/ 0 w 28"/>
                <a:gd name="T25" fmla="*/ 0 h 27"/>
                <a:gd name="T26" fmla="*/ 0 w 28"/>
                <a:gd name="T27" fmla="*/ 0 h 27"/>
                <a:gd name="T28" fmla="*/ 6 w 28"/>
                <a:gd name="T29" fmla="*/ 0 h 27"/>
                <a:gd name="T30" fmla="*/ 11 w 28"/>
                <a:gd name="T31" fmla="*/ 0 h 27"/>
                <a:gd name="T32" fmla="*/ 12 w 28"/>
                <a:gd name="T33" fmla="*/ 0 h 27"/>
                <a:gd name="T34" fmla="*/ 9 w 28"/>
                <a:gd name="T35" fmla="*/ 2 h 27"/>
                <a:gd name="T36" fmla="*/ 10 w 28"/>
                <a:gd name="T37" fmla="*/ 4 h 27"/>
                <a:gd name="T38" fmla="*/ 15 w 28"/>
                <a:gd name="T39" fmla="*/ 18 h 27"/>
                <a:gd name="T40" fmla="*/ 20 w 28"/>
                <a:gd name="T4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7">
                  <a:moveTo>
                    <a:pt x="20" y="7"/>
                  </a:moveTo>
                  <a:cubicBezTo>
                    <a:pt x="20" y="6"/>
                    <a:pt x="20" y="5"/>
                    <a:pt x="20" y="4"/>
                  </a:cubicBezTo>
                  <a:cubicBezTo>
                    <a:pt x="20" y="0"/>
                    <a:pt x="17" y="1"/>
                    <a:pt x="17" y="0"/>
                  </a:cubicBezTo>
                  <a:cubicBezTo>
                    <a:pt x="17" y="0"/>
                    <a:pt x="17" y="0"/>
                    <a:pt x="18" y="0"/>
                  </a:cubicBezTo>
                  <a:cubicBezTo>
                    <a:pt x="19" y="0"/>
                    <a:pt x="20" y="0"/>
                    <a:pt x="21" y="0"/>
                  </a:cubicBezTo>
                  <a:cubicBezTo>
                    <a:pt x="23" y="0"/>
                    <a:pt x="25" y="0"/>
                    <a:pt x="27" y="0"/>
                  </a:cubicBezTo>
                  <a:cubicBezTo>
                    <a:pt x="27" y="0"/>
                    <a:pt x="28" y="0"/>
                    <a:pt x="28" y="0"/>
                  </a:cubicBezTo>
                  <a:cubicBezTo>
                    <a:pt x="28" y="2"/>
                    <a:pt x="25" y="0"/>
                    <a:pt x="23" y="6"/>
                  </a:cubicBezTo>
                  <a:cubicBezTo>
                    <a:pt x="14" y="26"/>
                    <a:pt x="14" y="26"/>
                    <a:pt x="14" y="26"/>
                  </a:cubicBezTo>
                  <a:cubicBezTo>
                    <a:pt x="14" y="27"/>
                    <a:pt x="14" y="27"/>
                    <a:pt x="13" y="27"/>
                  </a:cubicBezTo>
                  <a:cubicBezTo>
                    <a:pt x="13" y="27"/>
                    <a:pt x="13" y="27"/>
                    <a:pt x="13" y="26"/>
                  </a:cubicBezTo>
                  <a:cubicBezTo>
                    <a:pt x="3" y="3"/>
                    <a:pt x="3" y="3"/>
                    <a:pt x="3" y="3"/>
                  </a:cubicBezTo>
                  <a:cubicBezTo>
                    <a:pt x="2" y="0"/>
                    <a:pt x="0" y="1"/>
                    <a:pt x="0" y="0"/>
                  </a:cubicBezTo>
                  <a:cubicBezTo>
                    <a:pt x="0" y="0"/>
                    <a:pt x="0" y="0"/>
                    <a:pt x="0" y="0"/>
                  </a:cubicBezTo>
                  <a:cubicBezTo>
                    <a:pt x="2" y="0"/>
                    <a:pt x="4" y="0"/>
                    <a:pt x="6" y="0"/>
                  </a:cubicBezTo>
                  <a:cubicBezTo>
                    <a:pt x="8" y="0"/>
                    <a:pt x="9" y="0"/>
                    <a:pt x="11" y="0"/>
                  </a:cubicBezTo>
                  <a:cubicBezTo>
                    <a:pt x="12" y="0"/>
                    <a:pt x="12" y="0"/>
                    <a:pt x="12" y="0"/>
                  </a:cubicBezTo>
                  <a:cubicBezTo>
                    <a:pt x="12" y="1"/>
                    <a:pt x="9" y="0"/>
                    <a:pt x="9" y="2"/>
                  </a:cubicBezTo>
                  <a:cubicBezTo>
                    <a:pt x="9" y="3"/>
                    <a:pt x="10" y="3"/>
                    <a:pt x="10" y="4"/>
                  </a:cubicBezTo>
                  <a:cubicBezTo>
                    <a:pt x="15" y="18"/>
                    <a:pt x="15" y="18"/>
                    <a:pt x="15" y="18"/>
                  </a:cubicBezTo>
                  <a:lnTo>
                    <a:pt x="20" y="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16"/>
            <p:cNvSpPr>
              <a:spLocks noEditPoints="1"/>
            </p:cNvSpPr>
            <p:nvPr/>
          </p:nvSpPr>
          <p:spPr bwMode="auto">
            <a:xfrm>
              <a:off x="7599363" y="5832475"/>
              <a:ext cx="157163" cy="153988"/>
            </a:xfrm>
            <a:custGeom>
              <a:avLst/>
              <a:gdLst>
                <a:gd name="T0" fmla="*/ 14 w 28"/>
                <a:gd name="T1" fmla="*/ 17 h 27"/>
                <a:gd name="T2" fmla="*/ 9 w 28"/>
                <a:gd name="T3" fmla="*/ 14 h 27"/>
                <a:gd name="T4" fmla="*/ 9 w 28"/>
                <a:gd name="T5" fmla="*/ 23 h 27"/>
                <a:gd name="T6" fmla="*/ 13 w 28"/>
                <a:gd name="T7" fmla="*/ 26 h 27"/>
                <a:gd name="T8" fmla="*/ 12 w 28"/>
                <a:gd name="T9" fmla="*/ 27 h 27"/>
                <a:gd name="T10" fmla="*/ 6 w 28"/>
                <a:gd name="T11" fmla="*/ 27 h 27"/>
                <a:gd name="T12" fmla="*/ 1 w 28"/>
                <a:gd name="T13" fmla="*/ 27 h 27"/>
                <a:gd name="T14" fmla="*/ 0 w 28"/>
                <a:gd name="T15" fmla="*/ 26 h 27"/>
                <a:gd name="T16" fmla="*/ 4 w 28"/>
                <a:gd name="T17" fmla="*/ 23 h 27"/>
                <a:gd name="T18" fmla="*/ 4 w 28"/>
                <a:gd name="T19" fmla="*/ 3 h 27"/>
                <a:gd name="T20" fmla="*/ 0 w 28"/>
                <a:gd name="T21" fmla="*/ 0 h 27"/>
                <a:gd name="T22" fmla="*/ 1 w 28"/>
                <a:gd name="T23" fmla="*/ 0 h 27"/>
                <a:gd name="T24" fmla="*/ 6 w 28"/>
                <a:gd name="T25" fmla="*/ 0 h 27"/>
                <a:gd name="T26" fmla="*/ 13 w 28"/>
                <a:gd name="T27" fmla="*/ 0 h 27"/>
                <a:gd name="T28" fmla="*/ 23 w 28"/>
                <a:gd name="T29" fmla="*/ 7 h 27"/>
                <a:gd name="T30" fmla="*/ 13 w 28"/>
                <a:gd name="T31" fmla="*/ 14 h 27"/>
                <a:gd name="T32" fmla="*/ 13 w 28"/>
                <a:gd name="T33" fmla="*/ 14 h 27"/>
                <a:gd name="T34" fmla="*/ 21 w 28"/>
                <a:gd name="T35" fmla="*/ 18 h 27"/>
                <a:gd name="T36" fmla="*/ 24 w 28"/>
                <a:gd name="T37" fmla="*/ 24 h 27"/>
                <a:gd name="T38" fmla="*/ 28 w 28"/>
                <a:gd name="T39" fmla="*/ 26 h 27"/>
                <a:gd name="T40" fmla="*/ 28 w 28"/>
                <a:gd name="T41" fmla="*/ 27 h 27"/>
                <a:gd name="T42" fmla="*/ 23 w 28"/>
                <a:gd name="T43" fmla="*/ 27 h 27"/>
                <a:gd name="T44" fmla="*/ 19 w 28"/>
                <a:gd name="T45" fmla="*/ 27 h 27"/>
                <a:gd name="T46" fmla="*/ 14 w 28"/>
                <a:gd name="T47" fmla="*/ 17 h 27"/>
                <a:gd name="T48" fmla="*/ 9 w 28"/>
                <a:gd name="T49" fmla="*/ 12 h 27"/>
                <a:gd name="T50" fmla="*/ 11 w 28"/>
                <a:gd name="T51" fmla="*/ 12 h 27"/>
                <a:gd name="T52" fmla="*/ 17 w 28"/>
                <a:gd name="T53" fmla="*/ 7 h 27"/>
                <a:gd name="T54" fmla="*/ 12 w 28"/>
                <a:gd name="T55" fmla="*/ 2 h 27"/>
                <a:gd name="T56" fmla="*/ 9 w 28"/>
                <a:gd name="T57" fmla="*/ 2 h 27"/>
                <a:gd name="T58" fmla="*/ 9 w 28"/>
                <a:gd name="T5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27">
                  <a:moveTo>
                    <a:pt x="14" y="17"/>
                  </a:moveTo>
                  <a:cubicBezTo>
                    <a:pt x="13" y="15"/>
                    <a:pt x="12" y="14"/>
                    <a:pt x="9" y="14"/>
                  </a:cubicBezTo>
                  <a:cubicBezTo>
                    <a:pt x="9" y="23"/>
                    <a:pt x="9" y="23"/>
                    <a:pt x="9" y="23"/>
                  </a:cubicBezTo>
                  <a:cubicBezTo>
                    <a:pt x="9" y="27"/>
                    <a:pt x="13" y="25"/>
                    <a:pt x="13" y="26"/>
                  </a:cubicBezTo>
                  <a:cubicBezTo>
                    <a:pt x="13" y="27"/>
                    <a:pt x="13" y="27"/>
                    <a:pt x="12" y="27"/>
                  </a:cubicBezTo>
                  <a:cubicBezTo>
                    <a:pt x="10" y="27"/>
                    <a:pt x="8" y="27"/>
                    <a:pt x="6" y="27"/>
                  </a:cubicBezTo>
                  <a:cubicBezTo>
                    <a:pt x="5" y="27"/>
                    <a:pt x="3" y="27"/>
                    <a:pt x="1" y="27"/>
                  </a:cubicBezTo>
                  <a:cubicBezTo>
                    <a:pt x="0" y="27"/>
                    <a:pt x="0" y="27"/>
                    <a:pt x="0" y="26"/>
                  </a:cubicBezTo>
                  <a:cubicBezTo>
                    <a:pt x="0" y="25"/>
                    <a:pt x="4" y="27"/>
                    <a:pt x="4" y="23"/>
                  </a:cubicBezTo>
                  <a:cubicBezTo>
                    <a:pt x="4" y="3"/>
                    <a:pt x="4" y="3"/>
                    <a:pt x="4" y="3"/>
                  </a:cubicBezTo>
                  <a:cubicBezTo>
                    <a:pt x="4" y="0"/>
                    <a:pt x="0" y="1"/>
                    <a:pt x="0" y="0"/>
                  </a:cubicBezTo>
                  <a:cubicBezTo>
                    <a:pt x="0" y="0"/>
                    <a:pt x="0" y="0"/>
                    <a:pt x="1" y="0"/>
                  </a:cubicBezTo>
                  <a:cubicBezTo>
                    <a:pt x="3" y="0"/>
                    <a:pt x="5" y="0"/>
                    <a:pt x="6" y="0"/>
                  </a:cubicBezTo>
                  <a:cubicBezTo>
                    <a:pt x="8" y="0"/>
                    <a:pt x="10" y="0"/>
                    <a:pt x="13" y="0"/>
                  </a:cubicBezTo>
                  <a:cubicBezTo>
                    <a:pt x="19" y="0"/>
                    <a:pt x="23" y="3"/>
                    <a:pt x="23" y="7"/>
                  </a:cubicBezTo>
                  <a:cubicBezTo>
                    <a:pt x="23" y="10"/>
                    <a:pt x="21" y="13"/>
                    <a:pt x="13" y="14"/>
                  </a:cubicBezTo>
                  <a:cubicBezTo>
                    <a:pt x="13" y="14"/>
                    <a:pt x="13" y="14"/>
                    <a:pt x="13" y="14"/>
                  </a:cubicBezTo>
                  <a:cubicBezTo>
                    <a:pt x="17" y="14"/>
                    <a:pt x="19" y="15"/>
                    <a:pt x="21" y="18"/>
                  </a:cubicBezTo>
                  <a:cubicBezTo>
                    <a:pt x="24" y="24"/>
                    <a:pt x="24" y="24"/>
                    <a:pt x="24" y="24"/>
                  </a:cubicBezTo>
                  <a:cubicBezTo>
                    <a:pt x="25" y="27"/>
                    <a:pt x="28" y="25"/>
                    <a:pt x="28" y="26"/>
                  </a:cubicBezTo>
                  <a:cubicBezTo>
                    <a:pt x="28" y="27"/>
                    <a:pt x="28" y="27"/>
                    <a:pt x="28" y="27"/>
                  </a:cubicBezTo>
                  <a:cubicBezTo>
                    <a:pt x="26" y="27"/>
                    <a:pt x="25" y="27"/>
                    <a:pt x="23" y="27"/>
                  </a:cubicBezTo>
                  <a:cubicBezTo>
                    <a:pt x="19" y="27"/>
                    <a:pt x="19" y="27"/>
                    <a:pt x="19" y="27"/>
                  </a:cubicBezTo>
                  <a:lnTo>
                    <a:pt x="14" y="17"/>
                  </a:lnTo>
                  <a:close/>
                  <a:moveTo>
                    <a:pt x="9" y="12"/>
                  </a:moveTo>
                  <a:cubicBezTo>
                    <a:pt x="11" y="12"/>
                    <a:pt x="11" y="12"/>
                    <a:pt x="11" y="12"/>
                  </a:cubicBezTo>
                  <a:cubicBezTo>
                    <a:pt x="15" y="12"/>
                    <a:pt x="17" y="10"/>
                    <a:pt x="17" y="7"/>
                  </a:cubicBezTo>
                  <a:cubicBezTo>
                    <a:pt x="17" y="3"/>
                    <a:pt x="15" y="2"/>
                    <a:pt x="12" y="2"/>
                  </a:cubicBezTo>
                  <a:cubicBezTo>
                    <a:pt x="9" y="2"/>
                    <a:pt x="9" y="2"/>
                    <a:pt x="9" y="2"/>
                  </a:cubicBezTo>
                  <a:lnTo>
                    <a:pt x="9"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17"/>
            <p:cNvSpPr/>
            <p:nvPr/>
          </p:nvSpPr>
          <p:spPr bwMode="auto">
            <a:xfrm>
              <a:off x="7913688" y="5832475"/>
              <a:ext cx="66675" cy="153988"/>
            </a:xfrm>
            <a:custGeom>
              <a:avLst/>
              <a:gdLst>
                <a:gd name="T0" fmla="*/ 3 w 12"/>
                <a:gd name="T1" fmla="*/ 3 h 27"/>
                <a:gd name="T2" fmla="*/ 0 w 12"/>
                <a:gd name="T3" fmla="*/ 0 h 27"/>
                <a:gd name="T4" fmla="*/ 0 w 12"/>
                <a:gd name="T5" fmla="*/ 0 h 27"/>
                <a:gd name="T6" fmla="*/ 6 w 12"/>
                <a:gd name="T7" fmla="*/ 0 h 27"/>
                <a:gd name="T8" fmla="*/ 11 w 12"/>
                <a:gd name="T9" fmla="*/ 0 h 27"/>
                <a:gd name="T10" fmla="*/ 12 w 12"/>
                <a:gd name="T11" fmla="*/ 0 h 27"/>
                <a:gd name="T12" fmla="*/ 9 w 12"/>
                <a:gd name="T13" fmla="*/ 3 h 27"/>
                <a:gd name="T14" fmla="*/ 9 w 12"/>
                <a:gd name="T15" fmla="*/ 23 h 27"/>
                <a:gd name="T16" fmla="*/ 12 w 12"/>
                <a:gd name="T17" fmla="*/ 26 h 27"/>
                <a:gd name="T18" fmla="*/ 11 w 12"/>
                <a:gd name="T19" fmla="*/ 27 h 27"/>
                <a:gd name="T20" fmla="*/ 6 w 12"/>
                <a:gd name="T21" fmla="*/ 27 h 27"/>
                <a:gd name="T22" fmla="*/ 0 w 12"/>
                <a:gd name="T23" fmla="*/ 27 h 27"/>
                <a:gd name="T24" fmla="*/ 0 w 12"/>
                <a:gd name="T25" fmla="*/ 26 h 27"/>
                <a:gd name="T26" fmla="*/ 3 w 12"/>
                <a:gd name="T27" fmla="*/ 23 h 27"/>
                <a:gd name="T28" fmla="*/ 3 w 12"/>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27">
                  <a:moveTo>
                    <a:pt x="3" y="3"/>
                  </a:moveTo>
                  <a:cubicBezTo>
                    <a:pt x="3" y="0"/>
                    <a:pt x="0" y="1"/>
                    <a:pt x="0" y="0"/>
                  </a:cubicBezTo>
                  <a:cubicBezTo>
                    <a:pt x="0" y="0"/>
                    <a:pt x="0" y="0"/>
                    <a:pt x="0" y="0"/>
                  </a:cubicBezTo>
                  <a:cubicBezTo>
                    <a:pt x="2" y="0"/>
                    <a:pt x="4" y="0"/>
                    <a:pt x="6" y="0"/>
                  </a:cubicBezTo>
                  <a:cubicBezTo>
                    <a:pt x="7" y="0"/>
                    <a:pt x="9" y="0"/>
                    <a:pt x="11" y="0"/>
                  </a:cubicBezTo>
                  <a:cubicBezTo>
                    <a:pt x="12" y="0"/>
                    <a:pt x="12" y="0"/>
                    <a:pt x="12" y="0"/>
                  </a:cubicBezTo>
                  <a:cubicBezTo>
                    <a:pt x="12" y="1"/>
                    <a:pt x="9" y="0"/>
                    <a:pt x="9" y="3"/>
                  </a:cubicBezTo>
                  <a:cubicBezTo>
                    <a:pt x="9" y="23"/>
                    <a:pt x="9" y="23"/>
                    <a:pt x="9" y="23"/>
                  </a:cubicBezTo>
                  <a:cubicBezTo>
                    <a:pt x="9" y="27"/>
                    <a:pt x="12" y="25"/>
                    <a:pt x="12" y="26"/>
                  </a:cubicBezTo>
                  <a:cubicBezTo>
                    <a:pt x="12" y="27"/>
                    <a:pt x="12" y="27"/>
                    <a:pt x="11" y="27"/>
                  </a:cubicBezTo>
                  <a:cubicBezTo>
                    <a:pt x="9" y="27"/>
                    <a:pt x="7" y="27"/>
                    <a:pt x="6" y="27"/>
                  </a:cubicBezTo>
                  <a:cubicBezTo>
                    <a:pt x="4" y="27"/>
                    <a:pt x="2" y="27"/>
                    <a:pt x="0"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Freeform 18"/>
            <p:cNvSpPr/>
            <p:nvPr/>
          </p:nvSpPr>
          <p:spPr bwMode="auto">
            <a:xfrm>
              <a:off x="8002588" y="5827713"/>
              <a:ext cx="134938" cy="158750"/>
            </a:xfrm>
            <a:custGeom>
              <a:avLst/>
              <a:gdLst>
                <a:gd name="T0" fmla="*/ 9 w 24"/>
                <a:gd name="T1" fmla="*/ 2 h 28"/>
                <a:gd name="T2" fmla="*/ 0 w 24"/>
                <a:gd name="T3" fmla="*/ 10 h 28"/>
                <a:gd name="T4" fmla="*/ 0 w 24"/>
                <a:gd name="T5" fmla="*/ 10 h 28"/>
                <a:gd name="T6" fmla="*/ 0 w 24"/>
                <a:gd name="T7" fmla="*/ 8 h 28"/>
                <a:gd name="T8" fmla="*/ 1 w 24"/>
                <a:gd name="T9" fmla="*/ 1 h 28"/>
                <a:gd name="T10" fmla="*/ 1 w 24"/>
                <a:gd name="T11" fmla="*/ 0 h 28"/>
                <a:gd name="T12" fmla="*/ 2 w 24"/>
                <a:gd name="T13" fmla="*/ 1 h 28"/>
                <a:gd name="T14" fmla="*/ 3 w 24"/>
                <a:gd name="T15" fmla="*/ 1 h 28"/>
                <a:gd name="T16" fmla="*/ 21 w 24"/>
                <a:gd name="T17" fmla="*/ 1 h 28"/>
                <a:gd name="T18" fmla="*/ 22 w 24"/>
                <a:gd name="T19" fmla="*/ 1 h 28"/>
                <a:gd name="T20" fmla="*/ 22 w 24"/>
                <a:gd name="T21" fmla="*/ 0 h 28"/>
                <a:gd name="T22" fmla="*/ 23 w 24"/>
                <a:gd name="T23" fmla="*/ 1 h 28"/>
                <a:gd name="T24" fmla="*/ 24 w 24"/>
                <a:gd name="T25" fmla="*/ 8 h 28"/>
                <a:gd name="T26" fmla="*/ 24 w 24"/>
                <a:gd name="T27" fmla="*/ 10 h 28"/>
                <a:gd name="T28" fmla="*/ 24 w 24"/>
                <a:gd name="T29" fmla="*/ 10 h 28"/>
                <a:gd name="T30" fmla="*/ 15 w 24"/>
                <a:gd name="T31" fmla="*/ 2 h 28"/>
                <a:gd name="T32" fmla="*/ 15 w 24"/>
                <a:gd name="T33" fmla="*/ 24 h 28"/>
                <a:gd name="T34" fmla="*/ 18 w 24"/>
                <a:gd name="T35" fmla="*/ 27 h 28"/>
                <a:gd name="T36" fmla="*/ 19 w 24"/>
                <a:gd name="T37" fmla="*/ 27 h 28"/>
                <a:gd name="T38" fmla="*/ 18 w 24"/>
                <a:gd name="T39" fmla="*/ 28 h 28"/>
                <a:gd name="T40" fmla="*/ 12 w 24"/>
                <a:gd name="T41" fmla="*/ 28 h 28"/>
                <a:gd name="T42" fmla="*/ 6 w 24"/>
                <a:gd name="T43" fmla="*/ 28 h 28"/>
                <a:gd name="T44" fmla="*/ 5 w 24"/>
                <a:gd name="T45" fmla="*/ 27 h 28"/>
                <a:gd name="T46" fmla="*/ 6 w 24"/>
                <a:gd name="T47" fmla="*/ 27 h 28"/>
                <a:gd name="T48" fmla="*/ 9 w 24"/>
                <a:gd name="T49" fmla="*/ 24 h 28"/>
                <a:gd name="T50" fmla="*/ 9 w 24"/>
                <a:gd name="T5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 h="28">
                  <a:moveTo>
                    <a:pt x="9" y="2"/>
                  </a:moveTo>
                  <a:cubicBezTo>
                    <a:pt x="1" y="5"/>
                    <a:pt x="1" y="10"/>
                    <a:pt x="0" y="10"/>
                  </a:cubicBezTo>
                  <a:cubicBezTo>
                    <a:pt x="0" y="10"/>
                    <a:pt x="0" y="10"/>
                    <a:pt x="0" y="10"/>
                  </a:cubicBezTo>
                  <a:cubicBezTo>
                    <a:pt x="0" y="10"/>
                    <a:pt x="0" y="9"/>
                    <a:pt x="0" y="8"/>
                  </a:cubicBezTo>
                  <a:cubicBezTo>
                    <a:pt x="1" y="1"/>
                    <a:pt x="1" y="1"/>
                    <a:pt x="1" y="1"/>
                  </a:cubicBezTo>
                  <a:cubicBezTo>
                    <a:pt x="1" y="0"/>
                    <a:pt x="1" y="0"/>
                    <a:pt x="1" y="0"/>
                  </a:cubicBezTo>
                  <a:cubicBezTo>
                    <a:pt x="2" y="0"/>
                    <a:pt x="2" y="0"/>
                    <a:pt x="2" y="1"/>
                  </a:cubicBezTo>
                  <a:cubicBezTo>
                    <a:pt x="2" y="1"/>
                    <a:pt x="3" y="1"/>
                    <a:pt x="3" y="1"/>
                  </a:cubicBezTo>
                  <a:cubicBezTo>
                    <a:pt x="21" y="1"/>
                    <a:pt x="21" y="1"/>
                    <a:pt x="21" y="1"/>
                  </a:cubicBezTo>
                  <a:cubicBezTo>
                    <a:pt x="21" y="1"/>
                    <a:pt x="22" y="1"/>
                    <a:pt x="22" y="1"/>
                  </a:cubicBezTo>
                  <a:cubicBezTo>
                    <a:pt x="22" y="0"/>
                    <a:pt x="22" y="0"/>
                    <a:pt x="22" y="0"/>
                  </a:cubicBezTo>
                  <a:cubicBezTo>
                    <a:pt x="22" y="0"/>
                    <a:pt x="23" y="0"/>
                    <a:pt x="23" y="1"/>
                  </a:cubicBezTo>
                  <a:cubicBezTo>
                    <a:pt x="24" y="8"/>
                    <a:pt x="24" y="8"/>
                    <a:pt x="24" y="8"/>
                  </a:cubicBezTo>
                  <a:cubicBezTo>
                    <a:pt x="24" y="9"/>
                    <a:pt x="24" y="10"/>
                    <a:pt x="24" y="10"/>
                  </a:cubicBezTo>
                  <a:cubicBezTo>
                    <a:pt x="24" y="10"/>
                    <a:pt x="24" y="10"/>
                    <a:pt x="24" y="10"/>
                  </a:cubicBezTo>
                  <a:cubicBezTo>
                    <a:pt x="23" y="10"/>
                    <a:pt x="23" y="5"/>
                    <a:pt x="15" y="2"/>
                  </a:cubicBezTo>
                  <a:cubicBezTo>
                    <a:pt x="15" y="24"/>
                    <a:pt x="15" y="24"/>
                    <a:pt x="15" y="24"/>
                  </a:cubicBezTo>
                  <a:cubicBezTo>
                    <a:pt x="15" y="26"/>
                    <a:pt x="16" y="27"/>
                    <a:pt x="18" y="27"/>
                  </a:cubicBezTo>
                  <a:cubicBezTo>
                    <a:pt x="18" y="27"/>
                    <a:pt x="19" y="27"/>
                    <a:pt x="19" y="27"/>
                  </a:cubicBezTo>
                  <a:cubicBezTo>
                    <a:pt x="19" y="28"/>
                    <a:pt x="18" y="28"/>
                    <a:pt x="18" y="28"/>
                  </a:cubicBezTo>
                  <a:cubicBezTo>
                    <a:pt x="16" y="28"/>
                    <a:pt x="14" y="28"/>
                    <a:pt x="12" y="28"/>
                  </a:cubicBezTo>
                  <a:cubicBezTo>
                    <a:pt x="10" y="28"/>
                    <a:pt x="8" y="28"/>
                    <a:pt x="6" y="28"/>
                  </a:cubicBezTo>
                  <a:cubicBezTo>
                    <a:pt x="5" y="28"/>
                    <a:pt x="5" y="28"/>
                    <a:pt x="5" y="27"/>
                  </a:cubicBezTo>
                  <a:cubicBezTo>
                    <a:pt x="5" y="27"/>
                    <a:pt x="5" y="27"/>
                    <a:pt x="6" y="27"/>
                  </a:cubicBezTo>
                  <a:cubicBezTo>
                    <a:pt x="8" y="27"/>
                    <a:pt x="9" y="26"/>
                    <a:pt x="9" y="24"/>
                  </a:cubicBezTo>
                  <a:lnTo>
                    <a:pt x="9" y="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Freeform 19"/>
            <p:cNvSpPr/>
            <p:nvPr/>
          </p:nvSpPr>
          <p:spPr bwMode="auto">
            <a:xfrm>
              <a:off x="8148638" y="5832475"/>
              <a:ext cx="146050" cy="153988"/>
            </a:xfrm>
            <a:custGeom>
              <a:avLst/>
              <a:gdLst>
                <a:gd name="T0" fmla="*/ 15 w 26"/>
                <a:gd name="T1" fmla="*/ 12 h 27"/>
                <a:gd name="T2" fmla="*/ 18 w 26"/>
                <a:gd name="T3" fmla="*/ 8 h 27"/>
                <a:gd name="T4" fmla="*/ 19 w 26"/>
                <a:gd name="T5" fmla="*/ 3 h 27"/>
                <a:gd name="T6" fmla="*/ 17 w 26"/>
                <a:gd name="T7" fmla="*/ 0 h 27"/>
                <a:gd name="T8" fmla="*/ 18 w 26"/>
                <a:gd name="T9" fmla="*/ 0 h 27"/>
                <a:gd name="T10" fmla="*/ 22 w 26"/>
                <a:gd name="T11" fmla="*/ 0 h 27"/>
                <a:gd name="T12" fmla="*/ 26 w 26"/>
                <a:gd name="T13" fmla="*/ 0 h 27"/>
                <a:gd name="T14" fmla="*/ 26 w 26"/>
                <a:gd name="T15" fmla="*/ 0 h 27"/>
                <a:gd name="T16" fmla="*/ 21 w 26"/>
                <a:gd name="T17" fmla="*/ 6 h 27"/>
                <a:gd name="T18" fmla="*/ 16 w 26"/>
                <a:gd name="T19" fmla="*/ 14 h 27"/>
                <a:gd name="T20" fmla="*/ 16 w 26"/>
                <a:gd name="T21" fmla="*/ 23 h 27"/>
                <a:gd name="T22" fmla="*/ 19 w 26"/>
                <a:gd name="T23" fmla="*/ 26 h 27"/>
                <a:gd name="T24" fmla="*/ 18 w 26"/>
                <a:gd name="T25" fmla="*/ 27 h 27"/>
                <a:gd name="T26" fmla="*/ 13 w 26"/>
                <a:gd name="T27" fmla="*/ 27 h 27"/>
                <a:gd name="T28" fmla="*/ 8 w 26"/>
                <a:gd name="T29" fmla="*/ 27 h 27"/>
                <a:gd name="T30" fmla="*/ 7 w 26"/>
                <a:gd name="T31" fmla="*/ 26 h 27"/>
                <a:gd name="T32" fmla="*/ 10 w 26"/>
                <a:gd name="T33" fmla="*/ 23 h 27"/>
                <a:gd name="T34" fmla="*/ 10 w 26"/>
                <a:gd name="T35" fmla="*/ 15 h 27"/>
                <a:gd name="T36" fmla="*/ 4 w 26"/>
                <a:gd name="T37" fmla="*/ 3 h 27"/>
                <a:gd name="T38" fmla="*/ 0 w 26"/>
                <a:gd name="T39" fmla="*/ 0 h 27"/>
                <a:gd name="T40" fmla="*/ 1 w 26"/>
                <a:gd name="T41" fmla="*/ 0 h 27"/>
                <a:gd name="T42" fmla="*/ 6 w 26"/>
                <a:gd name="T43" fmla="*/ 0 h 27"/>
                <a:gd name="T44" fmla="*/ 12 w 26"/>
                <a:gd name="T45" fmla="*/ 0 h 27"/>
                <a:gd name="T46" fmla="*/ 13 w 26"/>
                <a:gd name="T47" fmla="*/ 0 h 27"/>
                <a:gd name="T48" fmla="*/ 10 w 26"/>
                <a:gd name="T49" fmla="*/ 2 h 27"/>
                <a:gd name="T50" fmla="*/ 11 w 26"/>
                <a:gd name="T51" fmla="*/ 5 h 27"/>
                <a:gd name="T52" fmla="*/ 15 w 26"/>
                <a:gd name="T53"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 h="27">
                  <a:moveTo>
                    <a:pt x="15" y="12"/>
                  </a:moveTo>
                  <a:cubicBezTo>
                    <a:pt x="18" y="8"/>
                    <a:pt x="18" y="8"/>
                    <a:pt x="18" y="8"/>
                  </a:cubicBezTo>
                  <a:cubicBezTo>
                    <a:pt x="19" y="6"/>
                    <a:pt x="19" y="4"/>
                    <a:pt x="19" y="3"/>
                  </a:cubicBezTo>
                  <a:cubicBezTo>
                    <a:pt x="19" y="1"/>
                    <a:pt x="17" y="1"/>
                    <a:pt x="17" y="0"/>
                  </a:cubicBezTo>
                  <a:cubicBezTo>
                    <a:pt x="17" y="0"/>
                    <a:pt x="17" y="0"/>
                    <a:pt x="18" y="0"/>
                  </a:cubicBezTo>
                  <a:cubicBezTo>
                    <a:pt x="19" y="0"/>
                    <a:pt x="20" y="0"/>
                    <a:pt x="22" y="0"/>
                  </a:cubicBezTo>
                  <a:cubicBezTo>
                    <a:pt x="23" y="0"/>
                    <a:pt x="25" y="0"/>
                    <a:pt x="26" y="0"/>
                  </a:cubicBezTo>
                  <a:cubicBezTo>
                    <a:pt x="26" y="0"/>
                    <a:pt x="26" y="0"/>
                    <a:pt x="26" y="0"/>
                  </a:cubicBezTo>
                  <a:cubicBezTo>
                    <a:pt x="26" y="1"/>
                    <a:pt x="24" y="0"/>
                    <a:pt x="21" y="6"/>
                  </a:cubicBezTo>
                  <a:cubicBezTo>
                    <a:pt x="16" y="14"/>
                    <a:pt x="16" y="14"/>
                    <a:pt x="16" y="14"/>
                  </a:cubicBezTo>
                  <a:cubicBezTo>
                    <a:pt x="16" y="23"/>
                    <a:pt x="16" y="23"/>
                    <a:pt x="16" y="23"/>
                  </a:cubicBezTo>
                  <a:cubicBezTo>
                    <a:pt x="16" y="27"/>
                    <a:pt x="19" y="25"/>
                    <a:pt x="19" y="26"/>
                  </a:cubicBezTo>
                  <a:cubicBezTo>
                    <a:pt x="19" y="27"/>
                    <a:pt x="19" y="27"/>
                    <a:pt x="18" y="27"/>
                  </a:cubicBezTo>
                  <a:cubicBezTo>
                    <a:pt x="16" y="27"/>
                    <a:pt x="15" y="27"/>
                    <a:pt x="13" y="27"/>
                  </a:cubicBezTo>
                  <a:cubicBezTo>
                    <a:pt x="11" y="27"/>
                    <a:pt x="10" y="27"/>
                    <a:pt x="8" y="27"/>
                  </a:cubicBezTo>
                  <a:cubicBezTo>
                    <a:pt x="7" y="27"/>
                    <a:pt x="7" y="27"/>
                    <a:pt x="7" y="26"/>
                  </a:cubicBezTo>
                  <a:cubicBezTo>
                    <a:pt x="7" y="25"/>
                    <a:pt x="10" y="27"/>
                    <a:pt x="10" y="23"/>
                  </a:cubicBezTo>
                  <a:cubicBezTo>
                    <a:pt x="10" y="15"/>
                    <a:pt x="10" y="15"/>
                    <a:pt x="10" y="15"/>
                  </a:cubicBezTo>
                  <a:cubicBezTo>
                    <a:pt x="4" y="3"/>
                    <a:pt x="4" y="3"/>
                    <a:pt x="4" y="3"/>
                  </a:cubicBezTo>
                  <a:cubicBezTo>
                    <a:pt x="2" y="0"/>
                    <a:pt x="0" y="1"/>
                    <a:pt x="0" y="0"/>
                  </a:cubicBezTo>
                  <a:cubicBezTo>
                    <a:pt x="0" y="0"/>
                    <a:pt x="0" y="0"/>
                    <a:pt x="1" y="0"/>
                  </a:cubicBezTo>
                  <a:cubicBezTo>
                    <a:pt x="3" y="0"/>
                    <a:pt x="4" y="0"/>
                    <a:pt x="6" y="0"/>
                  </a:cubicBezTo>
                  <a:cubicBezTo>
                    <a:pt x="8" y="0"/>
                    <a:pt x="10" y="0"/>
                    <a:pt x="12" y="0"/>
                  </a:cubicBezTo>
                  <a:cubicBezTo>
                    <a:pt x="12" y="0"/>
                    <a:pt x="13" y="0"/>
                    <a:pt x="13" y="0"/>
                  </a:cubicBezTo>
                  <a:cubicBezTo>
                    <a:pt x="13" y="1"/>
                    <a:pt x="10" y="0"/>
                    <a:pt x="10" y="2"/>
                  </a:cubicBezTo>
                  <a:cubicBezTo>
                    <a:pt x="10" y="3"/>
                    <a:pt x="10" y="4"/>
                    <a:pt x="11" y="5"/>
                  </a:cubicBezTo>
                  <a:lnTo>
                    <a:pt x="15"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20"/>
            <p:cNvSpPr/>
            <p:nvPr/>
          </p:nvSpPr>
          <p:spPr bwMode="auto">
            <a:xfrm>
              <a:off x="6242050"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21"/>
            <p:cNvSpPr/>
            <p:nvPr/>
          </p:nvSpPr>
          <p:spPr bwMode="auto">
            <a:xfrm>
              <a:off x="6427788" y="5832475"/>
              <a:ext cx="133350"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22"/>
            <p:cNvSpPr/>
            <p:nvPr/>
          </p:nvSpPr>
          <p:spPr bwMode="auto">
            <a:xfrm>
              <a:off x="6578600"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23"/>
            <p:cNvSpPr/>
            <p:nvPr/>
          </p:nvSpPr>
          <p:spPr bwMode="auto">
            <a:xfrm>
              <a:off x="5614988" y="5475288"/>
              <a:ext cx="117475" cy="136525"/>
            </a:xfrm>
            <a:custGeom>
              <a:avLst/>
              <a:gdLst>
                <a:gd name="T0" fmla="*/ 11 w 21"/>
                <a:gd name="T1" fmla="*/ 2 h 24"/>
                <a:gd name="T2" fmla="*/ 1 w 21"/>
                <a:gd name="T3" fmla="*/ 13 h 24"/>
                <a:gd name="T4" fmla="*/ 11 w 21"/>
                <a:gd name="T5" fmla="*/ 24 h 24"/>
                <a:gd name="T6" fmla="*/ 14 w 21"/>
                <a:gd name="T7" fmla="*/ 22 h 24"/>
                <a:gd name="T8" fmla="*/ 21 w 21"/>
                <a:gd name="T9" fmla="*/ 9 h 24"/>
                <a:gd name="T10" fmla="*/ 21 w 21"/>
                <a:gd name="T11" fmla="*/ 8 h 24"/>
                <a:gd name="T12" fmla="*/ 11 w 21"/>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1" h="24">
                  <a:moveTo>
                    <a:pt x="11" y="2"/>
                  </a:moveTo>
                  <a:cubicBezTo>
                    <a:pt x="6" y="4"/>
                    <a:pt x="2" y="9"/>
                    <a:pt x="1" y="13"/>
                  </a:cubicBezTo>
                  <a:cubicBezTo>
                    <a:pt x="0" y="20"/>
                    <a:pt x="6" y="22"/>
                    <a:pt x="11" y="24"/>
                  </a:cubicBezTo>
                  <a:cubicBezTo>
                    <a:pt x="12" y="24"/>
                    <a:pt x="13" y="24"/>
                    <a:pt x="14" y="22"/>
                  </a:cubicBezTo>
                  <a:cubicBezTo>
                    <a:pt x="15" y="17"/>
                    <a:pt x="17" y="13"/>
                    <a:pt x="21" y="9"/>
                  </a:cubicBezTo>
                  <a:cubicBezTo>
                    <a:pt x="21" y="8"/>
                    <a:pt x="21" y="8"/>
                    <a:pt x="21" y="8"/>
                  </a:cubicBezTo>
                  <a:cubicBezTo>
                    <a:pt x="20" y="1"/>
                    <a:pt x="15" y="0"/>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Freeform 24"/>
            <p:cNvSpPr/>
            <p:nvPr/>
          </p:nvSpPr>
          <p:spPr bwMode="auto">
            <a:xfrm>
              <a:off x="5440363" y="5140325"/>
              <a:ext cx="146050" cy="442913"/>
            </a:xfrm>
            <a:custGeom>
              <a:avLst/>
              <a:gdLst>
                <a:gd name="T0" fmla="*/ 20 w 26"/>
                <a:gd name="T1" fmla="*/ 52 h 78"/>
                <a:gd name="T2" fmla="*/ 18 w 26"/>
                <a:gd name="T3" fmla="*/ 25 h 78"/>
                <a:gd name="T4" fmla="*/ 22 w 26"/>
                <a:gd name="T5" fmla="*/ 7 h 78"/>
                <a:gd name="T6" fmla="*/ 10 w 26"/>
                <a:gd name="T7" fmla="*/ 4 h 78"/>
                <a:gd name="T8" fmla="*/ 1 w 26"/>
                <a:gd name="T9" fmla="*/ 48 h 78"/>
                <a:gd name="T10" fmla="*/ 11 w 26"/>
                <a:gd name="T11" fmla="*/ 78 h 78"/>
                <a:gd name="T12" fmla="*/ 25 w 26"/>
                <a:gd name="T13" fmla="*/ 51 h 78"/>
                <a:gd name="T14" fmla="*/ 20 w 26"/>
                <a:gd name="T15" fmla="*/ 5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78">
                  <a:moveTo>
                    <a:pt x="20" y="52"/>
                  </a:moveTo>
                  <a:cubicBezTo>
                    <a:pt x="14" y="49"/>
                    <a:pt x="17" y="30"/>
                    <a:pt x="18" y="25"/>
                  </a:cubicBezTo>
                  <a:cubicBezTo>
                    <a:pt x="20" y="20"/>
                    <a:pt x="22" y="12"/>
                    <a:pt x="22" y="7"/>
                  </a:cubicBezTo>
                  <a:cubicBezTo>
                    <a:pt x="17" y="0"/>
                    <a:pt x="15" y="1"/>
                    <a:pt x="10" y="4"/>
                  </a:cubicBezTo>
                  <a:cubicBezTo>
                    <a:pt x="0" y="17"/>
                    <a:pt x="1" y="30"/>
                    <a:pt x="1" y="48"/>
                  </a:cubicBezTo>
                  <a:cubicBezTo>
                    <a:pt x="2" y="57"/>
                    <a:pt x="2" y="73"/>
                    <a:pt x="11" y="78"/>
                  </a:cubicBezTo>
                  <a:cubicBezTo>
                    <a:pt x="19" y="77"/>
                    <a:pt x="26" y="60"/>
                    <a:pt x="25" y="51"/>
                  </a:cubicBezTo>
                  <a:cubicBezTo>
                    <a:pt x="24" y="47"/>
                    <a:pt x="23" y="52"/>
                    <a:pt x="20" y="5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Freeform 25"/>
            <p:cNvSpPr/>
            <p:nvPr/>
          </p:nvSpPr>
          <p:spPr bwMode="auto">
            <a:xfrm>
              <a:off x="5614988" y="4902200"/>
              <a:ext cx="323850" cy="782638"/>
            </a:xfrm>
            <a:custGeom>
              <a:avLst/>
              <a:gdLst>
                <a:gd name="T0" fmla="*/ 44 w 58"/>
                <a:gd name="T1" fmla="*/ 72 h 138"/>
                <a:gd name="T2" fmla="*/ 48 w 58"/>
                <a:gd name="T3" fmla="*/ 70 h 138"/>
                <a:gd name="T4" fmla="*/ 50 w 58"/>
                <a:gd name="T5" fmla="*/ 62 h 138"/>
                <a:gd name="T6" fmla="*/ 48 w 58"/>
                <a:gd name="T7" fmla="*/ 62 h 138"/>
                <a:gd name="T8" fmla="*/ 32 w 58"/>
                <a:gd name="T9" fmla="*/ 58 h 138"/>
                <a:gd name="T10" fmla="*/ 42 w 58"/>
                <a:gd name="T11" fmla="*/ 40 h 138"/>
                <a:gd name="T12" fmla="*/ 38 w 58"/>
                <a:gd name="T13" fmla="*/ 33 h 138"/>
                <a:gd name="T14" fmla="*/ 39 w 58"/>
                <a:gd name="T15" fmla="*/ 32 h 138"/>
                <a:gd name="T16" fmla="*/ 48 w 58"/>
                <a:gd name="T17" fmla="*/ 23 h 138"/>
                <a:gd name="T18" fmla="*/ 54 w 58"/>
                <a:gd name="T19" fmla="*/ 16 h 138"/>
                <a:gd name="T20" fmla="*/ 48 w 58"/>
                <a:gd name="T21" fmla="*/ 1 h 138"/>
                <a:gd name="T22" fmla="*/ 34 w 58"/>
                <a:gd name="T23" fmla="*/ 2 h 138"/>
                <a:gd name="T24" fmla="*/ 24 w 58"/>
                <a:gd name="T25" fmla="*/ 8 h 138"/>
                <a:gd name="T26" fmla="*/ 22 w 58"/>
                <a:gd name="T27" fmla="*/ 10 h 138"/>
                <a:gd name="T28" fmla="*/ 28 w 58"/>
                <a:gd name="T29" fmla="*/ 18 h 138"/>
                <a:gd name="T30" fmla="*/ 41 w 58"/>
                <a:gd name="T31" fmla="*/ 13 h 138"/>
                <a:gd name="T32" fmla="*/ 41 w 58"/>
                <a:gd name="T33" fmla="*/ 15 h 138"/>
                <a:gd name="T34" fmla="*/ 41 w 58"/>
                <a:gd name="T35" fmla="*/ 15 h 138"/>
                <a:gd name="T36" fmla="*/ 29 w 58"/>
                <a:gd name="T37" fmla="*/ 30 h 138"/>
                <a:gd name="T38" fmla="*/ 30 w 58"/>
                <a:gd name="T39" fmla="*/ 46 h 138"/>
                <a:gd name="T40" fmla="*/ 29 w 58"/>
                <a:gd name="T41" fmla="*/ 51 h 138"/>
                <a:gd name="T42" fmla="*/ 18 w 58"/>
                <a:gd name="T43" fmla="*/ 65 h 138"/>
                <a:gd name="T44" fmla="*/ 12 w 58"/>
                <a:gd name="T45" fmla="*/ 72 h 138"/>
                <a:gd name="T46" fmla="*/ 11 w 58"/>
                <a:gd name="T47" fmla="*/ 73 h 138"/>
                <a:gd name="T48" fmla="*/ 0 w 58"/>
                <a:gd name="T49" fmla="*/ 84 h 138"/>
                <a:gd name="T50" fmla="*/ 0 w 58"/>
                <a:gd name="T51" fmla="*/ 85 h 138"/>
                <a:gd name="T52" fmla="*/ 11 w 58"/>
                <a:gd name="T53" fmla="*/ 89 h 138"/>
                <a:gd name="T54" fmla="*/ 13 w 58"/>
                <a:gd name="T55" fmla="*/ 89 h 138"/>
                <a:gd name="T56" fmla="*/ 14 w 58"/>
                <a:gd name="T57" fmla="*/ 89 h 138"/>
                <a:gd name="T58" fmla="*/ 14 w 58"/>
                <a:gd name="T59" fmla="*/ 88 h 138"/>
                <a:gd name="T60" fmla="*/ 14 w 58"/>
                <a:gd name="T61" fmla="*/ 87 h 138"/>
                <a:gd name="T62" fmla="*/ 27 w 58"/>
                <a:gd name="T63" fmla="*/ 77 h 138"/>
                <a:gd name="T64" fmla="*/ 28 w 58"/>
                <a:gd name="T65" fmla="*/ 114 h 138"/>
                <a:gd name="T66" fmla="*/ 25 w 58"/>
                <a:gd name="T67" fmla="*/ 115 h 138"/>
                <a:gd name="T68" fmla="*/ 25 w 58"/>
                <a:gd name="T69" fmla="*/ 116 h 138"/>
                <a:gd name="T70" fmla="*/ 22 w 58"/>
                <a:gd name="T71" fmla="*/ 120 h 138"/>
                <a:gd name="T72" fmla="*/ 22 w 58"/>
                <a:gd name="T73" fmla="*/ 120 h 138"/>
                <a:gd name="T74" fmla="*/ 30 w 58"/>
                <a:gd name="T75" fmla="*/ 138 h 138"/>
                <a:gd name="T76" fmla="*/ 39 w 58"/>
                <a:gd name="T77" fmla="*/ 126 h 138"/>
                <a:gd name="T78" fmla="*/ 39 w 58"/>
                <a:gd name="T79" fmla="*/ 74 h 138"/>
                <a:gd name="T80" fmla="*/ 44 w 58"/>
                <a:gd name="T81"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138">
                  <a:moveTo>
                    <a:pt x="44" y="72"/>
                  </a:moveTo>
                  <a:cubicBezTo>
                    <a:pt x="45" y="71"/>
                    <a:pt x="47" y="71"/>
                    <a:pt x="48" y="70"/>
                  </a:cubicBezTo>
                  <a:cubicBezTo>
                    <a:pt x="51" y="68"/>
                    <a:pt x="54" y="66"/>
                    <a:pt x="50" y="62"/>
                  </a:cubicBezTo>
                  <a:cubicBezTo>
                    <a:pt x="50" y="62"/>
                    <a:pt x="49" y="62"/>
                    <a:pt x="48" y="62"/>
                  </a:cubicBezTo>
                  <a:cubicBezTo>
                    <a:pt x="42" y="62"/>
                    <a:pt x="32" y="66"/>
                    <a:pt x="32" y="58"/>
                  </a:cubicBezTo>
                  <a:cubicBezTo>
                    <a:pt x="35" y="53"/>
                    <a:pt x="42" y="45"/>
                    <a:pt x="42" y="40"/>
                  </a:cubicBezTo>
                  <a:cubicBezTo>
                    <a:pt x="38" y="38"/>
                    <a:pt x="38" y="37"/>
                    <a:pt x="38" y="33"/>
                  </a:cubicBezTo>
                  <a:cubicBezTo>
                    <a:pt x="39" y="33"/>
                    <a:pt x="39" y="33"/>
                    <a:pt x="39" y="32"/>
                  </a:cubicBezTo>
                  <a:cubicBezTo>
                    <a:pt x="42" y="30"/>
                    <a:pt x="45" y="27"/>
                    <a:pt x="48" y="23"/>
                  </a:cubicBezTo>
                  <a:cubicBezTo>
                    <a:pt x="50" y="21"/>
                    <a:pt x="52" y="18"/>
                    <a:pt x="54" y="16"/>
                  </a:cubicBezTo>
                  <a:cubicBezTo>
                    <a:pt x="58" y="6"/>
                    <a:pt x="54" y="2"/>
                    <a:pt x="48" y="1"/>
                  </a:cubicBezTo>
                  <a:cubicBezTo>
                    <a:pt x="44" y="0"/>
                    <a:pt x="38" y="1"/>
                    <a:pt x="34" y="2"/>
                  </a:cubicBezTo>
                  <a:cubicBezTo>
                    <a:pt x="32" y="3"/>
                    <a:pt x="24" y="6"/>
                    <a:pt x="24" y="8"/>
                  </a:cubicBezTo>
                  <a:cubicBezTo>
                    <a:pt x="23" y="9"/>
                    <a:pt x="22" y="9"/>
                    <a:pt x="22" y="10"/>
                  </a:cubicBezTo>
                  <a:cubicBezTo>
                    <a:pt x="19" y="16"/>
                    <a:pt x="22" y="18"/>
                    <a:pt x="28" y="18"/>
                  </a:cubicBezTo>
                  <a:cubicBezTo>
                    <a:pt x="31" y="17"/>
                    <a:pt x="37" y="8"/>
                    <a:pt x="41" y="13"/>
                  </a:cubicBezTo>
                  <a:cubicBezTo>
                    <a:pt x="41" y="13"/>
                    <a:pt x="40" y="14"/>
                    <a:pt x="41" y="15"/>
                  </a:cubicBezTo>
                  <a:cubicBezTo>
                    <a:pt x="40" y="15"/>
                    <a:pt x="41" y="15"/>
                    <a:pt x="41" y="15"/>
                  </a:cubicBezTo>
                  <a:cubicBezTo>
                    <a:pt x="39" y="19"/>
                    <a:pt x="31" y="27"/>
                    <a:pt x="29" y="30"/>
                  </a:cubicBezTo>
                  <a:cubicBezTo>
                    <a:pt x="26" y="35"/>
                    <a:pt x="30" y="40"/>
                    <a:pt x="30" y="46"/>
                  </a:cubicBezTo>
                  <a:cubicBezTo>
                    <a:pt x="30" y="48"/>
                    <a:pt x="29" y="49"/>
                    <a:pt x="29" y="51"/>
                  </a:cubicBezTo>
                  <a:cubicBezTo>
                    <a:pt x="25" y="55"/>
                    <a:pt x="22" y="62"/>
                    <a:pt x="18" y="65"/>
                  </a:cubicBezTo>
                  <a:cubicBezTo>
                    <a:pt x="16" y="67"/>
                    <a:pt x="13" y="70"/>
                    <a:pt x="12" y="72"/>
                  </a:cubicBezTo>
                  <a:cubicBezTo>
                    <a:pt x="12" y="72"/>
                    <a:pt x="11" y="73"/>
                    <a:pt x="11" y="73"/>
                  </a:cubicBezTo>
                  <a:cubicBezTo>
                    <a:pt x="7" y="77"/>
                    <a:pt x="4" y="81"/>
                    <a:pt x="0" y="84"/>
                  </a:cubicBezTo>
                  <a:cubicBezTo>
                    <a:pt x="0" y="84"/>
                    <a:pt x="0" y="85"/>
                    <a:pt x="0" y="85"/>
                  </a:cubicBezTo>
                  <a:cubicBezTo>
                    <a:pt x="2" y="87"/>
                    <a:pt x="7" y="88"/>
                    <a:pt x="11" y="89"/>
                  </a:cubicBezTo>
                  <a:cubicBezTo>
                    <a:pt x="12" y="89"/>
                    <a:pt x="12" y="89"/>
                    <a:pt x="13" y="89"/>
                  </a:cubicBezTo>
                  <a:cubicBezTo>
                    <a:pt x="13" y="89"/>
                    <a:pt x="14" y="89"/>
                    <a:pt x="14" y="89"/>
                  </a:cubicBezTo>
                  <a:cubicBezTo>
                    <a:pt x="14" y="88"/>
                    <a:pt x="14" y="88"/>
                    <a:pt x="14" y="88"/>
                  </a:cubicBezTo>
                  <a:cubicBezTo>
                    <a:pt x="14" y="88"/>
                    <a:pt x="14" y="87"/>
                    <a:pt x="14" y="87"/>
                  </a:cubicBezTo>
                  <a:cubicBezTo>
                    <a:pt x="18" y="82"/>
                    <a:pt x="20" y="78"/>
                    <a:pt x="27" y="77"/>
                  </a:cubicBezTo>
                  <a:cubicBezTo>
                    <a:pt x="27" y="78"/>
                    <a:pt x="27" y="84"/>
                    <a:pt x="28" y="114"/>
                  </a:cubicBezTo>
                  <a:cubicBezTo>
                    <a:pt x="27" y="114"/>
                    <a:pt x="28" y="114"/>
                    <a:pt x="25" y="115"/>
                  </a:cubicBezTo>
                  <a:cubicBezTo>
                    <a:pt x="25" y="115"/>
                    <a:pt x="25" y="116"/>
                    <a:pt x="25" y="116"/>
                  </a:cubicBezTo>
                  <a:cubicBezTo>
                    <a:pt x="23" y="117"/>
                    <a:pt x="22" y="118"/>
                    <a:pt x="22" y="120"/>
                  </a:cubicBezTo>
                  <a:cubicBezTo>
                    <a:pt x="22" y="120"/>
                    <a:pt x="22" y="120"/>
                    <a:pt x="22" y="120"/>
                  </a:cubicBezTo>
                  <a:cubicBezTo>
                    <a:pt x="22" y="127"/>
                    <a:pt x="23" y="133"/>
                    <a:pt x="30" y="138"/>
                  </a:cubicBezTo>
                  <a:cubicBezTo>
                    <a:pt x="35" y="137"/>
                    <a:pt x="37" y="131"/>
                    <a:pt x="39" y="126"/>
                  </a:cubicBezTo>
                  <a:cubicBezTo>
                    <a:pt x="39" y="119"/>
                    <a:pt x="39" y="119"/>
                    <a:pt x="39" y="74"/>
                  </a:cubicBezTo>
                  <a:cubicBezTo>
                    <a:pt x="41" y="73"/>
                    <a:pt x="42" y="72"/>
                    <a:pt x="44" y="7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26"/>
            <p:cNvSpPr/>
            <p:nvPr/>
          </p:nvSpPr>
          <p:spPr bwMode="auto">
            <a:xfrm>
              <a:off x="5843588" y="5413375"/>
              <a:ext cx="141288" cy="152400"/>
            </a:xfrm>
            <a:custGeom>
              <a:avLst/>
              <a:gdLst>
                <a:gd name="T0" fmla="*/ 8 w 25"/>
                <a:gd name="T1" fmla="*/ 1 h 27"/>
                <a:gd name="T2" fmla="*/ 7 w 25"/>
                <a:gd name="T3" fmla="*/ 1 h 27"/>
                <a:gd name="T4" fmla="*/ 6 w 25"/>
                <a:gd name="T5" fmla="*/ 10 h 27"/>
                <a:gd name="T6" fmla="*/ 0 w 25"/>
                <a:gd name="T7" fmla="*/ 25 h 27"/>
                <a:gd name="T8" fmla="*/ 0 w 25"/>
                <a:gd name="T9" fmla="*/ 26 h 27"/>
                <a:gd name="T10" fmla="*/ 3 w 25"/>
                <a:gd name="T11" fmla="*/ 27 h 27"/>
                <a:gd name="T12" fmla="*/ 7 w 25"/>
                <a:gd name="T13" fmla="*/ 26 h 27"/>
                <a:gd name="T14" fmla="*/ 23 w 25"/>
                <a:gd name="T15" fmla="*/ 11 h 27"/>
                <a:gd name="T16" fmla="*/ 8 w 25"/>
                <a:gd name="T1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7">
                  <a:moveTo>
                    <a:pt x="8" y="1"/>
                  </a:moveTo>
                  <a:cubicBezTo>
                    <a:pt x="8" y="1"/>
                    <a:pt x="8" y="1"/>
                    <a:pt x="7" y="1"/>
                  </a:cubicBezTo>
                  <a:cubicBezTo>
                    <a:pt x="4" y="3"/>
                    <a:pt x="2" y="7"/>
                    <a:pt x="6" y="10"/>
                  </a:cubicBezTo>
                  <a:cubicBezTo>
                    <a:pt x="8" y="18"/>
                    <a:pt x="2" y="20"/>
                    <a:pt x="0" y="25"/>
                  </a:cubicBezTo>
                  <a:cubicBezTo>
                    <a:pt x="0" y="25"/>
                    <a:pt x="0" y="26"/>
                    <a:pt x="0" y="26"/>
                  </a:cubicBezTo>
                  <a:cubicBezTo>
                    <a:pt x="1" y="26"/>
                    <a:pt x="2" y="27"/>
                    <a:pt x="3" y="27"/>
                  </a:cubicBezTo>
                  <a:cubicBezTo>
                    <a:pt x="4" y="27"/>
                    <a:pt x="6" y="26"/>
                    <a:pt x="7" y="26"/>
                  </a:cubicBezTo>
                  <a:cubicBezTo>
                    <a:pt x="15" y="24"/>
                    <a:pt x="25" y="21"/>
                    <a:pt x="23" y="11"/>
                  </a:cubicBezTo>
                  <a:cubicBezTo>
                    <a:pt x="19" y="2"/>
                    <a:pt x="15" y="0"/>
                    <a:pt x="8"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27"/>
            <p:cNvSpPr/>
            <p:nvPr/>
          </p:nvSpPr>
          <p:spPr bwMode="auto">
            <a:xfrm>
              <a:off x="5435600" y="4975225"/>
              <a:ext cx="144463" cy="136525"/>
            </a:xfrm>
            <a:custGeom>
              <a:avLst/>
              <a:gdLst>
                <a:gd name="T0" fmla="*/ 14 w 26"/>
                <a:gd name="T1" fmla="*/ 24 h 24"/>
                <a:gd name="T2" fmla="*/ 25 w 26"/>
                <a:gd name="T3" fmla="*/ 20 h 24"/>
                <a:gd name="T4" fmla="*/ 25 w 26"/>
                <a:gd name="T5" fmla="*/ 20 h 24"/>
                <a:gd name="T6" fmla="*/ 25 w 26"/>
                <a:gd name="T7" fmla="*/ 19 h 24"/>
                <a:gd name="T8" fmla="*/ 22 w 26"/>
                <a:gd name="T9" fmla="*/ 7 h 24"/>
                <a:gd name="T10" fmla="*/ 14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14" y="24"/>
                  </a:moveTo>
                  <a:cubicBezTo>
                    <a:pt x="20" y="24"/>
                    <a:pt x="21" y="24"/>
                    <a:pt x="25" y="20"/>
                  </a:cubicBezTo>
                  <a:cubicBezTo>
                    <a:pt x="25" y="20"/>
                    <a:pt x="25" y="20"/>
                    <a:pt x="25" y="20"/>
                  </a:cubicBezTo>
                  <a:cubicBezTo>
                    <a:pt x="25" y="20"/>
                    <a:pt x="25" y="20"/>
                    <a:pt x="25" y="19"/>
                  </a:cubicBezTo>
                  <a:cubicBezTo>
                    <a:pt x="26" y="13"/>
                    <a:pt x="23" y="8"/>
                    <a:pt x="22" y="7"/>
                  </a:cubicBezTo>
                  <a:cubicBezTo>
                    <a:pt x="9" y="0"/>
                    <a:pt x="0" y="17"/>
                    <a:pt x="14" y="2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Freeform 28"/>
            <p:cNvSpPr/>
            <p:nvPr/>
          </p:nvSpPr>
          <p:spPr bwMode="auto">
            <a:xfrm>
              <a:off x="5603875" y="5032375"/>
              <a:ext cx="106363" cy="114300"/>
            </a:xfrm>
            <a:custGeom>
              <a:avLst/>
              <a:gdLst>
                <a:gd name="T0" fmla="*/ 9 w 19"/>
                <a:gd name="T1" fmla="*/ 20 h 20"/>
                <a:gd name="T2" fmla="*/ 11 w 19"/>
                <a:gd name="T3" fmla="*/ 19 h 20"/>
                <a:gd name="T4" fmla="*/ 13 w 19"/>
                <a:gd name="T5" fmla="*/ 18 h 20"/>
                <a:gd name="T6" fmla="*/ 16 w 19"/>
                <a:gd name="T7" fmla="*/ 1 h 20"/>
                <a:gd name="T8" fmla="*/ 13 w 19"/>
                <a:gd name="T9" fmla="*/ 0 h 20"/>
                <a:gd name="T10" fmla="*/ 9 w 19"/>
                <a:gd name="T11" fmla="*/ 20 h 20"/>
              </a:gdLst>
              <a:ahLst/>
              <a:cxnLst>
                <a:cxn ang="0">
                  <a:pos x="T0" y="T1"/>
                </a:cxn>
                <a:cxn ang="0">
                  <a:pos x="T2" y="T3"/>
                </a:cxn>
                <a:cxn ang="0">
                  <a:pos x="T4" y="T5"/>
                </a:cxn>
                <a:cxn ang="0">
                  <a:pos x="T6" y="T7"/>
                </a:cxn>
                <a:cxn ang="0">
                  <a:pos x="T8" y="T9"/>
                </a:cxn>
                <a:cxn ang="0">
                  <a:pos x="T10" y="T11"/>
                </a:cxn>
              </a:cxnLst>
              <a:rect l="0" t="0" r="r" b="b"/>
              <a:pathLst>
                <a:path w="19" h="20">
                  <a:moveTo>
                    <a:pt x="9" y="20"/>
                  </a:moveTo>
                  <a:cubicBezTo>
                    <a:pt x="10" y="20"/>
                    <a:pt x="10" y="20"/>
                    <a:pt x="11" y="19"/>
                  </a:cubicBezTo>
                  <a:cubicBezTo>
                    <a:pt x="12" y="19"/>
                    <a:pt x="12" y="18"/>
                    <a:pt x="13" y="18"/>
                  </a:cubicBezTo>
                  <a:cubicBezTo>
                    <a:pt x="16" y="13"/>
                    <a:pt x="19" y="5"/>
                    <a:pt x="16" y="1"/>
                  </a:cubicBezTo>
                  <a:cubicBezTo>
                    <a:pt x="15" y="0"/>
                    <a:pt x="14" y="0"/>
                    <a:pt x="13" y="0"/>
                  </a:cubicBezTo>
                  <a:cubicBezTo>
                    <a:pt x="6" y="1"/>
                    <a:pt x="0" y="14"/>
                    <a:pt x="9" y="2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29"/>
            <p:cNvSpPr/>
            <p:nvPr/>
          </p:nvSpPr>
          <p:spPr bwMode="auto">
            <a:xfrm>
              <a:off x="6230938" y="5043488"/>
              <a:ext cx="212725" cy="504825"/>
            </a:xfrm>
            <a:custGeom>
              <a:avLst/>
              <a:gdLst>
                <a:gd name="T0" fmla="*/ 33 w 38"/>
                <a:gd name="T1" fmla="*/ 59 h 89"/>
                <a:gd name="T2" fmla="*/ 24 w 38"/>
                <a:gd name="T3" fmla="*/ 44 h 89"/>
                <a:gd name="T4" fmla="*/ 38 w 38"/>
                <a:gd name="T5" fmla="*/ 30 h 89"/>
                <a:gd name="T6" fmla="*/ 38 w 38"/>
                <a:gd name="T7" fmla="*/ 30 h 89"/>
                <a:gd name="T8" fmla="*/ 38 w 38"/>
                <a:gd name="T9" fmla="*/ 30 h 89"/>
                <a:gd name="T10" fmla="*/ 38 w 38"/>
                <a:gd name="T11" fmla="*/ 30 h 89"/>
                <a:gd name="T12" fmla="*/ 38 w 38"/>
                <a:gd name="T13" fmla="*/ 30 h 89"/>
                <a:gd name="T14" fmla="*/ 38 w 38"/>
                <a:gd name="T15" fmla="*/ 30 h 89"/>
                <a:gd name="T16" fmla="*/ 38 w 38"/>
                <a:gd name="T17" fmla="*/ 30 h 89"/>
                <a:gd name="T18" fmla="*/ 38 w 38"/>
                <a:gd name="T19" fmla="*/ 30 h 89"/>
                <a:gd name="T20" fmla="*/ 38 w 38"/>
                <a:gd name="T21" fmla="*/ 30 h 89"/>
                <a:gd name="T22" fmla="*/ 38 w 38"/>
                <a:gd name="T23" fmla="*/ 30 h 89"/>
                <a:gd name="T24" fmla="*/ 38 w 38"/>
                <a:gd name="T25" fmla="*/ 29 h 89"/>
                <a:gd name="T26" fmla="*/ 38 w 38"/>
                <a:gd name="T27" fmla="*/ 29 h 89"/>
                <a:gd name="T28" fmla="*/ 38 w 38"/>
                <a:gd name="T29" fmla="*/ 29 h 89"/>
                <a:gd name="T30" fmla="*/ 38 w 38"/>
                <a:gd name="T31" fmla="*/ 29 h 89"/>
                <a:gd name="T32" fmla="*/ 38 w 38"/>
                <a:gd name="T33" fmla="*/ 29 h 89"/>
                <a:gd name="T34" fmla="*/ 38 w 38"/>
                <a:gd name="T35" fmla="*/ 29 h 89"/>
                <a:gd name="T36" fmla="*/ 38 w 38"/>
                <a:gd name="T37" fmla="*/ 29 h 89"/>
                <a:gd name="T38" fmla="*/ 38 w 38"/>
                <a:gd name="T39" fmla="*/ 29 h 89"/>
                <a:gd name="T40" fmla="*/ 38 w 38"/>
                <a:gd name="T41" fmla="*/ 29 h 89"/>
                <a:gd name="T42" fmla="*/ 38 w 38"/>
                <a:gd name="T43" fmla="*/ 29 h 89"/>
                <a:gd name="T44" fmla="*/ 38 w 38"/>
                <a:gd name="T45" fmla="*/ 29 h 89"/>
                <a:gd name="T46" fmla="*/ 38 w 38"/>
                <a:gd name="T47" fmla="*/ 29 h 89"/>
                <a:gd name="T48" fmla="*/ 38 w 38"/>
                <a:gd name="T49" fmla="*/ 29 h 89"/>
                <a:gd name="T50" fmla="*/ 38 w 38"/>
                <a:gd name="T51" fmla="*/ 29 h 89"/>
                <a:gd name="T52" fmla="*/ 38 w 38"/>
                <a:gd name="T53" fmla="*/ 29 h 89"/>
                <a:gd name="T54" fmla="*/ 38 w 38"/>
                <a:gd name="T55" fmla="*/ 29 h 89"/>
                <a:gd name="T56" fmla="*/ 38 w 38"/>
                <a:gd name="T57" fmla="*/ 29 h 89"/>
                <a:gd name="T58" fmla="*/ 38 w 38"/>
                <a:gd name="T59" fmla="*/ 29 h 89"/>
                <a:gd name="T60" fmla="*/ 38 w 38"/>
                <a:gd name="T61" fmla="*/ 29 h 89"/>
                <a:gd name="T62" fmla="*/ 38 w 38"/>
                <a:gd name="T63" fmla="*/ 29 h 89"/>
                <a:gd name="T64" fmla="*/ 38 w 38"/>
                <a:gd name="T65" fmla="*/ 28 h 89"/>
                <a:gd name="T66" fmla="*/ 38 w 38"/>
                <a:gd name="T67" fmla="*/ 28 h 89"/>
                <a:gd name="T68" fmla="*/ 38 w 38"/>
                <a:gd name="T69" fmla="*/ 28 h 89"/>
                <a:gd name="T70" fmla="*/ 29 w 38"/>
                <a:gd name="T71" fmla="*/ 19 h 89"/>
                <a:gd name="T72" fmla="*/ 17 w 38"/>
                <a:gd name="T73" fmla="*/ 8 h 89"/>
                <a:gd name="T74" fmla="*/ 3 w 38"/>
                <a:gd name="T75" fmla="*/ 37 h 89"/>
                <a:gd name="T76" fmla="*/ 7 w 38"/>
                <a:gd name="T77" fmla="*/ 68 h 89"/>
                <a:gd name="T78" fmla="*/ 37 w 38"/>
                <a:gd name="T79" fmla="*/ 5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89">
                  <a:moveTo>
                    <a:pt x="33" y="58"/>
                  </a:moveTo>
                  <a:cubicBezTo>
                    <a:pt x="33" y="58"/>
                    <a:pt x="33" y="58"/>
                    <a:pt x="33" y="59"/>
                  </a:cubicBezTo>
                  <a:cubicBezTo>
                    <a:pt x="30" y="61"/>
                    <a:pt x="26" y="69"/>
                    <a:pt x="22" y="70"/>
                  </a:cubicBezTo>
                  <a:cubicBezTo>
                    <a:pt x="21" y="61"/>
                    <a:pt x="23" y="52"/>
                    <a:pt x="24" y="44"/>
                  </a:cubicBezTo>
                  <a:cubicBezTo>
                    <a:pt x="26" y="39"/>
                    <a:pt x="27" y="39"/>
                    <a:pt x="32" y="37"/>
                  </a:cubicBezTo>
                  <a:cubicBezTo>
                    <a:pt x="35" y="35"/>
                    <a:pt x="37" y="33"/>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7" y="21"/>
                    <a:pt x="35" y="20"/>
                    <a:pt x="29" y="19"/>
                  </a:cubicBezTo>
                  <a:cubicBezTo>
                    <a:pt x="28" y="14"/>
                    <a:pt x="29" y="9"/>
                    <a:pt x="28" y="4"/>
                  </a:cubicBezTo>
                  <a:cubicBezTo>
                    <a:pt x="25" y="0"/>
                    <a:pt x="19" y="5"/>
                    <a:pt x="17" y="8"/>
                  </a:cubicBezTo>
                  <a:cubicBezTo>
                    <a:pt x="10" y="13"/>
                    <a:pt x="15" y="20"/>
                    <a:pt x="14" y="29"/>
                  </a:cubicBezTo>
                  <a:cubicBezTo>
                    <a:pt x="11" y="31"/>
                    <a:pt x="6" y="34"/>
                    <a:pt x="3" y="37"/>
                  </a:cubicBezTo>
                  <a:cubicBezTo>
                    <a:pt x="0" y="45"/>
                    <a:pt x="1" y="47"/>
                    <a:pt x="9" y="50"/>
                  </a:cubicBezTo>
                  <a:cubicBezTo>
                    <a:pt x="10" y="54"/>
                    <a:pt x="7" y="64"/>
                    <a:pt x="7" y="68"/>
                  </a:cubicBezTo>
                  <a:cubicBezTo>
                    <a:pt x="7" y="74"/>
                    <a:pt x="6" y="85"/>
                    <a:pt x="13" y="89"/>
                  </a:cubicBezTo>
                  <a:cubicBezTo>
                    <a:pt x="21" y="87"/>
                    <a:pt x="38" y="67"/>
                    <a:pt x="37" y="57"/>
                  </a:cubicBezTo>
                  <a:cubicBezTo>
                    <a:pt x="36" y="57"/>
                    <a:pt x="35" y="57"/>
                    <a:pt x="33" y="58"/>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Freeform 30"/>
            <p:cNvSpPr/>
            <p:nvPr/>
          </p:nvSpPr>
          <p:spPr bwMode="auto">
            <a:xfrm>
              <a:off x="6443663" y="5140325"/>
              <a:ext cx="101600" cy="352425"/>
            </a:xfrm>
            <a:custGeom>
              <a:avLst/>
              <a:gdLst>
                <a:gd name="T0" fmla="*/ 4 w 18"/>
                <a:gd name="T1" fmla="*/ 10 h 62"/>
                <a:gd name="T2" fmla="*/ 3 w 18"/>
                <a:gd name="T3" fmla="*/ 43 h 62"/>
                <a:gd name="T4" fmla="*/ 0 w 18"/>
                <a:gd name="T5" fmla="*/ 57 h 62"/>
                <a:gd name="T6" fmla="*/ 0 w 18"/>
                <a:gd name="T7" fmla="*/ 59 h 62"/>
                <a:gd name="T8" fmla="*/ 1 w 18"/>
                <a:gd name="T9" fmla="*/ 62 h 62"/>
                <a:gd name="T10" fmla="*/ 10 w 18"/>
                <a:gd name="T11" fmla="*/ 56 h 62"/>
                <a:gd name="T12" fmla="*/ 16 w 18"/>
                <a:gd name="T13" fmla="*/ 9 h 62"/>
                <a:gd name="T14" fmla="*/ 4 w 18"/>
                <a:gd name="T15" fmla="*/ 1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62">
                  <a:moveTo>
                    <a:pt x="4" y="10"/>
                  </a:moveTo>
                  <a:cubicBezTo>
                    <a:pt x="5" y="21"/>
                    <a:pt x="5" y="32"/>
                    <a:pt x="3" y="43"/>
                  </a:cubicBezTo>
                  <a:cubicBezTo>
                    <a:pt x="2" y="47"/>
                    <a:pt x="0" y="52"/>
                    <a:pt x="0" y="57"/>
                  </a:cubicBezTo>
                  <a:cubicBezTo>
                    <a:pt x="0" y="57"/>
                    <a:pt x="0" y="58"/>
                    <a:pt x="0" y="59"/>
                  </a:cubicBezTo>
                  <a:cubicBezTo>
                    <a:pt x="0" y="60"/>
                    <a:pt x="0" y="61"/>
                    <a:pt x="1" y="62"/>
                  </a:cubicBezTo>
                  <a:cubicBezTo>
                    <a:pt x="4" y="62"/>
                    <a:pt x="7" y="60"/>
                    <a:pt x="10" y="56"/>
                  </a:cubicBezTo>
                  <a:cubicBezTo>
                    <a:pt x="16" y="43"/>
                    <a:pt x="18" y="23"/>
                    <a:pt x="16" y="9"/>
                  </a:cubicBezTo>
                  <a:cubicBezTo>
                    <a:pt x="13" y="0"/>
                    <a:pt x="7" y="4"/>
                    <a:pt x="4" y="1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Freeform 31"/>
            <p:cNvSpPr/>
            <p:nvPr/>
          </p:nvSpPr>
          <p:spPr bwMode="auto">
            <a:xfrm>
              <a:off x="6640513" y="4999038"/>
              <a:ext cx="84138" cy="681038"/>
            </a:xfrm>
            <a:custGeom>
              <a:avLst/>
              <a:gdLst>
                <a:gd name="T0" fmla="*/ 11 w 15"/>
                <a:gd name="T1" fmla="*/ 2 h 120"/>
                <a:gd name="T2" fmla="*/ 2 w 15"/>
                <a:gd name="T3" fmla="*/ 4 h 120"/>
                <a:gd name="T4" fmla="*/ 2 w 15"/>
                <a:gd name="T5" fmla="*/ 6 h 120"/>
                <a:gd name="T6" fmla="*/ 2 w 15"/>
                <a:gd name="T7" fmla="*/ 113 h 120"/>
                <a:gd name="T8" fmla="*/ 4 w 15"/>
                <a:gd name="T9" fmla="*/ 120 h 120"/>
                <a:gd name="T10" fmla="*/ 15 w 15"/>
                <a:gd name="T11" fmla="*/ 107 h 120"/>
                <a:gd name="T12" fmla="*/ 15 w 15"/>
                <a:gd name="T13" fmla="*/ 69 h 120"/>
                <a:gd name="T14" fmla="*/ 15 w 15"/>
                <a:gd name="T15" fmla="*/ 55 h 120"/>
                <a:gd name="T16" fmla="*/ 15 w 15"/>
                <a:gd name="T17" fmla="*/ 6 h 120"/>
                <a:gd name="T18" fmla="*/ 11 w 15"/>
                <a:gd name="T1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1" y="2"/>
                  </a:moveTo>
                  <a:cubicBezTo>
                    <a:pt x="7" y="0"/>
                    <a:pt x="5" y="2"/>
                    <a:pt x="2" y="4"/>
                  </a:cubicBezTo>
                  <a:cubicBezTo>
                    <a:pt x="2" y="5"/>
                    <a:pt x="2" y="6"/>
                    <a:pt x="2" y="6"/>
                  </a:cubicBezTo>
                  <a:cubicBezTo>
                    <a:pt x="3" y="41"/>
                    <a:pt x="4" y="77"/>
                    <a:pt x="2" y="113"/>
                  </a:cubicBezTo>
                  <a:cubicBezTo>
                    <a:pt x="1" y="116"/>
                    <a:pt x="0" y="118"/>
                    <a:pt x="4" y="120"/>
                  </a:cubicBezTo>
                  <a:cubicBezTo>
                    <a:pt x="12" y="120"/>
                    <a:pt x="13" y="116"/>
                    <a:pt x="15" y="107"/>
                  </a:cubicBezTo>
                  <a:cubicBezTo>
                    <a:pt x="15" y="99"/>
                    <a:pt x="15" y="69"/>
                    <a:pt x="15" y="69"/>
                  </a:cubicBezTo>
                  <a:cubicBezTo>
                    <a:pt x="15" y="66"/>
                    <a:pt x="15" y="56"/>
                    <a:pt x="15" y="55"/>
                  </a:cubicBezTo>
                  <a:cubicBezTo>
                    <a:pt x="15" y="26"/>
                    <a:pt x="15" y="26"/>
                    <a:pt x="15" y="6"/>
                  </a:cubicBezTo>
                  <a:cubicBezTo>
                    <a:pt x="14" y="4"/>
                    <a:pt x="13" y="3"/>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Freeform 32"/>
            <p:cNvSpPr/>
            <p:nvPr/>
          </p:nvSpPr>
          <p:spPr bwMode="auto">
            <a:xfrm>
              <a:off x="6538913" y="5157788"/>
              <a:ext cx="101600" cy="260350"/>
            </a:xfrm>
            <a:custGeom>
              <a:avLst/>
              <a:gdLst>
                <a:gd name="T0" fmla="*/ 15 w 18"/>
                <a:gd name="T1" fmla="*/ 3 h 46"/>
                <a:gd name="T2" fmla="*/ 6 w 18"/>
                <a:gd name="T3" fmla="*/ 16 h 46"/>
                <a:gd name="T4" fmla="*/ 8 w 18"/>
                <a:gd name="T5" fmla="*/ 46 h 46"/>
                <a:gd name="T6" fmla="*/ 13 w 18"/>
                <a:gd name="T7" fmla="*/ 44 h 46"/>
                <a:gd name="T8" fmla="*/ 18 w 18"/>
                <a:gd name="T9" fmla="*/ 6 h 46"/>
                <a:gd name="T10" fmla="*/ 15 w 18"/>
                <a:gd name="T11" fmla="*/ 3 h 46"/>
              </a:gdLst>
              <a:ahLst/>
              <a:cxnLst>
                <a:cxn ang="0">
                  <a:pos x="T0" y="T1"/>
                </a:cxn>
                <a:cxn ang="0">
                  <a:pos x="T2" y="T3"/>
                </a:cxn>
                <a:cxn ang="0">
                  <a:pos x="T4" y="T5"/>
                </a:cxn>
                <a:cxn ang="0">
                  <a:pos x="T6" y="T7"/>
                </a:cxn>
                <a:cxn ang="0">
                  <a:pos x="T8" y="T9"/>
                </a:cxn>
                <a:cxn ang="0">
                  <a:pos x="T10" y="T11"/>
                </a:cxn>
              </a:cxnLst>
              <a:rect l="0" t="0" r="r" b="b"/>
              <a:pathLst>
                <a:path w="18" h="46">
                  <a:moveTo>
                    <a:pt x="15" y="3"/>
                  </a:moveTo>
                  <a:cubicBezTo>
                    <a:pt x="9" y="0"/>
                    <a:pt x="8" y="11"/>
                    <a:pt x="6" y="16"/>
                  </a:cubicBezTo>
                  <a:cubicBezTo>
                    <a:pt x="5" y="22"/>
                    <a:pt x="0" y="42"/>
                    <a:pt x="8" y="46"/>
                  </a:cubicBezTo>
                  <a:cubicBezTo>
                    <a:pt x="10" y="46"/>
                    <a:pt x="12" y="45"/>
                    <a:pt x="13" y="44"/>
                  </a:cubicBezTo>
                  <a:cubicBezTo>
                    <a:pt x="18" y="32"/>
                    <a:pt x="17" y="18"/>
                    <a:pt x="18" y="6"/>
                  </a:cubicBezTo>
                  <a:cubicBezTo>
                    <a:pt x="17" y="5"/>
                    <a:pt x="16" y="4"/>
                    <a:pt x="15" y="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33"/>
            <p:cNvSpPr/>
            <p:nvPr/>
          </p:nvSpPr>
          <p:spPr bwMode="auto">
            <a:xfrm>
              <a:off x="7262813" y="5356225"/>
              <a:ext cx="285750" cy="255588"/>
            </a:xfrm>
            <a:custGeom>
              <a:avLst/>
              <a:gdLst>
                <a:gd name="T0" fmla="*/ 37 w 51"/>
                <a:gd name="T1" fmla="*/ 29 h 45"/>
                <a:gd name="T2" fmla="*/ 36 w 51"/>
                <a:gd name="T3" fmla="*/ 29 h 45"/>
                <a:gd name="T4" fmla="*/ 36 w 51"/>
                <a:gd name="T5" fmla="*/ 28 h 45"/>
                <a:gd name="T6" fmla="*/ 35 w 51"/>
                <a:gd name="T7" fmla="*/ 28 h 45"/>
                <a:gd name="T8" fmla="*/ 29 w 51"/>
                <a:gd name="T9" fmla="*/ 23 h 45"/>
                <a:gd name="T10" fmla="*/ 27 w 51"/>
                <a:gd name="T11" fmla="*/ 22 h 45"/>
                <a:gd name="T12" fmla="*/ 24 w 51"/>
                <a:gd name="T13" fmla="*/ 19 h 45"/>
                <a:gd name="T14" fmla="*/ 22 w 51"/>
                <a:gd name="T15" fmla="*/ 17 h 45"/>
                <a:gd name="T16" fmla="*/ 18 w 51"/>
                <a:gd name="T17" fmla="*/ 14 h 45"/>
                <a:gd name="T18" fmla="*/ 18 w 51"/>
                <a:gd name="T19" fmla="*/ 14 h 45"/>
                <a:gd name="T20" fmla="*/ 13 w 51"/>
                <a:gd name="T21" fmla="*/ 8 h 45"/>
                <a:gd name="T22" fmla="*/ 7 w 51"/>
                <a:gd name="T23" fmla="*/ 0 h 45"/>
                <a:gd name="T24" fmla="*/ 1 w 51"/>
                <a:gd name="T25" fmla="*/ 6 h 45"/>
                <a:gd name="T26" fmla="*/ 13 w 51"/>
                <a:gd name="T27" fmla="*/ 28 h 45"/>
                <a:gd name="T28" fmla="*/ 32 w 51"/>
                <a:gd name="T29" fmla="*/ 44 h 45"/>
                <a:gd name="T30" fmla="*/ 50 w 51"/>
                <a:gd name="T31" fmla="*/ 39 h 45"/>
                <a:gd name="T32" fmla="*/ 50 w 51"/>
                <a:gd name="T33" fmla="*/ 36 h 45"/>
                <a:gd name="T34" fmla="*/ 37 w 51"/>
                <a:gd name="T3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45">
                  <a:moveTo>
                    <a:pt x="37" y="29"/>
                  </a:moveTo>
                  <a:cubicBezTo>
                    <a:pt x="37" y="29"/>
                    <a:pt x="36" y="29"/>
                    <a:pt x="36" y="29"/>
                  </a:cubicBezTo>
                  <a:cubicBezTo>
                    <a:pt x="35" y="28"/>
                    <a:pt x="36" y="28"/>
                    <a:pt x="36" y="28"/>
                  </a:cubicBezTo>
                  <a:cubicBezTo>
                    <a:pt x="35" y="28"/>
                    <a:pt x="35" y="28"/>
                    <a:pt x="35" y="28"/>
                  </a:cubicBezTo>
                  <a:cubicBezTo>
                    <a:pt x="33" y="27"/>
                    <a:pt x="30" y="24"/>
                    <a:pt x="29" y="23"/>
                  </a:cubicBezTo>
                  <a:cubicBezTo>
                    <a:pt x="29" y="23"/>
                    <a:pt x="27" y="22"/>
                    <a:pt x="27" y="22"/>
                  </a:cubicBezTo>
                  <a:cubicBezTo>
                    <a:pt x="25" y="21"/>
                    <a:pt x="25" y="20"/>
                    <a:pt x="24" y="19"/>
                  </a:cubicBezTo>
                  <a:cubicBezTo>
                    <a:pt x="23" y="18"/>
                    <a:pt x="23" y="18"/>
                    <a:pt x="22" y="17"/>
                  </a:cubicBezTo>
                  <a:cubicBezTo>
                    <a:pt x="20" y="16"/>
                    <a:pt x="19" y="15"/>
                    <a:pt x="18" y="14"/>
                  </a:cubicBezTo>
                  <a:cubicBezTo>
                    <a:pt x="18" y="14"/>
                    <a:pt x="18" y="14"/>
                    <a:pt x="18" y="14"/>
                  </a:cubicBezTo>
                  <a:cubicBezTo>
                    <a:pt x="16" y="11"/>
                    <a:pt x="14" y="9"/>
                    <a:pt x="13" y="8"/>
                  </a:cubicBezTo>
                  <a:cubicBezTo>
                    <a:pt x="11" y="5"/>
                    <a:pt x="9" y="3"/>
                    <a:pt x="7" y="0"/>
                  </a:cubicBezTo>
                  <a:cubicBezTo>
                    <a:pt x="3" y="0"/>
                    <a:pt x="0" y="2"/>
                    <a:pt x="1" y="6"/>
                  </a:cubicBezTo>
                  <a:cubicBezTo>
                    <a:pt x="3" y="14"/>
                    <a:pt x="7" y="21"/>
                    <a:pt x="13" y="28"/>
                  </a:cubicBezTo>
                  <a:cubicBezTo>
                    <a:pt x="18" y="35"/>
                    <a:pt x="25" y="41"/>
                    <a:pt x="32" y="44"/>
                  </a:cubicBezTo>
                  <a:cubicBezTo>
                    <a:pt x="39" y="44"/>
                    <a:pt x="45" y="45"/>
                    <a:pt x="50" y="39"/>
                  </a:cubicBezTo>
                  <a:cubicBezTo>
                    <a:pt x="50" y="38"/>
                    <a:pt x="51" y="37"/>
                    <a:pt x="50" y="36"/>
                  </a:cubicBezTo>
                  <a:cubicBezTo>
                    <a:pt x="45" y="33"/>
                    <a:pt x="41" y="31"/>
                    <a:pt x="37"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Freeform 34"/>
            <p:cNvSpPr/>
            <p:nvPr/>
          </p:nvSpPr>
          <p:spPr bwMode="auto">
            <a:xfrm>
              <a:off x="7016750" y="4999038"/>
              <a:ext cx="392113" cy="595313"/>
            </a:xfrm>
            <a:custGeom>
              <a:avLst/>
              <a:gdLst>
                <a:gd name="T0" fmla="*/ 57 w 70"/>
                <a:gd name="T1" fmla="*/ 41 h 105"/>
                <a:gd name="T2" fmla="*/ 68 w 70"/>
                <a:gd name="T3" fmla="*/ 25 h 105"/>
                <a:gd name="T4" fmla="*/ 60 w 70"/>
                <a:gd name="T5" fmla="*/ 19 h 105"/>
                <a:gd name="T6" fmla="*/ 57 w 70"/>
                <a:gd name="T7" fmla="*/ 21 h 105"/>
                <a:gd name="T8" fmla="*/ 52 w 70"/>
                <a:gd name="T9" fmla="*/ 24 h 105"/>
                <a:gd name="T10" fmla="*/ 51 w 70"/>
                <a:gd name="T11" fmla="*/ 8 h 105"/>
                <a:gd name="T12" fmla="*/ 41 w 70"/>
                <a:gd name="T13" fmla="*/ 0 h 105"/>
                <a:gd name="T14" fmla="*/ 39 w 70"/>
                <a:gd name="T15" fmla="*/ 9 h 105"/>
                <a:gd name="T16" fmla="*/ 39 w 70"/>
                <a:gd name="T17" fmla="*/ 28 h 105"/>
                <a:gd name="T18" fmla="*/ 18 w 70"/>
                <a:gd name="T19" fmla="*/ 39 h 105"/>
                <a:gd name="T20" fmla="*/ 14 w 70"/>
                <a:gd name="T21" fmla="*/ 49 h 105"/>
                <a:gd name="T22" fmla="*/ 28 w 70"/>
                <a:gd name="T23" fmla="*/ 54 h 105"/>
                <a:gd name="T24" fmla="*/ 27 w 70"/>
                <a:gd name="T25" fmla="*/ 62 h 105"/>
                <a:gd name="T26" fmla="*/ 21 w 70"/>
                <a:gd name="T27" fmla="*/ 76 h 105"/>
                <a:gd name="T28" fmla="*/ 1 w 70"/>
                <a:gd name="T29" fmla="*/ 96 h 105"/>
                <a:gd name="T30" fmla="*/ 0 w 70"/>
                <a:gd name="T31" fmla="*/ 98 h 105"/>
                <a:gd name="T32" fmla="*/ 8 w 70"/>
                <a:gd name="T33" fmla="*/ 105 h 105"/>
                <a:gd name="T34" fmla="*/ 20 w 70"/>
                <a:gd name="T35" fmla="*/ 102 h 105"/>
                <a:gd name="T36" fmla="*/ 39 w 70"/>
                <a:gd name="T37" fmla="*/ 67 h 105"/>
                <a:gd name="T38" fmla="*/ 39 w 70"/>
                <a:gd name="T39" fmla="*/ 66 h 105"/>
                <a:gd name="T40" fmla="*/ 50 w 70"/>
                <a:gd name="T41" fmla="*/ 44 h 105"/>
                <a:gd name="T42" fmla="*/ 57 w 70"/>
                <a:gd name="T43" fmla="*/ 4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5">
                  <a:moveTo>
                    <a:pt x="57" y="41"/>
                  </a:moveTo>
                  <a:cubicBezTo>
                    <a:pt x="63" y="38"/>
                    <a:pt x="70" y="36"/>
                    <a:pt x="68" y="25"/>
                  </a:cubicBezTo>
                  <a:cubicBezTo>
                    <a:pt x="65" y="21"/>
                    <a:pt x="64" y="20"/>
                    <a:pt x="60" y="19"/>
                  </a:cubicBezTo>
                  <a:cubicBezTo>
                    <a:pt x="59" y="20"/>
                    <a:pt x="58" y="20"/>
                    <a:pt x="57" y="21"/>
                  </a:cubicBezTo>
                  <a:cubicBezTo>
                    <a:pt x="53" y="23"/>
                    <a:pt x="52" y="24"/>
                    <a:pt x="52" y="24"/>
                  </a:cubicBezTo>
                  <a:cubicBezTo>
                    <a:pt x="51" y="18"/>
                    <a:pt x="51" y="13"/>
                    <a:pt x="51" y="8"/>
                  </a:cubicBezTo>
                  <a:cubicBezTo>
                    <a:pt x="48" y="1"/>
                    <a:pt x="47" y="0"/>
                    <a:pt x="41" y="0"/>
                  </a:cubicBezTo>
                  <a:cubicBezTo>
                    <a:pt x="36" y="1"/>
                    <a:pt x="31" y="6"/>
                    <a:pt x="39" y="9"/>
                  </a:cubicBezTo>
                  <a:cubicBezTo>
                    <a:pt x="42" y="12"/>
                    <a:pt x="41" y="25"/>
                    <a:pt x="39" y="28"/>
                  </a:cubicBezTo>
                  <a:cubicBezTo>
                    <a:pt x="32" y="32"/>
                    <a:pt x="25" y="35"/>
                    <a:pt x="18" y="39"/>
                  </a:cubicBezTo>
                  <a:cubicBezTo>
                    <a:pt x="15" y="42"/>
                    <a:pt x="14" y="45"/>
                    <a:pt x="14" y="49"/>
                  </a:cubicBezTo>
                  <a:cubicBezTo>
                    <a:pt x="16" y="59"/>
                    <a:pt x="21" y="52"/>
                    <a:pt x="28" y="54"/>
                  </a:cubicBezTo>
                  <a:cubicBezTo>
                    <a:pt x="29" y="55"/>
                    <a:pt x="28" y="61"/>
                    <a:pt x="27" y="62"/>
                  </a:cubicBezTo>
                  <a:cubicBezTo>
                    <a:pt x="27" y="65"/>
                    <a:pt x="22" y="75"/>
                    <a:pt x="21" y="76"/>
                  </a:cubicBezTo>
                  <a:cubicBezTo>
                    <a:pt x="19" y="84"/>
                    <a:pt x="7" y="92"/>
                    <a:pt x="1" y="96"/>
                  </a:cubicBezTo>
                  <a:cubicBezTo>
                    <a:pt x="1" y="96"/>
                    <a:pt x="0" y="97"/>
                    <a:pt x="0" y="98"/>
                  </a:cubicBezTo>
                  <a:cubicBezTo>
                    <a:pt x="0" y="103"/>
                    <a:pt x="4" y="105"/>
                    <a:pt x="8" y="105"/>
                  </a:cubicBezTo>
                  <a:cubicBezTo>
                    <a:pt x="13" y="105"/>
                    <a:pt x="16" y="105"/>
                    <a:pt x="20" y="102"/>
                  </a:cubicBezTo>
                  <a:cubicBezTo>
                    <a:pt x="27" y="91"/>
                    <a:pt x="34" y="79"/>
                    <a:pt x="39" y="67"/>
                  </a:cubicBezTo>
                  <a:cubicBezTo>
                    <a:pt x="39" y="67"/>
                    <a:pt x="39" y="66"/>
                    <a:pt x="39" y="66"/>
                  </a:cubicBezTo>
                  <a:cubicBezTo>
                    <a:pt x="41" y="59"/>
                    <a:pt x="46" y="50"/>
                    <a:pt x="50" y="44"/>
                  </a:cubicBezTo>
                  <a:cubicBezTo>
                    <a:pt x="52" y="43"/>
                    <a:pt x="54" y="42"/>
                    <a:pt x="57" y="4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35"/>
            <p:cNvSpPr/>
            <p:nvPr/>
          </p:nvSpPr>
          <p:spPr bwMode="auto">
            <a:xfrm>
              <a:off x="7951788" y="4906963"/>
              <a:ext cx="90488" cy="239713"/>
            </a:xfrm>
            <a:custGeom>
              <a:avLst/>
              <a:gdLst>
                <a:gd name="T0" fmla="*/ 5 w 16"/>
                <a:gd name="T1" fmla="*/ 42 h 42"/>
                <a:gd name="T2" fmla="*/ 9 w 16"/>
                <a:gd name="T3" fmla="*/ 41 h 42"/>
                <a:gd name="T4" fmla="*/ 11 w 16"/>
                <a:gd name="T5" fmla="*/ 37 h 42"/>
                <a:gd name="T6" fmla="*/ 16 w 16"/>
                <a:gd name="T7" fmla="*/ 10 h 42"/>
                <a:gd name="T8" fmla="*/ 14 w 16"/>
                <a:gd name="T9" fmla="*/ 1 h 42"/>
                <a:gd name="T10" fmla="*/ 9 w 16"/>
                <a:gd name="T11" fmla="*/ 2 h 42"/>
                <a:gd name="T12" fmla="*/ 7 w 16"/>
                <a:gd name="T13" fmla="*/ 5 h 42"/>
                <a:gd name="T14" fmla="*/ 2 w 16"/>
                <a:gd name="T15" fmla="*/ 29 h 42"/>
                <a:gd name="T16" fmla="*/ 5 w 16"/>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2">
                  <a:moveTo>
                    <a:pt x="5" y="42"/>
                  </a:moveTo>
                  <a:cubicBezTo>
                    <a:pt x="7" y="42"/>
                    <a:pt x="8" y="42"/>
                    <a:pt x="9" y="41"/>
                  </a:cubicBezTo>
                  <a:cubicBezTo>
                    <a:pt x="10" y="40"/>
                    <a:pt x="11" y="39"/>
                    <a:pt x="11" y="37"/>
                  </a:cubicBezTo>
                  <a:cubicBezTo>
                    <a:pt x="13" y="28"/>
                    <a:pt x="15" y="20"/>
                    <a:pt x="16" y="10"/>
                  </a:cubicBezTo>
                  <a:cubicBezTo>
                    <a:pt x="16" y="7"/>
                    <a:pt x="15" y="4"/>
                    <a:pt x="14" y="1"/>
                  </a:cubicBezTo>
                  <a:cubicBezTo>
                    <a:pt x="11" y="0"/>
                    <a:pt x="9" y="1"/>
                    <a:pt x="9" y="2"/>
                  </a:cubicBezTo>
                  <a:cubicBezTo>
                    <a:pt x="8" y="3"/>
                    <a:pt x="7" y="4"/>
                    <a:pt x="7" y="5"/>
                  </a:cubicBezTo>
                  <a:cubicBezTo>
                    <a:pt x="5" y="13"/>
                    <a:pt x="3" y="21"/>
                    <a:pt x="2" y="29"/>
                  </a:cubicBezTo>
                  <a:cubicBezTo>
                    <a:pt x="2" y="34"/>
                    <a:pt x="0" y="39"/>
                    <a:pt x="5" y="4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36"/>
            <p:cNvSpPr/>
            <p:nvPr/>
          </p:nvSpPr>
          <p:spPr bwMode="auto">
            <a:xfrm>
              <a:off x="7907338" y="4845050"/>
              <a:ext cx="392113" cy="425450"/>
            </a:xfrm>
            <a:custGeom>
              <a:avLst/>
              <a:gdLst>
                <a:gd name="T0" fmla="*/ 31 w 70"/>
                <a:gd name="T1" fmla="*/ 43 h 75"/>
                <a:gd name="T2" fmla="*/ 31 w 70"/>
                <a:gd name="T3" fmla="*/ 49 h 75"/>
                <a:gd name="T4" fmla="*/ 29 w 70"/>
                <a:gd name="T5" fmla="*/ 52 h 75"/>
                <a:gd name="T6" fmla="*/ 27 w 70"/>
                <a:gd name="T7" fmla="*/ 55 h 75"/>
                <a:gd name="T8" fmla="*/ 20 w 70"/>
                <a:gd name="T9" fmla="*/ 59 h 75"/>
                <a:gd name="T10" fmla="*/ 16 w 70"/>
                <a:gd name="T11" fmla="*/ 62 h 75"/>
                <a:gd name="T12" fmla="*/ 4 w 70"/>
                <a:gd name="T13" fmla="*/ 69 h 75"/>
                <a:gd name="T14" fmla="*/ 4 w 70"/>
                <a:gd name="T15" fmla="*/ 69 h 75"/>
                <a:gd name="T16" fmla="*/ 0 w 70"/>
                <a:gd name="T17" fmla="*/ 71 h 75"/>
                <a:gd name="T18" fmla="*/ 4 w 70"/>
                <a:gd name="T19" fmla="*/ 73 h 75"/>
                <a:gd name="T20" fmla="*/ 9 w 70"/>
                <a:gd name="T21" fmla="*/ 72 h 75"/>
                <a:gd name="T22" fmla="*/ 17 w 70"/>
                <a:gd name="T23" fmla="*/ 69 h 75"/>
                <a:gd name="T24" fmla="*/ 33 w 70"/>
                <a:gd name="T25" fmla="*/ 64 h 75"/>
                <a:gd name="T26" fmla="*/ 48 w 70"/>
                <a:gd name="T27" fmla="*/ 61 h 75"/>
                <a:gd name="T28" fmla="*/ 53 w 70"/>
                <a:gd name="T29" fmla="*/ 62 h 75"/>
                <a:gd name="T30" fmla="*/ 46 w 70"/>
                <a:gd name="T31" fmla="*/ 73 h 75"/>
                <a:gd name="T32" fmla="*/ 49 w 70"/>
                <a:gd name="T33" fmla="*/ 75 h 75"/>
                <a:gd name="T34" fmla="*/ 70 w 70"/>
                <a:gd name="T35" fmla="*/ 62 h 75"/>
                <a:gd name="T36" fmla="*/ 57 w 70"/>
                <a:gd name="T37" fmla="*/ 50 h 75"/>
                <a:gd name="T38" fmla="*/ 46 w 70"/>
                <a:gd name="T39" fmla="*/ 51 h 75"/>
                <a:gd name="T40" fmla="*/ 36 w 70"/>
                <a:gd name="T41" fmla="*/ 53 h 75"/>
                <a:gd name="T42" fmla="*/ 43 w 70"/>
                <a:gd name="T43" fmla="*/ 47 h 75"/>
                <a:gd name="T44" fmla="*/ 39 w 70"/>
                <a:gd name="T45" fmla="*/ 40 h 75"/>
                <a:gd name="T46" fmla="*/ 49 w 70"/>
                <a:gd name="T47" fmla="*/ 30 h 75"/>
                <a:gd name="T48" fmla="*/ 45 w 70"/>
                <a:gd name="T49" fmla="*/ 26 h 75"/>
                <a:gd name="T50" fmla="*/ 41 w 70"/>
                <a:gd name="T51" fmla="*/ 24 h 75"/>
                <a:gd name="T52" fmla="*/ 47 w 70"/>
                <a:gd name="T53" fmla="*/ 19 h 75"/>
                <a:gd name="T54" fmla="*/ 47 w 70"/>
                <a:gd name="T55" fmla="*/ 3 h 75"/>
                <a:gd name="T56" fmla="*/ 36 w 70"/>
                <a:gd name="T57" fmla="*/ 4 h 75"/>
                <a:gd name="T58" fmla="*/ 36 w 70"/>
                <a:gd name="T59" fmla="*/ 4 h 75"/>
                <a:gd name="T60" fmla="*/ 36 w 70"/>
                <a:gd name="T61" fmla="*/ 16 h 75"/>
                <a:gd name="T62" fmla="*/ 33 w 70"/>
                <a:gd name="T63" fmla="*/ 17 h 75"/>
                <a:gd name="T64" fmla="*/ 31 w 70"/>
                <a:gd name="T65" fmla="*/ 19 h 75"/>
                <a:gd name="T66" fmla="*/ 30 w 70"/>
                <a:gd name="T67" fmla="*/ 27 h 75"/>
                <a:gd name="T68" fmla="*/ 29 w 70"/>
                <a:gd name="T69" fmla="*/ 29 h 75"/>
                <a:gd name="T70" fmla="*/ 25 w 70"/>
                <a:gd name="T71" fmla="*/ 40 h 75"/>
                <a:gd name="T72" fmla="*/ 31 w 70"/>
                <a:gd name="T7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75">
                  <a:moveTo>
                    <a:pt x="31" y="43"/>
                  </a:moveTo>
                  <a:cubicBezTo>
                    <a:pt x="32" y="44"/>
                    <a:pt x="31" y="48"/>
                    <a:pt x="31" y="49"/>
                  </a:cubicBezTo>
                  <a:cubicBezTo>
                    <a:pt x="31" y="50"/>
                    <a:pt x="30" y="51"/>
                    <a:pt x="29" y="52"/>
                  </a:cubicBezTo>
                  <a:cubicBezTo>
                    <a:pt x="29" y="52"/>
                    <a:pt x="27" y="54"/>
                    <a:pt x="27" y="55"/>
                  </a:cubicBezTo>
                  <a:cubicBezTo>
                    <a:pt x="24" y="58"/>
                    <a:pt x="23" y="57"/>
                    <a:pt x="20" y="59"/>
                  </a:cubicBezTo>
                  <a:cubicBezTo>
                    <a:pt x="19" y="60"/>
                    <a:pt x="17" y="61"/>
                    <a:pt x="16" y="62"/>
                  </a:cubicBezTo>
                  <a:cubicBezTo>
                    <a:pt x="13" y="65"/>
                    <a:pt x="9" y="66"/>
                    <a:pt x="4" y="69"/>
                  </a:cubicBezTo>
                  <a:cubicBezTo>
                    <a:pt x="4" y="69"/>
                    <a:pt x="4" y="69"/>
                    <a:pt x="4" y="69"/>
                  </a:cubicBezTo>
                  <a:cubicBezTo>
                    <a:pt x="3" y="69"/>
                    <a:pt x="2" y="71"/>
                    <a:pt x="0" y="71"/>
                  </a:cubicBezTo>
                  <a:cubicBezTo>
                    <a:pt x="0" y="73"/>
                    <a:pt x="2" y="74"/>
                    <a:pt x="4" y="73"/>
                  </a:cubicBezTo>
                  <a:cubicBezTo>
                    <a:pt x="6" y="73"/>
                    <a:pt x="8" y="72"/>
                    <a:pt x="9" y="72"/>
                  </a:cubicBezTo>
                  <a:cubicBezTo>
                    <a:pt x="12" y="71"/>
                    <a:pt x="14" y="70"/>
                    <a:pt x="17" y="69"/>
                  </a:cubicBezTo>
                  <a:cubicBezTo>
                    <a:pt x="22" y="67"/>
                    <a:pt x="27" y="65"/>
                    <a:pt x="33" y="64"/>
                  </a:cubicBezTo>
                  <a:cubicBezTo>
                    <a:pt x="36" y="64"/>
                    <a:pt x="43" y="62"/>
                    <a:pt x="48" y="61"/>
                  </a:cubicBezTo>
                  <a:cubicBezTo>
                    <a:pt x="50" y="61"/>
                    <a:pt x="51" y="62"/>
                    <a:pt x="53" y="62"/>
                  </a:cubicBezTo>
                  <a:cubicBezTo>
                    <a:pt x="55" y="67"/>
                    <a:pt x="48" y="71"/>
                    <a:pt x="46" y="73"/>
                  </a:cubicBezTo>
                  <a:cubicBezTo>
                    <a:pt x="46" y="74"/>
                    <a:pt x="48" y="74"/>
                    <a:pt x="49" y="75"/>
                  </a:cubicBezTo>
                  <a:cubicBezTo>
                    <a:pt x="57" y="74"/>
                    <a:pt x="68" y="73"/>
                    <a:pt x="70" y="62"/>
                  </a:cubicBezTo>
                  <a:cubicBezTo>
                    <a:pt x="70" y="52"/>
                    <a:pt x="63" y="51"/>
                    <a:pt x="57" y="50"/>
                  </a:cubicBezTo>
                  <a:cubicBezTo>
                    <a:pt x="55" y="50"/>
                    <a:pt x="51" y="50"/>
                    <a:pt x="46" y="51"/>
                  </a:cubicBezTo>
                  <a:cubicBezTo>
                    <a:pt x="43" y="51"/>
                    <a:pt x="37" y="53"/>
                    <a:pt x="36" y="53"/>
                  </a:cubicBezTo>
                  <a:cubicBezTo>
                    <a:pt x="38" y="51"/>
                    <a:pt x="41" y="49"/>
                    <a:pt x="43" y="47"/>
                  </a:cubicBezTo>
                  <a:cubicBezTo>
                    <a:pt x="43" y="43"/>
                    <a:pt x="41" y="43"/>
                    <a:pt x="39" y="40"/>
                  </a:cubicBezTo>
                  <a:cubicBezTo>
                    <a:pt x="37" y="32"/>
                    <a:pt x="46" y="35"/>
                    <a:pt x="49" y="30"/>
                  </a:cubicBezTo>
                  <a:cubicBezTo>
                    <a:pt x="49" y="28"/>
                    <a:pt x="47" y="27"/>
                    <a:pt x="45" y="26"/>
                  </a:cubicBezTo>
                  <a:cubicBezTo>
                    <a:pt x="43" y="25"/>
                    <a:pt x="42" y="24"/>
                    <a:pt x="41" y="24"/>
                  </a:cubicBezTo>
                  <a:cubicBezTo>
                    <a:pt x="41" y="20"/>
                    <a:pt x="44" y="20"/>
                    <a:pt x="47" y="19"/>
                  </a:cubicBezTo>
                  <a:cubicBezTo>
                    <a:pt x="52" y="16"/>
                    <a:pt x="49" y="7"/>
                    <a:pt x="47" y="3"/>
                  </a:cubicBezTo>
                  <a:cubicBezTo>
                    <a:pt x="44" y="1"/>
                    <a:pt x="37" y="0"/>
                    <a:pt x="36" y="4"/>
                  </a:cubicBezTo>
                  <a:cubicBezTo>
                    <a:pt x="36" y="4"/>
                    <a:pt x="36" y="4"/>
                    <a:pt x="36" y="4"/>
                  </a:cubicBezTo>
                  <a:cubicBezTo>
                    <a:pt x="37" y="8"/>
                    <a:pt x="38" y="11"/>
                    <a:pt x="36" y="16"/>
                  </a:cubicBezTo>
                  <a:cubicBezTo>
                    <a:pt x="35" y="16"/>
                    <a:pt x="34" y="16"/>
                    <a:pt x="33" y="17"/>
                  </a:cubicBezTo>
                  <a:cubicBezTo>
                    <a:pt x="32" y="17"/>
                    <a:pt x="31" y="18"/>
                    <a:pt x="31" y="19"/>
                  </a:cubicBezTo>
                  <a:cubicBezTo>
                    <a:pt x="30" y="22"/>
                    <a:pt x="31" y="26"/>
                    <a:pt x="30" y="27"/>
                  </a:cubicBezTo>
                  <a:cubicBezTo>
                    <a:pt x="30" y="28"/>
                    <a:pt x="29" y="29"/>
                    <a:pt x="29" y="29"/>
                  </a:cubicBezTo>
                  <a:cubicBezTo>
                    <a:pt x="27" y="32"/>
                    <a:pt x="24" y="36"/>
                    <a:pt x="25" y="40"/>
                  </a:cubicBezTo>
                  <a:cubicBezTo>
                    <a:pt x="26" y="43"/>
                    <a:pt x="29" y="40"/>
                    <a:pt x="31" y="4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Freeform 37"/>
            <p:cNvSpPr/>
            <p:nvPr/>
          </p:nvSpPr>
          <p:spPr bwMode="auto">
            <a:xfrm>
              <a:off x="7856538" y="4941888"/>
              <a:ext cx="95250" cy="209550"/>
            </a:xfrm>
            <a:custGeom>
              <a:avLst/>
              <a:gdLst>
                <a:gd name="T0" fmla="*/ 10 w 17"/>
                <a:gd name="T1" fmla="*/ 37 h 37"/>
                <a:gd name="T2" fmla="*/ 13 w 17"/>
                <a:gd name="T3" fmla="*/ 37 h 37"/>
                <a:gd name="T4" fmla="*/ 16 w 17"/>
                <a:gd name="T5" fmla="*/ 35 h 37"/>
                <a:gd name="T6" fmla="*/ 13 w 17"/>
                <a:gd name="T7" fmla="*/ 28 h 37"/>
                <a:gd name="T8" fmla="*/ 13 w 17"/>
                <a:gd name="T9" fmla="*/ 28 h 37"/>
                <a:gd name="T10" fmla="*/ 13 w 17"/>
                <a:gd name="T11" fmla="*/ 18 h 37"/>
                <a:gd name="T12" fmla="*/ 17 w 17"/>
                <a:gd name="T13" fmla="*/ 8 h 37"/>
                <a:gd name="T14" fmla="*/ 14 w 17"/>
                <a:gd name="T15" fmla="*/ 0 h 37"/>
                <a:gd name="T16" fmla="*/ 13 w 17"/>
                <a:gd name="T17" fmla="*/ 0 h 37"/>
                <a:gd name="T18" fmla="*/ 5 w 17"/>
                <a:gd name="T19" fmla="*/ 7 h 37"/>
                <a:gd name="T20" fmla="*/ 2 w 17"/>
                <a:gd name="T21" fmla="*/ 15 h 37"/>
                <a:gd name="T22" fmla="*/ 2 w 17"/>
                <a:gd name="T23" fmla="*/ 31 h 37"/>
                <a:gd name="T24" fmla="*/ 10 w 17"/>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7">
                  <a:moveTo>
                    <a:pt x="10" y="37"/>
                  </a:moveTo>
                  <a:cubicBezTo>
                    <a:pt x="11" y="37"/>
                    <a:pt x="12" y="37"/>
                    <a:pt x="13" y="37"/>
                  </a:cubicBezTo>
                  <a:cubicBezTo>
                    <a:pt x="14" y="37"/>
                    <a:pt x="15" y="36"/>
                    <a:pt x="16" y="35"/>
                  </a:cubicBezTo>
                  <a:cubicBezTo>
                    <a:pt x="16" y="32"/>
                    <a:pt x="14" y="30"/>
                    <a:pt x="13" y="28"/>
                  </a:cubicBezTo>
                  <a:cubicBezTo>
                    <a:pt x="13" y="28"/>
                    <a:pt x="13" y="28"/>
                    <a:pt x="13" y="28"/>
                  </a:cubicBezTo>
                  <a:cubicBezTo>
                    <a:pt x="12" y="24"/>
                    <a:pt x="13" y="21"/>
                    <a:pt x="13" y="18"/>
                  </a:cubicBezTo>
                  <a:cubicBezTo>
                    <a:pt x="14" y="15"/>
                    <a:pt x="16" y="12"/>
                    <a:pt x="17" y="8"/>
                  </a:cubicBezTo>
                  <a:cubicBezTo>
                    <a:pt x="17" y="3"/>
                    <a:pt x="17" y="1"/>
                    <a:pt x="14" y="0"/>
                  </a:cubicBezTo>
                  <a:cubicBezTo>
                    <a:pt x="14" y="0"/>
                    <a:pt x="14" y="0"/>
                    <a:pt x="13" y="0"/>
                  </a:cubicBezTo>
                  <a:cubicBezTo>
                    <a:pt x="8" y="0"/>
                    <a:pt x="7" y="2"/>
                    <a:pt x="5" y="7"/>
                  </a:cubicBezTo>
                  <a:cubicBezTo>
                    <a:pt x="4" y="9"/>
                    <a:pt x="3" y="12"/>
                    <a:pt x="2" y="15"/>
                  </a:cubicBezTo>
                  <a:cubicBezTo>
                    <a:pt x="1" y="20"/>
                    <a:pt x="0" y="26"/>
                    <a:pt x="2" y="31"/>
                  </a:cubicBezTo>
                  <a:cubicBezTo>
                    <a:pt x="4" y="34"/>
                    <a:pt x="6" y="36"/>
                    <a:pt x="10" y="3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Freeform 38"/>
            <p:cNvSpPr/>
            <p:nvPr/>
          </p:nvSpPr>
          <p:spPr bwMode="auto">
            <a:xfrm>
              <a:off x="7862888" y="5270500"/>
              <a:ext cx="454025" cy="442913"/>
            </a:xfrm>
            <a:custGeom>
              <a:avLst/>
              <a:gdLst>
                <a:gd name="T0" fmla="*/ 50 w 81"/>
                <a:gd name="T1" fmla="*/ 29 h 78"/>
                <a:gd name="T2" fmla="*/ 41 w 81"/>
                <a:gd name="T3" fmla="*/ 28 h 78"/>
                <a:gd name="T4" fmla="*/ 39 w 81"/>
                <a:gd name="T5" fmla="*/ 26 h 78"/>
                <a:gd name="T6" fmla="*/ 41 w 81"/>
                <a:gd name="T7" fmla="*/ 22 h 78"/>
                <a:gd name="T8" fmla="*/ 46 w 81"/>
                <a:gd name="T9" fmla="*/ 15 h 78"/>
                <a:gd name="T10" fmla="*/ 41 w 81"/>
                <a:gd name="T11" fmla="*/ 2 h 78"/>
                <a:gd name="T12" fmla="*/ 40 w 81"/>
                <a:gd name="T13" fmla="*/ 1 h 78"/>
                <a:gd name="T14" fmla="*/ 33 w 81"/>
                <a:gd name="T15" fmla="*/ 0 h 78"/>
                <a:gd name="T16" fmla="*/ 26 w 81"/>
                <a:gd name="T17" fmla="*/ 2 h 78"/>
                <a:gd name="T18" fmla="*/ 25 w 81"/>
                <a:gd name="T19" fmla="*/ 6 h 78"/>
                <a:gd name="T20" fmla="*/ 32 w 81"/>
                <a:gd name="T21" fmla="*/ 9 h 78"/>
                <a:gd name="T22" fmla="*/ 35 w 81"/>
                <a:gd name="T23" fmla="*/ 15 h 78"/>
                <a:gd name="T24" fmla="*/ 32 w 81"/>
                <a:gd name="T25" fmla="*/ 30 h 78"/>
                <a:gd name="T26" fmla="*/ 25 w 81"/>
                <a:gd name="T27" fmla="*/ 32 h 78"/>
                <a:gd name="T28" fmla="*/ 15 w 81"/>
                <a:gd name="T29" fmla="*/ 37 h 78"/>
                <a:gd name="T30" fmla="*/ 12 w 81"/>
                <a:gd name="T31" fmla="*/ 38 h 78"/>
                <a:gd name="T32" fmla="*/ 1 w 81"/>
                <a:gd name="T33" fmla="*/ 39 h 78"/>
                <a:gd name="T34" fmla="*/ 0 w 81"/>
                <a:gd name="T35" fmla="*/ 39 h 78"/>
                <a:gd name="T36" fmla="*/ 1 w 81"/>
                <a:gd name="T37" fmla="*/ 43 h 78"/>
                <a:gd name="T38" fmla="*/ 8 w 81"/>
                <a:gd name="T39" fmla="*/ 47 h 78"/>
                <a:gd name="T40" fmla="*/ 14 w 81"/>
                <a:gd name="T41" fmla="*/ 46 h 78"/>
                <a:gd name="T42" fmla="*/ 25 w 81"/>
                <a:gd name="T43" fmla="*/ 43 h 78"/>
                <a:gd name="T44" fmla="*/ 36 w 81"/>
                <a:gd name="T45" fmla="*/ 44 h 78"/>
                <a:gd name="T46" fmla="*/ 32 w 81"/>
                <a:gd name="T47" fmla="*/ 60 h 78"/>
                <a:gd name="T48" fmla="*/ 25 w 81"/>
                <a:gd name="T49" fmla="*/ 58 h 78"/>
                <a:gd name="T50" fmla="*/ 25 w 81"/>
                <a:gd name="T51" fmla="*/ 58 h 78"/>
                <a:gd name="T52" fmla="*/ 19 w 81"/>
                <a:gd name="T53" fmla="*/ 53 h 78"/>
                <a:gd name="T54" fmla="*/ 20 w 81"/>
                <a:gd name="T55" fmla="*/ 67 h 78"/>
                <a:gd name="T56" fmla="*/ 25 w 81"/>
                <a:gd name="T57" fmla="*/ 76 h 78"/>
                <a:gd name="T58" fmla="*/ 28 w 81"/>
                <a:gd name="T59" fmla="*/ 78 h 78"/>
                <a:gd name="T60" fmla="*/ 41 w 81"/>
                <a:gd name="T61" fmla="*/ 69 h 78"/>
                <a:gd name="T62" fmla="*/ 41 w 81"/>
                <a:gd name="T63" fmla="*/ 69 h 78"/>
                <a:gd name="T64" fmla="*/ 41 w 81"/>
                <a:gd name="T65" fmla="*/ 68 h 78"/>
                <a:gd name="T66" fmla="*/ 48 w 81"/>
                <a:gd name="T67" fmla="*/ 42 h 78"/>
                <a:gd name="T68" fmla="*/ 63 w 81"/>
                <a:gd name="T69" fmla="*/ 41 h 78"/>
                <a:gd name="T70" fmla="*/ 70 w 81"/>
                <a:gd name="T71" fmla="*/ 44 h 78"/>
                <a:gd name="T72" fmla="*/ 76 w 81"/>
                <a:gd name="T73" fmla="*/ 27 h 78"/>
                <a:gd name="T74" fmla="*/ 50 w 81"/>
                <a:gd name="T75" fmla="*/ 2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78">
                  <a:moveTo>
                    <a:pt x="50" y="29"/>
                  </a:moveTo>
                  <a:cubicBezTo>
                    <a:pt x="46" y="29"/>
                    <a:pt x="43" y="30"/>
                    <a:pt x="41" y="28"/>
                  </a:cubicBezTo>
                  <a:cubicBezTo>
                    <a:pt x="40" y="27"/>
                    <a:pt x="40" y="27"/>
                    <a:pt x="39" y="26"/>
                  </a:cubicBezTo>
                  <a:cubicBezTo>
                    <a:pt x="39" y="25"/>
                    <a:pt x="40" y="23"/>
                    <a:pt x="41" y="22"/>
                  </a:cubicBezTo>
                  <a:cubicBezTo>
                    <a:pt x="42" y="20"/>
                    <a:pt x="45" y="17"/>
                    <a:pt x="46" y="15"/>
                  </a:cubicBezTo>
                  <a:cubicBezTo>
                    <a:pt x="48" y="7"/>
                    <a:pt x="46" y="6"/>
                    <a:pt x="41" y="2"/>
                  </a:cubicBezTo>
                  <a:cubicBezTo>
                    <a:pt x="40" y="1"/>
                    <a:pt x="40" y="1"/>
                    <a:pt x="40" y="1"/>
                  </a:cubicBezTo>
                  <a:cubicBezTo>
                    <a:pt x="38" y="0"/>
                    <a:pt x="35" y="0"/>
                    <a:pt x="33" y="0"/>
                  </a:cubicBezTo>
                  <a:cubicBezTo>
                    <a:pt x="33" y="0"/>
                    <a:pt x="27" y="0"/>
                    <a:pt x="26" y="2"/>
                  </a:cubicBezTo>
                  <a:cubicBezTo>
                    <a:pt x="26" y="3"/>
                    <a:pt x="26" y="5"/>
                    <a:pt x="25" y="6"/>
                  </a:cubicBezTo>
                  <a:cubicBezTo>
                    <a:pt x="25" y="7"/>
                    <a:pt x="30" y="6"/>
                    <a:pt x="32" y="9"/>
                  </a:cubicBezTo>
                  <a:cubicBezTo>
                    <a:pt x="34" y="11"/>
                    <a:pt x="35" y="12"/>
                    <a:pt x="35" y="15"/>
                  </a:cubicBezTo>
                  <a:cubicBezTo>
                    <a:pt x="31" y="21"/>
                    <a:pt x="29" y="23"/>
                    <a:pt x="32" y="30"/>
                  </a:cubicBezTo>
                  <a:cubicBezTo>
                    <a:pt x="30" y="31"/>
                    <a:pt x="27" y="31"/>
                    <a:pt x="25" y="32"/>
                  </a:cubicBezTo>
                  <a:cubicBezTo>
                    <a:pt x="18" y="35"/>
                    <a:pt x="16" y="36"/>
                    <a:pt x="15" y="37"/>
                  </a:cubicBezTo>
                  <a:cubicBezTo>
                    <a:pt x="14" y="37"/>
                    <a:pt x="12" y="37"/>
                    <a:pt x="12" y="38"/>
                  </a:cubicBezTo>
                  <a:cubicBezTo>
                    <a:pt x="11" y="38"/>
                    <a:pt x="10" y="38"/>
                    <a:pt x="1" y="39"/>
                  </a:cubicBezTo>
                  <a:cubicBezTo>
                    <a:pt x="1" y="39"/>
                    <a:pt x="0" y="39"/>
                    <a:pt x="0" y="39"/>
                  </a:cubicBezTo>
                  <a:cubicBezTo>
                    <a:pt x="0" y="40"/>
                    <a:pt x="0" y="41"/>
                    <a:pt x="1" y="43"/>
                  </a:cubicBezTo>
                  <a:cubicBezTo>
                    <a:pt x="3" y="46"/>
                    <a:pt x="4" y="46"/>
                    <a:pt x="8" y="47"/>
                  </a:cubicBezTo>
                  <a:cubicBezTo>
                    <a:pt x="8" y="47"/>
                    <a:pt x="13" y="47"/>
                    <a:pt x="14" y="46"/>
                  </a:cubicBezTo>
                  <a:cubicBezTo>
                    <a:pt x="18" y="46"/>
                    <a:pt x="21" y="44"/>
                    <a:pt x="25" y="43"/>
                  </a:cubicBezTo>
                  <a:cubicBezTo>
                    <a:pt x="29" y="43"/>
                    <a:pt x="34" y="43"/>
                    <a:pt x="36" y="44"/>
                  </a:cubicBezTo>
                  <a:cubicBezTo>
                    <a:pt x="37" y="48"/>
                    <a:pt x="34" y="56"/>
                    <a:pt x="32" y="60"/>
                  </a:cubicBezTo>
                  <a:cubicBezTo>
                    <a:pt x="29" y="63"/>
                    <a:pt x="27" y="62"/>
                    <a:pt x="25" y="58"/>
                  </a:cubicBezTo>
                  <a:cubicBezTo>
                    <a:pt x="25" y="58"/>
                    <a:pt x="25" y="58"/>
                    <a:pt x="25" y="58"/>
                  </a:cubicBezTo>
                  <a:cubicBezTo>
                    <a:pt x="23" y="53"/>
                    <a:pt x="23" y="52"/>
                    <a:pt x="19" y="53"/>
                  </a:cubicBezTo>
                  <a:cubicBezTo>
                    <a:pt x="18" y="57"/>
                    <a:pt x="19" y="62"/>
                    <a:pt x="20" y="67"/>
                  </a:cubicBezTo>
                  <a:cubicBezTo>
                    <a:pt x="21" y="72"/>
                    <a:pt x="21" y="74"/>
                    <a:pt x="25" y="76"/>
                  </a:cubicBezTo>
                  <a:cubicBezTo>
                    <a:pt x="25" y="77"/>
                    <a:pt x="26" y="77"/>
                    <a:pt x="28" y="78"/>
                  </a:cubicBezTo>
                  <a:cubicBezTo>
                    <a:pt x="34" y="77"/>
                    <a:pt x="37" y="75"/>
                    <a:pt x="41" y="69"/>
                  </a:cubicBezTo>
                  <a:cubicBezTo>
                    <a:pt x="41" y="69"/>
                    <a:pt x="41" y="69"/>
                    <a:pt x="41" y="69"/>
                  </a:cubicBezTo>
                  <a:cubicBezTo>
                    <a:pt x="41" y="68"/>
                    <a:pt x="41" y="69"/>
                    <a:pt x="41" y="68"/>
                  </a:cubicBezTo>
                  <a:cubicBezTo>
                    <a:pt x="46" y="60"/>
                    <a:pt x="49" y="52"/>
                    <a:pt x="48" y="42"/>
                  </a:cubicBezTo>
                  <a:cubicBezTo>
                    <a:pt x="50" y="40"/>
                    <a:pt x="60" y="40"/>
                    <a:pt x="63" y="41"/>
                  </a:cubicBezTo>
                  <a:cubicBezTo>
                    <a:pt x="65" y="42"/>
                    <a:pt x="68" y="42"/>
                    <a:pt x="70" y="44"/>
                  </a:cubicBezTo>
                  <a:cubicBezTo>
                    <a:pt x="76" y="44"/>
                    <a:pt x="81" y="34"/>
                    <a:pt x="76" y="27"/>
                  </a:cubicBezTo>
                  <a:cubicBezTo>
                    <a:pt x="67" y="25"/>
                    <a:pt x="59" y="27"/>
                    <a:pt x="50"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39"/>
            <p:cNvSpPr/>
            <p:nvPr/>
          </p:nvSpPr>
          <p:spPr bwMode="auto">
            <a:xfrm>
              <a:off x="7767638" y="5180013"/>
              <a:ext cx="117475" cy="209550"/>
            </a:xfrm>
            <a:custGeom>
              <a:avLst/>
              <a:gdLst>
                <a:gd name="T0" fmla="*/ 18 w 21"/>
                <a:gd name="T1" fmla="*/ 21 h 37"/>
                <a:gd name="T2" fmla="*/ 19 w 21"/>
                <a:gd name="T3" fmla="*/ 2 h 37"/>
                <a:gd name="T4" fmla="*/ 18 w 21"/>
                <a:gd name="T5" fmla="*/ 2 h 37"/>
                <a:gd name="T6" fmla="*/ 4 w 21"/>
                <a:gd name="T7" fmla="*/ 18 h 37"/>
                <a:gd name="T8" fmla="*/ 11 w 21"/>
                <a:gd name="T9" fmla="*/ 37 h 37"/>
                <a:gd name="T10" fmla="*/ 18 w 21"/>
                <a:gd name="T11" fmla="*/ 24 h 37"/>
                <a:gd name="T12" fmla="*/ 18 w 21"/>
                <a:gd name="T13" fmla="*/ 21 h 37"/>
              </a:gdLst>
              <a:ahLst/>
              <a:cxnLst>
                <a:cxn ang="0">
                  <a:pos x="T0" y="T1"/>
                </a:cxn>
                <a:cxn ang="0">
                  <a:pos x="T2" y="T3"/>
                </a:cxn>
                <a:cxn ang="0">
                  <a:pos x="T4" y="T5"/>
                </a:cxn>
                <a:cxn ang="0">
                  <a:pos x="T6" y="T7"/>
                </a:cxn>
                <a:cxn ang="0">
                  <a:pos x="T8" y="T9"/>
                </a:cxn>
                <a:cxn ang="0">
                  <a:pos x="T10" y="T11"/>
                </a:cxn>
                <a:cxn ang="0">
                  <a:pos x="T12" y="T13"/>
                </a:cxn>
              </a:cxnLst>
              <a:rect l="0" t="0" r="r" b="b"/>
              <a:pathLst>
                <a:path w="21" h="37">
                  <a:moveTo>
                    <a:pt x="18" y="21"/>
                  </a:moveTo>
                  <a:cubicBezTo>
                    <a:pt x="19" y="15"/>
                    <a:pt x="21" y="6"/>
                    <a:pt x="19" y="2"/>
                  </a:cubicBezTo>
                  <a:cubicBezTo>
                    <a:pt x="18" y="2"/>
                    <a:pt x="18" y="2"/>
                    <a:pt x="18" y="2"/>
                  </a:cubicBezTo>
                  <a:cubicBezTo>
                    <a:pt x="12" y="0"/>
                    <a:pt x="6" y="14"/>
                    <a:pt x="4" y="18"/>
                  </a:cubicBezTo>
                  <a:cubicBezTo>
                    <a:pt x="2" y="29"/>
                    <a:pt x="0" y="33"/>
                    <a:pt x="11" y="37"/>
                  </a:cubicBezTo>
                  <a:cubicBezTo>
                    <a:pt x="16" y="35"/>
                    <a:pt x="17" y="29"/>
                    <a:pt x="18" y="24"/>
                  </a:cubicBezTo>
                  <a:cubicBezTo>
                    <a:pt x="18" y="23"/>
                    <a:pt x="18" y="22"/>
                    <a:pt x="18" y="2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Freeform 40"/>
            <p:cNvSpPr/>
            <p:nvPr/>
          </p:nvSpPr>
          <p:spPr bwMode="auto">
            <a:xfrm>
              <a:off x="5664200" y="5089525"/>
              <a:ext cx="90488" cy="141288"/>
            </a:xfrm>
            <a:custGeom>
              <a:avLst/>
              <a:gdLst>
                <a:gd name="T0" fmla="*/ 2 w 16"/>
                <a:gd name="T1" fmla="*/ 14 h 25"/>
                <a:gd name="T2" fmla="*/ 2 w 16"/>
                <a:gd name="T3" fmla="*/ 14 h 25"/>
                <a:gd name="T4" fmla="*/ 2 w 16"/>
                <a:gd name="T5" fmla="*/ 14 h 25"/>
                <a:gd name="T6" fmla="*/ 1 w 16"/>
                <a:gd name="T7" fmla="*/ 15 h 25"/>
                <a:gd name="T8" fmla="*/ 1 w 16"/>
                <a:gd name="T9" fmla="*/ 21 h 25"/>
                <a:gd name="T10" fmla="*/ 1 w 16"/>
                <a:gd name="T11" fmla="*/ 21 h 25"/>
                <a:gd name="T12" fmla="*/ 1 w 16"/>
                <a:gd name="T13" fmla="*/ 21 h 25"/>
                <a:gd name="T14" fmla="*/ 2 w 16"/>
                <a:gd name="T15" fmla="*/ 22 h 25"/>
                <a:gd name="T16" fmla="*/ 3 w 16"/>
                <a:gd name="T17" fmla="*/ 23 h 25"/>
                <a:gd name="T18" fmla="*/ 3 w 16"/>
                <a:gd name="T19" fmla="*/ 23 h 25"/>
                <a:gd name="T20" fmla="*/ 3 w 16"/>
                <a:gd name="T21" fmla="*/ 23 h 25"/>
                <a:gd name="T22" fmla="*/ 3 w 16"/>
                <a:gd name="T23" fmla="*/ 23 h 25"/>
                <a:gd name="T24" fmla="*/ 3 w 16"/>
                <a:gd name="T25" fmla="*/ 23 h 25"/>
                <a:gd name="T26" fmla="*/ 7 w 16"/>
                <a:gd name="T27" fmla="*/ 25 h 25"/>
                <a:gd name="T28" fmla="*/ 16 w 16"/>
                <a:gd name="T29" fmla="*/ 10 h 25"/>
                <a:gd name="T30" fmla="*/ 2 w 16"/>
                <a:gd name="T31"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25">
                  <a:moveTo>
                    <a:pt x="2" y="14"/>
                  </a:moveTo>
                  <a:cubicBezTo>
                    <a:pt x="2" y="14"/>
                    <a:pt x="2" y="14"/>
                    <a:pt x="2" y="14"/>
                  </a:cubicBezTo>
                  <a:cubicBezTo>
                    <a:pt x="2" y="14"/>
                    <a:pt x="2" y="14"/>
                    <a:pt x="2" y="14"/>
                  </a:cubicBezTo>
                  <a:cubicBezTo>
                    <a:pt x="2" y="14"/>
                    <a:pt x="1" y="15"/>
                    <a:pt x="1" y="15"/>
                  </a:cubicBezTo>
                  <a:cubicBezTo>
                    <a:pt x="0" y="18"/>
                    <a:pt x="0" y="20"/>
                    <a:pt x="1" y="21"/>
                  </a:cubicBezTo>
                  <a:cubicBezTo>
                    <a:pt x="1" y="21"/>
                    <a:pt x="1" y="21"/>
                    <a:pt x="1" y="21"/>
                  </a:cubicBezTo>
                  <a:cubicBezTo>
                    <a:pt x="1" y="21"/>
                    <a:pt x="1" y="21"/>
                    <a:pt x="1" y="21"/>
                  </a:cubicBezTo>
                  <a:cubicBezTo>
                    <a:pt x="1" y="22"/>
                    <a:pt x="2" y="22"/>
                    <a:pt x="2" y="22"/>
                  </a:cubicBezTo>
                  <a:cubicBezTo>
                    <a:pt x="2" y="22"/>
                    <a:pt x="2" y="22"/>
                    <a:pt x="3" y="23"/>
                  </a:cubicBezTo>
                  <a:cubicBezTo>
                    <a:pt x="3" y="23"/>
                    <a:pt x="3" y="23"/>
                    <a:pt x="3" y="23"/>
                  </a:cubicBezTo>
                  <a:cubicBezTo>
                    <a:pt x="3" y="23"/>
                    <a:pt x="3" y="23"/>
                    <a:pt x="3" y="23"/>
                  </a:cubicBezTo>
                  <a:cubicBezTo>
                    <a:pt x="3" y="23"/>
                    <a:pt x="3" y="23"/>
                    <a:pt x="3" y="23"/>
                  </a:cubicBezTo>
                  <a:cubicBezTo>
                    <a:pt x="3" y="23"/>
                    <a:pt x="3" y="23"/>
                    <a:pt x="3" y="23"/>
                  </a:cubicBezTo>
                  <a:cubicBezTo>
                    <a:pt x="4" y="23"/>
                    <a:pt x="5" y="24"/>
                    <a:pt x="7" y="25"/>
                  </a:cubicBezTo>
                  <a:cubicBezTo>
                    <a:pt x="13" y="23"/>
                    <a:pt x="15" y="17"/>
                    <a:pt x="16" y="10"/>
                  </a:cubicBezTo>
                  <a:cubicBezTo>
                    <a:pt x="15" y="0"/>
                    <a:pt x="5" y="8"/>
                    <a:pt x="2" y="1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41"/>
            <p:cNvSpPr/>
            <p:nvPr/>
          </p:nvSpPr>
          <p:spPr bwMode="auto">
            <a:xfrm>
              <a:off x="4525963" y="4856163"/>
              <a:ext cx="112713" cy="125413"/>
            </a:xfrm>
            <a:custGeom>
              <a:avLst/>
              <a:gdLst>
                <a:gd name="T0" fmla="*/ 14 w 20"/>
                <a:gd name="T1" fmla="*/ 16 h 22"/>
                <a:gd name="T2" fmla="*/ 7 w 20"/>
                <a:gd name="T3" fmla="*/ 21 h 22"/>
                <a:gd name="T4" fmla="*/ 0 w 20"/>
                <a:gd name="T5" fmla="*/ 15 h 22"/>
                <a:gd name="T6" fmla="*/ 2 w 20"/>
                <a:gd name="T7" fmla="*/ 3 h 22"/>
                <a:gd name="T8" fmla="*/ 0 w 20"/>
                <a:gd name="T9" fmla="*/ 1 h 22"/>
                <a:gd name="T10" fmla="*/ 1 w 20"/>
                <a:gd name="T11" fmla="*/ 0 h 22"/>
                <a:gd name="T12" fmla="*/ 5 w 20"/>
                <a:gd name="T13" fmla="*/ 1 h 22"/>
                <a:gd name="T14" fmla="*/ 9 w 20"/>
                <a:gd name="T15" fmla="*/ 2 h 22"/>
                <a:gd name="T16" fmla="*/ 9 w 20"/>
                <a:gd name="T17" fmla="*/ 2 h 22"/>
                <a:gd name="T18" fmla="*/ 6 w 20"/>
                <a:gd name="T19" fmla="*/ 4 h 22"/>
                <a:gd name="T20" fmla="*/ 4 w 20"/>
                <a:gd name="T21" fmla="*/ 16 h 22"/>
                <a:gd name="T22" fmla="*/ 8 w 20"/>
                <a:gd name="T23" fmla="*/ 20 h 22"/>
                <a:gd name="T24" fmla="*/ 14 w 20"/>
                <a:gd name="T25" fmla="*/ 16 h 22"/>
                <a:gd name="T26" fmla="*/ 15 w 20"/>
                <a:gd name="T27" fmla="*/ 8 h 22"/>
                <a:gd name="T28" fmla="*/ 14 w 20"/>
                <a:gd name="T29" fmla="*/ 3 h 22"/>
                <a:gd name="T30" fmla="*/ 13 w 20"/>
                <a:gd name="T31" fmla="*/ 3 h 22"/>
                <a:gd name="T32" fmla="*/ 13 w 20"/>
                <a:gd name="T33" fmla="*/ 2 h 22"/>
                <a:gd name="T34" fmla="*/ 16 w 20"/>
                <a:gd name="T35" fmla="*/ 3 h 22"/>
                <a:gd name="T36" fmla="*/ 19 w 20"/>
                <a:gd name="T37" fmla="*/ 3 h 22"/>
                <a:gd name="T38" fmla="*/ 19 w 20"/>
                <a:gd name="T39" fmla="*/ 4 h 22"/>
                <a:gd name="T40" fmla="*/ 19 w 20"/>
                <a:gd name="T41" fmla="*/ 4 h 22"/>
                <a:gd name="T42" fmla="*/ 16 w 20"/>
                <a:gd name="T43" fmla="*/ 8 h 22"/>
                <a:gd name="T44" fmla="*/ 14 w 20"/>
                <a:gd name="T45"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2">
                  <a:moveTo>
                    <a:pt x="14" y="16"/>
                  </a:moveTo>
                  <a:cubicBezTo>
                    <a:pt x="14" y="20"/>
                    <a:pt x="11" y="22"/>
                    <a:pt x="7" y="21"/>
                  </a:cubicBezTo>
                  <a:cubicBezTo>
                    <a:pt x="2" y="20"/>
                    <a:pt x="0" y="18"/>
                    <a:pt x="0" y="15"/>
                  </a:cubicBezTo>
                  <a:cubicBezTo>
                    <a:pt x="2" y="3"/>
                    <a:pt x="2" y="3"/>
                    <a:pt x="2" y="3"/>
                  </a:cubicBezTo>
                  <a:cubicBezTo>
                    <a:pt x="3" y="1"/>
                    <a:pt x="0" y="1"/>
                    <a:pt x="0" y="1"/>
                  </a:cubicBezTo>
                  <a:cubicBezTo>
                    <a:pt x="0" y="0"/>
                    <a:pt x="0" y="0"/>
                    <a:pt x="1" y="0"/>
                  </a:cubicBezTo>
                  <a:cubicBezTo>
                    <a:pt x="2" y="1"/>
                    <a:pt x="4" y="1"/>
                    <a:pt x="5" y="1"/>
                  </a:cubicBezTo>
                  <a:cubicBezTo>
                    <a:pt x="6" y="1"/>
                    <a:pt x="7" y="1"/>
                    <a:pt x="9" y="2"/>
                  </a:cubicBezTo>
                  <a:cubicBezTo>
                    <a:pt x="9" y="2"/>
                    <a:pt x="9" y="2"/>
                    <a:pt x="9" y="2"/>
                  </a:cubicBezTo>
                  <a:cubicBezTo>
                    <a:pt x="9" y="3"/>
                    <a:pt x="7" y="1"/>
                    <a:pt x="6" y="4"/>
                  </a:cubicBezTo>
                  <a:cubicBezTo>
                    <a:pt x="4" y="16"/>
                    <a:pt x="4" y="16"/>
                    <a:pt x="4" y="16"/>
                  </a:cubicBezTo>
                  <a:cubicBezTo>
                    <a:pt x="4" y="18"/>
                    <a:pt x="6" y="20"/>
                    <a:pt x="8" y="20"/>
                  </a:cubicBezTo>
                  <a:cubicBezTo>
                    <a:pt x="11" y="21"/>
                    <a:pt x="13" y="19"/>
                    <a:pt x="14" y="16"/>
                  </a:cubicBezTo>
                  <a:cubicBezTo>
                    <a:pt x="15" y="8"/>
                    <a:pt x="15" y="8"/>
                    <a:pt x="15" y="8"/>
                  </a:cubicBezTo>
                  <a:cubicBezTo>
                    <a:pt x="15" y="5"/>
                    <a:pt x="15" y="4"/>
                    <a:pt x="14" y="3"/>
                  </a:cubicBezTo>
                  <a:cubicBezTo>
                    <a:pt x="13" y="3"/>
                    <a:pt x="13" y="3"/>
                    <a:pt x="13" y="3"/>
                  </a:cubicBezTo>
                  <a:cubicBezTo>
                    <a:pt x="13" y="2"/>
                    <a:pt x="13" y="2"/>
                    <a:pt x="13" y="2"/>
                  </a:cubicBezTo>
                  <a:cubicBezTo>
                    <a:pt x="14" y="2"/>
                    <a:pt x="15" y="3"/>
                    <a:pt x="16" y="3"/>
                  </a:cubicBezTo>
                  <a:cubicBezTo>
                    <a:pt x="17" y="3"/>
                    <a:pt x="18" y="3"/>
                    <a:pt x="19" y="3"/>
                  </a:cubicBezTo>
                  <a:cubicBezTo>
                    <a:pt x="19" y="3"/>
                    <a:pt x="20" y="3"/>
                    <a:pt x="19" y="4"/>
                  </a:cubicBezTo>
                  <a:cubicBezTo>
                    <a:pt x="19" y="4"/>
                    <a:pt x="19" y="4"/>
                    <a:pt x="19" y="4"/>
                  </a:cubicBezTo>
                  <a:cubicBezTo>
                    <a:pt x="17" y="4"/>
                    <a:pt x="16" y="5"/>
                    <a:pt x="16" y="8"/>
                  </a:cubicBezTo>
                  <a:lnTo>
                    <a:pt x="14"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42"/>
            <p:cNvSpPr/>
            <p:nvPr/>
          </p:nvSpPr>
          <p:spPr bwMode="auto">
            <a:xfrm>
              <a:off x="4627563" y="4884738"/>
              <a:ext cx="146050" cy="142875"/>
            </a:xfrm>
            <a:custGeom>
              <a:avLst/>
              <a:gdLst>
                <a:gd name="T0" fmla="*/ 5 w 26"/>
                <a:gd name="T1" fmla="*/ 15 h 25"/>
                <a:gd name="T2" fmla="*/ 5 w 26"/>
                <a:gd name="T3" fmla="*/ 19 h 25"/>
                <a:gd name="T4" fmla="*/ 6 w 26"/>
                <a:gd name="T5" fmla="*/ 20 h 25"/>
                <a:gd name="T6" fmla="*/ 6 w 26"/>
                <a:gd name="T7" fmla="*/ 20 h 25"/>
                <a:gd name="T8" fmla="*/ 3 w 26"/>
                <a:gd name="T9" fmla="*/ 19 h 25"/>
                <a:gd name="T10" fmla="*/ 0 w 26"/>
                <a:gd name="T11" fmla="*/ 18 h 25"/>
                <a:gd name="T12" fmla="*/ 0 w 26"/>
                <a:gd name="T13" fmla="*/ 17 h 25"/>
                <a:gd name="T14" fmla="*/ 1 w 26"/>
                <a:gd name="T15" fmla="*/ 17 h 25"/>
                <a:gd name="T16" fmla="*/ 4 w 26"/>
                <a:gd name="T17" fmla="*/ 15 h 25"/>
                <a:gd name="T18" fmla="*/ 9 w 26"/>
                <a:gd name="T19" fmla="*/ 4 h 25"/>
                <a:gd name="T20" fmla="*/ 8 w 26"/>
                <a:gd name="T21" fmla="*/ 1 h 25"/>
                <a:gd name="T22" fmla="*/ 7 w 26"/>
                <a:gd name="T23" fmla="*/ 0 h 25"/>
                <a:gd name="T24" fmla="*/ 8 w 26"/>
                <a:gd name="T25" fmla="*/ 0 h 25"/>
                <a:gd name="T26" fmla="*/ 10 w 26"/>
                <a:gd name="T27" fmla="*/ 1 h 25"/>
                <a:gd name="T28" fmla="*/ 13 w 26"/>
                <a:gd name="T29" fmla="*/ 3 h 25"/>
                <a:gd name="T30" fmla="*/ 17 w 26"/>
                <a:gd name="T31" fmla="*/ 18 h 25"/>
                <a:gd name="T32" fmla="*/ 17 w 26"/>
                <a:gd name="T33" fmla="*/ 18 h 25"/>
                <a:gd name="T34" fmla="*/ 21 w 26"/>
                <a:gd name="T35" fmla="*/ 11 h 25"/>
                <a:gd name="T36" fmla="*/ 21 w 26"/>
                <a:gd name="T37" fmla="*/ 7 h 25"/>
                <a:gd name="T38" fmla="*/ 19 w 26"/>
                <a:gd name="T39" fmla="*/ 6 h 25"/>
                <a:gd name="T40" fmla="*/ 20 w 26"/>
                <a:gd name="T41" fmla="*/ 6 h 25"/>
                <a:gd name="T42" fmla="*/ 23 w 26"/>
                <a:gd name="T43" fmla="*/ 7 h 25"/>
                <a:gd name="T44" fmla="*/ 26 w 26"/>
                <a:gd name="T45" fmla="*/ 8 h 25"/>
                <a:gd name="T46" fmla="*/ 26 w 26"/>
                <a:gd name="T47" fmla="*/ 9 h 25"/>
                <a:gd name="T48" fmla="*/ 24 w 26"/>
                <a:gd name="T49" fmla="*/ 8 h 25"/>
                <a:gd name="T50" fmla="*/ 21 w 26"/>
                <a:gd name="T51" fmla="*/ 11 h 25"/>
                <a:gd name="T52" fmla="*/ 15 w 26"/>
                <a:gd name="T53" fmla="*/ 24 h 25"/>
                <a:gd name="T54" fmla="*/ 15 w 26"/>
                <a:gd name="T55" fmla="*/ 25 h 25"/>
                <a:gd name="T56" fmla="*/ 14 w 26"/>
                <a:gd name="T57" fmla="*/ 24 h 25"/>
                <a:gd name="T58" fmla="*/ 10 w 26"/>
                <a:gd name="T59" fmla="*/ 5 h 25"/>
                <a:gd name="T60" fmla="*/ 9 w 26"/>
                <a:gd name="T61" fmla="*/ 5 h 25"/>
                <a:gd name="T62" fmla="*/ 5 w 26"/>
                <a:gd name="T63"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25">
                  <a:moveTo>
                    <a:pt x="5" y="15"/>
                  </a:moveTo>
                  <a:cubicBezTo>
                    <a:pt x="4" y="17"/>
                    <a:pt x="4" y="18"/>
                    <a:pt x="5" y="19"/>
                  </a:cubicBezTo>
                  <a:cubicBezTo>
                    <a:pt x="6" y="20"/>
                    <a:pt x="6" y="20"/>
                    <a:pt x="6" y="20"/>
                  </a:cubicBezTo>
                  <a:cubicBezTo>
                    <a:pt x="6" y="20"/>
                    <a:pt x="6" y="20"/>
                    <a:pt x="6" y="20"/>
                  </a:cubicBezTo>
                  <a:cubicBezTo>
                    <a:pt x="5" y="20"/>
                    <a:pt x="4" y="19"/>
                    <a:pt x="3" y="19"/>
                  </a:cubicBezTo>
                  <a:cubicBezTo>
                    <a:pt x="2" y="18"/>
                    <a:pt x="1" y="18"/>
                    <a:pt x="0" y="18"/>
                  </a:cubicBezTo>
                  <a:cubicBezTo>
                    <a:pt x="0" y="18"/>
                    <a:pt x="0" y="17"/>
                    <a:pt x="0" y="17"/>
                  </a:cubicBezTo>
                  <a:cubicBezTo>
                    <a:pt x="0" y="17"/>
                    <a:pt x="0" y="17"/>
                    <a:pt x="1" y="17"/>
                  </a:cubicBezTo>
                  <a:cubicBezTo>
                    <a:pt x="2" y="17"/>
                    <a:pt x="3" y="17"/>
                    <a:pt x="4" y="15"/>
                  </a:cubicBezTo>
                  <a:cubicBezTo>
                    <a:pt x="9" y="4"/>
                    <a:pt x="9" y="4"/>
                    <a:pt x="9" y="4"/>
                  </a:cubicBezTo>
                  <a:cubicBezTo>
                    <a:pt x="9" y="2"/>
                    <a:pt x="8" y="1"/>
                    <a:pt x="8" y="1"/>
                  </a:cubicBezTo>
                  <a:cubicBezTo>
                    <a:pt x="7" y="1"/>
                    <a:pt x="7" y="1"/>
                    <a:pt x="7" y="0"/>
                  </a:cubicBezTo>
                  <a:cubicBezTo>
                    <a:pt x="7" y="0"/>
                    <a:pt x="7" y="0"/>
                    <a:pt x="8" y="0"/>
                  </a:cubicBezTo>
                  <a:cubicBezTo>
                    <a:pt x="8" y="0"/>
                    <a:pt x="9" y="1"/>
                    <a:pt x="10" y="1"/>
                  </a:cubicBezTo>
                  <a:cubicBezTo>
                    <a:pt x="13" y="3"/>
                    <a:pt x="13" y="3"/>
                    <a:pt x="13" y="3"/>
                  </a:cubicBezTo>
                  <a:cubicBezTo>
                    <a:pt x="17" y="18"/>
                    <a:pt x="17" y="18"/>
                    <a:pt x="17" y="18"/>
                  </a:cubicBezTo>
                  <a:cubicBezTo>
                    <a:pt x="17" y="18"/>
                    <a:pt x="17" y="18"/>
                    <a:pt x="17" y="18"/>
                  </a:cubicBezTo>
                  <a:cubicBezTo>
                    <a:pt x="21" y="11"/>
                    <a:pt x="21" y="11"/>
                    <a:pt x="21" y="11"/>
                  </a:cubicBezTo>
                  <a:cubicBezTo>
                    <a:pt x="22" y="9"/>
                    <a:pt x="21" y="7"/>
                    <a:pt x="21" y="7"/>
                  </a:cubicBezTo>
                  <a:cubicBezTo>
                    <a:pt x="20" y="6"/>
                    <a:pt x="19" y="6"/>
                    <a:pt x="19" y="6"/>
                  </a:cubicBezTo>
                  <a:cubicBezTo>
                    <a:pt x="19" y="6"/>
                    <a:pt x="20" y="5"/>
                    <a:pt x="20" y="6"/>
                  </a:cubicBezTo>
                  <a:cubicBezTo>
                    <a:pt x="21" y="6"/>
                    <a:pt x="22" y="6"/>
                    <a:pt x="23" y="7"/>
                  </a:cubicBezTo>
                  <a:cubicBezTo>
                    <a:pt x="24" y="7"/>
                    <a:pt x="25" y="8"/>
                    <a:pt x="26" y="8"/>
                  </a:cubicBezTo>
                  <a:cubicBezTo>
                    <a:pt x="26" y="8"/>
                    <a:pt x="26" y="8"/>
                    <a:pt x="26" y="9"/>
                  </a:cubicBezTo>
                  <a:cubicBezTo>
                    <a:pt x="26" y="9"/>
                    <a:pt x="25" y="8"/>
                    <a:pt x="24" y="8"/>
                  </a:cubicBezTo>
                  <a:cubicBezTo>
                    <a:pt x="23" y="8"/>
                    <a:pt x="22" y="9"/>
                    <a:pt x="21" y="11"/>
                  </a:cubicBezTo>
                  <a:cubicBezTo>
                    <a:pt x="15" y="24"/>
                    <a:pt x="15" y="24"/>
                    <a:pt x="15" y="24"/>
                  </a:cubicBezTo>
                  <a:cubicBezTo>
                    <a:pt x="15" y="25"/>
                    <a:pt x="15" y="25"/>
                    <a:pt x="15" y="25"/>
                  </a:cubicBezTo>
                  <a:cubicBezTo>
                    <a:pt x="15" y="25"/>
                    <a:pt x="15" y="24"/>
                    <a:pt x="14" y="24"/>
                  </a:cubicBezTo>
                  <a:cubicBezTo>
                    <a:pt x="10" y="5"/>
                    <a:pt x="10" y="5"/>
                    <a:pt x="10" y="5"/>
                  </a:cubicBezTo>
                  <a:cubicBezTo>
                    <a:pt x="9" y="5"/>
                    <a:pt x="9" y="5"/>
                    <a:pt x="9" y="5"/>
                  </a:cubicBezTo>
                  <a:lnTo>
                    <a:pt x="5"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Freeform 43"/>
            <p:cNvSpPr/>
            <p:nvPr/>
          </p:nvSpPr>
          <p:spPr bwMode="auto">
            <a:xfrm>
              <a:off x="4740275" y="4953000"/>
              <a:ext cx="100013" cy="114300"/>
            </a:xfrm>
            <a:custGeom>
              <a:avLst/>
              <a:gdLst>
                <a:gd name="T0" fmla="*/ 12 w 18"/>
                <a:gd name="T1" fmla="*/ 3 h 20"/>
                <a:gd name="T2" fmla="*/ 11 w 18"/>
                <a:gd name="T3" fmla="*/ 0 h 20"/>
                <a:gd name="T4" fmla="*/ 11 w 18"/>
                <a:gd name="T5" fmla="*/ 0 h 20"/>
                <a:gd name="T6" fmla="*/ 15 w 18"/>
                <a:gd name="T7" fmla="*/ 2 h 20"/>
                <a:gd name="T8" fmla="*/ 18 w 18"/>
                <a:gd name="T9" fmla="*/ 5 h 20"/>
                <a:gd name="T10" fmla="*/ 18 w 18"/>
                <a:gd name="T11" fmla="*/ 5 h 20"/>
                <a:gd name="T12" fmla="*/ 15 w 18"/>
                <a:gd name="T13" fmla="*/ 5 h 20"/>
                <a:gd name="T14" fmla="*/ 6 w 18"/>
                <a:gd name="T15" fmla="*/ 17 h 20"/>
                <a:gd name="T16" fmla="*/ 7 w 18"/>
                <a:gd name="T17" fmla="*/ 20 h 20"/>
                <a:gd name="T18" fmla="*/ 7 w 18"/>
                <a:gd name="T19" fmla="*/ 20 h 20"/>
                <a:gd name="T20" fmla="*/ 3 w 18"/>
                <a:gd name="T21" fmla="*/ 18 h 20"/>
                <a:gd name="T22" fmla="*/ 0 w 18"/>
                <a:gd name="T23" fmla="*/ 16 h 20"/>
                <a:gd name="T24" fmla="*/ 0 w 18"/>
                <a:gd name="T25" fmla="*/ 15 h 20"/>
                <a:gd name="T26" fmla="*/ 3 w 18"/>
                <a:gd name="T27" fmla="*/ 15 h 20"/>
                <a:gd name="T28" fmla="*/ 12 w 18"/>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2" y="3"/>
                  </a:moveTo>
                  <a:cubicBezTo>
                    <a:pt x="13" y="1"/>
                    <a:pt x="10" y="1"/>
                    <a:pt x="11" y="0"/>
                  </a:cubicBezTo>
                  <a:cubicBezTo>
                    <a:pt x="11" y="0"/>
                    <a:pt x="11" y="0"/>
                    <a:pt x="11" y="0"/>
                  </a:cubicBezTo>
                  <a:cubicBezTo>
                    <a:pt x="13" y="1"/>
                    <a:pt x="14" y="2"/>
                    <a:pt x="15" y="2"/>
                  </a:cubicBezTo>
                  <a:cubicBezTo>
                    <a:pt x="15" y="3"/>
                    <a:pt x="17" y="4"/>
                    <a:pt x="18" y="5"/>
                  </a:cubicBezTo>
                  <a:cubicBezTo>
                    <a:pt x="18" y="5"/>
                    <a:pt x="18" y="5"/>
                    <a:pt x="18" y="5"/>
                  </a:cubicBezTo>
                  <a:cubicBezTo>
                    <a:pt x="18" y="6"/>
                    <a:pt x="16" y="4"/>
                    <a:pt x="15" y="5"/>
                  </a:cubicBezTo>
                  <a:cubicBezTo>
                    <a:pt x="6" y="17"/>
                    <a:pt x="6" y="17"/>
                    <a:pt x="6" y="17"/>
                  </a:cubicBezTo>
                  <a:cubicBezTo>
                    <a:pt x="5" y="19"/>
                    <a:pt x="8" y="20"/>
                    <a:pt x="7" y="20"/>
                  </a:cubicBezTo>
                  <a:cubicBezTo>
                    <a:pt x="7" y="20"/>
                    <a:pt x="7" y="20"/>
                    <a:pt x="7" y="20"/>
                  </a:cubicBezTo>
                  <a:cubicBezTo>
                    <a:pt x="5" y="19"/>
                    <a:pt x="4" y="19"/>
                    <a:pt x="3" y="18"/>
                  </a:cubicBezTo>
                  <a:cubicBezTo>
                    <a:pt x="3" y="17"/>
                    <a:pt x="1" y="17"/>
                    <a:pt x="0" y="16"/>
                  </a:cubicBezTo>
                  <a:cubicBezTo>
                    <a:pt x="0" y="15"/>
                    <a:pt x="0" y="15"/>
                    <a:pt x="0" y="15"/>
                  </a:cubicBezTo>
                  <a:cubicBezTo>
                    <a:pt x="0" y="14"/>
                    <a:pt x="2" y="17"/>
                    <a:pt x="3" y="15"/>
                  </a:cubicBezTo>
                  <a:lnTo>
                    <a:pt x="12"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Freeform 44"/>
            <p:cNvSpPr/>
            <p:nvPr/>
          </p:nvSpPr>
          <p:spPr bwMode="auto">
            <a:xfrm>
              <a:off x="4824413" y="4999038"/>
              <a:ext cx="117475" cy="119063"/>
            </a:xfrm>
            <a:custGeom>
              <a:avLst/>
              <a:gdLst>
                <a:gd name="T0" fmla="*/ 14 w 21"/>
                <a:gd name="T1" fmla="*/ 14 h 21"/>
                <a:gd name="T2" fmla="*/ 16 w 21"/>
                <a:gd name="T3" fmla="*/ 13 h 21"/>
                <a:gd name="T4" fmla="*/ 16 w 21"/>
                <a:gd name="T5" fmla="*/ 10 h 21"/>
                <a:gd name="T6" fmla="*/ 17 w 21"/>
                <a:gd name="T7" fmla="*/ 10 h 21"/>
                <a:gd name="T8" fmla="*/ 19 w 21"/>
                <a:gd name="T9" fmla="*/ 12 h 21"/>
                <a:gd name="T10" fmla="*/ 21 w 21"/>
                <a:gd name="T11" fmla="*/ 14 h 21"/>
                <a:gd name="T12" fmla="*/ 21 w 21"/>
                <a:gd name="T13" fmla="*/ 15 h 21"/>
                <a:gd name="T14" fmla="*/ 16 w 21"/>
                <a:gd name="T15" fmla="*/ 15 h 21"/>
                <a:gd name="T16" fmla="*/ 1 w 21"/>
                <a:gd name="T17" fmla="*/ 20 h 21"/>
                <a:gd name="T18" fmla="*/ 0 w 21"/>
                <a:gd name="T19" fmla="*/ 21 h 21"/>
                <a:gd name="T20" fmla="*/ 0 w 21"/>
                <a:gd name="T21" fmla="*/ 20 h 21"/>
                <a:gd name="T22" fmla="*/ 7 w 21"/>
                <a:gd name="T23" fmla="*/ 4 h 21"/>
                <a:gd name="T24" fmla="*/ 7 w 21"/>
                <a:gd name="T25" fmla="*/ 0 h 21"/>
                <a:gd name="T26" fmla="*/ 8 w 21"/>
                <a:gd name="T27" fmla="*/ 0 h 21"/>
                <a:gd name="T28" fmla="*/ 10 w 21"/>
                <a:gd name="T29" fmla="*/ 3 h 21"/>
                <a:gd name="T30" fmla="*/ 13 w 21"/>
                <a:gd name="T31" fmla="*/ 6 h 21"/>
                <a:gd name="T32" fmla="*/ 13 w 21"/>
                <a:gd name="T33" fmla="*/ 7 h 21"/>
                <a:gd name="T34" fmla="*/ 11 w 21"/>
                <a:gd name="T35" fmla="*/ 6 h 21"/>
                <a:gd name="T36" fmla="*/ 10 w 21"/>
                <a:gd name="T37" fmla="*/ 7 h 21"/>
                <a:gd name="T38" fmla="*/ 5 w 21"/>
                <a:gd name="T39" fmla="*/ 18 h 21"/>
                <a:gd name="T40" fmla="*/ 14 w 21"/>
                <a:gd name="T4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1">
                  <a:moveTo>
                    <a:pt x="14" y="14"/>
                  </a:moveTo>
                  <a:cubicBezTo>
                    <a:pt x="15" y="14"/>
                    <a:pt x="15" y="14"/>
                    <a:pt x="16" y="13"/>
                  </a:cubicBezTo>
                  <a:cubicBezTo>
                    <a:pt x="18" y="12"/>
                    <a:pt x="16" y="10"/>
                    <a:pt x="16" y="10"/>
                  </a:cubicBezTo>
                  <a:cubicBezTo>
                    <a:pt x="16" y="10"/>
                    <a:pt x="17" y="10"/>
                    <a:pt x="17" y="10"/>
                  </a:cubicBezTo>
                  <a:cubicBezTo>
                    <a:pt x="17" y="11"/>
                    <a:pt x="18" y="11"/>
                    <a:pt x="19" y="12"/>
                  </a:cubicBezTo>
                  <a:cubicBezTo>
                    <a:pt x="19" y="13"/>
                    <a:pt x="20" y="13"/>
                    <a:pt x="21" y="14"/>
                  </a:cubicBezTo>
                  <a:cubicBezTo>
                    <a:pt x="21" y="14"/>
                    <a:pt x="21" y="15"/>
                    <a:pt x="21" y="15"/>
                  </a:cubicBezTo>
                  <a:cubicBezTo>
                    <a:pt x="20" y="15"/>
                    <a:pt x="20" y="13"/>
                    <a:pt x="16" y="15"/>
                  </a:cubicBezTo>
                  <a:cubicBezTo>
                    <a:pt x="1" y="20"/>
                    <a:pt x="1" y="20"/>
                    <a:pt x="1" y="20"/>
                  </a:cubicBezTo>
                  <a:cubicBezTo>
                    <a:pt x="0" y="21"/>
                    <a:pt x="0" y="21"/>
                    <a:pt x="0" y="21"/>
                  </a:cubicBezTo>
                  <a:cubicBezTo>
                    <a:pt x="0" y="20"/>
                    <a:pt x="0" y="20"/>
                    <a:pt x="0" y="20"/>
                  </a:cubicBezTo>
                  <a:cubicBezTo>
                    <a:pt x="7" y="4"/>
                    <a:pt x="7" y="4"/>
                    <a:pt x="7" y="4"/>
                  </a:cubicBezTo>
                  <a:cubicBezTo>
                    <a:pt x="8" y="1"/>
                    <a:pt x="7" y="1"/>
                    <a:pt x="7" y="0"/>
                  </a:cubicBezTo>
                  <a:cubicBezTo>
                    <a:pt x="7" y="0"/>
                    <a:pt x="7" y="0"/>
                    <a:pt x="8" y="0"/>
                  </a:cubicBezTo>
                  <a:cubicBezTo>
                    <a:pt x="9" y="1"/>
                    <a:pt x="9" y="2"/>
                    <a:pt x="10" y="3"/>
                  </a:cubicBezTo>
                  <a:cubicBezTo>
                    <a:pt x="11" y="4"/>
                    <a:pt x="12" y="5"/>
                    <a:pt x="13" y="6"/>
                  </a:cubicBezTo>
                  <a:cubicBezTo>
                    <a:pt x="13" y="6"/>
                    <a:pt x="13" y="6"/>
                    <a:pt x="13" y="7"/>
                  </a:cubicBezTo>
                  <a:cubicBezTo>
                    <a:pt x="13" y="7"/>
                    <a:pt x="12" y="5"/>
                    <a:pt x="11" y="6"/>
                  </a:cubicBezTo>
                  <a:cubicBezTo>
                    <a:pt x="11" y="6"/>
                    <a:pt x="10" y="7"/>
                    <a:pt x="10" y="7"/>
                  </a:cubicBezTo>
                  <a:cubicBezTo>
                    <a:pt x="5" y="18"/>
                    <a:pt x="5" y="18"/>
                    <a:pt x="5" y="18"/>
                  </a:cubicBezTo>
                  <a:lnTo>
                    <a:pt x="14" y="1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Freeform 45"/>
            <p:cNvSpPr/>
            <p:nvPr/>
          </p:nvSpPr>
          <p:spPr bwMode="auto">
            <a:xfrm>
              <a:off x="4862513" y="5094288"/>
              <a:ext cx="134938" cy="136525"/>
            </a:xfrm>
            <a:custGeom>
              <a:avLst/>
              <a:gdLst>
                <a:gd name="T0" fmla="*/ 15 w 24"/>
                <a:gd name="T1" fmla="*/ 4 h 24"/>
                <a:gd name="T2" fmla="*/ 16 w 24"/>
                <a:gd name="T3" fmla="*/ 1 h 24"/>
                <a:gd name="T4" fmla="*/ 16 w 24"/>
                <a:gd name="T5" fmla="*/ 1 h 24"/>
                <a:gd name="T6" fmla="*/ 18 w 24"/>
                <a:gd name="T7" fmla="*/ 4 h 24"/>
                <a:gd name="T8" fmla="*/ 24 w 24"/>
                <a:gd name="T9" fmla="*/ 13 h 24"/>
                <a:gd name="T10" fmla="*/ 20 w 24"/>
                <a:gd name="T11" fmla="*/ 17 h 24"/>
                <a:gd name="T12" fmla="*/ 19 w 24"/>
                <a:gd name="T13" fmla="*/ 17 h 24"/>
                <a:gd name="T14" fmla="*/ 19 w 24"/>
                <a:gd name="T15" fmla="*/ 17 h 24"/>
                <a:gd name="T16" fmla="*/ 20 w 24"/>
                <a:gd name="T17" fmla="*/ 15 h 24"/>
                <a:gd name="T18" fmla="*/ 20 w 24"/>
                <a:gd name="T19" fmla="*/ 8 h 24"/>
                <a:gd name="T20" fmla="*/ 19 w 24"/>
                <a:gd name="T21" fmla="*/ 6 h 24"/>
                <a:gd name="T22" fmla="*/ 12 w 24"/>
                <a:gd name="T23" fmla="*/ 10 h 24"/>
                <a:gd name="T24" fmla="*/ 12 w 24"/>
                <a:gd name="T25" fmla="*/ 11 h 24"/>
                <a:gd name="T26" fmla="*/ 17 w 24"/>
                <a:gd name="T27" fmla="*/ 12 h 24"/>
                <a:gd name="T28" fmla="*/ 18 w 24"/>
                <a:gd name="T29" fmla="*/ 12 h 24"/>
                <a:gd name="T30" fmla="*/ 18 w 24"/>
                <a:gd name="T31" fmla="*/ 13 h 24"/>
                <a:gd name="T32" fmla="*/ 10 w 24"/>
                <a:gd name="T33" fmla="*/ 17 h 24"/>
                <a:gd name="T34" fmla="*/ 10 w 24"/>
                <a:gd name="T35" fmla="*/ 17 h 24"/>
                <a:gd name="T36" fmla="*/ 10 w 24"/>
                <a:gd name="T37" fmla="*/ 16 h 24"/>
                <a:gd name="T38" fmla="*/ 12 w 24"/>
                <a:gd name="T39" fmla="*/ 11 h 24"/>
                <a:gd name="T40" fmla="*/ 11 w 24"/>
                <a:gd name="T41" fmla="*/ 11 h 24"/>
                <a:gd name="T42" fmla="*/ 5 w 24"/>
                <a:gd name="T43" fmla="*/ 14 h 24"/>
                <a:gd name="T44" fmla="*/ 5 w 24"/>
                <a:gd name="T45" fmla="*/ 17 h 24"/>
                <a:gd name="T46" fmla="*/ 14 w 24"/>
                <a:gd name="T47" fmla="*/ 21 h 24"/>
                <a:gd name="T48" fmla="*/ 15 w 24"/>
                <a:gd name="T49" fmla="*/ 21 h 24"/>
                <a:gd name="T50" fmla="*/ 15 w 24"/>
                <a:gd name="T51" fmla="*/ 21 h 24"/>
                <a:gd name="T52" fmla="*/ 14 w 24"/>
                <a:gd name="T53" fmla="*/ 22 h 24"/>
                <a:gd name="T54" fmla="*/ 8 w 24"/>
                <a:gd name="T55" fmla="*/ 24 h 24"/>
                <a:gd name="T56" fmla="*/ 2 w 24"/>
                <a:gd name="T57" fmla="*/ 14 h 24"/>
                <a:gd name="T58" fmla="*/ 0 w 24"/>
                <a:gd name="T59" fmla="*/ 11 h 24"/>
                <a:gd name="T60" fmla="*/ 0 w 24"/>
                <a:gd name="T61" fmla="*/ 10 h 24"/>
                <a:gd name="T62" fmla="*/ 3 w 24"/>
                <a:gd name="T63" fmla="*/ 11 h 24"/>
                <a:gd name="T64" fmla="*/ 15 w 24"/>
                <a:gd name="T6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15" y="4"/>
                  </a:moveTo>
                  <a:cubicBezTo>
                    <a:pt x="17" y="2"/>
                    <a:pt x="15" y="1"/>
                    <a:pt x="16" y="1"/>
                  </a:cubicBezTo>
                  <a:cubicBezTo>
                    <a:pt x="16" y="0"/>
                    <a:pt x="16" y="0"/>
                    <a:pt x="16" y="1"/>
                  </a:cubicBezTo>
                  <a:cubicBezTo>
                    <a:pt x="17" y="2"/>
                    <a:pt x="18" y="3"/>
                    <a:pt x="18" y="4"/>
                  </a:cubicBezTo>
                  <a:cubicBezTo>
                    <a:pt x="20" y="7"/>
                    <a:pt x="22" y="10"/>
                    <a:pt x="24" y="13"/>
                  </a:cubicBezTo>
                  <a:cubicBezTo>
                    <a:pt x="20" y="17"/>
                    <a:pt x="20" y="17"/>
                    <a:pt x="20" y="17"/>
                  </a:cubicBezTo>
                  <a:cubicBezTo>
                    <a:pt x="19" y="17"/>
                    <a:pt x="19" y="17"/>
                    <a:pt x="19" y="17"/>
                  </a:cubicBezTo>
                  <a:cubicBezTo>
                    <a:pt x="19" y="17"/>
                    <a:pt x="19" y="17"/>
                    <a:pt x="19" y="17"/>
                  </a:cubicBezTo>
                  <a:cubicBezTo>
                    <a:pt x="19" y="17"/>
                    <a:pt x="19" y="17"/>
                    <a:pt x="20" y="15"/>
                  </a:cubicBezTo>
                  <a:cubicBezTo>
                    <a:pt x="21" y="13"/>
                    <a:pt x="21" y="11"/>
                    <a:pt x="20" y="8"/>
                  </a:cubicBezTo>
                  <a:cubicBezTo>
                    <a:pt x="19" y="6"/>
                    <a:pt x="19" y="6"/>
                    <a:pt x="19" y="6"/>
                  </a:cubicBezTo>
                  <a:cubicBezTo>
                    <a:pt x="12" y="10"/>
                    <a:pt x="12" y="10"/>
                    <a:pt x="12" y="10"/>
                  </a:cubicBezTo>
                  <a:cubicBezTo>
                    <a:pt x="12" y="11"/>
                    <a:pt x="12" y="11"/>
                    <a:pt x="12" y="11"/>
                  </a:cubicBezTo>
                  <a:cubicBezTo>
                    <a:pt x="13" y="13"/>
                    <a:pt x="15" y="13"/>
                    <a:pt x="17" y="12"/>
                  </a:cubicBezTo>
                  <a:cubicBezTo>
                    <a:pt x="18" y="12"/>
                    <a:pt x="18" y="12"/>
                    <a:pt x="18" y="12"/>
                  </a:cubicBezTo>
                  <a:cubicBezTo>
                    <a:pt x="18" y="12"/>
                    <a:pt x="18" y="13"/>
                    <a:pt x="18" y="13"/>
                  </a:cubicBezTo>
                  <a:cubicBezTo>
                    <a:pt x="10" y="17"/>
                    <a:pt x="10" y="17"/>
                    <a:pt x="10" y="17"/>
                  </a:cubicBezTo>
                  <a:cubicBezTo>
                    <a:pt x="10" y="17"/>
                    <a:pt x="10" y="17"/>
                    <a:pt x="10" y="17"/>
                  </a:cubicBezTo>
                  <a:cubicBezTo>
                    <a:pt x="10" y="17"/>
                    <a:pt x="10" y="17"/>
                    <a:pt x="10" y="16"/>
                  </a:cubicBezTo>
                  <a:cubicBezTo>
                    <a:pt x="12" y="15"/>
                    <a:pt x="13" y="13"/>
                    <a:pt x="12" y="11"/>
                  </a:cubicBezTo>
                  <a:cubicBezTo>
                    <a:pt x="11" y="11"/>
                    <a:pt x="11" y="11"/>
                    <a:pt x="11" y="11"/>
                  </a:cubicBezTo>
                  <a:cubicBezTo>
                    <a:pt x="5" y="14"/>
                    <a:pt x="5" y="14"/>
                    <a:pt x="5" y="14"/>
                  </a:cubicBezTo>
                  <a:cubicBezTo>
                    <a:pt x="4" y="15"/>
                    <a:pt x="4" y="16"/>
                    <a:pt x="5" y="17"/>
                  </a:cubicBezTo>
                  <a:cubicBezTo>
                    <a:pt x="7" y="21"/>
                    <a:pt x="11" y="22"/>
                    <a:pt x="14" y="21"/>
                  </a:cubicBezTo>
                  <a:cubicBezTo>
                    <a:pt x="14" y="21"/>
                    <a:pt x="15" y="21"/>
                    <a:pt x="15" y="21"/>
                  </a:cubicBezTo>
                  <a:cubicBezTo>
                    <a:pt x="15" y="21"/>
                    <a:pt x="15" y="21"/>
                    <a:pt x="15" y="21"/>
                  </a:cubicBezTo>
                  <a:cubicBezTo>
                    <a:pt x="14" y="21"/>
                    <a:pt x="14" y="22"/>
                    <a:pt x="14" y="22"/>
                  </a:cubicBezTo>
                  <a:cubicBezTo>
                    <a:pt x="8" y="24"/>
                    <a:pt x="8" y="24"/>
                    <a:pt x="8" y="24"/>
                  </a:cubicBezTo>
                  <a:cubicBezTo>
                    <a:pt x="6" y="21"/>
                    <a:pt x="4" y="17"/>
                    <a:pt x="2" y="14"/>
                  </a:cubicBezTo>
                  <a:cubicBezTo>
                    <a:pt x="1" y="13"/>
                    <a:pt x="1" y="12"/>
                    <a:pt x="0" y="11"/>
                  </a:cubicBezTo>
                  <a:cubicBezTo>
                    <a:pt x="0" y="10"/>
                    <a:pt x="0" y="10"/>
                    <a:pt x="0" y="10"/>
                  </a:cubicBezTo>
                  <a:cubicBezTo>
                    <a:pt x="1" y="10"/>
                    <a:pt x="1" y="12"/>
                    <a:pt x="3" y="11"/>
                  </a:cubicBezTo>
                  <a:lnTo>
                    <a:pt x="15" y="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Freeform 46"/>
            <p:cNvSpPr>
              <a:spLocks noEditPoints="1"/>
            </p:cNvSpPr>
            <p:nvPr/>
          </p:nvSpPr>
          <p:spPr bwMode="auto">
            <a:xfrm>
              <a:off x="4919663" y="5219700"/>
              <a:ext cx="122238" cy="141288"/>
            </a:xfrm>
            <a:custGeom>
              <a:avLst/>
              <a:gdLst>
                <a:gd name="T0" fmla="*/ 9 w 22"/>
                <a:gd name="T1" fmla="*/ 13 h 25"/>
                <a:gd name="T2" fmla="*/ 10 w 22"/>
                <a:gd name="T3" fmla="*/ 9 h 25"/>
                <a:gd name="T4" fmla="*/ 4 w 22"/>
                <a:gd name="T5" fmla="*/ 11 h 25"/>
                <a:gd name="T6" fmla="*/ 3 w 22"/>
                <a:gd name="T7" fmla="*/ 14 h 25"/>
                <a:gd name="T8" fmla="*/ 2 w 22"/>
                <a:gd name="T9" fmla="*/ 14 h 25"/>
                <a:gd name="T10" fmla="*/ 1 w 22"/>
                <a:gd name="T11" fmla="*/ 10 h 25"/>
                <a:gd name="T12" fmla="*/ 0 w 22"/>
                <a:gd name="T13" fmla="*/ 6 h 25"/>
                <a:gd name="T14" fmla="*/ 0 w 22"/>
                <a:gd name="T15" fmla="*/ 6 h 25"/>
                <a:gd name="T16" fmla="*/ 3 w 22"/>
                <a:gd name="T17" fmla="*/ 7 h 25"/>
                <a:gd name="T18" fmla="*/ 17 w 22"/>
                <a:gd name="T19" fmla="*/ 3 h 25"/>
                <a:gd name="T20" fmla="*/ 18 w 22"/>
                <a:gd name="T21" fmla="*/ 0 h 25"/>
                <a:gd name="T22" fmla="*/ 18 w 22"/>
                <a:gd name="T23" fmla="*/ 1 h 25"/>
                <a:gd name="T24" fmla="*/ 19 w 22"/>
                <a:gd name="T25" fmla="*/ 5 h 25"/>
                <a:gd name="T26" fmla="*/ 21 w 22"/>
                <a:gd name="T27" fmla="*/ 9 h 25"/>
                <a:gd name="T28" fmla="*/ 18 w 22"/>
                <a:gd name="T29" fmla="*/ 17 h 25"/>
                <a:gd name="T30" fmla="*/ 11 w 22"/>
                <a:gd name="T31" fmla="*/ 12 h 25"/>
                <a:gd name="T32" fmla="*/ 11 w 22"/>
                <a:gd name="T33" fmla="*/ 12 h 25"/>
                <a:gd name="T34" fmla="*/ 10 w 22"/>
                <a:gd name="T35" fmla="*/ 18 h 25"/>
                <a:gd name="T36" fmla="*/ 7 w 22"/>
                <a:gd name="T37" fmla="*/ 21 h 25"/>
                <a:gd name="T38" fmla="*/ 6 w 22"/>
                <a:gd name="T39" fmla="*/ 25 h 25"/>
                <a:gd name="T40" fmla="*/ 5 w 22"/>
                <a:gd name="T41" fmla="*/ 25 h 25"/>
                <a:gd name="T42" fmla="*/ 4 w 22"/>
                <a:gd name="T43" fmla="*/ 22 h 25"/>
                <a:gd name="T44" fmla="*/ 4 w 22"/>
                <a:gd name="T45" fmla="*/ 19 h 25"/>
                <a:gd name="T46" fmla="*/ 9 w 22"/>
                <a:gd name="T47" fmla="*/ 13 h 25"/>
                <a:gd name="T48" fmla="*/ 11 w 22"/>
                <a:gd name="T49" fmla="*/ 9 h 25"/>
                <a:gd name="T50" fmla="*/ 11 w 22"/>
                <a:gd name="T51" fmla="*/ 10 h 25"/>
                <a:gd name="T52" fmla="*/ 17 w 22"/>
                <a:gd name="T53" fmla="*/ 13 h 25"/>
                <a:gd name="T54" fmla="*/ 20 w 22"/>
                <a:gd name="T55" fmla="*/ 8 h 25"/>
                <a:gd name="T56" fmla="*/ 19 w 22"/>
                <a:gd name="T57" fmla="*/ 7 h 25"/>
                <a:gd name="T58" fmla="*/ 11 w 22"/>
                <a:gd name="T5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 h="25">
                  <a:moveTo>
                    <a:pt x="9" y="13"/>
                  </a:moveTo>
                  <a:cubicBezTo>
                    <a:pt x="11" y="12"/>
                    <a:pt x="11" y="11"/>
                    <a:pt x="10" y="9"/>
                  </a:cubicBezTo>
                  <a:cubicBezTo>
                    <a:pt x="4" y="11"/>
                    <a:pt x="4" y="11"/>
                    <a:pt x="4" y="11"/>
                  </a:cubicBezTo>
                  <a:cubicBezTo>
                    <a:pt x="2" y="12"/>
                    <a:pt x="3" y="14"/>
                    <a:pt x="3" y="14"/>
                  </a:cubicBezTo>
                  <a:cubicBezTo>
                    <a:pt x="2" y="14"/>
                    <a:pt x="2" y="14"/>
                    <a:pt x="2" y="14"/>
                  </a:cubicBezTo>
                  <a:cubicBezTo>
                    <a:pt x="2" y="12"/>
                    <a:pt x="1" y="11"/>
                    <a:pt x="1" y="10"/>
                  </a:cubicBezTo>
                  <a:cubicBezTo>
                    <a:pt x="1" y="9"/>
                    <a:pt x="0" y="8"/>
                    <a:pt x="0" y="6"/>
                  </a:cubicBezTo>
                  <a:cubicBezTo>
                    <a:pt x="0" y="6"/>
                    <a:pt x="0" y="6"/>
                    <a:pt x="0" y="6"/>
                  </a:cubicBezTo>
                  <a:cubicBezTo>
                    <a:pt x="1" y="5"/>
                    <a:pt x="0" y="8"/>
                    <a:pt x="3" y="7"/>
                  </a:cubicBezTo>
                  <a:cubicBezTo>
                    <a:pt x="17" y="3"/>
                    <a:pt x="17" y="3"/>
                    <a:pt x="17" y="3"/>
                  </a:cubicBezTo>
                  <a:cubicBezTo>
                    <a:pt x="19" y="3"/>
                    <a:pt x="17" y="1"/>
                    <a:pt x="18" y="0"/>
                  </a:cubicBezTo>
                  <a:cubicBezTo>
                    <a:pt x="18" y="0"/>
                    <a:pt x="18" y="0"/>
                    <a:pt x="18" y="1"/>
                  </a:cubicBezTo>
                  <a:cubicBezTo>
                    <a:pt x="19" y="2"/>
                    <a:pt x="19" y="4"/>
                    <a:pt x="19" y="5"/>
                  </a:cubicBezTo>
                  <a:cubicBezTo>
                    <a:pt x="20" y="6"/>
                    <a:pt x="20" y="7"/>
                    <a:pt x="21" y="9"/>
                  </a:cubicBezTo>
                  <a:cubicBezTo>
                    <a:pt x="22" y="13"/>
                    <a:pt x="21" y="17"/>
                    <a:pt x="18" y="17"/>
                  </a:cubicBezTo>
                  <a:cubicBezTo>
                    <a:pt x="16" y="18"/>
                    <a:pt x="13" y="17"/>
                    <a:pt x="11" y="12"/>
                  </a:cubicBezTo>
                  <a:cubicBezTo>
                    <a:pt x="11" y="12"/>
                    <a:pt x="11" y="12"/>
                    <a:pt x="11" y="12"/>
                  </a:cubicBezTo>
                  <a:cubicBezTo>
                    <a:pt x="12" y="15"/>
                    <a:pt x="12" y="16"/>
                    <a:pt x="10" y="18"/>
                  </a:cubicBezTo>
                  <a:cubicBezTo>
                    <a:pt x="7" y="21"/>
                    <a:pt x="7" y="21"/>
                    <a:pt x="7" y="21"/>
                  </a:cubicBezTo>
                  <a:cubicBezTo>
                    <a:pt x="5" y="23"/>
                    <a:pt x="6" y="24"/>
                    <a:pt x="6" y="25"/>
                  </a:cubicBezTo>
                  <a:cubicBezTo>
                    <a:pt x="6" y="25"/>
                    <a:pt x="5" y="25"/>
                    <a:pt x="5" y="25"/>
                  </a:cubicBezTo>
                  <a:cubicBezTo>
                    <a:pt x="5" y="24"/>
                    <a:pt x="5" y="23"/>
                    <a:pt x="4" y="22"/>
                  </a:cubicBezTo>
                  <a:cubicBezTo>
                    <a:pt x="4" y="19"/>
                    <a:pt x="4" y="19"/>
                    <a:pt x="4" y="19"/>
                  </a:cubicBezTo>
                  <a:lnTo>
                    <a:pt x="9" y="13"/>
                  </a:lnTo>
                  <a:close/>
                  <a:moveTo>
                    <a:pt x="11" y="9"/>
                  </a:moveTo>
                  <a:cubicBezTo>
                    <a:pt x="11" y="10"/>
                    <a:pt x="11" y="10"/>
                    <a:pt x="11" y="10"/>
                  </a:cubicBezTo>
                  <a:cubicBezTo>
                    <a:pt x="12" y="13"/>
                    <a:pt x="14" y="14"/>
                    <a:pt x="17" y="13"/>
                  </a:cubicBezTo>
                  <a:cubicBezTo>
                    <a:pt x="20" y="13"/>
                    <a:pt x="21" y="11"/>
                    <a:pt x="20" y="8"/>
                  </a:cubicBezTo>
                  <a:cubicBezTo>
                    <a:pt x="19" y="7"/>
                    <a:pt x="19" y="7"/>
                    <a:pt x="19" y="7"/>
                  </a:cubicBezTo>
                  <a:lnTo>
                    <a:pt x="11"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Freeform 47"/>
            <p:cNvSpPr/>
            <p:nvPr/>
          </p:nvSpPr>
          <p:spPr bwMode="auto">
            <a:xfrm>
              <a:off x="4946650" y="5367338"/>
              <a:ext cx="112713" cy="85725"/>
            </a:xfrm>
            <a:custGeom>
              <a:avLst/>
              <a:gdLst>
                <a:gd name="T0" fmla="*/ 8 w 20"/>
                <a:gd name="T1" fmla="*/ 0 h 15"/>
                <a:gd name="T2" fmla="*/ 9 w 20"/>
                <a:gd name="T3" fmla="*/ 0 h 15"/>
                <a:gd name="T4" fmla="*/ 8 w 20"/>
                <a:gd name="T5" fmla="*/ 1 h 15"/>
                <a:gd name="T6" fmla="*/ 1 w 20"/>
                <a:gd name="T7" fmla="*/ 7 h 15"/>
                <a:gd name="T8" fmla="*/ 5 w 20"/>
                <a:gd name="T9" fmla="*/ 12 h 15"/>
                <a:gd name="T10" fmla="*/ 14 w 20"/>
                <a:gd name="T11" fmla="*/ 0 h 15"/>
                <a:gd name="T12" fmla="*/ 20 w 20"/>
                <a:gd name="T13" fmla="*/ 6 h 15"/>
                <a:gd name="T14" fmla="*/ 19 w 20"/>
                <a:gd name="T15" fmla="*/ 11 h 15"/>
                <a:gd name="T16" fmla="*/ 20 w 20"/>
                <a:gd name="T17" fmla="*/ 12 h 15"/>
                <a:gd name="T18" fmla="*/ 19 w 20"/>
                <a:gd name="T19" fmla="*/ 12 h 15"/>
                <a:gd name="T20" fmla="*/ 14 w 20"/>
                <a:gd name="T21" fmla="*/ 13 h 15"/>
                <a:gd name="T22" fmla="*/ 13 w 20"/>
                <a:gd name="T23" fmla="*/ 13 h 15"/>
                <a:gd name="T24" fmla="*/ 13 w 20"/>
                <a:gd name="T25" fmla="*/ 13 h 15"/>
                <a:gd name="T26" fmla="*/ 15 w 20"/>
                <a:gd name="T27" fmla="*/ 12 h 15"/>
                <a:gd name="T28" fmla="*/ 19 w 20"/>
                <a:gd name="T29" fmla="*/ 6 h 15"/>
                <a:gd name="T30" fmla="*/ 16 w 20"/>
                <a:gd name="T31" fmla="*/ 3 h 15"/>
                <a:gd name="T32" fmla="*/ 7 w 20"/>
                <a:gd name="T33" fmla="*/ 14 h 15"/>
                <a:gd name="T34" fmla="*/ 0 w 20"/>
                <a:gd name="T35" fmla="*/ 7 h 15"/>
                <a:gd name="T36" fmla="*/ 1 w 20"/>
                <a:gd name="T37" fmla="*/ 2 h 15"/>
                <a:gd name="T38" fmla="*/ 0 w 20"/>
                <a:gd name="T39" fmla="*/ 1 h 15"/>
                <a:gd name="T40" fmla="*/ 0 w 20"/>
                <a:gd name="T41" fmla="*/ 1 h 15"/>
                <a:gd name="T42" fmla="*/ 8 w 20"/>
                <a:gd name="T4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15">
                  <a:moveTo>
                    <a:pt x="8" y="0"/>
                  </a:moveTo>
                  <a:cubicBezTo>
                    <a:pt x="9" y="0"/>
                    <a:pt x="9" y="0"/>
                    <a:pt x="9" y="0"/>
                  </a:cubicBezTo>
                  <a:cubicBezTo>
                    <a:pt x="9" y="1"/>
                    <a:pt x="8" y="1"/>
                    <a:pt x="8" y="1"/>
                  </a:cubicBezTo>
                  <a:cubicBezTo>
                    <a:pt x="4" y="2"/>
                    <a:pt x="1" y="3"/>
                    <a:pt x="1" y="7"/>
                  </a:cubicBezTo>
                  <a:cubicBezTo>
                    <a:pt x="1" y="10"/>
                    <a:pt x="2" y="12"/>
                    <a:pt x="5" y="12"/>
                  </a:cubicBezTo>
                  <a:cubicBezTo>
                    <a:pt x="10" y="11"/>
                    <a:pt x="7" y="0"/>
                    <a:pt x="14" y="0"/>
                  </a:cubicBezTo>
                  <a:cubicBezTo>
                    <a:pt x="17" y="0"/>
                    <a:pt x="20" y="3"/>
                    <a:pt x="20" y="6"/>
                  </a:cubicBezTo>
                  <a:cubicBezTo>
                    <a:pt x="20" y="9"/>
                    <a:pt x="19" y="10"/>
                    <a:pt x="19" y="11"/>
                  </a:cubicBezTo>
                  <a:cubicBezTo>
                    <a:pt x="19" y="12"/>
                    <a:pt x="20" y="11"/>
                    <a:pt x="20" y="12"/>
                  </a:cubicBezTo>
                  <a:cubicBezTo>
                    <a:pt x="20" y="12"/>
                    <a:pt x="20" y="12"/>
                    <a:pt x="19" y="12"/>
                  </a:cubicBezTo>
                  <a:cubicBezTo>
                    <a:pt x="14" y="13"/>
                    <a:pt x="14" y="13"/>
                    <a:pt x="14" y="13"/>
                  </a:cubicBezTo>
                  <a:cubicBezTo>
                    <a:pt x="14" y="13"/>
                    <a:pt x="13" y="13"/>
                    <a:pt x="13" y="13"/>
                  </a:cubicBezTo>
                  <a:cubicBezTo>
                    <a:pt x="13" y="13"/>
                    <a:pt x="13" y="13"/>
                    <a:pt x="13" y="13"/>
                  </a:cubicBezTo>
                  <a:cubicBezTo>
                    <a:pt x="13" y="13"/>
                    <a:pt x="14" y="13"/>
                    <a:pt x="15" y="12"/>
                  </a:cubicBezTo>
                  <a:cubicBezTo>
                    <a:pt x="18" y="11"/>
                    <a:pt x="20" y="9"/>
                    <a:pt x="19" y="6"/>
                  </a:cubicBezTo>
                  <a:cubicBezTo>
                    <a:pt x="19" y="4"/>
                    <a:pt x="18" y="2"/>
                    <a:pt x="16" y="3"/>
                  </a:cubicBezTo>
                  <a:cubicBezTo>
                    <a:pt x="12" y="3"/>
                    <a:pt x="15" y="14"/>
                    <a:pt x="7" y="14"/>
                  </a:cubicBezTo>
                  <a:cubicBezTo>
                    <a:pt x="3" y="15"/>
                    <a:pt x="0" y="12"/>
                    <a:pt x="0" y="7"/>
                  </a:cubicBezTo>
                  <a:cubicBezTo>
                    <a:pt x="0" y="5"/>
                    <a:pt x="1" y="3"/>
                    <a:pt x="1" y="2"/>
                  </a:cubicBezTo>
                  <a:cubicBezTo>
                    <a:pt x="1" y="1"/>
                    <a:pt x="0" y="1"/>
                    <a:pt x="0" y="1"/>
                  </a:cubicBezTo>
                  <a:cubicBezTo>
                    <a:pt x="0" y="1"/>
                    <a:pt x="0" y="1"/>
                    <a:pt x="0" y="1"/>
                  </a:cubicBezTo>
                  <a:lnTo>
                    <a:pt x="8" y="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Freeform 48"/>
            <p:cNvSpPr/>
            <p:nvPr/>
          </p:nvSpPr>
          <p:spPr bwMode="auto">
            <a:xfrm>
              <a:off x="4941888" y="5468938"/>
              <a:ext cx="111125" cy="63500"/>
            </a:xfrm>
            <a:custGeom>
              <a:avLst/>
              <a:gdLst>
                <a:gd name="T0" fmla="*/ 18 w 20"/>
                <a:gd name="T1" fmla="*/ 5 h 11"/>
                <a:gd name="T2" fmla="*/ 20 w 20"/>
                <a:gd name="T3" fmla="*/ 2 h 11"/>
                <a:gd name="T4" fmla="*/ 20 w 20"/>
                <a:gd name="T5" fmla="*/ 3 h 11"/>
                <a:gd name="T6" fmla="*/ 20 w 20"/>
                <a:gd name="T7" fmla="*/ 7 h 11"/>
                <a:gd name="T8" fmla="*/ 19 w 20"/>
                <a:gd name="T9" fmla="*/ 11 h 11"/>
                <a:gd name="T10" fmla="*/ 19 w 20"/>
                <a:gd name="T11" fmla="*/ 11 h 11"/>
                <a:gd name="T12" fmla="*/ 17 w 20"/>
                <a:gd name="T13" fmla="*/ 9 h 11"/>
                <a:gd name="T14" fmla="*/ 3 w 20"/>
                <a:gd name="T15" fmla="*/ 7 h 11"/>
                <a:gd name="T16" fmla="*/ 1 w 20"/>
                <a:gd name="T17" fmla="*/ 9 h 11"/>
                <a:gd name="T18" fmla="*/ 0 w 20"/>
                <a:gd name="T19" fmla="*/ 8 h 11"/>
                <a:gd name="T20" fmla="*/ 1 w 20"/>
                <a:gd name="T21" fmla="*/ 4 h 11"/>
                <a:gd name="T22" fmla="*/ 1 w 20"/>
                <a:gd name="T23" fmla="*/ 1 h 11"/>
                <a:gd name="T24" fmla="*/ 2 w 20"/>
                <a:gd name="T25" fmla="*/ 0 h 11"/>
                <a:gd name="T26" fmla="*/ 3 w 20"/>
                <a:gd name="T27" fmla="*/ 3 h 11"/>
                <a:gd name="T28" fmla="*/ 18 w 20"/>
                <a:gd name="T2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1">
                  <a:moveTo>
                    <a:pt x="18" y="5"/>
                  </a:moveTo>
                  <a:cubicBezTo>
                    <a:pt x="20" y="5"/>
                    <a:pt x="19" y="2"/>
                    <a:pt x="20" y="2"/>
                  </a:cubicBezTo>
                  <a:cubicBezTo>
                    <a:pt x="20" y="3"/>
                    <a:pt x="20" y="3"/>
                    <a:pt x="20" y="3"/>
                  </a:cubicBezTo>
                  <a:cubicBezTo>
                    <a:pt x="20" y="5"/>
                    <a:pt x="20" y="6"/>
                    <a:pt x="20" y="7"/>
                  </a:cubicBezTo>
                  <a:cubicBezTo>
                    <a:pt x="20" y="8"/>
                    <a:pt x="20" y="9"/>
                    <a:pt x="19" y="11"/>
                  </a:cubicBezTo>
                  <a:cubicBezTo>
                    <a:pt x="19" y="11"/>
                    <a:pt x="19" y="11"/>
                    <a:pt x="19" y="11"/>
                  </a:cubicBezTo>
                  <a:cubicBezTo>
                    <a:pt x="18" y="11"/>
                    <a:pt x="20" y="9"/>
                    <a:pt x="17" y="9"/>
                  </a:cubicBezTo>
                  <a:cubicBezTo>
                    <a:pt x="3" y="7"/>
                    <a:pt x="3" y="7"/>
                    <a:pt x="3" y="7"/>
                  </a:cubicBezTo>
                  <a:cubicBezTo>
                    <a:pt x="1" y="6"/>
                    <a:pt x="1" y="9"/>
                    <a:pt x="1" y="9"/>
                  </a:cubicBezTo>
                  <a:cubicBezTo>
                    <a:pt x="0" y="9"/>
                    <a:pt x="0" y="9"/>
                    <a:pt x="0" y="8"/>
                  </a:cubicBezTo>
                  <a:cubicBezTo>
                    <a:pt x="1" y="7"/>
                    <a:pt x="1" y="6"/>
                    <a:pt x="1" y="4"/>
                  </a:cubicBezTo>
                  <a:cubicBezTo>
                    <a:pt x="1" y="3"/>
                    <a:pt x="1" y="2"/>
                    <a:pt x="1" y="1"/>
                  </a:cubicBezTo>
                  <a:cubicBezTo>
                    <a:pt x="1" y="0"/>
                    <a:pt x="2" y="0"/>
                    <a:pt x="2" y="0"/>
                  </a:cubicBezTo>
                  <a:cubicBezTo>
                    <a:pt x="3" y="0"/>
                    <a:pt x="1" y="2"/>
                    <a:pt x="3" y="3"/>
                  </a:cubicBezTo>
                  <a:lnTo>
                    <a:pt x="18" y="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Freeform 49"/>
            <p:cNvSpPr/>
            <p:nvPr/>
          </p:nvSpPr>
          <p:spPr bwMode="auto">
            <a:xfrm>
              <a:off x="4919663" y="5554663"/>
              <a:ext cx="122238" cy="101600"/>
            </a:xfrm>
            <a:custGeom>
              <a:avLst/>
              <a:gdLst>
                <a:gd name="T0" fmla="*/ 19 w 22"/>
                <a:gd name="T1" fmla="*/ 8 h 18"/>
                <a:gd name="T2" fmla="*/ 16 w 22"/>
                <a:gd name="T3" fmla="*/ 0 h 18"/>
                <a:gd name="T4" fmla="*/ 16 w 22"/>
                <a:gd name="T5" fmla="*/ 0 h 18"/>
                <a:gd name="T6" fmla="*/ 17 w 22"/>
                <a:gd name="T7" fmla="*/ 1 h 18"/>
                <a:gd name="T8" fmla="*/ 22 w 22"/>
                <a:gd name="T9" fmla="*/ 3 h 18"/>
                <a:gd name="T10" fmla="*/ 22 w 22"/>
                <a:gd name="T11" fmla="*/ 4 h 18"/>
                <a:gd name="T12" fmla="*/ 22 w 22"/>
                <a:gd name="T13" fmla="*/ 4 h 18"/>
                <a:gd name="T14" fmla="*/ 21 w 22"/>
                <a:gd name="T15" fmla="*/ 5 h 18"/>
                <a:gd name="T16" fmla="*/ 17 w 22"/>
                <a:gd name="T17" fmla="*/ 17 h 18"/>
                <a:gd name="T18" fmla="*/ 17 w 22"/>
                <a:gd name="T19" fmla="*/ 17 h 18"/>
                <a:gd name="T20" fmla="*/ 18 w 22"/>
                <a:gd name="T21" fmla="*/ 18 h 18"/>
                <a:gd name="T22" fmla="*/ 17 w 22"/>
                <a:gd name="T23" fmla="*/ 18 h 18"/>
                <a:gd name="T24" fmla="*/ 12 w 22"/>
                <a:gd name="T25" fmla="*/ 17 h 18"/>
                <a:gd name="T26" fmla="*/ 11 w 22"/>
                <a:gd name="T27" fmla="*/ 17 h 18"/>
                <a:gd name="T28" fmla="*/ 11 w 22"/>
                <a:gd name="T29" fmla="*/ 17 h 18"/>
                <a:gd name="T30" fmla="*/ 18 w 22"/>
                <a:gd name="T31" fmla="*/ 12 h 18"/>
                <a:gd name="T32" fmla="*/ 3 w 22"/>
                <a:gd name="T33" fmla="*/ 7 h 18"/>
                <a:gd name="T34" fmla="*/ 1 w 22"/>
                <a:gd name="T35" fmla="*/ 9 h 18"/>
                <a:gd name="T36" fmla="*/ 0 w 22"/>
                <a:gd name="T37" fmla="*/ 9 h 18"/>
                <a:gd name="T38" fmla="*/ 0 w 22"/>
                <a:gd name="T39" fmla="*/ 9 h 18"/>
                <a:gd name="T40" fmla="*/ 1 w 22"/>
                <a:gd name="T41" fmla="*/ 4 h 18"/>
                <a:gd name="T42" fmla="*/ 3 w 22"/>
                <a:gd name="T43" fmla="*/ 0 h 18"/>
                <a:gd name="T44" fmla="*/ 3 w 22"/>
                <a:gd name="T45" fmla="*/ 0 h 18"/>
                <a:gd name="T46" fmla="*/ 3 w 22"/>
                <a:gd name="T47" fmla="*/ 1 h 18"/>
                <a:gd name="T48" fmla="*/ 5 w 22"/>
                <a:gd name="T49" fmla="*/ 3 h 18"/>
                <a:gd name="T50" fmla="*/ 19 w 22"/>
                <a:gd name="T51"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18">
                  <a:moveTo>
                    <a:pt x="19" y="8"/>
                  </a:moveTo>
                  <a:cubicBezTo>
                    <a:pt x="20" y="3"/>
                    <a:pt x="16" y="1"/>
                    <a:pt x="16" y="0"/>
                  </a:cubicBezTo>
                  <a:cubicBezTo>
                    <a:pt x="16" y="0"/>
                    <a:pt x="16" y="0"/>
                    <a:pt x="16" y="0"/>
                  </a:cubicBezTo>
                  <a:cubicBezTo>
                    <a:pt x="16" y="0"/>
                    <a:pt x="17" y="0"/>
                    <a:pt x="17" y="1"/>
                  </a:cubicBezTo>
                  <a:cubicBezTo>
                    <a:pt x="22" y="3"/>
                    <a:pt x="22" y="3"/>
                    <a:pt x="22" y="3"/>
                  </a:cubicBezTo>
                  <a:cubicBezTo>
                    <a:pt x="22" y="3"/>
                    <a:pt x="22" y="4"/>
                    <a:pt x="22" y="4"/>
                  </a:cubicBezTo>
                  <a:cubicBezTo>
                    <a:pt x="22" y="4"/>
                    <a:pt x="22" y="4"/>
                    <a:pt x="22" y="4"/>
                  </a:cubicBezTo>
                  <a:cubicBezTo>
                    <a:pt x="22" y="4"/>
                    <a:pt x="22" y="4"/>
                    <a:pt x="21" y="5"/>
                  </a:cubicBezTo>
                  <a:cubicBezTo>
                    <a:pt x="17" y="17"/>
                    <a:pt x="17" y="17"/>
                    <a:pt x="17" y="17"/>
                  </a:cubicBezTo>
                  <a:cubicBezTo>
                    <a:pt x="17" y="17"/>
                    <a:pt x="17" y="17"/>
                    <a:pt x="17" y="17"/>
                  </a:cubicBezTo>
                  <a:cubicBezTo>
                    <a:pt x="18" y="17"/>
                    <a:pt x="18" y="18"/>
                    <a:pt x="18" y="18"/>
                  </a:cubicBezTo>
                  <a:cubicBezTo>
                    <a:pt x="17" y="18"/>
                    <a:pt x="17" y="18"/>
                    <a:pt x="17" y="18"/>
                  </a:cubicBezTo>
                  <a:cubicBezTo>
                    <a:pt x="12" y="17"/>
                    <a:pt x="12" y="17"/>
                    <a:pt x="12" y="17"/>
                  </a:cubicBezTo>
                  <a:cubicBezTo>
                    <a:pt x="11" y="17"/>
                    <a:pt x="11" y="17"/>
                    <a:pt x="11" y="17"/>
                  </a:cubicBezTo>
                  <a:cubicBezTo>
                    <a:pt x="11" y="17"/>
                    <a:pt x="11" y="17"/>
                    <a:pt x="11" y="17"/>
                  </a:cubicBezTo>
                  <a:cubicBezTo>
                    <a:pt x="11" y="16"/>
                    <a:pt x="15" y="17"/>
                    <a:pt x="18" y="12"/>
                  </a:cubicBezTo>
                  <a:cubicBezTo>
                    <a:pt x="3" y="7"/>
                    <a:pt x="3" y="7"/>
                    <a:pt x="3" y="7"/>
                  </a:cubicBezTo>
                  <a:cubicBezTo>
                    <a:pt x="2" y="7"/>
                    <a:pt x="1" y="7"/>
                    <a:pt x="1" y="9"/>
                  </a:cubicBezTo>
                  <a:cubicBezTo>
                    <a:pt x="1" y="9"/>
                    <a:pt x="0" y="9"/>
                    <a:pt x="0" y="9"/>
                  </a:cubicBezTo>
                  <a:cubicBezTo>
                    <a:pt x="0" y="9"/>
                    <a:pt x="0" y="9"/>
                    <a:pt x="0" y="9"/>
                  </a:cubicBezTo>
                  <a:cubicBezTo>
                    <a:pt x="0" y="7"/>
                    <a:pt x="1" y="6"/>
                    <a:pt x="1" y="4"/>
                  </a:cubicBezTo>
                  <a:cubicBezTo>
                    <a:pt x="2" y="3"/>
                    <a:pt x="2" y="2"/>
                    <a:pt x="3" y="0"/>
                  </a:cubicBezTo>
                  <a:cubicBezTo>
                    <a:pt x="3" y="0"/>
                    <a:pt x="3" y="0"/>
                    <a:pt x="3" y="0"/>
                  </a:cubicBezTo>
                  <a:cubicBezTo>
                    <a:pt x="3" y="0"/>
                    <a:pt x="3" y="0"/>
                    <a:pt x="3" y="1"/>
                  </a:cubicBezTo>
                  <a:cubicBezTo>
                    <a:pt x="3" y="2"/>
                    <a:pt x="3" y="3"/>
                    <a:pt x="5" y="3"/>
                  </a:cubicBezTo>
                  <a:lnTo>
                    <a:pt x="19" y="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5" name="Freeform 50"/>
            <p:cNvSpPr/>
            <p:nvPr/>
          </p:nvSpPr>
          <p:spPr bwMode="auto">
            <a:xfrm>
              <a:off x="4868863" y="5656263"/>
              <a:ext cx="128588" cy="125413"/>
            </a:xfrm>
            <a:custGeom>
              <a:avLst/>
              <a:gdLst>
                <a:gd name="T0" fmla="*/ 10 w 23"/>
                <a:gd name="T1" fmla="*/ 10 h 22"/>
                <a:gd name="T2" fmla="*/ 12 w 23"/>
                <a:gd name="T3" fmla="*/ 14 h 22"/>
                <a:gd name="T4" fmla="*/ 14 w 23"/>
                <a:gd name="T5" fmla="*/ 17 h 22"/>
                <a:gd name="T6" fmla="*/ 17 w 23"/>
                <a:gd name="T7" fmla="*/ 16 h 22"/>
                <a:gd name="T8" fmla="*/ 17 w 23"/>
                <a:gd name="T9" fmla="*/ 17 h 22"/>
                <a:gd name="T10" fmla="*/ 15 w 23"/>
                <a:gd name="T11" fmla="*/ 19 h 22"/>
                <a:gd name="T12" fmla="*/ 14 w 23"/>
                <a:gd name="T13" fmla="*/ 21 h 22"/>
                <a:gd name="T14" fmla="*/ 13 w 23"/>
                <a:gd name="T15" fmla="*/ 22 h 22"/>
                <a:gd name="T16" fmla="*/ 12 w 23"/>
                <a:gd name="T17" fmla="*/ 16 h 22"/>
                <a:gd name="T18" fmla="*/ 9 w 23"/>
                <a:gd name="T19" fmla="*/ 10 h 22"/>
                <a:gd name="T20" fmla="*/ 3 w 23"/>
                <a:gd name="T21" fmla="*/ 7 h 22"/>
                <a:gd name="T22" fmla="*/ 0 w 23"/>
                <a:gd name="T23" fmla="*/ 8 h 22"/>
                <a:gd name="T24" fmla="*/ 0 w 23"/>
                <a:gd name="T25" fmla="*/ 7 h 22"/>
                <a:gd name="T26" fmla="*/ 2 w 23"/>
                <a:gd name="T27" fmla="*/ 4 h 22"/>
                <a:gd name="T28" fmla="*/ 4 w 23"/>
                <a:gd name="T29" fmla="*/ 0 h 22"/>
                <a:gd name="T30" fmla="*/ 5 w 23"/>
                <a:gd name="T31" fmla="*/ 0 h 22"/>
                <a:gd name="T32" fmla="*/ 5 w 23"/>
                <a:gd name="T33" fmla="*/ 3 h 22"/>
                <a:gd name="T34" fmla="*/ 11 w 23"/>
                <a:gd name="T35" fmla="*/ 6 h 22"/>
                <a:gd name="T36" fmla="*/ 20 w 23"/>
                <a:gd name="T37" fmla="*/ 7 h 22"/>
                <a:gd name="T38" fmla="*/ 23 w 23"/>
                <a:gd name="T39" fmla="*/ 6 h 22"/>
                <a:gd name="T40" fmla="*/ 23 w 23"/>
                <a:gd name="T41" fmla="*/ 6 h 22"/>
                <a:gd name="T42" fmla="*/ 21 w 23"/>
                <a:gd name="T43" fmla="*/ 10 h 22"/>
                <a:gd name="T44" fmla="*/ 19 w 23"/>
                <a:gd name="T45" fmla="*/ 13 h 22"/>
                <a:gd name="T46" fmla="*/ 18 w 23"/>
                <a:gd name="T47" fmla="*/ 13 h 22"/>
                <a:gd name="T48" fmla="*/ 18 w 23"/>
                <a:gd name="T49" fmla="*/ 11 h 22"/>
                <a:gd name="T50" fmla="*/ 17 w 23"/>
                <a:gd name="T51" fmla="*/ 11 h 22"/>
                <a:gd name="T52" fmla="*/ 10 w 23"/>
                <a:gd name="T5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2">
                  <a:moveTo>
                    <a:pt x="10" y="10"/>
                  </a:moveTo>
                  <a:cubicBezTo>
                    <a:pt x="12" y="14"/>
                    <a:pt x="12" y="14"/>
                    <a:pt x="12" y="14"/>
                  </a:cubicBezTo>
                  <a:cubicBezTo>
                    <a:pt x="12" y="15"/>
                    <a:pt x="13" y="16"/>
                    <a:pt x="14" y="17"/>
                  </a:cubicBezTo>
                  <a:cubicBezTo>
                    <a:pt x="16" y="18"/>
                    <a:pt x="16" y="16"/>
                    <a:pt x="17" y="16"/>
                  </a:cubicBezTo>
                  <a:cubicBezTo>
                    <a:pt x="17" y="16"/>
                    <a:pt x="17" y="17"/>
                    <a:pt x="17" y="17"/>
                  </a:cubicBezTo>
                  <a:cubicBezTo>
                    <a:pt x="16" y="18"/>
                    <a:pt x="16" y="18"/>
                    <a:pt x="15" y="19"/>
                  </a:cubicBezTo>
                  <a:cubicBezTo>
                    <a:pt x="15" y="20"/>
                    <a:pt x="14" y="21"/>
                    <a:pt x="14" y="21"/>
                  </a:cubicBezTo>
                  <a:cubicBezTo>
                    <a:pt x="14" y="22"/>
                    <a:pt x="14" y="22"/>
                    <a:pt x="13" y="22"/>
                  </a:cubicBezTo>
                  <a:cubicBezTo>
                    <a:pt x="13" y="21"/>
                    <a:pt x="14" y="21"/>
                    <a:pt x="12" y="16"/>
                  </a:cubicBezTo>
                  <a:cubicBezTo>
                    <a:pt x="9" y="10"/>
                    <a:pt x="9" y="10"/>
                    <a:pt x="9" y="10"/>
                  </a:cubicBezTo>
                  <a:cubicBezTo>
                    <a:pt x="3" y="7"/>
                    <a:pt x="3" y="7"/>
                    <a:pt x="3" y="7"/>
                  </a:cubicBezTo>
                  <a:cubicBezTo>
                    <a:pt x="1" y="5"/>
                    <a:pt x="1" y="8"/>
                    <a:pt x="0" y="8"/>
                  </a:cubicBezTo>
                  <a:cubicBezTo>
                    <a:pt x="0" y="7"/>
                    <a:pt x="0" y="7"/>
                    <a:pt x="0" y="7"/>
                  </a:cubicBezTo>
                  <a:cubicBezTo>
                    <a:pt x="1" y="6"/>
                    <a:pt x="2" y="5"/>
                    <a:pt x="2" y="4"/>
                  </a:cubicBezTo>
                  <a:cubicBezTo>
                    <a:pt x="3" y="3"/>
                    <a:pt x="4" y="1"/>
                    <a:pt x="4" y="0"/>
                  </a:cubicBezTo>
                  <a:cubicBezTo>
                    <a:pt x="5" y="0"/>
                    <a:pt x="5" y="0"/>
                    <a:pt x="5" y="0"/>
                  </a:cubicBezTo>
                  <a:cubicBezTo>
                    <a:pt x="6" y="0"/>
                    <a:pt x="3" y="2"/>
                    <a:pt x="5" y="3"/>
                  </a:cubicBezTo>
                  <a:cubicBezTo>
                    <a:pt x="11" y="6"/>
                    <a:pt x="11" y="6"/>
                    <a:pt x="11" y="6"/>
                  </a:cubicBezTo>
                  <a:cubicBezTo>
                    <a:pt x="20" y="7"/>
                    <a:pt x="20" y="7"/>
                    <a:pt x="20" y="7"/>
                  </a:cubicBezTo>
                  <a:cubicBezTo>
                    <a:pt x="23" y="7"/>
                    <a:pt x="23" y="5"/>
                    <a:pt x="23" y="6"/>
                  </a:cubicBezTo>
                  <a:cubicBezTo>
                    <a:pt x="23" y="6"/>
                    <a:pt x="23" y="6"/>
                    <a:pt x="23" y="6"/>
                  </a:cubicBezTo>
                  <a:cubicBezTo>
                    <a:pt x="23" y="7"/>
                    <a:pt x="22" y="8"/>
                    <a:pt x="21" y="10"/>
                  </a:cubicBezTo>
                  <a:cubicBezTo>
                    <a:pt x="20" y="11"/>
                    <a:pt x="20" y="12"/>
                    <a:pt x="19" y="13"/>
                  </a:cubicBezTo>
                  <a:cubicBezTo>
                    <a:pt x="19" y="13"/>
                    <a:pt x="19" y="13"/>
                    <a:pt x="18" y="13"/>
                  </a:cubicBezTo>
                  <a:cubicBezTo>
                    <a:pt x="18" y="13"/>
                    <a:pt x="20" y="12"/>
                    <a:pt x="18" y="11"/>
                  </a:cubicBezTo>
                  <a:cubicBezTo>
                    <a:pt x="18" y="11"/>
                    <a:pt x="17" y="11"/>
                    <a:pt x="17" y="11"/>
                  </a:cubicBezTo>
                  <a:lnTo>
                    <a:pt x="10" y="1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7" name="Freeform 51"/>
            <p:cNvSpPr/>
            <p:nvPr/>
          </p:nvSpPr>
          <p:spPr bwMode="auto">
            <a:xfrm>
              <a:off x="4005263" y="5662613"/>
              <a:ext cx="128588" cy="112713"/>
            </a:xfrm>
            <a:custGeom>
              <a:avLst/>
              <a:gdLst>
                <a:gd name="T0" fmla="*/ 16 w 23"/>
                <a:gd name="T1" fmla="*/ 15 h 20"/>
                <a:gd name="T2" fmla="*/ 15 w 23"/>
                <a:gd name="T3" fmla="*/ 15 h 20"/>
                <a:gd name="T4" fmla="*/ 16 w 23"/>
                <a:gd name="T5" fmla="*/ 14 h 20"/>
                <a:gd name="T6" fmla="*/ 19 w 23"/>
                <a:gd name="T7" fmla="*/ 5 h 20"/>
                <a:gd name="T8" fmla="*/ 13 w 23"/>
                <a:gd name="T9" fmla="*/ 3 h 20"/>
                <a:gd name="T10" fmla="*/ 11 w 23"/>
                <a:gd name="T11" fmla="*/ 18 h 20"/>
                <a:gd name="T12" fmla="*/ 3 w 23"/>
                <a:gd name="T13" fmla="*/ 16 h 20"/>
                <a:gd name="T14" fmla="*/ 1 w 23"/>
                <a:gd name="T15" fmla="*/ 11 h 20"/>
                <a:gd name="T16" fmla="*/ 0 w 23"/>
                <a:gd name="T17" fmla="*/ 11 h 20"/>
                <a:gd name="T18" fmla="*/ 0 w 23"/>
                <a:gd name="T19" fmla="*/ 10 h 20"/>
                <a:gd name="T20" fmla="*/ 4 w 23"/>
                <a:gd name="T21" fmla="*/ 7 h 20"/>
                <a:gd name="T22" fmla="*/ 5 w 23"/>
                <a:gd name="T23" fmla="*/ 6 h 20"/>
                <a:gd name="T24" fmla="*/ 5 w 23"/>
                <a:gd name="T25" fmla="*/ 7 h 20"/>
                <a:gd name="T26" fmla="*/ 4 w 23"/>
                <a:gd name="T27" fmla="*/ 8 h 20"/>
                <a:gd name="T28" fmla="*/ 3 w 23"/>
                <a:gd name="T29" fmla="*/ 16 h 20"/>
                <a:gd name="T30" fmla="*/ 8 w 23"/>
                <a:gd name="T31" fmla="*/ 17 h 20"/>
                <a:gd name="T32" fmla="*/ 10 w 23"/>
                <a:gd name="T33" fmla="*/ 2 h 20"/>
                <a:gd name="T34" fmla="*/ 19 w 23"/>
                <a:gd name="T35" fmla="*/ 5 h 20"/>
                <a:gd name="T36" fmla="*/ 21 w 23"/>
                <a:gd name="T37" fmla="*/ 10 h 20"/>
                <a:gd name="T38" fmla="*/ 23 w 23"/>
                <a:gd name="T39" fmla="*/ 10 h 20"/>
                <a:gd name="T40" fmla="*/ 22 w 23"/>
                <a:gd name="T41" fmla="*/ 11 h 20"/>
                <a:gd name="T42" fmla="*/ 16 w 23"/>
                <a:gd name="T43"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0">
                  <a:moveTo>
                    <a:pt x="16" y="15"/>
                  </a:moveTo>
                  <a:cubicBezTo>
                    <a:pt x="16" y="15"/>
                    <a:pt x="16" y="15"/>
                    <a:pt x="15" y="15"/>
                  </a:cubicBezTo>
                  <a:cubicBezTo>
                    <a:pt x="15" y="15"/>
                    <a:pt x="16" y="15"/>
                    <a:pt x="16" y="14"/>
                  </a:cubicBezTo>
                  <a:cubicBezTo>
                    <a:pt x="19" y="12"/>
                    <a:pt x="21" y="8"/>
                    <a:pt x="19" y="5"/>
                  </a:cubicBezTo>
                  <a:cubicBezTo>
                    <a:pt x="17" y="3"/>
                    <a:pt x="15" y="2"/>
                    <a:pt x="13" y="3"/>
                  </a:cubicBezTo>
                  <a:cubicBezTo>
                    <a:pt x="8" y="6"/>
                    <a:pt x="17" y="14"/>
                    <a:pt x="11" y="18"/>
                  </a:cubicBezTo>
                  <a:cubicBezTo>
                    <a:pt x="8" y="20"/>
                    <a:pt x="5" y="19"/>
                    <a:pt x="3" y="16"/>
                  </a:cubicBezTo>
                  <a:cubicBezTo>
                    <a:pt x="1" y="14"/>
                    <a:pt x="1" y="12"/>
                    <a:pt x="1" y="11"/>
                  </a:cubicBezTo>
                  <a:cubicBezTo>
                    <a:pt x="0" y="11"/>
                    <a:pt x="0" y="11"/>
                    <a:pt x="0" y="11"/>
                  </a:cubicBezTo>
                  <a:cubicBezTo>
                    <a:pt x="0" y="11"/>
                    <a:pt x="0" y="11"/>
                    <a:pt x="0" y="10"/>
                  </a:cubicBezTo>
                  <a:cubicBezTo>
                    <a:pt x="4" y="7"/>
                    <a:pt x="4" y="7"/>
                    <a:pt x="4" y="7"/>
                  </a:cubicBezTo>
                  <a:cubicBezTo>
                    <a:pt x="5" y="7"/>
                    <a:pt x="5" y="7"/>
                    <a:pt x="5" y="6"/>
                  </a:cubicBezTo>
                  <a:cubicBezTo>
                    <a:pt x="5" y="6"/>
                    <a:pt x="5" y="6"/>
                    <a:pt x="5" y="7"/>
                  </a:cubicBezTo>
                  <a:cubicBezTo>
                    <a:pt x="5" y="7"/>
                    <a:pt x="5" y="7"/>
                    <a:pt x="4" y="8"/>
                  </a:cubicBezTo>
                  <a:cubicBezTo>
                    <a:pt x="2" y="11"/>
                    <a:pt x="2" y="13"/>
                    <a:pt x="3" y="16"/>
                  </a:cubicBezTo>
                  <a:cubicBezTo>
                    <a:pt x="4" y="17"/>
                    <a:pt x="6" y="18"/>
                    <a:pt x="8" y="17"/>
                  </a:cubicBezTo>
                  <a:cubicBezTo>
                    <a:pt x="12" y="14"/>
                    <a:pt x="3" y="6"/>
                    <a:pt x="10" y="2"/>
                  </a:cubicBezTo>
                  <a:cubicBezTo>
                    <a:pt x="13" y="0"/>
                    <a:pt x="17" y="1"/>
                    <a:pt x="19" y="5"/>
                  </a:cubicBezTo>
                  <a:cubicBezTo>
                    <a:pt x="21" y="7"/>
                    <a:pt x="20" y="9"/>
                    <a:pt x="21" y="10"/>
                  </a:cubicBezTo>
                  <a:cubicBezTo>
                    <a:pt x="22" y="11"/>
                    <a:pt x="22" y="10"/>
                    <a:pt x="23" y="10"/>
                  </a:cubicBezTo>
                  <a:cubicBezTo>
                    <a:pt x="23" y="10"/>
                    <a:pt x="23" y="11"/>
                    <a:pt x="22" y="11"/>
                  </a:cubicBezTo>
                  <a:lnTo>
                    <a:pt x="16"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8" name="Freeform 52"/>
            <p:cNvSpPr/>
            <p:nvPr/>
          </p:nvSpPr>
          <p:spPr bwMode="auto">
            <a:xfrm>
              <a:off x="3938588" y="5526088"/>
              <a:ext cx="139700" cy="141288"/>
            </a:xfrm>
            <a:custGeom>
              <a:avLst/>
              <a:gdLst>
                <a:gd name="T0" fmla="*/ 8 w 25"/>
                <a:gd name="T1" fmla="*/ 22 h 25"/>
                <a:gd name="T2" fmla="*/ 7 w 25"/>
                <a:gd name="T3" fmla="*/ 25 h 25"/>
                <a:gd name="T4" fmla="*/ 6 w 25"/>
                <a:gd name="T5" fmla="*/ 25 h 25"/>
                <a:gd name="T6" fmla="*/ 5 w 25"/>
                <a:gd name="T7" fmla="*/ 21 h 25"/>
                <a:gd name="T8" fmla="*/ 4 w 25"/>
                <a:gd name="T9" fmla="*/ 17 h 25"/>
                <a:gd name="T10" fmla="*/ 4 w 25"/>
                <a:gd name="T11" fmla="*/ 17 h 25"/>
                <a:gd name="T12" fmla="*/ 7 w 25"/>
                <a:gd name="T13" fmla="*/ 18 h 25"/>
                <a:gd name="T14" fmla="*/ 13 w 25"/>
                <a:gd name="T15" fmla="*/ 16 h 25"/>
                <a:gd name="T16" fmla="*/ 10 w 25"/>
                <a:gd name="T17" fmla="*/ 9 h 25"/>
                <a:gd name="T18" fmla="*/ 4 w 25"/>
                <a:gd name="T19" fmla="*/ 11 h 25"/>
                <a:gd name="T20" fmla="*/ 3 w 25"/>
                <a:gd name="T21" fmla="*/ 14 h 25"/>
                <a:gd name="T22" fmla="*/ 3 w 25"/>
                <a:gd name="T23" fmla="*/ 14 h 25"/>
                <a:gd name="T24" fmla="*/ 1 w 25"/>
                <a:gd name="T25" fmla="*/ 10 h 25"/>
                <a:gd name="T26" fmla="*/ 0 w 25"/>
                <a:gd name="T27" fmla="*/ 7 h 25"/>
                <a:gd name="T28" fmla="*/ 0 w 25"/>
                <a:gd name="T29" fmla="*/ 6 h 25"/>
                <a:gd name="T30" fmla="*/ 3 w 25"/>
                <a:gd name="T31" fmla="*/ 8 h 25"/>
                <a:gd name="T32" fmla="*/ 17 w 25"/>
                <a:gd name="T33" fmla="*/ 3 h 25"/>
                <a:gd name="T34" fmla="*/ 18 w 25"/>
                <a:gd name="T35" fmla="*/ 0 h 25"/>
                <a:gd name="T36" fmla="*/ 18 w 25"/>
                <a:gd name="T37" fmla="*/ 0 h 25"/>
                <a:gd name="T38" fmla="*/ 19 w 25"/>
                <a:gd name="T39" fmla="*/ 4 h 25"/>
                <a:gd name="T40" fmla="*/ 21 w 25"/>
                <a:gd name="T41" fmla="*/ 8 h 25"/>
                <a:gd name="T42" fmla="*/ 21 w 25"/>
                <a:gd name="T43" fmla="*/ 9 h 25"/>
                <a:gd name="T44" fmla="*/ 18 w 25"/>
                <a:gd name="T45" fmla="*/ 7 h 25"/>
                <a:gd name="T46" fmla="*/ 11 w 25"/>
                <a:gd name="T47" fmla="*/ 9 h 25"/>
                <a:gd name="T48" fmla="*/ 13 w 25"/>
                <a:gd name="T49" fmla="*/ 16 h 25"/>
                <a:gd name="T50" fmla="*/ 20 w 25"/>
                <a:gd name="T51" fmla="*/ 14 h 25"/>
                <a:gd name="T52" fmla="*/ 21 w 25"/>
                <a:gd name="T53" fmla="*/ 11 h 25"/>
                <a:gd name="T54" fmla="*/ 22 w 25"/>
                <a:gd name="T55" fmla="*/ 11 h 25"/>
                <a:gd name="T56" fmla="*/ 23 w 25"/>
                <a:gd name="T57" fmla="*/ 15 h 25"/>
                <a:gd name="T58" fmla="*/ 24 w 25"/>
                <a:gd name="T59" fmla="*/ 19 h 25"/>
                <a:gd name="T60" fmla="*/ 24 w 25"/>
                <a:gd name="T61" fmla="*/ 19 h 25"/>
                <a:gd name="T62" fmla="*/ 22 w 25"/>
                <a:gd name="T63" fmla="*/ 18 h 25"/>
                <a:gd name="T64" fmla="*/ 8 w 25"/>
                <a:gd name="T65"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25">
                  <a:moveTo>
                    <a:pt x="8" y="22"/>
                  </a:moveTo>
                  <a:cubicBezTo>
                    <a:pt x="6" y="23"/>
                    <a:pt x="8" y="25"/>
                    <a:pt x="7" y="25"/>
                  </a:cubicBezTo>
                  <a:cubicBezTo>
                    <a:pt x="7" y="25"/>
                    <a:pt x="6" y="25"/>
                    <a:pt x="6" y="25"/>
                  </a:cubicBezTo>
                  <a:cubicBezTo>
                    <a:pt x="6" y="24"/>
                    <a:pt x="5" y="22"/>
                    <a:pt x="5" y="21"/>
                  </a:cubicBezTo>
                  <a:cubicBezTo>
                    <a:pt x="5" y="20"/>
                    <a:pt x="4" y="19"/>
                    <a:pt x="4" y="17"/>
                  </a:cubicBezTo>
                  <a:cubicBezTo>
                    <a:pt x="4" y="17"/>
                    <a:pt x="4" y="17"/>
                    <a:pt x="4" y="17"/>
                  </a:cubicBezTo>
                  <a:cubicBezTo>
                    <a:pt x="5" y="17"/>
                    <a:pt x="4" y="19"/>
                    <a:pt x="7" y="18"/>
                  </a:cubicBezTo>
                  <a:cubicBezTo>
                    <a:pt x="13" y="16"/>
                    <a:pt x="13" y="16"/>
                    <a:pt x="13" y="16"/>
                  </a:cubicBezTo>
                  <a:cubicBezTo>
                    <a:pt x="10" y="9"/>
                    <a:pt x="10" y="9"/>
                    <a:pt x="10" y="9"/>
                  </a:cubicBezTo>
                  <a:cubicBezTo>
                    <a:pt x="4" y="11"/>
                    <a:pt x="4" y="11"/>
                    <a:pt x="4" y="11"/>
                  </a:cubicBezTo>
                  <a:cubicBezTo>
                    <a:pt x="2" y="12"/>
                    <a:pt x="4" y="14"/>
                    <a:pt x="3" y="14"/>
                  </a:cubicBezTo>
                  <a:cubicBezTo>
                    <a:pt x="3" y="14"/>
                    <a:pt x="3" y="14"/>
                    <a:pt x="3" y="14"/>
                  </a:cubicBezTo>
                  <a:cubicBezTo>
                    <a:pt x="2" y="13"/>
                    <a:pt x="2" y="11"/>
                    <a:pt x="1" y="10"/>
                  </a:cubicBezTo>
                  <a:cubicBezTo>
                    <a:pt x="1" y="9"/>
                    <a:pt x="1" y="8"/>
                    <a:pt x="0" y="7"/>
                  </a:cubicBezTo>
                  <a:cubicBezTo>
                    <a:pt x="0" y="6"/>
                    <a:pt x="0" y="6"/>
                    <a:pt x="0" y="6"/>
                  </a:cubicBezTo>
                  <a:cubicBezTo>
                    <a:pt x="1" y="6"/>
                    <a:pt x="1" y="8"/>
                    <a:pt x="3" y="8"/>
                  </a:cubicBezTo>
                  <a:cubicBezTo>
                    <a:pt x="17" y="3"/>
                    <a:pt x="17" y="3"/>
                    <a:pt x="17" y="3"/>
                  </a:cubicBezTo>
                  <a:cubicBezTo>
                    <a:pt x="19" y="2"/>
                    <a:pt x="17" y="0"/>
                    <a:pt x="18" y="0"/>
                  </a:cubicBezTo>
                  <a:cubicBezTo>
                    <a:pt x="18" y="0"/>
                    <a:pt x="18" y="0"/>
                    <a:pt x="18" y="0"/>
                  </a:cubicBezTo>
                  <a:cubicBezTo>
                    <a:pt x="19" y="2"/>
                    <a:pt x="19" y="3"/>
                    <a:pt x="19" y="4"/>
                  </a:cubicBezTo>
                  <a:cubicBezTo>
                    <a:pt x="20" y="5"/>
                    <a:pt x="20" y="7"/>
                    <a:pt x="21" y="8"/>
                  </a:cubicBezTo>
                  <a:cubicBezTo>
                    <a:pt x="21" y="8"/>
                    <a:pt x="21" y="8"/>
                    <a:pt x="21" y="9"/>
                  </a:cubicBezTo>
                  <a:cubicBezTo>
                    <a:pt x="20" y="9"/>
                    <a:pt x="20" y="6"/>
                    <a:pt x="18" y="7"/>
                  </a:cubicBezTo>
                  <a:cubicBezTo>
                    <a:pt x="11" y="9"/>
                    <a:pt x="11" y="9"/>
                    <a:pt x="11" y="9"/>
                  </a:cubicBezTo>
                  <a:cubicBezTo>
                    <a:pt x="13" y="16"/>
                    <a:pt x="13" y="16"/>
                    <a:pt x="13" y="16"/>
                  </a:cubicBezTo>
                  <a:cubicBezTo>
                    <a:pt x="20" y="14"/>
                    <a:pt x="20" y="14"/>
                    <a:pt x="20" y="14"/>
                  </a:cubicBezTo>
                  <a:cubicBezTo>
                    <a:pt x="22" y="13"/>
                    <a:pt x="21" y="11"/>
                    <a:pt x="21" y="11"/>
                  </a:cubicBezTo>
                  <a:cubicBezTo>
                    <a:pt x="22" y="11"/>
                    <a:pt x="22" y="11"/>
                    <a:pt x="22" y="11"/>
                  </a:cubicBezTo>
                  <a:cubicBezTo>
                    <a:pt x="22" y="13"/>
                    <a:pt x="23" y="14"/>
                    <a:pt x="23" y="15"/>
                  </a:cubicBezTo>
                  <a:cubicBezTo>
                    <a:pt x="23" y="16"/>
                    <a:pt x="24" y="17"/>
                    <a:pt x="24" y="19"/>
                  </a:cubicBezTo>
                  <a:cubicBezTo>
                    <a:pt x="25" y="19"/>
                    <a:pt x="24" y="19"/>
                    <a:pt x="24" y="19"/>
                  </a:cubicBezTo>
                  <a:cubicBezTo>
                    <a:pt x="24" y="20"/>
                    <a:pt x="24" y="17"/>
                    <a:pt x="22" y="18"/>
                  </a:cubicBezTo>
                  <a:lnTo>
                    <a:pt x="8" y="2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9" name="Freeform 53"/>
            <p:cNvSpPr/>
            <p:nvPr/>
          </p:nvSpPr>
          <p:spPr bwMode="auto">
            <a:xfrm>
              <a:off x="3927475" y="5407025"/>
              <a:ext cx="111125" cy="101600"/>
            </a:xfrm>
            <a:custGeom>
              <a:avLst/>
              <a:gdLst>
                <a:gd name="T0" fmla="*/ 3 w 20"/>
                <a:gd name="T1" fmla="*/ 16 h 18"/>
                <a:gd name="T2" fmla="*/ 1 w 20"/>
                <a:gd name="T3" fmla="*/ 18 h 18"/>
                <a:gd name="T4" fmla="*/ 0 w 20"/>
                <a:gd name="T5" fmla="*/ 18 h 18"/>
                <a:gd name="T6" fmla="*/ 0 w 20"/>
                <a:gd name="T7" fmla="*/ 14 h 18"/>
                <a:gd name="T8" fmla="*/ 0 w 20"/>
                <a:gd name="T9" fmla="*/ 4 h 18"/>
                <a:gd name="T10" fmla="*/ 5 w 20"/>
                <a:gd name="T11" fmla="*/ 2 h 18"/>
                <a:gd name="T12" fmla="*/ 6 w 20"/>
                <a:gd name="T13" fmla="*/ 2 h 18"/>
                <a:gd name="T14" fmla="*/ 6 w 20"/>
                <a:gd name="T15" fmla="*/ 2 h 18"/>
                <a:gd name="T16" fmla="*/ 4 w 20"/>
                <a:gd name="T17" fmla="*/ 3 h 18"/>
                <a:gd name="T18" fmla="*/ 1 w 20"/>
                <a:gd name="T19" fmla="*/ 10 h 18"/>
                <a:gd name="T20" fmla="*/ 1 w 20"/>
                <a:gd name="T21" fmla="*/ 12 h 18"/>
                <a:gd name="T22" fmla="*/ 9 w 20"/>
                <a:gd name="T23" fmla="*/ 11 h 18"/>
                <a:gd name="T24" fmla="*/ 9 w 20"/>
                <a:gd name="T25" fmla="*/ 11 h 18"/>
                <a:gd name="T26" fmla="*/ 5 w 20"/>
                <a:gd name="T27" fmla="*/ 7 h 18"/>
                <a:gd name="T28" fmla="*/ 5 w 20"/>
                <a:gd name="T29" fmla="*/ 7 h 18"/>
                <a:gd name="T30" fmla="*/ 5 w 20"/>
                <a:gd name="T31" fmla="*/ 7 h 18"/>
                <a:gd name="T32" fmla="*/ 13 w 20"/>
                <a:gd name="T33" fmla="*/ 6 h 18"/>
                <a:gd name="T34" fmla="*/ 14 w 20"/>
                <a:gd name="T35" fmla="*/ 6 h 18"/>
                <a:gd name="T36" fmla="*/ 13 w 20"/>
                <a:gd name="T37" fmla="*/ 7 h 18"/>
                <a:gd name="T38" fmla="*/ 10 w 20"/>
                <a:gd name="T39" fmla="*/ 10 h 18"/>
                <a:gd name="T40" fmla="*/ 10 w 20"/>
                <a:gd name="T41" fmla="*/ 11 h 18"/>
                <a:gd name="T42" fmla="*/ 17 w 20"/>
                <a:gd name="T43" fmla="*/ 11 h 18"/>
                <a:gd name="T44" fmla="*/ 19 w 20"/>
                <a:gd name="T45" fmla="*/ 8 h 18"/>
                <a:gd name="T46" fmla="*/ 12 w 20"/>
                <a:gd name="T47" fmla="*/ 1 h 18"/>
                <a:gd name="T48" fmla="*/ 11 w 20"/>
                <a:gd name="T49" fmla="*/ 1 h 18"/>
                <a:gd name="T50" fmla="*/ 12 w 20"/>
                <a:gd name="T51" fmla="*/ 0 h 18"/>
                <a:gd name="T52" fmla="*/ 13 w 20"/>
                <a:gd name="T53" fmla="*/ 0 h 18"/>
                <a:gd name="T54" fmla="*/ 19 w 20"/>
                <a:gd name="T55" fmla="*/ 1 h 18"/>
                <a:gd name="T56" fmla="*/ 19 w 20"/>
                <a:gd name="T57" fmla="*/ 13 h 18"/>
                <a:gd name="T58" fmla="*/ 20 w 20"/>
                <a:gd name="T59" fmla="*/ 17 h 18"/>
                <a:gd name="T60" fmla="*/ 19 w 20"/>
                <a:gd name="T61" fmla="*/ 17 h 18"/>
                <a:gd name="T62" fmla="*/ 17 w 20"/>
                <a:gd name="T63" fmla="*/ 15 h 18"/>
                <a:gd name="T64" fmla="*/ 3 w 20"/>
                <a:gd name="T6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18">
                  <a:moveTo>
                    <a:pt x="3" y="16"/>
                  </a:moveTo>
                  <a:cubicBezTo>
                    <a:pt x="0" y="16"/>
                    <a:pt x="2" y="18"/>
                    <a:pt x="1" y="18"/>
                  </a:cubicBezTo>
                  <a:cubicBezTo>
                    <a:pt x="1" y="18"/>
                    <a:pt x="0" y="18"/>
                    <a:pt x="0" y="18"/>
                  </a:cubicBezTo>
                  <a:cubicBezTo>
                    <a:pt x="0" y="16"/>
                    <a:pt x="0" y="15"/>
                    <a:pt x="0" y="14"/>
                  </a:cubicBezTo>
                  <a:cubicBezTo>
                    <a:pt x="0" y="10"/>
                    <a:pt x="0" y="7"/>
                    <a:pt x="0" y="4"/>
                  </a:cubicBezTo>
                  <a:cubicBezTo>
                    <a:pt x="5" y="2"/>
                    <a:pt x="5" y="2"/>
                    <a:pt x="5" y="2"/>
                  </a:cubicBezTo>
                  <a:cubicBezTo>
                    <a:pt x="5" y="2"/>
                    <a:pt x="6" y="2"/>
                    <a:pt x="6" y="2"/>
                  </a:cubicBezTo>
                  <a:cubicBezTo>
                    <a:pt x="6" y="2"/>
                    <a:pt x="6" y="2"/>
                    <a:pt x="6" y="2"/>
                  </a:cubicBezTo>
                  <a:cubicBezTo>
                    <a:pt x="6" y="2"/>
                    <a:pt x="6" y="2"/>
                    <a:pt x="4" y="3"/>
                  </a:cubicBezTo>
                  <a:cubicBezTo>
                    <a:pt x="2" y="5"/>
                    <a:pt x="1" y="7"/>
                    <a:pt x="1" y="10"/>
                  </a:cubicBezTo>
                  <a:cubicBezTo>
                    <a:pt x="1" y="12"/>
                    <a:pt x="1" y="12"/>
                    <a:pt x="1" y="12"/>
                  </a:cubicBezTo>
                  <a:cubicBezTo>
                    <a:pt x="9" y="11"/>
                    <a:pt x="9" y="11"/>
                    <a:pt x="9" y="11"/>
                  </a:cubicBezTo>
                  <a:cubicBezTo>
                    <a:pt x="9" y="11"/>
                    <a:pt x="9" y="11"/>
                    <a:pt x="9" y="11"/>
                  </a:cubicBezTo>
                  <a:cubicBezTo>
                    <a:pt x="9" y="9"/>
                    <a:pt x="7" y="7"/>
                    <a:pt x="5" y="7"/>
                  </a:cubicBezTo>
                  <a:cubicBezTo>
                    <a:pt x="5" y="7"/>
                    <a:pt x="5" y="7"/>
                    <a:pt x="5" y="7"/>
                  </a:cubicBezTo>
                  <a:cubicBezTo>
                    <a:pt x="4" y="7"/>
                    <a:pt x="5" y="7"/>
                    <a:pt x="5" y="7"/>
                  </a:cubicBezTo>
                  <a:cubicBezTo>
                    <a:pt x="13" y="6"/>
                    <a:pt x="13" y="6"/>
                    <a:pt x="13" y="6"/>
                  </a:cubicBezTo>
                  <a:cubicBezTo>
                    <a:pt x="14" y="6"/>
                    <a:pt x="14" y="6"/>
                    <a:pt x="14" y="6"/>
                  </a:cubicBezTo>
                  <a:cubicBezTo>
                    <a:pt x="14" y="7"/>
                    <a:pt x="14" y="7"/>
                    <a:pt x="13" y="7"/>
                  </a:cubicBezTo>
                  <a:cubicBezTo>
                    <a:pt x="11" y="7"/>
                    <a:pt x="9" y="9"/>
                    <a:pt x="10" y="10"/>
                  </a:cubicBezTo>
                  <a:cubicBezTo>
                    <a:pt x="10" y="11"/>
                    <a:pt x="10" y="11"/>
                    <a:pt x="10" y="11"/>
                  </a:cubicBezTo>
                  <a:cubicBezTo>
                    <a:pt x="17" y="11"/>
                    <a:pt x="17" y="11"/>
                    <a:pt x="17" y="11"/>
                  </a:cubicBezTo>
                  <a:cubicBezTo>
                    <a:pt x="18" y="11"/>
                    <a:pt x="19" y="10"/>
                    <a:pt x="19" y="8"/>
                  </a:cubicBezTo>
                  <a:cubicBezTo>
                    <a:pt x="18" y="4"/>
                    <a:pt x="15" y="2"/>
                    <a:pt x="12" y="1"/>
                  </a:cubicBezTo>
                  <a:cubicBezTo>
                    <a:pt x="12" y="1"/>
                    <a:pt x="11" y="1"/>
                    <a:pt x="11" y="1"/>
                  </a:cubicBezTo>
                  <a:cubicBezTo>
                    <a:pt x="11" y="1"/>
                    <a:pt x="12" y="0"/>
                    <a:pt x="12" y="0"/>
                  </a:cubicBezTo>
                  <a:cubicBezTo>
                    <a:pt x="12" y="0"/>
                    <a:pt x="12" y="0"/>
                    <a:pt x="13" y="0"/>
                  </a:cubicBezTo>
                  <a:cubicBezTo>
                    <a:pt x="19" y="1"/>
                    <a:pt x="19" y="1"/>
                    <a:pt x="19" y="1"/>
                  </a:cubicBezTo>
                  <a:cubicBezTo>
                    <a:pt x="19" y="5"/>
                    <a:pt x="19" y="9"/>
                    <a:pt x="19" y="13"/>
                  </a:cubicBezTo>
                  <a:cubicBezTo>
                    <a:pt x="19" y="14"/>
                    <a:pt x="20" y="15"/>
                    <a:pt x="20" y="17"/>
                  </a:cubicBezTo>
                  <a:cubicBezTo>
                    <a:pt x="20" y="17"/>
                    <a:pt x="19" y="17"/>
                    <a:pt x="19" y="17"/>
                  </a:cubicBezTo>
                  <a:cubicBezTo>
                    <a:pt x="18" y="17"/>
                    <a:pt x="19" y="15"/>
                    <a:pt x="17" y="15"/>
                  </a:cubicBezTo>
                  <a:lnTo>
                    <a:pt x="3"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0" name="Freeform 54"/>
            <p:cNvSpPr/>
            <p:nvPr/>
          </p:nvSpPr>
          <p:spPr bwMode="auto">
            <a:xfrm>
              <a:off x="3927475" y="5253038"/>
              <a:ext cx="128588" cy="136525"/>
            </a:xfrm>
            <a:custGeom>
              <a:avLst/>
              <a:gdLst>
                <a:gd name="T0" fmla="*/ 15 w 23"/>
                <a:gd name="T1" fmla="*/ 19 h 24"/>
                <a:gd name="T2" fmla="*/ 19 w 23"/>
                <a:gd name="T3" fmla="*/ 18 h 24"/>
                <a:gd name="T4" fmla="*/ 20 w 23"/>
                <a:gd name="T5" fmla="*/ 17 h 24"/>
                <a:gd name="T6" fmla="*/ 20 w 23"/>
                <a:gd name="T7" fmla="*/ 17 h 24"/>
                <a:gd name="T8" fmla="*/ 20 w 23"/>
                <a:gd name="T9" fmla="*/ 21 h 24"/>
                <a:gd name="T10" fmla="*/ 19 w 23"/>
                <a:gd name="T11" fmla="*/ 24 h 24"/>
                <a:gd name="T12" fmla="*/ 18 w 23"/>
                <a:gd name="T13" fmla="*/ 24 h 24"/>
                <a:gd name="T14" fmla="*/ 18 w 23"/>
                <a:gd name="T15" fmla="*/ 22 h 24"/>
                <a:gd name="T16" fmla="*/ 15 w 23"/>
                <a:gd name="T17" fmla="*/ 20 h 24"/>
                <a:gd name="T18" fmla="*/ 3 w 23"/>
                <a:gd name="T19" fmla="*/ 17 h 24"/>
                <a:gd name="T20" fmla="*/ 1 w 23"/>
                <a:gd name="T21" fmla="*/ 19 h 24"/>
                <a:gd name="T22" fmla="*/ 0 w 23"/>
                <a:gd name="T23" fmla="*/ 20 h 24"/>
                <a:gd name="T24" fmla="*/ 0 w 23"/>
                <a:gd name="T25" fmla="*/ 20 h 24"/>
                <a:gd name="T26" fmla="*/ 1 w 23"/>
                <a:gd name="T27" fmla="*/ 17 h 24"/>
                <a:gd name="T28" fmla="*/ 2 w 23"/>
                <a:gd name="T29" fmla="*/ 14 h 24"/>
                <a:gd name="T30" fmla="*/ 16 w 23"/>
                <a:gd name="T31" fmla="*/ 6 h 24"/>
                <a:gd name="T32" fmla="*/ 16 w 23"/>
                <a:gd name="T33" fmla="*/ 6 h 24"/>
                <a:gd name="T34" fmla="*/ 8 w 23"/>
                <a:gd name="T35" fmla="*/ 5 h 24"/>
                <a:gd name="T36" fmla="*/ 4 w 23"/>
                <a:gd name="T37" fmla="*/ 6 h 24"/>
                <a:gd name="T38" fmla="*/ 3 w 23"/>
                <a:gd name="T39" fmla="*/ 7 h 24"/>
                <a:gd name="T40" fmla="*/ 3 w 23"/>
                <a:gd name="T41" fmla="*/ 6 h 24"/>
                <a:gd name="T42" fmla="*/ 4 w 23"/>
                <a:gd name="T43" fmla="*/ 3 h 24"/>
                <a:gd name="T44" fmla="*/ 4 w 23"/>
                <a:gd name="T45" fmla="*/ 0 h 24"/>
                <a:gd name="T46" fmla="*/ 5 w 23"/>
                <a:gd name="T47" fmla="*/ 0 h 24"/>
                <a:gd name="T48" fmla="*/ 5 w 23"/>
                <a:gd name="T49" fmla="*/ 1 h 24"/>
                <a:gd name="T50" fmla="*/ 8 w 23"/>
                <a:gd name="T51" fmla="*/ 4 h 24"/>
                <a:gd name="T52" fmla="*/ 22 w 23"/>
                <a:gd name="T53" fmla="*/ 7 h 24"/>
                <a:gd name="T54" fmla="*/ 23 w 23"/>
                <a:gd name="T55" fmla="*/ 7 h 24"/>
                <a:gd name="T56" fmla="*/ 22 w 23"/>
                <a:gd name="T57" fmla="*/ 8 h 24"/>
                <a:gd name="T58" fmla="*/ 4 w 23"/>
                <a:gd name="T59" fmla="*/ 17 h 24"/>
                <a:gd name="T60" fmla="*/ 4 w 23"/>
                <a:gd name="T61" fmla="*/ 17 h 24"/>
                <a:gd name="T62" fmla="*/ 15 w 23"/>
                <a:gd name="T63"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4">
                  <a:moveTo>
                    <a:pt x="15" y="19"/>
                  </a:moveTo>
                  <a:cubicBezTo>
                    <a:pt x="18" y="20"/>
                    <a:pt x="19" y="19"/>
                    <a:pt x="19" y="18"/>
                  </a:cubicBezTo>
                  <a:cubicBezTo>
                    <a:pt x="20" y="18"/>
                    <a:pt x="20" y="17"/>
                    <a:pt x="20" y="17"/>
                  </a:cubicBezTo>
                  <a:cubicBezTo>
                    <a:pt x="20" y="17"/>
                    <a:pt x="20" y="17"/>
                    <a:pt x="20" y="17"/>
                  </a:cubicBezTo>
                  <a:cubicBezTo>
                    <a:pt x="20" y="18"/>
                    <a:pt x="20" y="19"/>
                    <a:pt x="20" y="21"/>
                  </a:cubicBezTo>
                  <a:cubicBezTo>
                    <a:pt x="19" y="22"/>
                    <a:pt x="19" y="23"/>
                    <a:pt x="19" y="24"/>
                  </a:cubicBezTo>
                  <a:cubicBezTo>
                    <a:pt x="19" y="24"/>
                    <a:pt x="19" y="24"/>
                    <a:pt x="18" y="24"/>
                  </a:cubicBezTo>
                  <a:cubicBezTo>
                    <a:pt x="18" y="24"/>
                    <a:pt x="18" y="23"/>
                    <a:pt x="18" y="22"/>
                  </a:cubicBezTo>
                  <a:cubicBezTo>
                    <a:pt x="18" y="21"/>
                    <a:pt x="17" y="20"/>
                    <a:pt x="15" y="20"/>
                  </a:cubicBezTo>
                  <a:cubicBezTo>
                    <a:pt x="3" y="17"/>
                    <a:pt x="3" y="17"/>
                    <a:pt x="3" y="17"/>
                  </a:cubicBezTo>
                  <a:cubicBezTo>
                    <a:pt x="2" y="18"/>
                    <a:pt x="1" y="19"/>
                    <a:pt x="1" y="19"/>
                  </a:cubicBezTo>
                  <a:cubicBezTo>
                    <a:pt x="1" y="20"/>
                    <a:pt x="1" y="20"/>
                    <a:pt x="0" y="20"/>
                  </a:cubicBezTo>
                  <a:cubicBezTo>
                    <a:pt x="0" y="20"/>
                    <a:pt x="0" y="20"/>
                    <a:pt x="0" y="20"/>
                  </a:cubicBezTo>
                  <a:cubicBezTo>
                    <a:pt x="0" y="19"/>
                    <a:pt x="1" y="18"/>
                    <a:pt x="1" y="17"/>
                  </a:cubicBezTo>
                  <a:cubicBezTo>
                    <a:pt x="2" y="14"/>
                    <a:pt x="2" y="14"/>
                    <a:pt x="2" y="14"/>
                  </a:cubicBezTo>
                  <a:cubicBezTo>
                    <a:pt x="16" y="6"/>
                    <a:pt x="16" y="6"/>
                    <a:pt x="16" y="6"/>
                  </a:cubicBezTo>
                  <a:cubicBezTo>
                    <a:pt x="16" y="6"/>
                    <a:pt x="16" y="6"/>
                    <a:pt x="16" y="6"/>
                  </a:cubicBezTo>
                  <a:cubicBezTo>
                    <a:pt x="8" y="5"/>
                    <a:pt x="8" y="5"/>
                    <a:pt x="8" y="5"/>
                  </a:cubicBezTo>
                  <a:cubicBezTo>
                    <a:pt x="6" y="4"/>
                    <a:pt x="5" y="5"/>
                    <a:pt x="4" y="6"/>
                  </a:cubicBezTo>
                  <a:cubicBezTo>
                    <a:pt x="4" y="6"/>
                    <a:pt x="4" y="7"/>
                    <a:pt x="3" y="7"/>
                  </a:cubicBezTo>
                  <a:cubicBezTo>
                    <a:pt x="3" y="7"/>
                    <a:pt x="3" y="7"/>
                    <a:pt x="3" y="6"/>
                  </a:cubicBezTo>
                  <a:cubicBezTo>
                    <a:pt x="3" y="6"/>
                    <a:pt x="4" y="4"/>
                    <a:pt x="4" y="3"/>
                  </a:cubicBezTo>
                  <a:cubicBezTo>
                    <a:pt x="4" y="2"/>
                    <a:pt x="4" y="1"/>
                    <a:pt x="4" y="0"/>
                  </a:cubicBezTo>
                  <a:cubicBezTo>
                    <a:pt x="4" y="0"/>
                    <a:pt x="5" y="0"/>
                    <a:pt x="5" y="0"/>
                  </a:cubicBezTo>
                  <a:cubicBezTo>
                    <a:pt x="5" y="0"/>
                    <a:pt x="5" y="1"/>
                    <a:pt x="5" y="1"/>
                  </a:cubicBezTo>
                  <a:cubicBezTo>
                    <a:pt x="5" y="2"/>
                    <a:pt x="6" y="3"/>
                    <a:pt x="8" y="4"/>
                  </a:cubicBezTo>
                  <a:cubicBezTo>
                    <a:pt x="22" y="7"/>
                    <a:pt x="22" y="7"/>
                    <a:pt x="22" y="7"/>
                  </a:cubicBezTo>
                  <a:cubicBezTo>
                    <a:pt x="23" y="7"/>
                    <a:pt x="23" y="7"/>
                    <a:pt x="23" y="7"/>
                  </a:cubicBezTo>
                  <a:cubicBezTo>
                    <a:pt x="23" y="8"/>
                    <a:pt x="23" y="8"/>
                    <a:pt x="22" y="8"/>
                  </a:cubicBezTo>
                  <a:cubicBezTo>
                    <a:pt x="4" y="17"/>
                    <a:pt x="4" y="17"/>
                    <a:pt x="4" y="17"/>
                  </a:cubicBezTo>
                  <a:cubicBezTo>
                    <a:pt x="4" y="17"/>
                    <a:pt x="4" y="17"/>
                    <a:pt x="4" y="17"/>
                  </a:cubicBezTo>
                  <a:lnTo>
                    <a:pt x="15"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Freeform 55"/>
            <p:cNvSpPr/>
            <p:nvPr/>
          </p:nvSpPr>
          <p:spPr bwMode="auto">
            <a:xfrm>
              <a:off x="3965575" y="5151438"/>
              <a:ext cx="123825" cy="125413"/>
            </a:xfrm>
            <a:custGeom>
              <a:avLst/>
              <a:gdLst>
                <a:gd name="T0" fmla="*/ 19 w 22"/>
                <a:gd name="T1" fmla="*/ 15 h 22"/>
                <a:gd name="T2" fmla="*/ 19 w 22"/>
                <a:gd name="T3" fmla="*/ 8 h 22"/>
                <a:gd name="T4" fmla="*/ 16 w 22"/>
                <a:gd name="T5" fmla="*/ 5 h 22"/>
                <a:gd name="T6" fmla="*/ 17 w 22"/>
                <a:gd name="T7" fmla="*/ 5 h 22"/>
                <a:gd name="T8" fmla="*/ 18 w 22"/>
                <a:gd name="T9" fmla="*/ 6 h 22"/>
                <a:gd name="T10" fmla="*/ 22 w 22"/>
                <a:gd name="T11" fmla="*/ 9 h 22"/>
                <a:gd name="T12" fmla="*/ 19 w 22"/>
                <a:gd name="T13" fmla="*/ 16 h 22"/>
                <a:gd name="T14" fmla="*/ 17 w 22"/>
                <a:gd name="T15" fmla="*/ 22 h 22"/>
                <a:gd name="T16" fmla="*/ 16 w 22"/>
                <a:gd name="T17" fmla="*/ 22 h 22"/>
                <a:gd name="T18" fmla="*/ 16 w 22"/>
                <a:gd name="T19" fmla="*/ 21 h 22"/>
                <a:gd name="T20" fmla="*/ 4 w 22"/>
                <a:gd name="T21" fmla="*/ 4 h 22"/>
                <a:gd name="T22" fmla="*/ 4 w 22"/>
                <a:gd name="T23" fmla="*/ 6 h 22"/>
                <a:gd name="T24" fmla="*/ 4 w 22"/>
                <a:gd name="T25" fmla="*/ 13 h 22"/>
                <a:gd name="T26" fmla="*/ 5 w 22"/>
                <a:gd name="T27" fmla="*/ 15 h 22"/>
                <a:gd name="T28" fmla="*/ 5 w 22"/>
                <a:gd name="T29" fmla="*/ 16 h 22"/>
                <a:gd name="T30" fmla="*/ 4 w 22"/>
                <a:gd name="T31" fmla="*/ 15 h 22"/>
                <a:gd name="T32" fmla="*/ 0 w 22"/>
                <a:gd name="T33" fmla="*/ 12 h 22"/>
                <a:gd name="T34" fmla="*/ 3 w 22"/>
                <a:gd name="T35" fmla="*/ 6 h 22"/>
                <a:gd name="T36" fmla="*/ 5 w 22"/>
                <a:gd name="T37" fmla="*/ 0 h 22"/>
                <a:gd name="T38" fmla="*/ 6 w 22"/>
                <a:gd name="T39" fmla="*/ 0 h 22"/>
                <a:gd name="T40" fmla="*/ 6 w 22"/>
                <a:gd name="T41" fmla="*/ 1 h 22"/>
                <a:gd name="T42" fmla="*/ 18 w 22"/>
                <a:gd name="T43" fmla="*/ 17 h 22"/>
                <a:gd name="T44" fmla="*/ 19 w 22"/>
                <a:gd name="T45"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22">
                  <a:moveTo>
                    <a:pt x="19" y="15"/>
                  </a:moveTo>
                  <a:cubicBezTo>
                    <a:pt x="20" y="12"/>
                    <a:pt x="20" y="10"/>
                    <a:pt x="19" y="8"/>
                  </a:cubicBezTo>
                  <a:cubicBezTo>
                    <a:pt x="18" y="6"/>
                    <a:pt x="16" y="6"/>
                    <a:pt x="16" y="5"/>
                  </a:cubicBezTo>
                  <a:cubicBezTo>
                    <a:pt x="16" y="5"/>
                    <a:pt x="16" y="5"/>
                    <a:pt x="17" y="5"/>
                  </a:cubicBezTo>
                  <a:cubicBezTo>
                    <a:pt x="17" y="5"/>
                    <a:pt x="17" y="5"/>
                    <a:pt x="18" y="6"/>
                  </a:cubicBezTo>
                  <a:cubicBezTo>
                    <a:pt x="22" y="9"/>
                    <a:pt x="22" y="9"/>
                    <a:pt x="22" y="9"/>
                  </a:cubicBezTo>
                  <a:cubicBezTo>
                    <a:pt x="21" y="11"/>
                    <a:pt x="20" y="13"/>
                    <a:pt x="19" y="16"/>
                  </a:cubicBezTo>
                  <a:cubicBezTo>
                    <a:pt x="18" y="18"/>
                    <a:pt x="18" y="20"/>
                    <a:pt x="17" y="22"/>
                  </a:cubicBezTo>
                  <a:cubicBezTo>
                    <a:pt x="16" y="22"/>
                    <a:pt x="16" y="22"/>
                    <a:pt x="16" y="22"/>
                  </a:cubicBezTo>
                  <a:cubicBezTo>
                    <a:pt x="16" y="22"/>
                    <a:pt x="16" y="22"/>
                    <a:pt x="16" y="21"/>
                  </a:cubicBezTo>
                  <a:cubicBezTo>
                    <a:pt x="4" y="4"/>
                    <a:pt x="4" y="4"/>
                    <a:pt x="4" y="4"/>
                  </a:cubicBezTo>
                  <a:cubicBezTo>
                    <a:pt x="4" y="6"/>
                    <a:pt x="4" y="6"/>
                    <a:pt x="4" y="6"/>
                  </a:cubicBezTo>
                  <a:cubicBezTo>
                    <a:pt x="2" y="9"/>
                    <a:pt x="2" y="11"/>
                    <a:pt x="4" y="13"/>
                  </a:cubicBezTo>
                  <a:cubicBezTo>
                    <a:pt x="5" y="15"/>
                    <a:pt x="5" y="15"/>
                    <a:pt x="5" y="15"/>
                  </a:cubicBezTo>
                  <a:cubicBezTo>
                    <a:pt x="5" y="16"/>
                    <a:pt x="5" y="16"/>
                    <a:pt x="5" y="16"/>
                  </a:cubicBezTo>
                  <a:cubicBezTo>
                    <a:pt x="5" y="16"/>
                    <a:pt x="5" y="15"/>
                    <a:pt x="4" y="15"/>
                  </a:cubicBezTo>
                  <a:cubicBezTo>
                    <a:pt x="0" y="12"/>
                    <a:pt x="0" y="12"/>
                    <a:pt x="0" y="12"/>
                  </a:cubicBezTo>
                  <a:cubicBezTo>
                    <a:pt x="1" y="10"/>
                    <a:pt x="2" y="8"/>
                    <a:pt x="3" y="6"/>
                  </a:cubicBezTo>
                  <a:cubicBezTo>
                    <a:pt x="4" y="4"/>
                    <a:pt x="5" y="2"/>
                    <a:pt x="5" y="0"/>
                  </a:cubicBezTo>
                  <a:cubicBezTo>
                    <a:pt x="6" y="0"/>
                    <a:pt x="6" y="0"/>
                    <a:pt x="6" y="0"/>
                  </a:cubicBezTo>
                  <a:cubicBezTo>
                    <a:pt x="6" y="0"/>
                    <a:pt x="6" y="0"/>
                    <a:pt x="6" y="1"/>
                  </a:cubicBezTo>
                  <a:cubicBezTo>
                    <a:pt x="18" y="17"/>
                    <a:pt x="18" y="17"/>
                    <a:pt x="18" y="17"/>
                  </a:cubicBezTo>
                  <a:lnTo>
                    <a:pt x="19"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2" name="Freeform 56"/>
            <p:cNvSpPr/>
            <p:nvPr/>
          </p:nvSpPr>
          <p:spPr bwMode="auto">
            <a:xfrm>
              <a:off x="4016375" y="5032375"/>
              <a:ext cx="150813" cy="153988"/>
            </a:xfrm>
            <a:custGeom>
              <a:avLst/>
              <a:gdLst>
                <a:gd name="T0" fmla="*/ 3 w 27"/>
                <a:gd name="T1" fmla="*/ 15 h 27"/>
                <a:gd name="T2" fmla="*/ 0 w 27"/>
                <a:gd name="T3" fmla="*/ 16 h 27"/>
                <a:gd name="T4" fmla="*/ 0 w 27"/>
                <a:gd name="T5" fmla="*/ 15 h 27"/>
                <a:gd name="T6" fmla="*/ 3 w 27"/>
                <a:gd name="T7" fmla="*/ 12 h 27"/>
                <a:gd name="T8" fmla="*/ 5 w 27"/>
                <a:gd name="T9" fmla="*/ 9 h 27"/>
                <a:gd name="T10" fmla="*/ 6 w 27"/>
                <a:gd name="T11" fmla="*/ 9 h 27"/>
                <a:gd name="T12" fmla="*/ 6 w 27"/>
                <a:gd name="T13" fmla="*/ 12 h 27"/>
                <a:gd name="T14" fmla="*/ 11 w 27"/>
                <a:gd name="T15" fmla="*/ 16 h 27"/>
                <a:gd name="T16" fmla="*/ 15 w 27"/>
                <a:gd name="T17" fmla="*/ 10 h 27"/>
                <a:gd name="T18" fmla="*/ 10 w 27"/>
                <a:gd name="T19" fmla="*/ 6 h 27"/>
                <a:gd name="T20" fmla="*/ 7 w 27"/>
                <a:gd name="T21" fmla="*/ 7 h 27"/>
                <a:gd name="T22" fmla="*/ 7 w 27"/>
                <a:gd name="T23" fmla="*/ 6 h 27"/>
                <a:gd name="T24" fmla="*/ 10 w 27"/>
                <a:gd name="T25" fmla="*/ 3 h 27"/>
                <a:gd name="T26" fmla="*/ 12 w 27"/>
                <a:gd name="T27" fmla="*/ 0 h 27"/>
                <a:gd name="T28" fmla="*/ 13 w 27"/>
                <a:gd name="T29" fmla="*/ 0 h 27"/>
                <a:gd name="T30" fmla="*/ 13 w 27"/>
                <a:gd name="T31" fmla="*/ 3 h 27"/>
                <a:gd name="T32" fmla="*/ 24 w 27"/>
                <a:gd name="T33" fmla="*/ 12 h 27"/>
                <a:gd name="T34" fmla="*/ 27 w 27"/>
                <a:gd name="T35" fmla="*/ 11 h 27"/>
                <a:gd name="T36" fmla="*/ 27 w 27"/>
                <a:gd name="T37" fmla="*/ 12 h 27"/>
                <a:gd name="T38" fmla="*/ 25 w 27"/>
                <a:gd name="T39" fmla="*/ 15 h 27"/>
                <a:gd name="T40" fmla="*/ 22 w 27"/>
                <a:gd name="T41" fmla="*/ 18 h 27"/>
                <a:gd name="T42" fmla="*/ 22 w 27"/>
                <a:gd name="T43" fmla="*/ 18 h 27"/>
                <a:gd name="T44" fmla="*/ 22 w 27"/>
                <a:gd name="T45" fmla="*/ 15 h 27"/>
                <a:gd name="T46" fmla="*/ 16 w 27"/>
                <a:gd name="T47" fmla="*/ 11 h 27"/>
                <a:gd name="T48" fmla="*/ 11 w 27"/>
                <a:gd name="T49" fmla="*/ 16 h 27"/>
                <a:gd name="T50" fmla="*/ 17 w 27"/>
                <a:gd name="T51" fmla="*/ 21 h 27"/>
                <a:gd name="T52" fmla="*/ 20 w 27"/>
                <a:gd name="T53" fmla="*/ 20 h 27"/>
                <a:gd name="T54" fmla="*/ 20 w 27"/>
                <a:gd name="T55" fmla="*/ 21 h 27"/>
                <a:gd name="T56" fmla="*/ 17 w 27"/>
                <a:gd name="T57" fmla="*/ 24 h 27"/>
                <a:gd name="T58" fmla="*/ 15 w 27"/>
                <a:gd name="T59" fmla="*/ 27 h 27"/>
                <a:gd name="T60" fmla="*/ 14 w 27"/>
                <a:gd name="T61" fmla="*/ 27 h 27"/>
                <a:gd name="T62" fmla="*/ 14 w 27"/>
                <a:gd name="T63" fmla="*/ 24 h 27"/>
                <a:gd name="T64" fmla="*/ 3 w 27"/>
                <a:gd name="T6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27">
                  <a:moveTo>
                    <a:pt x="3" y="15"/>
                  </a:moveTo>
                  <a:cubicBezTo>
                    <a:pt x="1" y="14"/>
                    <a:pt x="1" y="16"/>
                    <a:pt x="0" y="16"/>
                  </a:cubicBezTo>
                  <a:cubicBezTo>
                    <a:pt x="0" y="16"/>
                    <a:pt x="0" y="15"/>
                    <a:pt x="0" y="15"/>
                  </a:cubicBezTo>
                  <a:cubicBezTo>
                    <a:pt x="1" y="14"/>
                    <a:pt x="2" y="13"/>
                    <a:pt x="3" y="12"/>
                  </a:cubicBezTo>
                  <a:cubicBezTo>
                    <a:pt x="3" y="11"/>
                    <a:pt x="4" y="10"/>
                    <a:pt x="5" y="9"/>
                  </a:cubicBezTo>
                  <a:cubicBezTo>
                    <a:pt x="5" y="9"/>
                    <a:pt x="5" y="9"/>
                    <a:pt x="6" y="9"/>
                  </a:cubicBezTo>
                  <a:cubicBezTo>
                    <a:pt x="6" y="9"/>
                    <a:pt x="4" y="10"/>
                    <a:pt x="6" y="12"/>
                  </a:cubicBezTo>
                  <a:cubicBezTo>
                    <a:pt x="11" y="16"/>
                    <a:pt x="11" y="16"/>
                    <a:pt x="11" y="16"/>
                  </a:cubicBezTo>
                  <a:cubicBezTo>
                    <a:pt x="15" y="10"/>
                    <a:pt x="15" y="10"/>
                    <a:pt x="15" y="10"/>
                  </a:cubicBezTo>
                  <a:cubicBezTo>
                    <a:pt x="10" y="6"/>
                    <a:pt x="10" y="6"/>
                    <a:pt x="10" y="6"/>
                  </a:cubicBezTo>
                  <a:cubicBezTo>
                    <a:pt x="8" y="5"/>
                    <a:pt x="8" y="7"/>
                    <a:pt x="7" y="7"/>
                  </a:cubicBezTo>
                  <a:cubicBezTo>
                    <a:pt x="7" y="7"/>
                    <a:pt x="7" y="6"/>
                    <a:pt x="7" y="6"/>
                  </a:cubicBezTo>
                  <a:cubicBezTo>
                    <a:pt x="8" y="5"/>
                    <a:pt x="9" y="4"/>
                    <a:pt x="10" y="3"/>
                  </a:cubicBezTo>
                  <a:cubicBezTo>
                    <a:pt x="10" y="2"/>
                    <a:pt x="11" y="1"/>
                    <a:pt x="12" y="0"/>
                  </a:cubicBezTo>
                  <a:cubicBezTo>
                    <a:pt x="12" y="0"/>
                    <a:pt x="13" y="0"/>
                    <a:pt x="13" y="0"/>
                  </a:cubicBezTo>
                  <a:cubicBezTo>
                    <a:pt x="13" y="0"/>
                    <a:pt x="11" y="1"/>
                    <a:pt x="13" y="3"/>
                  </a:cubicBezTo>
                  <a:cubicBezTo>
                    <a:pt x="24" y="12"/>
                    <a:pt x="24" y="12"/>
                    <a:pt x="24" y="12"/>
                  </a:cubicBezTo>
                  <a:cubicBezTo>
                    <a:pt x="26" y="13"/>
                    <a:pt x="27" y="11"/>
                    <a:pt x="27" y="11"/>
                  </a:cubicBezTo>
                  <a:cubicBezTo>
                    <a:pt x="27" y="11"/>
                    <a:pt x="27" y="12"/>
                    <a:pt x="27" y="12"/>
                  </a:cubicBezTo>
                  <a:cubicBezTo>
                    <a:pt x="26" y="13"/>
                    <a:pt x="25" y="14"/>
                    <a:pt x="25" y="15"/>
                  </a:cubicBezTo>
                  <a:cubicBezTo>
                    <a:pt x="24" y="16"/>
                    <a:pt x="23" y="17"/>
                    <a:pt x="22" y="18"/>
                  </a:cubicBezTo>
                  <a:cubicBezTo>
                    <a:pt x="22" y="18"/>
                    <a:pt x="22" y="18"/>
                    <a:pt x="22" y="18"/>
                  </a:cubicBezTo>
                  <a:cubicBezTo>
                    <a:pt x="21" y="18"/>
                    <a:pt x="23" y="17"/>
                    <a:pt x="22" y="15"/>
                  </a:cubicBezTo>
                  <a:cubicBezTo>
                    <a:pt x="16" y="11"/>
                    <a:pt x="16" y="11"/>
                    <a:pt x="16" y="11"/>
                  </a:cubicBezTo>
                  <a:cubicBezTo>
                    <a:pt x="11" y="16"/>
                    <a:pt x="11" y="16"/>
                    <a:pt x="11" y="16"/>
                  </a:cubicBezTo>
                  <a:cubicBezTo>
                    <a:pt x="17" y="21"/>
                    <a:pt x="17" y="21"/>
                    <a:pt x="17" y="21"/>
                  </a:cubicBezTo>
                  <a:cubicBezTo>
                    <a:pt x="19" y="22"/>
                    <a:pt x="19" y="20"/>
                    <a:pt x="20" y="20"/>
                  </a:cubicBezTo>
                  <a:cubicBezTo>
                    <a:pt x="20" y="20"/>
                    <a:pt x="20" y="21"/>
                    <a:pt x="20" y="21"/>
                  </a:cubicBezTo>
                  <a:cubicBezTo>
                    <a:pt x="19" y="22"/>
                    <a:pt x="18" y="23"/>
                    <a:pt x="17" y="24"/>
                  </a:cubicBezTo>
                  <a:cubicBezTo>
                    <a:pt x="17" y="25"/>
                    <a:pt x="16" y="26"/>
                    <a:pt x="15" y="27"/>
                  </a:cubicBezTo>
                  <a:cubicBezTo>
                    <a:pt x="15" y="27"/>
                    <a:pt x="15" y="27"/>
                    <a:pt x="14" y="27"/>
                  </a:cubicBezTo>
                  <a:cubicBezTo>
                    <a:pt x="14" y="27"/>
                    <a:pt x="16" y="26"/>
                    <a:pt x="14" y="24"/>
                  </a:cubicBezTo>
                  <a:lnTo>
                    <a:pt x="3"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3" name="Freeform 57"/>
            <p:cNvSpPr/>
            <p:nvPr/>
          </p:nvSpPr>
          <p:spPr bwMode="auto">
            <a:xfrm>
              <a:off x="4122738" y="4946650"/>
              <a:ext cx="134938" cy="136525"/>
            </a:xfrm>
            <a:custGeom>
              <a:avLst/>
              <a:gdLst>
                <a:gd name="T0" fmla="*/ 3 w 24"/>
                <a:gd name="T1" fmla="*/ 9 h 24"/>
                <a:gd name="T2" fmla="*/ 0 w 24"/>
                <a:gd name="T3" fmla="*/ 9 h 24"/>
                <a:gd name="T4" fmla="*/ 1 w 24"/>
                <a:gd name="T5" fmla="*/ 8 h 24"/>
                <a:gd name="T6" fmla="*/ 4 w 24"/>
                <a:gd name="T7" fmla="*/ 6 h 24"/>
                <a:gd name="T8" fmla="*/ 12 w 24"/>
                <a:gd name="T9" fmla="*/ 0 h 24"/>
                <a:gd name="T10" fmla="*/ 16 w 24"/>
                <a:gd name="T11" fmla="*/ 4 h 24"/>
                <a:gd name="T12" fmla="*/ 17 w 24"/>
                <a:gd name="T13" fmla="*/ 4 h 24"/>
                <a:gd name="T14" fmla="*/ 17 w 24"/>
                <a:gd name="T15" fmla="*/ 4 h 24"/>
                <a:gd name="T16" fmla="*/ 14 w 24"/>
                <a:gd name="T17" fmla="*/ 3 h 24"/>
                <a:gd name="T18" fmla="*/ 7 w 24"/>
                <a:gd name="T19" fmla="*/ 4 h 24"/>
                <a:gd name="T20" fmla="*/ 6 w 24"/>
                <a:gd name="T21" fmla="*/ 5 h 24"/>
                <a:gd name="T22" fmla="*/ 11 w 24"/>
                <a:gd name="T23" fmla="*/ 12 h 24"/>
                <a:gd name="T24" fmla="*/ 11 w 24"/>
                <a:gd name="T25" fmla="*/ 11 h 24"/>
                <a:gd name="T26" fmla="*/ 12 w 24"/>
                <a:gd name="T27" fmla="*/ 7 h 24"/>
                <a:gd name="T28" fmla="*/ 12 w 24"/>
                <a:gd name="T29" fmla="*/ 6 h 24"/>
                <a:gd name="T30" fmla="*/ 12 w 24"/>
                <a:gd name="T31" fmla="*/ 6 h 24"/>
                <a:gd name="T32" fmla="*/ 17 w 24"/>
                <a:gd name="T33" fmla="*/ 13 h 24"/>
                <a:gd name="T34" fmla="*/ 17 w 24"/>
                <a:gd name="T35" fmla="*/ 13 h 24"/>
                <a:gd name="T36" fmla="*/ 17 w 24"/>
                <a:gd name="T37" fmla="*/ 13 h 24"/>
                <a:gd name="T38" fmla="*/ 11 w 24"/>
                <a:gd name="T39" fmla="*/ 12 h 24"/>
                <a:gd name="T40" fmla="*/ 11 w 24"/>
                <a:gd name="T41" fmla="*/ 12 h 24"/>
                <a:gd name="T42" fmla="*/ 15 w 24"/>
                <a:gd name="T43" fmla="*/ 18 h 24"/>
                <a:gd name="T44" fmla="*/ 18 w 24"/>
                <a:gd name="T45" fmla="*/ 18 h 24"/>
                <a:gd name="T46" fmla="*/ 21 w 24"/>
                <a:gd name="T47" fmla="*/ 9 h 24"/>
                <a:gd name="T48" fmla="*/ 21 w 24"/>
                <a:gd name="T49" fmla="*/ 8 h 24"/>
                <a:gd name="T50" fmla="*/ 21 w 24"/>
                <a:gd name="T51" fmla="*/ 8 h 24"/>
                <a:gd name="T52" fmla="*/ 22 w 24"/>
                <a:gd name="T53" fmla="*/ 9 h 24"/>
                <a:gd name="T54" fmla="*/ 24 w 24"/>
                <a:gd name="T55" fmla="*/ 15 h 24"/>
                <a:gd name="T56" fmla="*/ 15 w 24"/>
                <a:gd name="T57" fmla="*/ 21 h 24"/>
                <a:gd name="T58" fmla="*/ 12 w 24"/>
                <a:gd name="T59" fmla="*/ 24 h 24"/>
                <a:gd name="T60" fmla="*/ 11 w 24"/>
                <a:gd name="T61" fmla="*/ 24 h 24"/>
                <a:gd name="T62" fmla="*/ 12 w 24"/>
                <a:gd name="T63" fmla="*/ 21 h 24"/>
                <a:gd name="T64" fmla="*/ 3 w 24"/>
                <a:gd name="T65"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3" y="9"/>
                  </a:moveTo>
                  <a:cubicBezTo>
                    <a:pt x="2" y="7"/>
                    <a:pt x="1" y="9"/>
                    <a:pt x="0" y="9"/>
                  </a:cubicBezTo>
                  <a:cubicBezTo>
                    <a:pt x="0" y="9"/>
                    <a:pt x="0" y="8"/>
                    <a:pt x="1" y="8"/>
                  </a:cubicBezTo>
                  <a:cubicBezTo>
                    <a:pt x="2" y="7"/>
                    <a:pt x="3" y="7"/>
                    <a:pt x="4" y="6"/>
                  </a:cubicBezTo>
                  <a:cubicBezTo>
                    <a:pt x="7" y="4"/>
                    <a:pt x="9" y="2"/>
                    <a:pt x="12" y="0"/>
                  </a:cubicBezTo>
                  <a:cubicBezTo>
                    <a:pt x="16" y="4"/>
                    <a:pt x="16" y="4"/>
                    <a:pt x="16" y="4"/>
                  </a:cubicBezTo>
                  <a:cubicBezTo>
                    <a:pt x="17" y="4"/>
                    <a:pt x="17" y="4"/>
                    <a:pt x="17" y="4"/>
                  </a:cubicBezTo>
                  <a:cubicBezTo>
                    <a:pt x="17" y="4"/>
                    <a:pt x="17" y="4"/>
                    <a:pt x="17" y="4"/>
                  </a:cubicBezTo>
                  <a:cubicBezTo>
                    <a:pt x="17" y="5"/>
                    <a:pt x="16" y="4"/>
                    <a:pt x="14" y="3"/>
                  </a:cubicBezTo>
                  <a:cubicBezTo>
                    <a:pt x="12" y="2"/>
                    <a:pt x="10" y="2"/>
                    <a:pt x="7" y="4"/>
                  </a:cubicBezTo>
                  <a:cubicBezTo>
                    <a:pt x="6" y="5"/>
                    <a:pt x="6" y="5"/>
                    <a:pt x="6" y="5"/>
                  </a:cubicBezTo>
                  <a:cubicBezTo>
                    <a:pt x="11" y="12"/>
                    <a:pt x="11" y="12"/>
                    <a:pt x="11" y="12"/>
                  </a:cubicBezTo>
                  <a:cubicBezTo>
                    <a:pt x="11" y="11"/>
                    <a:pt x="11" y="11"/>
                    <a:pt x="11" y="11"/>
                  </a:cubicBezTo>
                  <a:cubicBezTo>
                    <a:pt x="13" y="10"/>
                    <a:pt x="13" y="8"/>
                    <a:pt x="12" y="7"/>
                  </a:cubicBezTo>
                  <a:cubicBezTo>
                    <a:pt x="12" y="6"/>
                    <a:pt x="12" y="6"/>
                    <a:pt x="12" y="6"/>
                  </a:cubicBezTo>
                  <a:cubicBezTo>
                    <a:pt x="12" y="6"/>
                    <a:pt x="12" y="6"/>
                    <a:pt x="12" y="6"/>
                  </a:cubicBezTo>
                  <a:cubicBezTo>
                    <a:pt x="17" y="13"/>
                    <a:pt x="17" y="13"/>
                    <a:pt x="17" y="13"/>
                  </a:cubicBezTo>
                  <a:cubicBezTo>
                    <a:pt x="17" y="13"/>
                    <a:pt x="17" y="13"/>
                    <a:pt x="17" y="13"/>
                  </a:cubicBezTo>
                  <a:cubicBezTo>
                    <a:pt x="17" y="14"/>
                    <a:pt x="17" y="13"/>
                    <a:pt x="17" y="13"/>
                  </a:cubicBezTo>
                  <a:cubicBezTo>
                    <a:pt x="15" y="11"/>
                    <a:pt x="13" y="11"/>
                    <a:pt x="11" y="12"/>
                  </a:cubicBezTo>
                  <a:cubicBezTo>
                    <a:pt x="11" y="12"/>
                    <a:pt x="11" y="12"/>
                    <a:pt x="11" y="12"/>
                  </a:cubicBezTo>
                  <a:cubicBezTo>
                    <a:pt x="15" y="18"/>
                    <a:pt x="15" y="18"/>
                    <a:pt x="15" y="18"/>
                  </a:cubicBezTo>
                  <a:cubicBezTo>
                    <a:pt x="16" y="19"/>
                    <a:pt x="17" y="19"/>
                    <a:pt x="18" y="18"/>
                  </a:cubicBezTo>
                  <a:cubicBezTo>
                    <a:pt x="22" y="16"/>
                    <a:pt x="22" y="12"/>
                    <a:pt x="21" y="9"/>
                  </a:cubicBezTo>
                  <a:cubicBezTo>
                    <a:pt x="21" y="9"/>
                    <a:pt x="21" y="8"/>
                    <a:pt x="21" y="8"/>
                  </a:cubicBezTo>
                  <a:cubicBezTo>
                    <a:pt x="21" y="8"/>
                    <a:pt x="21" y="8"/>
                    <a:pt x="21" y="8"/>
                  </a:cubicBezTo>
                  <a:cubicBezTo>
                    <a:pt x="21" y="9"/>
                    <a:pt x="21" y="9"/>
                    <a:pt x="22" y="9"/>
                  </a:cubicBezTo>
                  <a:cubicBezTo>
                    <a:pt x="24" y="15"/>
                    <a:pt x="24" y="15"/>
                    <a:pt x="24" y="15"/>
                  </a:cubicBezTo>
                  <a:cubicBezTo>
                    <a:pt x="21" y="17"/>
                    <a:pt x="18" y="19"/>
                    <a:pt x="15" y="21"/>
                  </a:cubicBezTo>
                  <a:cubicBezTo>
                    <a:pt x="14" y="22"/>
                    <a:pt x="13" y="23"/>
                    <a:pt x="12" y="24"/>
                  </a:cubicBezTo>
                  <a:cubicBezTo>
                    <a:pt x="11" y="24"/>
                    <a:pt x="11" y="24"/>
                    <a:pt x="11" y="24"/>
                  </a:cubicBezTo>
                  <a:cubicBezTo>
                    <a:pt x="11" y="23"/>
                    <a:pt x="13" y="23"/>
                    <a:pt x="12" y="21"/>
                  </a:cubicBezTo>
                  <a:lnTo>
                    <a:pt x="3"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4" name="Freeform 58"/>
            <p:cNvSpPr/>
            <p:nvPr/>
          </p:nvSpPr>
          <p:spPr bwMode="auto">
            <a:xfrm>
              <a:off x="4240213" y="4879975"/>
              <a:ext cx="130175" cy="141288"/>
            </a:xfrm>
            <a:custGeom>
              <a:avLst/>
              <a:gdLst>
                <a:gd name="T0" fmla="*/ 8 w 23"/>
                <a:gd name="T1" fmla="*/ 19 h 25"/>
                <a:gd name="T2" fmla="*/ 11 w 23"/>
                <a:gd name="T3" fmla="*/ 22 h 25"/>
                <a:gd name="T4" fmla="*/ 13 w 23"/>
                <a:gd name="T5" fmla="*/ 22 h 25"/>
                <a:gd name="T6" fmla="*/ 13 w 23"/>
                <a:gd name="T7" fmla="*/ 22 h 25"/>
                <a:gd name="T8" fmla="*/ 10 w 23"/>
                <a:gd name="T9" fmla="*/ 23 h 25"/>
                <a:gd name="T10" fmla="*/ 7 w 23"/>
                <a:gd name="T11" fmla="*/ 25 h 25"/>
                <a:gd name="T12" fmla="*/ 6 w 23"/>
                <a:gd name="T13" fmla="*/ 24 h 25"/>
                <a:gd name="T14" fmla="*/ 7 w 23"/>
                <a:gd name="T15" fmla="*/ 23 h 25"/>
                <a:gd name="T16" fmla="*/ 8 w 23"/>
                <a:gd name="T17" fmla="*/ 19 h 25"/>
                <a:gd name="T18" fmla="*/ 3 w 23"/>
                <a:gd name="T19" fmla="*/ 8 h 25"/>
                <a:gd name="T20" fmla="*/ 0 w 23"/>
                <a:gd name="T21" fmla="*/ 7 h 25"/>
                <a:gd name="T22" fmla="*/ 0 w 23"/>
                <a:gd name="T23" fmla="*/ 7 h 25"/>
                <a:gd name="T24" fmla="*/ 0 w 23"/>
                <a:gd name="T25" fmla="*/ 7 h 25"/>
                <a:gd name="T26" fmla="*/ 3 w 23"/>
                <a:gd name="T27" fmla="*/ 6 h 25"/>
                <a:gd name="T28" fmla="*/ 6 w 23"/>
                <a:gd name="T29" fmla="*/ 5 h 25"/>
                <a:gd name="T30" fmla="*/ 20 w 23"/>
                <a:gd name="T31" fmla="*/ 13 h 25"/>
                <a:gd name="T32" fmla="*/ 20 w 23"/>
                <a:gd name="T33" fmla="*/ 13 h 25"/>
                <a:gd name="T34" fmla="*/ 17 w 23"/>
                <a:gd name="T35" fmla="*/ 5 h 25"/>
                <a:gd name="T36" fmla="*/ 14 w 23"/>
                <a:gd name="T37" fmla="*/ 2 h 25"/>
                <a:gd name="T38" fmla="*/ 12 w 23"/>
                <a:gd name="T39" fmla="*/ 2 h 25"/>
                <a:gd name="T40" fmla="*/ 12 w 23"/>
                <a:gd name="T41" fmla="*/ 2 h 25"/>
                <a:gd name="T42" fmla="*/ 15 w 23"/>
                <a:gd name="T43" fmla="*/ 1 h 25"/>
                <a:gd name="T44" fmla="*/ 18 w 23"/>
                <a:gd name="T45" fmla="*/ 0 h 25"/>
                <a:gd name="T46" fmla="*/ 19 w 23"/>
                <a:gd name="T47" fmla="*/ 0 h 25"/>
                <a:gd name="T48" fmla="*/ 18 w 23"/>
                <a:gd name="T49" fmla="*/ 1 h 25"/>
                <a:gd name="T50" fmla="*/ 17 w 23"/>
                <a:gd name="T51" fmla="*/ 5 h 25"/>
                <a:gd name="T52" fmla="*/ 22 w 23"/>
                <a:gd name="T53" fmla="*/ 18 h 25"/>
                <a:gd name="T54" fmla="*/ 23 w 23"/>
                <a:gd name="T55" fmla="*/ 19 h 25"/>
                <a:gd name="T56" fmla="*/ 22 w 23"/>
                <a:gd name="T57" fmla="*/ 19 h 25"/>
                <a:gd name="T58" fmla="*/ 4 w 23"/>
                <a:gd name="T59" fmla="*/ 9 h 25"/>
                <a:gd name="T60" fmla="*/ 4 w 23"/>
                <a:gd name="T61" fmla="*/ 9 h 25"/>
                <a:gd name="T62" fmla="*/ 8 w 23"/>
                <a:gd name="T63"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5">
                  <a:moveTo>
                    <a:pt x="8" y="19"/>
                  </a:moveTo>
                  <a:cubicBezTo>
                    <a:pt x="9" y="21"/>
                    <a:pt x="10" y="22"/>
                    <a:pt x="11" y="22"/>
                  </a:cubicBezTo>
                  <a:cubicBezTo>
                    <a:pt x="12" y="22"/>
                    <a:pt x="13" y="21"/>
                    <a:pt x="13" y="22"/>
                  </a:cubicBezTo>
                  <a:cubicBezTo>
                    <a:pt x="13" y="22"/>
                    <a:pt x="13" y="22"/>
                    <a:pt x="13" y="22"/>
                  </a:cubicBezTo>
                  <a:cubicBezTo>
                    <a:pt x="12" y="23"/>
                    <a:pt x="11" y="23"/>
                    <a:pt x="10" y="23"/>
                  </a:cubicBezTo>
                  <a:cubicBezTo>
                    <a:pt x="9" y="24"/>
                    <a:pt x="8" y="24"/>
                    <a:pt x="7" y="25"/>
                  </a:cubicBezTo>
                  <a:cubicBezTo>
                    <a:pt x="6" y="25"/>
                    <a:pt x="6" y="25"/>
                    <a:pt x="6" y="24"/>
                  </a:cubicBezTo>
                  <a:cubicBezTo>
                    <a:pt x="6" y="24"/>
                    <a:pt x="7" y="24"/>
                    <a:pt x="7" y="23"/>
                  </a:cubicBezTo>
                  <a:cubicBezTo>
                    <a:pt x="8" y="23"/>
                    <a:pt x="9" y="22"/>
                    <a:pt x="8" y="19"/>
                  </a:cubicBezTo>
                  <a:cubicBezTo>
                    <a:pt x="3" y="8"/>
                    <a:pt x="3" y="8"/>
                    <a:pt x="3" y="8"/>
                  </a:cubicBezTo>
                  <a:cubicBezTo>
                    <a:pt x="2" y="7"/>
                    <a:pt x="1" y="7"/>
                    <a:pt x="0" y="7"/>
                  </a:cubicBezTo>
                  <a:cubicBezTo>
                    <a:pt x="0" y="7"/>
                    <a:pt x="0" y="7"/>
                    <a:pt x="0" y="7"/>
                  </a:cubicBezTo>
                  <a:cubicBezTo>
                    <a:pt x="0" y="7"/>
                    <a:pt x="0" y="7"/>
                    <a:pt x="0" y="7"/>
                  </a:cubicBezTo>
                  <a:cubicBezTo>
                    <a:pt x="1" y="6"/>
                    <a:pt x="2" y="6"/>
                    <a:pt x="3" y="6"/>
                  </a:cubicBezTo>
                  <a:cubicBezTo>
                    <a:pt x="6" y="5"/>
                    <a:pt x="6" y="5"/>
                    <a:pt x="6" y="5"/>
                  </a:cubicBezTo>
                  <a:cubicBezTo>
                    <a:pt x="20" y="13"/>
                    <a:pt x="20" y="13"/>
                    <a:pt x="20" y="13"/>
                  </a:cubicBezTo>
                  <a:cubicBezTo>
                    <a:pt x="20" y="13"/>
                    <a:pt x="20" y="13"/>
                    <a:pt x="20" y="13"/>
                  </a:cubicBezTo>
                  <a:cubicBezTo>
                    <a:pt x="17" y="5"/>
                    <a:pt x="17" y="5"/>
                    <a:pt x="17" y="5"/>
                  </a:cubicBezTo>
                  <a:cubicBezTo>
                    <a:pt x="16" y="3"/>
                    <a:pt x="15" y="2"/>
                    <a:pt x="14" y="2"/>
                  </a:cubicBezTo>
                  <a:cubicBezTo>
                    <a:pt x="13" y="2"/>
                    <a:pt x="12" y="3"/>
                    <a:pt x="12" y="2"/>
                  </a:cubicBezTo>
                  <a:cubicBezTo>
                    <a:pt x="12" y="2"/>
                    <a:pt x="12" y="2"/>
                    <a:pt x="12" y="2"/>
                  </a:cubicBezTo>
                  <a:cubicBezTo>
                    <a:pt x="13" y="2"/>
                    <a:pt x="14" y="1"/>
                    <a:pt x="15" y="1"/>
                  </a:cubicBezTo>
                  <a:cubicBezTo>
                    <a:pt x="17" y="0"/>
                    <a:pt x="18" y="0"/>
                    <a:pt x="18" y="0"/>
                  </a:cubicBezTo>
                  <a:cubicBezTo>
                    <a:pt x="19" y="0"/>
                    <a:pt x="19" y="0"/>
                    <a:pt x="19" y="0"/>
                  </a:cubicBezTo>
                  <a:cubicBezTo>
                    <a:pt x="19" y="0"/>
                    <a:pt x="18" y="0"/>
                    <a:pt x="18" y="1"/>
                  </a:cubicBezTo>
                  <a:cubicBezTo>
                    <a:pt x="17" y="1"/>
                    <a:pt x="17" y="3"/>
                    <a:pt x="17" y="5"/>
                  </a:cubicBezTo>
                  <a:cubicBezTo>
                    <a:pt x="22" y="18"/>
                    <a:pt x="22" y="18"/>
                    <a:pt x="22" y="18"/>
                  </a:cubicBezTo>
                  <a:cubicBezTo>
                    <a:pt x="23" y="19"/>
                    <a:pt x="23" y="19"/>
                    <a:pt x="23" y="19"/>
                  </a:cubicBezTo>
                  <a:cubicBezTo>
                    <a:pt x="22" y="19"/>
                    <a:pt x="22" y="19"/>
                    <a:pt x="22" y="19"/>
                  </a:cubicBezTo>
                  <a:cubicBezTo>
                    <a:pt x="4" y="9"/>
                    <a:pt x="4" y="9"/>
                    <a:pt x="4" y="9"/>
                  </a:cubicBezTo>
                  <a:cubicBezTo>
                    <a:pt x="4" y="9"/>
                    <a:pt x="4" y="9"/>
                    <a:pt x="4" y="9"/>
                  </a:cubicBezTo>
                  <a:lnTo>
                    <a:pt x="8"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Oval 59"/>
            <p:cNvSpPr>
              <a:spLocks noChangeArrowheads="1"/>
            </p:cNvSpPr>
            <p:nvPr/>
          </p:nvSpPr>
          <p:spPr bwMode="auto">
            <a:xfrm>
              <a:off x="4195763"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6" name="Oval 60"/>
            <p:cNvSpPr>
              <a:spLocks noChangeArrowheads="1"/>
            </p:cNvSpPr>
            <p:nvPr/>
          </p:nvSpPr>
          <p:spPr bwMode="auto">
            <a:xfrm>
              <a:off x="4756150"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Freeform 61"/>
            <p:cNvSpPr>
              <a:spLocks noEditPoints="1"/>
            </p:cNvSpPr>
            <p:nvPr/>
          </p:nvSpPr>
          <p:spPr bwMode="auto">
            <a:xfrm>
              <a:off x="3854450" y="4787900"/>
              <a:ext cx="1271588" cy="1289050"/>
            </a:xfrm>
            <a:custGeom>
              <a:avLst/>
              <a:gdLst>
                <a:gd name="T0" fmla="*/ 114 w 227"/>
                <a:gd name="T1" fmla="*/ 227 h 227"/>
                <a:gd name="T2" fmla="*/ 70 w 227"/>
                <a:gd name="T3" fmla="*/ 218 h 227"/>
                <a:gd name="T4" fmla="*/ 34 w 227"/>
                <a:gd name="T5" fmla="*/ 194 h 227"/>
                <a:gd name="T6" fmla="*/ 9 w 227"/>
                <a:gd name="T7" fmla="*/ 158 h 227"/>
                <a:gd name="T8" fmla="*/ 0 w 227"/>
                <a:gd name="T9" fmla="*/ 114 h 227"/>
                <a:gd name="T10" fmla="*/ 9 w 227"/>
                <a:gd name="T11" fmla="*/ 69 h 227"/>
                <a:gd name="T12" fmla="*/ 34 w 227"/>
                <a:gd name="T13" fmla="*/ 33 h 227"/>
                <a:gd name="T14" fmla="*/ 70 w 227"/>
                <a:gd name="T15" fmla="*/ 9 h 227"/>
                <a:gd name="T16" fmla="*/ 114 w 227"/>
                <a:gd name="T17" fmla="*/ 0 h 227"/>
                <a:gd name="T18" fmla="*/ 158 w 227"/>
                <a:gd name="T19" fmla="*/ 9 h 227"/>
                <a:gd name="T20" fmla="*/ 194 w 227"/>
                <a:gd name="T21" fmla="*/ 33 h 227"/>
                <a:gd name="T22" fmla="*/ 218 w 227"/>
                <a:gd name="T23" fmla="*/ 69 h 227"/>
                <a:gd name="T24" fmla="*/ 227 w 227"/>
                <a:gd name="T25" fmla="*/ 114 h 227"/>
                <a:gd name="T26" fmla="*/ 218 w 227"/>
                <a:gd name="T27" fmla="*/ 158 h 227"/>
                <a:gd name="T28" fmla="*/ 194 w 227"/>
                <a:gd name="T29" fmla="*/ 194 h 227"/>
                <a:gd name="T30" fmla="*/ 158 w 227"/>
                <a:gd name="T31" fmla="*/ 218 h 227"/>
                <a:gd name="T32" fmla="*/ 114 w 227"/>
                <a:gd name="T33" fmla="*/ 227 h 227"/>
                <a:gd name="T34" fmla="*/ 114 w 227"/>
                <a:gd name="T35" fmla="*/ 5 h 227"/>
                <a:gd name="T36" fmla="*/ 6 w 227"/>
                <a:gd name="T37" fmla="*/ 114 h 227"/>
                <a:gd name="T38" fmla="*/ 114 w 227"/>
                <a:gd name="T39" fmla="*/ 222 h 227"/>
                <a:gd name="T40" fmla="*/ 222 w 227"/>
                <a:gd name="T41" fmla="*/ 114 h 227"/>
                <a:gd name="T42" fmla="*/ 114 w 227"/>
                <a:gd name="T43" fmla="*/ 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227">
                  <a:moveTo>
                    <a:pt x="114" y="227"/>
                  </a:moveTo>
                  <a:cubicBezTo>
                    <a:pt x="98" y="227"/>
                    <a:pt x="84" y="224"/>
                    <a:pt x="70" y="218"/>
                  </a:cubicBezTo>
                  <a:cubicBezTo>
                    <a:pt x="56" y="212"/>
                    <a:pt x="44" y="204"/>
                    <a:pt x="34" y="194"/>
                  </a:cubicBezTo>
                  <a:cubicBezTo>
                    <a:pt x="23" y="183"/>
                    <a:pt x="15" y="171"/>
                    <a:pt x="9" y="158"/>
                  </a:cubicBezTo>
                  <a:cubicBezTo>
                    <a:pt x="3" y="144"/>
                    <a:pt x="0" y="129"/>
                    <a:pt x="0" y="114"/>
                  </a:cubicBezTo>
                  <a:cubicBezTo>
                    <a:pt x="0" y="98"/>
                    <a:pt x="3" y="83"/>
                    <a:pt x="9" y="69"/>
                  </a:cubicBezTo>
                  <a:cubicBezTo>
                    <a:pt x="15" y="56"/>
                    <a:pt x="23" y="44"/>
                    <a:pt x="34" y="33"/>
                  </a:cubicBezTo>
                  <a:cubicBezTo>
                    <a:pt x="44" y="23"/>
                    <a:pt x="56" y="15"/>
                    <a:pt x="70" y="9"/>
                  </a:cubicBezTo>
                  <a:cubicBezTo>
                    <a:pt x="84" y="3"/>
                    <a:pt x="98" y="0"/>
                    <a:pt x="114" y="0"/>
                  </a:cubicBezTo>
                  <a:cubicBezTo>
                    <a:pt x="129" y="0"/>
                    <a:pt x="144" y="3"/>
                    <a:pt x="158" y="9"/>
                  </a:cubicBezTo>
                  <a:cubicBezTo>
                    <a:pt x="171" y="15"/>
                    <a:pt x="184" y="23"/>
                    <a:pt x="194" y="33"/>
                  </a:cubicBezTo>
                  <a:cubicBezTo>
                    <a:pt x="204" y="44"/>
                    <a:pt x="213" y="56"/>
                    <a:pt x="218" y="69"/>
                  </a:cubicBezTo>
                  <a:cubicBezTo>
                    <a:pt x="224" y="83"/>
                    <a:pt x="227" y="98"/>
                    <a:pt x="227" y="114"/>
                  </a:cubicBezTo>
                  <a:cubicBezTo>
                    <a:pt x="227" y="129"/>
                    <a:pt x="224" y="144"/>
                    <a:pt x="218" y="158"/>
                  </a:cubicBezTo>
                  <a:cubicBezTo>
                    <a:pt x="213" y="171"/>
                    <a:pt x="204" y="183"/>
                    <a:pt x="194" y="194"/>
                  </a:cubicBezTo>
                  <a:cubicBezTo>
                    <a:pt x="184" y="204"/>
                    <a:pt x="171" y="212"/>
                    <a:pt x="158" y="218"/>
                  </a:cubicBezTo>
                  <a:cubicBezTo>
                    <a:pt x="144" y="224"/>
                    <a:pt x="129" y="227"/>
                    <a:pt x="114" y="227"/>
                  </a:cubicBezTo>
                  <a:close/>
                  <a:moveTo>
                    <a:pt x="114" y="5"/>
                  </a:moveTo>
                  <a:cubicBezTo>
                    <a:pt x="54" y="5"/>
                    <a:pt x="6" y="54"/>
                    <a:pt x="6" y="114"/>
                  </a:cubicBezTo>
                  <a:cubicBezTo>
                    <a:pt x="6" y="173"/>
                    <a:pt x="54" y="222"/>
                    <a:pt x="114" y="222"/>
                  </a:cubicBezTo>
                  <a:cubicBezTo>
                    <a:pt x="173" y="222"/>
                    <a:pt x="222" y="173"/>
                    <a:pt x="222" y="114"/>
                  </a:cubicBezTo>
                  <a:cubicBezTo>
                    <a:pt x="222" y="54"/>
                    <a:pt x="173" y="5"/>
                    <a:pt x="114"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8" name="Freeform 62"/>
            <p:cNvSpPr/>
            <p:nvPr/>
          </p:nvSpPr>
          <p:spPr bwMode="auto">
            <a:xfrm>
              <a:off x="4279900" y="5867400"/>
              <a:ext cx="73025" cy="119063"/>
            </a:xfrm>
            <a:custGeom>
              <a:avLst/>
              <a:gdLst>
                <a:gd name="T0" fmla="*/ 8 w 13"/>
                <a:gd name="T1" fmla="*/ 17 h 21"/>
                <a:gd name="T2" fmla="*/ 10 w 13"/>
                <a:gd name="T3" fmla="*/ 20 h 21"/>
                <a:gd name="T4" fmla="*/ 11 w 13"/>
                <a:gd name="T5" fmla="*/ 21 h 21"/>
                <a:gd name="T6" fmla="*/ 11 w 13"/>
                <a:gd name="T7" fmla="*/ 21 h 21"/>
                <a:gd name="T8" fmla="*/ 5 w 13"/>
                <a:gd name="T9" fmla="*/ 19 h 21"/>
                <a:gd name="T10" fmla="*/ 0 w 13"/>
                <a:gd name="T11" fmla="*/ 17 h 21"/>
                <a:gd name="T12" fmla="*/ 0 w 13"/>
                <a:gd name="T13" fmla="*/ 17 h 21"/>
                <a:gd name="T14" fmla="*/ 2 w 13"/>
                <a:gd name="T15" fmla="*/ 17 h 21"/>
                <a:gd name="T16" fmla="*/ 4 w 13"/>
                <a:gd name="T17" fmla="*/ 16 h 21"/>
                <a:gd name="T18" fmla="*/ 9 w 13"/>
                <a:gd name="T19" fmla="*/ 3 h 21"/>
                <a:gd name="T20" fmla="*/ 8 w 13"/>
                <a:gd name="T21" fmla="*/ 2 h 21"/>
                <a:gd name="T22" fmla="*/ 4 w 13"/>
                <a:gd name="T23" fmla="*/ 1 h 21"/>
                <a:gd name="T24" fmla="*/ 4 w 13"/>
                <a:gd name="T25" fmla="*/ 1 h 21"/>
                <a:gd name="T26" fmla="*/ 7 w 13"/>
                <a:gd name="T27" fmla="*/ 1 h 21"/>
                <a:gd name="T28" fmla="*/ 13 w 13"/>
                <a:gd name="T29" fmla="*/ 1 h 21"/>
                <a:gd name="T30" fmla="*/ 13 w 13"/>
                <a:gd name="T31" fmla="*/ 2 h 21"/>
                <a:gd name="T32" fmla="*/ 8 w 13"/>
                <a:gd name="T3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21">
                  <a:moveTo>
                    <a:pt x="8" y="17"/>
                  </a:moveTo>
                  <a:cubicBezTo>
                    <a:pt x="8" y="18"/>
                    <a:pt x="8" y="19"/>
                    <a:pt x="10" y="20"/>
                  </a:cubicBezTo>
                  <a:cubicBezTo>
                    <a:pt x="11" y="20"/>
                    <a:pt x="11" y="20"/>
                    <a:pt x="11" y="21"/>
                  </a:cubicBezTo>
                  <a:cubicBezTo>
                    <a:pt x="11" y="21"/>
                    <a:pt x="11" y="21"/>
                    <a:pt x="11" y="21"/>
                  </a:cubicBezTo>
                  <a:cubicBezTo>
                    <a:pt x="9" y="20"/>
                    <a:pt x="7" y="20"/>
                    <a:pt x="5" y="19"/>
                  </a:cubicBezTo>
                  <a:cubicBezTo>
                    <a:pt x="4" y="18"/>
                    <a:pt x="2" y="18"/>
                    <a:pt x="0" y="17"/>
                  </a:cubicBezTo>
                  <a:cubicBezTo>
                    <a:pt x="0" y="17"/>
                    <a:pt x="0" y="17"/>
                    <a:pt x="0" y="17"/>
                  </a:cubicBezTo>
                  <a:cubicBezTo>
                    <a:pt x="0" y="16"/>
                    <a:pt x="0" y="16"/>
                    <a:pt x="2" y="17"/>
                  </a:cubicBezTo>
                  <a:cubicBezTo>
                    <a:pt x="3" y="17"/>
                    <a:pt x="4" y="17"/>
                    <a:pt x="4" y="16"/>
                  </a:cubicBezTo>
                  <a:cubicBezTo>
                    <a:pt x="9" y="3"/>
                    <a:pt x="9" y="3"/>
                    <a:pt x="9" y="3"/>
                  </a:cubicBezTo>
                  <a:cubicBezTo>
                    <a:pt x="9" y="3"/>
                    <a:pt x="9" y="3"/>
                    <a:pt x="8" y="2"/>
                  </a:cubicBezTo>
                  <a:cubicBezTo>
                    <a:pt x="4" y="1"/>
                    <a:pt x="4" y="1"/>
                    <a:pt x="4" y="1"/>
                  </a:cubicBezTo>
                  <a:cubicBezTo>
                    <a:pt x="4" y="1"/>
                    <a:pt x="4" y="1"/>
                    <a:pt x="4" y="1"/>
                  </a:cubicBezTo>
                  <a:cubicBezTo>
                    <a:pt x="4" y="0"/>
                    <a:pt x="5" y="1"/>
                    <a:pt x="7" y="1"/>
                  </a:cubicBezTo>
                  <a:cubicBezTo>
                    <a:pt x="11" y="2"/>
                    <a:pt x="13" y="1"/>
                    <a:pt x="13" y="1"/>
                  </a:cubicBezTo>
                  <a:cubicBezTo>
                    <a:pt x="13" y="1"/>
                    <a:pt x="13" y="1"/>
                    <a:pt x="13" y="2"/>
                  </a:cubicBezTo>
                  <a:lnTo>
                    <a:pt x="8" y="1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9" name="Freeform 63"/>
            <p:cNvSpPr>
              <a:spLocks noEditPoints="1"/>
            </p:cNvSpPr>
            <p:nvPr/>
          </p:nvSpPr>
          <p:spPr bwMode="auto">
            <a:xfrm>
              <a:off x="4392613" y="5889625"/>
              <a:ext cx="84138" cy="107950"/>
            </a:xfrm>
            <a:custGeom>
              <a:avLst/>
              <a:gdLst>
                <a:gd name="T0" fmla="*/ 8 w 15"/>
                <a:gd name="T1" fmla="*/ 0 h 19"/>
                <a:gd name="T2" fmla="*/ 14 w 15"/>
                <a:gd name="T3" fmla="*/ 9 h 19"/>
                <a:gd name="T4" fmla="*/ 2 w 15"/>
                <a:gd name="T5" fmla="*/ 19 h 19"/>
                <a:gd name="T6" fmla="*/ 2 w 15"/>
                <a:gd name="T7" fmla="*/ 19 h 19"/>
                <a:gd name="T8" fmla="*/ 10 w 15"/>
                <a:gd name="T9" fmla="*/ 11 h 19"/>
                <a:gd name="T10" fmla="*/ 6 w 15"/>
                <a:gd name="T11" fmla="*/ 12 h 19"/>
                <a:gd name="T12" fmla="*/ 0 w 15"/>
                <a:gd name="T13" fmla="*/ 5 h 19"/>
                <a:gd name="T14" fmla="*/ 8 w 15"/>
                <a:gd name="T15" fmla="*/ 0 h 19"/>
                <a:gd name="T16" fmla="*/ 7 w 15"/>
                <a:gd name="T17" fmla="*/ 11 h 19"/>
                <a:gd name="T18" fmla="*/ 10 w 15"/>
                <a:gd name="T19" fmla="*/ 10 h 19"/>
                <a:gd name="T20" fmla="*/ 11 w 15"/>
                <a:gd name="T21" fmla="*/ 7 h 19"/>
                <a:gd name="T22" fmla="*/ 8 w 15"/>
                <a:gd name="T23" fmla="*/ 1 h 19"/>
                <a:gd name="T24" fmla="*/ 4 w 15"/>
                <a:gd name="T25" fmla="*/ 6 h 19"/>
                <a:gd name="T26" fmla="*/ 7 w 15"/>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9">
                  <a:moveTo>
                    <a:pt x="8" y="0"/>
                  </a:moveTo>
                  <a:cubicBezTo>
                    <a:pt x="12" y="1"/>
                    <a:pt x="15" y="4"/>
                    <a:pt x="14" y="9"/>
                  </a:cubicBezTo>
                  <a:cubicBezTo>
                    <a:pt x="13" y="17"/>
                    <a:pt x="3" y="19"/>
                    <a:pt x="2" y="19"/>
                  </a:cubicBezTo>
                  <a:cubicBezTo>
                    <a:pt x="2" y="19"/>
                    <a:pt x="1" y="19"/>
                    <a:pt x="2" y="19"/>
                  </a:cubicBezTo>
                  <a:cubicBezTo>
                    <a:pt x="2" y="18"/>
                    <a:pt x="7" y="18"/>
                    <a:pt x="10" y="11"/>
                  </a:cubicBezTo>
                  <a:cubicBezTo>
                    <a:pt x="9" y="11"/>
                    <a:pt x="7" y="12"/>
                    <a:pt x="6" y="12"/>
                  </a:cubicBezTo>
                  <a:cubicBezTo>
                    <a:pt x="1" y="11"/>
                    <a:pt x="0" y="8"/>
                    <a:pt x="0" y="5"/>
                  </a:cubicBezTo>
                  <a:cubicBezTo>
                    <a:pt x="0" y="2"/>
                    <a:pt x="3" y="0"/>
                    <a:pt x="8" y="0"/>
                  </a:cubicBezTo>
                  <a:close/>
                  <a:moveTo>
                    <a:pt x="7" y="11"/>
                  </a:moveTo>
                  <a:cubicBezTo>
                    <a:pt x="8" y="11"/>
                    <a:pt x="10" y="10"/>
                    <a:pt x="10" y="10"/>
                  </a:cubicBezTo>
                  <a:cubicBezTo>
                    <a:pt x="10" y="10"/>
                    <a:pt x="10" y="9"/>
                    <a:pt x="11" y="7"/>
                  </a:cubicBezTo>
                  <a:cubicBezTo>
                    <a:pt x="11" y="2"/>
                    <a:pt x="10" y="1"/>
                    <a:pt x="8" y="1"/>
                  </a:cubicBezTo>
                  <a:cubicBezTo>
                    <a:pt x="6" y="0"/>
                    <a:pt x="4" y="1"/>
                    <a:pt x="4" y="6"/>
                  </a:cubicBezTo>
                  <a:cubicBezTo>
                    <a:pt x="3" y="9"/>
                    <a:pt x="5" y="11"/>
                    <a:pt x="7" y="1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0" name="Freeform 64"/>
            <p:cNvSpPr>
              <a:spLocks noEditPoints="1"/>
            </p:cNvSpPr>
            <p:nvPr/>
          </p:nvSpPr>
          <p:spPr bwMode="auto">
            <a:xfrm>
              <a:off x="4503738" y="5889625"/>
              <a:ext cx="79375" cy="112713"/>
            </a:xfrm>
            <a:custGeom>
              <a:avLst/>
              <a:gdLst>
                <a:gd name="T0" fmla="*/ 3 w 14"/>
                <a:gd name="T1" fmla="*/ 10 h 20"/>
                <a:gd name="T2" fmla="*/ 0 w 14"/>
                <a:gd name="T3" fmla="*/ 6 h 20"/>
                <a:gd name="T4" fmla="*/ 6 w 14"/>
                <a:gd name="T5" fmla="*/ 0 h 20"/>
                <a:gd name="T6" fmla="*/ 12 w 14"/>
                <a:gd name="T7" fmla="*/ 4 h 20"/>
                <a:gd name="T8" fmla="*/ 10 w 14"/>
                <a:gd name="T9" fmla="*/ 8 h 20"/>
                <a:gd name="T10" fmla="*/ 14 w 14"/>
                <a:gd name="T11" fmla="*/ 13 h 20"/>
                <a:gd name="T12" fmla="*/ 7 w 14"/>
                <a:gd name="T13" fmla="*/ 20 h 20"/>
                <a:gd name="T14" fmla="*/ 0 w 14"/>
                <a:gd name="T15" fmla="*/ 15 h 20"/>
                <a:gd name="T16" fmla="*/ 3 w 14"/>
                <a:gd name="T17" fmla="*/ 10 h 20"/>
                <a:gd name="T18" fmla="*/ 7 w 14"/>
                <a:gd name="T19" fmla="*/ 19 h 20"/>
                <a:gd name="T20" fmla="*/ 11 w 14"/>
                <a:gd name="T21" fmla="*/ 15 h 20"/>
                <a:gd name="T22" fmla="*/ 7 w 14"/>
                <a:gd name="T23" fmla="*/ 12 h 20"/>
                <a:gd name="T24" fmla="*/ 3 w 14"/>
                <a:gd name="T25" fmla="*/ 11 h 20"/>
                <a:gd name="T26" fmla="*/ 2 w 14"/>
                <a:gd name="T27" fmla="*/ 15 h 20"/>
                <a:gd name="T28" fmla="*/ 7 w 14"/>
                <a:gd name="T29" fmla="*/ 19 h 20"/>
                <a:gd name="T30" fmla="*/ 6 w 14"/>
                <a:gd name="T31" fmla="*/ 1 h 20"/>
                <a:gd name="T32" fmla="*/ 3 w 14"/>
                <a:gd name="T33" fmla="*/ 4 h 20"/>
                <a:gd name="T34" fmla="*/ 10 w 14"/>
                <a:gd name="T35" fmla="*/ 8 h 20"/>
                <a:gd name="T36" fmla="*/ 11 w 14"/>
                <a:gd name="T37" fmla="*/ 5 h 20"/>
                <a:gd name="T38" fmla="*/ 6 w 14"/>
                <a:gd name="T39"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20">
                  <a:moveTo>
                    <a:pt x="3" y="10"/>
                  </a:moveTo>
                  <a:cubicBezTo>
                    <a:pt x="1" y="9"/>
                    <a:pt x="0" y="8"/>
                    <a:pt x="0" y="6"/>
                  </a:cubicBezTo>
                  <a:cubicBezTo>
                    <a:pt x="0" y="3"/>
                    <a:pt x="2" y="1"/>
                    <a:pt x="6" y="0"/>
                  </a:cubicBezTo>
                  <a:cubicBezTo>
                    <a:pt x="9" y="0"/>
                    <a:pt x="12" y="2"/>
                    <a:pt x="12" y="4"/>
                  </a:cubicBezTo>
                  <a:cubicBezTo>
                    <a:pt x="12" y="6"/>
                    <a:pt x="12" y="7"/>
                    <a:pt x="10" y="8"/>
                  </a:cubicBezTo>
                  <a:cubicBezTo>
                    <a:pt x="13" y="9"/>
                    <a:pt x="14" y="11"/>
                    <a:pt x="14" y="13"/>
                  </a:cubicBezTo>
                  <a:cubicBezTo>
                    <a:pt x="14" y="17"/>
                    <a:pt x="11" y="19"/>
                    <a:pt x="7" y="20"/>
                  </a:cubicBezTo>
                  <a:cubicBezTo>
                    <a:pt x="3" y="20"/>
                    <a:pt x="0" y="18"/>
                    <a:pt x="0" y="15"/>
                  </a:cubicBezTo>
                  <a:cubicBezTo>
                    <a:pt x="0" y="14"/>
                    <a:pt x="1" y="12"/>
                    <a:pt x="3" y="10"/>
                  </a:cubicBezTo>
                  <a:close/>
                  <a:moveTo>
                    <a:pt x="7" y="19"/>
                  </a:moveTo>
                  <a:cubicBezTo>
                    <a:pt x="10" y="19"/>
                    <a:pt x="11" y="17"/>
                    <a:pt x="11" y="15"/>
                  </a:cubicBezTo>
                  <a:cubicBezTo>
                    <a:pt x="11" y="14"/>
                    <a:pt x="10" y="12"/>
                    <a:pt x="7" y="12"/>
                  </a:cubicBezTo>
                  <a:cubicBezTo>
                    <a:pt x="4" y="11"/>
                    <a:pt x="4" y="10"/>
                    <a:pt x="3" y="11"/>
                  </a:cubicBezTo>
                  <a:cubicBezTo>
                    <a:pt x="3" y="11"/>
                    <a:pt x="1" y="12"/>
                    <a:pt x="2" y="15"/>
                  </a:cubicBezTo>
                  <a:cubicBezTo>
                    <a:pt x="2" y="18"/>
                    <a:pt x="4" y="20"/>
                    <a:pt x="7" y="19"/>
                  </a:cubicBezTo>
                  <a:close/>
                  <a:moveTo>
                    <a:pt x="6" y="1"/>
                  </a:moveTo>
                  <a:cubicBezTo>
                    <a:pt x="4" y="1"/>
                    <a:pt x="3" y="2"/>
                    <a:pt x="3" y="4"/>
                  </a:cubicBezTo>
                  <a:cubicBezTo>
                    <a:pt x="4" y="7"/>
                    <a:pt x="8" y="8"/>
                    <a:pt x="10" y="8"/>
                  </a:cubicBezTo>
                  <a:cubicBezTo>
                    <a:pt x="11" y="8"/>
                    <a:pt x="11" y="7"/>
                    <a:pt x="11" y="5"/>
                  </a:cubicBezTo>
                  <a:cubicBezTo>
                    <a:pt x="11" y="2"/>
                    <a:pt x="9" y="1"/>
                    <a:pt x="6"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Freeform 65"/>
            <p:cNvSpPr/>
            <p:nvPr/>
          </p:nvSpPr>
          <p:spPr bwMode="auto">
            <a:xfrm>
              <a:off x="4605338" y="5867400"/>
              <a:ext cx="88900" cy="119063"/>
            </a:xfrm>
            <a:custGeom>
              <a:avLst/>
              <a:gdLst>
                <a:gd name="T0" fmla="*/ 11 w 16"/>
                <a:gd name="T1" fmla="*/ 7 h 21"/>
                <a:gd name="T2" fmla="*/ 15 w 16"/>
                <a:gd name="T3" fmla="*/ 11 h 21"/>
                <a:gd name="T4" fmla="*/ 10 w 16"/>
                <a:gd name="T5" fmla="*/ 20 h 21"/>
                <a:gd name="T6" fmla="*/ 2 w 16"/>
                <a:gd name="T7" fmla="*/ 18 h 21"/>
                <a:gd name="T8" fmla="*/ 4 w 16"/>
                <a:gd name="T9" fmla="*/ 16 h 21"/>
                <a:gd name="T10" fmla="*/ 6 w 16"/>
                <a:gd name="T11" fmla="*/ 18 h 21"/>
                <a:gd name="T12" fmla="*/ 10 w 16"/>
                <a:gd name="T13" fmla="*/ 19 h 21"/>
                <a:gd name="T14" fmla="*/ 12 w 16"/>
                <a:gd name="T15" fmla="*/ 14 h 21"/>
                <a:gd name="T16" fmla="*/ 8 w 16"/>
                <a:gd name="T17" fmla="*/ 10 h 21"/>
                <a:gd name="T18" fmla="*/ 5 w 16"/>
                <a:gd name="T19" fmla="*/ 11 h 21"/>
                <a:gd name="T20" fmla="*/ 8 w 16"/>
                <a:gd name="T21" fmla="*/ 9 h 21"/>
                <a:gd name="T22" fmla="*/ 8 w 16"/>
                <a:gd name="T23" fmla="*/ 6 h 21"/>
                <a:gd name="T24" fmla="*/ 3 w 16"/>
                <a:gd name="T25" fmla="*/ 4 h 21"/>
                <a:gd name="T26" fmla="*/ 0 w 16"/>
                <a:gd name="T27" fmla="*/ 7 h 21"/>
                <a:gd name="T28" fmla="*/ 0 w 16"/>
                <a:gd name="T29" fmla="*/ 7 h 21"/>
                <a:gd name="T30" fmla="*/ 5 w 16"/>
                <a:gd name="T31" fmla="*/ 1 h 21"/>
                <a:gd name="T32" fmla="*/ 11 w 16"/>
                <a:gd name="T33" fmla="*/ 4 h 21"/>
                <a:gd name="T34" fmla="*/ 11 w 16"/>
                <a:gd name="T3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1">
                  <a:moveTo>
                    <a:pt x="11" y="7"/>
                  </a:moveTo>
                  <a:cubicBezTo>
                    <a:pt x="13" y="8"/>
                    <a:pt x="14" y="9"/>
                    <a:pt x="15" y="11"/>
                  </a:cubicBezTo>
                  <a:cubicBezTo>
                    <a:pt x="16" y="15"/>
                    <a:pt x="14" y="19"/>
                    <a:pt x="10" y="20"/>
                  </a:cubicBezTo>
                  <a:cubicBezTo>
                    <a:pt x="6" y="21"/>
                    <a:pt x="3" y="20"/>
                    <a:pt x="2" y="18"/>
                  </a:cubicBezTo>
                  <a:cubicBezTo>
                    <a:pt x="2" y="17"/>
                    <a:pt x="2" y="16"/>
                    <a:pt x="4" y="16"/>
                  </a:cubicBezTo>
                  <a:cubicBezTo>
                    <a:pt x="5" y="15"/>
                    <a:pt x="6" y="16"/>
                    <a:pt x="6" y="18"/>
                  </a:cubicBezTo>
                  <a:cubicBezTo>
                    <a:pt x="7" y="19"/>
                    <a:pt x="8" y="20"/>
                    <a:pt x="10" y="19"/>
                  </a:cubicBezTo>
                  <a:cubicBezTo>
                    <a:pt x="12" y="19"/>
                    <a:pt x="13" y="17"/>
                    <a:pt x="12" y="14"/>
                  </a:cubicBezTo>
                  <a:cubicBezTo>
                    <a:pt x="11" y="12"/>
                    <a:pt x="9" y="10"/>
                    <a:pt x="8" y="10"/>
                  </a:cubicBezTo>
                  <a:cubicBezTo>
                    <a:pt x="7" y="10"/>
                    <a:pt x="5" y="11"/>
                    <a:pt x="5" y="11"/>
                  </a:cubicBezTo>
                  <a:cubicBezTo>
                    <a:pt x="5" y="10"/>
                    <a:pt x="6" y="10"/>
                    <a:pt x="8" y="9"/>
                  </a:cubicBezTo>
                  <a:cubicBezTo>
                    <a:pt x="8" y="8"/>
                    <a:pt x="8" y="7"/>
                    <a:pt x="8" y="6"/>
                  </a:cubicBezTo>
                  <a:cubicBezTo>
                    <a:pt x="7" y="4"/>
                    <a:pt x="6" y="3"/>
                    <a:pt x="3" y="4"/>
                  </a:cubicBezTo>
                  <a:cubicBezTo>
                    <a:pt x="1" y="4"/>
                    <a:pt x="1" y="7"/>
                    <a:pt x="0" y="7"/>
                  </a:cubicBezTo>
                  <a:cubicBezTo>
                    <a:pt x="0" y="7"/>
                    <a:pt x="0" y="7"/>
                    <a:pt x="0" y="7"/>
                  </a:cubicBezTo>
                  <a:cubicBezTo>
                    <a:pt x="0" y="6"/>
                    <a:pt x="1" y="2"/>
                    <a:pt x="5" y="1"/>
                  </a:cubicBezTo>
                  <a:cubicBezTo>
                    <a:pt x="7" y="0"/>
                    <a:pt x="10" y="1"/>
                    <a:pt x="11" y="4"/>
                  </a:cubicBezTo>
                  <a:cubicBezTo>
                    <a:pt x="12" y="5"/>
                    <a:pt x="11" y="6"/>
                    <a:pt x="11" y="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Freeform 66"/>
            <p:cNvSpPr/>
            <p:nvPr/>
          </p:nvSpPr>
          <p:spPr bwMode="auto">
            <a:xfrm>
              <a:off x="4375150" y="5480050"/>
              <a:ext cx="22225" cy="6350"/>
            </a:xfrm>
            <a:custGeom>
              <a:avLst/>
              <a:gdLst>
                <a:gd name="T0" fmla="*/ 1 w 4"/>
                <a:gd name="T1" fmla="*/ 1 h 1"/>
                <a:gd name="T2" fmla="*/ 2 w 4"/>
                <a:gd name="T3" fmla="*/ 1 h 1"/>
                <a:gd name="T4" fmla="*/ 4 w 4"/>
                <a:gd name="T5" fmla="*/ 1 h 1"/>
                <a:gd name="T6" fmla="*/ 4 w 4"/>
                <a:gd name="T7" fmla="*/ 1 h 1"/>
                <a:gd name="T8" fmla="*/ 2 w 4"/>
                <a:gd name="T9" fmla="*/ 0 h 1"/>
                <a:gd name="T10" fmla="*/ 0 w 4"/>
                <a:gd name="T11" fmla="*/ 1 h 1"/>
                <a:gd name="T12" fmla="*/ 1 w 4"/>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4" h="1">
                  <a:moveTo>
                    <a:pt x="1" y="1"/>
                  </a:moveTo>
                  <a:cubicBezTo>
                    <a:pt x="2" y="1"/>
                    <a:pt x="2" y="1"/>
                    <a:pt x="2" y="1"/>
                  </a:cubicBezTo>
                  <a:cubicBezTo>
                    <a:pt x="3" y="1"/>
                    <a:pt x="3" y="1"/>
                    <a:pt x="4" y="1"/>
                  </a:cubicBezTo>
                  <a:cubicBezTo>
                    <a:pt x="4" y="1"/>
                    <a:pt x="4" y="1"/>
                    <a:pt x="4" y="1"/>
                  </a:cubicBezTo>
                  <a:cubicBezTo>
                    <a:pt x="4" y="0"/>
                    <a:pt x="3" y="0"/>
                    <a:pt x="2" y="0"/>
                  </a:cubicBezTo>
                  <a:cubicBezTo>
                    <a:pt x="2" y="0"/>
                    <a:pt x="0" y="0"/>
                    <a:pt x="0" y="1"/>
                  </a:cubicBezTo>
                  <a:cubicBezTo>
                    <a:pt x="0" y="1"/>
                    <a:pt x="1" y="1"/>
                    <a:pt x="1"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3" name="Freeform 67"/>
            <p:cNvSpPr/>
            <p:nvPr/>
          </p:nvSpPr>
          <p:spPr bwMode="auto">
            <a:xfrm>
              <a:off x="4346575" y="5554663"/>
              <a:ext cx="73025" cy="17463"/>
            </a:xfrm>
            <a:custGeom>
              <a:avLst/>
              <a:gdLst>
                <a:gd name="T0" fmla="*/ 13 w 13"/>
                <a:gd name="T1" fmla="*/ 2 h 3"/>
                <a:gd name="T2" fmla="*/ 9 w 13"/>
                <a:gd name="T3" fmla="*/ 1 h 3"/>
                <a:gd name="T4" fmla="*/ 1 w 13"/>
                <a:gd name="T5" fmla="*/ 1 h 3"/>
                <a:gd name="T6" fmla="*/ 0 w 13"/>
                <a:gd name="T7" fmla="*/ 2 h 3"/>
                <a:gd name="T8" fmla="*/ 6 w 13"/>
                <a:gd name="T9" fmla="*/ 3 h 3"/>
                <a:gd name="T10" fmla="*/ 8 w 13"/>
                <a:gd name="T11" fmla="*/ 3 h 3"/>
                <a:gd name="T12" fmla="*/ 13 w 1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13" h="3">
                  <a:moveTo>
                    <a:pt x="13" y="2"/>
                  </a:moveTo>
                  <a:cubicBezTo>
                    <a:pt x="13" y="0"/>
                    <a:pt x="13" y="1"/>
                    <a:pt x="9" y="1"/>
                  </a:cubicBezTo>
                  <a:cubicBezTo>
                    <a:pt x="8" y="1"/>
                    <a:pt x="2" y="1"/>
                    <a:pt x="1" y="1"/>
                  </a:cubicBezTo>
                  <a:cubicBezTo>
                    <a:pt x="0" y="1"/>
                    <a:pt x="0" y="2"/>
                    <a:pt x="0" y="2"/>
                  </a:cubicBezTo>
                  <a:cubicBezTo>
                    <a:pt x="0" y="3"/>
                    <a:pt x="0" y="3"/>
                    <a:pt x="6" y="3"/>
                  </a:cubicBezTo>
                  <a:cubicBezTo>
                    <a:pt x="8" y="3"/>
                    <a:pt x="8" y="3"/>
                    <a:pt x="8" y="3"/>
                  </a:cubicBezTo>
                  <a:cubicBezTo>
                    <a:pt x="12" y="3"/>
                    <a:pt x="12" y="3"/>
                    <a:pt x="13"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Freeform 68"/>
            <p:cNvSpPr>
              <a:spLocks noEditPoints="1"/>
            </p:cNvSpPr>
            <p:nvPr/>
          </p:nvSpPr>
          <p:spPr bwMode="auto">
            <a:xfrm>
              <a:off x="4106863" y="5043488"/>
              <a:ext cx="766763" cy="777875"/>
            </a:xfrm>
            <a:custGeom>
              <a:avLst/>
              <a:gdLst>
                <a:gd name="T0" fmla="*/ 137 w 137"/>
                <a:gd name="T1" fmla="*/ 42 h 137"/>
                <a:gd name="T2" fmla="*/ 91 w 137"/>
                <a:gd name="T3" fmla="*/ 1 h 137"/>
                <a:gd name="T4" fmla="*/ 50 w 137"/>
                <a:gd name="T5" fmla="*/ 4 h 137"/>
                <a:gd name="T6" fmla="*/ 42 w 137"/>
                <a:gd name="T7" fmla="*/ 0 h 137"/>
                <a:gd name="T8" fmla="*/ 20 w 137"/>
                <a:gd name="T9" fmla="*/ 43 h 137"/>
                <a:gd name="T10" fmla="*/ 2 w 137"/>
                <a:gd name="T11" fmla="*/ 64 h 137"/>
                <a:gd name="T12" fmla="*/ 20 w 137"/>
                <a:gd name="T13" fmla="*/ 67 h 137"/>
                <a:gd name="T14" fmla="*/ 2 w 137"/>
                <a:gd name="T15" fmla="*/ 88 h 137"/>
                <a:gd name="T16" fmla="*/ 21 w 137"/>
                <a:gd name="T17" fmla="*/ 87 h 137"/>
                <a:gd name="T18" fmla="*/ 47 w 137"/>
                <a:gd name="T19" fmla="*/ 121 h 137"/>
                <a:gd name="T20" fmla="*/ 42 w 137"/>
                <a:gd name="T21" fmla="*/ 137 h 137"/>
                <a:gd name="T22" fmla="*/ 63 w 137"/>
                <a:gd name="T23" fmla="*/ 121 h 137"/>
                <a:gd name="T24" fmla="*/ 74 w 137"/>
                <a:gd name="T25" fmla="*/ 119 h 137"/>
                <a:gd name="T26" fmla="*/ 84 w 137"/>
                <a:gd name="T27" fmla="*/ 119 h 137"/>
                <a:gd name="T28" fmla="*/ 118 w 137"/>
                <a:gd name="T29" fmla="*/ 94 h 137"/>
                <a:gd name="T30" fmla="*/ 136 w 137"/>
                <a:gd name="T31" fmla="*/ 98 h 137"/>
                <a:gd name="T32" fmla="*/ 116 w 137"/>
                <a:gd name="T33" fmla="*/ 66 h 137"/>
                <a:gd name="T34" fmla="*/ 137 w 137"/>
                <a:gd name="T35" fmla="*/ 88 h 137"/>
                <a:gd name="T36" fmla="*/ 116 w 137"/>
                <a:gd name="T37" fmla="*/ 41 h 137"/>
                <a:gd name="T38" fmla="*/ 103 w 137"/>
                <a:gd name="T39" fmla="*/ 44 h 137"/>
                <a:gd name="T40" fmla="*/ 80 w 137"/>
                <a:gd name="T41" fmla="*/ 35 h 137"/>
                <a:gd name="T42" fmla="*/ 80 w 137"/>
                <a:gd name="T43" fmla="*/ 35 h 137"/>
                <a:gd name="T44" fmla="*/ 79 w 137"/>
                <a:gd name="T45" fmla="*/ 52 h 137"/>
                <a:gd name="T46" fmla="*/ 77 w 137"/>
                <a:gd name="T47" fmla="*/ 53 h 137"/>
                <a:gd name="T48" fmla="*/ 73 w 137"/>
                <a:gd name="T49" fmla="*/ 34 h 137"/>
                <a:gd name="T50" fmla="*/ 73 w 137"/>
                <a:gd name="T51" fmla="*/ 59 h 137"/>
                <a:gd name="T52" fmla="*/ 53 w 137"/>
                <a:gd name="T53" fmla="*/ 104 h 137"/>
                <a:gd name="T54" fmla="*/ 39 w 137"/>
                <a:gd name="T55" fmla="*/ 100 h 137"/>
                <a:gd name="T56" fmla="*/ 39 w 137"/>
                <a:gd name="T57" fmla="*/ 92 h 137"/>
                <a:gd name="T58" fmla="*/ 61 w 137"/>
                <a:gd name="T59" fmla="*/ 98 h 137"/>
                <a:gd name="T60" fmla="*/ 32 w 137"/>
                <a:gd name="T61" fmla="*/ 94 h 137"/>
                <a:gd name="T62" fmla="*/ 40 w 137"/>
                <a:gd name="T63" fmla="*/ 77 h 137"/>
                <a:gd name="T64" fmla="*/ 34 w 137"/>
                <a:gd name="T65" fmla="*/ 83 h 137"/>
                <a:gd name="T66" fmla="*/ 45 w 137"/>
                <a:gd name="T67" fmla="*/ 73 h 137"/>
                <a:gd name="T68" fmla="*/ 53 w 137"/>
                <a:gd name="T69" fmla="*/ 75 h 137"/>
                <a:gd name="T70" fmla="*/ 54 w 137"/>
                <a:gd name="T71" fmla="*/ 83 h 137"/>
                <a:gd name="T72" fmla="*/ 44 w 137"/>
                <a:gd name="T73" fmla="*/ 78 h 137"/>
                <a:gd name="T74" fmla="*/ 60 w 137"/>
                <a:gd name="T75" fmla="*/ 81 h 137"/>
                <a:gd name="T76" fmla="*/ 58 w 137"/>
                <a:gd name="T77" fmla="*/ 74 h 137"/>
                <a:gd name="T78" fmla="*/ 50 w 137"/>
                <a:gd name="T79" fmla="*/ 56 h 137"/>
                <a:gd name="T80" fmla="*/ 37 w 137"/>
                <a:gd name="T81" fmla="*/ 45 h 137"/>
                <a:gd name="T82" fmla="*/ 49 w 137"/>
                <a:gd name="T83" fmla="*/ 32 h 137"/>
                <a:gd name="T84" fmla="*/ 61 w 137"/>
                <a:gd name="T85" fmla="*/ 42 h 137"/>
                <a:gd name="T86" fmla="*/ 52 w 137"/>
                <a:gd name="T87" fmla="*/ 21 h 137"/>
                <a:gd name="T88" fmla="*/ 79 w 137"/>
                <a:gd name="T89" fmla="*/ 97 h 137"/>
                <a:gd name="T90" fmla="*/ 75 w 137"/>
                <a:gd name="T91" fmla="*/ 97 h 137"/>
                <a:gd name="T92" fmla="*/ 75 w 137"/>
                <a:gd name="T93" fmla="*/ 88 h 137"/>
                <a:gd name="T94" fmla="*/ 84 w 137"/>
                <a:gd name="T95" fmla="*/ 78 h 137"/>
                <a:gd name="T96" fmla="*/ 85 w 137"/>
                <a:gd name="T97" fmla="*/ 98 h 137"/>
                <a:gd name="T98" fmla="*/ 91 w 137"/>
                <a:gd name="T99" fmla="*/ 73 h 137"/>
                <a:gd name="T100" fmla="*/ 98 w 137"/>
                <a:gd name="T101" fmla="*/ 107 h 137"/>
                <a:gd name="T102" fmla="*/ 97 w 137"/>
                <a:gd name="T103" fmla="*/ 72 h 137"/>
                <a:gd name="T104" fmla="*/ 104 w 137"/>
                <a:gd name="T105" fmla="*/ 102 h 137"/>
                <a:gd name="T106" fmla="*/ 102 w 137"/>
                <a:gd name="T107" fmla="*/ 72 h 137"/>
                <a:gd name="T108" fmla="*/ 96 w 137"/>
                <a:gd name="T109" fmla="*/ 66 h 137"/>
                <a:gd name="T110" fmla="*/ 83 w 137"/>
                <a:gd name="T111" fmla="*/ 68 h 137"/>
                <a:gd name="T112" fmla="*/ 86 w 137"/>
                <a:gd name="T113" fmla="*/ 47 h 137"/>
                <a:gd name="T114" fmla="*/ 105 w 137"/>
                <a:gd name="T115" fmla="*/ 47 h 137"/>
                <a:gd name="T116" fmla="*/ 106 w 137"/>
                <a:gd name="T117" fmla="*/ 6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 h="137">
                  <a:moveTo>
                    <a:pt x="116" y="39"/>
                  </a:moveTo>
                  <a:cubicBezTo>
                    <a:pt x="116" y="40"/>
                    <a:pt x="117" y="42"/>
                    <a:pt x="118" y="43"/>
                  </a:cubicBezTo>
                  <a:cubicBezTo>
                    <a:pt x="118" y="43"/>
                    <a:pt x="118" y="43"/>
                    <a:pt x="118" y="43"/>
                  </a:cubicBezTo>
                  <a:cubicBezTo>
                    <a:pt x="136" y="61"/>
                    <a:pt x="136" y="61"/>
                    <a:pt x="136" y="61"/>
                  </a:cubicBezTo>
                  <a:cubicBezTo>
                    <a:pt x="136" y="61"/>
                    <a:pt x="136" y="61"/>
                    <a:pt x="136" y="61"/>
                  </a:cubicBezTo>
                  <a:cubicBezTo>
                    <a:pt x="137" y="61"/>
                    <a:pt x="137" y="63"/>
                    <a:pt x="137" y="64"/>
                  </a:cubicBezTo>
                  <a:cubicBezTo>
                    <a:pt x="137" y="42"/>
                    <a:pt x="137" y="42"/>
                    <a:pt x="137" y="42"/>
                  </a:cubicBezTo>
                  <a:cubicBezTo>
                    <a:pt x="137" y="41"/>
                    <a:pt x="137" y="39"/>
                    <a:pt x="136" y="39"/>
                  </a:cubicBezTo>
                  <a:cubicBezTo>
                    <a:pt x="99" y="1"/>
                    <a:pt x="99" y="1"/>
                    <a:pt x="99" y="1"/>
                  </a:cubicBezTo>
                  <a:cubicBezTo>
                    <a:pt x="98" y="0"/>
                    <a:pt x="96" y="0"/>
                    <a:pt x="95" y="0"/>
                  </a:cubicBezTo>
                  <a:cubicBezTo>
                    <a:pt x="93" y="0"/>
                    <a:pt x="93" y="0"/>
                    <a:pt x="93" y="0"/>
                  </a:cubicBezTo>
                  <a:cubicBezTo>
                    <a:pt x="93" y="0"/>
                    <a:pt x="93" y="0"/>
                    <a:pt x="93" y="0"/>
                  </a:cubicBezTo>
                  <a:cubicBezTo>
                    <a:pt x="93" y="0"/>
                    <a:pt x="93" y="0"/>
                    <a:pt x="93" y="0"/>
                  </a:cubicBezTo>
                  <a:cubicBezTo>
                    <a:pt x="92" y="0"/>
                    <a:pt x="91" y="0"/>
                    <a:pt x="91" y="1"/>
                  </a:cubicBezTo>
                  <a:cubicBezTo>
                    <a:pt x="91" y="19"/>
                    <a:pt x="91" y="19"/>
                    <a:pt x="91" y="19"/>
                  </a:cubicBezTo>
                  <a:cubicBezTo>
                    <a:pt x="91" y="20"/>
                    <a:pt x="90" y="21"/>
                    <a:pt x="89" y="21"/>
                  </a:cubicBezTo>
                  <a:cubicBezTo>
                    <a:pt x="87" y="21"/>
                    <a:pt x="87" y="21"/>
                    <a:pt x="87" y="21"/>
                  </a:cubicBezTo>
                  <a:cubicBezTo>
                    <a:pt x="87" y="4"/>
                    <a:pt x="87" y="4"/>
                    <a:pt x="87" y="4"/>
                  </a:cubicBezTo>
                  <a:cubicBezTo>
                    <a:pt x="87" y="2"/>
                    <a:pt x="85" y="0"/>
                    <a:pt x="83" y="0"/>
                  </a:cubicBezTo>
                  <a:cubicBezTo>
                    <a:pt x="54" y="0"/>
                    <a:pt x="54" y="0"/>
                    <a:pt x="54" y="0"/>
                  </a:cubicBezTo>
                  <a:cubicBezTo>
                    <a:pt x="52" y="0"/>
                    <a:pt x="50" y="2"/>
                    <a:pt x="50" y="4"/>
                  </a:cubicBezTo>
                  <a:cubicBezTo>
                    <a:pt x="50" y="21"/>
                    <a:pt x="50" y="21"/>
                    <a:pt x="50" y="21"/>
                  </a:cubicBezTo>
                  <a:cubicBezTo>
                    <a:pt x="48" y="21"/>
                    <a:pt x="48" y="21"/>
                    <a:pt x="48" y="21"/>
                  </a:cubicBezTo>
                  <a:cubicBezTo>
                    <a:pt x="47" y="21"/>
                    <a:pt x="46" y="20"/>
                    <a:pt x="46" y="19"/>
                  </a:cubicBezTo>
                  <a:cubicBezTo>
                    <a:pt x="46" y="1"/>
                    <a:pt x="46" y="1"/>
                    <a:pt x="46" y="1"/>
                  </a:cubicBezTo>
                  <a:cubicBezTo>
                    <a:pt x="46" y="0"/>
                    <a:pt x="46" y="0"/>
                    <a:pt x="45" y="0"/>
                  </a:cubicBezTo>
                  <a:cubicBezTo>
                    <a:pt x="45" y="0"/>
                    <a:pt x="45" y="0"/>
                    <a:pt x="45" y="0"/>
                  </a:cubicBezTo>
                  <a:cubicBezTo>
                    <a:pt x="42" y="0"/>
                    <a:pt x="42" y="0"/>
                    <a:pt x="42" y="0"/>
                  </a:cubicBezTo>
                  <a:cubicBezTo>
                    <a:pt x="41" y="0"/>
                    <a:pt x="40" y="0"/>
                    <a:pt x="39" y="1"/>
                  </a:cubicBezTo>
                  <a:cubicBezTo>
                    <a:pt x="2" y="39"/>
                    <a:pt x="2" y="39"/>
                    <a:pt x="2" y="39"/>
                  </a:cubicBezTo>
                  <a:cubicBezTo>
                    <a:pt x="1" y="39"/>
                    <a:pt x="0" y="41"/>
                    <a:pt x="0" y="42"/>
                  </a:cubicBezTo>
                  <a:cubicBezTo>
                    <a:pt x="0" y="64"/>
                    <a:pt x="0" y="64"/>
                    <a:pt x="0" y="64"/>
                  </a:cubicBezTo>
                  <a:cubicBezTo>
                    <a:pt x="0" y="63"/>
                    <a:pt x="1" y="61"/>
                    <a:pt x="2" y="61"/>
                  </a:cubicBezTo>
                  <a:cubicBezTo>
                    <a:pt x="2" y="61"/>
                    <a:pt x="2" y="61"/>
                    <a:pt x="2" y="61"/>
                  </a:cubicBezTo>
                  <a:cubicBezTo>
                    <a:pt x="20" y="43"/>
                    <a:pt x="20" y="43"/>
                    <a:pt x="20" y="43"/>
                  </a:cubicBezTo>
                  <a:cubicBezTo>
                    <a:pt x="20" y="43"/>
                    <a:pt x="20" y="43"/>
                    <a:pt x="20" y="43"/>
                  </a:cubicBezTo>
                  <a:cubicBezTo>
                    <a:pt x="21" y="42"/>
                    <a:pt x="21" y="40"/>
                    <a:pt x="21" y="39"/>
                  </a:cubicBezTo>
                  <a:cubicBezTo>
                    <a:pt x="21" y="41"/>
                    <a:pt x="21" y="41"/>
                    <a:pt x="21" y="41"/>
                  </a:cubicBezTo>
                  <a:cubicBezTo>
                    <a:pt x="21" y="43"/>
                    <a:pt x="21" y="43"/>
                    <a:pt x="21" y="43"/>
                  </a:cubicBezTo>
                  <a:cubicBezTo>
                    <a:pt x="21" y="44"/>
                    <a:pt x="21" y="45"/>
                    <a:pt x="20" y="46"/>
                  </a:cubicBezTo>
                  <a:cubicBezTo>
                    <a:pt x="20" y="46"/>
                    <a:pt x="20" y="46"/>
                    <a:pt x="20" y="46"/>
                  </a:cubicBezTo>
                  <a:cubicBezTo>
                    <a:pt x="2" y="64"/>
                    <a:pt x="2" y="64"/>
                    <a:pt x="2" y="64"/>
                  </a:cubicBezTo>
                  <a:cubicBezTo>
                    <a:pt x="2" y="64"/>
                    <a:pt x="2" y="64"/>
                    <a:pt x="2" y="64"/>
                  </a:cubicBezTo>
                  <a:cubicBezTo>
                    <a:pt x="1" y="65"/>
                    <a:pt x="0" y="66"/>
                    <a:pt x="0" y="68"/>
                  </a:cubicBezTo>
                  <a:cubicBezTo>
                    <a:pt x="0" y="88"/>
                    <a:pt x="0" y="88"/>
                    <a:pt x="0" y="88"/>
                  </a:cubicBezTo>
                  <a:cubicBezTo>
                    <a:pt x="0" y="87"/>
                    <a:pt x="1" y="85"/>
                    <a:pt x="2" y="84"/>
                  </a:cubicBezTo>
                  <a:cubicBezTo>
                    <a:pt x="2" y="84"/>
                    <a:pt x="2" y="84"/>
                    <a:pt x="2" y="84"/>
                  </a:cubicBezTo>
                  <a:cubicBezTo>
                    <a:pt x="20" y="67"/>
                    <a:pt x="20" y="67"/>
                    <a:pt x="20" y="67"/>
                  </a:cubicBezTo>
                  <a:cubicBezTo>
                    <a:pt x="20" y="67"/>
                    <a:pt x="20" y="67"/>
                    <a:pt x="20" y="67"/>
                  </a:cubicBezTo>
                  <a:cubicBezTo>
                    <a:pt x="21" y="66"/>
                    <a:pt x="21" y="64"/>
                    <a:pt x="21" y="63"/>
                  </a:cubicBezTo>
                  <a:cubicBezTo>
                    <a:pt x="21" y="65"/>
                    <a:pt x="21" y="65"/>
                    <a:pt x="21" y="65"/>
                  </a:cubicBezTo>
                  <a:cubicBezTo>
                    <a:pt x="21" y="66"/>
                    <a:pt x="21" y="66"/>
                    <a:pt x="21" y="66"/>
                  </a:cubicBezTo>
                  <a:cubicBezTo>
                    <a:pt x="21" y="68"/>
                    <a:pt x="21" y="69"/>
                    <a:pt x="20" y="70"/>
                  </a:cubicBezTo>
                  <a:cubicBezTo>
                    <a:pt x="20" y="70"/>
                    <a:pt x="20" y="70"/>
                    <a:pt x="20" y="70"/>
                  </a:cubicBezTo>
                  <a:cubicBezTo>
                    <a:pt x="2" y="88"/>
                    <a:pt x="2" y="88"/>
                    <a:pt x="2" y="88"/>
                  </a:cubicBezTo>
                  <a:cubicBezTo>
                    <a:pt x="2" y="88"/>
                    <a:pt x="2" y="88"/>
                    <a:pt x="2" y="88"/>
                  </a:cubicBezTo>
                  <a:cubicBezTo>
                    <a:pt x="1" y="89"/>
                    <a:pt x="0" y="90"/>
                    <a:pt x="0" y="92"/>
                  </a:cubicBezTo>
                  <a:cubicBezTo>
                    <a:pt x="0" y="95"/>
                    <a:pt x="0" y="95"/>
                    <a:pt x="0" y="95"/>
                  </a:cubicBezTo>
                  <a:cubicBezTo>
                    <a:pt x="0" y="96"/>
                    <a:pt x="1" y="97"/>
                    <a:pt x="2" y="98"/>
                  </a:cubicBezTo>
                  <a:cubicBezTo>
                    <a:pt x="7" y="103"/>
                    <a:pt x="7" y="103"/>
                    <a:pt x="7" y="103"/>
                  </a:cubicBezTo>
                  <a:cubicBezTo>
                    <a:pt x="20" y="91"/>
                    <a:pt x="20" y="91"/>
                    <a:pt x="20" y="91"/>
                  </a:cubicBezTo>
                  <a:cubicBezTo>
                    <a:pt x="20" y="91"/>
                    <a:pt x="20" y="91"/>
                    <a:pt x="20" y="91"/>
                  </a:cubicBezTo>
                  <a:cubicBezTo>
                    <a:pt x="21" y="90"/>
                    <a:pt x="21" y="88"/>
                    <a:pt x="21" y="87"/>
                  </a:cubicBezTo>
                  <a:cubicBezTo>
                    <a:pt x="21" y="89"/>
                    <a:pt x="21" y="89"/>
                    <a:pt x="21" y="89"/>
                  </a:cubicBezTo>
                  <a:cubicBezTo>
                    <a:pt x="21" y="90"/>
                    <a:pt x="21" y="90"/>
                    <a:pt x="21" y="90"/>
                  </a:cubicBezTo>
                  <a:cubicBezTo>
                    <a:pt x="21" y="92"/>
                    <a:pt x="21" y="93"/>
                    <a:pt x="20" y="94"/>
                  </a:cubicBezTo>
                  <a:cubicBezTo>
                    <a:pt x="20" y="94"/>
                    <a:pt x="20" y="94"/>
                    <a:pt x="20" y="94"/>
                  </a:cubicBezTo>
                  <a:cubicBezTo>
                    <a:pt x="9" y="105"/>
                    <a:pt x="9" y="105"/>
                    <a:pt x="9" y="105"/>
                  </a:cubicBezTo>
                  <a:cubicBezTo>
                    <a:pt x="39" y="135"/>
                    <a:pt x="39" y="135"/>
                    <a:pt x="39" y="135"/>
                  </a:cubicBezTo>
                  <a:cubicBezTo>
                    <a:pt x="47" y="121"/>
                    <a:pt x="47" y="121"/>
                    <a:pt x="47" y="121"/>
                  </a:cubicBezTo>
                  <a:cubicBezTo>
                    <a:pt x="48" y="119"/>
                    <a:pt x="49" y="119"/>
                    <a:pt x="51" y="119"/>
                  </a:cubicBezTo>
                  <a:cubicBezTo>
                    <a:pt x="52" y="119"/>
                    <a:pt x="52" y="119"/>
                    <a:pt x="52" y="119"/>
                  </a:cubicBezTo>
                  <a:cubicBezTo>
                    <a:pt x="54" y="119"/>
                    <a:pt x="54" y="119"/>
                    <a:pt x="54" y="119"/>
                  </a:cubicBezTo>
                  <a:cubicBezTo>
                    <a:pt x="52" y="119"/>
                    <a:pt x="51" y="119"/>
                    <a:pt x="50" y="121"/>
                  </a:cubicBezTo>
                  <a:cubicBezTo>
                    <a:pt x="50" y="121"/>
                    <a:pt x="50" y="121"/>
                    <a:pt x="50" y="121"/>
                  </a:cubicBezTo>
                  <a:cubicBezTo>
                    <a:pt x="41" y="137"/>
                    <a:pt x="41" y="137"/>
                    <a:pt x="41" y="137"/>
                  </a:cubicBezTo>
                  <a:cubicBezTo>
                    <a:pt x="42" y="137"/>
                    <a:pt x="42" y="137"/>
                    <a:pt x="42" y="137"/>
                  </a:cubicBezTo>
                  <a:cubicBezTo>
                    <a:pt x="58" y="137"/>
                    <a:pt x="58" y="137"/>
                    <a:pt x="58" y="137"/>
                  </a:cubicBezTo>
                  <a:cubicBezTo>
                    <a:pt x="61" y="121"/>
                    <a:pt x="61" y="121"/>
                    <a:pt x="61" y="121"/>
                  </a:cubicBezTo>
                  <a:cubicBezTo>
                    <a:pt x="61" y="119"/>
                    <a:pt x="62" y="119"/>
                    <a:pt x="63" y="119"/>
                  </a:cubicBezTo>
                  <a:cubicBezTo>
                    <a:pt x="63" y="119"/>
                    <a:pt x="63" y="119"/>
                    <a:pt x="63" y="119"/>
                  </a:cubicBezTo>
                  <a:cubicBezTo>
                    <a:pt x="64" y="119"/>
                    <a:pt x="64" y="119"/>
                    <a:pt x="64" y="119"/>
                  </a:cubicBezTo>
                  <a:cubicBezTo>
                    <a:pt x="66" y="119"/>
                    <a:pt x="66" y="119"/>
                    <a:pt x="66" y="119"/>
                  </a:cubicBezTo>
                  <a:cubicBezTo>
                    <a:pt x="65" y="119"/>
                    <a:pt x="64" y="119"/>
                    <a:pt x="63" y="121"/>
                  </a:cubicBezTo>
                  <a:cubicBezTo>
                    <a:pt x="60" y="137"/>
                    <a:pt x="60" y="137"/>
                    <a:pt x="60" y="137"/>
                  </a:cubicBezTo>
                  <a:cubicBezTo>
                    <a:pt x="77" y="137"/>
                    <a:pt x="77" y="137"/>
                    <a:pt x="77" y="137"/>
                  </a:cubicBezTo>
                  <a:cubicBezTo>
                    <a:pt x="74" y="121"/>
                    <a:pt x="74" y="121"/>
                    <a:pt x="74" y="121"/>
                  </a:cubicBezTo>
                  <a:cubicBezTo>
                    <a:pt x="74" y="119"/>
                    <a:pt x="73" y="119"/>
                    <a:pt x="72" y="119"/>
                  </a:cubicBezTo>
                  <a:cubicBezTo>
                    <a:pt x="74" y="119"/>
                    <a:pt x="74" y="119"/>
                    <a:pt x="74" y="119"/>
                  </a:cubicBezTo>
                  <a:cubicBezTo>
                    <a:pt x="74" y="119"/>
                    <a:pt x="74" y="119"/>
                    <a:pt x="74" y="119"/>
                  </a:cubicBezTo>
                  <a:cubicBezTo>
                    <a:pt x="74" y="119"/>
                    <a:pt x="74" y="119"/>
                    <a:pt x="74" y="119"/>
                  </a:cubicBezTo>
                  <a:cubicBezTo>
                    <a:pt x="76" y="119"/>
                    <a:pt x="77" y="119"/>
                    <a:pt x="77" y="121"/>
                  </a:cubicBezTo>
                  <a:cubicBezTo>
                    <a:pt x="80" y="137"/>
                    <a:pt x="80" y="137"/>
                    <a:pt x="80" y="137"/>
                  </a:cubicBezTo>
                  <a:cubicBezTo>
                    <a:pt x="95" y="137"/>
                    <a:pt x="95" y="137"/>
                    <a:pt x="95" y="137"/>
                  </a:cubicBezTo>
                  <a:cubicBezTo>
                    <a:pt x="96" y="137"/>
                    <a:pt x="96" y="137"/>
                    <a:pt x="97" y="137"/>
                  </a:cubicBezTo>
                  <a:cubicBezTo>
                    <a:pt x="88" y="121"/>
                    <a:pt x="88" y="121"/>
                    <a:pt x="88" y="121"/>
                  </a:cubicBezTo>
                  <a:cubicBezTo>
                    <a:pt x="88" y="121"/>
                    <a:pt x="88" y="121"/>
                    <a:pt x="88" y="121"/>
                  </a:cubicBezTo>
                  <a:cubicBezTo>
                    <a:pt x="87" y="119"/>
                    <a:pt x="86" y="119"/>
                    <a:pt x="84" y="119"/>
                  </a:cubicBezTo>
                  <a:cubicBezTo>
                    <a:pt x="86" y="119"/>
                    <a:pt x="86" y="119"/>
                    <a:pt x="86" y="119"/>
                  </a:cubicBezTo>
                  <a:cubicBezTo>
                    <a:pt x="87" y="119"/>
                    <a:pt x="87" y="119"/>
                    <a:pt x="87" y="119"/>
                  </a:cubicBezTo>
                  <a:cubicBezTo>
                    <a:pt x="89" y="119"/>
                    <a:pt x="90" y="119"/>
                    <a:pt x="91" y="121"/>
                  </a:cubicBezTo>
                  <a:cubicBezTo>
                    <a:pt x="99" y="135"/>
                    <a:pt x="99" y="135"/>
                    <a:pt x="99" y="135"/>
                  </a:cubicBezTo>
                  <a:cubicBezTo>
                    <a:pt x="129" y="105"/>
                    <a:pt x="129" y="105"/>
                    <a:pt x="129" y="105"/>
                  </a:cubicBezTo>
                  <a:cubicBezTo>
                    <a:pt x="118" y="94"/>
                    <a:pt x="118" y="94"/>
                    <a:pt x="118" y="94"/>
                  </a:cubicBezTo>
                  <a:cubicBezTo>
                    <a:pt x="118" y="94"/>
                    <a:pt x="118" y="94"/>
                    <a:pt x="118" y="94"/>
                  </a:cubicBezTo>
                  <a:cubicBezTo>
                    <a:pt x="117" y="93"/>
                    <a:pt x="116" y="92"/>
                    <a:pt x="116" y="90"/>
                  </a:cubicBezTo>
                  <a:cubicBezTo>
                    <a:pt x="116" y="89"/>
                    <a:pt x="116" y="89"/>
                    <a:pt x="116" y="89"/>
                  </a:cubicBezTo>
                  <a:cubicBezTo>
                    <a:pt x="116" y="87"/>
                    <a:pt x="116" y="87"/>
                    <a:pt x="116" y="87"/>
                  </a:cubicBezTo>
                  <a:cubicBezTo>
                    <a:pt x="116" y="88"/>
                    <a:pt x="117" y="90"/>
                    <a:pt x="118" y="91"/>
                  </a:cubicBezTo>
                  <a:cubicBezTo>
                    <a:pt x="118" y="91"/>
                    <a:pt x="118" y="91"/>
                    <a:pt x="118" y="91"/>
                  </a:cubicBezTo>
                  <a:cubicBezTo>
                    <a:pt x="131" y="103"/>
                    <a:pt x="131" y="103"/>
                    <a:pt x="131" y="103"/>
                  </a:cubicBezTo>
                  <a:cubicBezTo>
                    <a:pt x="136" y="98"/>
                    <a:pt x="136" y="98"/>
                    <a:pt x="136" y="98"/>
                  </a:cubicBezTo>
                  <a:cubicBezTo>
                    <a:pt x="137" y="97"/>
                    <a:pt x="137" y="96"/>
                    <a:pt x="137" y="95"/>
                  </a:cubicBezTo>
                  <a:cubicBezTo>
                    <a:pt x="137" y="92"/>
                    <a:pt x="137" y="92"/>
                    <a:pt x="137" y="92"/>
                  </a:cubicBezTo>
                  <a:cubicBezTo>
                    <a:pt x="137" y="90"/>
                    <a:pt x="137" y="89"/>
                    <a:pt x="136" y="88"/>
                  </a:cubicBezTo>
                  <a:cubicBezTo>
                    <a:pt x="136" y="88"/>
                    <a:pt x="136" y="88"/>
                    <a:pt x="136" y="88"/>
                  </a:cubicBezTo>
                  <a:cubicBezTo>
                    <a:pt x="118" y="70"/>
                    <a:pt x="118" y="70"/>
                    <a:pt x="118" y="70"/>
                  </a:cubicBezTo>
                  <a:cubicBezTo>
                    <a:pt x="118" y="70"/>
                    <a:pt x="118" y="70"/>
                    <a:pt x="118" y="70"/>
                  </a:cubicBezTo>
                  <a:cubicBezTo>
                    <a:pt x="117" y="69"/>
                    <a:pt x="116" y="68"/>
                    <a:pt x="116" y="66"/>
                  </a:cubicBezTo>
                  <a:cubicBezTo>
                    <a:pt x="116" y="65"/>
                    <a:pt x="116" y="65"/>
                    <a:pt x="116" y="65"/>
                  </a:cubicBezTo>
                  <a:cubicBezTo>
                    <a:pt x="116" y="63"/>
                    <a:pt x="116" y="63"/>
                    <a:pt x="116" y="63"/>
                  </a:cubicBezTo>
                  <a:cubicBezTo>
                    <a:pt x="116" y="64"/>
                    <a:pt x="117" y="66"/>
                    <a:pt x="118" y="67"/>
                  </a:cubicBezTo>
                  <a:cubicBezTo>
                    <a:pt x="118" y="67"/>
                    <a:pt x="118" y="67"/>
                    <a:pt x="118" y="67"/>
                  </a:cubicBezTo>
                  <a:cubicBezTo>
                    <a:pt x="136" y="84"/>
                    <a:pt x="136" y="84"/>
                    <a:pt x="136" y="84"/>
                  </a:cubicBezTo>
                  <a:cubicBezTo>
                    <a:pt x="136" y="84"/>
                    <a:pt x="136" y="84"/>
                    <a:pt x="136" y="84"/>
                  </a:cubicBezTo>
                  <a:cubicBezTo>
                    <a:pt x="137" y="85"/>
                    <a:pt x="137" y="87"/>
                    <a:pt x="137" y="88"/>
                  </a:cubicBezTo>
                  <a:cubicBezTo>
                    <a:pt x="137" y="68"/>
                    <a:pt x="137" y="68"/>
                    <a:pt x="137" y="68"/>
                  </a:cubicBezTo>
                  <a:cubicBezTo>
                    <a:pt x="137" y="66"/>
                    <a:pt x="137" y="65"/>
                    <a:pt x="136" y="64"/>
                  </a:cubicBezTo>
                  <a:cubicBezTo>
                    <a:pt x="136" y="64"/>
                    <a:pt x="136" y="64"/>
                    <a:pt x="136" y="64"/>
                  </a:cubicBezTo>
                  <a:cubicBezTo>
                    <a:pt x="118" y="46"/>
                    <a:pt x="118" y="46"/>
                    <a:pt x="118" y="46"/>
                  </a:cubicBezTo>
                  <a:cubicBezTo>
                    <a:pt x="118" y="46"/>
                    <a:pt x="118" y="46"/>
                    <a:pt x="118" y="46"/>
                  </a:cubicBezTo>
                  <a:cubicBezTo>
                    <a:pt x="117" y="45"/>
                    <a:pt x="116" y="44"/>
                    <a:pt x="116" y="43"/>
                  </a:cubicBezTo>
                  <a:cubicBezTo>
                    <a:pt x="116" y="41"/>
                    <a:pt x="116" y="41"/>
                    <a:pt x="116" y="41"/>
                  </a:cubicBezTo>
                  <a:lnTo>
                    <a:pt x="116" y="39"/>
                  </a:lnTo>
                  <a:close/>
                  <a:moveTo>
                    <a:pt x="83" y="40"/>
                  </a:moveTo>
                  <a:cubicBezTo>
                    <a:pt x="84" y="35"/>
                    <a:pt x="84" y="35"/>
                    <a:pt x="87" y="34"/>
                  </a:cubicBezTo>
                  <a:cubicBezTo>
                    <a:pt x="91" y="33"/>
                    <a:pt x="93" y="33"/>
                    <a:pt x="95" y="33"/>
                  </a:cubicBezTo>
                  <a:cubicBezTo>
                    <a:pt x="97" y="33"/>
                    <a:pt x="101" y="33"/>
                    <a:pt x="105" y="34"/>
                  </a:cubicBezTo>
                  <a:cubicBezTo>
                    <a:pt x="106" y="35"/>
                    <a:pt x="106" y="36"/>
                    <a:pt x="106" y="42"/>
                  </a:cubicBezTo>
                  <a:cubicBezTo>
                    <a:pt x="106" y="44"/>
                    <a:pt x="105" y="44"/>
                    <a:pt x="103" y="44"/>
                  </a:cubicBezTo>
                  <a:cubicBezTo>
                    <a:pt x="101" y="44"/>
                    <a:pt x="100" y="44"/>
                    <a:pt x="97" y="44"/>
                  </a:cubicBezTo>
                  <a:cubicBezTo>
                    <a:pt x="96" y="42"/>
                    <a:pt x="95" y="37"/>
                    <a:pt x="94" y="38"/>
                  </a:cubicBezTo>
                  <a:cubicBezTo>
                    <a:pt x="93" y="38"/>
                    <a:pt x="94" y="38"/>
                    <a:pt x="92" y="41"/>
                  </a:cubicBezTo>
                  <a:cubicBezTo>
                    <a:pt x="92" y="41"/>
                    <a:pt x="91" y="43"/>
                    <a:pt x="91" y="43"/>
                  </a:cubicBezTo>
                  <a:cubicBezTo>
                    <a:pt x="89" y="44"/>
                    <a:pt x="87" y="44"/>
                    <a:pt x="85" y="44"/>
                  </a:cubicBezTo>
                  <a:cubicBezTo>
                    <a:pt x="83" y="44"/>
                    <a:pt x="83" y="43"/>
                    <a:pt x="83" y="40"/>
                  </a:cubicBezTo>
                  <a:close/>
                  <a:moveTo>
                    <a:pt x="80" y="35"/>
                  </a:moveTo>
                  <a:cubicBezTo>
                    <a:pt x="80" y="34"/>
                    <a:pt x="80" y="34"/>
                    <a:pt x="80" y="34"/>
                  </a:cubicBezTo>
                  <a:cubicBezTo>
                    <a:pt x="82" y="34"/>
                    <a:pt x="82" y="34"/>
                    <a:pt x="82" y="35"/>
                  </a:cubicBezTo>
                  <a:cubicBezTo>
                    <a:pt x="82" y="36"/>
                    <a:pt x="82" y="39"/>
                    <a:pt x="82" y="41"/>
                  </a:cubicBezTo>
                  <a:cubicBezTo>
                    <a:pt x="82" y="43"/>
                    <a:pt x="82" y="45"/>
                    <a:pt x="81" y="46"/>
                  </a:cubicBezTo>
                  <a:cubicBezTo>
                    <a:pt x="80" y="46"/>
                    <a:pt x="79" y="46"/>
                    <a:pt x="79" y="45"/>
                  </a:cubicBezTo>
                  <a:cubicBezTo>
                    <a:pt x="79" y="44"/>
                    <a:pt x="79" y="43"/>
                    <a:pt x="80" y="42"/>
                  </a:cubicBezTo>
                  <a:cubicBezTo>
                    <a:pt x="80" y="40"/>
                    <a:pt x="80" y="37"/>
                    <a:pt x="80" y="35"/>
                  </a:cubicBezTo>
                  <a:close/>
                  <a:moveTo>
                    <a:pt x="80" y="49"/>
                  </a:moveTo>
                  <a:cubicBezTo>
                    <a:pt x="82" y="50"/>
                    <a:pt x="82" y="54"/>
                    <a:pt x="82" y="54"/>
                  </a:cubicBezTo>
                  <a:cubicBezTo>
                    <a:pt x="82" y="55"/>
                    <a:pt x="82" y="59"/>
                    <a:pt x="82" y="60"/>
                  </a:cubicBezTo>
                  <a:cubicBezTo>
                    <a:pt x="82" y="61"/>
                    <a:pt x="82" y="62"/>
                    <a:pt x="82" y="63"/>
                  </a:cubicBezTo>
                  <a:cubicBezTo>
                    <a:pt x="81" y="63"/>
                    <a:pt x="81" y="63"/>
                    <a:pt x="80" y="63"/>
                  </a:cubicBezTo>
                  <a:cubicBezTo>
                    <a:pt x="79" y="63"/>
                    <a:pt x="79" y="59"/>
                    <a:pt x="79" y="58"/>
                  </a:cubicBezTo>
                  <a:cubicBezTo>
                    <a:pt x="79" y="57"/>
                    <a:pt x="79" y="54"/>
                    <a:pt x="79" y="52"/>
                  </a:cubicBezTo>
                  <a:cubicBezTo>
                    <a:pt x="78" y="49"/>
                    <a:pt x="79" y="50"/>
                    <a:pt x="80" y="49"/>
                  </a:cubicBezTo>
                  <a:close/>
                  <a:moveTo>
                    <a:pt x="75" y="47"/>
                  </a:moveTo>
                  <a:cubicBezTo>
                    <a:pt x="75" y="45"/>
                    <a:pt x="76" y="39"/>
                    <a:pt x="75" y="37"/>
                  </a:cubicBezTo>
                  <a:cubicBezTo>
                    <a:pt x="76" y="36"/>
                    <a:pt x="75" y="35"/>
                    <a:pt x="76" y="34"/>
                  </a:cubicBezTo>
                  <a:cubicBezTo>
                    <a:pt x="76" y="33"/>
                    <a:pt x="76" y="33"/>
                    <a:pt x="77" y="33"/>
                  </a:cubicBezTo>
                  <a:cubicBezTo>
                    <a:pt x="79" y="33"/>
                    <a:pt x="78" y="38"/>
                    <a:pt x="78" y="38"/>
                  </a:cubicBezTo>
                  <a:cubicBezTo>
                    <a:pt x="78" y="42"/>
                    <a:pt x="77" y="51"/>
                    <a:pt x="77" y="53"/>
                  </a:cubicBezTo>
                  <a:cubicBezTo>
                    <a:pt x="77" y="57"/>
                    <a:pt x="78" y="67"/>
                    <a:pt x="77" y="68"/>
                  </a:cubicBezTo>
                  <a:cubicBezTo>
                    <a:pt x="77" y="68"/>
                    <a:pt x="76" y="69"/>
                    <a:pt x="76" y="68"/>
                  </a:cubicBezTo>
                  <a:cubicBezTo>
                    <a:pt x="75" y="65"/>
                    <a:pt x="75" y="61"/>
                    <a:pt x="74" y="57"/>
                  </a:cubicBezTo>
                  <a:cubicBezTo>
                    <a:pt x="74" y="53"/>
                    <a:pt x="75" y="49"/>
                    <a:pt x="75" y="47"/>
                  </a:cubicBezTo>
                  <a:close/>
                  <a:moveTo>
                    <a:pt x="71" y="41"/>
                  </a:moveTo>
                  <a:cubicBezTo>
                    <a:pt x="72" y="38"/>
                    <a:pt x="71" y="35"/>
                    <a:pt x="72" y="35"/>
                  </a:cubicBezTo>
                  <a:cubicBezTo>
                    <a:pt x="72" y="34"/>
                    <a:pt x="73" y="34"/>
                    <a:pt x="73" y="34"/>
                  </a:cubicBezTo>
                  <a:cubicBezTo>
                    <a:pt x="74" y="35"/>
                    <a:pt x="75" y="44"/>
                    <a:pt x="72" y="46"/>
                  </a:cubicBezTo>
                  <a:cubicBezTo>
                    <a:pt x="72" y="46"/>
                    <a:pt x="71" y="46"/>
                    <a:pt x="71" y="45"/>
                  </a:cubicBezTo>
                  <a:cubicBezTo>
                    <a:pt x="70" y="45"/>
                    <a:pt x="71" y="43"/>
                    <a:pt x="71" y="41"/>
                  </a:cubicBezTo>
                  <a:close/>
                  <a:moveTo>
                    <a:pt x="70" y="53"/>
                  </a:moveTo>
                  <a:cubicBezTo>
                    <a:pt x="70" y="49"/>
                    <a:pt x="70" y="49"/>
                    <a:pt x="71" y="48"/>
                  </a:cubicBezTo>
                  <a:cubicBezTo>
                    <a:pt x="72" y="47"/>
                    <a:pt x="73" y="48"/>
                    <a:pt x="73" y="48"/>
                  </a:cubicBezTo>
                  <a:cubicBezTo>
                    <a:pt x="74" y="50"/>
                    <a:pt x="73" y="56"/>
                    <a:pt x="73" y="59"/>
                  </a:cubicBezTo>
                  <a:cubicBezTo>
                    <a:pt x="72" y="61"/>
                    <a:pt x="73" y="64"/>
                    <a:pt x="72" y="65"/>
                  </a:cubicBezTo>
                  <a:cubicBezTo>
                    <a:pt x="71" y="65"/>
                    <a:pt x="70" y="65"/>
                    <a:pt x="70" y="64"/>
                  </a:cubicBezTo>
                  <a:cubicBezTo>
                    <a:pt x="70" y="61"/>
                    <a:pt x="70" y="53"/>
                    <a:pt x="70" y="53"/>
                  </a:cubicBezTo>
                  <a:close/>
                  <a:moveTo>
                    <a:pt x="67" y="96"/>
                  </a:moveTo>
                  <a:cubicBezTo>
                    <a:pt x="67" y="101"/>
                    <a:pt x="66" y="101"/>
                    <a:pt x="63" y="101"/>
                  </a:cubicBezTo>
                  <a:cubicBezTo>
                    <a:pt x="60" y="101"/>
                    <a:pt x="53" y="101"/>
                    <a:pt x="53" y="101"/>
                  </a:cubicBezTo>
                  <a:cubicBezTo>
                    <a:pt x="53" y="101"/>
                    <a:pt x="53" y="103"/>
                    <a:pt x="53" y="104"/>
                  </a:cubicBezTo>
                  <a:cubicBezTo>
                    <a:pt x="53" y="106"/>
                    <a:pt x="54" y="106"/>
                    <a:pt x="47" y="107"/>
                  </a:cubicBezTo>
                  <a:cubicBezTo>
                    <a:pt x="45" y="107"/>
                    <a:pt x="34" y="107"/>
                    <a:pt x="33" y="105"/>
                  </a:cubicBezTo>
                  <a:cubicBezTo>
                    <a:pt x="32" y="104"/>
                    <a:pt x="31" y="102"/>
                    <a:pt x="32" y="100"/>
                  </a:cubicBezTo>
                  <a:cubicBezTo>
                    <a:pt x="33" y="101"/>
                    <a:pt x="35" y="102"/>
                    <a:pt x="38" y="103"/>
                  </a:cubicBezTo>
                  <a:cubicBezTo>
                    <a:pt x="41" y="104"/>
                    <a:pt x="45" y="104"/>
                    <a:pt x="48" y="104"/>
                  </a:cubicBezTo>
                  <a:cubicBezTo>
                    <a:pt x="49" y="103"/>
                    <a:pt x="49" y="103"/>
                    <a:pt x="49" y="101"/>
                  </a:cubicBezTo>
                  <a:cubicBezTo>
                    <a:pt x="44" y="101"/>
                    <a:pt x="41" y="100"/>
                    <a:pt x="39" y="100"/>
                  </a:cubicBezTo>
                  <a:cubicBezTo>
                    <a:pt x="37" y="100"/>
                    <a:pt x="37" y="100"/>
                    <a:pt x="37" y="99"/>
                  </a:cubicBezTo>
                  <a:cubicBezTo>
                    <a:pt x="37" y="97"/>
                    <a:pt x="37" y="97"/>
                    <a:pt x="39" y="97"/>
                  </a:cubicBezTo>
                  <a:cubicBezTo>
                    <a:pt x="40" y="97"/>
                    <a:pt x="42" y="98"/>
                    <a:pt x="45" y="98"/>
                  </a:cubicBezTo>
                  <a:cubicBezTo>
                    <a:pt x="47" y="98"/>
                    <a:pt x="49" y="98"/>
                    <a:pt x="49" y="98"/>
                  </a:cubicBezTo>
                  <a:cubicBezTo>
                    <a:pt x="49" y="95"/>
                    <a:pt x="49" y="95"/>
                    <a:pt x="49" y="95"/>
                  </a:cubicBezTo>
                  <a:cubicBezTo>
                    <a:pt x="49" y="95"/>
                    <a:pt x="45" y="95"/>
                    <a:pt x="44" y="95"/>
                  </a:cubicBezTo>
                  <a:cubicBezTo>
                    <a:pt x="39" y="95"/>
                    <a:pt x="40" y="94"/>
                    <a:pt x="39" y="92"/>
                  </a:cubicBezTo>
                  <a:cubicBezTo>
                    <a:pt x="40" y="88"/>
                    <a:pt x="40" y="89"/>
                    <a:pt x="43" y="89"/>
                  </a:cubicBezTo>
                  <a:cubicBezTo>
                    <a:pt x="46" y="89"/>
                    <a:pt x="55" y="89"/>
                    <a:pt x="57" y="89"/>
                  </a:cubicBezTo>
                  <a:cubicBezTo>
                    <a:pt x="60" y="89"/>
                    <a:pt x="60" y="89"/>
                    <a:pt x="60" y="92"/>
                  </a:cubicBezTo>
                  <a:cubicBezTo>
                    <a:pt x="60" y="94"/>
                    <a:pt x="60" y="95"/>
                    <a:pt x="57" y="95"/>
                  </a:cubicBezTo>
                  <a:cubicBezTo>
                    <a:pt x="56" y="95"/>
                    <a:pt x="53" y="95"/>
                    <a:pt x="53" y="95"/>
                  </a:cubicBezTo>
                  <a:cubicBezTo>
                    <a:pt x="53" y="98"/>
                    <a:pt x="53" y="98"/>
                    <a:pt x="53" y="98"/>
                  </a:cubicBezTo>
                  <a:cubicBezTo>
                    <a:pt x="61" y="98"/>
                    <a:pt x="61" y="98"/>
                    <a:pt x="61" y="98"/>
                  </a:cubicBezTo>
                  <a:cubicBezTo>
                    <a:pt x="61" y="98"/>
                    <a:pt x="63" y="98"/>
                    <a:pt x="63" y="95"/>
                  </a:cubicBezTo>
                  <a:cubicBezTo>
                    <a:pt x="63" y="93"/>
                    <a:pt x="64" y="90"/>
                    <a:pt x="64" y="90"/>
                  </a:cubicBezTo>
                  <a:cubicBezTo>
                    <a:pt x="64" y="90"/>
                    <a:pt x="64" y="87"/>
                    <a:pt x="61" y="87"/>
                  </a:cubicBezTo>
                  <a:cubicBezTo>
                    <a:pt x="59" y="87"/>
                    <a:pt x="46" y="87"/>
                    <a:pt x="41" y="87"/>
                  </a:cubicBezTo>
                  <a:cubicBezTo>
                    <a:pt x="37" y="87"/>
                    <a:pt x="37" y="88"/>
                    <a:pt x="36" y="89"/>
                  </a:cubicBezTo>
                  <a:cubicBezTo>
                    <a:pt x="36" y="91"/>
                    <a:pt x="36" y="97"/>
                    <a:pt x="34" y="97"/>
                  </a:cubicBezTo>
                  <a:cubicBezTo>
                    <a:pt x="31" y="96"/>
                    <a:pt x="32" y="96"/>
                    <a:pt x="32" y="94"/>
                  </a:cubicBezTo>
                  <a:cubicBezTo>
                    <a:pt x="32" y="92"/>
                    <a:pt x="33" y="89"/>
                    <a:pt x="33" y="87"/>
                  </a:cubicBezTo>
                  <a:cubicBezTo>
                    <a:pt x="34" y="85"/>
                    <a:pt x="34" y="84"/>
                    <a:pt x="44" y="84"/>
                  </a:cubicBezTo>
                  <a:cubicBezTo>
                    <a:pt x="49" y="84"/>
                    <a:pt x="62" y="84"/>
                    <a:pt x="62" y="84"/>
                  </a:cubicBezTo>
                  <a:cubicBezTo>
                    <a:pt x="65" y="84"/>
                    <a:pt x="66" y="84"/>
                    <a:pt x="67" y="87"/>
                  </a:cubicBezTo>
                  <a:cubicBezTo>
                    <a:pt x="67" y="92"/>
                    <a:pt x="67" y="93"/>
                    <a:pt x="67" y="96"/>
                  </a:cubicBezTo>
                  <a:close/>
                  <a:moveTo>
                    <a:pt x="37" y="76"/>
                  </a:moveTo>
                  <a:cubicBezTo>
                    <a:pt x="37" y="77"/>
                    <a:pt x="38" y="77"/>
                    <a:pt x="40" y="77"/>
                  </a:cubicBezTo>
                  <a:cubicBezTo>
                    <a:pt x="42" y="77"/>
                    <a:pt x="42" y="76"/>
                    <a:pt x="42" y="78"/>
                  </a:cubicBezTo>
                  <a:cubicBezTo>
                    <a:pt x="42" y="78"/>
                    <a:pt x="42" y="79"/>
                    <a:pt x="41" y="79"/>
                  </a:cubicBezTo>
                  <a:cubicBezTo>
                    <a:pt x="36" y="79"/>
                    <a:pt x="37" y="79"/>
                    <a:pt x="37" y="80"/>
                  </a:cubicBezTo>
                  <a:cubicBezTo>
                    <a:pt x="37" y="81"/>
                    <a:pt x="37" y="81"/>
                    <a:pt x="40" y="80"/>
                  </a:cubicBezTo>
                  <a:cubicBezTo>
                    <a:pt x="42" y="80"/>
                    <a:pt x="42" y="80"/>
                    <a:pt x="42" y="81"/>
                  </a:cubicBezTo>
                  <a:cubicBezTo>
                    <a:pt x="43" y="82"/>
                    <a:pt x="42" y="83"/>
                    <a:pt x="42" y="83"/>
                  </a:cubicBezTo>
                  <a:cubicBezTo>
                    <a:pt x="41" y="83"/>
                    <a:pt x="36" y="83"/>
                    <a:pt x="34" y="83"/>
                  </a:cubicBezTo>
                  <a:cubicBezTo>
                    <a:pt x="33" y="83"/>
                    <a:pt x="33" y="83"/>
                    <a:pt x="33" y="80"/>
                  </a:cubicBezTo>
                  <a:cubicBezTo>
                    <a:pt x="33" y="78"/>
                    <a:pt x="33" y="75"/>
                    <a:pt x="34" y="73"/>
                  </a:cubicBezTo>
                  <a:cubicBezTo>
                    <a:pt x="35" y="72"/>
                    <a:pt x="35" y="72"/>
                    <a:pt x="40" y="72"/>
                  </a:cubicBezTo>
                  <a:cubicBezTo>
                    <a:pt x="43" y="72"/>
                    <a:pt x="43" y="72"/>
                    <a:pt x="43" y="74"/>
                  </a:cubicBezTo>
                  <a:cubicBezTo>
                    <a:pt x="43" y="74"/>
                    <a:pt x="43" y="74"/>
                    <a:pt x="38" y="75"/>
                  </a:cubicBezTo>
                  <a:cubicBezTo>
                    <a:pt x="36" y="75"/>
                    <a:pt x="37" y="75"/>
                    <a:pt x="37" y="76"/>
                  </a:cubicBezTo>
                  <a:close/>
                  <a:moveTo>
                    <a:pt x="45" y="73"/>
                  </a:moveTo>
                  <a:cubicBezTo>
                    <a:pt x="44" y="73"/>
                    <a:pt x="45" y="72"/>
                    <a:pt x="46" y="72"/>
                  </a:cubicBezTo>
                  <a:cubicBezTo>
                    <a:pt x="46" y="72"/>
                    <a:pt x="48" y="73"/>
                    <a:pt x="49" y="73"/>
                  </a:cubicBezTo>
                  <a:cubicBezTo>
                    <a:pt x="49" y="73"/>
                    <a:pt x="50" y="73"/>
                    <a:pt x="50" y="74"/>
                  </a:cubicBezTo>
                  <a:cubicBezTo>
                    <a:pt x="51" y="74"/>
                    <a:pt x="51" y="74"/>
                    <a:pt x="51" y="73"/>
                  </a:cubicBezTo>
                  <a:cubicBezTo>
                    <a:pt x="52" y="73"/>
                    <a:pt x="54" y="72"/>
                    <a:pt x="55" y="72"/>
                  </a:cubicBezTo>
                  <a:cubicBezTo>
                    <a:pt x="55" y="72"/>
                    <a:pt x="56" y="73"/>
                    <a:pt x="56" y="74"/>
                  </a:cubicBezTo>
                  <a:cubicBezTo>
                    <a:pt x="55" y="74"/>
                    <a:pt x="54" y="75"/>
                    <a:pt x="53" y="75"/>
                  </a:cubicBezTo>
                  <a:cubicBezTo>
                    <a:pt x="54" y="76"/>
                    <a:pt x="54" y="76"/>
                    <a:pt x="55" y="76"/>
                  </a:cubicBezTo>
                  <a:cubicBezTo>
                    <a:pt x="56" y="77"/>
                    <a:pt x="56" y="77"/>
                    <a:pt x="56" y="78"/>
                  </a:cubicBezTo>
                  <a:cubicBezTo>
                    <a:pt x="56" y="78"/>
                    <a:pt x="55" y="79"/>
                    <a:pt x="55" y="79"/>
                  </a:cubicBezTo>
                  <a:cubicBezTo>
                    <a:pt x="54" y="79"/>
                    <a:pt x="54" y="80"/>
                    <a:pt x="53" y="80"/>
                  </a:cubicBezTo>
                  <a:cubicBezTo>
                    <a:pt x="54" y="80"/>
                    <a:pt x="54" y="80"/>
                    <a:pt x="55" y="81"/>
                  </a:cubicBezTo>
                  <a:cubicBezTo>
                    <a:pt x="57" y="82"/>
                    <a:pt x="57" y="81"/>
                    <a:pt x="56" y="83"/>
                  </a:cubicBezTo>
                  <a:cubicBezTo>
                    <a:pt x="55" y="84"/>
                    <a:pt x="54" y="83"/>
                    <a:pt x="54" y="83"/>
                  </a:cubicBezTo>
                  <a:cubicBezTo>
                    <a:pt x="53" y="83"/>
                    <a:pt x="52" y="82"/>
                    <a:pt x="50" y="81"/>
                  </a:cubicBezTo>
                  <a:cubicBezTo>
                    <a:pt x="49" y="82"/>
                    <a:pt x="48" y="82"/>
                    <a:pt x="47" y="83"/>
                  </a:cubicBezTo>
                  <a:cubicBezTo>
                    <a:pt x="46" y="84"/>
                    <a:pt x="45" y="84"/>
                    <a:pt x="45" y="83"/>
                  </a:cubicBezTo>
                  <a:cubicBezTo>
                    <a:pt x="44" y="82"/>
                    <a:pt x="44" y="82"/>
                    <a:pt x="46" y="81"/>
                  </a:cubicBezTo>
                  <a:cubicBezTo>
                    <a:pt x="46" y="81"/>
                    <a:pt x="47" y="80"/>
                    <a:pt x="47" y="80"/>
                  </a:cubicBezTo>
                  <a:cubicBezTo>
                    <a:pt x="47" y="80"/>
                    <a:pt x="46" y="79"/>
                    <a:pt x="45" y="79"/>
                  </a:cubicBezTo>
                  <a:cubicBezTo>
                    <a:pt x="45" y="79"/>
                    <a:pt x="44" y="78"/>
                    <a:pt x="44" y="78"/>
                  </a:cubicBezTo>
                  <a:cubicBezTo>
                    <a:pt x="44" y="77"/>
                    <a:pt x="44" y="77"/>
                    <a:pt x="46" y="76"/>
                  </a:cubicBezTo>
                  <a:cubicBezTo>
                    <a:pt x="46" y="76"/>
                    <a:pt x="47" y="75"/>
                    <a:pt x="47" y="75"/>
                  </a:cubicBezTo>
                  <a:cubicBezTo>
                    <a:pt x="46" y="75"/>
                    <a:pt x="45" y="74"/>
                    <a:pt x="45" y="73"/>
                  </a:cubicBezTo>
                  <a:close/>
                  <a:moveTo>
                    <a:pt x="66" y="83"/>
                  </a:moveTo>
                  <a:cubicBezTo>
                    <a:pt x="65" y="83"/>
                    <a:pt x="59" y="83"/>
                    <a:pt x="58" y="83"/>
                  </a:cubicBezTo>
                  <a:cubicBezTo>
                    <a:pt x="58" y="83"/>
                    <a:pt x="58" y="83"/>
                    <a:pt x="58" y="82"/>
                  </a:cubicBezTo>
                  <a:cubicBezTo>
                    <a:pt x="58" y="81"/>
                    <a:pt x="58" y="81"/>
                    <a:pt x="60" y="81"/>
                  </a:cubicBezTo>
                  <a:cubicBezTo>
                    <a:pt x="62" y="81"/>
                    <a:pt x="64" y="81"/>
                    <a:pt x="64" y="80"/>
                  </a:cubicBezTo>
                  <a:cubicBezTo>
                    <a:pt x="64" y="79"/>
                    <a:pt x="63" y="79"/>
                    <a:pt x="60" y="79"/>
                  </a:cubicBezTo>
                  <a:cubicBezTo>
                    <a:pt x="58" y="79"/>
                    <a:pt x="58" y="79"/>
                    <a:pt x="58" y="78"/>
                  </a:cubicBezTo>
                  <a:cubicBezTo>
                    <a:pt x="58" y="77"/>
                    <a:pt x="58" y="77"/>
                    <a:pt x="59" y="76"/>
                  </a:cubicBezTo>
                  <a:cubicBezTo>
                    <a:pt x="62" y="76"/>
                    <a:pt x="64" y="76"/>
                    <a:pt x="64" y="76"/>
                  </a:cubicBezTo>
                  <a:cubicBezTo>
                    <a:pt x="64" y="75"/>
                    <a:pt x="64" y="75"/>
                    <a:pt x="62" y="75"/>
                  </a:cubicBezTo>
                  <a:cubicBezTo>
                    <a:pt x="58" y="75"/>
                    <a:pt x="58" y="75"/>
                    <a:pt x="58" y="74"/>
                  </a:cubicBezTo>
                  <a:cubicBezTo>
                    <a:pt x="58" y="73"/>
                    <a:pt x="57" y="72"/>
                    <a:pt x="60" y="72"/>
                  </a:cubicBezTo>
                  <a:cubicBezTo>
                    <a:pt x="63" y="72"/>
                    <a:pt x="66" y="72"/>
                    <a:pt x="66" y="73"/>
                  </a:cubicBezTo>
                  <a:cubicBezTo>
                    <a:pt x="67" y="75"/>
                    <a:pt x="67" y="77"/>
                    <a:pt x="67" y="80"/>
                  </a:cubicBezTo>
                  <a:cubicBezTo>
                    <a:pt x="67" y="83"/>
                    <a:pt x="67" y="83"/>
                    <a:pt x="66" y="83"/>
                  </a:cubicBezTo>
                  <a:close/>
                  <a:moveTo>
                    <a:pt x="65" y="69"/>
                  </a:moveTo>
                  <a:cubicBezTo>
                    <a:pt x="64" y="70"/>
                    <a:pt x="60" y="64"/>
                    <a:pt x="58" y="61"/>
                  </a:cubicBezTo>
                  <a:cubicBezTo>
                    <a:pt x="57" y="59"/>
                    <a:pt x="53" y="56"/>
                    <a:pt x="50" y="56"/>
                  </a:cubicBezTo>
                  <a:cubicBezTo>
                    <a:pt x="45" y="56"/>
                    <a:pt x="38" y="64"/>
                    <a:pt x="37" y="67"/>
                  </a:cubicBezTo>
                  <a:cubicBezTo>
                    <a:pt x="36" y="69"/>
                    <a:pt x="35" y="70"/>
                    <a:pt x="33" y="69"/>
                  </a:cubicBezTo>
                  <a:cubicBezTo>
                    <a:pt x="32" y="68"/>
                    <a:pt x="32" y="68"/>
                    <a:pt x="33" y="66"/>
                  </a:cubicBezTo>
                  <a:cubicBezTo>
                    <a:pt x="34" y="63"/>
                    <a:pt x="40" y="56"/>
                    <a:pt x="43" y="55"/>
                  </a:cubicBezTo>
                  <a:cubicBezTo>
                    <a:pt x="45" y="52"/>
                    <a:pt x="46" y="52"/>
                    <a:pt x="47" y="49"/>
                  </a:cubicBezTo>
                  <a:cubicBezTo>
                    <a:pt x="47" y="43"/>
                    <a:pt x="47" y="42"/>
                    <a:pt x="46" y="42"/>
                  </a:cubicBezTo>
                  <a:cubicBezTo>
                    <a:pt x="44" y="41"/>
                    <a:pt x="37" y="40"/>
                    <a:pt x="37" y="45"/>
                  </a:cubicBezTo>
                  <a:cubicBezTo>
                    <a:pt x="36" y="49"/>
                    <a:pt x="36" y="50"/>
                    <a:pt x="36" y="52"/>
                  </a:cubicBezTo>
                  <a:cubicBezTo>
                    <a:pt x="36" y="54"/>
                    <a:pt x="36" y="54"/>
                    <a:pt x="34" y="54"/>
                  </a:cubicBezTo>
                  <a:cubicBezTo>
                    <a:pt x="33" y="54"/>
                    <a:pt x="33" y="46"/>
                    <a:pt x="33" y="41"/>
                  </a:cubicBezTo>
                  <a:cubicBezTo>
                    <a:pt x="34" y="38"/>
                    <a:pt x="36" y="39"/>
                    <a:pt x="39" y="38"/>
                  </a:cubicBezTo>
                  <a:cubicBezTo>
                    <a:pt x="41" y="38"/>
                    <a:pt x="43" y="38"/>
                    <a:pt x="44" y="38"/>
                  </a:cubicBezTo>
                  <a:cubicBezTo>
                    <a:pt x="46" y="38"/>
                    <a:pt x="47" y="37"/>
                    <a:pt x="47" y="35"/>
                  </a:cubicBezTo>
                  <a:cubicBezTo>
                    <a:pt x="47" y="33"/>
                    <a:pt x="48" y="33"/>
                    <a:pt x="49" y="32"/>
                  </a:cubicBezTo>
                  <a:cubicBezTo>
                    <a:pt x="51" y="32"/>
                    <a:pt x="51" y="33"/>
                    <a:pt x="51" y="35"/>
                  </a:cubicBezTo>
                  <a:cubicBezTo>
                    <a:pt x="52" y="37"/>
                    <a:pt x="51" y="38"/>
                    <a:pt x="54" y="38"/>
                  </a:cubicBezTo>
                  <a:cubicBezTo>
                    <a:pt x="57" y="38"/>
                    <a:pt x="60" y="38"/>
                    <a:pt x="61" y="38"/>
                  </a:cubicBezTo>
                  <a:cubicBezTo>
                    <a:pt x="64" y="38"/>
                    <a:pt x="66" y="38"/>
                    <a:pt x="66" y="43"/>
                  </a:cubicBezTo>
                  <a:cubicBezTo>
                    <a:pt x="66" y="47"/>
                    <a:pt x="67" y="50"/>
                    <a:pt x="66" y="52"/>
                  </a:cubicBezTo>
                  <a:cubicBezTo>
                    <a:pt x="65" y="52"/>
                    <a:pt x="64" y="53"/>
                    <a:pt x="63" y="53"/>
                  </a:cubicBezTo>
                  <a:cubicBezTo>
                    <a:pt x="62" y="52"/>
                    <a:pt x="64" y="44"/>
                    <a:pt x="61" y="42"/>
                  </a:cubicBezTo>
                  <a:cubicBezTo>
                    <a:pt x="59" y="41"/>
                    <a:pt x="54" y="41"/>
                    <a:pt x="52" y="42"/>
                  </a:cubicBezTo>
                  <a:cubicBezTo>
                    <a:pt x="51" y="43"/>
                    <a:pt x="51" y="46"/>
                    <a:pt x="51" y="48"/>
                  </a:cubicBezTo>
                  <a:cubicBezTo>
                    <a:pt x="51" y="50"/>
                    <a:pt x="51" y="51"/>
                    <a:pt x="55" y="54"/>
                  </a:cubicBezTo>
                  <a:cubicBezTo>
                    <a:pt x="58" y="56"/>
                    <a:pt x="62" y="60"/>
                    <a:pt x="65" y="64"/>
                  </a:cubicBezTo>
                  <a:cubicBezTo>
                    <a:pt x="67" y="66"/>
                    <a:pt x="69" y="68"/>
                    <a:pt x="65" y="69"/>
                  </a:cubicBezTo>
                  <a:close/>
                  <a:moveTo>
                    <a:pt x="67" y="21"/>
                  </a:moveTo>
                  <a:cubicBezTo>
                    <a:pt x="52" y="21"/>
                    <a:pt x="52" y="21"/>
                    <a:pt x="52" y="21"/>
                  </a:cubicBezTo>
                  <a:cubicBezTo>
                    <a:pt x="52" y="19"/>
                    <a:pt x="53" y="17"/>
                    <a:pt x="56" y="17"/>
                  </a:cubicBezTo>
                  <a:cubicBezTo>
                    <a:pt x="65" y="17"/>
                    <a:pt x="65" y="17"/>
                    <a:pt x="65" y="17"/>
                  </a:cubicBezTo>
                  <a:cubicBezTo>
                    <a:pt x="67" y="17"/>
                    <a:pt x="67" y="18"/>
                    <a:pt x="67" y="19"/>
                  </a:cubicBezTo>
                  <a:lnTo>
                    <a:pt x="67" y="21"/>
                  </a:lnTo>
                  <a:close/>
                  <a:moveTo>
                    <a:pt x="83" y="89"/>
                  </a:moveTo>
                  <a:cubicBezTo>
                    <a:pt x="82" y="90"/>
                    <a:pt x="80" y="90"/>
                    <a:pt x="79" y="91"/>
                  </a:cubicBezTo>
                  <a:cubicBezTo>
                    <a:pt x="79" y="92"/>
                    <a:pt x="79" y="97"/>
                    <a:pt x="79" y="97"/>
                  </a:cubicBezTo>
                  <a:cubicBezTo>
                    <a:pt x="80" y="98"/>
                    <a:pt x="81" y="97"/>
                    <a:pt x="82" y="97"/>
                  </a:cubicBezTo>
                  <a:cubicBezTo>
                    <a:pt x="84" y="97"/>
                    <a:pt x="84" y="101"/>
                    <a:pt x="83" y="101"/>
                  </a:cubicBezTo>
                  <a:cubicBezTo>
                    <a:pt x="82" y="101"/>
                    <a:pt x="79" y="102"/>
                    <a:pt x="77" y="102"/>
                  </a:cubicBezTo>
                  <a:cubicBezTo>
                    <a:pt x="75" y="102"/>
                    <a:pt x="74" y="102"/>
                    <a:pt x="72" y="102"/>
                  </a:cubicBezTo>
                  <a:cubicBezTo>
                    <a:pt x="70" y="102"/>
                    <a:pt x="70" y="101"/>
                    <a:pt x="70" y="100"/>
                  </a:cubicBezTo>
                  <a:cubicBezTo>
                    <a:pt x="70" y="99"/>
                    <a:pt x="70" y="98"/>
                    <a:pt x="71" y="98"/>
                  </a:cubicBezTo>
                  <a:cubicBezTo>
                    <a:pt x="73" y="98"/>
                    <a:pt x="74" y="98"/>
                    <a:pt x="75" y="97"/>
                  </a:cubicBezTo>
                  <a:cubicBezTo>
                    <a:pt x="76" y="97"/>
                    <a:pt x="75" y="95"/>
                    <a:pt x="75" y="93"/>
                  </a:cubicBezTo>
                  <a:cubicBezTo>
                    <a:pt x="75" y="92"/>
                    <a:pt x="76" y="91"/>
                    <a:pt x="74" y="91"/>
                  </a:cubicBezTo>
                  <a:cubicBezTo>
                    <a:pt x="71" y="92"/>
                    <a:pt x="71" y="92"/>
                    <a:pt x="71" y="88"/>
                  </a:cubicBezTo>
                  <a:cubicBezTo>
                    <a:pt x="71" y="86"/>
                    <a:pt x="71" y="85"/>
                    <a:pt x="71" y="83"/>
                  </a:cubicBezTo>
                  <a:cubicBezTo>
                    <a:pt x="71" y="81"/>
                    <a:pt x="71" y="80"/>
                    <a:pt x="73" y="80"/>
                  </a:cubicBezTo>
                  <a:cubicBezTo>
                    <a:pt x="75" y="79"/>
                    <a:pt x="74" y="83"/>
                    <a:pt x="74" y="85"/>
                  </a:cubicBezTo>
                  <a:cubicBezTo>
                    <a:pt x="74" y="86"/>
                    <a:pt x="74" y="88"/>
                    <a:pt x="75" y="88"/>
                  </a:cubicBezTo>
                  <a:cubicBezTo>
                    <a:pt x="77" y="88"/>
                    <a:pt x="76" y="83"/>
                    <a:pt x="76" y="79"/>
                  </a:cubicBezTo>
                  <a:cubicBezTo>
                    <a:pt x="76" y="76"/>
                    <a:pt x="75" y="75"/>
                    <a:pt x="77" y="74"/>
                  </a:cubicBezTo>
                  <a:cubicBezTo>
                    <a:pt x="79" y="74"/>
                    <a:pt x="79" y="75"/>
                    <a:pt x="79" y="77"/>
                  </a:cubicBezTo>
                  <a:cubicBezTo>
                    <a:pt x="79" y="79"/>
                    <a:pt x="79" y="87"/>
                    <a:pt x="80" y="87"/>
                  </a:cubicBezTo>
                  <a:cubicBezTo>
                    <a:pt x="82" y="87"/>
                    <a:pt x="81" y="80"/>
                    <a:pt x="81" y="79"/>
                  </a:cubicBezTo>
                  <a:cubicBezTo>
                    <a:pt x="81" y="77"/>
                    <a:pt x="81" y="77"/>
                    <a:pt x="83" y="77"/>
                  </a:cubicBezTo>
                  <a:cubicBezTo>
                    <a:pt x="84" y="76"/>
                    <a:pt x="84" y="76"/>
                    <a:pt x="84" y="78"/>
                  </a:cubicBezTo>
                  <a:cubicBezTo>
                    <a:pt x="85" y="79"/>
                    <a:pt x="85" y="81"/>
                    <a:pt x="85" y="82"/>
                  </a:cubicBezTo>
                  <a:cubicBezTo>
                    <a:pt x="84" y="84"/>
                    <a:pt x="84" y="85"/>
                    <a:pt x="84" y="86"/>
                  </a:cubicBezTo>
                  <a:cubicBezTo>
                    <a:pt x="84" y="88"/>
                    <a:pt x="83" y="89"/>
                    <a:pt x="83" y="89"/>
                  </a:cubicBezTo>
                  <a:close/>
                  <a:moveTo>
                    <a:pt x="91" y="107"/>
                  </a:moveTo>
                  <a:cubicBezTo>
                    <a:pt x="90" y="107"/>
                    <a:pt x="89" y="107"/>
                    <a:pt x="88" y="107"/>
                  </a:cubicBezTo>
                  <a:cubicBezTo>
                    <a:pt x="87" y="107"/>
                    <a:pt x="87" y="106"/>
                    <a:pt x="86" y="103"/>
                  </a:cubicBezTo>
                  <a:cubicBezTo>
                    <a:pt x="86" y="102"/>
                    <a:pt x="85" y="101"/>
                    <a:pt x="85" y="98"/>
                  </a:cubicBezTo>
                  <a:cubicBezTo>
                    <a:pt x="85" y="95"/>
                    <a:pt x="84" y="92"/>
                    <a:pt x="85" y="90"/>
                  </a:cubicBezTo>
                  <a:cubicBezTo>
                    <a:pt x="85" y="89"/>
                    <a:pt x="86" y="87"/>
                    <a:pt x="87" y="86"/>
                  </a:cubicBezTo>
                  <a:cubicBezTo>
                    <a:pt x="87" y="85"/>
                    <a:pt x="88" y="84"/>
                    <a:pt x="88" y="81"/>
                  </a:cubicBezTo>
                  <a:cubicBezTo>
                    <a:pt x="89" y="79"/>
                    <a:pt x="89" y="79"/>
                    <a:pt x="88" y="77"/>
                  </a:cubicBezTo>
                  <a:cubicBezTo>
                    <a:pt x="88" y="76"/>
                    <a:pt x="88" y="75"/>
                    <a:pt x="87" y="74"/>
                  </a:cubicBezTo>
                  <a:cubicBezTo>
                    <a:pt x="87" y="72"/>
                    <a:pt x="86" y="72"/>
                    <a:pt x="88" y="71"/>
                  </a:cubicBezTo>
                  <a:cubicBezTo>
                    <a:pt x="90" y="71"/>
                    <a:pt x="90" y="71"/>
                    <a:pt x="91" y="73"/>
                  </a:cubicBezTo>
                  <a:cubicBezTo>
                    <a:pt x="92" y="76"/>
                    <a:pt x="92" y="77"/>
                    <a:pt x="92" y="77"/>
                  </a:cubicBezTo>
                  <a:cubicBezTo>
                    <a:pt x="92" y="79"/>
                    <a:pt x="92" y="82"/>
                    <a:pt x="90" y="86"/>
                  </a:cubicBezTo>
                  <a:cubicBezTo>
                    <a:pt x="89" y="89"/>
                    <a:pt x="88" y="91"/>
                    <a:pt x="88" y="94"/>
                  </a:cubicBezTo>
                  <a:cubicBezTo>
                    <a:pt x="88" y="98"/>
                    <a:pt x="89" y="102"/>
                    <a:pt x="90" y="103"/>
                  </a:cubicBezTo>
                  <a:cubicBezTo>
                    <a:pt x="90" y="104"/>
                    <a:pt x="92" y="107"/>
                    <a:pt x="91" y="107"/>
                  </a:cubicBezTo>
                  <a:close/>
                  <a:moveTo>
                    <a:pt x="97" y="102"/>
                  </a:moveTo>
                  <a:cubicBezTo>
                    <a:pt x="97" y="104"/>
                    <a:pt x="99" y="106"/>
                    <a:pt x="98" y="107"/>
                  </a:cubicBezTo>
                  <a:cubicBezTo>
                    <a:pt x="97" y="107"/>
                    <a:pt x="95" y="107"/>
                    <a:pt x="95" y="106"/>
                  </a:cubicBezTo>
                  <a:cubicBezTo>
                    <a:pt x="94" y="105"/>
                    <a:pt x="93" y="103"/>
                    <a:pt x="92" y="100"/>
                  </a:cubicBezTo>
                  <a:cubicBezTo>
                    <a:pt x="92" y="96"/>
                    <a:pt x="92" y="94"/>
                    <a:pt x="92" y="91"/>
                  </a:cubicBezTo>
                  <a:cubicBezTo>
                    <a:pt x="93" y="86"/>
                    <a:pt x="96" y="85"/>
                    <a:pt x="96" y="81"/>
                  </a:cubicBezTo>
                  <a:cubicBezTo>
                    <a:pt x="96" y="78"/>
                    <a:pt x="96" y="77"/>
                    <a:pt x="95" y="76"/>
                  </a:cubicBezTo>
                  <a:cubicBezTo>
                    <a:pt x="95" y="74"/>
                    <a:pt x="93" y="71"/>
                    <a:pt x="95" y="71"/>
                  </a:cubicBezTo>
                  <a:cubicBezTo>
                    <a:pt x="97" y="71"/>
                    <a:pt x="97" y="72"/>
                    <a:pt x="97" y="72"/>
                  </a:cubicBezTo>
                  <a:cubicBezTo>
                    <a:pt x="98" y="73"/>
                    <a:pt x="100" y="76"/>
                    <a:pt x="100" y="78"/>
                  </a:cubicBezTo>
                  <a:cubicBezTo>
                    <a:pt x="100" y="81"/>
                    <a:pt x="99" y="84"/>
                    <a:pt x="98" y="87"/>
                  </a:cubicBezTo>
                  <a:cubicBezTo>
                    <a:pt x="96" y="90"/>
                    <a:pt x="95" y="91"/>
                    <a:pt x="95" y="94"/>
                  </a:cubicBezTo>
                  <a:cubicBezTo>
                    <a:pt x="96" y="96"/>
                    <a:pt x="96" y="98"/>
                    <a:pt x="97" y="102"/>
                  </a:cubicBezTo>
                  <a:close/>
                  <a:moveTo>
                    <a:pt x="106" y="84"/>
                  </a:moveTo>
                  <a:cubicBezTo>
                    <a:pt x="104" y="89"/>
                    <a:pt x="103" y="88"/>
                    <a:pt x="102" y="93"/>
                  </a:cubicBezTo>
                  <a:cubicBezTo>
                    <a:pt x="102" y="95"/>
                    <a:pt x="103" y="100"/>
                    <a:pt x="104" y="102"/>
                  </a:cubicBezTo>
                  <a:cubicBezTo>
                    <a:pt x="104" y="103"/>
                    <a:pt x="106" y="106"/>
                    <a:pt x="105" y="106"/>
                  </a:cubicBezTo>
                  <a:cubicBezTo>
                    <a:pt x="104" y="107"/>
                    <a:pt x="102" y="106"/>
                    <a:pt x="102" y="106"/>
                  </a:cubicBezTo>
                  <a:cubicBezTo>
                    <a:pt x="101" y="105"/>
                    <a:pt x="100" y="102"/>
                    <a:pt x="100" y="101"/>
                  </a:cubicBezTo>
                  <a:cubicBezTo>
                    <a:pt x="99" y="98"/>
                    <a:pt x="98" y="92"/>
                    <a:pt x="100" y="88"/>
                  </a:cubicBezTo>
                  <a:cubicBezTo>
                    <a:pt x="101" y="87"/>
                    <a:pt x="102" y="85"/>
                    <a:pt x="103" y="81"/>
                  </a:cubicBezTo>
                  <a:cubicBezTo>
                    <a:pt x="103" y="77"/>
                    <a:pt x="102" y="76"/>
                    <a:pt x="102" y="74"/>
                  </a:cubicBezTo>
                  <a:cubicBezTo>
                    <a:pt x="101" y="73"/>
                    <a:pt x="100" y="72"/>
                    <a:pt x="102" y="72"/>
                  </a:cubicBezTo>
                  <a:cubicBezTo>
                    <a:pt x="105" y="72"/>
                    <a:pt x="105" y="73"/>
                    <a:pt x="106" y="75"/>
                  </a:cubicBezTo>
                  <a:cubicBezTo>
                    <a:pt x="106" y="78"/>
                    <a:pt x="106" y="79"/>
                    <a:pt x="106" y="84"/>
                  </a:cubicBezTo>
                  <a:close/>
                  <a:moveTo>
                    <a:pt x="105" y="67"/>
                  </a:moveTo>
                  <a:cubicBezTo>
                    <a:pt x="103" y="68"/>
                    <a:pt x="103" y="67"/>
                    <a:pt x="103" y="64"/>
                  </a:cubicBezTo>
                  <a:cubicBezTo>
                    <a:pt x="103" y="63"/>
                    <a:pt x="103" y="57"/>
                    <a:pt x="101" y="56"/>
                  </a:cubicBezTo>
                  <a:cubicBezTo>
                    <a:pt x="99" y="55"/>
                    <a:pt x="97" y="55"/>
                    <a:pt x="96" y="56"/>
                  </a:cubicBezTo>
                  <a:cubicBezTo>
                    <a:pt x="96" y="56"/>
                    <a:pt x="96" y="66"/>
                    <a:pt x="96" y="66"/>
                  </a:cubicBezTo>
                  <a:cubicBezTo>
                    <a:pt x="96" y="69"/>
                    <a:pt x="95" y="68"/>
                    <a:pt x="94" y="68"/>
                  </a:cubicBezTo>
                  <a:cubicBezTo>
                    <a:pt x="92" y="67"/>
                    <a:pt x="92" y="66"/>
                    <a:pt x="92" y="65"/>
                  </a:cubicBezTo>
                  <a:cubicBezTo>
                    <a:pt x="92" y="63"/>
                    <a:pt x="92" y="56"/>
                    <a:pt x="92" y="56"/>
                  </a:cubicBezTo>
                  <a:cubicBezTo>
                    <a:pt x="92" y="56"/>
                    <a:pt x="88" y="55"/>
                    <a:pt x="87" y="59"/>
                  </a:cubicBezTo>
                  <a:cubicBezTo>
                    <a:pt x="87" y="63"/>
                    <a:pt x="86" y="65"/>
                    <a:pt x="86" y="66"/>
                  </a:cubicBezTo>
                  <a:cubicBezTo>
                    <a:pt x="86" y="67"/>
                    <a:pt x="86" y="67"/>
                    <a:pt x="86" y="67"/>
                  </a:cubicBezTo>
                  <a:cubicBezTo>
                    <a:pt x="85" y="68"/>
                    <a:pt x="84" y="68"/>
                    <a:pt x="83" y="68"/>
                  </a:cubicBezTo>
                  <a:cubicBezTo>
                    <a:pt x="83" y="66"/>
                    <a:pt x="83" y="64"/>
                    <a:pt x="84" y="62"/>
                  </a:cubicBezTo>
                  <a:cubicBezTo>
                    <a:pt x="84" y="59"/>
                    <a:pt x="85" y="57"/>
                    <a:pt x="85" y="55"/>
                  </a:cubicBezTo>
                  <a:cubicBezTo>
                    <a:pt x="86" y="54"/>
                    <a:pt x="89" y="53"/>
                    <a:pt x="92" y="52"/>
                  </a:cubicBezTo>
                  <a:cubicBezTo>
                    <a:pt x="93" y="52"/>
                    <a:pt x="93" y="50"/>
                    <a:pt x="92" y="50"/>
                  </a:cubicBezTo>
                  <a:cubicBezTo>
                    <a:pt x="91" y="49"/>
                    <a:pt x="89" y="50"/>
                    <a:pt x="87" y="50"/>
                  </a:cubicBezTo>
                  <a:cubicBezTo>
                    <a:pt x="86" y="50"/>
                    <a:pt x="85" y="51"/>
                    <a:pt x="84" y="49"/>
                  </a:cubicBezTo>
                  <a:cubicBezTo>
                    <a:pt x="84" y="48"/>
                    <a:pt x="84" y="47"/>
                    <a:pt x="86" y="47"/>
                  </a:cubicBezTo>
                  <a:cubicBezTo>
                    <a:pt x="90" y="47"/>
                    <a:pt x="90" y="47"/>
                    <a:pt x="90" y="47"/>
                  </a:cubicBezTo>
                  <a:cubicBezTo>
                    <a:pt x="90" y="47"/>
                    <a:pt x="92" y="47"/>
                    <a:pt x="92" y="46"/>
                  </a:cubicBezTo>
                  <a:cubicBezTo>
                    <a:pt x="92" y="46"/>
                    <a:pt x="93" y="44"/>
                    <a:pt x="93" y="43"/>
                  </a:cubicBezTo>
                  <a:cubicBezTo>
                    <a:pt x="93" y="43"/>
                    <a:pt x="94" y="43"/>
                    <a:pt x="95" y="43"/>
                  </a:cubicBezTo>
                  <a:cubicBezTo>
                    <a:pt x="96" y="44"/>
                    <a:pt x="96" y="44"/>
                    <a:pt x="96" y="45"/>
                  </a:cubicBezTo>
                  <a:cubicBezTo>
                    <a:pt x="96" y="46"/>
                    <a:pt x="96" y="46"/>
                    <a:pt x="100" y="46"/>
                  </a:cubicBezTo>
                  <a:cubicBezTo>
                    <a:pt x="103" y="46"/>
                    <a:pt x="105" y="46"/>
                    <a:pt x="105" y="47"/>
                  </a:cubicBezTo>
                  <a:cubicBezTo>
                    <a:pt x="105" y="48"/>
                    <a:pt x="105" y="49"/>
                    <a:pt x="105" y="49"/>
                  </a:cubicBezTo>
                  <a:cubicBezTo>
                    <a:pt x="105" y="50"/>
                    <a:pt x="104" y="49"/>
                    <a:pt x="102" y="50"/>
                  </a:cubicBezTo>
                  <a:cubicBezTo>
                    <a:pt x="100" y="50"/>
                    <a:pt x="97" y="50"/>
                    <a:pt x="96" y="50"/>
                  </a:cubicBezTo>
                  <a:cubicBezTo>
                    <a:pt x="96" y="50"/>
                    <a:pt x="96" y="51"/>
                    <a:pt x="96" y="51"/>
                  </a:cubicBezTo>
                  <a:cubicBezTo>
                    <a:pt x="96" y="52"/>
                    <a:pt x="96" y="52"/>
                    <a:pt x="98" y="52"/>
                  </a:cubicBezTo>
                  <a:cubicBezTo>
                    <a:pt x="105" y="54"/>
                    <a:pt x="105" y="54"/>
                    <a:pt x="106" y="58"/>
                  </a:cubicBezTo>
                  <a:cubicBezTo>
                    <a:pt x="106" y="62"/>
                    <a:pt x="106" y="64"/>
                    <a:pt x="106" y="65"/>
                  </a:cubicBezTo>
                  <a:cubicBezTo>
                    <a:pt x="106" y="66"/>
                    <a:pt x="107" y="67"/>
                    <a:pt x="105" y="6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5" name="Freeform 69"/>
            <p:cNvSpPr/>
            <p:nvPr/>
          </p:nvSpPr>
          <p:spPr bwMode="auto">
            <a:xfrm>
              <a:off x="4656138" y="5248275"/>
              <a:ext cx="26988" cy="28575"/>
            </a:xfrm>
            <a:custGeom>
              <a:avLst/>
              <a:gdLst>
                <a:gd name="T0" fmla="*/ 3 w 5"/>
                <a:gd name="T1" fmla="*/ 5 h 5"/>
                <a:gd name="T2" fmla="*/ 4 w 5"/>
                <a:gd name="T3" fmla="*/ 5 h 5"/>
                <a:gd name="T4" fmla="*/ 5 w 5"/>
                <a:gd name="T5" fmla="*/ 1 h 5"/>
                <a:gd name="T6" fmla="*/ 1 w 5"/>
                <a:gd name="T7" fmla="*/ 0 h 5"/>
                <a:gd name="T8" fmla="*/ 0 w 5"/>
                <a:gd name="T9" fmla="*/ 1 h 5"/>
                <a:gd name="T10" fmla="*/ 3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3" y="5"/>
                  </a:moveTo>
                  <a:cubicBezTo>
                    <a:pt x="4" y="5"/>
                    <a:pt x="4" y="5"/>
                    <a:pt x="4" y="5"/>
                  </a:cubicBezTo>
                  <a:cubicBezTo>
                    <a:pt x="5" y="4"/>
                    <a:pt x="5" y="3"/>
                    <a:pt x="5" y="1"/>
                  </a:cubicBezTo>
                  <a:cubicBezTo>
                    <a:pt x="4" y="0"/>
                    <a:pt x="3" y="0"/>
                    <a:pt x="1" y="0"/>
                  </a:cubicBezTo>
                  <a:cubicBezTo>
                    <a:pt x="1" y="0"/>
                    <a:pt x="0" y="0"/>
                    <a:pt x="0" y="1"/>
                  </a:cubicBezTo>
                  <a:cubicBezTo>
                    <a:pt x="1" y="5"/>
                    <a:pt x="1" y="4"/>
                    <a:pt x="3"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6" name="Freeform 70"/>
            <p:cNvSpPr/>
            <p:nvPr/>
          </p:nvSpPr>
          <p:spPr bwMode="auto">
            <a:xfrm>
              <a:off x="4587875" y="5253038"/>
              <a:ext cx="28575" cy="23813"/>
            </a:xfrm>
            <a:custGeom>
              <a:avLst/>
              <a:gdLst>
                <a:gd name="T0" fmla="*/ 1 w 5"/>
                <a:gd name="T1" fmla="*/ 4 h 4"/>
                <a:gd name="T2" fmla="*/ 2 w 5"/>
                <a:gd name="T3" fmla="*/ 4 h 4"/>
                <a:gd name="T4" fmla="*/ 5 w 5"/>
                <a:gd name="T5" fmla="*/ 0 h 4"/>
                <a:gd name="T6" fmla="*/ 2 w 5"/>
                <a:gd name="T7" fmla="*/ 0 h 4"/>
                <a:gd name="T8" fmla="*/ 1 w 5"/>
                <a:gd name="T9" fmla="*/ 1 h 4"/>
                <a:gd name="T10" fmla="*/ 1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1" y="4"/>
                  </a:moveTo>
                  <a:cubicBezTo>
                    <a:pt x="2" y="4"/>
                    <a:pt x="2" y="4"/>
                    <a:pt x="2" y="4"/>
                  </a:cubicBezTo>
                  <a:cubicBezTo>
                    <a:pt x="4" y="4"/>
                    <a:pt x="4" y="2"/>
                    <a:pt x="5" y="0"/>
                  </a:cubicBezTo>
                  <a:cubicBezTo>
                    <a:pt x="5" y="0"/>
                    <a:pt x="3" y="0"/>
                    <a:pt x="2" y="0"/>
                  </a:cubicBezTo>
                  <a:cubicBezTo>
                    <a:pt x="1" y="0"/>
                    <a:pt x="1" y="0"/>
                    <a:pt x="1" y="1"/>
                  </a:cubicBezTo>
                  <a:cubicBezTo>
                    <a:pt x="0" y="2"/>
                    <a:pt x="0" y="4"/>
                    <a:pt x="1" y="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97" name="文本框 96"/>
          <p:cNvSpPr txBox="1"/>
          <p:nvPr/>
        </p:nvSpPr>
        <p:spPr>
          <a:xfrm>
            <a:off x="4550230" y="4776443"/>
            <a:ext cx="3755570" cy="461665"/>
          </a:xfrm>
          <a:prstGeom prst="rect">
            <a:avLst/>
          </a:prstGeom>
          <a:noFill/>
        </p:spPr>
        <p:txBody>
          <a:bodyPr wrap="square">
            <a:spAutoFit/>
          </a:bodyPr>
          <a:lstStyle/>
          <a:p>
            <a:pPr>
              <a:buFontTx/>
            </a:pPr>
            <a:r>
              <a:rPr lang="zh-CN" altLang="en-US" sz="2400" dirty="0">
                <a:solidFill>
                  <a:schemeClr val="accent2"/>
                </a:solidFill>
                <a:latin typeface="Arial" panose="020B0604020202020204" pitchFamily="34" charset="0"/>
                <a:ea typeface="宋体" panose="02010600030101010101" pitchFamily="2" charset="-122"/>
              </a:rPr>
              <a:t>主讲人：王培鸿</a:t>
            </a:r>
          </a:p>
        </p:txBody>
      </p:sp>
      <p:sp>
        <p:nvSpPr>
          <p:cNvPr id="98" name="标题 3073"/>
          <p:cNvSpPr txBox="1"/>
          <p:nvPr/>
        </p:nvSpPr>
        <p:spPr>
          <a:xfrm>
            <a:off x="2893993" y="2646242"/>
            <a:ext cx="6404014" cy="1478112"/>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5400" dirty="0">
                <a:solidFill>
                  <a:schemeClr val="accent2"/>
                </a:solidFill>
                <a:latin typeface="Arial" panose="020B0604020202020204" pitchFamily="34" charset="0"/>
                <a:ea typeface="宋体" panose="02010600030101010101" pitchFamily="2" charset="-122"/>
              </a:rPr>
              <a:t>数组   </a:t>
            </a:r>
            <a:r>
              <a:rPr lang="en-US" altLang="zh-CN" sz="5400" dirty="0">
                <a:solidFill>
                  <a:schemeClr val="accent2"/>
                </a:solidFill>
                <a:latin typeface="Arial" panose="020B0604020202020204" pitchFamily="34" charset="0"/>
                <a:ea typeface="宋体" panose="02010600030101010101" pitchFamily="2" charset="-122"/>
              </a:rPr>
              <a:t>2023.11.25</a:t>
            </a:r>
          </a:p>
        </p:txBody>
      </p:sp>
    </p:spTree>
    <p:extLst>
      <p:ext uri="{BB962C8B-B14F-4D97-AF65-F5344CB8AC3E}">
        <p14:creationId xmlns:p14="http://schemas.microsoft.com/office/powerpoint/2010/main" val="3708557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Rectangle 4">
            <a:extLst>
              <a:ext uri="{FF2B5EF4-FFF2-40B4-BE49-F238E27FC236}">
                <a16:creationId xmlns:a16="http://schemas.microsoft.com/office/drawing/2014/main" id="{FB891A25-926A-4525-8FD9-AF7F17D21FA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章：数  组 </a:t>
            </a:r>
          </a:p>
        </p:txBody>
      </p:sp>
      <p:grpSp>
        <p:nvGrpSpPr>
          <p:cNvPr id="32" name="组合 31">
            <a:extLst>
              <a:ext uri="{FF2B5EF4-FFF2-40B4-BE49-F238E27FC236}">
                <a16:creationId xmlns:a16="http://schemas.microsoft.com/office/drawing/2014/main" id="{3366E962-D97C-47E7-AD39-066F7D8101EF}"/>
              </a:ext>
            </a:extLst>
          </p:cNvPr>
          <p:cNvGrpSpPr/>
          <p:nvPr/>
        </p:nvGrpSpPr>
        <p:grpSpPr>
          <a:xfrm>
            <a:off x="695325" y="967906"/>
            <a:ext cx="3267000" cy="630931"/>
            <a:chOff x="695400" y="1059424"/>
            <a:chExt cx="3267000" cy="630931"/>
          </a:xfrm>
        </p:grpSpPr>
        <p:grpSp>
          <p:nvGrpSpPr>
            <p:cNvPr id="33" name="组合 32">
              <a:extLst>
                <a:ext uri="{FF2B5EF4-FFF2-40B4-BE49-F238E27FC236}">
                  <a16:creationId xmlns:a16="http://schemas.microsoft.com/office/drawing/2014/main" id="{75B19A7D-4C0C-473B-81BD-526F79EAF2BB}"/>
                </a:ext>
              </a:extLst>
            </p:cNvPr>
            <p:cNvGrpSpPr/>
            <p:nvPr/>
          </p:nvGrpSpPr>
          <p:grpSpPr>
            <a:xfrm>
              <a:off x="695400" y="1059424"/>
              <a:ext cx="833819" cy="557612"/>
              <a:chOff x="695400" y="1059424"/>
              <a:chExt cx="833819" cy="557612"/>
            </a:xfrm>
          </p:grpSpPr>
          <p:sp>
            <p:nvSpPr>
              <p:cNvPr id="35" name="菱形 34">
                <a:extLst>
                  <a:ext uri="{FF2B5EF4-FFF2-40B4-BE49-F238E27FC236}">
                    <a16:creationId xmlns:a16="http://schemas.microsoft.com/office/drawing/2014/main" id="{8CA39714-838C-47B8-80FE-DDE38B15E1BC}"/>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36" name="菱形 35">
                <a:extLst>
                  <a:ext uri="{FF2B5EF4-FFF2-40B4-BE49-F238E27FC236}">
                    <a16:creationId xmlns:a16="http://schemas.microsoft.com/office/drawing/2014/main" id="{4626E672-179B-473C-86B0-BCFA40D4F7FA}"/>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34" name="Text Box 5">
              <a:extLst>
                <a:ext uri="{FF2B5EF4-FFF2-40B4-BE49-F238E27FC236}">
                  <a16:creationId xmlns:a16="http://schemas.microsoft.com/office/drawing/2014/main" id="{492B3353-0131-4723-B831-1343EDDCBEB5}"/>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lang="zh-CN" altLang="en-US" sz="2800" b="1" dirty="0">
                  <a:solidFill>
                    <a:schemeClr val="accent1"/>
                  </a:solidFill>
                  <a:latin typeface="思源黑体 CN Heavy" panose="020B0A00000000000000" pitchFamily="34" charset="-122"/>
                  <a:ea typeface="思源黑体 CN Heavy" panose="020B0A00000000000000" pitchFamily="34" charset="-122"/>
                </a:rPr>
                <a:t>学习引例</a:t>
              </a:r>
              <a:endParaRPr kumimoji="0" lang="zh-CN" altLang="en-US" sz="2800" b="1" dirty="0">
                <a:solidFill>
                  <a:schemeClr val="accent1"/>
                </a:solidFill>
                <a:latin typeface="思源黑体 CN Heavy" panose="020B0A00000000000000" pitchFamily="34" charset="-122"/>
                <a:ea typeface="思源黑体 CN Heavy" panose="020B0A00000000000000" pitchFamily="34" charset="-122"/>
              </a:endParaRPr>
            </a:p>
          </p:txBody>
        </p:sp>
      </p:grpSp>
      <p:sp>
        <p:nvSpPr>
          <p:cNvPr id="54" name="Rectangle 37">
            <a:extLst>
              <a:ext uri="{FF2B5EF4-FFF2-40B4-BE49-F238E27FC236}">
                <a16:creationId xmlns:a16="http://schemas.microsoft.com/office/drawing/2014/main" id="{198EFC7A-4972-4B6A-A347-6B7BD949FA70}"/>
              </a:ext>
            </a:extLst>
          </p:cNvPr>
          <p:cNvSpPr>
            <a:spLocks noChangeArrowheads="1"/>
          </p:cNvSpPr>
          <p:nvPr/>
        </p:nvSpPr>
        <p:spPr bwMode="auto">
          <a:xfrm>
            <a:off x="876400" y="2034289"/>
            <a:ext cx="10439199" cy="193899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ffectLst>
                  <a:outerShdw blurRad="38100" dist="38100" dir="2700000" algn="tl">
                    <a:srgbClr val="FFFFFF"/>
                  </a:outerShdw>
                </a:effectLst>
                <a:ea typeface="楷体" pitchFamily="49" charset="-122"/>
              </a:rPr>
              <a:t>         </a:t>
            </a:r>
            <a:r>
              <a:rPr lang="zh-CN" altLang="en-US" b="1" dirty="0">
                <a:effectLst>
                  <a:outerShdw blurRad="38100" dist="38100" dir="2700000" algn="tl">
                    <a:srgbClr val="FFFFFF"/>
                  </a:outerShdw>
                </a:effectLst>
                <a:ea typeface="楷体" pitchFamily="49" charset="-122"/>
              </a:rPr>
              <a:t>到目前为止，我们已经讨论了</a:t>
            </a: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中的基本数据类型，如果用基本数据类型来定义某些变量，那么这些变量在内存中将占用各自的内存单元，变量之间的制约关系无法体现，不能表现出这些变量之间的关联性，看不出它们之间有任何的联系，我们把这些变量称之为</a:t>
            </a:r>
            <a:r>
              <a:rPr lang="zh-CN" altLang="en-US" b="1" dirty="0">
                <a:solidFill>
                  <a:srgbClr val="C01920"/>
                </a:solidFill>
                <a:ea typeface="楷体" pitchFamily="49" charset="-122"/>
              </a:rPr>
              <a:t>“离散变量”</a:t>
            </a:r>
            <a:r>
              <a:rPr lang="zh-CN" altLang="en-US" b="1" dirty="0">
                <a:effectLst>
                  <a:outerShdw blurRad="38100" dist="38100" dir="2700000" algn="tl">
                    <a:srgbClr val="FFFFFF"/>
                  </a:outerShdw>
                </a:effectLst>
                <a:ea typeface="楷体" pitchFamily="49" charset="-122"/>
              </a:rPr>
              <a:t>，对它们的访问只能通过变量名逐一进行</a:t>
            </a:r>
            <a:r>
              <a:rPr lang="zh-CN" altLang="en-US" dirty="0">
                <a:ea typeface="楷体" pitchFamily="49" charset="-122"/>
              </a:rPr>
              <a:t> </a:t>
            </a:r>
            <a:r>
              <a:rPr lang="zh-CN" altLang="en-US" b="1" dirty="0">
                <a:effectLst>
                  <a:outerShdw blurRad="38100" dist="38100" dir="2700000" algn="tl">
                    <a:srgbClr val="FFFFFF"/>
                  </a:outerShdw>
                </a:effectLst>
                <a:ea typeface="楷体" pitchFamily="49" charset="-122"/>
              </a:rPr>
              <a:t>。   </a:t>
            </a:r>
            <a:r>
              <a:rPr lang="zh-CN" altLang="en-US" b="1" dirty="0">
                <a:solidFill>
                  <a:srgbClr val="CC3300"/>
                </a:solidFill>
                <a:effectLst>
                  <a:outerShdw blurRad="38100" dist="38100" dir="2700000" algn="tl">
                    <a:srgbClr val="000000"/>
                  </a:outerShdw>
                </a:effectLst>
                <a:ea typeface="楷体" pitchFamily="49" charset="-122"/>
              </a:rPr>
              <a:t>       </a:t>
            </a:r>
            <a:r>
              <a:rPr lang="zh-CN" altLang="en-US" dirty="0">
                <a:solidFill>
                  <a:srgbClr val="CC3300"/>
                </a:solidFill>
                <a:ea typeface="楷体" pitchFamily="49" charset="-122"/>
              </a:rPr>
              <a:t> </a:t>
            </a:r>
          </a:p>
        </p:txBody>
      </p:sp>
      <p:sp>
        <p:nvSpPr>
          <p:cNvPr id="55" name="Rectangle 56">
            <a:extLst>
              <a:ext uri="{FF2B5EF4-FFF2-40B4-BE49-F238E27FC236}">
                <a16:creationId xmlns:a16="http://schemas.microsoft.com/office/drawing/2014/main" id="{1BA10C31-1E70-4188-AE31-938F35B31FFB}"/>
              </a:ext>
            </a:extLst>
          </p:cNvPr>
          <p:cNvSpPr>
            <a:spLocks noChangeArrowheads="1"/>
          </p:cNvSpPr>
          <p:nvPr/>
        </p:nvSpPr>
        <p:spPr bwMode="auto">
          <a:xfrm>
            <a:off x="1267875" y="1849623"/>
            <a:ext cx="10439199" cy="369332"/>
          </a:xfrm>
          <a:prstGeom prst="rect">
            <a:avLst/>
          </a:prstGeom>
          <a:noFill/>
          <a:ln>
            <a:noFill/>
            <a:headEnd/>
            <a:tailEnd/>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solidFill>
                  <a:schemeClr val="accent1"/>
                </a:solidFill>
                <a:ea typeface="楷体" pitchFamily="49" charset="-122"/>
              </a:rPr>
              <a:t>下面来思考一个问题：</a:t>
            </a:r>
            <a:r>
              <a:rPr lang="zh-CN" altLang="en-US" b="1" dirty="0">
                <a:solidFill>
                  <a:srgbClr val="002060"/>
                </a:solidFill>
                <a:ea typeface="楷体" pitchFamily="49" charset="-122"/>
              </a:rPr>
              <a:t>如何编程来实现对</a:t>
            </a:r>
            <a:r>
              <a:rPr lang="en-US" altLang="zh-CN" b="1" dirty="0">
                <a:solidFill>
                  <a:srgbClr val="002060"/>
                </a:solidFill>
                <a:ea typeface="楷体" pitchFamily="49" charset="-122"/>
              </a:rPr>
              <a:t>100</a:t>
            </a:r>
            <a:r>
              <a:rPr lang="zh-CN" altLang="en-US" b="1" dirty="0">
                <a:solidFill>
                  <a:srgbClr val="002060"/>
                </a:solidFill>
                <a:ea typeface="楷体" pitchFamily="49" charset="-122"/>
              </a:rPr>
              <a:t>个数进行排序呢？</a:t>
            </a:r>
          </a:p>
        </p:txBody>
      </p:sp>
      <p:sp>
        <p:nvSpPr>
          <p:cNvPr id="60" name="Rectangle 82">
            <a:extLst>
              <a:ext uri="{FF2B5EF4-FFF2-40B4-BE49-F238E27FC236}">
                <a16:creationId xmlns:a16="http://schemas.microsoft.com/office/drawing/2014/main" id="{1E0AA6F3-5F99-4BEB-876E-FE1E6420F649}"/>
              </a:ext>
            </a:extLst>
          </p:cNvPr>
          <p:cNvSpPr>
            <a:spLocks noChangeArrowheads="1"/>
          </p:cNvSpPr>
          <p:nvPr/>
        </p:nvSpPr>
        <p:spPr bwMode="auto">
          <a:xfrm>
            <a:off x="2135559" y="4871389"/>
            <a:ext cx="7920880" cy="122555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541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buClr>
                <a:srgbClr val="C01920"/>
              </a:buClr>
              <a:buFont typeface="Wingdings" pitchFamily="2" charset="2"/>
              <a:buChar char="Ø"/>
            </a:pPr>
            <a:r>
              <a:rPr lang="en-US" altLang="zh-CN" b="1" dirty="0">
                <a:effectLst>
                  <a:outerShdw blurRad="38100" dist="38100" dir="2700000" algn="tl">
                    <a:srgbClr val="FFFFFF"/>
                  </a:outerShdw>
                </a:effectLst>
                <a:latin typeface="隶书" pitchFamily="49" charset="-122"/>
                <a:ea typeface="隶书" pitchFamily="49" charset="-122"/>
              </a:rPr>
              <a:t> </a:t>
            </a:r>
            <a:r>
              <a:rPr lang="zh-CN" altLang="en-US" b="1" dirty="0">
                <a:effectLst>
                  <a:outerShdw blurRad="38100" dist="38100" dir="2700000" algn="tl">
                    <a:srgbClr val="FFFFFF"/>
                  </a:outerShdw>
                </a:effectLst>
                <a:latin typeface="隶书" pitchFamily="49" charset="-122"/>
                <a:ea typeface="隶书" pitchFamily="49" charset="-122"/>
              </a:rPr>
              <a:t>构造数据类型之一</a:t>
            </a:r>
          </a:p>
          <a:p>
            <a:pPr>
              <a:buClr>
                <a:srgbClr val="C01920"/>
              </a:buClr>
              <a:buFont typeface="Wingdings" pitchFamily="2" charset="2"/>
              <a:buChar char="Ø"/>
            </a:pPr>
            <a:r>
              <a:rPr lang="zh-CN" altLang="en-US" b="1" dirty="0">
                <a:effectLst>
                  <a:outerShdw blurRad="38100" dist="38100" dir="2700000" algn="tl">
                    <a:srgbClr val="FFFFFF"/>
                  </a:outerShdw>
                </a:effectLst>
                <a:latin typeface="隶书" pitchFamily="49" charset="-122"/>
                <a:ea typeface="隶书" pitchFamily="49" charset="-122"/>
              </a:rPr>
              <a:t> </a:t>
            </a:r>
            <a:r>
              <a:rPr lang="zh-CN" altLang="en-US" b="1" dirty="0">
                <a:solidFill>
                  <a:srgbClr val="C00000"/>
                </a:solidFill>
                <a:effectLst>
                  <a:outerShdw blurRad="38100" dist="38100" dir="2700000" algn="tl">
                    <a:srgbClr val="FFFFFF"/>
                  </a:outerShdw>
                </a:effectLst>
                <a:latin typeface="隶书" pitchFamily="49" charset="-122"/>
                <a:ea typeface="隶书" pitchFamily="49" charset="-122"/>
              </a:rPr>
              <a:t>数组</a:t>
            </a:r>
            <a:r>
              <a:rPr lang="en-US" altLang="zh-CN" b="1" dirty="0">
                <a:solidFill>
                  <a:srgbClr val="C00000"/>
                </a:solidFill>
                <a:effectLst>
                  <a:outerShdw blurRad="38100" dist="38100" dir="2700000" algn="tl">
                    <a:srgbClr val="FFFFFF"/>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有序数据的集合</a:t>
            </a:r>
            <a:r>
              <a:rPr lang="en-US" altLang="zh-CN" b="1" dirty="0">
                <a:effectLst>
                  <a:outerShdw blurRad="38100" dist="38100" dir="2700000" algn="tl">
                    <a:srgbClr val="FFFFFF"/>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用数组名标识</a:t>
            </a:r>
          </a:p>
          <a:p>
            <a:pPr>
              <a:buClr>
                <a:srgbClr val="C01920"/>
              </a:buClr>
              <a:buFont typeface="Wingdings" pitchFamily="2" charset="2"/>
              <a:buChar char="Ø"/>
            </a:pPr>
            <a:r>
              <a:rPr lang="zh-CN" altLang="en-US" b="1" dirty="0">
                <a:solidFill>
                  <a:srgbClr val="C00000"/>
                </a:solidFill>
                <a:effectLst>
                  <a:outerShdw blurRad="38100" dist="38100" dir="2700000" algn="tl">
                    <a:srgbClr val="FFFFFF"/>
                  </a:outerShdw>
                </a:effectLst>
                <a:latin typeface="隶书" pitchFamily="49" charset="-122"/>
                <a:ea typeface="隶书" pitchFamily="49" charset="-122"/>
              </a:rPr>
              <a:t> 元素</a:t>
            </a:r>
            <a:r>
              <a:rPr lang="en-US" altLang="zh-CN" b="1" dirty="0">
                <a:solidFill>
                  <a:srgbClr val="C00000"/>
                </a:solidFill>
                <a:effectLst>
                  <a:outerShdw blurRad="38100" dist="38100" dir="2700000" algn="tl">
                    <a:srgbClr val="FFFFFF"/>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属同一数据类型</a:t>
            </a:r>
            <a:r>
              <a:rPr lang="en-US" altLang="zh-CN" b="1" dirty="0">
                <a:effectLst>
                  <a:outerShdw blurRad="38100" dist="38100" dir="2700000" algn="tl">
                    <a:srgbClr val="FFFFFF"/>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用数组名和下标确定</a:t>
            </a:r>
          </a:p>
        </p:txBody>
      </p:sp>
      <p:sp>
        <p:nvSpPr>
          <p:cNvPr id="18" name="文本框 17">
            <a:extLst>
              <a:ext uri="{FF2B5EF4-FFF2-40B4-BE49-F238E27FC236}">
                <a16:creationId xmlns:a16="http://schemas.microsoft.com/office/drawing/2014/main" id="{DD3B14A7-40F8-41B1-8BDE-355BAB65F9D7}"/>
              </a:ext>
            </a:extLst>
          </p:cNvPr>
          <p:cNvSpPr txBox="1"/>
          <p:nvPr/>
        </p:nvSpPr>
        <p:spPr>
          <a:xfrm>
            <a:off x="2613660" y="3729838"/>
            <a:ext cx="6964680" cy="923330"/>
          </a:xfrm>
          <a:prstGeom prst="rect">
            <a:avLst/>
          </a:prstGeom>
          <a:noFill/>
        </p:spPr>
        <p:txBody>
          <a:bodyPr wrap="square">
            <a:spAutoFit/>
          </a:bodyPr>
          <a:lstStyle/>
          <a:p>
            <a:r>
              <a:rPr lang="zh-CN" altLang="en-US" b="1" u="sng" dirty="0">
                <a:solidFill>
                  <a:schemeClr val="accent1"/>
                </a:solidFill>
                <a:latin typeface="隶书" pitchFamily="49" charset="-122"/>
                <a:ea typeface="隶书" pitchFamily="49" charset="-122"/>
              </a:rPr>
              <a:t>解题思路：</a:t>
            </a:r>
          </a:p>
          <a:p>
            <a:r>
              <a:rPr lang="en-US" altLang="zh-CN" b="1" dirty="0">
                <a:ea typeface="楷体" pitchFamily="49" charset="-122"/>
              </a:rPr>
              <a:t>        </a:t>
            </a:r>
            <a:r>
              <a:rPr lang="zh-CN" altLang="en-US" b="1" dirty="0">
                <a:ea typeface="楷体" pitchFamily="49" charset="-122"/>
              </a:rPr>
              <a:t>使用连续型存储变量数组，</a:t>
            </a:r>
            <a:r>
              <a:rPr lang="zh-CN" altLang="en-US" b="1" dirty="0">
                <a:latin typeface="+mn-lt"/>
                <a:ea typeface="楷体" pitchFamily="49" charset="-122"/>
              </a:rPr>
              <a:t>定义</a:t>
            </a:r>
            <a:r>
              <a:rPr lang="en-US" altLang="zh-CN" b="1" dirty="0">
                <a:latin typeface="+mn-lt"/>
                <a:ea typeface="楷体" pitchFamily="49" charset="-122"/>
              </a:rPr>
              <a:t>100</a:t>
            </a:r>
            <a:r>
              <a:rPr lang="zh-CN" altLang="en-US" b="1" dirty="0">
                <a:latin typeface="+mn-lt"/>
                <a:ea typeface="楷体" pitchFamily="49" charset="-122"/>
              </a:rPr>
              <a:t>个整型变量来分别存放这</a:t>
            </a:r>
            <a:r>
              <a:rPr lang="en-US" altLang="zh-CN" b="1" dirty="0">
                <a:latin typeface="+mn-lt"/>
                <a:ea typeface="楷体" pitchFamily="49" charset="-122"/>
              </a:rPr>
              <a:t>100</a:t>
            </a:r>
            <a:r>
              <a:rPr lang="zh-CN" altLang="en-US" b="1" dirty="0">
                <a:latin typeface="+mn-lt"/>
                <a:ea typeface="楷体" pitchFamily="49" charset="-122"/>
              </a:rPr>
              <a:t>个整数，然后再对这些变量的值进行比较、交换等操作</a:t>
            </a:r>
            <a:r>
              <a:rPr lang="zh-CN" altLang="en-US" dirty="0">
                <a:latin typeface="+mn-lt"/>
                <a:ea typeface="楷体" pitchFamily="49" charset="-122"/>
              </a:rPr>
              <a:t> </a:t>
            </a:r>
            <a:endParaRPr lang="zh-CN" altLang="en-US" dirty="0"/>
          </a:p>
        </p:txBody>
      </p:sp>
    </p:spTree>
    <p:extLst>
      <p:ext uri="{BB962C8B-B14F-4D97-AF65-F5344CB8AC3E}">
        <p14:creationId xmlns:p14="http://schemas.microsoft.com/office/powerpoint/2010/main" val="6470847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0-#ppt_w/2"/>
                                          </p:val>
                                        </p:tav>
                                        <p:tav tm="100000">
                                          <p:val>
                                            <p:strVal val="#ppt_x"/>
                                          </p:val>
                                        </p:tav>
                                      </p:tavLst>
                                    </p:anim>
                                    <p:anim calcmode="lin" valueType="num">
                                      <p:cBhvr additive="base">
                                        <p:cTn id="8" dur="500" fill="hold"/>
                                        <p:tgtEl>
                                          <p:spTgt spid="3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box(out)">
                                      <p:cBhvr>
                                        <p:cTn id="13" dur="500"/>
                                        <p:tgtEl>
                                          <p:spTgt spid="55"/>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box(out)">
                                      <p:cBhvr>
                                        <p:cTn id="18" dur="500"/>
                                        <p:tgtEl>
                                          <p:spTgt spid="54"/>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box(out)">
                                      <p:cBhvr>
                                        <p:cTn id="27" dur="500"/>
                                        <p:tgtEl>
                                          <p:spTgt spid="60"/>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60" grpId="0" animBg="1"/>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AF424D5E-7560-49F9-BA30-7E00984F6F2E}"/>
              </a:ext>
            </a:extLst>
          </p:cNvPr>
          <p:cNvGrpSpPr/>
          <p:nvPr/>
        </p:nvGrpSpPr>
        <p:grpSpPr>
          <a:xfrm>
            <a:off x="695325" y="967906"/>
            <a:ext cx="3267000" cy="630931"/>
            <a:chOff x="695400" y="1059424"/>
            <a:chExt cx="3267000" cy="630931"/>
          </a:xfrm>
        </p:grpSpPr>
        <p:grpSp>
          <p:nvGrpSpPr>
            <p:cNvPr id="11" name="组合 10">
              <a:extLst>
                <a:ext uri="{FF2B5EF4-FFF2-40B4-BE49-F238E27FC236}">
                  <a16:creationId xmlns:a16="http://schemas.microsoft.com/office/drawing/2014/main" id="{B2F82333-1E65-440C-BCEA-23E06CF5E4E2}"/>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69186249-A15F-4374-9B33-DDE0DD6DCFA5}"/>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949AB383-0030-46A2-9530-82C9CB03F8A1}"/>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Text Box 5">
              <a:extLst>
                <a:ext uri="{FF2B5EF4-FFF2-40B4-BE49-F238E27FC236}">
                  <a16:creationId xmlns:a16="http://schemas.microsoft.com/office/drawing/2014/main" id="{2545C299-61AD-4395-A069-D9C87DA3D97B}"/>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chemeClr val="accent1"/>
                  </a:solidFill>
                  <a:latin typeface="思源黑体 CN Heavy" panose="020B0A00000000000000" pitchFamily="34" charset="-122"/>
                  <a:ea typeface="思源黑体 CN Heavy" panose="020B0A00000000000000" pitchFamily="34" charset="-122"/>
                </a:rPr>
                <a:t>学习目标</a:t>
              </a:r>
            </a:p>
          </p:txBody>
        </p:sp>
      </p:grpSp>
      <p:grpSp>
        <p:nvGrpSpPr>
          <p:cNvPr id="15" name="组合 14">
            <a:extLst>
              <a:ext uri="{FF2B5EF4-FFF2-40B4-BE49-F238E27FC236}">
                <a16:creationId xmlns:a16="http://schemas.microsoft.com/office/drawing/2014/main" id="{EF1D102B-95DD-4D24-AB08-07B1DF0A97A7}"/>
              </a:ext>
            </a:extLst>
          </p:cNvPr>
          <p:cNvGrpSpPr/>
          <p:nvPr/>
        </p:nvGrpSpPr>
        <p:grpSpPr>
          <a:xfrm>
            <a:off x="728194" y="3086101"/>
            <a:ext cx="3267000" cy="630931"/>
            <a:chOff x="695400" y="1059424"/>
            <a:chExt cx="3267000" cy="630931"/>
          </a:xfrm>
        </p:grpSpPr>
        <p:grpSp>
          <p:nvGrpSpPr>
            <p:cNvPr id="16" name="组合 15">
              <a:extLst>
                <a:ext uri="{FF2B5EF4-FFF2-40B4-BE49-F238E27FC236}">
                  <a16:creationId xmlns:a16="http://schemas.microsoft.com/office/drawing/2014/main" id="{E98CABEB-3DEC-4BD3-9BD3-89FEE2FC0D13}"/>
                </a:ext>
              </a:extLst>
            </p:cNvPr>
            <p:cNvGrpSpPr/>
            <p:nvPr/>
          </p:nvGrpSpPr>
          <p:grpSpPr>
            <a:xfrm>
              <a:off x="695400" y="1059424"/>
              <a:ext cx="833819" cy="557612"/>
              <a:chOff x="695400" y="1059424"/>
              <a:chExt cx="833819" cy="557612"/>
            </a:xfrm>
          </p:grpSpPr>
          <p:sp>
            <p:nvSpPr>
              <p:cNvPr id="18" name="菱形 17">
                <a:extLst>
                  <a:ext uri="{FF2B5EF4-FFF2-40B4-BE49-F238E27FC236}">
                    <a16:creationId xmlns:a16="http://schemas.microsoft.com/office/drawing/2014/main" id="{B450AC3A-7AF7-4A46-AE46-D6F26D8E1E17}"/>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9" name="菱形 18">
                <a:extLst>
                  <a:ext uri="{FF2B5EF4-FFF2-40B4-BE49-F238E27FC236}">
                    <a16:creationId xmlns:a16="http://schemas.microsoft.com/office/drawing/2014/main" id="{D72FBB29-0C69-4462-BFAD-2C8AB84549B8}"/>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7" name="Text Box 5">
              <a:extLst>
                <a:ext uri="{FF2B5EF4-FFF2-40B4-BE49-F238E27FC236}">
                  <a16:creationId xmlns:a16="http://schemas.microsoft.com/office/drawing/2014/main" id="{EB7E7251-BA54-4DBA-9E12-7AD419F1D170}"/>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chemeClr val="accent1"/>
                  </a:solidFill>
                  <a:latin typeface="思源黑体 CN Heavy" panose="020B0A00000000000000" pitchFamily="34" charset="-122"/>
                  <a:ea typeface="思源黑体 CN Heavy" panose="020B0A00000000000000" pitchFamily="34" charset="-122"/>
                </a:rPr>
                <a:t>学习内容</a:t>
              </a:r>
            </a:p>
          </p:txBody>
        </p:sp>
      </p:grpSp>
      <p:sp>
        <p:nvSpPr>
          <p:cNvPr id="20" name="Rectangle 44">
            <a:extLst>
              <a:ext uri="{FF2B5EF4-FFF2-40B4-BE49-F238E27FC236}">
                <a16:creationId xmlns:a16="http://schemas.microsoft.com/office/drawing/2014/main" id="{26A18985-7F42-4BEF-B1E1-CA3463110500}"/>
              </a:ext>
            </a:extLst>
          </p:cNvPr>
          <p:cNvSpPr>
            <a:spLocks noChangeArrowheads="1"/>
          </p:cNvSpPr>
          <p:nvPr/>
        </p:nvSpPr>
        <p:spPr bwMode="auto">
          <a:xfrm>
            <a:off x="1060212" y="3678787"/>
            <a:ext cx="4921072" cy="30416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1920"/>
            </a:solidFill>
            <a:miter lim="800000"/>
            <a:headEnd/>
            <a:tailEnd/>
          </a:ln>
          <a:effectLst>
            <a:outerShdw blurRad="50800" dist="10541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ü"/>
            </a:pPr>
            <a:r>
              <a:rPr lang="en-US" altLang="zh-CN" sz="2000"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一维数组</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一维数组的定义和引用</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一维数组的赋值</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一维数组的应用举例</a:t>
            </a:r>
          </a:p>
          <a:p>
            <a:pPr>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 二维数组</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二维数组的定义和引用</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二维数组的赋值</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二维数组的应用举例</a:t>
            </a:r>
          </a:p>
        </p:txBody>
      </p:sp>
      <p:sp>
        <p:nvSpPr>
          <p:cNvPr id="21" name="Rectangle 45">
            <a:extLst>
              <a:ext uri="{FF2B5EF4-FFF2-40B4-BE49-F238E27FC236}">
                <a16:creationId xmlns:a16="http://schemas.microsoft.com/office/drawing/2014/main" id="{2866869A-599F-4E39-93ED-9A0C78DBD656}"/>
              </a:ext>
            </a:extLst>
          </p:cNvPr>
          <p:cNvSpPr>
            <a:spLocks noChangeArrowheads="1"/>
          </p:cNvSpPr>
          <p:nvPr/>
        </p:nvSpPr>
        <p:spPr bwMode="auto">
          <a:xfrm>
            <a:off x="6533647" y="3695441"/>
            <a:ext cx="5107681" cy="304200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1920"/>
            </a:solidFill>
            <a:miter lim="800000"/>
            <a:headEnd/>
            <a:tailEnd/>
          </a:ln>
          <a:effectLst>
            <a:outerShdw blurRad="50800" dist="10541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pPr>
              <a:buClr>
                <a:srgbClr val="C01920"/>
              </a:buClr>
              <a:buFont typeface="Wingdings" pitchFamily="2" charset="2"/>
              <a:buChar char="ü"/>
            </a:pPr>
            <a:r>
              <a:rPr lang="en-US" altLang="zh-CN" sz="2000"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字符串与数组</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字符串的本质</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字符及字符串操作的常用函数</a:t>
            </a:r>
          </a:p>
          <a:p>
            <a:pPr lvl="1">
              <a:buClr>
                <a:srgbClr val="C01920"/>
              </a:buClr>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字符串数组</a:t>
            </a:r>
          </a:p>
          <a:p>
            <a:pPr>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数组综合应用举例</a:t>
            </a:r>
          </a:p>
          <a:p>
            <a:pPr>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本章小结</a:t>
            </a:r>
          </a:p>
        </p:txBody>
      </p:sp>
      <p:sp>
        <p:nvSpPr>
          <p:cNvPr id="22" name="Rectangle 46">
            <a:extLst>
              <a:ext uri="{FF2B5EF4-FFF2-40B4-BE49-F238E27FC236}">
                <a16:creationId xmlns:a16="http://schemas.microsoft.com/office/drawing/2014/main" id="{3F01E73E-1BF7-476A-B083-791E6DCF4387}"/>
              </a:ext>
            </a:extLst>
          </p:cNvPr>
          <p:cNvSpPr>
            <a:spLocks noChangeArrowheads="1"/>
          </p:cNvSpPr>
          <p:nvPr/>
        </p:nvSpPr>
        <p:spPr bwMode="auto">
          <a:xfrm>
            <a:off x="3962325" y="1084851"/>
            <a:ext cx="5179700" cy="2265941"/>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1920"/>
            </a:solidFill>
            <a:miter lim="800000"/>
            <a:headEnd/>
            <a:tailEnd/>
          </a:ln>
          <a:effectLst>
            <a:outerShdw blurRad="50800" dist="10541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pPr>
              <a:lnSpc>
                <a:spcPct val="120000"/>
              </a:lnSpc>
              <a:buClr>
                <a:srgbClr val="C01920"/>
              </a:buClr>
              <a:buFont typeface="Wingdings" pitchFamily="2" charset="2"/>
              <a:buChar char="Ø"/>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理解数组变量在内存中的存放形式；</a:t>
            </a:r>
          </a:p>
          <a:p>
            <a:pPr>
              <a:lnSpc>
                <a:spcPct val="120000"/>
              </a:lnSpc>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掌握一维数组和二维数组变量的定义和数组元素的引用；</a:t>
            </a:r>
          </a:p>
          <a:p>
            <a:pPr>
              <a:lnSpc>
                <a:spcPct val="120000"/>
              </a:lnSpc>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掌握字符串与字符数组的区别；</a:t>
            </a:r>
          </a:p>
          <a:p>
            <a:pPr>
              <a:lnSpc>
                <a:spcPct val="120000"/>
              </a:lnSpc>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掌握各种字符串库函数的用法；</a:t>
            </a:r>
          </a:p>
        </p:txBody>
      </p:sp>
      <p:sp>
        <p:nvSpPr>
          <p:cNvPr id="23" name="Rectangle 4">
            <a:extLst>
              <a:ext uri="{FF2B5EF4-FFF2-40B4-BE49-F238E27FC236}">
                <a16:creationId xmlns:a16="http://schemas.microsoft.com/office/drawing/2014/main" id="{7EB2411C-A2DD-4296-93C4-2BF7ED361F0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章：数  组 </a:t>
            </a:r>
          </a:p>
        </p:txBody>
      </p:sp>
    </p:spTree>
    <p:extLst>
      <p:ext uri="{BB962C8B-B14F-4D97-AF65-F5344CB8AC3E}">
        <p14:creationId xmlns:p14="http://schemas.microsoft.com/office/powerpoint/2010/main" val="12718624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diamond(in)">
                                      <p:cBhvr>
                                        <p:cTn id="13" dur="2000"/>
                                        <p:tgtEl>
                                          <p:spTgt spid="22"/>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0-#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diamond(in)">
                                      <p:cBhvr>
                                        <p:cTn id="24" dur="2000"/>
                                        <p:tgtEl>
                                          <p:spTgt spid="20"/>
                                        </p:tgtEl>
                                      </p:cBhvr>
                                    </p:animEffect>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childTnLst>
                    </p:cTn>
                  </p:par>
                  <p:par>
                    <p:cTn id="25" fill="hold">
                      <p:stCondLst>
                        <p:cond delay="indefinite"/>
                      </p:stCondLst>
                      <p:childTnLst>
                        <p:par>
                          <p:cTn id="26" fill="hold">
                            <p:stCondLst>
                              <p:cond delay="0"/>
                            </p:stCondLst>
                            <p:childTnLst>
                              <p:par>
                                <p:cTn id="27" presetID="8" presetClass="entr" presetSubtype="16"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diamond(in)">
                                      <p:cBhvr>
                                        <p:cTn id="29" dur="2000"/>
                                        <p:tgtEl>
                                          <p:spTgt spid="21"/>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8496" name="Rectangle 32"/>
          <p:cNvSpPr>
            <a:spLocks noChangeArrowheads="1"/>
          </p:cNvSpPr>
          <p:nvPr/>
        </p:nvSpPr>
        <p:spPr bwMode="auto">
          <a:xfrm>
            <a:off x="804567" y="920078"/>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1</a:t>
            </a:r>
            <a:r>
              <a:rPr lang="zh-CN" altLang="en-US" sz="2800" b="1" dirty="0">
                <a:solidFill>
                  <a:schemeClr val="accent1"/>
                </a:solidFill>
                <a:latin typeface="+mn-lt"/>
                <a:ea typeface="楷体" pitchFamily="49" charset="-122"/>
              </a:rPr>
              <a:t>、一维数组的定义</a:t>
            </a:r>
          </a:p>
        </p:txBody>
      </p:sp>
      <p:sp>
        <p:nvSpPr>
          <p:cNvPr id="958497" name="Rectangle 33"/>
          <p:cNvSpPr>
            <a:spLocks noChangeArrowheads="1"/>
          </p:cNvSpPr>
          <p:nvPr/>
        </p:nvSpPr>
        <p:spPr bwMode="auto">
          <a:xfrm>
            <a:off x="1177629" y="1386803"/>
            <a:ext cx="1593706" cy="369332"/>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chemeClr val="accent1"/>
                </a:solidFill>
                <a:latin typeface="+mn-lt"/>
                <a:ea typeface="楷体" pitchFamily="49" charset="-122"/>
              </a:rPr>
              <a:t> </a:t>
            </a:r>
            <a:r>
              <a:rPr lang="zh-CN" altLang="en-US" b="1" dirty="0">
                <a:solidFill>
                  <a:schemeClr val="accent1"/>
                </a:solidFill>
                <a:latin typeface="+mn-lt"/>
                <a:ea typeface="楷体" pitchFamily="49" charset="-122"/>
              </a:rPr>
              <a:t>定义方式：</a:t>
            </a:r>
          </a:p>
        </p:txBody>
      </p:sp>
      <p:sp>
        <p:nvSpPr>
          <p:cNvPr id="958499" name="Text Box 35"/>
          <p:cNvSpPr txBox="1">
            <a:spLocks noChangeArrowheads="1"/>
          </p:cNvSpPr>
          <p:nvPr/>
        </p:nvSpPr>
        <p:spPr bwMode="auto">
          <a:xfrm>
            <a:off x="1702321" y="2026546"/>
            <a:ext cx="8858175" cy="369332"/>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chemeClr val="accent1"/>
                </a:solidFill>
                <a:latin typeface="隶书" pitchFamily="49" charset="-122"/>
                <a:ea typeface="隶书" pitchFamily="49" charset="-122"/>
              </a:rPr>
              <a:t>(</a:t>
            </a:r>
            <a:r>
              <a:rPr lang="zh-CN" altLang="en-US" b="1" dirty="0">
                <a:solidFill>
                  <a:schemeClr val="accent1"/>
                </a:solidFill>
                <a:latin typeface="隶书" pitchFamily="49" charset="-122"/>
                <a:ea typeface="隶书" pitchFamily="49" charset="-122"/>
              </a:rPr>
              <a:t>存储类型符</a:t>
            </a:r>
            <a:r>
              <a:rPr lang="en-US" altLang="zh-CN" b="1" dirty="0">
                <a:solidFill>
                  <a:schemeClr val="accent1"/>
                </a:solidFill>
                <a:latin typeface="隶书" pitchFamily="49" charset="-122"/>
                <a:ea typeface="隶书" pitchFamily="49" charset="-122"/>
              </a:rPr>
              <a:t>)</a:t>
            </a:r>
            <a:r>
              <a:rPr lang="zh-CN" altLang="en-US" b="1" dirty="0">
                <a:solidFill>
                  <a:schemeClr val="accent1"/>
                </a:solidFill>
                <a:latin typeface="隶书" pitchFamily="49" charset="-122"/>
                <a:ea typeface="隶书" pitchFamily="49" charset="-122"/>
              </a:rPr>
              <a:t> 数据类型符 数组变量名</a:t>
            </a:r>
            <a:r>
              <a:rPr lang="en-US" altLang="zh-CN" b="1" dirty="0">
                <a:solidFill>
                  <a:schemeClr val="accent1"/>
                </a:solidFill>
                <a:latin typeface="隶书" pitchFamily="49" charset="-122"/>
                <a:ea typeface="隶书" pitchFamily="49" charset="-122"/>
              </a:rPr>
              <a:t>[</a:t>
            </a:r>
            <a:r>
              <a:rPr lang="zh-CN" altLang="en-US" b="1" dirty="0">
                <a:solidFill>
                  <a:schemeClr val="accent1"/>
                </a:solidFill>
                <a:latin typeface="隶书" pitchFamily="49" charset="-122"/>
                <a:ea typeface="隶书" pitchFamily="49" charset="-122"/>
              </a:rPr>
              <a:t>整型常量表达式</a:t>
            </a:r>
            <a:r>
              <a:rPr lang="en-US" altLang="zh-CN" b="1" dirty="0">
                <a:solidFill>
                  <a:schemeClr val="accent1"/>
                </a:solidFill>
                <a:latin typeface="隶书" pitchFamily="49" charset="-122"/>
                <a:ea typeface="隶书" pitchFamily="49" charset="-122"/>
              </a:rPr>
              <a:t>]</a:t>
            </a:r>
            <a:r>
              <a:rPr lang="zh-CN" altLang="en-US" b="1" dirty="0">
                <a:solidFill>
                  <a:schemeClr val="accent1"/>
                </a:solidFill>
                <a:latin typeface="隶书" pitchFamily="49" charset="-122"/>
                <a:ea typeface="隶书" pitchFamily="49" charset="-122"/>
              </a:rPr>
              <a:t>；</a:t>
            </a:r>
          </a:p>
        </p:txBody>
      </p:sp>
      <p:sp>
        <p:nvSpPr>
          <p:cNvPr id="958503" name="AutoShape 39"/>
          <p:cNvSpPr>
            <a:spLocks noChangeArrowheads="1"/>
          </p:cNvSpPr>
          <p:nvPr/>
        </p:nvSpPr>
        <p:spPr bwMode="auto">
          <a:xfrm>
            <a:off x="2134120" y="2900187"/>
            <a:ext cx="2520950" cy="792162"/>
          </a:xfrm>
          <a:prstGeom prst="wedgeRoundRectCallout">
            <a:avLst>
              <a:gd name="adj1" fmla="val -38537"/>
              <a:gd name="adj2" fmla="val -120542"/>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solidFill>
                  <a:srgbClr val="002060"/>
                </a:solidFill>
                <a:latin typeface="+mn-lt"/>
                <a:ea typeface="楷体" pitchFamily="49" charset="-122"/>
              </a:rPr>
              <a:t>数组中各元素的存储类别</a:t>
            </a:r>
          </a:p>
        </p:txBody>
      </p:sp>
      <p:sp>
        <p:nvSpPr>
          <p:cNvPr id="958504" name="AutoShape 40"/>
          <p:cNvSpPr>
            <a:spLocks noChangeArrowheads="1"/>
          </p:cNvSpPr>
          <p:nvPr/>
        </p:nvSpPr>
        <p:spPr bwMode="auto">
          <a:xfrm>
            <a:off x="3791471" y="2908125"/>
            <a:ext cx="2160587" cy="792163"/>
          </a:xfrm>
          <a:prstGeom prst="wedgeRoundRectCallout">
            <a:avLst>
              <a:gd name="adj1" fmla="val -36630"/>
              <a:gd name="adj2" fmla="val -120542"/>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002060"/>
                </a:solidFill>
                <a:latin typeface="+mn-lt"/>
                <a:ea typeface="楷体" pitchFamily="49" charset="-122"/>
              </a:rPr>
              <a:t>数组元素的数据类型</a:t>
            </a:r>
          </a:p>
        </p:txBody>
      </p:sp>
      <p:sp>
        <p:nvSpPr>
          <p:cNvPr id="958505" name="AutoShape 41"/>
          <p:cNvSpPr>
            <a:spLocks noChangeArrowheads="1"/>
          </p:cNvSpPr>
          <p:nvPr/>
        </p:nvSpPr>
        <p:spPr bwMode="auto">
          <a:xfrm>
            <a:off x="5591696" y="2900188"/>
            <a:ext cx="2160587" cy="568325"/>
          </a:xfrm>
          <a:prstGeom prst="wedgeRoundRectCallout">
            <a:avLst>
              <a:gd name="adj1" fmla="val -35306"/>
              <a:gd name="adj2" fmla="val -146926"/>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solidFill>
                  <a:srgbClr val="002060"/>
                </a:solidFill>
                <a:latin typeface="+mn-lt"/>
                <a:ea typeface="楷体" pitchFamily="49" charset="-122"/>
              </a:rPr>
              <a:t>合法的标识符</a:t>
            </a:r>
          </a:p>
        </p:txBody>
      </p:sp>
      <p:sp>
        <p:nvSpPr>
          <p:cNvPr id="958506" name="AutoShape 42"/>
          <p:cNvSpPr>
            <a:spLocks noChangeArrowheads="1"/>
          </p:cNvSpPr>
          <p:nvPr/>
        </p:nvSpPr>
        <p:spPr bwMode="auto">
          <a:xfrm>
            <a:off x="7404620" y="2923852"/>
            <a:ext cx="1930400" cy="865188"/>
          </a:xfrm>
          <a:prstGeom prst="wedgeRoundRectCallout">
            <a:avLst>
              <a:gd name="adj1" fmla="val -33551"/>
              <a:gd name="adj2" fmla="val -113671"/>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solidFill>
                  <a:srgbClr val="002060"/>
                </a:solidFill>
                <a:latin typeface="+mn-lt"/>
                <a:ea typeface="楷体" pitchFamily="49" charset="-122"/>
              </a:rPr>
              <a:t>表示元素个数</a:t>
            </a:r>
          </a:p>
          <a:p>
            <a:r>
              <a:rPr lang="zh-CN" altLang="en-US" sz="2000" b="1" dirty="0">
                <a:solidFill>
                  <a:srgbClr val="002060"/>
                </a:solidFill>
                <a:latin typeface="+mn-lt"/>
                <a:ea typeface="楷体" pitchFamily="49" charset="-122"/>
              </a:rPr>
              <a:t>下标从</a:t>
            </a:r>
            <a:r>
              <a:rPr lang="en-US" altLang="zh-CN" sz="2000" b="1" dirty="0">
                <a:solidFill>
                  <a:srgbClr val="C01920"/>
                </a:solidFill>
                <a:latin typeface="+mn-lt"/>
                <a:ea typeface="楷体" pitchFamily="49" charset="-122"/>
              </a:rPr>
              <a:t>0</a:t>
            </a:r>
            <a:r>
              <a:rPr lang="zh-CN" altLang="en-US" sz="2000" b="1" dirty="0">
                <a:solidFill>
                  <a:srgbClr val="002060"/>
                </a:solidFill>
                <a:latin typeface="+mn-lt"/>
                <a:ea typeface="楷体" pitchFamily="49" charset="-122"/>
              </a:rPr>
              <a:t>开始</a:t>
            </a:r>
          </a:p>
        </p:txBody>
      </p:sp>
      <p:sp>
        <p:nvSpPr>
          <p:cNvPr id="958507" name="AutoShape 43"/>
          <p:cNvSpPr>
            <a:spLocks noChangeArrowheads="1"/>
          </p:cNvSpPr>
          <p:nvPr/>
        </p:nvSpPr>
        <p:spPr bwMode="auto">
          <a:xfrm>
            <a:off x="6887095" y="2997820"/>
            <a:ext cx="2794000" cy="1511300"/>
          </a:xfrm>
          <a:prstGeom prst="wedgeRoundRectCallout">
            <a:avLst>
              <a:gd name="adj1" fmla="val -50741"/>
              <a:gd name="adj2" fmla="val -90231"/>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eaLnBrk="0" hangingPunct="0"/>
            <a:r>
              <a:rPr lang="en-US" altLang="zh-CN" sz="2000" b="1" dirty="0">
                <a:solidFill>
                  <a:srgbClr val="C01920"/>
                </a:solidFill>
                <a:latin typeface="+mn-lt"/>
                <a:ea typeface="楷体" pitchFamily="49" charset="-122"/>
              </a:rPr>
              <a:t>[  ]:  </a:t>
            </a:r>
            <a:r>
              <a:rPr lang="zh-CN" altLang="en-US" sz="2000" b="1" dirty="0">
                <a:solidFill>
                  <a:srgbClr val="002060"/>
                </a:solidFill>
                <a:latin typeface="+mn-lt"/>
                <a:ea typeface="楷体" pitchFamily="49" charset="-122"/>
              </a:rPr>
              <a:t>数组运算符</a:t>
            </a:r>
          </a:p>
          <a:p>
            <a:pPr eaLnBrk="0" hangingPunct="0"/>
            <a:r>
              <a:rPr lang="zh-CN" altLang="en-US" sz="2000" b="1" dirty="0">
                <a:solidFill>
                  <a:srgbClr val="002060"/>
                </a:solidFill>
                <a:latin typeface="+mn-lt"/>
                <a:ea typeface="楷体" pitchFamily="49" charset="-122"/>
              </a:rPr>
              <a:t>       单目运算符</a:t>
            </a:r>
          </a:p>
          <a:p>
            <a:r>
              <a:rPr lang="zh-CN" altLang="en-US" sz="2000" b="1" dirty="0">
                <a:solidFill>
                  <a:srgbClr val="002060"/>
                </a:solidFill>
                <a:latin typeface="+mn-lt"/>
                <a:ea typeface="楷体" pitchFamily="49" charset="-122"/>
              </a:rPr>
              <a:t>       左结合</a:t>
            </a:r>
          </a:p>
          <a:p>
            <a:r>
              <a:rPr lang="zh-CN" altLang="en-US" sz="2000" b="1" dirty="0">
                <a:solidFill>
                  <a:srgbClr val="002060"/>
                </a:solidFill>
                <a:latin typeface="+mn-lt"/>
                <a:ea typeface="楷体" pitchFamily="49" charset="-122"/>
              </a:rPr>
              <a:t>       </a:t>
            </a:r>
            <a:r>
              <a:rPr lang="zh-CN" altLang="en-US" sz="2000" b="1" dirty="0">
                <a:solidFill>
                  <a:schemeClr val="accent1">
                    <a:lumMod val="50000"/>
                  </a:schemeClr>
                </a:solidFill>
                <a:latin typeface="+mn-lt"/>
                <a:ea typeface="楷体" pitchFamily="49" charset="-122"/>
              </a:rPr>
              <a:t>不能用</a:t>
            </a:r>
            <a:r>
              <a:rPr lang="en-US" altLang="zh-CN" sz="2000" b="1" dirty="0">
                <a:solidFill>
                  <a:schemeClr val="accent1">
                    <a:lumMod val="50000"/>
                  </a:schemeClr>
                </a:solidFill>
                <a:latin typeface="+mn-lt"/>
                <a:ea typeface="楷体" pitchFamily="49" charset="-122"/>
              </a:rPr>
              <a:t>( )</a:t>
            </a:r>
          </a:p>
          <a:p>
            <a:pPr eaLnBrk="0" hangingPunct="0"/>
            <a:endParaRPr lang="en-US" altLang="zh-CN" sz="2000" b="1" dirty="0">
              <a:solidFill>
                <a:srgbClr val="002060"/>
              </a:solidFill>
              <a:latin typeface="+mn-lt"/>
              <a:ea typeface="楷体" pitchFamily="49" charset="-122"/>
            </a:endParaRPr>
          </a:p>
        </p:txBody>
      </p:sp>
      <p:sp>
        <p:nvSpPr>
          <p:cNvPr id="958508" name="AutoShape 44"/>
          <p:cNvSpPr>
            <a:spLocks noChangeArrowheads="1"/>
          </p:cNvSpPr>
          <p:nvPr/>
        </p:nvSpPr>
        <p:spPr bwMode="auto">
          <a:xfrm>
            <a:off x="7811020" y="3116088"/>
            <a:ext cx="1930400" cy="504825"/>
          </a:xfrm>
          <a:prstGeom prst="wedgeRoundRectCallout">
            <a:avLst>
              <a:gd name="adj1" fmla="val 22944"/>
              <a:gd name="adj2" fmla="val -206917"/>
              <a:gd name="adj3" fmla="val 16667"/>
            </a:avLst>
          </a:prstGeom>
          <a:gradFill flip="none" rotWithShape="1">
            <a:gsLst>
              <a:gs pos="0">
                <a:srgbClr val="CFCFD1"/>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solidFill>
                  <a:srgbClr val="002060"/>
                </a:solidFill>
                <a:latin typeface="+mn-lt"/>
                <a:ea typeface="楷体" pitchFamily="49" charset="-122"/>
              </a:rPr>
              <a:t>用分号结尾</a:t>
            </a:r>
          </a:p>
        </p:txBody>
      </p:sp>
      <p:sp>
        <p:nvSpPr>
          <p:cNvPr id="958509" name="Rectangle 45" descr="信纸"/>
          <p:cNvSpPr>
            <a:spLocks noChangeArrowheads="1"/>
          </p:cNvSpPr>
          <p:nvPr/>
        </p:nvSpPr>
        <p:spPr bwMode="auto">
          <a:xfrm>
            <a:off x="1819535" y="2561124"/>
            <a:ext cx="8858175" cy="2185214"/>
          </a:xfrm>
          <a:prstGeom prst="rect">
            <a:avLst/>
          </a:prstGeom>
          <a:solidFill>
            <a:schemeClr val="bg1"/>
          </a:solidFill>
          <a:ln w="38100">
            <a:solidFill>
              <a:srgbClr val="002060"/>
            </a:solidFill>
            <a:miter lim="800000"/>
            <a:headEnd/>
            <a:tailEnd/>
          </a:ln>
          <a:effectLst>
            <a:outerShdw blurRad="50800" dist="10541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chemeClr val="accent1"/>
                </a:solidFill>
                <a:latin typeface="隶书" pitchFamily="49" charset="-122"/>
                <a:ea typeface="隶书" pitchFamily="49" charset="-122"/>
              </a:rPr>
              <a:t>例如：</a:t>
            </a:r>
            <a:endParaRPr lang="en-US" altLang="zh-CN" b="1" dirty="0">
              <a:solidFill>
                <a:schemeClr val="accent1"/>
              </a:solidFill>
              <a:latin typeface="隶书" pitchFamily="49" charset="-122"/>
              <a:ea typeface="隶书" pitchFamily="49" charset="-122"/>
            </a:endParaRPr>
          </a:p>
          <a:p>
            <a:pPr indent="266700"/>
            <a:r>
              <a:rPr lang="en-US" altLang="zh-CN" b="1" dirty="0">
                <a:ea typeface="楷体_GB2312" pitchFamily="49" charset="-122"/>
              </a:rPr>
              <a:t>#define  N  5</a:t>
            </a:r>
            <a:endParaRPr lang="zh-CN" altLang="en-US" b="1" dirty="0">
              <a:ea typeface="楷体_GB2312" pitchFamily="49" charset="-122"/>
            </a:endParaRPr>
          </a:p>
          <a:p>
            <a:pPr indent="266700"/>
            <a:r>
              <a:rPr lang="en-US" altLang="zh-CN" b="1" dirty="0">
                <a:ea typeface="楷体_GB2312" pitchFamily="49" charset="-122"/>
              </a:rPr>
              <a:t>int a[10];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定义了有</a:t>
            </a:r>
            <a:r>
              <a:rPr lang="en-US" altLang="zh-CN" sz="2000" b="1" dirty="0">
                <a:solidFill>
                  <a:srgbClr val="002060"/>
                </a:solidFill>
                <a:latin typeface="+mn-lt"/>
                <a:ea typeface="楷体" pitchFamily="49" charset="-122"/>
              </a:rPr>
              <a:t>10</a:t>
            </a:r>
            <a:r>
              <a:rPr lang="zh-CN" altLang="en-US" sz="2000" b="1" dirty="0">
                <a:solidFill>
                  <a:srgbClr val="002060"/>
                </a:solidFill>
                <a:latin typeface="+mn-lt"/>
                <a:ea typeface="楷体" pitchFamily="49" charset="-122"/>
              </a:rPr>
              <a:t>个数据元素的</a:t>
            </a:r>
            <a:r>
              <a:rPr lang="en-US" altLang="zh-CN" sz="2000" b="1" dirty="0">
                <a:solidFill>
                  <a:srgbClr val="002060"/>
                </a:solidFill>
                <a:latin typeface="+mn-lt"/>
                <a:ea typeface="楷体" pitchFamily="49" charset="-122"/>
              </a:rPr>
              <a:t>int</a:t>
            </a:r>
            <a:r>
              <a:rPr lang="zh-CN" altLang="en-US" sz="2000" b="1" dirty="0">
                <a:solidFill>
                  <a:srgbClr val="002060"/>
                </a:solidFill>
                <a:latin typeface="+mn-lt"/>
                <a:ea typeface="楷体" pitchFamily="49" charset="-122"/>
              </a:rPr>
              <a:t>型数组</a:t>
            </a:r>
            <a:r>
              <a:rPr lang="en-US" altLang="zh-CN" sz="2000" b="1" dirty="0">
                <a:solidFill>
                  <a:srgbClr val="002060"/>
                </a:solidFill>
                <a:latin typeface="+mn-lt"/>
                <a:ea typeface="楷体" pitchFamily="49" charset="-122"/>
              </a:rPr>
              <a:t>a</a:t>
            </a:r>
          </a:p>
          <a:p>
            <a:pPr indent="266700"/>
            <a:r>
              <a:rPr lang="en-US" altLang="zh-CN" b="1" dirty="0">
                <a:ea typeface="楷体_GB2312" pitchFamily="49" charset="-122"/>
              </a:rPr>
              <a:t>float f[20];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定义了有</a:t>
            </a:r>
            <a:r>
              <a:rPr lang="en-US" altLang="zh-CN" sz="2000" b="1" dirty="0">
                <a:solidFill>
                  <a:srgbClr val="002060"/>
                </a:solidFill>
                <a:latin typeface="+mn-lt"/>
                <a:ea typeface="楷体" pitchFamily="49" charset="-122"/>
              </a:rPr>
              <a:t>20</a:t>
            </a:r>
            <a:r>
              <a:rPr lang="zh-CN" altLang="en-US" sz="2000" b="1" dirty="0">
                <a:solidFill>
                  <a:srgbClr val="002060"/>
                </a:solidFill>
                <a:latin typeface="+mn-lt"/>
                <a:ea typeface="楷体" pitchFamily="49" charset="-122"/>
              </a:rPr>
              <a:t>个数据元素的</a:t>
            </a:r>
            <a:r>
              <a:rPr lang="en-US" altLang="zh-CN" sz="2000" b="1" dirty="0">
                <a:solidFill>
                  <a:srgbClr val="002060"/>
                </a:solidFill>
                <a:latin typeface="+mn-lt"/>
                <a:ea typeface="楷体" pitchFamily="49" charset="-122"/>
              </a:rPr>
              <a:t>float</a:t>
            </a:r>
            <a:r>
              <a:rPr lang="zh-CN" altLang="en-US" sz="2000" b="1" dirty="0">
                <a:solidFill>
                  <a:srgbClr val="002060"/>
                </a:solidFill>
                <a:latin typeface="+mn-lt"/>
                <a:ea typeface="楷体" pitchFamily="49" charset="-122"/>
              </a:rPr>
              <a:t>型数组</a:t>
            </a:r>
            <a:r>
              <a:rPr lang="en-US" altLang="zh-CN" sz="2000" b="1" dirty="0">
                <a:solidFill>
                  <a:srgbClr val="002060"/>
                </a:solidFill>
                <a:latin typeface="+mn-lt"/>
                <a:ea typeface="楷体" pitchFamily="49" charset="-122"/>
              </a:rPr>
              <a:t>f</a:t>
            </a:r>
          </a:p>
          <a:p>
            <a:pPr indent="266700"/>
            <a:r>
              <a:rPr lang="en-US" altLang="zh-CN" b="1" dirty="0">
                <a:ea typeface="楷体_GB2312" pitchFamily="49" charset="-122"/>
              </a:rPr>
              <a:t>char str1[10], str2[20];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定义了有</a:t>
            </a:r>
            <a:r>
              <a:rPr lang="en-US" altLang="zh-CN" sz="2000" b="1" dirty="0">
                <a:solidFill>
                  <a:srgbClr val="002060"/>
                </a:solidFill>
                <a:latin typeface="+mn-lt"/>
                <a:ea typeface="楷体" pitchFamily="49" charset="-122"/>
              </a:rPr>
              <a:t>10</a:t>
            </a:r>
            <a:r>
              <a:rPr lang="zh-CN" altLang="en-US" sz="2000" b="1" dirty="0">
                <a:solidFill>
                  <a:srgbClr val="002060"/>
                </a:solidFill>
                <a:latin typeface="+mn-lt"/>
                <a:ea typeface="楷体" pitchFamily="49" charset="-122"/>
              </a:rPr>
              <a:t>个和</a:t>
            </a:r>
            <a:r>
              <a:rPr lang="en-US" altLang="zh-CN" sz="2000" b="1" dirty="0">
                <a:solidFill>
                  <a:srgbClr val="002060"/>
                </a:solidFill>
                <a:latin typeface="+mn-lt"/>
                <a:ea typeface="楷体" pitchFamily="49" charset="-122"/>
              </a:rPr>
              <a:t>20</a:t>
            </a:r>
            <a:r>
              <a:rPr lang="zh-CN" altLang="en-US" sz="2000" b="1" dirty="0">
                <a:solidFill>
                  <a:srgbClr val="002060"/>
                </a:solidFill>
                <a:latin typeface="+mn-lt"/>
                <a:ea typeface="楷体" pitchFamily="49" charset="-122"/>
              </a:rPr>
              <a:t>个数据元素的</a:t>
            </a:r>
            <a:r>
              <a:rPr lang="en-US" altLang="zh-CN" sz="2000" b="1" dirty="0">
                <a:solidFill>
                  <a:srgbClr val="002060"/>
                </a:solidFill>
                <a:latin typeface="+mn-lt"/>
                <a:ea typeface="楷体" pitchFamily="49" charset="-122"/>
              </a:rPr>
              <a:t>char</a:t>
            </a:r>
            <a:r>
              <a:rPr lang="zh-CN" altLang="en-US" sz="2000" b="1" dirty="0">
                <a:solidFill>
                  <a:srgbClr val="002060"/>
                </a:solidFill>
                <a:latin typeface="+mn-lt"/>
                <a:ea typeface="楷体" pitchFamily="49" charset="-122"/>
              </a:rPr>
              <a:t>型</a:t>
            </a:r>
          </a:p>
          <a:p>
            <a:pPr indent="266700"/>
            <a:r>
              <a:rPr lang="zh-CN" altLang="en-US" sz="2000" b="1" dirty="0">
                <a:solidFill>
                  <a:srgbClr val="002060"/>
                </a:solidFill>
                <a:latin typeface="+mn-lt"/>
                <a:ea typeface="楷体" pitchFamily="49" charset="-122"/>
              </a:rPr>
              <a:t>                                                     数组</a:t>
            </a:r>
            <a:r>
              <a:rPr lang="en-US" altLang="zh-CN" sz="2000" b="1" dirty="0">
                <a:solidFill>
                  <a:srgbClr val="002060"/>
                </a:solidFill>
                <a:latin typeface="+mn-lt"/>
                <a:ea typeface="楷体" pitchFamily="49" charset="-122"/>
              </a:rPr>
              <a:t>str1</a:t>
            </a:r>
            <a:r>
              <a:rPr lang="zh-CN" altLang="en-US" sz="2000" b="1" dirty="0">
                <a:solidFill>
                  <a:srgbClr val="002060"/>
                </a:solidFill>
                <a:latin typeface="+mn-lt"/>
                <a:ea typeface="楷体" pitchFamily="49" charset="-122"/>
              </a:rPr>
              <a:t>和</a:t>
            </a:r>
            <a:r>
              <a:rPr lang="en-US" altLang="zh-CN" sz="2000" b="1" dirty="0">
                <a:solidFill>
                  <a:srgbClr val="002060"/>
                </a:solidFill>
                <a:latin typeface="+mn-lt"/>
                <a:ea typeface="楷体" pitchFamily="49" charset="-122"/>
              </a:rPr>
              <a:t>str2</a:t>
            </a:r>
          </a:p>
          <a:p>
            <a:pPr indent="266700"/>
            <a:r>
              <a:rPr lang="en-US" altLang="zh-CN" b="1" dirty="0">
                <a:ea typeface="楷体_GB2312" pitchFamily="49" charset="-122"/>
              </a:rPr>
              <a:t>short b[2*5+N];              </a:t>
            </a:r>
            <a:r>
              <a:rPr lang="en-US" altLang="zh-CN" sz="2000" b="1" dirty="0">
                <a:solidFill>
                  <a:srgbClr val="002060"/>
                </a:solidFill>
                <a:latin typeface="+mn-lt"/>
                <a:ea typeface="楷体" pitchFamily="49" charset="-122"/>
              </a:rPr>
              <a:t>//</a:t>
            </a:r>
            <a:r>
              <a:rPr lang="zh-CN" altLang="zh-CN" sz="2000" b="1" dirty="0">
                <a:solidFill>
                  <a:srgbClr val="002060"/>
                </a:solidFill>
                <a:latin typeface="+mn-lt"/>
                <a:ea typeface="楷体" pitchFamily="49" charset="-122"/>
              </a:rPr>
              <a:t>定义了有</a:t>
            </a:r>
            <a:r>
              <a:rPr lang="en-US" altLang="zh-CN" sz="2000" b="1" dirty="0">
                <a:solidFill>
                  <a:srgbClr val="002060"/>
                </a:solidFill>
                <a:latin typeface="+mn-lt"/>
                <a:ea typeface="楷体" pitchFamily="49" charset="-122"/>
              </a:rPr>
              <a:t>15</a:t>
            </a:r>
            <a:r>
              <a:rPr lang="zh-CN" altLang="zh-CN" sz="2000" b="1" dirty="0">
                <a:solidFill>
                  <a:srgbClr val="002060"/>
                </a:solidFill>
                <a:latin typeface="+mn-lt"/>
                <a:ea typeface="楷体" pitchFamily="49" charset="-122"/>
              </a:rPr>
              <a:t>个数据元素的</a:t>
            </a:r>
            <a:r>
              <a:rPr lang="en-US" altLang="zh-CN" sz="2000" b="1" dirty="0">
                <a:solidFill>
                  <a:srgbClr val="002060"/>
                </a:solidFill>
                <a:latin typeface="+mn-lt"/>
                <a:ea typeface="楷体" pitchFamily="49" charset="-122"/>
              </a:rPr>
              <a:t>short</a:t>
            </a:r>
            <a:r>
              <a:rPr lang="zh-CN" altLang="zh-CN" sz="2000" b="1" dirty="0">
                <a:solidFill>
                  <a:srgbClr val="002060"/>
                </a:solidFill>
                <a:latin typeface="+mn-lt"/>
                <a:ea typeface="楷体" pitchFamily="49" charset="-122"/>
              </a:rPr>
              <a:t>型数组</a:t>
            </a:r>
            <a:r>
              <a:rPr lang="en-US" altLang="zh-CN" sz="2000" b="1" dirty="0">
                <a:solidFill>
                  <a:srgbClr val="002060"/>
                </a:solidFill>
                <a:latin typeface="+mn-lt"/>
                <a:ea typeface="楷体" pitchFamily="49" charset="-122"/>
              </a:rPr>
              <a:t>b</a:t>
            </a:r>
            <a:endParaRPr lang="zh-CN" altLang="zh-CN" sz="2000" b="1" dirty="0">
              <a:solidFill>
                <a:srgbClr val="002060"/>
              </a:solidFill>
              <a:latin typeface="+mn-lt"/>
              <a:ea typeface="楷体" pitchFamily="49" charset="-122"/>
            </a:endParaRPr>
          </a:p>
        </p:txBody>
      </p:sp>
      <p:sp>
        <p:nvSpPr>
          <p:cNvPr id="17" name="Rectangle 4">
            <a:extLst>
              <a:ext uri="{FF2B5EF4-FFF2-40B4-BE49-F238E27FC236}">
                <a16:creationId xmlns:a16="http://schemas.microsoft.com/office/drawing/2014/main" id="{4A2CD794-522A-485E-992A-CC9112256ED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14" name="文本框 13">
            <a:extLst>
              <a:ext uri="{FF2B5EF4-FFF2-40B4-BE49-F238E27FC236}">
                <a16:creationId xmlns:a16="http://schemas.microsoft.com/office/drawing/2014/main" id="{CC44D7CB-97F9-4B7B-889F-CD5E15080B74}"/>
              </a:ext>
            </a:extLst>
          </p:cNvPr>
          <p:cNvSpPr txBox="1"/>
          <p:nvPr/>
        </p:nvSpPr>
        <p:spPr>
          <a:xfrm>
            <a:off x="1819535" y="5229330"/>
            <a:ext cx="8552930" cy="867482"/>
          </a:xfrm>
          <a:prstGeom prst="rect">
            <a:avLst/>
          </a:prstGeom>
          <a:noFill/>
        </p:spPr>
        <p:txBody>
          <a:bodyPr wrap="square">
            <a:spAutoFit/>
          </a:bodyPr>
          <a:lstStyle/>
          <a:p>
            <a:pPr marL="565200" indent="-457200">
              <a:lnSpc>
                <a:spcPts val="3200"/>
              </a:lnSpc>
              <a:buAutoNum type="arabicParenBoth"/>
            </a:pPr>
            <a:r>
              <a:rPr lang="zh-CN" altLang="en-US" b="1" dirty="0">
                <a:effectLst>
                  <a:outerShdw blurRad="38100" dist="38100" dir="2700000" algn="tl">
                    <a:srgbClr val="FFFFFF"/>
                  </a:outerShdw>
                </a:effectLst>
                <a:latin typeface="+mn-lt"/>
                <a:ea typeface="楷体" pitchFamily="49" charset="-122"/>
              </a:rPr>
              <a:t>数组定义时，必须指定数组的大小（或长度），数组大小必须是整型常量表达式，不能是变量或变量表达式。</a:t>
            </a:r>
            <a:endParaRPr lang="en-US" altLang="zh-CN" b="1" dirty="0">
              <a:effectLst>
                <a:outerShdw blurRad="38100" dist="38100" dir="2700000" algn="tl">
                  <a:srgbClr val="FFFFFF"/>
                </a:outerShdw>
              </a:effectLst>
              <a:ea typeface="楷体" pitchFamily="49" charset="-122"/>
            </a:endParaRPr>
          </a:p>
        </p:txBody>
      </p:sp>
      <p:sp>
        <p:nvSpPr>
          <p:cNvPr id="15" name="Rectangle 7">
            <a:extLst>
              <a:ext uri="{FF2B5EF4-FFF2-40B4-BE49-F238E27FC236}">
                <a16:creationId xmlns:a16="http://schemas.microsoft.com/office/drawing/2014/main" id="{F469DDB1-3FAC-4132-9D14-0861B780E331}"/>
              </a:ext>
            </a:extLst>
          </p:cNvPr>
          <p:cNvSpPr>
            <a:spLocks noChangeArrowheads="1"/>
          </p:cNvSpPr>
          <p:nvPr/>
        </p:nvSpPr>
        <p:spPr bwMode="auto">
          <a:xfrm>
            <a:off x="1177629" y="4852059"/>
            <a:ext cx="1361270" cy="369332"/>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chemeClr val="accent1"/>
                </a:solidFill>
                <a:latin typeface="+mn-lt"/>
                <a:ea typeface="楷体" pitchFamily="49" charset="-122"/>
              </a:rPr>
              <a:t> </a:t>
            </a:r>
            <a:r>
              <a:rPr lang="zh-CN" altLang="en-US" b="1" dirty="0">
                <a:solidFill>
                  <a:schemeClr val="accent1"/>
                </a:solidFill>
                <a:latin typeface="+mn-lt"/>
                <a:ea typeface="楷体" pitchFamily="49" charset="-122"/>
              </a:rPr>
              <a:t>定义说明</a:t>
            </a:r>
          </a:p>
        </p:txBody>
      </p:sp>
      <p:sp>
        <p:nvSpPr>
          <p:cNvPr id="16" name="Rectangle 20" descr="信纸">
            <a:extLst>
              <a:ext uri="{FF2B5EF4-FFF2-40B4-BE49-F238E27FC236}">
                <a16:creationId xmlns:a16="http://schemas.microsoft.com/office/drawing/2014/main" id="{8D8E964A-C173-4BDD-B1C4-3B0EA24E226A}"/>
              </a:ext>
            </a:extLst>
          </p:cNvPr>
          <p:cNvSpPr>
            <a:spLocks noChangeArrowheads="1"/>
          </p:cNvSpPr>
          <p:nvPr/>
        </p:nvSpPr>
        <p:spPr bwMode="auto">
          <a:xfrm>
            <a:off x="3037140" y="3982122"/>
            <a:ext cx="7501287" cy="1955800"/>
          </a:xfrm>
          <a:prstGeom prst="rect">
            <a:avLst/>
          </a:prstGeom>
          <a:solidFill>
            <a:schemeClr val="bg1"/>
          </a:solidFill>
          <a:ln w="38100">
            <a:solidFill>
              <a:srgbClr val="00206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ea typeface="隶书" pitchFamily="49" charset="-122"/>
              </a:rPr>
              <a:t>例如，下面对数组的定义是错误的：</a:t>
            </a:r>
          </a:p>
          <a:p>
            <a:pPr indent="266700"/>
            <a:r>
              <a:rPr lang="zh-CN" altLang="en-US" b="1" dirty="0">
                <a:ea typeface="楷体_GB2312" pitchFamily="49" charset="-122"/>
              </a:rPr>
              <a:t>    </a:t>
            </a:r>
            <a:r>
              <a:rPr lang="en-US" altLang="zh-CN" b="1" dirty="0" err="1">
                <a:ea typeface="楷体_GB2312" pitchFamily="49" charset="-122"/>
              </a:rPr>
              <a:t>int</a:t>
            </a:r>
            <a:r>
              <a:rPr lang="en-US" altLang="zh-CN" b="1" dirty="0">
                <a:ea typeface="楷体_GB2312" pitchFamily="49" charset="-122"/>
              </a:rPr>
              <a:t> n = 10;</a:t>
            </a:r>
          </a:p>
          <a:p>
            <a:pPr indent="266700"/>
            <a:r>
              <a:rPr lang="en-US" altLang="zh-CN" b="1" dirty="0">
                <a:ea typeface="楷体_GB2312" pitchFamily="49" charset="-122"/>
              </a:rPr>
              <a:t>    int a[n];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数组的大小不能是变量</a:t>
            </a:r>
          </a:p>
          <a:p>
            <a:pPr indent="266700"/>
            <a:r>
              <a:rPr lang="zh-CN" altLang="en-US" b="1" dirty="0">
                <a:ea typeface="楷体_GB2312" pitchFamily="49" charset="-122"/>
              </a:rPr>
              <a:t>    </a:t>
            </a:r>
            <a:r>
              <a:rPr lang="en-US" altLang="zh-CN" b="1" dirty="0">
                <a:ea typeface="楷体_GB2312" pitchFamily="49" charset="-122"/>
              </a:rPr>
              <a:t>int b[10.3];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数组的大小不能是浮点常量</a:t>
            </a:r>
          </a:p>
          <a:p>
            <a:pPr indent="266700"/>
            <a:r>
              <a:rPr lang="zh-CN" altLang="en-US" b="1" dirty="0">
                <a:ea typeface="楷体_GB2312" pitchFamily="49" charset="-122"/>
              </a:rPr>
              <a:t>    </a:t>
            </a:r>
            <a:r>
              <a:rPr lang="en-US" altLang="zh-CN" b="1" dirty="0">
                <a:ea typeface="楷体_GB2312" pitchFamily="49" charset="-122"/>
              </a:rPr>
              <a:t>int c[n+10];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数组的大小不能是变量表达式</a:t>
            </a:r>
          </a:p>
        </p:txBody>
      </p:sp>
    </p:spTree>
    <p:extLst>
      <p:ext uri="{BB962C8B-B14F-4D97-AF65-F5344CB8AC3E}">
        <p14:creationId xmlns:p14="http://schemas.microsoft.com/office/powerpoint/2010/main" val="4085012164"/>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58497"/>
                                        </p:tgtEl>
                                        <p:attrNameLst>
                                          <p:attrName>style.visibility</p:attrName>
                                        </p:attrNameLst>
                                      </p:cBhvr>
                                      <p:to>
                                        <p:strVal val="visible"/>
                                      </p:to>
                                    </p:set>
                                    <p:anim calcmode="lin" valueType="num">
                                      <p:cBhvr additive="base">
                                        <p:cTn id="7" dur="500" fill="hold"/>
                                        <p:tgtEl>
                                          <p:spTgt spid="958497"/>
                                        </p:tgtEl>
                                        <p:attrNameLst>
                                          <p:attrName>ppt_x</p:attrName>
                                        </p:attrNameLst>
                                      </p:cBhvr>
                                      <p:tavLst>
                                        <p:tav tm="0">
                                          <p:val>
                                            <p:strVal val="0-#ppt_w/2"/>
                                          </p:val>
                                        </p:tav>
                                        <p:tav tm="100000">
                                          <p:val>
                                            <p:strVal val="#ppt_x"/>
                                          </p:val>
                                        </p:tav>
                                      </p:tavLst>
                                    </p:anim>
                                    <p:anim calcmode="lin" valueType="num">
                                      <p:cBhvr additive="base">
                                        <p:cTn id="8" dur="500" fill="hold"/>
                                        <p:tgtEl>
                                          <p:spTgt spid="9584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58499"/>
                                        </p:tgtEl>
                                        <p:attrNameLst>
                                          <p:attrName>style.visibility</p:attrName>
                                        </p:attrNameLst>
                                      </p:cBhvr>
                                      <p:to>
                                        <p:strVal val="visible"/>
                                      </p:to>
                                    </p:set>
                                    <p:animEffect transition="in" filter="box(out)">
                                      <p:cBhvr>
                                        <p:cTn id="13" dur="500"/>
                                        <p:tgtEl>
                                          <p:spTgt spid="95849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3" fill="hold" grpId="0" nodeType="clickEffect">
                                  <p:stCondLst>
                                    <p:cond delay="0"/>
                                  </p:stCondLst>
                                  <p:childTnLst>
                                    <p:set>
                                      <p:cBhvr>
                                        <p:cTn id="17" dur="1" fill="hold">
                                          <p:stCondLst>
                                            <p:cond delay="0"/>
                                          </p:stCondLst>
                                        </p:cTn>
                                        <p:tgtEl>
                                          <p:spTgt spid="958503"/>
                                        </p:tgtEl>
                                        <p:attrNameLst>
                                          <p:attrName>style.visibility</p:attrName>
                                        </p:attrNameLst>
                                      </p:cBhvr>
                                      <p:to>
                                        <p:strVal val="visible"/>
                                      </p:to>
                                    </p:set>
                                    <p:animEffect transition="in" filter="strips(upRight)">
                                      <p:cBhvr>
                                        <p:cTn id="18" dur="500"/>
                                        <p:tgtEl>
                                          <p:spTgt spid="958503"/>
                                        </p:tgtEl>
                                      </p:cBhvr>
                                    </p:animEffect>
                                  </p:childTnLst>
                                  <p:subTnLst>
                                    <p:set>
                                      <p:cBhvr override="childStyle">
                                        <p:cTn dur="1" fill="hold" display="0" masterRel="nextClick" afterEffect="1"/>
                                        <p:tgtEl>
                                          <p:spTgt spid="958503"/>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5" name="laser.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grpId="0" nodeType="clickEffect">
                                  <p:stCondLst>
                                    <p:cond delay="0"/>
                                  </p:stCondLst>
                                  <p:childTnLst>
                                    <p:set>
                                      <p:cBhvr>
                                        <p:cTn id="22" dur="1" fill="hold">
                                          <p:stCondLst>
                                            <p:cond delay="0"/>
                                          </p:stCondLst>
                                        </p:cTn>
                                        <p:tgtEl>
                                          <p:spTgt spid="958504"/>
                                        </p:tgtEl>
                                        <p:attrNameLst>
                                          <p:attrName>style.visibility</p:attrName>
                                        </p:attrNameLst>
                                      </p:cBhvr>
                                      <p:to>
                                        <p:strVal val="visible"/>
                                      </p:to>
                                    </p:set>
                                    <p:animEffect transition="in" filter="strips(upRight)">
                                      <p:cBhvr>
                                        <p:cTn id="23" dur="500"/>
                                        <p:tgtEl>
                                          <p:spTgt spid="958504"/>
                                        </p:tgtEl>
                                      </p:cBhvr>
                                    </p:animEffect>
                                  </p:childTnLst>
                                  <p:subTnLst>
                                    <p:set>
                                      <p:cBhvr override="childStyle">
                                        <p:cTn dur="1" fill="hold" display="0" masterRel="nextClick" afterEffect="1"/>
                                        <p:tgtEl>
                                          <p:spTgt spid="958504"/>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5" name="laser.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grpId="0" nodeType="clickEffect">
                                  <p:stCondLst>
                                    <p:cond delay="0"/>
                                  </p:stCondLst>
                                  <p:childTnLst>
                                    <p:set>
                                      <p:cBhvr>
                                        <p:cTn id="27" dur="1" fill="hold">
                                          <p:stCondLst>
                                            <p:cond delay="0"/>
                                          </p:stCondLst>
                                        </p:cTn>
                                        <p:tgtEl>
                                          <p:spTgt spid="958505"/>
                                        </p:tgtEl>
                                        <p:attrNameLst>
                                          <p:attrName>style.visibility</p:attrName>
                                        </p:attrNameLst>
                                      </p:cBhvr>
                                      <p:to>
                                        <p:strVal val="visible"/>
                                      </p:to>
                                    </p:set>
                                    <p:animEffect transition="in" filter="strips(upRight)">
                                      <p:cBhvr>
                                        <p:cTn id="28" dur="500"/>
                                        <p:tgtEl>
                                          <p:spTgt spid="958505"/>
                                        </p:tgtEl>
                                      </p:cBhvr>
                                    </p:animEffect>
                                  </p:childTnLst>
                                  <p:subTnLst>
                                    <p:set>
                                      <p:cBhvr override="childStyle">
                                        <p:cTn dur="1" fill="hold" display="0" masterRel="nextClick" afterEffect="1"/>
                                        <p:tgtEl>
                                          <p:spTgt spid="958505"/>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5"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3" fill="hold" grpId="0" nodeType="clickEffect">
                                  <p:stCondLst>
                                    <p:cond delay="0"/>
                                  </p:stCondLst>
                                  <p:childTnLst>
                                    <p:set>
                                      <p:cBhvr>
                                        <p:cTn id="32" dur="1" fill="hold">
                                          <p:stCondLst>
                                            <p:cond delay="0"/>
                                          </p:stCondLst>
                                        </p:cTn>
                                        <p:tgtEl>
                                          <p:spTgt spid="958506"/>
                                        </p:tgtEl>
                                        <p:attrNameLst>
                                          <p:attrName>style.visibility</p:attrName>
                                        </p:attrNameLst>
                                      </p:cBhvr>
                                      <p:to>
                                        <p:strVal val="visible"/>
                                      </p:to>
                                    </p:set>
                                    <p:animEffect transition="in" filter="strips(upRight)">
                                      <p:cBhvr>
                                        <p:cTn id="33" dur="500"/>
                                        <p:tgtEl>
                                          <p:spTgt spid="958506"/>
                                        </p:tgtEl>
                                      </p:cBhvr>
                                    </p:animEffect>
                                  </p:childTnLst>
                                  <p:subTnLst>
                                    <p:set>
                                      <p:cBhvr override="childStyle">
                                        <p:cTn dur="1" fill="hold" display="0" masterRel="nextClick" afterEffect="1"/>
                                        <p:tgtEl>
                                          <p:spTgt spid="958506"/>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5" name="laser.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958507"/>
                                        </p:tgtEl>
                                        <p:attrNameLst>
                                          <p:attrName>style.visibility</p:attrName>
                                        </p:attrNameLst>
                                      </p:cBhvr>
                                      <p:to>
                                        <p:strVal val="visible"/>
                                      </p:to>
                                    </p:set>
                                    <p:animEffect transition="in" filter="strips(upRight)">
                                      <p:cBhvr>
                                        <p:cTn id="38" dur="500"/>
                                        <p:tgtEl>
                                          <p:spTgt spid="958507"/>
                                        </p:tgtEl>
                                      </p:cBhvr>
                                    </p:animEffect>
                                  </p:childTnLst>
                                  <p:subTnLst>
                                    <p:set>
                                      <p:cBhvr override="childStyle">
                                        <p:cTn dur="1" fill="hold" display="0" masterRel="nextClick" afterEffect="1"/>
                                        <p:tgtEl>
                                          <p:spTgt spid="958507"/>
                                        </p:tgtEl>
                                        <p:attrNameLst>
                                          <p:attrName>style.visibility</p:attrName>
                                        </p:attrNameLst>
                                      </p:cBhvr>
                                      <p:to>
                                        <p:strVal val="hidden"/>
                                      </p:to>
                                    </p:set>
                                    <p:audio>
                                      <p:cMediaNode>
                                        <p:cTn display="0" masterRel="sameClick">
                                          <p:stCondLst>
                                            <p:cond evt="begin" delay="0">
                                              <p:tn val="36"/>
                                            </p:cond>
                                          </p:stCondLst>
                                          <p:endCondLst>
                                            <p:cond evt="onStopAudio" delay="0">
                                              <p:tgtEl>
                                                <p:sldTgt/>
                                              </p:tgtEl>
                                            </p:cond>
                                          </p:endCondLst>
                                        </p:cTn>
                                        <p:tgtEl>
                                          <p:sndTgt r:embed="rId5" name="laser.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3" fill="hold" grpId="0" nodeType="clickEffect">
                                  <p:stCondLst>
                                    <p:cond delay="0"/>
                                  </p:stCondLst>
                                  <p:childTnLst>
                                    <p:set>
                                      <p:cBhvr>
                                        <p:cTn id="42" dur="1" fill="hold">
                                          <p:stCondLst>
                                            <p:cond delay="0"/>
                                          </p:stCondLst>
                                        </p:cTn>
                                        <p:tgtEl>
                                          <p:spTgt spid="958508"/>
                                        </p:tgtEl>
                                        <p:attrNameLst>
                                          <p:attrName>style.visibility</p:attrName>
                                        </p:attrNameLst>
                                      </p:cBhvr>
                                      <p:to>
                                        <p:strVal val="visible"/>
                                      </p:to>
                                    </p:set>
                                    <p:animEffect transition="in" filter="strips(upRight)">
                                      <p:cBhvr>
                                        <p:cTn id="43" dur="500"/>
                                        <p:tgtEl>
                                          <p:spTgt spid="958508"/>
                                        </p:tgtEl>
                                      </p:cBhvr>
                                    </p:animEffect>
                                  </p:childTnLst>
                                  <p:subTnLst>
                                    <p:set>
                                      <p:cBhvr override="childStyle">
                                        <p:cTn dur="1" fill="hold" display="0" masterRel="nextClick" afterEffect="1"/>
                                        <p:tgtEl>
                                          <p:spTgt spid="958508"/>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5" name="laser.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958509"/>
                                        </p:tgtEl>
                                        <p:attrNameLst>
                                          <p:attrName>style.visibility</p:attrName>
                                        </p:attrNameLst>
                                      </p:cBhvr>
                                      <p:to>
                                        <p:strVal val="visible"/>
                                      </p:to>
                                    </p:set>
                                    <p:animEffect transition="in" filter="box(out)">
                                      <p:cBhvr>
                                        <p:cTn id="48" dur="500"/>
                                        <p:tgtEl>
                                          <p:spTgt spid="958509"/>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0-#ppt_w/2"/>
                                          </p:val>
                                        </p:tav>
                                        <p:tav tm="100000">
                                          <p:val>
                                            <p:strVal val="#ppt_x"/>
                                          </p:val>
                                        </p:tav>
                                      </p:tavLst>
                                    </p:anim>
                                    <p:anim calcmode="lin" valueType="num">
                                      <p:cBhvr additive="base">
                                        <p:cTn id="54"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box(out)">
                                      <p:cBhvr>
                                        <p:cTn id="63"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97" grpId="0"/>
      <p:bldP spid="958499" grpId="0" animBg="1" autoUpdateAnimBg="0"/>
      <p:bldP spid="958503" grpId="0" animBg="1"/>
      <p:bldP spid="958504" grpId="0" animBg="1"/>
      <p:bldP spid="958505" grpId="0" animBg="1"/>
      <p:bldP spid="958506" grpId="0" animBg="1"/>
      <p:bldP spid="958507" grpId="0" animBg="1"/>
      <p:bldP spid="958508" grpId="0" animBg="1"/>
      <p:bldP spid="958509" grpId="0" animBg="1"/>
      <p:bldP spid="14" grpId="0"/>
      <p:bldP spid="15" grpId="0"/>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8496" name="Rectangle 32"/>
          <p:cNvSpPr>
            <a:spLocks noChangeArrowheads="1"/>
          </p:cNvSpPr>
          <p:nvPr/>
        </p:nvSpPr>
        <p:spPr bwMode="auto">
          <a:xfrm>
            <a:off x="804567" y="920078"/>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1</a:t>
            </a:r>
            <a:r>
              <a:rPr lang="zh-CN" altLang="en-US" sz="2800" b="1" dirty="0">
                <a:solidFill>
                  <a:schemeClr val="accent1"/>
                </a:solidFill>
                <a:latin typeface="+mn-lt"/>
                <a:ea typeface="楷体" pitchFamily="49" charset="-122"/>
              </a:rPr>
              <a:t>、一维数组的定义</a:t>
            </a:r>
          </a:p>
        </p:txBody>
      </p:sp>
      <p:sp>
        <p:nvSpPr>
          <p:cNvPr id="958497" name="Rectangle 33"/>
          <p:cNvSpPr>
            <a:spLocks noChangeArrowheads="1"/>
          </p:cNvSpPr>
          <p:nvPr/>
        </p:nvSpPr>
        <p:spPr bwMode="auto">
          <a:xfrm>
            <a:off x="1177629" y="1386803"/>
            <a:ext cx="1593706" cy="369332"/>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chemeClr val="accent1"/>
                </a:solidFill>
                <a:latin typeface="+mn-lt"/>
                <a:ea typeface="楷体" pitchFamily="49" charset="-122"/>
              </a:rPr>
              <a:t> </a:t>
            </a:r>
            <a:r>
              <a:rPr lang="zh-CN" altLang="en-US" b="1" dirty="0">
                <a:solidFill>
                  <a:schemeClr val="accent1"/>
                </a:solidFill>
                <a:latin typeface="+mn-lt"/>
                <a:ea typeface="楷体" pitchFamily="49" charset="-122"/>
              </a:rPr>
              <a:t>定义</a:t>
            </a:r>
            <a:r>
              <a:rPr lang="zh-CN" altLang="en-US" b="1" dirty="0">
                <a:solidFill>
                  <a:schemeClr val="accent1"/>
                </a:solidFill>
                <a:ea typeface="楷体" pitchFamily="49" charset="-122"/>
              </a:rPr>
              <a:t>说明</a:t>
            </a:r>
            <a:r>
              <a:rPr lang="zh-CN" altLang="en-US" b="1" dirty="0">
                <a:solidFill>
                  <a:schemeClr val="accent1"/>
                </a:solidFill>
                <a:latin typeface="+mn-lt"/>
                <a:ea typeface="楷体" pitchFamily="49" charset="-122"/>
              </a:rPr>
              <a:t>：</a:t>
            </a:r>
          </a:p>
        </p:txBody>
      </p:sp>
      <p:sp>
        <p:nvSpPr>
          <p:cNvPr id="17" name="Rectangle 4">
            <a:extLst>
              <a:ext uri="{FF2B5EF4-FFF2-40B4-BE49-F238E27FC236}">
                <a16:creationId xmlns:a16="http://schemas.microsoft.com/office/drawing/2014/main" id="{4A2CD794-522A-485E-992A-CC9112256ED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grpSp>
        <p:nvGrpSpPr>
          <p:cNvPr id="22" name="Group 69">
            <a:extLst>
              <a:ext uri="{FF2B5EF4-FFF2-40B4-BE49-F238E27FC236}">
                <a16:creationId xmlns:a16="http://schemas.microsoft.com/office/drawing/2014/main" id="{B3149D61-AE8F-4695-BB6E-4CC5EC0C846B}"/>
              </a:ext>
            </a:extLst>
          </p:cNvPr>
          <p:cNvGrpSpPr>
            <a:grpSpLocks/>
          </p:cNvGrpSpPr>
          <p:nvPr/>
        </p:nvGrpSpPr>
        <p:grpSpPr bwMode="auto">
          <a:xfrm>
            <a:off x="2783632" y="3819079"/>
            <a:ext cx="7729538" cy="2897187"/>
            <a:chOff x="994" y="2149"/>
            <a:chExt cx="4869" cy="1825"/>
          </a:xfrm>
        </p:grpSpPr>
        <p:grpSp>
          <p:nvGrpSpPr>
            <p:cNvPr id="23" name="Group 68">
              <a:extLst>
                <a:ext uri="{FF2B5EF4-FFF2-40B4-BE49-F238E27FC236}">
                  <a16:creationId xmlns:a16="http://schemas.microsoft.com/office/drawing/2014/main" id="{87B452DA-8EA7-41BB-A9A8-267B32E900D5}"/>
                </a:ext>
              </a:extLst>
            </p:cNvPr>
            <p:cNvGrpSpPr>
              <a:grpSpLocks/>
            </p:cNvGrpSpPr>
            <p:nvPr/>
          </p:nvGrpSpPr>
          <p:grpSpPr bwMode="auto">
            <a:xfrm>
              <a:off x="4318" y="2440"/>
              <a:ext cx="1545" cy="976"/>
              <a:chOff x="4318" y="2440"/>
              <a:chExt cx="1545" cy="976"/>
            </a:xfrm>
          </p:grpSpPr>
          <p:sp>
            <p:nvSpPr>
              <p:cNvPr id="63" name="AutoShape 15">
                <a:extLst>
                  <a:ext uri="{FF2B5EF4-FFF2-40B4-BE49-F238E27FC236}">
                    <a16:creationId xmlns:a16="http://schemas.microsoft.com/office/drawing/2014/main" id="{AFD01800-E78C-4F30-AF91-5183F2E647CC}"/>
                  </a:ext>
                </a:extLst>
              </p:cNvPr>
              <p:cNvSpPr>
                <a:spLocks/>
              </p:cNvSpPr>
              <p:nvPr/>
            </p:nvSpPr>
            <p:spPr bwMode="auto">
              <a:xfrm>
                <a:off x="4318" y="2440"/>
                <a:ext cx="118" cy="976"/>
              </a:xfrm>
              <a:prstGeom prst="rightBrace">
                <a:avLst>
                  <a:gd name="adj1" fmla="val 68927"/>
                  <a:gd name="adj2" fmla="val 50000"/>
                </a:avLst>
              </a:prstGeom>
              <a:noFill/>
              <a:ln w="25400">
                <a:solidFill>
                  <a:srgbClr val="C01920"/>
                </a:solidFill>
                <a:round/>
                <a:headEnd/>
                <a:tailEnd/>
              </a:ln>
              <a:effectLst>
                <a:outerShdw dist="35921" dir="2700000" algn="ctr" rotWithShape="0">
                  <a:srgbClr val="808080"/>
                </a:outerShdw>
              </a:effectLst>
            </p:spPr>
            <p:txBody>
              <a:bodyPr/>
              <a:lstStyle/>
              <a:p>
                <a:endParaRPr lang="zh-CN" altLang="en-US"/>
              </a:p>
            </p:txBody>
          </p:sp>
          <p:sp>
            <p:nvSpPr>
              <p:cNvPr id="64" name="Text Box 16">
                <a:extLst>
                  <a:ext uri="{FF2B5EF4-FFF2-40B4-BE49-F238E27FC236}">
                    <a16:creationId xmlns:a16="http://schemas.microsoft.com/office/drawing/2014/main" id="{A9168319-5C52-4077-A027-AE4A8FAAA899}"/>
                  </a:ext>
                </a:extLst>
              </p:cNvPr>
              <p:cNvSpPr txBox="1">
                <a:spLocks noChangeArrowheads="1"/>
              </p:cNvSpPr>
              <p:nvPr/>
            </p:nvSpPr>
            <p:spPr bwMode="auto">
              <a:xfrm>
                <a:off x="4457" y="2576"/>
                <a:ext cx="1406" cy="681"/>
              </a:xfrm>
              <a:prstGeom prst="rect">
                <a:avLst/>
              </a:prstGeom>
              <a:noFill/>
              <a:ln w="9525">
                <a:noFill/>
                <a:miter lim="800000"/>
                <a:headEnd/>
                <a:tailEnd/>
              </a:ln>
            </p:spPr>
            <p:txBody>
              <a:bodyPr/>
              <a:lstStyle/>
              <a:p>
                <a:r>
                  <a:rPr lang="zh-CN" altLang="en-US" sz="2000" dirty="0">
                    <a:solidFill>
                      <a:schemeClr val="accent1"/>
                    </a:solidFill>
                    <a:latin typeface="隶书" pitchFamily="49" charset="-122"/>
                    <a:ea typeface="隶书" pitchFamily="49" charset="-122"/>
                  </a:rPr>
                  <a:t>占用的字节数为：</a:t>
                </a:r>
              </a:p>
              <a:p>
                <a:r>
                  <a:rPr lang="en-US" altLang="zh-CN" sz="2000" dirty="0">
                    <a:solidFill>
                      <a:schemeClr val="accent1"/>
                    </a:solidFill>
                    <a:ea typeface="隶书" pitchFamily="49" charset="-122"/>
                  </a:rPr>
                  <a:t>10 * </a:t>
                </a:r>
                <a:r>
                  <a:rPr lang="en-US" altLang="zh-CN" sz="2000" dirty="0" err="1">
                    <a:solidFill>
                      <a:schemeClr val="accent1"/>
                    </a:solidFill>
                    <a:ea typeface="隶书" pitchFamily="49" charset="-122"/>
                  </a:rPr>
                  <a:t>sizeof</a:t>
                </a:r>
                <a:r>
                  <a:rPr lang="en-US" altLang="zh-CN" sz="2000" dirty="0">
                    <a:solidFill>
                      <a:schemeClr val="accent1"/>
                    </a:solidFill>
                    <a:ea typeface="隶书" pitchFamily="49" charset="-122"/>
                  </a:rPr>
                  <a:t>(short) </a:t>
                </a:r>
              </a:p>
              <a:p>
                <a:r>
                  <a:rPr lang="en-US" altLang="zh-CN" sz="2000" dirty="0">
                    <a:solidFill>
                      <a:schemeClr val="accent1"/>
                    </a:solidFill>
                    <a:ea typeface="隶书" pitchFamily="49" charset="-122"/>
                  </a:rPr>
                  <a:t>= 10 * 2 = 20</a:t>
                </a:r>
              </a:p>
            </p:txBody>
          </p:sp>
        </p:grpSp>
        <p:grpSp>
          <p:nvGrpSpPr>
            <p:cNvPr id="24" name="Group 54">
              <a:extLst>
                <a:ext uri="{FF2B5EF4-FFF2-40B4-BE49-F238E27FC236}">
                  <a16:creationId xmlns:a16="http://schemas.microsoft.com/office/drawing/2014/main" id="{0F453AAC-D67B-4A00-902C-340187C1C4DB}"/>
                </a:ext>
              </a:extLst>
            </p:cNvPr>
            <p:cNvGrpSpPr>
              <a:grpSpLocks/>
            </p:cNvGrpSpPr>
            <p:nvPr/>
          </p:nvGrpSpPr>
          <p:grpSpPr bwMode="auto">
            <a:xfrm>
              <a:off x="1882" y="2160"/>
              <a:ext cx="1109" cy="1814"/>
              <a:chOff x="1882" y="2160"/>
              <a:chExt cx="1109" cy="1814"/>
            </a:xfrm>
          </p:grpSpPr>
          <p:grpSp>
            <p:nvGrpSpPr>
              <p:cNvPr id="49" name="Group 52">
                <a:extLst>
                  <a:ext uri="{FF2B5EF4-FFF2-40B4-BE49-F238E27FC236}">
                    <a16:creationId xmlns:a16="http://schemas.microsoft.com/office/drawing/2014/main" id="{3BED8953-EDD6-4F39-A584-FF737DDBE972}"/>
                  </a:ext>
                </a:extLst>
              </p:cNvPr>
              <p:cNvGrpSpPr>
                <a:grpSpLocks/>
              </p:cNvGrpSpPr>
              <p:nvPr/>
            </p:nvGrpSpPr>
            <p:grpSpPr bwMode="auto">
              <a:xfrm>
                <a:off x="1882" y="2160"/>
                <a:ext cx="1109" cy="1814"/>
                <a:chOff x="1952" y="2160"/>
                <a:chExt cx="940" cy="1814"/>
              </a:xfrm>
            </p:grpSpPr>
            <p:sp>
              <p:nvSpPr>
                <p:cNvPr id="56" name="AutoShape 29">
                  <a:extLst>
                    <a:ext uri="{FF2B5EF4-FFF2-40B4-BE49-F238E27FC236}">
                      <a16:creationId xmlns:a16="http://schemas.microsoft.com/office/drawing/2014/main" id="{0D6B7508-B8BC-4DB0-980A-558A944E9097}"/>
                    </a:ext>
                  </a:extLst>
                </p:cNvPr>
                <p:cNvSpPr>
                  <a:spLocks noChangeArrowheads="1"/>
                </p:cNvSpPr>
                <p:nvPr/>
              </p:nvSpPr>
              <p:spPr bwMode="auto">
                <a:xfrm>
                  <a:off x="1952" y="2160"/>
                  <a:ext cx="928" cy="1814"/>
                </a:xfrm>
                <a:prstGeom prst="foldedCorner">
                  <a:avLst>
                    <a:gd name="adj" fmla="val 13745"/>
                  </a:avLst>
                </a:prstGeom>
                <a:gradFill rotWithShape="1">
                  <a:gsLst>
                    <a:gs pos="0">
                      <a:srgbClr val="BEDFC4"/>
                    </a:gs>
                    <a:gs pos="100000">
                      <a:schemeClr val="bg1">
                        <a:lumMod val="95000"/>
                      </a:schemeClr>
                    </a:gs>
                  </a:gsLst>
                  <a:lin ang="5400000" scaled="1"/>
                </a:gradFill>
                <a:ln w="38100">
                  <a:solidFill>
                    <a:srgbClr val="008000"/>
                  </a:solidFill>
                  <a:round/>
                  <a:headEnd type="none" w="lg" len="lg"/>
                  <a:tailEnd/>
                </a:ln>
                <a:effectLst>
                  <a:outerShdw blurRad="50800" dist="106680" dir="2700000" algn="tl" rotWithShape="0">
                    <a:prstClr val="black">
                      <a:alpha val="43000"/>
                    </a:prstClr>
                  </a:outerShdw>
                </a:effectLst>
              </p:spPr>
              <p:txBody>
                <a:bodyPr lIns="90000" tIns="46800" rIns="90000" bIns="46800" anchor="ctr"/>
                <a:lstStyle/>
                <a:p>
                  <a:pPr algn="ctr"/>
                  <a:endParaRPr lang="zh-CN" altLang="zh-CN"/>
                </a:p>
              </p:txBody>
            </p:sp>
            <p:sp>
              <p:nvSpPr>
                <p:cNvPr id="57" name="Line 30">
                  <a:extLst>
                    <a:ext uri="{FF2B5EF4-FFF2-40B4-BE49-F238E27FC236}">
                      <a16:creationId xmlns:a16="http://schemas.microsoft.com/office/drawing/2014/main" id="{287AC54A-EAD6-4194-87BE-9680EE5FA345}"/>
                    </a:ext>
                  </a:extLst>
                </p:cNvPr>
                <p:cNvSpPr>
                  <a:spLocks noChangeShapeType="1"/>
                </p:cNvSpPr>
                <p:nvPr/>
              </p:nvSpPr>
              <p:spPr bwMode="auto">
                <a:xfrm>
                  <a:off x="1952" y="2372"/>
                  <a:ext cx="940" cy="0"/>
                </a:xfrm>
                <a:prstGeom prst="line">
                  <a:avLst/>
                </a:prstGeom>
                <a:noFill/>
                <a:ln w="28575">
                  <a:solidFill>
                    <a:srgbClr val="339933"/>
                  </a:solidFill>
                  <a:round/>
                  <a:headEnd/>
                  <a:tailEnd/>
                </a:ln>
                <a:effectLst/>
              </p:spPr>
              <p:txBody>
                <a:bodyPr/>
                <a:lstStyle/>
                <a:p>
                  <a:endParaRPr lang="zh-CN" altLang="en-US"/>
                </a:p>
              </p:txBody>
            </p:sp>
            <p:sp>
              <p:nvSpPr>
                <p:cNvPr id="58" name="Line 31">
                  <a:extLst>
                    <a:ext uri="{FF2B5EF4-FFF2-40B4-BE49-F238E27FC236}">
                      <a16:creationId xmlns:a16="http://schemas.microsoft.com/office/drawing/2014/main" id="{91DDDCF4-F05E-45A9-B9BB-3FB5A30D04F5}"/>
                    </a:ext>
                  </a:extLst>
                </p:cNvPr>
                <p:cNvSpPr>
                  <a:spLocks noChangeShapeType="1"/>
                </p:cNvSpPr>
                <p:nvPr/>
              </p:nvSpPr>
              <p:spPr bwMode="auto">
                <a:xfrm>
                  <a:off x="1952" y="2573"/>
                  <a:ext cx="940" cy="0"/>
                </a:xfrm>
                <a:prstGeom prst="line">
                  <a:avLst/>
                </a:prstGeom>
                <a:noFill/>
                <a:ln w="28575">
                  <a:solidFill>
                    <a:srgbClr val="339933"/>
                  </a:solidFill>
                  <a:round/>
                  <a:headEnd/>
                  <a:tailEnd/>
                </a:ln>
                <a:effectLst/>
              </p:spPr>
              <p:txBody>
                <a:bodyPr/>
                <a:lstStyle/>
                <a:p>
                  <a:endParaRPr lang="zh-CN" altLang="en-US"/>
                </a:p>
              </p:txBody>
            </p:sp>
            <p:sp>
              <p:nvSpPr>
                <p:cNvPr id="59" name="Line 32">
                  <a:extLst>
                    <a:ext uri="{FF2B5EF4-FFF2-40B4-BE49-F238E27FC236}">
                      <a16:creationId xmlns:a16="http://schemas.microsoft.com/office/drawing/2014/main" id="{4ADBA011-D370-4B8A-B7DF-8BDFDD63792C}"/>
                    </a:ext>
                  </a:extLst>
                </p:cNvPr>
                <p:cNvSpPr>
                  <a:spLocks noChangeShapeType="1"/>
                </p:cNvSpPr>
                <p:nvPr/>
              </p:nvSpPr>
              <p:spPr bwMode="auto">
                <a:xfrm>
                  <a:off x="1952" y="2765"/>
                  <a:ext cx="940" cy="0"/>
                </a:xfrm>
                <a:prstGeom prst="line">
                  <a:avLst/>
                </a:prstGeom>
                <a:noFill/>
                <a:ln w="28575">
                  <a:solidFill>
                    <a:srgbClr val="339933"/>
                  </a:solidFill>
                  <a:round/>
                  <a:headEnd/>
                  <a:tailEnd/>
                </a:ln>
                <a:effectLst/>
              </p:spPr>
              <p:txBody>
                <a:bodyPr/>
                <a:lstStyle/>
                <a:p>
                  <a:endParaRPr lang="zh-CN" altLang="en-US"/>
                </a:p>
              </p:txBody>
            </p:sp>
            <p:sp>
              <p:nvSpPr>
                <p:cNvPr id="60" name="Line 33">
                  <a:extLst>
                    <a:ext uri="{FF2B5EF4-FFF2-40B4-BE49-F238E27FC236}">
                      <a16:creationId xmlns:a16="http://schemas.microsoft.com/office/drawing/2014/main" id="{A24F29F4-2BB8-4402-A799-76BC349A35BF}"/>
                    </a:ext>
                  </a:extLst>
                </p:cNvPr>
                <p:cNvSpPr>
                  <a:spLocks noChangeShapeType="1"/>
                </p:cNvSpPr>
                <p:nvPr/>
              </p:nvSpPr>
              <p:spPr bwMode="auto">
                <a:xfrm>
                  <a:off x="1952" y="2958"/>
                  <a:ext cx="940" cy="0"/>
                </a:xfrm>
                <a:prstGeom prst="line">
                  <a:avLst/>
                </a:prstGeom>
                <a:noFill/>
                <a:ln w="28575">
                  <a:solidFill>
                    <a:srgbClr val="339933"/>
                  </a:solidFill>
                  <a:round/>
                  <a:headEnd/>
                  <a:tailEnd/>
                </a:ln>
                <a:effectLst/>
              </p:spPr>
              <p:txBody>
                <a:bodyPr/>
                <a:lstStyle/>
                <a:p>
                  <a:endParaRPr lang="zh-CN" altLang="en-US"/>
                </a:p>
              </p:txBody>
            </p:sp>
            <p:sp>
              <p:nvSpPr>
                <p:cNvPr id="61" name="Line 34">
                  <a:extLst>
                    <a:ext uri="{FF2B5EF4-FFF2-40B4-BE49-F238E27FC236}">
                      <a16:creationId xmlns:a16="http://schemas.microsoft.com/office/drawing/2014/main" id="{D8E81D17-BC35-4E2E-9004-888FB8463BE0}"/>
                    </a:ext>
                  </a:extLst>
                </p:cNvPr>
                <p:cNvSpPr>
                  <a:spLocks noChangeShapeType="1"/>
                </p:cNvSpPr>
                <p:nvPr/>
              </p:nvSpPr>
              <p:spPr bwMode="auto">
                <a:xfrm>
                  <a:off x="1952" y="3300"/>
                  <a:ext cx="940" cy="0"/>
                </a:xfrm>
                <a:prstGeom prst="line">
                  <a:avLst/>
                </a:prstGeom>
                <a:noFill/>
                <a:ln w="28575">
                  <a:solidFill>
                    <a:srgbClr val="339933"/>
                  </a:solidFill>
                  <a:round/>
                  <a:headEnd/>
                  <a:tailEnd/>
                </a:ln>
                <a:effectLst/>
              </p:spPr>
              <p:txBody>
                <a:bodyPr/>
                <a:lstStyle/>
                <a:p>
                  <a:endParaRPr lang="zh-CN" altLang="en-US"/>
                </a:p>
              </p:txBody>
            </p:sp>
            <p:sp>
              <p:nvSpPr>
                <p:cNvPr id="62" name="Line 35">
                  <a:extLst>
                    <a:ext uri="{FF2B5EF4-FFF2-40B4-BE49-F238E27FC236}">
                      <a16:creationId xmlns:a16="http://schemas.microsoft.com/office/drawing/2014/main" id="{0CE23277-ED95-44CC-A7E0-F63E16A5EA85}"/>
                    </a:ext>
                  </a:extLst>
                </p:cNvPr>
                <p:cNvSpPr>
                  <a:spLocks noChangeShapeType="1"/>
                </p:cNvSpPr>
                <p:nvPr/>
              </p:nvSpPr>
              <p:spPr bwMode="auto">
                <a:xfrm>
                  <a:off x="1952" y="3505"/>
                  <a:ext cx="940" cy="0"/>
                </a:xfrm>
                <a:prstGeom prst="line">
                  <a:avLst/>
                </a:prstGeom>
                <a:noFill/>
                <a:ln w="28575">
                  <a:solidFill>
                    <a:srgbClr val="339933"/>
                  </a:solidFill>
                  <a:round/>
                  <a:headEnd/>
                  <a:tailEnd/>
                </a:ln>
                <a:effectLst/>
              </p:spPr>
              <p:txBody>
                <a:bodyPr/>
                <a:lstStyle/>
                <a:p>
                  <a:endParaRPr lang="zh-CN" altLang="en-US"/>
                </a:p>
              </p:txBody>
            </p:sp>
          </p:grpSp>
          <p:grpSp>
            <p:nvGrpSpPr>
              <p:cNvPr id="50" name="Group 53">
                <a:extLst>
                  <a:ext uri="{FF2B5EF4-FFF2-40B4-BE49-F238E27FC236}">
                    <a16:creationId xmlns:a16="http://schemas.microsoft.com/office/drawing/2014/main" id="{B8A57635-64F8-40CB-9F37-A20E5AA35E1E}"/>
                  </a:ext>
                </a:extLst>
              </p:cNvPr>
              <p:cNvGrpSpPr>
                <a:grpSpLocks/>
              </p:cNvGrpSpPr>
              <p:nvPr/>
            </p:nvGrpSpPr>
            <p:grpSpPr bwMode="auto">
              <a:xfrm>
                <a:off x="2234" y="2341"/>
                <a:ext cx="398" cy="1178"/>
                <a:chOff x="2178" y="2341"/>
                <a:chExt cx="398" cy="1178"/>
              </a:xfrm>
            </p:grpSpPr>
            <p:sp>
              <p:nvSpPr>
                <p:cNvPr id="51" name="Text Box 37">
                  <a:extLst>
                    <a:ext uri="{FF2B5EF4-FFF2-40B4-BE49-F238E27FC236}">
                      <a16:creationId xmlns:a16="http://schemas.microsoft.com/office/drawing/2014/main" id="{D1DB2DF6-8529-4988-B94C-12FE9671AA8A}"/>
                    </a:ext>
                  </a:extLst>
                </p:cNvPr>
                <p:cNvSpPr txBox="1">
                  <a:spLocks noChangeArrowheads="1"/>
                </p:cNvSpPr>
                <p:nvPr/>
              </p:nvSpPr>
              <p:spPr bwMode="auto">
                <a:xfrm>
                  <a:off x="2178" y="2341"/>
                  <a:ext cx="376" cy="238"/>
                </a:xfrm>
                <a:prstGeom prst="rect">
                  <a:avLst/>
                </a:prstGeom>
                <a:noFill/>
                <a:ln w="9525">
                  <a:noFill/>
                  <a:miter lim="800000"/>
                  <a:headEnd/>
                  <a:tailEnd/>
                </a:ln>
                <a:effectLst/>
              </p:spPr>
              <p:txBody>
                <a:bodyPr/>
                <a:lstStyle/>
                <a:p>
                  <a:pPr algn="just"/>
                  <a:r>
                    <a:rPr lang="en-US" altLang="zh-CN" sz="1800" b="1"/>
                    <a:t>a[0]</a:t>
                  </a:r>
                </a:p>
              </p:txBody>
            </p:sp>
            <p:sp>
              <p:nvSpPr>
                <p:cNvPr id="52" name="Text Box 38">
                  <a:extLst>
                    <a:ext uri="{FF2B5EF4-FFF2-40B4-BE49-F238E27FC236}">
                      <a16:creationId xmlns:a16="http://schemas.microsoft.com/office/drawing/2014/main" id="{831AB7F7-0275-479A-96E9-881C90A6FF3F}"/>
                    </a:ext>
                  </a:extLst>
                </p:cNvPr>
                <p:cNvSpPr txBox="1">
                  <a:spLocks noChangeArrowheads="1"/>
                </p:cNvSpPr>
                <p:nvPr/>
              </p:nvSpPr>
              <p:spPr bwMode="auto">
                <a:xfrm>
                  <a:off x="2184" y="2550"/>
                  <a:ext cx="376" cy="238"/>
                </a:xfrm>
                <a:prstGeom prst="rect">
                  <a:avLst/>
                </a:prstGeom>
                <a:noFill/>
                <a:ln w="9525">
                  <a:noFill/>
                  <a:miter lim="800000"/>
                  <a:headEnd/>
                  <a:tailEnd/>
                </a:ln>
                <a:effectLst/>
              </p:spPr>
              <p:txBody>
                <a:bodyPr/>
                <a:lstStyle/>
                <a:p>
                  <a:pPr algn="just"/>
                  <a:r>
                    <a:rPr lang="en-US" altLang="zh-CN" sz="1800" b="1"/>
                    <a:t>a[1]</a:t>
                  </a:r>
                </a:p>
              </p:txBody>
            </p:sp>
            <p:sp>
              <p:nvSpPr>
                <p:cNvPr id="53" name="Text Box 39">
                  <a:extLst>
                    <a:ext uri="{FF2B5EF4-FFF2-40B4-BE49-F238E27FC236}">
                      <a16:creationId xmlns:a16="http://schemas.microsoft.com/office/drawing/2014/main" id="{3D2EC779-A8A5-44D0-8718-FA1BC9DEA522}"/>
                    </a:ext>
                  </a:extLst>
                </p:cNvPr>
                <p:cNvSpPr txBox="1">
                  <a:spLocks noChangeArrowheads="1"/>
                </p:cNvSpPr>
                <p:nvPr/>
              </p:nvSpPr>
              <p:spPr bwMode="auto">
                <a:xfrm>
                  <a:off x="2178" y="2736"/>
                  <a:ext cx="376" cy="238"/>
                </a:xfrm>
                <a:prstGeom prst="rect">
                  <a:avLst/>
                </a:prstGeom>
                <a:noFill/>
                <a:ln w="9525">
                  <a:noFill/>
                  <a:miter lim="800000"/>
                  <a:headEnd/>
                  <a:tailEnd/>
                </a:ln>
                <a:effectLst/>
              </p:spPr>
              <p:txBody>
                <a:bodyPr/>
                <a:lstStyle/>
                <a:p>
                  <a:pPr algn="just"/>
                  <a:r>
                    <a:rPr lang="en-US" altLang="zh-CN" sz="1800" b="1"/>
                    <a:t>a[2]</a:t>
                  </a:r>
                </a:p>
              </p:txBody>
            </p:sp>
            <p:sp>
              <p:nvSpPr>
                <p:cNvPr id="54" name="Text Box 40">
                  <a:extLst>
                    <a:ext uri="{FF2B5EF4-FFF2-40B4-BE49-F238E27FC236}">
                      <a16:creationId xmlns:a16="http://schemas.microsoft.com/office/drawing/2014/main" id="{3A60BCD0-DD07-4460-AEC8-AA8E2A07D8AD}"/>
                    </a:ext>
                  </a:extLst>
                </p:cNvPr>
                <p:cNvSpPr txBox="1">
                  <a:spLocks noChangeArrowheads="1"/>
                </p:cNvSpPr>
                <p:nvPr/>
              </p:nvSpPr>
              <p:spPr bwMode="auto">
                <a:xfrm>
                  <a:off x="2200" y="3281"/>
                  <a:ext cx="376" cy="238"/>
                </a:xfrm>
                <a:prstGeom prst="rect">
                  <a:avLst/>
                </a:prstGeom>
                <a:noFill/>
                <a:ln w="9525">
                  <a:noFill/>
                  <a:miter lim="800000"/>
                  <a:headEnd/>
                  <a:tailEnd/>
                </a:ln>
                <a:effectLst/>
              </p:spPr>
              <p:txBody>
                <a:bodyPr/>
                <a:lstStyle/>
                <a:p>
                  <a:pPr algn="just"/>
                  <a:r>
                    <a:rPr lang="en-US" altLang="zh-CN" sz="1800" b="1"/>
                    <a:t>a[9]</a:t>
                  </a:r>
                </a:p>
              </p:txBody>
            </p:sp>
            <p:sp>
              <p:nvSpPr>
                <p:cNvPr id="55" name="Text Box 41">
                  <a:extLst>
                    <a:ext uri="{FF2B5EF4-FFF2-40B4-BE49-F238E27FC236}">
                      <a16:creationId xmlns:a16="http://schemas.microsoft.com/office/drawing/2014/main" id="{85E0B23C-D346-4947-8DD7-9EF925494D2E}"/>
                    </a:ext>
                  </a:extLst>
                </p:cNvPr>
                <p:cNvSpPr txBox="1">
                  <a:spLocks noChangeArrowheads="1"/>
                </p:cNvSpPr>
                <p:nvPr/>
              </p:nvSpPr>
              <p:spPr bwMode="auto">
                <a:xfrm>
                  <a:off x="2282" y="2955"/>
                  <a:ext cx="283" cy="408"/>
                </a:xfrm>
                <a:prstGeom prst="rect">
                  <a:avLst/>
                </a:prstGeom>
                <a:noFill/>
                <a:ln w="9525">
                  <a:noFill/>
                  <a:miter lim="800000"/>
                  <a:headEnd/>
                  <a:tailEnd/>
                </a:ln>
              </p:spPr>
              <p:txBody>
                <a:bodyPr vert="eaVert"/>
                <a:lstStyle/>
                <a:p>
                  <a:pPr algn="just"/>
                  <a:r>
                    <a:rPr lang="en-US" altLang="zh-CN" sz="1800" b="1"/>
                    <a:t>……</a:t>
                  </a:r>
                  <a:endParaRPr lang="en-US" altLang="zh-CN" sz="1800"/>
                </a:p>
              </p:txBody>
            </p:sp>
          </p:grpSp>
        </p:grpSp>
        <p:grpSp>
          <p:nvGrpSpPr>
            <p:cNvPr id="25" name="Group 56">
              <a:extLst>
                <a:ext uri="{FF2B5EF4-FFF2-40B4-BE49-F238E27FC236}">
                  <a16:creationId xmlns:a16="http://schemas.microsoft.com/office/drawing/2014/main" id="{023FFC94-E75F-4A54-8ED0-2EB09675B148}"/>
                </a:ext>
              </a:extLst>
            </p:cNvPr>
            <p:cNvGrpSpPr>
              <a:grpSpLocks/>
            </p:cNvGrpSpPr>
            <p:nvPr/>
          </p:nvGrpSpPr>
          <p:grpSpPr bwMode="auto">
            <a:xfrm>
              <a:off x="994" y="2448"/>
              <a:ext cx="480" cy="982"/>
              <a:chOff x="994" y="2448"/>
              <a:chExt cx="480" cy="982"/>
            </a:xfrm>
          </p:grpSpPr>
          <p:sp>
            <p:nvSpPr>
              <p:cNvPr id="47" name="AutoShape 43">
                <a:extLst>
                  <a:ext uri="{FF2B5EF4-FFF2-40B4-BE49-F238E27FC236}">
                    <a16:creationId xmlns:a16="http://schemas.microsoft.com/office/drawing/2014/main" id="{120FF60C-84E5-4C7C-B769-29D27BBEE30F}"/>
                  </a:ext>
                </a:extLst>
              </p:cNvPr>
              <p:cNvSpPr>
                <a:spLocks/>
              </p:cNvSpPr>
              <p:nvPr/>
            </p:nvSpPr>
            <p:spPr bwMode="auto">
              <a:xfrm>
                <a:off x="1391" y="2448"/>
                <a:ext cx="83" cy="982"/>
              </a:xfrm>
              <a:prstGeom prst="leftBrace">
                <a:avLst>
                  <a:gd name="adj1" fmla="val 98594"/>
                  <a:gd name="adj2" fmla="val 50000"/>
                </a:avLst>
              </a:prstGeom>
              <a:noFill/>
              <a:ln w="25400">
                <a:solidFill>
                  <a:srgbClr val="002060"/>
                </a:solidFill>
                <a:round/>
                <a:headEnd/>
                <a:tailEnd/>
              </a:ln>
              <a:effectLst>
                <a:outerShdw dist="35921" dir="2700000" algn="ctr" rotWithShape="0">
                  <a:srgbClr val="808080"/>
                </a:outerShdw>
              </a:effectLst>
            </p:spPr>
            <p:txBody>
              <a:bodyPr/>
              <a:lstStyle/>
              <a:p>
                <a:endParaRPr lang="zh-CN" altLang="en-US" dirty="0"/>
              </a:p>
            </p:txBody>
          </p:sp>
          <p:sp>
            <p:nvSpPr>
              <p:cNvPr id="48" name="Text Box 44">
                <a:extLst>
                  <a:ext uri="{FF2B5EF4-FFF2-40B4-BE49-F238E27FC236}">
                    <a16:creationId xmlns:a16="http://schemas.microsoft.com/office/drawing/2014/main" id="{ECFD9369-9B7E-46FC-927B-5F1BD8D40370}"/>
                  </a:ext>
                </a:extLst>
              </p:cNvPr>
              <p:cNvSpPr txBox="1">
                <a:spLocks noChangeArrowheads="1"/>
              </p:cNvSpPr>
              <p:nvPr/>
            </p:nvSpPr>
            <p:spPr bwMode="auto">
              <a:xfrm>
                <a:off x="994" y="2726"/>
                <a:ext cx="409" cy="409"/>
              </a:xfrm>
              <a:prstGeom prst="rect">
                <a:avLst/>
              </a:prstGeom>
              <a:noFill/>
              <a:ln w="9525">
                <a:noFill/>
                <a:miter lim="800000"/>
                <a:headEnd/>
                <a:tailEnd/>
              </a:ln>
            </p:spPr>
            <p:txBody>
              <a:bodyPr/>
              <a:lstStyle/>
              <a:p>
                <a:pPr algn="just"/>
                <a:r>
                  <a:rPr lang="zh-CN" altLang="en-US" sz="1800" b="1" dirty="0">
                    <a:solidFill>
                      <a:srgbClr val="002060"/>
                    </a:solidFill>
                    <a:ea typeface="隶书" pitchFamily="49" charset="-122"/>
                  </a:rPr>
                  <a:t>内存</a:t>
                </a:r>
              </a:p>
              <a:p>
                <a:pPr algn="just"/>
                <a:r>
                  <a:rPr lang="zh-CN" altLang="en-US" sz="1800" b="1" dirty="0">
                    <a:solidFill>
                      <a:srgbClr val="002060"/>
                    </a:solidFill>
                    <a:ea typeface="隶书" pitchFamily="49" charset="-122"/>
                  </a:rPr>
                  <a:t>地址</a:t>
                </a:r>
              </a:p>
            </p:txBody>
          </p:sp>
        </p:grpSp>
        <p:grpSp>
          <p:nvGrpSpPr>
            <p:cNvPr id="26" name="Group 55">
              <a:extLst>
                <a:ext uri="{FF2B5EF4-FFF2-40B4-BE49-F238E27FC236}">
                  <a16:creationId xmlns:a16="http://schemas.microsoft.com/office/drawing/2014/main" id="{F74B4567-996C-4C0B-B0B6-0B4F3FF4416D}"/>
                </a:ext>
              </a:extLst>
            </p:cNvPr>
            <p:cNvGrpSpPr>
              <a:grpSpLocks/>
            </p:cNvGrpSpPr>
            <p:nvPr/>
          </p:nvGrpSpPr>
          <p:grpSpPr bwMode="auto">
            <a:xfrm>
              <a:off x="1471" y="2149"/>
              <a:ext cx="497" cy="1326"/>
              <a:chOff x="1471" y="2149"/>
              <a:chExt cx="497" cy="1326"/>
            </a:xfrm>
          </p:grpSpPr>
          <p:sp>
            <p:nvSpPr>
              <p:cNvPr id="41" name="Text Box 46">
                <a:extLst>
                  <a:ext uri="{FF2B5EF4-FFF2-40B4-BE49-F238E27FC236}">
                    <a16:creationId xmlns:a16="http://schemas.microsoft.com/office/drawing/2014/main" id="{122359B9-066F-4D6E-BCCD-D48D446D4056}"/>
                  </a:ext>
                </a:extLst>
              </p:cNvPr>
              <p:cNvSpPr txBox="1">
                <a:spLocks noChangeArrowheads="1"/>
              </p:cNvSpPr>
              <p:nvPr/>
            </p:nvSpPr>
            <p:spPr bwMode="auto">
              <a:xfrm>
                <a:off x="1498" y="2368"/>
                <a:ext cx="470" cy="182"/>
              </a:xfrm>
              <a:prstGeom prst="rect">
                <a:avLst/>
              </a:prstGeom>
              <a:noFill/>
              <a:ln w="9525">
                <a:noFill/>
                <a:miter lim="800000"/>
                <a:headEnd/>
                <a:tailEnd/>
              </a:ln>
              <a:effectLst/>
            </p:spPr>
            <p:txBody>
              <a:bodyPr/>
              <a:lstStyle/>
              <a:p>
                <a:pPr algn="just"/>
                <a:r>
                  <a:rPr lang="en-US" altLang="zh-CN" sz="1600" b="1">
                    <a:solidFill>
                      <a:srgbClr val="002060"/>
                    </a:solidFill>
                  </a:rPr>
                  <a:t>2000</a:t>
                </a:r>
              </a:p>
            </p:txBody>
          </p:sp>
          <p:sp>
            <p:nvSpPr>
              <p:cNvPr id="42" name="Text Box 47">
                <a:extLst>
                  <a:ext uri="{FF2B5EF4-FFF2-40B4-BE49-F238E27FC236}">
                    <a16:creationId xmlns:a16="http://schemas.microsoft.com/office/drawing/2014/main" id="{2B426EC7-2A23-443D-B2BF-4769D2C1A40D}"/>
                  </a:ext>
                </a:extLst>
              </p:cNvPr>
              <p:cNvSpPr txBox="1">
                <a:spLocks noChangeArrowheads="1"/>
              </p:cNvSpPr>
              <p:nvPr/>
            </p:nvSpPr>
            <p:spPr bwMode="auto">
              <a:xfrm>
                <a:off x="1490" y="2563"/>
                <a:ext cx="408" cy="181"/>
              </a:xfrm>
              <a:prstGeom prst="rect">
                <a:avLst/>
              </a:prstGeom>
              <a:noFill/>
              <a:ln w="9525">
                <a:noFill/>
                <a:miter lim="800000"/>
                <a:headEnd/>
                <a:tailEnd/>
              </a:ln>
              <a:effectLst/>
            </p:spPr>
            <p:txBody>
              <a:bodyPr/>
              <a:lstStyle/>
              <a:p>
                <a:pPr algn="just"/>
                <a:r>
                  <a:rPr lang="en-US" altLang="zh-CN" sz="1600" b="1" dirty="0">
                    <a:solidFill>
                      <a:srgbClr val="002060"/>
                    </a:solidFill>
                  </a:rPr>
                  <a:t>2002</a:t>
                </a:r>
              </a:p>
            </p:txBody>
          </p:sp>
          <p:sp>
            <p:nvSpPr>
              <p:cNvPr id="43" name="Text Box 48">
                <a:extLst>
                  <a:ext uri="{FF2B5EF4-FFF2-40B4-BE49-F238E27FC236}">
                    <a16:creationId xmlns:a16="http://schemas.microsoft.com/office/drawing/2014/main" id="{01F95811-61E7-4B43-A178-96DFB20DD181}"/>
                  </a:ext>
                </a:extLst>
              </p:cNvPr>
              <p:cNvSpPr txBox="1">
                <a:spLocks noChangeArrowheads="1"/>
              </p:cNvSpPr>
              <p:nvPr/>
            </p:nvSpPr>
            <p:spPr bwMode="auto">
              <a:xfrm>
                <a:off x="1482" y="2760"/>
                <a:ext cx="470" cy="182"/>
              </a:xfrm>
              <a:prstGeom prst="rect">
                <a:avLst/>
              </a:prstGeom>
              <a:noFill/>
              <a:ln w="9525">
                <a:noFill/>
                <a:miter lim="800000"/>
                <a:headEnd/>
                <a:tailEnd/>
              </a:ln>
              <a:effectLst/>
            </p:spPr>
            <p:txBody>
              <a:bodyPr/>
              <a:lstStyle/>
              <a:p>
                <a:pPr algn="just"/>
                <a:r>
                  <a:rPr lang="en-US" altLang="zh-CN" sz="1600" b="1">
                    <a:solidFill>
                      <a:srgbClr val="002060"/>
                    </a:solidFill>
                  </a:rPr>
                  <a:t>2004</a:t>
                </a:r>
              </a:p>
            </p:txBody>
          </p:sp>
          <p:sp>
            <p:nvSpPr>
              <p:cNvPr id="44" name="Text Box 49">
                <a:extLst>
                  <a:ext uri="{FF2B5EF4-FFF2-40B4-BE49-F238E27FC236}">
                    <a16:creationId xmlns:a16="http://schemas.microsoft.com/office/drawing/2014/main" id="{EA3E6C5F-D2BC-4D71-823B-9925BEAC3201}"/>
                  </a:ext>
                </a:extLst>
              </p:cNvPr>
              <p:cNvSpPr txBox="1">
                <a:spLocks noChangeArrowheads="1"/>
              </p:cNvSpPr>
              <p:nvPr/>
            </p:nvSpPr>
            <p:spPr bwMode="auto">
              <a:xfrm>
                <a:off x="1471" y="3294"/>
                <a:ext cx="408" cy="181"/>
              </a:xfrm>
              <a:prstGeom prst="rect">
                <a:avLst/>
              </a:prstGeom>
              <a:noFill/>
              <a:ln w="9525">
                <a:noFill/>
                <a:miter lim="800000"/>
                <a:headEnd/>
                <a:tailEnd/>
              </a:ln>
              <a:effectLst/>
            </p:spPr>
            <p:txBody>
              <a:bodyPr/>
              <a:lstStyle/>
              <a:p>
                <a:pPr algn="just"/>
                <a:r>
                  <a:rPr lang="en-US" altLang="zh-CN" sz="1600" b="1">
                    <a:solidFill>
                      <a:srgbClr val="002060"/>
                    </a:solidFill>
                  </a:rPr>
                  <a:t>2018</a:t>
                </a:r>
              </a:p>
            </p:txBody>
          </p:sp>
          <p:sp>
            <p:nvSpPr>
              <p:cNvPr id="45" name="Text Box 50">
                <a:extLst>
                  <a:ext uri="{FF2B5EF4-FFF2-40B4-BE49-F238E27FC236}">
                    <a16:creationId xmlns:a16="http://schemas.microsoft.com/office/drawing/2014/main" id="{A1C4F30A-0C19-4CBB-B43A-AD6C93534908}"/>
                  </a:ext>
                </a:extLst>
              </p:cNvPr>
              <p:cNvSpPr txBox="1">
                <a:spLocks noChangeArrowheads="1"/>
              </p:cNvSpPr>
              <p:nvPr/>
            </p:nvSpPr>
            <p:spPr bwMode="auto">
              <a:xfrm>
                <a:off x="1583" y="2149"/>
                <a:ext cx="282" cy="238"/>
              </a:xfrm>
              <a:prstGeom prst="rect">
                <a:avLst/>
              </a:prstGeom>
              <a:noFill/>
              <a:ln w="9525">
                <a:noFill/>
                <a:miter lim="800000"/>
                <a:headEnd/>
                <a:tailEnd/>
              </a:ln>
              <a:effectLst/>
            </p:spPr>
            <p:txBody>
              <a:bodyPr/>
              <a:lstStyle/>
              <a:p>
                <a:pPr algn="just"/>
                <a:r>
                  <a:rPr lang="en-US" altLang="zh-CN" sz="2000" dirty="0">
                    <a:solidFill>
                      <a:srgbClr val="C01920"/>
                    </a:solidFill>
                  </a:rPr>
                  <a:t>a</a:t>
                </a:r>
              </a:p>
            </p:txBody>
          </p:sp>
          <p:sp>
            <p:nvSpPr>
              <p:cNvPr id="46" name="Text Box 51">
                <a:extLst>
                  <a:ext uri="{FF2B5EF4-FFF2-40B4-BE49-F238E27FC236}">
                    <a16:creationId xmlns:a16="http://schemas.microsoft.com/office/drawing/2014/main" id="{4C653D1B-555C-4FE4-BAE0-5B7633348AE4}"/>
                  </a:ext>
                </a:extLst>
              </p:cNvPr>
              <p:cNvSpPr txBox="1">
                <a:spLocks noChangeArrowheads="1"/>
              </p:cNvSpPr>
              <p:nvPr/>
            </p:nvSpPr>
            <p:spPr bwMode="auto">
              <a:xfrm>
                <a:off x="1574" y="2980"/>
                <a:ext cx="282" cy="317"/>
              </a:xfrm>
              <a:prstGeom prst="rect">
                <a:avLst/>
              </a:prstGeom>
              <a:noFill/>
              <a:ln w="9525">
                <a:noFill/>
                <a:miter lim="800000"/>
                <a:headEnd/>
                <a:tailEnd/>
              </a:ln>
            </p:spPr>
            <p:txBody>
              <a:bodyPr vert="eaVert"/>
              <a:lstStyle/>
              <a:p>
                <a:pPr algn="just"/>
                <a:r>
                  <a:rPr lang="en-US" altLang="zh-CN" sz="1600" b="1" dirty="0">
                    <a:solidFill>
                      <a:srgbClr val="002060"/>
                    </a:solidFill>
                  </a:rPr>
                  <a:t>……</a:t>
                </a:r>
              </a:p>
            </p:txBody>
          </p:sp>
        </p:grpSp>
        <p:grpSp>
          <p:nvGrpSpPr>
            <p:cNvPr id="27" name="Group 67">
              <a:extLst>
                <a:ext uri="{FF2B5EF4-FFF2-40B4-BE49-F238E27FC236}">
                  <a16:creationId xmlns:a16="http://schemas.microsoft.com/office/drawing/2014/main" id="{1FC0AB4D-52A3-48FD-BF5B-6B0442F76C97}"/>
                </a:ext>
              </a:extLst>
            </p:cNvPr>
            <p:cNvGrpSpPr>
              <a:grpSpLocks/>
            </p:cNvGrpSpPr>
            <p:nvPr/>
          </p:nvGrpSpPr>
          <p:grpSpPr bwMode="auto">
            <a:xfrm>
              <a:off x="3028" y="2320"/>
              <a:ext cx="1394" cy="1158"/>
              <a:chOff x="3028" y="2320"/>
              <a:chExt cx="1394" cy="1158"/>
            </a:xfrm>
          </p:grpSpPr>
          <p:grpSp>
            <p:nvGrpSpPr>
              <p:cNvPr id="28" name="Group 57">
                <a:extLst>
                  <a:ext uri="{FF2B5EF4-FFF2-40B4-BE49-F238E27FC236}">
                    <a16:creationId xmlns:a16="http://schemas.microsoft.com/office/drawing/2014/main" id="{00D890A7-724F-402B-B22F-85DCCF30BFD9}"/>
                  </a:ext>
                </a:extLst>
              </p:cNvPr>
              <p:cNvGrpSpPr>
                <a:grpSpLocks/>
              </p:cNvGrpSpPr>
              <p:nvPr/>
            </p:nvGrpSpPr>
            <p:grpSpPr bwMode="auto">
              <a:xfrm>
                <a:off x="3028" y="2320"/>
                <a:ext cx="1394" cy="238"/>
                <a:chOff x="3028" y="2320"/>
                <a:chExt cx="1394" cy="238"/>
              </a:xfrm>
            </p:grpSpPr>
            <p:sp>
              <p:nvSpPr>
                <p:cNvPr id="39" name="Text Box 19">
                  <a:extLst>
                    <a:ext uri="{FF2B5EF4-FFF2-40B4-BE49-F238E27FC236}">
                      <a16:creationId xmlns:a16="http://schemas.microsoft.com/office/drawing/2014/main" id="{0B7A747E-F96A-4726-87A8-1B349A736B45}"/>
                    </a:ext>
                  </a:extLst>
                </p:cNvPr>
                <p:cNvSpPr txBox="1">
                  <a:spLocks noChangeArrowheads="1"/>
                </p:cNvSpPr>
                <p:nvPr/>
              </p:nvSpPr>
              <p:spPr bwMode="auto">
                <a:xfrm>
                  <a:off x="3417" y="2320"/>
                  <a:ext cx="1005" cy="238"/>
                </a:xfrm>
                <a:prstGeom prst="rect">
                  <a:avLst/>
                </a:prstGeom>
                <a:noFill/>
                <a:ln w="9525">
                  <a:noFill/>
                  <a:miter lim="800000"/>
                  <a:headEnd/>
                  <a:tailEnd/>
                </a:ln>
              </p:spPr>
              <p:txBody>
                <a:bodyPr/>
                <a:lstStyle/>
                <a:p>
                  <a:pPr algn="just"/>
                  <a:r>
                    <a:rPr lang="zh-CN" altLang="en-US" sz="2000" b="1" dirty="0">
                      <a:solidFill>
                        <a:schemeClr val="accent1"/>
                      </a:solidFill>
                      <a:latin typeface="隶书" pitchFamily="49" charset="-122"/>
                      <a:ea typeface="隶书" pitchFamily="49" charset="-122"/>
                    </a:rPr>
                    <a:t>第</a:t>
                  </a:r>
                  <a:r>
                    <a:rPr lang="en-US" altLang="zh-CN" sz="2000" b="1" dirty="0">
                      <a:solidFill>
                        <a:schemeClr val="accent1"/>
                      </a:solidFill>
                      <a:latin typeface="隶书" pitchFamily="49" charset="-122"/>
                      <a:ea typeface="隶书" pitchFamily="49" charset="-122"/>
                    </a:rPr>
                    <a:t>1</a:t>
                  </a:r>
                  <a:r>
                    <a:rPr lang="zh-CN" altLang="en-US" sz="2000" b="1" dirty="0">
                      <a:solidFill>
                        <a:schemeClr val="accent1"/>
                      </a:solidFill>
                      <a:latin typeface="隶书" pitchFamily="49" charset="-122"/>
                      <a:ea typeface="隶书" pitchFamily="49" charset="-122"/>
                    </a:rPr>
                    <a:t>个元素</a:t>
                  </a:r>
                </a:p>
              </p:txBody>
            </p:sp>
            <p:sp>
              <p:nvSpPr>
                <p:cNvPr id="40" name="Line 20">
                  <a:extLst>
                    <a:ext uri="{FF2B5EF4-FFF2-40B4-BE49-F238E27FC236}">
                      <a16:creationId xmlns:a16="http://schemas.microsoft.com/office/drawing/2014/main" id="{2357262B-3197-44A6-B4B8-5ABF19DB51D4}"/>
                    </a:ext>
                  </a:extLst>
                </p:cNvPr>
                <p:cNvSpPr>
                  <a:spLocks noChangeShapeType="1"/>
                </p:cNvSpPr>
                <p:nvPr/>
              </p:nvSpPr>
              <p:spPr bwMode="auto">
                <a:xfrm flipH="1">
                  <a:off x="3028" y="2477"/>
                  <a:ext cx="415"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29" name="Text Box 26">
                <a:extLst>
                  <a:ext uri="{FF2B5EF4-FFF2-40B4-BE49-F238E27FC236}">
                    <a16:creationId xmlns:a16="http://schemas.microsoft.com/office/drawing/2014/main" id="{E19D1BEC-A279-4BCB-8DC6-F417889AFDBD}"/>
                  </a:ext>
                </a:extLst>
              </p:cNvPr>
              <p:cNvSpPr txBox="1">
                <a:spLocks noChangeArrowheads="1"/>
              </p:cNvSpPr>
              <p:nvPr/>
            </p:nvSpPr>
            <p:spPr bwMode="auto">
              <a:xfrm>
                <a:off x="3672" y="2942"/>
                <a:ext cx="289" cy="417"/>
              </a:xfrm>
              <a:prstGeom prst="rect">
                <a:avLst/>
              </a:prstGeom>
              <a:noFill/>
              <a:ln w="9525">
                <a:noFill/>
                <a:miter lim="800000"/>
                <a:headEnd/>
                <a:tailEnd/>
              </a:ln>
            </p:spPr>
            <p:txBody>
              <a:bodyPr vert="eaVert"/>
              <a:lstStyle/>
              <a:p>
                <a:pPr algn="just"/>
                <a:r>
                  <a:rPr lang="en-US" altLang="zh-CN" sz="1800" b="1">
                    <a:solidFill>
                      <a:schemeClr val="accent1"/>
                    </a:solidFill>
                  </a:rPr>
                  <a:t>……</a:t>
                </a:r>
              </a:p>
            </p:txBody>
          </p:sp>
          <p:grpSp>
            <p:nvGrpSpPr>
              <p:cNvPr id="30" name="Group 58">
                <a:extLst>
                  <a:ext uri="{FF2B5EF4-FFF2-40B4-BE49-F238E27FC236}">
                    <a16:creationId xmlns:a16="http://schemas.microsoft.com/office/drawing/2014/main" id="{78534325-81CD-4A9E-A801-73B7067C4226}"/>
                  </a:ext>
                </a:extLst>
              </p:cNvPr>
              <p:cNvGrpSpPr>
                <a:grpSpLocks/>
              </p:cNvGrpSpPr>
              <p:nvPr/>
            </p:nvGrpSpPr>
            <p:grpSpPr bwMode="auto">
              <a:xfrm>
                <a:off x="3028" y="2512"/>
                <a:ext cx="1394" cy="238"/>
                <a:chOff x="3028" y="2320"/>
                <a:chExt cx="1394" cy="238"/>
              </a:xfrm>
            </p:grpSpPr>
            <p:sp>
              <p:nvSpPr>
                <p:cNvPr id="37" name="Text Box 59">
                  <a:extLst>
                    <a:ext uri="{FF2B5EF4-FFF2-40B4-BE49-F238E27FC236}">
                      <a16:creationId xmlns:a16="http://schemas.microsoft.com/office/drawing/2014/main" id="{B833BE70-6C99-4DB9-9918-1A55C1455A47}"/>
                    </a:ext>
                  </a:extLst>
                </p:cNvPr>
                <p:cNvSpPr txBox="1">
                  <a:spLocks noChangeArrowheads="1"/>
                </p:cNvSpPr>
                <p:nvPr/>
              </p:nvSpPr>
              <p:spPr bwMode="auto">
                <a:xfrm>
                  <a:off x="3417" y="2320"/>
                  <a:ext cx="1005" cy="238"/>
                </a:xfrm>
                <a:prstGeom prst="rect">
                  <a:avLst/>
                </a:prstGeom>
                <a:noFill/>
                <a:ln w="9525">
                  <a:noFill/>
                  <a:miter lim="800000"/>
                  <a:headEnd/>
                  <a:tailEnd/>
                </a:ln>
              </p:spPr>
              <p:txBody>
                <a:bodyPr/>
                <a:lstStyle/>
                <a:p>
                  <a:pPr algn="just"/>
                  <a:r>
                    <a:rPr lang="zh-CN" altLang="en-US" sz="2000" b="1" dirty="0">
                      <a:solidFill>
                        <a:schemeClr val="accent1"/>
                      </a:solidFill>
                      <a:latin typeface="隶书" pitchFamily="49" charset="-122"/>
                      <a:ea typeface="隶书" pitchFamily="49" charset="-122"/>
                    </a:rPr>
                    <a:t>第</a:t>
                  </a:r>
                  <a:r>
                    <a:rPr lang="en-US" altLang="zh-CN" sz="2000" b="1" dirty="0">
                      <a:solidFill>
                        <a:schemeClr val="accent1"/>
                      </a:solidFill>
                      <a:latin typeface="隶书" pitchFamily="49" charset="-122"/>
                      <a:ea typeface="隶书" pitchFamily="49" charset="-122"/>
                    </a:rPr>
                    <a:t>2</a:t>
                  </a:r>
                  <a:r>
                    <a:rPr lang="zh-CN" altLang="en-US" sz="2000" b="1" dirty="0">
                      <a:solidFill>
                        <a:schemeClr val="accent1"/>
                      </a:solidFill>
                      <a:latin typeface="隶书" pitchFamily="49" charset="-122"/>
                      <a:ea typeface="隶书" pitchFamily="49" charset="-122"/>
                    </a:rPr>
                    <a:t>个元素</a:t>
                  </a:r>
                </a:p>
              </p:txBody>
            </p:sp>
            <p:sp>
              <p:nvSpPr>
                <p:cNvPr id="38" name="Line 60">
                  <a:extLst>
                    <a:ext uri="{FF2B5EF4-FFF2-40B4-BE49-F238E27FC236}">
                      <a16:creationId xmlns:a16="http://schemas.microsoft.com/office/drawing/2014/main" id="{7F40B770-1363-4553-9EAF-C61C7E0CF542}"/>
                    </a:ext>
                  </a:extLst>
                </p:cNvPr>
                <p:cNvSpPr>
                  <a:spLocks noChangeShapeType="1"/>
                </p:cNvSpPr>
                <p:nvPr/>
              </p:nvSpPr>
              <p:spPr bwMode="auto">
                <a:xfrm flipH="1">
                  <a:off x="3028" y="2477"/>
                  <a:ext cx="415"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31" name="Group 61">
                <a:extLst>
                  <a:ext uri="{FF2B5EF4-FFF2-40B4-BE49-F238E27FC236}">
                    <a16:creationId xmlns:a16="http://schemas.microsoft.com/office/drawing/2014/main" id="{420C4702-426E-4245-992A-BD2BD91177F8}"/>
                  </a:ext>
                </a:extLst>
              </p:cNvPr>
              <p:cNvGrpSpPr>
                <a:grpSpLocks/>
              </p:cNvGrpSpPr>
              <p:nvPr/>
            </p:nvGrpSpPr>
            <p:grpSpPr bwMode="auto">
              <a:xfrm>
                <a:off x="3028" y="2704"/>
                <a:ext cx="1394" cy="238"/>
                <a:chOff x="3028" y="2320"/>
                <a:chExt cx="1394" cy="238"/>
              </a:xfrm>
            </p:grpSpPr>
            <p:sp>
              <p:nvSpPr>
                <p:cNvPr id="35" name="Text Box 62">
                  <a:extLst>
                    <a:ext uri="{FF2B5EF4-FFF2-40B4-BE49-F238E27FC236}">
                      <a16:creationId xmlns:a16="http://schemas.microsoft.com/office/drawing/2014/main" id="{82C94D11-0BB2-46A2-AAD8-9C3ABD6CB654}"/>
                    </a:ext>
                  </a:extLst>
                </p:cNvPr>
                <p:cNvSpPr txBox="1">
                  <a:spLocks noChangeArrowheads="1"/>
                </p:cNvSpPr>
                <p:nvPr/>
              </p:nvSpPr>
              <p:spPr bwMode="auto">
                <a:xfrm>
                  <a:off x="3417" y="2320"/>
                  <a:ext cx="1005" cy="238"/>
                </a:xfrm>
                <a:prstGeom prst="rect">
                  <a:avLst/>
                </a:prstGeom>
                <a:noFill/>
                <a:ln w="9525">
                  <a:noFill/>
                  <a:miter lim="800000"/>
                  <a:headEnd/>
                  <a:tailEnd/>
                </a:ln>
              </p:spPr>
              <p:txBody>
                <a:bodyPr/>
                <a:lstStyle/>
                <a:p>
                  <a:pPr algn="just"/>
                  <a:r>
                    <a:rPr lang="zh-CN" altLang="en-US" sz="2000" b="1" dirty="0">
                      <a:solidFill>
                        <a:schemeClr val="accent1"/>
                      </a:solidFill>
                      <a:latin typeface="隶书" pitchFamily="49" charset="-122"/>
                      <a:ea typeface="隶书" pitchFamily="49" charset="-122"/>
                    </a:rPr>
                    <a:t>第</a:t>
                  </a:r>
                  <a:r>
                    <a:rPr lang="en-US" altLang="zh-CN" sz="2000" b="1" dirty="0">
                      <a:solidFill>
                        <a:schemeClr val="accent1"/>
                      </a:solidFill>
                      <a:latin typeface="隶书" pitchFamily="49" charset="-122"/>
                      <a:ea typeface="隶书" pitchFamily="49" charset="-122"/>
                    </a:rPr>
                    <a:t>3</a:t>
                  </a:r>
                  <a:r>
                    <a:rPr lang="zh-CN" altLang="en-US" sz="2000" b="1" dirty="0">
                      <a:solidFill>
                        <a:schemeClr val="accent1"/>
                      </a:solidFill>
                      <a:latin typeface="隶书" pitchFamily="49" charset="-122"/>
                      <a:ea typeface="隶书" pitchFamily="49" charset="-122"/>
                    </a:rPr>
                    <a:t>个元素</a:t>
                  </a:r>
                </a:p>
              </p:txBody>
            </p:sp>
            <p:sp>
              <p:nvSpPr>
                <p:cNvPr id="36" name="Line 63">
                  <a:extLst>
                    <a:ext uri="{FF2B5EF4-FFF2-40B4-BE49-F238E27FC236}">
                      <a16:creationId xmlns:a16="http://schemas.microsoft.com/office/drawing/2014/main" id="{AE8F5800-3B9E-478C-AA6E-21A3FCDAD862}"/>
                    </a:ext>
                  </a:extLst>
                </p:cNvPr>
                <p:cNvSpPr>
                  <a:spLocks noChangeShapeType="1"/>
                </p:cNvSpPr>
                <p:nvPr/>
              </p:nvSpPr>
              <p:spPr bwMode="auto">
                <a:xfrm flipH="1">
                  <a:off x="3028" y="2477"/>
                  <a:ext cx="415"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32" name="Group 64">
                <a:extLst>
                  <a:ext uri="{FF2B5EF4-FFF2-40B4-BE49-F238E27FC236}">
                    <a16:creationId xmlns:a16="http://schemas.microsoft.com/office/drawing/2014/main" id="{F5021666-D062-4466-BD9B-9F2A93C76ED3}"/>
                  </a:ext>
                </a:extLst>
              </p:cNvPr>
              <p:cNvGrpSpPr>
                <a:grpSpLocks/>
              </p:cNvGrpSpPr>
              <p:nvPr/>
            </p:nvGrpSpPr>
            <p:grpSpPr bwMode="auto">
              <a:xfrm>
                <a:off x="3028" y="3240"/>
                <a:ext cx="1394" cy="238"/>
                <a:chOff x="3028" y="2320"/>
                <a:chExt cx="1394" cy="238"/>
              </a:xfrm>
            </p:grpSpPr>
            <p:sp>
              <p:nvSpPr>
                <p:cNvPr id="33" name="Text Box 65">
                  <a:extLst>
                    <a:ext uri="{FF2B5EF4-FFF2-40B4-BE49-F238E27FC236}">
                      <a16:creationId xmlns:a16="http://schemas.microsoft.com/office/drawing/2014/main" id="{EB21A624-4FA0-4926-998C-CBCE9E866F15}"/>
                    </a:ext>
                  </a:extLst>
                </p:cNvPr>
                <p:cNvSpPr txBox="1">
                  <a:spLocks noChangeArrowheads="1"/>
                </p:cNvSpPr>
                <p:nvPr/>
              </p:nvSpPr>
              <p:spPr bwMode="auto">
                <a:xfrm>
                  <a:off x="3417" y="2320"/>
                  <a:ext cx="1005" cy="238"/>
                </a:xfrm>
                <a:prstGeom prst="rect">
                  <a:avLst/>
                </a:prstGeom>
                <a:noFill/>
                <a:ln w="9525">
                  <a:noFill/>
                  <a:miter lim="800000"/>
                  <a:headEnd/>
                  <a:tailEnd/>
                </a:ln>
              </p:spPr>
              <p:txBody>
                <a:bodyPr/>
                <a:lstStyle/>
                <a:p>
                  <a:pPr algn="just"/>
                  <a:r>
                    <a:rPr lang="zh-CN" altLang="en-US" sz="2000" b="1">
                      <a:solidFill>
                        <a:schemeClr val="accent1"/>
                      </a:solidFill>
                      <a:latin typeface="隶书" pitchFamily="49" charset="-122"/>
                      <a:ea typeface="隶书" pitchFamily="49" charset="-122"/>
                    </a:rPr>
                    <a:t>第</a:t>
                  </a:r>
                  <a:r>
                    <a:rPr lang="en-US" altLang="zh-CN" sz="2000" b="1">
                      <a:solidFill>
                        <a:schemeClr val="accent1"/>
                      </a:solidFill>
                      <a:latin typeface="隶书" pitchFamily="49" charset="-122"/>
                      <a:ea typeface="隶书" pitchFamily="49" charset="-122"/>
                    </a:rPr>
                    <a:t>10</a:t>
                  </a:r>
                  <a:r>
                    <a:rPr lang="zh-CN" altLang="en-US" sz="2000" b="1">
                      <a:solidFill>
                        <a:schemeClr val="accent1"/>
                      </a:solidFill>
                      <a:latin typeface="隶书" pitchFamily="49" charset="-122"/>
                      <a:ea typeface="隶书" pitchFamily="49" charset="-122"/>
                    </a:rPr>
                    <a:t>个元素</a:t>
                  </a:r>
                </a:p>
              </p:txBody>
            </p:sp>
            <p:sp>
              <p:nvSpPr>
                <p:cNvPr id="34" name="Line 66">
                  <a:extLst>
                    <a:ext uri="{FF2B5EF4-FFF2-40B4-BE49-F238E27FC236}">
                      <a16:creationId xmlns:a16="http://schemas.microsoft.com/office/drawing/2014/main" id="{3E8BFD59-746D-47F7-8D77-8578C83FE100}"/>
                    </a:ext>
                  </a:extLst>
                </p:cNvPr>
                <p:cNvSpPr>
                  <a:spLocks noChangeShapeType="1"/>
                </p:cNvSpPr>
                <p:nvPr/>
              </p:nvSpPr>
              <p:spPr bwMode="auto">
                <a:xfrm flipH="1">
                  <a:off x="3028" y="2477"/>
                  <a:ext cx="415"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grpSp>
      <p:sp>
        <p:nvSpPr>
          <p:cNvPr id="65" name="Text Box 70">
            <a:extLst>
              <a:ext uri="{FF2B5EF4-FFF2-40B4-BE49-F238E27FC236}">
                <a16:creationId xmlns:a16="http://schemas.microsoft.com/office/drawing/2014/main" id="{CDED1818-D8D7-42F4-B9E0-F3F33919806F}"/>
              </a:ext>
            </a:extLst>
          </p:cNvPr>
          <p:cNvSpPr txBox="1">
            <a:spLocks noChangeArrowheads="1"/>
          </p:cNvSpPr>
          <p:nvPr/>
        </p:nvSpPr>
        <p:spPr bwMode="auto">
          <a:xfrm>
            <a:off x="1951999" y="3405907"/>
            <a:ext cx="2952750"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1920"/>
                </a:solidFill>
                <a:ea typeface="隶书" pitchFamily="49" charset="-122"/>
              </a:rPr>
              <a:t>例：</a:t>
            </a:r>
            <a:r>
              <a:rPr lang="en-US" altLang="zh-CN" b="1" dirty="0">
                <a:effectLst>
                  <a:outerShdw blurRad="38100" dist="38100" dir="2700000" algn="tl">
                    <a:srgbClr val="FFFFFF"/>
                  </a:outerShdw>
                </a:effectLst>
              </a:rPr>
              <a:t>short int a[10];</a:t>
            </a:r>
            <a:r>
              <a:rPr lang="en-US" altLang="zh-CN" dirty="0"/>
              <a:t> </a:t>
            </a:r>
          </a:p>
        </p:txBody>
      </p:sp>
      <p:sp>
        <p:nvSpPr>
          <p:cNvPr id="66" name="Rectangle 17">
            <a:extLst>
              <a:ext uri="{FF2B5EF4-FFF2-40B4-BE49-F238E27FC236}">
                <a16:creationId xmlns:a16="http://schemas.microsoft.com/office/drawing/2014/main" id="{F15DDCC5-AD16-4EBD-BF0B-0963272436B7}"/>
              </a:ext>
            </a:extLst>
          </p:cNvPr>
          <p:cNvSpPr>
            <a:spLocks noChangeArrowheads="1"/>
          </p:cNvSpPr>
          <p:nvPr/>
        </p:nvSpPr>
        <p:spPr bwMode="auto">
          <a:xfrm>
            <a:off x="712045" y="1845295"/>
            <a:ext cx="10767911" cy="867482"/>
          </a:xfrm>
          <a:prstGeom prst="rect">
            <a:avLst/>
          </a:prstGeom>
          <a:noFill/>
          <a:ln w="9525">
            <a:noFill/>
            <a:miter lim="800000"/>
            <a:headEnd/>
            <a:tailEnd/>
          </a:ln>
          <a:effectLst/>
        </p:spPr>
        <p:txBody>
          <a:bodyPr wrap="square">
            <a:spAutoFit/>
          </a:bodyPr>
          <a:lstStyle/>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(2) </a:t>
            </a:r>
            <a:r>
              <a:rPr lang="zh-CN" altLang="en-US" b="1" dirty="0">
                <a:effectLst>
                  <a:outerShdw blurRad="38100" dist="38100" dir="2700000" algn="tl">
                    <a:srgbClr val="FFFFFF"/>
                  </a:outerShdw>
                </a:effectLst>
                <a:latin typeface="+mn-lt"/>
                <a:ea typeface="楷体" pitchFamily="49" charset="-122"/>
              </a:rPr>
              <a:t>数组定义后，系统将给其分配一定大小的内存单元，其所占内存单元的大小与数组元素的类型和数组的长度有关。    </a:t>
            </a:r>
          </a:p>
        </p:txBody>
      </p:sp>
      <p:sp>
        <p:nvSpPr>
          <p:cNvPr id="67" name="Rectangle 18">
            <a:extLst>
              <a:ext uri="{FF2B5EF4-FFF2-40B4-BE49-F238E27FC236}">
                <a16:creationId xmlns:a16="http://schemas.microsoft.com/office/drawing/2014/main" id="{E2898AAD-A3A7-4794-898D-299543D13D91}"/>
              </a:ext>
            </a:extLst>
          </p:cNvPr>
          <p:cNvSpPr>
            <a:spLocks noChangeArrowheads="1"/>
          </p:cNvSpPr>
          <p:nvPr/>
        </p:nvSpPr>
        <p:spPr bwMode="auto">
          <a:xfrm>
            <a:off x="2334616" y="2759865"/>
            <a:ext cx="8906336" cy="40011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spAutoFit/>
          </a:bodyPr>
          <a:lstStyle/>
          <a:p>
            <a:pPr algn="ctr"/>
            <a:r>
              <a:rPr lang="en-US" altLang="zh-CN" b="1" dirty="0">
                <a:solidFill>
                  <a:schemeClr val="accent1"/>
                </a:solidFill>
              </a:rPr>
              <a:t>  </a:t>
            </a:r>
            <a:r>
              <a:rPr lang="zh-CN" altLang="en-US" sz="2000" b="1" dirty="0">
                <a:solidFill>
                  <a:schemeClr val="accent1"/>
                </a:solidFill>
                <a:ea typeface="隶书" pitchFamily="49" charset="-122"/>
              </a:rPr>
              <a:t>数组所占内存单元的字节数 </a:t>
            </a:r>
            <a:r>
              <a:rPr lang="en-US" altLang="zh-CN" sz="2000" b="1" dirty="0">
                <a:solidFill>
                  <a:schemeClr val="accent1"/>
                </a:solidFill>
                <a:ea typeface="隶书" pitchFamily="49" charset="-122"/>
              </a:rPr>
              <a:t>= </a:t>
            </a:r>
            <a:r>
              <a:rPr lang="zh-CN" altLang="en-US" sz="2000" b="1" dirty="0">
                <a:solidFill>
                  <a:schemeClr val="accent1"/>
                </a:solidFill>
                <a:ea typeface="隶书" pitchFamily="49" charset="-122"/>
              </a:rPr>
              <a:t>数组大小 </a:t>
            </a:r>
            <a:r>
              <a:rPr lang="en-US" altLang="zh-CN" sz="2000" b="1" dirty="0">
                <a:solidFill>
                  <a:schemeClr val="accent1"/>
                </a:solidFill>
                <a:ea typeface="隶书" pitchFamily="49" charset="-122"/>
              </a:rPr>
              <a:t>× </a:t>
            </a:r>
            <a:r>
              <a:rPr lang="en-US" altLang="zh-CN" sz="2000" b="1" dirty="0" err="1">
                <a:solidFill>
                  <a:schemeClr val="accent1"/>
                </a:solidFill>
                <a:ea typeface="隶书" pitchFamily="49" charset="-122"/>
              </a:rPr>
              <a:t>sizeof</a:t>
            </a:r>
            <a:r>
              <a:rPr lang="zh-CN" altLang="en-US" sz="2000" b="1" dirty="0">
                <a:solidFill>
                  <a:schemeClr val="accent1"/>
                </a:solidFill>
                <a:ea typeface="隶书" pitchFamily="49" charset="-122"/>
              </a:rPr>
              <a:t>（数组元素类型）</a:t>
            </a:r>
          </a:p>
        </p:txBody>
      </p:sp>
    </p:spTree>
    <p:extLst>
      <p:ext uri="{BB962C8B-B14F-4D97-AF65-F5344CB8AC3E}">
        <p14:creationId xmlns:p14="http://schemas.microsoft.com/office/powerpoint/2010/main" val="737218856"/>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58497"/>
                                        </p:tgtEl>
                                        <p:attrNameLst>
                                          <p:attrName>style.visibility</p:attrName>
                                        </p:attrNameLst>
                                      </p:cBhvr>
                                      <p:to>
                                        <p:strVal val="visible"/>
                                      </p:to>
                                    </p:set>
                                    <p:anim calcmode="lin" valueType="num">
                                      <p:cBhvr additive="base">
                                        <p:cTn id="7" dur="500" fill="hold"/>
                                        <p:tgtEl>
                                          <p:spTgt spid="958497"/>
                                        </p:tgtEl>
                                        <p:attrNameLst>
                                          <p:attrName>ppt_x</p:attrName>
                                        </p:attrNameLst>
                                      </p:cBhvr>
                                      <p:tavLst>
                                        <p:tav tm="0">
                                          <p:val>
                                            <p:strVal val="0-#ppt_w/2"/>
                                          </p:val>
                                        </p:tav>
                                        <p:tav tm="100000">
                                          <p:val>
                                            <p:strVal val="#ppt_x"/>
                                          </p:val>
                                        </p:tav>
                                      </p:tavLst>
                                    </p:anim>
                                    <p:anim calcmode="lin" valueType="num">
                                      <p:cBhvr additive="base">
                                        <p:cTn id="8" dur="500" fill="hold"/>
                                        <p:tgtEl>
                                          <p:spTgt spid="9584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 calcmode="lin" valueType="num">
                                      <p:cBhvr additive="base">
                                        <p:cTn id="13" dur="500" fill="hold"/>
                                        <p:tgtEl>
                                          <p:spTgt spid="6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8" presetClass="entr" presetSubtype="16" fill="hold" grpId="0" nodeType="click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diamond(in)">
                                      <p:cBhvr>
                                        <p:cTn id="19" dur="2000"/>
                                        <p:tgtEl>
                                          <p:spTgt spid="67"/>
                                        </p:tgtEl>
                                      </p:cBhvr>
                                    </p:animEffect>
                                  </p:childTnLst>
                                  <p:subTnLst>
                                    <p:audio>
                                      <p:cMediaNode>
                                        <p:cTn display="0" masterRel="sameClick">
                                          <p:stCondLst>
                                            <p:cond evt="begin" delay="0">
                                              <p:tn val="17"/>
                                            </p:cond>
                                          </p:stCondLst>
                                          <p:endCondLst>
                                            <p:cond evt="onStopAudio" delay="0">
                                              <p:tgtEl>
                                                <p:sldTgt/>
                                              </p:tgtEl>
                                            </p:cond>
                                          </p:endCondLst>
                                        </p:cTn>
                                        <p:tgtEl>
                                          <p:sndTgt r:embed="rId5" name="chimes.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box(out)">
                                      <p:cBhvr>
                                        <p:cTn id="24" dur="500"/>
                                        <p:tgtEl>
                                          <p:spTgt spid="65"/>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box(out)">
                                      <p:cBhvr>
                                        <p:cTn id="29" dur="500"/>
                                        <p:tgtEl>
                                          <p:spTgt spid="22"/>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97" grpId="0"/>
      <p:bldP spid="65" grpId="0"/>
      <p:bldP spid="67"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0519" name="Rectangle 7"/>
          <p:cNvSpPr>
            <a:spLocks noChangeArrowheads="1"/>
          </p:cNvSpPr>
          <p:nvPr/>
        </p:nvSpPr>
        <p:spPr bwMode="auto">
          <a:xfrm>
            <a:off x="1199456" y="1387624"/>
            <a:ext cx="1361270" cy="369332"/>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chemeClr val="accent1"/>
                </a:solidFill>
                <a:latin typeface="+mn-lt"/>
                <a:ea typeface="楷体" pitchFamily="49" charset="-122"/>
              </a:rPr>
              <a:t> </a:t>
            </a:r>
            <a:r>
              <a:rPr lang="zh-CN" altLang="en-US" b="1" dirty="0">
                <a:solidFill>
                  <a:schemeClr val="accent1"/>
                </a:solidFill>
                <a:latin typeface="+mn-lt"/>
                <a:ea typeface="楷体" pitchFamily="49" charset="-122"/>
              </a:rPr>
              <a:t>定义说明</a:t>
            </a:r>
          </a:p>
        </p:txBody>
      </p:sp>
      <p:sp>
        <p:nvSpPr>
          <p:cNvPr id="960531" name="Rectangle 19"/>
          <p:cNvSpPr>
            <a:spLocks noChangeArrowheads="1"/>
          </p:cNvSpPr>
          <p:nvPr/>
        </p:nvSpPr>
        <p:spPr bwMode="auto">
          <a:xfrm>
            <a:off x="695059" y="1910844"/>
            <a:ext cx="10801882" cy="1699632"/>
          </a:xfrm>
          <a:prstGeom prst="rect">
            <a:avLst/>
          </a:prstGeom>
          <a:noFill/>
          <a:ln w="9525">
            <a:noFill/>
            <a:miter lim="800000"/>
            <a:headEnd/>
            <a:tailEnd/>
          </a:ln>
          <a:effectLst/>
        </p:spPr>
        <p:txBody>
          <a:bodyPr wrap="square">
            <a:spAutoFit/>
          </a:bodyPr>
          <a:lstStyle/>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(3) </a:t>
            </a:r>
            <a:r>
              <a:rPr lang="zh-CN" altLang="en-US" b="1" dirty="0">
                <a:effectLst>
                  <a:outerShdw blurRad="38100" dist="38100" dir="2700000" algn="tl">
                    <a:srgbClr val="FFFFFF"/>
                  </a:outerShdw>
                </a:effectLst>
                <a:latin typeface="+mn-lt"/>
                <a:ea typeface="楷体" pitchFamily="49" charset="-122"/>
              </a:rPr>
              <a:t>数组中每个数组元素的类型均相同，它们占用内存中连续的存储单元，其中第一个数组元素的地址是整个数组所占内存块的低地址，也是数组所占内存块的首地址，最后一个数组元素的地址是整个数组所占内存块的高地址（末地址）。</a:t>
            </a:r>
          </a:p>
        </p:txBody>
      </p:sp>
      <p:sp>
        <p:nvSpPr>
          <p:cNvPr id="11" name="Rectangle 32">
            <a:extLst>
              <a:ext uri="{FF2B5EF4-FFF2-40B4-BE49-F238E27FC236}">
                <a16:creationId xmlns:a16="http://schemas.microsoft.com/office/drawing/2014/main" id="{8E6F1D3C-62C8-41FB-99C0-78604F65509D}"/>
              </a:ext>
            </a:extLst>
          </p:cNvPr>
          <p:cNvSpPr>
            <a:spLocks noChangeArrowheads="1"/>
          </p:cNvSpPr>
          <p:nvPr/>
        </p:nvSpPr>
        <p:spPr bwMode="auto">
          <a:xfrm>
            <a:off x="804567" y="920078"/>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1</a:t>
            </a:r>
            <a:r>
              <a:rPr lang="zh-CN" altLang="en-US" sz="2800" b="1" dirty="0">
                <a:solidFill>
                  <a:schemeClr val="accent1"/>
                </a:solidFill>
                <a:latin typeface="+mn-lt"/>
                <a:ea typeface="楷体" pitchFamily="49" charset="-122"/>
              </a:rPr>
              <a:t>、一维数组的定义</a:t>
            </a:r>
          </a:p>
        </p:txBody>
      </p:sp>
      <p:sp>
        <p:nvSpPr>
          <p:cNvPr id="12" name="Rectangle 4">
            <a:extLst>
              <a:ext uri="{FF2B5EF4-FFF2-40B4-BE49-F238E27FC236}">
                <a16:creationId xmlns:a16="http://schemas.microsoft.com/office/drawing/2014/main" id="{CA70EE7C-7007-4722-916C-8B429A7EB87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1355687904"/>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0519"/>
                                        </p:tgtEl>
                                        <p:attrNameLst>
                                          <p:attrName>style.visibility</p:attrName>
                                        </p:attrNameLst>
                                      </p:cBhvr>
                                      <p:to>
                                        <p:strVal val="visible"/>
                                      </p:to>
                                    </p:set>
                                    <p:anim calcmode="lin" valueType="num">
                                      <p:cBhvr additive="base">
                                        <p:cTn id="7" dur="500" fill="hold"/>
                                        <p:tgtEl>
                                          <p:spTgt spid="960519"/>
                                        </p:tgtEl>
                                        <p:attrNameLst>
                                          <p:attrName>ppt_x</p:attrName>
                                        </p:attrNameLst>
                                      </p:cBhvr>
                                      <p:tavLst>
                                        <p:tav tm="0">
                                          <p:val>
                                            <p:strVal val="0-#ppt_w/2"/>
                                          </p:val>
                                        </p:tav>
                                        <p:tav tm="100000">
                                          <p:val>
                                            <p:strVal val="#ppt_x"/>
                                          </p:val>
                                        </p:tav>
                                      </p:tavLst>
                                    </p:anim>
                                    <p:anim calcmode="lin" valueType="num">
                                      <p:cBhvr additive="base">
                                        <p:cTn id="8" dur="500" fill="hold"/>
                                        <p:tgtEl>
                                          <p:spTgt spid="9605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60531">
                                            <p:txEl>
                                              <p:pRg st="0" end="0"/>
                                            </p:txEl>
                                          </p:spTgt>
                                        </p:tgtEl>
                                        <p:attrNameLst>
                                          <p:attrName>style.visibility</p:attrName>
                                        </p:attrNameLst>
                                      </p:cBhvr>
                                      <p:to>
                                        <p:strVal val="visible"/>
                                      </p:to>
                                    </p:set>
                                    <p:anim calcmode="lin" valueType="num">
                                      <p:cBhvr additive="base">
                                        <p:cTn id="13" dur="500" fill="hold"/>
                                        <p:tgtEl>
                                          <p:spTgt spid="96053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6053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19"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79" name="Rectangle 19"/>
          <p:cNvSpPr>
            <a:spLocks noChangeArrowheads="1"/>
          </p:cNvSpPr>
          <p:nvPr/>
        </p:nvSpPr>
        <p:spPr bwMode="auto">
          <a:xfrm>
            <a:off x="1379182" y="1897524"/>
            <a:ext cx="10656148" cy="4560800"/>
          </a:xfrm>
          <a:prstGeom prst="rect">
            <a:avLst/>
          </a:prstGeom>
          <a:noFill/>
          <a:ln w="9525">
            <a:noFill/>
            <a:miter lim="800000"/>
            <a:headEnd/>
            <a:tailEnd/>
          </a:ln>
          <a:effectLst/>
        </p:spPr>
        <p:txBody>
          <a:bodyPr wrap="square">
            <a:spAutoFit/>
          </a:bodyPr>
          <a:lstStyle/>
          <a:p>
            <a:pPr marL="540000" indent="-432000">
              <a:lnSpc>
                <a:spcPts val="3200"/>
              </a:lnSpc>
            </a:pPr>
            <a:r>
              <a:rPr lang="en-US" altLang="zh-CN" b="1" dirty="0">
                <a:ea typeface="楷体" pitchFamily="49" charset="-122"/>
              </a:rPr>
              <a:t>(1) </a:t>
            </a:r>
            <a:r>
              <a:rPr lang="zh-CN" altLang="en-US" b="1" dirty="0">
                <a:ea typeface="楷体" pitchFamily="49" charset="-122"/>
              </a:rPr>
              <a:t>下标可以是整型常量、整型变量或整型表达式。</a:t>
            </a:r>
            <a:r>
              <a:rPr lang="en-US" altLang="zh-CN" b="1" dirty="0">
                <a:ea typeface="楷体" pitchFamily="49" charset="-122"/>
              </a:rPr>
              <a:t>C</a:t>
            </a:r>
            <a:r>
              <a:rPr lang="zh-CN" altLang="en-US" b="1" dirty="0">
                <a:ea typeface="楷体" pitchFamily="49" charset="-122"/>
              </a:rPr>
              <a:t>语言规定，下标的</a:t>
            </a:r>
            <a:r>
              <a:rPr lang="zh-CN" altLang="en-US" b="1" dirty="0">
                <a:solidFill>
                  <a:srgbClr val="C01920"/>
                </a:solidFill>
                <a:latin typeface="楷体" panose="02010609060101010101" pitchFamily="49" charset="-122"/>
                <a:ea typeface="楷体" panose="02010609060101010101" pitchFamily="49" charset="-122"/>
              </a:rPr>
              <a:t>最小值是</a:t>
            </a:r>
            <a:r>
              <a:rPr lang="en-US" altLang="zh-CN" b="1" dirty="0">
                <a:solidFill>
                  <a:srgbClr val="C01920"/>
                </a:solidFill>
                <a:latin typeface="楷体" panose="02010609060101010101" pitchFamily="49" charset="-122"/>
                <a:ea typeface="楷体" panose="02010609060101010101" pitchFamily="49" charset="-122"/>
              </a:rPr>
              <a:t>0</a:t>
            </a:r>
            <a:r>
              <a:rPr lang="zh-CN" altLang="en-US" b="1" dirty="0">
                <a:solidFill>
                  <a:srgbClr val="C01920"/>
                </a:solidFill>
                <a:latin typeface="楷体" panose="02010609060101010101" pitchFamily="49" charset="-122"/>
                <a:ea typeface="楷体" panose="02010609060101010101" pitchFamily="49" charset="-122"/>
              </a:rPr>
              <a:t>，最大值则是数组大小减</a:t>
            </a:r>
            <a:r>
              <a:rPr lang="en-US" altLang="zh-CN" b="1" dirty="0">
                <a:solidFill>
                  <a:srgbClr val="C01920"/>
                </a:solidFill>
                <a:latin typeface="楷体" panose="02010609060101010101" pitchFamily="49" charset="-122"/>
                <a:ea typeface="楷体" panose="02010609060101010101" pitchFamily="49" charset="-122"/>
              </a:rPr>
              <a:t>1 </a:t>
            </a:r>
            <a:r>
              <a:rPr lang="zh-CN" altLang="en-US" b="1" dirty="0">
                <a:solidFill>
                  <a:srgbClr val="C01920"/>
                </a:solidFill>
                <a:latin typeface="楷体" panose="02010609060101010101" pitchFamily="49" charset="-122"/>
                <a:ea typeface="楷体" panose="02010609060101010101" pitchFamily="49" charset="-122"/>
              </a:rPr>
              <a:t>。</a:t>
            </a:r>
          </a:p>
          <a:p>
            <a:pPr marL="540000" indent="-432000">
              <a:lnSpc>
                <a:spcPts val="3200"/>
              </a:lnSpc>
            </a:pP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(2) </a:t>
            </a:r>
            <a:r>
              <a:rPr lang="zh-CN" altLang="zh-CN" b="1" dirty="0">
                <a:effectLst>
                  <a:outerShdw blurRad="38100" dist="38100" dir="2700000" algn="tl">
                    <a:srgbClr val="FFFFFF"/>
                  </a:outerShdw>
                </a:effectLst>
                <a:latin typeface="+mn-lt"/>
                <a:ea typeface="楷体" pitchFamily="49" charset="-122"/>
              </a:rPr>
              <a:t>只能逐个引用数组元素，不能一次引用整个数组</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(3) </a:t>
            </a:r>
            <a:r>
              <a:rPr lang="zh-CN" altLang="en-US" b="1" dirty="0">
                <a:effectLst>
                  <a:outerShdw blurRad="38100" dist="38100" dir="2700000" algn="tl">
                    <a:srgbClr val="FFFFFF"/>
                  </a:outerShdw>
                </a:effectLst>
                <a:latin typeface="+mn-lt"/>
                <a:ea typeface="楷体" pitchFamily="49" charset="-122"/>
              </a:rPr>
              <a:t>数组定义以后，数组中的每一个元素其实就相当于一个变量，所以我们有时也把数组元素称为</a:t>
            </a:r>
            <a:r>
              <a:rPr lang="zh-CN" altLang="en-US" b="1" dirty="0">
                <a:solidFill>
                  <a:srgbClr val="C01920"/>
                </a:solidFill>
                <a:latin typeface="+mn-lt"/>
                <a:ea typeface="楷体" pitchFamily="49" charset="-122"/>
              </a:rPr>
              <a:t>下标变量</a:t>
            </a:r>
            <a:r>
              <a:rPr lang="zh-CN" altLang="en-US" b="1" dirty="0">
                <a:effectLst>
                  <a:outerShdw blurRad="38100" dist="38100" dir="2700000" algn="tl">
                    <a:srgbClr val="FFFFFF"/>
                  </a:outerShdw>
                </a:effectLst>
                <a:latin typeface="+mn-lt"/>
                <a:ea typeface="楷体" pitchFamily="49" charset="-122"/>
              </a:rPr>
              <a:t>。对变量的一切操作同样也适合于数组元素。</a:t>
            </a: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(4) </a:t>
            </a:r>
            <a:r>
              <a:rPr lang="zh-CN" altLang="en-US" b="1" dirty="0">
                <a:effectLst>
                  <a:outerShdw blurRad="38100" dist="38100" dir="2700000" algn="tl">
                    <a:srgbClr val="FFFFFF"/>
                  </a:outerShdw>
                </a:effectLst>
                <a:latin typeface="+mn-lt"/>
                <a:ea typeface="楷体" pitchFamily="49" charset="-122"/>
              </a:rPr>
              <a:t>数组引用要注意越界问题。</a:t>
            </a: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pPr>
            <a:r>
              <a:rPr lang="en-US" altLang="zh-CN" b="1" dirty="0">
                <a:effectLst>
                  <a:outerShdw blurRad="38100" dist="38100" dir="2700000" algn="tl">
                    <a:srgbClr val="FFFFFF"/>
                  </a:outerShdw>
                </a:effectLst>
                <a:latin typeface="+mn-lt"/>
                <a:ea typeface="楷体" pitchFamily="49" charset="-122"/>
              </a:rPr>
              <a:t>(5) </a:t>
            </a:r>
            <a:r>
              <a:rPr lang="zh-CN" altLang="en-US" b="1" dirty="0">
                <a:effectLst>
                  <a:outerShdw blurRad="38100" dist="38100" dir="2700000" algn="tl">
                    <a:srgbClr val="FFFFFF"/>
                  </a:outerShdw>
                </a:effectLst>
                <a:latin typeface="+mn-lt"/>
                <a:ea typeface="楷体" pitchFamily="49" charset="-122"/>
              </a:rPr>
              <a:t>数组必须</a:t>
            </a:r>
            <a:r>
              <a:rPr lang="zh-CN" altLang="en-US" b="1" dirty="0">
                <a:solidFill>
                  <a:srgbClr val="C01920"/>
                </a:solidFill>
                <a:latin typeface="+mn-lt"/>
                <a:ea typeface="楷体" pitchFamily="49" charset="-122"/>
              </a:rPr>
              <a:t>先定义</a:t>
            </a:r>
            <a:r>
              <a:rPr lang="zh-CN" altLang="en-US" b="1" dirty="0">
                <a:effectLst>
                  <a:outerShdw blurRad="38100" dist="38100" dir="2700000" algn="tl">
                    <a:srgbClr val="FFFFFF"/>
                  </a:outerShdw>
                </a:effectLst>
                <a:latin typeface="+mn-lt"/>
                <a:ea typeface="楷体" pitchFamily="49" charset="-122"/>
              </a:rPr>
              <a:t>，</a:t>
            </a:r>
            <a:r>
              <a:rPr lang="zh-CN" altLang="en-US" b="1" dirty="0">
                <a:solidFill>
                  <a:srgbClr val="C01920"/>
                </a:solidFill>
                <a:latin typeface="+mn-lt"/>
                <a:ea typeface="楷体" pitchFamily="49" charset="-122"/>
              </a:rPr>
              <a:t>后使用</a:t>
            </a:r>
          </a:p>
        </p:txBody>
      </p:sp>
      <p:sp>
        <p:nvSpPr>
          <p:cNvPr id="962580" name="Text Box 20" descr="信纸"/>
          <p:cNvSpPr txBox="1">
            <a:spLocks noChangeArrowheads="1"/>
          </p:cNvSpPr>
          <p:nvPr/>
        </p:nvSpPr>
        <p:spPr bwMode="auto">
          <a:xfrm>
            <a:off x="3170058" y="1232309"/>
            <a:ext cx="7074395"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b="1" dirty="0">
                <a:solidFill>
                  <a:srgbClr val="C01920"/>
                </a:solidFill>
                <a:ea typeface="隶书" pitchFamily="49" charset="-122"/>
              </a:rPr>
              <a:t>例</a:t>
            </a:r>
            <a:r>
              <a:rPr lang="zh-CN" altLang="en-US" b="1" dirty="0">
                <a:ea typeface="隶书" pitchFamily="49" charset="-122"/>
              </a:rPr>
              <a:t>       </a:t>
            </a:r>
            <a:r>
              <a:rPr lang="en-US" altLang="zh-CN" b="1" dirty="0" err="1">
                <a:ea typeface="隶书" pitchFamily="49" charset="-122"/>
              </a:rPr>
              <a:t>int</a:t>
            </a:r>
            <a:r>
              <a:rPr lang="en-US" altLang="zh-CN" b="1" dirty="0">
                <a:ea typeface="隶书" pitchFamily="49" charset="-122"/>
              </a:rPr>
              <a:t> a[10];</a:t>
            </a:r>
          </a:p>
          <a:p>
            <a:pPr eaLnBrk="0" hangingPunct="0"/>
            <a:r>
              <a:rPr lang="en-US" altLang="zh-CN" b="1" dirty="0">
                <a:ea typeface="隶书" pitchFamily="49" charset="-122"/>
              </a:rPr>
              <a:t>           </a:t>
            </a:r>
            <a:r>
              <a:rPr lang="en-US" altLang="zh-CN" b="1" dirty="0" err="1">
                <a:ea typeface="隶书" pitchFamily="49" charset="-122"/>
              </a:rPr>
              <a:t>printf</a:t>
            </a:r>
            <a:r>
              <a:rPr lang="en-US" altLang="zh-CN" b="1" dirty="0">
                <a:ea typeface="隶书" pitchFamily="49" charset="-122"/>
              </a:rPr>
              <a:t> (</a:t>
            </a:r>
            <a:r>
              <a:rPr lang="en-US" altLang="zh-CN" b="1" dirty="0"/>
              <a:t>"</a:t>
            </a:r>
            <a:r>
              <a:rPr lang="en-US" altLang="zh-CN" b="1" dirty="0">
                <a:ea typeface="隶书" pitchFamily="49" charset="-122"/>
              </a:rPr>
              <a:t>%d</a:t>
            </a:r>
            <a:r>
              <a:rPr lang="en-US" altLang="zh-CN" b="1" dirty="0"/>
              <a:t>"</a:t>
            </a:r>
            <a:r>
              <a:rPr lang="en-US" altLang="zh-CN" b="1" dirty="0">
                <a:ea typeface="隶书" pitchFamily="49" charset="-122"/>
              </a:rPr>
              <a:t>, a);         (</a:t>
            </a:r>
            <a:r>
              <a:rPr lang="en-US" altLang="zh-CN" b="1" dirty="0">
                <a:solidFill>
                  <a:srgbClr val="C01920"/>
                </a:solidFill>
                <a:ea typeface="隶书" pitchFamily="49" charset="-122"/>
                <a:sym typeface="Symbol" pitchFamily="18" charset="2"/>
              </a:rPr>
              <a:t></a:t>
            </a:r>
            <a:r>
              <a:rPr lang="en-US" altLang="zh-CN" b="1" dirty="0">
                <a:ea typeface="隶书" pitchFamily="49" charset="-122"/>
              </a:rPr>
              <a:t>)</a:t>
            </a:r>
          </a:p>
          <a:p>
            <a:pPr eaLnBrk="0" hangingPunct="0"/>
            <a:r>
              <a:rPr lang="zh-CN" altLang="zh-CN" b="1" dirty="0">
                <a:solidFill>
                  <a:srgbClr val="C01920"/>
                </a:solidFill>
                <a:ea typeface="隶书" pitchFamily="49" charset="-122"/>
              </a:rPr>
              <a:t>必须</a:t>
            </a:r>
            <a:r>
              <a:rPr lang="zh-CN" altLang="en-US" b="1" dirty="0">
                <a:solidFill>
                  <a:schemeClr val="bg2"/>
                </a:solidFill>
                <a:ea typeface="隶书" pitchFamily="49" charset="-122"/>
              </a:rPr>
              <a:t>   </a:t>
            </a:r>
            <a:r>
              <a:rPr lang="en-US" altLang="zh-CN" b="1" dirty="0">
                <a:solidFill>
                  <a:srgbClr val="002060"/>
                </a:solidFill>
                <a:ea typeface="隶书" pitchFamily="49" charset="-122"/>
              </a:rPr>
              <a:t>for (j = 0; j &lt; 10; j++)</a:t>
            </a:r>
          </a:p>
          <a:p>
            <a:pPr eaLnBrk="0" hangingPunct="0"/>
            <a:r>
              <a:rPr lang="en-US" altLang="zh-CN" b="1" dirty="0">
                <a:solidFill>
                  <a:srgbClr val="0000FF"/>
                </a:solidFill>
                <a:ea typeface="隶书" pitchFamily="49" charset="-122"/>
              </a:rPr>
              <a:t>                  </a:t>
            </a:r>
            <a:r>
              <a:rPr lang="en-US" altLang="zh-CN" b="1" dirty="0" err="1">
                <a:solidFill>
                  <a:srgbClr val="002060"/>
                </a:solidFill>
                <a:ea typeface="隶书" pitchFamily="49" charset="-122"/>
              </a:rPr>
              <a:t>printf</a:t>
            </a:r>
            <a:r>
              <a:rPr lang="en-US" altLang="zh-CN" b="1" dirty="0">
                <a:solidFill>
                  <a:srgbClr val="002060"/>
                </a:solidFill>
                <a:ea typeface="隶书" pitchFamily="49" charset="-122"/>
              </a:rPr>
              <a:t> (</a:t>
            </a:r>
            <a:r>
              <a:rPr lang="en-US" altLang="zh-CN" b="1" dirty="0">
                <a:solidFill>
                  <a:srgbClr val="002060"/>
                </a:solidFill>
              </a:rPr>
              <a:t>"</a:t>
            </a:r>
            <a:r>
              <a:rPr lang="en-US" altLang="zh-CN" b="1" dirty="0">
                <a:solidFill>
                  <a:srgbClr val="002060"/>
                </a:solidFill>
                <a:ea typeface="隶书" pitchFamily="49" charset="-122"/>
              </a:rPr>
              <a:t>%d\t</a:t>
            </a:r>
            <a:r>
              <a:rPr lang="en-US" altLang="zh-CN" b="1" dirty="0">
                <a:solidFill>
                  <a:srgbClr val="002060"/>
                </a:solidFill>
              </a:rPr>
              <a:t>"</a:t>
            </a:r>
            <a:r>
              <a:rPr lang="en-US" altLang="zh-CN" b="1" dirty="0">
                <a:solidFill>
                  <a:srgbClr val="002060"/>
                </a:solidFill>
                <a:ea typeface="隶书" pitchFamily="49" charset="-122"/>
              </a:rPr>
              <a:t>, a[j]);</a:t>
            </a:r>
            <a:r>
              <a:rPr lang="en-US" altLang="zh-CN" b="1" dirty="0">
                <a:solidFill>
                  <a:srgbClr val="002060"/>
                </a:solidFill>
              </a:rPr>
              <a:t>         </a:t>
            </a:r>
            <a:r>
              <a:rPr lang="en-US" altLang="zh-CN" b="1" dirty="0"/>
              <a:t>(</a:t>
            </a:r>
            <a:r>
              <a:rPr lang="en-US" altLang="zh-CN" b="1" dirty="0">
                <a:solidFill>
                  <a:srgbClr val="C01920"/>
                </a:solidFill>
                <a:sym typeface="Wingdings 2" pitchFamily="18" charset="2"/>
              </a:rPr>
              <a:t></a:t>
            </a:r>
            <a:r>
              <a:rPr lang="en-US" altLang="zh-CN" b="1" dirty="0"/>
              <a:t>)</a:t>
            </a:r>
            <a:endParaRPr lang="en-US" altLang="zh-CN" sz="2000" b="1" dirty="0"/>
          </a:p>
        </p:txBody>
      </p:sp>
      <p:sp>
        <p:nvSpPr>
          <p:cNvPr id="962578" name="Rectangle 18"/>
          <p:cNvSpPr>
            <a:spLocks noChangeArrowheads="1"/>
          </p:cNvSpPr>
          <p:nvPr/>
        </p:nvSpPr>
        <p:spPr bwMode="auto">
          <a:xfrm>
            <a:off x="1174726" y="1413049"/>
            <a:ext cx="1593706" cy="369332"/>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Ø"/>
            </a:pPr>
            <a:r>
              <a:rPr lang="en-US" altLang="zh-CN" b="1" dirty="0">
                <a:solidFill>
                  <a:schemeClr val="accent1"/>
                </a:solidFill>
                <a:latin typeface="+mn-lt"/>
                <a:ea typeface="楷体" pitchFamily="49" charset="-122"/>
              </a:rPr>
              <a:t> </a:t>
            </a:r>
            <a:r>
              <a:rPr lang="zh-CN" altLang="en-US" b="1" dirty="0">
                <a:solidFill>
                  <a:schemeClr val="accent1"/>
                </a:solidFill>
                <a:latin typeface="+mn-lt"/>
                <a:ea typeface="楷体" pitchFamily="49" charset="-122"/>
              </a:rPr>
              <a:t>引用说明：</a:t>
            </a:r>
          </a:p>
        </p:txBody>
      </p:sp>
      <p:sp>
        <p:nvSpPr>
          <p:cNvPr id="962581" name="Text Box 21" descr="信纸"/>
          <p:cNvSpPr txBox="1">
            <a:spLocks noChangeArrowheads="1"/>
          </p:cNvSpPr>
          <p:nvPr/>
        </p:nvSpPr>
        <p:spPr bwMode="auto">
          <a:xfrm>
            <a:off x="2393797" y="2206764"/>
            <a:ext cx="8626916" cy="1879618"/>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a:t>
            </a:r>
            <a:r>
              <a:rPr lang="en-US" altLang="zh-CN" b="1" dirty="0" err="1">
                <a:ea typeface="楷体_GB2312" pitchFamily="49" charset="-122"/>
              </a:rPr>
              <a:t>int</a:t>
            </a:r>
            <a:r>
              <a:rPr lang="en-US" altLang="zh-CN" b="1" dirty="0">
                <a:ea typeface="楷体_GB2312" pitchFamily="49" charset="-122"/>
              </a:rPr>
              <a:t> a[3];</a:t>
            </a:r>
          </a:p>
          <a:p>
            <a:r>
              <a:rPr lang="en-US" altLang="zh-CN" b="1" dirty="0">
                <a:ea typeface="楷体_GB2312" pitchFamily="49" charset="-122"/>
              </a:rPr>
              <a:t>        a[0] = 2;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将数组</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的第</a:t>
            </a:r>
            <a:r>
              <a:rPr lang="en-US" altLang="zh-CN" sz="2000" b="1" dirty="0">
                <a:solidFill>
                  <a:srgbClr val="002060"/>
                </a:solidFill>
                <a:latin typeface="+mn-lt"/>
                <a:ea typeface="楷体" pitchFamily="49" charset="-122"/>
              </a:rPr>
              <a:t>1</a:t>
            </a:r>
            <a:r>
              <a:rPr lang="zh-CN" altLang="en-US" sz="2000" b="1" dirty="0">
                <a:solidFill>
                  <a:srgbClr val="002060"/>
                </a:solidFill>
                <a:latin typeface="+mn-lt"/>
                <a:ea typeface="楷体" pitchFamily="49" charset="-122"/>
              </a:rPr>
              <a:t>个元素赋值为</a:t>
            </a:r>
            <a:r>
              <a:rPr lang="en-US" altLang="zh-CN" sz="2000" b="1" dirty="0">
                <a:solidFill>
                  <a:srgbClr val="002060"/>
                </a:solidFill>
                <a:latin typeface="+mn-lt"/>
                <a:ea typeface="楷体" pitchFamily="49" charset="-122"/>
              </a:rPr>
              <a:t>2</a:t>
            </a:r>
          </a:p>
          <a:p>
            <a:r>
              <a:rPr lang="en-US" altLang="zh-CN" b="1" dirty="0">
                <a:ea typeface="楷体_GB2312" pitchFamily="49" charset="-122"/>
              </a:rPr>
              <a:t>        a[1] = 4;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将数组</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的第</a:t>
            </a:r>
            <a:r>
              <a:rPr lang="en-US" altLang="zh-CN" sz="2000" b="1" dirty="0">
                <a:solidFill>
                  <a:srgbClr val="002060"/>
                </a:solidFill>
                <a:latin typeface="+mn-lt"/>
                <a:ea typeface="楷体" pitchFamily="49" charset="-122"/>
              </a:rPr>
              <a:t>2</a:t>
            </a:r>
            <a:r>
              <a:rPr lang="zh-CN" altLang="en-US" sz="2000" b="1" dirty="0">
                <a:solidFill>
                  <a:srgbClr val="002060"/>
                </a:solidFill>
                <a:latin typeface="+mn-lt"/>
                <a:ea typeface="楷体" pitchFamily="49" charset="-122"/>
              </a:rPr>
              <a:t>个元素赋值为</a:t>
            </a:r>
            <a:r>
              <a:rPr lang="en-US" altLang="zh-CN" sz="2000" b="1" dirty="0">
                <a:solidFill>
                  <a:srgbClr val="002060"/>
                </a:solidFill>
                <a:latin typeface="+mn-lt"/>
                <a:ea typeface="楷体" pitchFamily="49" charset="-122"/>
              </a:rPr>
              <a:t>4</a:t>
            </a:r>
          </a:p>
          <a:p>
            <a:r>
              <a:rPr lang="en-US" altLang="zh-CN" b="1" dirty="0">
                <a:ea typeface="楷体_GB2312" pitchFamily="49" charset="-122"/>
              </a:rPr>
              <a:t>        a[2] = a[0] + a[1];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将数组</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的第</a:t>
            </a:r>
            <a:r>
              <a:rPr lang="en-US" altLang="zh-CN" sz="2000" b="1" dirty="0">
                <a:solidFill>
                  <a:srgbClr val="002060"/>
                </a:solidFill>
                <a:latin typeface="+mn-lt"/>
                <a:ea typeface="楷体" pitchFamily="49" charset="-122"/>
              </a:rPr>
              <a:t>1</a:t>
            </a:r>
            <a:r>
              <a:rPr lang="zh-CN" altLang="en-US" sz="2000" b="1" dirty="0">
                <a:solidFill>
                  <a:srgbClr val="002060"/>
                </a:solidFill>
                <a:latin typeface="+mn-lt"/>
                <a:ea typeface="楷体" pitchFamily="49" charset="-122"/>
              </a:rPr>
              <a:t>个元素的值与第</a:t>
            </a:r>
            <a:r>
              <a:rPr lang="en-US" altLang="zh-CN" sz="2000" b="1" dirty="0">
                <a:solidFill>
                  <a:srgbClr val="002060"/>
                </a:solidFill>
                <a:latin typeface="+mn-lt"/>
                <a:ea typeface="楷体" pitchFamily="49" charset="-122"/>
              </a:rPr>
              <a:t>2</a:t>
            </a:r>
            <a:r>
              <a:rPr lang="zh-CN" altLang="en-US" sz="2000" b="1" dirty="0">
                <a:solidFill>
                  <a:srgbClr val="002060"/>
                </a:solidFill>
                <a:latin typeface="+mn-lt"/>
                <a:ea typeface="楷体" pitchFamily="49" charset="-122"/>
              </a:rPr>
              <a:t>个元</a:t>
            </a:r>
          </a:p>
          <a:p>
            <a:r>
              <a:rPr lang="zh-CN" altLang="en-US" sz="2000" b="1" dirty="0">
                <a:solidFill>
                  <a:srgbClr val="002060"/>
                </a:solidFill>
                <a:latin typeface="+mn-lt"/>
                <a:ea typeface="楷体" pitchFamily="49" charset="-122"/>
              </a:rPr>
              <a:t>                                                   素的值相加赋给第</a:t>
            </a:r>
            <a:r>
              <a:rPr lang="en-US" altLang="zh-CN" sz="2000" b="1" dirty="0">
                <a:solidFill>
                  <a:srgbClr val="002060"/>
                </a:solidFill>
                <a:latin typeface="+mn-lt"/>
                <a:ea typeface="楷体" pitchFamily="49" charset="-122"/>
              </a:rPr>
              <a:t>3</a:t>
            </a:r>
            <a:r>
              <a:rPr lang="zh-CN" altLang="en-US" sz="2000" b="1" dirty="0">
                <a:solidFill>
                  <a:srgbClr val="002060"/>
                </a:solidFill>
                <a:latin typeface="+mn-lt"/>
                <a:ea typeface="楷体" pitchFamily="49" charset="-122"/>
              </a:rPr>
              <a:t>个元素（值为</a:t>
            </a:r>
            <a:r>
              <a:rPr lang="en-US" altLang="zh-CN" sz="2000" b="1" dirty="0">
                <a:solidFill>
                  <a:srgbClr val="002060"/>
                </a:solidFill>
                <a:latin typeface="+mn-lt"/>
                <a:ea typeface="楷体" pitchFamily="49" charset="-122"/>
              </a:rPr>
              <a:t>6</a:t>
            </a:r>
            <a:r>
              <a:rPr lang="zh-CN" altLang="en-US" sz="2000" b="1" dirty="0">
                <a:solidFill>
                  <a:srgbClr val="002060"/>
                </a:solidFill>
                <a:latin typeface="+mn-lt"/>
                <a:ea typeface="楷体" pitchFamily="49" charset="-122"/>
              </a:rPr>
              <a:t>）</a:t>
            </a:r>
            <a:r>
              <a:rPr lang="zh-CN" altLang="en-US" sz="2000" b="1" dirty="0">
                <a:solidFill>
                  <a:srgbClr val="0033CC"/>
                </a:solidFill>
                <a:latin typeface="+mn-lt"/>
                <a:ea typeface="楷体" pitchFamily="49" charset="-122"/>
              </a:rPr>
              <a:t> </a:t>
            </a:r>
          </a:p>
        </p:txBody>
      </p:sp>
      <p:sp>
        <p:nvSpPr>
          <p:cNvPr id="962582" name="Text Box 22" descr="信纸"/>
          <p:cNvSpPr txBox="1">
            <a:spLocks noChangeArrowheads="1"/>
          </p:cNvSpPr>
          <p:nvPr/>
        </p:nvSpPr>
        <p:spPr bwMode="auto">
          <a:xfrm>
            <a:off x="2393797" y="3703396"/>
            <a:ext cx="8626915" cy="1349375"/>
          </a:xfrm>
          <a:prstGeom prst="rect">
            <a:avLst/>
          </a:prstGeom>
          <a:solidFill>
            <a:schemeClr val="bg1"/>
          </a:solidFill>
          <a:ln w="38100">
            <a:solidFill>
              <a:schemeClr val="tx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gn="just"/>
            <a:r>
              <a:rPr lang="zh-CN" altLang="zh-CN" sz="2000" b="1" dirty="0">
                <a:solidFill>
                  <a:schemeClr val="accent1"/>
                </a:solidFill>
                <a:ea typeface="隶书" pitchFamily="49" charset="-122"/>
              </a:rPr>
              <a:t>存储单元有效地址</a:t>
            </a:r>
            <a:r>
              <a:rPr lang="zh-CN" altLang="en-US" sz="2000" b="1" dirty="0">
                <a:solidFill>
                  <a:schemeClr val="accent1"/>
                </a:solidFill>
                <a:ea typeface="隶书" pitchFamily="49" charset="-122"/>
              </a:rPr>
              <a:t> </a:t>
            </a:r>
            <a:r>
              <a:rPr lang="en-US" altLang="zh-CN" sz="2000" b="1" dirty="0">
                <a:solidFill>
                  <a:schemeClr val="accent1"/>
                </a:solidFill>
                <a:ea typeface="隶书" pitchFamily="49" charset="-122"/>
              </a:rPr>
              <a:t>= </a:t>
            </a:r>
            <a:r>
              <a:rPr lang="zh-CN" altLang="en-US" sz="2000" b="1" dirty="0">
                <a:solidFill>
                  <a:schemeClr val="accent1"/>
                </a:solidFill>
                <a:ea typeface="隶书" pitchFamily="49" charset="-122"/>
              </a:rPr>
              <a:t>数组的起始地址 </a:t>
            </a:r>
            <a:r>
              <a:rPr lang="en-US" altLang="zh-CN" sz="2000" b="1" dirty="0">
                <a:solidFill>
                  <a:schemeClr val="accent1"/>
                </a:solidFill>
                <a:ea typeface="隶书" pitchFamily="49" charset="-122"/>
              </a:rPr>
              <a:t>+ </a:t>
            </a:r>
            <a:r>
              <a:rPr lang="zh-CN" altLang="en-US" sz="2000" b="1" dirty="0">
                <a:solidFill>
                  <a:schemeClr val="accent1"/>
                </a:solidFill>
                <a:ea typeface="隶书" pitchFamily="49" charset="-122"/>
              </a:rPr>
              <a:t>下标 </a:t>
            </a:r>
            <a:r>
              <a:rPr lang="en-US" altLang="zh-CN" sz="2000" b="1" dirty="0">
                <a:solidFill>
                  <a:schemeClr val="accent1"/>
                </a:solidFill>
                <a:ea typeface="隶书" pitchFamily="49" charset="-122"/>
              </a:rPr>
              <a:t>× </a:t>
            </a:r>
            <a:r>
              <a:rPr lang="en-US" altLang="zh-CN" sz="2000" b="1" dirty="0" err="1">
                <a:solidFill>
                  <a:schemeClr val="accent1"/>
                </a:solidFill>
                <a:ea typeface="隶书" pitchFamily="49" charset="-122"/>
              </a:rPr>
              <a:t>sizeof</a:t>
            </a:r>
            <a:r>
              <a:rPr lang="zh-CN" altLang="en-US" sz="2000" b="1" dirty="0">
                <a:solidFill>
                  <a:schemeClr val="accent1"/>
                </a:solidFill>
                <a:ea typeface="隶书" pitchFamily="49" charset="-122"/>
              </a:rPr>
              <a:t>（数组元素类型</a:t>
            </a:r>
            <a:r>
              <a:rPr lang="zh-CN" altLang="en-US" sz="2000" b="1" dirty="0">
                <a:solidFill>
                  <a:srgbClr val="C01920"/>
                </a:solidFill>
                <a:ea typeface="隶书" pitchFamily="49" charset="-122"/>
              </a:rPr>
              <a:t>）</a:t>
            </a:r>
          </a:p>
          <a:p>
            <a:pPr algn="just"/>
            <a:r>
              <a:rPr lang="en-US" altLang="zh-CN" sz="2000" b="1" dirty="0">
                <a:ea typeface="楷体_GB2312" pitchFamily="49" charset="-122"/>
              </a:rPr>
              <a:t>short </a:t>
            </a:r>
            <a:r>
              <a:rPr lang="en-US" altLang="zh-CN" sz="2000" b="1" dirty="0" err="1">
                <a:ea typeface="楷体_GB2312" pitchFamily="49" charset="-122"/>
              </a:rPr>
              <a:t>int</a:t>
            </a:r>
            <a:r>
              <a:rPr lang="en-US" altLang="zh-CN" sz="2000" b="1" dirty="0">
                <a:ea typeface="楷体_GB2312" pitchFamily="49" charset="-122"/>
              </a:rPr>
              <a:t> a[10];</a:t>
            </a:r>
          </a:p>
          <a:p>
            <a:r>
              <a:rPr lang="en-US" altLang="zh-CN" sz="2000" b="1" dirty="0">
                <a:ea typeface="楷体_GB2312" pitchFamily="49" charset="-122"/>
              </a:rPr>
              <a:t>Short x = a[10];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引用越界，</a:t>
            </a:r>
            <a:r>
              <a:rPr lang="en-US" altLang="zh-CN" sz="2000" b="1" dirty="0">
                <a:solidFill>
                  <a:srgbClr val="002060"/>
                </a:solidFill>
                <a:latin typeface="+mn-lt"/>
                <a:ea typeface="楷体" pitchFamily="49" charset="-122"/>
              </a:rPr>
              <a:t>a[10]</a:t>
            </a:r>
            <a:r>
              <a:rPr lang="zh-CN" altLang="en-US" sz="2000" b="1" dirty="0">
                <a:solidFill>
                  <a:srgbClr val="002060"/>
                </a:solidFill>
                <a:latin typeface="+mn-lt"/>
                <a:ea typeface="楷体" pitchFamily="49" charset="-122"/>
              </a:rPr>
              <a:t>的地址为：</a:t>
            </a:r>
            <a:r>
              <a:rPr lang="en-US" altLang="zh-CN" sz="2000" b="1" dirty="0">
                <a:solidFill>
                  <a:srgbClr val="002060"/>
                </a:solidFill>
                <a:latin typeface="+mn-lt"/>
                <a:ea typeface="楷体" pitchFamily="49" charset="-122"/>
              </a:rPr>
              <a:t>2000 + 10 * 2 = 2020</a:t>
            </a:r>
            <a:r>
              <a:rPr lang="zh-CN" altLang="en-US" sz="2000" b="1" dirty="0">
                <a:solidFill>
                  <a:srgbClr val="002060"/>
                </a:solidFill>
                <a:latin typeface="+mn-lt"/>
                <a:ea typeface="楷体" pitchFamily="49" charset="-122"/>
              </a:rPr>
              <a:t>，</a:t>
            </a:r>
          </a:p>
          <a:p>
            <a:r>
              <a:rPr lang="zh-CN" altLang="en-US" sz="2000" b="1" dirty="0">
                <a:solidFill>
                  <a:srgbClr val="002060"/>
                </a:solidFill>
                <a:latin typeface="+mn-lt"/>
                <a:ea typeface="楷体" pitchFamily="49" charset="-122"/>
              </a:rPr>
              <a:t>                              只能引用</a:t>
            </a:r>
            <a:r>
              <a:rPr lang="en-US" altLang="zh-CN" sz="2000" b="1" dirty="0">
                <a:solidFill>
                  <a:srgbClr val="002060"/>
                </a:solidFill>
                <a:latin typeface="+mn-lt"/>
                <a:ea typeface="楷体" pitchFamily="49" charset="-122"/>
              </a:rPr>
              <a:t>a[0]</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a[9]</a:t>
            </a:r>
          </a:p>
        </p:txBody>
      </p:sp>
      <p:sp>
        <p:nvSpPr>
          <p:cNvPr id="962583" name="Text Box 23" descr="信纸"/>
          <p:cNvSpPr txBox="1">
            <a:spLocks noChangeArrowheads="1"/>
          </p:cNvSpPr>
          <p:nvPr/>
        </p:nvSpPr>
        <p:spPr bwMode="auto">
          <a:xfrm>
            <a:off x="2485579" y="5195478"/>
            <a:ext cx="7220841" cy="8604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a:t>
            </a:r>
            <a:r>
              <a:rPr lang="zh-CN" altLang="en-US" b="1" dirty="0">
                <a:ea typeface="隶书" pitchFamily="49" charset="-122"/>
              </a:rPr>
              <a:t>  </a:t>
            </a:r>
            <a:r>
              <a:rPr lang="en-US" altLang="zh-CN" b="1" dirty="0" err="1">
                <a:ea typeface="楷体_GB2312" pitchFamily="49" charset="-122"/>
              </a:rPr>
              <a:t>int</a:t>
            </a:r>
            <a:r>
              <a:rPr lang="en-US" altLang="zh-CN" b="1" dirty="0">
                <a:ea typeface="楷体_GB2312" pitchFamily="49" charset="-122"/>
              </a:rPr>
              <a:t> x = a[1];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错误，应先定义数组</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，再引用</a:t>
            </a:r>
          </a:p>
          <a:p>
            <a:r>
              <a:rPr lang="zh-CN" altLang="en-US" sz="2000" b="1" dirty="0">
                <a:solidFill>
                  <a:srgbClr val="0033CC"/>
                </a:solidFill>
                <a:ea typeface="楷体_GB2312" pitchFamily="49" charset="-122"/>
              </a:rPr>
              <a:t>       </a:t>
            </a:r>
            <a:r>
              <a:rPr lang="en-US" altLang="zh-CN" b="1" dirty="0" err="1">
                <a:ea typeface="楷体_GB2312" pitchFamily="49" charset="-122"/>
              </a:rPr>
              <a:t>int</a:t>
            </a:r>
            <a:r>
              <a:rPr lang="en-US" altLang="zh-CN" b="1" dirty="0">
                <a:ea typeface="楷体_GB2312" pitchFamily="49" charset="-122"/>
              </a:rPr>
              <a:t> a[10];</a:t>
            </a:r>
          </a:p>
        </p:txBody>
      </p:sp>
      <p:sp>
        <p:nvSpPr>
          <p:cNvPr id="11" name="Rectangle 5">
            <a:extLst>
              <a:ext uri="{FF2B5EF4-FFF2-40B4-BE49-F238E27FC236}">
                <a16:creationId xmlns:a16="http://schemas.microsoft.com/office/drawing/2014/main" id="{E92E42B1-DE17-41FA-B270-57866C5C78FF}"/>
              </a:ext>
            </a:extLst>
          </p:cNvPr>
          <p:cNvSpPr>
            <a:spLocks noChangeArrowheads="1"/>
          </p:cNvSpPr>
          <p:nvPr/>
        </p:nvSpPr>
        <p:spPr bwMode="auto">
          <a:xfrm>
            <a:off x="836493" y="836712"/>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2</a:t>
            </a:r>
            <a:r>
              <a:rPr lang="zh-CN" altLang="en-US" sz="2800" b="1" dirty="0">
                <a:solidFill>
                  <a:schemeClr val="accent1"/>
                </a:solidFill>
                <a:latin typeface="+mn-lt"/>
                <a:ea typeface="楷体" pitchFamily="49" charset="-122"/>
              </a:rPr>
              <a:t>、一维数组的引用</a:t>
            </a:r>
          </a:p>
        </p:txBody>
      </p:sp>
      <p:sp>
        <p:nvSpPr>
          <p:cNvPr id="12" name="Rectangle 4">
            <a:extLst>
              <a:ext uri="{FF2B5EF4-FFF2-40B4-BE49-F238E27FC236}">
                <a16:creationId xmlns:a16="http://schemas.microsoft.com/office/drawing/2014/main" id="{7C1F53BD-32C6-4510-92AE-C4E444DF974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3124019095"/>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2578"/>
                                        </p:tgtEl>
                                        <p:attrNameLst>
                                          <p:attrName>style.visibility</p:attrName>
                                        </p:attrNameLst>
                                      </p:cBhvr>
                                      <p:to>
                                        <p:strVal val="visible"/>
                                      </p:to>
                                    </p:set>
                                    <p:anim calcmode="lin" valueType="num">
                                      <p:cBhvr additive="base">
                                        <p:cTn id="7" dur="500" fill="hold"/>
                                        <p:tgtEl>
                                          <p:spTgt spid="962578"/>
                                        </p:tgtEl>
                                        <p:attrNameLst>
                                          <p:attrName>ppt_x</p:attrName>
                                        </p:attrNameLst>
                                      </p:cBhvr>
                                      <p:tavLst>
                                        <p:tav tm="0">
                                          <p:val>
                                            <p:strVal val="0-#ppt_w/2"/>
                                          </p:val>
                                        </p:tav>
                                        <p:tav tm="100000">
                                          <p:val>
                                            <p:strVal val="#ppt_x"/>
                                          </p:val>
                                        </p:tav>
                                      </p:tavLst>
                                    </p:anim>
                                    <p:anim calcmode="lin" valueType="num">
                                      <p:cBhvr additive="base">
                                        <p:cTn id="8" dur="500" fill="hold"/>
                                        <p:tgtEl>
                                          <p:spTgt spid="9625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62579">
                                            <p:txEl>
                                              <p:pRg st="0" end="0"/>
                                            </p:txEl>
                                          </p:spTgt>
                                        </p:tgtEl>
                                        <p:attrNameLst>
                                          <p:attrName>style.visibility</p:attrName>
                                        </p:attrNameLst>
                                      </p:cBhvr>
                                      <p:to>
                                        <p:strVal val="visible"/>
                                      </p:to>
                                    </p:set>
                                    <p:anim calcmode="lin" valueType="num">
                                      <p:cBhvr additive="base">
                                        <p:cTn id="13" dur="500" fill="hold"/>
                                        <p:tgtEl>
                                          <p:spTgt spid="96257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6257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62579">
                                            <p:txEl>
                                              <p:pRg st="2" end="2"/>
                                            </p:txEl>
                                          </p:spTgt>
                                        </p:tgtEl>
                                        <p:attrNameLst>
                                          <p:attrName>style.visibility</p:attrName>
                                        </p:attrNameLst>
                                      </p:cBhvr>
                                      <p:to>
                                        <p:strVal val="visible"/>
                                      </p:to>
                                    </p:set>
                                    <p:anim calcmode="lin" valueType="num">
                                      <p:cBhvr additive="base">
                                        <p:cTn id="19" dur="500" fill="hold"/>
                                        <p:tgtEl>
                                          <p:spTgt spid="96257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6257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962580"/>
                                        </p:tgtEl>
                                        <p:attrNameLst>
                                          <p:attrName>style.visibility</p:attrName>
                                        </p:attrNameLst>
                                      </p:cBhvr>
                                      <p:to>
                                        <p:strVal val="visible"/>
                                      </p:to>
                                    </p:set>
                                    <p:animEffect transition="in" filter="box(out)">
                                      <p:cBhvr>
                                        <p:cTn id="25" dur="500"/>
                                        <p:tgtEl>
                                          <p:spTgt spid="962580"/>
                                        </p:tgtEl>
                                      </p:cBhvr>
                                    </p:animEffect>
                                  </p:childTnLst>
                                  <p:subTnLst>
                                    <p:set>
                                      <p:cBhvr override="childStyle">
                                        <p:cTn dur="1" fill="hold" display="0" masterRel="nextClick" afterEffect="1"/>
                                        <p:tgtEl>
                                          <p:spTgt spid="962580"/>
                                        </p:tgtEl>
                                        <p:attrNameLst>
                                          <p:attrName>style.visibility</p:attrName>
                                        </p:attrNameLst>
                                      </p:cBhvr>
                                      <p:to>
                                        <p:strVal val="hidden"/>
                                      </p:to>
                                    </p:se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962579">
                                            <p:txEl>
                                              <p:pRg st="4" end="4"/>
                                            </p:txEl>
                                          </p:spTgt>
                                        </p:tgtEl>
                                        <p:attrNameLst>
                                          <p:attrName>style.visibility</p:attrName>
                                        </p:attrNameLst>
                                      </p:cBhvr>
                                      <p:to>
                                        <p:strVal val="visible"/>
                                      </p:to>
                                    </p:set>
                                    <p:anim calcmode="lin" valueType="num">
                                      <p:cBhvr additive="base">
                                        <p:cTn id="30" dur="500" fill="hold"/>
                                        <p:tgtEl>
                                          <p:spTgt spid="962579">
                                            <p:txEl>
                                              <p:pRg st="4" end="4"/>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96257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962581"/>
                                        </p:tgtEl>
                                        <p:attrNameLst>
                                          <p:attrName>style.visibility</p:attrName>
                                        </p:attrNameLst>
                                      </p:cBhvr>
                                      <p:to>
                                        <p:strVal val="visible"/>
                                      </p:to>
                                    </p:set>
                                    <p:animEffect transition="in" filter="box(out)">
                                      <p:cBhvr>
                                        <p:cTn id="36" dur="500"/>
                                        <p:tgtEl>
                                          <p:spTgt spid="962581"/>
                                        </p:tgtEl>
                                      </p:cBhvr>
                                    </p:animEffect>
                                  </p:childTnLst>
                                  <p:subTnLst>
                                    <p:set>
                                      <p:cBhvr override="childStyle">
                                        <p:cTn dur="1" fill="hold" display="0" masterRel="nextClick" afterEffect="1"/>
                                        <p:tgtEl>
                                          <p:spTgt spid="962581"/>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962579">
                                            <p:txEl>
                                              <p:pRg st="6" end="6"/>
                                            </p:txEl>
                                          </p:spTgt>
                                        </p:tgtEl>
                                        <p:attrNameLst>
                                          <p:attrName>style.visibility</p:attrName>
                                        </p:attrNameLst>
                                      </p:cBhvr>
                                      <p:to>
                                        <p:strVal val="visible"/>
                                      </p:to>
                                    </p:set>
                                    <p:anim calcmode="lin" valueType="num">
                                      <p:cBhvr additive="base">
                                        <p:cTn id="41" dur="500" fill="hold"/>
                                        <p:tgtEl>
                                          <p:spTgt spid="962579">
                                            <p:txEl>
                                              <p:pRg st="6" end="6"/>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96257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962582"/>
                                        </p:tgtEl>
                                        <p:attrNameLst>
                                          <p:attrName>style.visibility</p:attrName>
                                        </p:attrNameLst>
                                      </p:cBhvr>
                                      <p:to>
                                        <p:strVal val="visible"/>
                                      </p:to>
                                    </p:set>
                                    <p:animEffect transition="in" filter="box(out)">
                                      <p:cBhvr>
                                        <p:cTn id="47" dur="500"/>
                                        <p:tgtEl>
                                          <p:spTgt spid="962582"/>
                                        </p:tgtEl>
                                      </p:cBhvr>
                                    </p:animEffect>
                                  </p:childTnLst>
                                  <p:subTnLst>
                                    <p:set>
                                      <p:cBhvr override="childStyle">
                                        <p:cTn dur="1" fill="hold" display="0" masterRel="nextClick" afterEffect="1"/>
                                        <p:tgtEl>
                                          <p:spTgt spid="962582"/>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962579">
                                            <p:txEl>
                                              <p:pRg st="8" end="8"/>
                                            </p:txEl>
                                          </p:spTgt>
                                        </p:tgtEl>
                                        <p:attrNameLst>
                                          <p:attrName>style.visibility</p:attrName>
                                        </p:attrNameLst>
                                      </p:cBhvr>
                                      <p:to>
                                        <p:strVal val="visible"/>
                                      </p:to>
                                    </p:set>
                                    <p:anim calcmode="lin" valueType="num">
                                      <p:cBhvr additive="base">
                                        <p:cTn id="52" dur="500" fill="hold"/>
                                        <p:tgtEl>
                                          <p:spTgt spid="962579">
                                            <p:txEl>
                                              <p:pRg st="8" end="8"/>
                                            </p:txEl>
                                          </p:spTgt>
                                        </p:tgtEl>
                                        <p:attrNameLst>
                                          <p:attrName>ppt_x</p:attrName>
                                        </p:attrNameLst>
                                      </p:cBhvr>
                                      <p:tavLst>
                                        <p:tav tm="0">
                                          <p:val>
                                            <p:strVal val="0-#ppt_w/2"/>
                                          </p:val>
                                        </p:tav>
                                        <p:tav tm="100000">
                                          <p:val>
                                            <p:strVal val="#ppt_x"/>
                                          </p:val>
                                        </p:tav>
                                      </p:tavLst>
                                    </p:anim>
                                    <p:anim calcmode="lin" valueType="num">
                                      <p:cBhvr additive="base">
                                        <p:cTn id="53" dur="500" fill="hold"/>
                                        <p:tgtEl>
                                          <p:spTgt spid="962579">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962583"/>
                                        </p:tgtEl>
                                        <p:attrNameLst>
                                          <p:attrName>style.visibility</p:attrName>
                                        </p:attrNameLst>
                                      </p:cBhvr>
                                      <p:to>
                                        <p:strVal val="visible"/>
                                      </p:to>
                                    </p:set>
                                    <p:animEffect transition="in" filter="box(out)">
                                      <p:cBhvr>
                                        <p:cTn id="58" dur="500"/>
                                        <p:tgtEl>
                                          <p:spTgt spid="962583"/>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0" grpId="0" animBg="1"/>
      <p:bldP spid="962578" grpId="0"/>
      <p:bldP spid="962581" grpId="0" animBg="1"/>
      <p:bldP spid="962582" grpId="0" animBg="1"/>
      <p:bldP spid="962583"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6661" name="Rectangle 5"/>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3</a:t>
            </a:r>
            <a:r>
              <a:rPr lang="zh-CN" altLang="en-US" sz="2800" b="1" dirty="0">
                <a:solidFill>
                  <a:schemeClr val="accent1"/>
                </a:solidFill>
                <a:latin typeface="+mn-lt"/>
                <a:ea typeface="楷体" pitchFamily="49" charset="-122"/>
              </a:rPr>
              <a:t>、一维数组的赋值</a:t>
            </a:r>
          </a:p>
        </p:txBody>
      </p:sp>
      <p:sp>
        <p:nvSpPr>
          <p:cNvPr id="966662" name="Rectangle 6"/>
          <p:cNvSpPr>
            <a:spLocks noChangeArrowheads="1"/>
          </p:cNvSpPr>
          <p:nvPr/>
        </p:nvSpPr>
        <p:spPr bwMode="auto">
          <a:xfrm>
            <a:off x="1127448" y="1411401"/>
            <a:ext cx="2855269" cy="369332"/>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chemeClr val="accent1"/>
                </a:solidFill>
                <a:latin typeface="+mn-lt"/>
                <a:ea typeface="楷体" pitchFamily="49" charset="-122"/>
              </a:rPr>
              <a:t>一维数组的初始化赋值</a:t>
            </a:r>
          </a:p>
        </p:txBody>
      </p:sp>
      <p:sp>
        <p:nvSpPr>
          <p:cNvPr id="966663" name="Text Box 7"/>
          <p:cNvSpPr txBox="1">
            <a:spLocks noChangeArrowheads="1"/>
          </p:cNvSpPr>
          <p:nvPr/>
        </p:nvSpPr>
        <p:spPr bwMode="auto">
          <a:xfrm>
            <a:off x="1890323" y="1916832"/>
            <a:ext cx="9534915" cy="40011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gn="ctr"/>
            <a:r>
              <a:rPr lang="zh-CN" altLang="en-US" sz="2000" b="1" dirty="0">
                <a:solidFill>
                  <a:schemeClr val="accent1"/>
                </a:solidFill>
                <a:latin typeface="+mn-lt"/>
                <a:ea typeface="楷体" pitchFamily="49" charset="-122"/>
              </a:rPr>
              <a:t>数据类型符  数组变量名</a:t>
            </a:r>
            <a:r>
              <a:rPr lang="en-US" altLang="zh-CN" sz="2000" b="1" dirty="0">
                <a:solidFill>
                  <a:schemeClr val="accent1"/>
                </a:solidFill>
                <a:latin typeface="+mn-lt"/>
                <a:ea typeface="楷体" pitchFamily="49" charset="-122"/>
              </a:rPr>
              <a:t>[</a:t>
            </a:r>
            <a:r>
              <a:rPr lang="zh-CN" altLang="en-US" sz="2000" b="1" dirty="0">
                <a:solidFill>
                  <a:schemeClr val="accent1"/>
                </a:solidFill>
                <a:latin typeface="+mn-lt"/>
                <a:ea typeface="楷体" pitchFamily="49" charset="-122"/>
              </a:rPr>
              <a:t>常量表达式</a:t>
            </a:r>
            <a:r>
              <a:rPr lang="en-US" altLang="zh-CN" sz="2000" b="1" dirty="0">
                <a:solidFill>
                  <a:schemeClr val="accent1"/>
                </a:solidFill>
                <a:latin typeface="+mn-lt"/>
                <a:ea typeface="楷体" pitchFamily="49" charset="-122"/>
              </a:rPr>
              <a:t>] = {</a:t>
            </a:r>
            <a:r>
              <a:rPr lang="zh-CN" altLang="en-US" sz="2000" b="1" dirty="0">
                <a:solidFill>
                  <a:schemeClr val="accent1"/>
                </a:solidFill>
                <a:latin typeface="+mn-lt"/>
                <a:ea typeface="楷体" pitchFamily="49" charset="-122"/>
              </a:rPr>
              <a:t>表达式</a:t>
            </a:r>
            <a:r>
              <a:rPr lang="en-US" altLang="zh-CN" sz="2000" b="1" dirty="0">
                <a:solidFill>
                  <a:schemeClr val="accent1"/>
                </a:solidFill>
                <a:latin typeface="+mn-lt"/>
                <a:ea typeface="楷体" pitchFamily="49" charset="-122"/>
              </a:rPr>
              <a:t>1</a:t>
            </a:r>
            <a:r>
              <a:rPr lang="zh-CN" altLang="en-US" sz="2000" b="1" dirty="0">
                <a:solidFill>
                  <a:schemeClr val="accent1"/>
                </a:solidFill>
                <a:latin typeface="+mn-lt"/>
                <a:ea typeface="楷体" pitchFamily="49" charset="-122"/>
              </a:rPr>
              <a:t>，表达式</a:t>
            </a:r>
            <a:r>
              <a:rPr lang="en-US" altLang="zh-CN" sz="2000" b="1" dirty="0">
                <a:solidFill>
                  <a:schemeClr val="accent1"/>
                </a:solidFill>
                <a:latin typeface="+mn-lt"/>
                <a:ea typeface="楷体" pitchFamily="49" charset="-122"/>
              </a:rPr>
              <a:t>2</a:t>
            </a:r>
            <a:r>
              <a:rPr lang="zh-CN" altLang="en-US" sz="2000" b="1" dirty="0">
                <a:solidFill>
                  <a:schemeClr val="accent1"/>
                </a:solidFill>
                <a:latin typeface="+mn-lt"/>
                <a:ea typeface="楷体" pitchFamily="49" charset="-122"/>
              </a:rPr>
              <a:t>，</a:t>
            </a:r>
            <a:r>
              <a:rPr lang="en-US" altLang="zh-CN" sz="2000" b="1" dirty="0">
                <a:solidFill>
                  <a:schemeClr val="accent1"/>
                </a:solidFill>
                <a:latin typeface="+mn-lt"/>
                <a:ea typeface="楷体" pitchFamily="49" charset="-122"/>
              </a:rPr>
              <a:t>…</a:t>
            </a:r>
            <a:r>
              <a:rPr lang="zh-CN" altLang="en-US" sz="2000" b="1" dirty="0">
                <a:solidFill>
                  <a:schemeClr val="accent1"/>
                </a:solidFill>
                <a:latin typeface="+mn-lt"/>
                <a:ea typeface="楷体" pitchFamily="49" charset="-122"/>
              </a:rPr>
              <a:t>，表达式</a:t>
            </a:r>
            <a:r>
              <a:rPr lang="en-US" altLang="zh-CN" sz="2000" b="1" dirty="0">
                <a:solidFill>
                  <a:schemeClr val="accent1"/>
                </a:solidFill>
                <a:latin typeface="+mn-lt"/>
                <a:ea typeface="楷体" pitchFamily="49" charset="-122"/>
              </a:rPr>
              <a:t>n}</a:t>
            </a:r>
            <a:r>
              <a:rPr lang="zh-CN" altLang="en-US" sz="2000" b="1" dirty="0">
                <a:solidFill>
                  <a:schemeClr val="accent1"/>
                </a:solidFill>
                <a:latin typeface="+mn-lt"/>
                <a:ea typeface="楷体" pitchFamily="49" charset="-122"/>
              </a:rPr>
              <a:t>；</a:t>
            </a:r>
          </a:p>
        </p:txBody>
      </p:sp>
      <p:sp>
        <p:nvSpPr>
          <p:cNvPr id="966664" name="Rectangle 8"/>
          <p:cNvSpPr>
            <a:spLocks noChangeArrowheads="1"/>
          </p:cNvSpPr>
          <p:nvPr/>
        </p:nvSpPr>
        <p:spPr bwMode="auto">
          <a:xfrm>
            <a:off x="1135385" y="2507814"/>
            <a:ext cx="2157963" cy="369332"/>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chemeClr val="accent1"/>
                </a:solidFill>
                <a:latin typeface="+mn-lt"/>
                <a:ea typeface="楷体" pitchFamily="49" charset="-122"/>
              </a:rPr>
              <a:t>初始化赋值说明</a:t>
            </a:r>
          </a:p>
        </p:txBody>
      </p:sp>
      <p:sp>
        <p:nvSpPr>
          <p:cNvPr id="966710" name="Rectangle 54"/>
          <p:cNvSpPr>
            <a:spLocks noChangeArrowheads="1"/>
          </p:cNvSpPr>
          <p:nvPr/>
        </p:nvSpPr>
        <p:spPr bwMode="auto">
          <a:xfrm>
            <a:off x="1317674" y="2920548"/>
            <a:ext cx="10229328" cy="1289264"/>
          </a:xfrm>
          <a:prstGeom prst="rect">
            <a:avLst/>
          </a:prstGeom>
          <a:noFill/>
          <a:ln w="9525">
            <a:noFill/>
            <a:miter lim="800000"/>
            <a:headEnd/>
            <a:tailEnd/>
          </a:ln>
          <a:effectLst/>
        </p:spPr>
        <p:txBody>
          <a:bodyPr wrap="square" anchor="ctr">
            <a:spAutoFit/>
          </a:bodyPr>
          <a:lstStyle/>
          <a:p>
            <a:pPr marL="540000" indent="-432000">
              <a:lnSpc>
                <a:spcPts val="3200"/>
              </a:lnSpc>
              <a:buAutoNum type="arabicParenBoth"/>
              <a:tabLst>
                <a:tab pos="266700" algn="l"/>
              </a:tabLst>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后面的表达式列表一定要用</a:t>
            </a:r>
            <a:r>
              <a:rPr lang="en-US" altLang="zh-CN" b="1" dirty="0">
                <a:solidFill>
                  <a:srgbClr val="C01920"/>
                </a:solidFill>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括起来，被括起来的表达式列表被称为初值列表，表达式之间用“</a:t>
            </a:r>
            <a:r>
              <a:rPr lang="zh-CN" altLang="en-US" b="1" dirty="0">
                <a:solidFill>
                  <a:srgbClr val="C01920"/>
                </a:solidFill>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”分隔；</a:t>
            </a:r>
            <a:endParaRPr lang="en-US" altLang="zh-CN" b="1" dirty="0">
              <a:effectLst>
                <a:outerShdw blurRad="38100" dist="38100" dir="2700000" algn="tl">
                  <a:srgbClr val="FFFFFF"/>
                </a:outerShdw>
              </a:effectLst>
              <a:latin typeface="+mn-lt"/>
              <a:ea typeface="楷体" pitchFamily="49" charset="-122"/>
            </a:endParaRPr>
          </a:p>
          <a:p>
            <a:pPr marL="540000" indent="-432000">
              <a:lnSpc>
                <a:spcPts val="3200"/>
              </a:lnSpc>
              <a:tabLst>
                <a:tab pos="266700" algn="l"/>
              </a:tabLst>
            </a:pPr>
            <a:r>
              <a:rPr lang="en-US" altLang="zh-CN" b="1" dirty="0">
                <a:effectLst>
                  <a:outerShdw blurRad="38100" dist="38100" dir="2700000" algn="tl">
                    <a:srgbClr val="FFFFFF"/>
                  </a:outerShdw>
                </a:effectLst>
                <a:latin typeface="+mn-lt"/>
                <a:ea typeface="楷体" pitchFamily="49" charset="-122"/>
              </a:rPr>
              <a:t>(2) </a:t>
            </a:r>
            <a:r>
              <a:rPr lang="zh-CN" altLang="en-US" b="1" dirty="0">
                <a:effectLst>
                  <a:outerShdw blurRad="38100" dist="38100" dir="2700000" algn="tl">
                    <a:srgbClr val="FFFFFF"/>
                  </a:outerShdw>
                </a:effectLst>
                <a:latin typeface="+mn-lt"/>
                <a:ea typeface="楷体" pitchFamily="49" charset="-122"/>
              </a:rPr>
              <a:t>表达式的个数不能超过数组变量的大小；</a:t>
            </a:r>
          </a:p>
        </p:txBody>
      </p:sp>
      <p:sp>
        <p:nvSpPr>
          <p:cNvPr id="966711" name="Text Box 55" descr="信纸"/>
          <p:cNvSpPr txBox="1">
            <a:spLocks noChangeArrowheads="1"/>
          </p:cNvSpPr>
          <p:nvPr/>
        </p:nvSpPr>
        <p:spPr bwMode="auto">
          <a:xfrm>
            <a:off x="2597587" y="4189290"/>
            <a:ext cx="8832821" cy="46384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例</a:t>
            </a:r>
            <a:r>
              <a:rPr lang="zh-CN" altLang="en-US" b="1" dirty="0">
                <a:latin typeface="+mn-lt"/>
                <a:ea typeface="楷体" pitchFamily="49" charset="-122"/>
              </a:rPr>
              <a:t>  </a:t>
            </a:r>
            <a:r>
              <a:rPr lang="en-US" altLang="zh-CN" b="1" dirty="0">
                <a:latin typeface="+mn-lt"/>
                <a:ea typeface="楷体" pitchFamily="49" charset="-122"/>
              </a:rPr>
              <a:t>int  a[4] = {1, 2, 3, 4, 5};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超出了数组的大小</a:t>
            </a:r>
          </a:p>
        </p:txBody>
      </p:sp>
      <p:sp>
        <p:nvSpPr>
          <p:cNvPr id="966712" name="Rectangle 56"/>
          <p:cNvSpPr>
            <a:spLocks noChangeArrowheads="1"/>
          </p:cNvSpPr>
          <p:nvPr/>
        </p:nvSpPr>
        <p:spPr bwMode="auto">
          <a:xfrm>
            <a:off x="1317674" y="4846374"/>
            <a:ext cx="10229328" cy="878895"/>
          </a:xfrm>
          <a:prstGeom prst="rect">
            <a:avLst/>
          </a:prstGeom>
          <a:noFill/>
          <a:ln w="9525">
            <a:noFill/>
            <a:miter lim="800000"/>
            <a:headEnd/>
            <a:tailEnd/>
          </a:ln>
          <a:effectLst/>
        </p:spPr>
        <p:txBody>
          <a:bodyPr wrap="square" anchor="ctr">
            <a:spAutoFit/>
          </a:bodyPr>
          <a:lstStyle/>
          <a:p>
            <a:pPr marL="540000" indent="-432000">
              <a:lnSpc>
                <a:spcPts val="3200"/>
              </a:lnSpc>
              <a:tabLst>
                <a:tab pos="266700" algn="l"/>
              </a:tabLst>
            </a:pPr>
            <a:r>
              <a:rPr lang="en-US" altLang="zh-CN" b="1" dirty="0">
                <a:effectLst>
                  <a:outerShdw blurRad="38100" dist="38100" dir="2700000" algn="tl">
                    <a:srgbClr val="FFFFFF"/>
                  </a:outerShdw>
                </a:effectLst>
                <a:latin typeface="+mn-lt"/>
                <a:ea typeface="楷体" pitchFamily="49" charset="-122"/>
              </a:rPr>
              <a:t>(3) </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是第</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个数组元素的值，表达式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是第</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个数组元素的值，依此类推；</a:t>
            </a:r>
          </a:p>
        </p:txBody>
      </p:sp>
      <p:sp>
        <p:nvSpPr>
          <p:cNvPr id="966713" name="Text Box 57" descr="信纸"/>
          <p:cNvSpPr txBox="1">
            <a:spLocks noChangeArrowheads="1"/>
          </p:cNvSpPr>
          <p:nvPr/>
        </p:nvSpPr>
        <p:spPr bwMode="auto">
          <a:xfrm>
            <a:off x="2533739" y="5445224"/>
            <a:ext cx="8891499" cy="120251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例</a:t>
            </a:r>
            <a:r>
              <a:rPr lang="zh-CN" altLang="en-US" b="1" dirty="0">
                <a:latin typeface="+mn-lt"/>
                <a:ea typeface="楷体" pitchFamily="49" charset="-122"/>
              </a:rPr>
              <a:t>  </a:t>
            </a:r>
            <a:r>
              <a:rPr lang="en-US" altLang="zh-CN" b="1" dirty="0" err="1">
                <a:latin typeface="+mn-lt"/>
                <a:ea typeface="楷体" pitchFamily="49" charset="-122"/>
              </a:rPr>
              <a:t>int</a:t>
            </a:r>
            <a:r>
              <a:rPr lang="en-US" altLang="zh-CN" b="1" dirty="0">
                <a:latin typeface="+mn-lt"/>
                <a:ea typeface="楷体" pitchFamily="49" charset="-122"/>
              </a:rPr>
              <a:t>  a[5] = {0, 1, 2, 3, 4};</a:t>
            </a:r>
          </a:p>
          <a:p>
            <a:r>
              <a:rPr lang="en-US" altLang="zh-CN" b="1" dirty="0">
                <a:latin typeface="+mn-lt"/>
                <a:ea typeface="楷体" pitchFamily="49" charset="-122"/>
              </a:rPr>
              <a:t>      </a:t>
            </a:r>
            <a:r>
              <a:rPr lang="zh-CN" altLang="en-US" sz="2000" b="1" dirty="0">
                <a:latin typeface="+mn-lt"/>
                <a:ea typeface="楷体" pitchFamily="49" charset="-122"/>
              </a:rPr>
              <a:t>经过以上定义和初始化后，</a:t>
            </a:r>
          </a:p>
          <a:p>
            <a:r>
              <a:rPr lang="zh-CN" altLang="en-US" b="1" dirty="0">
                <a:solidFill>
                  <a:srgbClr val="C01920"/>
                </a:solidFill>
                <a:latin typeface="+mn-lt"/>
                <a:ea typeface="楷体" pitchFamily="49" charset="-122"/>
              </a:rPr>
              <a:t>      </a:t>
            </a:r>
            <a:r>
              <a:rPr lang="en-US" altLang="zh-CN" b="1" dirty="0">
                <a:solidFill>
                  <a:srgbClr val="C01920"/>
                </a:solidFill>
                <a:latin typeface="+mn-lt"/>
                <a:ea typeface="楷体" pitchFamily="49" charset="-122"/>
              </a:rPr>
              <a:t>a[0] = 0</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a[1] = 1</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a[2] = 2</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a[3] = 3</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a[4] = 4</a:t>
            </a:r>
            <a:r>
              <a:rPr lang="zh-CN" altLang="en-US" b="1" dirty="0">
                <a:solidFill>
                  <a:srgbClr val="C01920"/>
                </a:solidFill>
                <a:latin typeface="+mn-lt"/>
                <a:ea typeface="楷体" pitchFamily="49" charset="-122"/>
              </a:rPr>
              <a:t>。</a:t>
            </a:r>
            <a:r>
              <a:rPr lang="zh-CN" altLang="en-US" dirty="0">
                <a:solidFill>
                  <a:srgbClr val="C01920"/>
                </a:solidFill>
                <a:latin typeface="+mn-lt"/>
                <a:ea typeface="楷体" pitchFamily="49" charset="-122"/>
              </a:rPr>
              <a:t> </a:t>
            </a:r>
          </a:p>
        </p:txBody>
      </p:sp>
      <p:sp>
        <p:nvSpPr>
          <p:cNvPr id="14" name="Rectangle 4">
            <a:extLst>
              <a:ext uri="{FF2B5EF4-FFF2-40B4-BE49-F238E27FC236}">
                <a16:creationId xmlns:a16="http://schemas.microsoft.com/office/drawing/2014/main" id="{A54C0DC8-826A-4EA4-8BD5-522F0B88679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145177015"/>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6662"/>
                                        </p:tgtEl>
                                        <p:attrNameLst>
                                          <p:attrName>style.visibility</p:attrName>
                                        </p:attrNameLst>
                                      </p:cBhvr>
                                      <p:to>
                                        <p:strVal val="visible"/>
                                      </p:to>
                                    </p:set>
                                    <p:anim calcmode="lin" valueType="num">
                                      <p:cBhvr additive="base">
                                        <p:cTn id="7" dur="500" fill="hold"/>
                                        <p:tgtEl>
                                          <p:spTgt spid="966662"/>
                                        </p:tgtEl>
                                        <p:attrNameLst>
                                          <p:attrName>ppt_x</p:attrName>
                                        </p:attrNameLst>
                                      </p:cBhvr>
                                      <p:tavLst>
                                        <p:tav tm="0">
                                          <p:val>
                                            <p:strVal val="0-#ppt_w/2"/>
                                          </p:val>
                                        </p:tav>
                                        <p:tav tm="100000">
                                          <p:val>
                                            <p:strVal val="#ppt_x"/>
                                          </p:val>
                                        </p:tav>
                                      </p:tavLst>
                                    </p:anim>
                                    <p:anim calcmode="lin" valueType="num">
                                      <p:cBhvr additive="base">
                                        <p:cTn id="8" dur="500" fill="hold"/>
                                        <p:tgtEl>
                                          <p:spTgt spid="9666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66663"/>
                                        </p:tgtEl>
                                        <p:attrNameLst>
                                          <p:attrName>style.visibility</p:attrName>
                                        </p:attrNameLst>
                                      </p:cBhvr>
                                      <p:to>
                                        <p:strVal val="visible"/>
                                      </p:to>
                                    </p:set>
                                    <p:animEffect transition="in" filter="box(out)">
                                      <p:cBhvr>
                                        <p:cTn id="13" dur="500"/>
                                        <p:tgtEl>
                                          <p:spTgt spid="96666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66664"/>
                                        </p:tgtEl>
                                        <p:attrNameLst>
                                          <p:attrName>style.visibility</p:attrName>
                                        </p:attrNameLst>
                                      </p:cBhvr>
                                      <p:to>
                                        <p:strVal val="visible"/>
                                      </p:to>
                                    </p:set>
                                    <p:anim calcmode="lin" valueType="num">
                                      <p:cBhvr additive="base">
                                        <p:cTn id="18" dur="500" fill="hold"/>
                                        <p:tgtEl>
                                          <p:spTgt spid="966664"/>
                                        </p:tgtEl>
                                        <p:attrNameLst>
                                          <p:attrName>ppt_x</p:attrName>
                                        </p:attrNameLst>
                                      </p:cBhvr>
                                      <p:tavLst>
                                        <p:tav tm="0">
                                          <p:val>
                                            <p:strVal val="0-#ppt_w/2"/>
                                          </p:val>
                                        </p:tav>
                                        <p:tav tm="100000">
                                          <p:val>
                                            <p:strVal val="#ppt_x"/>
                                          </p:val>
                                        </p:tav>
                                      </p:tavLst>
                                    </p:anim>
                                    <p:anim calcmode="lin" valueType="num">
                                      <p:cBhvr additive="base">
                                        <p:cTn id="19" dur="500" fill="hold"/>
                                        <p:tgtEl>
                                          <p:spTgt spid="9666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966710">
                                            <p:txEl>
                                              <p:pRg st="0" end="0"/>
                                            </p:txEl>
                                          </p:spTgt>
                                        </p:tgtEl>
                                        <p:attrNameLst>
                                          <p:attrName>style.visibility</p:attrName>
                                        </p:attrNameLst>
                                      </p:cBhvr>
                                      <p:to>
                                        <p:strVal val="visible"/>
                                      </p:to>
                                    </p:set>
                                    <p:animEffect transition="in" filter="box(out)">
                                      <p:cBhvr>
                                        <p:cTn id="24" dur="500"/>
                                        <p:tgtEl>
                                          <p:spTgt spid="966710">
                                            <p:txEl>
                                              <p:pRg st="0" end="0"/>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966710">
                                            <p:txEl>
                                              <p:pRg st="1" end="1"/>
                                            </p:txEl>
                                          </p:spTgt>
                                        </p:tgtEl>
                                        <p:attrNameLst>
                                          <p:attrName>style.visibility</p:attrName>
                                        </p:attrNameLst>
                                      </p:cBhvr>
                                      <p:to>
                                        <p:strVal val="visible"/>
                                      </p:to>
                                    </p:set>
                                    <p:animEffect transition="in" filter="box(out)">
                                      <p:cBhvr>
                                        <p:cTn id="29" dur="500"/>
                                        <p:tgtEl>
                                          <p:spTgt spid="966710">
                                            <p:txEl>
                                              <p:pRg st="1" end="1"/>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966711"/>
                                        </p:tgtEl>
                                        <p:attrNameLst>
                                          <p:attrName>style.visibility</p:attrName>
                                        </p:attrNameLst>
                                      </p:cBhvr>
                                      <p:to>
                                        <p:strVal val="visible"/>
                                      </p:to>
                                    </p:set>
                                    <p:animEffect transition="in" filter="box(out)">
                                      <p:cBhvr>
                                        <p:cTn id="34" dur="500"/>
                                        <p:tgtEl>
                                          <p:spTgt spid="966711"/>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966712"/>
                                        </p:tgtEl>
                                        <p:attrNameLst>
                                          <p:attrName>style.visibility</p:attrName>
                                        </p:attrNameLst>
                                      </p:cBhvr>
                                      <p:to>
                                        <p:strVal val="visible"/>
                                      </p:to>
                                    </p:set>
                                    <p:animEffect transition="in" filter="box(out)">
                                      <p:cBhvr>
                                        <p:cTn id="39" dur="500"/>
                                        <p:tgtEl>
                                          <p:spTgt spid="966712"/>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966713"/>
                                        </p:tgtEl>
                                        <p:attrNameLst>
                                          <p:attrName>style.visibility</p:attrName>
                                        </p:attrNameLst>
                                      </p:cBhvr>
                                      <p:to>
                                        <p:strVal val="visible"/>
                                      </p:to>
                                    </p:set>
                                    <p:animEffect transition="in" filter="box(out)">
                                      <p:cBhvr>
                                        <p:cTn id="44" dur="500"/>
                                        <p:tgtEl>
                                          <p:spTgt spid="966713"/>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6662" grpId="0"/>
      <p:bldP spid="966663" grpId="0" animBg="1" autoUpdateAnimBg="0"/>
      <p:bldP spid="966664" grpId="0"/>
      <p:bldP spid="966711" grpId="0" animBg="1"/>
      <p:bldP spid="966712" grpId="0"/>
      <p:bldP spid="966713"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8712" name="Rectangle 8"/>
          <p:cNvSpPr>
            <a:spLocks noChangeArrowheads="1"/>
          </p:cNvSpPr>
          <p:nvPr/>
        </p:nvSpPr>
        <p:spPr bwMode="auto">
          <a:xfrm>
            <a:off x="1161299" y="1314332"/>
            <a:ext cx="2222083" cy="369332"/>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en-US" altLang="zh-CN" b="1" dirty="0">
                <a:solidFill>
                  <a:schemeClr val="accent1"/>
                </a:solidFill>
                <a:latin typeface="+mn-lt"/>
                <a:ea typeface="楷体" pitchFamily="49" charset="-122"/>
              </a:rPr>
              <a:t> </a:t>
            </a:r>
            <a:r>
              <a:rPr lang="zh-CN" altLang="en-US" b="1" dirty="0">
                <a:solidFill>
                  <a:schemeClr val="accent1"/>
                </a:solidFill>
                <a:latin typeface="+mn-lt"/>
                <a:ea typeface="楷体" pitchFamily="49" charset="-122"/>
              </a:rPr>
              <a:t>初始化赋值说明</a:t>
            </a:r>
          </a:p>
        </p:txBody>
      </p:sp>
      <p:sp>
        <p:nvSpPr>
          <p:cNvPr id="968713" name="Rectangle 9"/>
          <p:cNvSpPr>
            <a:spLocks noChangeArrowheads="1"/>
          </p:cNvSpPr>
          <p:nvPr/>
        </p:nvSpPr>
        <p:spPr bwMode="auto">
          <a:xfrm>
            <a:off x="1487488" y="1700808"/>
            <a:ext cx="10369152" cy="461665"/>
          </a:xfrm>
          <a:prstGeom prst="rect">
            <a:avLst/>
          </a:prstGeom>
          <a:noFill/>
          <a:ln w="9525">
            <a:noFill/>
            <a:miter lim="800000"/>
            <a:headEnd/>
            <a:tailEnd/>
          </a:ln>
          <a:effectLst/>
        </p:spPr>
        <p:txBody>
          <a:bodyPr wrap="square" anchor="ctr">
            <a:spAutoFit/>
          </a:bodyPr>
          <a:lstStyle/>
          <a:p>
            <a:pPr>
              <a:tabLst>
                <a:tab pos="266700" algn="l"/>
              </a:tabLst>
            </a:pPr>
            <a:r>
              <a:rPr lang="en-US" altLang="zh-CN" b="1" dirty="0">
                <a:effectLst>
                  <a:outerShdw blurRad="38100" dist="38100" dir="2700000" algn="tl">
                    <a:srgbClr val="FFFFFF"/>
                  </a:outerShdw>
                </a:effectLst>
                <a:latin typeface="+mn-lt"/>
                <a:ea typeface="楷体" pitchFamily="49" charset="-122"/>
              </a:rPr>
              <a:t>(4) </a:t>
            </a:r>
            <a:r>
              <a:rPr lang="zh-CN" altLang="en-US" b="1" dirty="0">
                <a:effectLst>
                  <a:outerShdw blurRad="38100" dist="38100" dir="2700000" algn="tl">
                    <a:srgbClr val="FFFFFF"/>
                  </a:outerShdw>
                </a:effectLst>
                <a:latin typeface="+mn-lt"/>
                <a:ea typeface="楷体" pitchFamily="49" charset="-122"/>
              </a:rPr>
              <a:t>如果表达式的个数小于数组的大小，则未指定值的数组元素被赋值为</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a:t>
            </a:r>
          </a:p>
        </p:txBody>
      </p:sp>
      <p:sp>
        <p:nvSpPr>
          <p:cNvPr id="968716" name="Text Box 12" descr="信纸"/>
          <p:cNvSpPr txBox="1">
            <a:spLocks noChangeArrowheads="1"/>
          </p:cNvSpPr>
          <p:nvPr/>
        </p:nvSpPr>
        <p:spPr bwMode="auto">
          <a:xfrm>
            <a:off x="3133666" y="2253247"/>
            <a:ext cx="6769100" cy="46384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ea typeface="隶书" pitchFamily="49" charset="-122"/>
              </a:rPr>
              <a:t>例</a:t>
            </a:r>
            <a:r>
              <a:rPr lang="zh-CN" altLang="en-US" b="1" dirty="0">
                <a:ea typeface="隶书" pitchFamily="49" charset="-122"/>
              </a:rPr>
              <a:t>  </a:t>
            </a:r>
            <a:r>
              <a:rPr lang="en-US" altLang="zh-CN" b="1" dirty="0"/>
              <a:t>int  a[10] = {0, 1, 2, 3, 4};</a:t>
            </a:r>
            <a:r>
              <a:rPr lang="en-US" altLang="zh-CN" b="1" dirty="0">
                <a:ea typeface="楷体_GB2312" pitchFamily="49" charset="-122"/>
              </a:rPr>
              <a:t>      </a:t>
            </a:r>
            <a:endParaRPr lang="en-US" altLang="zh-CN" dirty="0">
              <a:ea typeface="楷体_GB2312" pitchFamily="49" charset="-122"/>
            </a:endParaRPr>
          </a:p>
        </p:txBody>
      </p:sp>
      <p:graphicFrame>
        <p:nvGraphicFramePr>
          <p:cNvPr id="969099" name="Group 395"/>
          <p:cNvGraphicFramePr>
            <a:graphicFrameLocks noGrp="1"/>
          </p:cNvGraphicFramePr>
          <p:nvPr/>
        </p:nvGraphicFramePr>
        <p:xfrm>
          <a:off x="3300353" y="3332331"/>
          <a:ext cx="6440488" cy="1772603"/>
        </p:xfrm>
        <a:graphic>
          <a:graphicData uri="http://schemas.openxmlformats.org/drawingml/2006/table">
            <a:tbl>
              <a:tblPr/>
              <a:tblGrid>
                <a:gridCol w="642938">
                  <a:extLst>
                    <a:ext uri="{9D8B030D-6E8A-4147-A177-3AD203B41FA5}">
                      <a16:colId xmlns:a16="http://schemas.microsoft.com/office/drawing/2014/main" val="20000"/>
                    </a:ext>
                  </a:extLst>
                </a:gridCol>
                <a:gridCol w="644525">
                  <a:extLst>
                    <a:ext uri="{9D8B030D-6E8A-4147-A177-3AD203B41FA5}">
                      <a16:colId xmlns:a16="http://schemas.microsoft.com/office/drawing/2014/main" val="20001"/>
                    </a:ext>
                  </a:extLst>
                </a:gridCol>
                <a:gridCol w="641350">
                  <a:extLst>
                    <a:ext uri="{9D8B030D-6E8A-4147-A177-3AD203B41FA5}">
                      <a16:colId xmlns:a16="http://schemas.microsoft.com/office/drawing/2014/main" val="20002"/>
                    </a:ext>
                  </a:extLst>
                </a:gridCol>
                <a:gridCol w="646112">
                  <a:extLst>
                    <a:ext uri="{9D8B030D-6E8A-4147-A177-3AD203B41FA5}">
                      <a16:colId xmlns:a16="http://schemas.microsoft.com/office/drawing/2014/main" val="20003"/>
                    </a:ext>
                  </a:extLst>
                </a:gridCol>
                <a:gridCol w="642938">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1350">
                  <a:extLst>
                    <a:ext uri="{9D8B030D-6E8A-4147-A177-3AD203B41FA5}">
                      <a16:colId xmlns:a16="http://schemas.microsoft.com/office/drawing/2014/main" val="20006"/>
                    </a:ext>
                  </a:extLst>
                </a:gridCol>
                <a:gridCol w="658812">
                  <a:extLst>
                    <a:ext uri="{9D8B030D-6E8A-4147-A177-3AD203B41FA5}">
                      <a16:colId xmlns:a16="http://schemas.microsoft.com/office/drawing/2014/main" val="20007"/>
                    </a:ext>
                  </a:extLst>
                </a:gridCol>
                <a:gridCol w="631825">
                  <a:extLst>
                    <a:ext uri="{9D8B030D-6E8A-4147-A177-3AD203B41FA5}">
                      <a16:colId xmlns:a16="http://schemas.microsoft.com/office/drawing/2014/main" val="20008"/>
                    </a:ext>
                  </a:extLst>
                </a:gridCol>
                <a:gridCol w="646113">
                  <a:extLst>
                    <a:ext uri="{9D8B030D-6E8A-4147-A177-3AD203B41FA5}">
                      <a16:colId xmlns:a16="http://schemas.microsoft.com/office/drawing/2014/main" val="20009"/>
                    </a:ext>
                  </a:extLst>
                </a:gridCol>
              </a:tblGrid>
              <a:tr h="288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dirty="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CC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0033CC"/>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1444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4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endParaRPr>
                    </a:p>
                  </a:txBody>
                  <a:tcP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1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CCFFFF"/>
                        </a:gs>
                        <a:gs pos="100000">
                          <a:srgbClr val="CCFFFF">
                            <a:gamma/>
                            <a:shade val="69804"/>
                            <a:invGamma/>
                          </a:srgbClr>
                        </a:gs>
                      </a:gsLst>
                      <a:lin ang="5400000" scaled="1"/>
                    </a:gradFill>
                  </a:tcPr>
                </a:tc>
                <a:extLst>
                  <a:ext uri="{0D108BD9-81ED-4DB2-BD59-A6C34878D82A}">
                    <a16:rowId xmlns:a16="http://schemas.microsoft.com/office/drawing/2014/main" val="10002"/>
                  </a:ext>
                </a:extLst>
              </a:tr>
              <a:tr h="1444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a[0]</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a[1]</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accent1">
                              <a:lumMod val="50000"/>
                            </a:schemeClr>
                          </a:solidFill>
                          <a:effectLst/>
                          <a:latin typeface="Times New Roman" pitchFamily="18" charset="0"/>
                          <a:ea typeface="宋体" pitchFamily="2" charset="-122"/>
                          <a:cs typeface="Times New Roman" pitchFamily="18" charset="0"/>
                        </a:rPr>
                        <a:t>a[2]</a:t>
                      </a:r>
                      <a:endParaRPr kumimoji="1" lang="en-US" altLang="zh-CN" sz="2000" b="1" i="0" u="none" strike="noStrike" cap="none" normalizeH="0" baseline="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accent1">
                              <a:lumMod val="50000"/>
                            </a:schemeClr>
                          </a:solidFill>
                          <a:effectLst/>
                          <a:latin typeface="Times New Roman" pitchFamily="18" charset="0"/>
                          <a:ea typeface="宋体" pitchFamily="2" charset="-122"/>
                          <a:cs typeface="Times New Roman" pitchFamily="18" charset="0"/>
                        </a:rPr>
                        <a:t>a[3]</a:t>
                      </a:r>
                      <a:endParaRPr kumimoji="1" lang="en-US" altLang="zh-CN" sz="2000" b="1" i="0" u="none" strike="noStrike" cap="none" normalizeH="0" baseline="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a[4]</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a[5]</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a[6]</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a[7]</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a[8]</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cs typeface="Times New Roman" pitchFamily="18" charset="0"/>
                        </a:rPr>
                        <a:t>a[9]</a:t>
                      </a:r>
                      <a:endParaRPr kumimoji="1" lang="en-US" altLang="zh-CN" sz="2000" b="1"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68966" name="Text Box 262"/>
          <p:cNvSpPr txBox="1">
            <a:spLocks noChangeArrowheads="1"/>
          </p:cNvSpPr>
          <p:nvPr/>
        </p:nvSpPr>
        <p:spPr bwMode="auto">
          <a:xfrm>
            <a:off x="2965391" y="4184818"/>
            <a:ext cx="431800" cy="457200"/>
          </a:xfrm>
          <a:prstGeom prst="rect">
            <a:avLst/>
          </a:prstGeom>
          <a:noFill/>
          <a:ln w="9525">
            <a:noFill/>
            <a:miter lim="800000"/>
            <a:headEnd/>
            <a:tailEnd/>
          </a:ln>
          <a:effectLst/>
        </p:spPr>
        <p:txBody>
          <a:bodyPr>
            <a:spAutoFit/>
          </a:bodyPr>
          <a:lstStyle/>
          <a:p>
            <a:pPr>
              <a:spcBef>
                <a:spcPct val="50000"/>
              </a:spcBef>
            </a:pPr>
            <a:r>
              <a:rPr lang="en-US" altLang="zh-CN" b="1" dirty="0">
                <a:solidFill>
                  <a:schemeClr val="accent1">
                    <a:lumMod val="50000"/>
                  </a:schemeClr>
                </a:solidFill>
              </a:rPr>
              <a:t>a</a:t>
            </a:r>
          </a:p>
        </p:txBody>
      </p:sp>
      <p:sp>
        <p:nvSpPr>
          <p:cNvPr id="968967" name="Text Box 263"/>
          <p:cNvSpPr txBox="1">
            <a:spLocks noChangeArrowheads="1"/>
          </p:cNvSpPr>
          <p:nvPr/>
        </p:nvSpPr>
        <p:spPr bwMode="auto">
          <a:xfrm>
            <a:off x="34225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0</a:t>
            </a:r>
          </a:p>
        </p:txBody>
      </p:sp>
      <p:sp>
        <p:nvSpPr>
          <p:cNvPr id="968968" name="AutoShape 264"/>
          <p:cNvSpPr>
            <a:spLocks noChangeArrowheads="1"/>
          </p:cNvSpPr>
          <p:nvPr/>
        </p:nvSpPr>
        <p:spPr bwMode="auto">
          <a:xfrm>
            <a:off x="5941954" y="2999522"/>
            <a:ext cx="431800" cy="457200"/>
          </a:xfrm>
          <a:prstGeom prst="downArrow">
            <a:avLst>
              <a:gd name="adj1" fmla="val 50000"/>
              <a:gd name="adj2" fmla="val 50000"/>
            </a:avLst>
          </a:pr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vert="eaVert" wrap="none" anchor="ctr">
            <a:flatTx/>
          </a:bodyPr>
          <a:lstStyle/>
          <a:p>
            <a:endParaRPr lang="zh-CN" altLang="en-US"/>
          </a:p>
        </p:txBody>
      </p:sp>
      <p:sp>
        <p:nvSpPr>
          <p:cNvPr id="968969" name="Line 265"/>
          <p:cNvSpPr>
            <a:spLocks noChangeShapeType="1"/>
          </p:cNvSpPr>
          <p:nvPr/>
        </p:nvSpPr>
        <p:spPr bwMode="auto">
          <a:xfrm>
            <a:off x="3587691" y="38419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70" name="Text Box 266"/>
          <p:cNvSpPr txBox="1">
            <a:spLocks noChangeArrowheads="1"/>
          </p:cNvSpPr>
          <p:nvPr/>
        </p:nvSpPr>
        <p:spPr bwMode="auto">
          <a:xfrm>
            <a:off x="34225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C01920"/>
                </a:solidFill>
                <a:effectLst>
                  <a:outerShdw blurRad="38100" dist="38100" dir="2700000" algn="tl">
                    <a:srgbClr val="000000"/>
                  </a:outerShdw>
                </a:effectLst>
              </a:rPr>
              <a:t>0</a:t>
            </a:r>
          </a:p>
        </p:txBody>
      </p:sp>
      <p:sp>
        <p:nvSpPr>
          <p:cNvPr id="968971" name="Text Box 267"/>
          <p:cNvSpPr txBox="1">
            <a:spLocks noChangeArrowheads="1"/>
          </p:cNvSpPr>
          <p:nvPr/>
        </p:nvSpPr>
        <p:spPr bwMode="auto">
          <a:xfrm>
            <a:off x="4095691" y="33116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1</a:t>
            </a:r>
          </a:p>
        </p:txBody>
      </p:sp>
      <p:sp>
        <p:nvSpPr>
          <p:cNvPr id="968972" name="Line 268"/>
          <p:cNvSpPr>
            <a:spLocks noChangeShapeType="1"/>
          </p:cNvSpPr>
          <p:nvPr/>
        </p:nvSpPr>
        <p:spPr bwMode="auto">
          <a:xfrm>
            <a:off x="4260791" y="38292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73" name="Text Box 269"/>
          <p:cNvSpPr txBox="1">
            <a:spLocks noChangeArrowheads="1"/>
          </p:cNvSpPr>
          <p:nvPr/>
        </p:nvSpPr>
        <p:spPr bwMode="auto">
          <a:xfrm>
            <a:off x="4095691" y="42022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1</a:t>
            </a:r>
          </a:p>
        </p:txBody>
      </p:sp>
      <p:sp>
        <p:nvSpPr>
          <p:cNvPr id="968974" name="Text Box 270"/>
          <p:cNvSpPr txBox="1">
            <a:spLocks noChangeArrowheads="1"/>
          </p:cNvSpPr>
          <p:nvPr/>
        </p:nvSpPr>
        <p:spPr bwMode="auto">
          <a:xfrm>
            <a:off x="47306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2</a:t>
            </a:r>
          </a:p>
        </p:txBody>
      </p:sp>
      <p:sp>
        <p:nvSpPr>
          <p:cNvPr id="968975" name="Line 271"/>
          <p:cNvSpPr>
            <a:spLocks noChangeShapeType="1"/>
          </p:cNvSpPr>
          <p:nvPr/>
        </p:nvSpPr>
        <p:spPr bwMode="auto">
          <a:xfrm>
            <a:off x="4895791" y="38419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76" name="Text Box 272"/>
          <p:cNvSpPr txBox="1">
            <a:spLocks noChangeArrowheads="1"/>
          </p:cNvSpPr>
          <p:nvPr/>
        </p:nvSpPr>
        <p:spPr bwMode="auto">
          <a:xfrm>
            <a:off x="47306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2</a:t>
            </a:r>
          </a:p>
        </p:txBody>
      </p:sp>
      <p:sp>
        <p:nvSpPr>
          <p:cNvPr id="968977" name="Text Box 273"/>
          <p:cNvSpPr txBox="1">
            <a:spLocks noChangeArrowheads="1"/>
          </p:cNvSpPr>
          <p:nvPr/>
        </p:nvSpPr>
        <p:spPr bwMode="auto">
          <a:xfrm>
            <a:off x="53656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3</a:t>
            </a:r>
          </a:p>
        </p:txBody>
      </p:sp>
      <p:sp>
        <p:nvSpPr>
          <p:cNvPr id="968978" name="Line 274"/>
          <p:cNvSpPr>
            <a:spLocks noChangeShapeType="1"/>
          </p:cNvSpPr>
          <p:nvPr/>
        </p:nvSpPr>
        <p:spPr bwMode="auto">
          <a:xfrm>
            <a:off x="5530791" y="38419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79" name="Text Box 275"/>
          <p:cNvSpPr txBox="1">
            <a:spLocks noChangeArrowheads="1"/>
          </p:cNvSpPr>
          <p:nvPr/>
        </p:nvSpPr>
        <p:spPr bwMode="auto">
          <a:xfrm>
            <a:off x="53656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3</a:t>
            </a:r>
          </a:p>
        </p:txBody>
      </p:sp>
      <p:sp>
        <p:nvSpPr>
          <p:cNvPr id="968980" name="Text Box 276"/>
          <p:cNvSpPr txBox="1">
            <a:spLocks noChangeArrowheads="1"/>
          </p:cNvSpPr>
          <p:nvPr/>
        </p:nvSpPr>
        <p:spPr bwMode="auto">
          <a:xfrm>
            <a:off x="6038791" y="33116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4</a:t>
            </a:r>
          </a:p>
        </p:txBody>
      </p:sp>
      <p:sp>
        <p:nvSpPr>
          <p:cNvPr id="968981" name="Line 277"/>
          <p:cNvSpPr>
            <a:spLocks noChangeShapeType="1"/>
          </p:cNvSpPr>
          <p:nvPr/>
        </p:nvSpPr>
        <p:spPr bwMode="auto">
          <a:xfrm>
            <a:off x="6203891" y="3829218"/>
            <a:ext cx="0" cy="360362"/>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sp>
        <p:nvSpPr>
          <p:cNvPr id="968982" name="Text Box 278"/>
          <p:cNvSpPr txBox="1">
            <a:spLocks noChangeArrowheads="1"/>
          </p:cNvSpPr>
          <p:nvPr/>
        </p:nvSpPr>
        <p:spPr bwMode="auto">
          <a:xfrm>
            <a:off x="6038791" y="42022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effectLst>
                  <a:outerShdw blurRad="38100" dist="38100" dir="2700000" algn="tl">
                    <a:srgbClr val="000000"/>
                  </a:outerShdw>
                </a:effectLst>
              </a:rPr>
              <a:t>4</a:t>
            </a:r>
          </a:p>
        </p:txBody>
      </p:sp>
      <p:sp>
        <p:nvSpPr>
          <p:cNvPr id="968983" name="Text Box 279"/>
          <p:cNvSpPr txBox="1">
            <a:spLocks noChangeArrowheads="1"/>
          </p:cNvSpPr>
          <p:nvPr/>
        </p:nvSpPr>
        <p:spPr bwMode="auto">
          <a:xfrm>
            <a:off x="6686491" y="33370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84" name="Line 280"/>
          <p:cNvSpPr>
            <a:spLocks noChangeShapeType="1"/>
          </p:cNvSpPr>
          <p:nvPr/>
        </p:nvSpPr>
        <p:spPr bwMode="auto">
          <a:xfrm>
            <a:off x="6851591" y="38546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85" name="Text Box 281"/>
          <p:cNvSpPr txBox="1">
            <a:spLocks noChangeArrowheads="1"/>
          </p:cNvSpPr>
          <p:nvPr/>
        </p:nvSpPr>
        <p:spPr bwMode="auto">
          <a:xfrm>
            <a:off x="6686491" y="42276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86" name="Text Box 282"/>
          <p:cNvSpPr txBox="1">
            <a:spLocks noChangeArrowheads="1"/>
          </p:cNvSpPr>
          <p:nvPr/>
        </p:nvSpPr>
        <p:spPr bwMode="auto">
          <a:xfrm>
            <a:off x="7308791" y="33370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87" name="Line 283"/>
          <p:cNvSpPr>
            <a:spLocks noChangeShapeType="1"/>
          </p:cNvSpPr>
          <p:nvPr/>
        </p:nvSpPr>
        <p:spPr bwMode="auto">
          <a:xfrm>
            <a:off x="7473891" y="38546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88" name="Text Box 284"/>
          <p:cNvSpPr txBox="1">
            <a:spLocks noChangeArrowheads="1"/>
          </p:cNvSpPr>
          <p:nvPr/>
        </p:nvSpPr>
        <p:spPr bwMode="auto">
          <a:xfrm>
            <a:off x="7308791" y="42276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89" name="Text Box 285"/>
          <p:cNvSpPr txBox="1">
            <a:spLocks noChangeArrowheads="1"/>
          </p:cNvSpPr>
          <p:nvPr/>
        </p:nvSpPr>
        <p:spPr bwMode="auto">
          <a:xfrm>
            <a:off x="79564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0" name="Line 286"/>
          <p:cNvSpPr>
            <a:spLocks noChangeShapeType="1"/>
          </p:cNvSpPr>
          <p:nvPr/>
        </p:nvSpPr>
        <p:spPr bwMode="auto">
          <a:xfrm>
            <a:off x="8121591" y="38419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91" name="Text Box 287"/>
          <p:cNvSpPr txBox="1">
            <a:spLocks noChangeArrowheads="1"/>
          </p:cNvSpPr>
          <p:nvPr/>
        </p:nvSpPr>
        <p:spPr bwMode="auto">
          <a:xfrm>
            <a:off x="79564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2" name="Text Box 288"/>
          <p:cNvSpPr txBox="1">
            <a:spLocks noChangeArrowheads="1"/>
          </p:cNvSpPr>
          <p:nvPr/>
        </p:nvSpPr>
        <p:spPr bwMode="auto">
          <a:xfrm>
            <a:off x="86041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3" name="Line 289"/>
          <p:cNvSpPr>
            <a:spLocks noChangeShapeType="1"/>
          </p:cNvSpPr>
          <p:nvPr/>
        </p:nvSpPr>
        <p:spPr bwMode="auto">
          <a:xfrm>
            <a:off x="8769291" y="38419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94" name="Text Box 290"/>
          <p:cNvSpPr txBox="1">
            <a:spLocks noChangeArrowheads="1"/>
          </p:cNvSpPr>
          <p:nvPr/>
        </p:nvSpPr>
        <p:spPr bwMode="auto">
          <a:xfrm>
            <a:off x="86041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5" name="Text Box 291"/>
          <p:cNvSpPr txBox="1">
            <a:spLocks noChangeArrowheads="1"/>
          </p:cNvSpPr>
          <p:nvPr/>
        </p:nvSpPr>
        <p:spPr bwMode="auto">
          <a:xfrm>
            <a:off x="9251891" y="3324393"/>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8996" name="Line 292"/>
          <p:cNvSpPr>
            <a:spLocks noChangeShapeType="1"/>
          </p:cNvSpPr>
          <p:nvPr/>
        </p:nvSpPr>
        <p:spPr bwMode="auto">
          <a:xfrm>
            <a:off x="9416991" y="3841918"/>
            <a:ext cx="0" cy="36036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sp>
        <p:nvSpPr>
          <p:cNvPr id="968997" name="Text Box 293"/>
          <p:cNvSpPr txBox="1">
            <a:spLocks noChangeArrowheads="1"/>
          </p:cNvSpPr>
          <p:nvPr/>
        </p:nvSpPr>
        <p:spPr bwMode="auto">
          <a:xfrm>
            <a:off x="9251891" y="4214980"/>
            <a:ext cx="4318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effectLst>
                  <a:outerShdw blurRad="38100" dist="38100" dir="2700000" algn="tl">
                    <a:srgbClr val="000000"/>
                  </a:outerShdw>
                </a:effectLst>
              </a:rPr>
              <a:t>0</a:t>
            </a:r>
          </a:p>
        </p:txBody>
      </p:sp>
      <p:sp>
        <p:nvSpPr>
          <p:cNvPr id="969100" name="Rectangle 396"/>
          <p:cNvSpPr>
            <a:spLocks noChangeArrowheads="1"/>
          </p:cNvSpPr>
          <p:nvPr/>
        </p:nvSpPr>
        <p:spPr bwMode="auto">
          <a:xfrm>
            <a:off x="1343478" y="5085184"/>
            <a:ext cx="10369146" cy="878895"/>
          </a:xfrm>
          <a:prstGeom prst="rect">
            <a:avLst/>
          </a:prstGeom>
          <a:noFill/>
          <a:ln w="9525">
            <a:noFill/>
            <a:miter lim="800000"/>
            <a:headEnd/>
            <a:tailEnd/>
          </a:ln>
          <a:effectLst/>
        </p:spPr>
        <p:txBody>
          <a:bodyPr wrap="square" anchor="ctr">
            <a:spAutoFit/>
          </a:bodyPr>
          <a:lstStyle/>
          <a:p>
            <a:pPr marL="540000" indent="-432000">
              <a:lnSpc>
                <a:spcPts val="3200"/>
              </a:lnSpc>
              <a:tabLst>
                <a:tab pos="266700" algn="l"/>
              </a:tabLst>
            </a:pPr>
            <a:r>
              <a:rPr lang="en-US" altLang="zh-CN" b="1" dirty="0">
                <a:effectLst>
                  <a:outerShdw blurRad="38100" dist="38100" dir="2700000" algn="tl">
                    <a:srgbClr val="FFFFFF"/>
                  </a:outerShdw>
                </a:effectLst>
                <a:latin typeface="+mn-lt"/>
                <a:ea typeface="楷体" pitchFamily="49" charset="-122"/>
              </a:rPr>
              <a:t>(5) </a:t>
            </a:r>
            <a:r>
              <a:rPr lang="zh-CN" altLang="en-US" b="1" dirty="0">
                <a:effectLst>
                  <a:outerShdw blurRad="38100" dist="38100" dir="2700000" algn="tl">
                    <a:srgbClr val="FFFFFF"/>
                  </a:outerShdw>
                </a:effectLst>
                <a:latin typeface="+mn-lt"/>
                <a:ea typeface="楷体" pitchFamily="49" charset="-122"/>
              </a:rPr>
              <a:t>当对全部数组元素赋初值时，可以省略数组变量的大小，此时数组变量的实际大小就是初值列表中表达式的个数。</a:t>
            </a:r>
          </a:p>
        </p:txBody>
      </p:sp>
      <p:sp>
        <p:nvSpPr>
          <p:cNvPr id="969101" name="Text Box 397" descr="信纸"/>
          <p:cNvSpPr txBox="1">
            <a:spLocks noChangeArrowheads="1"/>
          </p:cNvSpPr>
          <p:nvPr/>
        </p:nvSpPr>
        <p:spPr bwMode="auto">
          <a:xfrm>
            <a:off x="3133667" y="5949280"/>
            <a:ext cx="6769100" cy="833178"/>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例 </a:t>
            </a:r>
            <a:r>
              <a:rPr lang="zh-CN" altLang="en-US" b="1" dirty="0">
                <a:latin typeface="+mn-lt"/>
                <a:ea typeface="楷体" pitchFamily="49" charset="-122"/>
              </a:rPr>
              <a:t> </a:t>
            </a:r>
            <a:r>
              <a:rPr lang="en-US" altLang="zh-CN" b="1" dirty="0">
                <a:latin typeface="+mn-lt"/>
                <a:ea typeface="楷体" pitchFamily="49" charset="-122"/>
              </a:rPr>
              <a:t>char str[ ] = {'a', 'b', 'c', 'd', 'e' }; </a:t>
            </a:r>
          </a:p>
          <a:p>
            <a:r>
              <a:rPr lang="en-US" altLang="zh-CN" b="1" dirty="0">
                <a:latin typeface="+mn-lt"/>
                <a:ea typeface="楷体" pitchFamily="49" charset="-122"/>
              </a:rPr>
              <a:t>      </a:t>
            </a:r>
            <a:r>
              <a:rPr lang="zh-CN" altLang="en-US" b="1" dirty="0">
                <a:latin typeface="+mn-lt"/>
                <a:ea typeface="楷体" pitchFamily="49" charset="-122"/>
              </a:rPr>
              <a:t>则数组</a:t>
            </a:r>
            <a:r>
              <a:rPr lang="en-US" altLang="zh-CN" b="1" dirty="0">
                <a:latin typeface="+mn-lt"/>
                <a:ea typeface="楷体" pitchFamily="49" charset="-122"/>
              </a:rPr>
              <a:t>str</a:t>
            </a:r>
            <a:r>
              <a:rPr lang="zh-CN" altLang="en-US" b="1" dirty="0">
                <a:latin typeface="+mn-lt"/>
                <a:ea typeface="楷体" pitchFamily="49" charset="-122"/>
              </a:rPr>
              <a:t>的实际大小为</a:t>
            </a:r>
            <a:r>
              <a:rPr lang="en-US" altLang="zh-CN" b="1" dirty="0">
                <a:solidFill>
                  <a:srgbClr val="C01920"/>
                </a:solidFill>
                <a:latin typeface="+mn-lt"/>
                <a:ea typeface="楷体" pitchFamily="49" charset="-122"/>
              </a:rPr>
              <a:t>5</a:t>
            </a:r>
            <a:r>
              <a:rPr lang="zh-CN" altLang="en-US" b="1" dirty="0">
                <a:latin typeface="+mn-lt"/>
                <a:ea typeface="楷体" pitchFamily="49" charset="-122"/>
              </a:rPr>
              <a:t>。</a:t>
            </a:r>
            <a:r>
              <a:rPr lang="zh-CN" altLang="en-US" dirty="0">
                <a:latin typeface="+mn-lt"/>
                <a:ea typeface="楷体" pitchFamily="49" charset="-122"/>
              </a:rPr>
              <a:t> </a:t>
            </a:r>
          </a:p>
        </p:txBody>
      </p:sp>
      <p:sp>
        <p:nvSpPr>
          <p:cNvPr id="969102" name="Text Box 398"/>
          <p:cNvSpPr txBox="1">
            <a:spLocks noChangeArrowheads="1"/>
          </p:cNvSpPr>
          <p:nvPr/>
        </p:nvSpPr>
        <p:spPr bwMode="auto">
          <a:xfrm>
            <a:off x="2022099" y="2314489"/>
            <a:ext cx="8703310" cy="147002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r>
              <a:rPr lang="zh-CN" altLang="en-US" sz="2800" b="1" dirty="0">
                <a:solidFill>
                  <a:srgbClr val="FF3300"/>
                </a:solidFill>
                <a:ea typeface="隶书" pitchFamily="49" charset="-122"/>
              </a:rPr>
              <a:t>      </a:t>
            </a:r>
            <a:r>
              <a:rPr lang="zh-CN" altLang="en-US" sz="2800" b="1" dirty="0">
                <a:solidFill>
                  <a:srgbClr val="C01920"/>
                </a:solidFill>
                <a:ea typeface="隶书" pitchFamily="49" charset="-122"/>
              </a:rPr>
              <a:t>注意：</a:t>
            </a:r>
            <a:r>
              <a:rPr lang="zh-CN" altLang="en-US" sz="2800" dirty="0">
                <a:ea typeface="隶书" pitchFamily="49" charset="-122"/>
              </a:rPr>
              <a:t>在定义数组时，如果没有为数组变量赋初值，那么就不能省略数组的大小。而且数组不初始化，其数组元素的值为随机值。</a:t>
            </a:r>
          </a:p>
        </p:txBody>
      </p:sp>
      <p:sp>
        <p:nvSpPr>
          <p:cNvPr id="44" name="Rectangle 5">
            <a:extLst>
              <a:ext uri="{FF2B5EF4-FFF2-40B4-BE49-F238E27FC236}">
                <a16:creationId xmlns:a16="http://schemas.microsoft.com/office/drawing/2014/main" id="{1E5C898A-95EB-4CB5-BE7C-6FF2C3676120}"/>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3</a:t>
            </a:r>
            <a:r>
              <a:rPr lang="zh-CN" altLang="en-US" sz="2800" b="1" dirty="0">
                <a:solidFill>
                  <a:schemeClr val="accent1"/>
                </a:solidFill>
                <a:latin typeface="+mn-lt"/>
                <a:ea typeface="楷体" pitchFamily="49" charset="-122"/>
              </a:rPr>
              <a:t>、一维数组的赋值</a:t>
            </a:r>
          </a:p>
        </p:txBody>
      </p:sp>
      <p:sp>
        <p:nvSpPr>
          <p:cNvPr id="45" name="Rectangle 4">
            <a:extLst>
              <a:ext uri="{FF2B5EF4-FFF2-40B4-BE49-F238E27FC236}">
                <a16:creationId xmlns:a16="http://schemas.microsoft.com/office/drawing/2014/main" id="{957504AD-75A6-4D81-91FC-4B9F0D81E44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2031280959"/>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8712"/>
                                        </p:tgtEl>
                                        <p:attrNameLst>
                                          <p:attrName>style.visibility</p:attrName>
                                        </p:attrNameLst>
                                      </p:cBhvr>
                                      <p:to>
                                        <p:strVal val="visible"/>
                                      </p:to>
                                    </p:set>
                                    <p:anim calcmode="lin" valueType="num">
                                      <p:cBhvr additive="base">
                                        <p:cTn id="7" dur="500" fill="hold"/>
                                        <p:tgtEl>
                                          <p:spTgt spid="968712"/>
                                        </p:tgtEl>
                                        <p:attrNameLst>
                                          <p:attrName>ppt_x</p:attrName>
                                        </p:attrNameLst>
                                      </p:cBhvr>
                                      <p:tavLst>
                                        <p:tav tm="0">
                                          <p:val>
                                            <p:strVal val="0-#ppt_w/2"/>
                                          </p:val>
                                        </p:tav>
                                        <p:tav tm="100000">
                                          <p:val>
                                            <p:strVal val="#ppt_x"/>
                                          </p:val>
                                        </p:tav>
                                      </p:tavLst>
                                    </p:anim>
                                    <p:anim calcmode="lin" valueType="num">
                                      <p:cBhvr additive="base">
                                        <p:cTn id="8" dur="500" fill="hold"/>
                                        <p:tgtEl>
                                          <p:spTgt spid="9687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968713">
                                            <p:txEl>
                                              <p:pRg st="0" end="0"/>
                                            </p:txEl>
                                          </p:spTgt>
                                        </p:tgtEl>
                                        <p:attrNameLst>
                                          <p:attrName>style.visibility</p:attrName>
                                        </p:attrNameLst>
                                      </p:cBhvr>
                                      <p:to>
                                        <p:strVal val="visible"/>
                                      </p:to>
                                    </p:set>
                                    <p:animEffect transition="in" filter="box(out)">
                                      <p:cBhvr>
                                        <p:cTn id="13" dur="500"/>
                                        <p:tgtEl>
                                          <p:spTgt spid="968713">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68716"/>
                                        </p:tgtEl>
                                        <p:attrNameLst>
                                          <p:attrName>style.visibility</p:attrName>
                                        </p:attrNameLst>
                                      </p:cBhvr>
                                      <p:to>
                                        <p:strVal val="visible"/>
                                      </p:to>
                                    </p:set>
                                    <p:animEffect transition="in" filter="box(out)">
                                      <p:cBhvr>
                                        <p:cTn id="18" dur="500"/>
                                        <p:tgtEl>
                                          <p:spTgt spid="96871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12" fill="hold" grpId="0" nodeType="clickEffect">
                                  <p:stCondLst>
                                    <p:cond delay="0"/>
                                  </p:stCondLst>
                                  <p:childTnLst>
                                    <p:set>
                                      <p:cBhvr>
                                        <p:cTn id="22" dur="1" fill="hold">
                                          <p:stCondLst>
                                            <p:cond delay="0"/>
                                          </p:stCondLst>
                                        </p:cTn>
                                        <p:tgtEl>
                                          <p:spTgt spid="968968"/>
                                        </p:tgtEl>
                                        <p:attrNameLst>
                                          <p:attrName>style.visibility</p:attrName>
                                        </p:attrNameLst>
                                      </p:cBhvr>
                                      <p:to>
                                        <p:strVal val="visible"/>
                                      </p:to>
                                    </p:set>
                                    <p:animEffect transition="in" filter="strips(downLeft)">
                                      <p:cBhvr>
                                        <p:cTn id="23" dur="500"/>
                                        <p:tgtEl>
                                          <p:spTgt spid="968968"/>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4" presetClass="entr" presetSubtype="32" fill="hold" nodeType="afterEffect">
                                  <p:stCondLst>
                                    <p:cond delay="0"/>
                                  </p:stCondLst>
                                  <p:childTnLst>
                                    <p:set>
                                      <p:cBhvr>
                                        <p:cTn id="26" dur="1" fill="hold">
                                          <p:stCondLst>
                                            <p:cond delay="0"/>
                                          </p:stCondLst>
                                        </p:cTn>
                                        <p:tgtEl>
                                          <p:spTgt spid="969099"/>
                                        </p:tgtEl>
                                        <p:attrNameLst>
                                          <p:attrName>style.visibility</p:attrName>
                                        </p:attrNameLst>
                                      </p:cBhvr>
                                      <p:to>
                                        <p:strVal val="visible"/>
                                      </p:to>
                                    </p:set>
                                    <p:animEffect transition="in" filter="box(out)">
                                      <p:cBhvr>
                                        <p:cTn id="27" dur="500"/>
                                        <p:tgtEl>
                                          <p:spTgt spid="969099"/>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8" fill="hold">
                            <p:stCondLst>
                              <p:cond delay="1000"/>
                            </p:stCondLst>
                            <p:childTnLst>
                              <p:par>
                                <p:cTn id="29" presetID="3" presetClass="entr" presetSubtype="10" fill="hold" grpId="0" nodeType="afterEffect">
                                  <p:stCondLst>
                                    <p:cond delay="0"/>
                                  </p:stCondLst>
                                  <p:childTnLst>
                                    <p:set>
                                      <p:cBhvr>
                                        <p:cTn id="30" dur="1" fill="hold">
                                          <p:stCondLst>
                                            <p:cond delay="0"/>
                                          </p:stCondLst>
                                        </p:cTn>
                                        <p:tgtEl>
                                          <p:spTgt spid="968966"/>
                                        </p:tgtEl>
                                        <p:attrNameLst>
                                          <p:attrName>style.visibility</p:attrName>
                                        </p:attrNameLst>
                                      </p:cBhvr>
                                      <p:to>
                                        <p:strVal val="visible"/>
                                      </p:to>
                                    </p:set>
                                    <p:animEffect transition="in" filter="blinds(horizontal)">
                                      <p:cBhvr>
                                        <p:cTn id="31" dur="500"/>
                                        <p:tgtEl>
                                          <p:spTgt spid="968966"/>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1500"/>
                            </p:stCondLst>
                            <p:childTnLst>
                              <p:par>
                                <p:cTn id="33" presetID="4" presetClass="entr" presetSubtype="16" fill="hold" grpId="0" nodeType="afterEffect">
                                  <p:stCondLst>
                                    <p:cond delay="0"/>
                                  </p:stCondLst>
                                  <p:childTnLst>
                                    <p:set>
                                      <p:cBhvr>
                                        <p:cTn id="34" dur="1" fill="hold">
                                          <p:stCondLst>
                                            <p:cond delay="0"/>
                                          </p:stCondLst>
                                        </p:cTn>
                                        <p:tgtEl>
                                          <p:spTgt spid="968967"/>
                                        </p:tgtEl>
                                        <p:attrNameLst>
                                          <p:attrName>style.visibility</p:attrName>
                                        </p:attrNameLst>
                                      </p:cBhvr>
                                      <p:to>
                                        <p:strVal val="visible"/>
                                      </p:to>
                                    </p:set>
                                    <p:animEffect transition="in" filter="box(in)">
                                      <p:cBhvr>
                                        <p:cTn id="35" dur="500"/>
                                        <p:tgtEl>
                                          <p:spTgt spid="968967"/>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2000"/>
                            </p:stCondLst>
                            <p:childTnLst>
                              <p:par>
                                <p:cTn id="37" presetID="18" presetClass="entr" presetSubtype="12" fill="hold" grpId="0" nodeType="afterEffect">
                                  <p:stCondLst>
                                    <p:cond delay="0"/>
                                  </p:stCondLst>
                                  <p:childTnLst>
                                    <p:set>
                                      <p:cBhvr>
                                        <p:cTn id="38" dur="1" fill="hold">
                                          <p:stCondLst>
                                            <p:cond delay="0"/>
                                          </p:stCondLst>
                                        </p:cTn>
                                        <p:tgtEl>
                                          <p:spTgt spid="968969"/>
                                        </p:tgtEl>
                                        <p:attrNameLst>
                                          <p:attrName>style.visibility</p:attrName>
                                        </p:attrNameLst>
                                      </p:cBhvr>
                                      <p:to>
                                        <p:strVal val="visible"/>
                                      </p:to>
                                    </p:set>
                                    <p:animEffect transition="in" filter="strips(downLeft)">
                                      <p:cBhvr>
                                        <p:cTn id="39" dur="500"/>
                                        <p:tgtEl>
                                          <p:spTgt spid="968969"/>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2500"/>
                            </p:stCondLst>
                            <p:childTnLst>
                              <p:par>
                                <p:cTn id="41" presetID="4" presetClass="entr" presetSubtype="16" fill="hold" grpId="0" nodeType="afterEffect">
                                  <p:stCondLst>
                                    <p:cond delay="0"/>
                                  </p:stCondLst>
                                  <p:childTnLst>
                                    <p:set>
                                      <p:cBhvr>
                                        <p:cTn id="42" dur="1" fill="hold">
                                          <p:stCondLst>
                                            <p:cond delay="0"/>
                                          </p:stCondLst>
                                        </p:cTn>
                                        <p:tgtEl>
                                          <p:spTgt spid="968970"/>
                                        </p:tgtEl>
                                        <p:attrNameLst>
                                          <p:attrName>style.visibility</p:attrName>
                                        </p:attrNameLst>
                                      </p:cBhvr>
                                      <p:to>
                                        <p:strVal val="visible"/>
                                      </p:to>
                                    </p:set>
                                    <p:animEffect transition="in" filter="box(in)">
                                      <p:cBhvr>
                                        <p:cTn id="43" dur="500"/>
                                        <p:tgtEl>
                                          <p:spTgt spid="968970"/>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3000"/>
                            </p:stCondLst>
                            <p:childTnLst>
                              <p:par>
                                <p:cTn id="45" presetID="4" presetClass="entr" presetSubtype="16" fill="hold" grpId="0" nodeType="afterEffect">
                                  <p:stCondLst>
                                    <p:cond delay="0"/>
                                  </p:stCondLst>
                                  <p:childTnLst>
                                    <p:set>
                                      <p:cBhvr>
                                        <p:cTn id="46" dur="1" fill="hold">
                                          <p:stCondLst>
                                            <p:cond delay="0"/>
                                          </p:stCondLst>
                                        </p:cTn>
                                        <p:tgtEl>
                                          <p:spTgt spid="968971"/>
                                        </p:tgtEl>
                                        <p:attrNameLst>
                                          <p:attrName>style.visibility</p:attrName>
                                        </p:attrNameLst>
                                      </p:cBhvr>
                                      <p:to>
                                        <p:strVal val="visible"/>
                                      </p:to>
                                    </p:set>
                                    <p:animEffect transition="in" filter="box(in)">
                                      <p:cBhvr>
                                        <p:cTn id="47" dur="500"/>
                                        <p:tgtEl>
                                          <p:spTgt spid="968971"/>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3500"/>
                            </p:stCondLst>
                            <p:childTnLst>
                              <p:par>
                                <p:cTn id="49" presetID="18" presetClass="entr" presetSubtype="12" fill="hold" grpId="0" nodeType="afterEffect">
                                  <p:stCondLst>
                                    <p:cond delay="0"/>
                                  </p:stCondLst>
                                  <p:childTnLst>
                                    <p:set>
                                      <p:cBhvr>
                                        <p:cTn id="50" dur="1" fill="hold">
                                          <p:stCondLst>
                                            <p:cond delay="0"/>
                                          </p:stCondLst>
                                        </p:cTn>
                                        <p:tgtEl>
                                          <p:spTgt spid="968972"/>
                                        </p:tgtEl>
                                        <p:attrNameLst>
                                          <p:attrName>style.visibility</p:attrName>
                                        </p:attrNameLst>
                                      </p:cBhvr>
                                      <p:to>
                                        <p:strVal val="visible"/>
                                      </p:to>
                                    </p:set>
                                    <p:animEffect transition="in" filter="strips(downLeft)">
                                      <p:cBhvr>
                                        <p:cTn id="51" dur="500"/>
                                        <p:tgtEl>
                                          <p:spTgt spid="968972"/>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p:stCondLst>
                              <p:cond delay="4000"/>
                            </p:stCondLst>
                            <p:childTnLst>
                              <p:par>
                                <p:cTn id="53" presetID="4" presetClass="entr" presetSubtype="16" fill="hold" grpId="0" nodeType="afterEffect">
                                  <p:stCondLst>
                                    <p:cond delay="0"/>
                                  </p:stCondLst>
                                  <p:childTnLst>
                                    <p:set>
                                      <p:cBhvr>
                                        <p:cTn id="54" dur="1" fill="hold">
                                          <p:stCondLst>
                                            <p:cond delay="0"/>
                                          </p:stCondLst>
                                        </p:cTn>
                                        <p:tgtEl>
                                          <p:spTgt spid="968973"/>
                                        </p:tgtEl>
                                        <p:attrNameLst>
                                          <p:attrName>style.visibility</p:attrName>
                                        </p:attrNameLst>
                                      </p:cBhvr>
                                      <p:to>
                                        <p:strVal val="visible"/>
                                      </p:to>
                                    </p:set>
                                    <p:animEffect transition="in" filter="box(in)">
                                      <p:cBhvr>
                                        <p:cTn id="55" dur="500"/>
                                        <p:tgtEl>
                                          <p:spTgt spid="968973"/>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4500"/>
                            </p:stCondLst>
                            <p:childTnLst>
                              <p:par>
                                <p:cTn id="57" presetID="4" presetClass="entr" presetSubtype="16" fill="hold" grpId="0" nodeType="afterEffect">
                                  <p:stCondLst>
                                    <p:cond delay="0"/>
                                  </p:stCondLst>
                                  <p:childTnLst>
                                    <p:set>
                                      <p:cBhvr>
                                        <p:cTn id="58" dur="1" fill="hold">
                                          <p:stCondLst>
                                            <p:cond delay="0"/>
                                          </p:stCondLst>
                                        </p:cTn>
                                        <p:tgtEl>
                                          <p:spTgt spid="968974"/>
                                        </p:tgtEl>
                                        <p:attrNameLst>
                                          <p:attrName>style.visibility</p:attrName>
                                        </p:attrNameLst>
                                      </p:cBhvr>
                                      <p:to>
                                        <p:strVal val="visible"/>
                                      </p:to>
                                    </p:set>
                                    <p:animEffect transition="in" filter="box(in)">
                                      <p:cBhvr>
                                        <p:cTn id="59" dur="500"/>
                                        <p:tgtEl>
                                          <p:spTgt spid="968974"/>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0" fill="hold">
                            <p:stCondLst>
                              <p:cond delay="5000"/>
                            </p:stCondLst>
                            <p:childTnLst>
                              <p:par>
                                <p:cTn id="61" presetID="18" presetClass="entr" presetSubtype="12" fill="hold" grpId="0" nodeType="afterEffect">
                                  <p:stCondLst>
                                    <p:cond delay="0"/>
                                  </p:stCondLst>
                                  <p:childTnLst>
                                    <p:set>
                                      <p:cBhvr>
                                        <p:cTn id="62" dur="1" fill="hold">
                                          <p:stCondLst>
                                            <p:cond delay="0"/>
                                          </p:stCondLst>
                                        </p:cTn>
                                        <p:tgtEl>
                                          <p:spTgt spid="968975"/>
                                        </p:tgtEl>
                                        <p:attrNameLst>
                                          <p:attrName>style.visibility</p:attrName>
                                        </p:attrNameLst>
                                      </p:cBhvr>
                                      <p:to>
                                        <p:strVal val="visible"/>
                                      </p:to>
                                    </p:set>
                                    <p:animEffect transition="in" filter="strips(downLeft)">
                                      <p:cBhvr>
                                        <p:cTn id="63" dur="500"/>
                                        <p:tgtEl>
                                          <p:spTgt spid="968975"/>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par>
                          <p:cTn id="64" fill="hold">
                            <p:stCondLst>
                              <p:cond delay="5500"/>
                            </p:stCondLst>
                            <p:childTnLst>
                              <p:par>
                                <p:cTn id="65" presetID="4" presetClass="entr" presetSubtype="16" fill="hold" grpId="0" nodeType="afterEffect">
                                  <p:stCondLst>
                                    <p:cond delay="0"/>
                                  </p:stCondLst>
                                  <p:childTnLst>
                                    <p:set>
                                      <p:cBhvr>
                                        <p:cTn id="66" dur="1" fill="hold">
                                          <p:stCondLst>
                                            <p:cond delay="0"/>
                                          </p:stCondLst>
                                        </p:cTn>
                                        <p:tgtEl>
                                          <p:spTgt spid="968976"/>
                                        </p:tgtEl>
                                        <p:attrNameLst>
                                          <p:attrName>style.visibility</p:attrName>
                                        </p:attrNameLst>
                                      </p:cBhvr>
                                      <p:to>
                                        <p:strVal val="visible"/>
                                      </p:to>
                                    </p:set>
                                    <p:animEffect transition="in" filter="box(in)">
                                      <p:cBhvr>
                                        <p:cTn id="67" dur="500"/>
                                        <p:tgtEl>
                                          <p:spTgt spid="968976"/>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par>
                          <p:cTn id="68" fill="hold">
                            <p:stCondLst>
                              <p:cond delay="6000"/>
                            </p:stCondLst>
                            <p:childTnLst>
                              <p:par>
                                <p:cTn id="69" presetID="4" presetClass="entr" presetSubtype="16" fill="hold" grpId="0" nodeType="afterEffect">
                                  <p:stCondLst>
                                    <p:cond delay="0"/>
                                  </p:stCondLst>
                                  <p:childTnLst>
                                    <p:set>
                                      <p:cBhvr>
                                        <p:cTn id="70" dur="1" fill="hold">
                                          <p:stCondLst>
                                            <p:cond delay="0"/>
                                          </p:stCondLst>
                                        </p:cTn>
                                        <p:tgtEl>
                                          <p:spTgt spid="968977"/>
                                        </p:tgtEl>
                                        <p:attrNameLst>
                                          <p:attrName>style.visibility</p:attrName>
                                        </p:attrNameLst>
                                      </p:cBhvr>
                                      <p:to>
                                        <p:strVal val="visible"/>
                                      </p:to>
                                    </p:set>
                                    <p:animEffect transition="in" filter="box(in)">
                                      <p:cBhvr>
                                        <p:cTn id="71" dur="500"/>
                                        <p:tgtEl>
                                          <p:spTgt spid="968977"/>
                                        </p:tgtEl>
                                      </p:cBhvr>
                                    </p:animEffect>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par>
                          <p:cTn id="72" fill="hold">
                            <p:stCondLst>
                              <p:cond delay="6500"/>
                            </p:stCondLst>
                            <p:childTnLst>
                              <p:par>
                                <p:cTn id="73" presetID="18" presetClass="entr" presetSubtype="12" fill="hold" grpId="0" nodeType="afterEffect">
                                  <p:stCondLst>
                                    <p:cond delay="0"/>
                                  </p:stCondLst>
                                  <p:childTnLst>
                                    <p:set>
                                      <p:cBhvr>
                                        <p:cTn id="74" dur="1" fill="hold">
                                          <p:stCondLst>
                                            <p:cond delay="0"/>
                                          </p:stCondLst>
                                        </p:cTn>
                                        <p:tgtEl>
                                          <p:spTgt spid="968978"/>
                                        </p:tgtEl>
                                        <p:attrNameLst>
                                          <p:attrName>style.visibility</p:attrName>
                                        </p:attrNameLst>
                                      </p:cBhvr>
                                      <p:to>
                                        <p:strVal val="visible"/>
                                      </p:to>
                                    </p:set>
                                    <p:animEffect transition="in" filter="strips(downLeft)">
                                      <p:cBhvr>
                                        <p:cTn id="75" dur="500"/>
                                        <p:tgtEl>
                                          <p:spTgt spid="968978"/>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par>
                          <p:cTn id="76" fill="hold">
                            <p:stCondLst>
                              <p:cond delay="7000"/>
                            </p:stCondLst>
                            <p:childTnLst>
                              <p:par>
                                <p:cTn id="77" presetID="4" presetClass="entr" presetSubtype="16" fill="hold" grpId="0" nodeType="afterEffect">
                                  <p:stCondLst>
                                    <p:cond delay="0"/>
                                  </p:stCondLst>
                                  <p:childTnLst>
                                    <p:set>
                                      <p:cBhvr>
                                        <p:cTn id="78" dur="1" fill="hold">
                                          <p:stCondLst>
                                            <p:cond delay="0"/>
                                          </p:stCondLst>
                                        </p:cTn>
                                        <p:tgtEl>
                                          <p:spTgt spid="968979"/>
                                        </p:tgtEl>
                                        <p:attrNameLst>
                                          <p:attrName>style.visibility</p:attrName>
                                        </p:attrNameLst>
                                      </p:cBhvr>
                                      <p:to>
                                        <p:strVal val="visible"/>
                                      </p:to>
                                    </p:set>
                                    <p:animEffect transition="in" filter="box(in)">
                                      <p:cBhvr>
                                        <p:cTn id="79" dur="500"/>
                                        <p:tgtEl>
                                          <p:spTgt spid="968979"/>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0" fill="hold">
                            <p:stCondLst>
                              <p:cond delay="7500"/>
                            </p:stCondLst>
                            <p:childTnLst>
                              <p:par>
                                <p:cTn id="81" presetID="4" presetClass="entr" presetSubtype="16" fill="hold" grpId="0" nodeType="afterEffect">
                                  <p:stCondLst>
                                    <p:cond delay="0"/>
                                  </p:stCondLst>
                                  <p:childTnLst>
                                    <p:set>
                                      <p:cBhvr>
                                        <p:cTn id="82" dur="1" fill="hold">
                                          <p:stCondLst>
                                            <p:cond delay="0"/>
                                          </p:stCondLst>
                                        </p:cTn>
                                        <p:tgtEl>
                                          <p:spTgt spid="968980"/>
                                        </p:tgtEl>
                                        <p:attrNameLst>
                                          <p:attrName>style.visibility</p:attrName>
                                        </p:attrNameLst>
                                      </p:cBhvr>
                                      <p:to>
                                        <p:strVal val="visible"/>
                                      </p:to>
                                    </p:set>
                                    <p:animEffect transition="in" filter="box(in)">
                                      <p:cBhvr>
                                        <p:cTn id="83" dur="500"/>
                                        <p:tgtEl>
                                          <p:spTgt spid="968980"/>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par>
                          <p:cTn id="84" fill="hold">
                            <p:stCondLst>
                              <p:cond delay="8000"/>
                            </p:stCondLst>
                            <p:childTnLst>
                              <p:par>
                                <p:cTn id="85" presetID="18" presetClass="entr" presetSubtype="12" fill="hold" grpId="0" nodeType="afterEffect">
                                  <p:stCondLst>
                                    <p:cond delay="0"/>
                                  </p:stCondLst>
                                  <p:childTnLst>
                                    <p:set>
                                      <p:cBhvr>
                                        <p:cTn id="86" dur="1" fill="hold">
                                          <p:stCondLst>
                                            <p:cond delay="0"/>
                                          </p:stCondLst>
                                        </p:cTn>
                                        <p:tgtEl>
                                          <p:spTgt spid="968981"/>
                                        </p:tgtEl>
                                        <p:attrNameLst>
                                          <p:attrName>style.visibility</p:attrName>
                                        </p:attrNameLst>
                                      </p:cBhvr>
                                      <p:to>
                                        <p:strVal val="visible"/>
                                      </p:to>
                                    </p:set>
                                    <p:animEffect transition="in" filter="strips(downLeft)">
                                      <p:cBhvr>
                                        <p:cTn id="87" dur="500"/>
                                        <p:tgtEl>
                                          <p:spTgt spid="968981"/>
                                        </p:tgtEl>
                                      </p:cBhvr>
                                    </p:animEffect>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childTnLst>
                          </p:cTn>
                        </p:par>
                        <p:par>
                          <p:cTn id="88" fill="hold">
                            <p:stCondLst>
                              <p:cond delay="8500"/>
                            </p:stCondLst>
                            <p:childTnLst>
                              <p:par>
                                <p:cTn id="89" presetID="4" presetClass="entr" presetSubtype="16" fill="hold" grpId="0" nodeType="afterEffect">
                                  <p:stCondLst>
                                    <p:cond delay="0"/>
                                  </p:stCondLst>
                                  <p:childTnLst>
                                    <p:set>
                                      <p:cBhvr>
                                        <p:cTn id="90" dur="1" fill="hold">
                                          <p:stCondLst>
                                            <p:cond delay="0"/>
                                          </p:stCondLst>
                                        </p:cTn>
                                        <p:tgtEl>
                                          <p:spTgt spid="968982"/>
                                        </p:tgtEl>
                                        <p:attrNameLst>
                                          <p:attrName>style.visibility</p:attrName>
                                        </p:attrNameLst>
                                      </p:cBhvr>
                                      <p:to>
                                        <p:strVal val="visible"/>
                                      </p:to>
                                    </p:set>
                                    <p:animEffect transition="in" filter="box(in)">
                                      <p:cBhvr>
                                        <p:cTn id="91" dur="500"/>
                                        <p:tgtEl>
                                          <p:spTgt spid="968982"/>
                                        </p:tgtEl>
                                      </p:cBhvr>
                                    </p:animEffect>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2" fill="hold">
                            <p:stCondLst>
                              <p:cond delay="9000"/>
                            </p:stCondLst>
                            <p:childTnLst>
                              <p:par>
                                <p:cTn id="93" presetID="4" presetClass="entr" presetSubtype="16" fill="hold" grpId="0" nodeType="afterEffect">
                                  <p:stCondLst>
                                    <p:cond delay="0"/>
                                  </p:stCondLst>
                                  <p:childTnLst>
                                    <p:set>
                                      <p:cBhvr>
                                        <p:cTn id="94" dur="1" fill="hold">
                                          <p:stCondLst>
                                            <p:cond delay="0"/>
                                          </p:stCondLst>
                                        </p:cTn>
                                        <p:tgtEl>
                                          <p:spTgt spid="968983"/>
                                        </p:tgtEl>
                                        <p:attrNameLst>
                                          <p:attrName>style.visibility</p:attrName>
                                        </p:attrNameLst>
                                      </p:cBhvr>
                                      <p:to>
                                        <p:strVal val="visible"/>
                                      </p:to>
                                    </p:set>
                                    <p:animEffect transition="in" filter="box(in)">
                                      <p:cBhvr>
                                        <p:cTn id="95" dur="500"/>
                                        <p:tgtEl>
                                          <p:spTgt spid="968983"/>
                                        </p:tgtEl>
                                      </p:cBhvr>
                                    </p:animEffect>
                                  </p:childTnLst>
                                  <p:subTnLst>
                                    <p:audio>
                                      <p:cMediaNode>
                                        <p:cTn display="0" masterRel="sameClick">
                                          <p:stCondLst>
                                            <p:cond evt="begin" delay="0">
                                              <p:tn val="93"/>
                                            </p:cond>
                                          </p:stCondLst>
                                          <p:endCondLst>
                                            <p:cond evt="onStopAudio" delay="0">
                                              <p:tgtEl>
                                                <p:sldTgt/>
                                              </p:tgtEl>
                                            </p:cond>
                                          </p:endCondLst>
                                        </p:cTn>
                                        <p:tgtEl>
                                          <p:sndTgt r:embed="rId3" name="camera.wav"/>
                                        </p:tgtEl>
                                      </p:cMediaNode>
                                    </p:audio>
                                  </p:subTnLst>
                                </p:cTn>
                              </p:par>
                            </p:childTnLst>
                          </p:cTn>
                        </p:par>
                        <p:par>
                          <p:cTn id="96" fill="hold">
                            <p:stCondLst>
                              <p:cond delay="9500"/>
                            </p:stCondLst>
                            <p:childTnLst>
                              <p:par>
                                <p:cTn id="97" presetID="18" presetClass="entr" presetSubtype="12" fill="hold" grpId="0" nodeType="afterEffect">
                                  <p:stCondLst>
                                    <p:cond delay="0"/>
                                  </p:stCondLst>
                                  <p:childTnLst>
                                    <p:set>
                                      <p:cBhvr>
                                        <p:cTn id="98" dur="1" fill="hold">
                                          <p:stCondLst>
                                            <p:cond delay="0"/>
                                          </p:stCondLst>
                                        </p:cTn>
                                        <p:tgtEl>
                                          <p:spTgt spid="968984"/>
                                        </p:tgtEl>
                                        <p:attrNameLst>
                                          <p:attrName>style.visibility</p:attrName>
                                        </p:attrNameLst>
                                      </p:cBhvr>
                                      <p:to>
                                        <p:strVal val="visible"/>
                                      </p:to>
                                    </p:set>
                                    <p:animEffect transition="in" filter="strips(downLeft)">
                                      <p:cBhvr>
                                        <p:cTn id="99" dur="500"/>
                                        <p:tgtEl>
                                          <p:spTgt spid="968984"/>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childTnLst>
                          </p:cTn>
                        </p:par>
                        <p:par>
                          <p:cTn id="100" fill="hold">
                            <p:stCondLst>
                              <p:cond delay="10000"/>
                            </p:stCondLst>
                            <p:childTnLst>
                              <p:par>
                                <p:cTn id="101" presetID="4" presetClass="entr" presetSubtype="16" fill="hold" grpId="0" nodeType="afterEffect">
                                  <p:stCondLst>
                                    <p:cond delay="0"/>
                                  </p:stCondLst>
                                  <p:childTnLst>
                                    <p:set>
                                      <p:cBhvr>
                                        <p:cTn id="102" dur="1" fill="hold">
                                          <p:stCondLst>
                                            <p:cond delay="0"/>
                                          </p:stCondLst>
                                        </p:cTn>
                                        <p:tgtEl>
                                          <p:spTgt spid="968985"/>
                                        </p:tgtEl>
                                        <p:attrNameLst>
                                          <p:attrName>style.visibility</p:attrName>
                                        </p:attrNameLst>
                                      </p:cBhvr>
                                      <p:to>
                                        <p:strVal val="visible"/>
                                      </p:to>
                                    </p:set>
                                    <p:animEffect transition="in" filter="box(in)">
                                      <p:cBhvr>
                                        <p:cTn id="103" dur="500"/>
                                        <p:tgtEl>
                                          <p:spTgt spid="968985"/>
                                        </p:tgtEl>
                                      </p:cBhvr>
                                    </p:animEffect>
                                  </p:childTnLst>
                                  <p:subTnLst>
                                    <p:audio>
                                      <p:cMediaNode>
                                        <p:cTn display="0" masterRel="sameClick">
                                          <p:stCondLst>
                                            <p:cond evt="begin" delay="0">
                                              <p:tn val="101"/>
                                            </p:cond>
                                          </p:stCondLst>
                                          <p:endCondLst>
                                            <p:cond evt="onStopAudio" delay="0">
                                              <p:tgtEl>
                                                <p:sldTgt/>
                                              </p:tgtEl>
                                            </p:cond>
                                          </p:endCondLst>
                                        </p:cTn>
                                        <p:tgtEl>
                                          <p:sndTgt r:embed="rId3" name="camera.wav"/>
                                        </p:tgtEl>
                                      </p:cMediaNode>
                                    </p:audio>
                                  </p:subTnLst>
                                </p:cTn>
                              </p:par>
                            </p:childTnLst>
                          </p:cTn>
                        </p:par>
                        <p:par>
                          <p:cTn id="104" fill="hold">
                            <p:stCondLst>
                              <p:cond delay="10500"/>
                            </p:stCondLst>
                            <p:childTnLst>
                              <p:par>
                                <p:cTn id="105" presetID="4" presetClass="entr" presetSubtype="16" fill="hold" grpId="0" nodeType="afterEffect">
                                  <p:stCondLst>
                                    <p:cond delay="0"/>
                                  </p:stCondLst>
                                  <p:childTnLst>
                                    <p:set>
                                      <p:cBhvr>
                                        <p:cTn id="106" dur="1" fill="hold">
                                          <p:stCondLst>
                                            <p:cond delay="0"/>
                                          </p:stCondLst>
                                        </p:cTn>
                                        <p:tgtEl>
                                          <p:spTgt spid="968986"/>
                                        </p:tgtEl>
                                        <p:attrNameLst>
                                          <p:attrName>style.visibility</p:attrName>
                                        </p:attrNameLst>
                                      </p:cBhvr>
                                      <p:to>
                                        <p:strVal val="visible"/>
                                      </p:to>
                                    </p:set>
                                    <p:animEffect transition="in" filter="box(in)">
                                      <p:cBhvr>
                                        <p:cTn id="107" dur="500"/>
                                        <p:tgtEl>
                                          <p:spTgt spid="968986"/>
                                        </p:tgtEl>
                                      </p:cBhvr>
                                    </p:animEffect>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par>
                          <p:cTn id="108" fill="hold">
                            <p:stCondLst>
                              <p:cond delay="11000"/>
                            </p:stCondLst>
                            <p:childTnLst>
                              <p:par>
                                <p:cTn id="109" presetID="18" presetClass="entr" presetSubtype="12" fill="hold" grpId="0" nodeType="afterEffect">
                                  <p:stCondLst>
                                    <p:cond delay="0"/>
                                  </p:stCondLst>
                                  <p:childTnLst>
                                    <p:set>
                                      <p:cBhvr>
                                        <p:cTn id="110" dur="1" fill="hold">
                                          <p:stCondLst>
                                            <p:cond delay="0"/>
                                          </p:stCondLst>
                                        </p:cTn>
                                        <p:tgtEl>
                                          <p:spTgt spid="968987"/>
                                        </p:tgtEl>
                                        <p:attrNameLst>
                                          <p:attrName>style.visibility</p:attrName>
                                        </p:attrNameLst>
                                      </p:cBhvr>
                                      <p:to>
                                        <p:strVal val="visible"/>
                                      </p:to>
                                    </p:set>
                                    <p:animEffect transition="in" filter="strips(downLeft)">
                                      <p:cBhvr>
                                        <p:cTn id="111" dur="500"/>
                                        <p:tgtEl>
                                          <p:spTgt spid="968987"/>
                                        </p:tgtEl>
                                      </p:cBhvr>
                                    </p:animEffect>
                                  </p:childTnLst>
                                  <p:subTnLst>
                                    <p:audio>
                                      <p:cMediaNode>
                                        <p:cTn display="0" masterRel="sameClick">
                                          <p:stCondLst>
                                            <p:cond evt="begin" delay="0">
                                              <p:tn val="109"/>
                                            </p:cond>
                                          </p:stCondLst>
                                          <p:endCondLst>
                                            <p:cond evt="onStopAudio" delay="0">
                                              <p:tgtEl>
                                                <p:sldTgt/>
                                              </p:tgtEl>
                                            </p:cond>
                                          </p:endCondLst>
                                        </p:cTn>
                                        <p:tgtEl>
                                          <p:sndTgt r:embed="rId3" name="camera.wav"/>
                                        </p:tgtEl>
                                      </p:cMediaNode>
                                    </p:audio>
                                  </p:subTnLst>
                                </p:cTn>
                              </p:par>
                            </p:childTnLst>
                          </p:cTn>
                        </p:par>
                        <p:par>
                          <p:cTn id="112" fill="hold">
                            <p:stCondLst>
                              <p:cond delay="11500"/>
                            </p:stCondLst>
                            <p:childTnLst>
                              <p:par>
                                <p:cTn id="113" presetID="4" presetClass="entr" presetSubtype="16" fill="hold" grpId="0" nodeType="afterEffect">
                                  <p:stCondLst>
                                    <p:cond delay="0"/>
                                  </p:stCondLst>
                                  <p:childTnLst>
                                    <p:set>
                                      <p:cBhvr>
                                        <p:cTn id="114" dur="1" fill="hold">
                                          <p:stCondLst>
                                            <p:cond delay="0"/>
                                          </p:stCondLst>
                                        </p:cTn>
                                        <p:tgtEl>
                                          <p:spTgt spid="968988"/>
                                        </p:tgtEl>
                                        <p:attrNameLst>
                                          <p:attrName>style.visibility</p:attrName>
                                        </p:attrNameLst>
                                      </p:cBhvr>
                                      <p:to>
                                        <p:strVal val="visible"/>
                                      </p:to>
                                    </p:set>
                                    <p:animEffect transition="in" filter="box(in)">
                                      <p:cBhvr>
                                        <p:cTn id="115" dur="500"/>
                                        <p:tgtEl>
                                          <p:spTgt spid="968988"/>
                                        </p:tgtEl>
                                      </p:cBhvr>
                                    </p:animEffect>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childTnLst>
                          </p:cTn>
                        </p:par>
                        <p:par>
                          <p:cTn id="116" fill="hold">
                            <p:stCondLst>
                              <p:cond delay="12000"/>
                            </p:stCondLst>
                            <p:childTnLst>
                              <p:par>
                                <p:cTn id="117" presetID="4" presetClass="entr" presetSubtype="16" fill="hold" grpId="0" nodeType="afterEffect">
                                  <p:stCondLst>
                                    <p:cond delay="0"/>
                                  </p:stCondLst>
                                  <p:childTnLst>
                                    <p:set>
                                      <p:cBhvr>
                                        <p:cTn id="118" dur="1" fill="hold">
                                          <p:stCondLst>
                                            <p:cond delay="0"/>
                                          </p:stCondLst>
                                        </p:cTn>
                                        <p:tgtEl>
                                          <p:spTgt spid="968989"/>
                                        </p:tgtEl>
                                        <p:attrNameLst>
                                          <p:attrName>style.visibility</p:attrName>
                                        </p:attrNameLst>
                                      </p:cBhvr>
                                      <p:to>
                                        <p:strVal val="visible"/>
                                      </p:to>
                                    </p:set>
                                    <p:animEffect transition="in" filter="box(in)">
                                      <p:cBhvr>
                                        <p:cTn id="119" dur="500"/>
                                        <p:tgtEl>
                                          <p:spTgt spid="968989"/>
                                        </p:tgtEl>
                                      </p:cBhvr>
                                    </p:animEffect>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par>
                          <p:cTn id="120" fill="hold">
                            <p:stCondLst>
                              <p:cond delay="12500"/>
                            </p:stCondLst>
                            <p:childTnLst>
                              <p:par>
                                <p:cTn id="121" presetID="18" presetClass="entr" presetSubtype="12" fill="hold" grpId="0" nodeType="afterEffect">
                                  <p:stCondLst>
                                    <p:cond delay="0"/>
                                  </p:stCondLst>
                                  <p:childTnLst>
                                    <p:set>
                                      <p:cBhvr>
                                        <p:cTn id="122" dur="1" fill="hold">
                                          <p:stCondLst>
                                            <p:cond delay="0"/>
                                          </p:stCondLst>
                                        </p:cTn>
                                        <p:tgtEl>
                                          <p:spTgt spid="968990"/>
                                        </p:tgtEl>
                                        <p:attrNameLst>
                                          <p:attrName>style.visibility</p:attrName>
                                        </p:attrNameLst>
                                      </p:cBhvr>
                                      <p:to>
                                        <p:strVal val="visible"/>
                                      </p:to>
                                    </p:set>
                                    <p:animEffect transition="in" filter="strips(downLeft)">
                                      <p:cBhvr>
                                        <p:cTn id="123" dur="500"/>
                                        <p:tgtEl>
                                          <p:spTgt spid="968990"/>
                                        </p:tgtEl>
                                      </p:cBhvr>
                                    </p:animEffect>
                                  </p:childTnLst>
                                  <p:subTnLst>
                                    <p:audio>
                                      <p:cMediaNode>
                                        <p:cTn display="0" masterRel="sameClick">
                                          <p:stCondLst>
                                            <p:cond evt="begin" delay="0">
                                              <p:tn val="121"/>
                                            </p:cond>
                                          </p:stCondLst>
                                          <p:endCondLst>
                                            <p:cond evt="onStopAudio" delay="0">
                                              <p:tgtEl>
                                                <p:sldTgt/>
                                              </p:tgtEl>
                                            </p:cond>
                                          </p:endCondLst>
                                        </p:cTn>
                                        <p:tgtEl>
                                          <p:sndTgt r:embed="rId3" name="camera.wav"/>
                                        </p:tgtEl>
                                      </p:cMediaNode>
                                    </p:audio>
                                  </p:subTnLst>
                                </p:cTn>
                              </p:par>
                            </p:childTnLst>
                          </p:cTn>
                        </p:par>
                        <p:par>
                          <p:cTn id="124" fill="hold">
                            <p:stCondLst>
                              <p:cond delay="13000"/>
                            </p:stCondLst>
                            <p:childTnLst>
                              <p:par>
                                <p:cTn id="125" presetID="4" presetClass="entr" presetSubtype="16" fill="hold" grpId="0" nodeType="afterEffect">
                                  <p:stCondLst>
                                    <p:cond delay="0"/>
                                  </p:stCondLst>
                                  <p:childTnLst>
                                    <p:set>
                                      <p:cBhvr>
                                        <p:cTn id="126" dur="1" fill="hold">
                                          <p:stCondLst>
                                            <p:cond delay="0"/>
                                          </p:stCondLst>
                                        </p:cTn>
                                        <p:tgtEl>
                                          <p:spTgt spid="968991"/>
                                        </p:tgtEl>
                                        <p:attrNameLst>
                                          <p:attrName>style.visibility</p:attrName>
                                        </p:attrNameLst>
                                      </p:cBhvr>
                                      <p:to>
                                        <p:strVal val="visible"/>
                                      </p:to>
                                    </p:set>
                                    <p:animEffect transition="in" filter="box(in)">
                                      <p:cBhvr>
                                        <p:cTn id="127" dur="500"/>
                                        <p:tgtEl>
                                          <p:spTgt spid="968991"/>
                                        </p:tgtEl>
                                      </p:cBhvr>
                                    </p:animEffect>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childTnLst>
                          </p:cTn>
                        </p:par>
                        <p:par>
                          <p:cTn id="128" fill="hold">
                            <p:stCondLst>
                              <p:cond delay="13500"/>
                            </p:stCondLst>
                            <p:childTnLst>
                              <p:par>
                                <p:cTn id="129" presetID="4" presetClass="entr" presetSubtype="16" fill="hold" grpId="0" nodeType="afterEffect">
                                  <p:stCondLst>
                                    <p:cond delay="0"/>
                                  </p:stCondLst>
                                  <p:childTnLst>
                                    <p:set>
                                      <p:cBhvr>
                                        <p:cTn id="130" dur="1" fill="hold">
                                          <p:stCondLst>
                                            <p:cond delay="0"/>
                                          </p:stCondLst>
                                        </p:cTn>
                                        <p:tgtEl>
                                          <p:spTgt spid="968992"/>
                                        </p:tgtEl>
                                        <p:attrNameLst>
                                          <p:attrName>style.visibility</p:attrName>
                                        </p:attrNameLst>
                                      </p:cBhvr>
                                      <p:to>
                                        <p:strVal val="visible"/>
                                      </p:to>
                                    </p:set>
                                    <p:animEffect transition="in" filter="box(in)">
                                      <p:cBhvr>
                                        <p:cTn id="131" dur="500"/>
                                        <p:tgtEl>
                                          <p:spTgt spid="968992"/>
                                        </p:tgtEl>
                                      </p:cBhvr>
                                    </p:animEffect>
                                  </p:childTnLst>
                                  <p:subTnLst>
                                    <p:audio>
                                      <p:cMediaNode>
                                        <p:cTn display="0" masterRel="sameClick">
                                          <p:stCondLst>
                                            <p:cond evt="begin" delay="0">
                                              <p:tn val="129"/>
                                            </p:cond>
                                          </p:stCondLst>
                                          <p:endCondLst>
                                            <p:cond evt="onStopAudio" delay="0">
                                              <p:tgtEl>
                                                <p:sldTgt/>
                                              </p:tgtEl>
                                            </p:cond>
                                          </p:endCondLst>
                                        </p:cTn>
                                        <p:tgtEl>
                                          <p:sndTgt r:embed="rId3" name="camera.wav"/>
                                        </p:tgtEl>
                                      </p:cMediaNode>
                                    </p:audio>
                                  </p:subTnLst>
                                </p:cTn>
                              </p:par>
                            </p:childTnLst>
                          </p:cTn>
                        </p:par>
                        <p:par>
                          <p:cTn id="132" fill="hold">
                            <p:stCondLst>
                              <p:cond delay="14000"/>
                            </p:stCondLst>
                            <p:childTnLst>
                              <p:par>
                                <p:cTn id="133" presetID="18" presetClass="entr" presetSubtype="12" fill="hold" grpId="0" nodeType="afterEffect">
                                  <p:stCondLst>
                                    <p:cond delay="0"/>
                                  </p:stCondLst>
                                  <p:childTnLst>
                                    <p:set>
                                      <p:cBhvr>
                                        <p:cTn id="134" dur="1" fill="hold">
                                          <p:stCondLst>
                                            <p:cond delay="0"/>
                                          </p:stCondLst>
                                        </p:cTn>
                                        <p:tgtEl>
                                          <p:spTgt spid="968993"/>
                                        </p:tgtEl>
                                        <p:attrNameLst>
                                          <p:attrName>style.visibility</p:attrName>
                                        </p:attrNameLst>
                                      </p:cBhvr>
                                      <p:to>
                                        <p:strVal val="visible"/>
                                      </p:to>
                                    </p:set>
                                    <p:animEffect transition="in" filter="strips(downLeft)">
                                      <p:cBhvr>
                                        <p:cTn id="135" dur="500"/>
                                        <p:tgtEl>
                                          <p:spTgt spid="968993"/>
                                        </p:tgtEl>
                                      </p:cBhvr>
                                    </p:animEffect>
                                  </p:childTnLst>
                                  <p:subTnLst>
                                    <p:audio>
                                      <p:cMediaNode>
                                        <p:cTn display="0" masterRel="sameClick">
                                          <p:stCondLst>
                                            <p:cond evt="begin" delay="0">
                                              <p:tn val="133"/>
                                            </p:cond>
                                          </p:stCondLst>
                                          <p:endCondLst>
                                            <p:cond evt="onStopAudio" delay="0">
                                              <p:tgtEl>
                                                <p:sldTgt/>
                                              </p:tgtEl>
                                            </p:cond>
                                          </p:endCondLst>
                                        </p:cTn>
                                        <p:tgtEl>
                                          <p:sndTgt r:embed="rId3" name="camera.wav"/>
                                        </p:tgtEl>
                                      </p:cMediaNode>
                                    </p:audio>
                                  </p:subTnLst>
                                </p:cTn>
                              </p:par>
                            </p:childTnLst>
                          </p:cTn>
                        </p:par>
                        <p:par>
                          <p:cTn id="136" fill="hold">
                            <p:stCondLst>
                              <p:cond delay="14500"/>
                            </p:stCondLst>
                            <p:childTnLst>
                              <p:par>
                                <p:cTn id="137" presetID="4" presetClass="entr" presetSubtype="16" fill="hold" grpId="0" nodeType="afterEffect">
                                  <p:stCondLst>
                                    <p:cond delay="0"/>
                                  </p:stCondLst>
                                  <p:childTnLst>
                                    <p:set>
                                      <p:cBhvr>
                                        <p:cTn id="138" dur="1" fill="hold">
                                          <p:stCondLst>
                                            <p:cond delay="0"/>
                                          </p:stCondLst>
                                        </p:cTn>
                                        <p:tgtEl>
                                          <p:spTgt spid="968994"/>
                                        </p:tgtEl>
                                        <p:attrNameLst>
                                          <p:attrName>style.visibility</p:attrName>
                                        </p:attrNameLst>
                                      </p:cBhvr>
                                      <p:to>
                                        <p:strVal val="visible"/>
                                      </p:to>
                                    </p:set>
                                    <p:animEffect transition="in" filter="box(in)">
                                      <p:cBhvr>
                                        <p:cTn id="139" dur="500"/>
                                        <p:tgtEl>
                                          <p:spTgt spid="968994"/>
                                        </p:tgtEl>
                                      </p:cBhvr>
                                    </p:animEffect>
                                  </p:childTnLst>
                                  <p:subTnLst>
                                    <p:audio>
                                      <p:cMediaNode>
                                        <p:cTn display="0" masterRel="sameClick">
                                          <p:stCondLst>
                                            <p:cond evt="begin" delay="0">
                                              <p:tn val="137"/>
                                            </p:cond>
                                          </p:stCondLst>
                                          <p:endCondLst>
                                            <p:cond evt="onStopAudio" delay="0">
                                              <p:tgtEl>
                                                <p:sldTgt/>
                                              </p:tgtEl>
                                            </p:cond>
                                          </p:endCondLst>
                                        </p:cTn>
                                        <p:tgtEl>
                                          <p:sndTgt r:embed="rId3" name="camera.wav"/>
                                        </p:tgtEl>
                                      </p:cMediaNode>
                                    </p:audio>
                                  </p:subTnLst>
                                </p:cTn>
                              </p:par>
                            </p:childTnLst>
                          </p:cTn>
                        </p:par>
                        <p:par>
                          <p:cTn id="140" fill="hold">
                            <p:stCondLst>
                              <p:cond delay="15000"/>
                            </p:stCondLst>
                            <p:childTnLst>
                              <p:par>
                                <p:cTn id="141" presetID="4" presetClass="entr" presetSubtype="16" fill="hold" grpId="0" nodeType="afterEffect">
                                  <p:stCondLst>
                                    <p:cond delay="0"/>
                                  </p:stCondLst>
                                  <p:childTnLst>
                                    <p:set>
                                      <p:cBhvr>
                                        <p:cTn id="142" dur="1" fill="hold">
                                          <p:stCondLst>
                                            <p:cond delay="0"/>
                                          </p:stCondLst>
                                        </p:cTn>
                                        <p:tgtEl>
                                          <p:spTgt spid="968995"/>
                                        </p:tgtEl>
                                        <p:attrNameLst>
                                          <p:attrName>style.visibility</p:attrName>
                                        </p:attrNameLst>
                                      </p:cBhvr>
                                      <p:to>
                                        <p:strVal val="visible"/>
                                      </p:to>
                                    </p:set>
                                    <p:animEffect transition="in" filter="box(in)">
                                      <p:cBhvr>
                                        <p:cTn id="143" dur="500"/>
                                        <p:tgtEl>
                                          <p:spTgt spid="968995"/>
                                        </p:tgtEl>
                                      </p:cBhvr>
                                    </p:animEffect>
                                  </p:childTnLst>
                                  <p:subTnLst>
                                    <p:audio>
                                      <p:cMediaNode>
                                        <p:cTn display="0" masterRel="sameClick">
                                          <p:stCondLst>
                                            <p:cond evt="begin" delay="0">
                                              <p:tn val="141"/>
                                            </p:cond>
                                          </p:stCondLst>
                                          <p:endCondLst>
                                            <p:cond evt="onStopAudio" delay="0">
                                              <p:tgtEl>
                                                <p:sldTgt/>
                                              </p:tgtEl>
                                            </p:cond>
                                          </p:endCondLst>
                                        </p:cTn>
                                        <p:tgtEl>
                                          <p:sndTgt r:embed="rId3" name="camera.wav"/>
                                        </p:tgtEl>
                                      </p:cMediaNode>
                                    </p:audio>
                                  </p:subTnLst>
                                </p:cTn>
                              </p:par>
                            </p:childTnLst>
                          </p:cTn>
                        </p:par>
                        <p:par>
                          <p:cTn id="144" fill="hold">
                            <p:stCondLst>
                              <p:cond delay="15500"/>
                            </p:stCondLst>
                            <p:childTnLst>
                              <p:par>
                                <p:cTn id="145" presetID="18" presetClass="entr" presetSubtype="12" fill="hold" grpId="0" nodeType="afterEffect">
                                  <p:stCondLst>
                                    <p:cond delay="0"/>
                                  </p:stCondLst>
                                  <p:childTnLst>
                                    <p:set>
                                      <p:cBhvr>
                                        <p:cTn id="146" dur="1" fill="hold">
                                          <p:stCondLst>
                                            <p:cond delay="0"/>
                                          </p:stCondLst>
                                        </p:cTn>
                                        <p:tgtEl>
                                          <p:spTgt spid="968996"/>
                                        </p:tgtEl>
                                        <p:attrNameLst>
                                          <p:attrName>style.visibility</p:attrName>
                                        </p:attrNameLst>
                                      </p:cBhvr>
                                      <p:to>
                                        <p:strVal val="visible"/>
                                      </p:to>
                                    </p:set>
                                    <p:animEffect transition="in" filter="strips(downLeft)">
                                      <p:cBhvr>
                                        <p:cTn id="147" dur="500"/>
                                        <p:tgtEl>
                                          <p:spTgt spid="968996"/>
                                        </p:tgtEl>
                                      </p:cBhvr>
                                    </p:animEffect>
                                  </p:childTnLst>
                                  <p:subTnLst>
                                    <p:audio>
                                      <p:cMediaNode>
                                        <p:cTn display="0" masterRel="sameClick">
                                          <p:stCondLst>
                                            <p:cond evt="begin" delay="0">
                                              <p:tn val="145"/>
                                            </p:cond>
                                          </p:stCondLst>
                                          <p:endCondLst>
                                            <p:cond evt="onStopAudio" delay="0">
                                              <p:tgtEl>
                                                <p:sldTgt/>
                                              </p:tgtEl>
                                            </p:cond>
                                          </p:endCondLst>
                                        </p:cTn>
                                        <p:tgtEl>
                                          <p:sndTgt r:embed="rId3" name="camera.wav"/>
                                        </p:tgtEl>
                                      </p:cMediaNode>
                                    </p:audio>
                                  </p:subTnLst>
                                </p:cTn>
                              </p:par>
                            </p:childTnLst>
                          </p:cTn>
                        </p:par>
                        <p:par>
                          <p:cTn id="148" fill="hold">
                            <p:stCondLst>
                              <p:cond delay="16000"/>
                            </p:stCondLst>
                            <p:childTnLst>
                              <p:par>
                                <p:cTn id="149" presetID="4" presetClass="entr" presetSubtype="16" fill="hold" grpId="0" nodeType="afterEffect">
                                  <p:stCondLst>
                                    <p:cond delay="0"/>
                                  </p:stCondLst>
                                  <p:childTnLst>
                                    <p:set>
                                      <p:cBhvr>
                                        <p:cTn id="150" dur="1" fill="hold">
                                          <p:stCondLst>
                                            <p:cond delay="0"/>
                                          </p:stCondLst>
                                        </p:cTn>
                                        <p:tgtEl>
                                          <p:spTgt spid="968997"/>
                                        </p:tgtEl>
                                        <p:attrNameLst>
                                          <p:attrName>style.visibility</p:attrName>
                                        </p:attrNameLst>
                                      </p:cBhvr>
                                      <p:to>
                                        <p:strVal val="visible"/>
                                      </p:to>
                                    </p:set>
                                    <p:animEffect transition="in" filter="box(in)">
                                      <p:cBhvr>
                                        <p:cTn id="151" dur="500"/>
                                        <p:tgtEl>
                                          <p:spTgt spid="968997"/>
                                        </p:tgtEl>
                                      </p:cBhvr>
                                    </p:animEffect>
                                  </p:childTnLst>
                                  <p:subTnLst>
                                    <p:audio>
                                      <p:cMediaNode>
                                        <p:cTn display="0" masterRel="sameClick">
                                          <p:stCondLst>
                                            <p:cond evt="begin" delay="0">
                                              <p:tn val="149"/>
                                            </p:cond>
                                          </p:stCondLst>
                                          <p:endCondLst>
                                            <p:cond evt="onStopAudio" delay="0">
                                              <p:tgtEl>
                                                <p:sldTgt/>
                                              </p:tgtEl>
                                            </p:cond>
                                          </p:endCondLst>
                                        </p:cTn>
                                        <p:tgtEl>
                                          <p:sndTgt r:embed="rId3" name="camera.wav"/>
                                        </p:tgtEl>
                                      </p:cMediaNode>
                                    </p:audio>
                                  </p:subTnLst>
                                </p:cTn>
                              </p:par>
                            </p:childTnLst>
                          </p:cTn>
                        </p:par>
                      </p:childTnLst>
                    </p:cTn>
                  </p:par>
                  <p:par>
                    <p:cTn id="152" fill="hold">
                      <p:stCondLst>
                        <p:cond delay="indefinite"/>
                      </p:stCondLst>
                      <p:childTnLst>
                        <p:par>
                          <p:cTn id="153" fill="hold">
                            <p:stCondLst>
                              <p:cond delay="0"/>
                            </p:stCondLst>
                            <p:childTnLst>
                              <p:par>
                                <p:cTn id="154" presetID="4" presetClass="entr" presetSubtype="32" fill="hold" grpId="0" nodeType="clickEffect">
                                  <p:stCondLst>
                                    <p:cond delay="0"/>
                                  </p:stCondLst>
                                  <p:childTnLst>
                                    <p:set>
                                      <p:cBhvr>
                                        <p:cTn id="155" dur="1" fill="hold">
                                          <p:stCondLst>
                                            <p:cond delay="0"/>
                                          </p:stCondLst>
                                        </p:cTn>
                                        <p:tgtEl>
                                          <p:spTgt spid="969100"/>
                                        </p:tgtEl>
                                        <p:attrNameLst>
                                          <p:attrName>style.visibility</p:attrName>
                                        </p:attrNameLst>
                                      </p:cBhvr>
                                      <p:to>
                                        <p:strVal val="visible"/>
                                      </p:to>
                                    </p:set>
                                    <p:animEffect transition="in" filter="box(out)">
                                      <p:cBhvr>
                                        <p:cTn id="156" dur="500"/>
                                        <p:tgtEl>
                                          <p:spTgt spid="969100"/>
                                        </p:tgtEl>
                                      </p:cBhvr>
                                    </p:animEffect>
                                  </p:childTnLst>
                                  <p:subTnLst>
                                    <p:audio>
                                      <p:cMediaNode>
                                        <p:cTn display="0" masterRel="sameClick">
                                          <p:stCondLst>
                                            <p:cond evt="begin" delay="0">
                                              <p:tn val="154"/>
                                            </p:cond>
                                          </p:stCondLst>
                                          <p:endCondLst>
                                            <p:cond evt="onStopAudio" delay="0">
                                              <p:tgtEl>
                                                <p:sldTgt/>
                                              </p:tgtEl>
                                            </p:cond>
                                          </p:endCondLst>
                                        </p:cTn>
                                        <p:tgtEl>
                                          <p:sndTgt r:embed="rId3" name="camera.wav"/>
                                        </p:tgtEl>
                                      </p:cMediaNode>
                                    </p:audio>
                                  </p:subTnLst>
                                </p:cTn>
                              </p:par>
                            </p:childTnLst>
                          </p:cTn>
                        </p:par>
                      </p:childTnLst>
                    </p:cTn>
                  </p:par>
                  <p:par>
                    <p:cTn id="157" fill="hold">
                      <p:stCondLst>
                        <p:cond delay="indefinite"/>
                      </p:stCondLst>
                      <p:childTnLst>
                        <p:par>
                          <p:cTn id="158" fill="hold">
                            <p:stCondLst>
                              <p:cond delay="0"/>
                            </p:stCondLst>
                            <p:childTnLst>
                              <p:par>
                                <p:cTn id="159" presetID="4" presetClass="entr" presetSubtype="32" fill="hold" grpId="0" nodeType="clickEffect">
                                  <p:stCondLst>
                                    <p:cond delay="0"/>
                                  </p:stCondLst>
                                  <p:childTnLst>
                                    <p:set>
                                      <p:cBhvr>
                                        <p:cTn id="160" dur="1" fill="hold">
                                          <p:stCondLst>
                                            <p:cond delay="0"/>
                                          </p:stCondLst>
                                        </p:cTn>
                                        <p:tgtEl>
                                          <p:spTgt spid="969101"/>
                                        </p:tgtEl>
                                        <p:attrNameLst>
                                          <p:attrName>style.visibility</p:attrName>
                                        </p:attrNameLst>
                                      </p:cBhvr>
                                      <p:to>
                                        <p:strVal val="visible"/>
                                      </p:to>
                                    </p:set>
                                    <p:animEffect transition="in" filter="box(out)">
                                      <p:cBhvr>
                                        <p:cTn id="161" dur="500"/>
                                        <p:tgtEl>
                                          <p:spTgt spid="969101"/>
                                        </p:tgtEl>
                                      </p:cBhvr>
                                    </p:animEffect>
                                  </p:childTnLst>
                                  <p:subTnLst>
                                    <p:audio>
                                      <p:cMediaNode>
                                        <p:cTn display="0" masterRel="sameClick">
                                          <p:stCondLst>
                                            <p:cond evt="begin" delay="0">
                                              <p:tn val="159"/>
                                            </p:cond>
                                          </p:stCondLst>
                                          <p:endCondLst>
                                            <p:cond evt="onStopAudio" delay="0">
                                              <p:tgtEl>
                                                <p:sldTgt/>
                                              </p:tgtEl>
                                            </p:cond>
                                          </p:endCondLst>
                                        </p:cTn>
                                        <p:tgtEl>
                                          <p:sndTgt r:embed="rId3" name="camera.wav"/>
                                        </p:tgtEl>
                                      </p:cMediaNode>
                                    </p:audio>
                                  </p:subTnLst>
                                </p:cTn>
                              </p:par>
                            </p:childTnLst>
                          </p:cTn>
                        </p:par>
                      </p:childTnLst>
                    </p:cTn>
                  </p:par>
                  <p:par>
                    <p:cTn id="162" fill="hold">
                      <p:stCondLst>
                        <p:cond delay="indefinite"/>
                      </p:stCondLst>
                      <p:childTnLst>
                        <p:par>
                          <p:cTn id="163" fill="hold">
                            <p:stCondLst>
                              <p:cond delay="0"/>
                            </p:stCondLst>
                            <p:childTnLst>
                              <p:par>
                                <p:cTn id="164" presetID="8" presetClass="entr" presetSubtype="16" fill="hold" grpId="0" nodeType="clickEffect">
                                  <p:stCondLst>
                                    <p:cond delay="0"/>
                                  </p:stCondLst>
                                  <p:childTnLst>
                                    <p:set>
                                      <p:cBhvr>
                                        <p:cTn id="165" dur="1" fill="hold">
                                          <p:stCondLst>
                                            <p:cond delay="0"/>
                                          </p:stCondLst>
                                        </p:cTn>
                                        <p:tgtEl>
                                          <p:spTgt spid="969102"/>
                                        </p:tgtEl>
                                        <p:attrNameLst>
                                          <p:attrName>style.visibility</p:attrName>
                                        </p:attrNameLst>
                                      </p:cBhvr>
                                      <p:to>
                                        <p:strVal val="visible"/>
                                      </p:to>
                                    </p:set>
                                    <p:animEffect transition="in" filter="diamond(in)">
                                      <p:cBhvr>
                                        <p:cTn id="166" dur="2000"/>
                                        <p:tgtEl>
                                          <p:spTgt spid="969102"/>
                                        </p:tgtEl>
                                      </p:cBhvr>
                                    </p:animEffect>
                                  </p:childTnLst>
                                  <p:subTnLst>
                                    <p:audio>
                                      <p:cMediaNode>
                                        <p:cTn display="0" masterRel="sameClick">
                                          <p:stCondLst>
                                            <p:cond evt="begin" delay="0">
                                              <p:tn val="164"/>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8712" grpId="0"/>
      <p:bldP spid="968716" grpId="0" animBg="1"/>
      <p:bldP spid="968966" grpId="0"/>
      <p:bldP spid="968967" grpId="0"/>
      <p:bldP spid="968968" grpId="0" animBg="1"/>
      <p:bldP spid="968969" grpId="0" animBg="1"/>
      <p:bldP spid="968970" grpId="0"/>
      <p:bldP spid="968971" grpId="0"/>
      <p:bldP spid="968972" grpId="0" animBg="1"/>
      <p:bldP spid="968973" grpId="0"/>
      <p:bldP spid="968974" grpId="0"/>
      <p:bldP spid="968975" grpId="0" animBg="1"/>
      <p:bldP spid="968976" grpId="0"/>
      <p:bldP spid="968977" grpId="0"/>
      <p:bldP spid="968978" grpId="0" animBg="1"/>
      <p:bldP spid="968979" grpId="0"/>
      <p:bldP spid="968980" grpId="0"/>
      <p:bldP spid="968981" grpId="0" animBg="1"/>
      <p:bldP spid="968982" grpId="0"/>
      <p:bldP spid="968983" grpId="0"/>
      <p:bldP spid="968984" grpId="0" animBg="1"/>
      <p:bldP spid="968985" grpId="0"/>
      <p:bldP spid="968986" grpId="0"/>
      <p:bldP spid="968987" grpId="0" animBg="1"/>
      <p:bldP spid="968988" grpId="0"/>
      <p:bldP spid="968989" grpId="0"/>
      <p:bldP spid="968990" grpId="0" animBg="1"/>
      <p:bldP spid="968991" grpId="0"/>
      <p:bldP spid="968992" grpId="0"/>
      <p:bldP spid="968993" grpId="0" animBg="1"/>
      <p:bldP spid="968994" grpId="0"/>
      <p:bldP spid="968995" grpId="0"/>
      <p:bldP spid="968996" grpId="0" animBg="1"/>
      <p:bldP spid="968997" grpId="0"/>
      <p:bldP spid="969100" grpId="0"/>
      <p:bldP spid="969101" grpId="0" animBg="1"/>
      <p:bldP spid="969102"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0758" name="Rectangle 6"/>
          <p:cNvSpPr>
            <a:spLocks noChangeArrowheads="1"/>
          </p:cNvSpPr>
          <p:nvPr/>
        </p:nvSpPr>
        <p:spPr bwMode="auto">
          <a:xfrm>
            <a:off x="1143770" y="1315616"/>
            <a:ext cx="2855269" cy="369332"/>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chemeClr val="accent1"/>
                </a:solidFill>
                <a:latin typeface="+mn-lt"/>
                <a:ea typeface="楷体" pitchFamily="49" charset="-122"/>
              </a:rPr>
              <a:t>一维数组在程序中赋值</a:t>
            </a:r>
          </a:p>
        </p:txBody>
      </p:sp>
      <p:sp>
        <p:nvSpPr>
          <p:cNvPr id="970765" name="Rectangle 13"/>
          <p:cNvSpPr>
            <a:spLocks noChangeArrowheads="1"/>
          </p:cNvSpPr>
          <p:nvPr/>
        </p:nvSpPr>
        <p:spPr bwMode="auto">
          <a:xfrm>
            <a:off x="983432" y="1700808"/>
            <a:ext cx="10702005"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C</a:t>
            </a:r>
            <a:r>
              <a:rPr lang="zh-CN" altLang="en-US" b="1" dirty="0">
                <a:effectLst>
                  <a:outerShdw blurRad="38100" dist="38100" dir="2700000" algn="tl">
                    <a:srgbClr val="FFFFFF"/>
                  </a:outerShdw>
                </a:effectLst>
                <a:latin typeface="+mn-lt"/>
                <a:ea typeface="楷体" pitchFamily="49" charset="-122"/>
              </a:rPr>
              <a:t>语言除了在定义数组变量时用初值列表对数组整体赋值以外，无法再对数组变量进行整体赋值。</a:t>
            </a:r>
            <a:r>
              <a:rPr lang="zh-CN" altLang="en-US" dirty="0">
                <a:latin typeface="+mn-lt"/>
                <a:ea typeface="楷体" pitchFamily="49" charset="-122"/>
              </a:rPr>
              <a:t> </a:t>
            </a:r>
          </a:p>
        </p:txBody>
      </p:sp>
      <p:sp>
        <p:nvSpPr>
          <p:cNvPr id="970766" name="Text Box 14" descr="信纸"/>
          <p:cNvSpPr txBox="1">
            <a:spLocks noChangeArrowheads="1"/>
          </p:cNvSpPr>
          <p:nvPr/>
        </p:nvSpPr>
        <p:spPr bwMode="auto">
          <a:xfrm>
            <a:off x="2027374" y="2492896"/>
            <a:ext cx="8137252"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 </a:t>
            </a:r>
            <a:r>
              <a:rPr lang="zh-CN" altLang="en-US" b="1" dirty="0">
                <a:ea typeface="隶书" pitchFamily="49" charset="-122"/>
              </a:rPr>
              <a:t> </a:t>
            </a:r>
            <a:r>
              <a:rPr lang="en-US" altLang="zh-CN" b="1" dirty="0"/>
              <a:t>int a[5];</a:t>
            </a:r>
          </a:p>
          <a:p>
            <a:r>
              <a:rPr lang="en-US" altLang="zh-CN" b="1" dirty="0"/>
              <a:t>      </a:t>
            </a:r>
            <a:r>
              <a:rPr lang="en-US" altLang="zh-CN" b="1" dirty="0">
                <a:ea typeface="楷体_GB2312" pitchFamily="49" charset="-122"/>
              </a:rPr>
              <a:t>a = {1, 2, 3, 4, 5};        </a:t>
            </a:r>
            <a:endParaRPr lang="en-US" altLang="zh-CN" sz="2000" b="1" dirty="0">
              <a:solidFill>
                <a:srgbClr val="0033CC"/>
              </a:solidFill>
              <a:ea typeface="楷体_GB2312" pitchFamily="49" charset="-122"/>
            </a:endParaRPr>
          </a:p>
          <a:p>
            <a:r>
              <a:rPr lang="en-US" altLang="zh-CN" b="1" dirty="0">
                <a:ea typeface="楷体_GB2312" pitchFamily="49" charset="-122"/>
              </a:rPr>
              <a:t>      a[ ] = {1, 2, 3, 4, 5};     </a:t>
            </a:r>
            <a:endParaRPr lang="en-US" altLang="zh-CN" sz="2000" b="1" dirty="0">
              <a:solidFill>
                <a:srgbClr val="0033CC"/>
              </a:solidFill>
              <a:ea typeface="楷体_GB2312" pitchFamily="49" charset="-122"/>
            </a:endParaRPr>
          </a:p>
          <a:p>
            <a:r>
              <a:rPr lang="en-US" altLang="zh-CN" b="1" dirty="0">
                <a:ea typeface="楷体_GB2312" pitchFamily="49" charset="-122"/>
              </a:rPr>
              <a:t>      a[5] = {1, 2, 3, 4, 5};    </a:t>
            </a:r>
            <a:endParaRPr lang="en-US" altLang="zh-CN" sz="2000" b="1" dirty="0">
              <a:solidFill>
                <a:srgbClr val="0033CC"/>
              </a:solidFill>
              <a:ea typeface="楷体_GB2312" pitchFamily="49" charset="-122"/>
            </a:endParaRPr>
          </a:p>
        </p:txBody>
      </p:sp>
      <p:sp>
        <p:nvSpPr>
          <p:cNvPr id="970767" name="AutoShape 15"/>
          <p:cNvSpPr>
            <a:spLocks noChangeArrowheads="1"/>
          </p:cNvSpPr>
          <p:nvPr/>
        </p:nvSpPr>
        <p:spPr bwMode="auto">
          <a:xfrm>
            <a:off x="6334434" y="2636492"/>
            <a:ext cx="3025775" cy="1223962"/>
          </a:xfrm>
          <a:prstGeom prst="irregularSeal1">
            <a:avLst/>
          </a:prstGeom>
          <a:gradFill flip="none" rotWithShape="1">
            <a:gsLst>
              <a:gs pos="0">
                <a:srgbClr val="CFCFD1"/>
              </a:gs>
              <a:gs pos="100000">
                <a:schemeClr val="bg1">
                  <a:lumMod val="95000"/>
                </a:schemeClr>
              </a:gs>
            </a:gsLst>
            <a:lin ang="13500000" scaled="1"/>
            <a:tileRect/>
          </a:gradFill>
          <a:ln w="19050">
            <a:solidFill>
              <a:srgbClr val="C01920"/>
            </a:solidFill>
            <a:miter lim="800000"/>
            <a:headEnd/>
            <a:tailEnd/>
          </a:ln>
          <a:effectLst>
            <a:outerShdw dist="107763" dir="2700000" algn="ctr" rotWithShape="0">
              <a:schemeClr val="bg2">
                <a:alpha val="50000"/>
              </a:schemeClr>
            </a:outerShdw>
          </a:effectLst>
        </p:spPr>
        <p:txBody>
          <a:bodyPr wrap="none" anchor="ctr"/>
          <a:lstStyle/>
          <a:p>
            <a:pPr algn="ctr"/>
            <a:r>
              <a:rPr lang="zh-CN" altLang="en-US" sz="2800" b="1" dirty="0">
                <a:solidFill>
                  <a:srgbClr val="C01920"/>
                </a:solidFill>
                <a:ea typeface="隶书" pitchFamily="49" charset="-122"/>
              </a:rPr>
              <a:t>错误！</a:t>
            </a:r>
          </a:p>
        </p:txBody>
      </p:sp>
      <p:sp>
        <p:nvSpPr>
          <p:cNvPr id="970768" name="Rectangle 16"/>
          <p:cNvSpPr>
            <a:spLocks noChangeArrowheads="1"/>
          </p:cNvSpPr>
          <p:nvPr/>
        </p:nvSpPr>
        <p:spPr bwMode="auto">
          <a:xfrm>
            <a:off x="1487488" y="4005064"/>
            <a:ext cx="7921625" cy="830997"/>
          </a:xfrm>
          <a:prstGeom prst="rect">
            <a:avLst/>
          </a:prstGeom>
          <a:noFill/>
          <a:ln w="9525">
            <a:noFill/>
            <a:miter lim="800000"/>
            <a:headEnd/>
            <a:tailEnd/>
          </a:ln>
          <a:effectLst/>
        </p:spPr>
        <p:txBody>
          <a:bodyPr anchor="ctr">
            <a:spAutoFit/>
          </a:bodyPr>
          <a:lstStyle/>
          <a:p>
            <a:r>
              <a:rPr lang="zh-CN" altLang="en-US" b="1" dirty="0">
                <a:solidFill>
                  <a:srgbClr val="C01920"/>
                </a:solidFill>
                <a:latin typeface="隶书" pitchFamily="49" charset="-122"/>
                <a:ea typeface="隶书" pitchFamily="49" charset="-122"/>
              </a:rPr>
              <a:t>数组定义后，如何对数组进行赋值呢？</a:t>
            </a:r>
          </a:p>
          <a:p>
            <a:r>
              <a:rPr lang="zh-CN" altLang="en-US" b="1" dirty="0">
                <a:solidFill>
                  <a:srgbClr val="002060"/>
                </a:solidFill>
                <a:latin typeface="隶书" pitchFamily="49" charset="-122"/>
                <a:ea typeface="隶书" pitchFamily="49" charset="-122"/>
              </a:rPr>
              <a:t>只能通过</a:t>
            </a:r>
            <a:r>
              <a:rPr lang="en-US" altLang="zh-CN" b="1" dirty="0">
                <a:solidFill>
                  <a:srgbClr val="002060"/>
                </a:solidFill>
                <a:latin typeface="隶书" pitchFamily="49" charset="-122"/>
                <a:ea typeface="隶书" pitchFamily="49" charset="-122"/>
              </a:rPr>
              <a:t>C</a:t>
            </a:r>
            <a:r>
              <a:rPr lang="zh-CN" altLang="en-US" b="1" dirty="0">
                <a:solidFill>
                  <a:srgbClr val="002060"/>
                </a:solidFill>
                <a:latin typeface="隶书" pitchFamily="49" charset="-122"/>
                <a:ea typeface="隶书" pitchFamily="49" charset="-122"/>
              </a:rPr>
              <a:t>语句对数组中的数组元素逐一赋值。</a:t>
            </a:r>
          </a:p>
        </p:txBody>
      </p:sp>
      <p:sp>
        <p:nvSpPr>
          <p:cNvPr id="970769" name="Rectangle 17"/>
          <p:cNvSpPr>
            <a:spLocks noChangeArrowheads="1"/>
          </p:cNvSpPr>
          <p:nvPr/>
        </p:nvSpPr>
        <p:spPr bwMode="auto">
          <a:xfrm>
            <a:off x="1627152" y="4817663"/>
            <a:ext cx="4128053" cy="461665"/>
          </a:xfrm>
          <a:prstGeom prst="rect">
            <a:avLst/>
          </a:prstGeom>
          <a:gradFill>
            <a:gsLst>
              <a:gs pos="0">
                <a:srgbClr val="CFCFD1"/>
              </a:gs>
              <a:gs pos="100000">
                <a:schemeClr val="bg1">
                  <a:lumMod val="95000"/>
                </a:schemeClr>
              </a:gs>
            </a:gsLst>
            <a:lin ang="13500000" scaled="1"/>
          </a:gradFill>
          <a:ln>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anchor="ctr">
            <a:spAutoFit/>
          </a:bodyPr>
          <a:lstStyle/>
          <a:p>
            <a:pPr>
              <a:buFont typeface="Wingdings" pitchFamily="2" charset="2"/>
              <a:buChar char="l"/>
              <a:tabLst>
                <a:tab pos="266700" algn="l"/>
              </a:tabLst>
            </a:pPr>
            <a:r>
              <a:rPr lang="en-US" altLang="zh-CN" b="1" dirty="0">
                <a:solidFill>
                  <a:srgbClr val="C01920"/>
                </a:solidFill>
                <a:ea typeface="隶书" pitchFamily="49" charset="-122"/>
              </a:rPr>
              <a:t>  </a:t>
            </a:r>
            <a:r>
              <a:rPr lang="zh-CN" altLang="en-US" b="1" dirty="0">
                <a:solidFill>
                  <a:srgbClr val="C01920"/>
                </a:solidFill>
                <a:ea typeface="隶书" pitchFamily="49" charset="-122"/>
              </a:rPr>
              <a:t>使用赋值语句来逐一赋值</a:t>
            </a:r>
          </a:p>
        </p:txBody>
      </p:sp>
      <p:sp>
        <p:nvSpPr>
          <p:cNvPr id="970770" name="Text Box 18" descr="信纸"/>
          <p:cNvSpPr txBox="1">
            <a:spLocks noChangeArrowheads="1"/>
          </p:cNvSpPr>
          <p:nvPr/>
        </p:nvSpPr>
        <p:spPr bwMode="auto">
          <a:xfrm>
            <a:off x="911424" y="5301208"/>
            <a:ext cx="10765370" cy="157184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  </a:t>
            </a:r>
            <a:r>
              <a:rPr lang="zh-CN" altLang="en-US" b="1" dirty="0">
                <a:ea typeface="隶书" pitchFamily="49" charset="-122"/>
              </a:rPr>
              <a:t> </a:t>
            </a:r>
            <a:r>
              <a:rPr lang="en-US" altLang="zh-CN" b="1" dirty="0" err="1"/>
              <a:t>int</a:t>
            </a:r>
            <a:r>
              <a:rPr lang="en-US" altLang="zh-CN" b="1" dirty="0"/>
              <a:t> a[4];</a:t>
            </a:r>
          </a:p>
          <a:p>
            <a:r>
              <a:rPr lang="en-US" altLang="zh-CN" b="1" dirty="0">
                <a:ea typeface="楷体_GB2312" pitchFamily="49" charset="-122"/>
              </a:rPr>
              <a:t>       a[0] = 1;  a[1] = 2;  a[2] = 3;  a[3] = 4;  </a:t>
            </a:r>
          </a:p>
          <a:p>
            <a:r>
              <a:rPr lang="en-US" altLang="zh-CN" b="1" dirty="0">
                <a:ea typeface="楷体_GB2312" pitchFamily="49" charset="-122"/>
              </a:rPr>
              <a:t>       char </a:t>
            </a:r>
            <a:r>
              <a:rPr lang="en-US" altLang="zh-CN" b="1" dirty="0" err="1">
                <a:ea typeface="楷体_GB2312" pitchFamily="49" charset="-122"/>
              </a:rPr>
              <a:t>str</a:t>
            </a:r>
            <a:r>
              <a:rPr lang="en-US" altLang="zh-CN" b="1" dirty="0">
                <a:ea typeface="楷体_GB2312" pitchFamily="49" charset="-122"/>
              </a:rPr>
              <a:t>[80];</a:t>
            </a:r>
          </a:p>
          <a:p>
            <a:r>
              <a:rPr lang="en-US" altLang="zh-CN" b="1" dirty="0">
                <a:ea typeface="楷体_GB2312" pitchFamily="49" charset="-122"/>
              </a:rPr>
              <a:t>       str[0] = 'b'; str[1] = 'y'; str[2] = 'e'; str[3] = '\0’;  </a:t>
            </a:r>
            <a:r>
              <a:rPr lang="en-US" altLang="zh-CN" b="1" dirty="0">
                <a:solidFill>
                  <a:srgbClr val="002060"/>
                </a:solidFill>
                <a:latin typeface="+mn-lt"/>
                <a:ea typeface="楷体"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将数组</a:t>
            </a:r>
            <a:r>
              <a:rPr lang="en-US" altLang="zh-CN" sz="2000" b="1" dirty="0" err="1">
                <a:solidFill>
                  <a:srgbClr val="002060"/>
                </a:solidFill>
                <a:latin typeface="+mn-lt"/>
                <a:ea typeface="楷体" pitchFamily="49" charset="-122"/>
              </a:rPr>
              <a:t>str</a:t>
            </a:r>
            <a:r>
              <a:rPr lang="zh-CN" altLang="en-US" sz="2000" b="1" dirty="0">
                <a:solidFill>
                  <a:srgbClr val="002060"/>
                </a:solidFill>
                <a:latin typeface="+mn-lt"/>
                <a:ea typeface="楷体" pitchFamily="49" charset="-122"/>
              </a:rPr>
              <a:t>赋值为一字符串</a:t>
            </a:r>
            <a:r>
              <a:rPr lang="en-US" altLang="zh-CN" sz="2000" b="1" dirty="0">
                <a:solidFill>
                  <a:srgbClr val="002060"/>
                </a:solidFill>
                <a:latin typeface="+mn-lt"/>
                <a:ea typeface="楷体" pitchFamily="49" charset="-122"/>
              </a:rPr>
              <a:t>"bye"</a:t>
            </a:r>
            <a:r>
              <a:rPr lang="en-US" altLang="zh-CN" dirty="0">
                <a:solidFill>
                  <a:srgbClr val="002060"/>
                </a:solidFill>
                <a:latin typeface="+mn-lt"/>
                <a:ea typeface="楷体" pitchFamily="49" charset="-122"/>
              </a:rPr>
              <a:t> </a:t>
            </a:r>
          </a:p>
        </p:txBody>
      </p:sp>
      <p:sp>
        <p:nvSpPr>
          <p:cNvPr id="13" name="Rectangle 5">
            <a:extLst>
              <a:ext uri="{FF2B5EF4-FFF2-40B4-BE49-F238E27FC236}">
                <a16:creationId xmlns:a16="http://schemas.microsoft.com/office/drawing/2014/main" id="{655FFAF0-DD52-45B4-AEF6-53937ADAFA9E}"/>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3</a:t>
            </a:r>
            <a:r>
              <a:rPr lang="zh-CN" altLang="en-US" sz="2800" b="1" dirty="0">
                <a:solidFill>
                  <a:schemeClr val="accent1"/>
                </a:solidFill>
                <a:latin typeface="+mn-lt"/>
                <a:ea typeface="楷体" pitchFamily="49" charset="-122"/>
              </a:rPr>
              <a:t>、一维数组的赋值</a:t>
            </a:r>
          </a:p>
        </p:txBody>
      </p:sp>
      <p:sp>
        <p:nvSpPr>
          <p:cNvPr id="14" name="Rectangle 4">
            <a:extLst>
              <a:ext uri="{FF2B5EF4-FFF2-40B4-BE49-F238E27FC236}">
                <a16:creationId xmlns:a16="http://schemas.microsoft.com/office/drawing/2014/main" id="{3F42B35F-DC50-402B-A082-4409D228262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697466075"/>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70758"/>
                                        </p:tgtEl>
                                        <p:attrNameLst>
                                          <p:attrName>style.visibility</p:attrName>
                                        </p:attrNameLst>
                                      </p:cBhvr>
                                      <p:to>
                                        <p:strVal val="visible"/>
                                      </p:to>
                                    </p:set>
                                    <p:anim calcmode="lin" valueType="num">
                                      <p:cBhvr additive="base">
                                        <p:cTn id="7" dur="500" fill="hold"/>
                                        <p:tgtEl>
                                          <p:spTgt spid="970758"/>
                                        </p:tgtEl>
                                        <p:attrNameLst>
                                          <p:attrName>ppt_x</p:attrName>
                                        </p:attrNameLst>
                                      </p:cBhvr>
                                      <p:tavLst>
                                        <p:tav tm="0">
                                          <p:val>
                                            <p:strVal val="0-#ppt_w/2"/>
                                          </p:val>
                                        </p:tav>
                                        <p:tav tm="100000">
                                          <p:val>
                                            <p:strVal val="#ppt_x"/>
                                          </p:val>
                                        </p:tav>
                                      </p:tavLst>
                                    </p:anim>
                                    <p:anim calcmode="lin" valueType="num">
                                      <p:cBhvr additive="base">
                                        <p:cTn id="8" dur="500" fill="hold"/>
                                        <p:tgtEl>
                                          <p:spTgt spid="97075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70765"/>
                                        </p:tgtEl>
                                        <p:attrNameLst>
                                          <p:attrName>style.visibility</p:attrName>
                                        </p:attrNameLst>
                                      </p:cBhvr>
                                      <p:to>
                                        <p:strVal val="visible"/>
                                      </p:to>
                                    </p:set>
                                    <p:animEffect transition="in" filter="box(out)">
                                      <p:cBhvr>
                                        <p:cTn id="13" dur="500"/>
                                        <p:tgtEl>
                                          <p:spTgt spid="97076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70766"/>
                                        </p:tgtEl>
                                        <p:attrNameLst>
                                          <p:attrName>style.visibility</p:attrName>
                                        </p:attrNameLst>
                                      </p:cBhvr>
                                      <p:to>
                                        <p:strVal val="visible"/>
                                      </p:to>
                                    </p:set>
                                    <p:animEffect transition="in" filter="box(out)">
                                      <p:cBhvr>
                                        <p:cTn id="18" dur="500"/>
                                        <p:tgtEl>
                                          <p:spTgt spid="97076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970767"/>
                                        </p:tgtEl>
                                        <p:attrNameLst>
                                          <p:attrName>style.visibility</p:attrName>
                                        </p:attrNameLst>
                                      </p:cBhvr>
                                      <p:to>
                                        <p:strVal val="visible"/>
                                      </p:to>
                                    </p:set>
                                    <p:animEffect transition="in" filter="box(out)">
                                      <p:cBhvr>
                                        <p:cTn id="23" dur="500"/>
                                        <p:tgtEl>
                                          <p:spTgt spid="970767"/>
                                        </p:tgtEl>
                                      </p:cBhvr>
                                    </p:animEffect>
                                  </p:childTnLst>
                                  <p:subTnLst>
                                    <p:audio>
                                      <p:cMediaNode>
                                        <p:cTn display="0" masterRel="sameClick">
                                          <p:stCondLst>
                                            <p:cond evt="begin" delay="0">
                                              <p:tn val="21"/>
                                            </p:cond>
                                          </p:stCondLst>
                                          <p:endCondLst>
                                            <p:cond evt="onStopAudio" delay="0">
                                              <p:tgtEl>
                                                <p:sldTgt/>
                                              </p:tgtEl>
                                            </p:cond>
                                          </p:endCondLst>
                                        </p:cTn>
                                        <p:tgtEl>
                                          <p:sndTgt r:embed="rId5" name="explode.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970768">
                                            <p:txEl>
                                              <p:pRg st="0" end="0"/>
                                            </p:txEl>
                                          </p:spTgt>
                                        </p:tgtEl>
                                        <p:attrNameLst>
                                          <p:attrName>style.visibility</p:attrName>
                                        </p:attrNameLst>
                                      </p:cBhvr>
                                      <p:to>
                                        <p:strVal val="visible"/>
                                      </p:to>
                                    </p:set>
                                    <p:animEffect transition="in" filter="box(out)">
                                      <p:cBhvr>
                                        <p:cTn id="28" dur="500"/>
                                        <p:tgtEl>
                                          <p:spTgt spid="970768">
                                            <p:txEl>
                                              <p:pRg st="0" end="0"/>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970768">
                                            <p:txEl>
                                              <p:pRg st="1" end="1"/>
                                            </p:txEl>
                                          </p:spTgt>
                                        </p:tgtEl>
                                        <p:attrNameLst>
                                          <p:attrName>style.visibility</p:attrName>
                                        </p:attrNameLst>
                                      </p:cBhvr>
                                      <p:to>
                                        <p:strVal val="visible"/>
                                      </p:to>
                                    </p:set>
                                    <p:animEffect transition="in" filter="box(out)">
                                      <p:cBhvr>
                                        <p:cTn id="33" dur="500"/>
                                        <p:tgtEl>
                                          <p:spTgt spid="970768">
                                            <p:txEl>
                                              <p:pRg st="1" end="1"/>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970769"/>
                                        </p:tgtEl>
                                        <p:attrNameLst>
                                          <p:attrName>style.visibility</p:attrName>
                                        </p:attrNameLst>
                                      </p:cBhvr>
                                      <p:to>
                                        <p:strVal val="visible"/>
                                      </p:to>
                                    </p:set>
                                    <p:anim calcmode="lin" valueType="num">
                                      <p:cBhvr additive="base">
                                        <p:cTn id="38" dur="500" fill="hold"/>
                                        <p:tgtEl>
                                          <p:spTgt spid="970769"/>
                                        </p:tgtEl>
                                        <p:attrNameLst>
                                          <p:attrName>ppt_x</p:attrName>
                                        </p:attrNameLst>
                                      </p:cBhvr>
                                      <p:tavLst>
                                        <p:tav tm="0">
                                          <p:val>
                                            <p:strVal val="0-#ppt_w/2"/>
                                          </p:val>
                                        </p:tav>
                                        <p:tav tm="100000">
                                          <p:val>
                                            <p:strVal val="#ppt_x"/>
                                          </p:val>
                                        </p:tav>
                                      </p:tavLst>
                                    </p:anim>
                                    <p:anim calcmode="lin" valueType="num">
                                      <p:cBhvr additive="base">
                                        <p:cTn id="39" dur="500" fill="hold"/>
                                        <p:tgtEl>
                                          <p:spTgt spid="9707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4" name="whoosh.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970770"/>
                                        </p:tgtEl>
                                        <p:attrNameLst>
                                          <p:attrName>style.visibility</p:attrName>
                                        </p:attrNameLst>
                                      </p:cBhvr>
                                      <p:to>
                                        <p:strVal val="visible"/>
                                      </p:to>
                                    </p:set>
                                    <p:animEffect transition="in" filter="box(out)">
                                      <p:cBhvr>
                                        <p:cTn id="44" dur="500"/>
                                        <p:tgtEl>
                                          <p:spTgt spid="970770"/>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58" grpId="0"/>
      <p:bldP spid="970765" grpId="0"/>
      <p:bldP spid="970766" grpId="0" animBg="1"/>
      <p:bldP spid="970767" grpId="0" animBg="1"/>
      <p:bldP spid="970769" grpId="0" animBg="1"/>
      <p:bldP spid="970770"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10" name="Rectangle 10"/>
          <p:cNvSpPr>
            <a:spLocks noChangeArrowheads="1"/>
          </p:cNvSpPr>
          <p:nvPr/>
        </p:nvSpPr>
        <p:spPr bwMode="auto">
          <a:xfrm>
            <a:off x="1538289" y="1882056"/>
            <a:ext cx="4128053" cy="461665"/>
          </a:xfrm>
          <a:prstGeom prst="rect">
            <a:avLst/>
          </a:prstGeom>
          <a:gradFill>
            <a:gsLst>
              <a:gs pos="0">
                <a:srgbClr val="CFCFD1"/>
              </a:gs>
              <a:gs pos="100000">
                <a:schemeClr val="bg1">
                  <a:lumMod val="95000"/>
                </a:schemeClr>
              </a:gs>
            </a:gsLst>
            <a:lin ang="13500000" scaled="1"/>
          </a:gradFill>
          <a:ln>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anchor="ctr">
            <a:spAutoFit/>
          </a:bodyPr>
          <a:lstStyle/>
          <a:p>
            <a:pPr>
              <a:buFont typeface="Wingdings" pitchFamily="2" charset="2"/>
              <a:buChar char="l"/>
              <a:tabLst>
                <a:tab pos="266700" algn="l"/>
              </a:tabLst>
            </a:pPr>
            <a:r>
              <a:rPr lang="en-US" altLang="zh-CN" b="1" dirty="0">
                <a:solidFill>
                  <a:srgbClr val="C01920"/>
                </a:solidFill>
                <a:ea typeface="隶书" pitchFamily="49" charset="-122"/>
              </a:rPr>
              <a:t>  </a:t>
            </a:r>
            <a:r>
              <a:rPr lang="zh-CN" altLang="en-US" b="1" dirty="0">
                <a:solidFill>
                  <a:srgbClr val="C01920"/>
                </a:solidFill>
                <a:ea typeface="隶书" pitchFamily="49" charset="-122"/>
              </a:rPr>
              <a:t>使用循环语句来逐一赋值</a:t>
            </a:r>
          </a:p>
        </p:txBody>
      </p:sp>
      <p:sp>
        <p:nvSpPr>
          <p:cNvPr id="972811" name="Text Box 11" descr="信纸"/>
          <p:cNvSpPr txBox="1">
            <a:spLocks noChangeArrowheads="1"/>
          </p:cNvSpPr>
          <p:nvPr/>
        </p:nvSpPr>
        <p:spPr bwMode="auto">
          <a:xfrm>
            <a:off x="1562293" y="2564904"/>
            <a:ext cx="9603904"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zh-CN" b="1" dirty="0">
                <a:solidFill>
                  <a:srgbClr val="C01920"/>
                </a:solidFill>
                <a:latin typeface="隶书" pitchFamily="49" charset="-122"/>
                <a:ea typeface="隶书" pitchFamily="49" charset="-122"/>
              </a:rPr>
              <a:t>例如，将数组</a:t>
            </a:r>
            <a:r>
              <a:rPr lang="en-US" altLang="zh-CN" b="1" dirty="0">
                <a:solidFill>
                  <a:srgbClr val="C01920"/>
                </a:solidFill>
                <a:latin typeface="隶书" pitchFamily="49" charset="-122"/>
                <a:ea typeface="隶书" pitchFamily="49" charset="-122"/>
              </a:rPr>
              <a:t>a</a:t>
            </a:r>
            <a:r>
              <a:rPr lang="zh-CN" altLang="en-US" b="1" dirty="0">
                <a:solidFill>
                  <a:srgbClr val="C01920"/>
                </a:solidFill>
                <a:latin typeface="隶书" pitchFamily="49" charset="-122"/>
                <a:ea typeface="隶书" pitchFamily="49" charset="-122"/>
              </a:rPr>
              <a:t>的各元素赋值成奇数序列</a:t>
            </a:r>
            <a:r>
              <a:rPr lang="zh-CN" altLang="en-US" b="1" dirty="0">
                <a:solidFill>
                  <a:srgbClr val="C01920"/>
                </a:solidFill>
              </a:rPr>
              <a:t>。</a:t>
            </a:r>
          </a:p>
          <a:p>
            <a:r>
              <a:rPr lang="zh-CN" altLang="en-US" b="1" dirty="0"/>
              <a:t>    </a:t>
            </a:r>
            <a:r>
              <a:rPr lang="en-US" altLang="zh-CN" b="1" dirty="0"/>
              <a:t>int a[10], </a:t>
            </a:r>
            <a:r>
              <a:rPr lang="en-US" altLang="zh-CN" b="1" dirty="0" err="1"/>
              <a:t>i</a:t>
            </a:r>
            <a:r>
              <a:rPr lang="en-US" altLang="zh-CN" b="1" dirty="0"/>
              <a:t>;</a:t>
            </a:r>
          </a:p>
          <a:p>
            <a:r>
              <a:rPr lang="en-US" altLang="zh-CN" b="1" dirty="0"/>
              <a:t>    for (</a:t>
            </a:r>
            <a:r>
              <a:rPr lang="en-US" altLang="zh-CN" b="1" dirty="0" err="1"/>
              <a:t>i</a:t>
            </a:r>
            <a:r>
              <a:rPr lang="en-US" altLang="zh-CN" b="1" dirty="0"/>
              <a:t> = 0; </a:t>
            </a:r>
            <a:r>
              <a:rPr lang="en-US" altLang="zh-CN" b="1" dirty="0" err="1"/>
              <a:t>i</a:t>
            </a:r>
            <a:r>
              <a:rPr lang="en-US" altLang="zh-CN" b="1" dirty="0"/>
              <a:t> &lt; 10; </a:t>
            </a:r>
            <a:r>
              <a:rPr lang="en-US" altLang="zh-CN" b="1" dirty="0" err="1"/>
              <a:t>i</a:t>
            </a:r>
            <a:r>
              <a:rPr lang="en-US" altLang="zh-CN" b="1" dirty="0"/>
              <a:t>++)</a:t>
            </a:r>
          </a:p>
          <a:p>
            <a:r>
              <a:rPr lang="en-US" altLang="zh-CN" b="1" dirty="0"/>
              <a:t>        a[</a:t>
            </a:r>
            <a:r>
              <a:rPr lang="en-US" altLang="zh-CN" b="1" dirty="0" err="1"/>
              <a:t>i</a:t>
            </a:r>
            <a:r>
              <a:rPr lang="en-US" altLang="zh-CN" b="1" dirty="0"/>
              <a:t>] = 2* </a:t>
            </a:r>
            <a:r>
              <a:rPr lang="en-US" altLang="zh-CN" b="1" dirty="0" err="1"/>
              <a:t>i</a:t>
            </a:r>
            <a:r>
              <a:rPr lang="en-US" altLang="zh-CN" b="1" dirty="0"/>
              <a:t> + 1;</a:t>
            </a:r>
          </a:p>
        </p:txBody>
      </p:sp>
      <p:sp>
        <p:nvSpPr>
          <p:cNvPr id="972813" name="Text Box 13" descr="信纸"/>
          <p:cNvSpPr txBox="1">
            <a:spLocks noChangeArrowheads="1"/>
          </p:cNvSpPr>
          <p:nvPr/>
        </p:nvSpPr>
        <p:spPr bwMode="auto">
          <a:xfrm>
            <a:off x="1562293" y="4292104"/>
            <a:ext cx="9603904"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例如，接受用户键盘输入赋值给数组各元素。</a:t>
            </a:r>
          </a:p>
          <a:p>
            <a:r>
              <a:rPr lang="zh-CN" altLang="en-US" b="1" dirty="0"/>
              <a:t>    </a:t>
            </a:r>
            <a:r>
              <a:rPr lang="en-US" altLang="zh-CN" b="1" dirty="0" err="1"/>
              <a:t>int</a:t>
            </a:r>
            <a:r>
              <a:rPr lang="en-US" altLang="zh-CN" b="1" dirty="0"/>
              <a:t> a[10], </a:t>
            </a:r>
            <a:r>
              <a:rPr lang="en-US" altLang="zh-CN" b="1" dirty="0" err="1"/>
              <a:t>i</a:t>
            </a:r>
            <a:r>
              <a:rPr lang="en-US" altLang="zh-CN" b="1" dirty="0"/>
              <a:t>;</a:t>
            </a:r>
          </a:p>
          <a:p>
            <a:r>
              <a:rPr lang="en-US" altLang="zh-CN" b="1" dirty="0"/>
              <a:t>    for (</a:t>
            </a:r>
            <a:r>
              <a:rPr lang="en-US" altLang="zh-CN" b="1" dirty="0" err="1"/>
              <a:t>i</a:t>
            </a:r>
            <a:r>
              <a:rPr lang="en-US" altLang="zh-CN" b="1" dirty="0"/>
              <a:t> = 0; </a:t>
            </a:r>
            <a:r>
              <a:rPr lang="en-US" altLang="zh-CN" b="1" dirty="0" err="1"/>
              <a:t>i</a:t>
            </a:r>
            <a:r>
              <a:rPr lang="en-US" altLang="zh-CN" b="1" dirty="0"/>
              <a:t> &lt; 10; </a:t>
            </a:r>
            <a:r>
              <a:rPr lang="en-US" altLang="zh-CN" b="1" dirty="0" err="1"/>
              <a:t>i</a:t>
            </a:r>
            <a:r>
              <a:rPr lang="en-US" altLang="zh-CN" b="1" dirty="0"/>
              <a:t>++)</a:t>
            </a:r>
          </a:p>
          <a:p>
            <a:r>
              <a:rPr lang="en-US" altLang="zh-CN" b="1" dirty="0"/>
              <a:t>         </a:t>
            </a:r>
            <a:r>
              <a:rPr lang="en-US" altLang="zh-CN" b="1" dirty="0" err="1"/>
              <a:t>scanf</a:t>
            </a:r>
            <a:r>
              <a:rPr lang="en-US" altLang="zh-CN" b="1" dirty="0"/>
              <a:t>("%d", &amp;a[</a:t>
            </a:r>
            <a:r>
              <a:rPr lang="en-US" altLang="zh-CN" b="1" dirty="0" err="1"/>
              <a:t>i</a:t>
            </a:r>
            <a:r>
              <a:rPr lang="en-US" altLang="zh-CN" b="1" dirty="0"/>
              <a:t>]);</a:t>
            </a:r>
          </a:p>
        </p:txBody>
      </p:sp>
      <p:sp>
        <p:nvSpPr>
          <p:cNvPr id="12" name="Rectangle 6">
            <a:extLst>
              <a:ext uri="{FF2B5EF4-FFF2-40B4-BE49-F238E27FC236}">
                <a16:creationId xmlns:a16="http://schemas.microsoft.com/office/drawing/2014/main" id="{DB2F4BEC-3CB3-4A6F-9884-D3222D27D9AB}"/>
              </a:ext>
            </a:extLst>
          </p:cNvPr>
          <p:cNvSpPr>
            <a:spLocks noChangeArrowheads="1"/>
          </p:cNvSpPr>
          <p:nvPr/>
        </p:nvSpPr>
        <p:spPr bwMode="auto">
          <a:xfrm>
            <a:off x="1143770" y="1315616"/>
            <a:ext cx="2855269" cy="369332"/>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chemeClr val="accent1"/>
                </a:solidFill>
                <a:latin typeface="+mn-lt"/>
                <a:ea typeface="楷体" pitchFamily="49" charset="-122"/>
              </a:rPr>
              <a:t>一维数组在程序中赋值</a:t>
            </a:r>
          </a:p>
        </p:txBody>
      </p:sp>
      <p:sp>
        <p:nvSpPr>
          <p:cNvPr id="13" name="Rectangle 5">
            <a:extLst>
              <a:ext uri="{FF2B5EF4-FFF2-40B4-BE49-F238E27FC236}">
                <a16:creationId xmlns:a16="http://schemas.microsoft.com/office/drawing/2014/main" id="{F40AAAA9-CD0F-46FD-B3E5-55DD57CD7A24}"/>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3</a:t>
            </a:r>
            <a:r>
              <a:rPr lang="zh-CN" altLang="en-US" sz="2800" b="1" dirty="0">
                <a:solidFill>
                  <a:schemeClr val="accent1"/>
                </a:solidFill>
                <a:latin typeface="+mn-lt"/>
                <a:ea typeface="楷体" pitchFamily="49" charset="-122"/>
              </a:rPr>
              <a:t>、一维数组的赋值</a:t>
            </a:r>
          </a:p>
        </p:txBody>
      </p:sp>
      <p:sp>
        <p:nvSpPr>
          <p:cNvPr id="14" name="Rectangle 4">
            <a:extLst>
              <a:ext uri="{FF2B5EF4-FFF2-40B4-BE49-F238E27FC236}">
                <a16:creationId xmlns:a16="http://schemas.microsoft.com/office/drawing/2014/main" id="{D8A47FAD-396D-4C5E-BAB9-990C345ABB8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793240407"/>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72810"/>
                                        </p:tgtEl>
                                        <p:attrNameLst>
                                          <p:attrName>style.visibility</p:attrName>
                                        </p:attrNameLst>
                                      </p:cBhvr>
                                      <p:to>
                                        <p:strVal val="visible"/>
                                      </p:to>
                                    </p:set>
                                    <p:anim calcmode="lin" valueType="num">
                                      <p:cBhvr additive="base">
                                        <p:cTn id="13" dur="500" fill="hold"/>
                                        <p:tgtEl>
                                          <p:spTgt spid="972810"/>
                                        </p:tgtEl>
                                        <p:attrNameLst>
                                          <p:attrName>ppt_x</p:attrName>
                                        </p:attrNameLst>
                                      </p:cBhvr>
                                      <p:tavLst>
                                        <p:tav tm="0">
                                          <p:val>
                                            <p:strVal val="0-#ppt_w/2"/>
                                          </p:val>
                                        </p:tav>
                                        <p:tav tm="100000">
                                          <p:val>
                                            <p:strVal val="#ppt_x"/>
                                          </p:val>
                                        </p:tav>
                                      </p:tavLst>
                                    </p:anim>
                                    <p:anim calcmode="lin" valueType="num">
                                      <p:cBhvr additive="base">
                                        <p:cTn id="14" dur="500" fill="hold"/>
                                        <p:tgtEl>
                                          <p:spTgt spid="9728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72811"/>
                                        </p:tgtEl>
                                        <p:attrNameLst>
                                          <p:attrName>style.visibility</p:attrName>
                                        </p:attrNameLst>
                                      </p:cBhvr>
                                      <p:to>
                                        <p:strVal val="visible"/>
                                      </p:to>
                                    </p:set>
                                    <p:animEffect transition="in" filter="box(out)">
                                      <p:cBhvr>
                                        <p:cTn id="19" dur="500"/>
                                        <p:tgtEl>
                                          <p:spTgt spid="972811"/>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72813"/>
                                        </p:tgtEl>
                                        <p:attrNameLst>
                                          <p:attrName>style.visibility</p:attrName>
                                        </p:attrNameLst>
                                      </p:cBhvr>
                                      <p:to>
                                        <p:strVal val="visible"/>
                                      </p:to>
                                    </p:set>
                                    <p:animEffect transition="in" filter="box(out)">
                                      <p:cBhvr>
                                        <p:cTn id="24" dur="500"/>
                                        <p:tgtEl>
                                          <p:spTgt spid="972813"/>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10" grpId="0" animBg="1"/>
      <p:bldP spid="972811" grpId="0" animBg="1"/>
      <p:bldP spid="972813" grpId="0"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4854" name="Rectangle 6"/>
          <p:cNvSpPr>
            <a:spLocks noChangeArrowheads="1"/>
          </p:cNvSpPr>
          <p:nvPr/>
        </p:nvSpPr>
        <p:spPr bwMode="auto">
          <a:xfrm>
            <a:off x="1572533" y="1804964"/>
            <a:ext cx="3820277" cy="461665"/>
          </a:xfrm>
          <a:prstGeom prst="rect">
            <a:avLst/>
          </a:prstGeom>
          <a:gradFill>
            <a:gsLst>
              <a:gs pos="0">
                <a:srgbClr val="CFCFD1"/>
              </a:gs>
              <a:gs pos="100000">
                <a:schemeClr val="bg1">
                  <a:lumMod val="95000"/>
                </a:schemeClr>
              </a:gs>
            </a:gsLst>
            <a:lin ang="13500000" scaled="1"/>
          </a:gradFill>
          <a:ln>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anchor="ctr">
            <a:spAutoFit/>
          </a:bodyPr>
          <a:lstStyle/>
          <a:p>
            <a:pPr>
              <a:buFont typeface="Wingdings" pitchFamily="2" charset="2"/>
              <a:buChar char="l"/>
              <a:tabLst>
                <a:tab pos="266700" algn="l"/>
              </a:tabLst>
            </a:pPr>
            <a:r>
              <a:rPr lang="zh-CN" altLang="en-US" b="1" dirty="0">
                <a:solidFill>
                  <a:srgbClr val="C01920"/>
                </a:solidFill>
                <a:ea typeface="隶书" pitchFamily="49" charset="-122"/>
              </a:rPr>
              <a:t>使用</a:t>
            </a:r>
            <a:r>
              <a:rPr lang="en-US" altLang="zh-CN" b="1" dirty="0" err="1">
                <a:solidFill>
                  <a:srgbClr val="C01920"/>
                </a:solidFill>
                <a:ea typeface="隶书" pitchFamily="49" charset="-122"/>
              </a:rPr>
              <a:t>memset</a:t>
            </a:r>
            <a:r>
              <a:rPr lang="zh-CN" altLang="en-US" b="1" dirty="0">
                <a:solidFill>
                  <a:srgbClr val="C01920"/>
                </a:solidFill>
                <a:ea typeface="隶书" pitchFamily="49" charset="-122"/>
              </a:rPr>
              <a:t>函数来赋值</a:t>
            </a:r>
          </a:p>
        </p:txBody>
      </p:sp>
      <p:sp>
        <p:nvSpPr>
          <p:cNvPr id="974860" name="Rectangle 12"/>
          <p:cNvSpPr>
            <a:spLocks noChangeArrowheads="1"/>
          </p:cNvSpPr>
          <p:nvPr/>
        </p:nvSpPr>
        <p:spPr bwMode="auto">
          <a:xfrm>
            <a:off x="1518492" y="2422502"/>
            <a:ext cx="2818400" cy="461665"/>
          </a:xfrm>
          <a:prstGeom prst="rect">
            <a:avLst/>
          </a:prstGeom>
          <a:noFill/>
          <a:ln w="9525">
            <a:noFill/>
            <a:miter lim="800000"/>
            <a:headEnd/>
            <a:tailEnd/>
          </a:ln>
          <a:effectLst/>
        </p:spPr>
        <p:txBody>
          <a:bodyPr wrap="none" anchor="ctr">
            <a:spAutoFit/>
          </a:bodyPr>
          <a:lstStyle/>
          <a:p>
            <a:r>
              <a:rPr lang="en-US" altLang="zh-CN" b="1" dirty="0" err="1">
                <a:effectLst>
                  <a:outerShdw blurRad="38100" dist="38100" dir="2700000" algn="tl">
                    <a:srgbClr val="FFFFFF"/>
                  </a:outerShdw>
                </a:effectLst>
                <a:latin typeface="+mn-lt"/>
                <a:ea typeface="楷体" pitchFamily="49" charset="-122"/>
              </a:rPr>
              <a:t>memset</a:t>
            </a:r>
            <a:r>
              <a:rPr lang="zh-CN" altLang="en-US" b="1" dirty="0">
                <a:effectLst>
                  <a:outerShdw blurRad="38100" dist="38100" dir="2700000" algn="tl">
                    <a:srgbClr val="FFFFFF"/>
                  </a:outerShdw>
                </a:effectLst>
                <a:latin typeface="+mn-lt"/>
                <a:ea typeface="楷体" pitchFamily="49" charset="-122"/>
              </a:rPr>
              <a:t>函数原型：</a:t>
            </a:r>
            <a:r>
              <a:rPr lang="zh-CN" altLang="en-US" dirty="0">
                <a:latin typeface="+mn-lt"/>
                <a:ea typeface="楷体" pitchFamily="49" charset="-122"/>
              </a:rPr>
              <a:t> </a:t>
            </a:r>
          </a:p>
        </p:txBody>
      </p:sp>
      <p:sp>
        <p:nvSpPr>
          <p:cNvPr id="974861" name="Text Box 13"/>
          <p:cNvSpPr txBox="1">
            <a:spLocks noChangeArrowheads="1"/>
          </p:cNvSpPr>
          <p:nvPr/>
        </p:nvSpPr>
        <p:spPr bwMode="auto">
          <a:xfrm>
            <a:off x="4276570" y="2491295"/>
            <a:ext cx="7367099" cy="369332"/>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gn="ctr"/>
            <a:r>
              <a:rPr lang="en-US" altLang="zh-CN" b="1" dirty="0">
                <a:solidFill>
                  <a:schemeClr val="accent1"/>
                </a:solidFill>
              </a:rPr>
              <a:t>void *</a:t>
            </a:r>
            <a:r>
              <a:rPr lang="en-US" altLang="zh-CN" b="1" dirty="0" err="1">
                <a:solidFill>
                  <a:schemeClr val="accent1"/>
                </a:solidFill>
              </a:rPr>
              <a:t>memset</a:t>
            </a:r>
            <a:r>
              <a:rPr lang="en-US" altLang="zh-CN" b="1" dirty="0">
                <a:solidFill>
                  <a:schemeClr val="accent1"/>
                </a:solidFill>
              </a:rPr>
              <a:t> (void *s, char </a:t>
            </a:r>
            <a:r>
              <a:rPr lang="en-US" altLang="zh-CN" b="1" dirty="0" err="1">
                <a:solidFill>
                  <a:schemeClr val="accent1"/>
                </a:solidFill>
              </a:rPr>
              <a:t>ch</a:t>
            </a:r>
            <a:r>
              <a:rPr lang="en-US" altLang="zh-CN" b="1" dirty="0">
                <a:solidFill>
                  <a:schemeClr val="accent1"/>
                </a:solidFill>
              </a:rPr>
              <a:t>, unsigned n)</a:t>
            </a:r>
          </a:p>
        </p:txBody>
      </p:sp>
      <p:sp>
        <p:nvSpPr>
          <p:cNvPr id="974862" name="Rectangle 14"/>
          <p:cNvSpPr>
            <a:spLocks noChangeArrowheads="1"/>
          </p:cNvSpPr>
          <p:nvPr/>
        </p:nvSpPr>
        <p:spPr bwMode="auto">
          <a:xfrm>
            <a:off x="830906" y="3269292"/>
            <a:ext cx="10945216" cy="867482"/>
          </a:xfrm>
          <a:prstGeom prst="rect">
            <a:avLst/>
          </a:prstGeom>
          <a:noFill/>
          <a:ln w="9525">
            <a:noFill/>
            <a:miter lim="800000"/>
            <a:headEnd/>
            <a:tailEnd/>
          </a:ln>
          <a:effectLst/>
        </p:spPr>
        <p:txBody>
          <a:bodyPr wrap="square" anchor="ctr">
            <a:spAutoFit/>
          </a:bodyPr>
          <a:lstStyle/>
          <a:p>
            <a:pPr>
              <a:lnSpc>
                <a:spcPts val="3200"/>
              </a:lnSpc>
            </a:pPr>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C01920"/>
                </a:solidFill>
                <a:latin typeface="隶书" pitchFamily="49" charset="-122"/>
                <a:ea typeface="隶书" pitchFamily="49" charset="-122"/>
              </a:rPr>
              <a:t>功能：</a:t>
            </a:r>
            <a:r>
              <a:rPr lang="zh-CN" altLang="en-US" b="1" dirty="0">
                <a:effectLst>
                  <a:outerShdw blurRad="38100" dist="38100" dir="2700000" algn="tl">
                    <a:srgbClr val="FFFFFF"/>
                  </a:outerShdw>
                </a:effectLst>
                <a:latin typeface="+mn-lt"/>
                <a:ea typeface="楷体" pitchFamily="49" charset="-122"/>
              </a:rPr>
              <a:t>就是将</a:t>
            </a:r>
            <a:r>
              <a:rPr lang="en-US" altLang="zh-CN" b="1" dirty="0">
                <a:effectLst>
                  <a:outerShdw blurRad="38100" dist="38100" dir="2700000" algn="tl">
                    <a:srgbClr val="FFFFFF"/>
                  </a:outerShdw>
                </a:effectLst>
                <a:latin typeface="+mn-lt"/>
                <a:ea typeface="楷体" pitchFamily="49" charset="-122"/>
              </a:rPr>
              <a:t>s</a:t>
            </a:r>
            <a:r>
              <a:rPr lang="zh-CN" altLang="en-US" b="1" dirty="0">
                <a:effectLst>
                  <a:outerShdw blurRad="38100" dist="38100" dir="2700000" algn="tl">
                    <a:srgbClr val="FFFFFF"/>
                  </a:outerShdw>
                </a:effectLst>
                <a:latin typeface="+mn-lt"/>
                <a:ea typeface="楷体" pitchFamily="49" charset="-122"/>
              </a:rPr>
              <a:t>为首地址的一片连续的</a:t>
            </a:r>
            <a:r>
              <a:rPr lang="en-US" altLang="zh-CN" b="1" dirty="0">
                <a:effectLst>
                  <a:outerShdw blurRad="38100" dist="38100" dir="2700000" algn="tl">
                    <a:srgbClr val="FFFFFF"/>
                  </a:outerShdw>
                </a:effectLst>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个字节内存单元都赋值为</a:t>
            </a:r>
            <a:r>
              <a:rPr lang="en-US" altLang="zh-CN" b="1" dirty="0" err="1">
                <a:effectLst>
                  <a:outerShdw blurRad="38100" dist="38100" dir="2700000" algn="tl">
                    <a:srgbClr val="FFFFFF"/>
                  </a:outerShdw>
                </a:effectLst>
                <a:latin typeface="+mn-lt"/>
                <a:ea typeface="楷体" pitchFamily="49" charset="-122"/>
              </a:rPr>
              <a:t>ch</a:t>
            </a:r>
            <a:r>
              <a:rPr lang="zh-CN" altLang="en-US" b="1" dirty="0">
                <a:effectLst>
                  <a:outerShdw blurRad="38100" dist="38100" dir="2700000" algn="tl">
                    <a:srgbClr val="FFFFFF"/>
                  </a:outerShdw>
                </a:effectLst>
                <a:latin typeface="+mn-lt"/>
                <a:ea typeface="楷体" pitchFamily="49" charset="-122"/>
              </a:rPr>
              <a:t>。</a:t>
            </a:r>
            <a:r>
              <a:rPr lang="zh-CN" altLang="zh-CN" b="1" dirty="0">
                <a:effectLst>
                  <a:outerShdw blurRad="38100" dist="38100" dir="2700000" algn="tl">
                    <a:srgbClr val="FFFFFF"/>
                  </a:outerShdw>
                </a:effectLst>
                <a:latin typeface="+mn-lt"/>
                <a:ea typeface="楷体" pitchFamily="49" charset="-122"/>
              </a:rPr>
              <a:t>形式参数</a:t>
            </a:r>
            <a:r>
              <a:rPr lang="en-US" altLang="zh-CN" b="1" dirty="0">
                <a:effectLst>
                  <a:outerShdw blurRad="38100" dist="38100" dir="2700000" algn="tl">
                    <a:srgbClr val="FFFFFF"/>
                  </a:outerShdw>
                </a:effectLst>
                <a:latin typeface="+mn-lt"/>
                <a:ea typeface="楷体" pitchFamily="49" charset="-122"/>
              </a:rPr>
              <a:t>s</a:t>
            </a:r>
            <a:r>
              <a:rPr lang="zh-CN" altLang="zh-CN" b="1" dirty="0">
                <a:effectLst>
                  <a:outerShdw blurRad="38100" dist="38100" dir="2700000" algn="tl">
                    <a:srgbClr val="FFFFFF"/>
                  </a:outerShdw>
                </a:effectLst>
                <a:latin typeface="+mn-lt"/>
                <a:ea typeface="楷体" pitchFamily="49" charset="-122"/>
              </a:rPr>
              <a:t>是一指针变量，代表某内存块的首地址</a:t>
            </a:r>
            <a:r>
              <a:rPr lang="en-US" altLang="zh-CN" b="1" dirty="0">
                <a:effectLst>
                  <a:outerShdw blurRad="38100" dist="38100" dir="2700000" algn="tl">
                    <a:srgbClr val="FFFFFF"/>
                  </a:outerShdw>
                </a:effectLst>
                <a:latin typeface="+mn-lt"/>
                <a:ea typeface="楷体" pitchFamily="49" charset="-122"/>
              </a:rPr>
              <a:t>.</a:t>
            </a:r>
            <a:endParaRPr lang="zh-CN" altLang="en-US" b="1" dirty="0">
              <a:effectLst>
                <a:outerShdw blurRad="38100" dist="38100" dir="2700000" algn="tl">
                  <a:srgbClr val="FFFFFF"/>
                </a:outerShdw>
              </a:effectLst>
              <a:latin typeface="+mn-lt"/>
              <a:ea typeface="楷体" pitchFamily="49" charset="-122"/>
            </a:endParaRPr>
          </a:p>
        </p:txBody>
      </p:sp>
      <p:sp>
        <p:nvSpPr>
          <p:cNvPr id="974863" name="Text Box 15" descr="信纸"/>
          <p:cNvSpPr txBox="1">
            <a:spLocks noChangeArrowheads="1"/>
          </p:cNvSpPr>
          <p:nvPr/>
        </p:nvSpPr>
        <p:spPr bwMode="auto">
          <a:xfrm>
            <a:off x="2063553" y="3992488"/>
            <a:ext cx="9361686"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zh-CN" b="1" dirty="0">
                <a:solidFill>
                  <a:srgbClr val="C01920"/>
                </a:solidFill>
                <a:latin typeface="隶书" pitchFamily="49" charset="-122"/>
                <a:ea typeface="隶书" pitchFamily="49" charset="-122"/>
              </a:rPr>
              <a:t>例如，</a:t>
            </a:r>
            <a:r>
              <a:rPr lang="zh-CN" altLang="en-US" b="1" dirty="0">
                <a:solidFill>
                  <a:srgbClr val="C01920"/>
                </a:solidFill>
                <a:latin typeface="+mn-lt"/>
                <a:ea typeface="隶书" pitchFamily="49" charset="-122"/>
              </a:rPr>
              <a:t>将数组</a:t>
            </a:r>
            <a:r>
              <a:rPr lang="en-US" altLang="zh-CN" b="1" dirty="0" err="1">
                <a:solidFill>
                  <a:srgbClr val="C01920"/>
                </a:solidFill>
                <a:latin typeface="+mn-lt"/>
                <a:ea typeface="隶书" pitchFamily="49" charset="-122"/>
              </a:rPr>
              <a:t>str</a:t>
            </a:r>
            <a:r>
              <a:rPr lang="zh-CN" altLang="en-US" b="1" dirty="0">
                <a:solidFill>
                  <a:srgbClr val="C01920"/>
                </a:solidFill>
                <a:latin typeface="+mn-lt"/>
                <a:ea typeface="隶书" pitchFamily="49" charset="-122"/>
              </a:rPr>
              <a:t>的每个数据单元赋值为</a:t>
            </a:r>
            <a:r>
              <a:rPr lang="en-US" altLang="zh-CN" b="1" dirty="0">
                <a:solidFill>
                  <a:srgbClr val="C01920"/>
                </a:solidFill>
                <a:latin typeface="+mn-lt"/>
              </a:rPr>
              <a:t>'a'</a:t>
            </a:r>
            <a:r>
              <a:rPr lang="zh-CN" altLang="en-US" b="1" dirty="0">
                <a:solidFill>
                  <a:srgbClr val="C01920"/>
                </a:solidFill>
              </a:rPr>
              <a:t>。</a:t>
            </a:r>
          </a:p>
          <a:p>
            <a:r>
              <a:rPr lang="zh-CN" altLang="en-US" b="1" dirty="0"/>
              <a:t>    </a:t>
            </a:r>
            <a:r>
              <a:rPr lang="en-US" altLang="zh-CN" b="1" dirty="0"/>
              <a:t>char </a:t>
            </a:r>
            <a:r>
              <a:rPr lang="en-US" altLang="zh-CN" b="1" dirty="0" err="1"/>
              <a:t>str</a:t>
            </a:r>
            <a:r>
              <a:rPr lang="en-US" altLang="zh-CN" b="1" dirty="0"/>
              <a:t>[10];</a:t>
            </a:r>
          </a:p>
          <a:p>
            <a:r>
              <a:rPr lang="en-US" altLang="zh-CN" b="1" dirty="0"/>
              <a:t>    </a:t>
            </a:r>
            <a:r>
              <a:rPr lang="en-US" altLang="zh-CN" b="1" dirty="0" err="1"/>
              <a:t>memset</a:t>
            </a:r>
            <a:r>
              <a:rPr lang="en-US" altLang="zh-CN" b="1" dirty="0"/>
              <a:t> (</a:t>
            </a:r>
            <a:r>
              <a:rPr lang="en-US" altLang="zh-CN" b="1" dirty="0" err="1"/>
              <a:t>str</a:t>
            </a:r>
            <a:r>
              <a:rPr lang="en-US" altLang="zh-CN" b="1" dirty="0"/>
              <a:t>, 'a', 10);</a:t>
            </a:r>
          </a:p>
        </p:txBody>
      </p:sp>
      <p:sp>
        <p:nvSpPr>
          <p:cNvPr id="974864" name="Text Box 16" descr="信纸"/>
          <p:cNvSpPr txBox="1">
            <a:spLocks noChangeArrowheads="1"/>
          </p:cNvSpPr>
          <p:nvPr/>
        </p:nvSpPr>
        <p:spPr bwMode="auto">
          <a:xfrm>
            <a:off x="2063551" y="5373216"/>
            <a:ext cx="9361687"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zh-CN" b="1" dirty="0">
                <a:solidFill>
                  <a:srgbClr val="C01920"/>
                </a:solidFill>
                <a:latin typeface="隶书" pitchFamily="49" charset="-122"/>
                <a:ea typeface="隶书" pitchFamily="49" charset="-122"/>
              </a:rPr>
              <a:t>例如，</a:t>
            </a:r>
            <a:r>
              <a:rPr lang="zh-CN" altLang="en-US" b="1" dirty="0">
                <a:solidFill>
                  <a:srgbClr val="C01920"/>
                </a:solidFill>
                <a:latin typeface="+mn-lt"/>
                <a:ea typeface="隶书" pitchFamily="49" charset="-122"/>
              </a:rPr>
              <a:t>将数组</a:t>
            </a:r>
            <a:r>
              <a:rPr lang="en-US" altLang="zh-CN" b="1" dirty="0">
                <a:solidFill>
                  <a:srgbClr val="C01920"/>
                </a:solidFill>
                <a:latin typeface="+mn-lt"/>
                <a:ea typeface="隶书" pitchFamily="49" charset="-122"/>
              </a:rPr>
              <a:t>a</a:t>
            </a:r>
            <a:r>
              <a:rPr lang="zh-CN" altLang="en-US" b="1" dirty="0">
                <a:solidFill>
                  <a:srgbClr val="C01920"/>
                </a:solidFill>
                <a:latin typeface="+mn-lt"/>
                <a:ea typeface="隶书" pitchFamily="49" charset="-122"/>
              </a:rPr>
              <a:t>的每个数据单元赋值为</a:t>
            </a:r>
            <a:r>
              <a:rPr lang="en-US" altLang="zh-CN" b="1" dirty="0">
                <a:solidFill>
                  <a:srgbClr val="C01920"/>
                </a:solidFill>
                <a:latin typeface="+mn-lt"/>
                <a:ea typeface="隶书" pitchFamily="49" charset="-122"/>
              </a:rPr>
              <a:t>0</a:t>
            </a:r>
            <a:r>
              <a:rPr lang="zh-CN" altLang="en-US" b="1" dirty="0">
                <a:solidFill>
                  <a:srgbClr val="C01920"/>
                </a:solidFill>
                <a:latin typeface="+mn-lt"/>
                <a:ea typeface="隶书" pitchFamily="49" charset="-122"/>
              </a:rPr>
              <a:t>（清</a:t>
            </a:r>
            <a:r>
              <a:rPr lang="en-US" altLang="zh-CN" b="1" dirty="0">
                <a:solidFill>
                  <a:srgbClr val="C01920"/>
                </a:solidFill>
                <a:latin typeface="+mn-lt"/>
                <a:ea typeface="隶书" pitchFamily="49" charset="-122"/>
              </a:rPr>
              <a:t>0</a:t>
            </a:r>
            <a:r>
              <a:rPr lang="zh-CN" altLang="en-US" b="1" dirty="0">
                <a:solidFill>
                  <a:srgbClr val="C01920"/>
                </a:solidFill>
                <a:latin typeface="+mn-lt"/>
                <a:ea typeface="隶书" pitchFamily="49" charset="-122"/>
              </a:rPr>
              <a:t>）</a:t>
            </a:r>
            <a:r>
              <a:rPr lang="zh-CN" altLang="en-US" b="1" dirty="0">
                <a:solidFill>
                  <a:srgbClr val="C01920"/>
                </a:solidFill>
                <a:latin typeface="+mn-lt"/>
              </a:rPr>
              <a:t>。</a:t>
            </a:r>
          </a:p>
          <a:p>
            <a:r>
              <a:rPr lang="zh-CN" altLang="en-US" b="1" dirty="0"/>
              <a:t>    </a:t>
            </a:r>
            <a:r>
              <a:rPr lang="en-US" altLang="zh-CN" b="1" dirty="0" err="1"/>
              <a:t>int</a:t>
            </a:r>
            <a:r>
              <a:rPr lang="en-US" altLang="zh-CN" b="1" dirty="0"/>
              <a:t> a[10]; </a:t>
            </a:r>
          </a:p>
          <a:p>
            <a:r>
              <a:rPr lang="en-US" altLang="zh-CN" b="1" dirty="0"/>
              <a:t>    </a:t>
            </a:r>
            <a:r>
              <a:rPr lang="en-US" altLang="zh-CN" b="1" dirty="0" err="1"/>
              <a:t>memset</a:t>
            </a:r>
            <a:r>
              <a:rPr lang="en-US" altLang="zh-CN" b="1" dirty="0"/>
              <a:t> (a, 0, 10*</a:t>
            </a:r>
            <a:r>
              <a:rPr lang="en-US" altLang="zh-CN" b="1" dirty="0" err="1"/>
              <a:t>sizeof</a:t>
            </a:r>
            <a:r>
              <a:rPr lang="en-US" altLang="zh-CN" b="1" dirty="0"/>
              <a:t>(</a:t>
            </a:r>
            <a:r>
              <a:rPr lang="en-US" altLang="zh-CN" b="1" dirty="0" err="1"/>
              <a:t>int</a:t>
            </a:r>
            <a:r>
              <a:rPr lang="en-US" altLang="zh-CN" b="1" dirty="0"/>
              <a:t>));</a:t>
            </a:r>
            <a:r>
              <a:rPr lang="en-US" altLang="zh-CN" dirty="0"/>
              <a:t> </a:t>
            </a:r>
          </a:p>
        </p:txBody>
      </p:sp>
      <p:sp>
        <p:nvSpPr>
          <p:cNvPr id="974865" name="AutoShape 17"/>
          <p:cNvSpPr>
            <a:spLocks noChangeArrowheads="1"/>
          </p:cNvSpPr>
          <p:nvPr/>
        </p:nvSpPr>
        <p:spPr bwMode="auto">
          <a:xfrm>
            <a:off x="5872854" y="387579"/>
            <a:ext cx="5905500" cy="1657350"/>
          </a:xfrm>
          <a:prstGeom prst="cloudCallout">
            <a:avLst>
              <a:gd name="adj1" fmla="val -63282"/>
              <a:gd name="adj2" fmla="val 44158"/>
            </a:avLst>
          </a:prstGeom>
          <a:gradFill flip="none" rotWithShape="1">
            <a:gsLst>
              <a:gs pos="0">
                <a:srgbClr val="CFCFD1"/>
              </a:gs>
              <a:gs pos="100000">
                <a:schemeClr val="bg1">
                  <a:lumMod val="95000"/>
                </a:schemeClr>
              </a:gs>
            </a:gsLst>
            <a:lin ang="13500000" scaled="1"/>
            <a:tileRect/>
          </a:gradFill>
          <a:ln w="25400">
            <a:solidFill>
              <a:srgbClr val="C01920"/>
            </a:solidFill>
            <a:round/>
            <a:headEnd/>
            <a:tailEnd/>
          </a:ln>
          <a:effectLst>
            <a:outerShdw blurRad="50800" dist="19050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ln w="1905"/>
                <a:solidFill>
                  <a:srgbClr val="002060"/>
                </a:solidFill>
                <a:latin typeface="楷体" pitchFamily="49" charset="-122"/>
                <a:ea typeface="楷体" pitchFamily="49" charset="-122"/>
              </a:rPr>
              <a:t>    </a:t>
            </a:r>
            <a:r>
              <a:rPr lang="zh-CN" altLang="en-US" sz="2000" b="1" dirty="0">
                <a:ln w="1905"/>
                <a:solidFill>
                  <a:srgbClr val="002060"/>
                </a:solidFill>
                <a:latin typeface="楷体" pitchFamily="49" charset="-122"/>
                <a:ea typeface="楷体" pitchFamily="49" charset="-122"/>
              </a:rPr>
              <a:t>这种方法是适合于字节型数组的整体赋值，或对非字节型数组进行清</a:t>
            </a:r>
            <a:r>
              <a:rPr lang="en-US" altLang="zh-CN" sz="2000" b="1" dirty="0">
                <a:ln w="1905"/>
                <a:solidFill>
                  <a:srgbClr val="002060"/>
                </a:solidFill>
                <a:latin typeface="楷体" pitchFamily="49" charset="-122"/>
                <a:ea typeface="楷体" pitchFamily="49" charset="-122"/>
              </a:rPr>
              <a:t>0 </a:t>
            </a:r>
            <a:r>
              <a:rPr lang="zh-CN" altLang="en-US" sz="2000" b="1" dirty="0">
                <a:ln w="1905"/>
                <a:solidFill>
                  <a:srgbClr val="002060"/>
                </a:solidFill>
                <a:latin typeface="楷体" pitchFamily="49" charset="-122"/>
                <a:ea typeface="楷体" pitchFamily="49" charset="-122"/>
              </a:rPr>
              <a:t>。</a:t>
            </a:r>
          </a:p>
        </p:txBody>
      </p:sp>
      <p:sp>
        <p:nvSpPr>
          <p:cNvPr id="13" name="Rectangle 6">
            <a:extLst>
              <a:ext uri="{FF2B5EF4-FFF2-40B4-BE49-F238E27FC236}">
                <a16:creationId xmlns:a16="http://schemas.microsoft.com/office/drawing/2014/main" id="{48452F14-1A05-4D1F-BA09-88CB09D89F2D}"/>
              </a:ext>
            </a:extLst>
          </p:cNvPr>
          <p:cNvSpPr>
            <a:spLocks noChangeArrowheads="1"/>
          </p:cNvSpPr>
          <p:nvPr/>
        </p:nvSpPr>
        <p:spPr bwMode="auto">
          <a:xfrm>
            <a:off x="1143770" y="1315616"/>
            <a:ext cx="2855269" cy="369332"/>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chemeClr val="accent1"/>
                </a:solidFill>
                <a:latin typeface="+mn-lt"/>
                <a:ea typeface="楷体" pitchFamily="49" charset="-122"/>
              </a:rPr>
              <a:t>一维数组在程序中赋值</a:t>
            </a:r>
          </a:p>
        </p:txBody>
      </p:sp>
      <p:sp>
        <p:nvSpPr>
          <p:cNvPr id="14" name="Rectangle 5">
            <a:extLst>
              <a:ext uri="{FF2B5EF4-FFF2-40B4-BE49-F238E27FC236}">
                <a16:creationId xmlns:a16="http://schemas.microsoft.com/office/drawing/2014/main" id="{E782A4C5-760C-4065-8165-CE1BD38C3C90}"/>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3</a:t>
            </a:r>
            <a:r>
              <a:rPr lang="zh-CN" altLang="en-US" sz="2800" b="1" dirty="0">
                <a:solidFill>
                  <a:schemeClr val="accent1"/>
                </a:solidFill>
                <a:latin typeface="+mn-lt"/>
                <a:ea typeface="楷体" pitchFamily="49" charset="-122"/>
              </a:rPr>
              <a:t>、一维数组的赋值</a:t>
            </a:r>
          </a:p>
        </p:txBody>
      </p:sp>
      <p:sp>
        <p:nvSpPr>
          <p:cNvPr id="15" name="Rectangle 4">
            <a:extLst>
              <a:ext uri="{FF2B5EF4-FFF2-40B4-BE49-F238E27FC236}">
                <a16:creationId xmlns:a16="http://schemas.microsoft.com/office/drawing/2014/main" id="{93308E99-E1C4-495A-9B78-EFF06669CE5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2080793021"/>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74854"/>
                                        </p:tgtEl>
                                        <p:attrNameLst>
                                          <p:attrName>style.visibility</p:attrName>
                                        </p:attrNameLst>
                                      </p:cBhvr>
                                      <p:to>
                                        <p:strVal val="visible"/>
                                      </p:to>
                                    </p:set>
                                    <p:anim calcmode="lin" valueType="num">
                                      <p:cBhvr additive="base">
                                        <p:cTn id="13" dur="500" fill="hold"/>
                                        <p:tgtEl>
                                          <p:spTgt spid="974854"/>
                                        </p:tgtEl>
                                        <p:attrNameLst>
                                          <p:attrName>ppt_x</p:attrName>
                                        </p:attrNameLst>
                                      </p:cBhvr>
                                      <p:tavLst>
                                        <p:tav tm="0">
                                          <p:val>
                                            <p:strVal val="0-#ppt_w/2"/>
                                          </p:val>
                                        </p:tav>
                                        <p:tav tm="100000">
                                          <p:val>
                                            <p:strVal val="#ppt_x"/>
                                          </p:val>
                                        </p:tav>
                                      </p:tavLst>
                                    </p:anim>
                                    <p:anim calcmode="lin" valueType="num">
                                      <p:cBhvr additive="base">
                                        <p:cTn id="14" dur="500" fill="hold"/>
                                        <p:tgtEl>
                                          <p:spTgt spid="9748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74860"/>
                                        </p:tgtEl>
                                        <p:attrNameLst>
                                          <p:attrName>style.visibility</p:attrName>
                                        </p:attrNameLst>
                                      </p:cBhvr>
                                      <p:to>
                                        <p:strVal val="visible"/>
                                      </p:to>
                                    </p:set>
                                    <p:animEffect transition="in" filter="box(out)">
                                      <p:cBhvr>
                                        <p:cTn id="19" dur="500"/>
                                        <p:tgtEl>
                                          <p:spTgt spid="974860"/>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74861"/>
                                        </p:tgtEl>
                                        <p:attrNameLst>
                                          <p:attrName>style.visibility</p:attrName>
                                        </p:attrNameLst>
                                      </p:cBhvr>
                                      <p:to>
                                        <p:strVal val="visible"/>
                                      </p:to>
                                    </p:set>
                                    <p:animEffect transition="in" filter="box(out)">
                                      <p:cBhvr>
                                        <p:cTn id="24" dur="500"/>
                                        <p:tgtEl>
                                          <p:spTgt spid="974861"/>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974862">
                                            <p:txEl>
                                              <p:pRg st="0" end="0"/>
                                            </p:txEl>
                                          </p:spTgt>
                                        </p:tgtEl>
                                        <p:attrNameLst>
                                          <p:attrName>style.visibility</p:attrName>
                                        </p:attrNameLst>
                                      </p:cBhvr>
                                      <p:to>
                                        <p:strVal val="visible"/>
                                      </p:to>
                                    </p:set>
                                    <p:animEffect transition="in" filter="box(out)">
                                      <p:cBhvr>
                                        <p:cTn id="29" dur="500"/>
                                        <p:tgtEl>
                                          <p:spTgt spid="974862">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974863"/>
                                        </p:tgtEl>
                                        <p:attrNameLst>
                                          <p:attrName>style.visibility</p:attrName>
                                        </p:attrNameLst>
                                      </p:cBhvr>
                                      <p:to>
                                        <p:strVal val="visible"/>
                                      </p:to>
                                    </p:set>
                                    <p:animEffect transition="in" filter="box(out)">
                                      <p:cBhvr>
                                        <p:cTn id="34" dur="500"/>
                                        <p:tgtEl>
                                          <p:spTgt spid="974863"/>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974864"/>
                                        </p:tgtEl>
                                        <p:attrNameLst>
                                          <p:attrName>style.visibility</p:attrName>
                                        </p:attrNameLst>
                                      </p:cBhvr>
                                      <p:to>
                                        <p:strVal val="visible"/>
                                      </p:to>
                                    </p:set>
                                    <p:animEffect transition="in" filter="box(out)">
                                      <p:cBhvr>
                                        <p:cTn id="39" dur="500"/>
                                        <p:tgtEl>
                                          <p:spTgt spid="974864"/>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974865"/>
                                        </p:tgtEl>
                                        <p:attrNameLst>
                                          <p:attrName>style.visibility</p:attrName>
                                        </p:attrNameLst>
                                      </p:cBhvr>
                                      <p:to>
                                        <p:strVal val="visible"/>
                                      </p:to>
                                    </p:set>
                                    <p:animEffect transition="in" filter="strips(downRight)">
                                      <p:cBhvr>
                                        <p:cTn id="44" dur="500"/>
                                        <p:tgtEl>
                                          <p:spTgt spid="974865"/>
                                        </p:tgtEl>
                                      </p:cBhvr>
                                    </p:animEffect>
                                  </p:childTnLst>
                                  <p:subTnLst>
                                    <p:audio>
                                      <p:cMediaNode>
                                        <p:cTn display="0" masterRel="sameClick">
                                          <p:stCondLst>
                                            <p:cond evt="begin" delay="0">
                                              <p:tn val="42"/>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4854" grpId="0" animBg="1"/>
      <p:bldP spid="974860" grpId="0"/>
      <p:bldP spid="974861" grpId="0" animBg="1" autoUpdateAnimBg="0"/>
      <p:bldP spid="974863" grpId="0" animBg="1"/>
      <p:bldP spid="974864" grpId="0" animBg="1"/>
      <p:bldP spid="974865" grpId="0" animBg="1"/>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4EB28F32-A5BB-409D-B3FA-79D1BFE489B3}"/>
              </a:ext>
            </a:extLst>
          </p:cNvPr>
          <p:cNvGrpSpPr/>
          <p:nvPr/>
        </p:nvGrpSpPr>
        <p:grpSpPr>
          <a:xfrm>
            <a:off x="3954711" y="3552957"/>
            <a:ext cx="5313711" cy="2879725"/>
            <a:chOff x="2942529" y="3797301"/>
            <a:chExt cx="5313711" cy="2879725"/>
          </a:xfrm>
        </p:grpSpPr>
        <p:grpSp>
          <p:nvGrpSpPr>
            <p:cNvPr id="15" name="Group 52">
              <a:extLst>
                <a:ext uri="{FF2B5EF4-FFF2-40B4-BE49-F238E27FC236}">
                  <a16:creationId xmlns:a16="http://schemas.microsoft.com/office/drawing/2014/main" id="{60FB5BBD-4D7B-4D1E-8EA9-7C854F3D4B59}"/>
                </a:ext>
              </a:extLst>
            </p:cNvPr>
            <p:cNvGrpSpPr>
              <a:grpSpLocks/>
            </p:cNvGrpSpPr>
            <p:nvPr/>
          </p:nvGrpSpPr>
          <p:grpSpPr bwMode="auto">
            <a:xfrm>
              <a:off x="3952626" y="3797301"/>
              <a:ext cx="1760538" cy="2879725"/>
              <a:chOff x="1952" y="2160"/>
              <a:chExt cx="940" cy="1814"/>
            </a:xfrm>
          </p:grpSpPr>
          <p:sp>
            <p:nvSpPr>
              <p:cNvPr id="28" name="AutoShape 29">
                <a:extLst>
                  <a:ext uri="{FF2B5EF4-FFF2-40B4-BE49-F238E27FC236}">
                    <a16:creationId xmlns:a16="http://schemas.microsoft.com/office/drawing/2014/main" id="{7F0C2A9F-878C-4DF3-A552-A37028B14B45}"/>
                  </a:ext>
                </a:extLst>
              </p:cNvPr>
              <p:cNvSpPr>
                <a:spLocks noChangeArrowheads="1"/>
              </p:cNvSpPr>
              <p:nvPr/>
            </p:nvSpPr>
            <p:spPr bwMode="auto">
              <a:xfrm>
                <a:off x="1952" y="2160"/>
                <a:ext cx="928" cy="1814"/>
              </a:xfrm>
              <a:prstGeom prst="foldedCorner">
                <a:avLst>
                  <a:gd name="adj" fmla="val 13745"/>
                </a:avLst>
              </a:prstGeom>
              <a:gradFill rotWithShape="1">
                <a:gsLst>
                  <a:gs pos="0">
                    <a:srgbClr val="BEDFC4">
                      <a:alpha val="60000"/>
                    </a:srgbClr>
                  </a:gs>
                  <a:gs pos="100000">
                    <a:schemeClr val="bg1"/>
                  </a:gs>
                </a:gsLst>
                <a:lin ang="5400000" scaled="1"/>
              </a:gradFill>
              <a:ln w="38100">
                <a:solidFill>
                  <a:srgbClr val="008000"/>
                </a:solidFill>
                <a:round/>
                <a:headEnd type="none" w="lg" len="lg"/>
                <a:tailEnd/>
              </a:ln>
              <a:effectLst>
                <a:outerShdw blurRad="50800" dist="106680" dir="2700000" algn="tl" rotWithShape="0">
                  <a:prstClr val="black">
                    <a:alpha val="43000"/>
                  </a:prstClr>
                </a:outerShdw>
              </a:effectLst>
            </p:spPr>
            <p:txBody>
              <a:bodyPr lIns="90000" tIns="46800" rIns="90000" bIns="46800" anchor="ctr"/>
              <a:lstStyle/>
              <a:p>
                <a:pPr algn="ctr"/>
                <a:endParaRPr lang="zh-CN" altLang="zh-CN" dirty="0"/>
              </a:p>
            </p:txBody>
          </p:sp>
          <p:sp>
            <p:nvSpPr>
              <p:cNvPr id="29" name="Line 30">
                <a:extLst>
                  <a:ext uri="{FF2B5EF4-FFF2-40B4-BE49-F238E27FC236}">
                    <a16:creationId xmlns:a16="http://schemas.microsoft.com/office/drawing/2014/main" id="{B50A9026-1020-4307-BFF7-444FA66F4AC6}"/>
                  </a:ext>
                </a:extLst>
              </p:cNvPr>
              <p:cNvSpPr>
                <a:spLocks noChangeShapeType="1"/>
              </p:cNvSpPr>
              <p:nvPr/>
            </p:nvSpPr>
            <p:spPr bwMode="auto">
              <a:xfrm>
                <a:off x="1952" y="2372"/>
                <a:ext cx="940" cy="0"/>
              </a:xfrm>
              <a:prstGeom prst="line">
                <a:avLst/>
              </a:prstGeom>
              <a:noFill/>
              <a:ln w="28575">
                <a:solidFill>
                  <a:srgbClr val="339933"/>
                </a:solidFill>
                <a:round/>
                <a:headEnd/>
                <a:tailEnd/>
              </a:ln>
              <a:effectLst/>
            </p:spPr>
            <p:txBody>
              <a:bodyPr/>
              <a:lstStyle/>
              <a:p>
                <a:endParaRPr lang="zh-CN" altLang="en-US"/>
              </a:p>
            </p:txBody>
          </p:sp>
          <p:sp>
            <p:nvSpPr>
              <p:cNvPr id="30" name="Line 32">
                <a:extLst>
                  <a:ext uri="{FF2B5EF4-FFF2-40B4-BE49-F238E27FC236}">
                    <a16:creationId xmlns:a16="http://schemas.microsoft.com/office/drawing/2014/main" id="{9D99002C-092C-404B-A2A1-759018A6470F}"/>
                  </a:ext>
                </a:extLst>
              </p:cNvPr>
              <p:cNvSpPr>
                <a:spLocks noChangeShapeType="1"/>
              </p:cNvSpPr>
              <p:nvPr/>
            </p:nvSpPr>
            <p:spPr bwMode="auto">
              <a:xfrm>
                <a:off x="1952" y="2765"/>
                <a:ext cx="940" cy="0"/>
              </a:xfrm>
              <a:prstGeom prst="line">
                <a:avLst/>
              </a:prstGeom>
              <a:noFill/>
              <a:ln w="28575">
                <a:solidFill>
                  <a:srgbClr val="339933"/>
                </a:solidFill>
                <a:round/>
                <a:headEnd/>
                <a:tailEnd/>
              </a:ln>
              <a:effectLst/>
            </p:spPr>
            <p:txBody>
              <a:bodyPr/>
              <a:lstStyle/>
              <a:p>
                <a:endParaRPr lang="zh-CN" altLang="en-US"/>
              </a:p>
            </p:txBody>
          </p:sp>
          <p:sp>
            <p:nvSpPr>
              <p:cNvPr id="31" name="Line 33">
                <a:extLst>
                  <a:ext uri="{FF2B5EF4-FFF2-40B4-BE49-F238E27FC236}">
                    <a16:creationId xmlns:a16="http://schemas.microsoft.com/office/drawing/2014/main" id="{561A7462-CCFB-4D1C-AF3D-C7403A89C8A8}"/>
                  </a:ext>
                </a:extLst>
              </p:cNvPr>
              <p:cNvSpPr>
                <a:spLocks noChangeShapeType="1"/>
              </p:cNvSpPr>
              <p:nvPr/>
            </p:nvSpPr>
            <p:spPr bwMode="auto">
              <a:xfrm>
                <a:off x="1952" y="3107"/>
                <a:ext cx="940" cy="0"/>
              </a:xfrm>
              <a:prstGeom prst="line">
                <a:avLst/>
              </a:prstGeom>
              <a:noFill/>
              <a:ln w="28575">
                <a:solidFill>
                  <a:srgbClr val="339933"/>
                </a:solidFill>
                <a:round/>
                <a:headEnd/>
                <a:tailEnd/>
              </a:ln>
              <a:effectLst/>
            </p:spPr>
            <p:txBody>
              <a:bodyPr/>
              <a:lstStyle/>
              <a:p>
                <a:endParaRPr lang="zh-CN" altLang="en-US"/>
              </a:p>
            </p:txBody>
          </p:sp>
          <p:sp>
            <p:nvSpPr>
              <p:cNvPr id="32" name="Line 35">
                <a:extLst>
                  <a:ext uri="{FF2B5EF4-FFF2-40B4-BE49-F238E27FC236}">
                    <a16:creationId xmlns:a16="http://schemas.microsoft.com/office/drawing/2014/main" id="{75C70F34-3CF9-439B-89B6-C136082625E7}"/>
                  </a:ext>
                </a:extLst>
              </p:cNvPr>
              <p:cNvSpPr>
                <a:spLocks noChangeShapeType="1"/>
              </p:cNvSpPr>
              <p:nvPr/>
            </p:nvSpPr>
            <p:spPr bwMode="auto">
              <a:xfrm>
                <a:off x="1952" y="3505"/>
                <a:ext cx="940" cy="0"/>
              </a:xfrm>
              <a:prstGeom prst="line">
                <a:avLst/>
              </a:prstGeom>
              <a:noFill/>
              <a:ln w="28575">
                <a:solidFill>
                  <a:srgbClr val="339933"/>
                </a:solidFill>
                <a:round/>
                <a:headEnd/>
                <a:tailEnd/>
              </a:ln>
              <a:effectLst/>
            </p:spPr>
            <p:txBody>
              <a:bodyPr/>
              <a:lstStyle/>
              <a:p>
                <a:endParaRPr lang="zh-CN" altLang="en-US"/>
              </a:p>
            </p:txBody>
          </p:sp>
        </p:grpSp>
        <p:grpSp>
          <p:nvGrpSpPr>
            <p:cNvPr id="16" name="组合 15">
              <a:extLst>
                <a:ext uri="{FF2B5EF4-FFF2-40B4-BE49-F238E27FC236}">
                  <a16:creationId xmlns:a16="http://schemas.microsoft.com/office/drawing/2014/main" id="{7660F6A6-9C68-4DB5-8AEA-2C102EBB3471}"/>
                </a:ext>
              </a:extLst>
            </p:cNvPr>
            <p:cNvGrpSpPr/>
            <p:nvPr/>
          </p:nvGrpSpPr>
          <p:grpSpPr>
            <a:xfrm>
              <a:off x="2945357" y="4003455"/>
              <a:ext cx="993231" cy="442818"/>
              <a:chOff x="2945357" y="4003455"/>
              <a:chExt cx="993231" cy="442818"/>
            </a:xfrm>
          </p:grpSpPr>
          <p:sp>
            <p:nvSpPr>
              <p:cNvPr id="26" name="Text Box 19">
                <a:extLst>
                  <a:ext uri="{FF2B5EF4-FFF2-40B4-BE49-F238E27FC236}">
                    <a16:creationId xmlns:a16="http://schemas.microsoft.com/office/drawing/2014/main" id="{5BF8E125-D3EE-43E4-8F31-2DEC7C69BAD0}"/>
                  </a:ext>
                </a:extLst>
              </p:cNvPr>
              <p:cNvSpPr txBox="1">
                <a:spLocks noChangeArrowheads="1"/>
              </p:cNvSpPr>
              <p:nvPr/>
            </p:nvSpPr>
            <p:spPr bwMode="auto">
              <a:xfrm>
                <a:off x="2945357" y="4003455"/>
                <a:ext cx="446088" cy="442818"/>
              </a:xfrm>
              <a:prstGeom prst="rect">
                <a:avLst/>
              </a:prstGeom>
              <a:noFill/>
              <a:ln w="9525">
                <a:noFill/>
                <a:miter lim="800000"/>
                <a:headEnd/>
                <a:tailEnd/>
              </a:ln>
            </p:spPr>
            <p:txBody>
              <a:bodyPr/>
              <a:lstStyle/>
              <a:p>
                <a:pPr algn="just"/>
                <a:r>
                  <a:rPr lang="en-US" altLang="zh-CN" b="1" dirty="0">
                    <a:solidFill>
                      <a:srgbClr val="C01920"/>
                    </a:solidFill>
                    <a:ea typeface="隶书" pitchFamily="49" charset="-122"/>
                    <a:cs typeface="Times New Roman" panose="02020603050405020304" pitchFamily="18" charset="0"/>
                  </a:rPr>
                  <a:t>s</a:t>
                </a:r>
                <a:endParaRPr lang="zh-CN" altLang="en-US" b="1" dirty="0">
                  <a:solidFill>
                    <a:srgbClr val="C01920"/>
                  </a:solidFill>
                  <a:ea typeface="隶书" pitchFamily="49" charset="-122"/>
                  <a:cs typeface="Times New Roman" panose="02020603050405020304" pitchFamily="18" charset="0"/>
                </a:endParaRPr>
              </a:p>
            </p:txBody>
          </p:sp>
          <p:sp>
            <p:nvSpPr>
              <p:cNvPr id="27" name="Line 20">
                <a:extLst>
                  <a:ext uri="{FF2B5EF4-FFF2-40B4-BE49-F238E27FC236}">
                    <a16:creationId xmlns:a16="http://schemas.microsoft.com/office/drawing/2014/main" id="{B21FC525-062A-4A44-87A4-E348BAB454D9}"/>
                  </a:ext>
                </a:extLst>
              </p:cNvPr>
              <p:cNvSpPr>
                <a:spLocks noChangeShapeType="1"/>
              </p:cNvSpPr>
              <p:nvPr/>
            </p:nvSpPr>
            <p:spPr bwMode="auto">
              <a:xfrm rot="10800000" flipH="1">
                <a:off x="3279775" y="4278220"/>
                <a:ext cx="658813"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17" name="矩形 16">
              <a:extLst>
                <a:ext uri="{FF2B5EF4-FFF2-40B4-BE49-F238E27FC236}">
                  <a16:creationId xmlns:a16="http://schemas.microsoft.com/office/drawing/2014/main" id="{B0B763B1-DD00-4F97-9900-4FC0E68949A7}"/>
                </a:ext>
              </a:extLst>
            </p:cNvPr>
            <p:cNvSpPr/>
            <p:nvPr/>
          </p:nvSpPr>
          <p:spPr bwMode="auto">
            <a:xfrm>
              <a:off x="3964360" y="5300671"/>
              <a:ext cx="1702800" cy="611761"/>
            </a:xfrm>
            <a:prstGeom prst="rect">
              <a:avLst/>
            </a:prstGeom>
            <a:solidFill>
              <a:srgbClr val="BEDFC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nvGrpSpPr>
            <p:cNvPr id="18" name="组合 17">
              <a:extLst>
                <a:ext uri="{FF2B5EF4-FFF2-40B4-BE49-F238E27FC236}">
                  <a16:creationId xmlns:a16="http://schemas.microsoft.com/office/drawing/2014/main" id="{B950505D-B644-49B1-B044-1F3F210ECCC7}"/>
                </a:ext>
              </a:extLst>
            </p:cNvPr>
            <p:cNvGrpSpPr/>
            <p:nvPr/>
          </p:nvGrpSpPr>
          <p:grpSpPr>
            <a:xfrm>
              <a:off x="2942529" y="5097884"/>
              <a:ext cx="993231" cy="442818"/>
              <a:chOff x="2945357" y="4003455"/>
              <a:chExt cx="993231" cy="442818"/>
            </a:xfrm>
          </p:grpSpPr>
          <p:sp>
            <p:nvSpPr>
              <p:cNvPr id="24" name="Text Box 19">
                <a:extLst>
                  <a:ext uri="{FF2B5EF4-FFF2-40B4-BE49-F238E27FC236}">
                    <a16:creationId xmlns:a16="http://schemas.microsoft.com/office/drawing/2014/main" id="{79FDCB51-9B72-4AE1-8F04-646BB067A15C}"/>
                  </a:ext>
                </a:extLst>
              </p:cNvPr>
              <p:cNvSpPr txBox="1">
                <a:spLocks noChangeArrowheads="1"/>
              </p:cNvSpPr>
              <p:nvPr/>
            </p:nvSpPr>
            <p:spPr bwMode="auto">
              <a:xfrm>
                <a:off x="2945357" y="4003455"/>
                <a:ext cx="446088" cy="442818"/>
              </a:xfrm>
              <a:prstGeom prst="rect">
                <a:avLst/>
              </a:prstGeom>
              <a:noFill/>
              <a:ln w="9525">
                <a:noFill/>
                <a:miter lim="800000"/>
                <a:headEnd/>
                <a:tailEnd/>
              </a:ln>
            </p:spPr>
            <p:txBody>
              <a:bodyPr/>
              <a:lstStyle/>
              <a:p>
                <a:pPr algn="just"/>
                <a:r>
                  <a:rPr lang="en-US" altLang="zh-CN" b="1" dirty="0">
                    <a:solidFill>
                      <a:srgbClr val="C01920"/>
                    </a:solidFill>
                    <a:ea typeface="隶书" pitchFamily="49" charset="-122"/>
                    <a:cs typeface="Times New Roman" panose="02020603050405020304" pitchFamily="18" charset="0"/>
                  </a:rPr>
                  <a:t>d</a:t>
                </a:r>
                <a:endParaRPr lang="zh-CN" altLang="en-US" b="1" dirty="0">
                  <a:solidFill>
                    <a:srgbClr val="C01920"/>
                  </a:solidFill>
                  <a:ea typeface="隶书" pitchFamily="49" charset="-122"/>
                  <a:cs typeface="Times New Roman" panose="02020603050405020304" pitchFamily="18" charset="0"/>
                </a:endParaRPr>
              </a:p>
            </p:txBody>
          </p:sp>
          <p:sp>
            <p:nvSpPr>
              <p:cNvPr id="25" name="Line 20">
                <a:extLst>
                  <a:ext uri="{FF2B5EF4-FFF2-40B4-BE49-F238E27FC236}">
                    <a16:creationId xmlns:a16="http://schemas.microsoft.com/office/drawing/2014/main" id="{F01B01CE-D431-4550-BA4A-08DC271A230A}"/>
                  </a:ext>
                </a:extLst>
              </p:cNvPr>
              <p:cNvSpPr>
                <a:spLocks noChangeShapeType="1"/>
              </p:cNvSpPr>
              <p:nvPr/>
            </p:nvSpPr>
            <p:spPr bwMode="auto">
              <a:xfrm rot="10800000" flipH="1">
                <a:off x="3279775" y="4278220"/>
                <a:ext cx="658813"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19" name="箭头: 右弧形 18">
              <a:extLst>
                <a:ext uri="{FF2B5EF4-FFF2-40B4-BE49-F238E27FC236}">
                  <a16:creationId xmlns:a16="http://schemas.microsoft.com/office/drawing/2014/main" id="{3CEF0CB4-CEC0-48FD-A197-39AA11A49CDB}"/>
                </a:ext>
              </a:extLst>
            </p:cNvPr>
            <p:cNvSpPr/>
            <p:nvPr/>
          </p:nvSpPr>
          <p:spPr bwMode="auto">
            <a:xfrm>
              <a:off x="5723260" y="4293096"/>
              <a:ext cx="936104" cy="1492752"/>
            </a:xfrm>
            <a:prstGeom prst="curvedLeftArrow">
              <a:avLst/>
            </a:prstGeom>
            <a:solidFill>
              <a:srgbClr val="F0E5B7"/>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0" name="矩形 19">
              <a:extLst>
                <a:ext uri="{FF2B5EF4-FFF2-40B4-BE49-F238E27FC236}">
                  <a16:creationId xmlns:a16="http://schemas.microsoft.com/office/drawing/2014/main" id="{7337E023-DFF9-4C49-A345-590488E64B5F}"/>
                </a:ext>
              </a:extLst>
            </p:cNvPr>
            <p:cNvSpPr/>
            <p:nvPr/>
          </p:nvSpPr>
          <p:spPr bwMode="auto">
            <a:xfrm>
              <a:off x="3961152" y="4132707"/>
              <a:ext cx="1702800" cy="611761"/>
            </a:xfrm>
            <a:prstGeom prst="rect">
              <a:avLst/>
            </a:prstGeom>
            <a:solidFill>
              <a:srgbClr val="BEDFC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1" name="文本框 20">
              <a:extLst>
                <a:ext uri="{FF2B5EF4-FFF2-40B4-BE49-F238E27FC236}">
                  <a16:creationId xmlns:a16="http://schemas.microsoft.com/office/drawing/2014/main" id="{42426A0E-A682-4226-89ED-9842D3F85CDB}"/>
                </a:ext>
              </a:extLst>
            </p:cNvPr>
            <p:cNvSpPr txBox="1"/>
            <p:nvPr/>
          </p:nvSpPr>
          <p:spPr>
            <a:xfrm>
              <a:off x="4285705" y="4222374"/>
              <a:ext cx="1296144" cy="400110"/>
            </a:xfrm>
            <a:prstGeom prst="rect">
              <a:avLst/>
            </a:prstGeom>
            <a:noFill/>
          </p:spPr>
          <p:txBody>
            <a:bodyPr wrap="square" rtlCol="0">
              <a:spAutoFit/>
            </a:bodyPr>
            <a:lstStyle/>
            <a:p>
              <a:r>
                <a:rPr lang="en-US" altLang="zh-CN" sz="2000" b="1" dirty="0">
                  <a:latin typeface="+mn-lt"/>
                  <a:ea typeface="楷体" panose="02010609060101010101" pitchFamily="49" charset="-122"/>
                </a:rPr>
                <a:t>n</a:t>
              </a:r>
              <a:r>
                <a:rPr lang="zh-CN" altLang="en-US" sz="2000" b="1" dirty="0">
                  <a:latin typeface="+mn-lt"/>
                  <a:ea typeface="楷体" panose="02010609060101010101" pitchFamily="49" charset="-122"/>
                </a:rPr>
                <a:t>个字节</a:t>
              </a:r>
            </a:p>
          </p:txBody>
        </p:sp>
        <p:sp>
          <p:nvSpPr>
            <p:cNvPr id="22" name="文本框 21">
              <a:extLst>
                <a:ext uri="{FF2B5EF4-FFF2-40B4-BE49-F238E27FC236}">
                  <a16:creationId xmlns:a16="http://schemas.microsoft.com/office/drawing/2014/main" id="{709DE4A1-CE80-4E0E-BCE6-7592F0813D46}"/>
                </a:ext>
              </a:extLst>
            </p:cNvPr>
            <p:cNvSpPr txBox="1"/>
            <p:nvPr/>
          </p:nvSpPr>
          <p:spPr>
            <a:xfrm>
              <a:off x="4274592" y="5398616"/>
              <a:ext cx="1296144" cy="400110"/>
            </a:xfrm>
            <a:prstGeom prst="rect">
              <a:avLst/>
            </a:prstGeom>
            <a:noFill/>
          </p:spPr>
          <p:txBody>
            <a:bodyPr wrap="square" rtlCol="0">
              <a:spAutoFit/>
            </a:bodyPr>
            <a:lstStyle/>
            <a:p>
              <a:r>
                <a:rPr lang="en-US" altLang="zh-CN" sz="2000" b="1" dirty="0">
                  <a:latin typeface="+mn-lt"/>
                  <a:ea typeface="楷体" panose="02010609060101010101" pitchFamily="49" charset="-122"/>
                </a:rPr>
                <a:t>n</a:t>
              </a:r>
              <a:r>
                <a:rPr lang="zh-CN" altLang="en-US" sz="2000" b="1" dirty="0">
                  <a:latin typeface="+mn-lt"/>
                  <a:ea typeface="楷体" panose="02010609060101010101" pitchFamily="49" charset="-122"/>
                </a:rPr>
                <a:t>个字节</a:t>
              </a:r>
            </a:p>
          </p:txBody>
        </p:sp>
        <p:sp>
          <p:nvSpPr>
            <p:cNvPr id="23" name="文本框 22">
              <a:extLst>
                <a:ext uri="{FF2B5EF4-FFF2-40B4-BE49-F238E27FC236}">
                  <a16:creationId xmlns:a16="http://schemas.microsoft.com/office/drawing/2014/main" id="{8A42ED86-9B8E-4D53-B10D-3EB95A0F193E}"/>
                </a:ext>
              </a:extLst>
            </p:cNvPr>
            <p:cNvSpPr txBox="1"/>
            <p:nvPr/>
          </p:nvSpPr>
          <p:spPr>
            <a:xfrm>
              <a:off x="6744072" y="4725144"/>
              <a:ext cx="1512168" cy="461665"/>
            </a:xfrm>
            <a:prstGeom prst="rect">
              <a:avLst/>
            </a:prstGeom>
            <a:noFill/>
          </p:spPr>
          <p:txBody>
            <a:bodyPr wrap="square" rtlCol="0">
              <a:spAutoFit/>
            </a:bodyPr>
            <a:lstStyle/>
            <a:p>
              <a:r>
                <a:rPr lang="en-US" altLang="zh-CN" b="1" dirty="0" err="1">
                  <a:solidFill>
                    <a:srgbClr val="002060"/>
                  </a:solidFill>
                  <a:latin typeface="+mn-lt"/>
                  <a:ea typeface="楷体" panose="02010609060101010101" pitchFamily="49" charset="-122"/>
                </a:rPr>
                <a:t>memcpy</a:t>
              </a:r>
              <a:endParaRPr lang="zh-CN" altLang="en-US" b="1" dirty="0">
                <a:solidFill>
                  <a:srgbClr val="002060"/>
                </a:solidFill>
                <a:latin typeface="+mn-lt"/>
                <a:ea typeface="楷体" panose="02010609060101010101" pitchFamily="49" charset="-122"/>
              </a:endParaRPr>
            </a:p>
          </p:txBody>
        </p:sp>
      </p:grpSp>
      <p:sp>
        <p:nvSpPr>
          <p:cNvPr id="976902" name="Rectangle 6"/>
          <p:cNvSpPr>
            <a:spLocks noChangeArrowheads="1"/>
          </p:cNvSpPr>
          <p:nvPr/>
        </p:nvSpPr>
        <p:spPr bwMode="auto">
          <a:xfrm>
            <a:off x="1488976" y="1814262"/>
            <a:ext cx="5616575" cy="457200"/>
          </a:xfrm>
          <a:prstGeom prst="rect">
            <a:avLst/>
          </a:prstGeom>
          <a:gradFill>
            <a:gsLst>
              <a:gs pos="0">
                <a:srgbClr val="CFCFD1"/>
              </a:gs>
              <a:gs pos="100000">
                <a:schemeClr val="bg1">
                  <a:lumMod val="95000"/>
                </a:schemeClr>
              </a:gs>
            </a:gsLst>
            <a:lin ang="13500000" scaled="1"/>
          </a:gradFill>
          <a:ln>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none" anchor="ctr">
            <a:spAutoFit/>
          </a:bodyPr>
          <a:lstStyle/>
          <a:p>
            <a:pPr>
              <a:buFont typeface="Wingdings" pitchFamily="2" charset="2"/>
              <a:buChar char="l"/>
              <a:tabLst>
                <a:tab pos="266700" algn="l"/>
              </a:tabLst>
            </a:pPr>
            <a:r>
              <a:rPr lang="zh-CN" altLang="en-US" b="1">
                <a:solidFill>
                  <a:srgbClr val="C01920"/>
                </a:solidFill>
                <a:ea typeface="隶书" pitchFamily="49" charset="-122"/>
              </a:rPr>
              <a:t>使用</a:t>
            </a:r>
            <a:r>
              <a:rPr lang="en-US" altLang="zh-CN" b="1" dirty="0" err="1">
                <a:solidFill>
                  <a:srgbClr val="C01920"/>
                </a:solidFill>
                <a:ea typeface="隶书" pitchFamily="49" charset="-122"/>
              </a:rPr>
              <a:t>memcpy</a:t>
            </a:r>
            <a:r>
              <a:rPr lang="zh-CN" altLang="en-US" b="1" dirty="0">
                <a:solidFill>
                  <a:srgbClr val="C01920"/>
                </a:solidFill>
                <a:ea typeface="隶书" pitchFamily="49" charset="-122"/>
              </a:rPr>
              <a:t>函数实现数组间的赋值</a:t>
            </a:r>
          </a:p>
        </p:txBody>
      </p:sp>
      <p:sp>
        <p:nvSpPr>
          <p:cNvPr id="976903" name="Rectangle 7"/>
          <p:cNvSpPr>
            <a:spLocks noChangeArrowheads="1"/>
          </p:cNvSpPr>
          <p:nvPr/>
        </p:nvSpPr>
        <p:spPr bwMode="auto">
          <a:xfrm>
            <a:off x="1404219" y="2444501"/>
            <a:ext cx="2919389" cy="461665"/>
          </a:xfrm>
          <a:prstGeom prst="rect">
            <a:avLst/>
          </a:prstGeom>
          <a:noFill/>
          <a:ln w="9525">
            <a:noFill/>
            <a:miter lim="800000"/>
            <a:headEnd/>
            <a:tailEnd/>
          </a:ln>
          <a:effectLst/>
        </p:spPr>
        <p:txBody>
          <a:bodyPr wrap="none" anchor="ctr">
            <a:spAutoFit/>
          </a:bodyPr>
          <a:lstStyle/>
          <a:p>
            <a:r>
              <a:rPr lang="en-US" altLang="zh-CN" b="1" dirty="0" err="1">
                <a:effectLst>
                  <a:outerShdw blurRad="38100" dist="38100" dir="2700000" algn="tl">
                    <a:srgbClr val="FFFFFF"/>
                  </a:outerShdw>
                </a:effectLst>
                <a:latin typeface="+mn-lt"/>
                <a:ea typeface="楷体" pitchFamily="49" charset="-122"/>
              </a:rPr>
              <a:t>memcpy</a:t>
            </a:r>
            <a:r>
              <a:rPr lang="zh-CN" altLang="en-US" b="1" dirty="0">
                <a:effectLst>
                  <a:outerShdw blurRad="38100" dist="38100" dir="2700000" algn="tl">
                    <a:srgbClr val="FFFFFF"/>
                  </a:outerShdw>
                </a:effectLst>
                <a:latin typeface="+mn-lt"/>
                <a:ea typeface="楷体" pitchFamily="49" charset="-122"/>
              </a:rPr>
              <a:t>函数原型：</a:t>
            </a:r>
            <a:r>
              <a:rPr lang="zh-CN" altLang="en-US" dirty="0">
                <a:latin typeface="+mn-lt"/>
                <a:ea typeface="楷体" pitchFamily="49" charset="-122"/>
              </a:rPr>
              <a:t> </a:t>
            </a:r>
          </a:p>
        </p:txBody>
      </p:sp>
      <p:sp>
        <p:nvSpPr>
          <p:cNvPr id="976904" name="Text Box 8"/>
          <p:cNvSpPr txBox="1">
            <a:spLocks noChangeArrowheads="1"/>
          </p:cNvSpPr>
          <p:nvPr/>
        </p:nvSpPr>
        <p:spPr bwMode="auto">
          <a:xfrm>
            <a:off x="4183441" y="2501779"/>
            <a:ext cx="7242590" cy="369332"/>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defPPr>
              <a:defRPr lang="zh-CN"/>
            </a:defPPr>
            <a:lvl1pPr algn="ctr">
              <a:defRPr b="1">
                <a:solidFill>
                  <a:srgbClr val="C01920"/>
                </a:solidFill>
              </a:defRPr>
            </a:lvl1pPr>
          </a:lstStyle>
          <a:p>
            <a:r>
              <a:rPr lang="en-US" altLang="zh-CN" dirty="0">
                <a:solidFill>
                  <a:schemeClr val="accent1"/>
                </a:solidFill>
              </a:rPr>
              <a:t>void *</a:t>
            </a:r>
            <a:r>
              <a:rPr lang="en-US" altLang="zh-CN" dirty="0" err="1">
                <a:solidFill>
                  <a:schemeClr val="accent1"/>
                </a:solidFill>
              </a:rPr>
              <a:t>memcpy</a:t>
            </a:r>
            <a:r>
              <a:rPr lang="en-US" altLang="zh-CN" dirty="0">
                <a:solidFill>
                  <a:schemeClr val="accent1"/>
                </a:solidFill>
              </a:rPr>
              <a:t> (void *</a:t>
            </a:r>
            <a:r>
              <a:rPr lang="en-US" altLang="zh-CN" dirty="0" err="1">
                <a:solidFill>
                  <a:schemeClr val="accent1"/>
                </a:solidFill>
              </a:rPr>
              <a:t>dst</a:t>
            </a:r>
            <a:r>
              <a:rPr lang="en-US" altLang="zh-CN" dirty="0">
                <a:solidFill>
                  <a:schemeClr val="accent1"/>
                </a:solidFill>
              </a:rPr>
              <a:t>, void *</a:t>
            </a:r>
            <a:r>
              <a:rPr lang="en-US" altLang="zh-CN" dirty="0" err="1">
                <a:solidFill>
                  <a:schemeClr val="accent1"/>
                </a:solidFill>
              </a:rPr>
              <a:t>src</a:t>
            </a:r>
            <a:r>
              <a:rPr lang="en-US" altLang="zh-CN" dirty="0">
                <a:solidFill>
                  <a:schemeClr val="accent1"/>
                </a:solidFill>
              </a:rPr>
              <a:t>, unsigned n)</a:t>
            </a:r>
          </a:p>
        </p:txBody>
      </p:sp>
      <p:sp>
        <p:nvSpPr>
          <p:cNvPr id="976905" name="Rectangle 9"/>
          <p:cNvSpPr>
            <a:spLocks noChangeArrowheads="1"/>
          </p:cNvSpPr>
          <p:nvPr/>
        </p:nvSpPr>
        <p:spPr bwMode="auto">
          <a:xfrm>
            <a:off x="779795" y="3052078"/>
            <a:ext cx="11078284" cy="878895"/>
          </a:xfrm>
          <a:prstGeom prst="rect">
            <a:avLst/>
          </a:prstGeom>
          <a:noFill/>
          <a:ln w="9525">
            <a:noFill/>
            <a:miter lim="800000"/>
            <a:headEnd/>
            <a:tailEnd/>
          </a:ln>
          <a:effectLst/>
        </p:spPr>
        <p:txBody>
          <a:bodyPr wrap="square" anchor="ctr">
            <a:spAutoFit/>
          </a:bodyPr>
          <a:lstStyle/>
          <a:p>
            <a:pPr>
              <a:lnSpc>
                <a:spcPts val="3200"/>
              </a:lnSpc>
            </a:pPr>
            <a:r>
              <a:rPr lang="en-US" altLang="zh-CN" b="1" dirty="0">
                <a:effectLst>
                  <a:outerShdw blurRad="38100" dist="38100" dir="2700000" algn="tl">
                    <a:srgbClr val="FFFFFF"/>
                  </a:outerShdw>
                </a:effectLst>
                <a:latin typeface="+mn-lt"/>
                <a:ea typeface="楷体" pitchFamily="49" charset="-122"/>
              </a:rPr>
              <a:t>        </a:t>
            </a:r>
            <a:r>
              <a:rPr lang="en-US" altLang="zh-CN" b="1" dirty="0">
                <a:solidFill>
                  <a:srgbClr val="C01920"/>
                </a:solidFill>
                <a:latin typeface="+mn-lt"/>
                <a:ea typeface="楷体" pitchFamily="49" charset="-122"/>
              </a:rPr>
              <a:t> </a:t>
            </a:r>
            <a:r>
              <a:rPr lang="zh-CN" altLang="en-US" b="1" dirty="0">
                <a:solidFill>
                  <a:srgbClr val="C01920"/>
                </a:solidFill>
                <a:latin typeface="隶书" pitchFamily="49" charset="-122"/>
                <a:ea typeface="隶书" pitchFamily="49" charset="-122"/>
              </a:rPr>
              <a:t>功能：</a:t>
            </a:r>
            <a:r>
              <a:rPr lang="zh-CN" altLang="en-US" b="1" dirty="0">
                <a:effectLst>
                  <a:outerShdw blurRad="38100" dist="38100" dir="2700000" algn="tl">
                    <a:srgbClr val="FFFFFF"/>
                  </a:outerShdw>
                </a:effectLst>
                <a:latin typeface="+mn-lt"/>
                <a:ea typeface="楷体" pitchFamily="49" charset="-122"/>
              </a:rPr>
              <a:t>将</a:t>
            </a:r>
            <a:r>
              <a:rPr lang="en-US" altLang="zh-CN" b="1" dirty="0">
                <a:effectLst>
                  <a:outerShdw blurRad="38100" dist="38100" dir="2700000" algn="tl">
                    <a:srgbClr val="FFFFFF"/>
                  </a:outerShdw>
                </a:effectLst>
                <a:latin typeface="+mn-lt"/>
                <a:ea typeface="楷体" pitchFamily="49" charset="-122"/>
              </a:rPr>
              <a:t>s</a:t>
            </a:r>
            <a:r>
              <a:rPr lang="zh-CN" altLang="en-US" b="1" dirty="0">
                <a:effectLst>
                  <a:outerShdw blurRad="38100" dist="38100" dir="2700000" algn="tl">
                    <a:srgbClr val="FFFFFF"/>
                  </a:outerShdw>
                </a:effectLst>
                <a:latin typeface="+mn-lt"/>
                <a:ea typeface="楷体" pitchFamily="49" charset="-122"/>
              </a:rPr>
              <a:t>为首地址的一片连续的</a:t>
            </a:r>
            <a:r>
              <a:rPr lang="en-US" altLang="zh-CN" b="1" dirty="0">
                <a:effectLst>
                  <a:outerShdw blurRad="38100" dist="38100" dir="2700000" algn="tl">
                    <a:srgbClr val="FFFFFF"/>
                  </a:outerShdw>
                </a:effectLst>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个字节内存单元的值拷贝到以</a:t>
            </a:r>
            <a:r>
              <a:rPr lang="en-US" altLang="zh-CN" b="1" dirty="0">
                <a:effectLst>
                  <a:outerShdw blurRad="38100" dist="38100" dir="2700000" algn="tl">
                    <a:srgbClr val="FFFFFF"/>
                  </a:outerShdw>
                </a:effectLst>
                <a:latin typeface="+mn-lt"/>
                <a:ea typeface="楷体" pitchFamily="49" charset="-122"/>
              </a:rPr>
              <a:t>d</a:t>
            </a:r>
            <a:r>
              <a:rPr lang="zh-CN" altLang="en-US" b="1" dirty="0">
                <a:effectLst>
                  <a:outerShdw blurRad="38100" dist="38100" dir="2700000" algn="tl">
                    <a:srgbClr val="FFFFFF"/>
                  </a:outerShdw>
                </a:effectLst>
                <a:latin typeface="+mn-lt"/>
                <a:ea typeface="楷体" pitchFamily="49" charset="-122"/>
              </a:rPr>
              <a:t>为首地址的一片连续的内存单元中</a:t>
            </a:r>
            <a:r>
              <a:rPr lang="zh-CN" altLang="en-US"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a:t>
            </a:r>
          </a:p>
        </p:txBody>
      </p:sp>
      <p:sp>
        <p:nvSpPr>
          <p:cNvPr id="976906" name="Text Box 10" descr="信纸"/>
          <p:cNvSpPr txBox="1">
            <a:spLocks noChangeArrowheads="1"/>
          </p:cNvSpPr>
          <p:nvPr/>
        </p:nvSpPr>
        <p:spPr bwMode="auto">
          <a:xfrm>
            <a:off x="1925729" y="3789665"/>
            <a:ext cx="8786415"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zh-CN" b="1" dirty="0">
                <a:solidFill>
                  <a:srgbClr val="C01920"/>
                </a:solidFill>
                <a:latin typeface="隶书" pitchFamily="49" charset="-122"/>
                <a:ea typeface="隶书" pitchFamily="49" charset="-122"/>
              </a:rPr>
              <a:t>例如，</a:t>
            </a:r>
            <a:r>
              <a:rPr lang="zh-CN" altLang="en-US" b="1" dirty="0">
                <a:solidFill>
                  <a:srgbClr val="C01920"/>
                </a:solidFill>
                <a:ea typeface="隶书" pitchFamily="49" charset="-122"/>
              </a:rPr>
              <a:t>两个数组元素之间的赋值</a:t>
            </a:r>
            <a:r>
              <a:rPr lang="zh-CN" altLang="en-US" dirty="0">
                <a:solidFill>
                  <a:srgbClr val="C01920"/>
                </a:solidFill>
              </a:rPr>
              <a:t> </a:t>
            </a:r>
            <a:r>
              <a:rPr lang="zh-CN" altLang="en-US" b="1" dirty="0">
                <a:solidFill>
                  <a:srgbClr val="C01920"/>
                </a:solidFill>
              </a:rPr>
              <a:t>。</a:t>
            </a:r>
          </a:p>
          <a:p>
            <a:r>
              <a:rPr lang="zh-CN" altLang="en-US" b="1" dirty="0"/>
              <a:t>    </a:t>
            </a:r>
            <a:r>
              <a:rPr lang="en-US" altLang="zh-CN" b="1" dirty="0"/>
              <a:t>int a[5] = {1, 2, 3, 4, 5}, b[5], </a:t>
            </a:r>
            <a:r>
              <a:rPr lang="en-US" altLang="zh-CN" b="1" dirty="0" err="1"/>
              <a:t>i</a:t>
            </a:r>
            <a:r>
              <a:rPr lang="en-US" altLang="zh-CN" b="1" dirty="0"/>
              <a:t>;</a:t>
            </a:r>
          </a:p>
          <a:p>
            <a:r>
              <a:rPr lang="en-US" altLang="zh-CN" b="1" dirty="0"/>
              <a:t>    for (</a:t>
            </a:r>
            <a:r>
              <a:rPr lang="en-US" altLang="zh-CN" b="1" dirty="0" err="1"/>
              <a:t>i</a:t>
            </a:r>
            <a:r>
              <a:rPr lang="en-US" altLang="zh-CN" b="1" dirty="0"/>
              <a:t> = 0; </a:t>
            </a:r>
            <a:r>
              <a:rPr lang="en-US" altLang="zh-CN" b="1" dirty="0" err="1"/>
              <a:t>i</a:t>
            </a:r>
            <a:r>
              <a:rPr lang="en-US" altLang="zh-CN" b="1" dirty="0"/>
              <a:t> &lt; 5; </a:t>
            </a:r>
            <a:r>
              <a:rPr lang="en-US" altLang="zh-CN" b="1" dirty="0" err="1"/>
              <a:t>i</a:t>
            </a:r>
            <a:r>
              <a:rPr lang="en-US" altLang="zh-CN" b="1" dirty="0"/>
              <a:t>++)</a:t>
            </a:r>
          </a:p>
          <a:p>
            <a:r>
              <a:rPr lang="en-US" altLang="zh-CN" b="1" dirty="0"/>
              <a:t>        b[</a:t>
            </a:r>
            <a:r>
              <a:rPr lang="en-US" altLang="zh-CN" b="1" dirty="0" err="1"/>
              <a:t>i</a:t>
            </a:r>
            <a:r>
              <a:rPr lang="en-US" altLang="zh-CN" b="1" dirty="0"/>
              <a:t>] = a[</a:t>
            </a:r>
            <a:r>
              <a:rPr lang="en-US" altLang="zh-CN" b="1" dirty="0" err="1"/>
              <a:t>i</a:t>
            </a:r>
            <a:r>
              <a:rPr lang="en-US" altLang="zh-CN" b="1" dirty="0"/>
              <a:t>];</a:t>
            </a:r>
          </a:p>
        </p:txBody>
      </p:sp>
      <p:sp>
        <p:nvSpPr>
          <p:cNvPr id="976909" name="AutoShape 13"/>
          <p:cNvSpPr>
            <a:spLocks noChangeArrowheads="1"/>
          </p:cNvSpPr>
          <p:nvPr/>
        </p:nvSpPr>
        <p:spPr bwMode="auto">
          <a:xfrm>
            <a:off x="5887136" y="5522863"/>
            <a:ext cx="431800" cy="649287"/>
          </a:xfrm>
          <a:prstGeom prst="upDownArrow">
            <a:avLst>
              <a:gd name="adj1" fmla="val 50000"/>
              <a:gd name="adj2" fmla="val 30074"/>
            </a:avLst>
          </a:pr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vert="eaVert" wrap="none" anchor="ctr">
            <a:flatTx/>
          </a:bodyPr>
          <a:lstStyle/>
          <a:p>
            <a:endParaRPr lang="zh-CN" altLang="en-US"/>
          </a:p>
        </p:txBody>
      </p:sp>
      <p:sp>
        <p:nvSpPr>
          <p:cNvPr id="976910" name="Text Box 14" descr="信纸"/>
          <p:cNvSpPr txBox="1">
            <a:spLocks noChangeArrowheads="1"/>
          </p:cNvSpPr>
          <p:nvPr/>
        </p:nvSpPr>
        <p:spPr bwMode="auto">
          <a:xfrm>
            <a:off x="1960089" y="6172150"/>
            <a:ext cx="8794354" cy="46384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algn="just"/>
            <a:r>
              <a:rPr lang="en-US" altLang="zh-CN" b="1" dirty="0" err="1"/>
              <a:t>memcpy</a:t>
            </a:r>
            <a:r>
              <a:rPr lang="en-US" altLang="zh-CN" b="1" dirty="0"/>
              <a:t> (b, a, 5* </a:t>
            </a:r>
            <a:r>
              <a:rPr lang="en-US" altLang="zh-CN" b="1" dirty="0" err="1"/>
              <a:t>sizeof</a:t>
            </a:r>
            <a:r>
              <a:rPr lang="en-US" altLang="zh-CN" b="1" dirty="0"/>
              <a:t>(int));</a:t>
            </a:r>
          </a:p>
        </p:txBody>
      </p:sp>
      <p:sp>
        <p:nvSpPr>
          <p:cNvPr id="33" name="Rectangle 6">
            <a:extLst>
              <a:ext uri="{FF2B5EF4-FFF2-40B4-BE49-F238E27FC236}">
                <a16:creationId xmlns:a16="http://schemas.microsoft.com/office/drawing/2014/main" id="{6E706141-CB1B-4D70-ABCC-8CADB163C403}"/>
              </a:ext>
            </a:extLst>
          </p:cNvPr>
          <p:cNvSpPr>
            <a:spLocks noChangeArrowheads="1"/>
          </p:cNvSpPr>
          <p:nvPr/>
        </p:nvSpPr>
        <p:spPr bwMode="auto">
          <a:xfrm>
            <a:off x="1143770" y="1315616"/>
            <a:ext cx="2855269" cy="369332"/>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chemeClr val="accent1"/>
                </a:solidFill>
                <a:latin typeface="+mn-lt"/>
                <a:ea typeface="楷体" pitchFamily="49" charset="-122"/>
              </a:rPr>
              <a:t>一维数组在程序中赋值</a:t>
            </a:r>
          </a:p>
        </p:txBody>
      </p:sp>
      <p:sp>
        <p:nvSpPr>
          <p:cNvPr id="34" name="Rectangle 5">
            <a:extLst>
              <a:ext uri="{FF2B5EF4-FFF2-40B4-BE49-F238E27FC236}">
                <a16:creationId xmlns:a16="http://schemas.microsoft.com/office/drawing/2014/main" id="{E95F23DD-A5AA-4198-8F9A-CB724C1172A2}"/>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3</a:t>
            </a:r>
            <a:r>
              <a:rPr lang="zh-CN" altLang="en-US" sz="2800" b="1" dirty="0">
                <a:solidFill>
                  <a:schemeClr val="accent1"/>
                </a:solidFill>
                <a:latin typeface="+mn-lt"/>
                <a:ea typeface="楷体" pitchFamily="49" charset="-122"/>
              </a:rPr>
              <a:t>、一维数组的赋值</a:t>
            </a:r>
          </a:p>
        </p:txBody>
      </p:sp>
      <p:sp>
        <p:nvSpPr>
          <p:cNvPr id="35" name="Rectangle 4">
            <a:extLst>
              <a:ext uri="{FF2B5EF4-FFF2-40B4-BE49-F238E27FC236}">
                <a16:creationId xmlns:a16="http://schemas.microsoft.com/office/drawing/2014/main" id="{C2FE812B-7465-430B-ACA5-D8480BFF8E7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4054959255"/>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0-#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76902"/>
                                        </p:tgtEl>
                                        <p:attrNameLst>
                                          <p:attrName>style.visibility</p:attrName>
                                        </p:attrNameLst>
                                      </p:cBhvr>
                                      <p:to>
                                        <p:strVal val="visible"/>
                                      </p:to>
                                    </p:set>
                                    <p:anim calcmode="lin" valueType="num">
                                      <p:cBhvr additive="base">
                                        <p:cTn id="13" dur="500" fill="hold"/>
                                        <p:tgtEl>
                                          <p:spTgt spid="976902"/>
                                        </p:tgtEl>
                                        <p:attrNameLst>
                                          <p:attrName>ppt_x</p:attrName>
                                        </p:attrNameLst>
                                      </p:cBhvr>
                                      <p:tavLst>
                                        <p:tav tm="0">
                                          <p:val>
                                            <p:strVal val="0-#ppt_w/2"/>
                                          </p:val>
                                        </p:tav>
                                        <p:tav tm="100000">
                                          <p:val>
                                            <p:strVal val="#ppt_x"/>
                                          </p:val>
                                        </p:tav>
                                      </p:tavLst>
                                    </p:anim>
                                    <p:anim calcmode="lin" valueType="num">
                                      <p:cBhvr additive="base">
                                        <p:cTn id="14" dur="500" fill="hold"/>
                                        <p:tgtEl>
                                          <p:spTgt spid="97690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76903"/>
                                        </p:tgtEl>
                                        <p:attrNameLst>
                                          <p:attrName>style.visibility</p:attrName>
                                        </p:attrNameLst>
                                      </p:cBhvr>
                                      <p:to>
                                        <p:strVal val="visible"/>
                                      </p:to>
                                    </p:set>
                                    <p:animEffect transition="in" filter="box(out)">
                                      <p:cBhvr>
                                        <p:cTn id="19" dur="500"/>
                                        <p:tgtEl>
                                          <p:spTgt spid="976903"/>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76904"/>
                                        </p:tgtEl>
                                        <p:attrNameLst>
                                          <p:attrName>style.visibility</p:attrName>
                                        </p:attrNameLst>
                                      </p:cBhvr>
                                      <p:to>
                                        <p:strVal val="visible"/>
                                      </p:to>
                                    </p:set>
                                    <p:animEffect transition="in" filter="box(out)">
                                      <p:cBhvr>
                                        <p:cTn id="24" dur="500"/>
                                        <p:tgtEl>
                                          <p:spTgt spid="976904"/>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976905">
                                            <p:txEl>
                                              <p:pRg st="0" end="0"/>
                                            </p:txEl>
                                          </p:spTgt>
                                        </p:tgtEl>
                                        <p:attrNameLst>
                                          <p:attrName>style.visibility</p:attrName>
                                        </p:attrNameLst>
                                      </p:cBhvr>
                                      <p:to>
                                        <p:strVal val="visible"/>
                                      </p:to>
                                    </p:set>
                                    <p:animEffect transition="in" filter="box(out)">
                                      <p:cBhvr>
                                        <p:cTn id="29" dur="500"/>
                                        <p:tgtEl>
                                          <p:spTgt spid="976905">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6"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strips(downRight)">
                                      <p:cBhvr>
                                        <p:cTn id="34"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976906"/>
                                        </p:tgtEl>
                                        <p:attrNameLst>
                                          <p:attrName>style.visibility</p:attrName>
                                        </p:attrNameLst>
                                      </p:cBhvr>
                                      <p:to>
                                        <p:strVal val="visible"/>
                                      </p:to>
                                    </p:set>
                                    <p:animEffect transition="in" filter="box(out)">
                                      <p:cBhvr>
                                        <p:cTn id="39" dur="500"/>
                                        <p:tgtEl>
                                          <p:spTgt spid="976906"/>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12" fill="hold" grpId="0" nodeType="clickEffect">
                                  <p:stCondLst>
                                    <p:cond delay="0"/>
                                  </p:stCondLst>
                                  <p:childTnLst>
                                    <p:set>
                                      <p:cBhvr>
                                        <p:cTn id="43" dur="1" fill="hold">
                                          <p:stCondLst>
                                            <p:cond delay="0"/>
                                          </p:stCondLst>
                                        </p:cTn>
                                        <p:tgtEl>
                                          <p:spTgt spid="976909"/>
                                        </p:tgtEl>
                                        <p:attrNameLst>
                                          <p:attrName>style.visibility</p:attrName>
                                        </p:attrNameLst>
                                      </p:cBhvr>
                                      <p:to>
                                        <p:strVal val="visible"/>
                                      </p:to>
                                    </p:set>
                                    <p:animEffect transition="in" filter="strips(downLeft)">
                                      <p:cBhvr>
                                        <p:cTn id="44" dur="500"/>
                                        <p:tgtEl>
                                          <p:spTgt spid="976909"/>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500"/>
                            </p:stCondLst>
                            <p:childTnLst>
                              <p:par>
                                <p:cTn id="46" presetID="4" presetClass="entr" presetSubtype="32" fill="hold" grpId="0" nodeType="afterEffect">
                                  <p:stCondLst>
                                    <p:cond delay="0"/>
                                  </p:stCondLst>
                                  <p:childTnLst>
                                    <p:set>
                                      <p:cBhvr>
                                        <p:cTn id="47" dur="1" fill="hold">
                                          <p:stCondLst>
                                            <p:cond delay="0"/>
                                          </p:stCondLst>
                                        </p:cTn>
                                        <p:tgtEl>
                                          <p:spTgt spid="976910"/>
                                        </p:tgtEl>
                                        <p:attrNameLst>
                                          <p:attrName>style.visibility</p:attrName>
                                        </p:attrNameLst>
                                      </p:cBhvr>
                                      <p:to>
                                        <p:strVal val="visible"/>
                                      </p:to>
                                    </p:set>
                                    <p:animEffect transition="in" filter="box(out)">
                                      <p:cBhvr>
                                        <p:cTn id="48" dur="500"/>
                                        <p:tgtEl>
                                          <p:spTgt spid="976910"/>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6902" grpId="0" animBg="1"/>
      <p:bldP spid="976903" grpId="0"/>
      <p:bldP spid="976904" grpId="0" animBg="1" autoUpdateAnimBg="0"/>
      <p:bldP spid="976906" grpId="0" animBg="1"/>
      <p:bldP spid="976909" grpId="0" animBg="1"/>
      <p:bldP spid="976910" grpId="0" animBg="1"/>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85A8E684-0FB7-41D5-AAA5-E8F72B7478D3}"/>
              </a:ext>
            </a:extLst>
          </p:cNvPr>
          <p:cNvSpPr>
            <a:spLocks noChangeArrowheads="1"/>
          </p:cNvSpPr>
          <p:nvPr/>
        </p:nvSpPr>
        <p:spPr bwMode="auto">
          <a:xfrm>
            <a:off x="1143770" y="1315616"/>
            <a:ext cx="2855269" cy="369332"/>
          </a:xfrm>
          <a:prstGeom prst="rect">
            <a:avLst/>
          </a:prstGeom>
          <a:noFill/>
          <a:ln w="9525">
            <a:noFill/>
            <a:miter lim="800000"/>
            <a:headEnd/>
            <a:tailEnd/>
          </a:ln>
          <a:effectLst/>
        </p:spPr>
        <p:txBody>
          <a:bodyPr wrap="none">
            <a:spAutoFit/>
          </a:bodyPr>
          <a:lstStyle/>
          <a:p>
            <a:pPr marL="342900" indent="-342900">
              <a:buClr>
                <a:srgbClr val="C01920"/>
              </a:buClr>
              <a:buFont typeface="Wingdings" panose="05000000000000000000" pitchFamily="2" charset="2"/>
              <a:buChar char="Ø"/>
            </a:pPr>
            <a:r>
              <a:rPr lang="zh-CN" altLang="en-US" b="1" dirty="0">
                <a:solidFill>
                  <a:schemeClr val="accent1"/>
                </a:solidFill>
                <a:latin typeface="+mn-lt"/>
                <a:ea typeface="楷体" pitchFamily="49" charset="-122"/>
              </a:rPr>
              <a:t>一维数组在程序中赋值</a:t>
            </a:r>
          </a:p>
        </p:txBody>
      </p:sp>
      <p:sp>
        <p:nvSpPr>
          <p:cNvPr id="3" name="Rectangle 5">
            <a:extLst>
              <a:ext uri="{FF2B5EF4-FFF2-40B4-BE49-F238E27FC236}">
                <a16:creationId xmlns:a16="http://schemas.microsoft.com/office/drawing/2014/main" id="{8334E372-7A2F-4C02-AD75-56331C160173}"/>
              </a:ext>
            </a:extLst>
          </p:cNvPr>
          <p:cNvSpPr>
            <a:spLocks noChangeArrowheads="1"/>
          </p:cNvSpPr>
          <p:nvPr/>
        </p:nvSpPr>
        <p:spPr bwMode="auto">
          <a:xfrm>
            <a:off x="856862" y="836712"/>
            <a:ext cx="3249608" cy="523220"/>
          </a:xfrm>
          <a:prstGeom prst="rect">
            <a:avLst/>
          </a:prstGeom>
          <a:noFill/>
          <a:ln w="9525">
            <a:noFill/>
            <a:miter lim="800000"/>
            <a:headEnd/>
            <a:tailEnd/>
          </a:ln>
          <a:effectLst/>
        </p:spPr>
        <p:txBody>
          <a:bodyPr wrap="none">
            <a:spAutoFit/>
          </a:bodyPr>
          <a:lstStyle/>
          <a:p>
            <a:r>
              <a:rPr lang="en-US" altLang="zh-CN" sz="2800" b="1" dirty="0">
                <a:solidFill>
                  <a:schemeClr val="accent1"/>
                </a:solidFill>
                <a:latin typeface="+mn-lt"/>
                <a:ea typeface="楷体" pitchFamily="49" charset="-122"/>
              </a:rPr>
              <a:t>3</a:t>
            </a:r>
            <a:r>
              <a:rPr lang="zh-CN" altLang="en-US" sz="2800" b="1" dirty="0">
                <a:solidFill>
                  <a:schemeClr val="accent1"/>
                </a:solidFill>
                <a:latin typeface="+mn-lt"/>
                <a:ea typeface="楷体" pitchFamily="49" charset="-122"/>
              </a:rPr>
              <a:t>、一维数组的赋值</a:t>
            </a:r>
          </a:p>
        </p:txBody>
      </p:sp>
      <p:sp>
        <p:nvSpPr>
          <p:cNvPr id="5" name="文本框 4">
            <a:extLst>
              <a:ext uri="{FF2B5EF4-FFF2-40B4-BE49-F238E27FC236}">
                <a16:creationId xmlns:a16="http://schemas.microsoft.com/office/drawing/2014/main" id="{B0734580-9D60-45D6-B2E0-E082669A3346}"/>
              </a:ext>
            </a:extLst>
          </p:cNvPr>
          <p:cNvSpPr txBox="1"/>
          <p:nvPr/>
        </p:nvSpPr>
        <p:spPr>
          <a:xfrm>
            <a:off x="1072795" y="2163852"/>
            <a:ext cx="10046410" cy="1200329"/>
          </a:xfrm>
          <a:prstGeom prst="rect">
            <a:avLst/>
          </a:prstGeom>
          <a:noFill/>
        </p:spPr>
        <p:txBody>
          <a:bodyPr wrap="square">
            <a:spAutoFit/>
          </a:bodyPr>
          <a:lstStyle/>
          <a:p>
            <a:r>
              <a:rPr lang="zh-CN" altLang="en-US" sz="1800" b="1" dirty="0">
                <a:solidFill>
                  <a:srgbClr val="C01920"/>
                </a:solidFill>
                <a:ea typeface="隶书" pitchFamily="49" charset="-122"/>
              </a:rPr>
              <a:t> 注意：</a:t>
            </a:r>
            <a:r>
              <a:rPr lang="zh-CN" altLang="en-US" sz="1800" b="1" dirty="0">
                <a:latin typeface="+mn-lt"/>
                <a:ea typeface="隶书" pitchFamily="49" charset="-122"/>
              </a:rPr>
              <a:t>在使用</a:t>
            </a:r>
            <a:r>
              <a:rPr lang="en-US" altLang="zh-CN" sz="1800" b="1" dirty="0" err="1">
                <a:latin typeface="+mn-lt"/>
                <a:ea typeface="隶书" pitchFamily="49" charset="-122"/>
              </a:rPr>
              <a:t>memset</a:t>
            </a:r>
            <a:r>
              <a:rPr lang="zh-CN" altLang="en-US" sz="1800" b="1" dirty="0">
                <a:latin typeface="+mn-lt"/>
                <a:ea typeface="隶书" pitchFamily="49" charset="-122"/>
              </a:rPr>
              <a:t>和</a:t>
            </a:r>
            <a:r>
              <a:rPr lang="en-US" altLang="zh-CN" sz="1800" b="1" dirty="0" err="1">
                <a:latin typeface="+mn-lt"/>
                <a:ea typeface="隶书" pitchFamily="49" charset="-122"/>
              </a:rPr>
              <a:t>memcpy</a:t>
            </a:r>
            <a:r>
              <a:rPr lang="zh-CN" altLang="en-US" sz="1800" b="1" dirty="0">
                <a:latin typeface="+mn-lt"/>
                <a:ea typeface="隶书" pitchFamily="49" charset="-122"/>
              </a:rPr>
              <a:t>函数时，源程序中要包含头文件</a:t>
            </a:r>
            <a:r>
              <a:rPr lang="zh-CN" altLang="en-US" sz="1800" b="1" dirty="0">
                <a:solidFill>
                  <a:srgbClr val="C01920"/>
                </a:solidFill>
                <a:latin typeface="+mn-lt"/>
                <a:ea typeface="隶书" pitchFamily="49" charset="-122"/>
              </a:rPr>
              <a:t>“</a:t>
            </a:r>
            <a:r>
              <a:rPr lang="en-US" altLang="zh-CN" sz="1800" b="1" dirty="0" err="1">
                <a:solidFill>
                  <a:srgbClr val="C01920"/>
                </a:solidFill>
                <a:latin typeface="+mn-lt"/>
                <a:ea typeface="隶书" pitchFamily="49" charset="-122"/>
              </a:rPr>
              <a:t>string.h</a:t>
            </a:r>
            <a:r>
              <a:rPr lang="en-US" altLang="zh-CN" sz="1800" b="1" dirty="0">
                <a:solidFill>
                  <a:srgbClr val="C01920"/>
                </a:solidFill>
                <a:latin typeface="+mn-lt"/>
                <a:ea typeface="隶书" pitchFamily="49" charset="-122"/>
              </a:rPr>
              <a:t>”</a:t>
            </a:r>
            <a:r>
              <a:rPr lang="zh-CN" altLang="en-US" sz="1800" b="1" dirty="0">
                <a:latin typeface="+mn-lt"/>
                <a:ea typeface="隶书" pitchFamily="49" charset="-122"/>
              </a:rPr>
              <a:t>或</a:t>
            </a:r>
            <a:r>
              <a:rPr lang="zh-CN" altLang="en-US" sz="1800" b="1" dirty="0">
                <a:solidFill>
                  <a:srgbClr val="C01920"/>
                </a:solidFill>
                <a:latin typeface="+mn-lt"/>
                <a:ea typeface="隶书" pitchFamily="49" charset="-122"/>
              </a:rPr>
              <a:t>“</a:t>
            </a:r>
            <a:r>
              <a:rPr lang="en-US" altLang="zh-CN" sz="1800" b="1" dirty="0" err="1">
                <a:solidFill>
                  <a:srgbClr val="C01920"/>
                </a:solidFill>
                <a:latin typeface="+mn-lt"/>
                <a:ea typeface="隶书" pitchFamily="49" charset="-122"/>
              </a:rPr>
              <a:t>memory.h</a:t>
            </a:r>
            <a:r>
              <a:rPr lang="en-US" altLang="zh-CN" sz="1800" b="1" dirty="0">
                <a:solidFill>
                  <a:srgbClr val="C01920"/>
                </a:solidFill>
                <a:latin typeface="+mn-lt"/>
                <a:ea typeface="隶书" pitchFamily="49" charset="-122"/>
              </a:rPr>
              <a:t>”</a:t>
            </a:r>
            <a:r>
              <a:rPr lang="zh-CN" altLang="en-US" sz="1800" b="1" dirty="0">
                <a:latin typeface="+mn-lt"/>
                <a:ea typeface="隶书" pitchFamily="49" charset="-122"/>
              </a:rPr>
              <a:t>。</a:t>
            </a:r>
            <a:endParaRPr lang="en-US" altLang="zh-CN" sz="1800" b="1" dirty="0">
              <a:latin typeface="+mn-lt"/>
              <a:ea typeface="隶书" pitchFamily="49" charset="-122"/>
            </a:endParaRPr>
          </a:p>
          <a:p>
            <a:endParaRPr lang="en-US" altLang="zh-CN" sz="1800" b="1" dirty="0">
              <a:latin typeface="+mn-lt"/>
              <a:ea typeface="隶书" pitchFamily="49" charset="-122"/>
            </a:endParaRPr>
          </a:p>
          <a:p>
            <a:r>
              <a:rPr lang="en-US" altLang="zh-CN" b="1" dirty="0">
                <a:ea typeface="隶书" pitchFamily="49" charset="-122"/>
              </a:rPr>
              <a:t>            </a:t>
            </a:r>
            <a:r>
              <a:rPr lang="zh-CN" altLang="en-US" b="1" dirty="0">
                <a:ea typeface="隶书" pitchFamily="49" charset="-122"/>
              </a:rPr>
              <a:t>在实际利用数组编写程序中，建立用循环或者逐个赋值，这样增加代码的可读性以及减少出错的概率。</a:t>
            </a:r>
            <a:r>
              <a:rPr lang="zh-CN" altLang="en-US" sz="1800" dirty="0">
                <a:latin typeface="+mn-lt"/>
              </a:rPr>
              <a:t> </a:t>
            </a:r>
            <a:endParaRPr lang="zh-CN" altLang="en-US" dirty="0"/>
          </a:p>
        </p:txBody>
      </p:sp>
      <p:sp>
        <p:nvSpPr>
          <p:cNvPr id="6" name="Rectangle 4">
            <a:extLst>
              <a:ext uri="{FF2B5EF4-FFF2-40B4-BE49-F238E27FC236}">
                <a16:creationId xmlns:a16="http://schemas.microsoft.com/office/drawing/2014/main" id="{4ABFC28D-CEA0-4706-9E08-8251BDB7D99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852014770"/>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1001" name="Rectangle 9"/>
          <p:cNvSpPr>
            <a:spLocks noChangeArrowheads="1"/>
          </p:cNvSpPr>
          <p:nvPr/>
        </p:nvSpPr>
        <p:spPr bwMode="auto">
          <a:xfrm>
            <a:off x="1255996" y="1762944"/>
            <a:ext cx="10240680" cy="224895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lIns="90000" tIns="46800" rIns="90000" bIns="46800" anchor="ctr">
            <a:spAutoFit/>
          </a:bodyPr>
          <a:lstStyle/>
          <a:p>
            <a:r>
              <a:rPr lang="zh-CN" altLang="en-US" sz="2000" b="1" u="sng" dirty="0">
                <a:ln w="1905"/>
                <a:solidFill>
                  <a:srgbClr val="00B0F0"/>
                </a:solidFill>
                <a:latin typeface="楷体" panose="02010609060101010101" pitchFamily="49" charset="-122"/>
                <a:ea typeface="楷体" panose="02010609060101010101" pitchFamily="49" charset="-122"/>
              </a:rPr>
              <a:t>排序过程：</a:t>
            </a:r>
            <a:endParaRPr lang="en-US" altLang="zh-CN" sz="2000" b="1" u="sng" dirty="0">
              <a:ln w="1905"/>
              <a:solidFill>
                <a:srgbClr val="00B0F0"/>
              </a:solidFill>
              <a:latin typeface="楷体" panose="02010609060101010101" pitchFamily="49" charset="-122"/>
              <a:ea typeface="楷体" panose="02010609060101010101" pitchFamily="49" charset="-122"/>
            </a:endParaRPr>
          </a:p>
          <a:p>
            <a:endParaRPr lang="en-US" altLang="zh-CN" sz="2000" b="1" u="sng" dirty="0">
              <a:ln w="1905"/>
              <a:solidFill>
                <a:srgbClr val="C00000"/>
              </a:solidFill>
              <a:latin typeface="楷体" panose="02010609060101010101" pitchFamily="49" charset="-122"/>
              <a:ea typeface="楷体" panose="02010609060101010101" pitchFamily="49" charset="-122"/>
            </a:endParaRPr>
          </a:p>
          <a:p>
            <a:pPr marL="457200" indent="-457200">
              <a:buAutoNum type="arabicParenBoth"/>
            </a:pPr>
            <a:r>
              <a:rPr lang="zh-CN" altLang="en-US" sz="2000" b="1" dirty="0">
                <a:ln w="1905"/>
                <a:solidFill>
                  <a:schemeClr val="tx1"/>
                </a:solidFill>
                <a:ea typeface="楷体" pitchFamily="49" charset="-122"/>
              </a:rPr>
              <a:t>比较第一个数与第二个数，若为逆序</a:t>
            </a:r>
            <a:r>
              <a:rPr lang="en-US" altLang="zh-CN" sz="2000" b="1" dirty="0">
                <a:ln w="1905"/>
                <a:solidFill>
                  <a:schemeClr val="tx1"/>
                </a:solidFill>
                <a:ea typeface="楷体" pitchFamily="49" charset="-122"/>
              </a:rPr>
              <a:t>a[0]&gt;a[1]</a:t>
            </a:r>
            <a:r>
              <a:rPr lang="zh-CN" altLang="en-US" sz="2000" b="1" dirty="0">
                <a:ln w="1905"/>
                <a:solidFill>
                  <a:schemeClr val="tx1"/>
                </a:solidFill>
                <a:ea typeface="楷体" pitchFamily="49" charset="-122"/>
              </a:rPr>
              <a:t>，则交换；然后比较第二个数与第三个数；依次类推，直至第</a:t>
            </a:r>
            <a:r>
              <a:rPr lang="en-US" altLang="zh-CN" sz="2000" b="1" dirty="0">
                <a:ln w="1905"/>
                <a:solidFill>
                  <a:schemeClr val="tx1"/>
                </a:solidFill>
                <a:ea typeface="楷体" pitchFamily="49" charset="-122"/>
              </a:rPr>
              <a:t>n-1</a:t>
            </a:r>
            <a:r>
              <a:rPr lang="zh-CN" altLang="en-US" sz="2000" b="1" dirty="0">
                <a:ln w="1905"/>
                <a:solidFill>
                  <a:schemeClr val="tx1"/>
                </a:solidFill>
                <a:ea typeface="楷体" pitchFamily="49" charset="-122"/>
              </a:rPr>
              <a:t>个数和第</a:t>
            </a:r>
            <a:r>
              <a:rPr lang="en-US" altLang="zh-CN" sz="2000" b="1" dirty="0">
                <a:ln w="1905"/>
                <a:solidFill>
                  <a:schemeClr val="tx1"/>
                </a:solidFill>
                <a:ea typeface="楷体" pitchFamily="49" charset="-122"/>
              </a:rPr>
              <a:t>n</a:t>
            </a:r>
            <a:r>
              <a:rPr lang="zh-CN" altLang="en-US" sz="2000" b="1" dirty="0">
                <a:ln w="1905"/>
                <a:solidFill>
                  <a:schemeClr val="tx1"/>
                </a:solidFill>
                <a:ea typeface="楷体" pitchFamily="49" charset="-122"/>
              </a:rPr>
              <a:t>个数比较完为止</a:t>
            </a:r>
            <a:r>
              <a:rPr lang="en-US" altLang="zh-CN" sz="2000" b="1" dirty="0">
                <a:ln w="1905"/>
                <a:solidFill>
                  <a:schemeClr val="tx1"/>
                </a:solidFill>
                <a:ea typeface="楷体" pitchFamily="49" charset="-122"/>
              </a:rPr>
              <a:t>——</a:t>
            </a:r>
            <a:r>
              <a:rPr lang="zh-CN" altLang="en-US" sz="2000" b="1" dirty="0">
                <a:ln w="1905"/>
                <a:solidFill>
                  <a:schemeClr val="tx1"/>
                </a:solidFill>
                <a:ea typeface="楷体" pitchFamily="49" charset="-122"/>
              </a:rPr>
              <a:t>第一趟冒泡排序，结果最大的数被安置在最后一个元素位置上；</a:t>
            </a:r>
            <a:endParaRPr lang="en-US" altLang="zh-CN" sz="2000" b="1" dirty="0">
              <a:ln w="1905"/>
              <a:solidFill>
                <a:schemeClr val="tx1"/>
              </a:solidFill>
              <a:ea typeface="楷体" pitchFamily="49" charset="-122"/>
            </a:endParaRPr>
          </a:p>
          <a:p>
            <a:pPr marL="457200" indent="-457200">
              <a:buAutoNum type="arabicParenBoth"/>
            </a:pPr>
            <a:r>
              <a:rPr lang="zh-CN" altLang="en-US" sz="2000" b="1" dirty="0">
                <a:ln w="1905"/>
                <a:solidFill>
                  <a:schemeClr val="tx1"/>
                </a:solidFill>
                <a:ea typeface="楷体" pitchFamily="49" charset="-122"/>
              </a:rPr>
              <a:t>对前</a:t>
            </a:r>
            <a:r>
              <a:rPr lang="en-US" altLang="zh-CN" sz="2000" b="1" dirty="0">
                <a:ln w="1905"/>
                <a:solidFill>
                  <a:schemeClr val="tx1"/>
                </a:solidFill>
                <a:ea typeface="楷体" pitchFamily="49" charset="-122"/>
              </a:rPr>
              <a:t>n-1</a:t>
            </a:r>
            <a:r>
              <a:rPr lang="zh-CN" altLang="en-US" sz="2000" b="1" dirty="0">
                <a:ln w="1905"/>
                <a:solidFill>
                  <a:schemeClr val="tx1"/>
                </a:solidFill>
                <a:ea typeface="楷体" pitchFamily="49" charset="-122"/>
              </a:rPr>
              <a:t>个数进行第二趟冒泡排序，结果使次大的数被安置在第</a:t>
            </a:r>
            <a:r>
              <a:rPr lang="en-US" altLang="zh-CN" sz="2000" b="1" dirty="0">
                <a:ln w="1905"/>
                <a:solidFill>
                  <a:schemeClr val="tx1"/>
                </a:solidFill>
                <a:ea typeface="楷体" pitchFamily="49" charset="-122"/>
              </a:rPr>
              <a:t>n-1</a:t>
            </a:r>
            <a:r>
              <a:rPr lang="zh-CN" altLang="en-US" sz="2000" b="1" dirty="0">
                <a:ln w="1905"/>
                <a:solidFill>
                  <a:schemeClr val="tx1"/>
                </a:solidFill>
                <a:ea typeface="楷体" pitchFamily="49" charset="-122"/>
              </a:rPr>
              <a:t>个元素位置；</a:t>
            </a:r>
            <a:endParaRPr lang="en-US" altLang="zh-CN" sz="2000" b="1" dirty="0">
              <a:ln w="1905"/>
              <a:solidFill>
                <a:schemeClr val="tx1"/>
              </a:solidFill>
              <a:ea typeface="楷体" pitchFamily="49" charset="-122"/>
            </a:endParaRPr>
          </a:p>
          <a:p>
            <a:pPr marL="457200" indent="-457200">
              <a:buAutoNum type="arabicParenBoth"/>
            </a:pPr>
            <a:r>
              <a:rPr lang="zh-CN" altLang="en-US" sz="2000" b="1" dirty="0">
                <a:ln w="1905"/>
                <a:solidFill>
                  <a:schemeClr val="tx1"/>
                </a:solidFill>
                <a:ea typeface="楷体" pitchFamily="49" charset="-122"/>
              </a:rPr>
              <a:t>重复上述过程，共经过</a:t>
            </a:r>
            <a:r>
              <a:rPr lang="en-US" altLang="zh-CN" sz="2000" b="1" dirty="0">
                <a:ln w="1905"/>
                <a:solidFill>
                  <a:schemeClr val="tx1"/>
                </a:solidFill>
                <a:ea typeface="楷体" pitchFamily="49" charset="-122"/>
              </a:rPr>
              <a:t>n-1</a:t>
            </a:r>
            <a:r>
              <a:rPr lang="zh-CN" altLang="en-US" sz="2000" b="1" dirty="0">
                <a:ln w="1905"/>
                <a:solidFill>
                  <a:schemeClr val="tx1"/>
                </a:solidFill>
                <a:ea typeface="楷体" pitchFamily="49" charset="-122"/>
              </a:rPr>
              <a:t>趟冒泡排序后，排序结束。</a:t>
            </a:r>
          </a:p>
        </p:txBody>
      </p:sp>
      <p:grpSp>
        <p:nvGrpSpPr>
          <p:cNvPr id="36" name="组合 35"/>
          <p:cNvGrpSpPr/>
          <p:nvPr/>
        </p:nvGrpSpPr>
        <p:grpSpPr>
          <a:xfrm>
            <a:off x="2207568" y="4011894"/>
            <a:ext cx="7288321" cy="2629864"/>
            <a:chOff x="-358867" y="4005084"/>
            <a:chExt cx="7288321" cy="2629864"/>
          </a:xfrm>
        </p:grpSpPr>
        <p:grpSp>
          <p:nvGrpSpPr>
            <p:cNvPr id="905" name="组合 905"/>
            <p:cNvGrpSpPr>
              <a:grpSpLocks/>
            </p:cNvGrpSpPr>
            <p:nvPr/>
          </p:nvGrpSpPr>
          <p:grpSpPr bwMode="auto">
            <a:xfrm>
              <a:off x="2857488" y="4005084"/>
              <a:ext cx="4071966" cy="2629864"/>
              <a:chOff x="0" y="190"/>
              <a:chExt cx="20967" cy="16508"/>
            </a:xfrm>
            <a:gradFill flip="none" rotWithShape="1">
              <a:gsLst>
                <a:gs pos="0">
                  <a:srgbClr val="FFFF66">
                    <a:shade val="30000"/>
                    <a:satMod val="115000"/>
                  </a:srgbClr>
                </a:gs>
                <a:gs pos="50000">
                  <a:srgbClr val="FFFF66">
                    <a:shade val="67500"/>
                    <a:satMod val="115000"/>
                  </a:srgbClr>
                </a:gs>
                <a:gs pos="100000">
                  <a:srgbClr val="FFFF66">
                    <a:shade val="100000"/>
                    <a:satMod val="115000"/>
                  </a:srgbClr>
                </a:gs>
              </a:gsLst>
              <a:lin ang="13500000" scaled="1"/>
              <a:tileRect/>
            </a:gradFill>
          </p:grpSpPr>
          <p:sp>
            <p:nvSpPr>
              <p:cNvPr id="932" name="Rectangle 545"/>
              <p:cNvSpPr>
                <a:spLocks noChangeArrowheads="1"/>
              </p:cNvSpPr>
              <p:nvPr/>
            </p:nvSpPr>
            <p:spPr bwMode="auto">
              <a:xfrm>
                <a:off x="0" y="190"/>
                <a:ext cx="20937" cy="16508"/>
              </a:xfrm>
              <a:prstGeom prst="rect">
                <a:avLst/>
              </a:prstGeom>
              <a:gradFill flip="none" rotWithShape="1">
                <a:gsLst>
                  <a:gs pos="0">
                    <a:srgbClr val="F0E5B7"/>
                  </a:gs>
                  <a:gs pos="62000">
                    <a:srgbClr val="F1E9C9"/>
                  </a:gs>
                  <a:gs pos="100000">
                    <a:schemeClr val="bg1">
                      <a:lumMod val="95000"/>
                    </a:schemeClr>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04" name="组合 904"/>
              <p:cNvGrpSpPr>
                <a:grpSpLocks/>
              </p:cNvGrpSpPr>
              <p:nvPr/>
            </p:nvGrpSpPr>
            <p:grpSpPr bwMode="auto">
              <a:xfrm>
                <a:off x="0" y="217"/>
                <a:ext cx="20967" cy="16461"/>
                <a:chOff x="0" y="217"/>
                <a:chExt cx="20967" cy="16461"/>
              </a:xfrm>
              <a:grpFill/>
            </p:grpSpPr>
            <p:sp>
              <p:nvSpPr>
                <p:cNvPr id="946" name="Text Box 619"/>
                <p:cNvSpPr txBox="1">
                  <a:spLocks noChangeArrowheads="1"/>
                </p:cNvSpPr>
                <p:nvPr/>
              </p:nvSpPr>
              <p:spPr bwMode="auto">
                <a:xfrm>
                  <a:off x="92" y="2364"/>
                  <a:ext cx="17622" cy="2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for </a:t>
                  </a:r>
                  <a:r>
                    <a:rPr kumimoji="0" lang="en-US" altLang="zh-CN" sz="1600" b="1" dirty="0" err="1">
                      <a:solidFill>
                        <a:srgbClr val="C01920"/>
                      </a:solidFill>
                      <a:latin typeface="+mn-lt"/>
                      <a:ea typeface="楷体" pitchFamily="49" charset="-122"/>
                      <a:cs typeface="宋体" pitchFamily="2" charset="-122"/>
                    </a:rPr>
                    <a:t>i</a:t>
                  </a:r>
                  <a:r>
                    <a:rPr kumimoji="0" lang="en-US" altLang="zh-CN" sz="1600" b="1" dirty="0">
                      <a:solidFill>
                        <a:srgbClr val="C01920"/>
                      </a:solidFill>
                      <a:latin typeface="+mn-lt"/>
                      <a:ea typeface="楷体" pitchFamily="49" charset="-122"/>
                      <a:cs typeface="宋体" pitchFamily="2" charset="-122"/>
                    </a:rPr>
                    <a:t> = 1 to n-1</a:t>
                  </a:r>
                  <a:r>
                    <a:rPr kumimoji="0" lang="zh-CN" altLang="en-US" sz="1600" b="1" dirty="0">
                      <a:solidFill>
                        <a:srgbClr val="C01920"/>
                      </a:solidFill>
                      <a:latin typeface="+mn-lt"/>
                      <a:ea typeface="楷体" pitchFamily="49" charset="-122"/>
                      <a:cs typeface="宋体" pitchFamily="2" charset="-122"/>
                    </a:rPr>
                    <a:t>（趟数：共</a:t>
                  </a:r>
                  <a:r>
                    <a:rPr kumimoji="0" lang="en-US" altLang="zh-CN" sz="1600" b="1" dirty="0">
                      <a:solidFill>
                        <a:srgbClr val="C01920"/>
                      </a:solidFill>
                      <a:latin typeface="+mn-lt"/>
                      <a:ea typeface="楷体" pitchFamily="49" charset="-122"/>
                      <a:cs typeface="宋体" pitchFamily="2" charset="-122"/>
                    </a:rPr>
                    <a:t>n-1</a:t>
                  </a:r>
                  <a:r>
                    <a:rPr kumimoji="0" lang="zh-CN" altLang="en-US" sz="1600" b="1" dirty="0">
                      <a:solidFill>
                        <a:srgbClr val="C01920"/>
                      </a:solidFill>
                      <a:latin typeface="+mn-lt"/>
                      <a:ea typeface="楷体" pitchFamily="49" charset="-122"/>
                      <a:cs typeface="宋体" pitchFamily="2" charset="-122"/>
                    </a:rPr>
                    <a:t>趟）</a:t>
                  </a:r>
                </a:p>
                <a:p>
                  <a:endParaRPr kumimoji="0" lang="zh-CN" altLang="en-US" sz="1600" b="1" dirty="0">
                    <a:solidFill>
                      <a:srgbClr val="C01920"/>
                    </a:solidFill>
                    <a:latin typeface="+mn-lt"/>
                    <a:ea typeface="楷体" pitchFamily="49" charset="-122"/>
                    <a:cs typeface="宋体" pitchFamily="2" charset="-122"/>
                  </a:endParaRPr>
                </a:p>
              </p:txBody>
            </p:sp>
            <p:sp>
              <p:nvSpPr>
                <p:cNvPr id="947" name="Text Box 626"/>
                <p:cNvSpPr txBox="1">
                  <a:spLocks noChangeArrowheads="1"/>
                </p:cNvSpPr>
                <p:nvPr/>
              </p:nvSpPr>
              <p:spPr bwMode="auto">
                <a:xfrm>
                  <a:off x="5500" y="7032"/>
                  <a:ext cx="1620" cy="189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45" name="Text Box 612"/>
                <p:cNvSpPr txBox="1">
                  <a:spLocks noChangeArrowheads="1"/>
                </p:cNvSpPr>
                <p:nvPr/>
              </p:nvSpPr>
              <p:spPr bwMode="auto">
                <a:xfrm>
                  <a:off x="3850" y="217"/>
                  <a:ext cx="12074" cy="22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输入</a:t>
                  </a:r>
                  <a:r>
                    <a:rPr kumimoji="0" lang="en-US" altLang="zh-CN" sz="1600" b="1" dirty="0">
                      <a:solidFill>
                        <a:srgbClr val="002060"/>
                      </a:solidFill>
                      <a:latin typeface="+mn-lt"/>
                      <a:ea typeface="楷体" pitchFamily="49" charset="-122"/>
                      <a:cs typeface="宋体" pitchFamily="2" charset="-122"/>
                    </a:rPr>
                    <a:t>n</a:t>
                  </a:r>
                  <a:r>
                    <a:rPr kumimoji="0" lang="zh-CN" altLang="en-US" sz="1600" b="1" dirty="0">
                      <a:solidFill>
                        <a:srgbClr val="002060"/>
                      </a:solidFill>
                      <a:latin typeface="+mn-lt"/>
                      <a:ea typeface="楷体" pitchFamily="49" charset="-122"/>
                      <a:cs typeface="宋体" pitchFamily="2" charset="-122"/>
                    </a:rPr>
                    <a:t>个数给</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950" name="Text Box 638"/>
                <p:cNvSpPr txBox="1">
                  <a:spLocks noChangeArrowheads="1"/>
                </p:cNvSpPr>
                <p:nvPr/>
              </p:nvSpPr>
              <p:spPr bwMode="auto">
                <a:xfrm>
                  <a:off x="18348" y="7001"/>
                  <a:ext cx="1516" cy="1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61" name="Text Box 648"/>
                <p:cNvSpPr txBox="1">
                  <a:spLocks noChangeArrowheads="1"/>
                </p:cNvSpPr>
                <p:nvPr/>
              </p:nvSpPr>
              <p:spPr bwMode="auto">
                <a:xfrm>
                  <a:off x="9506" y="6331"/>
                  <a:ext cx="9453" cy="23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a[j] &gt; a[j+1]</a:t>
                  </a:r>
                </a:p>
                <a:p>
                  <a:endParaRPr kumimoji="0" lang="zh-CN" altLang="zh-CN" sz="1600" b="1" dirty="0">
                    <a:solidFill>
                      <a:schemeClr val="accent1">
                        <a:lumMod val="50000"/>
                      </a:schemeClr>
                    </a:solidFill>
                    <a:latin typeface="+mn-lt"/>
                    <a:ea typeface="楷体" pitchFamily="49" charset="-122"/>
                    <a:cs typeface="宋体" pitchFamily="2" charset="-122"/>
                  </a:endParaRPr>
                </a:p>
              </p:txBody>
            </p:sp>
            <p:sp>
              <p:nvSpPr>
                <p:cNvPr id="896" name="Text Box 619"/>
                <p:cNvSpPr txBox="1">
                  <a:spLocks noChangeArrowheads="1"/>
                </p:cNvSpPr>
                <p:nvPr/>
              </p:nvSpPr>
              <p:spPr bwMode="auto">
                <a:xfrm>
                  <a:off x="2546" y="4482"/>
                  <a:ext cx="18033" cy="2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BD6368"/>
                      </a:solidFill>
                      <a:latin typeface="+mn-lt"/>
                      <a:ea typeface="楷体" pitchFamily="49" charset="-122"/>
                      <a:cs typeface="宋体" pitchFamily="2" charset="-122"/>
                    </a:rPr>
                    <a:t>for j = 0 to n-i-1</a:t>
                  </a:r>
                  <a:r>
                    <a:rPr kumimoji="0" lang="zh-CN" altLang="en-US" sz="1600" b="1" dirty="0">
                      <a:solidFill>
                        <a:srgbClr val="BD6368"/>
                      </a:solidFill>
                      <a:latin typeface="+mn-lt"/>
                      <a:ea typeface="楷体" pitchFamily="49" charset="-122"/>
                      <a:cs typeface="宋体" pitchFamily="2" charset="-122"/>
                    </a:rPr>
                    <a:t>（比较：共</a:t>
                  </a:r>
                  <a:r>
                    <a:rPr kumimoji="0" lang="en-US" altLang="zh-CN" sz="1600" b="1" dirty="0">
                      <a:solidFill>
                        <a:srgbClr val="BD6368"/>
                      </a:solidFill>
                      <a:latin typeface="+mn-lt"/>
                      <a:ea typeface="楷体" pitchFamily="49" charset="-122"/>
                      <a:cs typeface="宋体" pitchFamily="2" charset="-122"/>
                    </a:rPr>
                    <a:t>n-</a:t>
                  </a:r>
                  <a:r>
                    <a:rPr kumimoji="0" lang="en-US" altLang="zh-CN" sz="1600" b="1" dirty="0" err="1">
                      <a:solidFill>
                        <a:srgbClr val="BD6368"/>
                      </a:solidFill>
                      <a:latin typeface="+mn-lt"/>
                      <a:ea typeface="楷体" pitchFamily="49" charset="-122"/>
                      <a:cs typeface="宋体" pitchFamily="2" charset="-122"/>
                    </a:rPr>
                    <a:t>i</a:t>
                  </a:r>
                  <a:r>
                    <a:rPr kumimoji="0" lang="zh-CN" altLang="en-US" sz="1600" b="1" dirty="0">
                      <a:solidFill>
                        <a:srgbClr val="BD6368"/>
                      </a:solidFill>
                      <a:latin typeface="+mn-lt"/>
                      <a:ea typeface="楷体" pitchFamily="49" charset="-122"/>
                      <a:cs typeface="宋体" pitchFamily="2" charset="-122"/>
                    </a:rPr>
                    <a:t>次）</a:t>
                  </a:r>
                </a:p>
                <a:p>
                  <a:endParaRPr kumimoji="0" lang="zh-CN" altLang="en-US" sz="1600" b="1" dirty="0">
                    <a:solidFill>
                      <a:srgbClr val="BD6368"/>
                    </a:solidFill>
                    <a:latin typeface="+mn-lt"/>
                    <a:ea typeface="楷体" pitchFamily="49" charset="-122"/>
                    <a:cs typeface="宋体" pitchFamily="2" charset="-122"/>
                  </a:endParaRPr>
                </a:p>
              </p:txBody>
            </p:sp>
            <p:grpSp>
              <p:nvGrpSpPr>
                <p:cNvPr id="903" name="组合 903"/>
                <p:cNvGrpSpPr>
                  <a:grpSpLocks/>
                </p:cNvGrpSpPr>
                <p:nvPr/>
              </p:nvGrpSpPr>
              <p:grpSpPr bwMode="auto">
                <a:xfrm>
                  <a:off x="0" y="2608"/>
                  <a:ext cx="20967" cy="11537"/>
                  <a:chOff x="0" y="0"/>
                  <a:chExt cx="20967" cy="11537"/>
                </a:xfrm>
                <a:grpFill/>
              </p:grpSpPr>
              <p:sp>
                <p:nvSpPr>
                  <p:cNvPr id="933" name="Line 615"/>
                  <p:cNvSpPr>
                    <a:spLocks noChangeShapeType="1"/>
                  </p:cNvSpPr>
                  <p:nvPr/>
                </p:nvSpPr>
                <p:spPr bwMode="auto">
                  <a:xfrm>
                    <a:off x="0" y="0"/>
                    <a:ext cx="20967"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4" name="Line 617"/>
                  <p:cNvSpPr>
                    <a:spLocks noChangeShapeType="1"/>
                  </p:cNvSpPr>
                  <p:nvPr/>
                </p:nvSpPr>
                <p:spPr bwMode="auto">
                  <a:xfrm>
                    <a:off x="5001" y="4265"/>
                    <a:ext cx="15867"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8" name="Line 640"/>
                  <p:cNvSpPr>
                    <a:spLocks noChangeShapeType="1"/>
                  </p:cNvSpPr>
                  <p:nvPr/>
                </p:nvSpPr>
                <p:spPr bwMode="auto">
                  <a:xfrm>
                    <a:off x="5001" y="6228"/>
                    <a:ext cx="15870"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9" name="直接连接符 959"/>
                  <p:cNvSpPr>
                    <a:spLocks noChangeShapeType="1"/>
                  </p:cNvSpPr>
                  <p:nvPr/>
                </p:nvSpPr>
                <p:spPr bwMode="auto">
                  <a:xfrm>
                    <a:off x="5032" y="4326"/>
                    <a:ext cx="7824" cy="1893"/>
                  </a:xfrm>
                  <a:prstGeom prst="line">
                    <a:avLst/>
                  </a:prstGeom>
                  <a:grp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0" name="直接连接符 960"/>
                  <p:cNvSpPr>
                    <a:spLocks noChangeShapeType="1"/>
                  </p:cNvSpPr>
                  <p:nvPr/>
                </p:nvSpPr>
                <p:spPr bwMode="auto">
                  <a:xfrm flipH="1">
                    <a:off x="12856" y="4295"/>
                    <a:ext cx="7971" cy="1929"/>
                  </a:xfrm>
                  <a:prstGeom prst="line">
                    <a:avLst/>
                  </a:prstGeom>
                  <a:grp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5" name="Line 628"/>
                  <p:cNvSpPr>
                    <a:spLocks noChangeShapeType="1"/>
                  </p:cNvSpPr>
                  <p:nvPr/>
                </p:nvSpPr>
                <p:spPr bwMode="auto">
                  <a:xfrm>
                    <a:off x="0" y="11537"/>
                    <a:ext cx="20963"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37" name="Line 635"/>
                  <p:cNvSpPr>
                    <a:spLocks noChangeShapeType="1"/>
                  </p:cNvSpPr>
                  <p:nvPr/>
                </p:nvSpPr>
                <p:spPr bwMode="auto">
                  <a:xfrm>
                    <a:off x="2546" y="2086"/>
                    <a:ext cx="0" cy="9451"/>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7" name="直接连接符 957"/>
                  <p:cNvSpPr>
                    <a:spLocks noChangeShapeType="1"/>
                  </p:cNvSpPr>
                  <p:nvPr/>
                </p:nvSpPr>
                <p:spPr bwMode="auto">
                  <a:xfrm>
                    <a:off x="12856" y="6290"/>
                    <a:ext cx="0" cy="5247"/>
                  </a:xfrm>
                  <a:prstGeom prst="line">
                    <a:avLst/>
                  </a:prstGeom>
                  <a:grp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897" name="Line 635"/>
                  <p:cNvSpPr>
                    <a:spLocks noChangeShapeType="1"/>
                  </p:cNvSpPr>
                  <p:nvPr/>
                </p:nvSpPr>
                <p:spPr bwMode="auto">
                  <a:xfrm>
                    <a:off x="5032" y="4326"/>
                    <a:ext cx="0" cy="7209"/>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58" name="Line 615"/>
                  <p:cNvSpPr>
                    <a:spLocks noChangeShapeType="1"/>
                  </p:cNvSpPr>
                  <p:nvPr/>
                </p:nvSpPr>
                <p:spPr bwMode="auto">
                  <a:xfrm>
                    <a:off x="2546" y="2086"/>
                    <a:ext cx="18392" cy="0"/>
                  </a:xfrm>
                  <a:prstGeom prst="line">
                    <a:avLst/>
                  </a:prstGeom>
                  <a:grp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901" name="组合 901"/>
                <p:cNvGrpSpPr>
                  <a:grpSpLocks/>
                </p:cNvGrpSpPr>
                <p:nvPr/>
              </p:nvGrpSpPr>
              <p:grpSpPr bwMode="auto">
                <a:xfrm>
                  <a:off x="4897" y="8583"/>
                  <a:ext cx="11027" cy="5318"/>
                  <a:chOff x="587" y="391"/>
                  <a:chExt cx="11305" cy="5319"/>
                </a:xfrm>
                <a:grpFill/>
              </p:grpSpPr>
              <p:sp>
                <p:nvSpPr>
                  <p:cNvPr id="898" name="Text Box 648"/>
                  <p:cNvSpPr txBox="1">
                    <a:spLocks noChangeArrowheads="1"/>
                  </p:cNvSpPr>
                  <p:nvPr/>
                </p:nvSpPr>
                <p:spPr bwMode="auto">
                  <a:xfrm>
                    <a:off x="869" y="391"/>
                    <a:ext cx="11023" cy="22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a[j]&lt;==&gt;a[j+1] </a:t>
                    </a:r>
                    <a:endParaRPr kumimoji="0" lang="zh-CN" altLang="zh-CN" sz="1600" b="1" dirty="0">
                      <a:latin typeface="+mn-lt"/>
                      <a:ea typeface="楷体" pitchFamily="49" charset="-122"/>
                      <a:cs typeface="宋体" pitchFamily="2" charset="-122"/>
                    </a:endParaRPr>
                  </a:p>
                </p:txBody>
              </p:sp>
              <p:sp>
                <p:nvSpPr>
                  <p:cNvPr id="899" name="Text Box 648"/>
                  <p:cNvSpPr txBox="1">
                    <a:spLocks noChangeArrowheads="1"/>
                  </p:cNvSpPr>
                  <p:nvPr/>
                </p:nvSpPr>
                <p:spPr bwMode="auto">
                  <a:xfrm>
                    <a:off x="617" y="2201"/>
                    <a:ext cx="9258" cy="34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将</a:t>
                    </a:r>
                    <a:r>
                      <a:rPr kumimoji="0" lang="en-US" altLang="zh-CN" sz="1600" b="1" dirty="0">
                        <a:latin typeface="+mn-lt"/>
                        <a:ea typeface="楷体" pitchFamily="49" charset="-122"/>
                        <a:cs typeface="宋体" pitchFamily="2" charset="-122"/>
                      </a:rPr>
                      <a:t>a[j]</a:t>
                    </a:r>
                    <a:r>
                      <a:rPr kumimoji="0" lang="zh-CN" altLang="en-US" sz="1600" b="1" dirty="0">
                        <a:latin typeface="+mn-lt"/>
                        <a:ea typeface="楷体" pitchFamily="49" charset="-122"/>
                        <a:cs typeface="宋体" pitchFamily="2" charset="-122"/>
                      </a:rPr>
                      <a:t>与</a:t>
                    </a:r>
                    <a:r>
                      <a:rPr kumimoji="0" lang="en-US" altLang="zh-CN" sz="1600" b="1" dirty="0">
                        <a:latin typeface="+mn-lt"/>
                        <a:ea typeface="楷体" pitchFamily="49" charset="-122"/>
                        <a:cs typeface="宋体" pitchFamily="2" charset="-122"/>
                      </a:rPr>
                      <a:t>a[j+1]</a:t>
                    </a:r>
                    <a:endParaRPr kumimoji="0" lang="zh-CN" altLang="zh-CN" sz="1600" b="1" dirty="0">
                      <a:latin typeface="+mn-lt"/>
                      <a:ea typeface="楷体" pitchFamily="49" charset="-122"/>
                      <a:cs typeface="宋体" pitchFamily="2" charset="-122"/>
                    </a:endParaRPr>
                  </a:p>
                </p:txBody>
              </p:sp>
              <p:sp>
                <p:nvSpPr>
                  <p:cNvPr id="900" name="Text Box 648"/>
                  <p:cNvSpPr txBox="1">
                    <a:spLocks noChangeArrowheads="1"/>
                  </p:cNvSpPr>
                  <p:nvPr/>
                </p:nvSpPr>
                <p:spPr bwMode="auto">
                  <a:xfrm>
                    <a:off x="587" y="3919"/>
                    <a:ext cx="3276" cy="17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rPr>
                      <a:t>交换</a:t>
                    </a:r>
                  </a:p>
                </p:txBody>
              </p:sp>
            </p:grpSp>
            <p:sp>
              <p:nvSpPr>
                <p:cNvPr id="902" name="Text Box 612"/>
                <p:cNvSpPr txBox="1">
                  <a:spLocks noChangeArrowheads="1"/>
                </p:cNvSpPr>
                <p:nvPr/>
              </p:nvSpPr>
              <p:spPr bwMode="auto">
                <a:xfrm>
                  <a:off x="6468" y="14373"/>
                  <a:ext cx="8272" cy="23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grpSp>
        </p:grpSp>
        <p:sp>
          <p:nvSpPr>
            <p:cNvPr id="35" name="矩形 34"/>
            <p:cNvSpPr/>
            <p:nvPr/>
          </p:nvSpPr>
          <p:spPr>
            <a:xfrm>
              <a:off x="-358867" y="4809469"/>
              <a:ext cx="3045129" cy="400110"/>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2000" b="1" dirty="0">
                  <a:solidFill>
                    <a:srgbClr val="00B0F0"/>
                  </a:solidFill>
                  <a:ea typeface="隶书" pitchFamily="49" charset="-122"/>
                </a:rPr>
                <a:t>冒泡排序算法</a:t>
              </a:r>
              <a:r>
                <a:rPr lang="en-US" sz="2000" b="1" dirty="0">
                  <a:solidFill>
                    <a:srgbClr val="00B0F0"/>
                  </a:solidFill>
                  <a:ea typeface="隶书" pitchFamily="49" charset="-122"/>
                </a:rPr>
                <a:t>N-S</a:t>
              </a:r>
              <a:r>
                <a:rPr lang="zh-CN" altLang="en-US" sz="2000" b="1" dirty="0">
                  <a:solidFill>
                    <a:srgbClr val="00B0F0"/>
                  </a:solidFill>
                  <a:ea typeface="隶书" pitchFamily="49" charset="-122"/>
                </a:rPr>
                <a:t>流程图</a:t>
              </a:r>
            </a:p>
          </p:txBody>
        </p:sp>
      </p:grpSp>
      <p:sp>
        <p:nvSpPr>
          <p:cNvPr id="37" name="Rectangle 13">
            <a:extLst>
              <a:ext uri="{FF2B5EF4-FFF2-40B4-BE49-F238E27FC236}">
                <a16:creationId xmlns:a16="http://schemas.microsoft.com/office/drawing/2014/main" id="{828B916B-6AE3-46C4-9C75-8E22AEA01085}"/>
              </a:ext>
            </a:extLst>
          </p:cNvPr>
          <p:cNvSpPr>
            <a:spLocks noChangeArrowheads="1"/>
          </p:cNvSpPr>
          <p:nvPr/>
        </p:nvSpPr>
        <p:spPr bwMode="auto">
          <a:xfrm>
            <a:off x="897033" y="1359550"/>
            <a:ext cx="8675688" cy="369332"/>
          </a:xfrm>
          <a:prstGeom prst="rect">
            <a:avLst/>
          </a:prstGeom>
          <a:noFill/>
          <a:ln w="9525">
            <a:noFill/>
            <a:miter lim="800000"/>
            <a:headEnd/>
            <a:tailEnd/>
          </a:ln>
          <a:effectLst/>
        </p:spPr>
        <p:txBody>
          <a:bodyPr anchor="ctr">
            <a:spAutoFit/>
          </a:bodyPr>
          <a:lstStyle/>
          <a:p>
            <a:r>
              <a:rPr lang="en-US" altLang="zh-CN" b="1" dirty="0">
                <a:solidFill>
                  <a:schemeClr val="accent1"/>
                </a:solidFill>
                <a:latin typeface="楷体" panose="02010609060101010101" pitchFamily="49" charset="-122"/>
                <a:ea typeface="楷体" panose="02010609060101010101" pitchFamily="49" charset="-122"/>
              </a:rPr>
              <a:t>【</a:t>
            </a:r>
            <a:r>
              <a:rPr lang="zh-CN" altLang="en-US" b="1" dirty="0">
                <a:solidFill>
                  <a:schemeClr val="accent1"/>
                </a:solidFill>
                <a:latin typeface="楷体" panose="02010609060101010101" pitchFamily="49" charset="-122"/>
                <a:ea typeface="楷体" panose="02010609060101010101" pitchFamily="49" charset="-122"/>
              </a:rPr>
              <a:t>例</a:t>
            </a:r>
            <a:r>
              <a:rPr lang="en-US" altLang="zh-CN" b="1" dirty="0">
                <a:solidFill>
                  <a:schemeClr val="accent1"/>
                </a:solidFill>
                <a:latin typeface="楷体" panose="02010609060101010101" pitchFamily="49" charset="-122"/>
                <a:ea typeface="楷体" panose="02010609060101010101" pitchFamily="49" charset="-122"/>
              </a:rPr>
              <a:t>2】</a:t>
            </a:r>
            <a:r>
              <a:rPr lang="zh-CN" altLang="en-US" b="1" dirty="0">
                <a:solidFill>
                  <a:schemeClr val="accent1"/>
                </a:solidFill>
                <a:latin typeface="楷体" panose="02010609060101010101" pitchFamily="49" charset="-122"/>
                <a:ea typeface="楷体" panose="02010609060101010101" pitchFamily="49" charset="-122"/>
              </a:rPr>
              <a:t>用</a:t>
            </a:r>
            <a:r>
              <a:rPr lang="zh-CN" altLang="en-US" b="1" dirty="0">
                <a:solidFill>
                  <a:srgbClr val="FF0000"/>
                </a:solidFill>
                <a:latin typeface="楷体" panose="02010609060101010101" pitchFamily="49" charset="-122"/>
                <a:ea typeface="楷体" panose="02010609060101010101" pitchFamily="49" charset="-122"/>
              </a:rPr>
              <a:t>冒泡排序法</a:t>
            </a:r>
            <a:r>
              <a:rPr lang="zh-CN" altLang="en-US" b="1" dirty="0">
                <a:solidFill>
                  <a:schemeClr val="accent1"/>
                </a:solidFill>
                <a:latin typeface="楷体" panose="02010609060101010101" pitchFamily="49" charset="-122"/>
                <a:ea typeface="楷体" panose="02010609060101010101" pitchFamily="49" charset="-122"/>
              </a:rPr>
              <a:t>将</a:t>
            </a:r>
            <a:r>
              <a:rPr lang="en-US" altLang="zh-CN" b="1" dirty="0">
                <a:solidFill>
                  <a:schemeClr val="accent1"/>
                </a:solidFill>
                <a:latin typeface="楷体" panose="02010609060101010101" pitchFamily="49" charset="-122"/>
                <a:ea typeface="楷体" panose="02010609060101010101" pitchFamily="49" charset="-122"/>
              </a:rPr>
              <a:t>10</a:t>
            </a:r>
            <a:r>
              <a:rPr lang="zh-CN" altLang="en-US" b="1" dirty="0">
                <a:solidFill>
                  <a:schemeClr val="accent1"/>
                </a:solidFill>
                <a:latin typeface="楷体" panose="02010609060101010101" pitchFamily="49" charset="-122"/>
                <a:ea typeface="楷体" panose="02010609060101010101" pitchFamily="49" charset="-122"/>
              </a:rPr>
              <a:t>个整数按照从小到大的顺序排序</a:t>
            </a:r>
          </a:p>
        </p:txBody>
      </p:sp>
      <p:sp>
        <p:nvSpPr>
          <p:cNvPr id="38" name="Rectangle 5">
            <a:extLst>
              <a:ext uri="{FF2B5EF4-FFF2-40B4-BE49-F238E27FC236}">
                <a16:creationId xmlns:a16="http://schemas.microsoft.com/office/drawing/2014/main" id="{DD34E205-7E9C-43BE-8C87-B5E91300D2BC}"/>
              </a:ext>
            </a:extLst>
          </p:cNvPr>
          <p:cNvSpPr>
            <a:spLocks noChangeArrowheads="1"/>
          </p:cNvSpPr>
          <p:nvPr/>
        </p:nvSpPr>
        <p:spPr bwMode="auto">
          <a:xfrm>
            <a:off x="856862" y="836712"/>
            <a:ext cx="5790368" cy="523220"/>
          </a:xfrm>
          <a:prstGeom prst="rect">
            <a:avLst/>
          </a:prstGeom>
          <a:noFill/>
          <a:ln w="9525">
            <a:noFill/>
            <a:miter lim="800000"/>
            <a:headEnd/>
            <a:tailEnd/>
          </a:ln>
          <a:effectLst/>
        </p:spPr>
        <p:txBody>
          <a:bodyPr wrap="none">
            <a:spAutoFit/>
          </a:bodyPr>
          <a:lstStyle/>
          <a:p>
            <a:r>
              <a:rPr lang="en-US" altLang="zh-CN" sz="2800" b="1" dirty="0">
                <a:solidFill>
                  <a:srgbClr val="00B0F0"/>
                </a:solidFill>
                <a:latin typeface="+mn-lt"/>
                <a:ea typeface="楷体" pitchFamily="49" charset="-122"/>
              </a:rPr>
              <a:t>4</a:t>
            </a:r>
            <a:r>
              <a:rPr lang="zh-CN" altLang="en-US" sz="2800" b="1" dirty="0">
                <a:solidFill>
                  <a:srgbClr val="00B0F0"/>
                </a:solidFill>
                <a:latin typeface="+mn-lt"/>
                <a:ea typeface="楷体" pitchFamily="49" charset="-122"/>
              </a:rPr>
              <a:t>、一维数组应用举例</a:t>
            </a:r>
            <a:r>
              <a:rPr lang="en-US" altLang="zh-CN" sz="2800" b="1" dirty="0">
                <a:solidFill>
                  <a:srgbClr val="00B0F0"/>
                </a:solidFill>
                <a:latin typeface="+mn-lt"/>
                <a:ea typeface="楷体" pitchFamily="49" charset="-122"/>
              </a:rPr>
              <a:t>----</a:t>
            </a:r>
            <a:r>
              <a:rPr lang="zh-CN" altLang="en-US" sz="2800" b="1" dirty="0">
                <a:solidFill>
                  <a:srgbClr val="00B0F0"/>
                </a:solidFill>
                <a:ea typeface="楷体" pitchFamily="49" charset="-122"/>
              </a:rPr>
              <a:t>冒泡排序</a:t>
            </a:r>
          </a:p>
        </p:txBody>
      </p:sp>
      <p:sp>
        <p:nvSpPr>
          <p:cNvPr id="39" name="Rectangle 4">
            <a:extLst>
              <a:ext uri="{FF2B5EF4-FFF2-40B4-BE49-F238E27FC236}">
                <a16:creationId xmlns:a16="http://schemas.microsoft.com/office/drawing/2014/main" id="{89E7DC4B-84DA-440B-812B-7DABD8825F5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1030186911"/>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ox(out)">
                                      <p:cBhvr>
                                        <p:cTn id="7" dur="500"/>
                                        <p:tgtEl>
                                          <p:spTgt spid="3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81001"/>
                                        </p:tgtEl>
                                        <p:attrNameLst>
                                          <p:attrName>style.visibility</p:attrName>
                                        </p:attrNameLst>
                                      </p:cBhvr>
                                      <p:to>
                                        <p:strVal val="visible"/>
                                      </p:to>
                                    </p:set>
                                    <p:animEffect transition="in" filter="box(out)">
                                      <p:cBhvr>
                                        <p:cTn id="12" dur="500"/>
                                        <p:tgtEl>
                                          <p:spTgt spid="98100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strips(downRight)">
                                      <p:cBhvr>
                                        <p:cTn id="17" dur="500"/>
                                        <p:tgtEl>
                                          <p:spTgt spid="36"/>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1001"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Rectangle 4">
            <a:extLst>
              <a:ext uri="{FF2B5EF4-FFF2-40B4-BE49-F238E27FC236}">
                <a16:creationId xmlns:a16="http://schemas.microsoft.com/office/drawing/2014/main" id="{EA369E00-0F46-40AB-84E9-502297B3F9C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3212" name="Rectangle 172"/>
          <p:cNvSpPr>
            <a:spLocks noChangeArrowheads="1"/>
          </p:cNvSpPr>
          <p:nvPr/>
        </p:nvSpPr>
        <p:spPr bwMode="auto">
          <a:xfrm>
            <a:off x="1703586" y="260350"/>
            <a:ext cx="8424862" cy="6337300"/>
          </a:xfrm>
          <a:prstGeom prst="rect">
            <a:avLst/>
          </a:prstGeom>
          <a:gradFill>
            <a:gsLst>
              <a:gs pos="0">
                <a:srgbClr val="CFCFD1"/>
              </a:gs>
              <a:gs pos="100000">
                <a:schemeClr val="bg1">
                  <a:lumMod val="95000"/>
                </a:schemeClr>
              </a:gs>
            </a:gsLst>
            <a:lin ang="13500000" scaled="1"/>
          </a:gradFill>
          <a:ln w="38100">
            <a:solidFill>
              <a:schemeClr val="bg2">
                <a:lumMod val="10000"/>
              </a:schemeClr>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pSp>
        <p:nvGrpSpPr>
          <p:cNvPr id="983137" name="Group 97"/>
          <p:cNvGrpSpPr>
            <a:grpSpLocks/>
          </p:cNvGrpSpPr>
          <p:nvPr/>
        </p:nvGrpSpPr>
        <p:grpSpPr bwMode="auto">
          <a:xfrm>
            <a:off x="3403798" y="590550"/>
            <a:ext cx="495300" cy="5113338"/>
            <a:chOff x="1743" y="372"/>
            <a:chExt cx="312" cy="3221"/>
          </a:xfrm>
        </p:grpSpPr>
        <p:sp>
          <p:nvSpPr>
            <p:cNvPr id="983045" name="Text Box 5"/>
            <p:cNvSpPr txBox="1">
              <a:spLocks noChangeArrowheads="1"/>
            </p:cNvSpPr>
            <p:nvPr/>
          </p:nvSpPr>
          <p:spPr bwMode="auto">
            <a:xfrm>
              <a:off x="1745" y="372"/>
              <a:ext cx="310" cy="2706"/>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38    49    65    76    13    27    30   </a:t>
              </a:r>
              <a:r>
                <a:rPr lang="en-US" altLang="zh-CN" sz="2000" b="1" dirty="0">
                  <a:solidFill>
                    <a:srgbClr val="C01920"/>
                  </a:solidFill>
                </a:rPr>
                <a:t>97</a:t>
              </a:r>
            </a:p>
          </p:txBody>
        </p:sp>
        <p:sp>
          <p:nvSpPr>
            <p:cNvPr id="983046" name="Text Box 6"/>
            <p:cNvSpPr txBox="1">
              <a:spLocks noChangeArrowheads="1"/>
            </p:cNvSpPr>
            <p:nvPr/>
          </p:nvSpPr>
          <p:spPr bwMode="auto">
            <a:xfrm>
              <a:off x="1743" y="2773"/>
              <a:ext cx="310" cy="820"/>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第一趟</a:t>
              </a:r>
            </a:p>
          </p:txBody>
        </p:sp>
      </p:grpSp>
      <p:grpSp>
        <p:nvGrpSpPr>
          <p:cNvPr id="983156" name="Group 116"/>
          <p:cNvGrpSpPr>
            <a:grpSpLocks/>
          </p:cNvGrpSpPr>
          <p:nvPr/>
        </p:nvGrpSpPr>
        <p:grpSpPr bwMode="auto">
          <a:xfrm>
            <a:off x="4415037" y="598489"/>
            <a:ext cx="509587" cy="5102227"/>
            <a:chOff x="2380" y="377"/>
            <a:chExt cx="321" cy="3214"/>
          </a:xfrm>
        </p:grpSpPr>
        <p:sp>
          <p:nvSpPr>
            <p:cNvPr id="983048" name="Text Box 8"/>
            <p:cNvSpPr txBox="1">
              <a:spLocks noChangeArrowheads="1"/>
            </p:cNvSpPr>
            <p:nvPr/>
          </p:nvSpPr>
          <p:spPr bwMode="auto">
            <a:xfrm>
              <a:off x="2391" y="377"/>
              <a:ext cx="310" cy="2509"/>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38    49    65    13    27    30  </a:t>
              </a:r>
              <a:r>
                <a:rPr lang="en-US" altLang="zh-CN" sz="2000" b="1" dirty="0">
                  <a:solidFill>
                    <a:srgbClr val="C01920"/>
                  </a:solidFill>
                </a:rPr>
                <a:t> 76</a:t>
              </a:r>
            </a:p>
          </p:txBody>
        </p:sp>
        <p:sp>
          <p:nvSpPr>
            <p:cNvPr id="983049" name="Text Box 9"/>
            <p:cNvSpPr txBox="1">
              <a:spLocks noChangeArrowheads="1"/>
            </p:cNvSpPr>
            <p:nvPr/>
          </p:nvSpPr>
          <p:spPr bwMode="auto">
            <a:xfrm>
              <a:off x="2380" y="2771"/>
              <a:ext cx="310" cy="820"/>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第二趟</a:t>
              </a:r>
            </a:p>
          </p:txBody>
        </p:sp>
      </p:grpSp>
      <p:grpSp>
        <p:nvGrpSpPr>
          <p:cNvPr id="983175" name="Group 135"/>
          <p:cNvGrpSpPr>
            <a:grpSpLocks/>
          </p:cNvGrpSpPr>
          <p:nvPr/>
        </p:nvGrpSpPr>
        <p:grpSpPr bwMode="auto">
          <a:xfrm>
            <a:off x="5386984" y="576263"/>
            <a:ext cx="517525" cy="5343523"/>
            <a:chOff x="2968" y="385"/>
            <a:chExt cx="326" cy="3366"/>
          </a:xfrm>
        </p:grpSpPr>
        <p:sp>
          <p:nvSpPr>
            <p:cNvPr id="983051" name="Text Box 11"/>
            <p:cNvSpPr txBox="1">
              <a:spLocks noChangeArrowheads="1"/>
            </p:cNvSpPr>
            <p:nvPr/>
          </p:nvSpPr>
          <p:spPr bwMode="auto">
            <a:xfrm>
              <a:off x="2968" y="385"/>
              <a:ext cx="310" cy="1949"/>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38    49    13    27    30  </a:t>
              </a:r>
              <a:r>
                <a:rPr lang="en-US" altLang="zh-CN" sz="2000" b="1" dirty="0">
                  <a:solidFill>
                    <a:srgbClr val="C01920"/>
                  </a:solidFill>
                </a:rPr>
                <a:t>65</a:t>
              </a:r>
            </a:p>
          </p:txBody>
        </p:sp>
        <p:sp>
          <p:nvSpPr>
            <p:cNvPr id="983052" name="Text Box 12"/>
            <p:cNvSpPr txBox="1">
              <a:spLocks noChangeArrowheads="1"/>
            </p:cNvSpPr>
            <p:nvPr/>
          </p:nvSpPr>
          <p:spPr bwMode="auto">
            <a:xfrm>
              <a:off x="2984" y="2971"/>
              <a:ext cx="310" cy="780"/>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latin typeface="楷体_GB2312" pitchFamily="49" charset="-122"/>
                  <a:ea typeface="楷体_GB2312" pitchFamily="49" charset="-122"/>
                </a:rPr>
                <a:t> </a:t>
              </a:r>
              <a:r>
                <a:rPr lang="zh-CN" altLang="en-US" sz="2000" b="1" dirty="0">
                  <a:effectLst>
                    <a:outerShdw blurRad="38100" dist="38100" dir="2700000" algn="tl">
                      <a:srgbClr val="FFFFFF"/>
                    </a:outerShdw>
                  </a:effectLst>
                  <a:latin typeface="楷体" pitchFamily="49" charset="-122"/>
                  <a:ea typeface="楷体" pitchFamily="49" charset="-122"/>
                </a:rPr>
                <a:t>第三趟</a:t>
              </a:r>
            </a:p>
          </p:txBody>
        </p:sp>
      </p:grpSp>
      <p:grpSp>
        <p:nvGrpSpPr>
          <p:cNvPr id="983188" name="Group 148"/>
          <p:cNvGrpSpPr>
            <a:grpSpLocks/>
          </p:cNvGrpSpPr>
          <p:nvPr/>
        </p:nvGrpSpPr>
        <p:grpSpPr bwMode="auto">
          <a:xfrm>
            <a:off x="6178749" y="622301"/>
            <a:ext cx="498475" cy="5084765"/>
            <a:chOff x="3158" y="392"/>
            <a:chExt cx="314" cy="3203"/>
          </a:xfrm>
        </p:grpSpPr>
        <p:sp>
          <p:nvSpPr>
            <p:cNvPr id="983054" name="Text Box 14"/>
            <p:cNvSpPr txBox="1">
              <a:spLocks noChangeArrowheads="1"/>
            </p:cNvSpPr>
            <p:nvPr/>
          </p:nvSpPr>
          <p:spPr bwMode="auto">
            <a:xfrm>
              <a:off x="3162" y="392"/>
              <a:ext cx="310" cy="1768"/>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38    13    27   30   </a:t>
              </a:r>
              <a:r>
                <a:rPr lang="en-US" altLang="zh-CN" sz="2000" b="1" dirty="0">
                  <a:solidFill>
                    <a:srgbClr val="C01920"/>
                  </a:solidFill>
                </a:rPr>
                <a:t>49</a:t>
              </a:r>
            </a:p>
          </p:txBody>
        </p:sp>
        <p:sp>
          <p:nvSpPr>
            <p:cNvPr id="983055" name="Text Box 15"/>
            <p:cNvSpPr txBox="1">
              <a:spLocks noChangeArrowheads="1"/>
            </p:cNvSpPr>
            <p:nvPr/>
          </p:nvSpPr>
          <p:spPr bwMode="auto">
            <a:xfrm>
              <a:off x="3158" y="2816"/>
              <a:ext cx="310" cy="779"/>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第四趟</a:t>
              </a:r>
            </a:p>
          </p:txBody>
        </p:sp>
      </p:grpSp>
      <p:grpSp>
        <p:nvGrpSpPr>
          <p:cNvPr id="983198" name="Group 158"/>
          <p:cNvGrpSpPr>
            <a:grpSpLocks/>
          </p:cNvGrpSpPr>
          <p:nvPr/>
        </p:nvGrpSpPr>
        <p:grpSpPr bwMode="auto">
          <a:xfrm>
            <a:off x="7023298" y="593726"/>
            <a:ext cx="509588" cy="5106989"/>
            <a:chOff x="3690" y="374"/>
            <a:chExt cx="321" cy="3217"/>
          </a:xfrm>
        </p:grpSpPr>
        <p:sp>
          <p:nvSpPr>
            <p:cNvPr id="983057" name="Text Box 17"/>
            <p:cNvSpPr txBox="1">
              <a:spLocks noChangeArrowheads="1"/>
            </p:cNvSpPr>
            <p:nvPr/>
          </p:nvSpPr>
          <p:spPr bwMode="auto">
            <a:xfrm>
              <a:off x="3701" y="374"/>
              <a:ext cx="310" cy="1513"/>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13    27    30  </a:t>
              </a:r>
              <a:r>
                <a:rPr lang="en-US" altLang="zh-CN" sz="2000" b="1" dirty="0">
                  <a:solidFill>
                    <a:srgbClr val="FF3300"/>
                  </a:solidFill>
                  <a:effectLst>
                    <a:outerShdw blurRad="38100" dist="38100" dir="2700000" algn="tl">
                      <a:srgbClr val="000000"/>
                    </a:outerShdw>
                  </a:effectLst>
                </a:rPr>
                <a:t> </a:t>
              </a:r>
              <a:r>
                <a:rPr lang="en-US" altLang="zh-CN" sz="2000" b="1" dirty="0">
                  <a:solidFill>
                    <a:srgbClr val="C01920"/>
                  </a:solidFill>
                </a:rPr>
                <a:t>38</a:t>
              </a:r>
            </a:p>
          </p:txBody>
        </p:sp>
        <p:sp>
          <p:nvSpPr>
            <p:cNvPr id="983058" name="Text Box 18"/>
            <p:cNvSpPr txBox="1">
              <a:spLocks noChangeArrowheads="1"/>
            </p:cNvSpPr>
            <p:nvPr/>
          </p:nvSpPr>
          <p:spPr bwMode="auto">
            <a:xfrm>
              <a:off x="3690" y="2972"/>
              <a:ext cx="310" cy="619"/>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latin typeface="楷体" pitchFamily="49" charset="-122"/>
                  <a:ea typeface="楷体" pitchFamily="49" charset="-122"/>
                </a:rPr>
                <a:t> </a:t>
              </a:r>
              <a:r>
                <a:rPr lang="zh-CN" altLang="en-US" sz="2000" b="1" dirty="0">
                  <a:effectLst>
                    <a:outerShdw blurRad="38100" dist="38100" dir="2700000" algn="tl">
                      <a:srgbClr val="FFFFFF"/>
                    </a:outerShdw>
                  </a:effectLst>
                  <a:latin typeface="楷体" pitchFamily="49" charset="-122"/>
                  <a:ea typeface="楷体" pitchFamily="49" charset="-122"/>
                </a:rPr>
                <a:t>第五趟</a:t>
              </a:r>
            </a:p>
          </p:txBody>
        </p:sp>
      </p:grpSp>
      <p:grpSp>
        <p:nvGrpSpPr>
          <p:cNvPr id="983208" name="Group 168"/>
          <p:cNvGrpSpPr>
            <a:grpSpLocks/>
          </p:cNvGrpSpPr>
          <p:nvPr/>
        </p:nvGrpSpPr>
        <p:grpSpPr bwMode="auto">
          <a:xfrm>
            <a:off x="7874199" y="576264"/>
            <a:ext cx="569913" cy="5129215"/>
            <a:chOff x="4226" y="363"/>
            <a:chExt cx="359" cy="3231"/>
          </a:xfrm>
        </p:grpSpPr>
        <p:sp>
          <p:nvSpPr>
            <p:cNvPr id="983060" name="Text Box 20"/>
            <p:cNvSpPr txBox="1">
              <a:spLocks noChangeArrowheads="1"/>
            </p:cNvSpPr>
            <p:nvPr/>
          </p:nvSpPr>
          <p:spPr bwMode="auto">
            <a:xfrm>
              <a:off x="4275" y="363"/>
              <a:ext cx="310" cy="953"/>
            </a:xfrm>
            <a:prstGeom prst="rect">
              <a:avLst/>
            </a:prstGeom>
            <a:noFill/>
            <a:ln w="9525">
              <a:noFill/>
              <a:miter lim="800000"/>
              <a:headEnd/>
              <a:tailEnd/>
            </a:ln>
          </p:spPr>
          <p:txBody>
            <a:bodyPr vert="vert" wrap="none">
              <a:spAutoFit/>
            </a:bodyPr>
            <a:lstStyle/>
            <a:p>
              <a:r>
                <a:rPr lang="en-US" altLang="zh-CN" sz="2000" b="1" dirty="0">
                  <a:effectLst>
                    <a:outerShdw blurRad="38100" dist="38100" dir="2700000" algn="tl">
                      <a:srgbClr val="FFFFFF"/>
                    </a:outerShdw>
                  </a:effectLst>
                </a:rPr>
                <a:t>13    27   </a:t>
              </a:r>
              <a:r>
                <a:rPr lang="en-US" altLang="zh-CN" sz="2000" b="1" dirty="0">
                  <a:solidFill>
                    <a:srgbClr val="C01920"/>
                  </a:solidFill>
                </a:rPr>
                <a:t> 30</a:t>
              </a:r>
            </a:p>
          </p:txBody>
        </p:sp>
        <p:sp>
          <p:nvSpPr>
            <p:cNvPr id="983061" name="Text Box 21"/>
            <p:cNvSpPr txBox="1">
              <a:spLocks noChangeArrowheads="1"/>
            </p:cNvSpPr>
            <p:nvPr/>
          </p:nvSpPr>
          <p:spPr bwMode="auto">
            <a:xfrm>
              <a:off x="4226" y="2855"/>
              <a:ext cx="310" cy="739"/>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第六趟</a:t>
              </a:r>
            </a:p>
          </p:txBody>
        </p:sp>
      </p:grpSp>
      <p:grpSp>
        <p:nvGrpSpPr>
          <p:cNvPr id="983101" name="Group 61"/>
          <p:cNvGrpSpPr>
            <a:grpSpLocks/>
          </p:cNvGrpSpPr>
          <p:nvPr/>
        </p:nvGrpSpPr>
        <p:grpSpPr bwMode="auto">
          <a:xfrm>
            <a:off x="8712398" y="325438"/>
            <a:ext cx="527050" cy="5913438"/>
            <a:chOff x="3944" y="178"/>
            <a:chExt cx="332" cy="3725"/>
          </a:xfrm>
        </p:grpSpPr>
        <p:sp>
          <p:nvSpPr>
            <p:cNvPr id="983102" name="Text Box 62"/>
            <p:cNvSpPr txBox="1">
              <a:spLocks noChangeArrowheads="1"/>
            </p:cNvSpPr>
            <p:nvPr/>
          </p:nvSpPr>
          <p:spPr bwMode="auto">
            <a:xfrm>
              <a:off x="3966" y="178"/>
              <a:ext cx="310" cy="640"/>
            </a:xfrm>
            <a:prstGeom prst="rect">
              <a:avLst/>
            </a:prstGeom>
            <a:noFill/>
            <a:ln w="9525">
              <a:noFill/>
              <a:miter lim="800000"/>
              <a:headEnd/>
              <a:tailEnd/>
            </a:ln>
          </p:spPr>
          <p:txBody>
            <a:bodyPr vert="horz">
              <a:spAutoFit/>
            </a:bodyPr>
            <a:lstStyle/>
            <a:p>
              <a:r>
                <a:rPr lang="en-US" altLang="zh-CN" sz="2000" b="1" dirty="0">
                  <a:effectLst>
                    <a:outerShdw blurRad="38100" dist="38100" dir="2700000" algn="tl">
                      <a:srgbClr val="FFFFFF"/>
                    </a:outerShdw>
                  </a:effectLst>
                </a:rPr>
                <a:t>    13    </a:t>
              </a:r>
              <a:r>
                <a:rPr lang="en-US" altLang="zh-CN" sz="2000" b="1" dirty="0">
                  <a:solidFill>
                    <a:srgbClr val="C01920"/>
                  </a:solidFill>
                </a:rPr>
                <a:t>27</a:t>
              </a:r>
            </a:p>
          </p:txBody>
        </p:sp>
        <p:sp>
          <p:nvSpPr>
            <p:cNvPr id="983103" name="Text Box 63"/>
            <p:cNvSpPr txBox="1">
              <a:spLocks noChangeArrowheads="1"/>
            </p:cNvSpPr>
            <p:nvPr/>
          </p:nvSpPr>
          <p:spPr bwMode="auto">
            <a:xfrm>
              <a:off x="3944" y="2860"/>
              <a:ext cx="310" cy="1043"/>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latin typeface="楷体" pitchFamily="49" charset="-122"/>
                  <a:ea typeface="楷体" pitchFamily="49" charset="-122"/>
                </a:rPr>
                <a:t>  </a:t>
              </a:r>
              <a:r>
                <a:rPr lang="zh-CN" altLang="en-US" sz="2000" b="1" dirty="0">
                  <a:effectLst>
                    <a:outerShdw blurRad="38100" dist="38100" dir="2700000" algn="tl">
                      <a:srgbClr val="FFFFFF"/>
                    </a:outerShdw>
                  </a:effectLst>
                  <a:latin typeface="楷体" pitchFamily="49" charset="-122"/>
                  <a:ea typeface="楷体" pitchFamily="49" charset="-122"/>
                </a:rPr>
                <a:t>第七趟</a:t>
              </a:r>
            </a:p>
          </p:txBody>
        </p:sp>
      </p:grpSp>
      <p:grpSp>
        <p:nvGrpSpPr>
          <p:cNvPr id="983118" name="Group 78"/>
          <p:cNvGrpSpPr>
            <a:grpSpLocks/>
          </p:cNvGrpSpPr>
          <p:nvPr/>
        </p:nvGrpSpPr>
        <p:grpSpPr bwMode="auto">
          <a:xfrm>
            <a:off x="2241748" y="576263"/>
            <a:ext cx="865188" cy="5872162"/>
            <a:chOff x="1020" y="354"/>
            <a:chExt cx="545" cy="3699"/>
          </a:xfrm>
        </p:grpSpPr>
        <p:sp>
          <p:nvSpPr>
            <p:cNvPr id="983064" name="Text Box 24"/>
            <p:cNvSpPr txBox="1">
              <a:spLocks noChangeArrowheads="1"/>
            </p:cNvSpPr>
            <p:nvPr/>
          </p:nvSpPr>
          <p:spPr bwMode="auto">
            <a:xfrm>
              <a:off x="1100" y="354"/>
              <a:ext cx="310" cy="2579"/>
            </a:xfrm>
            <a:prstGeom prst="rect">
              <a:avLst/>
            </a:prstGeom>
            <a:noFill/>
            <a:ln w="9525">
              <a:noFill/>
              <a:miter lim="800000"/>
              <a:headEnd/>
              <a:tailEnd/>
            </a:ln>
          </p:spPr>
          <p:txBody>
            <a:bodyPr vert="eaVert" wrap="none">
              <a:spAutoFit/>
            </a:bodyPr>
            <a:lstStyle/>
            <a:p>
              <a:r>
                <a:rPr lang="en-US" altLang="zh-CN" sz="2000" b="1" dirty="0">
                  <a:effectLst>
                    <a:outerShdw blurRad="38100" dist="38100" dir="2700000" algn="tl">
                      <a:srgbClr val="FFFFFF"/>
                    </a:outerShdw>
                  </a:effectLst>
                </a:rPr>
                <a:t>49    38    65    97    76    13    27    30</a:t>
              </a:r>
            </a:p>
          </p:txBody>
        </p:sp>
        <p:sp>
          <p:nvSpPr>
            <p:cNvPr id="983065" name="Text Box 25"/>
            <p:cNvSpPr txBox="1">
              <a:spLocks noChangeArrowheads="1"/>
            </p:cNvSpPr>
            <p:nvPr/>
          </p:nvSpPr>
          <p:spPr bwMode="auto">
            <a:xfrm>
              <a:off x="1092" y="2653"/>
              <a:ext cx="310" cy="1253"/>
            </a:xfrm>
            <a:prstGeom prst="rect">
              <a:avLst/>
            </a:prstGeom>
            <a:noFill/>
            <a:ln w="9525">
              <a:noFill/>
              <a:miter lim="800000"/>
              <a:headEnd/>
              <a:tailEnd/>
            </a:ln>
          </p:spPr>
          <p:txBody>
            <a:bodyPr vert="eaVert">
              <a:spAutoFit/>
            </a:bodyPr>
            <a:lstStyle/>
            <a:p>
              <a:r>
                <a:rPr lang="en-US" altLang="zh-CN" sz="2000" b="1" dirty="0">
                  <a:effectLst>
                    <a:outerShdw blurRad="38100" dist="38100" dir="2700000" algn="tl">
                      <a:srgbClr val="FFFFFF"/>
                    </a:outerShdw>
                  </a:effectLst>
                </a:rPr>
                <a:t>         </a:t>
              </a:r>
              <a:r>
                <a:rPr lang="zh-CN" altLang="en-US" sz="2000" b="1" dirty="0">
                  <a:effectLst>
                    <a:outerShdw blurRad="38100" dist="38100" dir="2700000" algn="tl">
                      <a:srgbClr val="FFFFFF"/>
                    </a:outerShdw>
                  </a:effectLst>
                  <a:latin typeface="楷体" pitchFamily="49" charset="-122"/>
                  <a:ea typeface="楷体" pitchFamily="49" charset="-122"/>
                </a:rPr>
                <a:t>初始关键字</a:t>
              </a:r>
            </a:p>
          </p:txBody>
        </p:sp>
        <p:sp>
          <p:nvSpPr>
            <p:cNvPr id="983113" name="Text Box 73"/>
            <p:cNvSpPr txBox="1">
              <a:spLocks noChangeArrowheads="1"/>
            </p:cNvSpPr>
            <p:nvPr/>
          </p:nvSpPr>
          <p:spPr bwMode="auto">
            <a:xfrm>
              <a:off x="1020" y="3803"/>
              <a:ext cx="545" cy="250"/>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C01920"/>
                  </a:solidFill>
                </a:rPr>
                <a:t>n = 8</a:t>
              </a:r>
            </a:p>
          </p:txBody>
        </p:sp>
      </p:grpSp>
      <p:sp>
        <p:nvSpPr>
          <p:cNvPr id="983067" name="Text Box 27"/>
          <p:cNvSpPr txBox="1">
            <a:spLocks noChangeArrowheads="1"/>
          </p:cNvSpPr>
          <p:nvPr/>
        </p:nvSpPr>
        <p:spPr bwMode="auto">
          <a:xfrm>
            <a:off x="2400498" y="5492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38</a:t>
            </a:r>
          </a:p>
        </p:txBody>
      </p:sp>
      <p:sp>
        <p:nvSpPr>
          <p:cNvPr id="983068" name="Text Box 28"/>
          <p:cNvSpPr txBox="1">
            <a:spLocks noChangeArrowheads="1"/>
          </p:cNvSpPr>
          <p:nvPr/>
        </p:nvSpPr>
        <p:spPr bwMode="auto">
          <a:xfrm>
            <a:off x="2414786" y="10953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49</a:t>
            </a:r>
          </a:p>
        </p:txBody>
      </p:sp>
      <p:sp>
        <p:nvSpPr>
          <p:cNvPr id="983069" name="Text Box 29"/>
          <p:cNvSpPr txBox="1">
            <a:spLocks noChangeArrowheads="1"/>
          </p:cNvSpPr>
          <p:nvPr/>
        </p:nvSpPr>
        <p:spPr bwMode="auto">
          <a:xfrm>
            <a:off x="2431454" y="2160238"/>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76</a:t>
            </a:r>
          </a:p>
        </p:txBody>
      </p:sp>
      <p:grpSp>
        <p:nvGrpSpPr>
          <p:cNvPr id="983117" name="Group 77"/>
          <p:cNvGrpSpPr>
            <a:grpSpLocks/>
          </p:cNvGrpSpPr>
          <p:nvPr/>
        </p:nvGrpSpPr>
        <p:grpSpPr bwMode="auto">
          <a:xfrm>
            <a:off x="2040136" y="673100"/>
            <a:ext cx="933450" cy="711200"/>
            <a:chOff x="884" y="433"/>
            <a:chExt cx="588" cy="448"/>
          </a:xfrm>
        </p:grpSpPr>
        <p:sp>
          <p:nvSpPr>
            <p:cNvPr id="983112" name="AutoShape 72"/>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2060"/>
            </a:solidFill>
            <a:ln w="9525">
              <a:solidFill>
                <a:srgbClr val="0909FE"/>
              </a:solidFill>
              <a:miter lim="800000"/>
              <a:headEnd/>
              <a:tailEnd/>
            </a:ln>
            <a:effectLst>
              <a:outerShdw dist="35921" dir="2700000" algn="ctr" rotWithShape="0">
                <a:schemeClr val="bg2"/>
              </a:outerShdw>
            </a:effectLst>
          </p:spPr>
          <p:txBody>
            <a:bodyPr wrap="none" anchor="ctr"/>
            <a:lstStyle/>
            <a:p>
              <a:endParaRPr lang="zh-CN" altLang="en-US" dirty="0"/>
            </a:p>
          </p:txBody>
        </p:sp>
        <p:sp>
          <p:nvSpPr>
            <p:cNvPr id="983116" name="Line 76"/>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19" name="Group 79"/>
          <p:cNvGrpSpPr>
            <a:grpSpLocks/>
          </p:cNvGrpSpPr>
          <p:nvPr/>
        </p:nvGrpSpPr>
        <p:grpSpPr bwMode="auto">
          <a:xfrm>
            <a:off x="2056011" y="1203325"/>
            <a:ext cx="933450" cy="711200"/>
            <a:chOff x="884" y="433"/>
            <a:chExt cx="588" cy="448"/>
          </a:xfrm>
        </p:grpSpPr>
        <p:sp>
          <p:nvSpPr>
            <p:cNvPr id="983120" name="AutoShape 8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21" name="Line 8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22" name="Group 82"/>
          <p:cNvGrpSpPr>
            <a:grpSpLocks/>
          </p:cNvGrpSpPr>
          <p:nvPr/>
        </p:nvGrpSpPr>
        <p:grpSpPr bwMode="auto">
          <a:xfrm>
            <a:off x="2043311" y="1733550"/>
            <a:ext cx="933450" cy="711200"/>
            <a:chOff x="884" y="433"/>
            <a:chExt cx="588" cy="448"/>
          </a:xfrm>
        </p:grpSpPr>
        <p:sp>
          <p:nvSpPr>
            <p:cNvPr id="983123" name="AutoShape 8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24" name="Line 8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25" name="Group 85"/>
          <p:cNvGrpSpPr>
            <a:grpSpLocks/>
          </p:cNvGrpSpPr>
          <p:nvPr/>
        </p:nvGrpSpPr>
        <p:grpSpPr bwMode="auto">
          <a:xfrm>
            <a:off x="2044898" y="2263775"/>
            <a:ext cx="933450" cy="711200"/>
            <a:chOff x="884" y="433"/>
            <a:chExt cx="588" cy="448"/>
          </a:xfrm>
        </p:grpSpPr>
        <p:sp>
          <p:nvSpPr>
            <p:cNvPr id="983126" name="AutoShape 86"/>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27" name="Line 87"/>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70" name="Text Box 30"/>
          <p:cNvSpPr txBox="1">
            <a:spLocks noChangeArrowheads="1"/>
          </p:cNvSpPr>
          <p:nvPr/>
        </p:nvSpPr>
        <p:spPr bwMode="auto">
          <a:xfrm>
            <a:off x="2448123" y="32131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97</a:t>
            </a:r>
          </a:p>
        </p:txBody>
      </p:sp>
      <p:sp>
        <p:nvSpPr>
          <p:cNvPr id="983072" name="Text Box 32"/>
          <p:cNvSpPr txBox="1">
            <a:spLocks noChangeArrowheads="1"/>
          </p:cNvSpPr>
          <p:nvPr/>
        </p:nvSpPr>
        <p:spPr bwMode="auto">
          <a:xfrm>
            <a:off x="2419548" y="27082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97</a:t>
            </a:r>
          </a:p>
        </p:txBody>
      </p:sp>
      <p:sp>
        <p:nvSpPr>
          <p:cNvPr id="983073" name="Text Box 33"/>
          <p:cNvSpPr txBox="1">
            <a:spLocks noChangeArrowheads="1"/>
          </p:cNvSpPr>
          <p:nvPr/>
        </p:nvSpPr>
        <p:spPr bwMode="auto">
          <a:xfrm>
            <a:off x="2448123" y="43084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97</a:t>
            </a:r>
          </a:p>
        </p:txBody>
      </p:sp>
      <p:sp>
        <p:nvSpPr>
          <p:cNvPr id="983076" name="Text Box 36"/>
          <p:cNvSpPr txBox="1">
            <a:spLocks noChangeArrowheads="1"/>
          </p:cNvSpPr>
          <p:nvPr/>
        </p:nvSpPr>
        <p:spPr bwMode="auto">
          <a:xfrm>
            <a:off x="2433836" y="3789364"/>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97</a:t>
            </a:r>
          </a:p>
        </p:txBody>
      </p:sp>
      <p:sp>
        <p:nvSpPr>
          <p:cNvPr id="983071" name="Text Box 31"/>
          <p:cNvSpPr txBox="1">
            <a:spLocks noChangeArrowheads="1"/>
          </p:cNvSpPr>
          <p:nvPr/>
        </p:nvSpPr>
        <p:spPr bwMode="auto">
          <a:xfrm>
            <a:off x="2423592" y="2711391"/>
            <a:ext cx="597444" cy="400110"/>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square">
            <a:spAutoFit/>
          </a:bodyPr>
          <a:lstStyle/>
          <a:p>
            <a:r>
              <a:rPr lang="en-US" altLang="zh-CN" sz="2000" b="1">
                <a:solidFill>
                  <a:srgbClr val="002060"/>
                </a:solidFill>
                <a:effectLst>
                  <a:outerShdw blurRad="38100" dist="38100" dir="2700000" algn="tl">
                    <a:srgbClr val="C0C0C0"/>
                  </a:outerShdw>
                </a:effectLst>
              </a:rPr>
              <a:t>13</a:t>
            </a:r>
          </a:p>
        </p:txBody>
      </p:sp>
      <p:sp>
        <p:nvSpPr>
          <p:cNvPr id="983074" name="Text Box 34"/>
          <p:cNvSpPr txBox="1">
            <a:spLocks noChangeArrowheads="1"/>
          </p:cNvSpPr>
          <p:nvPr/>
        </p:nvSpPr>
        <p:spPr bwMode="auto">
          <a:xfrm>
            <a:off x="2417490" y="32131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27</a:t>
            </a:r>
          </a:p>
        </p:txBody>
      </p:sp>
      <p:grpSp>
        <p:nvGrpSpPr>
          <p:cNvPr id="983128" name="Group 88"/>
          <p:cNvGrpSpPr>
            <a:grpSpLocks/>
          </p:cNvGrpSpPr>
          <p:nvPr/>
        </p:nvGrpSpPr>
        <p:grpSpPr bwMode="auto">
          <a:xfrm>
            <a:off x="2046486" y="2808288"/>
            <a:ext cx="933450" cy="711200"/>
            <a:chOff x="884" y="433"/>
            <a:chExt cx="588" cy="448"/>
          </a:xfrm>
        </p:grpSpPr>
        <p:sp>
          <p:nvSpPr>
            <p:cNvPr id="983129" name="AutoShape 89"/>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30" name="Line 90"/>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31" name="Group 91"/>
          <p:cNvGrpSpPr>
            <a:grpSpLocks/>
          </p:cNvGrpSpPr>
          <p:nvPr/>
        </p:nvGrpSpPr>
        <p:grpSpPr bwMode="auto">
          <a:xfrm>
            <a:off x="2097509" y="3365872"/>
            <a:ext cx="933450" cy="711200"/>
            <a:chOff x="884" y="433"/>
            <a:chExt cx="588" cy="448"/>
          </a:xfrm>
        </p:grpSpPr>
        <p:sp>
          <p:nvSpPr>
            <p:cNvPr id="983132" name="AutoShape 92"/>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33" name="Line 93"/>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75" name="Text Box 35"/>
          <p:cNvSpPr txBox="1">
            <a:spLocks noChangeArrowheads="1"/>
          </p:cNvSpPr>
          <p:nvPr/>
        </p:nvSpPr>
        <p:spPr bwMode="auto">
          <a:xfrm>
            <a:off x="2419152" y="3744914"/>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30</a:t>
            </a:r>
          </a:p>
        </p:txBody>
      </p:sp>
      <p:grpSp>
        <p:nvGrpSpPr>
          <p:cNvPr id="983134" name="Group 94"/>
          <p:cNvGrpSpPr>
            <a:grpSpLocks/>
          </p:cNvGrpSpPr>
          <p:nvPr/>
        </p:nvGrpSpPr>
        <p:grpSpPr bwMode="auto">
          <a:xfrm>
            <a:off x="2063552" y="3854450"/>
            <a:ext cx="933450" cy="711200"/>
            <a:chOff x="884" y="433"/>
            <a:chExt cx="588" cy="448"/>
          </a:xfrm>
        </p:grpSpPr>
        <p:sp>
          <p:nvSpPr>
            <p:cNvPr id="983135" name="AutoShape 95"/>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36" name="Line 96"/>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38" name="Group 98"/>
          <p:cNvGrpSpPr>
            <a:grpSpLocks/>
          </p:cNvGrpSpPr>
          <p:nvPr/>
        </p:nvGrpSpPr>
        <p:grpSpPr bwMode="auto">
          <a:xfrm>
            <a:off x="3084711" y="674688"/>
            <a:ext cx="933450" cy="711200"/>
            <a:chOff x="884" y="433"/>
            <a:chExt cx="588" cy="448"/>
          </a:xfrm>
        </p:grpSpPr>
        <p:sp>
          <p:nvSpPr>
            <p:cNvPr id="983139" name="AutoShape 99"/>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40" name="Line 100"/>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41" name="Group 101"/>
          <p:cNvGrpSpPr>
            <a:grpSpLocks/>
          </p:cNvGrpSpPr>
          <p:nvPr/>
        </p:nvGrpSpPr>
        <p:grpSpPr bwMode="auto">
          <a:xfrm>
            <a:off x="3086298" y="1219200"/>
            <a:ext cx="933450" cy="711200"/>
            <a:chOff x="884" y="433"/>
            <a:chExt cx="588" cy="448"/>
          </a:xfrm>
        </p:grpSpPr>
        <p:sp>
          <p:nvSpPr>
            <p:cNvPr id="983142" name="AutoShape 102"/>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43" name="Line 103"/>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44" name="Group 104"/>
          <p:cNvGrpSpPr>
            <a:grpSpLocks/>
          </p:cNvGrpSpPr>
          <p:nvPr/>
        </p:nvGrpSpPr>
        <p:grpSpPr bwMode="auto">
          <a:xfrm>
            <a:off x="3087886" y="1735138"/>
            <a:ext cx="933450" cy="711200"/>
            <a:chOff x="884" y="433"/>
            <a:chExt cx="588" cy="448"/>
          </a:xfrm>
        </p:grpSpPr>
        <p:sp>
          <p:nvSpPr>
            <p:cNvPr id="983145" name="AutoShape 105"/>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46" name="Line 106"/>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77" name="Text Box 37"/>
          <p:cNvSpPr txBox="1">
            <a:spLocks noChangeArrowheads="1"/>
          </p:cNvSpPr>
          <p:nvPr/>
        </p:nvSpPr>
        <p:spPr bwMode="auto">
          <a:xfrm>
            <a:off x="3433961" y="21621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13</a:t>
            </a:r>
          </a:p>
        </p:txBody>
      </p:sp>
      <p:sp>
        <p:nvSpPr>
          <p:cNvPr id="983078" name="Text Box 38"/>
          <p:cNvSpPr txBox="1">
            <a:spLocks noChangeArrowheads="1"/>
          </p:cNvSpPr>
          <p:nvPr/>
        </p:nvSpPr>
        <p:spPr bwMode="auto">
          <a:xfrm>
            <a:off x="3408561" y="376078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76</a:t>
            </a:r>
          </a:p>
        </p:txBody>
      </p:sp>
      <p:sp>
        <p:nvSpPr>
          <p:cNvPr id="983079" name="Text Box 39"/>
          <p:cNvSpPr txBox="1">
            <a:spLocks noChangeArrowheads="1"/>
          </p:cNvSpPr>
          <p:nvPr/>
        </p:nvSpPr>
        <p:spPr bwMode="auto">
          <a:xfrm>
            <a:off x="3437136" y="27082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76</a:t>
            </a:r>
          </a:p>
        </p:txBody>
      </p:sp>
      <p:sp>
        <p:nvSpPr>
          <p:cNvPr id="983080" name="Text Box 40"/>
          <p:cNvSpPr txBox="1">
            <a:spLocks noChangeArrowheads="1"/>
          </p:cNvSpPr>
          <p:nvPr/>
        </p:nvSpPr>
        <p:spPr bwMode="auto">
          <a:xfrm>
            <a:off x="3437136" y="3255964"/>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76</a:t>
            </a:r>
          </a:p>
        </p:txBody>
      </p:sp>
      <p:grpSp>
        <p:nvGrpSpPr>
          <p:cNvPr id="983147" name="Group 107"/>
          <p:cNvGrpSpPr>
            <a:grpSpLocks/>
          </p:cNvGrpSpPr>
          <p:nvPr/>
        </p:nvGrpSpPr>
        <p:grpSpPr bwMode="auto">
          <a:xfrm>
            <a:off x="3089473" y="2279650"/>
            <a:ext cx="933450" cy="711200"/>
            <a:chOff x="884" y="433"/>
            <a:chExt cx="588" cy="448"/>
          </a:xfrm>
        </p:grpSpPr>
        <p:sp>
          <p:nvSpPr>
            <p:cNvPr id="983148" name="AutoShape 108"/>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49" name="Line 109"/>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1" name="Text Box 41"/>
          <p:cNvSpPr txBox="1">
            <a:spLocks noChangeArrowheads="1"/>
          </p:cNvSpPr>
          <p:nvPr/>
        </p:nvSpPr>
        <p:spPr bwMode="auto">
          <a:xfrm>
            <a:off x="3472576" y="2708920"/>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square">
            <a:spAutoFit/>
          </a:bodyPr>
          <a:lstStyle/>
          <a:p>
            <a:r>
              <a:rPr lang="en-US" altLang="zh-CN" sz="2000" b="1" dirty="0">
                <a:solidFill>
                  <a:srgbClr val="002060"/>
                </a:solidFill>
                <a:effectLst>
                  <a:outerShdw blurRad="38100" dist="38100" dir="2700000" algn="tl">
                    <a:srgbClr val="C0C0C0"/>
                  </a:outerShdw>
                </a:effectLst>
              </a:rPr>
              <a:t>27</a:t>
            </a:r>
          </a:p>
        </p:txBody>
      </p:sp>
      <p:grpSp>
        <p:nvGrpSpPr>
          <p:cNvPr id="983150" name="Group 110"/>
          <p:cNvGrpSpPr>
            <a:grpSpLocks/>
          </p:cNvGrpSpPr>
          <p:nvPr/>
        </p:nvGrpSpPr>
        <p:grpSpPr bwMode="auto">
          <a:xfrm>
            <a:off x="3091061" y="2809875"/>
            <a:ext cx="933450" cy="711200"/>
            <a:chOff x="884" y="433"/>
            <a:chExt cx="588" cy="448"/>
          </a:xfrm>
        </p:grpSpPr>
        <p:sp>
          <p:nvSpPr>
            <p:cNvPr id="983151" name="AutoShape 111"/>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52" name="Line 112"/>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2" name="Text Box 42"/>
          <p:cNvSpPr txBox="1">
            <a:spLocks noChangeArrowheads="1"/>
          </p:cNvSpPr>
          <p:nvPr/>
        </p:nvSpPr>
        <p:spPr bwMode="auto">
          <a:xfrm>
            <a:off x="3431704" y="3273425"/>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30</a:t>
            </a:r>
          </a:p>
        </p:txBody>
      </p:sp>
      <p:grpSp>
        <p:nvGrpSpPr>
          <p:cNvPr id="983160" name="Group 120"/>
          <p:cNvGrpSpPr>
            <a:grpSpLocks/>
          </p:cNvGrpSpPr>
          <p:nvPr/>
        </p:nvGrpSpPr>
        <p:grpSpPr bwMode="auto">
          <a:xfrm>
            <a:off x="4100711" y="661988"/>
            <a:ext cx="933450" cy="711200"/>
            <a:chOff x="884" y="433"/>
            <a:chExt cx="588" cy="448"/>
          </a:xfrm>
        </p:grpSpPr>
        <p:sp>
          <p:nvSpPr>
            <p:cNvPr id="983161" name="AutoShape 121"/>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62" name="Line 122"/>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63" name="Group 123"/>
          <p:cNvGrpSpPr>
            <a:grpSpLocks/>
          </p:cNvGrpSpPr>
          <p:nvPr/>
        </p:nvGrpSpPr>
        <p:grpSpPr bwMode="auto">
          <a:xfrm>
            <a:off x="4102298" y="1220788"/>
            <a:ext cx="933450" cy="711200"/>
            <a:chOff x="884" y="433"/>
            <a:chExt cx="588" cy="448"/>
          </a:xfrm>
        </p:grpSpPr>
        <p:sp>
          <p:nvSpPr>
            <p:cNvPr id="983164" name="AutoShape 124"/>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65" name="Line 125"/>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66" name="Group 126"/>
          <p:cNvGrpSpPr>
            <a:grpSpLocks/>
          </p:cNvGrpSpPr>
          <p:nvPr/>
        </p:nvGrpSpPr>
        <p:grpSpPr bwMode="auto">
          <a:xfrm>
            <a:off x="4103886" y="1736725"/>
            <a:ext cx="933450" cy="711200"/>
            <a:chOff x="884" y="433"/>
            <a:chExt cx="588" cy="448"/>
          </a:xfrm>
        </p:grpSpPr>
        <p:sp>
          <p:nvSpPr>
            <p:cNvPr id="983167" name="AutoShape 127"/>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68" name="Line 128"/>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3" name="Text Box 43"/>
          <p:cNvSpPr txBox="1">
            <a:spLocks noChangeArrowheads="1"/>
          </p:cNvSpPr>
          <p:nvPr/>
        </p:nvSpPr>
        <p:spPr bwMode="auto">
          <a:xfrm>
            <a:off x="4445198" y="16287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13</a:t>
            </a:r>
          </a:p>
        </p:txBody>
      </p:sp>
      <p:sp>
        <p:nvSpPr>
          <p:cNvPr id="983084" name="Text Box 44"/>
          <p:cNvSpPr txBox="1">
            <a:spLocks noChangeArrowheads="1"/>
          </p:cNvSpPr>
          <p:nvPr/>
        </p:nvSpPr>
        <p:spPr bwMode="auto">
          <a:xfrm>
            <a:off x="4459486" y="219075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65</a:t>
            </a:r>
          </a:p>
        </p:txBody>
      </p:sp>
      <p:sp>
        <p:nvSpPr>
          <p:cNvPr id="983086" name="Text Box 46"/>
          <p:cNvSpPr txBox="1">
            <a:spLocks noChangeArrowheads="1"/>
          </p:cNvSpPr>
          <p:nvPr/>
        </p:nvSpPr>
        <p:spPr bwMode="auto">
          <a:xfrm>
            <a:off x="4459486" y="269398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65</a:t>
            </a:r>
          </a:p>
        </p:txBody>
      </p:sp>
      <p:sp>
        <p:nvSpPr>
          <p:cNvPr id="983088" name="Text Box 48"/>
          <p:cNvSpPr txBox="1">
            <a:spLocks noChangeArrowheads="1"/>
          </p:cNvSpPr>
          <p:nvPr/>
        </p:nvSpPr>
        <p:spPr bwMode="auto">
          <a:xfrm>
            <a:off x="4445198" y="32131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65</a:t>
            </a:r>
          </a:p>
        </p:txBody>
      </p:sp>
      <p:grpSp>
        <p:nvGrpSpPr>
          <p:cNvPr id="983169" name="Group 129"/>
          <p:cNvGrpSpPr>
            <a:grpSpLocks/>
          </p:cNvGrpSpPr>
          <p:nvPr/>
        </p:nvGrpSpPr>
        <p:grpSpPr bwMode="auto">
          <a:xfrm>
            <a:off x="4105473" y="2281238"/>
            <a:ext cx="933450" cy="711200"/>
            <a:chOff x="884" y="433"/>
            <a:chExt cx="588" cy="448"/>
          </a:xfrm>
        </p:grpSpPr>
        <p:sp>
          <p:nvSpPr>
            <p:cNvPr id="983170" name="AutoShape 13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71" name="Line 13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5" name="Text Box 45"/>
          <p:cNvSpPr txBox="1">
            <a:spLocks noChangeArrowheads="1"/>
          </p:cNvSpPr>
          <p:nvPr/>
        </p:nvSpPr>
        <p:spPr bwMode="auto">
          <a:xfrm>
            <a:off x="4472980" y="216802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27</a:t>
            </a:r>
          </a:p>
        </p:txBody>
      </p:sp>
      <p:grpSp>
        <p:nvGrpSpPr>
          <p:cNvPr id="983172" name="Group 132"/>
          <p:cNvGrpSpPr>
            <a:grpSpLocks/>
          </p:cNvGrpSpPr>
          <p:nvPr/>
        </p:nvGrpSpPr>
        <p:grpSpPr bwMode="auto">
          <a:xfrm>
            <a:off x="4107061" y="2782888"/>
            <a:ext cx="933450" cy="711200"/>
            <a:chOff x="884" y="433"/>
            <a:chExt cx="588" cy="448"/>
          </a:xfrm>
        </p:grpSpPr>
        <p:sp>
          <p:nvSpPr>
            <p:cNvPr id="983173" name="AutoShape 13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74" name="Line 13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7" name="Text Box 47"/>
          <p:cNvSpPr txBox="1">
            <a:spLocks noChangeArrowheads="1"/>
          </p:cNvSpPr>
          <p:nvPr/>
        </p:nvSpPr>
        <p:spPr bwMode="auto">
          <a:xfrm>
            <a:off x="4446786" y="2708920"/>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30</a:t>
            </a:r>
          </a:p>
        </p:txBody>
      </p:sp>
      <p:grpSp>
        <p:nvGrpSpPr>
          <p:cNvPr id="983176" name="Group 136"/>
          <p:cNvGrpSpPr>
            <a:grpSpLocks/>
          </p:cNvGrpSpPr>
          <p:nvPr/>
        </p:nvGrpSpPr>
        <p:grpSpPr bwMode="auto">
          <a:xfrm>
            <a:off x="5016698" y="663575"/>
            <a:ext cx="933450" cy="711200"/>
            <a:chOff x="884" y="433"/>
            <a:chExt cx="588" cy="448"/>
          </a:xfrm>
        </p:grpSpPr>
        <p:sp>
          <p:nvSpPr>
            <p:cNvPr id="983177" name="AutoShape 137"/>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78" name="Line 138"/>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89" name="Text Box 49"/>
          <p:cNvSpPr txBox="1">
            <a:spLocks noChangeArrowheads="1"/>
          </p:cNvSpPr>
          <p:nvPr/>
        </p:nvSpPr>
        <p:spPr bwMode="auto">
          <a:xfrm>
            <a:off x="5381823" y="1096964"/>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13</a:t>
            </a:r>
          </a:p>
        </p:txBody>
      </p:sp>
      <p:sp>
        <p:nvSpPr>
          <p:cNvPr id="983091" name="Text Box 51"/>
          <p:cNvSpPr txBox="1">
            <a:spLocks noChangeArrowheads="1"/>
          </p:cNvSpPr>
          <p:nvPr/>
        </p:nvSpPr>
        <p:spPr bwMode="auto">
          <a:xfrm>
            <a:off x="5381823" y="26670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49</a:t>
            </a:r>
          </a:p>
        </p:txBody>
      </p:sp>
      <p:sp>
        <p:nvSpPr>
          <p:cNvPr id="983092" name="Text Box 52"/>
          <p:cNvSpPr txBox="1">
            <a:spLocks noChangeArrowheads="1"/>
          </p:cNvSpPr>
          <p:nvPr/>
        </p:nvSpPr>
        <p:spPr bwMode="auto">
          <a:xfrm>
            <a:off x="5381823" y="214788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49</a:t>
            </a:r>
          </a:p>
        </p:txBody>
      </p:sp>
      <p:sp>
        <p:nvSpPr>
          <p:cNvPr id="983094" name="Text Box 54"/>
          <p:cNvSpPr txBox="1">
            <a:spLocks noChangeArrowheads="1"/>
          </p:cNvSpPr>
          <p:nvPr/>
        </p:nvSpPr>
        <p:spPr bwMode="auto">
          <a:xfrm>
            <a:off x="5381823" y="16287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49</a:t>
            </a:r>
          </a:p>
        </p:txBody>
      </p:sp>
      <p:grpSp>
        <p:nvGrpSpPr>
          <p:cNvPr id="983179" name="Group 139"/>
          <p:cNvGrpSpPr>
            <a:grpSpLocks/>
          </p:cNvGrpSpPr>
          <p:nvPr/>
        </p:nvGrpSpPr>
        <p:grpSpPr bwMode="auto">
          <a:xfrm>
            <a:off x="5018286" y="1236663"/>
            <a:ext cx="933450" cy="711200"/>
            <a:chOff x="884" y="433"/>
            <a:chExt cx="588" cy="448"/>
          </a:xfrm>
        </p:grpSpPr>
        <p:sp>
          <p:nvSpPr>
            <p:cNvPr id="983180" name="AutoShape 14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81" name="Line 14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182" name="Group 142"/>
          <p:cNvGrpSpPr>
            <a:grpSpLocks/>
          </p:cNvGrpSpPr>
          <p:nvPr/>
        </p:nvGrpSpPr>
        <p:grpSpPr bwMode="auto">
          <a:xfrm>
            <a:off x="5019873" y="1709738"/>
            <a:ext cx="933450" cy="711200"/>
            <a:chOff x="884" y="433"/>
            <a:chExt cx="588" cy="448"/>
          </a:xfrm>
        </p:grpSpPr>
        <p:sp>
          <p:nvSpPr>
            <p:cNvPr id="983183" name="AutoShape 14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84" name="Line 14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5" name="Text Box 55"/>
          <p:cNvSpPr txBox="1">
            <a:spLocks noChangeArrowheads="1"/>
          </p:cNvSpPr>
          <p:nvPr/>
        </p:nvSpPr>
        <p:spPr bwMode="auto">
          <a:xfrm>
            <a:off x="5396111" y="1556792"/>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27</a:t>
            </a:r>
          </a:p>
        </p:txBody>
      </p:sp>
      <p:grpSp>
        <p:nvGrpSpPr>
          <p:cNvPr id="983185" name="Group 145"/>
          <p:cNvGrpSpPr>
            <a:grpSpLocks/>
          </p:cNvGrpSpPr>
          <p:nvPr/>
        </p:nvGrpSpPr>
        <p:grpSpPr bwMode="auto">
          <a:xfrm>
            <a:off x="5021461" y="2254250"/>
            <a:ext cx="933450" cy="711200"/>
            <a:chOff x="884" y="433"/>
            <a:chExt cx="588" cy="448"/>
          </a:xfrm>
        </p:grpSpPr>
        <p:sp>
          <p:nvSpPr>
            <p:cNvPr id="983186" name="AutoShape 146"/>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87" name="Line 147"/>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3" name="Text Box 53"/>
          <p:cNvSpPr txBox="1">
            <a:spLocks noChangeArrowheads="1"/>
          </p:cNvSpPr>
          <p:nvPr/>
        </p:nvSpPr>
        <p:spPr bwMode="auto">
          <a:xfrm>
            <a:off x="5396111" y="2088605"/>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30</a:t>
            </a:r>
          </a:p>
        </p:txBody>
      </p:sp>
      <p:grpSp>
        <p:nvGrpSpPr>
          <p:cNvPr id="983189" name="Group 149"/>
          <p:cNvGrpSpPr>
            <a:grpSpLocks/>
          </p:cNvGrpSpPr>
          <p:nvPr/>
        </p:nvGrpSpPr>
        <p:grpSpPr bwMode="auto">
          <a:xfrm>
            <a:off x="5846961" y="679450"/>
            <a:ext cx="933450" cy="711200"/>
            <a:chOff x="884" y="433"/>
            <a:chExt cx="588" cy="448"/>
          </a:xfrm>
        </p:grpSpPr>
        <p:sp>
          <p:nvSpPr>
            <p:cNvPr id="983190" name="AutoShape 15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91" name="Line 15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0" name="Text Box 50"/>
          <p:cNvSpPr txBox="1">
            <a:spLocks noChangeArrowheads="1"/>
          </p:cNvSpPr>
          <p:nvPr/>
        </p:nvSpPr>
        <p:spPr bwMode="auto">
          <a:xfrm>
            <a:off x="6199386" y="5492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13</a:t>
            </a:r>
          </a:p>
        </p:txBody>
      </p:sp>
      <p:sp>
        <p:nvSpPr>
          <p:cNvPr id="983096" name="Text Box 56"/>
          <p:cNvSpPr txBox="1">
            <a:spLocks noChangeArrowheads="1"/>
          </p:cNvSpPr>
          <p:nvPr/>
        </p:nvSpPr>
        <p:spPr bwMode="auto">
          <a:xfrm>
            <a:off x="6213673" y="1095376"/>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38</a:t>
            </a:r>
          </a:p>
        </p:txBody>
      </p:sp>
      <p:sp>
        <p:nvSpPr>
          <p:cNvPr id="983098" name="Text Box 58"/>
          <p:cNvSpPr txBox="1">
            <a:spLocks noChangeArrowheads="1"/>
          </p:cNvSpPr>
          <p:nvPr/>
        </p:nvSpPr>
        <p:spPr bwMode="auto">
          <a:xfrm>
            <a:off x="6213673" y="1614489"/>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38</a:t>
            </a:r>
          </a:p>
        </p:txBody>
      </p:sp>
      <p:sp>
        <p:nvSpPr>
          <p:cNvPr id="983100" name="Text Box 60"/>
          <p:cNvSpPr txBox="1">
            <a:spLocks noChangeArrowheads="1"/>
          </p:cNvSpPr>
          <p:nvPr/>
        </p:nvSpPr>
        <p:spPr bwMode="auto">
          <a:xfrm>
            <a:off x="6212086" y="2133601"/>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38</a:t>
            </a:r>
          </a:p>
        </p:txBody>
      </p:sp>
      <p:grpSp>
        <p:nvGrpSpPr>
          <p:cNvPr id="983192" name="Group 152"/>
          <p:cNvGrpSpPr>
            <a:grpSpLocks/>
          </p:cNvGrpSpPr>
          <p:nvPr/>
        </p:nvGrpSpPr>
        <p:grpSpPr bwMode="auto">
          <a:xfrm>
            <a:off x="5877123" y="1195388"/>
            <a:ext cx="933450" cy="711200"/>
            <a:chOff x="884" y="433"/>
            <a:chExt cx="588" cy="448"/>
          </a:xfrm>
        </p:grpSpPr>
        <p:sp>
          <p:nvSpPr>
            <p:cNvPr id="983193" name="AutoShape 15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94" name="Line 15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7" name="Text Box 57"/>
          <p:cNvSpPr txBox="1">
            <a:spLocks noChangeArrowheads="1"/>
          </p:cNvSpPr>
          <p:nvPr/>
        </p:nvSpPr>
        <p:spPr bwMode="auto">
          <a:xfrm>
            <a:off x="6213673" y="1074440"/>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C0C0C0"/>
                  </a:outerShdw>
                </a:effectLst>
              </a:rPr>
              <a:t>27</a:t>
            </a:r>
          </a:p>
        </p:txBody>
      </p:sp>
      <p:grpSp>
        <p:nvGrpSpPr>
          <p:cNvPr id="983195" name="Group 155"/>
          <p:cNvGrpSpPr>
            <a:grpSpLocks/>
          </p:cNvGrpSpPr>
          <p:nvPr/>
        </p:nvGrpSpPr>
        <p:grpSpPr bwMode="auto">
          <a:xfrm>
            <a:off x="5878711" y="1711325"/>
            <a:ext cx="933450" cy="711200"/>
            <a:chOff x="884" y="433"/>
            <a:chExt cx="588" cy="448"/>
          </a:xfrm>
        </p:grpSpPr>
        <p:sp>
          <p:nvSpPr>
            <p:cNvPr id="983196" name="AutoShape 156"/>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97" name="Line 157"/>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099" name="Text Box 59"/>
          <p:cNvSpPr txBox="1">
            <a:spLocks noChangeArrowheads="1"/>
          </p:cNvSpPr>
          <p:nvPr/>
        </p:nvSpPr>
        <p:spPr bwMode="auto">
          <a:xfrm>
            <a:off x="6199386" y="1591965"/>
            <a:ext cx="438150" cy="396875"/>
          </a:xfrm>
          <a:prstGeom prst="rect">
            <a:avLst/>
          </a:prstGeom>
          <a:gradFill>
            <a:gsLst>
              <a:gs pos="0">
                <a:srgbClr val="CFCFD1"/>
              </a:gs>
              <a:gs pos="100000">
                <a:schemeClr val="bg1">
                  <a:lumMod val="95000"/>
                </a:schemeClr>
              </a:gs>
            </a:gsLst>
            <a:lin ang="13500000" scaled="1"/>
          </a:grad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C0C0C0"/>
                  </a:outerShdw>
                </a:effectLst>
              </a:rPr>
              <a:t>30</a:t>
            </a:r>
          </a:p>
        </p:txBody>
      </p:sp>
      <p:grpSp>
        <p:nvGrpSpPr>
          <p:cNvPr id="983199" name="Group 159"/>
          <p:cNvGrpSpPr>
            <a:grpSpLocks/>
          </p:cNvGrpSpPr>
          <p:nvPr/>
        </p:nvGrpSpPr>
        <p:grpSpPr bwMode="auto">
          <a:xfrm>
            <a:off x="6705798" y="652463"/>
            <a:ext cx="933450" cy="711200"/>
            <a:chOff x="884" y="433"/>
            <a:chExt cx="588" cy="448"/>
          </a:xfrm>
        </p:grpSpPr>
        <p:sp>
          <p:nvSpPr>
            <p:cNvPr id="983200" name="AutoShape 16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201" name="Line 16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202" name="Group 162"/>
          <p:cNvGrpSpPr>
            <a:grpSpLocks/>
          </p:cNvGrpSpPr>
          <p:nvPr/>
        </p:nvGrpSpPr>
        <p:grpSpPr bwMode="auto">
          <a:xfrm>
            <a:off x="6707386" y="1182688"/>
            <a:ext cx="933450" cy="711200"/>
            <a:chOff x="884" y="433"/>
            <a:chExt cx="588" cy="448"/>
          </a:xfrm>
        </p:grpSpPr>
        <p:sp>
          <p:nvSpPr>
            <p:cNvPr id="983203" name="AutoShape 163"/>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204" name="Line 164"/>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983209" name="Group 169"/>
          <p:cNvGrpSpPr>
            <a:grpSpLocks/>
          </p:cNvGrpSpPr>
          <p:nvPr/>
        </p:nvGrpSpPr>
        <p:grpSpPr bwMode="auto">
          <a:xfrm>
            <a:off x="7607498" y="654050"/>
            <a:ext cx="933450" cy="711200"/>
            <a:chOff x="884" y="433"/>
            <a:chExt cx="588" cy="448"/>
          </a:xfrm>
        </p:grpSpPr>
        <p:sp>
          <p:nvSpPr>
            <p:cNvPr id="983210" name="AutoShape 170"/>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211" name="Line 171"/>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983213" name="Text Box 173"/>
          <p:cNvSpPr txBox="1">
            <a:spLocks noChangeArrowheads="1"/>
          </p:cNvSpPr>
          <p:nvPr/>
        </p:nvSpPr>
        <p:spPr bwMode="auto">
          <a:xfrm>
            <a:off x="9317634" y="1628775"/>
            <a:ext cx="615553" cy="3455988"/>
          </a:xfrm>
          <a:prstGeom prst="rect">
            <a:avLst/>
          </a:prstGeom>
          <a:noFill/>
          <a:ln w="9525">
            <a:noFill/>
            <a:miter lim="800000"/>
            <a:headEnd/>
            <a:tailEnd/>
          </a:ln>
          <a:effectLst/>
        </p:spPr>
        <p:txBody>
          <a:bodyPr vert="eaVert">
            <a:spAutoFit/>
          </a:bodyPr>
          <a:lstStyle/>
          <a:p>
            <a:pPr>
              <a:spcBef>
                <a:spcPct val="50000"/>
              </a:spcBef>
            </a:pPr>
            <a:r>
              <a:rPr lang="zh-CN" altLang="en-US" sz="2800" b="1" u="sng" dirty="0">
                <a:solidFill>
                  <a:srgbClr val="00B0F0"/>
                </a:solidFill>
                <a:ea typeface="隶书" pitchFamily="49" charset="-122"/>
              </a:rPr>
              <a:t>冒泡排序图示效果</a:t>
            </a:r>
          </a:p>
        </p:txBody>
      </p:sp>
      <p:grpSp>
        <p:nvGrpSpPr>
          <p:cNvPr id="983153" name="Group 113"/>
          <p:cNvGrpSpPr>
            <a:grpSpLocks/>
          </p:cNvGrpSpPr>
          <p:nvPr/>
        </p:nvGrpSpPr>
        <p:grpSpPr bwMode="auto">
          <a:xfrm>
            <a:off x="3092648" y="3340100"/>
            <a:ext cx="933450" cy="711200"/>
            <a:chOff x="884" y="433"/>
            <a:chExt cx="588" cy="448"/>
          </a:xfrm>
        </p:grpSpPr>
        <p:sp>
          <p:nvSpPr>
            <p:cNvPr id="983154" name="AutoShape 114"/>
            <p:cNvSpPr>
              <a:spLocks noChangeArrowheads="1"/>
            </p:cNvSpPr>
            <p:nvPr/>
          </p:nvSpPr>
          <p:spPr bwMode="auto">
            <a:xfrm rot="5247060">
              <a:off x="1175" y="584"/>
              <a:ext cx="448" cy="146"/>
            </a:xfrm>
            <a:custGeom>
              <a:avLst/>
              <a:gdLst>
                <a:gd name="G0" fmla="+- 9449 0 0"/>
                <a:gd name="G1" fmla="+- 9598376 0 0"/>
                <a:gd name="G2" fmla="+- 0 0 9598376"/>
                <a:gd name="T0" fmla="*/ 0 256 1"/>
                <a:gd name="T1" fmla="*/ 180 256 1"/>
                <a:gd name="G3" fmla="+- 9598376 T0 T1"/>
                <a:gd name="T2" fmla="*/ 0 256 1"/>
                <a:gd name="T3" fmla="*/ 90 256 1"/>
                <a:gd name="G4" fmla="+- 9598376 T2 T3"/>
                <a:gd name="G5" fmla="*/ G4 2 1"/>
                <a:gd name="T4" fmla="*/ 90 256 1"/>
                <a:gd name="T5" fmla="*/ 0 256 1"/>
                <a:gd name="G6" fmla="+- 9598376 T4 T5"/>
                <a:gd name="G7" fmla="*/ G6 2 1"/>
                <a:gd name="G8" fmla="abs 959837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449"/>
                <a:gd name="G18" fmla="*/ 9449 1 2"/>
                <a:gd name="G19" fmla="+- G18 5400 0"/>
                <a:gd name="G20" fmla="cos G19 9598376"/>
                <a:gd name="G21" fmla="sin G19 9598376"/>
                <a:gd name="G22" fmla="+- G20 10800 0"/>
                <a:gd name="G23" fmla="+- G21 10800 0"/>
                <a:gd name="G24" fmla="+- 10800 0 G20"/>
                <a:gd name="G25" fmla="+- 9449 10800 0"/>
                <a:gd name="G26" fmla="?: G9 G17 G25"/>
                <a:gd name="G27" fmla="?: G9 0 21600"/>
                <a:gd name="G28" fmla="cos 10800 9598376"/>
                <a:gd name="G29" fmla="sin 10800 9598376"/>
                <a:gd name="G30" fmla="sin 9449 9598376"/>
                <a:gd name="G31" fmla="+- G28 10800 0"/>
                <a:gd name="G32" fmla="+- G29 10800 0"/>
                <a:gd name="G33" fmla="+- G30 10800 0"/>
                <a:gd name="G34" fmla="?: G4 0 G31"/>
                <a:gd name="G35" fmla="?: 9598376 G34 0"/>
                <a:gd name="G36" fmla="?: G6 G35 G31"/>
                <a:gd name="G37" fmla="+- 21600 0 G36"/>
                <a:gd name="G38" fmla="?: G4 0 G33"/>
                <a:gd name="G39" fmla="?: 9598376 G38 G32"/>
                <a:gd name="G40" fmla="?: G6 G39 0"/>
                <a:gd name="G41" fmla="?: G4 G32 21600"/>
                <a:gd name="G42" fmla="?: G6 G41 G33"/>
                <a:gd name="T12" fmla="*/ 10800 w 21600"/>
                <a:gd name="T13" fmla="*/ 0 h 21600"/>
                <a:gd name="T14" fmla="*/ 2360 w 21600"/>
                <a:gd name="T15" fmla="*/ 16394 h 21600"/>
                <a:gd name="T16" fmla="*/ 10800 w 21600"/>
                <a:gd name="T17" fmla="*/ 1351 h 21600"/>
                <a:gd name="T18" fmla="*/ 19240 w 21600"/>
                <a:gd name="T19" fmla="*/ 16394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24" y="16020"/>
                  </a:moveTo>
                  <a:cubicBezTo>
                    <a:pt x="1898" y="14472"/>
                    <a:pt x="1351" y="12657"/>
                    <a:pt x="1351" y="10800"/>
                  </a:cubicBezTo>
                  <a:cubicBezTo>
                    <a:pt x="1351" y="5581"/>
                    <a:pt x="5581" y="1351"/>
                    <a:pt x="10800" y="1351"/>
                  </a:cubicBezTo>
                  <a:cubicBezTo>
                    <a:pt x="16018" y="1351"/>
                    <a:pt x="20249" y="5581"/>
                    <a:pt x="20249" y="10800"/>
                  </a:cubicBezTo>
                  <a:cubicBezTo>
                    <a:pt x="20249" y="12657"/>
                    <a:pt x="19701" y="14472"/>
                    <a:pt x="18675" y="16020"/>
                  </a:cubicBezTo>
                  <a:lnTo>
                    <a:pt x="19801" y="16767"/>
                  </a:lnTo>
                  <a:cubicBezTo>
                    <a:pt x="20974" y="14998"/>
                    <a:pt x="21600" y="12922"/>
                    <a:pt x="21600" y="10800"/>
                  </a:cubicBezTo>
                  <a:cubicBezTo>
                    <a:pt x="21600" y="4835"/>
                    <a:pt x="16764" y="0"/>
                    <a:pt x="10800" y="0"/>
                  </a:cubicBezTo>
                  <a:cubicBezTo>
                    <a:pt x="4835" y="0"/>
                    <a:pt x="0" y="4835"/>
                    <a:pt x="0" y="10800"/>
                  </a:cubicBezTo>
                  <a:cubicBezTo>
                    <a:pt x="-1" y="12922"/>
                    <a:pt x="625" y="14998"/>
                    <a:pt x="1798" y="16767"/>
                  </a:cubicBezTo>
                  <a:close/>
                </a:path>
              </a:pathLst>
            </a:custGeom>
            <a:solidFill>
              <a:srgbClr val="0000FF"/>
            </a:solidFill>
            <a:ln w="9525">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83155" name="Line 115"/>
            <p:cNvSpPr>
              <a:spLocks noChangeShapeType="1"/>
            </p:cNvSpPr>
            <p:nvPr/>
          </p:nvSpPr>
          <p:spPr bwMode="auto">
            <a:xfrm>
              <a:off x="884" y="482"/>
              <a:ext cx="272"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spTree>
    <p:extLst>
      <p:ext uri="{BB962C8B-B14F-4D97-AF65-F5344CB8AC3E}">
        <p14:creationId xmlns:p14="http://schemas.microsoft.com/office/powerpoint/2010/main" val="54559228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83118"/>
                                        </p:tgtEl>
                                        <p:attrNameLst>
                                          <p:attrName>style.visibility</p:attrName>
                                        </p:attrNameLst>
                                      </p:cBhvr>
                                      <p:to>
                                        <p:strVal val="visible"/>
                                      </p:to>
                                    </p:set>
                                    <p:animEffect transition="in" filter="box(out)">
                                      <p:cBhvr>
                                        <p:cTn id="7" dur="500"/>
                                        <p:tgtEl>
                                          <p:spTgt spid="98311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983117"/>
                                        </p:tgtEl>
                                        <p:attrNameLst>
                                          <p:attrName>style.visibility</p:attrName>
                                        </p:attrNameLst>
                                      </p:cBhvr>
                                      <p:to>
                                        <p:strVal val="visible"/>
                                      </p:to>
                                    </p:set>
                                    <p:animEffect transition="in" filter="strips(downRight)">
                                      <p:cBhvr>
                                        <p:cTn id="12" dur="500"/>
                                        <p:tgtEl>
                                          <p:spTgt spid="983117"/>
                                        </p:tgtEl>
                                      </p:cBhvr>
                                    </p:animEffect>
                                  </p:childTnLst>
                                  <p:subTnLst>
                                    <p:set>
                                      <p:cBhvr override="childStyle">
                                        <p:cTn dur="1" fill="hold" display="0" masterRel="nextClick" afterEffect="1"/>
                                        <p:tgtEl>
                                          <p:spTgt spid="983117"/>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83067"/>
                                        </p:tgtEl>
                                        <p:attrNameLst>
                                          <p:attrName>style.visibility</p:attrName>
                                        </p:attrNameLst>
                                      </p:cBhvr>
                                      <p:to>
                                        <p:strVal val="visible"/>
                                      </p:to>
                                    </p:set>
                                    <p:animEffect transition="in" filter="box(in)">
                                      <p:cBhvr>
                                        <p:cTn id="17" dur="500"/>
                                        <p:tgtEl>
                                          <p:spTgt spid="98306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83068"/>
                                        </p:tgtEl>
                                        <p:attrNameLst>
                                          <p:attrName>style.visibility</p:attrName>
                                        </p:attrNameLst>
                                      </p:cBhvr>
                                      <p:to>
                                        <p:strVal val="visible"/>
                                      </p:to>
                                    </p:set>
                                    <p:animEffect transition="in" filter="box(in)">
                                      <p:cBhvr>
                                        <p:cTn id="22" dur="500"/>
                                        <p:tgtEl>
                                          <p:spTgt spid="98306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983119"/>
                                        </p:tgtEl>
                                        <p:attrNameLst>
                                          <p:attrName>style.visibility</p:attrName>
                                        </p:attrNameLst>
                                      </p:cBhvr>
                                      <p:to>
                                        <p:strVal val="visible"/>
                                      </p:to>
                                    </p:set>
                                    <p:animEffect transition="in" filter="strips(downRight)">
                                      <p:cBhvr>
                                        <p:cTn id="27" dur="500"/>
                                        <p:tgtEl>
                                          <p:spTgt spid="983119"/>
                                        </p:tgtEl>
                                      </p:cBhvr>
                                    </p:animEffect>
                                  </p:childTnLst>
                                  <p:subTnLst>
                                    <p:set>
                                      <p:cBhvr override="childStyle">
                                        <p:cTn dur="1" fill="hold" display="0" masterRel="nextClick" afterEffect="1"/>
                                        <p:tgtEl>
                                          <p:spTgt spid="983119"/>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983122"/>
                                        </p:tgtEl>
                                        <p:attrNameLst>
                                          <p:attrName>style.visibility</p:attrName>
                                        </p:attrNameLst>
                                      </p:cBhvr>
                                      <p:to>
                                        <p:strVal val="visible"/>
                                      </p:to>
                                    </p:set>
                                    <p:animEffect transition="in" filter="strips(downRight)">
                                      <p:cBhvr>
                                        <p:cTn id="32" dur="500"/>
                                        <p:tgtEl>
                                          <p:spTgt spid="983122"/>
                                        </p:tgtEl>
                                      </p:cBhvr>
                                    </p:animEffect>
                                  </p:childTnLst>
                                  <p:subTnLst>
                                    <p:set>
                                      <p:cBhvr override="childStyle">
                                        <p:cTn dur="1" fill="hold" display="0" masterRel="nextClick" afterEffect="1"/>
                                        <p:tgtEl>
                                          <p:spTgt spid="983122"/>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983125"/>
                                        </p:tgtEl>
                                        <p:attrNameLst>
                                          <p:attrName>style.visibility</p:attrName>
                                        </p:attrNameLst>
                                      </p:cBhvr>
                                      <p:to>
                                        <p:strVal val="visible"/>
                                      </p:to>
                                    </p:set>
                                    <p:animEffect transition="in" filter="strips(downRight)">
                                      <p:cBhvr>
                                        <p:cTn id="37" dur="500"/>
                                        <p:tgtEl>
                                          <p:spTgt spid="983125"/>
                                        </p:tgtEl>
                                      </p:cBhvr>
                                    </p:animEffect>
                                  </p:childTnLst>
                                  <p:subTnLst>
                                    <p:set>
                                      <p:cBhvr override="childStyle">
                                        <p:cTn dur="1" fill="hold" display="0" masterRel="nextClick" afterEffect="1"/>
                                        <p:tgtEl>
                                          <p:spTgt spid="983125"/>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983069"/>
                                        </p:tgtEl>
                                        <p:attrNameLst>
                                          <p:attrName>style.visibility</p:attrName>
                                        </p:attrNameLst>
                                      </p:cBhvr>
                                      <p:to>
                                        <p:strVal val="visible"/>
                                      </p:to>
                                    </p:set>
                                    <p:animEffect transition="in" filter="box(in)">
                                      <p:cBhvr>
                                        <p:cTn id="42" dur="500"/>
                                        <p:tgtEl>
                                          <p:spTgt spid="983069"/>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983072"/>
                                        </p:tgtEl>
                                        <p:attrNameLst>
                                          <p:attrName>style.visibility</p:attrName>
                                        </p:attrNameLst>
                                      </p:cBhvr>
                                      <p:to>
                                        <p:strVal val="visible"/>
                                      </p:to>
                                    </p:set>
                                    <p:animEffect transition="in" filter="box(in)">
                                      <p:cBhvr>
                                        <p:cTn id="47" dur="500"/>
                                        <p:tgtEl>
                                          <p:spTgt spid="983072"/>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983128"/>
                                        </p:tgtEl>
                                        <p:attrNameLst>
                                          <p:attrName>style.visibility</p:attrName>
                                        </p:attrNameLst>
                                      </p:cBhvr>
                                      <p:to>
                                        <p:strVal val="visible"/>
                                      </p:to>
                                    </p:set>
                                    <p:animEffect transition="in" filter="strips(downRight)">
                                      <p:cBhvr>
                                        <p:cTn id="52" dur="500"/>
                                        <p:tgtEl>
                                          <p:spTgt spid="983128"/>
                                        </p:tgtEl>
                                      </p:cBhvr>
                                    </p:animEffect>
                                  </p:childTnLst>
                                  <p:subTnLst>
                                    <p:set>
                                      <p:cBhvr override="childStyle">
                                        <p:cTn dur="1" fill="hold" display="0" masterRel="nextClick" afterEffect="1"/>
                                        <p:tgtEl>
                                          <p:spTgt spid="983128"/>
                                        </p:tgtEl>
                                        <p:attrNameLst>
                                          <p:attrName>style.visibility</p:attrName>
                                        </p:attrNameLst>
                                      </p:cBhvr>
                                      <p:to>
                                        <p:strVal val="hidden"/>
                                      </p:to>
                                    </p:se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983071"/>
                                        </p:tgtEl>
                                        <p:attrNameLst>
                                          <p:attrName>style.visibility</p:attrName>
                                        </p:attrNameLst>
                                      </p:cBhvr>
                                      <p:to>
                                        <p:strVal val="visible"/>
                                      </p:to>
                                    </p:set>
                                    <p:animEffect transition="in" filter="box(in)">
                                      <p:cBhvr>
                                        <p:cTn id="57" dur="500"/>
                                        <p:tgtEl>
                                          <p:spTgt spid="983071"/>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983070"/>
                                        </p:tgtEl>
                                        <p:attrNameLst>
                                          <p:attrName>style.visibility</p:attrName>
                                        </p:attrNameLst>
                                      </p:cBhvr>
                                      <p:to>
                                        <p:strVal val="visible"/>
                                      </p:to>
                                    </p:set>
                                    <p:animEffect transition="in" filter="box(in)">
                                      <p:cBhvr>
                                        <p:cTn id="62" dur="500"/>
                                        <p:tgtEl>
                                          <p:spTgt spid="983070"/>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18" presetClass="entr" presetSubtype="6" fill="hold" nodeType="clickEffect">
                                  <p:stCondLst>
                                    <p:cond delay="0"/>
                                  </p:stCondLst>
                                  <p:childTnLst>
                                    <p:set>
                                      <p:cBhvr>
                                        <p:cTn id="66" dur="1" fill="hold">
                                          <p:stCondLst>
                                            <p:cond delay="0"/>
                                          </p:stCondLst>
                                        </p:cTn>
                                        <p:tgtEl>
                                          <p:spTgt spid="983131"/>
                                        </p:tgtEl>
                                        <p:attrNameLst>
                                          <p:attrName>style.visibility</p:attrName>
                                        </p:attrNameLst>
                                      </p:cBhvr>
                                      <p:to>
                                        <p:strVal val="visible"/>
                                      </p:to>
                                    </p:set>
                                    <p:animEffect transition="in" filter="strips(downRight)">
                                      <p:cBhvr>
                                        <p:cTn id="67" dur="500"/>
                                        <p:tgtEl>
                                          <p:spTgt spid="983131"/>
                                        </p:tgtEl>
                                      </p:cBhvr>
                                    </p:animEffect>
                                  </p:childTnLst>
                                  <p:subTnLst>
                                    <p:set>
                                      <p:cBhvr override="childStyle">
                                        <p:cTn dur="1" fill="hold" display="0" masterRel="nextClick" afterEffect="1"/>
                                        <p:tgtEl>
                                          <p:spTgt spid="983131"/>
                                        </p:tgtEl>
                                        <p:attrNameLst>
                                          <p:attrName>style.visibility</p:attrName>
                                        </p:attrNameLst>
                                      </p:cBhvr>
                                      <p:to>
                                        <p:strVal val="hidden"/>
                                      </p:to>
                                    </p:se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983074"/>
                                        </p:tgtEl>
                                        <p:attrNameLst>
                                          <p:attrName>style.visibility</p:attrName>
                                        </p:attrNameLst>
                                      </p:cBhvr>
                                      <p:to>
                                        <p:strVal val="visible"/>
                                      </p:to>
                                    </p:set>
                                    <p:animEffect transition="in" filter="box(in)">
                                      <p:cBhvr>
                                        <p:cTn id="72" dur="500"/>
                                        <p:tgtEl>
                                          <p:spTgt spid="983074"/>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983076"/>
                                        </p:tgtEl>
                                        <p:attrNameLst>
                                          <p:attrName>style.visibility</p:attrName>
                                        </p:attrNameLst>
                                      </p:cBhvr>
                                      <p:to>
                                        <p:strVal val="visible"/>
                                      </p:to>
                                    </p:set>
                                    <p:animEffect transition="in" filter="box(in)">
                                      <p:cBhvr>
                                        <p:cTn id="77" dur="500"/>
                                        <p:tgtEl>
                                          <p:spTgt spid="983076"/>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18" presetClass="entr" presetSubtype="6" fill="hold" nodeType="clickEffect">
                                  <p:stCondLst>
                                    <p:cond delay="0"/>
                                  </p:stCondLst>
                                  <p:childTnLst>
                                    <p:set>
                                      <p:cBhvr>
                                        <p:cTn id="81" dur="1" fill="hold">
                                          <p:stCondLst>
                                            <p:cond delay="0"/>
                                          </p:stCondLst>
                                        </p:cTn>
                                        <p:tgtEl>
                                          <p:spTgt spid="983134"/>
                                        </p:tgtEl>
                                        <p:attrNameLst>
                                          <p:attrName>style.visibility</p:attrName>
                                        </p:attrNameLst>
                                      </p:cBhvr>
                                      <p:to>
                                        <p:strVal val="visible"/>
                                      </p:to>
                                    </p:set>
                                    <p:animEffect transition="in" filter="strips(downRight)">
                                      <p:cBhvr>
                                        <p:cTn id="82" dur="500"/>
                                        <p:tgtEl>
                                          <p:spTgt spid="983134"/>
                                        </p:tgtEl>
                                      </p:cBhvr>
                                    </p:animEffect>
                                  </p:childTnLst>
                                  <p:subTnLst>
                                    <p:set>
                                      <p:cBhvr override="childStyle">
                                        <p:cTn dur="1" fill="hold" display="0" masterRel="nextClick" afterEffect="1"/>
                                        <p:tgtEl>
                                          <p:spTgt spid="983134"/>
                                        </p:tgtEl>
                                        <p:attrNameLst>
                                          <p:attrName>style.visibility</p:attrName>
                                        </p:attrNameLst>
                                      </p:cBhvr>
                                      <p:to>
                                        <p:strVal val="hidden"/>
                                      </p:to>
                                    </p:se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983075"/>
                                        </p:tgtEl>
                                        <p:attrNameLst>
                                          <p:attrName>style.visibility</p:attrName>
                                        </p:attrNameLst>
                                      </p:cBhvr>
                                      <p:to>
                                        <p:strVal val="visible"/>
                                      </p:to>
                                    </p:set>
                                    <p:animEffect transition="in" filter="box(in)">
                                      <p:cBhvr>
                                        <p:cTn id="87" dur="500"/>
                                        <p:tgtEl>
                                          <p:spTgt spid="983075"/>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983073"/>
                                        </p:tgtEl>
                                        <p:attrNameLst>
                                          <p:attrName>style.visibility</p:attrName>
                                        </p:attrNameLst>
                                      </p:cBhvr>
                                      <p:to>
                                        <p:strVal val="visible"/>
                                      </p:to>
                                    </p:set>
                                    <p:animEffect transition="in" filter="box(in)">
                                      <p:cBhvr>
                                        <p:cTn id="92" dur="500"/>
                                        <p:tgtEl>
                                          <p:spTgt spid="983073"/>
                                        </p:tgtEl>
                                      </p:cBhvr>
                                    </p:animEffect>
                                  </p:childTnLst>
                                  <p:subTnLst>
                                    <p:audio>
                                      <p:cMediaNode>
                                        <p:cTn display="0" masterRel="sameClick">
                                          <p:stCondLst>
                                            <p:cond evt="begin" delay="0">
                                              <p:tn val="90"/>
                                            </p:cond>
                                          </p:stCondLst>
                                          <p:endCondLst>
                                            <p:cond evt="onStopAudio" delay="0">
                                              <p:tgtEl>
                                                <p:sldTgt/>
                                              </p:tgtEl>
                                            </p:cond>
                                          </p:endCondLst>
                                        </p:cTn>
                                        <p:tgtEl>
                                          <p:sndTgt r:embed="rId2" name="camera.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nodeType="clickEffect">
                                  <p:stCondLst>
                                    <p:cond delay="0"/>
                                  </p:stCondLst>
                                  <p:childTnLst>
                                    <p:set>
                                      <p:cBhvr>
                                        <p:cTn id="96" dur="1" fill="hold">
                                          <p:stCondLst>
                                            <p:cond delay="0"/>
                                          </p:stCondLst>
                                        </p:cTn>
                                        <p:tgtEl>
                                          <p:spTgt spid="983137"/>
                                        </p:tgtEl>
                                        <p:attrNameLst>
                                          <p:attrName>style.visibility</p:attrName>
                                        </p:attrNameLst>
                                      </p:cBhvr>
                                      <p:to>
                                        <p:strVal val="visible"/>
                                      </p:to>
                                    </p:set>
                                    <p:animEffect transition="in" filter="box(out)">
                                      <p:cBhvr>
                                        <p:cTn id="97" dur="500"/>
                                        <p:tgtEl>
                                          <p:spTgt spid="983137"/>
                                        </p:tgtEl>
                                      </p:cBhvr>
                                    </p:animEffec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18" presetClass="entr" presetSubtype="6" fill="hold" nodeType="clickEffect">
                                  <p:stCondLst>
                                    <p:cond delay="0"/>
                                  </p:stCondLst>
                                  <p:childTnLst>
                                    <p:set>
                                      <p:cBhvr>
                                        <p:cTn id="101" dur="1" fill="hold">
                                          <p:stCondLst>
                                            <p:cond delay="0"/>
                                          </p:stCondLst>
                                        </p:cTn>
                                        <p:tgtEl>
                                          <p:spTgt spid="983138"/>
                                        </p:tgtEl>
                                        <p:attrNameLst>
                                          <p:attrName>style.visibility</p:attrName>
                                        </p:attrNameLst>
                                      </p:cBhvr>
                                      <p:to>
                                        <p:strVal val="visible"/>
                                      </p:to>
                                    </p:set>
                                    <p:animEffect transition="in" filter="strips(downRight)">
                                      <p:cBhvr>
                                        <p:cTn id="102" dur="500"/>
                                        <p:tgtEl>
                                          <p:spTgt spid="983138"/>
                                        </p:tgtEl>
                                      </p:cBhvr>
                                    </p:animEffect>
                                  </p:childTnLst>
                                  <p:subTnLst>
                                    <p:set>
                                      <p:cBhvr override="childStyle">
                                        <p:cTn dur="1" fill="hold" display="0" masterRel="nextClick" afterEffect="1"/>
                                        <p:tgtEl>
                                          <p:spTgt spid="983138"/>
                                        </p:tgtEl>
                                        <p:attrNameLst>
                                          <p:attrName>style.visibility</p:attrName>
                                        </p:attrNameLst>
                                      </p:cBhvr>
                                      <p:to>
                                        <p:strVal val="hidden"/>
                                      </p:to>
                                    </p:set>
                                    <p:audio>
                                      <p:cMediaNode>
                                        <p:cTn display="0" masterRel="sameClick">
                                          <p:stCondLst>
                                            <p:cond evt="begin" delay="0">
                                              <p:tn val="100"/>
                                            </p:cond>
                                          </p:stCondLst>
                                          <p:endCondLst>
                                            <p:cond evt="onStopAudio" delay="0">
                                              <p:tgtEl>
                                                <p:sldTgt/>
                                              </p:tgtEl>
                                            </p:cond>
                                          </p:endCondLst>
                                        </p:cTn>
                                        <p:tgtEl>
                                          <p:sndTgt r:embed="rId2"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18" presetClass="entr" presetSubtype="6" fill="hold" nodeType="clickEffect">
                                  <p:stCondLst>
                                    <p:cond delay="0"/>
                                  </p:stCondLst>
                                  <p:childTnLst>
                                    <p:set>
                                      <p:cBhvr>
                                        <p:cTn id="106" dur="1" fill="hold">
                                          <p:stCondLst>
                                            <p:cond delay="0"/>
                                          </p:stCondLst>
                                        </p:cTn>
                                        <p:tgtEl>
                                          <p:spTgt spid="983141"/>
                                        </p:tgtEl>
                                        <p:attrNameLst>
                                          <p:attrName>style.visibility</p:attrName>
                                        </p:attrNameLst>
                                      </p:cBhvr>
                                      <p:to>
                                        <p:strVal val="visible"/>
                                      </p:to>
                                    </p:set>
                                    <p:animEffect transition="in" filter="strips(downRight)">
                                      <p:cBhvr>
                                        <p:cTn id="107" dur="500"/>
                                        <p:tgtEl>
                                          <p:spTgt spid="983141"/>
                                        </p:tgtEl>
                                      </p:cBhvr>
                                    </p:animEffect>
                                  </p:childTnLst>
                                  <p:subTnLst>
                                    <p:set>
                                      <p:cBhvr override="childStyle">
                                        <p:cTn dur="1" fill="hold" display="0" masterRel="nextClick" afterEffect="1"/>
                                        <p:tgtEl>
                                          <p:spTgt spid="983141"/>
                                        </p:tgtEl>
                                        <p:attrNameLst>
                                          <p:attrName>style.visibility</p:attrName>
                                        </p:attrNameLst>
                                      </p:cBhvr>
                                      <p:to>
                                        <p:strVal val="hidden"/>
                                      </p:to>
                                    </p:se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18" presetClass="entr" presetSubtype="6" fill="hold" nodeType="clickEffect">
                                  <p:stCondLst>
                                    <p:cond delay="0"/>
                                  </p:stCondLst>
                                  <p:childTnLst>
                                    <p:set>
                                      <p:cBhvr>
                                        <p:cTn id="111" dur="1" fill="hold">
                                          <p:stCondLst>
                                            <p:cond delay="0"/>
                                          </p:stCondLst>
                                        </p:cTn>
                                        <p:tgtEl>
                                          <p:spTgt spid="983144"/>
                                        </p:tgtEl>
                                        <p:attrNameLst>
                                          <p:attrName>style.visibility</p:attrName>
                                        </p:attrNameLst>
                                      </p:cBhvr>
                                      <p:to>
                                        <p:strVal val="visible"/>
                                      </p:to>
                                    </p:set>
                                    <p:animEffect transition="in" filter="strips(downRight)">
                                      <p:cBhvr>
                                        <p:cTn id="112" dur="500"/>
                                        <p:tgtEl>
                                          <p:spTgt spid="983144"/>
                                        </p:tgtEl>
                                      </p:cBhvr>
                                    </p:animEffect>
                                  </p:childTnLst>
                                  <p:subTnLst>
                                    <p:set>
                                      <p:cBhvr override="childStyle">
                                        <p:cTn dur="1" fill="hold" display="0" masterRel="nextClick" afterEffect="1"/>
                                        <p:tgtEl>
                                          <p:spTgt spid="983144"/>
                                        </p:tgtEl>
                                        <p:attrNameLst>
                                          <p:attrName>style.visibility</p:attrName>
                                        </p:attrNameLst>
                                      </p:cBhvr>
                                      <p:to>
                                        <p:strVal val="hidden"/>
                                      </p:to>
                                    </p:se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18" presetClass="entr" presetSubtype="6" fill="hold" nodeType="clickEffect">
                                  <p:stCondLst>
                                    <p:cond delay="0"/>
                                  </p:stCondLst>
                                  <p:childTnLst>
                                    <p:set>
                                      <p:cBhvr>
                                        <p:cTn id="116" dur="1" fill="hold">
                                          <p:stCondLst>
                                            <p:cond delay="0"/>
                                          </p:stCondLst>
                                        </p:cTn>
                                        <p:tgtEl>
                                          <p:spTgt spid="983147"/>
                                        </p:tgtEl>
                                        <p:attrNameLst>
                                          <p:attrName>style.visibility</p:attrName>
                                        </p:attrNameLst>
                                      </p:cBhvr>
                                      <p:to>
                                        <p:strVal val="visible"/>
                                      </p:to>
                                    </p:set>
                                    <p:animEffect transition="in" filter="strips(downRight)">
                                      <p:cBhvr>
                                        <p:cTn id="117" dur="500"/>
                                        <p:tgtEl>
                                          <p:spTgt spid="983147"/>
                                        </p:tgtEl>
                                      </p:cBhvr>
                                    </p:animEffect>
                                  </p:childTnLst>
                                  <p:subTnLst>
                                    <p:set>
                                      <p:cBhvr override="childStyle">
                                        <p:cTn dur="1" fill="hold" display="0" masterRel="nextClick" afterEffect="1"/>
                                        <p:tgtEl>
                                          <p:spTgt spid="983147"/>
                                        </p:tgtEl>
                                        <p:attrNameLst>
                                          <p:attrName>style.visibility</p:attrName>
                                        </p:attrNameLst>
                                      </p:cBhvr>
                                      <p:to>
                                        <p:strVal val="hidden"/>
                                      </p:to>
                                    </p:set>
                                    <p:audio>
                                      <p:cMediaNode>
                                        <p:cTn display="0" masterRel="sameClick">
                                          <p:stCondLst>
                                            <p:cond evt="begin" delay="0">
                                              <p:tn val="115"/>
                                            </p:cond>
                                          </p:stCondLst>
                                          <p:endCondLst>
                                            <p:cond evt="onStopAudio" delay="0">
                                              <p:tgtEl>
                                                <p:sldTgt/>
                                              </p:tgtEl>
                                            </p:cond>
                                          </p:endCondLst>
                                        </p:cTn>
                                        <p:tgtEl>
                                          <p:sndTgt r:embed="rId2" name="camera.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16" fill="hold" grpId="0" nodeType="clickEffect">
                                  <p:stCondLst>
                                    <p:cond delay="0"/>
                                  </p:stCondLst>
                                  <p:childTnLst>
                                    <p:set>
                                      <p:cBhvr>
                                        <p:cTn id="121" dur="1" fill="hold">
                                          <p:stCondLst>
                                            <p:cond delay="0"/>
                                          </p:stCondLst>
                                        </p:cTn>
                                        <p:tgtEl>
                                          <p:spTgt spid="983077"/>
                                        </p:tgtEl>
                                        <p:attrNameLst>
                                          <p:attrName>style.visibility</p:attrName>
                                        </p:attrNameLst>
                                      </p:cBhvr>
                                      <p:to>
                                        <p:strVal val="visible"/>
                                      </p:to>
                                    </p:set>
                                    <p:animEffect transition="in" filter="box(in)">
                                      <p:cBhvr>
                                        <p:cTn id="122" dur="500"/>
                                        <p:tgtEl>
                                          <p:spTgt spid="983077"/>
                                        </p:tgtEl>
                                      </p:cBhvr>
                                    </p:animEffect>
                                  </p:childTnLst>
                                  <p:subTnLst>
                                    <p:audio>
                                      <p:cMediaNode>
                                        <p:cTn display="0" masterRel="sameClick">
                                          <p:stCondLst>
                                            <p:cond evt="begin" delay="0">
                                              <p:tn val="120"/>
                                            </p:cond>
                                          </p:stCondLst>
                                          <p:endCondLst>
                                            <p:cond evt="onStopAudio" delay="0">
                                              <p:tgtEl>
                                                <p:sldTgt/>
                                              </p:tgtEl>
                                            </p:cond>
                                          </p:endCondLst>
                                        </p:cTn>
                                        <p:tgtEl>
                                          <p:sndTgt r:embed="rId2"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grpId="0" nodeType="clickEffect">
                                  <p:stCondLst>
                                    <p:cond delay="0"/>
                                  </p:stCondLst>
                                  <p:childTnLst>
                                    <p:set>
                                      <p:cBhvr>
                                        <p:cTn id="126" dur="1" fill="hold">
                                          <p:stCondLst>
                                            <p:cond delay="0"/>
                                          </p:stCondLst>
                                        </p:cTn>
                                        <p:tgtEl>
                                          <p:spTgt spid="983079"/>
                                        </p:tgtEl>
                                        <p:attrNameLst>
                                          <p:attrName>style.visibility</p:attrName>
                                        </p:attrNameLst>
                                      </p:cBhvr>
                                      <p:to>
                                        <p:strVal val="visible"/>
                                      </p:to>
                                    </p:set>
                                    <p:animEffect transition="in" filter="box(in)">
                                      <p:cBhvr>
                                        <p:cTn id="127" dur="500"/>
                                        <p:tgtEl>
                                          <p:spTgt spid="983079"/>
                                        </p:tgtEl>
                                      </p:cBhvr>
                                    </p:animEffect>
                                  </p:childTnLst>
                                  <p:subTnLst>
                                    <p:audio>
                                      <p:cMediaNode>
                                        <p:cTn display="0" masterRel="sameClick">
                                          <p:stCondLst>
                                            <p:cond evt="begin" delay="0">
                                              <p:tn val="125"/>
                                            </p:cond>
                                          </p:stCondLst>
                                          <p:endCondLst>
                                            <p:cond evt="onStopAudio" delay="0">
                                              <p:tgtEl>
                                                <p:sldTgt/>
                                              </p:tgtEl>
                                            </p:cond>
                                          </p:endCondLst>
                                        </p:cTn>
                                        <p:tgtEl>
                                          <p:sndTgt r:embed="rId2"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18" presetClass="entr" presetSubtype="6" fill="hold" nodeType="clickEffect">
                                  <p:stCondLst>
                                    <p:cond delay="0"/>
                                  </p:stCondLst>
                                  <p:childTnLst>
                                    <p:set>
                                      <p:cBhvr>
                                        <p:cTn id="131" dur="1" fill="hold">
                                          <p:stCondLst>
                                            <p:cond delay="0"/>
                                          </p:stCondLst>
                                        </p:cTn>
                                        <p:tgtEl>
                                          <p:spTgt spid="983150"/>
                                        </p:tgtEl>
                                        <p:attrNameLst>
                                          <p:attrName>style.visibility</p:attrName>
                                        </p:attrNameLst>
                                      </p:cBhvr>
                                      <p:to>
                                        <p:strVal val="visible"/>
                                      </p:to>
                                    </p:set>
                                    <p:animEffect transition="in" filter="strips(downRight)">
                                      <p:cBhvr>
                                        <p:cTn id="132" dur="500"/>
                                        <p:tgtEl>
                                          <p:spTgt spid="983150"/>
                                        </p:tgtEl>
                                      </p:cBhvr>
                                    </p:animEffect>
                                  </p:childTnLst>
                                  <p:subTnLst>
                                    <p:set>
                                      <p:cBhvr override="childStyle">
                                        <p:cTn dur="1" fill="hold" display="0" masterRel="nextClick" afterEffect="1"/>
                                        <p:tgtEl>
                                          <p:spTgt spid="983150"/>
                                        </p:tgtEl>
                                        <p:attrNameLst>
                                          <p:attrName>style.visibility</p:attrName>
                                        </p:attrNameLst>
                                      </p:cBhvr>
                                      <p:to>
                                        <p:strVal val="hidden"/>
                                      </p:to>
                                    </p:set>
                                    <p:audio>
                                      <p:cMediaNode>
                                        <p:cTn display="0" masterRel="sameClick">
                                          <p:stCondLst>
                                            <p:cond evt="begin" delay="0">
                                              <p:tn val="130"/>
                                            </p:cond>
                                          </p:stCondLst>
                                          <p:endCondLst>
                                            <p:cond evt="onStopAudio" delay="0">
                                              <p:tgtEl>
                                                <p:sldTgt/>
                                              </p:tgtEl>
                                            </p:cond>
                                          </p:endCondLst>
                                        </p:cTn>
                                        <p:tgtEl>
                                          <p:sndTgt r:embed="rId2" name="camera.wav"/>
                                        </p:tgtEl>
                                      </p:cMediaNode>
                                    </p:audio>
                                  </p:subTnLst>
                                </p:cTn>
                              </p:par>
                            </p:childTnLst>
                          </p:cTn>
                        </p:par>
                      </p:childTnLst>
                    </p:cTn>
                  </p:par>
                  <p:par>
                    <p:cTn id="133" fill="hold">
                      <p:stCondLst>
                        <p:cond delay="indefinite"/>
                      </p:stCondLst>
                      <p:childTnLst>
                        <p:par>
                          <p:cTn id="134" fill="hold">
                            <p:stCondLst>
                              <p:cond delay="0"/>
                            </p:stCondLst>
                            <p:childTnLst>
                              <p:par>
                                <p:cTn id="135" presetID="4" presetClass="entr" presetSubtype="16" fill="hold" grpId="0" nodeType="clickEffect">
                                  <p:stCondLst>
                                    <p:cond delay="0"/>
                                  </p:stCondLst>
                                  <p:childTnLst>
                                    <p:set>
                                      <p:cBhvr>
                                        <p:cTn id="136" dur="1" fill="hold">
                                          <p:stCondLst>
                                            <p:cond delay="0"/>
                                          </p:stCondLst>
                                        </p:cTn>
                                        <p:tgtEl>
                                          <p:spTgt spid="983081"/>
                                        </p:tgtEl>
                                        <p:attrNameLst>
                                          <p:attrName>style.visibility</p:attrName>
                                        </p:attrNameLst>
                                      </p:cBhvr>
                                      <p:to>
                                        <p:strVal val="visible"/>
                                      </p:to>
                                    </p:set>
                                    <p:animEffect transition="in" filter="box(in)">
                                      <p:cBhvr>
                                        <p:cTn id="137" dur="500"/>
                                        <p:tgtEl>
                                          <p:spTgt spid="983081"/>
                                        </p:tgtEl>
                                      </p:cBhvr>
                                    </p:animEffect>
                                  </p:childTnLst>
                                  <p:subTnLst>
                                    <p:audio>
                                      <p:cMediaNode>
                                        <p:cTn display="0" masterRel="sameClick">
                                          <p:stCondLst>
                                            <p:cond evt="begin" delay="0">
                                              <p:tn val="135"/>
                                            </p:cond>
                                          </p:stCondLst>
                                          <p:endCondLst>
                                            <p:cond evt="onStopAudio" delay="0">
                                              <p:tgtEl>
                                                <p:sldTgt/>
                                              </p:tgtEl>
                                            </p:cond>
                                          </p:endCondLst>
                                        </p:cTn>
                                        <p:tgtEl>
                                          <p:sndTgt r:embed="rId2" name="camera.wav"/>
                                        </p:tgtEl>
                                      </p:cMediaNode>
                                    </p:audio>
                                  </p:subTnLst>
                                </p:cTn>
                              </p:par>
                            </p:childTnLst>
                          </p:cTn>
                        </p:par>
                      </p:childTnLst>
                    </p:cTn>
                  </p:par>
                  <p:par>
                    <p:cTn id="138" fill="hold">
                      <p:stCondLst>
                        <p:cond delay="indefinite"/>
                      </p:stCondLst>
                      <p:childTnLst>
                        <p:par>
                          <p:cTn id="139" fill="hold">
                            <p:stCondLst>
                              <p:cond delay="0"/>
                            </p:stCondLst>
                            <p:childTnLst>
                              <p:par>
                                <p:cTn id="140" presetID="4" presetClass="entr" presetSubtype="16" fill="hold" grpId="0" nodeType="clickEffect">
                                  <p:stCondLst>
                                    <p:cond delay="0"/>
                                  </p:stCondLst>
                                  <p:childTnLst>
                                    <p:set>
                                      <p:cBhvr>
                                        <p:cTn id="141" dur="1" fill="hold">
                                          <p:stCondLst>
                                            <p:cond delay="0"/>
                                          </p:stCondLst>
                                        </p:cTn>
                                        <p:tgtEl>
                                          <p:spTgt spid="983080"/>
                                        </p:tgtEl>
                                        <p:attrNameLst>
                                          <p:attrName>style.visibility</p:attrName>
                                        </p:attrNameLst>
                                      </p:cBhvr>
                                      <p:to>
                                        <p:strVal val="visible"/>
                                      </p:to>
                                    </p:set>
                                    <p:animEffect transition="in" filter="box(in)">
                                      <p:cBhvr>
                                        <p:cTn id="142" dur="500"/>
                                        <p:tgtEl>
                                          <p:spTgt spid="983080"/>
                                        </p:tgtEl>
                                      </p:cBhvr>
                                    </p:animEffect>
                                  </p:childTnLst>
                                  <p:subTnLst>
                                    <p:audio>
                                      <p:cMediaNode>
                                        <p:cTn display="0" masterRel="sameClick">
                                          <p:stCondLst>
                                            <p:cond evt="begin" delay="0">
                                              <p:tn val="140"/>
                                            </p:cond>
                                          </p:stCondLst>
                                          <p:endCondLst>
                                            <p:cond evt="onStopAudio" delay="0">
                                              <p:tgtEl>
                                                <p:sldTgt/>
                                              </p:tgtEl>
                                            </p:cond>
                                          </p:endCondLst>
                                        </p:cTn>
                                        <p:tgtEl>
                                          <p:sndTgt r:embed="rId2" name="camera.wav"/>
                                        </p:tgtEl>
                                      </p:cMediaNode>
                                    </p:audio>
                                  </p:subTnLst>
                                </p:cTn>
                              </p:par>
                            </p:childTnLst>
                          </p:cTn>
                        </p:par>
                      </p:childTnLst>
                    </p:cTn>
                  </p:par>
                  <p:par>
                    <p:cTn id="143" fill="hold">
                      <p:stCondLst>
                        <p:cond delay="indefinite"/>
                      </p:stCondLst>
                      <p:childTnLst>
                        <p:par>
                          <p:cTn id="144" fill="hold">
                            <p:stCondLst>
                              <p:cond delay="0"/>
                            </p:stCondLst>
                            <p:childTnLst>
                              <p:par>
                                <p:cTn id="145" presetID="18" presetClass="entr" presetSubtype="6" fill="hold" nodeType="clickEffect">
                                  <p:stCondLst>
                                    <p:cond delay="0"/>
                                  </p:stCondLst>
                                  <p:childTnLst>
                                    <p:set>
                                      <p:cBhvr>
                                        <p:cTn id="146" dur="1" fill="hold">
                                          <p:stCondLst>
                                            <p:cond delay="0"/>
                                          </p:stCondLst>
                                        </p:cTn>
                                        <p:tgtEl>
                                          <p:spTgt spid="983153"/>
                                        </p:tgtEl>
                                        <p:attrNameLst>
                                          <p:attrName>style.visibility</p:attrName>
                                        </p:attrNameLst>
                                      </p:cBhvr>
                                      <p:to>
                                        <p:strVal val="visible"/>
                                      </p:to>
                                    </p:set>
                                    <p:animEffect transition="in" filter="strips(downRight)">
                                      <p:cBhvr>
                                        <p:cTn id="147" dur="500"/>
                                        <p:tgtEl>
                                          <p:spTgt spid="983153"/>
                                        </p:tgtEl>
                                      </p:cBhvr>
                                    </p:animEffect>
                                  </p:childTnLst>
                                  <p:subTnLst>
                                    <p:set>
                                      <p:cBhvr override="childStyle">
                                        <p:cTn dur="1" fill="hold" display="0" masterRel="nextClick" afterEffect="1"/>
                                        <p:tgtEl>
                                          <p:spTgt spid="983153"/>
                                        </p:tgtEl>
                                        <p:attrNameLst>
                                          <p:attrName>style.visibility</p:attrName>
                                        </p:attrNameLst>
                                      </p:cBhvr>
                                      <p:to>
                                        <p:strVal val="hidden"/>
                                      </p:to>
                                    </p:set>
                                    <p:audio>
                                      <p:cMediaNode>
                                        <p:cTn display="0" masterRel="sameClick">
                                          <p:stCondLst>
                                            <p:cond evt="begin" delay="0">
                                              <p:tn val="145"/>
                                            </p:cond>
                                          </p:stCondLst>
                                          <p:endCondLst>
                                            <p:cond evt="onStopAudio" delay="0">
                                              <p:tgtEl>
                                                <p:sldTgt/>
                                              </p:tgtEl>
                                            </p:cond>
                                          </p:endCondLst>
                                        </p:cTn>
                                        <p:tgtEl>
                                          <p:sndTgt r:embed="rId2" name="camera.wav"/>
                                        </p:tgtEl>
                                      </p:cMediaNode>
                                    </p:audio>
                                  </p:subTnLst>
                                </p:cTn>
                              </p:par>
                            </p:childTnLst>
                          </p:cTn>
                        </p:par>
                      </p:childTnLst>
                    </p:cTn>
                  </p:par>
                  <p:par>
                    <p:cTn id="148" fill="hold">
                      <p:stCondLst>
                        <p:cond delay="indefinite"/>
                      </p:stCondLst>
                      <p:childTnLst>
                        <p:par>
                          <p:cTn id="149" fill="hold">
                            <p:stCondLst>
                              <p:cond delay="0"/>
                            </p:stCondLst>
                            <p:childTnLst>
                              <p:par>
                                <p:cTn id="150" presetID="4" presetClass="entr" presetSubtype="16" fill="hold" grpId="0" nodeType="clickEffect">
                                  <p:stCondLst>
                                    <p:cond delay="0"/>
                                  </p:stCondLst>
                                  <p:childTnLst>
                                    <p:set>
                                      <p:cBhvr>
                                        <p:cTn id="151" dur="1" fill="hold">
                                          <p:stCondLst>
                                            <p:cond delay="0"/>
                                          </p:stCondLst>
                                        </p:cTn>
                                        <p:tgtEl>
                                          <p:spTgt spid="983082"/>
                                        </p:tgtEl>
                                        <p:attrNameLst>
                                          <p:attrName>style.visibility</p:attrName>
                                        </p:attrNameLst>
                                      </p:cBhvr>
                                      <p:to>
                                        <p:strVal val="visible"/>
                                      </p:to>
                                    </p:set>
                                    <p:animEffect transition="in" filter="box(in)">
                                      <p:cBhvr>
                                        <p:cTn id="152" dur="500"/>
                                        <p:tgtEl>
                                          <p:spTgt spid="983082"/>
                                        </p:tgtEl>
                                      </p:cBhvr>
                                    </p:animEffect>
                                  </p:childTnLst>
                                  <p:subTnLst>
                                    <p:audio>
                                      <p:cMediaNode>
                                        <p:cTn display="0" masterRel="sameClick">
                                          <p:stCondLst>
                                            <p:cond evt="begin" delay="0">
                                              <p:tn val="150"/>
                                            </p:cond>
                                          </p:stCondLst>
                                          <p:endCondLst>
                                            <p:cond evt="onStopAudio" delay="0">
                                              <p:tgtEl>
                                                <p:sldTgt/>
                                              </p:tgtEl>
                                            </p:cond>
                                          </p:endCondLst>
                                        </p:cTn>
                                        <p:tgtEl>
                                          <p:sndTgt r:embed="rId2" name="camera.wav"/>
                                        </p:tgtEl>
                                      </p:cMediaNode>
                                    </p:audio>
                                  </p:subTnLst>
                                </p:cTn>
                              </p:par>
                            </p:childTnLst>
                          </p:cTn>
                        </p:par>
                      </p:childTnLst>
                    </p:cTn>
                  </p:par>
                  <p:par>
                    <p:cTn id="153" fill="hold">
                      <p:stCondLst>
                        <p:cond delay="indefinite"/>
                      </p:stCondLst>
                      <p:childTnLst>
                        <p:par>
                          <p:cTn id="154" fill="hold">
                            <p:stCondLst>
                              <p:cond delay="0"/>
                            </p:stCondLst>
                            <p:childTnLst>
                              <p:par>
                                <p:cTn id="155" presetID="4" presetClass="entr" presetSubtype="16" fill="hold" grpId="0" nodeType="clickEffect">
                                  <p:stCondLst>
                                    <p:cond delay="0"/>
                                  </p:stCondLst>
                                  <p:childTnLst>
                                    <p:set>
                                      <p:cBhvr>
                                        <p:cTn id="156" dur="1" fill="hold">
                                          <p:stCondLst>
                                            <p:cond delay="0"/>
                                          </p:stCondLst>
                                        </p:cTn>
                                        <p:tgtEl>
                                          <p:spTgt spid="983078"/>
                                        </p:tgtEl>
                                        <p:attrNameLst>
                                          <p:attrName>style.visibility</p:attrName>
                                        </p:attrNameLst>
                                      </p:cBhvr>
                                      <p:to>
                                        <p:strVal val="visible"/>
                                      </p:to>
                                    </p:set>
                                    <p:animEffect transition="in" filter="box(in)">
                                      <p:cBhvr>
                                        <p:cTn id="157" dur="500"/>
                                        <p:tgtEl>
                                          <p:spTgt spid="983078"/>
                                        </p:tgtEl>
                                      </p:cBhvr>
                                    </p:animEffect>
                                  </p:childTnLst>
                                  <p:subTnLst>
                                    <p:audio>
                                      <p:cMediaNode>
                                        <p:cTn display="0" masterRel="sameClick">
                                          <p:stCondLst>
                                            <p:cond evt="begin" delay="0">
                                              <p:tn val="155"/>
                                            </p:cond>
                                          </p:stCondLst>
                                          <p:endCondLst>
                                            <p:cond evt="onStopAudio" delay="0">
                                              <p:tgtEl>
                                                <p:sldTgt/>
                                              </p:tgtEl>
                                            </p:cond>
                                          </p:endCondLst>
                                        </p:cTn>
                                        <p:tgtEl>
                                          <p:sndTgt r:embed="rId2" name="camera.wav"/>
                                        </p:tgtEl>
                                      </p:cMediaNode>
                                    </p:audio>
                                  </p:subTnLst>
                                </p:cTn>
                              </p:par>
                            </p:childTnLst>
                          </p:cTn>
                        </p:par>
                      </p:childTnLst>
                    </p:cTn>
                  </p:par>
                  <p:par>
                    <p:cTn id="158" fill="hold">
                      <p:stCondLst>
                        <p:cond delay="indefinite"/>
                      </p:stCondLst>
                      <p:childTnLst>
                        <p:par>
                          <p:cTn id="159" fill="hold">
                            <p:stCondLst>
                              <p:cond delay="0"/>
                            </p:stCondLst>
                            <p:childTnLst>
                              <p:par>
                                <p:cTn id="160" presetID="4" presetClass="entr" presetSubtype="32" fill="hold" nodeType="clickEffect">
                                  <p:stCondLst>
                                    <p:cond delay="0"/>
                                  </p:stCondLst>
                                  <p:childTnLst>
                                    <p:set>
                                      <p:cBhvr>
                                        <p:cTn id="161" dur="1" fill="hold">
                                          <p:stCondLst>
                                            <p:cond delay="0"/>
                                          </p:stCondLst>
                                        </p:cTn>
                                        <p:tgtEl>
                                          <p:spTgt spid="983156"/>
                                        </p:tgtEl>
                                        <p:attrNameLst>
                                          <p:attrName>style.visibility</p:attrName>
                                        </p:attrNameLst>
                                      </p:cBhvr>
                                      <p:to>
                                        <p:strVal val="visible"/>
                                      </p:to>
                                    </p:set>
                                    <p:animEffect transition="in" filter="box(out)">
                                      <p:cBhvr>
                                        <p:cTn id="162" dur="500"/>
                                        <p:tgtEl>
                                          <p:spTgt spid="983156"/>
                                        </p:tgtEl>
                                      </p:cBhvr>
                                    </p:animEffect>
                                  </p:childTnLst>
                                  <p:subTnLst>
                                    <p:audio>
                                      <p:cMediaNode>
                                        <p:cTn display="0" masterRel="sameClick">
                                          <p:stCondLst>
                                            <p:cond evt="begin" delay="0">
                                              <p:tn val="160"/>
                                            </p:cond>
                                          </p:stCondLst>
                                          <p:endCondLst>
                                            <p:cond evt="onStopAudio" delay="0">
                                              <p:tgtEl>
                                                <p:sldTgt/>
                                              </p:tgtEl>
                                            </p:cond>
                                          </p:endCondLst>
                                        </p:cTn>
                                        <p:tgtEl>
                                          <p:sndTgt r:embed="rId2" name="camera.wav"/>
                                        </p:tgtEl>
                                      </p:cMediaNode>
                                    </p:audio>
                                  </p:subTnLst>
                                </p:cTn>
                              </p:par>
                            </p:childTnLst>
                          </p:cTn>
                        </p:par>
                      </p:childTnLst>
                    </p:cTn>
                  </p:par>
                  <p:par>
                    <p:cTn id="163" fill="hold">
                      <p:stCondLst>
                        <p:cond delay="indefinite"/>
                      </p:stCondLst>
                      <p:childTnLst>
                        <p:par>
                          <p:cTn id="164" fill="hold">
                            <p:stCondLst>
                              <p:cond delay="0"/>
                            </p:stCondLst>
                            <p:childTnLst>
                              <p:par>
                                <p:cTn id="165" presetID="18" presetClass="entr" presetSubtype="6" fill="hold" nodeType="clickEffect">
                                  <p:stCondLst>
                                    <p:cond delay="0"/>
                                  </p:stCondLst>
                                  <p:childTnLst>
                                    <p:set>
                                      <p:cBhvr>
                                        <p:cTn id="166" dur="1" fill="hold">
                                          <p:stCondLst>
                                            <p:cond delay="0"/>
                                          </p:stCondLst>
                                        </p:cTn>
                                        <p:tgtEl>
                                          <p:spTgt spid="983160"/>
                                        </p:tgtEl>
                                        <p:attrNameLst>
                                          <p:attrName>style.visibility</p:attrName>
                                        </p:attrNameLst>
                                      </p:cBhvr>
                                      <p:to>
                                        <p:strVal val="visible"/>
                                      </p:to>
                                    </p:set>
                                    <p:animEffect transition="in" filter="strips(downRight)">
                                      <p:cBhvr>
                                        <p:cTn id="167" dur="500"/>
                                        <p:tgtEl>
                                          <p:spTgt spid="983160"/>
                                        </p:tgtEl>
                                      </p:cBhvr>
                                    </p:animEffect>
                                  </p:childTnLst>
                                  <p:subTnLst>
                                    <p:set>
                                      <p:cBhvr override="childStyle">
                                        <p:cTn dur="1" fill="hold" display="0" masterRel="nextClick" afterEffect="1"/>
                                        <p:tgtEl>
                                          <p:spTgt spid="983160"/>
                                        </p:tgtEl>
                                        <p:attrNameLst>
                                          <p:attrName>style.visibility</p:attrName>
                                        </p:attrNameLst>
                                      </p:cBhvr>
                                      <p:to>
                                        <p:strVal val="hidden"/>
                                      </p:to>
                                    </p:set>
                                    <p:audio>
                                      <p:cMediaNode>
                                        <p:cTn display="0" masterRel="sameClick">
                                          <p:stCondLst>
                                            <p:cond evt="begin" delay="0">
                                              <p:tn val="165"/>
                                            </p:cond>
                                          </p:stCondLst>
                                          <p:endCondLst>
                                            <p:cond evt="onStopAudio" delay="0">
                                              <p:tgtEl>
                                                <p:sldTgt/>
                                              </p:tgtEl>
                                            </p:cond>
                                          </p:endCondLst>
                                        </p:cTn>
                                        <p:tgtEl>
                                          <p:sndTgt r:embed="rId2" name="camera.wav"/>
                                        </p:tgtEl>
                                      </p:cMediaNode>
                                    </p:audio>
                                  </p:subTnLst>
                                </p:cTn>
                              </p:par>
                            </p:childTnLst>
                          </p:cTn>
                        </p:par>
                      </p:childTnLst>
                    </p:cTn>
                  </p:par>
                  <p:par>
                    <p:cTn id="168" fill="hold">
                      <p:stCondLst>
                        <p:cond delay="indefinite"/>
                      </p:stCondLst>
                      <p:childTnLst>
                        <p:par>
                          <p:cTn id="169" fill="hold">
                            <p:stCondLst>
                              <p:cond delay="0"/>
                            </p:stCondLst>
                            <p:childTnLst>
                              <p:par>
                                <p:cTn id="170" presetID="18" presetClass="entr" presetSubtype="6" fill="hold" nodeType="clickEffect">
                                  <p:stCondLst>
                                    <p:cond delay="0"/>
                                  </p:stCondLst>
                                  <p:childTnLst>
                                    <p:set>
                                      <p:cBhvr>
                                        <p:cTn id="171" dur="1" fill="hold">
                                          <p:stCondLst>
                                            <p:cond delay="0"/>
                                          </p:stCondLst>
                                        </p:cTn>
                                        <p:tgtEl>
                                          <p:spTgt spid="983163"/>
                                        </p:tgtEl>
                                        <p:attrNameLst>
                                          <p:attrName>style.visibility</p:attrName>
                                        </p:attrNameLst>
                                      </p:cBhvr>
                                      <p:to>
                                        <p:strVal val="visible"/>
                                      </p:to>
                                    </p:set>
                                    <p:animEffect transition="in" filter="strips(downRight)">
                                      <p:cBhvr>
                                        <p:cTn id="172" dur="500"/>
                                        <p:tgtEl>
                                          <p:spTgt spid="983163"/>
                                        </p:tgtEl>
                                      </p:cBhvr>
                                    </p:animEffect>
                                  </p:childTnLst>
                                  <p:subTnLst>
                                    <p:set>
                                      <p:cBhvr override="childStyle">
                                        <p:cTn dur="1" fill="hold" display="0" masterRel="nextClick" afterEffect="1"/>
                                        <p:tgtEl>
                                          <p:spTgt spid="983163"/>
                                        </p:tgtEl>
                                        <p:attrNameLst>
                                          <p:attrName>style.visibility</p:attrName>
                                        </p:attrNameLst>
                                      </p:cBhvr>
                                      <p:to>
                                        <p:strVal val="hidden"/>
                                      </p:to>
                                    </p:set>
                                    <p:audio>
                                      <p:cMediaNode>
                                        <p:cTn display="0" masterRel="sameClick">
                                          <p:stCondLst>
                                            <p:cond evt="begin" delay="0">
                                              <p:tn val="170"/>
                                            </p:cond>
                                          </p:stCondLst>
                                          <p:endCondLst>
                                            <p:cond evt="onStopAudio" delay="0">
                                              <p:tgtEl>
                                                <p:sldTgt/>
                                              </p:tgtEl>
                                            </p:cond>
                                          </p:endCondLst>
                                        </p:cTn>
                                        <p:tgtEl>
                                          <p:sndTgt r:embed="rId2" name="camera.wav"/>
                                        </p:tgtEl>
                                      </p:cMediaNode>
                                    </p:audio>
                                  </p:subTnLst>
                                </p:cTn>
                              </p:par>
                            </p:childTnLst>
                          </p:cTn>
                        </p:par>
                      </p:childTnLst>
                    </p:cTn>
                  </p:par>
                  <p:par>
                    <p:cTn id="173" fill="hold">
                      <p:stCondLst>
                        <p:cond delay="indefinite"/>
                      </p:stCondLst>
                      <p:childTnLst>
                        <p:par>
                          <p:cTn id="174" fill="hold">
                            <p:stCondLst>
                              <p:cond delay="0"/>
                            </p:stCondLst>
                            <p:childTnLst>
                              <p:par>
                                <p:cTn id="175" presetID="18" presetClass="entr" presetSubtype="6" fill="hold" nodeType="clickEffect">
                                  <p:stCondLst>
                                    <p:cond delay="0"/>
                                  </p:stCondLst>
                                  <p:childTnLst>
                                    <p:set>
                                      <p:cBhvr>
                                        <p:cTn id="176" dur="1" fill="hold">
                                          <p:stCondLst>
                                            <p:cond delay="0"/>
                                          </p:stCondLst>
                                        </p:cTn>
                                        <p:tgtEl>
                                          <p:spTgt spid="983166"/>
                                        </p:tgtEl>
                                        <p:attrNameLst>
                                          <p:attrName>style.visibility</p:attrName>
                                        </p:attrNameLst>
                                      </p:cBhvr>
                                      <p:to>
                                        <p:strVal val="visible"/>
                                      </p:to>
                                    </p:set>
                                    <p:animEffect transition="in" filter="strips(downRight)">
                                      <p:cBhvr>
                                        <p:cTn id="177" dur="500"/>
                                        <p:tgtEl>
                                          <p:spTgt spid="983166"/>
                                        </p:tgtEl>
                                      </p:cBhvr>
                                    </p:animEffect>
                                  </p:childTnLst>
                                  <p:subTnLst>
                                    <p:set>
                                      <p:cBhvr override="childStyle">
                                        <p:cTn dur="1" fill="hold" display="0" masterRel="nextClick" afterEffect="1"/>
                                        <p:tgtEl>
                                          <p:spTgt spid="983166"/>
                                        </p:tgtEl>
                                        <p:attrNameLst>
                                          <p:attrName>style.visibility</p:attrName>
                                        </p:attrNameLst>
                                      </p:cBhvr>
                                      <p:to>
                                        <p:strVal val="hidden"/>
                                      </p:to>
                                    </p:set>
                                    <p:audio>
                                      <p:cMediaNode>
                                        <p:cTn display="0" masterRel="sameClick">
                                          <p:stCondLst>
                                            <p:cond evt="begin" delay="0">
                                              <p:tn val="175"/>
                                            </p:cond>
                                          </p:stCondLst>
                                          <p:endCondLst>
                                            <p:cond evt="onStopAudio" delay="0">
                                              <p:tgtEl>
                                                <p:sldTgt/>
                                              </p:tgtEl>
                                            </p:cond>
                                          </p:endCondLst>
                                        </p:cTn>
                                        <p:tgtEl>
                                          <p:sndTgt r:embed="rId2" name="camera.wav"/>
                                        </p:tgtEl>
                                      </p:cMediaNode>
                                    </p:audio>
                                  </p:subTnLst>
                                </p:cTn>
                              </p:par>
                            </p:childTnLst>
                          </p:cTn>
                        </p:par>
                      </p:childTnLst>
                    </p:cTn>
                  </p:par>
                  <p:par>
                    <p:cTn id="178" fill="hold">
                      <p:stCondLst>
                        <p:cond delay="indefinite"/>
                      </p:stCondLst>
                      <p:childTnLst>
                        <p:par>
                          <p:cTn id="179" fill="hold">
                            <p:stCondLst>
                              <p:cond delay="0"/>
                            </p:stCondLst>
                            <p:childTnLst>
                              <p:par>
                                <p:cTn id="180" presetID="4" presetClass="entr" presetSubtype="16" fill="hold" grpId="0" nodeType="clickEffect">
                                  <p:stCondLst>
                                    <p:cond delay="0"/>
                                  </p:stCondLst>
                                  <p:childTnLst>
                                    <p:set>
                                      <p:cBhvr>
                                        <p:cTn id="181" dur="1" fill="hold">
                                          <p:stCondLst>
                                            <p:cond delay="0"/>
                                          </p:stCondLst>
                                        </p:cTn>
                                        <p:tgtEl>
                                          <p:spTgt spid="983083"/>
                                        </p:tgtEl>
                                        <p:attrNameLst>
                                          <p:attrName>style.visibility</p:attrName>
                                        </p:attrNameLst>
                                      </p:cBhvr>
                                      <p:to>
                                        <p:strVal val="visible"/>
                                      </p:to>
                                    </p:set>
                                    <p:animEffect transition="in" filter="box(in)">
                                      <p:cBhvr>
                                        <p:cTn id="182" dur="500"/>
                                        <p:tgtEl>
                                          <p:spTgt spid="983083"/>
                                        </p:tgtEl>
                                      </p:cBhvr>
                                    </p:animEffect>
                                  </p:childTnLst>
                                  <p:subTnLst>
                                    <p:audio>
                                      <p:cMediaNode>
                                        <p:cTn display="0" masterRel="sameClick">
                                          <p:stCondLst>
                                            <p:cond evt="begin" delay="0">
                                              <p:tn val="180"/>
                                            </p:cond>
                                          </p:stCondLst>
                                          <p:endCondLst>
                                            <p:cond evt="onStopAudio" delay="0">
                                              <p:tgtEl>
                                                <p:sldTgt/>
                                              </p:tgtEl>
                                            </p:cond>
                                          </p:endCondLst>
                                        </p:cTn>
                                        <p:tgtEl>
                                          <p:sndTgt r:embed="rId2" name="camera.wav"/>
                                        </p:tgtEl>
                                      </p:cMediaNode>
                                    </p:audio>
                                  </p:subTnLst>
                                </p:cTn>
                              </p:par>
                            </p:childTnLst>
                          </p:cTn>
                        </p:par>
                      </p:childTnLst>
                    </p:cTn>
                  </p:par>
                  <p:par>
                    <p:cTn id="183" fill="hold">
                      <p:stCondLst>
                        <p:cond delay="indefinite"/>
                      </p:stCondLst>
                      <p:childTnLst>
                        <p:par>
                          <p:cTn id="184" fill="hold">
                            <p:stCondLst>
                              <p:cond delay="0"/>
                            </p:stCondLst>
                            <p:childTnLst>
                              <p:par>
                                <p:cTn id="185" presetID="4" presetClass="entr" presetSubtype="16" fill="hold" grpId="0" nodeType="clickEffect">
                                  <p:stCondLst>
                                    <p:cond delay="0"/>
                                  </p:stCondLst>
                                  <p:childTnLst>
                                    <p:set>
                                      <p:cBhvr>
                                        <p:cTn id="186" dur="1" fill="hold">
                                          <p:stCondLst>
                                            <p:cond delay="0"/>
                                          </p:stCondLst>
                                        </p:cTn>
                                        <p:tgtEl>
                                          <p:spTgt spid="983084"/>
                                        </p:tgtEl>
                                        <p:attrNameLst>
                                          <p:attrName>style.visibility</p:attrName>
                                        </p:attrNameLst>
                                      </p:cBhvr>
                                      <p:to>
                                        <p:strVal val="visible"/>
                                      </p:to>
                                    </p:set>
                                    <p:animEffect transition="in" filter="box(in)">
                                      <p:cBhvr>
                                        <p:cTn id="187" dur="500"/>
                                        <p:tgtEl>
                                          <p:spTgt spid="983084"/>
                                        </p:tgtEl>
                                      </p:cBhvr>
                                    </p:animEffect>
                                  </p:childTnLst>
                                  <p:subTnLst>
                                    <p:audio>
                                      <p:cMediaNode>
                                        <p:cTn display="0" masterRel="sameClick">
                                          <p:stCondLst>
                                            <p:cond evt="begin" delay="0">
                                              <p:tn val="185"/>
                                            </p:cond>
                                          </p:stCondLst>
                                          <p:endCondLst>
                                            <p:cond evt="onStopAudio" delay="0">
                                              <p:tgtEl>
                                                <p:sldTgt/>
                                              </p:tgtEl>
                                            </p:cond>
                                          </p:endCondLst>
                                        </p:cTn>
                                        <p:tgtEl>
                                          <p:sndTgt r:embed="rId2" name="camera.wav"/>
                                        </p:tgtEl>
                                      </p:cMediaNode>
                                    </p:audio>
                                  </p:subTnLst>
                                </p:cTn>
                              </p:par>
                            </p:childTnLst>
                          </p:cTn>
                        </p:par>
                      </p:childTnLst>
                    </p:cTn>
                  </p:par>
                  <p:par>
                    <p:cTn id="188" fill="hold">
                      <p:stCondLst>
                        <p:cond delay="indefinite"/>
                      </p:stCondLst>
                      <p:childTnLst>
                        <p:par>
                          <p:cTn id="189" fill="hold">
                            <p:stCondLst>
                              <p:cond delay="0"/>
                            </p:stCondLst>
                            <p:childTnLst>
                              <p:par>
                                <p:cTn id="190" presetID="18" presetClass="entr" presetSubtype="6" fill="hold" nodeType="clickEffect">
                                  <p:stCondLst>
                                    <p:cond delay="0"/>
                                  </p:stCondLst>
                                  <p:childTnLst>
                                    <p:set>
                                      <p:cBhvr>
                                        <p:cTn id="191" dur="1" fill="hold">
                                          <p:stCondLst>
                                            <p:cond delay="0"/>
                                          </p:stCondLst>
                                        </p:cTn>
                                        <p:tgtEl>
                                          <p:spTgt spid="983169"/>
                                        </p:tgtEl>
                                        <p:attrNameLst>
                                          <p:attrName>style.visibility</p:attrName>
                                        </p:attrNameLst>
                                      </p:cBhvr>
                                      <p:to>
                                        <p:strVal val="visible"/>
                                      </p:to>
                                    </p:set>
                                    <p:animEffect transition="in" filter="strips(downRight)">
                                      <p:cBhvr>
                                        <p:cTn id="192" dur="500"/>
                                        <p:tgtEl>
                                          <p:spTgt spid="983169"/>
                                        </p:tgtEl>
                                      </p:cBhvr>
                                    </p:animEffect>
                                  </p:childTnLst>
                                  <p:subTnLst>
                                    <p:set>
                                      <p:cBhvr override="childStyle">
                                        <p:cTn dur="1" fill="hold" display="0" masterRel="nextClick" afterEffect="1"/>
                                        <p:tgtEl>
                                          <p:spTgt spid="983169"/>
                                        </p:tgtEl>
                                        <p:attrNameLst>
                                          <p:attrName>style.visibility</p:attrName>
                                        </p:attrNameLst>
                                      </p:cBhvr>
                                      <p:to>
                                        <p:strVal val="hidden"/>
                                      </p:to>
                                    </p:set>
                                    <p:audio>
                                      <p:cMediaNode>
                                        <p:cTn display="0" masterRel="sameClick">
                                          <p:stCondLst>
                                            <p:cond evt="begin" delay="0">
                                              <p:tn val="190"/>
                                            </p:cond>
                                          </p:stCondLst>
                                          <p:endCondLst>
                                            <p:cond evt="onStopAudio" delay="0">
                                              <p:tgtEl>
                                                <p:sldTgt/>
                                              </p:tgtEl>
                                            </p:cond>
                                          </p:endCondLst>
                                        </p:cTn>
                                        <p:tgtEl>
                                          <p:sndTgt r:embed="rId2" name="camera.wav"/>
                                        </p:tgtEl>
                                      </p:cMediaNode>
                                    </p:audio>
                                  </p:subTnLst>
                                </p:cTn>
                              </p:par>
                            </p:childTnLst>
                          </p:cTn>
                        </p:par>
                      </p:childTnLst>
                    </p:cTn>
                  </p:par>
                  <p:par>
                    <p:cTn id="193" fill="hold">
                      <p:stCondLst>
                        <p:cond delay="indefinite"/>
                      </p:stCondLst>
                      <p:childTnLst>
                        <p:par>
                          <p:cTn id="194" fill="hold">
                            <p:stCondLst>
                              <p:cond delay="0"/>
                            </p:stCondLst>
                            <p:childTnLst>
                              <p:par>
                                <p:cTn id="195" presetID="4" presetClass="entr" presetSubtype="16" fill="hold" grpId="0" nodeType="clickEffect">
                                  <p:stCondLst>
                                    <p:cond delay="0"/>
                                  </p:stCondLst>
                                  <p:childTnLst>
                                    <p:set>
                                      <p:cBhvr>
                                        <p:cTn id="196" dur="1" fill="hold">
                                          <p:stCondLst>
                                            <p:cond delay="0"/>
                                          </p:stCondLst>
                                        </p:cTn>
                                        <p:tgtEl>
                                          <p:spTgt spid="983085"/>
                                        </p:tgtEl>
                                        <p:attrNameLst>
                                          <p:attrName>style.visibility</p:attrName>
                                        </p:attrNameLst>
                                      </p:cBhvr>
                                      <p:to>
                                        <p:strVal val="visible"/>
                                      </p:to>
                                    </p:set>
                                    <p:animEffect transition="in" filter="box(in)">
                                      <p:cBhvr>
                                        <p:cTn id="197" dur="500"/>
                                        <p:tgtEl>
                                          <p:spTgt spid="983085"/>
                                        </p:tgtEl>
                                      </p:cBhvr>
                                    </p:animEffect>
                                  </p:childTnLst>
                                  <p:subTnLst>
                                    <p:audio>
                                      <p:cMediaNode>
                                        <p:cTn display="0" masterRel="sameClick">
                                          <p:stCondLst>
                                            <p:cond evt="begin" delay="0">
                                              <p:tn val="195"/>
                                            </p:cond>
                                          </p:stCondLst>
                                          <p:endCondLst>
                                            <p:cond evt="onStopAudio" delay="0">
                                              <p:tgtEl>
                                                <p:sldTgt/>
                                              </p:tgtEl>
                                            </p:cond>
                                          </p:endCondLst>
                                        </p:cTn>
                                        <p:tgtEl>
                                          <p:sndTgt r:embed="rId2" name="camera.wav"/>
                                        </p:tgtEl>
                                      </p:cMediaNode>
                                    </p:audio>
                                  </p:subTnLst>
                                </p:cTn>
                              </p:par>
                            </p:childTnLst>
                          </p:cTn>
                        </p:par>
                      </p:childTnLst>
                    </p:cTn>
                  </p:par>
                  <p:par>
                    <p:cTn id="198" fill="hold">
                      <p:stCondLst>
                        <p:cond delay="indefinite"/>
                      </p:stCondLst>
                      <p:childTnLst>
                        <p:par>
                          <p:cTn id="199" fill="hold">
                            <p:stCondLst>
                              <p:cond delay="0"/>
                            </p:stCondLst>
                            <p:childTnLst>
                              <p:par>
                                <p:cTn id="200" presetID="4" presetClass="entr" presetSubtype="16" fill="hold" grpId="0" nodeType="clickEffect">
                                  <p:stCondLst>
                                    <p:cond delay="0"/>
                                  </p:stCondLst>
                                  <p:childTnLst>
                                    <p:set>
                                      <p:cBhvr>
                                        <p:cTn id="201" dur="1" fill="hold">
                                          <p:stCondLst>
                                            <p:cond delay="0"/>
                                          </p:stCondLst>
                                        </p:cTn>
                                        <p:tgtEl>
                                          <p:spTgt spid="983086"/>
                                        </p:tgtEl>
                                        <p:attrNameLst>
                                          <p:attrName>style.visibility</p:attrName>
                                        </p:attrNameLst>
                                      </p:cBhvr>
                                      <p:to>
                                        <p:strVal val="visible"/>
                                      </p:to>
                                    </p:set>
                                    <p:animEffect transition="in" filter="box(in)">
                                      <p:cBhvr>
                                        <p:cTn id="202" dur="500"/>
                                        <p:tgtEl>
                                          <p:spTgt spid="983086"/>
                                        </p:tgtEl>
                                      </p:cBhvr>
                                    </p:animEffect>
                                  </p:childTnLst>
                                  <p:subTnLst>
                                    <p:audio>
                                      <p:cMediaNode>
                                        <p:cTn display="0" masterRel="sameClick">
                                          <p:stCondLst>
                                            <p:cond evt="begin" delay="0">
                                              <p:tn val="200"/>
                                            </p:cond>
                                          </p:stCondLst>
                                          <p:endCondLst>
                                            <p:cond evt="onStopAudio" delay="0">
                                              <p:tgtEl>
                                                <p:sldTgt/>
                                              </p:tgtEl>
                                            </p:cond>
                                          </p:endCondLst>
                                        </p:cTn>
                                        <p:tgtEl>
                                          <p:sndTgt r:embed="rId2" name="camera.wav"/>
                                        </p:tgtEl>
                                      </p:cMediaNode>
                                    </p:audio>
                                  </p:subTnLst>
                                </p:cTn>
                              </p:par>
                            </p:childTnLst>
                          </p:cTn>
                        </p:par>
                      </p:childTnLst>
                    </p:cTn>
                  </p:par>
                  <p:par>
                    <p:cTn id="203" fill="hold">
                      <p:stCondLst>
                        <p:cond delay="indefinite"/>
                      </p:stCondLst>
                      <p:childTnLst>
                        <p:par>
                          <p:cTn id="204" fill="hold">
                            <p:stCondLst>
                              <p:cond delay="0"/>
                            </p:stCondLst>
                            <p:childTnLst>
                              <p:par>
                                <p:cTn id="205" presetID="18" presetClass="entr" presetSubtype="6" fill="hold" nodeType="clickEffect">
                                  <p:stCondLst>
                                    <p:cond delay="0"/>
                                  </p:stCondLst>
                                  <p:childTnLst>
                                    <p:set>
                                      <p:cBhvr>
                                        <p:cTn id="206" dur="1" fill="hold">
                                          <p:stCondLst>
                                            <p:cond delay="0"/>
                                          </p:stCondLst>
                                        </p:cTn>
                                        <p:tgtEl>
                                          <p:spTgt spid="983172"/>
                                        </p:tgtEl>
                                        <p:attrNameLst>
                                          <p:attrName>style.visibility</p:attrName>
                                        </p:attrNameLst>
                                      </p:cBhvr>
                                      <p:to>
                                        <p:strVal val="visible"/>
                                      </p:to>
                                    </p:set>
                                    <p:animEffect transition="in" filter="strips(downRight)">
                                      <p:cBhvr>
                                        <p:cTn id="207" dur="500"/>
                                        <p:tgtEl>
                                          <p:spTgt spid="983172"/>
                                        </p:tgtEl>
                                      </p:cBhvr>
                                    </p:animEffect>
                                  </p:childTnLst>
                                  <p:subTnLst>
                                    <p:set>
                                      <p:cBhvr override="childStyle">
                                        <p:cTn dur="1" fill="hold" display="0" masterRel="nextClick" afterEffect="1"/>
                                        <p:tgtEl>
                                          <p:spTgt spid="983172"/>
                                        </p:tgtEl>
                                        <p:attrNameLst>
                                          <p:attrName>style.visibility</p:attrName>
                                        </p:attrNameLst>
                                      </p:cBhvr>
                                      <p:to>
                                        <p:strVal val="hidden"/>
                                      </p:to>
                                    </p:set>
                                    <p:audio>
                                      <p:cMediaNode>
                                        <p:cTn display="0" masterRel="sameClick">
                                          <p:stCondLst>
                                            <p:cond evt="begin" delay="0">
                                              <p:tn val="205"/>
                                            </p:cond>
                                          </p:stCondLst>
                                          <p:endCondLst>
                                            <p:cond evt="onStopAudio" delay="0">
                                              <p:tgtEl>
                                                <p:sldTgt/>
                                              </p:tgtEl>
                                            </p:cond>
                                          </p:endCondLst>
                                        </p:cTn>
                                        <p:tgtEl>
                                          <p:sndTgt r:embed="rId2" name="camera.wav"/>
                                        </p:tgtEl>
                                      </p:cMediaNode>
                                    </p:audio>
                                  </p:subTnLst>
                                </p:cTn>
                              </p:par>
                            </p:childTnLst>
                          </p:cTn>
                        </p:par>
                      </p:childTnLst>
                    </p:cTn>
                  </p:par>
                  <p:par>
                    <p:cTn id="208" fill="hold">
                      <p:stCondLst>
                        <p:cond delay="indefinite"/>
                      </p:stCondLst>
                      <p:childTnLst>
                        <p:par>
                          <p:cTn id="209" fill="hold">
                            <p:stCondLst>
                              <p:cond delay="0"/>
                            </p:stCondLst>
                            <p:childTnLst>
                              <p:par>
                                <p:cTn id="210" presetID="4" presetClass="entr" presetSubtype="16" fill="hold" grpId="0" nodeType="clickEffect">
                                  <p:stCondLst>
                                    <p:cond delay="0"/>
                                  </p:stCondLst>
                                  <p:childTnLst>
                                    <p:set>
                                      <p:cBhvr>
                                        <p:cTn id="211" dur="1" fill="hold">
                                          <p:stCondLst>
                                            <p:cond delay="0"/>
                                          </p:stCondLst>
                                        </p:cTn>
                                        <p:tgtEl>
                                          <p:spTgt spid="983087"/>
                                        </p:tgtEl>
                                        <p:attrNameLst>
                                          <p:attrName>style.visibility</p:attrName>
                                        </p:attrNameLst>
                                      </p:cBhvr>
                                      <p:to>
                                        <p:strVal val="visible"/>
                                      </p:to>
                                    </p:set>
                                    <p:animEffect transition="in" filter="box(in)">
                                      <p:cBhvr>
                                        <p:cTn id="212" dur="500"/>
                                        <p:tgtEl>
                                          <p:spTgt spid="983087"/>
                                        </p:tgtEl>
                                      </p:cBhvr>
                                    </p:animEffect>
                                  </p:childTnLst>
                                  <p:subTnLst>
                                    <p:audio>
                                      <p:cMediaNode>
                                        <p:cTn display="0" masterRel="sameClick">
                                          <p:stCondLst>
                                            <p:cond evt="begin" delay="0">
                                              <p:tn val="210"/>
                                            </p:cond>
                                          </p:stCondLst>
                                          <p:endCondLst>
                                            <p:cond evt="onStopAudio" delay="0">
                                              <p:tgtEl>
                                                <p:sldTgt/>
                                              </p:tgtEl>
                                            </p:cond>
                                          </p:endCondLst>
                                        </p:cTn>
                                        <p:tgtEl>
                                          <p:sndTgt r:embed="rId2" name="camera.wav"/>
                                        </p:tgtEl>
                                      </p:cMediaNode>
                                    </p:audio>
                                  </p:subTnLst>
                                </p:cTn>
                              </p:par>
                            </p:childTnLst>
                          </p:cTn>
                        </p:par>
                      </p:childTnLst>
                    </p:cTn>
                  </p:par>
                  <p:par>
                    <p:cTn id="213" fill="hold">
                      <p:stCondLst>
                        <p:cond delay="indefinite"/>
                      </p:stCondLst>
                      <p:childTnLst>
                        <p:par>
                          <p:cTn id="214" fill="hold">
                            <p:stCondLst>
                              <p:cond delay="0"/>
                            </p:stCondLst>
                            <p:childTnLst>
                              <p:par>
                                <p:cTn id="215" presetID="4" presetClass="entr" presetSubtype="16" fill="hold" grpId="0" nodeType="clickEffect">
                                  <p:stCondLst>
                                    <p:cond delay="0"/>
                                  </p:stCondLst>
                                  <p:childTnLst>
                                    <p:set>
                                      <p:cBhvr>
                                        <p:cTn id="216" dur="1" fill="hold">
                                          <p:stCondLst>
                                            <p:cond delay="0"/>
                                          </p:stCondLst>
                                        </p:cTn>
                                        <p:tgtEl>
                                          <p:spTgt spid="983088"/>
                                        </p:tgtEl>
                                        <p:attrNameLst>
                                          <p:attrName>style.visibility</p:attrName>
                                        </p:attrNameLst>
                                      </p:cBhvr>
                                      <p:to>
                                        <p:strVal val="visible"/>
                                      </p:to>
                                    </p:set>
                                    <p:animEffect transition="in" filter="box(in)">
                                      <p:cBhvr>
                                        <p:cTn id="217" dur="500"/>
                                        <p:tgtEl>
                                          <p:spTgt spid="983088"/>
                                        </p:tgtEl>
                                      </p:cBhvr>
                                    </p:animEffect>
                                  </p:childTnLst>
                                  <p:subTnLst>
                                    <p:audio>
                                      <p:cMediaNode>
                                        <p:cTn display="0" masterRel="sameClick">
                                          <p:stCondLst>
                                            <p:cond evt="begin" delay="0">
                                              <p:tn val="215"/>
                                            </p:cond>
                                          </p:stCondLst>
                                          <p:endCondLst>
                                            <p:cond evt="onStopAudio" delay="0">
                                              <p:tgtEl>
                                                <p:sldTgt/>
                                              </p:tgtEl>
                                            </p:cond>
                                          </p:endCondLst>
                                        </p:cTn>
                                        <p:tgtEl>
                                          <p:sndTgt r:embed="rId2" name="camera.wav"/>
                                        </p:tgtEl>
                                      </p:cMediaNode>
                                    </p:audio>
                                  </p:subTnLst>
                                </p:cTn>
                              </p:par>
                            </p:childTnLst>
                          </p:cTn>
                        </p:par>
                      </p:childTnLst>
                    </p:cTn>
                  </p:par>
                  <p:par>
                    <p:cTn id="218" fill="hold">
                      <p:stCondLst>
                        <p:cond delay="indefinite"/>
                      </p:stCondLst>
                      <p:childTnLst>
                        <p:par>
                          <p:cTn id="219" fill="hold">
                            <p:stCondLst>
                              <p:cond delay="0"/>
                            </p:stCondLst>
                            <p:childTnLst>
                              <p:par>
                                <p:cTn id="220" presetID="4" presetClass="entr" presetSubtype="32" fill="hold" nodeType="clickEffect">
                                  <p:stCondLst>
                                    <p:cond delay="0"/>
                                  </p:stCondLst>
                                  <p:childTnLst>
                                    <p:set>
                                      <p:cBhvr>
                                        <p:cTn id="221" dur="1" fill="hold">
                                          <p:stCondLst>
                                            <p:cond delay="0"/>
                                          </p:stCondLst>
                                        </p:cTn>
                                        <p:tgtEl>
                                          <p:spTgt spid="983175"/>
                                        </p:tgtEl>
                                        <p:attrNameLst>
                                          <p:attrName>style.visibility</p:attrName>
                                        </p:attrNameLst>
                                      </p:cBhvr>
                                      <p:to>
                                        <p:strVal val="visible"/>
                                      </p:to>
                                    </p:set>
                                    <p:animEffect transition="in" filter="box(out)">
                                      <p:cBhvr>
                                        <p:cTn id="222" dur="500"/>
                                        <p:tgtEl>
                                          <p:spTgt spid="983175"/>
                                        </p:tgtEl>
                                      </p:cBhvr>
                                    </p:animEffect>
                                  </p:childTnLst>
                                  <p:subTnLst>
                                    <p:audio>
                                      <p:cMediaNode>
                                        <p:cTn display="0" masterRel="sameClick">
                                          <p:stCondLst>
                                            <p:cond evt="begin" delay="0">
                                              <p:tn val="220"/>
                                            </p:cond>
                                          </p:stCondLst>
                                          <p:endCondLst>
                                            <p:cond evt="onStopAudio" delay="0">
                                              <p:tgtEl>
                                                <p:sldTgt/>
                                              </p:tgtEl>
                                            </p:cond>
                                          </p:endCondLst>
                                        </p:cTn>
                                        <p:tgtEl>
                                          <p:sndTgt r:embed="rId2" name="camera.wav"/>
                                        </p:tgtEl>
                                      </p:cMediaNode>
                                    </p:audio>
                                  </p:subTnLst>
                                </p:cTn>
                              </p:par>
                            </p:childTnLst>
                          </p:cTn>
                        </p:par>
                      </p:childTnLst>
                    </p:cTn>
                  </p:par>
                  <p:par>
                    <p:cTn id="223" fill="hold">
                      <p:stCondLst>
                        <p:cond delay="indefinite"/>
                      </p:stCondLst>
                      <p:childTnLst>
                        <p:par>
                          <p:cTn id="224" fill="hold">
                            <p:stCondLst>
                              <p:cond delay="0"/>
                            </p:stCondLst>
                            <p:childTnLst>
                              <p:par>
                                <p:cTn id="225" presetID="18" presetClass="entr" presetSubtype="6" fill="hold" nodeType="clickEffect">
                                  <p:stCondLst>
                                    <p:cond delay="0"/>
                                  </p:stCondLst>
                                  <p:childTnLst>
                                    <p:set>
                                      <p:cBhvr>
                                        <p:cTn id="226" dur="1" fill="hold">
                                          <p:stCondLst>
                                            <p:cond delay="0"/>
                                          </p:stCondLst>
                                        </p:cTn>
                                        <p:tgtEl>
                                          <p:spTgt spid="983176"/>
                                        </p:tgtEl>
                                        <p:attrNameLst>
                                          <p:attrName>style.visibility</p:attrName>
                                        </p:attrNameLst>
                                      </p:cBhvr>
                                      <p:to>
                                        <p:strVal val="visible"/>
                                      </p:to>
                                    </p:set>
                                    <p:animEffect transition="in" filter="strips(downRight)">
                                      <p:cBhvr>
                                        <p:cTn id="227" dur="500"/>
                                        <p:tgtEl>
                                          <p:spTgt spid="983176"/>
                                        </p:tgtEl>
                                      </p:cBhvr>
                                    </p:animEffect>
                                  </p:childTnLst>
                                  <p:subTnLst>
                                    <p:set>
                                      <p:cBhvr override="childStyle">
                                        <p:cTn dur="1" fill="hold" display="0" masterRel="nextClick" afterEffect="1"/>
                                        <p:tgtEl>
                                          <p:spTgt spid="983176"/>
                                        </p:tgtEl>
                                        <p:attrNameLst>
                                          <p:attrName>style.visibility</p:attrName>
                                        </p:attrNameLst>
                                      </p:cBhvr>
                                      <p:to>
                                        <p:strVal val="hidden"/>
                                      </p:to>
                                    </p:set>
                                    <p:audio>
                                      <p:cMediaNode>
                                        <p:cTn display="0" masterRel="sameClick">
                                          <p:stCondLst>
                                            <p:cond evt="begin" delay="0">
                                              <p:tn val="225"/>
                                            </p:cond>
                                          </p:stCondLst>
                                          <p:endCondLst>
                                            <p:cond evt="onStopAudio" delay="0">
                                              <p:tgtEl>
                                                <p:sldTgt/>
                                              </p:tgtEl>
                                            </p:cond>
                                          </p:endCondLst>
                                        </p:cTn>
                                        <p:tgtEl>
                                          <p:sndTgt r:embed="rId2" name="camera.wav"/>
                                        </p:tgtEl>
                                      </p:cMediaNode>
                                    </p:audio>
                                  </p:subTnLst>
                                </p:cTn>
                              </p:par>
                            </p:childTnLst>
                          </p:cTn>
                        </p:par>
                      </p:childTnLst>
                    </p:cTn>
                  </p:par>
                  <p:par>
                    <p:cTn id="228" fill="hold">
                      <p:stCondLst>
                        <p:cond delay="indefinite"/>
                      </p:stCondLst>
                      <p:childTnLst>
                        <p:par>
                          <p:cTn id="229" fill="hold">
                            <p:stCondLst>
                              <p:cond delay="0"/>
                            </p:stCondLst>
                            <p:childTnLst>
                              <p:par>
                                <p:cTn id="230" presetID="18" presetClass="entr" presetSubtype="6" fill="hold" nodeType="clickEffect">
                                  <p:stCondLst>
                                    <p:cond delay="0"/>
                                  </p:stCondLst>
                                  <p:childTnLst>
                                    <p:set>
                                      <p:cBhvr>
                                        <p:cTn id="231" dur="1" fill="hold">
                                          <p:stCondLst>
                                            <p:cond delay="0"/>
                                          </p:stCondLst>
                                        </p:cTn>
                                        <p:tgtEl>
                                          <p:spTgt spid="983179"/>
                                        </p:tgtEl>
                                        <p:attrNameLst>
                                          <p:attrName>style.visibility</p:attrName>
                                        </p:attrNameLst>
                                      </p:cBhvr>
                                      <p:to>
                                        <p:strVal val="visible"/>
                                      </p:to>
                                    </p:set>
                                    <p:animEffect transition="in" filter="strips(downRight)">
                                      <p:cBhvr>
                                        <p:cTn id="232" dur="500"/>
                                        <p:tgtEl>
                                          <p:spTgt spid="983179"/>
                                        </p:tgtEl>
                                      </p:cBhvr>
                                    </p:animEffect>
                                  </p:childTnLst>
                                  <p:subTnLst>
                                    <p:set>
                                      <p:cBhvr override="childStyle">
                                        <p:cTn dur="1" fill="hold" display="0" masterRel="nextClick" afterEffect="1"/>
                                        <p:tgtEl>
                                          <p:spTgt spid="983179"/>
                                        </p:tgtEl>
                                        <p:attrNameLst>
                                          <p:attrName>style.visibility</p:attrName>
                                        </p:attrNameLst>
                                      </p:cBhvr>
                                      <p:to>
                                        <p:strVal val="hidden"/>
                                      </p:to>
                                    </p:set>
                                    <p:audio>
                                      <p:cMediaNode>
                                        <p:cTn display="0" masterRel="sameClick">
                                          <p:stCondLst>
                                            <p:cond evt="begin" delay="0">
                                              <p:tn val="230"/>
                                            </p:cond>
                                          </p:stCondLst>
                                          <p:endCondLst>
                                            <p:cond evt="onStopAudio" delay="0">
                                              <p:tgtEl>
                                                <p:sldTgt/>
                                              </p:tgtEl>
                                            </p:cond>
                                          </p:endCondLst>
                                        </p:cTn>
                                        <p:tgtEl>
                                          <p:sndTgt r:embed="rId2" name="camera.wav"/>
                                        </p:tgtEl>
                                      </p:cMediaNode>
                                    </p:audio>
                                  </p:subTnLst>
                                </p:cTn>
                              </p:par>
                            </p:childTnLst>
                          </p:cTn>
                        </p:par>
                      </p:childTnLst>
                    </p:cTn>
                  </p:par>
                  <p:par>
                    <p:cTn id="233" fill="hold">
                      <p:stCondLst>
                        <p:cond delay="indefinite"/>
                      </p:stCondLst>
                      <p:childTnLst>
                        <p:par>
                          <p:cTn id="234" fill="hold">
                            <p:stCondLst>
                              <p:cond delay="0"/>
                            </p:stCondLst>
                            <p:childTnLst>
                              <p:par>
                                <p:cTn id="235" presetID="4" presetClass="entr" presetSubtype="16" fill="hold" grpId="0" nodeType="clickEffect">
                                  <p:stCondLst>
                                    <p:cond delay="0"/>
                                  </p:stCondLst>
                                  <p:childTnLst>
                                    <p:set>
                                      <p:cBhvr>
                                        <p:cTn id="236" dur="1" fill="hold">
                                          <p:stCondLst>
                                            <p:cond delay="0"/>
                                          </p:stCondLst>
                                        </p:cTn>
                                        <p:tgtEl>
                                          <p:spTgt spid="983089"/>
                                        </p:tgtEl>
                                        <p:attrNameLst>
                                          <p:attrName>style.visibility</p:attrName>
                                        </p:attrNameLst>
                                      </p:cBhvr>
                                      <p:to>
                                        <p:strVal val="visible"/>
                                      </p:to>
                                    </p:set>
                                    <p:animEffect transition="in" filter="box(in)">
                                      <p:cBhvr>
                                        <p:cTn id="237" dur="500"/>
                                        <p:tgtEl>
                                          <p:spTgt spid="983089"/>
                                        </p:tgtEl>
                                      </p:cBhvr>
                                    </p:animEffect>
                                  </p:childTnLst>
                                  <p:subTnLst>
                                    <p:audio>
                                      <p:cMediaNode>
                                        <p:cTn display="0" masterRel="sameClick">
                                          <p:stCondLst>
                                            <p:cond evt="begin" delay="0">
                                              <p:tn val="235"/>
                                            </p:cond>
                                          </p:stCondLst>
                                          <p:endCondLst>
                                            <p:cond evt="onStopAudio" delay="0">
                                              <p:tgtEl>
                                                <p:sldTgt/>
                                              </p:tgtEl>
                                            </p:cond>
                                          </p:endCondLst>
                                        </p:cTn>
                                        <p:tgtEl>
                                          <p:sndTgt r:embed="rId2" name="camera.wav"/>
                                        </p:tgtEl>
                                      </p:cMediaNode>
                                    </p:audio>
                                  </p:subTnLst>
                                </p:cTn>
                              </p:par>
                            </p:childTnLst>
                          </p:cTn>
                        </p:par>
                      </p:childTnLst>
                    </p:cTn>
                  </p:par>
                  <p:par>
                    <p:cTn id="238" fill="hold">
                      <p:stCondLst>
                        <p:cond delay="indefinite"/>
                      </p:stCondLst>
                      <p:childTnLst>
                        <p:par>
                          <p:cTn id="239" fill="hold">
                            <p:stCondLst>
                              <p:cond delay="0"/>
                            </p:stCondLst>
                            <p:childTnLst>
                              <p:par>
                                <p:cTn id="240" presetID="4" presetClass="entr" presetSubtype="16" fill="hold" grpId="0" nodeType="clickEffect">
                                  <p:stCondLst>
                                    <p:cond delay="0"/>
                                  </p:stCondLst>
                                  <p:childTnLst>
                                    <p:set>
                                      <p:cBhvr>
                                        <p:cTn id="241" dur="1" fill="hold">
                                          <p:stCondLst>
                                            <p:cond delay="0"/>
                                          </p:stCondLst>
                                        </p:cTn>
                                        <p:tgtEl>
                                          <p:spTgt spid="983094"/>
                                        </p:tgtEl>
                                        <p:attrNameLst>
                                          <p:attrName>style.visibility</p:attrName>
                                        </p:attrNameLst>
                                      </p:cBhvr>
                                      <p:to>
                                        <p:strVal val="visible"/>
                                      </p:to>
                                    </p:set>
                                    <p:animEffect transition="in" filter="box(in)">
                                      <p:cBhvr>
                                        <p:cTn id="242" dur="500"/>
                                        <p:tgtEl>
                                          <p:spTgt spid="983094"/>
                                        </p:tgtEl>
                                      </p:cBhvr>
                                    </p:animEffect>
                                  </p:childTnLst>
                                  <p:subTnLst>
                                    <p:audio>
                                      <p:cMediaNode>
                                        <p:cTn display="0" masterRel="sameClick">
                                          <p:stCondLst>
                                            <p:cond evt="begin" delay="0">
                                              <p:tn val="240"/>
                                            </p:cond>
                                          </p:stCondLst>
                                          <p:endCondLst>
                                            <p:cond evt="onStopAudio" delay="0">
                                              <p:tgtEl>
                                                <p:sldTgt/>
                                              </p:tgtEl>
                                            </p:cond>
                                          </p:endCondLst>
                                        </p:cTn>
                                        <p:tgtEl>
                                          <p:sndTgt r:embed="rId2" name="camera.wav"/>
                                        </p:tgtEl>
                                      </p:cMediaNode>
                                    </p:audio>
                                  </p:subTnLst>
                                </p:cTn>
                              </p:par>
                            </p:childTnLst>
                          </p:cTn>
                        </p:par>
                      </p:childTnLst>
                    </p:cTn>
                  </p:par>
                  <p:par>
                    <p:cTn id="243" fill="hold">
                      <p:stCondLst>
                        <p:cond delay="indefinite"/>
                      </p:stCondLst>
                      <p:childTnLst>
                        <p:par>
                          <p:cTn id="244" fill="hold">
                            <p:stCondLst>
                              <p:cond delay="0"/>
                            </p:stCondLst>
                            <p:childTnLst>
                              <p:par>
                                <p:cTn id="245" presetID="18" presetClass="entr" presetSubtype="6" fill="hold" nodeType="clickEffect">
                                  <p:stCondLst>
                                    <p:cond delay="0"/>
                                  </p:stCondLst>
                                  <p:childTnLst>
                                    <p:set>
                                      <p:cBhvr>
                                        <p:cTn id="246" dur="1" fill="hold">
                                          <p:stCondLst>
                                            <p:cond delay="0"/>
                                          </p:stCondLst>
                                        </p:cTn>
                                        <p:tgtEl>
                                          <p:spTgt spid="983182"/>
                                        </p:tgtEl>
                                        <p:attrNameLst>
                                          <p:attrName>style.visibility</p:attrName>
                                        </p:attrNameLst>
                                      </p:cBhvr>
                                      <p:to>
                                        <p:strVal val="visible"/>
                                      </p:to>
                                    </p:set>
                                    <p:animEffect transition="in" filter="strips(downRight)">
                                      <p:cBhvr>
                                        <p:cTn id="247" dur="500"/>
                                        <p:tgtEl>
                                          <p:spTgt spid="983182"/>
                                        </p:tgtEl>
                                      </p:cBhvr>
                                    </p:animEffect>
                                  </p:childTnLst>
                                  <p:subTnLst>
                                    <p:set>
                                      <p:cBhvr override="childStyle">
                                        <p:cTn dur="1" fill="hold" display="0" masterRel="nextClick" afterEffect="1"/>
                                        <p:tgtEl>
                                          <p:spTgt spid="983182"/>
                                        </p:tgtEl>
                                        <p:attrNameLst>
                                          <p:attrName>style.visibility</p:attrName>
                                        </p:attrNameLst>
                                      </p:cBhvr>
                                      <p:to>
                                        <p:strVal val="hidden"/>
                                      </p:to>
                                    </p:set>
                                    <p:audio>
                                      <p:cMediaNode>
                                        <p:cTn display="0" masterRel="sameClick">
                                          <p:stCondLst>
                                            <p:cond evt="begin" delay="0">
                                              <p:tn val="245"/>
                                            </p:cond>
                                          </p:stCondLst>
                                          <p:endCondLst>
                                            <p:cond evt="onStopAudio" delay="0">
                                              <p:tgtEl>
                                                <p:sldTgt/>
                                              </p:tgtEl>
                                            </p:cond>
                                          </p:endCondLst>
                                        </p:cTn>
                                        <p:tgtEl>
                                          <p:sndTgt r:embed="rId2" name="camera.wav"/>
                                        </p:tgtEl>
                                      </p:cMediaNode>
                                    </p:audio>
                                  </p:subTnLst>
                                </p:cTn>
                              </p:par>
                            </p:childTnLst>
                          </p:cTn>
                        </p:par>
                      </p:childTnLst>
                    </p:cTn>
                  </p:par>
                  <p:par>
                    <p:cTn id="248" fill="hold">
                      <p:stCondLst>
                        <p:cond delay="indefinite"/>
                      </p:stCondLst>
                      <p:childTnLst>
                        <p:par>
                          <p:cTn id="249" fill="hold">
                            <p:stCondLst>
                              <p:cond delay="0"/>
                            </p:stCondLst>
                            <p:childTnLst>
                              <p:par>
                                <p:cTn id="250" presetID="4" presetClass="entr" presetSubtype="16" fill="hold" grpId="0" nodeType="clickEffect">
                                  <p:stCondLst>
                                    <p:cond delay="0"/>
                                  </p:stCondLst>
                                  <p:childTnLst>
                                    <p:set>
                                      <p:cBhvr>
                                        <p:cTn id="251" dur="1" fill="hold">
                                          <p:stCondLst>
                                            <p:cond delay="0"/>
                                          </p:stCondLst>
                                        </p:cTn>
                                        <p:tgtEl>
                                          <p:spTgt spid="983095"/>
                                        </p:tgtEl>
                                        <p:attrNameLst>
                                          <p:attrName>style.visibility</p:attrName>
                                        </p:attrNameLst>
                                      </p:cBhvr>
                                      <p:to>
                                        <p:strVal val="visible"/>
                                      </p:to>
                                    </p:set>
                                    <p:animEffect transition="in" filter="box(in)">
                                      <p:cBhvr>
                                        <p:cTn id="252" dur="500"/>
                                        <p:tgtEl>
                                          <p:spTgt spid="983095"/>
                                        </p:tgtEl>
                                      </p:cBhvr>
                                    </p:animEffect>
                                  </p:childTnLst>
                                  <p:subTnLst>
                                    <p:audio>
                                      <p:cMediaNode>
                                        <p:cTn display="0" masterRel="sameClick">
                                          <p:stCondLst>
                                            <p:cond evt="begin" delay="0">
                                              <p:tn val="250"/>
                                            </p:cond>
                                          </p:stCondLst>
                                          <p:endCondLst>
                                            <p:cond evt="onStopAudio" delay="0">
                                              <p:tgtEl>
                                                <p:sldTgt/>
                                              </p:tgtEl>
                                            </p:cond>
                                          </p:endCondLst>
                                        </p:cTn>
                                        <p:tgtEl>
                                          <p:sndTgt r:embed="rId2" name="camera.wav"/>
                                        </p:tgtEl>
                                      </p:cMediaNode>
                                    </p:audio>
                                  </p:subTnLst>
                                </p:cTn>
                              </p:par>
                            </p:childTnLst>
                          </p:cTn>
                        </p:par>
                      </p:childTnLst>
                    </p:cTn>
                  </p:par>
                  <p:par>
                    <p:cTn id="253" fill="hold">
                      <p:stCondLst>
                        <p:cond delay="indefinite"/>
                      </p:stCondLst>
                      <p:childTnLst>
                        <p:par>
                          <p:cTn id="254" fill="hold">
                            <p:stCondLst>
                              <p:cond delay="0"/>
                            </p:stCondLst>
                            <p:childTnLst>
                              <p:par>
                                <p:cTn id="255" presetID="4" presetClass="entr" presetSubtype="16" fill="hold" grpId="0" nodeType="clickEffect">
                                  <p:stCondLst>
                                    <p:cond delay="0"/>
                                  </p:stCondLst>
                                  <p:childTnLst>
                                    <p:set>
                                      <p:cBhvr>
                                        <p:cTn id="256" dur="1" fill="hold">
                                          <p:stCondLst>
                                            <p:cond delay="0"/>
                                          </p:stCondLst>
                                        </p:cTn>
                                        <p:tgtEl>
                                          <p:spTgt spid="983092"/>
                                        </p:tgtEl>
                                        <p:attrNameLst>
                                          <p:attrName>style.visibility</p:attrName>
                                        </p:attrNameLst>
                                      </p:cBhvr>
                                      <p:to>
                                        <p:strVal val="visible"/>
                                      </p:to>
                                    </p:set>
                                    <p:animEffect transition="in" filter="box(in)">
                                      <p:cBhvr>
                                        <p:cTn id="257" dur="500"/>
                                        <p:tgtEl>
                                          <p:spTgt spid="983092"/>
                                        </p:tgtEl>
                                      </p:cBhvr>
                                    </p:animEffect>
                                  </p:childTnLst>
                                  <p:subTnLst>
                                    <p:audio>
                                      <p:cMediaNode>
                                        <p:cTn display="0" masterRel="sameClick">
                                          <p:stCondLst>
                                            <p:cond evt="begin" delay="0">
                                              <p:tn val="255"/>
                                            </p:cond>
                                          </p:stCondLst>
                                          <p:endCondLst>
                                            <p:cond evt="onStopAudio" delay="0">
                                              <p:tgtEl>
                                                <p:sldTgt/>
                                              </p:tgtEl>
                                            </p:cond>
                                          </p:endCondLst>
                                        </p:cTn>
                                        <p:tgtEl>
                                          <p:sndTgt r:embed="rId2" name="camera.wav"/>
                                        </p:tgtEl>
                                      </p:cMediaNode>
                                    </p:audio>
                                  </p:subTnLst>
                                </p:cTn>
                              </p:par>
                            </p:childTnLst>
                          </p:cTn>
                        </p:par>
                      </p:childTnLst>
                    </p:cTn>
                  </p:par>
                  <p:par>
                    <p:cTn id="258" fill="hold">
                      <p:stCondLst>
                        <p:cond delay="indefinite"/>
                      </p:stCondLst>
                      <p:childTnLst>
                        <p:par>
                          <p:cTn id="259" fill="hold">
                            <p:stCondLst>
                              <p:cond delay="0"/>
                            </p:stCondLst>
                            <p:childTnLst>
                              <p:par>
                                <p:cTn id="260" presetID="18" presetClass="entr" presetSubtype="6" fill="hold" nodeType="clickEffect">
                                  <p:stCondLst>
                                    <p:cond delay="0"/>
                                  </p:stCondLst>
                                  <p:childTnLst>
                                    <p:set>
                                      <p:cBhvr>
                                        <p:cTn id="261" dur="1" fill="hold">
                                          <p:stCondLst>
                                            <p:cond delay="0"/>
                                          </p:stCondLst>
                                        </p:cTn>
                                        <p:tgtEl>
                                          <p:spTgt spid="983185"/>
                                        </p:tgtEl>
                                        <p:attrNameLst>
                                          <p:attrName>style.visibility</p:attrName>
                                        </p:attrNameLst>
                                      </p:cBhvr>
                                      <p:to>
                                        <p:strVal val="visible"/>
                                      </p:to>
                                    </p:set>
                                    <p:animEffect transition="in" filter="strips(downRight)">
                                      <p:cBhvr>
                                        <p:cTn id="262" dur="500"/>
                                        <p:tgtEl>
                                          <p:spTgt spid="983185"/>
                                        </p:tgtEl>
                                      </p:cBhvr>
                                    </p:animEffect>
                                  </p:childTnLst>
                                  <p:subTnLst>
                                    <p:set>
                                      <p:cBhvr override="childStyle">
                                        <p:cTn dur="1" fill="hold" display="0" masterRel="nextClick" afterEffect="1"/>
                                        <p:tgtEl>
                                          <p:spTgt spid="983185"/>
                                        </p:tgtEl>
                                        <p:attrNameLst>
                                          <p:attrName>style.visibility</p:attrName>
                                        </p:attrNameLst>
                                      </p:cBhvr>
                                      <p:to>
                                        <p:strVal val="hidden"/>
                                      </p:to>
                                    </p:set>
                                    <p:audio>
                                      <p:cMediaNode>
                                        <p:cTn display="0" masterRel="sameClick">
                                          <p:stCondLst>
                                            <p:cond evt="begin" delay="0">
                                              <p:tn val="260"/>
                                            </p:cond>
                                          </p:stCondLst>
                                          <p:endCondLst>
                                            <p:cond evt="onStopAudio" delay="0">
                                              <p:tgtEl>
                                                <p:sldTgt/>
                                              </p:tgtEl>
                                            </p:cond>
                                          </p:endCondLst>
                                        </p:cTn>
                                        <p:tgtEl>
                                          <p:sndTgt r:embed="rId2" name="camera.wav"/>
                                        </p:tgtEl>
                                      </p:cMediaNode>
                                    </p:audio>
                                  </p:subTnLst>
                                </p:cTn>
                              </p:par>
                            </p:childTnLst>
                          </p:cTn>
                        </p:par>
                      </p:childTnLst>
                    </p:cTn>
                  </p:par>
                  <p:par>
                    <p:cTn id="263" fill="hold">
                      <p:stCondLst>
                        <p:cond delay="indefinite"/>
                      </p:stCondLst>
                      <p:childTnLst>
                        <p:par>
                          <p:cTn id="264" fill="hold">
                            <p:stCondLst>
                              <p:cond delay="0"/>
                            </p:stCondLst>
                            <p:childTnLst>
                              <p:par>
                                <p:cTn id="265" presetID="4" presetClass="entr" presetSubtype="16" fill="hold" grpId="0" nodeType="clickEffect">
                                  <p:stCondLst>
                                    <p:cond delay="0"/>
                                  </p:stCondLst>
                                  <p:childTnLst>
                                    <p:set>
                                      <p:cBhvr>
                                        <p:cTn id="266" dur="1" fill="hold">
                                          <p:stCondLst>
                                            <p:cond delay="0"/>
                                          </p:stCondLst>
                                        </p:cTn>
                                        <p:tgtEl>
                                          <p:spTgt spid="983093"/>
                                        </p:tgtEl>
                                        <p:attrNameLst>
                                          <p:attrName>style.visibility</p:attrName>
                                        </p:attrNameLst>
                                      </p:cBhvr>
                                      <p:to>
                                        <p:strVal val="visible"/>
                                      </p:to>
                                    </p:set>
                                    <p:animEffect transition="in" filter="box(in)">
                                      <p:cBhvr>
                                        <p:cTn id="267" dur="500"/>
                                        <p:tgtEl>
                                          <p:spTgt spid="983093"/>
                                        </p:tgtEl>
                                      </p:cBhvr>
                                    </p:animEffect>
                                  </p:childTnLst>
                                  <p:subTnLst>
                                    <p:audio>
                                      <p:cMediaNode>
                                        <p:cTn display="0" masterRel="sameClick">
                                          <p:stCondLst>
                                            <p:cond evt="begin" delay="0">
                                              <p:tn val="265"/>
                                            </p:cond>
                                          </p:stCondLst>
                                          <p:endCondLst>
                                            <p:cond evt="onStopAudio" delay="0">
                                              <p:tgtEl>
                                                <p:sldTgt/>
                                              </p:tgtEl>
                                            </p:cond>
                                          </p:endCondLst>
                                        </p:cTn>
                                        <p:tgtEl>
                                          <p:sndTgt r:embed="rId2" name="camera.wav"/>
                                        </p:tgtEl>
                                      </p:cMediaNode>
                                    </p:audio>
                                  </p:subTnLst>
                                </p:cTn>
                              </p:par>
                            </p:childTnLst>
                          </p:cTn>
                        </p:par>
                      </p:childTnLst>
                    </p:cTn>
                  </p:par>
                  <p:par>
                    <p:cTn id="268" fill="hold">
                      <p:stCondLst>
                        <p:cond delay="indefinite"/>
                      </p:stCondLst>
                      <p:childTnLst>
                        <p:par>
                          <p:cTn id="269" fill="hold">
                            <p:stCondLst>
                              <p:cond delay="0"/>
                            </p:stCondLst>
                            <p:childTnLst>
                              <p:par>
                                <p:cTn id="270" presetID="4" presetClass="entr" presetSubtype="16" fill="hold" grpId="0" nodeType="clickEffect">
                                  <p:stCondLst>
                                    <p:cond delay="0"/>
                                  </p:stCondLst>
                                  <p:childTnLst>
                                    <p:set>
                                      <p:cBhvr>
                                        <p:cTn id="271" dur="1" fill="hold">
                                          <p:stCondLst>
                                            <p:cond delay="0"/>
                                          </p:stCondLst>
                                        </p:cTn>
                                        <p:tgtEl>
                                          <p:spTgt spid="983091"/>
                                        </p:tgtEl>
                                        <p:attrNameLst>
                                          <p:attrName>style.visibility</p:attrName>
                                        </p:attrNameLst>
                                      </p:cBhvr>
                                      <p:to>
                                        <p:strVal val="visible"/>
                                      </p:to>
                                    </p:set>
                                    <p:animEffect transition="in" filter="box(in)">
                                      <p:cBhvr>
                                        <p:cTn id="272" dur="500"/>
                                        <p:tgtEl>
                                          <p:spTgt spid="983091"/>
                                        </p:tgtEl>
                                      </p:cBhvr>
                                    </p:animEffect>
                                  </p:childTnLst>
                                  <p:subTnLst>
                                    <p:audio>
                                      <p:cMediaNode>
                                        <p:cTn display="0" masterRel="sameClick">
                                          <p:stCondLst>
                                            <p:cond evt="begin" delay="0">
                                              <p:tn val="270"/>
                                            </p:cond>
                                          </p:stCondLst>
                                          <p:endCondLst>
                                            <p:cond evt="onStopAudio" delay="0">
                                              <p:tgtEl>
                                                <p:sldTgt/>
                                              </p:tgtEl>
                                            </p:cond>
                                          </p:endCondLst>
                                        </p:cTn>
                                        <p:tgtEl>
                                          <p:sndTgt r:embed="rId2" name="camera.wav"/>
                                        </p:tgtEl>
                                      </p:cMediaNode>
                                    </p:audio>
                                  </p:subTnLst>
                                </p:cTn>
                              </p:par>
                            </p:childTnLst>
                          </p:cTn>
                        </p:par>
                      </p:childTnLst>
                    </p:cTn>
                  </p:par>
                  <p:par>
                    <p:cTn id="273" fill="hold">
                      <p:stCondLst>
                        <p:cond delay="indefinite"/>
                      </p:stCondLst>
                      <p:childTnLst>
                        <p:par>
                          <p:cTn id="274" fill="hold">
                            <p:stCondLst>
                              <p:cond delay="0"/>
                            </p:stCondLst>
                            <p:childTnLst>
                              <p:par>
                                <p:cTn id="275" presetID="4" presetClass="entr" presetSubtype="32" fill="hold" nodeType="clickEffect">
                                  <p:stCondLst>
                                    <p:cond delay="0"/>
                                  </p:stCondLst>
                                  <p:childTnLst>
                                    <p:set>
                                      <p:cBhvr>
                                        <p:cTn id="276" dur="1" fill="hold">
                                          <p:stCondLst>
                                            <p:cond delay="0"/>
                                          </p:stCondLst>
                                        </p:cTn>
                                        <p:tgtEl>
                                          <p:spTgt spid="983188"/>
                                        </p:tgtEl>
                                        <p:attrNameLst>
                                          <p:attrName>style.visibility</p:attrName>
                                        </p:attrNameLst>
                                      </p:cBhvr>
                                      <p:to>
                                        <p:strVal val="visible"/>
                                      </p:to>
                                    </p:set>
                                    <p:animEffect transition="in" filter="box(out)">
                                      <p:cBhvr>
                                        <p:cTn id="277" dur="500"/>
                                        <p:tgtEl>
                                          <p:spTgt spid="983188"/>
                                        </p:tgtEl>
                                      </p:cBhvr>
                                    </p:animEffect>
                                  </p:childTnLst>
                                  <p:subTnLst>
                                    <p:audio>
                                      <p:cMediaNode>
                                        <p:cTn display="0" masterRel="sameClick">
                                          <p:stCondLst>
                                            <p:cond evt="begin" delay="0">
                                              <p:tn val="275"/>
                                            </p:cond>
                                          </p:stCondLst>
                                          <p:endCondLst>
                                            <p:cond evt="onStopAudio" delay="0">
                                              <p:tgtEl>
                                                <p:sldTgt/>
                                              </p:tgtEl>
                                            </p:cond>
                                          </p:endCondLst>
                                        </p:cTn>
                                        <p:tgtEl>
                                          <p:sndTgt r:embed="rId2" name="camera.wav"/>
                                        </p:tgtEl>
                                      </p:cMediaNode>
                                    </p:audio>
                                  </p:subTnLst>
                                </p:cTn>
                              </p:par>
                            </p:childTnLst>
                          </p:cTn>
                        </p:par>
                      </p:childTnLst>
                    </p:cTn>
                  </p:par>
                  <p:par>
                    <p:cTn id="278" fill="hold">
                      <p:stCondLst>
                        <p:cond delay="indefinite"/>
                      </p:stCondLst>
                      <p:childTnLst>
                        <p:par>
                          <p:cTn id="279" fill="hold">
                            <p:stCondLst>
                              <p:cond delay="0"/>
                            </p:stCondLst>
                            <p:childTnLst>
                              <p:par>
                                <p:cTn id="280" presetID="18" presetClass="entr" presetSubtype="6" fill="hold" nodeType="clickEffect">
                                  <p:stCondLst>
                                    <p:cond delay="0"/>
                                  </p:stCondLst>
                                  <p:childTnLst>
                                    <p:set>
                                      <p:cBhvr>
                                        <p:cTn id="281" dur="1" fill="hold">
                                          <p:stCondLst>
                                            <p:cond delay="0"/>
                                          </p:stCondLst>
                                        </p:cTn>
                                        <p:tgtEl>
                                          <p:spTgt spid="983189"/>
                                        </p:tgtEl>
                                        <p:attrNameLst>
                                          <p:attrName>style.visibility</p:attrName>
                                        </p:attrNameLst>
                                      </p:cBhvr>
                                      <p:to>
                                        <p:strVal val="visible"/>
                                      </p:to>
                                    </p:set>
                                    <p:animEffect transition="in" filter="strips(downRight)">
                                      <p:cBhvr>
                                        <p:cTn id="282" dur="500"/>
                                        <p:tgtEl>
                                          <p:spTgt spid="983189"/>
                                        </p:tgtEl>
                                      </p:cBhvr>
                                    </p:animEffect>
                                  </p:childTnLst>
                                  <p:subTnLst>
                                    <p:set>
                                      <p:cBhvr override="childStyle">
                                        <p:cTn dur="1" fill="hold" display="0" masterRel="nextClick" afterEffect="1"/>
                                        <p:tgtEl>
                                          <p:spTgt spid="983189"/>
                                        </p:tgtEl>
                                        <p:attrNameLst>
                                          <p:attrName>style.visibility</p:attrName>
                                        </p:attrNameLst>
                                      </p:cBhvr>
                                      <p:to>
                                        <p:strVal val="hidden"/>
                                      </p:to>
                                    </p:set>
                                    <p:audio>
                                      <p:cMediaNode>
                                        <p:cTn display="0" masterRel="sameClick">
                                          <p:stCondLst>
                                            <p:cond evt="begin" delay="0">
                                              <p:tn val="280"/>
                                            </p:cond>
                                          </p:stCondLst>
                                          <p:endCondLst>
                                            <p:cond evt="onStopAudio" delay="0">
                                              <p:tgtEl>
                                                <p:sldTgt/>
                                              </p:tgtEl>
                                            </p:cond>
                                          </p:endCondLst>
                                        </p:cTn>
                                        <p:tgtEl>
                                          <p:sndTgt r:embed="rId2" name="camera.wav"/>
                                        </p:tgtEl>
                                      </p:cMediaNode>
                                    </p:audio>
                                  </p:subTnLst>
                                </p:cTn>
                              </p:par>
                            </p:childTnLst>
                          </p:cTn>
                        </p:par>
                      </p:childTnLst>
                    </p:cTn>
                  </p:par>
                  <p:par>
                    <p:cTn id="283" fill="hold">
                      <p:stCondLst>
                        <p:cond delay="indefinite"/>
                      </p:stCondLst>
                      <p:childTnLst>
                        <p:par>
                          <p:cTn id="284" fill="hold">
                            <p:stCondLst>
                              <p:cond delay="0"/>
                            </p:stCondLst>
                            <p:childTnLst>
                              <p:par>
                                <p:cTn id="285" presetID="4" presetClass="entr" presetSubtype="16" fill="hold" grpId="0" nodeType="clickEffect">
                                  <p:stCondLst>
                                    <p:cond delay="0"/>
                                  </p:stCondLst>
                                  <p:childTnLst>
                                    <p:set>
                                      <p:cBhvr>
                                        <p:cTn id="286" dur="1" fill="hold">
                                          <p:stCondLst>
                                            <p:cond delay="0"/>
                                          </p:stCondLst>
                                        </p:cTn>
                                        <p:tgtEl>
                                          <p:spTgt spid="983090"/>
                                        </p:tgtEl>
                                        <p:attrNameLst>
                                          <p:attrName>style.visibility</p:attrName>
                                        </p:attrNameLst>
                                      </p:cBhvr>
                                      <p:to>
                                        <p:strVal val="visible"/>
                                      </p:to>
                                    </p:set>
                                    <p:animEffect transition="in" filter="box(in)">
                                      <p:cBhvr>
                                        <p:cTn id="287" dur="500"/>
                                        <p:tgtEl>
                                          <p:spTgt spid="983090"/>
                                        </p:tgtEl>
                                      </p:cBhvr>
                                    </p:animEffect>
                                  </p:childTnLst>
                                  <p:subTnLst>
                                    <p:audio>
                                      <p:cMediaNode>
                                        <p:cTn display="0" masterRel="sameClick">
                                          <p:stCondLst>
                                            <p:cond evt="begin" delay="0">
                                              <p:tn val="285"/>
                                            </p:cond>
                                          </p:stCondLst>
                                          <p:endCondLst>
                                            <p:cond evt="onStopAudio" delay="0">
                                              <p:tgtEl>
                                                <p:sldTgt/>
                                              </p:tgtEl>
                                            </p:cond>
                                          </p:endCondLst>
                                        </p:cTn>
                                        <p:tgtEl>
                                          <p:sndTgt r:embed="rId2" name="camera.wav"/>
                                        </p:tgtEl>
                                      </p:cMediaNode>
                                    </p:audio>
                                  </p:subTnLst>
                                </p:cTn>
                              </p:par>
                            </p:childTnLst>
                          </p:cTn>
                        </p:par>
                      </p:childTnLst>
                    </p:cTn>
                  </p:par>
                  <p:par>
                    <p:cTn id="288" fill="hold">
                      <p:stCondLst>
                        <p:cond delay="indefinite"/>
                      </p:stCondLst>
                      <p:childTnLst>
                        <p:par>
                          <p:cTn id="289" fill="hold">
                            <p:stCondLst>
                              <p:cond delay="0"/>
                            </p:stCondLst>
                            <p:childTnLst>
                              <p:par>
                                <p:cTn id="290" presetID="4" presetClass="entr" presetSubtype="16" fill="hold" grpId="0" nodeType="clickEffect">
                                  <p:stCondLst>
                                    <p:cond delay="0"/>
                                  </p:stCondLst>
                                  <p:childTnLst>
                                    <p:set>
                                      <p:cBhvr>
                                        <p:cTn id="291" dur="1" fill="hold">
                                          <p:stCondLst>
                                            <p:cond delay="0"/>
                                          </p:stCondLst>
                                        </p:cTn>
                                        <p:tgtEl>
                                          <p:spTgt spid="983096"/>
                                        </p:tgtEl>
                                        <p:attrNameLst>
                                          <p:attrName>style.visibility</p:attrName>
                                        </p:attrNameLst>
                                      </p:cBhvr>
                                      <p:to>
                                        <p:strVal val="visible"/>
                                      </p:to>
                                    </p:set>
                                    <p:animEffect transition="in" filter="box(in)">
                                      <p:cBhvr>
                                        <p:cTn id="292" dur="500"/>
                                        <p:tgtEl>
                                          <p:spTgt spid="983096"/>
                                        </p:tgtEl>
                                      </p:cBhvr>
                                    </p:animEffect>
                                  </p:childTnLst>
                                  <p:subTnLst>
                                    <p:audio>
                                      <p:cMediaNode>
                                        <p:cTn display="0" masterRel="sameClick">
                                          <p:stCondLst>
                                            <p:cond evt="begin" delay="0">
                                              <p:tn val="290"/>
                                            </p:cond>
                                          </p:stCondLst>
                                          <p:endCondLst>
                                            <p:cond evt="onStopAudio" delay="0">
                                              <p:tgtEl>
                                                <p:sldTgt/>
                                              </p:tgtEl>
                                            </p:cond>
                                          </p:endCondLst>
                                        </p:cTn>
                                        <p:tgtEl>
                                          <p:sndTgt r:embed="rId2" name="camera.wav"/>
                                        </p:tgtEl>
                                      </p:cMediaNode>
                                    </p:audio>
                                  </p:subTnLst>
                                </p:cTn>
                              </p:par>
                            </p:childTnLst>
                          </p:cTn>
                        </p:par>
                      </p:childTnLst>
                    </p:cTn>
                  </p:par>
                  <p:par>
                    <p:cTn id="293" fill="hold">
                      <p:stCondLst>
                        <p:cond delay="indefinite"/>
                      </p:stCondLst>
                      <p:childTnLst>
                        <p:par>
                          <p:cTn id="294" fill="hold">
                            <p:stCondLst>
                              <p:cond delay="0"/>
                            </p:stCondLst>
                            <p:childTnLst>
                              <p:par>
                                <p:cTn id="295" presetID="18" presetClass="entr" presetSubtype="6" fill="hold" nodeType="clickEffect">
                                  <p:stCondLst>
                                    <p:cond delay="0"/>
                                  </p:stCondLst>
                                  <p:childTnLst>
                                    <p:set>
                                      <p:cBhvr>
                                        <p:cTn id="296" dur="1" fill="hold">
                                          <p:stCondLst>
                                            <p:cond delay="0"/>
                                          </p:stCondLst>
                                        </p:cTn>
                                        <p:tgtEl>
                                          <p:spTgt spid="983192"/>
                                        </p:tgtEl>
                                        <p:attrNameLst>
                                          <p:attrName>style.visibility</p:attrName>
                                        </p:attrNameLst>
                                      </p:cBhvr>
                                      <p:to>
                                        <p:strVal val="visible"/>
                                      </p:to>
                                    </p:set>
                                    <p:animEffect transition="in" filter="strips(downRight)">
                                      <p:cBhvr>
                                        <p:cTn id="297" dur="500"/>
                                        <p:tgtEl>
                                          <p:spTgt spid="983192"/>
                                        </p:tgtEl>
                                      </p:cBhvr>
                                    </p:animEffect>
                                  </p:childTnLst>
                                  <p:subTnLst>
                                    <p:set>
                                      <p:cBhvr override="childStyle">
                                        <p:cTn dur="1" fill="hold" display="0" masterRel="nextClick" afterEffect="1"/>
                                        <p:tgtEl>
                                          <p:spTgt spid="983192"/>
                                        </p:tgtEl>
                                        <p:attrNameLst>
                                          <p:attrName>style.visibility</p:attrName>
                                        </p:attrNameLst>
                                      </p:cBhvr>
                                      <p:to>
                                        <p:strVal val="hidden"/>
                                      </p:to>
                                    </p:set>
                                    <p:audio>
                                      <p:cMediaNode>
                                        <p:cTn display="0" masterRel="sameClick">
                                          <p:stCondLst>
                                            <p:cond evt="begin" delay="0">
                                              <p:tn val="295"/>
                                            </p:cond>
                                          </p:stCondLst>
                                          <p:endCondLst>
                                            <p:cond evt="onStopAudio" delay="0">
                                              <p:tgtEl>
                                                <p:sldTgt/>
                                              </p:tgtEl>
                                            </p:cond>
                                          </p:endCondLst>
                                        </p:cTn>
                                        <p:tgtEl>
                                          <p:sndTgt r:embed="rId2" name="camera.wav"/>
                                        </p:tgtEl>
                                      </p:cMediaNode>
                                    </p:audio>
                                  </p:subTnLst>
                                </p:cTn>
                              </p:par>
                            </p:childTnLst>
                          </p:cTn>
                        </p:par>
                      </p:childTnLst>
                    </p:cTn>
                  </p:par>
                  <p:par>
                    <p:cTn id="298" fill="hold">
                      <p:stCondLst>
                        <p:cond delay="indefinite"/>
                      </p:stCondLst>
                      <p:childTnLst>
                        <p:par>
                          <p:cTn id="299" fill="hold">
                            <p:stCondLst>
                              <p:cond delay="0"/>
                            </p:stCondLst>
                            <p:childTnLst>
                              <p:par>
                                <p:cTn id="300" presetID="4" presetClass="entr" presetSubtype="16" fill="hold" grpId="0" nodeType="clickEffect">
                                  <p:stCondLst>
                                    <p:cond delay="0"/>
                                  </p:stCondLst>
                                  <p:childTnLst>
                                    <p:set>
                                      <p:cBhvr>
                                        <p:cTn id="301" dur="1" fill="hold">
                                          <p:stCondLst>
                                            <p:cond delay="0"/>
                                          </p:stCondLst>
                                        </p:cTn>
                                        <p:tgtEl>
                                          <p:spTgt spid="983097"/>
                                        </p:tgtEl>
                                        <p:attrNameLst>
                                          <p:attrName>style.visibility</p:attrName>
                                        </p:attrNameLst>
                                      </p:cBhvr>
                                      <p:to>
                                        <p:strVal val="visible"/>
                                      </p:to>
                                    </p:set>
                                    <p:animEffect transition="in" filter="box(in)">
                                      <p:cBhvr>
                                        <p:cTn id="302" dur="500"/>
                                        <p:tgtEl>
                                          <p:spTgt spid="983097"/>
                                        </p:tgtEl>
                                      </p:cBhvr>
                                    </p:animEffect>
                                  </p:childTnLst>
                                  <p:subTnLst>
                                    <p:audio>
                                      <p:cMediaNode>
                                        <p:cTn display="0" masterRel="sameClick">
                                          <p:stCondLst>
                                            <p:cond evt="begin" delay="0">
                                              <p:tn val="300"/>
                                            </p:cond>
                                          </p:stCondLst>
                                          <p:endCondLst>
                                            <p:cond evt="onStopAudio" delay="0">
                                              <p:tgtEl>
                                                <p:sldTgt/>
                                              </p:tgtEl>
                                            </p:cond>
                                          </p:endCondLst>
                                        </p:cTn>
                                        <p:tgtEl>
                                          <p:sndTgt r:embed="rId2" name="camera.wav"/>
                                        </p:tgtEl>
                                      </p:cMediaNode>
                                    </p:audio>
                                  </p:subTnLst>
                                </p:cTn>
                              </p:par>
                            </p:childTnLst>
                          </p:cTn>
                        </p:par>
                      </p:childTnLst>
                    </p:cTn>
                  </p:par>
                  <p:par>
                    <p:cTn id="303" fill="hold">
                      <p:stCondLst>
                        <p:cond delay="indefinite"/>
                      </p:stCondLst>
                      <p:childTnLst>
                        <p:par>
                          <p:cTn id="304" fill="hold">
                            <p:stCondLst>
                              <p:cond delay="0"/>
                            </p:stCondLst>
                            <p:childTnLst>
                              <p:par>
                                <p:cTn id="305" presetID="4" presetClass="entr" presetSubtype="16" fill="hold" grpId="0" nodeType="clickEffect">
                                  <p:stCondLst>
                                    <p:cond delay="0"/>
                                  </p:stCondLst>
                                  <p:childTnLst>
                                    <p:set>
                                      <p:cBhvr>
                                        <p:cTn id="306" dur="1" fill="hold">
                                          <p:stCondLst>
                                            <p:cond delay="0"/>
                                          </p:stCondLst>
                                        </p:cTn>
                                        <p:tgtEl>
                                          <p:spTgt spid="983098"/>
                                        </p:tgtEl>
                                        <p:attrNameLst>
                                          <p:attrName>style.visibility</p:attrName>
                                        </p:attrNameLst>
                                      </p:cBhvr>
                                      <p:to>
                                        <p:strVal val="visible"/>
                                      </p:to>
                                    </p:set>
                                    <p:animEffect transition="in" filter="box(in)">
                                      <p:cBhvr>
                                        <p:cTn id="307" dur="500"/>
                                        <p:tgtEl>
                                          <p:spTgt spid="983098"/>
                                        </p:tgtEl>
                                      </p:cBhvr>
                                    </p:animEffect>
                                  </p:childTnLst>
                                  <p:subTnLst>
                                    <p:audio>
                                      <p:cMediaNode>
                                        <p:cTn display="0" masterRel="sameClick">
                                          <p:stCondLst>
                                            <p:cond evt="begin" delay="0">
                                              <p:tn val="305"/>
                                            </p:cond>
                                          </p:stCondLst>
                                          <p:endCondLst>
                                            <p:cond evt="onStopAudio" delay="0">
                                              <p:tgtEl>
                                                <p:sldTgt/>
                                              </p:tgtEl>
                                            </p:cond>
                                          </p:endCondLst>
                                        </p:cTn>
                                        <p:tgtEl>
                                          <p:sndTgt r:embed="rId2" name="camera.wav"/>
                                        </p:tgtEl>
                                      </p:cMediaNode>
                                    </p:audio>
                                  </p:subTnLst>
                                </p:cTn>
                              </p:par>
                            </p:childTnLst>
                          </p:cTn>
                        </p:par>
                      </p:childTnLst>
                    </p:cTn>
                  </p:par>
                  <p:par>
                    <p:cTn id="308" fill="hold">
                      <p:stCondLst>
                        <p:cond delay="indefinite"/>
                      </p:stCondLst>
                      <p:childTnLst>
                        <p:par>
                          <p:cTn id="309" fill="hold">
                            <p:stCondLst>
                              <p:cond delay="0"/>
                            </p:stCondLst>
                            <p:childTnLst>
                              <p:par>
                                <p:cTn id="310" presetID="18" presetClass="entr" presetSubtype="6" fill="hold" nodeType="clickEffect">
                                  <p:stCondLst>
                                    <p:cond delay="0"/>
                                  </p:stCondLst>
                                  <p:childTnLst>
                                    <p:set>
                                      <p:cBhvr>
                                        <p:cTn id="311" dur="1" fill="hold">
                                          <p:stCondLst>
                                            <p:cond delay="0"/>
                                          </p:stCondLst>
                                        </p:cTn>
                                        <p:tgtEl>
                                          <p:spTgt spid="983195"/>
                                        </p:tgtEl>
                                        <p:attrNameLst>
                                          <p:attrName>style.visibility</p:attrName>
                                        </p:attrNameLst>
                                      </p:cBhvr>
                                      <p:to>
                                        <p:strVal val="visible"/>
                                      </p:to>
                                    </p:set>
                                    <p:animEffect transition="in" filter="strips(downRight)">
                                      <p:cBhvr>
                                        <p:cTn id="312" dur="500"/>
                                        <p:tgtEl>
                                          <p:spTgt spid="983195"/>
                                        </p:tgtEl>
                                      </p:cBhvr>
                                    </p:animEffect>
                                  </p:childTnLst>
                                  <p:subTnLst>
                                    <p:set>
                                      <p:cBhvr override="childStyle">
                                        <p:cTn dur="1" fill="hold" display="0" masterRel="nextClick" afterEffect="1"/>
                                        <p:tgtEl>
                                          <p:spTgt spid="983195"/>
                                        </p:tgtEl>
                                        <p:attrNameLst>
                                          <p:attrName>style.visibility</p:attrName>
                                        </p:attrNameLst>
                                      </p:cBhvr>
                                      <p:to>
                                        <p:strVal val="hidden"/>
                                      </p:to>
                                    </p:set>
                                    <p:audio>
                                      <p:cMediaNode>
                                        <p:cTn display="0" masterRel="sameClick">
                                          <p:stCondLst>
                                            <p:cond evt="begin" delay="0">
                                              <p:tn val="310"/>
                                            </p:cond>
                                          </p:stCondLst>
                                          <p:endCondLst>
                                            <p:cond evt="onStopAudio" delay="0">
                                              <p:tgtEl>
                                                <p:sldTgt/>
                                              </p:tgtEl>
                                            </p:cond>
                                          </p:endCondLst>
                                        </p:cTn>
                                        <p:tgtEl>
                                          <p:sndTgt r:embed="rId2" name="camera.wav"/>
                                        </p:tgtEl>
                                      </p:cMediaNode>
                                    </p:audio>
                                  </p:subTnLst>
                                </p:cTn>
                              </p:par>
                            </p:childTnLst>
                          </p:cTn>
                        </p:par>
                      </p:childTnLst>
                    </p:cTn>
                  </p:par>
                  <p:par>
                    <p:cTn id="313" fill="hold">
                      <p:stCondLst>
                        <p:cond delay="indefinite"/>
                      </p:stCondLst>
                      <p:childTnLst>
                        <p:par>
                          <p:cTn id="314" fill="hold">
                            <p:stCondLst>
                              <p:cond delay="0"/>
                            </p:stCondLst>
                            <p:childTnLst>
                              <p:par>
                                <p:cTn id="315" presetID="4" presetClass="entr" presetSubtype="16" fill="hold" grpId="0" nodeType="clickEffect">
                                  <p:stCondLst>
                                    <p:cond delay="0"/>
                                  </p:stCondLst>
                                  <p:childTnLst>
                                    <p:set>
                                      <p:cBhvr>
                                        <p:cTn id="316" dur="1" fill="hold">
                                          <p:stCondLst>
                                            <p:cond delay="0"/>
                                          </p:stCondLst>
                                        </p:cTn>
                                        <p:tgtEl>
                                          <p:spTgt spid="983099"/>
                                        </p:tgtEl>
                                        <p:attrNameLst>
                                          <p:attrName>style.visibility</p:attrName>
                                        </p:attrNameLst>
                                      </p:cBhvr>
                                      <p:to>
                                        <p:strVal val="visible"/>
                                      </p:to>
                                    </p:set>
                                    <p:animEffect transition="in" filter="box(in)">
                                      <p:cBhvr>
                                        <p:cTn id="317" dur="500"/>
                                        <p:tgtEl>
                                          <p:spTgt spid="983099"/>
                                        </p:tgtEl>
                                      </p:cBhvr>
                                    </p:animEffect>
                                  </p:childTnLst>
                                  <p:subTnLst>
                                    <p:audio>
                                      <p:cMediaNode>
                                        <p:cTn display="0" masterRel="sameClick">
                                          <p:stCondLst>
                                            <p:cond evt="begin" delay="0">
                                              <p:tn val="315"/>
                                            </p:cond>
                                          </p:stCondLst>
                                          <p:endCondLst>
                                            <p:cond evt="onStopAudio" delay="0">
                                              <p:tgtEl>
                                                <p:sldTgt/>
                                              </p:tgtEl>
                                            </p:cond>
                                          </p:endCondLst>
                                        </p:cTn>
                                        <p:tgtEl>
                                          <p:sndTgt r:embed="rId2" name="camera.wav"/>
                                        </p:tgtEl>
                                      </p:cMediaNode>
                                    </p:audio>
                                  </p:subTnLst>
                                </p:cTn>
                              </p:par>
                            </p:childTnLst>
                          </p:cTn>
                        </p:par>
                      </p:childTnLst>
                    </p:cTn>
                  </p:par>
                  <p:par>
                    <p:cTn id="318" fill="hold">
                      <p:stCondLst>
                        <p:cond delay="indefinite"/>
                      </p:stCondLst>
                      <p:childTnLst>
                        <p:par>
                          <p:cTn id="319" fill="hold">
                            <p:stCondLst>
                              <p:cond delay="0"/>
                            </p:stCondLst>
                            <p:childTnLst>
                              <p:par>
                                <p:cTn id="320" presetID="4" presetClass="entr" presetSubtype="16" fill="hold" grpId="0" nodeType="clickEffect">
                                  <p:stCondLst>
                                    <p:cond delay="0"/>
                                  </p:stCondLst>
                                  <p:childTnLst>
                                    <p:set>
                                      <p:cBhvr>
                                        <p:cTn id="321" dur="1" fill="hold">
                                          <p:stCondLst>
                                            <p:cond delay="0"/>
                                          </p:stCondLst>
                                        </p:cTn>
                                        <p:tgtEl>
                                          <p:spTgt spid="983100"/>
                                        </p:tgtEl>
                                        <p:attrNameLst>
                                          <p:attrName>style.visibility</p:attrName>
                                        </p:attrNameLst>
                                      </p:cBhvr>
                                      <p:to>
                                        <p:strVal val="visible"/>
                                      </p:to>
                                    </p:set>
                                    <p:animEffect transition="in" filter="box(in)">
                                      <p:cBhvr>
                                        <p:cTn id="322" dur="500"/>
                                        <p:tgtEl>
                                          <p:spTgt spid="983100"/>
                                        </p:tgtEl>
                                      </p:cBhvr>
                                    </p:animEffect>
                                  </p:childTnLst>
                                  <p:subTnLst>
                                    <p:audio>
                                      <p:cMediaNode>
                                        <p:cTn display="0" masterRel="sameClick">
                                          <p:stCondLst>
                                            <p:cond evt="begin" delay="0">
                                              <p:tn val="320"/>
                                            </p:cond>
                                          </p:stCondLst>
                                          <p:endCondLst>
                                            <p:cond evt="onStopAudio" delay="0">
                                              <p:tgtEl>
                                                <p:sldTgt/>
                                              </p:tgtEl>
                                            </p:cond>
                                          </p:endCondLst>
                                        </p:cTn>
                                        <p:tgtEl>
                                          <p:sndTgt r:embed="rId2" name="camera.wav"/>
                                        </p:tgtEl>
                                      </p:cMediaNode>
                                    </p:audio>
                                  </p:subTnLst>
                                </p:cTn>
                              </p:par>
                            </p:childTnLst>
                          </p:cTn>
                        </p:par>
                      </p:childTnLst>
                    </p:cTn>
                  </p:par>
                  <p:par>
                    <p:cTn id="323" fill="hold">
                      <p:stCondLst>
                        <p:cond delay="indefinite"/>
                      </p:stCondLst>
                      <p:childTnLst>
                        <p:par>
                          <p:cTn id="324" fill="hold">
                            <p:stCondLst>
                              <p:cond delay="0"/>
                            </p:stCondLst>
                            <p:childTnLst>
                              <p:par>
                                <p:cTn id="325" presetID="4" presetClass="entr" presetSubtype="32" fill="hold" nodeType="clickEffect">
                                  <p:stCondLst>
                                    <p:cond delay="0"/>
                                  </p:stCondLst>
                                  <p:childTnLst>
                                    <p:set>
                                      <p:cBhvr>
                                        <p:cTn id="326" dur="1" fill="hold">
                                          <p:stCondLst>
                                            <p:cond delay="0"/>
                                          </p:stCondLst>
                                        </p:cTn>
                                        <p:tgtEl>
                                          <p:spTgt spid="983198"/>
                                        </p:tgtEl>
                                        <p:attrNameLst>
                                          <p:attrName>style.visibility</p:attrName>
                                        </p:attrNameLst>
                                      </p:cBhvr>
                                      <p:to>
                                        <p:strVal val="visible"/>
                                      </p:to>
                                    </p:set>
                                    <p:animEffect transition="in" filter="box(out)">
                                      <p:cBhvr>
                                        <p:cTn id="327" dur="500"/>
                                        <p:tgtEl>
                                          <p:spTgt spid="983198"/>
                                        </p:tgtEl>
                                      </p:cBhvr>
                                    </p:animEffect>
                                  </p:childTnLst>
                                  <p:subTnLst>
                                    <p:audio>
                                      <p:cMediaNode>
                                        <p:cTn display="0" masterRel="sameClick">
                                          <p:stCondLst>
                                            <p:cond evt="begin" delay="0">
                                              <p:tn val="325"/>
                                            </p:cond>
                                          </p:stCondLst>
                                          <p:endCondLst>
                                            <p:cond evt="onStopAudio" delay="0">
                                              <p:tgtEl>
                                                <p:sldTgt/>
                                              </p:tgtEl>
                                            </p:cond>
                                          </p:endCondLst>
                                        </p:cTn>
                                        <p:tgtEl>
                                          <p:sndTgt r:embed="rId2" name="camera.wav"/>
                                        </p:tgtEl>
                                      </p:cMediaNode>
                                    </p:audio>
                                  </p:subTnLst>
                                </p:cTn>
                              </p:par>
                            </p:childTnLst>
                          </p:cTn>
                        </p:par>
                      </p:childTnLst>
                    </p:cTn>
                  </p:par>
                  <p:par>
                    <p:cTn id="328" fill="hold">
                      <p:stCondLst>
                        <p:cond delay="indefinite"/>
                      </p:stCondLst>
                      <p:childTnLst>
                        <p:par>
                          <p:cTn id="329" fill="hold">
                            <p:stCondLst>
                              <p:cond delay="0"/>
                            </p:stCondLst>
                            <p:childTnLst>
                              <p:par>
                                <p:cTn id="330" presetID="18" presetClass="entr" presetSubtype="6" fill="hold" nodeType="clickEffect">
                                  <p:stCondLst>
                                    <p:cond delay="0"/>
                                  </p:stCondLst>
                                  <p:childTnLst>
                                    <p:set>
                                      <p:cBhvr>
                                        <p:cTn id="331" dur="1" fill="hold">
                                          <p:stCondLst>
                                            <p:cond delay="0"/>
                                          </p:stCondLst>
                                        </p:cTn>
                                        <p:tgtEl>
                                          <p:spTgt spid="983199"/>
                                        </p:tgtEl>
                                        <p:attrNameLst>
                                          <p:attrName>style.visibility</p:attrName>
                                        </p:attrNameLst>
                                      </p:cBhvr>
                                      <p:to>
                                        <p:strVal val="visible"/>
                                      </p:to>
                                    </p:set>
                                    <p:animEffect transition="in" filter="strips(downRight)">
                                      <p:cBhvr>
                                        <p:cTn id="332" dur="500"/>
                                        <p:tgtEl>
                                          <p:spTgt spid="983199"/>
                                        </p:tgtEl>
                                      </p:cBhvr>
                                    </p:animEffect>
                                  </p:childTnLst>
                                  <p:subTnLst>
                                    <p:set>
                                      <p:cBhvr override="childStyle">
                                        <p:cTn dur="1" fill="hold" display="0" masterRel="nextClick" afterEffect="1"/>
                                        <p:tgtEl>
                                          <p:spTgt spid="983199"/>
                                        </p:tgtEl>
                                        <p:attrNameLst>
                                          <p:attrName>style.visibility</p:attrName>
                                        </p:attrNameLst>
                                      </p:cBhvr>
                                      <p:to>
                                        <p:strVal val="hidden"/>
                                      </p:to>
                                    </p:set>
                                    <p:audio>
                                      <p:cMediaNode>
                                        <p:cTn display="0" masterRel="sameClick">
                                          <p:stCondLst>
                                            <p:cond evt="begin" delay="0">
                                              <p:tn val="330"/>
                                            </p:cond>
                                          </p:stCondLst>
                                          <p:endCondLst>
                                            <p:cond evt="onStopAudio" delay="0">
                                              <p:tgtEl>
                                                <p:sldTgt/>
                                              </p:tgtEl>
                                            </p:cond>
                                          </p:endCondLst>
                                        </p:cTn>
                                        <p:tgtEl>
                                          <p:sndTgt r:embed="rId2" name="camera.wav"/>
                                        </p:tgtEl>
                                      </p:cMediaNode>
                                    </p:audio>
                                  </p:subTnLst>
                                </p:cTn>
                              </p:par>
                            </p:childTnLst>
                          </p:cTn>
                        </p:par>
                      </p:childTnLst>
                    </p:cTn>
                  </p:par>
                  <p:par>
                    <p:cTn id="333" fill="hold">
                      <p:stCondLst>
                        <p:cond delay="indefinite"/>
                      </p:stCondLst>
                      <p:childTnLst>
                        <p:par>
                          <p:cTn id="334" fill="hold">
                            <p:stCondLst>
                              <p:cond delay="0"/>
                            </p:stCondLst>
                            <p:childTnLst>
                              <p:par>
                                <p:cTn id="335" presetID="18" presetClass="entr" presetSubtype="6" fill="hold" nodeType="clickEffect">
                                  <p:stCondLst>
                                    <p:cond delay="0"/>
                                  </p:stCondLst>
                                  <p:childTnLst>
                                    <p:set>
                                      <p:cBhvr>
                                        <p:cTn id="336" dur="1" fill="hold">
                                          <p:stCondLst>
                                            <p:cond delay="0"/>
                                          </p:stCondLst>
                                        </p:cTn>
                                        <p:tgtEl>
                                          <p:spTgt spid="983202"/>
                                        </p:tgtEl>
                                        <p:attrNameLst>
                                          <p:attrName>style.visibility</p:attrName>
                                        </p:attrNameLst>
                                      </p:cBhvr>
                                      <p:to>
                                        <p:strVal val="visible"/>
                                      </p:to>
                                    </p:set>
                                    <p:animEffect transition="in" filter="strips(downRight)">
                                      <p:cBhvr>
                                        <p:cTn id="337" dur="500"/>
                                        <p:tgtEl>
                                          <p:spTgt spid="983202"/>
                                        </p:tgtEl>
                                      </p:cBhvr>
                                    </p:animEffect>
                                  </p:childTnLst>
                                  <p:subTnLst>
                                    <p:set>
                                      <p:cBhvr override="childStyle">
                                        <p:cTn dur="1" fill="hold" display="0" masterRel="nextClick" afterEffect="1"/>
                                        <p:tgtEl>
                                          <p:spTgt spid="983202"/>
                                        </p:tgtEl>
                                        <p:attrNameLst>
                                          <p:attrName>style.visibility</p:attrName>
                                        </p:attrNameLst>
                                      </p:cBhvr>
                                      <p:to>
                                        <p:strVal val="hidden"/>
                                      </p:to>
                                    </p:set>
                                    <p:audio>
                                      <p:cMediaNode>
                                        <p:cTn display="0" masterRel="sameClick">
                                          <p:stCondLst>
                                            <p:cond evt="begin" delay="0">
                                              <p:tn val="335"/>
                                            </p:cond>
                                          </p:stCondLst>
                                          <p:endCondLst>
                                            <p:cond evt="onStopAudio" delay="0">
                                              <p:tgtEl>
                                                <p:sldTgt/>
                                              </p:tgtEl>
                                            </p:cond>
                                          </p:endCondLst>
                                        </p:cTn>
                                        <p:tgtEl>
                                          <p:sndTgt r:embed="rId2" name="camera.wav"/>
                                        </p:tgtEl>
                                      </p:cMediaNode>
                                    </p:audio>
                                  </p:subTnLst>
                                </p:cTn>
                              </p:par>
                            </p:childTnLst>
                          </p:cTn>
                        </p:par>
                      </p:childTnLst>
                    </p:cTn>
                  </p:par>
                  <p:par>
                    <p:cTn id="338" fill="hold">
                      <p:stCondLst>
                        <p:cond delay="indefinite"/>
                      </p:stCondLst>
                      <p:childTnLst>
                        <p:par>
                          <p:cTn id="339" fill="hold">
                            <p:stCondLst>
                              <p:cond delay="0"/>
                            </p:stCondLst>
                            <p:childTnLst>
                              <p:par>
                                <p:cTn id="340" presetID="4" presetClass="entr" presetSubtype="32" fill="hold" nodeType="clickEffect">
                                  <p:stCondLst>
                                    <p:cond delay="0"/>
                                  </p:stCondLst>
                                  <p:childTnLst>
                                    <p:set>
                                      <p:cBhvr>
                                        <p:cTn id="341" dur="1" fill="hold">
                                          <p:stCondLst>
                                            <p:cond delay="0"/>
                                          </p:stCondLst>
                                        </p:cTn>
                                        <p:tgtEl>
                                          <p:spTgt spid="983208"/>
                                        </p:tgtEl>
                                        <p:attrNameLst>
                                          <p:attrName>style.visibility</p:attrName>
                                        </p:attrNameLst>
                                      </p:cBhvr>
                                      <p:to>
                                        <p:strVal val="visible"/>
                                      </p:to>
                                    </p:set>
                                    <p:animEffect transition="in" filter="box(out)">
                                      <p:cBhvr>
                                        <p:cTn id="342" dur="500"/>
                                        <p:tgtEl>
                                          <p:spTgt spid="983208"/>
                                        </p:tgtEl>
                                      </p:cBhvr>
                                    </p:animEffect>
                                  </p:childTnLst>
                                  <p:subTnLst>
                                    <p:audio>
                                      <p:cMediaNode>
                                        <p:cTn display="0" masterRel="sameClick">
                                          <p:stCondLst>
                                            <p:cond evt="begin" delay="0">
                                              <p:tn val="340"/>
                                            </p:cond>
                                          </p:stCondLst>
                                          <p:endCondLst>
                                            <p:cond evt="onStopAudio" delay="0">
                                              <p:tgtEl>
                                                <p:sldTgt/>
                                              </p:tgtEl>
                                            </p:cond>
                                          </p:endCondLst>
                                        </p:cTn>
                                        <p:tgtEl>
                                          <p:sndTgt r:embed="rId2" name="camera.wav"/>
                                        </p:tgtEl>
                                      </p:cMediaNode>
                                    </p:audio>
                                  </p:subTnLst>
                                </p:cTn>
                              </p:par>
                            </p:childTnLst>
                          </p:cTn>
                        </p:par>
                      </p:childTnLst>
                    </p:cTn>
                  </p:par>
                  <p:par>
                    <p:cTn id="343" fill="hold">
                      <p:stCondLst>
                        <p:cond delay="indefinite"/>
                      </p:stCondLst>
                      <p:childTnLst>
                        <p:par>
                          <p:cTn id="344" fill="hold">
                            <p:stCondLst>
                              <p:cond delay="0"/>
                            </p:stCondLst>
                            <p:childTnLst>
                              <p:par>
                                <p:cTn id="345" presetID="18" presetClass="entr" presetSubtype="6" fill="hold" nodeType="clickEffect">
                                  <p:stCondLst>
                                    <p:cond delay="0"/>
                                  </p:stCondLst>
                                  <p:childTnLst>
                                    <p:set>
                                      <p:cBhvr>
                                        <p:cTn id="346" dur="1" fill="hold">
                                          <p:stCondLst>
                                            <p:cond delay="0"/>
                                          </p:stCondLst>
                                        </p:cTn>
                                        <p:tgtEl>
                                          <p:spTgt spid="983209"/>
                                        </p:tgtEl>
                                        <p:attrNameLst>
                                          <p:attrName>style.visibility</p:attrName>
                                        </p:attrNameLst>
                                      </p:cBhvr>
                                      <p:to>
                                        <p:strVal val="visible"/>
                                      </p:to>
                                    </p:set>
                                    <p:animEffect transition="in" filter="strips(downRight)">
                                      <p:cBhvr>
                                        <p:cTn id="347" dur="500"/>
                                        <p:tgtEl>
                                          <p:spTgt spid="983209"/>
                                        </p:tgtEl>
                                      </p:cBhvr>
                                    </p:animEffect>
                                  </p:childTnLst>
                                  <p:subTnLst>
                                    <p:set>
                                      <p:cBhvr override="childStyle">
                                        <p:cTn dur="1" fill="hold" display="0" masterRel="nextClick" afterEffect="1"/>
                                        <p:tgtEl>
                                          <p:spTgt spid="983209"/>
                                        </p:tgtEl>
                                        <p:attrNameLst>
                                          <p:attrName>style.visibility</p:attrName>
                                        </p:attrNameLst>
                                      </p:cBhvr>
                                      <p:to>
                                        <p:strVal val="hidden"/>
                                      </p:to>
                                    </p:set>
                                    <p:audio>
                                      <p:cMediaNode>
                                        <p:cTn display="0" masterRel="sameClick">
                                          <p:stCondLst>
                                            <p:cond evt="begin" delay="0">
                                              <p:tn val="345"/>
                                            </p:cond>
                                          </p:stCondLst>
                                          <p:endCondLst>
                                            <p:cond evt="onStopAudio" delay="0">
                                              <p:tgtEl>
                                                <p:sldTgt/>
                                              </p:tgtEl>
                                            </p:cond>
                                          </p:endCondLst>
                                        </p:cTn>
                                        <p:tgtEl>
                                          <p:sndTgt r:embed="rId2" name="camera.wav"/>
                                        </p:tgtEl>
                                      </p:cMediaNode>
                                    </p:audio>
                                  </p:subTnLst>
                                </p:cTn>
                              </p:par>
                            </p:childTnLst>
                          </p:cTn>
                        </p:par>
                      </p:childTnLst>
                    </p:cTn>
                  </p:par>
                  <p:par>
                    <p:cTn id="348" fill="hold">
                      <p:stCondLst>
                        <p:cond delay="indefinite"/>
                      </p:stCondLst>
                      <p:childTnLst>
                        <p:par>
                          <p:cTn id="349" fill="hold">
                            <p:stCondLst>
                              <p:cond delay="0"/>
                            </p:stCondLst>
                            <p:childTnLst>
                              <p:par>
                                <p:cTn id="350" presetID="4" presetClass="entr" presetSubtype="32" fill="hold" nodeType="clickEffect">
                                  <p:stCondLst>
                                    <p:cond delay="0"/>
                                  </p:stCondLst>
                                  <p:childTnLst>
                                    <p:set>
                                      <p:cBhvr>
                                        <p:cTn id="351" dur="1" fill="hold">
                                          <p:stCondLst>
                                            <p:cond delay="0"/>
                                          </p:stCondLst>
                                        </p:cTn>
                                        <p:tgtEl>
                                          <p:spTgt spid="983101"/>
                                        </p:tgtEl>
                                        <p:attrNameLst>
                                          <p:attrName>style.visibility</p:attrName>
                                        </p:attrNameLst>
                                      </p:cBhvr>
                                      <p:to>
                                        <p:strVal val="visible"/>
                                      </p:to>
                                    </p:set>
                                    <p:animEffect transition="in" filter="box(out)">
                                      <p:cBhvr>
                                        <p:cTn id="352" dur="500"/>
                                        <p:tgtEl>
                                          <p:spTgt spid="983101"/>
                                        </p:tgtEl>
                                      </p:cBhvr>
                                    </p:animEffect>
                                  </p:childTnLst>
                                  <p:subTnLst>
                                    <p:audio>
                                      <p:cMediaNode>
                                        <p:cTn display="0" masterRel="sameClick">
                                          <p:stCondLst>
                                            <p:cond evt="begin" delay="0">
                                              <p:tn val="35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7" grpId="0" animBg="1"/>
      <p:bldP spid="983068" grpId="0" animBg="1"/>
      <p:bldP spid="983069" grpId="0" animBg="1"/>
      <p:bldP spid="983070" grpId="0" animBg="1"/>
      <p:bldP spid="983072" grpId="0" animBg="1"/>
      <p:bldP spid="983073" grpId="0" animBg="1"/>
      <p:bldP spid="983076" grpId="0" animBg="1"/>
      <p:bldP spid="983071" grpId="0" animBg="1"/>
      <p:bldP spid="983074" grpId="0" animBg="1"/>
      <p:bldP spid="983075" grpId="0" animBg="1"/>
      <p:bldP spid="983077" grpId="0" animBg="1"/>
      <p:bldP spid="983078" grpId="0" animBg="1"/>
      <p:bldP spid="983079" grpId="0" animBg="1"/>
      <p:bldP spid="983080" grpId="0" animBg="1"/>
      <p:bldP spid="983081" grpId="0" animBg="1"/>
      <p:bldP spid="983082" grpId="0" animBg="1"/>
      <p:bldP spid="983083" grpId="0" animBg="1"/>
      <p:bldP spid="983084" grpId="0" animBg="1"/>
      <p:bldP spid="983086" grpId="0" animBg="1"/>
      <p:bldP spid="983088" grpId="0" animBg="1"/>
      <p:bldP spid="983085" grpId="0" animBg="1"/>
      <p:bldP spid="983087" grpId="0" animBg="1"/>
      <p:bldP spid="983089" grpId="0" animBg="1"/>
      <p:bldP spid="983091" grpId="0" animBg="1"/>
      <p:bldP spid="983092" grpId="0" animBg="1"/>
      <p:bldP spid="983094" grpId="0" animBg="1"/>
      <p:bldP spid="983095" grpId="0" animBg="1"/>
      <p:bldP spid="983093" grpId="0" animBg="1"/>
      <p:bldP spid="983090" grpId="0" animBg="1"/>
      <p:bldP spid="983096" grpId="0" animBg="1"/>
      <p:bldP spid="983098" grpId="0" animBg="1"/>
      <p:bldP spid="983100" grpId="0" animBg="1"/>
      <p:bldP spid="983097" grpId="0" animBg="1"/>
      <p:bldP spid="98309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a:extLst>
              <a:ext uri="{FF2B5EF4-FFF2-40B4-BE49-F238E27FC236}">
                <a16:creationId xmlns:a16="http://schemas.microsoft.com/office/drawing/2014/main" id="{F907AFB4-3C28-45D8-82AF-8FE6905B867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4089" name="Text Box 25" descr="信纸"/>
          <p:cNvSpPr txBox="1">
            <a:spLocks noChangeArrowheads="1"/>
          </p:cNvSpPr>
          <p:nvPr/>
        </p:nvSpPr>
        <p:spPr bwMode="auto">
          <a:xfrm>
            <a:off x="1127448" y="150089"/>
            <a:ext cx="9631674" cy="6557822"/>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#define  NUM   10</a:t>
            </a:r>
          </a:p>
          <a:p>
            <a:pPr marL="457200" indent="-457200"/>
            <a:r>
              <a:rPr lang="en-US" altLang="zh-CN" sz="2000" b="1" dirty="0">
                <a:solidFill>
                  <a:srgbClr val="CC3300"/>
                </a:solidFill>
                <a:ea typeface="楷体_GB2312" pitchFamily="49" charset="-122"/>
              </a:rPr>
              <a:t>  </a:t>
            </a: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a[NUM], </a:t>
            </a:r>
            <a:r>
              <a:rPr lang="en-US" altLang="zh-CN" sz="2000" b="1" dirty="0" err="1">
                <a:ea typeface="楷体_GB2312" pitchFamily="49" charset="-122"/>
              </a:rPr>
              <a:t>i</a:t>
            </a:r>
            <a:r>
              <a:rPr lang="en-US" altLang="zh-CN" sz="2000" b="1" dirty="0">
                <a:ea typeface="楷体_GB2312" pitchFamily="49" charset="-122"/>
              </a:rPr>
              <a:t>, j, 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%d numbers: \n", NUM);</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输入</a:t>
            </a:r>
            <a:r>
              <a:rPr lang="en-US" altLang="zh-CN" sz="1600" b="1" dirty="0">
                <a:solidFill>
                  <a:srgbClr val="002060"/>
                </a:solidFill>
                <a:ea typeface="楷体" pitchFamily="49" charset="-122"/>
              </a:rPr>
              <a:t>NUM</a:t>
            </a:r>
            <a:r>
              <a:rPr lang="zh-CN" altLang="en-US" sz="1600" b="1" dirty="0">
                <a:solidFill>
                  <a:srgbClr val="002060"/>
                </a:solidFill>
                <a:ea typeface="楷体" pitchFamily="49" charset="-122"/>
              </a:rPr>
              <a:t>个整数</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&amp;a[</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a:solidFill>
                  <a:srgbClr val="C01920"/>
                </a:solidFill>
                <a:ea typeface="楷体_GB2312" pitchFamily="49" charset="-122"/>
              </a:rPr>
              <a:t>for (</a:t>
            </a:r>
            <a:r>
              <a:rPr lang="en-US" altLang="zh-CN" sz="2000" b="1" dirty="0" err="1">
                <a:solidFill>
                  <a:srgbClr val="C01920"/>
                </a:solidFill>
                <a:ea typeface="楷体_GB2312" pitchFamily="49" charset="-122"/>
              </a:rPr>
              <a:t>i</a:t>
            </a:r>
            <a:r>
              <a:rPr lang="en-US" altLang="zh-CN" sz="2000" b="1" dirty="0">
                <a:solidFill>
                  <a:srgbClr val="C01920"/>
                </a:solidFill>
                <a:ea typeface="楷体_GB2312" pitchFamily="49" charset="-122"/>
              </a:rPr>
              <a:t> = 1; </a:t>
            </a:r>
            <a:r>
              <a:rPr lang="en-US" altLang="zh-CN" sz="2000" b="1" dirty="0" err="1">
                <a:solidFill>
                  <a:srgbClr val="C01920"/>
                </a:solidFill>
                <a:ea typeface="楷体_GB2312" pitchFamily="49" charset="-122"/>
              </a:rPr>
              <a:t>i</a:t>
            </a:r>
            <a:r>
              <a:rPr lang="en-US" altLang="zh-CN" sz="2000" b="1" dirty="0">
                <a:solidFill>
                  <a:srgbClr val="C01920"/>
                </a:solidFill>
                <a:ea typeface="楷体_GB2312" pitchFamily="49" charset="-122"/>
              </a:rPr>
              <a:t> &lt; NUM; </a:t>
            </a:r>
            <a:r>
              <a:rPr lang="en-US" altLang="zh-CN" sz="2000" b="1" dirty="0" err="1">
                <a:solidFill>
                  <a:srgbClr val="C01920"/>
                </a:solidFill>
                <a:ea typeface="楷体_GB2312" pitchFamily="49" charset="-122"/>
              </a:rPr>
              <a:t>i</a:t>
            </a:r>
            <a:r>
              <a:rPr lang="en-US" altLang="zh-CN" sz="2000" b="1" dirty="0">
                <a:solidFill>
                  <a:srgbClr val="C01920"/>
                </a:solidFill>
                <a:ea typeface="楷体_GB2312" pitchFamily="49" charset="-122"/>
              </a:rPr>
              <a:t>++)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趟数，共</a:t>
            </a:r>
            <a:r>
              <a:rPr lang="en-US" altLang="zh-CN" sz="1600" b="1" dirty="0">
                <a:solidFill>
                  <a:srgbClr val="002060"/>
                </a:solidFill>
                <a:ea typeface="楷体" pitchFamily="49" charset="-122"/>
              </a:rPr>
              <a:t>NUM-1</a:t>
            </a:r>
            <a:r>
              <a:rPr lang="zh-CN" altLang="en-US" sz="1600" b="1" dirty="0">
                <a:solidFill>
                  <a:srgbClr val="002060"/>
                </a:solidFill>
                <a:ea typeface="楷体" pitchFamily="49" charset="-122"/>
              </a:rPr>
              <a:t>趟</a:t>
            </a:r>
          </a:p>
          <a:p>
            <a:pPr marL="457200" indent="-457200"/>
            <a:r>
              <a:rPr lang="zh-CN" altLang="en-US" sz="2000" b="1" dirty="0">
                <a:ea typeface="楷体_GB2312" pitchFamily="49" charset="-122"/>
              </a:rPr>
              <a:t>       </a:t>
            </a:r>
            <a:r>
              <a:rPr lang="en-US" altLang="zh-CN" sz="2000" b="1" dirty="0">
                <a:solidFill>
                  <a:schemeClr val="accent1">
                    <a:lumMod val="50000"/>
                  </a:schemeClr>
                </a:solidFill>
                <a:ea typeface="楷体_GB2312" pitchFamily="49" charset="-122"/>
              </a:rPr>
              <a:t>for (j = 0; j &lt; NUM - </a:t>
            </a:r>
            <a:r>
              <a:rPr lang="en-US" altLang="zh-CN" sz="2000" b="1" dirty="0" err="1">
                <a:solidFill>
                  <a:schemeClr val="accent1">
                    <a:lumMod val="50000"/>
                  </a:schemeClr>
                </a:solidFill>
                <a:ea typeface="楷体_GB2312" pitchFamily="49" charset="-122"/>
              </a:rPr>
              <a:t>i</a:t>
            </a:r>
            <a:r>
              <a:rPr lang="en-US" altLang="zh-CN" sz="2000" b="1" dirty="0">
                <a:solidFill>
                  <a:schemeClr val="accent1">
                    <a:lumMod val="50000"/>
                  </a:schemeClr>
                </a:solidFill>
                <a:ea typeface="楷体_GB2312" pitchFamily="49" charset="-122"/>
              </a:rPr>
              <a:t>; </a:t>
            </a:r>
            <a:r>
              <a:rPr lang="en-US" altLang="zh-CN" sz="2000" b="1" dirty="0" err="1">
                <a:solidFill>
                  <a:schemeClr val="accent1">
                    <a:lumMod val="50000"/>
                  </a:schemeClr>
                </a:solidFill>
                <a:ea typeface="楷体_GB2312" pitchFamily="49" charset="-122"/>
              </a:rPr>
              <a:t>j++</a:t>
            </a:r>
            <a:r>
              <a:rPr lang="en-US" altLang="zh-CN" sz="2000" b="1" dirty="0">
                <a:solidFill>
                  <a:schemeClr val="accent1">
                    <a:lumMod val="50000"/>
                  </a:schemeClr>
                </a:solidFill>
                <a:ea typeface="楷体_GB2312" pitchFamily="49" charset="-122"/>
              </a:rPr>
              <a:t>)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实现一次冒泡操作</a:t>
            </a:r>
          </a:p>
          <a:p>
            <a:pPr marL="457200" indent="-457200"/>
            <a:r>
              <a:rPr lang="zh-CN" altLang="en-US" sz="2000" b="1" dirty="0">
                <a:ea typeface="楷体_GB2312" pitchFamily="49" charset="-122"/>
              </a:rPr>
              <a:t>          </a:t>
            </a:r>
            <a:r>
              <a:rPr lang="en-US" altLang="zh-CN" sz="2000" b="1" dirty="0">
                <a:ea typeface="楷体_GB2312" pitchFamily="49" charset="-122"/>
              </a:rPr>
              <a:t>if (a[j] &gt; a[j+1])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交换</a:t>
            </a:r>
            <a:r>
              <a:rPr lang="en-US" altLang="zh-CN" sz="1600" b="1" dirty="0">
                <a:solidFill>
                  <a:srgbClr val="002060"/>
                </a:solidFill>
                <a:ea typeface="楷体" pitchFamily="49" charset="-122"/>
              </a:rPr>
              <a:t>a[j]</a:t>
            </a:r>
            <a:r>
              <a:rPr lang="zh-CN" altLang="en-US" sz="1600" b="1" dirty="0">
                <a:solidFill>
                  <a:srgbClr val="002060"/>
                </a:solidFill>
                <a:ea typeface="楷体" pitchFamily="49" charset="-122"/>
              </a:rPr>
              <a:t>和</a:t>
            </a:r>
            <a:r>
              <a:rPr lang="en-US" altLang="zh-CN" sz="1600" b="1" dirty="0">
                <a:solidFill>
                  <a:srgbClr val="002060"/>
                </a:solidFill>
                <a:ea typeface="楷体" pitchFamily="49" charset="-122"/>
              </a:rPr>
              <a:t>a[j+1]</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t = a[j];</a:t>
            </a:r>
          </a:p>
          <a:p>
            <a:pPr marL="457200" indent="-457200"/>
            <a:r>
              <a:rPr lang="en-US" altLang="zh-CN" sz="2000" b="1" dirty="0">
                <a:ea typeface="楷体_GB2312" pitchFamily="49" charset="-122"/>
              </a:rPr>
              <a:t>             a[j] = a[j+1];</a:t>
            </a:r>
          </a:p>
          <a:p>
            <a:pPr marL="457200" indent="-457200"/>
            <a:r>
              <a:rPr lang="en-US" altLang="zh-CN" sz="2000" b="1" dirty="0">
                <a:ea typeface="楷体_GB2312" pitchFamily="49" charset="-122"/>
              </a:rPr>
              <a:t>             a[j+1] = t;</a:t>
            </a:r>
          </a:p>
          <a:p>
            <a:pPr marL="457200" indent="-457200"/>
            <a:r>
              <a:rPr lang="en-US" altLang="zh-CN" sz="2000" b="1" dirty="0">
                <a:ea typeface="楷体_GB2312" pitchFamily="49" charset="-122"/>
              </a:rPr>
              <a:t>          }</a:t>
            </a:r>
            <a:endParaRPr lang="zh-CN" altLang="en-US" sz="1800" b="1" dirty="0">
              <a:solidFill>
                <a:srgbClr val="0033CC"/>
              </a:solidFill>
              <a:latin typeface="+mn-lt"/>
              <a:ea typeface="楷体" pitchFamily="49" charset="-122"/>
            </a:endParaRP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("the sorted numbers:\n");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输出排好序的数据</a:t>
            </a:r>
            <a:endParaRPr lang="en-US" altLang="zh-CN" sz="1600" b="1" dirty="0">
              <a:solidFill>
                <a:srgbClr val="002060"/>
              </a:solidFill>
              <a:ea typeface="楷体" pitchFamily="49" charset="-122"/>
            </a:endParaRP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 ", a[</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984095" name="Text Box 31"/>
          <p:cNvSpPr txBox="1">
            <a:spLocks noChangeArrowheads="1"/>
          </p:cNvSpPr>
          <p:nvPr/>
        </p:nvSpPr>
        <p:spPr bwMode="auto">
          <a:xfrm>
            <a:off x="7036509" y="4867438"/>
            <a:ext cx="3379971" cy="163339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01920"/>
                </a:solidFill>
                <a:ea typeface="隶书" pitchFamily="49" charset="-122"/>
              </a:rPr>
              <a:t>运行结果：</a:t>
            </a:r>
          </a:p>
          <a:p>
            <a:r>
              <a:rPr lang="en-US" altLang="zh-CN" sz="2000" b="1" dirty="0"/>
              <a:t>input 10 numbers:</a:t>
            </a:r>
          </a:p>
          <a:p>
            <a:r>
              <a:rPr lang="en-US" altLang="zh-CN" sz="2000" b="1" dirty="0"/>
              <a:t>10 1 2 7 6 8 9 3 4 5</a:t>
            </a:r>
            <a:r>
              <a:rPr lang="en-US" altLang="zh-CN" sz="2000" b="1" dirty="0">
                <a:latin typeface="+mn-ea"/>
                <a:ea typeface="+mn-ea"/>
              </a:rPr>
              <a:t>↙</a:t>
            </a:r>
          </a:p>
          <a:p>
            <a:r>
              <a:rPr lang="en-US" altLang="zh-CN" sz="2000" b="1" dirty="0">
                <a:solidFill>
                  <a:srgbClr val="002060"/>
                </a:solidFill>
              </a:rPr>
              <a:t>the sorted numbers:</a:t>
            </a:r>
          </a:p>
          <a:p>
            <a:r>
              <a:rPr lang="en-US" altLang="zh-CN" sz="2000" b="1" dirty="0">
                <a:solidFill>
                  <a:srgbClr val="002060"/>
                </a:solidFill>
              </a:rPr>
              <a:t>1 2 3 4 5 6 7 8 9 10</a:t>
            </a:r>
          </a:p>
        </p:txBody>
      </p:sp>
      <p:sp>
        <p:nvSpPr>
          <p:cNvPr id="984096" name="AutoShape 32"/>
          <p:cNvSpPr>
            <a:spLocks noChangeArrowheads="1"/>
          </p:cNvSpPr>
          <p:nvPr/>
        </p:nvSpPr>
        <p:spPr bwMode="auto">
          <a:xfrm>
            <a:off x="5247422" y="2728021"/>
            <a:ext cx="6624637" cy="2160588"/>
          </a:xfrm>
          <a:prstGeom prst="cloudCallout">
            <a:avLst>
              <a:gd name="adj1" fmla="val -46025"/>
              <a:gd name="adj2" fmla="val -111734"/>
            </a:avLst>
          </a:prstGeom>
          <a:gradFill flip="none" rotWithShape="1">
            <a:gsLst>
              <a:gs pos="0">
                <a:srgbClr val="CFCFD1"/>
              </a:gs>
              <a:gs pos="100000">
                <a:schemeClr val="bg1">
                  <a:lumMod val="95000"/>
                </a:schemeClr>
              </a:gs>
            </a:gsLst>
            <a:lin ang="13500000" scaled="1"/>
            <a:tileRect/>
          </a:gradFill>
          <a:ln w="25400">
            <a:solidFill>
              <a:srgbClr val="C01920"/>
            </a:solidFill>
            <a:round/>
            <a:headEnd/>
            <a:tailEnd/>
          </a:ln>
          <a:effectLst>
            <a:outerShdw dist="190500" dir="2700000" algn="ctr" rotWithShape="0">
              <a:schemeClr val="bg2">
                <a:alpha val="50000"/>
              </a:schemeClr>
            </a:outerShdw>
          </a:effectLst>
          <a:scene3d>
            <a:camera prst="orthographicFront"/>
            <a:lightRig rig="threePt" dir="t"/>
          </a:scene3d>
          <a:sp3d>
            <a:bevelT w="114300" prst="hardEdge"/>
          </a:sp3d>
        </p:spPr>
        <p:txBody>
          <a:bodyPr/>
          <a:lstStyle/>
          <a:p>
            <a:r>
              <a:rPr lang="zh-CN" altLang="en-US" b="1" dirty="0">
                <a:solidFill>
                  <a:srgbClr val="C01920"/>
                </a:solidFill>
                <a:latin typeface="+mn-lt"/>
                <a:ea typeface="楷体" pitchFamily="49" charset="-122"/>
              </a:rPr>
              <a:t>不足之处：</a:t>
            </a:r>
            <a:r>
              <a:rPr lang="zh-CN" altLang="en-US" b="1" dirty="0">
                <a:latin typeface="+mn-lt"/>
                <a:ea typeface="楷体" pitchFamily="49" charset="-122"/>
              </a:rPr>
              <a:t>对已排好序的序列仍然要进行</a:t>
            </a:r>
            <a:r>
              <a:rPr lang="en-US" altLang="zh-CN" b="1" dirty="0">
                <a:latin typeface="+mn-lt"/>
                <a:ea typeface="楷体" pitchFamily="49" charset="-122"/>
              </a:rPr>
              <a:t>9</a:t>
            </a:r>
            <a:r>
              <a:rPr lang="zh-CN" altLang="en-US" b="1" dirty="0">
                <a:latin typeface="+mn-lt"/>
                <a:ea typeface="楷体" pitchFamily="49" charset="-122"/>
              </a:rPr>
              <a:t>轮冒泡操作，尽管不会有任何数据交换操作。</a:t>
            </a:r>
            <a:r>
              <a:rPr lang="zh-CN" altLang="en-US" dirty="0">
                <a:latin typeface="+mn-lt"/>
                <a:ea typeface="楷体" pitchFamily="49" charset="-122"/>
              </a:rPr>
              <a:t> </a:t>
            </a:r>
          </a:p>
        </p:txBody>
      </p:sp>
      <p:sp>
        <p:nvSpPr>
          <p:cNvPr id="31" name="TextBox 30"/>
          <p:cNvSpPr txBox="1"/>
          <p:nvPr/>
        </p:nvSpPr>
        <p:spPr>
          <a:xfrm>
            <a:off x="8345348" y="404664"/>
            <a:ext cx="2143140" cy="369332"/>
          </a:xfrm>
          <a:prstGeom prst="rect">
            <a:avLst/>
          </a:prstGeom>
          <a:solidFill>
            <a:schemeClr val="bg1"/>
          </a:solidFill>
          <a:ln>
            <a:solidFill>
              <a:srgbClr val="C01920"/>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ln w="1905"/>
                <a:solidFill>
                  <a:srgbClr val="00B0F0"/>
                </a:solidFill>
                <a:latin typeface="隶书" pitchFamily="49" charset="-122"/>
                <a:ea typeface="隶书" pitchFamily="49" charset="-122"/>
              </a:rPr>
              <a:t>冒泡排序算法</a:t>
            </a:r>
          </a:p>
        </p:txBody>
      </p:sp>
    </p:spTree>
    <p:extLst>
      <p:ext uri="{BB962C8B-B14F-4D97-AF65-F5344CB8AC3E}">
        <p14:creationId xmlns:p14="http://schemas.microsoft.com/office/powerpoint/2010/main" val="91564878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84089"/>
                                        </p:tgtEl>
                                        <p:attrNameLst>
                                          <p:attrName>style.visibility</p:attrName>
                                        </p:attrNameLst>
                                      </p:cBhvr>
                                      <p:to>
                                        <p:strVal val="visible"/>
                                      </p:to>
                                    </p:set>
                                    <p:animEffect transition="in" filter="box(out)">
                                      <p:cBhvr>
                                        <p:cTn id="7" dur="500"/>
                                        <p:tgtEl>
                                          <p:spTgt spid="98408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box(in)">
                                      <p:cBhvr>
                                        <p:cTn id="11" dur="500"/>
                                        <p:tgtEl>
                                          <p:spTgt spid="31"/>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984095"/>
                                        </p:tgtEl>
                                        <p:attrNameLst>
                                          <p:attrName>style.visibility</p:attrName>
                                        </p:attrNameLst>
                                      </p:cBhvr>
                                      <p:to>
                                        <p:strVal val="visible"/>
                                      </p:to>
                                    </p:set>
                                    <p:animEffect transition="in" filter="box(out)">
                                      <p:cBhvr>
                                        <p:cTn id="16" dur="500"/>
                                        <p:tgtEl>
                                          <p:spTgt spid="984095"/>
                                        </p:tgtEl>
                                      </p:cBhvr>
                                    </p:animEffect>
                                  </p:childTnLst>
                                  <p:subTnLst>
                                    <p:audio>
                                      <p:cMediaNode>
                                        <p:cTn display="0" masterRel="sameClick">
                                          <p:stCondLst>
                                            <p:cond evt="begin" delay="0">
                                              <p:tn val="14"/>
                                            </p:cond>
                                          </p:stCondLst>
                                          <p:endCondLst>
                                            <p:cond evt="onStopAudio" delay="0">
                                              <p:tgtEl>
                                                <p:sldTgt/>
                                              </p:tgtEl>
                                            </p:cond>
                                          </p:endCondLst>
                                        </p:cTn>
                                        <p:tgtEl>
                                          <p:sndTgt r:embed="rId3" name="chimes.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984096"/>
                                        </p:tgtEl>
                                        <p:attrNameLst>
                                          <p:attrName>style.visibility</p:attrName>
                                        </p:attrNameLst>
                                      </p:cBhvr>
                                      <p:to>
                                        <p:strVal val="visible"/>
                                      </p:to>
                                    </p:set>
                                    <p:animEffect transition="in" filter="strips(downRight)">
                                      <p:cBhvr>
                                        <p:cTn id="21" dur="500"/>
                                        <p:tgtEl>
                                          <p:spTgt spid="984096"/>
                                        </p:tgtEl>
                                      </p:cBhvr>
                                    </p:animEffect>
                                  </p:childTnLst>
                                  <p:subTnLst>
                                    <p:audio>
                                      <p:cMediaNode>
                                        <p:cTn display="0" masterRel="sameClick">
                                          <p:stCondLst>
                                            <p:cond evt="begin" delay="0">
                                              <p:tn val="19"/>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89" grpId="0" animBg="1" autoUpdateAnimBg="0"/>
      <p:bldP spid="984095" grpId="0" animBg="1"/>
      <p:bldP spid="984096" grpId="0" animBg="1"/>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4">
            <a:extLst>
              <a:ext uri="{FF2B5EF4-FFF2-40B4-BE49-F238E27FC236}">
                <a16:creationId xmlns:a16="http://schemas.microsoft.com/office/drawing/2014/main" id="{A3EE4278-D9CF-4AB2-8829-A6B7B68E1E1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5119" name="Rectangle 31"/>
          <p:cNvSpPr>
            <a:spLocks noChangeArrowheads="1"/>
          </p:cNvSpPr>
          <p:nvPr/>
        </p:nvSpPr>
        <p:spPr bwMode="auto">
          <a:xfrm>
            <a:off x="970877" y="1100937"/>
            <a:ext cx="10534177" cy="2214004"/>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2800"/>
              </a:lnSpc>
            </a:pPr>
            <a:r>
              <a:rPr lang="zh-CN" altLang="en-US" sz="2000" b="1" u="sng" dirty="0">
                <a:solidFill>
                  <a:srgbClr val="00B0F0"/>
                </a:solidFill>
                <a:latin typeface="楷体" panose="02010609060101010101" pitchFamily="49" charset="-122"/>
                <a:ea typeface="楷体" panose="02010609060101010101" pitchFamily="49" charset="-122"/>
              </a:rPr>
              <a:t>对冒泡排序的改进</a:t>
            </a:r>
            <a:r>
              <a:rPr lang="en-US" altLang="zh-CN" sz="2000" b="1" u="sng" dirty="0">
                <a:solidFill>
                  <a:srgbClr val="00B0F0"/>
                </a:solidFill>
                <a:latin typeface="楷体" panose="02010609060101010101" pitchFamily="49" charset="-122"/>
                <a:ea typeface="楷体" panose="02010609060101010101" pitchFamily="49" charset="-122"/>
              </a:rPr>
              <a:t>:</a:t>
            </a:r>
          </a:p>
          <a:p>
            <a:pPr>
              <a:lnSpc>
                <a:spcPts val="2800"/>
              </a:lnSpc>
            </a:pPr>
            <a:endParaRPr lang="en-US" altLang="zh-CN" sz="2000" b="1" u="sng" dirty="0">
              <a:solidFill>
                <a:srgbClr val="C01920"/>
              </a:solidFill>
              <a:latin typeface="楷体" panose="02010609060101010101" pitchFamily="49" charset="-122"/>
              <a:ea typeface="楷体" panose="02010609060101010101" pitchFamily="49" charset="-122"/>
            </a:endParaRPr>
          </a:p>
          <a:p>
            <a:pPr>
              <a:lnSpc>
                <a:spcPts val="2800"/>
              </a:lnSpc>
            </a:pPr>
            <a:r>
              <a:rPr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a typeface="楷体" pitchFamily="49" charset="-122"/>
              </a:rPr>
              <a:t>         </a:t>
            </a:r>
            <a:r>
              <a:rPr lang="zh-CN" altLang="en-US" sz="2000" b="1" dirty="0">
                <a:ln w="1905"/>
                <a:solidFill>
                  <a:schemeClr val="tx1"/>
                </a:solidFill>
                <a:ea typeface="楷体" pitchFamily="49" charset="-122"/>
              </a:rPr>
              <a:t>当一次冒泡过程中发现没有交换操作时，表明序列已经排好序了，便终止冒泡操作。为了标记在比较过程中是否发生了数据交换，在程序中</a:t>
            </a:r>
            <a:r>
              <a:rPr lang="zh-CN" altLang="en-US" sz="2000" b="1" dirty="0">
                <a:ln w="1905"/>
                <a:solidFill>
                  <a:srgbClr val="C01920"/>
                </a:solidFill>
                <a:ea typeface="楷体" pitchFamily="49" charset="-122"/>
              </a:rPr>
              <a:t>设立一个标志变量</a:t>
            </a:r>
            <a:r>
              <a:rPr lang="en-US" altLang="zh-CN" sz="2000" b="1" dirty="0">
                <a:ln w="1905"/>
                <a:solidFill>
                  <a:srgbClr val="C01920"/>
                </a:solidFill>
                <a:ea typeface="楷体" pitchFamily="49" charset="-122"/>
              </a:rPr>
              <a:t>flag</a:t>
            </a:r>
            <a:r>
              <a:rPr lang="zh-CN" altLang="en-US" sz="2000" b="1" dirty="0">
                <a:ln w="1905"/>
                <a:solidFill>
                  <a:schemeClr val="tx1"/>
                </a:solidFill>
                <a:ea typeface="楷体" pitchFamily="49" charset="-122"/>
              </a:rPr>
              <a:t>，在每趟比较前，把</a:t>
            </a:r>
            <a:r>
              <a:rPr lang="en-US" altLang="zh-CN" sz="2000" b="1" dirty="0">
                <a:ln w="1905"/>
                <a:solidFill>
                  <a:schemeClr val="tx1"/>
                </a:solidFill>
                <a:ea typeface="楷体" pitchFamily="49" charset="-122"/>
              </a:rPr>
              <a:t>flag</a:t>
            </a:r>
            <a:r>
              <a:rPr lang="zh-CN" altLang="en-US" sz="2000" b="1" dirty="0">
                <a:ln w="1905"/>
                <a:solidFill>
                  <a:schemeClr val="tx1"/>
                </a:solidFill>
                <a:ea typeface="楷体" pitchFamily="49" charset="-122"/>
              </a:rPr>
              <a:t>变量置为</a:t>
            </a:r>
            <a:r>
              <a:rPr lang="en-US" altLang="zh-CN" sz="2000" b="1" dirty="0">
                <a:ln w="1905"/>
                <a:solidFill>
                  <a:schemeClr val="tx1"/>
                </a:solidFill>
                <a:ea typeface="楷体" pitchFamily="49" charset="-122"/>
              </a:rPr>
              <a:t>0</a:t>
            </a:r>
            <a:r>
              <a:rPr lang="zh-CN" altLang="en-US" sz="2000" b="1" dirty="0">
                <a:ln w="1905"/>
                <a:solidFill>
                  <a:schemeClr val="tx1"/>
                </a:solidFill>
                <a:ea typeface="楷体" pitchFamily="49" charset="-122"/>
              </a:rPr>
              <a:t>，如果在这趟比较过程中发生了交换，把变量</a:t>
            </a:r>
            <a:r>
              <a:rPr lang="en-US" altLang="zh-CN" sz="2000" b="1" dirty="0">
                <a:ln w="1905"/>
                <a:solidFill>
                  <a:schemeClr val="tx1"/>
                </a:solidFill>
                <a:ea typeface="楷体" pitchFamily="49" charset="-122"/>
              </a:rPr>
              <a:t>flag</a:t>
            </a:r>
            <a:r>
              <a:rPr lang="zh-CN" altLang="en-US" sz="2000" b="1" dirty="0">
                <a:ln w="1905"/>
                <a:solidFill>
                  <a:schemeClr val="tx1"/>
                </a:solidFill>
                <a:ea typeface="楷体" pitchFamily="49" charset="-122"/>
              </a:rPr>
              <a:t>的值置为</a:t>
            </a:r>
            <a:r>
              <a:rPr lang="en-US" altLang="zh-CN" sz="2000" b="1" dirty="0">
                <a:ln w="1905"/>
                <a:solidFill>
                  <a:schemeClr val="tx1"/>
                </a:solidFill>
                <a:ea typeface="楷体" pitchFamily="49" charset="-122"/>
              </a:rPr>
              <a:t>1</a:t>
            </a:r>
            <a:r>
              <a:rPr lang="zh-CN" altLang="en-US" sz="2000" b="1" dirty="0">
                <a:ln w="1905"/>
                <a:solidFill>
                  <a:schemeClr val="tx1"/>
                </a:solidFill>
                <a:ea typeface="楷体" pitchFamily="49" charset="-122"/>
              </a:rPr>
              <a:t>。在这一趟比较结束后判断如果</a:t>
            </a:r>
            <a:r>
              <a:rPr lang="en-US" altLang="zh-CN" sz="2000" b="1" dirty="0">
                <a:ln w="1905"/>
                <a:solidFill>
                  <a:schemeClr val="tx1"/>
                </a:solidFill>
                <a:ea typeface="楷体" pitchFamily="49" charset="-122"/>
              </a:rPr>
              <a:t>flag</a:t>
            </a:r>
            <a:r>
              <a:rPr lang="zh-CN" altLang="en-US" sz="2000" b="1" dirty="0">
                <a:ln w="1905"/>
                <a:solidFill>
                  <a:schemeClr val="tx1"/>
                </a:solidFill>
                <a:ea typeface="楷体" pitchFamily="49" charset="-122"/>
              </a:rPr>
              <a:t>变量取值等于</a:t>
            </a:r>
            <a:r>
              <a:rPr lang="en-US" altLang="zh-CN" sz="2000" b="1" dirty="0">
                <a:ln w="1905"/>
                <a:solidFill>
                  <a:schemeClr val="tx1"/>
                </a:solidFill>
                <a:ea typeface="楷体" pitchFamily="49" charset="-122"/>
              </a:rPr>
              <a:t>0</a:t>
            </a:r>
            <a:r>
              <a:rPr lang="zh-CN" altLang="en-US" sz="2000" b="1" dirty="0">
                <a:ln w="1905"/>
                <a:solidFill>
                  <a:schemeClr val="tx1"/>
                </a:solidFill>
                <a:ea typeface="楷体" pitchFamily="49" charset="-122"/>
              </a:rPr>
              <a:t>表示可以结束排序过程，否则进行下一趟比较。 </a:t>
            </a:r>
          </a:p>
        </p:txBody>
      </p:sp>
      <p:grpSp>
        <p:nvGrpSpPr>
          <p:cNvPr id="51" name="组合 50"/>
          <p:cNvGrpSpPr/>
          <p:nvPr/>
        </p:nvGrpSpPr>
        <p:grpSpPr>
          <a:xfrm>
            <a:off x="1199456" y="3314941"/>
            <a:ext cx="8500188" cy="3355276"/>
            <a:chOff x="-1142106" y="3281418"/>
            <a:chExt cx="8500188" cy="3355276"/>
          </a:xfrm>
        </p:grpSpPr>
        <p:grpSp>
          <p:nvGrpSpPr>
            <p:cNvPr id="999" name="组合 999"/>
            <p:cNvGrpSpPr>
              <a:grpSpLocks/>
            </p:cNvGrpSpPr>
            <p:nvPr/>
          </p:nvGrpSpPr>
          <p:grpSpPr bwMode="auto">
            <a:xfrm>
              <a:off x="3467925" y="3281418"/>
              <a:ext cx="3890157" cy="3355276"/>
              <a:chOff x="0" y="414"/>
              <a:chExt cx="21003" cy="21520"/>
            </a:xfrm>
          </p:grpSpPr>
          <p:sp>
            <p:nvSpPr>
              <p:cNvPr id="944" name="Rectangle 545"/>
              <p:cNvSpPr>
                <a:spLocks noChangeArrowheads="1"/>
              </p:cNvSpPr>
              <p:nvPr/>
            </p:nvSpPr>
            <p:spPr bwMode="auto">
              <a:xfrm>
                <a:off x="30" y="490"/>
                <a:ext cx="20917" cy="21444"/>
              </a:xfrm>
              <a:prstGeom prst="rect">
                <a:avLst/>
              </a:prstGeom>
              <a:gradFill flip="none" rotWithShape="1">
                <a:gsLst>
                  <a:gs pos="0">
                    <a:srgbClr val="F0E5B7"/>
                  </a:gs>
                  <a:gs pos="66000">
                    <a:srgbClr val="F5EDCD"/>
                  </a:gs>
                  <a:gs pos="100000">
                    <a:schemeClr val="bg1"/>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998" name="组合 998"/>
              <p:cNvGrpSpPr>
                <a:grpSpLocks/>
              </p:cNvGrpSpPr>
              <p:nvPr/>
            </p:nvGrpSpPr>
            <p:grpSpPr bwMode="auto">
              <a:xfrm>
                <a:off x="0" y="414"/>
                <a:ext cx="21003" cy="21171"/>
                <a:chOff x="0" y="414"/>
                <a:chExt cx="21003" cy="21171"/>
              </a:xfrm>
            </p:grpSpPr>
            <p:grpSp>
              <p:nvGrpSpPr>
                <p:cNvPr id="989" name="组合 989"/>
                <p:cNvGrpSpPr>
                  <a:grpSpLocks/>
                </p:cNvGrpSpPr>
                <p:nvPr/>
              </p:nvGrpSpPr>
              <p:grpSpPr bwMode="auto">
                <a:xfrm>
                  <a:off x="0" y="2608"/>
                  <a:ext cx="21003" cy="17155"/>
                  <a:chOff x="0" y="0"/>
                  <a:chExt cx="21003" cy="17155"/>
                </a:xfrm>
              </p:grpSpPr>
              <p:sp>
                <p:nvSpPr>
                  <p:cNvPr id="962" name="Line 615"/>
                  <p:cNvSpPr>
                    <a:spLocks noChangeShapeType="1"/>
                  </p:cNvSpPr>
                  <p:nvPr/>
                </p:nvSpPr>
                <p:spPr bwMode="auto">
                  <a:xfrm>
                    <a:off x="0" y="0"/>
                    <a:ext cx="2095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8" name="Line 635"/>
                  <p:cNvSpPr>
                    <a:spLocks noChangeShapeType="1"/>
                  </p:cNvSpPr>
                  <p:nvPr/>
                </p:nvSpPr>
                <p:spPr bwMode="auto">
                  <a:xfrm>
                    <a:off x="2546" y="2086"/>
                    <a:ext cx="0" cy="15062"/>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71" name="Line 615"/>
                  <p:cNvSpPr>
                    <a:spLocks noChangeShapeType="1"/>
                  </p:cNvSpPr>
                  <p:nvPr/>
                </p:nvSpPr>
                <p:spPr bwMode="auto">
                  <a:xfrm>
                    <a:off x="2546" y="2086"/>
                    <a:ext cx="18378"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3" name="Line 617"/>
                  <p:cNvSpPr>
                    <a:spLocks noChangeShapeType="1"/>
                  </p:cNvSpPr>
                  <p:nvPr/>
                </p:nvSpPr>
                <p:spPr bwMode="auto">
                  <a:xfrm>
                    <a:off x="5001" y="6321"/>
                    <a:ext cx="1599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5" name="直接连接符 965"/>
                  <p:cNvSpPr>
                    <a:spLocks noChangeShapeType="1"/>
                  </p:cNvSpPr>
                  <p:nvPr/>
                </p:nvSpPr>
                <p:spPr bwMode="auto">
                  <a:xfrm>
                    <a:off x="5032" y="6382"/>
                    <a:ext cx="7816" cy="189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6" name="直接连接符 966"/>
                  <p:cNvSpPr>
                    <a:spLocks noChangeShapeType="1"/>
                  </p:cNvSpPr>
                  <p:nvPr/>
                </p:nvSpPr>
                <p:spPr bwMode="auto">
                  <a:xfrm flipH="1">
                    <a:off x="12918" y="6321"/>
                    <a:ext cx="7956" cy="1924"/>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4" name="Line 640"/>
                  <p:cNvSpPr>
                    <a:spLocks noChangeShapeType="1"/>
                  </p:cNvSpPr>
                  <p:nvPr/>
                </p:nvSpPr>
                <p:spPr bwMode="auto">
                  <a:xfrm>
                    <a:off x="5001" y="8284"/>
                    <a:ext cx="15854"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70" name="Line 635"/>
                  <p:cNvSpPr>
                    <a:spLocks noChangeShapeType="1"/>
                  </p:cNvSpPr>
                  <p:nvPr/>
                </p:nvSpPr>
                <p:spPr bwMode="auto">
                  <a:xfrm>
                    <a:off x="5032" y="6382"/>
                    <a:ext cx="0" cy="6193"/>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7" name="Line 628"/>
                  <p:cNvSpPr>
                    <a:spLocks noChangeShapeType="1"/>
                  </p:cNvSpPr>
                  <p:nvPr/>
                </p:nvSpPr>
                <p:spPr bwMode="auto">
                  <a:xfrm>
                    <a:off x="2546" y="12580"/>
                    <a:ext cx="1839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69" name="直接连接符 969"/>
                  <p:cNvSpPr>
                    <a:spLocks noChangeShapeType="1"/>
                  </p:cNvSpPr>
                  <p:nvPr/>
                </p:nvSpPr>
                <p:spPr bwMode="auto">
                  <a:xfrm>
                    <a:off x="12856" y="8346"/>
                    <a:ext cx="0" cy="4231"/>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78" name="Line 628"/>
                  <p:cNvSpPr>
                    <a:spLocks noChangeShapeType="1"/>
                  </p:cNvSpPr>
                  <p:nvPr/>
                </p:nvSpPr>
                <p:spPr bwMode="auto">
                  <a:xfrm>
                    <a:off x="2546" y="4111"/>
                    <a:ext cx="1845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0" name="Line 615"/>
                  <p:cNvSpPr>
                    <a:spLocks noChangeShapeType="1"/>
                  </p:cNvSpPr>
                  <p:nvPr/>
                </p:nvSpPr>
                <p:spPr bwMode="auto">
                  <a:xfrm>
                    <a:off x="2546" y="14851"/>
                    <a:ext cx="1837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1" name="直接连接符 981"/>
                  <p:cNvSpPr>
                    <a:spLocks noChangeShapeType="1"/>
                  </p:cNvSpPr>
                  <p:nvPr/>
                </p:nvSpPr>
                <p:spPr bwMode="auto">
                  <a:xfrm flipV="1">
                    <a:off x="12181" y="14882"/>
                    <a:ext cx="0" cy="2273"/>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2" name="直接连接符 982"/>
                  <p:cNvSpPr>
                    <a:spLocks noChangeShapeType="1"/>
                  </p:cNvSpPr>
                  <p:nvPr/>
                </p:nvSpPr>
                <p:spPr bwMode="auto">
                  <a:xfrm>
                    <a:off x="2516" y="12580"/>
                    <a:ext cx="9665" cy="2302"/>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3" name="直接连接符 983"/>
                  <p:cNvSpPr>
                    <a:spLocks noChangeShapeType="1"/>
                  </p:cNvSpPr>
                  <p:nvPr/>
                </p:nvSpPr>
                <p:spPr bwMode="auto">
                  <a:xfrm flipH="1">
                    <a:off x="12181" y="12580"/>
                    <a:ext cx="8813" cy="224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88" name="Line 615"/>
                  <p:cNvSpPr>
                    <a:spLocks noChangeShapeType="1"/>
                  </p:cNvSpPr>
                  <p:nvPr/>
                </p:nvSpPr>
                <p:spPr bwMode="auto">
                  <a:xfrm>
                    <a:off x="0" y="17152"/>
                    <a:ext cx="20948"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997" name="组合 997"/>
                <p:cNvGrpSpPr>
                  <a:grpSpLocks/>
                </p:cNvGrpSpPr>
                <p:nvPr/>
              </p:nvGrpSpPr>
              <p:grpSpPr bwMode="auto">
                <a:xfrm>
                  <a:off x="92" y="414"/>
                  <a:ext cx="20885" cy="21171"/>
                  <a:chOff x="0" y="414"/>
                  <a:chExt cx="20887" cy="21174"/>
                </a:xfrm>
              </p:grpSpPr>
              <p:grpSp>
                <p:nvGrpSpPr>
                  <p:cNvPr id="995" name="组合 995"/>
                  <p:cNvGrpSpPr>
                    <a:grpSpLocks/>
                  </p:cNvGrpSpPr>
                  <p:nvPr/>
                </p:nvGrpSpPr>
                <p:grpSpPr bwMode="auto">
                  <a:xfrm>
                    <a:off x="0" y="414"/>
                    <a:ext cx="20887" cy="10495"/>
                    <a:chOff x="0" y="414"/>
                    <a:chExt cx="20887" cy="10495"/>
                  </a:xfrm>
                </p:grpSpPr>
                <p:grpSp>
                  <p:nvGrpSpPr>
                    <p:cNvPr id="993" name="组合 993"/>
                    <p:cNvGrpSpPr>
                      <a:grpSpLocks/>
                    </p:cNvGrpSpPr>
                    <p:nvPr/>
                  </p:nvGrpSpPr>
                  <p:grpSpPr bwMode="auto">
                    <a:xfrm>
                      <a:off x="5242" y="8381"/>
                      <a:ext cx="14514" cy="2528"/>
                      <a:chOff x="947" y="311"/>
                      <a:chExt cx="14513" cy="2528"/>
                    </a:xfrm>
                  </p:grpSpPr>
                  <p:sp>
                    <p:nvSpPr>
                      <p:cNvPr id="951" name="Text Box 626"/>
                      <p:cNvSpPr txBox="1">
                        <a:spLocks noChangeArrowheads="1"/>
                      </p:cNvSpPr>
                      <p:nvPr/>
                    </p:nvSpPr>
                    <p:spPr bwMode="auto">
                      <a:xfrm>
                        <a:off x="947" y="808"/>
                        <a:ext cx="1399" cy="17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54" name="Text Box 648"/>
                      <p:cNvSpPr txBox="1">
                        <a:spLocks noChangeArrowheads="1"/>
                      </p:cNvSpPr>
                      <p:nvPr/>
                    </p:nvSpPr>
                    <p:spPr bwMode="auto">
                      <a:xfrm>
                        <a:off x="4670" y="311"/>
                        <a:ext cx="6794" cy="20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a[j] &gt; a[j+1]</a:t>
                        </a:r>
                      </a:p>
                      <a:p>
                        <a:endParaRPr kumimoji="0" lang="zh-CN" altLang="zh-CN" sz="1600" b="1" dirty="0">
                          <a:latin typeface="+mn-lt"/>
                          <a:ea typeface="楷体" pitchFamily="49" charset="-122"/>
                          <a:cs typeface="宋体" pitchFamily="2" charset="-122"/>
                        </a:endParaRPr>
                      </a:p>
                    </p:txBody>
                  </p:sp>
                  <p:sp>
                    <p:nvSpPr>
                      <p:cNvPr id="953" name="Text Box 638"/>
                      <p:cNvSpPr txBox="1">
                        <a:spLocks noChangeArrowheads="1"/>
                      </p:cNvSpPr>
                      <p:nvPr/>
                    </p:nvSpPr>
                    <p:spPr bwMode="auto">
                      <a:xfrm>
                        <a:off x="13786" y="952"/>
                        <a:ext cx="1674" cy="18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92" name="组合 992"/>
                    <p:cNvGrpSpPr>
                      <a:grpSpLocks/>
                    </p:cNvGrpSpPr>
                    <p:nvPr/>
                  </p:nvGrpSpPr>
                  <p:grpSpPr bwMode="auto">
                    <a:xfrm>
                      <a:off x="0" y="414"/>
                      <a:ext cx="20887" cy="8375"/>
                      <a:chOff x="0" y="414"/>
                      <a:chExt cx="20887" cy="8375"/>
                    </a:xfrm>
                  </p:grpSpPr>
                  <p:sp>
                    <p:nvSpPr>
                      <p:cNvPr id="949" name="Text Box 619"/>
                      <p:cNvSpPr txBox="1">
                        <a:spLocks noChangeArrowheads="1"/>
                      </p:cNvSpPr>
                      <p:nvPr/>
                    </p:nvSpPr>
                    <p:spPr bwMode="auto">
                      <a:xfrm>
                        <a:off x="0" y="2414"/>
                        <a:ext cx="16880" cy="19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for </a:t>
                        </a:r>
                        <a:r>
                          <a:rPr kumimoji="0" lang="en-US" altLang="zh-CN" sz="1600" b="1" dirty="0" err="1">
                            <a:solidFill>
                              <a:schemeClr val="accent1">
                                <a:lumMod val="50000"/>
                              </a:schemeClr>
                            </a:solidFill>
                            <a:latin typeface="+mn-lt"/>
                            <a:ea typeface="楷体" pitchFamily="49" charset="-122"/>
                            <a:cs typeface="宋体" pitchFamily="2" charset="-122"/>
                          </a:rPr>
                          <a:t>i</a:t>
                        </a:r>
                        <a:r>
                          <a:rPr kumimoji="0" lang="en-US" altLang="zh-CN" sz="1600" b="1" dirty="0">
                            <a:solidFill>
                              <a:schemeClr val="accent1">
                                <a:lumMod val="50000"/>
                              </a:schemeClr>
                            </a:solidFill>
                            <a:latin typeface="+mn-lt"/>
                            <a:ea typeface="楷体" pitchFamily="49" charset="-122"/>
                            <a:cs typeface="宋体" pitchFamily="2" charset="-122"/>
                          </a:rPr>
                          <a:t> = 1 to n-1</a:t>
                        </a:r>
                        <a:r>
                          <a:rPr kumimoji="0" lang="zh-CN" altLang="en-US" sz="1600" b="1" dirty="0">
                            <a:solidFill>
                              <a:schemeClr val="accent1">
                                <a:lumMod val="50000"/>
                              </a:schemeClr>
                            </a:solidFill>
                            <a:latin typeface="+mn-lt"/>
                            <a:ea typeface="楷体" pitchFamily="49" charset="-122"/>
                            <a:cs typeface="宋体" pitchFamily="2" charset="-122"/>
                          </a:rPr>
                          <a:t>（趟数：共</a:t>
                        </a:r>
                        <a:r>
                          <a:rPr kumimoji="0" lang="en-US" altLang="zh-CN" sz="1600" b="1" dirty="0">
                            <a:solidFill>
                              <a:schemeClr val="accent1">
                                <a:lumMod val="50000"/>
                              </a:schemeClr>
                            </a:solidFill>
                            <a:latin typeface="+mn-lt"/>
                            <a:ea typeface="楷体" pitchFamily="49" charset="-122"/>
                            <a:cs typeface="宋体" pitchFamily="2" charset="-122"/>
                          </a:rPr>
                          <a:t>n-1</a:t>
                        </a:r>
                        <a:r>
                          <a:rPr kumimoji="0" lang="zh-CN" altLang="en-US" sz="1600" b="1" dirty="0">
                            <a:solidFill>
                              <a:schemeClr val="accent1">
                                <a:lumMod val="50000"/>
                              </a:schemeClr>
                            </a:solidFill>
                            <a:latin typeface="+mn-lt"/>
                            <a:ea typeface="楷体" pitchFamily="49" charset="-122"/>
                            <a:cs typeface="宋体" pitchFamily="2" charset="-122"/>
                          </a:rPr>
                          <a:t>趟）</a:t>
                        </a:r>
                      </a:p>
                      <a:p>
                        <a:endParaRPr kumimoji="0" lang="zh-CN" altLang="en-US" sz="1600" b="1" dirty="0">
                          <a:solidFill>
                            <a:schemeClr val="accent1">
                              <a:lumMod val="50000"/>
                            </a:schemeClr>
                          </a:solidFill>
                          <a:latin typeface="+mn-lt"/>
                          <a:ea typeface="楷体" pitchFamily="49" charset="-122"/>
                          <a:cs typeface="宋体" pitchFamily="2" charset="-122"/>
                        </a:endParaRPr>
                      </a:p>
                    </p:txBody>
                  </p:sp>
                  <p:sp>
                    <p:nvSpPr>
                      <p:cNvPr id="952" name="Text Box 612"/>
                      <p:cNvSpPr txBox="1">
                        <a:spLocks noChangeArrowheads="1"/>
                      </p:cNvSpPr>
                      <p:nvPr/>
                    </p:nvSpPr>
                    <p:spPr bwMode="auto">
                      <a:xfrm>
                        <a:off x="3875" y="414"/>
                        <a:ext cx="15829" cy="18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输入</a:t>
                        </a:r>
                        <a:r>
                          <a:rPr kumimoji="0" lang="en-US" altLang="zh-CN" sz="1600" b="1" dirty="0">
                            <a:solidFill>
                              <a:srgbClr val="002060"/>
                            </a:solidFill>
                            <a:latin typeface="+mn-lt"/>
                            <a:ea typeface="楷体" pitchFamily="49" charset="-122"/>
                            <a:cs typeface="宋体" pitchFamily="2" charset="-122"/>
                          </a:rPr>
                          <a:t>n</a:t>
                        </a:r>
                        <a:r>
                          <a:rPr kumimoji="0" lang="zh-CN" altLang="en-US" sz="1600" b="1" dirty="0">
                            <a:solidFill>
                              <a:srgbClr val="002060"/>
                            </a:solidFill>
                            <a:latin typeface="+mn-lt"/>
                            <a:ea typeface="楷体" pitchFamily="49" charset="-122"/>
                            <a:cs typeface="宋体" pitchFamily="2" charset="-122"/>
                          </a:rPr>
                          <a:t>个数给</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955" name="Text Box 619"/>
                      <p:cNvSpPr txBox="1">
                        <a:spLocks noChangeArrowheads="1"/>
                      </p:cNvSpPr>
                      <p:nvPr/>
                    </p:nvSpPr>
                    <p:spPr bwMode="auto">
                      <a:xfrm>
                        <a:off x="2424" y="6481"/>
                        <a:ext cx="18463" cy="23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for j = 0 to n-i-1</a:t>
                        </a:r>
                        <a:r>
                          <a:rPr kumimoji="0" lang="zh-CN" altLang="en-US" sz="1600" b="1" dirty="0">
                            <a:solidFill>
                              <a:schemeClr val="accent1">
                                <a:lumMod val="50000"/>
                              </a:schemeClr>
                            </a:solidFill>
                            <a:latin typeface="+mn-lt"/>
                            <a:ea typeface="楷体" pitchFamily="49" charset="-122"/>
                            <a:cs typeface="宋体" pitchFamily="2" charset="-122"/>
                          </a:rPr>
                          <a:t>（比较：共</a:t>
                        </a:r>
                        <a:r>
                          <a:rPr kumimoji="0" lang="en-US" altLang="zh-CN" sz="1600" b="1" dirty="0">
                            <a:solidFill>
                              <a:schemeClr val="accent1">
                                <a:lumMod val="50000"/>
                              </a:schemeClr>
                            </a:solidFill>
                            <a:latin typeface="+mn-lt"/>
                            <a:ea typeface="楷体" pitchFamily="49" charset="-122"/>
                            <a:cs typeface="宋体" pitchFamily="2" charset="-122"/>
                          </a:rPr>
                          <a:t>n-</a:t>
                        </a:r>
                        <a:r>
                          <a:rPr kumimoji="0" lang="en-US" altLang="zh-CN" sz="1600" b="1" dirty="0" err="1">
                            <a:solidFill>
                              <a:schemeClr val="accent1">
                                <a:lumMod val="50000"/>
                              </a:schemeClr>
                            </a:solidFill>
                            <a:latin typeface="+mn-lt"/>
                            <a:ea typeface="楷体" pitchFamily="49" charset="-122"/>
                            <a:cs typeface="宋体" pitchFamily="2" charset="-122"/>
                          </a:rPr>
                          <a:t>i</a:t>
                        </a:r>
                        <a:r>
                          <a:rPr kumimoji="0" lang="zh-CN" altLang="en-US" sz="1600" b="1" dirty="0">
                            <a:solidFill>
                              <a:schemeClr val="accent1">
                                <a:lumMod val="50000"/>
                              </a:schemeClr>
                            </a:solidFill>
                            <a:latin typeface="+mn-lt"/>
                            <a:ea typeface="楷体" pitchFamily="49" charset="-122"/>
                            <a:cs typeface="宋体" pitchFamily="2" charset="-122"/>
                          </a:rPr>
                          <a:t>次）</a:t>
                        </a:r>
                      </a:p>
                      <a:p>
                        <a:endParaRPr kumimoji="0" lang="zh-CN" altLang="en-US" sz="1600" b="1" dirty="0">
                          <a:solidFill>
                            <a:schemeClr val="accent1">
                              <a:lumMod val="50000"/>
                            </a:schemeClr>
                          </a:solidFill>
                          <a:latin typeface="+mn-lt"/>
                          <a:ea typeface="楷体" pitchFamily="49" charset="-122"/>
                          <a:cs typeface="宋体" pitchFamily="2" charset="-122"/>
                        </a:endParaRPr>
                      </a:p>
                    </p:txBody>
                  </p:sp>
                  <p:sp>
                    <p:nvSpPr>
                      <p:cNvPr id="979" name="Text Box 648"/>
                      <p:cNvSpPr txBox="1">
                        <a:spLocks noChangeArrowheads="1"/>
                      </p:cNvSpPr>
                      <p:nvPr/>
                    </p:nvSpPr>
                    <p:spPr bwMode="auto">
                      <a:xfrm>
                        <a:off x="8070" y="4532"/>
                        <a:ext cx="7690" cy="18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flag = 0</a:t>
                        </a:r>
                      </a:p>
                      <a:p>
                        <a:endParaRPr kumimoji="0" lang="zh-CN" altLang="zh-CN" sz="1600" b="1" dirty="0">
                          <a:solidFill>
                            <a:srgbClr val="C01920"/>
                          </a:solidFill>
                          <a:latin typeface="+mn-lt"/>
                          <a:ea typeface="楷体" pitchFamily="49" charset="-122"/>
                          <a:cs typeface="宋体" pitchFamily="2" charset="-122"/>
                        </a:endParaRPr>
                      </a:p>
                    </p:txBody>
                  </p:sp>
                </p:grpSp>
              </p:grpSp>
              <p:grpSp>
                <p:nvGrpSpPr>
                  <p:cNvPr id="996" name="组合 996"/>
                  <p:cNvGrpSpPr>
                    <a:grpSpLocks/>
                  </p:cNvGrpSpPr>
                  <p:nvPr/>
                </p:nvGrpSpPr>
                <p:grpSpPr bwMode="auto">
                  <a:xfrm>
                    <a:off x="2795" y="11166"/>
                    <a:ext cx="16909" cy="10422"/>
                    <a:chOff x="1077" y="458"/>
                    <a:chExt cx="16909" cy="10421"/>
                  </a:xfrm>
                </p:grpSpPr>
                <p:grpSp>
                  <p:nvGrpSpPr>
                    <p:cNvPr id="972" name="组合 972"/>
                    <p:cNvGrpSpPr>
                      <a:grpSpLocks/>
                    </p:cNvGrpSpPr>
                    <p:nvPr/>
                  </p:nvGrpSpPr>
                  <p:grpSpPr bwMode="auto">
                    <a:xfrm>
                      <a:off x="3024" y="458"/>
                      <a:ext cx="10154" cy="3497"/>
                      <a:chOff x="426" y="411"/>
                      <a:chExt cx="10419" cy="3141"/>
                    </a:xfrm>
                  </p:grpSpPr>
                  <p:sp>
                    <p:nvSpPr>
                      <p:cNvPr id="973" name="Text Box 648"/>
                      <p:cNvSpPr txBox="1">
                        <a:spLocks noChangeArrowheads="1"/>
                      </p:cNvSpPr>
                      <p:nvPr/>
                    </p:nvSpPr>
                    <p:spPr bwMode="auto">
                      <a:xfrm>
                        <a:off x="436" y="411"/>
                        <a:ext cx="10409" cy="17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a[j]&lt;==&gt;a[j+1] </a:t>
                        </a:r>
                        <a:endParaRPr kumimoji="0" lang="zh-CN" altLang="zh-CN" sz="1600" b="1" dirty="0">
                          <a:latin typeface="+mn-lt"/>
                          <a:ea typeface="楷体" pitchFamily="49" charset="-122"/>
                          <a:cs typeface="宋体" pitchFamily="2" charset="-122"/>
                        </a:endParaRPr>
                      </a:p>
                    </p:txBody>
                  </p:sp>
                  <p:sp>
                    <p:nvSpPr>
                      <p:cNvPr id="974" name="Text Box 648"/>
                      <p:cNvSpPr txBox="1">
                        <a:spLocks noChangeArrowheads="1"/>
                      </p:cNvSpPr>
                      <p:nvPr/>
                    </p:nvSpPr>
                    <p:spPr bwMode="auto">
                      <a:xfrm>
                        <a:off x="426" y="1882"/>
                        <a:ext cx="6122" cy="16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flag = 1</a:t>
                        </a:r>
                        <a:endParaRPr kumimoji="0" lang="zh-CN" altLang="zh-CN" sz="1600" b="1" dirty="0">
                          <a:solidFill>
                            <a:srgbClr val="C01920"/>
                          </a:solidFill>
                          <a:latin typeface="+mn-lt"/>
                          <a:ea typeface="楷体" pitchFamily="49" charset="-122"/>
                          <a:cs typeface="宋体" pitchFamily="2" charset="-122"/>
                        </a:endParaRPr>
                      </a:p>
                    </p:txBody>
                  </p:sp>
                </p:grpSp>
                <p:grpSp>
                  <p:nvGrpSpPr>
                    <p:cNvPr id="994" name="组合 994"/>
                    <p:cNvGrpSpPr>
                      <a:grpSpLocks/>
                    </p:cNvGrpSpPr>
                    <p:nvPr/>
                  </p:nvGrpSpPr>
                  <p:grpSpPr bwMode="auto">
                    <a:xfrm>
                      <a:off x="1077" y="4372"/>
                      <a:ext cx="16909" cy="6507"/>
                      <a:chOff x="1077" y="414"/>
                      <a:chExt cx="16909" cy="6507"/>
                    </a:xfrm>
                  </p:grpSpPr>
                  <p:sp>
                    <p:nvSpPr>
                      <p:cNvPr id="976" name="Text Box 612"/>
                      <p:cNvSpPr txBox="1">
                        <a:spLocks noChangeArrowheads="1"/>
                      </p:cNvSpPr>
                      <p:nvPr/>
                    </p:nvSpPr>
                    <p:spPr bwMode="auto">
                      <a:xfrm>
                        <a:off x="4382" y="5077"/>
                        <a:ext cx="10302" cy="1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984" name="Text Box 648"/>
                      <p:cNvSpPr txBox="1">
                        <a:spLocks noChangeArrowheads="1"/>
                      </p:cNvSpPr>
                      <p:nvPr/>
                    </p:nvSpPr>
                    <p:spPr bwMode="auto">
                      <a:xfrm>
                        <a:off x="7503" y="414"/>
                        <a:ext cx="6539" cy="18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flag == 0</a:t>
                        </a:r>
                      </a:p>
                      <a:p>
                        <a:endParaRPr kumimoji="0" lang="zh-CN" altLang="zh-CN" sz="1600" b="1" dirty="0">
                          <a:solidFill>
                            <a:srgbClr val="C01920"/>
                          </a:solidFill>
                          <a:latin typeface="+mn-lt"/>
                          <a:ea typeface="楷体" pitchFamily="49" charset="-122"/>
                          <a:cs typeface="宋体" pitchFamily="2" charset="-122"/>
                        </a:endParaRPr>
                      </a:p>
                    </p:txBody>
                  </p:sp>
                  <p:sp>
                    <p:nvSpPr>
                      <p:cNvPr id="985" name="Text Box 648"/>
                      <p:cNvSpPr txBox="1">
                        <a:spLocks noChangeArrowheads="1"/>
                      </p:cNvSpPr>
                      <p:nvPr/>
                    </p:nvSpPr>
                    <p:spPr bwMode="auto">
                      <a:xfrm>
                        <a:off x="1342" y="2827"/>
                        <a:ext cx="8333" cy="20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break</a:t>
                        </a:r>
                        <a:r>
                          <a:rPr kumimoji="0" lang="zh-CN" altLang="en-US" sz="1600" b="1" dirty="0">
                            <a:latin typeface="+mn-lt"/>
                            <a:ea typeface="楷体" pitchFamily="49" charset="-122"/>
                            <a:cs typeface="宋体" pitchFamily="2" charset="-122"/>
                          </a:rPr>
                          <a:t>结束循环</a:t>
                        </a:r>
                      </a:p>
                      <a:p>
                        <a:endParaRPr kumimoji="0" lang="zh-CN" altLang="en-US" sz="1600" b="1" dirty="0">
                          <a:latin typeface="+mn-lt"/>
                          <a:ea typeface="楷体" pitchFamily="49" charset="-122"/>
                          <a:cs typeface="宋体" pitchFamily="2" charset="-122"/>
                        </a:endParaRPr>
                      </a:p>
                    </p:txBody>
                  </p:sp>
                  <p:sp>
                    <p:nvSpPr>
                      <p:cNvPr id="990" name="Text Box 626"/>
                      <p:cNvSpPr txBox="1">
                        <a:spLocks noChangeArrowheads="1"/>
                      </p:cNvSpPr>
                      <p:nvPr/>
                    </p:nvSpPr>
                    <p:spPr bwMode="auto">
                      <a:xfrm>
                        <a:off x="1077" y="736"/>
                        <a:ext cx="1662" cy="18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91" name="Text Box 638"/>
                      <p:cNvSpPr txBox="1">
                        <a:spLocks noChangeArrowheads="1"/>
                      </p:cNvSpPr>
                      <p:nvPr/>
                    </p:nvSpPr>
                    <p:spPr bwMode="auto">
                      <a:xfrm>
                        <a:off x="16255" y="825"/>
                        <a:ext cx="1731" cy="17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grpSp>
          </p:grpSp>
        </p:grpSp>
        <p:sp>
          <p:nvSpPr>
            <p:cNvPr id="50" name="Text Box 9"/>
            <p:cNvSpPr txBox="1">
              <a:spLocks noChangeArrowheads="1"/>
            </p:cNvSpPr>
            <p:nvPr/>
          </p:nvSpPr>
          <p:spPr bwMode="auto">
            <a:xfrm>
              <a:off x="-1142106" y="4523414"/>
              <a:ext cx="4214842" cy="428628"/>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sz="2000" b="1" dirty="0">
                  <a:solidFill>
                    <a:srgbClr val="00B0F0"/>
                  </a:solidFill>
                  <a:ea typeface="隶书" pitchFamily="49" charset="-122"/>
                  <a:cs typeface="宋体" pitchFamily="2" charset="-122"/>
                </a:rPr>
                <a:t>改进后的冒泡排序算法</a:t>
              </a:r>
              <a:r>
                <a:rPr kumimoji="0" lang="en-US" altLang="zh-CN" sz="2000" b="1" dirty="0">
                  <a:solidFill>
                    <a:srgbClr val="00B0F0"/>
                  </a:solidFill>
                  <a:ea typeface="隶书" pitchFamily="49" charset="-122"/>
                  <a:cs typeface="宋体" pitchFamily="2" charset="-122"/>
                </a:rPr>
                <a:t>N-S</a:t>
              </a:r>
              <a:r>
                <a:rPr kumimoji="0" lang="zh-CN" altLang="en-US" sz="2000" b="1" dirty="0">
                  <a:solidFill>
                    <a:srgbClr val="00B0F0"/>
                  </a:solidFill>
                  <a:ea typeface="隶书" pitchFamily="49" charset="-122"/>
                  <a:cs typeface="宋体" pitchFamily="2" charset="-122"/>
                </a:rPr>
                <a:t>流程图</a:t>
              </a:r>
            </a:p>
          </p:txBody>
        </p:sp>
      </p:grpSp>
      <p:sp>
        <p:nvSpPr>
          <p:cNvPr id="985120" name="Text Box 32" descr="信纸"/>
          <p:cNvSpPr txBox="1">
            <a:spLocks noChangeArrowheads="1"/>
          </p:cNvSpPr>
          <p:nvPr/>
        </p:nvSpPr>
        <p:spPr bwMode="auto">
          <a:xfrm>
            <a:off x="2547514" y="501913"/>
            <a:ext cx="8208912" cy="6557822"/>
          </a:xfrm>
          <a:prstGeom prst="rect">
            <a:avLst/>
          </a:prstGeom>
          <a:gradFill>
            <a:gsLst>
              <a:gs pos="0">
                <a:srgbClr val="CFCFD1"/>
              </a:gs>
              <a:gs pos="100000">
                <a:schemeClr val="bg1"/>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#define  NUM   10</a:t>
            </a:r>
          </a:p>
          <a:p>
            <a:pPr marL="457200" indent="-457200"/>
            <a:r>
              <a:rPr lang="en-US" altLang="zh-CN" sz="2000" b="1" dirty="0">
                <a:ea typeface="楷体_GB2312" pitchFamily="49" charset="-122"/>
              </a:rPr>
              <a:t>  </a:t>
            </a: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int a[NUM], </a:t>
            </a:r>
            <a:r>
              <a:rPr lang="en-US" altLang="zh-CN" sz="2000" b="1" dirty="0" err="1">
                <a:ea typeface="楷体_GB2312" pitchFamily="49" charset="-122"/>
              </a:rPr>
              <a:t>i</a:t>
            </a:r>
            <a:r>
              <a:rPr lang="en-US" altLang="zh-CN" sz="2000" b="1" dirty="0">
                <a:ea typeface="楷体_GB2312" pitchFamily="49" charset="-122"/>
              </a:rPr>
              <a:t>, j, t, </a:t>
            </a:r>
            <a:r>
              <a:rPr lang="en-US" altLang="zh-CN" sz="2000" b="1" dirty="0">
                <a:solidFill>
                  <a:srgbClr val="C01920"/>
                </a:solidFill>
                <a:ea typeface="楷体_GB2312" pitchFamily="49" charset="-122"/>
              </a:rPr>
              <a:t>flag</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%d numbers: \n", NUM);</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输入</a:t>
            </a:r>
            <a:r>
              <a:rPr lang="en-US" altLang="zh-CN" sz="1600" b="1" dirty="0">
                <a:solidFill>
                  <a:srgbClr val="002060"/>
                </a:solidFill>
                <a:latin typeface="+mn-lt"/>
                <a:ea typeface="楷体" pitchFamily="49" charset="-122"/>
              </a:rPr>
              <a:t>NUM</a:t>
            </a:r>
            <a:r>
              <a:rPr lang="zh-CN" altLang="en-US" sz="1600" b="1" dirty="0">
                <a:solidFill>
                  <a:srgbClr val="002060"/>
                </a:solidFill>
                <a:latin typeface="+mn-lt"/>
                <a:ea typeface="楷体" pitchFamily="49" charset="-122"/>
              </a:rPr>
              <a:t>个整数</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&amp;a[</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1;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轮次，共</a:t>
            </a:r>
            <a:r>
              <a:rPr lang="en-US" altLang="zh-CN" sz="1600" b="1" dirty="0">
                <a:solidFill>
                  <a:srgbClr val="002060"/>
                </a:solidFill>
                <a:latin typeface="+mn-lt"/>
                <a:ea typeface="楷体" pitchFamily="49" charset="-122"/>
              </a:rPr>
              <a:t>NUM-1</a:t>
            </a:r>
            <a:r>
              <a:rPr lang="zh-CN" altLang="en-US" sz="1600" b="1" dirty="0">
                <a:solidFill>
                  <a:srgbClr val="002060"/>
                </a:solidFill>
                <a:latin typeface="+mn-lt"/>
                <a:ea typeface="楷体" pitchFamily="49" charset="-122"/>
              </a:rPr>
              <a:t>次</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solidFill>
                  <a:srgbClr val="FF33CC"/>
                </a:solidFill>
                <a:ea typeface="楷体_GB2312" pitchFamily="49" charset="-122"/>
              </a:rPr>
              <a:t>       </a:t>
            </a:r>
            <a:r>
              <a:rPr lang="en-US" altLang="zh-CN" sz="2000" b="1" dirty="0">
                <a:solidFill>
                  <a:srgbClr val="C01920"/>
                </a:solidFill>
                <a:ea typeface="楷体_GB2312" pitchFamily="49" charset="-122"/>
              </a:rPr>
              <a:t>flag = 0;</a:t>
            </a:r>
          </a:p>
          <a:p>
            <a:pPr marL="457200" indent="-457200"/>
            <a:r>
              <a:rPr lang="en-US" altLang="zh-CN" sz="2000" b="1" dirty="0">
                <a:ea typeface="楷体_GB2312" pitchFamily="49" charset="-122"/>
              </a:rPr>
              <a:t>       for (j = 0; j &lt; NUM - </a:t>
            </a:r>
            <a:r>
              <a:rPr lang="en-US" altLang="zh-CN" sz="2000" b="1" dirty="0" err="1">
                <a:ea typeface="楷体_GB2312" pitchFamily="49" charset="-122"/>
              </a:rPr>
              <a:t>i</a:t>
            </a:r>
            <a:r>
              <a:rPr lang="en-US" altLang="zh-CN" sz="2000" b="1" dirty="0">
                <a:ea typeface="楷体_GB2312" pitchFamily="49" charset="-122"/>
              </a:rPr>
              <a:t>; </a:t>
            </a:r>
            <a:r>
              <a:rPr lang="en-US" altLang="zh-CN" sz="2000" b="1" dirty="0" err="1">
                <a:ea typeface="楷体_GB2312" pitchFamily="49" charset="-122"/>
              </a:rPr>
              <a:t>j++</a:t>
            </a:r>
            <a:r>
              <a:rPr lang="en-US" altLang="zh-CN" sz="2000" b="1" dirty="0">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实现一次冒泡操作</a:t>
            </a:r>
          </a:p>
          <a:p>
            <a:pPr marL="457200" indent="-457200"/>
            <a:r>
              <a:rPr lang="zh-CN" altLang="en-US" sz="2000" b="1" dirty="0">
                <a:ea typeface="楷体_GB2312" pitchFamily="49" charset="-122"/>
              </a:rPr>
              <a:t>           </a:t>
            </a:r>
            <a:r>
              <a:rPr lang="en-US" altLang="zh-CN" sz="2000" b="1" dirty="0">
                <a:ea typeface="楷体_GB2312" pitchFamily="49" charset="-122"/>
              </a:rPr>
              <a:t>if (a[j] &gt; a[j+1])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交换</a:t>
            </a:r>
            <a:r>
              <a:rPr lang="en-US" altLang="zh-CN" sz="1600" b="1" dirty="0">
                <a:solidFill>
                  <a:srgbClr val="002060"/>
                </a:solidFill>
                <a:latin typeface="+mn-lt"/>
                <a:ea typeface="楷体" pitchFamily="49" charset="-122"/>
              </a:rPr>
              <a:t>a[j]</a:t>
            </a:r>
            <a:r>
              <a:rPr lang="zh-CN" altLang="en-US" sz="1600" b="1" dirty="0">
                <a:solidFill>
                  <a:srgbClr val="002060"/>
                </a:solidFill>
                <a:latin typeface="+mn-lt"/>
                <a:ea typeface="楷体" pitchFamily="49" charset="-122"/>
              </a:rPr>
              <a:t>和</a:t>
            </a:r>
            <a:r>
              <a:rPr lang="en-US" altLang="zh-CN" sz="1600" b="1" dirty="0">
                <a:solidFill>
                  <a:srgbClr val="002060"/>
                </a:solidFill>
                <a:latin typeface="+mn-lt"/>
                <a:ea typeface="楷体" pitchFamily="49" charset="-122"/>
              </a:rPr>
              <a:t>a[j+1]</a:t>
            </a:r>
          </a:p>
          <a:p>
            <a:pPr marL="457200" indent="-457200"/>
            <a:r>
              <a:rPr lang="en-US" altLang="zh-CN" sz="2000" b="1" dirty="0">
                <a:ea typeface="楷体_GB2312" pitchFamily="49" charset="-122"/>
              </a:rPr>
              <a:t>           {   t = a[j];   a[j] = a[j+1];  a[j+1] = t;  </a:t>
            </a:r>
            <a:r>
              <a:rPr lang="en-US" altLang="zh-CN" sz="2000" b="1" dirty="0">
                <a:solidFill>
                  <a:srgbClr val="C01920"/>
                </a:solidFill>
                <a:ea typeface="楷体_GB2312" pitchFamily="49" charset="-122"/>
              </a:rPr>
              <a:t>flag = 1</a:t>
            </a:r>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a:solidFill>
                  <a:srgbClr val="C01920"/>
                </a:solidFill>
                <a:ea typeface="楷体_GB2312" pitchFamily="49" charset="-122"/>
              </a:rPr>
              <a:t>if (flag = = 0)  break;</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("the sorted numbers:\n");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输出排好序的数据</a:t>
            </a:r>
          </a:p>
          <a:p>
            <a:pPr marL="457200" indent="-457200"/>
            <a:r>
              <a:rPr lang="zh-CN" altLang="en-US" sz="2000" b="1" dirty="0">
                <a:ea typeface="楷体_GB2312" pitchFamily="49" charset="-122"/>
              </a:rPr>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 ", a[</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52" name="TextBox 51"/>
          <p:cNvSpPr txBox="1"/>
          <p:nvPr/>
        </p:nvSpPr>
        <p:spPr>
          <a:xfrm>
            <a:off x="7688430" y="737345"/>
            <a:ext cx="3357586" cy="461665"/>
          </a:xfrm>
          <a:prstGeom prst="rect">
            <a:avLst/>
          </a:prstGeom>
          <a:solidFill>
            <a:schemeClr val="bg1"/>
          </a:solidFill>
          <a:ln>
            <a:solidFill>
              <a:srgbClr val="C01920"/>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ln w="1905"/>
                <a:solidFill>
                  <a:srgbClr val="C01920"/>
                </a:solidFill>
                <a:latin typeface="隶书" pitchFamily="49" charset="-122"/>
                <a:ea typeface="隶书" pitchFamily="49" charset="-122"/>
              </a:rPr>
              <a:t>改进后的冒泡排序算法</a:t>
            </a:r>
          </a:p>
        </p:txBody>
      </p:sp>
    </p:spTree>
    <p:extLst>
      <p:ext uri="{BB962C8B-B14F-4D97-AF65-F5344CB8AC3E}">
        <p14:creationId xmlns:p14="http://schemas.microsoft.com/office/powerpoint/2010/main" val="356565302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85119"/>
                                        </p:tgtEl>
                                        <p:attrNameLst>
                                          <p:attrName>style.visibility</p:attrName>
                                        </p:attrNameLst>
                                      </p:cBhvr>
                                      <p:to>
                                        <p:strVal val="visible"/>
                                      </p:to>
                                    </p:set>
                                    <p:animEffect transition="in" filter="box(out)">
                                      <p:cBhvr>
                                        <p:cTn id="7" dur="500"/>
                                        <p:tgtEl>
                                          <p:spTgt spid="985119"/>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strips(downRight)">
                                      <p:cBhvr>
                                        <p:cTn id="12" dur="500"/>
                                        <p:tgtEl>
                                          <p:spTgt spid="51"/>
                                        </p:tgtEl>
                                      </p:cBhvr>
                                    </p:animEffect>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85120"/>
                                        </p:tgtEl>
                                        <p:attrNameLst>
                                          <p:attrName>style.visibility</p:attrName>
                                        </p:attrNameLst>
                                      </p:cBhvr>
                                      <p:to>
                                        <p:strVal val="visible"/>
                                      </p:to>
                                    </p:set>
                                    <p:animEffect transition="in" filter="box(out)">
                                      <p:cBhvr>
                                        <p:cTn id="17" dur="500"/>
                                        <p:tgtEl>
                                          <p:spTgt spid="98512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box(in)">
                                      <p:cBhvr>
                                        <p:cTn id="21" dur="500"/>
                                        <p:tgtEl>
                                          <p:spTgt spid="52"/>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119" grpId="0"/>
      <p:bldP spid="985120" grpId="0" animBg="1" autoUpdateAnimBg="0"/>
      <p:bldP spid="5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Rectangle 4">
            <a:extLst>
              <a:ext uri="{FF2B5EF4-FFF2-40B4-BE49-F238E27FC236}">
                <a16:creationId xmlns:a16="http://schemas.microsoft.com/office/drawing/2014/main" id="{EA369E00-0F46-40AB-84E9-502297B3F9C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175" name="Rectangle 5">
            <a:extLst>
              <a:ext uri="{FF2B5EF4-FFF2-40B4-BE49-F238E27FC236}">
                <a16:creationId xmlns:a16="http://schemas.microsoft.com/office/drawing/2014/main" id="{9870CA95-9981-4F6D-823B-22A33EA45906}"/>
              </a:ext>
            </a:extLst>
          </p:cNvPr>
          <p:cNvSpPr>
            <a:spLocks noChangeArrowheads="1"/>
          </p:cNvSpPr>
          <p:nvPr/>
        </p:nvSpPr>
        <p:spPr bwMode="auto">
          <a:xfrm>
            <a:off x="856862" y="836712"/>
            <a:ext cx="5790368" cy="523220"/>
          </a:xfrm>
          <a:prstGeom prst="rect">
            <a:avLst/>
          </a:prstGeom>
          <a:noFill/>
          <a:ln w="9525">
            <a:noFill/>
            <a:miter lim="800000"/>
            <a:headEnd/>
            <a:tailEnd/>
          </a:ln>
          <a:effectLst/>
        </p:spPr>
        <p:txBody>
          <a:bodyPr wrap="none">
            <a:spAutoFit/>
          </a:bodyPr>
          <a:lstStyle/>
          <a:p>
            <a:r>
              <a:rPr lang="en-US" altLang="zh-CN" sz="2800" b="1" dirty="0">
                <a:solidFill>
                  <a:srgbClr val="00B0F0"/>
                </a:solidFill>
                <a:latin typeface="+mn-lt"/>
                <a:ea typeface="楷体" pitchFamily="49" charset="-122"/>
              </a:rPr>
              <a:t>4</a:t>
            </a:r>
            <a:r>
              <a:rPr lang="zh-CN" altLang="en-US" sz="2800" b="1" dirty="0">
                <a:solidFill>
                  <a:srgbClr val="00B0F0"/>
                </a:solidFill>
                <a:latin typeface="+mn-lt"/>
                <a:ea typeface="楷体" pitchFamily="49" charset="-122"/>
              </a:rPr>
              <a:t>、一维数组应用举例</a:t>
            </a:r>
            <a:r>
              <a:rPr lang="en-US" altLang="zh-CN" sz="2800" b="1" dirty="0">
                <a:solidFill>
                  <a:srgbClr val="00B0F0"/>
                </a:solidFill>
                <a:latin typeface="+mn-lt"/>
                <a:ea typeface="楷体" pitchFamily="49" charset="-122"/>
              </a:rPr>
              <a:t>----</a:t>
            </a:r>
            <a:r>
              <a:rPr lang="zh-CN" altLang="en-US" sz="2800" b="1" dirty="0">
                <a:solidFill>
                  <a:srgbClr val="00B0F0"/>
                </a:solidFill>
                <a:ea typeface="楷体" pitchFamily="49" charset="-122"/>
              </a:rPr>
              <a:t>冒泡排序</a:t>
            </a:r>
          </a:p>
        </p:txBody>
      </p:sp>
      <p:sp>
        <p:nvSpPr>
          <p:cNvPr id="2" name="文本框 1">
            <a:extLst>
              <a:ext uri="{FF2B5EF4-FFF2-40B4-BE49-F238E27FC236}">
                <a16:creationId xmlns:a16="http://schemas.microsoft.com/office/drawing/2014/main" id="{2CE91283-A63E-4790-8C0A-10EF0F7F6259}"/>
              </a:ext>
            </a:extLst>
          </p:cNvPr>
          <p:cNvSpPr txBox="1"/>
          <p:nvPr/>
        </p:nvSpPr>
        <p:spPr>
          <a:xfrm>
            <a:off x="1266825" y="1446312"/>
            <a:ext cx="1338828" cy="646331"/>
          </a:xfrm>
          <a:prstGeom prst="rect">
            <a:avLst/>
          </a:prstGeom>
          <a:noFill/>
        </p:spPr>
        <p:txBody>
          <a:bodyPr wrap="none" rtlCol="0">
            <a:spAutoFit/>
          </a:bodyPr>
          <a:lstStyle/>
          <a:p>
            <a:r>
              <a:rPr lang="zh-CN" altLang="en-US" b="1" dirty="0">
                <a:solidFill>
                  <a:schemeClr val="accent1"/>
                </a:solidFill>
                <a:ea typeface="楷体" pitchFamily="49" charset="-122"/>
              </a:rPr>
              <a:t>规律总结</a:t>
            </a:r>
            <a:r>
              <a:rPr lang="zh-CN" altLang="en-US" dirty="0"/>
              <a:t>：</a:t>
            </a:r>
            <a:endParaRPr lang="en-US" altLang="zh-CN" dirty="0"/>
          </a:p>
          <a:p>
            <a:endParaRPr lang="zh-CN" altLang="en-US" dirty="0"/>
          </a:p>
        </p:txBody>
      </p:sp>
      <p:sp>
        <p:nvSpPr>
          <p:cNvPr id="176" name="文本框 175">
            <a:extLst>
              <a:ext uri="{FF2B5EF4-FFF2-40B4-BE49-F238E27FC236}">
                <a16:creationId xmlns:a16="http://schemas.microsoft.com/office/drawing/2014/main" id="{8BCF9745-69D6-4D9F-A4D6-69C5A0321B1C}"/>
              </a:ext>
            </a:extLst>
          </p:cNvPr>
          <p:cNvSpPr txBox="1"/>
          <p:nvPr/>
        </p:nvSpPr>
        <p:spPr>
          <a:xfrm>
            <a:off x="744754" y="1999277"/>
            <a:ext cx="10702492" cy="1631216"/>
          </a:xfrm>
          <a:prstGeom prst="rect">
            <a:avLst/>
          </a:prstGeom>
          <a:noFill/>
        </p:spPr>
        <p:txBody>
          <a:bodyPr wrap="square" rtlCol="0">
            <a:spAutoFit/>
          </a:bodyPr>
          <a:lstStyle/>
          <a:p>
            <a:r>
              <a:rPr lang="en-US" altLang="zh-CN" sz="2000" b="1" dirty="0">
                <a:ln w="1905"/>
                <a:ea typeface="楷体" pitchFamily="49" charset="-122"/>
              </a:rPr>
              <a:t>        (1)</a:t>
            </a:r>
            <a:r>
              <a:rPr lang="zh-CN" altLang="en-US" sz="2000" b="1" dirty="0">
                <a:ln w="1905"/>
                <a:ea typeface="楷体" pitchFamily="49" charset="-122"/>
              </a:rPr>
              <a:t>在升序的冒泡排序中，排序第</a:t>
            </a:r>
            <a:r>
              <a:rPr lang="en-US" altLang="zh-CN" sz="2000" b="1" dirty="0">
                <a:ln w="1905"/>
                <a:ea typeface="楷体" pitchFamily="49" charset="-122"/>
              </a:rPr>
              <a:t>n</a:t>
            </a:r>
            <a:r>
              <a:rPr lang="zh-CN" altLang="en-US" sz="2000" b="1" dirty="0">
                <a:ln w="1905"/>
                <a:ea typeface="楷体" pitchFamily="49" charset="-122"/>
              </a:rPr>
              <a:t>趟，就已经排出第</a:t>
            </a:r>
            <a:r>
              <a:rPr lang="en-US" altLang="zh-CN" sz="2000" b="1" dirty="0">
                <a:ln w="1905"/>
                <a:ea typeface="楷体" pitchFamily="49" charset="-122"/>
              </a:rPr>
              <a:t>n</a:t>
            </a:r>
            <a:r>
              <a:rPr lang="zh-CN" altLang="en-US" sz="2000" b="1" dirty="0">
                <a:ln w="1905"/>
                <a:ea typeface="楷体" pitchFamily="49" charset="-122"/>
              </a:rPr>
              <a:t>大的数据，且位于数组的第</a:t>
            </a:r>
            <a:r>
              <a:rPr lang="en-US" altLang="zh-CN" sz="2000" b="1" dirty="0">
                <a:ln w="1905"/>
                <a:ea typeface="楷体" pitchFamily="49" charset="-122"/>
              </a:rPr>
              <a:t>n</a:t>
            </a:r>
            <a:r>
              <a:rPr lang="zh-CN" altLang="en-US" sz="2000" b="1" dirty="0">
                <a:ln w="1905"/>
                <a:ea typeface="楷体" pitchFamily="49" charset="-122"/>
              </a:rPr>
              <a:t>个位置。</a:t>
            </a:r>
            <a:endParaRPr lang="en-US" altLang="zh-CN" sz="2000" b="1" dirty="0">
              <a:ln w="1905"/>
              <a:ea typeface="楷体" pitchFamily="49" charset="-122"/>
            </a:endParaRPr>
          </a:p>
          <a:p>
            <a:r>
              <a:rPr lang="zh-CN" altLang="en-US" sz="2000" b="1" dirty="0">
                <a:ln w="1905"/>
                <a:ea typeface="楷体" pitchFamily="49" charset="-122"/>
              </a:rPr>
              <a:t>同理，在降序的冒泡排序中，排序第</a:t>
            </a:r>
            <a:r>
              <a:rPr lang="en-US" altLang="zh-CN" sz="2000" b="1" dirty="0">
                <a:ln w="1905"/>
                <a:ea typeface="楷体" pitchFamily="49" charset="-122"/>
              </a:rPr>
              <a:t>n</a:t>
            </a:r>
            <a:r>
              <a:rPr lang="zh-CN" altLang="en-US" sz="2000" b="1" dirty="0">
                <a:ln w="1905"/>
                <a:ea typeface="楷体" pitchFamily="49" charset="-122"/>
              </a:rPr>
              <a:t>趟，就已经排出第</a:t>
            </a:r>
            <a:r>
              <a:rPr lang="en-US" altLang="zh-CN" sz="2000" b="1" dirty="0">
                <a:ln w="1905"/>
                <a:ea typeface="楷体" pitchFamily="49" charset="-122"/>
              </a:rPr>
              <a:t>n</a:t>
            </a:r>
            <a:r>
              <a:rPr lang="zh-CN" altLang="en-US" sz="2000" b="1" dirty="0">
                <a:ln w="1905"/>
                <a:ea typeface="楷体" pitchFamily="49" charset="-122"/>
              </a:rPr>
              <a:t>小的数据，且位于数组的第</a:t>
            </a:r>
            <a:r>
              <a:rPr lang="en-US" altLang="zh-CN" sz="2000" b="1" dirty="0">
                <a:ln w="1905"/>
                <a:ea typeface="楷体" pitchFamily="49" charset="-122"/>
              </a:rPr>
              <a:t>n</a:t>
            </a:r>
            <a:r>
              <a:rPr lang="zh-CN" altLang="en-US" sz="2000" b="1" dirty="0">
                <a:ln w="1905"/>
                <a:ea typeface="楷体" pitchFamily="49" charset="-122"/>
              </a:rPr>
              <a:t>个位置。</a:t>
            </a:r>
            <a:endParaRPr lang="en-US" altLang="zh-CN" sz="2000" b="1" dirty="0">
              <a:ln w="1905"/>
              <a:ea typeface="楷体" pitchFamily="49" charset="-122"/>
            </a:endParaRPr>
          </a:p>
          <a:p>
            <a:endParaRPr lang="en-US" altLang="zh-CN" sz="2000" b="1" dirty="0">
              <a:ln w="1905"/>
              <a:ea typeface="楷体" pitchFamily="49" charset="-122"/>
            </a:endParaRPr>
          </a:p>
          <a:p>
            <a:r>
              <a:rPr lang="en-US" altLang="zh-CN" sz="2000" b="1" dirty="0">
                <a:ln w="1905"/>
                <a:ea typeface="楷体" pitchFamily="49" charset="-122"/>
              </a:rPr>
              <a:t>        (2)</a:t>
            </a:r>
            <a:r>
              <a:rPr lang="zh-CN" altLang="en-US" sz="2000" b="1" dirty="0">
                <a:ln w="1905"/>
                <a:ea typeface="楷体" pitchFamily="49" charset="-122"/>
              </a:rPr>
              <a:t>完整的冒泡排序算法中，排序的次数仅与数组的长度有关，若数组长度为</a:t>
            </a:r>
            <a:r>
              <a:rPr lang="en-US" altLang="zh-CN" sz="2000" b="1" dirty="0">
                <a:ln w="1905"/>
                <a:ea typeface="楷体" pitchFamily="49" charset="-122"/>
              </a:rPr>
              <a:t>n</a:t>
            </a:r>
            <a:r>
              <a:rPr lang="zh-CN" altLang="en-US" sz="2000" b="1" dirty="0">
                <a:ln w="1905"/>
                <a:ea typeface="楷体" pitchFamily="49" charset="-122"/>
              </a:rPr>
              <a:t>，最多需要执行</a:t>
            </a:r>
            <a:r>
              <a:rPr lang="en-US" altLang="zh-CN" sz="2000" b="1" dirty="0">
                <a:ln w="1905"/>
                <a:ea typeface="楷体" pitchFamily="49" charset="-122"/>
              </a:rPr>
              <a:t>n-1</a:t>
            </a:r>
            <a:r>
              <a:rPr lang="zh-CN" altLang="en-US" sz="2000" b="1" dirty="0">
                <a:ln w="1905"/>
                <a:ea typeface="楷体" pitchFamily="49" charset="-122"/>
              </a:rPr>
              <a:t>次的排序。</a:t>
            </a:r>
          </a:p>
        </p:txBody>
      </p:sp>
    </p:spTree>
    <p:extLst>
      <p:ext uri="{BB962C8B-B14F-4D97-AF65-F5344CB8AC3E}">
        <p14:creationId xmlns:p14="http://schemas.microsoft.com/office/powerpoint/2010/main" val="4160936363"/>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6119" name="Rectangle 7"/>
          <p:cNvSpPr>
            <a:spLocks noChangeArrowheads="1"/>
          </p:cNvSpPr>
          <p:nvPr/>
        </p:nvSpPr>
        <p:spPr bwMode="auto">
          <a:xfrm>
            <a:off x="1403261" y="1730533"/>
            <a:ext cx="10046981" cy="224895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lIns="90000" tIns="46800" rIns="90000" bIns="46800" anchor="ctr">
            <a:spAutoFit/>
          </a:bodyPr>
          <a:lstStyle/>
          <a:p>
            <a:r>
              <a:rPr lang="zh-CN" altLang="en-US" sz="2000" b="1" u="sng" dirty="0">
                <a:ln w="1905"/>
                <a:solidFill>
                  <a:srgbClr val="00B0F0"/>
                </a:solidFill>
                <a:latin typeface="楷体" panose="02010609060101010101" pitchFamily="49" charset="-122"/>
                <a:ea typeface="楷体" panose="02010609060101010101" pitchFamily="49" charset="-122"/>
              </a:rPr>
              <a:t>排序过程：</a:t>
            </a:r>
            <a:endParaRPr lang="en-US" altLang="zh-CN" sz="2000" b="1" u="sng" dirty="0">
              <a:ln w="1905"/>
              <a:solidFill>
                <a:srgbClr val="00B0F0"/>
              </a:solidFill>
              <a:latin typeface="楷体" panose="02010609060101010101" pitchFamily="49" charset="-122"/>
              <a:ea typeface="楷体" panose="02010609060101010101" pitchFamily="49" charset="-122"/>
            </a:endParaRPr>
          </a:p>
          <a:p>
            <a:endParaRPr lang="en-US" altLang="zh-CN" sz="2000" b="1" u="sng" dirty="0">
              <a:ln w="1905"/>
              <a:solidFill>
                <a:srgbClr val="FF0000"/>
              </a:solidFill>
              <a:latin typeface="隶书" pitchFamily="49" charset="-122"/>
              <a:ea typeface="隶书" pitchFamily="49" charset="-122"/>
            </a:endParaRPr>
          </a:p>
          <a:p>
            <a:pPr marL="457200" indent="-457200">
              <a:buAutoNum type="arabicParenBoth"/>
            </a:pPr>
            <a:r>
              <a:rPr lang="zh-CN" altLang="en-US" sz="2000" b="1" dirty="0">
                <a:ln w="1905"/>
                <a:solidFill>
                  <a:schemeClr val="tx1"/>
                </a:solidFill>
                <a:ea typeface="楷体" pitchFamily="49" charset="-122"/>
              </a:rPr>
              <a:t>首先通过</a:t>
            </a:r>
            <a:r>
              <a:rPr lang="en-US" altLang="zh-CN" sz="2000" b="1" dirty="0">
                <a:ln w="1905"/>
                <a:solidFill>
                  <a:schemeClr val="tx1"/>
                </a:solidFill>
                <a:ea typeface="楷体" pitchFamily="49" charset="-122"/>
              </a:rPr>
              <a:t>n-1</a:t>
            </a:r>
            <a:r>
              <a:rPr lang="zh-CN" altLang="zh-CN" sz="2000" b="1" dirty="0">
                <a:ln w="1905"/>
                <a:solidFill>
                  <a:schemeClr val="tx1"/>
                </a:solidFill>
                <a:ea typeface="楷体" pitchFamily="49" charset="-122"/>
              </a:rPr>
              <a:t>次比较，从</a:t>
            </a:r>
            <a:r>
              <a:rPr lang="en-US" altLang="zh-CN" sz="2000" b="1" dirty="0">
                <a:ln w="1905"/>
                <a:solidFill>
                  <a:schemeClr val="tx1"/>
                </a:solidFill>
                <a:ea typeface="楷体" pitchFamily="49" charset="-122"/>
              </a:rPr>
              <a:t>n</a:t>
            </a:r>
            <a:r>
              <a:rPr lang="zh-CN" altLang="zh-CN" sz="2000" b="1" dirty="0">
                <a:ln w="1905"/>
                <a:solidFill>
                  <a:schemeClr val="tx1"/>
                </a:solidFill>
                <a:ea typeface="楷体" pitchFamily="49" charset="-122"/>
              </a:rPr>
              <a:t>个数中找出最小的， 将它与第一个数交换—</a:t>
            </a:r>
            <a:r>
              <a:rPr lang="zh-CN" altLang="zh-CN" sz="2000" b="1" dirty="0">
                <a:ln w="1905"/>
                <a:solidFill>
                  <a:srgbClr val="C01920"/>
                </a:solidFill>
                <a:ea typeface="楷体" pitchFamily="49" charset="-122"/>
              </a:rPr>
              <a:t>第一趟选择排序</a:t>
            </a:r>
            <a:r>
              <a:rPr lang="zh-CN" altLang="zh-CN" sz="2000" b="1" dirty="0">
                <a:ln w="1905"/>
                <a:solidFill>
                  <a:schemeClr val="tx1"/>
                </a:solidFill>
                <a:ea typeface="楷体" pitchFamily="49" charset="-122"/>
              </a:rPr>
              <a:t>，结果最小的数被安置在第一个元素位置上；</a:t>
            </a:r>
            <a:endParaRPr lang="en-US" altLang="zh-CN" sz="2000" b="1" dirty="0">
              <a:ln w="1905"/>
              <a:solidFill>
                <a:schemeClr val="tx1"/>
              </a:solidFill>
              <a:ea typeface="楷体" pitchFamily="49" charset="-122"/>
            </a:endParaRPr>
          </a:p>
          <a:p>
            <a:pPr marL="457200" indent="-457200">
              <a:buAutoNum type="arabicParenBoth"/>
            </a:pPr>
            <a:r>
              <a:rPr lang="zh-CN" altLang="zh-CN" sz="2000" b="1" dirty="0">
                <a:ln w="1905"/>
                <a:solidFill>
                  <a:schemeClr val="tx1"/>
                </a:solidFill>
                <a:ea typeface="楷体" pitchFamily="49" charset="-122"/>
              </a:rPr>
              <a:t>再通过</a:t>
            </a:r>
            <a:r>
              <a:rPr lang="en-US" altLang="zh-CN" sz="2000" b="1" dirty="0">
                <a:ln w="1905"/>
                <a:solidFill>
                  <a:schemeClr val="tx1"/>
                </a:solidFill>
                <a:ea typeface="楷体" pitchFamily="49" charset="-122"/>
              </a:rPr>
              <a:t>n-2</a:t>
            </a:r>
            <a:r>
              <a:rPr lang="zh-CN" altLang="zh-CN" sz="2000" b="1" dirty="0">
                <a:ln w="1905"/>
                <a:solidFill>
                  <a:schemeClr val="tx1"/>
                </a:solidFill>
                <a:ea typeface="楷体" pitchFamily="49" charset="-122"/>
              </a:rPr>
              <a:t>次比较，从剩余的</a:t>
            </a:r>
            <a:r>
              <a:rPr lang="en-US" altLang="zh-CN" sz="2000" b="1" dirty="0">
                <a:ln w="1905"/>
                <a:solidFill>
                  <a:schemeClr val="tx1"/>
                </a:solidFill>
                <a:ea typeface="楷体" pitchFamily="49" charset="-122"/>
              </a:rPr>
              <a:t>n-1</a:t>
            </a:r>
            <a:r>
              <a:rPr lang="zh-CN" altLang="zh-CN" sz="2000" b="1" dirty="0">
                <a:ln w="1905"/>
                <a:solidFill>
                  <a:schemeClr val="tx1"/>
                </a:solidFill>
                <a:ea typeface="楷体" pitchFamily="49" charset="-122"/>
              </a:rPr>
              <a:t>个数中找出关键字次小的记录，将它与第二个数交换—</a:t>
            </a:r>
            <a:r>
              <a:rPr lang="zh-CN" altLang="zh-CN" sz="2000" b="1" dirty="0">
                <a:ln w="1905"/>
                <a:solidFill>
                  <a:srgbClr val="C01920"/>
                </a:solidFill>
                <a:ea typeface="楷体" pitchFamily="49" charset="-122"/>
              </a:rPr>
              <a:t>第二趟选择排序</a:t>
            </a:r>
            <a:r>
              <a:rPr lang="zh-CN" altLang="zh-CN" sz="2000" b="1" dirty="0">
                <a:ln w="1905"/>
                <a:solidFill>
                  <a:schemeClr val="tx1"/>
                </a:solidFill>
                <a:ea typeface="楷体" pitchFamily="49" charset="-122"/>
              </a:rPr>
              <a:t>；</a:t>
            </a:r>
            <a:endParaRPr lang="en-US" altLang="zh-CN" sz="2000" b="1" dirty="0">
              <a:ln w="1905"/>
              <a:solidFill>
                <a:schemeClr val="tx1"/>
              </a:solidFill>
              <a:ea typeface="楷体" pitchFamily="49" charset="-122"/>
            </a:endParaRPr>
          </a:p>
          <a:p>
            <a:pPr marL="457200" indent="-457200">
              <a:buAutoNum type="arabicParenBoth"/>
            </a:pPr>
            <a:r>
              <a:rPr lang="zh-CN" altLang="zh-CN" sz="2000" b="1" dirty="0">
                <a:ln w="1905"/>
                <a:solidFill>
                  <a:schemeClr val="tx1"/>
                </a:solidFill>
                <a:ea typeface="楷体" pitchFamily="49" charset="-122"/>
              </a:rPr>
              <a:t>重复上述过程，共经过</a:t>
            </a:r>
            <a:r>
              <a:rPr lang="en-US" altLang="zh-CN" sz="2000" b="1" dirty="0">
                <a:ln w="1905"/>
                <a:solidFill>
                  <a:srgbClr val="C01920"/>
                </a:solidFill>
                <a:ea typeface="楷体" pitchFamily="49" charset="-122"/>
              </a:rPr>
              <a:t>n-1</a:t>
            </a:r>
            <a:r>
              <a:rPr lang="zh-CN" altLang="zh-CN" sz="2000" b="1" dirty="0">
                <a:ln w="1905"/>
                <a:solidFill>
                  <a:srgbClr val="C01920"/>
                </a:solidFill>
                <a:ea typeface="楷体" pitchFamily="49" charset="-122"/>
              </a:rPr>
              <a:t>趟排序</a:t>
            </a:r>
            <a:r>
              <a:rPr lang="zh-CN" altLang="zh-CN" sz="2000" b="1" dirty="0">
                <a:ln w="1905"/>
                <a:solidFill>
                  <a:schemeClr val="tx1"/>
                </a:solidFill>
                <a:ea typeface="楷体" pitchFamily="49" charset="-122"/>
              </a:rPr>
              <a:t>后，排序结束。</a:t>
            </a:r>
            <a:endParaRPr lang="zh-CN" altLang="en-US" sz="2000" b="1" dirty="0">
              <a:ln w="1905"/>
              <a:solidFill>
                <a:schemeClr val="tx1"/>
              </a:solidFill>
              <a:ea typeface="楷体" pitchFamily="49" charset="-122"/>
            </a:endParaRPr>
          </a:p>
        </p:txBody>
      </p:sp>
      <p:grpSp>
        <p:nvGrpSpPr>
          <p:cNvPr id="50" name="组合 49"/>
          <p:cNvGrpSpPr/>
          <p:nvPr/>
        </p:nvGrpSpPr>
        <p:grpSpPr>
          <a:xfrm>
            <a:off x="4207078" y="3532376"/>
            <a:ext cx="7365425" cy="3134591"/>
            <a:chOff x="635599" y="3509119"/>
            <a:chExt cx="7365425" cy="3134591"/>
          </a:xfrm>
        </p:grpSpPr>
        <p:grpSp>
          <p:nvGrpSpPr>
            <p:cNvPr id="909" name="组合 909"/>
            <p:cNvGrpSpPr>
              <a:grpSpLocks/>
            </p:cNvGrpSpPr>
            <p:nvPr/>
          </p:nvGrpSpPr>
          <p:grpSpPr bwMode="auto">
            <a:xfrm>
              <a:off x="4000496" y="3509119"/>
              <a:ext cx="4000528" cy="3134591"/>
              <a:chOff x="0" y="490"/>
              <a:chExt cx="21009" cy="19171"/>
            </a:xfrm>
          </p:grpSpPr>
          <p:sp>
            <p:nvSpPr>
              <p:cNvPr id="910" name="Rectangle 545"/>
              <p:cNvSpPr>
                <a:spLocks noChangeArrowheads="1"/>
              </p:cNvSpPr>
              <p:nvPr/>
            </p:nvSpPr>
            <p:spPr bwMode="auto">
              <a:xfrm>
                <a:off x="30" y="490"/>
                <a:ext cx="20917" cy="19171"/>
              </a:xfrm>
              <a:prstGeom prst="rect">
                <a:avLst/>
              </a:prstGeom>
              <a:gradFill flip="none" rotWithShape="1">
                <a:gsLst>
                  <a:gs pos="0">
                    <a:srgbClr val="F0E5B7"/>
                  </a:gs>
                  <a:gs pos="50000">
                    <a:srgbClr val="F1E9C9"/>
                  </a:gs>
                  <a:gs pos="100000">
                    <a:schemeClr val="bg1">
                      <a:lumMod val="95000"/>
                    </a:schemeClr>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911" name="组合 911"/>
              <p:cNvGrpSpPr>
                <a:grpSpLocks/>
              </p:cNvGrpSpPr>
              <p:nvPr/>
            </p:nvGrpSpPr>
            <p:grpSpPr bwMode="auto">
              <a:xfrm>
                <a:off x="0" y="493"/>
                <a:ext cx="21009" cy="18731"/>
                <a:chOff x="0" y="493"/>
                <a:chExt cx="21009" cy="18731"/>
              </a:xfrm>
            </p:grpSpPr>
            <p:grpSp>
              <p:nvGrpSpPr>
                <p:cNvPr id="912" name="组合 912"/>
                <p:cNvGrpSpPr>
                  <a:grpSpLocks/>
                </p:cNvGrpSpPr>
                <p:nvPr/>
              </p:nvGrpSpPr>
              <p:grpSpPr bwMode="auto">
                <a:xfrm>
                  <a:off x="0" y="2608"/>
                  <a:ext cx="21009" cy="14885"/>
                  <a:chOff x="0" y="0"/>
                  <a:chExt cx="21009" cy="14885"/>
                </a:xfrm>
              </p:grpSpPr>
              <p:sp>
                <p:nvSpPr>
                  <p:cNvPr id="913" name="Line 615"/>
                  <p:cNvSpPr>
                    <a:spLocks noChangeShapeType="1"/>
                  </p:cNvSpPr>
                  <p:nvPr/>
                </p:nvSpPr>
                <p:spPr bwMode="auto">
                  <a:xfrm>
                    <a:off x="0" y="0"/>
                    <a:ext cx="2095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4" name="Line 635"/>
                  <p:cNvSpPr>
                    <a:spLocks noChangeShapeType="1"/>
                  </p:cNvSpPr>
                  <p:nvPr/>
                </p:nvSpPr>
                <p:spPr bwMode="auto">
                  <a:xfrm>
                    <a:off x="2546" y="2086"/>
                    <a:ext cx="0" cy="12766"/>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5" name="Line 615"/>
                  <p:cNvSpPr>
                    <a:spLocks noChangeShapeType="1"/>
                  </p:cNvSpPr>
                  <p:nvPr/>
                </p:nvSpPr>
                <p:spPr bwMode="auto">
                  <a:xfrm>
                    <a:off x="2546" y="2086"/>
                    <a:ext cx="18378"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6" name="Line 617"/>
                  <p:cNvSpPr>
                    <a:spLocks noChangeShapeType="1"/>
                  </p:cNvSpPr>
                  <p:nvPr/>
                </p:nvSpPr>
                <p:spPr bwMode="auto">
                  <a:xfrm>
                    <a:off x="5001" y="6321"/>
                    <a:ext cx="1599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7" name="直接连接符 917"/>
                  <p:cNvSpPr>
                    <a:spLocks noChangeShapeType="1"/>
                  </p:cNvSpPr>
                  <p:nvPr/>
                </p:nvSpPr>
                <p:spPr bwMode="auto">
                  <a:xfrm>
                    <a:off x="5032" y="6382"/>
                    <a:ext cx="7816" cy="189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8" name="直接连接符 918"/>
                  <p:cNvSpPr>
                    <a:spLocks noChangeShapeType="1"/>
                  </p:cNvSpPr>
                  <p:nvPr/>
                </p:nvSpPr>
                <p:spPr bwMode="auto">
                  <a:xfrm flipH="1">
                    <a:off x="12918" y="6321"/>
                    <a:ext cx="7956" cy="1924"/>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19" name="Line 640"/>
                  <p:cNvSpPr>
                    <a:spLocks noChangeShapeType="1"/>
                  </p:cNvSpPr>
                  <p:nvPr/>
                </p:nvSpPr>
                <p:spPr bwMode="auto">
                  <a:xfrm>
                    <a:off x="5001" y="8284"/>
                    <a:ext cx="15854"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0" name="Line 635"/>
                  <p:cNvSpPr>
                    <a:spLocks noChangeShapeType="1"/>
                  </p:cNvSpPr>
                  <p:nvPr/>
                </p:nvSpPr>
                <p:spPr bwMode="auto">
                  <a:xfrm>
                    <a:off x="5032" y="6382"/>
                    <a:ext cx="0" cy="4174"/>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1" name="Line 628"/>
                  <p:cNvSpPr>
                    <a:spLocks noChangeShapeType="1"/>
                  </p:cNvSpPr>
                  <p:nvPr/>
                </p:nvSpPr>
                <p:spPr bwMode="auto">
                  <a:xfrm>
                    <a:off x="2546" y="10556"/>
                    <a:ext cx="1839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2" name="直接连接符 922"/>
                  <p:cNvSpPr>
                    <a:spLocks noChangeShapeType="1"/>
                  </p:cNvSpPr>
                  <p:nvPr/>
                </p:nvSpPr>
                <p:spPr bwMode="auto">
                  <a:xfrm>
                    <a:off x="12856" y="8346"/>
                    <a:ext cx="0" cy="221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3" name="Line 628"/>
                  <p:cNvSpPr>
                    <a:spLocks noChangeShapeType="1"/>
                  </p:cNvSpPr>
                  <p:nvPr/>
                </p:nvSpPr>
                <p:spPr bwMode="auto">
                  <a:xfrm>
                    <a:off x="2546" y="4111"/>
                    <a:ext cx="1845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4" name="Line 615"/>
                  <p:cNvSpPr>
                    <a:spLocks noChangeShapeType="1"/>
                  </p:cNvSpPr>
                  <p:nvPr/>
                </p:nvSpPr>
                <p:spPr bwMode="auto">
                  <a:xfrm>
                    <a:off x="2546" y="12612"/>
                    <a:ext cx="1837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5" name="直接连接符 925"/>
                  <p:cNvSpPr>
                    <a:spLocks noChangeShapeType="1"/>
                  </p:cNvSpPr>
                  <p:nvPr/>
                </p:nvSpPr>
                <p:spPr bwMode="auto">
                  <a:xfrm flipV="1">
                    <a:off x="12181" y="12612"/>
                    <a:ext cx="0" cy="2273"/>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6" name="直接连接符 926"/>
                  <p:cNvSpPr>
                    <a:spLocks noChangeShapeType="1"/>
                  </p:cNvSpPr>
                  <p:nvPr/>
                </p:nvSpPr>
                <p:spPr bwMode="auto">
                  <a:xfrm>
                    <a:off x="2516" y="10525"/>
                    <a:ext cx="9665" cy="2087"/>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7" name="直接连接符 927"/>
                  <p:cNvSpPr>
                    <a:spLocks noChangeShapeType="1"/>
                  </p:cNvSpPr>
                  <p:nvPr/>
                </p:nvSpPr>
                <p:spPr bwMode="auto">
                  <a:xfrm flipH="1">
                    <a:off x="12181" y="10617"/>
                    <a:ext cx="8813" cy="1995"/>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928" name="Line 615"/>
                  <p:cNvSpPr>
                    <a:spLocks noChangeShapeType="1"/>
                  </p:cNvSpPr>
                  <p:nvPr/>
                </p:nvSpPr>
                <p:spPr bwMode="auto">
                  <a:xfrm>
                    <a:off x="61" y="14852"/>
                    <a:ext cx="20948"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929" name="组合 929"/>
                <p:cNvGrpSpPr>
                  <a:grpSpLocks/>
                </p:cNvGrpSpPr>
                <p:nvPr/>
              </p:nvGrpSpPr>
              <p:grpSpPr bwMode="auto">
                <a:xfrm>
                  <a:off x="92" y="493"/>
                  <a:ext cx="19805" cy="18731"/>
                  <a:chOff x="0" y="493"/>
                  <a:chExt cx="19806" cy="18735"/>
                </a:xfrm>
              </p:grpSpPr>
              <p:grpSp>
                <p:nvGrpSpPr>
                  <p:cNvPr id="930" name="组合 930"/>
                  <p:cNvGrpSpPr>
                    <a:grpSpLocks/>
                  </p:cNvGrpSpPr>
                  <p:nvPr/>
                </p:nvGrpSpPr>
                <p:grpSpPr bwMode="auto">
                  <a:xfrm>
                    <a:off x="0" y="493"/>
                    <a:ext cx="19806" cy="10419"/>
                    <a:chOff x="0" y="493"/>
                    <a:chExt cx="19806" cy="10419"/>
                  </a:xfrm>
                </p:grpSpPr>
                <p:grpSp>
                  <p:nvGrpSpPr>
                    <p:cNvPr id="931" name="组合 931"/>
                    <p:cNvGrpSpPr>
                      <a:grpSpLocks/>
                    </p:cNvGrpSpPr>
                    <p:nvPr/>
                  </p:nvGrpSpPr>
                  <p:grpSpPr bwMode="auto">
                    <a:xfrm>
                      <a:off x="5496" y="8579"/>
                      <a:ext cx="14310" cy="2333"/>
                      <a:chOff x="1201" y="509"/>
                      <a:chExt cx="14309" cy="2333"/>
                    </a:xfrm>
                  </p:grpSpPr>
                  <p:sp>
                    <p:nvSpPr>
                      <p:cNvPr id="936" name="Text Box 626"/>
                      <p:cNvSpPr txBox="1">
                        <a:spLocks noChangeArrowheads="1"/>
                      </p:cNvSpPr>
                      <p:nvPr/>
                    </p:nvSpPr>
                    <p:spPr bwMode="auto">
                      <a:xfrm>
                        <a:off x="1201" y="929"/>
                        <a:ext cx="1616" cy="174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939" name="Text Box 648"/>
                      <p:cNvSpPr txBox="1">
                        <a:spLocks noChangeArrowheads="1"/>
                      </p:cNvSpPr>
                      <p:nvPr/>
                    </p:nvSpPr>
                    <p:spPr bwMode="auto">
                      <a:xfrm>
                        <a:off x="5506" y="509"/>
                        <a:ext cx="5611" cy="19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a[j] &lt; a[k]</a:t>
                        </a:r>
                      </a:p>
                      <a:p>
                        <a:endParaRPr kumimoji="0" lang="zh-CN" altLang="zh-CN" sz="1600" b="1" dirty="0">
                          <a:latin typeface="+mn-lt"/>
                          <a:ea typeface="楷体" pitchFamily="49" charset="-122"/>
                          <a:cs typeface="宋体" pitchFamily="2" charset="-122"/>
                        </a:endParaRPr>
                      </a:p>
                    </p:txBody>
                  </p:sp>
                  <p:sp>
                    <p:nvSpPr>
                      <p:cNvPr id="940" name="Text Box 638"/>
                      <p:cNvSpPr txBox="1">
                        <a:spLocks noChangeArrowheads="1"/>
                      </p:cNvSpPr>
                      <p:nvPr/>
                    </p:nvSpPr>
                    <p:spPr bwMode="auto">
                      <a:xfrm>
                        <a:off x="13989" y="1007"/>
                        <a:ext cx="1521" cy="18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41" name="组合 941"/>
                    <p:cNvGrpSpPr>
                      <a:grpSpLocks/>
                    </p:cNvGrpSpPr>
                    <p:nvPr/>
                  </p:nvGrpSpPr>
                  <p:grpSpPr bwMode="auto">
                    <a:xfrm>
                      <a:off x="0" y="493"/>
                      <a:ext cx="19806" cy="7791"/>
                      <a:chOff x="0" y="493"/>
                      <a:chExt cx="19806" cy="7791"/>
                    </a:xfrm>
                  </p:grpSpPr>
                  <p:sp>
                    <p:nvSpPr>
                      <p:cNvPr id="943" name="Text Box 619"/>
                      <p:cNvSpPr txBox="1">
                        <a:spLocks noChangeArrowheads="1"/>
                      </p:cNvSpPr>
                      <p:nvPr/>
                    </p:nvSpPr>
                    <p:spPr bwMode="auto">
                      <a:xfrm>
                        <a:off x="0" y="2486"/>
                        <a:ext cx="18285" cy="15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for </a:t>
                        </a:r>
                        <a:r>
                          <a:rPr kumimoji="0" lang="en-US" altLang="zh-CN" sz="1600" b="1" dirty="0" err="1">
                            <a:solidFill>
                              <a:srgbClr val="C01920"/>
                            </a:solidFill>
                            <a:latin typeface="+mn-lt"/>
                            <a:ea typeface="楷体" pitchFamily="49" charset="-122"/>
                            <a:cs typeface="宋体" pitchFamily="2" charset="-122"/>
                          </a:rPr>
                          <a:t>i</a:t>
                        </a:r>
                        <a:r>
                          <a:rPr kumimoji="0" lang="en-US" altLang="zh-CN" sz="1600" b="1" dirty="0">
                            <a:solidFill>
                              <a:srgbClr val="C01920"/>
                            </a:solidFill>
                            <a:latin typeface="+mn-lt"/>
                            <a:ea typeface="楷体" pitchFamily="49" charset="-122"/>
                            <a:cs typeface="宋体" pitchFamily="2" charset="-122"/>
                          </a:rPr>
                          <a:t> = 0 to n-2</a:t>
                        </a:r>
                        <a:r>
                          <a:rPr kumimoji="0" lang="zh-CN" altLang="en-US" sz="1600" b="1" dirty="0">
                            <a:solidFill>
                              <a:srgbClr val="C01920"/>
                            </a:solidFill>
                            <a:latin typeface="+mn-lt"/>
                            <a:ea typeface="楷体" pitchFamily="49" charset="-122"/>
                            <a:cs typeface="宋体" pitchFamily="2" charset="-122"/>
                          </a:rPr>
                          <a:t>（趟数：共</a:t>
                        </a:r>
                        <a:r>
                          <a:rPr kumimoji="0" lang="en-US" altLang="zh-CN" sz="1600" b="1" dirty="0">
                            <a:solidFill>
                              <a:srgbClr val="C01920"/>
                            </a:solidFill>
                            <a:latin typeface="+mn-lt"/>
                            <a:ea typeface="楷体" pitchFamily="49" charset="-122"/>
                            <a:cs typeface="宋体" pitchFamily="2" charset="-122"/>
                          </a:rPr>
                          <a:t>n-1</a:t>
                        </a:r>
                        <a:r>
                          <a:rPr kumimoji="0" lang="zh-CN" altLang="en-US" sz="1600" b="1" dirty="0">
                            <a:solidFill>
                              <a:srgbClr val="C01920"/>
                            </a:solidFill>
                            <a:latin typeface="+mn-lt"/>
                            <a:ea typeface="楷体" pitchFamily="49" charset="-122"/>
                            <a:cs typeface="宋体" pitchFamily="2" charset="-122"/>
                          </a:rPr>
                          <a:t>趟）</a:t>
                        </a:r>
                      </a:p>
                      <a:p>
                        <a:endParaRPr kumimoji="0" lang="zh-CN" altLang="en-US" sz="1600" b="1" dirty="0">
                          <a:solidFill>
                            <a:srgbClr val="C01920"/>
                          </a:solidFill>
                          <a:latin typeface="+mn-lt"/>
                          <a:ea typeface="楷体" pitchFamily="49" charset="-122"/>
                          <a:cs typeface="宋体" pitchFamily="2" charset="-122"/>
                        </a:endParaRPr>
                      </a:p>
                    </p:txBody>
                  </p:sp>
                  <p:sp>
                    <p:nvSpPr>
                      <p:cNvPr id="948" name="Text Box 612"/>
                      <p:cNvSpPr txBox="1">
                        <a:spLocks noChangeArrowheads="1"/>
                      </p:cNvSpPr>
                      <p:nvPr/>
                    </p:nvSpPr>
                    <p:spPr bwMode="auto">
                      <a:xfrm>
                        <a:off x="4124" y="493"/>
                        <a:ext cx="12390" cy="21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输入</a:t>
                        </a:r>
                        <a:r>
                          <a:rPr kumimoji="0" lang="en-US" altLang="zh-CN" sz="1600" b="1" dirty="0">
                            <a:solidFill>
                              <a:srgbClr val="002060"/>
                            </a:solidFill>
                            <a:latin typeface="+mn-lt"/>
                            <a:ea typeface="楷体" pitchFamily="49" charset="-122"/>
                            <a:cs typeface="宋体" pitchFamily="2" charset="-122"/>
                          </a:rPr>
                          <a:t>n</a:t>
                        </a:r>
                        <a:r>
                          <a:rPr kumimoji="0" lang="zh-CN" altLang="en-US" sz="1600" b="1" dirty="0">
                            <a:solidFill>
                              <a:srgbClr val="002060"/>
                            </a:solidFill>
                            <a:latin typeface="+mn-lt"/>
                            <a:ea typeface="楷体" pitchFamily="49" charset="-122"/>
                            <a:cs typeface="宋体" pitchFamily="2" charset="-122"/>
                          </a:rPr>
                          <a:t>个数给</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956" name="Text Box 619"/>
                      <p:cNvSpPr txBox="1">
                        <a:spLocks noChangeArrowheads="1"/>
                      </p:cNvSpPr>
                      <p:nvPr/>
                    </p:nvSpPr>
                    <p:spPr bwMode="auto">
                      <a:xfrm>
                        <a:off x="2424" y="6640"/>
                        <a:ext cx="17382" cy="16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for j = i+1 to n-1</a:t>
                        </a:r>
                        <a:r>
                          <a:rPr kumimoji="0" lang="zh-CN" altLang="en-US" sz="1600" b="1" dirty="0">
                            <a:solidFill>
                              <a:schemeClr val="accent1">
                                <a:lumMod val="50000"/>
                              </a:schemeClr>
                            </a:solidFill>
                            <a:latin typeface="+mn-lt"/>
                            <a:ea typeface="楷体" pitchFamily="49" charset="-122"/>
                            <a:cs typeface="宋体" pitchFamily="2" charset="-122"/>
                          </a:rPr>
                          <a:t>（比较</a:t>
                        </a:r>
                        <a:r>
                          <a:rPr kumimoji="0" lang="en-US" altLang="zh-CN" sz="1600" b="1" dirty="0">
                            <a:solidFill>
                              <a:schemeClr val="accent1">
                                <a:lumMod val="50000"/>
                              </a:schemeClr>
                            </a:solidFill>
                            <a:latin typeface="+mn-lt"/>
                            <a:ea typeface="楷体" pitchFamily="49" charset="-122"/>
                            <a:cs typeface="宋体" pitchFamily="2" charset="-122"/>
                          </a:rPr>
                          <a:t>n-i-1</a:t>
                        </a:r>
                        <a:r>
                          <a:rPr kumimoji="0" lang="zh-CN" altLang="en-US" sz="1600" b="1" dirty="0">
                            <a:solidFill>
                              <a:schemeClr val="accent1">
                                <a:lumMod val="50000"/>
                              </a:schemeClr>
                            </a:solidFill>
                            <a:latin typeface="+mn-lt"/>
                            <a:ea typeface="楷体" pitchFamily="49" charset="-122"/>
                            <a:cs typeface="宋体" pitchFamily="2" charset="-122"/>
                          </a:rPr>
                          <a:t>次）</a:t>
                        </a:r>
                      </a:p>
                      <a:p>
                        <a:endParaRPr kumimoji="0" lang="zh-CN" altLang="en-US" sz="1600" b="1" dirty="0">
                          <a:solidFill>
                            <a:schemeClr val="accent1">
                              <a:lumMod val="50000"/>
                            </a:schemeClr>
                          </a:solidFill>
                          <a:latin typeface="+mn-lt"/>
                          <a:ea typeface="楷体" pitchFamily="49" charset="-122"/>
                          <a:cs typeface="宋体" pitchFamily="2" charset="-122"/>
                        </a:endParaRPr>
                      </a:p>
                    </p:txBody>
                  </p:sp>
                  <p:sp>
                    <p:nvSpPr>
                      <p:cNvPr id="975" name="Text Box 648"/>
                      <p:cNvSpPr txBox="1">
                        <a:spLocks noChangeArrowheads="1"/>
                      </p:cNvSpPr>
                      <p:nvPr/>
                    </p:nvSpPr>
                    <p:spPr bwMode="auto">
                      <a:xfrm>
                        <a:off x="5056" y="4562"/>
                        <a:ext cx="13986" cy="18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k = </a:t>
                        </a:r>
                        <a:r>
                          <a:rPr kumimoji="0" lang="en-US" altLang="zh-CN" sz="1600" b="1" dirty="0" err="1">
                            <a:latin typeface="+mn-lt"/>
                            <a:ea typeface="楷体" pitchFamily="49" charset="-122"/>
                            <a:cs typeface="宋体" pitchFamily="2" charset="-122"/>
                          </a:rPr>
                          <a:t>i</a:t>
                        </a:r>
                        <a:r>
                          <a:rPr kumimoji="0" lang="zh-CN" altLang="en-US" sz="1600" b="1" dirty="0">
                            <a:latin typeface="+mn-lt"/>
                            <a:ea typeface="楷体" pitchFamily="49" charset="-122"/>
                            <a:cs typeface="宋体" pitchFamily="2" charset="-122"/>
                          </a:rPr>
                          <a:t>（</a:t>
                        </a:r>
                        <a:r>
                          <a:rPr kumimoji="0" lang="en-US" altLang="zh-CN" sz="1600" b="1" dirty="0">
                            <a:latin typeface="+mn-lt"/>
                            <a:ea typeface="楷体" pitchFamily="49" charset="-122"/>
                            <a:cs typeface="宋体" pitchFamily="2" charset="-122"/>
                          </a:rPr>
                          <a:t>k</a:t>
                        </a:r>
                        <a:r>
                          <a:rPr kumimoji="0" lang="zh-CN" altLang="en-US" sz="1600" b="1" dirty="0">
                            <a:latin typeface="+mn-lt"/>
                            <a:ea typeface="楷体" pitchFamily="49" charset="-122"/>
                            <a:cs typeface="宋体" pitchFamily="2" charset="-122"/>
                          </a:rPr>
                          <a:t>为最小元素的下标）</a:t>
                        </a:r>
                      </a:p>
                      <a:p>
                        <a:endParaRPr kumimoji="0" lang="zh-CN" altLang="en-US" sz="1600" b="1" dirty="0">
                          <a:latin typeface="+mn-lt"/>
                          <a:ea typeface="楷体" pitchFamily="49" charset="-122"/>
                          <a:cs typeface="宋体" pitchFamily="2" charset="-122"/>
                        </a:endParaRPr>
                      </a:p>
                    </p:txBody>
                  </p:sp>
                </p:grpSp>
              </p:grpSp>
              <p:grpSp>
                <p:nvGrpSpPr>
                  <p:cNvPr id="977" name="组合 977"/>
                  <p:cNvGrpSpPr>
                    <a:grpSpLocks/>
                  </p:cNvGrpSpPr>
                  <p:nvPr/>
                </p:nvGrpSpPr>
                <p:grpSpPr bwMode="auto">
                  <a:xfrm>
                    <a:off x="3314" y="10990"/>
                    <a:ext cx="16226" cy="8238"/>
                    <a:chOff x="1596" y="282"/>
                    <a:chExt cx="16225" cy="8237"/>
                  </a:xfrm>
                </p:grpSpPr>
                <p:sp>
                  <p:nvSpPr>
                    <p:cNvPr id="1001" name="Text Box 648"/>
                    <p:cNvSpPr txBox="1">
                      <a:spLocks noChangeArrowheads="1"/>
                    </p:cNvSpPr>
                    <p:nvPr/>
                  </p:nvSpPr>
                  <p:spPr bwMode="auto">
                    <a:xfrm>
                      <a:off x="5213" y="282"/>
                      <a:ext cx="3495" cy="17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 k = j</a:t>
                      </a:r>
                      <a:endParaRPr kumimoji="0" lang="zh-CN" altLang="zh-CN" sz="1600" b="1" dirty="0">
                        <a:latin typeface="+mn-lt"/>
                        <a:ea typeface="楷体" pitchFamily="49" charset="-122"/>
                        <a:cs typeface="宋体" pitchFamily="2" charset="-122"/>
                      </a:endParaRPr>
                    </a:p>
                  </p:txBody>
                </p:sp>
                <p:grpSp>
                  <p:nvGrpSpPr>
                    <p:cNvPr id="1003" name="组合 1003"/>
                    <p:cNvGrpSpPr>
                      <a:grpSpLocks/>
                    </p:cNvGrpSpPr>
                    <p:nvPr/>
                  </p:nvGrpSpPr>
                  <p:grpSpPr bwMode="auto">
                    <a:xfrm>
                      <a:off x="1596" y="2299"/>
                      <a:ext cx="16225" cy="6220"/>
                      <a:chOff x="1596" y="-1659"/>
                      <a:chExt cx="16224" cy="6219"/>
                    </a:xfrm>
                  </p:grpSpPr>
                  <p:sp>
                    <p:nvSpPr>
                      <p:cNvPr id="1004" name="Text Box 612"/>
                      <p:cNvSpPr txBox="1">
                        <a:spLocks noChangeArrowheads="1"/>
                      </p:cNvSpPr>
                      <p:nvPr/>
                    </p:nvSpPr>
                    <p:spPr bwMode="auto">
                      <a:xfrm>
                        <a:off x="5315" y="2738"/>
                        <a:ext cx="8549" cy="18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a[0]~a[n-1]</a:t>
                        </a:r>
                      </a:p>
                      <a:p>
                        <a:endParaRPr kumimoji="0" lang="zh-CN" altLang="zh-CN" sz="1600" b="1" dirty="0">
                          <a:solidFill>
                            <a:srgbClr val="002060"/>
                          </a:solidFill>
                          <a:latin typeface="+mn-lt"/>
                          <a:ea typeface="楷体" pitchFamily="49" charset="-122"/>
                          <a:cs typeface="宋体" pitchFamily="2" charset="-122"/>
                        </a:endParaRPr>
                      </a:p>
                    </p:txBody>
                  </p:sp>
                  <p:sp>
                    <p:nvSpPr>
                      <p:cNvPr id="1005" name="Text Box 648"/>
                      <p:cNvSpPr txBox="1">
                        <a:spLocks noChangeArrowheads="1"/>
                      </p:cNvSpPr>
                      <p:nvPr/>
                    </p:nvSpPr>
                    <p:spPr bwMode="auto">
                      <a:xfrm>
                        <a:off x="8926" y="-1659"/>
                        <a:ext cx="4767" cy="1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k ≠ </a:t>
                        </a:r>
                        <a:r>
                          <a:rPr kumimoji="0" lang="en-US" altLang="zh-CN" sz="1600" b="1" dirty="0" err="1">
                            <a:latin typeface="+mn-lt"/>
                            <a:ea typeface="楷体" pitchFamily="49" charset="-122"/>
                            <a:cs typeface="宋体" pitchFamily="2" charset="-122"/>
                          </a:rPr>
                          <a:t>i</a:t>
                        </a:r>
                        <a:endParaRPr kumimoji="0" lang="en-US" altLang="zh-CN" sz="1600" b="1" dirty="0">
                          <a:latin typeface="+mn-lt"/>
                          <a:ea typeface="楷体" pitchFamily="49" charset="-122"/>
                          <a:cs typeface="宋体" pitchFamily="2" charset="-122"/>
                        </a:endParaRPr>
                      </a:p>
                      <a:p>
                        <a:endParaRPr kumimoji="0" lang="zh-CN" altLang="zh-CN" sz="1600" b="1" dirty="0">
                          <a:latin typeface="+mn-lt"/>
                          <a:ea typeface="楷体" pitchFamily="49" charset="-122"/>
                          <a:cs typeface="宋体" pitchFamily="2" charset="-122"/>
                        </a:endParaRPr>
                      </a:p>
                    </p:txBody>
                  </p:sp>
                  <p:sp>
                    <p:nvSpPr>
                      <p:cNvPr id="1006" name="Text Box 648"/>
                      <p:cNvSpPr txBox="1">
                        <a:spLocks noChangeArrowheads="1"/>
                      </p:cNvSpPr>
                      <p:nvPr/>
                    </p:nvSpPr>
                    <p:spPr bwMode="auto">
                      <a:xfrm>
                        <a:off x="2229" y="574"/>
                        <a:ext cx="8878" cy="17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a[k]&lt;==&gt;a[</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a:t>
                        </a:r>
                        <a:endParaRPr kumimoji="0" lang="zh-CN" altLang="zh-CN" sz="1600" b="1" dirty="0">
                          <a:latin typeface="+mn-lt"/>
                          <a:ea typeface="楷体" pitchFamily="49" charset="-122"/>
                          <a:cs typeface="宋体" pitchFamily="2" charset="-122"/>
                        </a:endParaRPr>
                      </a:p>
                    </p:txBody>
                  </p:sp>
                  <p:sp>
                    <p:nvSpPr>
                      <p:cNvPr id="1007" name="Text Box 626"/>
                      <p:cNvSpPr txBox="1">
                        <a:spLocks noChangeArrowheads="1"/>
                      </p:cNvSpPr>
                      <p:nvPr/>
                    </p:nvSpPr>
                    <p:spPr bwMode="auto">
                      <a:xfrm>
                        <a:off x="1596" y="-1305"/>
                        <a:ext cx="1956" cy="18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008" name="Text Box 638"/>
                      <p:cNvSpPr txBox="1">
                        <a:spLocks noChangeArrowheads="1"/>
                      </p:cNvSpPr>
                      <p:nvPr/>
                    </p:nvSpPr>
                    <p:spPr bwMode="auto">
                      <a:xfrm>
                        <a:off x="16583" y="-1270"/>
                        <a:ext cx="1237" cy="18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grpSp>
          </p:grpSp>
        </p:grpSp>
        <p:sp>
          <p:nvSpPr>
            <p:cNvPr id="49" name="Text Box 9"/>
            <p:cNvSpPr txBox="1">
              <a:spLocks noChangeArrowheads="1"/>
            </p:cNvSpPr>
            <p:nvPr/>
          </p:nvSpPr>
          <p:spPr bwMode="auto">
            <a:xfrm>
              <a:off x="635599" y="4933104"/>
              <a:ext cx="3071834" cy="428628"/>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sz="2000" b="1" dirty="0">
                  <a:solidFill>
                    <a:srgbClr val="00B0F0"/>
                  </a:solidFill>
                  <a:ea typeface="隶书" pitchFamily="49" charset="-122"/>
                  <a:cs typeface="宋体" pitchFamily="2" charset="-122"/>
                </a:rPr>
                <a:t>选择排序算法</a:t>
              </a:r>
              <a:r>
                <a:rPr kumimoji="0" lang="en-US" altLang="zh-CN" sz="2000" b="1" dirty="0">
                  <a:solidFill>
                    <a:srgbClr val="00B0F0"/>
                  </a:solidFill>
                  <a:ea typeface="隶书" pitchFamily="49" charset="-122"/>
                  <a:cs typeface="宋体" pitchFamily="2" charset="-122"/>
                </a:rPr>
                <a:t>N-S</a:t>
              </a:r>
              <a:r>
                <a:rPr kumimoji="0" lang="zh-CN" altLang="en-US" sz="2000" b="1" dirty="0">
                  <a:solidFill>
                    <a:srgbClr val="00B0F0"/>
                  </a:solidFill>
                  <a:ea typeface="隶书" pitchFamily="49" charset="-122"/>
                  <a:cs typeface="宋体" pitchFamily="2" charset="-122"/>
                </a:rPr>
                <a:t>流程图</a:t>
              </a:r>
            </a:p>
          </p:txBody>
        </p:sp>
      </p:grpSp>
      <p:sp>
        <p:nvSpPr>
          <p:cNvPr id="51" name="Rectangle 13">
            <a:extLst>
              <a:ext uri="{FF2B5EF4-FFF2-40B4-BE49-F238E27FC236}">
                <a16:creationId xmlns:a16="http://schemas.microsoft.com/office/drawing/2014/main" id="{A572BC71-C2C1-4904-9540-EAB0271EC9D3}"/>
              </a:ext>
            </a:extLst>
          </p:cNvPr>
          <p:cNvSpPr>
            <a:spLocks noChangeArrowheads="1"/>
          </p:cNvSpPr>
          <p:nvPr/>
        </p:nvSpPr>
        <p:spPr bwMode="auto">
          <a:xfrm>
            <a:off x="897033" y="1359550"/>
            <a:ext cx="8675688" cy="369332"/>
          </a:xfrm>
          <a:prstGeom prst="rect">
            <a:avLst/>
          </a:prstGeom>
          <a:noFill/>
          <a:ln w="9525">
            <a:noFill/>
            <a:miter lim="800000"/>
            <a:headEnd/>
            <a:tailEnd/>
          </a:ln>
          <a:effectLst/>
        </p:spPr>
        <p:txBody>
          <a:bodyPr anchor="ctr">
            <a:spAutoFit/>
          </a:bodyPr>
          <a:lstStyle/>
          <a:p>
            <a:r>
              <a:rPr lang="en-US" altLang="zh-CN" b="1" dirty="0">
                <a:solidFill>
                  <a:srgbClr val="00B0F0"/>
                </a:solidFill>
                <a:latin typeface="楷体" panose="02010609060101010101" pitchFamily="49" charset="-122"/>
                <a:ea typeface="楷体" panose="02010609060101010101" pitchFamily="49" charset="-122"/>
              </a:rPr>
              <a:t>【</a:t>
            </a:r>
            <a:r>
              <a:rPr lang="zh-CN" altLang="en-US" b="1" dirty="0">
                <a:solidFill>
                  <a:srgbClr val="00B0F0"/>
                </a:solidFill>
                <a:latin typeface="楷体" panose="02010609060101010101" pitchFamily="49" charset="-122"/>
                <a:ea typeface="楷体" panose="02010609060101010101" pitchFamily="49" charset="-122"/>
              </a:rPr>
              <a:t>例</a:t>
            </a:r>
            <a:r>
              <a:rPr lang="en-US" altLang="zh-CN" b="1" dirty="0">
                <a:solidFill>
                  <a:srgbClr val="00B0F0"/>
                </a:solidFill>
                <a:latin typeface="楷体" panose="02010609060101010101" pitchFamily="49" charset="-122"/>
                <a:ea typeface="楷体" panose="02010609060101010101" pitchFamily="49" charset="-122"/>
              </a:rPr>
              <a:t>3】</a:t>
            </a:r>
            <a:r>
              <a:rPr lang="zh-CN" altLang="en-US" b="1" dirty="0">
                <a:solidFill>
                  <a:srgbClr val="00B0F0"/>
                </a:solidFill>
                <a:latin typeface="楷体" panose="02010609060101010101" pitchFamily="49" charset="-122"/>
                <a:ea typeface="楷体" panose="02010609060101010101" pitchFamily="49" charset="-122"/>
              </a:rPr>
              <a:t>用</a:t>
            </a:r>
            <a:r>
              <a:rPr lang="zh-CN" altLang="en-US" b="1" dirty="0">
                <a:solidFill>
                  <a:srgbClr val="FF0000"/>
                </a:solidFill>
                <a:latin typeface="楷体" panose="02010609060101010101" pitchFamily="49" charset="-122"/>
                <a:ea typeface="楷体" panose="02010609060101010101" pitchFamily="49" charset="-122"/>
              </a:rPr>
              <a:t>选择排序法</a:t>
            </a:r>
            <a:r>
              <a:rPr lang="zh-CN" altLang="en-US" b="1" dirty="0">
                <a:solidFill>
                  <a:srgbClr val="00B0F0"/>
                </a:solidFill>
                <a:latin typeface="楷体" panose="02010609060101010101" pitchFamily="49" charset="-122"/>
                <a:ea typeface="楷体" panose="02010609060101010101" pitchFamily="49" charset="-122"/>
              </a:rPr>
              <a:t>将</a:t>
            </a:r>
            <a:r>
              <a:rPr lang="en-US" altLang="zh-CN" b="1" dirty="0">
                <a:solidFill>
                  <a:srgbClr val="00B0F0"/>
                </a:solidFill>
                <a:latin typeface="楷体" panose="02010609060101010101" pitchFamily="49" charset="-122"/>
                <a:ea typeface="楷体" panose="02010609060101010101" pitchFamily="49" charset="-122"/>
              </a:rPr>
              <a:t>10</a:t>
            </a:r>
            <a:r>
              <a:rPr lang="zh-CN" altLang="en-US" b="1" dirty="0">
                <a:solidFill>
                  <a:srgbClr val="00B0F0"/>
                </a:solidFill>
                <a:latin typeface="楷体" panose="02010609060101010101" pitchFamily="49" charset="-122"/>
                <a:ea typeface="楷体" panose="02010609060101010101" pitchFamily="49" charset="-122"/>
              </a:rPr>
              <a:t>个整数按照从小到大的顺序排序</a:t>
            </a:r>
          </a:p>
        </p:txBody>
      </p:sp>
      <p:sp>
        <p:nvSpPr>
          <p:cNvPr id="52" name="Rectangle 5">
            <a:extLst>
              <a:ext uri="{FF2B5EF4-FFF2-40B4-BE49-F238E27FC236}">
                <a16:creationId xmlns:a16="http://schemas.microsoft.com/office/drawing/2014/main" id="{2D45585D-3CFC-4524-A963-D0D617EA9EE3}"/>
              </a:ext>
            </a:extLst>
          </p:cNvPr>
          <p:cNvSpPr>
            <a:spLocks noChangeArrowheads="1"/>
          </p:cNvSpPr>
          <p:nvPr/>
        </p:nvSpPr>
        <p:spPr bwMode="auto">
          <a:xfrm>
            <a:off x="856862" y="836712"/>
            <a:ext cx="6151043" cy="523220"/>
          </a:xfrm>
          <a:prstGeom prst="rect">
            <a:avLst/>
          </a:prstGeom>
          <a:noFill/>
          <a:ln w="9525">
            <a:noFill/>
            <a:miter lim="800000"/>
            <a:headEnd/>
            <a:tailEnd/>
          </a:ln>
          <a:effectLst/>
        </p:spPr>
        <p:txBody>
          <a:bodyPr wrap="none">
            <a:spAutoFit/>
          </a:bodyPr>
          <a:lstStyle/>
          <a:p>
            <a:r>
              <a:rPr lang="en-US" altLang="zh-CN" sz="2800" b="1" dirty="0">
                <a:solidFill>
                  <a:srgbClr val="00B0F0"/>
                </a:solidFill>
                <a:latin typeface="+mn-lt"/>
                <a:ea typeface="楷体" pitchFamily="49" charset="-122"/>
              </a:rPr>
              <a:t>4</a:t>
            </a:r>
            <a:r>
              <a:rPr lang="zh-CN" altLang="en-US" sz="2800" b="1" dirty="0">
                <a:solidFill>
                  <a:srgbClr val="00B0F0"/>
                </a:solidFill>
                <a:latin typeface="+mn-lt"/>
                <a:ea typeface="楷体" pitchFamily="49" charset="-122"/>
              </a:rPr>
              <a:t>、一维数组应用举例</a:t>
            </a:r>
            <a:r>
              <a:rPr lang="en-US" altLang="zh-CN" sz="2800" b="1" dirty="0">
                <a:solidFill>
                  <a:srgbClr val="00B0F0"/>
                </a:solidFill>
                <a:latin typeface="+mn-lt"/>
                <a:ea typeface="楷体" pitchFamily="49" charset="-122"/>
              </a:rPr>
              <a:t>----</a:t>
            </a:r>
            <a:r>
              <a:rPr lang="zh-CN" altLang="en-US" sz="2800" b="1" dirty="0">
                <a:solidFill>
                  <a:srgbClr val="00B0F0"/>
                </a:solidFill>
                <a:latin typeface="楷体" panose="02010609060101010101" pitchFamily="49" charset="-122"/>
                <a:ea typeface="楷体" panose="02010609060101010101" pitchFamily="49" charset="-122"/>
              </a:rPr>
              <a:t>选择排序法</a:t>
            </a:r>
            <a:endParaRPr lang="zh-CN" altLang="en-US" sz="2800" b="1" dirty="0">
              <a:solidFill>
                <a:srgbClr val="00B0F0"/>
              </a:solidFill>
              <a:latin typeface="+mn-lt"/>
              <a:ea typeface="楷体" pitchFamily="49" charset="-122"/>
            </a:endParaRPr>
          </a:p>
        </p:txBody>
      </p:sp>
      <p:sp>
        <p:nvSpPr>
          <p:cNvPr id="53" name="Rectangle 4">
            <a:extLst>
              <a:ext uri="{FF2B5EF4-FFF2-40B4-BE49-F238E27FC236}">
                <a16:creationId xmlns:a16="http://schemas.microsoft.com/office/drawing/2014/main" id="{11215D89-E0AA-42F9-A01B-41EEB631D60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Tree>
    <p:extLst>
      <p:ext uri="{BB962C8B-B14F-4D97-AF65-F5344CB8AC3E}">
        <p14:creationId xmlns:p14="http://schemas.microsoft.com/office/powerpoint/2010/main" val="404754191"/>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out)">
                                      <p:cBhvr>
                                        <p:cTn id="7" dur="500"/>
                                        <p:tgtEl>
                                          <p:spTgt spid="5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86119"/>
                                        </p:tgtEl>
                                        <p:attrNameLst>
                                          <p:attrName>style.visibility</p:attrName>
                                        </p:attrNameLst>
                                      </p:cBhvr>
                                      <p:to>
                                        <p:strVal val="visible"/>
                                      </p:to>
                                    </p:set>
                                    <p:animEffect transition="in" filter="box(out)">
                                      <p:cBhvr>
                                        <p:cTn id="12" dur="500"/>
                                        <p:tgtEl>
                                          <p:spTgt spid="98611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strips(downRight)">
                                      <p:cBhvr>
                                        <p:cTn id="17" dur="500"/>
                                        <p:tgtEl>
                                          <p:spTgt spid="50"/>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9" grpId="0"/>
      <p:bldP spid="5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4">
            <a:extLst>
              <a:ext uri="{FF2B5EF4-FFF2-40B4-BE49-F238E27FC236}">
                <a16:creationId xmlns:a16="http://schemas.microsoft.com/office/drawing/2014/main" id="{943C6FEE-36EC-4F10-A543-8A49DF8B064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8162" name="Rectangle 2"/>
          <p:cNvSpPr>
            <a:spLocks noChangeArrowheads="1"/>
          </p:cNvSpPr>
          <p:nvPr/>
        </p:nvSpPr>
        <p:spPr bwMode="auto">
          <a:xfrm>
            <a:off x="1648594" y="277540"/>
            <a:ext cx="9127926" cy="6342334"/>
          </a:xfrm>
          <a:prstGeom prst="rect">
            <a:avLst/>
          </a:prstGeom>
          <a:gradFill>
            <a:gsLst>
              <a:gs pos="0">
                <a:srgbClr val="CFCFD1"/>
              </a:gs>
              <a:gs pos="100000">
                <a:schemeClr val="bg1">
                  <a:lumMod val="95000"/>
                </a:schemeClr>
              </a:gs>
            </a:gsLst>
            <a:lin ang="0" scaled="1"/>
          </a:gradFill>
          <a:ln w="38100">
            <a:solidFill>
              <a:srgbClr val="002060"/>
            </a:solidFill>
            <a:miter lim="800000"/>
            <a:headEnd/>
            <a:tailEnd/>
          </a:ln>
          <a:effectLst>
            <a:outerShdw blurRad="50800" dist="106680" dir="2700000" algn="tl" rotWithShape="0">
              <a:prstClr val="black">
                <a:alpha val="43000"/>
              </a:prstClr>
            </a:outerShdw>
          </a:effectLst>
        </p:spPr>
        <p:txBody>
          <a:bodyPr wrap="square" lIns="90000" tIns="46800" rIns="90000" bIns="46800" anchor="ctr">
            <a:spAutoFit/>
          </a:bodyPr>
          <a:lstStyle/>
          <a:p>
            <a:endParaRPr lang="zh-CN" altLang="en-US"/>
          </a:p>
        </p:txBody>
      </p:sp>
      <p:sp>
        <p:nvSpPr>
          <p:cNvPr id="988164" name="Text Box 4"/>
          <p:cNvSpPr txBox="1">
            <a:spLocks noChangeArrowheads="1"/>
          </p:cNvSpPr>
          <p:nvPr/>
        </p:nvSpPr>
        <p:spPr bwMode="auto">
          <a:xfrm>
            <a:off x="3626619" y="714376"/>
            <a:ext cx="184150" cy="396875"/>
          </a:xfrm>
          <a:prstGeom prst="rect">
            <a:avLst/>
          </a:prstGeom>
          <a:noFill/>
          <a:ln w="9525">
            <a:noFill/>
            <a:miter lim="800000"/>
            <a:headEnd/>
            <a:tailEnd/>
          </a:ln>
          <a:effectLst/>
        </p:spPr>
        <p:txBody>
          <a:bodyPr wrap="none">
            <a:spAutoFit/>
          </a:bodyPr>
          <a:lstStyle/>
          <a:p>
            <a:endParaRPr lang="zh-CN" altLang="zh-CN" sz="2000">
              <a:solidFill>
                <a:schemeClr val="bg2"/>
              </a:solidFill>
            </a:endParaRPr>
          </a:p>
        </p:txBody>
      </p:sp>
      <p:sp>
        <p:nvSpPr>
          <p:cNvPr id="988165" name="Text Box 5"/>
          <p:cNvSpPr txBox="1">
            <a:spLocks noChangeArrowheads="1"/>
          </p:cNvSpPr>
          <p:nvPr/>
        </p:nvSpPr>
        <p:spPr bwMode="auto">
          <a:xfrm>
            <a:off x="2929708" y="847725"/>
            <a:ext cx="5081587" cy="457200"/>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初始：</a:t>
            </a:r>
            <a:r>
              <a:rPr lang="en-US" altLang="zh-CN" sz="2000" b="1" dirty="0"/>
              <a:t>[ </a:t>
            </a:r>
            <a:r>
              <a:rPr lang="en-US" altLang="zh-CN" sz="2000" b="1" dirty="0">
                <a:solidFill>
                  <a:srgbClr val="CC3300"/>
                </a:solidFill>
              </a:rPr>
              <a:t>49 </a:t>
            </a:r>
            <a:r>
              <a:rPr lang="en-US" altLang="zh-CN" sz="2000" b="1" dirty="0"/>
              <a:t>    38     65     97     76     13     27 ]</a:t>
            </a:r>
          </a:p>
        </p:txBody>
      </p:sp>
      <p:grpSp>
        <p:nvGrpSpPr>
          <p:cNvPr id="988169" name="Group 9"/>
          <p:cNvGrpSpPr>
            <a:grpSpLocks/>
          </p:cNvGrpSpPr>
          <p:nvPr/>
        </p:nvGrpSpPr>
        <p:grpSpPr bwMode="auto">
          <a:xfrm>
            <a:off x="4652144" y="1217614"/>
            <a:ext cx="268288" cy="598487"/>
            <a:chOff x="2320" y="767"/>
            <a:chExt cx="169" cy="377"/>
          </a:xfrm>
        </p:grpSpPr>
        <p:sp>
          <p:nvSpPr>
            <p:cNvPr id="988170" name="Line 10"/>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171" name="Text Box 11"/>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sp>
        <p:nvSpPr>
          <p:cNvPr id="988172" name="Text Box 12"/>
          <p:cNvSpPr txBox="1">
            <a:spLocks noChangeArrowheads="1"/>
          </p:cNvSpPr>
          <p:nvPr/>
        </p:nvSpPr>
        <p:spPr bwMode="auto">
          <a:xfrm>
            <a:off x="1986733" y="830263"/>
            <a:ext cx="746125" cy="457200"/>
          </a:xfrm>
          <a:prstGeom prst="rect">
            <a:avLst/>
          </a:prstGeom>
          <a:noFill/>
          <a:ln w="9525">
            <a:noFill/>
            <a:miter lim="800000"/>
            <a:headEnd/>
            <a:tailEnd/>
          </a:ln>
          <a:effectLst/>
        </p:spPr>
        <p:txBody>
          <a:bodyPr wrap="none">
            <a:spAutoFit/>
          </a:bodyPr>
          <a:lstStyle/>
          <a:p>
            <a:r>
              <a:rPr lang="en-US" altLang="zh-CN" b="1">
                <a:solidFill>
                  <a:srgbClr val="C01920"/>
                </a:solidFill>
              </a:rPr>
              <a:t>i = 1</a:t>
            </a:r>
          </a:p>
        </p:txBody>
      </p:sp>
      <p:sp>
        <p:nvSpPr>
          <p:cNvPr id="988173" name="Text Box 13"/>
          <p:cNvSpPr txBox="1">
            <a:spLocks noChangeArrowheads="1"/>
          </p:cNvSpPr>
          <p:nvPr/>
        </p:nvSpPr>
        <p:spPr bwMode="auto">
          <a:xfrm>
            <a:off x="4033272" y="980728"/>
            <a:ext cx="504825" cy="3968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a:spAutoFit/>
          </a:bodyPr>
          <a:lstStyle/>
          <a:p>
            <a:r>
              <a:rPr lang="en-US" altLang="zh-CN" sz="2000" b="1">
                <a:solidFill>
                  <a:srgbClr val="FF3300"/>
                </a:solidFill>
                <a:effectLst>
                  <a:outerShdw blurRad="38100" dist="38100" dir="2700000" algn="tl">
                    <a:srgbClr val="C0C0C0"/>
                  </a:outerShdw>
                </a:effectLst>
              </a:rPr>
              <a:t>13</a:t>
            </a:r>
          </a:p>
        </p:txBody>
      </p:sp>
      <p:sp>
        <p:nvSpPr>
          <p:cNvPr id="988174" name="Text Box 14"/>
          <p:cNvSpPr txBox="1">
            <a:spLocks noChangeArrowheads="1"/>
          </p:cNvSpPr>
          <p:nvPr/>
        </p:nvSpPr>
        <p:spPr bwMode="auto">
          <a:xfrm>
            <a:off x="6865119" y="906464"/>
            <a:ext cx="438150" cy="3968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49</a:t>
            </a:r>
          </a:p>
        </p:txBody>
      </p:sp>
      <p:sp>
        <p:nvSpPr>
          <p:cNvPr id="988175" name="Text Box 15"/>
          <p:cNvSpPr txBox="1">
            <a:spLocks noChangeArrowheads="1"/>
          </p:cNvSpPr>
          <p:nvPr/>
        </p:nvSpPr>
        <p:spPr bwMode="auto">
          <a:xfrm>
            <a:off x="2888433" y="2444751"/>
            <a:ext cx="551465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一趟：</a:t>
            </a:r>
            <a:r>
              <a:rPr lang="zh-CN" altLang="en-US" sz="2000" b="1" dirty="0">
                <a:solidFill>
                  <a:srgbClr val="002060"/>
                </a:solidFill>
                <a:latin typeface="+mn-lt"/>
                <a:ea typeface="楷体" pitchFamily="49" charset="-122"/>
              </a:rPr>
              <a:t>    </a:t>
            </a:r>
            <a:r>
              <a:rPr lang="en-US" altLang="zh-CN" sz="2000" b="1" dirty="0">
                <a:solidFill>
                  <a:srgbClr val="FF0000"/>
                </a:solidFill>
              </a:rPr>
              <a:t>13</a:t>
            </a:r>
            <a:r>
              <a:rPr lang="en-US" altLang="zh-CN" sz="2000" b="1" dirty="0">
                <a:solidFill>
                  <a:schemeClr val="bg2"/>
                </a:solidFill>
              </a:rPr>
              <a:t>     </a:t>
            </a:r>
            <a:r>
              <a:rPr lang="en-US" altLang="zh-CN" sz="2000" b="1" dirty="0"/>
              <a:t>[  </a:t>
            </a:r>
            <a:r>
              <a:rPr lang="en-US" altLang="zh-CN" sz="2000" b="1" dirty="0">
                <a:solidFill>
                  <a:srgbClr val="CC3300"/>
                </a:solidFill>
              </a:rPr>
              <a:t>38 </a:t>
            </a:r>
            <a:r>
              <a:rPr lang="en-US" altLang="zh-CN" sz="2000" b="1" dirty="0"/>
              <a:t>    65     97     76     49     27  ]</a:t>
            </a:r>
          </a:p>
        </p:txBody>
      </p:sp>
      <p:sp>
        <p:nvSpPr>
          <p:cNvPr id="988176" name="Text Box 16"/>
          <p:cNvSpPr txBox="1">
            <a:spLocks noChangeArrowheads="1"/>
          </p:cNvSpPr>
          <p:nvPr/>
        </p:nvSpPr>
        <p:spPr bwMode="auto">
          <a:xfrm>
            <a:off x="1972445" y="2422525"/>
            <a:ext cx="746125" cy="457200"/>
          </a:xfrm>
          <a:prstGeom prst="rect">
            <a:avLst/>
          </a:prstGeom>
          <a:noFill/>
          <a:ln w="9525">
            <a:noFill/>
            <a:miter lim="800000"/>
            <a:headEnd/>
            <a:tailEnd/>
          </a:ln>
          <a:effectLst/>
        </p:spPr>
        <p:txBody>
          <a:bodyPr wrap="none">
            <a:spAutoFit/>
          </a:bodyPr>
          <a:lstStyle/>
          <a:p>
            <a:r>
              <a:rPr lang="en-US" altLang="zh-CN" b="1">
                <a:solidFill>
                  <a:srgbClr val="C01920"/>
                </a:solidFill>
              </a:rPr>
              <a:t>i = 2</a:t>
            </a:r>
          </a:p>
        </p:txBody>
      </p:sp>
      <p:sp>
        <p:nvSpPr>
          <p:cNvPr id="988177" name="Text Box 17"/>
          <p:cNvSpPr txBox="1">
            <a:spLocks noChangeArrowheads="1"/>
          </p:cNvSpPr>
          <p:nvPr/>
        </p:nvSpPr>
        <p:spPr bwMode="auto">
          <a:xfrm>
            <a:off x="4872807" y="2493964"/>
            <a:ext cx="438150" cy="3968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spAutoFit/>
          </a:bodyPr>
          <a:lstStyle/>
          <a:p>
            <a:r>
              <a:rPr lang="en-US" altLang="zh-CN" sz="2000" b="1">
                <a:solidFill>
                  <a:srgbClr val="FF3300"/>
                </a:solidFill>
                <a:effectLst>
                  <a:outerShdw blurRad="38100" dist="38100" dir="2700000" algn="tl">
                    <a:srgbClr val="C0C0C0"/>
                  </a:outerShdw>
                </a:effectLst>
              </a:rPr>
              <a:t>27</a:t>
            </a:r>
          </a:p>
        </p:txBody>
      </p:sp>
      <p:sp>
        <p:nvSpPr>
          <p:cNvPr id="988178" name="Text Box 18"/>
          <p:cNvSpPr txBox="1">
            <a:spLocks noChangeArrowheads="1"/>
          </p:cNvSpPr>
          <p:nvPr/>
        </p:nvSpPr>
        <p:spPr bwMode="auto">
          <a:xfrm>
            <a:off x="7708082" y="2493964"/>
            <a:ext cx="438150" cy="3968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spAutoFit/>
          </a:bodyPr>
          <a:lstStyle/>
          <a:p>
            <a:r>
              <a:rPr lang="en-US" altLang="zh-CN" sz="2000" b="1">
                <a:solidFill>
                  <a:srgbClr val="CC3300"/>
                </a:solidFill>
                <a:effectLst>
                  <a:outerShdw blurRad="38100" dist="38100" dir="2700000" algn="tl">
                    <a:srgbClr val="C0C0C0"/>
                  </a:outerShdw>
                </a:effectLst>
              </a:rPr>
              <a:t>38</a:t>
            </a:r>
          </a:p>
        </p:txBody>
      </p:sp>
      <p:sp>
        <p:nvSpPr>
          <p:cNvPr id="988180" name="Text Box 20"/>
          <p:cNvSpPr txBox="1">
            <a:spLocks noChangeArrowheads="1"/>
          </p:cNvSpPr>
          <p:nvPr/>
        </p:nvSpPr>
        <p:spPr bwMode="auto">
          <a:xfrm>
            <a:off x="2883670" y="3476626"/>
            <a:ext cx="538641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二趟：</a:t>
            </a:r>
            <a:r>
              <a:rPr lang="zh-CN" altLang="en-US" sz="2000" b="1" dirty="0">
                <a:solidFill>
                  <a:srgbClr val="002060"/>
                </a:solidFill>
                <a:latin typeface="+mn-lt"/>
                <a:ea typeface="楷体" pitchFamily="49" charset="-122"/>
              </a:rPr>
              <a:t>    </a:t>
            </a:r>
            <a:r>
              <a:rPr lang="en-US" altLang="zh-CN" sz="2000" b="1" dirty="0">
                <a:solidFill>
                  <a:srgbClr val="FF0000"/>
                </a:solidFill>
              </a:rPr>
              <a:t>13      27</a:t>
            </a:r>
            <a:r>
              <a:rPr lang="en-US" altLang="zh-CN" sz="2000" b="1" dirty="0">
                <a:solidFill>
                  <a:schemeClr val="bg2"/>
                </a:solidFill>
              </a:rPr>
              <a:t>     </a:t>
            </a:r>
            <a:r>
              <a:rPr lang="en-US" altLang="zh-CN" sz="2000" b="1" dirty="0"/>
              <a:t>[</a:t>
            </a:r>
            <a:r>
              <a:rPr lang="en-US" altLang="zh-CN" sz="2000" b="1" dirty="0">
                <a:solidFill>
                  <a:srgbClr val="CC3300"/>
                </a:solidFill>
              </a:rPr>
              <a:t>65</a:t>
            </a:r>
            <a:r>
              <a:rPr lang="en-US" altLang="zh-CN" sz="2000" b="1" dirty="0"/>
              <a:t>     97     76     49     38 ]</a:t>
            </a:r>
          </a:p>
        </p:txBody>
      </p:sp>
      <p:grpSp>
        <p:nvGrpSpPr>
          <p:cNvPr id="988252" name="Group 92"/>
          <p:cNvGrpSpPr>
            <a:grpSpLocks/>
          </p:cNvGrpSpPr>
          <p:nvPr/>
        </p:nvGrpSpPr>
        <p:grpSpPr bwMode="auto">
          <a:xfrm>
            <a:off x="5563370" y="3878263"/>
            <a:ext cx="2278063" cy="315912"/>
            <a:chOff x="2862" y="2452"/>
            <a:chExt cx="1435" cy="199"/>
          </a:xfrm>
        </p:grpSpPr>
        <p:sp>
          <p:nvSpPr>
            <p:cNvPr id="988182" name="Line 22"/>
            <p:cNvSpPr>
              <a:spLocks noChangeShapeType="1"/>
            </p:cNvSpPr>
            <p:nvPr/>
          </p:nvSpPr>
          <p:spPr bwMode="auto">
            <a:xfrm>
              <a:off x="4293" y="2461"/>
              <a:ext cx="1" cy="190"/>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83" name="Line 23"/>
            <p:cNvSpPr>
              <a:spLocks noChangeShapeType="1"/>
            </p:cNvSpPr>
            <p:nvPr/>
          </p:nvSpPr>
          <p:spPr bwMode="auto">
            <a:xfrm flipV="1">
              <a:off x="2874" y="2452"/>
              <a:ext cx="0" cy="190"/>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84" name="Line 24"/>
            <p:cNvSpPr>
              <a:spLocks noChangeShapeType="1"/>
            </p:cNvSpPr>
            <p:nvPr/>
          </p:nvSpPr>
          <p:spPr bwMode="auto">
            <a:xfrm>
              <a:off x="2862" y="2641"/>
              <a:ext cx="1435" cy="0"/>
            </a:xfrm>
            <a:prstGeom prst="line">
              <a:avLst/>
            </a:prstGeom>
            <a:noFill/>
            <a:ln w="28575">
              <a:solidFill>
                <a:srgbClr val="002060"/>
              </a:solidFill>
              <a:round/>
              <a:headEnd/>
              <a:tailEnd/>
            </a:ln>
            <a:effectLst>
              <a:outerShdw dist="35921" dir="2700000" algn="ctr" rotWithShape="0">
                <a:srgbClr val="808080"/>
              </a:outerShdw>
            </a:effectLst>
          </p:spPr>
          <p:txBody>
            <a:bodyPr wrap="none" anchor="ctr"/>
            <a:lstStyle/>
            <a:p>
              <a:endParaRPr lang="zh-CN" altLang="en-US"/>
            </a:p>
          </p:txBody>
        </p:sp>
      </p:grpSp>
      <p:sp>
        <p:nvSpPr>
          <p:cNvPr id="988186" name="Text Box 26"/>
          <p:cNvSpPr txBox="1">
            <a:spLocks noChangeArrowheads="1"/>
          </p:cNvSpPr>
          <p:nvPr/>
        </p:nvSpPr>
        <p:spPr bwMode="auto">
          <a:xfrm>
            <a:off x="2883670" y="4197351"/>
            <a:ext cx="538641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三趟：</a:t>
            </a:r>
            <a:r>
              <a:rPr lang="zh-CN" altLang="en-US" sz="2000" b="1" dirty="0">
                <a:solidFill>
                  <a:srgbClr val="002060"/>
                </a:solidFill>
                <a:latin typeface="+mn-lt"/>
                <a:ea typeface="楷体" pitchFamily="49" charset="-122"/>
              </a:rPr>
              <a:t>    </a:t>
            </a:r>
            <a:r>
              <a:rPr lang="en-US" altLang="zh-CN" sz="2000" b="1" dirty="0">
                <a:solidFill>
                  <a:srgbClr val="FF0000"/>
                </a:solidFill>
              </a:rPr>
              <a:t>13      27     38</a:t>
            </a:r>
            <a:r>
              <a:rPr lang="en-US" altLang="zh-CN" sz="2000" b="1" dirty="0">
                <a:solidFill>
                  <a:schemeClr val="bg2"/>
                </a:solidFill>
              </a:rPr>
              <a:t>     </a:t>
            </a:r>
            <a:r>
              <a:rPr lang="en-US" altLang="zh-CN" sz="2000" b="1" dirty="0"/>
              <a:t>[</a:t>
            </a:r>
            <a:r>
              <a:rPr lang="en-US" altLang="zh-CN" sz="2000" b="1" dirty="0">
                <a:solidFill>
                  <a:srgbClr val="CC3300"/>
                </a:solidFill>
              </a:rPr>
              <a:t>97</a:t>
            </a:r>
            <a:r>
              <a:rPr lang="en-US" altLang="zh-CN" sz="2000" b="1" dirty="0"/>
              <a:t>     76     49     65 ]</a:t>
            </a:r>
          </a:p>
        </p:txBody>
      </p:sp>
      <p:grpSp>
        <p:nvGrpSpPr>
          <p:cNvPr id="988187" name="Group 27"/>
          <p:cNvGrpSpPr>
            <a:grpSpLocks/>
          </p:cNvGrpSpPr>
          <p:nvPr/>
        </p:nvGrpSpPr>
        <p:grpSpPr bwMode="auto">
          <a:xfrm>
            <a:off x="6139633" y="4573588"/>
            <a:ext cx="1125537" cy="228600"/>
            <a:chOff x="3108" y="2854"/>
            <a:chExt cx="709" cy="144"/>
          </a:xfrm>
        </p:grpSpPr>
        <p:sp>
          <p:nvSpPr>
            <p:cNvPr id="988188" name="Line 28"/>
            <p:cNvSpPr>
              <a:spLocks noChangeShapeType="1"/>
            </p:cNvSpPr>
            <p:nvPr/>
          </p:nvSpPr>
          <p:spPr bwMode="auto">
            <a:xfrm>
              <a:off x="3816" y="2854"/>
              <a:ext cx="1" cy="144"/>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89" name="Line 29"/>
            <p:cNvSpPr>
              <a:spLocks noChangeShapeType="1"/>
            </p:cNvSpPr>
            <p:nvPr/>
          </p:nvSpPr>
          <p:spPr bwMode="auto">
            <a:xfrm flipV="1">
              <a:off x="3108" y="2859"/>
              <a:ext cx="0" cy="122"/>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90" name="Line 30"/>
            <p:cNvSpPr>
              <a:spLocks noChangeShapeType="1"/>
            </p:cNvSpPr>
            <p:nvPr/>
          </p:nvSpPr>
          <p:spPr bwMode="auto">
            <a:xfrm>
              <a:off x="3117" y="2989"/>
              <a:ext cx="688" cy="0"/>
            </a:xfrm>
            <a:prstGeom prst="line">
              <a:avLst/>
            </a:prstGeom>
            <a:noFill/>
            <a:ln w="28575">
              <a:solidFill>
                <a:srgbClr val="002060"/>
              </a:solidFill>
              <a:round/>
              <a:headEnd/>
              <a:tailEnd/>
            </a:ln>
            <a:effectLst>
              <a:outerShdw dist="35921" dir="2700000" algn="ctr" rotWithShape="0">
                <a:srgbClr val="808080"/>
              </a:outerShdw>
            </a:effectLst>
          </p:spPr>
          <p:txBody>
            <a:bodyPr wrap="none" anchor="ctr"/>
            <a:lstStyle/>
            <a:p>
              <a:endParaRPr lang="zh-CN" altLang="en-US"/>
            </a:p>
          </p:txBody>
        </p:sp>
      </p:grpSp>
      <p:sp>
        <p:nvSpPr>
          <p:cNvPr id="988192" name="Text Box 32"/>
          <p:cNvSpPr txBox="1">
            <a:spLocks noChangeArrowheads="1"/>
          </p:cNvSpPr>
          <p:nvPr/>
        </p:nvSpPr>
        <p:spPr bwMode="auto">
          <a:xfrm>
            <a:off x="2883668" y="4740276"/>
            <a:ext cx="5681211" cy="400110"/>
          </a:xfrm>
          <a:prstGeom prst="rect">
            <a:avLst/>
          </a:prstGeom>
          <a:noFill/>
          <a:ln w="9525">
            <a:noFill/>
            <a:miter lim="800000"/>
            <a:headEnd/>
            <a:tailEnd/>
          </a:ln>
          <a:effectLst/>
        </p:spPr>
        <p:txBody>
          <a:bodyPr wrap="square">
            <a:spAutoFit/>
          </a:bodyPr>
          <a:lstStyle/>
          <a:p>
            <a:r>
              <a:rPr lang="zh-CN" altLang="en-US" b="1" dirty="0">
                <a:solidFill>
                  <a:srgbClr val="002060"/>
                </a:solidFill>
                <a:latin typeface="+mn-lt"/>
                <a:ea typeface="楷体" pitchFamily="49" charset="-122"/>
              </a:rPr>
              <a:t>四趟：</a:t>
            </a:r>
            <a:r>
              <a:rPr lang="zh-CN" altLang="en-US" sz="2000" b="1" dirty="0">
                <a:solidFill>
                  <a:srgbClr val="002060"/>
                </a:solidFill>
                <a:latin typeface="+mn-lt"/>
                <a:ea typeface="楷体" pitchFamily="49" charset="-122"/>
              </a:rPr>
              <a:t>    </a:t>
            </a:r>
            <a:r>
              <a:rPr lang="en-US" altLang="zh-CN" sz="2000" b="1" dirty="0">
                <a:solidFill>
                  <a:srgbClr val="FF0000"/>
                </a:solidFill>
              </a:rPr>
              <a:t>13      27     38     49</a:t>
            </a:r>
            <a:r>
              <a:rPr lang="en-US" altLang="zh-CN" sz="2000" b="1" dirty="0">
                <a:solidFill>
                  <a:schemeClr val="bg2"/>
                </a:solidFill>
              </a:rPr>
              <a:t>     </a:t>
            </a:r>
            <a:r>
              <a:rPr lang="en-US" altLang="zh-CN" sz="2000" b="1" dirty="0"/>
              <a:t>[</a:t>
            </a:r>
            <a:r>
              <a:rPr lang="en-US" altLang="zh-CN" sz="2000" b="1" dirty="0">
                <a:solidFill>
                  <a:srgbClr val="CC3300"/>
                </a:solidFill>
              </a:rPr>
              <a:t>76</a:t>
            </a:r>
            <a:r>
              <a:rPr lang="en-US" altLang="zh-CN" sz="2000" b="1" dirty="0"/>
              <a:t>     97     65 ]</a:t>
            </a:r>
          </a:p>
        </p:txBody>
      </p:sp>
      <p:grpSp>
        <p:nvGrpSpPr>
          <p:cNvPr id="988193" name="Group 33"/>
          <p:cNvGrpSpPr>
            <a:grpSpLocks/>
          </p:cNvGrpSpPr>
          <p:nvPr/>
        </p:nvGrpSpPr>
        <p:grpSpPr bwMode="auto">
          <a:xfrm>
            <a:off x="6728594" y="5087938"/>
            <a:ext cx="1125538" cy="228600"/>
            <a:chOff x="3452" y="3205"/>
            <a:chExt cx="709" cy="144"/>
          </a:xfrm>
        </p:grpSpPr>
        <p:sp>
          <p:nvSpPr>
            <p:cNvPr id="988194" name="Line 34"/>
            <p:cNvSpPr>
              <a:spLocks noChangeShapeType="1"/>
            </p:cNvSpPr>
            <p:nvPr/>
          </p:nvSpPr>
          <p:spPr bwMode="auto">
            <a:xfrm>
              <a:off x="4160" y="3205"/>
              <a:ext cx="1" cy="144"/>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95" name="Line 35"/>
            <p:cNvSpPr>
              <a:spLocks noChangeShapeType="1"/>
            </p:cNvSpPr>
            <p:nvPr/>
          </p:nvSpPr>
          <p:spPr bwMode="auto">
            <a:xfrm flipV="1">
              <a:off x="3452" y="3210"/>
              <a:ext cx="0" cy="122"/>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196" name="Line 36"/>
            <p:cNvSpPr>
              <a:spLocks noChangeShapeType="1"/>
            </p:cNvSpPr>
            <p:nvPr/>
          </p:nvSpPr>
          <p:spPr bwMode="auto">
            <a:xfrm>
              <a:off x="3461" y="3340"/>
              <a:ext cx="688" cy="0"/>
            </a:xfrm>
            <a:prstGeom prst="line">
              <a:avLst/>
            </a:prstGeom>
            <a:noFill/>
            <a:ln w="28575">
              <a:solidFill>
                <a:srgbClr val="002060"/>
              </a:solidFill>
              <a:round/>
              <a:headEnd/>
              <a:tailEnd/>
            </a:ln>
            <a:effectLst>
              <a:outerShdw dist="35921" dir="2700000" algn="ctr" rotWithShape="0">
                <a:srgbClr val="808080"/>
              </a:outerShdw>
            </a:effectLst>
          </p:spPr>
          <p:txBody>
            <a:bodyPr wrap="none" anchor="ctr"/>
            <a:lstStyle/>
            <a:p>
              <a:endParaRPr lang="zh-CN" altLang="en-US"/>
            </a:p>
          </p:txBody>
        </p:sp>
      </p:grpSp>
      <p:sp>
        <p:nvSpPr>
          <p:cNvPr id="988198" name="Text Box 38"/>
          <p:cNvSpPr txBox="1">
            <a:spLocks noChangeArrowheads="1"/>
          </p:cNvSpPr>
          <p:nvPr/>
        </p:nvSpPr>
        <p:spPr bwMode="auto">
          <a:xfrm>
            <a:off x="2883670" y="5276851"/>
            <a:ext cx="538641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五趟：</a:t>
            </a:r>
            <a:r>
              <a:rPr lang="zh-CN" altLang="en-US" sz="2000" b="1" dirty="0">
                <a:solidFill>
                  <a:srgbClr val="002060"/>
                </a:solidFill>
                <a:latin typeface="+mn-lt"/>
                <a:ea typeface="楷体" pitchFamily="49" charset="-122"/>
              </a:rPr>
              <a:t>    </a:t>
            </a:r>
            <a:r>
              <a:rPr lang="en-US" altLang="zh-CN" sz="2000" b="1" dirty="0">
                <a:solidFill>
                  <a:srgbClr val="FF0000"/>
                </a:solidFill>
              </a:rPr>
              <a:t>13      27     38     49     65</a:t>
            </a:r>
            <a:r>
              <a:rPr lang="en-US" altLang="zh-CN" sz="2000" b="1" dirty="0">
                <a:solidFill>
                  <a:schemeClr val="bg2"/>
                </a:solidFill>
              </a:rPr>
              <a:t>     </a:t>
            </a:r>
            <a:r>
              <a:rPr lang="en-US" altLang="zh-CN" sz="2000" b="1" dirty="0"/>
              <a:t>[</a:t>
            </a:r>
            <a:r>
              <a:rPr lang="en-US" altLang="zh-CN" sz="2000" b="1" dirty="0">
                <a:solidFill>
                  <a:srgbClr val="CC3300"/>
                </a:solidFill>
              </a:rPr>
              <a:t>97</a:t>
            </a:r>
            <a:r>
              <a:rPr lang="en-US" altLang="zh-CN" sz="2000" b="1" dirty="0"/>
              <a:t>     76 ]</a:t>
            </a:r>
          </a:p>
        </p:txBody>
      </p:sp>
      <p:grpSp>
        <p:nvGrpSpPr>
          <p:cNvPr id="988199" name="Group 39"/>
          <p:cNvGrpSpPr>
            <a:grpSpLocks/>
          </p:cNvGrpSpPr>
          <p:nvPr/>
        </p:nvGrpSpPr>
        <p:grpSpPr bwMode="auto">
          <a:xfrm>
            <a:off x="7312795" y="5659438"/>
            <a:ext cx="498475" cy="228600"/>
            <a:chOff x="3847" y="3556"/>
            <a:chExt cx="314" cy="144"/>
          </a:xfrm>
        </p:grpSpPr>
        <p:sp>
          <p:nvSpPr>
            <p:cNvPr id="988200" name="Line 40"/>
            <p:cNvSpPr>
              <a:spLocks noChangeShapeType="1"/>
            </p:cNvSpPr>
            <p:nvPr/>
          </p:nvSpPr>
          <p:spPr bwMode="auto">
            <a:xfrm>
              <a:off x="4160" y="3556"/>
              <a:ext cx="1" cy="144"/>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201" name="Line 41"/>
            <p:cNvSpPr>
              <a:spLocks noChangeShapeType="1"/>
            </p:cNvSpPr>
            <p:nvPr/>
          </p:nvSpPr>
          <p:spPr bwMode="auto">
            <a:xfrm flipV="1">
              <a:off x="3852" y="3561"/>
              <a:ext cx="0" cy="122"/>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wrap="none" anchor="ctr"/>
            <a:lstStyle/>
            <a:p>
              <a:endParaRPr lang="zh-CN" altLang="en-US"/>
            </a:p>
          </p:txBody>
        </p:sp>
        <p:sp>
          <p:nvSpPr>
            <p:cNvPr id="988202" name="Line 42"/>
            <p:cNvSpPr>
              <a:spLocks noChangeShapeType="1"/>
            </p:cNvSpPr>
            <p:nvPr/>
          </p:nvSpPr>
          <p:spPr bwMode="auto">
            <a:xfrm>
              <a:off x="3847" y="3677"/>
              <a:ext cx="311" cy="0"/>
            </a:xfrm>
            <a:prstGeom prst="line">
              <a:avLst/>
            </a:prstGeom>
            <a:noFill/>
            <a:ln w="28575">
              <a:solidFill>
                <a:srgbClr val="002060"/>
              </a:solidFill>
              <a:round/>
              <a:headEnd/>
              <a:tailEnd/>
            </a:ln>
            <a:effectLst>
              <a:outerShdw dist="35921" dir="2700000" algn="ctr" rotWithShape="0">
                <a:srgbClr val="808080"/>
              </a:outerShdw>
            </a:effectLst>
          </p:spPr>
          <p:txBody>
            <a:bodyPr wrap="none" anchor="ctr"/>
            <a:lstStyle/>
            <a:p>
              <a:endParaRPr lang="zh-CN" altLang="en-US"/>
            </a:p>
          </p:txBody>
        </p:sp>
      </p:grpSp>
      <p:sp>
        <p:nvSpPr>
          <p:cNvPr id="988203" name="Text Box 43"/>
          <p:cNvSpPr txBox="1">
            <a:spLocks noChangeArrowheads="1"/>
          </p:cNvSpPr>
          <p:nvPr/>
        </p:nvSpPr>
        <p:spPr bwMode="auto">
          <a:xfrm>
            <a:off x="2883670" y="5842001"/>
            <a:ext cx="5386411" cy="461665"/>
          </a:xfrm>
          <a:prstGeom prst="rect">
            <a:avLst/>
          </a:prstGeom>
          <a:noFill/>
          <a:ln w="9525">
            <a:noFill/>
            <a:miter lim="800000"/>
            <a:headEnd/>
            <a:tailEnd/>
          </a:ln>
          <a:effectLst/>
        </p:spPr>
        <p:txBody>
          <a:bodyPr wrap="none">
            <a:spAutoFit/>
          </a:bodyPr>
          <a:lstStyle/>
          <a:p>
            <a:r>
              <a:rPr lang="zh-CN" altLang="en-US" b="1" dirty="0">
                <a:solidFill>
                  <a:srgbClr val="002060"/>
                </a:solidFill>
                <a:latin typeface="+mn-lt"/>
                <a:ea typeface="楷体" pitchFamily="49" charset="-122"/>
              </a:rPr>
              <a:t>六趟：</a:t>
            </a:r>
            <a:r>
              <a:rPr lang="zh-CN" altLang="en-US" sz="2000" b="1" dirty="0">
                <a:solidFill>
                  <a:srgbClr val="002060"/>
                </a:solidFill>
                <a:latin typeface="+mn-lt"/>
                <a:ea typeface="楷体" pitchFamily="49" charset="-122"/>
              </a:rPr>
              <a:t>    </a:t>
            </a:r>
            <a:r>
              <a:rPr lang="en-US" altLang="zh-CN" sz="2000" b="1" dirty="0">
                <a:solidFill>
                  <a:srgbClr val="FF0000"/>
                </a:solidFill>
              </a:rPr>
              <a:t>13      27     38     49     65     76</a:t>
            </a:r>
            <a:r>
              <a:rPr lang="en-US" altLang="zh-CN" sz="2000" b="1" dirty="0">
                <a:solidFill>
                  <a:schemeClr val="bg2"/>
                </a:solidFill>
              </a:rPr>
              <a:t>     </a:t>
            </a:r>
            <a:r>
              <a:rPr lang="en-US" altLang="zh-CN" sz="2000" b="1" dirty="0"/>
              <a:t>[</a:t>
            </a:r>
            <a:r>
              <a:rPr lang="en-US" altLang="zh-CN" sz="2000" b="1" dirty="0">
                <a:solidFill>
                  <a:srgbClr val="CC3300"/>
                </a:solidFill>
              </a:rPr>
              <a:t>97</a:t>
            </a:r>
            <a:r>
              <a:rPr lang="en-US" altLang="zh-CN" sz="2000" b="1" dirty="0"/>
              <a:t> ]</a:t>
            </a:r>
          </a:p>
        </p:txBody>
      </p:sp>
      <p:grpSp>
        <p:nvGrpSpPr>
          <p:cNvPr id="988204" name="Group 44"/>
          <p:cNvGrpSpPr>
            <a:grpSpLocks/>
          </p:cNvGrpSpPr>
          <p:nvPr/>
        </p:nvGrpSpPr>
        <p:grpSpPr bwMode="auto">
          <a:xfrm>
            <a:off x="6950844" y="352426"/>
            <a:ext cx="325438" cy="625475"/>
            <a:chOff x="1920" y="206"/>
            <a:chExt cx="205" cy="394"/>
          </a:xfrm>
        </p:grpSpPr>
        <p:sp>
          <p:nvSpPr>
            <p:cNvPr id="988205" name="Line 45"/>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988206" name="Text Box 46"/>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000000"/>
                    </a:outerShdw>
                  </a:effectLst>
                </a:rPr>
                <a:t>k</a:t>
              </a:r>
            </a:p>
          </p:txBody>
        </p:sp>
      </p:grpSp>
      <p:grpSp>
        <p:nvGrpSpPr>
          <p:cNvPr id="988207" name="Group 47"/>
          <p:cNvGrpSpPr>
            <a:grpSpLocks/>
          </p:cNvGrpSpPr>
          <p:nvPr/>
        </p:nvGrpSpPr>
        <p:grpSpPr bwMode="auto">
          <a:xfrm>
            <a:off x="7773169" y="1922464"/>
            <a:ext cx="325438" cy="625475"/>
            <a:chOff x="1920" y="206"/>
            <a:chExt cx="205" cy="394"/>
          </a:xfrm>
        </p:grpSpPr>
        <p:sp>
          <p:nvSpPr>
            <p:cNvPr id="988208" name="Line 48"/>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988209" name="Text Box 49"/>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000000"/>
                    </a:outerShdw>
                  </a:effectLst>
                </a:rPr>
                <a:t>k</a:t>
              </a:r>
            </a:p>
          </p:txBody>
        </p:sp>
      </p:grpSp>
      <p:grpSp>
        <p:nvGrpSpPr>
          <p:cNvPr id="988210" name="Group 50"/>
          <p:cNvGrpSpPr>
            <a:grpSpLocks/>
          </p:cNvGrpSpPr>
          <p:nvPr/>
        </p:nvGrpSpPr>
        <p:grpSpPr bwMode="auto">
          <a:xfrm>
            <a:off x="4958533" y="1912939"/>
            <a:ext cx="325437" cy="625475"/>
            <a:chOff x="1920" y="206"/>
            <a:chExt cx="205" cy="394"/>
          </a:xfrm>
        </p:grpSpPr>
        <p:sp>
          <p:nvSpPr>
            <p:cNvPr id="988211" name="Line 51"/>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88212" name="Text Box 52"/>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000000"/>
                    </a:outerShdw>
                  </a:effectLst>
                </a:rPr>
                <a:t>k</a:t>
              </a:r>
            </a:p>
          </p:txBody>
        </p:sp>
      </p:grpSp>
      <p:grpSp>
        <p:nvGrpSpPr>
          <p:cNvPr id="988213" name="Group 53"/>
          <p:cNvGrpSpPr>
            <a:grpSpLocks/>
          </p:cNvGrpSpPr>
          <p:nvPr/>
        </p:nvGrpSpPr>
        <p:grpSpPr bwMode="auto">
          <a:xfrm>
            <a:off x="4696594" y="346076"/>
            <a:ext cx="325438" cy="625475"/>
            <a:chOff x="1920" y="206"/>
            <a:chExt cx="205" cy="394"/>
          </a:xfrm>
        </p:grpSpPr>
        <p:sp>
          <p:nvSpPr>
            <p:cNvPr id="988214" name="Line 54"/>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988215" name="Text Box 55"/>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a:solidFill>
                    <a:srgbClr val="002060"/>
                  </a:solidFill>
                  <a:effectLst>
                    <a:outerShdw blurRad="38100" dist="38100" dir="2700000" algn="tl">
                      <a:srgbClr val="000000"/>
                    </a:outerShdw>
                  </a:effectLst>
                </a:rPr>
                <a:t>k</a:t>
              </a:r>
              <a:endParaRPr lang="en-US" altLang="zh-CN" sz="2000" b="1" dirty="0">
                <a:solidFill>
                  <a:srgbClr val="002060"/>
                </a:solidFill>
                <a:effectLst>
                  <a:outerShdw blurRad="38100" dist="38100" dir="2700000" algn="tl">
                    <a:srgbClr val="000000"/>
                  </a:outerShdw>
                </a:effectLst>
              </a:endParaRPr>
            </a:p>
          </p:txBody>
        </p:sp>
      </p:grpSp>
      <p:grpSp>
        <p:nvGrpSpPr>
          <p:cNvPr id="988216" name="Group 56"/>
          <p:cNvGrpSpPr>
            <a:grpSpLocks/>
          </p:cNvGrpSpPr>
          <p:nvPr/>
        </p:nvGrpSpPr>
        <p:grpSpPr bwMode="auto">
          <a:xfrm>
            <a:off x="5242694" y="1198564"/>
            <a:ext cx="268288" cy="598487"/>
            <a:chOff x="2320" y="767"/>
            <a:chExt cx="169" cy="377"/>
          </a:xfrm>
        </p:grpSpPr>
        <p:sp>
          <p:nvSpPr>
            <p:cNvPr id="988217" name="Line 57"/>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18" name="Text Box 58"/>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19" name="Group 59"/>
          <p:cNvGrpSpPr>
            <a:grpSpLocks/>
          </p:cNvGrpSpPr>
          <p:nvPr/>
        </p:nvGrpSpPr>
        <p:grpSpPr bwMode="auto">
          <a:xfrm>
            <a:off x="5757044" y="1217614"/>
            <a:ext cx="268288" cy="598487"/>
            <a:chOff x="2320" y="767"/>
            <a:chExt cx="169" cy="377"/>
          </a:xfrm>
        </p:grpSpPr>
        <p:sp>
          <p:nvSpPr>
            <p:cNvPr id="988220" name="Line 60"/>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21" name="Text Box 61"/>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22" name="Group 62"/>
          <p:cNvGrpSpPr>
            <a:grpSpLocks/>
          </p:cNvGrpSpPr>
          <p:nvPr/>
        </p:nvGrpSpPr>
        <p:grpSpPr bwMode="auto">
          <a:xfrm>
            <a:off x="6328544" y="1236664"/>
            <a:ext cx="268288" cy="598487"/>
            <a:chOff x="2320" y="767"/>
            <a:chExt cx="169" cy="377"/>
          </a:xfrm>
        </p:grpSpPr>
        <p:sp>
          <p:nvSpPr>
            <p:cNvPr id="988223" name="Line 63"/>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24" name="Text Box 64"/>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25" name="Group 65"/>
          <p:cNvGrpSpPr>
            <a:grpSpLocks/>
          </p:cNvGrpSpPr>
          <p:nvPr/>
        </p:nvGrpSpPr>
        <p:grpSpPr bwMode="auto">
          <a:xfrm>
            <a:off x="6900044" y="1255714"/>
            <a:ext cx="268288" cy="598487"/>
            <a:chOff x="2320" y="767"/>
            <a:chExt cx="169" cy="377"/>
          </a:xfrm>
        </p:grpSpPr>
        <p:sp>
          <p:nvSpPr>
            <p:cNvPr id="988226" name="Line 66"/>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27" name="Text Box 67"/>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28" name="Group 68"/>
          <p:cNvGrpSpPr>
            <a:grpSpLocks/>
          </p:cNvGrpSpPr>
          <p:nvPr/>
        </p:nvGrpSpPr>
        <p:grpSpPr bwMode="auto">
          <a:xfrm>
            <a:off x="7490594" y="1236664"/>
            <a:ext cx="268288" cy="598487"/>
            <a:chOff x="2320" y="767"/>
            <a:chExt cx="169" cy="377"/>
          </a:xfrm>
        </p:grpSpPr>
        <p:sp>
          <p:nvSpPr>
            <p:cNvPr id="988229" name="Line 69"/>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30" name="Text Box 70"/>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31" name="Group 71"/>
          <p:cNvGrpSpPr>
            <a:grpSpLocks/>
          </p:cNvGrpSpPr>
          <p:nvPr/>
        </p:nvGrpSpPr>
        <p:grpSpPr bwMode="auto">
          <a:xfrm>
            <a:off x="5503044" y="2865439"/>
            <a:ext cx="268288" cy="598487"/>
            <a:chOff x="2320" y="767"/>
            <a:chExt cx="169" cy="377"/>
          </a:xfrm>
        </p:grpSpPr>
        <p:sp>
          <p:nvSpPr>
            <p:cNvPr id="988232" name="Line 72"/>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33" name="Text Box 73"/>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dirty="0">
                  <a:solidFill>
                    <a:schemeClr val="accent1">
                      <a:lumMod val="50000"/>
                    </a:schemeClr>
                  </a:solidFill>
                  <a:effectLst>
                    <a:outerShdw blurRad="38100" dist="38100" dir="2700000" algn="tl">
                      <a:srgbClr val="000000"/>
                    </a:outerShdw>
                  </a:effectLst>
                </a:rPr>
                <a:t>j</a:t>
              </a:r>
            </a:p>
          </p:txBody>
        </p:sp>
      </p:grpSp>
      <p:grpSp>
        <p:nvGrpSpPr>
          <p:cNvPr id="988234" name="Group 74"/>
          <p:cNvGrpSpPr>
            <a:grpSpLocks/>
          </p:cNvGrpSpPr>
          <p:nvPr/>
        </p:nvGrpSpPr>
        <p:grpSpPr bwMode="auto">
          <a:xfrm>
            <a:off x="6065019" y="2874964"/>
            <a:ext cx="268288" cy="598487"/>
            <a:chOff x="2320" y="767"/>
            <a:chExt cx="169" cy="377"/>
          </a:xfrm>
        </p:grpSpPr>
        <p:sp>
          <p:nvSpPr>
            <p:cNvPr id="988235" name="Line 75"/>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36" name="Text Box 76"/>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37" name="Group 77"/>
          <p:cNvGrpSpPr>
            <a:grpSpLocks/>
          </p:cNvGrpSpPr>
          <p:nvPr/>
        </p:nvGrpSpPr>
        <p:grpSpPr bwMode="auto">
          <a:xfrm>
            <a:off x="6641283" y="2874964"/>
            <a:ext cx="268287" cy="598487"/>
            <a:chOff x="2320" y="767"/>
            <a:chExt cx="169" cy="377"/>
          </a:xfrm>
        </p:grpSpPr>
        <p:sp>
          <p:nvSpPr>
            <p:cNvPr id="988238" name="Line 78"/>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39" name="Text Box 79"/>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40" name="Group 80"/>
          <p:cNvGrpSpPr>
            <a:grpSpLocks/>
          </p:cNvGrpSpPr>
          <p:nvPr/>
        </p:nvGrpSpPr>
        <p:grpSpPr bwMode="auto">
          <a:xfrm>
            <a:off x="7222308" y="2870200"/>
            <a:ext cx="268287" cy="598488"/>
            <a:chOff x="2320" y="767"/>
            <a:chExt cx="169" cy="377"/>
          </a:xfrm>
        </p:grpSpPr>
        <p:sp>
          <p:nvSpPr>
            <p:cNvPr id="988241" name="Line 81"/>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dirty="0">
                <a:solidFill>
                  <a:schemeClr val="accent1">
                    <a:lumMod val="50000"/>
                  </a:schemeClr>
                </a:solidFill>
              </a:endParaRPr>
            </a:p>
          </p:txBody>
        </p:sp>
        <p:sp>
          <p:nvSpPr>
            <p:cNvPr id="988242" name="Text Box 82"/>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243" name="Group 83"/>
          <p:cNvGrpSpPr>
            <a:grpSpLocks/>
          </p:cNvGrpSpPr>
          <p:nvPr/>
        </p:nvGrpSpPr>
        <p:grpSpPr bwMode="auto">
          <a:xfrm>
            <a:off x="7793808" y="2874964"/>
            <a:ext cx="268287" cy="598487"/>
            <a:chOff x="2320" y="767"/>
            <a:chExt cx="169" cy="377"/>
          </a:xfrm>
        </p:grpSpPr>
        <p:sp>
          <p:nvSpPr>
            <p:cNvPr id="988244" name="Line 84"/>
            <p:cNvSpPr>
              <a:spLocks noChangeShapeType="1"/>
            </p:cNvSpPr>
            <p:nvPr/>
          </p:nvSpPr>
          <p:spPr bwMode="auto">
            <a:xfrm flipV="1">
              <a:off x="2400" y="767"/>
              <a:ext cx="0" cy="166"/>
            </a:xfrm>
            <a:prstGeom prst="line">
              <a:avLst/>
            </a:prstGeom>
            <a:noFill/>
            <a:ln w="28575">
              <a:solidFill>
                <a:schemeClr val="accent1">
                  <a:lumMod val="50000"/>
                </a:schemeClr>
              </a:solidFill>
              <a:round/>
              <a:headEnd/>
              <a:tailEnd type="stealth" w="lg" len="lg"/>
            </a:ln>
            <a:effectLst>
              <a:outerShdw dist="35921" dir="2700000" algn="ctr" rotWithShape="0">
                <a:schemeClr val="bg2"/>
              </a:outerShdw>
            </a:effectLst>
          </p:spPr>
          <p:txBody>
            <a:bodyPr wrap="none" anchor="ctr"/>
            <a:lstStyle/>
            <a:p>
              <a:endParaRPr lang="zh-CN" altLang="en-US">
                <a:solidFill>
                  <a:schemeClr val="accent1">
                    <a:lumMod val="50000"/>
                  </a:schemeClr>
                </a:solidFill>
              </a:endParaRPr>
            </a:p>
          </p:txBody>
        </p:sp>
        <p:sp>
          <p:nvSpPr>
            <p:cNvPr id="988245" name="Text Box 85"/>
            <p:cNvSpPr txBox="1">
              <a:spLocks noChangeArrowheads="1"/>
            </p:cNvSpPr>
            <p:nvPr/>
          </p:nvSpPr>
          <p:spPr bwMode="auto">
            <a:xfrm>
              <a:off x="2320" y="894"/>
              <a:ext cx="169" cy="250"/>
            </a:xfrm>
            <a:prstGeom prst="rect">
              <a:avLst/>
            </a:prstGeom>
            <a:noFill/>
            <a:ln w="9525">
              <a:noFill/>
              <a:miter lim="800000"/>
              <a:headEnd/>
              <a:tailEnd/>
            </a:ln>
            <a:effectLst/>
          </p:spPr>
          <p:txBody>
            <a:bodyPr wrap="none">
              <a:spAutoFit/>
            </a:bodyPr>
            <a:lstStyle/>
            <a:p>
              <a:r>
                <a:rPr lang="en-US" altLang="zh-CN" sz="2000" b="1">
                  <a:solidFill>
                    <a:schemeClr val="accent1">
                      <a:lumMod val="50000"/>
                    </a:schemeClr>
                  </a:solidFill>
                  <a:effectLst>
                    <a:outerShdw blurRad="38100" dist="38100" dir="2700000" algn="tl">
                      <a:srgbClr val="000000"/>
                    </a:outerShdw>
                  </a:effectLst>
                </a:rPr>
                <a:t>j</a:t>
              </a:r>
            </a:p>
          </p:txBody>
        </p:sp>
      </p:grpSp>
      <p:grpSp>
        <p:nvGrpSpPr>
          <p:cNvPr id="988166" name="Group 6"/>
          <p:cNvGrpSpPr>
            <a:grpSpLocks/>
          </p:cNvGrpSpPr>
          <p:nvPr/>
        </p:nvGrpSpPr>
        <p:grpSpPr bwMode="auto">
          <a:xfrm>
            <a:off x="4118744" y="327026"/>
            <a:ext cx="325438" cy="625475"/>
            <a:chOff x="1920" y="206"/>
            <a:chExt cx="205" cy="394"/>
          </a:xfrm>
        </p:grpSpPr>
        <p:sp>
          <p:nvSpPr>
            <p:cNvPr id="988167" name="Line 7"/>
            <p:cNvSpPr>
              <a:spLocks noChangeShapeType="1"/>
            </p:cNvSpPr>
            <p:nvPr/>
          </p:nvSpPr>
          <p:spPr bwMode="auto">
            <a:xfrm>
              <a:off x="2000" y="422"/>
              <a:ext cx="0" cy="178"/>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solidFill>
                  <a:srgbClr val="002060"/>
                </a:solidFill>
              </a:endParaRPr>
            </a:p>
          </p:txBody>
        </p:sp>
        <p:sp>
          <p:nvSpPr>
            <p:cNvPr id="988168" name="Text Box 8"/>
            <p:cNvSpPr txBox="1">
              <a:spLocks noChangeArrowheads="1"/>
            </p:cNvSpPr>
            <p:nvPr/>
          </p:nvSpPr>
          <p:spPr bwMode="auto">
            <a:xfrm>
              <a:off x="1920" y="206"/>
              <a:ext cx="205" cy="250"/>
            </a:xfrm>
            <a:prstGeom prst="rect">
              <a:avLst/>
            </a:prstGeom>
            <a:noFill/>
            <a:ln w="9525">
              <a:noFill/>
              <a:miter lim="800000"/>
              <a:headEnd/>
              <a:tailEnd/>
            </a:ln>
            <a:effectLst/>
          </p:spPr>
          <p:txBody>
            <a:bodyPr wrap="none">
              <a:spAutoFit/>
            </a:bodyPr>
            <a:lstStyle/>
            <a:p>
              <a:r>
                <a:rPr lang="en-US" altLang="zh-CN" sz="2000" b="1" dirty="0">
                  <a:solidFill>
                    <a:srgbClr val="002060"/>
                  </a:solidFill>
                  <a:effectLst>
                    <a:outerShdw blurRad="38100" dist="38100" dir="2700000" algn="tl">
                      <a:srgbClr val="000000"/>
                    </a:outerShdw>
                  </a:effectLst>
                </a:rPr>
                <a:t>k</a:t>
              </a:r>
            </a:p>
          </p:txBody>
        </p:sp>
      </p:grpSp>
      <p:sp>
        <p:nvSpPr>
          <p:cNvPr id="988249" name="Rectangle 89"/>
          <p:cNvSpPr>
            <a:spLocks noChangeArrowheads="1"/>
          </p:cNvSpPr>
          <p:nvPr/>
        </p:nvSpPr>
        <p:spPr bwMode="auto">
          <a:xfrm>
            <a:off x="3964756" y="402878"/>
            <a:ext cx="647700" cy="5619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nchor="ctr"/>
          <a:lstStyle/>
          <a:p>
            <a:endParaRPr lang="zh-CN" altLang="en-US"/>
          </a:p>
        </p:txBody>
      </p:sp>
      <p:sp>
        <p:nvSpPr>
          <p:cNvPr id="988250" name="Rectangle 90"/>
          <p:cNvSpPr>
            <a:spLocks noChangeArrowheads="1"/>
          </p:cNvSpPr>
          <p:nvPr/>
        </p:nvSpPr>
        <p:spPr bwMode="auto">
          <a:xfrm>
            <a:off x="4594994" y="418753"/>
            <a:ext cx="647700" cy="5619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nchor="ctr"/>
          <a:lstStyle/>
          <a:p>
            <a:endParaRPr lang="zh-CN" altLang="en-US">
              <a:solidFill>
                <a:srgbClr val="C01920"/>
              </a:solidFill>
            </a:endParaRPr>
          </a:p>
        </p:txBody>
      </p:sp>
      <p:sp>
        <p:nvSpPr>
          <p:cNvPr id="988251" name="Rectangle 91"/>
          <p:cNvSpPr>
            <a:spLocks noChangeArrowheads="1"/>
          </p:cNvSpPr>
          <p:nvPr/>
        </p:nvSpPr>
        <p:spPr bwMode="auto">
          <a:xfrm>
            <a:off x="5425767" y="1948499"/>
            <a:ext cx="647700" cy="561975"/>
          </a:xfrm>
          <a:prstGeom prst="rect">
            <a:avLst/>
          </a:prstGeom>
          <a:gradFill>
            <a:gsLst>
              <a:gs pos="0">
                <a:srgbClr val="CFCFD1"/>
              </a:gs>
              <a:gs pos="100000">
                <a:schemeClr val="bg1">
                  <a:lumMod val="95000"/>
                </a:schemeClr>
              </a:gs>
            </a:gsLst>
            <a:lin ang="0" scaled="1"/>
          </a:gradFill>
          <a:ln w="9525">
            <a:noFill/>
            <a:miter lim="800000"/>
            <a:headEnd/>
            <a:tailEnd/>
          </a:ln>
          <a:effectLst/>
        </p:spPr>
        <p:txBody>
          <a:bodyPr wrap="none" anchor="ctr"/>
          <a:lstStyle/>
          <a:p>
            <a:endParaRPr lang="zh-CN" altLang="en-US"/>
          </a:p>
        </p:txBody>
      </p:sp>
      <p:sp>
        <p:nvSpPr>
          <p:cNvPr id="988253" name="Text Box 93"/>
          <p:cNvSpPr txBox="1">
            <a:spLocks noChangeArrowheads="1"/>
          </p:cNvSpPr>
          <p:nvPr/>
        </p:nvSpPr>
        <p:spPr bwMode="auto">
          <a:xfrm>
            <a:off x="9043567" y="1614489"/>
            <a:ext cx="615553" cy="3455987"/>
          </a:xfrm>
          <a:prstGeom prst="rect">
            <a:avLst/>
          </a:prstGeom>
          <a:noFill/>
          <a:ln w="9525">
            <a:noFill/>
            <a:miter lim="800000"/>
            <a:headEnd/>
            <a:tailEnd/>
          </a:ln>
          <a:effectLst/>
        </p:spPr>
        <p:txBody>
          <a:bodyPr vert="eaVert">
            <a:spAutoFit/>
          </a:bodyPr>
          <a:lstStyle/>
          <a:p>
            <a:pPr>
              <a:spcBef>
                <a:spcPct val="50000"/>
              </a:spcBef>
            </a:pPr>
            <a:r>
              <a:rPr lang="zh-CN" altLang="en-US" sz="2800" b="1" u="sng" dirty="0">
                <a:solidFill>
                  <a:srgbClr val="00B0F0"/>
                </a:solidFill>
                <a:ea typeface="隶书" pitchFamily="49" charset="-122"/>
              </a:rPr>
              <a:t>选择排序图示效果</a:t>
            </a:r>
          </a:p>
        </p:txBody>
      </p:sp>
    </p:spTree>
    <p:extLst>
      <p:ext uri="{BB962C8B-B14F-4D97-AF65-F5344CB8AC3E}">
        <p14:creationId xmlns:p14="http://schemas.microsoft.com/office/powerpoint/2010/main" val="4183626684"/>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88165">
                                            <p:txEl>
                                              <p:pRg st="0" end="0"/>
                                            </p:txEl>
                                          </p:spTgt>
                                        </p:tgtEl>
                                        <p:attrNameLst>
                                          <p:attrName>style.visibility</p:attrName>
                                        </p:attrNameLst>
                                      </p:cBhvr>
                                      <p:to>
                                        <p:strVal val="visible"/>
                                      </p:to>
                                    </p:set>
                                    <p:animEffect transition="in" filter="box(out)">
                                      <p:cBhvr>
                                        <p:cTn id="7" dur="500"/>
                                        <p:tgtEl>
                                          <p:spTgt spid="98816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88172">
                                            <p:txEl>
                                              <p:pRg st="0" end="0"/>
                                            </p:txEl>
                                          </p:spTgt>
                                        </p:tgtEl>
                                        <p:attrNameLst>
                                          <p:attrName>style.visibility</p:attrName>
                                        </p:attrNameLst>
                                      </p:cBhvr>
                                      <p:to>
                                        <p:strVal val="visible"/>
                                      </p:to>
                                    </p:set>
                                    <p:animEffect transition="in" filter="box(out)">
                                      <p:cBhvr>
                                        <p:cTn id="12" dur="500"/>
                                        <p:tgtEl>
                                          <p:spTgt spid="988172">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988166"/>
                                        </p:tgtEl>
                                        <p:attrNameLst>
                                          <p:attrName>style.visibility</p:attrName>
                                        </p:attrNameLst>
                                      </p:cBhvr>
                                      <p:to>
                                        <p:strVal val="visible"/>
                                      </p:to>
                                    </p:se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988169"/>
                                        </p:tgtEl>
                                        <p:attrNameLst>
                                          <p:attrName>style.visibility</p:attrName>
                                        </p:attrNameLst>
                                      </p:cBhvr>
                                      <p:to>
                                        <p:strVal val="visible"/>
                                      </p:to>
                                    </p:set>
                                  </p:childTnLst>
                                  <p:subTnLst>
                                    <p:set>
                                      <p:cBhvr override="childStyle">
                                        <p:cTn dur="1" fill="hold" display="0" masterRel="nextClick" afterEffect="1"/>
                                        <p:tgtEl>
                                          <p:spTgt spid="988169"/>
                                        </p:tgtEl>
                                        <p:attrNameLst>
                                          <p:attrName>style.visibility</p:attrName>
                                        </p:attrNameLst>
                                      </p:cBhvr>
                                      <p:to>
                                        <p:strVal val="hidden"/>
                                      </p:to>
                                    </p:se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988249"/>
                                        </p:tgtEl>
                                        <p:attrNameLst>
                                          <p:attrName>style.visibility</p:attrName>
                                        </p:attrNameLst>
                                      </p:cBhvr>
                                      <p:to>
                                        <p:strVal val="visible"/>
                                      </p:to>
                                    </p:set>
                                    <p:animEffect transition="in" filter="blinds(horizontal)">
                                      <p:cBhvr>
                                        <p:cTn id="25" dur="500"/>
                                        <p:tgtEl>
                                          <p:spTgt spid="988249"/>
                                        </p:tgtEl>
                                      </p:cBhvr>
                                    </p:animEffec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499"/>
                                          </p:stCondLst>
                                        </p:cTn>
                                        <p:tgtEl>
                                          <p:spTgt spid="988213"/>
                                        </p:tgtEl>
                                        <p:attrNameLst>
                                          <p:attrName>style.visibility</p:attrName>
                                        </p:attrNameLst>
                                      </p:cBhvr>
                                      <p:to>
                                        <p:strVal val="visible"/>
                                      </p:to>
                                    </p:se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988216"/>
                                        </p:tgtEl>
                                        <p:attrNameLst>
                                          <p:attrName>style.visibility</p:attrName>
                                        </p:attrNameLst>
                                      </p:cBhvr>
                                      <p:to>
                                        <p:strVal val="visible"/>
                                      </p:to>
                                    </p:set>
                                  </p:childTnLst>
                                  <p:subTnLst>
                                    <p:set>
                                      <p:cBhvr override="childStyle">
                                        <p:cTn dur="1" fill="hold" display="0" masterRel="nextClick" afterEffect="1"/>
                                        <p:tgtEl>
                                          <p:spTgt spid="988216"/>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988219"/>
                                        </p:tgtEl>
                                        <p:attrNameLst>
                                          <p:attrName>style.visibility</p:attrName>
                                        </p:attrNameLst>
                                      </p:cBhvr>
                                      <p:to>
                                        <p:strVal val="visible"/>
                                      </p:to>
                                    </p:set>
                                  </p:childTnLst>
                                  <p:subTnLst>
                                    <p:set>
                                      <p:cBhvr override="childStyle">
                                        <p:cTn dur="1" fill="hold" display="0" masterRel="nextClick" afterEffect="1"/>
                                        <p:tgtEl>
                                          <p:spTgt spid="988219"/>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988222"/>
                                        </p:tgtEl>
                                        <p:attrNameLst>
                                          <p:attrName>style.visibility</p:attrName>
                                        </p:attrNameLst>
                                      </p:cBhvr>
                                      <p:to>
                                        <p:strVal val="visible"/>
                                      </p:to>
                                    </p:set>
                                  </p:childTnLst>
                                  <p:subTnLst>
                                    <p:set>
                                      <p:cBhvr override="childStyle">
                                        <p:cTn dur="1" fill="hold" display="0" masterRel="nextClick" afterEffect="1"/>
                                        <p:tgtEl>
                                          <p:spTgt spid="988222"/>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988225"/>
                                        </p:tgtEl>
                                        <p:attrNameLst>
                                          <p:attrName>style.visibility</p:attrName>
                                        </p:attrNameLst>
                                      </p:cBhvr>
                                      <p:to>
                                        <p:strVal val="visible"/>
                                      </p:to>
                                    </p:set>
                                  </p:childTnLst>
                                  <p:subTnLst>
                                    <p:set>
                                      <p:cBhvr override="childStyle">
                                        <p:cTn dur="1" fill="hold" display="0" masterRel="nextClick" afterEffect="1"/>
                                        <p:tgtEl>
                                          <p:spTgt spid="988225"/>
                                        </p:tgtEl>
                                        <p:attrNameLst>
                                          <p:attrName>style.visibility</p:attrName>
                                        </p:attrNameLst>
                                      </p:cBhvr>
                                      <p:to>
                                        <p:strVal val="hidden"/>
                                      </p:to>
                                    </p:se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nodePh="1">
                                  <p:stCondLst>
                                    <p:cond delay="0"/>
                                  </p:stCondLst>
                                  <p:endCondLst>
                                    <p:cond evt="begin" delay="0">
                                      <p:tn val="47"/>
                                    </p:cond>
                                  </p:endCondLst>
                                  <p:childTnLst>
                                    <p:set>
                                      <p:cBhvr>
                                        <p:cTn id="48" dur="1" fill="hold">
                                          <p:stCondLst>
                                            <p:cond delay="0"/>
                                          </p:stCondLst>
                                        </p:cTn>
                                        <p:tgtEl>
                                          <p:spTgt spid="988250"/>
                                        </p:tgtEl>
                                        <p:attrNameLst>
                                          <p:attrName>style.visibility</p:attrName>
                                        </p:attrNameLst>
                                      </p:cBhvr>
                                      <p:to>
                                        <p:strVal val="visible"/>
                                      </p:to>
                                    </p:set>
                                    <p:animEffect transition="in" filter="blinds(horizontal)">
                                      <p:cBhvr>
                                        <p:cTn id="49" dur="500"/>
                                        <p:tgtEl>
                                          <p:spTgt spid="988250"/>
                                        </p:tgtEl>
                                      </p:cBhvr>
                                    </p:animEffect>
                                  </p:childTnLst>
                                </p:cTn>
                              </p:par>
                            </p:childTnLst>
                          </p:cTn>
                        </p:par>
                        <p:par>
                          <p:cTn id="50" fill="hold">
                            <p:stCondLst>
                              <p:cond delay="500"/>
                            </p:stCondLst>
                            <p:childTnLst>
                              <p:par>
                                <p:cTn id="51" presetID="1" presetClass="entr" presetSubtype="0" fill="hold" nodeType="afterEffect">
                                  <p:stCondLst>
                                    <p:cond delay="0"/>
                                  </p:stCondLst>
                                  <p:childTnLst>
                                    <p:set>
                                      <p:cBhvr>
                                        <p:cTn id="52" dur="1" fill="hold">
                                          <p:stCondLst>
                                            <p:cond delay="499"/>
                                          </p:stCondLst>
                                        </p:cTn>
                                        <p:tgtEl>
                                          <p:spTgt spid="988204"/>
                                        </p:tgtEl>
                                        <p:attrNameLst>
                                          <p:attrName>style.visibility</p:attrName>
                                        </p:attrNameLst>
                                      </p:cBhvr>
                                      <p:to>
                                        <p:strVal val="visible"/>
                                      </p:to>
                                    </p:se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988228"/>
                                        </p:tgtEl>
                                        <p:attrNameLst>
                                          <p:attrName>style.visibility</p:attrName>
                                        </p:attrNameLst>
                                      </p:cBhvr>
                                      <p:to>
                                        <p:strVal val="visible"/>
                                      </p:to>
                                    </p:set>
                                  </p:childTnLst>
                                  <p:subTnLst>
                                    <p:set>
                                      <p:cBhvr override="childStyle">
                                        <p:cTn dur="1" fill="hold" display="0" masterRel="nextClick" afterEffect="1"/>
                                        <p:tgtEl>
                                          <p:spTgt spid="988228"/>
                                        </p:tgtEl>
                                        <p:attrNameLst>
                                          <p:attrName>style.visibility</p:attrName>
                                        </p:attrNameLst>
                                      </p:cBhvr>
                                      <p:to>
                                        <p:strVal val="hidden"/>
                                      </p:to>
                                    </p:se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988173"/>
                                        </p:tgtEl>
                                        <p:attrNameLst>
                                          <p:attrName>style.visibility</p:attrName>
                                        </p:attrNameLst>
                                      </p:cBhvr>
                                      <p:to>
                                        <p:strVal val="visible"/>
                                      </p:to>
                                    </p:set>
                                    <p:animEffect transition="in" filter="box(out)">
                                      <p:cBhvr>
                                        <p:cTn id="61" dur="500"/>
                                        <p:tgtEl>
                                          <p:spTgt spid="988173"/>
                                        </p:tgtEl>
                                      </p:cBhvr>
                                    </p:animEffec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988174"/>
                                        </p:tgtEl>
                                        <p:attrNameLst>
                                          <p:attrName>style.visibility</p:attrName>
                                        </p:attrNameLst>
                                      </p:cBhvr>
                                      <p:to>
                                        <p:strVal val="visible"/>
                                      </p:to>
                                    </p:set>
                                    <p:animEffect transition="in" filter="box(out)">
                                      <p:cBhvr>
                                        <p:cTn id="66" dur="500"/>
                                        <p:tgtEl>
                                          <p:spTgt spid="988174"/>
                                        </p:tgtEl>
                                      </p:cBhvr>
                                    </p:animEffect>
                                  </p:childTnLst>
                                  <p:subTnLst>
                                    <p:audio>
                                      <p:cMediaNode>
                                        <p:cTn display="0" masterRel="sameClick">
                                          <p:stCondLst>
                                            <p:cond evt="begin" delay="0">
                                              <p:tn val="64"/>
                                            </p:cond>
                                          </p:stCondLst>
                                          <p:endCondLst>
                                            <p:cond evt="onStopAudio" delay="0">
                                              <p:tgtEl>
                                                <p:sldTgt/>
                                              </p:tgtEl>
                                            </p:cond>
                                          </p:endCondLst>
                                        </p:cTn>
                                        <p:tgtEl>
                                          <p:sndTgt r:embed="rId3" name="CAMERA.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grpId="0" nodeType="clickEffect">
                                  <p:stCondLst>
                                    <p:cond delay="0"/>
                                  </p:stCondLst>
                                  <p:childTnLst>
                                    <p:set>
                                      <p:cBhvr>
                                        <p:cTn id="70" dur="1" fill="hold">
                                          <p:stCondLst>
                                            <p:cond delay="0"/>
                                          </p:stCondLst>
                                        </p:cTn>
                                        <p:tgtEl>
                                          <p:spTgt spid="988175">
                                            <p:txEl>
                                              <p:pRg st="0" end="0"/>
                                            </p:txEl>
                                          </p:spTgt>
                                        </p:tgtEl>
                                        <p:attrNameLst>
                                          <p:attrName>style.visibility</p:attrName>
                                        </p:attrNameLst>
                                      </p:cBhvr>
                                      <p:to>
                                        <p:strVal val="visible"/>
                                      </p:to>
                                    </p:set>
                                    <p:animEffect transition="in" filter="box(out)">
                                      <p:cBhvr>
                                        <p:cTn id="71" dur="500"/>
                                        <p:tgtEl>
                                          <p:spTgt spid="988175">
                                            <p:txEl>
                                              <p:pRg st="0" end="0"/>
                                            </p:txEl>
                                          </p:spTgt>
                                        </p:tgtEl>
                                      </p:cBhvr>
                                    </p:animEffect>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childTnLst>
                    </p:cTn>
                  </p:par>
                  <p:par>
                    <p:cTn id="72" fill="hold">
                      <p:stCondLst>
                        <p:cond delay="indefinite"/>
                      </p:stCondLst>
                      <p:childTnLst>
                        <p:par>
                          <p:cTn id="73" fill="hold">
                            <p:stCondLst>
                              <p:cond delay="0"/>
                            </p:stCondLst>
                            <p:childTnLst>
                              <p:par>
                                <p:cTn id="74" presetID="4" presetClass="entr" presetSubtype="32" fill="hold" grpId="0" nodeType="clickEffect">
                                  <p:stCondLst>
                                    <p:cond delay="0"/>
                                  </p:stCondLst>
                                  <p:childTnLst>
                                    <p:set>
                                      <p:cBhvr>
                                        <p:cTn id="75" dur="1" fill="hold">
                                          <p:stCondLst>
                                            <p:cond delay="0"/>
                                          </p:stCondLst>
                                        </p:cTn>
                                        <p:tgtEl>
                                          <p:spTgt spid="988176">
                                            <p:txEl>
                                              <p:pRg st="0" end="0"/>
                                            </p:txEl>
                                          </p:spTgt>
                                        </p:tgtEl>
                                        <p:attrNameLst>
                                          <p:attrName>style.visibility</p:attrName>
                                        </p:attrNameLst>
                                      </p:cBhvr>
                                      <p:to>
                                        <p:strVal val="visible"/>
                                      </p:to>
                                    </p:set>
                                    <p:animEffect transition="in" filter="box(out)">
                                      <p:cBhvr>
                                        <p:cTn id="76" dur="500"/>
                                        <p:tgtEl>
                                          <p:spTgt spid="988176">
                                            <p:txEl>
                                              <p:pRg st="0" end="0"/>
                                            </p:txEl>
                                          </p:spTgt>
                                        </p:tgtEl>
                                      </p:cBhvr>
                                    </p:animEffect>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499"/>
                                          </p:stCondLst>
                                        </p:cTn>
                                        <p:tgtEl>
                                          <p:spTgt spid="988210"/>
                                        </p:tgtEl>
                                        <p:attrNameLst>
                                          <p:attrName>style.visibility</p:attrName>
                                        </p:attrNameLst>
                                      </p:cBhvr>
                                      <p:to>
                                        <p:strVal val="visible"/>
                                      </p:to>
                                    </p:se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499"/>
                                          </p:stCondLst>
                                        </p:cTn>
                                        <p:tgtEl>
                                          <p:spTgt spid="988231"/>
                                        </p:tgtEl>
                                        <p:attrNameLst>
                                          <p:attrName>style.visibility</p:attrName>
                                        </p:attrNameLst>
                                      </p:cBhvr>
                                      <p:to>
                                        <p:strVal val="visible"/>
                                      </p:to>
                                    </p:set>
                                  </p:childTnLst>
                                  <p:subTnLst>
                                    <p:set>
                                      <p:cBhvr override="childStyle">
                                        <p:cTn dur="1" fill="hold" display="0" masterRel="nextClick" afterEffect="1"/>
                                        <p:tgtEl>
                                          <p:spTgt spid="988231"/>
                                        </p:tgtEl>
                                        <p:attrNameLst>
                                          <p:attrName>style.visibility</p:attrName>
                                        </p:attrNameLst>
                                      </p:cBhvr>
                                      <p:to>
                                        <p:strVal val="hidden"/>
                                      </p:to>
                                    </p:se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499"/>
                                          </p:stCondLst>
                                        </p:cTn>
                                        <p:tgtEl>
                                          <p:spTgt spid="988234"/>
                                        </p:tgtEl>
                                        <p:attrNameLst>
                                          <p:attrName>style.visibility</p:attrName>
                                        </p:attrNameLst>
                                      </p:cBhvr>
                                      <p:to>
                                        <p:strVal val="visible"/>
                                      </p:to>
                                    </p:set>
                                  </p:childTnLst>
                                  <p:subTnLst>
                                    <p:set>
                                      <p:cBhvr override="childStyle">
                                        <p:cTn dur="1" fill="hold" display="0" masterRel="nextClick" afterEffect="1"/>
                                        <p:tgtEl>
                                          <p:spTgt spid="988234"/>
                                        </p:tgtEl>
                                        <p:attrNameLst>
                                          <p:attrName>style.visibility</p:attrName>
                                        </p:attrNameLst>
                                      </p:cBhvr>
                                      <p:to>
                                        <p:strVal val="hidden"/>
                                      </p:to>
                                    </p:se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499"/>
                                          </p:stCondLst>
                                        </p:cTn>
                                        <p:tgtEl>
                                          <p:spTgt spid="988237"/>
                                        </p:tgtEl>
                                        <p:attrNameLst>
                                          <p:attrName>style.visibility</p:attrName>
                                        </p:attrNameLst>
                                      </p:cBhvr>
                                      <p:to>
                                        <p:strVal val="visible"/>
                                      </p:to>
                                    </p:set>
                                  </p:childTnLst>
                                  <p:subTnLst>
                                    <p:set>
                                      <p:cBhvr override="childStyle">
                                        <p:cTn dur="1" fill="hold" display="0" masterRel="nextClick" afterEffect="1"/>
                                        <p:tgtEl>
                                          <p:spTgt spid="988237"/>
                                        </p:tgtEl>
                                        <p:attrNameLst>
                                          <p:attrName>style.visibility</p:attrName>
                                        </p:attrNameLst>
                                      </p:cBhvr>
                                      <p:to>
                                        <p:strVal val="hidden"/>
                                      </p:to>
                                    </p:se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499"/>
                                          </p:stCondLst>
                                        </p:cTn>
                                        <p:tgtEl>
                                          <p:spTgt spid="988240"/>
                                        </p:tgtEl>
                                        <p:attrNameLst>
                                          <p:attrName>style.visibility</p:attrName>
                                        </p:attrNameLst>
                                      </p:cBhvr>
                                      <p:to>
                                        <p:strVal val="visible"/>
                                      </p:to>
                                    </p:set>
                                  </p:childTnLst>
                                  <p:subTnLst>
                                    <p:set>
                                      <p:cBhvr override="childStyle">
                                        <p:cTn dur="1" fill="hold" display="0" masterRel="nextClick" afterEffect="1"/>
                                        <p:tgtEl>
                                          <p:spTgt spid="988240"/>
                                        </p:tgtEl>
                                        <p:attrNameLst>
                                          <p:attrName>style.visibility</p:attrName>
                                        </p:attrNameLst>
                                      </p:cBhvr>
                                      <p:to>
                                        <p:strVal val="hidden"/>
                                      </p:to>
                                    </p:se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499"/>
                                          </p:stCondLst>
                                        </p:cTn>
                                        <p:tgtEl>
                                          <p:spTgt spid="988243"/>
                                        </p:tgtEl>
                                        <p:attrNameLst>
                                          <p:attrName>style.visibility</p:attrName>
                                        </p:attrNameLst>
                                      </p:cBhvr>
                                      <p:to>
                                        <p:strVal val="visible"/>
                                      </p:to>
                                    </p:set>
                                  </p:childTnLst>
                                  <p:subTnLst>
                                    <p:set>
                                      <p:cBhvr override="childStyle">
                                        <p:cTn dur="1" fill="hold" display="0" masterRel="nextClick" afterEffect="1"/>
                                        <p:tgtEl>
                                          <p:spTgt spid="988243"/>
                                        </p:tgtEl>
                                        <p:attrNameLst>
                                          <p:attrName>style.visibility</p:attrName>
                                        </p:attrNameLst>
                                      </p:cBhvr>
                                      <p:to>
                                        <p:strVal val="hidden"/>
                                      </p:to>
                                    </p:se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988251"/>
                                        </p:tgtEl>
                                        <p:attrNameLst>
                                          <p:attrName>style.visibility</p:attrName>
                                        </p:attrNameLst>
                                      </p:cBhvr>
                                      <p:to>
                                        <p:strVal val="visible"/>
                                      </p:to>
                                    </p:set>
                                    <p:animEffect transition="in" filter="blinds(horizontal)">
                                      <p:cBhvr>
                                        <p:cTn id="105" dur="500"/>
                                        <p:tgtEl>
                                          <p:spTgt spid="988251"/>
                                        </p:tgtEl>
                                      </p:cBhvr>
                                    </p:animEffect>
                                  </p:childTnLst>
                                </p:cTn>
                              </p:par>
                            </p:childTnLst>
                          </p:cTn>
                        </p:par>
                        <p:par>
                          <p:cTn id="106" fill="hold">
                            <p:stCondLst>
                              <p:cond delay="500"/>
                            </p:stCondLst>
                            <p:childTnLst>
                              <p:par>
                                <p:cTn id="107" presetID="1" presetClass="entr" presetSubtype="0" fill="hold" nodeType="afterEffect">
                                  <p:stCondLst>
                                    <p:cond delay="0"/>
                                  </p:stCondLst>
                                  <p:childTnLst>
                                    <p:set>
                                      <p:cBhvr>
                                        <p:cTn id="108" dur="1" fill="hold">
                                          <p:stCondLst>
                                            <p:cond delay="499"/>
                                          </p:stCondLst>
                                        </p:cTn>
                                        <p:tgtEl>
                                          <p:spTgt spid="988207"/>
                                        </p:tgtEl>
                                        <p:attrNameLst>
                                          <p:attrName>style.visibility</p:attrName>
                                        </p:attrNameLst>
                                      </p:cBhvr>
                                      <p:to>
                                        <p:strVal val="visible"/>
                                      </p:to>
                                    </p:set>
                                  </p:childTnLst>
                                  <p:subTnLst>
                                    <p:audio>
                                      <p:cMediaNode>
                                        <p:cTn display="0" masterRel="sameClick">
                                          <p:stCondLst>
                                            <p:cond evt="begin" delay="0">
                                              <p:tn val="107"/>
                                            </p:cond>
                                          </p:stCondLst>
                                          <p:endCondLst>
                                            <p:cond evt="onStopAudio" delay="0">
                                              <p:tgtEl>
                                                <p:sldTgt/>
                                              </p:tgtEl>
                                            </p:cond>
                                          </p:endCondLst>
                                        </p:cTn>
                                        <p:tgtEl>
                                          <p:sndTgt r:embed="rId3" name="CAMERA.WAV"/>
                                        </p:tgtEl>
                                      </p:cMediaNode>
                                    </p:audio>
                                  </p:subTnLst>
                                </p:cTn>
                              </p:par>
                            </p:childTnLst>
                          </p:cTn>
                        </p:par>
                      </p:childTnLst>
                    </p:cTn>
                  </p:par>
                  <p:par>
                    <p:cTn id="109" fill="hold">
                      <p:stCondLst>
                        <p:cond delay="indefinite"/>
                      </p:stCondLst>
                      <p:childTnLst>
                        <p:par>
                          <p:cTn id="110" fill="hold">
                            <p:stCondLst>
                              <p:cond delay="0"/>
                            </p:stCondLst>
                            <p:childTnLst>
                              <p:par>
                                <p:cTn id="111" presetID="4" presetClass="entr" presetSubtype="32" fill="hold" grpId="0" nodeType="clickEffect">
                                  <p:stCondLst>
                                    <p:cond delay="0"/>
                                  </p:stCondLst>
                                  <p:childTnLst>
                                    <p:set>
                                      <p:cBhvr>
                                        <p:cTn id="112" dur="1" fill="hold">
                                          <p:stCondLst>
                                            <p:cond delay="0"/>
                                          </p:stCondLst>
                                        </p:cTn>
                                        <p:tgtEl>
                                          <p:spTgt spid="988177"/>
                                        </p:tgtEl>
                                        <p:attrNameLst>
                                          <p:attrName>style.visibility</p:attrName>
                                        </p:attrNameLst>
                                      </p:cBhvr>
                                      <p:to>
                                        <p:strVal val="visible"/>
                                      </p:to>
                                    </p:set>
                                    <p:animEffect transition="in" filter="box(out)">
                                      <p:cBhvr>
                                        <p:cTn id="113" dur="500"/>
                                        <p:tgtEl>
                                          <p:spTgt spid="988177"/>
                                        </p:tgtEl>
                                      </p:cBhvr>
                                    </p:animEffect>
                                  </p:childTnLst>
                                  <p:subTnLst>
                                    <p:audio>
                                      <p:cMediaNode>
                                        <p:cTn display="0" masterRel="sameClick">
                                          <p:stCondLst>
                                            <p:cond evt="begin" delay="0">
                                              <p:tn val="111"/>
                                            </p:cond>
                                          </p:stCondLst>
                                          <p:endCondLst>
                                            <p:cond evt="onStopAudio" delay="0">
                                              <p:tgtEl>
                                                <p:sldTgt/>
                                              </p:tgtEl>
                                            </p:cond>
                                          </p:endCondLst>
                                        </p:cTn>
                                        <p:tgtEl>
                                          <p:sndTgt r:embed="rId3" name="CAMERA.WAV"/>
                                        </p:tgtEl>
                                      </p:cMediaNode>
                                    </p:audio>
                                  </p:subTnLst>
                                </p:cTn>
                              </p:par>
                            </p:childTnLst>
                          </p:cTn>
                        </p:par>
                      </p:childTnLst>
                    </p:cTn>
                  </p:par>
                  <p:par>
                    <p:cTn id="114" fill="hold">
                      <p:stCondLst>
                        <p:cond delay="indefinite"/>
                      </p:stCondLst>
                      <p:childTnLst>
                        <p:par>
                          <p:cTn id="115" fill="hold">
                            <p:stCondLst>
                              <p:cond delay="0"/>
                            </p:stCondLst>
                            <p:childTnLst>
                              <p:par>
                                <p:cTn id="116" presetID="4" presetClass="entr" presetSubtype="32" fill="hold" grpId="0" nodeType="clickEffect">
                                  <p:stCondLst>
                                    <p:cond delay="0"/>
                                  </p:stCondLst>
                                  <p:childTnLst>
                                    <p:set>
                                      <p:cBhvr>
                                        <p:cTn id="117" dur="1" fill="hold">
                                          <p:stCondLst>
                                            <p:cond delay="0"/>
                                          </p:stCondLst>
                                        </p:cTn>
                                        <p:tgtEl>
                                          <p:spTgt spid="988178"/>
                                        </p:tgtEl>
                                        <p:attrNameLst>
                                          <p:attrName>style.visibility</p:attrName>
                                        </p:attrNameLst>
                                      </p:cBhvr>
                                      <p:to>
                                        <p:strVal val="visible"/>
                                      </p:to>
                                    </p:set>
                                    <p:animEffect transition="in" filter="box(out)">
                                      <p:cBhvr>
                                        <p:cTn id="118" dur="500"/>
                                        <p:tgtEl>
                                          <p:spTgt spid="988178"/>
                                        </p:tgtEl>
                                      </p:cBhvr>
                                    </p:animEffect>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childTnLst>
                          </p:cTn>
                        </p:par>
                      </p:childTnLst>
                    </p:cTn>
                  </p:par>
                  <p:par>
                    <p:cTn id="119" fill="hold">
                      <p:stCondLst>
                        <p:cond delay="indefinite"/>
                      </p:stCondLst>
                      <p:childTnLst>
                        <p:par>
                          <p:cTn id="120" fill="hold">
                            <p:stCondLst>
                              <p:cond delay="0"/>
                            </p:stCondLst>
                            <p:childTnLst>
                              <p:par>
                                <p:cTn id="121" presetID="4" presetClass="entr" presetSubtype="32" fill="hold" grpId="0" nodeType="clickEffect">
                                  <p:stCondLst>
                                    <p:cond delay="0"/>
                                  </p:stCondLst>
                                  <p:childTnLst>
                                    <p:set>
                                      <p:cBhvr>
                                        <p:cTn id="122" dur="1" fill="hold">
                                          <p:stCondLst>
                                            <p:cond delay="0"/>
                                          </p:stCondLst>
                                        </p:cTn>
                                        <p:tgtEl>
                                          <p:spTgt spid="988180"/>
                                        </p:tgtEl>
                                        <p:attrNameLst>
                                          <p:attrName>style.visibility</p:attrName>
                                        </p:attrNameLst>
                                      </p:cBhvr>
                                      <p:to>
                                        <p:strVal val="visible"/>
                                      </p:to>
                                    </p:set>
                                    <p:animEffect transition="in" filter="box(out)">
                                      <p:cBhvr>
                                        <p:cTn id="123" dur="500"/>
                                        <p:tgtEl>
                                          <p:spTgt spid="988180"/>
                                        </p:tgtEl>
                                      </p:cBhvr>
                                    </p:animEffect>
                                  </p:childTnLst>
                                  <p:subTnLst>
                                    <p:audio>
                                      <p:cMediaNode>
                                        <p:cTn display="0" masterRel="sameClick">
                                          <p:stCondLst>
                                            <p:cond evt="begin" delay="0">
                                              <p:tn val="121"/>
                                            </p:cond>
                                          </p:stCondLst>
                                          <p:endCondLst>
                                            <p:cond evt="onStopAudio" delay="0">
                                              <p:tgtEl>
                                                <p:sldTgt/>
                                              </p:tgtEl>
                                            </p:cond>
                                          </p:endCondLst>
                                        </p:cTn>
                                        <p:tgtEl>
                                          <p:sndTgt r:embed="rId3"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18" presetClass="entr" presetSubtype="12" fill="hold" nodeType="clickEffect">
                                  <p:stCondLst>
                                    <p:cond delay="0"/>
                                  </p:stCondLst>
                                  <p:childTnLst>
                                    <p:set>
                                      <p:cBhvr>
                                        <p:cTn id="127" dur="1" fill="hold">
                                          <p:stCondLst>
                                            <p:cond delay="0"/>
                                          </p:stCondLst>
                                        </p:cTn>
                                        <p:tgtEl>
                                          <p:spTgt spid="988252"/>
                                        </p:tgtEl>
                                        <p:attrNameLst>
                                          <p:attrName>style.visibility</p:attrName>
                                        </p:attrNameLst>
                                      </p:cBhvr>
                                      <p:to>
                                        <p:strVal val="visible"/>
                                      </p:to>
                                    </p:set>
                                    <p:animEffect transition="in" filter="strips(downLeft)">
                                      <p:cBhvr>
                                        <p:cTn id="128" dur="500"/>
                                        <p:tgtEl>
                                          <p:spTgt spid="988252"/>
                                        </p:tgtEl>
                                      </p:cBhvr>
                                    </p:animEffect>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4" presetClass="entr" presetSubtype="32" fill="hold" grpId="0" nodeType="clickEffect">
                                  <p:stCondLst>
                                    <p:cond delay="0"/>
                                  </p:stCondLst>
                                  <p:childTnLst>
                                    <p:set>
                                      <p:cBhvr>
                                        <p:cTn id="132" dur="1" fill="hold">
                                          <p:stCondLst>
                                            <p:cond delay="0"/>
                                          </p:stCondLst>
                                        </p:cTn>
                                        <p:tgtEl>
                                          <p:spTgt spid="988186"/>
                                        </p:tgtEl>
                                        <p:attrNameLst>
                                          <p:attrName>style.visibility</p:attrName>
                                        </p:attrNameLst>
                                      </p:cBhvr>
                                      <p:to>
                                        <p:strVal val="visible"/>
                                      </p:to>
                                    </p:set>
                                    <p:animEffect transition="in" filter="box(out)">
                                      <p:cBhvr>
                                        <p:cTn id="133" dur="500"/>
                                        <p:tgtEl>
                                          <p:spTgt spid="988186"/>
                                        </p:tgtEl>
                                      </p:cBhvr>
                                    </p:animEffect>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18" presetClass="entr" presetSubtype="12" fill="hold" nodeType="clickEffect">
                                  <p:stCondLst>
                                    <p:cond delay="0"/>
                                  </p:stCondLst>
                                  <p:childTnLst>
                                    <p:set>
                                      <p:cBhvr>
                                        <p:cTn id="137" dur="1" fill="hold">
                                          <p:stCondLst>
                                            <p:cond delay="0"/>
                                          </p:stCondLst>
                                        </p:cTn>
                                        <p:tgtEl>
                                          <p:spTgt spid="988187"/>
                                        </p:tgtEl>
                                        <p:attrNameLst>
                                          <p:attrName>style.visibility</p:attrName>
                                        </p:attrNameLst>
                                      </p:cBhvr>
                                      <p:to>
                                        <p:strVal val="visible"/>
                                      </p:to>
                                    </p:set>
                                    <p:animEffect transition="in" filter="strips(downLeft)">
                                      <p:cBhvr>
                                        <p:cTn id="138" dur="500"/>
                                        <p:tgtEl>
                                          <p:spTgt spid="988187"/>
                                        </p:tgtEl>
                                      </p:cBhvr>
                                    </p:animEffect>
                                  </p:childTnLst>
                                  <p:subTnLst>
                                    <p:audio>
                                      <p:cMediaNode>
                                        <p:cTn display="0" masterRel="sameClick">
                                          <p:stCondLst>
                                            <p:cond evt="begin" delay="0">
                                              <p:tn val="136"/>
                                            </p:cond>
                                          </p:stCondLst>
                                          <p:endCondLst>
                                            <p:cond evt="onStopAudio" delay="0">
                                              <p:tgtEl>
                                                <p:sldTgt/>
                                              </p:tgtEl>
                                            </p:cond>
                                          </p:endCondLst>
                                        </p:cTn>
                                        <p:tgtEl>
                                          <p:sndTgt r:embed="rId3" name="camera.wav"/>
                                        </p:tgtEl>
                                      </p:cMediaNode>
                                    </p:audio>
                                  </p:subTnLst>
                                </p:cTn>
                              </p:par>
                            </p:childTnLst>
                          </p:cTn>
                        </p:par>
                      </p:childTnLst>
                    </p:cTn>
                  </p:par>
                  <p:par>
                    <p:cTn id="139" fill="hold">
                      <p:stCondLst>
                        <p:cond delay="indefinite"/>
                      </p:stCondLst>
                      <p:childTnLst>
                        <p:par>
                          <p:cTn id="140" fill="hold">
                            <p:stCondLst>
                              <p:cond delay="0"/>
                            </p:stCondLst>
                            <p:childTnLst>
                              <p:par>
                                <p:cTn id="141" presetID="4" presetClass="entr" presetSubtype="32" fill="hold" grpId="0" nodeType="clickEffect">
                                  <p:stCondLst>
                                    <p:cond delay="0"/>
                                  </p:stCondLst>
                                  <p:childTnLst>
                                    <p:set>
                                      <p:cBhvr>
                                        <p:cTn id="142" dur="1" fill="hold">
                                          <p:stCondLst>
                                            <p:cond delay="0"/>
                                          </p:stCondLst>
                                        </p:cTn>
                                        <p:tgtEl>
                                          <p:spTgt spid="988192"/>
                                        </p:tgtEl>
                                        <p:attrNameLst>
                                          <p:attrName>style.visibility</p:attrName>
                                        </p:attrNameLst>
                                      </p:cBhvr>
                                      <p:to>
                                        <p:strVal val="visible"/>
                                      </p:to>
                                    </p:set>
                                    <p:animEffect transition="in" filter="box(out)">
                                      <p:cBhvr>
                                        <p:cTn id="143" dur="500"/>
                                        <p:tgtEl>
                                          <p:spTgt spid="988192"/>
                                        </p:tgtEl>
                                      </p:cBhvr>
                                    </p:animEffect>
                                  </p:childTnLst>
                                  <p:subTnLst>
                                    <p:audio>
                                      <p:cMediaNode>
                                        <p:cTn display="0" masterRel="sameClick">
                                          <p:stCondLst>
                                            <p:cond evt="begin" delay="0">
                                              <p:tn val="141"/>
                                            </p:cond>
                                          </p:stCondLst>
                                          <p:endCondLst>
                                            <p:cond evt="onStopAudio" delay="0">
                                              <p:tgtEl>
                                                <p:sldTgt/>
                                              </p:tgtEl>
                                            </p:cond>
                                          </p:endCondLst>
                                        </p:cTn>
                                        <p:tgtEl>
                                          <p:sndTgt r:embed="rId3" name="camera.wav"/>
                                        </p:tgtEl>
                                      </p:cMediaNode>
                                    </p:audio>
                                  </p:subTnLst>
                                </p:cTn>
                              </p:par>
                            </p:childTnLst>
                          </p:cTn>
                        </p:par>
                      </p:childTnLst>
                    </p:cTn>
                  </p:par>
                  <p:par>
                    <p:cTn id="144" fill="hold">
                      <p:stCondLst>
                        <p:cond delay="indefinite"/>
                      </p:stCondLst>
                      <p:childTnLst>
                        <p:par>
                          <p:cTn id="145" fill="hold">
                            <p:stCondLst>
                              <p:cond delay="0"/>
                            </p:stCondLst>
                            <p:childTnLst>
                              <p:par>
                                <p:cTn id="146" presetID="18" presetClass="entr" presetSubtype="12" fill="hold" nodeType="clickEffect">
                                  <p:stCondLst>
                                    <p:cond delay="0"/>
                                  </p:stCondLst>
                                  <p:childTnLst>
                                    <p:set>
                                      <p:cBhvr>
                                        <p:cTn id="147" dur="1" fill="hold">
                                          <p:stCondLst>
                                            <p:cond delay="0"/>
                                          </p:stCondLst>
                                        </p:cTn>
                                        <p:tgtEl>
                                          <p:spTgt spid="988193"/>
                                        </p:tgtEl>
                                        <p:attrNameLst>
                                          <p:attrName>style.visibility</p:attrName>
                                        </p:attrNameLst>
                                      </p:cBhvr>
                                      <p:to>
                                        <p:strVal val="visible"/>
                                      </p:to>
                                    </p:set>
                                    <p:animEffect transition="in" filter="strips(downLeft)">
                                      <p:cBhvr>
                                        <p:cTn id="148" dur="500"/>
                                        <p:tgtEl>
                                          <p:spTgt spid="988193"/>
                                        </p:tgtEl>
                                      </p:cBhvr>
                                    </p:animEffect>
                                  </p:childTnLst>
                                  <p:subTnLst>
                                    <p:audio>
                                      <p:cMediaNode>
                                        <p:cTn display="0" masterRel="sameClick">
                                          <p:stCondLst>
                                            <p:cond evt="begin" delay="0">
                                              <p:tn val="146"/>
                                            </p:cond>
                                          </p:stCondLst>
                                          <p:endCondLst>
                                            <p:cond evt="onStopAudio" delay="0">
                                              <p:tgtEl>
                                                <p:sldTgt/>
                                              </p:tgtEl>
                                            </p:cond>
                                          </p:endCondLst>
                                        </p:cTn>
                                        <p:tgtEl>
                                          <p:sndTgt r:embed="rId3" name="camera.wav"/>
                                        </p:tgtEl>
                                      </p:cMediaNode>
                                    </p:audio>
                                  </p:subTnLst>
                                </p:cTn>
                              </p:par>
                            </p:childTnLst>
                          </p:cTn>
                        </p:par>
                      </p:childTnLst>
                    </p:cTn>
                  </p:par>
                  <p:par>
                    <p:cTn id="149" fill="hold">
                      <p:stCondLst>
                        <p:cond delay="indefinite"/>
                      </p:stCondLst>
                      <p:childTnLst>
                        <p:par>
                          <p:cTn id="150" fill="hold">
                            <p:stCondLst>
                              <p:cond delay="0"/>
                            </p:stCondLst>
                            <p:childTnLst>
                              <p:par>
                                <p:cTn id="151" presetID="4" presetClass="entr" presetSubtype="32" fill="hold" grpId="0" nodeType="clickEffect">
                                  <p:stCondLst>
                                    <p:cond delay="0"/>
                                  </p:stCondLst>
                                  <p:childTnLst>
                                    <p:set>
                                      <p:cBhvr>
                                        <p:cTn id="152" dur="1" fill="hold">
                                          <p:stCondLst>
                                            <p:cond delay="0"/>
                                          </p:stCondLst>
                                        </p:cTn>
                                        <p:tgtEl>
                                          <p:spTgt spid="988198"/>
                                        </p:tgtEl>
                                        <p:attrNameLst>
                                          <p:attrName>style.visibility</p:attrName>
                                        </p:attrNameLst>
                                      </p:cBhvr>
                                      <p:to>
                                        <p:strVal val="visible"/>
                                      </p:to>
                                    </p:set>
                                    <p:animEffect transition="in" filter="box(out)">
                                      <p:cBhvr>
                                        <p:cTn id="153" dur="500"/>
                                        <p:tgtEl>
                                          <p:spTgt spid="988198"/>
                                        </p:tgtEl>
                                      </p:cBhvr>
                                    </p:animEffect>
                                  </p:childTnLst>
                                  <p:subTnLst>
                                    <p:audio>
                                      <p:cMediaNode>
                                        <p:cTn display="0" masterRel="sameClick">
                                          <p:stCondLst>
                                            <p:cond evt="begin" delay="0">
                                              <p:tn val="151"/>
                                            </p:cond>
                                          </p:stCondLst>
                                          <p:endCondLst>
                                            <p:cond evt="onStopAudio" delay="0">
                                              <p:tgtEl>
                                                <p:sldTgt/>
                                              </p:tgtEl>
                                            </p:cond>
                                          </p:endCondLst>
                                        </p:cTn>
                                        <p:tgtEl>
                                          <p:sndTgt r:embed="rId3" name="camera.wav"/>
                                        </p:tgtEl>
                                      </p:cMediaNode>
                                    </p:audio>
                                  </p:subTnLst>
                                </p:cTn>
                              </p:par>
                            </p:childTnLst>
                          </p:cTn>
                        </p:par>
                      </p:childTnLst>
                    </p:cTn>
                  </p:par>
                  <p:par>
                    <p:cTn id="154" fill="hold">
                      <p:stCondLst>
                        <p:cond delay="indefinite"/>
                      </p:stCondLst>
                      <p:childTnLst>
                        <p:par>
                          <p:cTn id="155" fill="hold">
                            <p:stCondLst>
                              <p:cond delay="0"/>
                            </p:stCondLst>
                            <p:childTnLst>
                              <p:par>
                                <p:cTn id="156" presetID="18" presetClass="entr" presetSubtype="12" fill="hold" nodeType="clickEffect">
                                  <p:stCondLst>
                                    <p:cond delay="0"/>
                                  </p:stCondLst>
                                  <p:childTnLst>
                                    <p:set>
                                      <p:cBhvr>
                                        <p:cTn id="157" dur="1" fill="hold">
                                          <p:stCondLst>
                                            <p:cond delay="0"/>
                                          </p:stCondLst>
                                        </p:cTn>
                                        <p:tgtEl>
                                          <p:spTgt spid="988199"/>
                                        </p:tgtEl>
                                        <p:attrNameLst>
                                          <p:attrName>style.visibility</p:attrName>
                                        </p:attrNameLst>
                                      </p:cBhvr>
                                      <p:to>
                                        <p:strVal val="visible"/>
                                      </p:to>
                                    </p:set>
                                    <p:animEffect transition="in" filter="strips(downLeft)">
                                      <p:cBhvr>
                                        <p:cTn id="158" dur="500"/>
                                        <p:tgtEl>
                                          <p:spTgt spid="988199"/>
                                        </p:tgtEl>
                                      </p:cBhvr>
                                    </p:animEffect>
                                  </p:childTnLst>
                                  <p:subTnLst>
                                    <p:audio>
                                      <p:cMediaNode>
                                        <p:cTn display="0" masterRel="sameClick">
                                          <p:stCondLst>
                                            <p:cond evt="begin" delay="0">
                                              <p:tn val="156"/>
                                            </p:cond>
                                          </p:stCondLst>
                                          <p:endCondLst>
                                            <p:cond evt="onStopAudio" delay="0">
                                              <p:tgtEl>
                                                <p:sldTgt/>
                                              </p:tgtEl>
                                            </p:cond>
                                          </p:endCondLst>
                                        </p:cTn>
                                        <p:tgtEl>
                                          <p:sndTgt r:embed="rId3" name="camera.wav"/>
                                        </p:tgtEl>
                                      </p:cMediaNode>
                                    </p:audio>
                                  </p:subTnLst>
                                </p:cTn>
                              </p:par>
                            </p:childTnLst>
                          </p:cTn>
                        </p:par>
                      </p:childTnLst>
                    </p:cTn>
                  </p:par>
                  <p:par>
                    <p:cTn id="159" fill="hold">
                      <p:stCondLst>
                        <p:cond delay="indefinite"/>
                      </p:stCondLst>
                      <p:childTnLst>
                        <p:par>
                          <p:cTn id="160" fill="hold">
                            <p:stCondLst>
                              <p:cond delay="0"/>
                            </p:stCondLst>
                            <p:childTnLst>
                              <p:par>
                                <p:cTn id="161" presetID="4" presetClass="entr" presetSubtype="32" fill="hold" grpId="0" nodeType="clickEffect">
                                  <p:stCondLst>
                                    <p:cond delay="0"/>
                                  </p:stCondLst>
                                  <p:childTnLst>
                                    <p:set>
                                      <p:cBhvr>
                                        <p:cTn id="162" dur="1" fill="hold">
                                          <p:stCondLst>
                                            <p:cond delay="0"/>
                                          </p:stCondLst>
                                        </p:cTn>
                                        <p:tgtEl>
                                          <p:spTgt spid="988203"/>
                                        </p:tgtEl>
                                        <p:attrNameLst>
                                          <p:attrName>style.visibility</p:attrName>
                                        </p:attrNameLst>
                                      </p:cBhvr>
                                      <p:to>
                                        <p:strVal val="visible"/>
                                      </p:to>
                                    </p:set>
                                    <p:animEffect transition="in" filter="box(out)">
                                      <p:cBhvr>
                                        <p:cTn id="163" dur="500"/>
                                        <p:tgtEl>
                                          <p:spTgt spid="988203"/>
                                        </p:tgtEl>
                                      </p:cBhvr>
                                    </p:animEffect>
                                  </p:childTnLst>
                                  <p:subTnLst>
                                    <p:audio>
                                      <p:cMediaNode>
                                        <p:cTn display="0" masterRel="sameClick">
                                          <p:stCondLst>
                                            <p:cond evt="begin" delay="0">
                                              <p:tn val="16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8165" grpId="0" build="p" autoUpdateAnimBg="0"/>
      <p:bldP spid="988172" grpId="0" build="p" autoUpdateAnimBg="0"/>
      <p:bldP spid="988173" grpId="0" animBg="1" autoUpdateAnimBg="0"/>
      <p:bldP spid="988174" grpId="0" animBg="1" autoUpdateAnimBg="0"/>
      <p:bldP spid="988175" grpId="0" build="p" autoUpdateAnimBg="0"/>
      <p:bldP spid="988176" grpId="0" build="p" autoUpdateAnimBg="0"/>
      <p:bldP spid="988177" grpId="0" animBg="1" autoUpdateAnimBg="0"/>
      <p:bldP spid="988178" grpId="0" animBg="1" autoUpdateAnimBg="0"/>
      <p:bldP spid="988180" grpId="0"/>
      <p:bldP spid="988186" grpId="0"/>
      <p:bldP spid="988192" grpId="0"/>
      <p:bldP spid="988198" grpId="0"/>
      <p:bldP spid="988203" grpId="0"/>
      <p:bldP spid="988249" grpId="0" animBg="1"/>
      <p:bldP spid="988250" grpId="0" animBg="1"/>
      <p:bldP spid="98825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BC1AA3D7-3721-444E-A3B7-27A11B4AD74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一维数组 </a:t>
            </a:r>
          </a:p>
        </p:txBody>
      </p:sp>
      <p:sp>
        <p:nvSpPr>
          <p:cNvPr id="989220" name="Text Box 36" descr="信纸"/>
          <p:cNvSpPr txBox="1">
            <a:spLocks noChangeArrowheads="1"/>
          </p:cNvSpPr>
          <p:nvPr/>
        </p:nvSpPr>
        <p:spPr bwMode="auto">
          <a:xfrm>
            <a:off x="1218332" y="116632"/>
            <a:ext cx="6256710" cy="6557822"/>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a:t>#include &lt;</a:t>
            </a:r>
            <a:r>
              <a:rPr lang="en-US" altLang="zh-CN" sz="2000" b="1" dirty="0" err="1"/>
              <a:t>stdio.h</a:t>
            </a:r>
            <a:r>
              <a:rPr lang="en-US" altLang="zh-CN" sz="2000" b="1" dirty="0"/>
              <a:t>&gt;</a:t>
            </a:r>
          </a:p>
          <a:p>
            <a:r>
              <a:rPr lang="en-US" altLang="zh-CN" sz="2000" b="1" dirty="0" err="1">
                <a:solidFill>
                  <a:srgbClr val="CC3300"/>
                </a:solidFill>
              </a:rPr>
              <a:t>int</a:t>
            </a:r>
            <a:r>
              <a:rPr lang="en-US" altLang="zh-CN" sz="2000" b="1" dirty="0">
                <a:solidFill>
                  <a:srgbClr val="CC3300"/>
                </a:solidFill>
              </a:rPr>
              <a:t> main( )</a:t>
            </a:r>
          </a:p>
          <a:p>
            <a:r>
              <a:rPr lang="en-US" altLang="zh-CN" sz="2000" b="1" dirty="0"/>
              <a:t>{   </a:t>
            </a:r>
          </a:p>
          <a:p>
            <a:r>
              <a:rPr lang="en-US" altLang="zh-CN" sz="2000" b="1" dirty="0"/>
              <a:t>    int  a[10], </a:t>
            </a:r>
            <a:r>
              <a:rPr lang="en-US" altLang="zh-CN" sz="2000" b="1" dirty="0" err="1"/>
              <a:t>i</a:t>
            </a:r>
            <a:r>
              <a:rPr lang="en-US" altLang="zh-CN" sz="2000" b="1" dirty="0"/>
              <a:t>, j, k, x;</a:t>
            </a:r>
          </a:p>
          <a:p>
            <a:r>
              <a:rPr lang="en-US" altLang="zh-CN" sz="2000" b="1" dirty="0"/>
              <a:t>    </a:t>
            </a:r>
            <a:r>
              <a:rPr lang="en-US" altLang="zh-CN" sz="2000" b="1" dirty="0" err="1"/>
              <a:t>printf</a:t>
            </a:r>
            <a:r>
              <a:rPr lang="en-US" altLang="zh-CN" sz="2000" b="1" dirty="0"/>
              <a:t> ("Input 10 numbers: \n");</a:t>
            </a:r>
          </a:p>
          <a:p>
            <a:r>
              <a:rPr lang="en-US" altLang="zh-CN" sz="2000" b="1" dirty="0"/>
              <a:t>    for (</a:t>
            </a:r>
            <a:r>
              <a:rPr lang="en-US" altLang="zh-CN" sz="2000" b="1" dirty="0" err="1"/>
              <a:t>i</a:t>
            </a:r>
            <a:r>
              <a:rPr lang="en-US" altLang="zh-CN" sz="2000" b="1" dirty="0"/>
              <a:t> = 0; </a:t>
            </a:r>
            <a:r>
              <a:rPr lang="en-US" altLang="zh-CN" sz="2000" b="1" dirty="0" err="1"/>
              <a:t>i</a:t>
            </a:r>
            <a:r>
              <a:rPr lang="en-US" altLang="zh-CN" sz="2000" b="1" dirty="0"/>
              <a:t> &lt; 10; </a:t>
            </a:r>
            <a:r>
              <a:rPr lang="en-US" altLang="zh-CN" sz="2000" b="1" dirty="0" err="1"/>
              <a:t>i</a:t>
            </a:r>
            <a:r>
              <a:rPr lang="en-US" altLang="zh-CN" sz="2000" b="1" dirty="0"/>
              <a:t>++)</a:t>
            </a:r>
          </a:p>
          <a:p>
            <a:r>
              <a:rPr lang="en-US" altLang="zh-CN" sz="2000" b="1" dirty="0"/>
              <a:t>        </a:t>
            </a:r>
            <a:r>
              <a:rPr lang="en-US" altLang="zh-CN" sz="2000" b="1" dirty="0" err="1"/>
              <a:t>scanf</a:t>
            </a:r>
            <a:r>
              <a:rPr lang="en-US" altLang="zh-CN" sz="2000" b="1" dirty="0"/>
              <a:t> ("%d", &amp;a[</a:t>
            </a:r>
            <a:r>
              <a:rPr lang="en-US" altLang="zh-CN" sz="2000" b="1" dirty="0" err="1"/>
              <a:t>i</a:t>
            </a:r>
            <a:r>
              <a:rPr lang="en-US" altLang="zh-CN" sz="2000" b="1" dirty="0"/>
              <a:t>]);</a:t>
            </a:r>
          </a:p>
          <a:p>
            <a:r>
              <a:rPr lang="en-US" altLang="zh-CN" sz="2000" b="1" dirty="0"/>
              <a:t>    </a:t>
            </a:r>
            <a:r>
              <a:rPr lang="en-US" altLang="zh-CN" sz="2000" b="1" dirty="0" err="1"/>
              <a:t>printf</a:t>
            </a:r>
            <a:r>
              <a:rPr lang="en-US" altLang="zh-CN" sz="2000" b="1" dirty="0"/>
              <a:t> ("\n");</a:t>
            </a:r>
          </a:p>
          <a:p>
            <a:r>
              <a:rPr lang="en-US" altLang="zh-CN" sz="2000" b="1" dirty="0"/>
              <a:t>    for (</a:t>
            </a:r>
            <a:r>
              <a:rPr lang="en-US" altLang="zh-CN" sz="2000" b="1" dirty="0" err="1"/>
              <a:t>i</a:t>
            </a:r>
            <a:r>
              <a:rPr lang="en-US" altLang="zh-CN" sz="2000" b="1" dirty="0"/>
              <a:t> = 0; </a:t>
            </a:r>
            <a:r>
              <a:rPr lang="en-US" altLang="zh-CN" sz="2000" b="1" dirty="0" err="1"/>
              <a:t>i</a:t>
            </a:r>
            <a:r>
              <a:rPr lang="en-US" altLang="zh-CN" sz="2000" b="1" dirty="0"/>
              <a:t> &lt; 9; </a:t>
            </a:r>
            <a:r>
              <a:rPr lang="en-US" altLang="zh-CN" sz="2000" b="1" dirty="0" err="1"/>
              <a:t>i</a:t>
            </a:r>
            <a:r>
              <a:rPr lang="en-US" altLang="zh-CN" sz="2000" b="1" dirty="0"/>
              <a:t>++)</a:t>
            </a:r>
          </a:p>
          <a:p>
            <a:r>
              <a:rPr lang="en-US" altLang="zh-CN" sz="2000" b="1" dirty="0"/>
              <a:t>    { </a:t>
            </a:r>
          </a:p>
          <a:p>
            <a:r>
              <a:rPr lang="en-US" altLang="zh-CN" sz="2000" b="1" dirty="0"/>
              <a:t>       k = </a:t>
            </a:r>
            <a:r>
              <a:rPr lang="en-US" altLang="zh-CN" sz="2000" b="1" dirty="0" err="1"/>
              <a:t>i</a:t>
            </a:r>
            <a:r>
              <a:rPr lang="en-US" altLang="zh-CN" sz="2000" b="1" dirty="0"/>
              <a:t>;</a:t>
            </a:r>
          </a:p>
          <a:p>
            <a:r>
              <a:rPr lang="en-US" altLang="zh-CN" sz="2000" b="1" dirty="0"/>
              <a:t>       for (j = i+1; j &lt; 10; j++)</a:t>
            </a:r>
          </a:p>
          <a:p>
            <a:r>
              <a:rPr lang="en-US" altLang="zh-CN" sz="2000" b="1" dirty="0"/>
              <a:t>            if (a[j] &lt; a[k])  k = j;</a:t>
            </a:r>
          </a:p>
          <a:p>
            <a:r>
              <a:rPr lang="en-US" altLang="zh-CN" sz="2000" b="1" dirty="0"/>
              <a:t>      if (k != </a:t>
            </a:r>
            <a:r>
              <a:rPr lang="en-US" altLang="zh-CN" sz="2000" b="1" dirty="0" err="1"/>
              <a:t>i</a:t>
            </a:r>
            <a:r>
              <a:rPr lang="en-US" altLang="zh-CN" sz="2000" b="1" dirty="0"/>
              <a:t>)</a:t>
            </a:r>
          </a:p>
          <a:p>
            <a:r>
              <a:rPr lang="en-US" altLang="zh-CN" sz="2000" b="1" dirty="0"/>
              <a:t>      {  x = a[</a:t>
            </a:r>
            <a:r>
              <a:rPr lang="en-US" altLang="zh-CN" sz="2000" b="1" dirty="0" err="1"/>
              <a:t>i</a:t>
            </a:r>
            <a:r>
              <a:rPr lang="en-US" altLang="zh-CN" sz="2000" b="1" dirty="0"/>
              <a:t>]; a[</a:t>
            </a:r>
            <a:r>
              <a:rPr lang="en-US" altLang="zh-CN" sz="2000" b="1" dirty="0" err="1"/>
              <a:t>i</a:t>
            </a:r>
            <a:r>
              <a:rPr lang="en-US" altLang="zh-CN" sz="2000" b="1" dirty="0"/>
              <a:t>] = a[k]; a[k] = x; }</a:t>
            </a:r>
          </a:p>
          <a:p>
            <a:r>
              <a:rPr lang="en-US" altLang="zh-CN" sz="2000" b="1" dirty="0"/>
              <a:t>    }</a:t>
            </a:r>
          </a:p>
          <a:p>
            <a:r>
              <a:rPr lang="en-US" altLang="zh-CN" sz="2000" b="1" dirty="0"/>
              <a:t>    </a:t>
            </a:r>
            <a:r>
              <a:rPr lang="en-US" altLang="zh-CN" sz="2000" b="1" dirty="0" err="1"/>
              <a:t>printf</a:t>
            </a:r>
            <a:r>
              <a:rPr lang="en-US" altLang="zh-CN" sz="2000" b="1" dirty="0"/>
              <a:t>("The sorted numbers:\n");</a:t>
            </a:r>
          </a:p>
          <a:p>
            <a:r>
              <a:rPr lang="en-US" altLang="zh-CN" sz="2000" b="1" dirty="0"/>
              <a:t>    for (</a:t>
            </a:r>
            <a:r>
              <a:rPr lang="en-US" altLang="zh-CN" sz="2000" b="1" dirty="0" err="1"/>
              <a:t>i</a:t>
            </a:r>
            <a:r>
              <a:rPr lang="en-US" altLang="zh-CN" sz="2000" b="1" dirty="0"/>
              <a:t> = 0; </a:t>
            </a:r>
            <a:r>
              <a:rPr lang="en-US" altLang="zh-CN" sz="2000" b="1" dirty="0" err="1"/>
              <a:t>i</a:t>
            </a:r>
            <a:r>
              <a:rPr lang="en-US" altLang="zh-CN" sz="2000" b="1" dirty="0"/>
              <a:t> &lt; 10; </a:t>
            </a:r>
            <a:r>
              <a:rPr lang="en-US" altLang="zh-CN" sz="2000" b="1" dirty="0" err="1"/>
              <a:t>i</a:t>
            </a:r>
            <a:r>
              <a:rPr lang="en-US" altLang="zh-CN" sz="2000" b="1" dirty="0"/>
              <a:t>++)</a:t>
            </a:r>
          </a:p>
          <a:p>
            <a:r>
              <a:rPr lang="en-US" altLang="zh-CN" sz="2000" b="1" dirty="0"/>
              <a:t>        </a:t>
            </a:r>
            <a:r>
              <a:rPr lang="en-US" altLang="zh-CN" sz="2000" b="1" dirty="0" err="1"/>
              <a:t>printf</a:t>
            </a:r>
            <a:r>
              <a:rPr lang="en-US" altLang="zh-CN" sz="2000" b="1" dirty="0"/>
              <a:t> ("%d ", a[</a:t>
            </a:r>
            <a:r>
              <a:rPr lang="en-US" altLang="zh-CN" sz="2000" b="1" dirty="0" err="1"/>
              <a:t>i</a:t>
            </a:r>
            <a:r>
              <a:rPr lang="en-US" altLang="zh-CN" sz="2000" b="1" dirty="0"/>
              <a:t>]);</a:t>
            </a:r>
          </a:p>
          <a:p>
            <a:r>
              <a:rPr lang="en-US" altLang="zh-CN" sz="2000" b="1" dirty="0"/>
              <a:t>    return 0;</a:t>
            </a:r>
          </a:p>
          <a:p>
            <a:r>
              <a:rPr lang="en-US" altLang="zh-CN" sz="2000" b="1" dirty="0"/>
              <a:t>}</a:t>
            </a:r>
          </a:p>
        </p:txBody>
      </p:sp>
      <p:sp>
        <p:nvSpPr>
          <p:cNvPr id="39" name="Text Box 31"/>
          <p:cNvSpPr txBox="1">
            <a:spLocks noChangeArrowheads="1"/>
          </p:cNvSpPr>
          <p:nvPr/>
        </p:nvSpPr>
        <p:spPr bwMode="auto">
          <a:xfrm>
            <a:off x="7845314" y="5024168"/>
            <a:ext cx="3435262" cy="163339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01920"/>
                </a:solidFill>
                <a:ea typeface="隶书" pitchFamily="49" charset="-122"/>
              </a:rPr>
              <a:t>运行结果：</a:t>
            </a:r>
          </a:p>
          <a:p>
            <a:r>
              <a:rPr lang="en-US" altLang="zh-CN" sz="2000" b="1" dirty="0"/>
              <a:t>input 10 numbers:</a:t>
            </a:r>
          </a:p>
          <a:p>
            <a:r>
              <a:rPr lang="en-US" altLang="zh-CN" sz="2000" b="1" dirty="0"/>
              <a:t>10 1 2 7 6 8 9 3 4 5</a:t>
            </a:r>
            <a:r>
              <a:rPr lang="en-US" altLang="zh-CN" sz="2000" b="1" dirty="0">
                <a:latin typeface="+mn-ea"/>
                <a:ea typeface="+mn-ea"/>
              </a:rPr>
              <a:t>↙</a:t>
            </a:r>
          </a:p>
          <a:p>
            <a:r>
              <a:rPr lang="en-US" altLang="zh-CN" sz="2000" b="1" dirty="0">
                <a:solidFill>
                  <a:srgbClr val="002060"/>
                </a:solidFill>
              </a:rPr>
              <a:t>the sorted numbers:</a:t>
            </a:r>
          </a:p>
          <a:p>
            <a:r>
              <a:rPr lang="en-US" altLang="zh-CN" sz="2000" b="1" dirty="0">
                <a:solidFill>
                  <a:srgbClr val="002060"/>
                </a:solidFill>
              </a:rPr>
              <a:t>1 2 3 4 5 6 7 8 9 10</a:t>
            </a:r>
          </a:p>
        </p:txBody>
      </p:sp>
      <p:sp>
        <p:nvSpPr>
          <p:cNvPr id="40" name="TextBox 39"/>
          <p:cNvSpPr txBox="1"/>
          <p:nvPr/>
        </p:nvSpPr>
        <p:spPr>
          <a:xfrm>
            <a:off x="5032980" y="395568"/>
            <a:ext cx="2143140" cy="461665"/>
          </a:xfrm>
          <a:prstGeom prst="rect">
            <a:avLst/>
          </a:prstGeom>
          <a:solidFill>
            <a:schemeClr val="bg1"/>
          </a:solidFill>
          <a:ln>
            <a:solidFill>
              <a:srgbClr val="C01920"/>
            </a:solidFill>
          </a:ln>
          <a:effectLst>
            <a:outerShdw blurRad="50800" dist="38100" dir="2700000" algn="tl" rotWithShape="0">
              <a:prstClr val="black">
                <a:alpha val="40000"/>
              </a:prstClr>
            </a:outerShdw>
          </a:effectLst>
          <a:scene3d>
            <a:camera prst="orthographicFront"/>
            <a:lightRig rig="threePt" dir="t"/>
          </a:scene3d>
          <a:sp3d>
            <a:bevelT w="114300" prst="hardEdge"/>
          </a:sp3d>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ln w="1905"/>
                <a:solidFill>
                  <a:srgbClr val="C01920"/>
                </a:solidFill>
                <a:latin typeface="隶书" pitchFamily="49" charset="-122"/>
                <a:ea typeface="隶书" pitchFamily="49" charset="-122"/>
              </a:rPr>
              <a:t>选择排序算法</a:t>
            </a:r>
          </a:p>
        </p:txBody>
      </p:sp>
    </p:spTree>
    <p:extLst>
      <p:ext uri="{BB962C8B-B14F-4D97-AF65-F5344CB8AC3E}">
        <p14:creationId xmlns:p14="http://schemas.microsoft.com/office/powerpoint/2010/main" val="2600449145"/>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89220"/>
                                        </p:tgtEl>
                                        <p:attrNameLst>
                                          <p:attrName>style.visibility</p:attrName>
                                        </p:attrNameLst>
                                      </p:cBhvr>
                                      <p:to>
                                        <p:strVal val="visible"/>
                                      </p:to>
                                    </p:set>
                                    <p:animEffect transition="in" filter="box(out)">
                                      <p:cBhvr>
                                        <p:cTn id="7" dur="500"/>
                                        <p:tgtEl>
                                          <p:spTgt spid="98922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box(in)">
                                      <p:cBhvr>
                                        <p:cTn id="11" dur="500"/>
                                        <p:tgtEl>
                                          <p:spTgt spid="40"/>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box(out)">
                                      <p:cBhvr>
                                        <p:cTn id="16" dur="500"/>
                                        <p:tgtEl>
                                          <p:spTgt spid="39"/>
                                        </p:tgtEl>
                                      </p:cBhvr>
                                    </p:animEffect>
                                  </p:childTnLst>
                                  <p:subTnLst>
                                    <p:audio>
                                      <p:cMediaNode>
                                        <p:cTn display="0" masterRel="sameClick">
                                          <p:stCondLst>
                                            <p:cond evt="begin" delay="0">
                                              <p:tn val="1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220" grpId="0" animBg="1" autoUpdateAnimBg="0"/>
      <p:bldP spid="39" grpId="0" animBg="1"/>
      <p:bldP spid="4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82" name="Rectangle 2"/>
          <p:cNvSpPr>
            <a:spLocks noChangeArrowheads="1"/>
          </p:cNvSpPr>
          <p:nvPr/>
        </p:nvSpPr>
        <p:spPr bwMode="auto">
          <a:xfrm>
            <a:off x="1218903" y="1404254"/>
            <a:ext cx="2224782" cy="485468"/>
          </a:xfrm>
          <a:prstGeom prst="rect">
            <a:avLst/>
          </a:prstGeom>
          <a:noFill/>
          <a:ln w="9525">
            <a:noFill/>
            <a:miter lim="800000"/>
            <a:headEnd/>
            <a:tailEnd/>
          </a:ln>
        </p:spPr>
        <p:txBody>
          <a:bodyPr/>
          <a:lstStyle/>
          <a:p>
            <a:pPr marL="342900" indent="-342900" eaLnBrk="0" hangingPunct="0">
              <a:buFont typeface="Wingdings" panose="05000000000000000000" pitchFamily="2" charset="2"/>
              <a:buChar char="Ø"/>
            </a:pPr>
            <a:r>
              <a:rPr lang="zh-CN" altLang="en-US" b="1" dirty="0">
                <a:solidFill>
                  <a:srgbClr val="00B0F0"/>
                </a:solidFill>
                <a:latin typeface="楷体" panose="02010609060101010101" pitchFamily="49" charset="-122"/>
                <a:ea typeface="楷体" panose="02010609060101010101" pitchFamily="49" charset="-122"/>
              </a:rPr>
              <a:t>定义方式：　</a:t>
            </a:r>
          </a:p>
        </p:txBody>
      </p:sp>
      <p:sp>
        <p:nvSpPr>
          <p:cNvPr id="993283" name="Rectangle 3"/>
          <p:cNvSpPr>
            <a:spLocks noChangeArrowheads="1"/>
          </p:cNvSpPr>
          <p:nvPr/>
        </p:nvSpPr>
        <p:spPr bwMode="auto">
          <a:xfrm>
            <a:off x="376870" y="2747965"/>
            <a:ext cx="8382000" cy="1600200"/>
          </a:xfrm>
          <a:prstGeom prst="rect">
            <a:avLst/>
          </a:prstGeom>
          <a:noFill/>
          <a:ln w="9525">
            <a:noFill/>
            <a:miter lim="800000"/>
            <a:headEnd/>
            <a:tailEnd/>
          </a:ln>
        </p:spPr>
        <p:txBody>
          <a:bodyPr/>
          <a:lstStyle/>
          <a:p>
            <a:pPr lvl="2" eaLnBrk="0" hangingPunct="0">
              <a:buClr>
                <a:srgbClr val="C01920"/>
              </a:buClr>
              <a:buFont typeface="Wingdings" pitchFamily="2" charset="2"/>
              <a:buChar char="Ø"/>
            </a:pPr>
            <a:r>
              <a:rPr lang="zh-CN" altLang="en-US" b="1" dirty="0">
                <a:solidFill>
                  <a:srgbClr val="C01920"/>
                </a:solidFill>
                <a:latin typeface="楷体" panose="02010609060101010101" pitchFamily="49" charset="-122"/>
                <a:ea typeface="楷体" panose="02010609060101010101" pitchFamily="49" charset="-122"/>
              </a:rPr>
              <a:t> 数组元素的存放顺序</a:t>
            </a:r>
          </a:p>
          <a:p>
            <a:pPr lvl="3" eaLnBrk="0" hangingPunct="0">
              <a:buClr>
                <a:srgbClr val="C00000"/>
              </a:buClr>
              <a:buFont typeface="Wingdings" pitchFamily="2" charset="2"/>
              <a:buChar char="l"/>
            </a:pPr>
            <a:r>
              <a:rPr lang="zh-CN" altLang="zh-CN" b="1" dirty="0">
                <a:effectLst>
                  <a:outerShdw blurRad="38100" dist="38100" dir="2700000" algn="tl">
                    <a:srgbClr val="FFFFFF"/>
                  </a:outerShdw>
                </a:effectLst>
                <a:latin typeface="隶书" pitchFamily="49" charset="-122"/>
                <a:ea typeface="隶书" pitchFamily="49" charset="-122"/>
              </a:rPr>
              <a:t>原因</a:t>
            </a:r>
            <a:r>
              <a:rPr lang="zh-CN" altLang="en-US" b="1" dirty="0">
                <a:effectLst>
                  <a:outerShdw blurRad="38100" dist="38100" dir="2700000" algn="tl">
                    <a:srgbClr val="FFFFFF"/>
                  </a:outerShdw>
                </a:effectLst>
                <a:latin typeface="隶书" pitchFamily="49" charset="-122"/>
                <a:ea typeface="隶书" pitchFamily="49" charset="-122"/>
              </a:rPr>
              <a:t>：</a:t>
            </a:r>
            <a:r>
              <a:rPr lang="zh-CN" altLang="zh-CN" b="1" dirty="0">
                <a:effectLst>
                  <a:outerShdw blurRad="38100" dist="38100" dir="2700000" algn="tl">
                    <a:srgbClr val="FFFFFF"/>
                  </a:outerShdw>
                </a:effectLst>
                <a:latin typeface="隶书" pitchFamily="49" charset="-122"/>
                <a:ea typeface="隶书" pitchFamily="49" charset="-122"/>
              </a:rPr>
              <a:t>内存是一维的</a:t>
            </a:r>
          </a:p>
          <a:p>
            <a:pPr lvl="3" eaLnBrk="0" hangingPunct="0">
              <a:buClr>
                <a:srgbClr val="C00000"/>
              </a:buClr>
              <a:buFont typeface="Wingdings" pitchFamily="2" charset="2"/>
              <a:buChar char="l"/>
            </a:pPr>
            <a:r>
              <a:rPr lang="zh-CN" altLang="zh-CN" b="1" dirty="0">
                <a:effectLst>
                  <a:outerShdw blurRad="38100" dist="38100" dir="2700000" algn="tl">
                    <a:srgbClr val="FFFFFF"/>
                  </a:outerShdw>
                </a:effectLst>
                <a:latin typeface="隶书" pitchFamily="49" charset="-122"/>
                <a:ea typeface="隶书" pitchFamily="49" charset="-122"/>
              </a:rPr>
              <a:t>二维数组</a:t>
            </a:r>
            <a:r>
              <a:rPr lang="zh-CN" altLang="en-US" b="1" dirty="0">
                <a:effectLst>
                  <a:outerShdw blurRad="38100" dist="38100" dir="2700000" algn="tl">
                    <a:srgbClr val="FFFFFF"/>
                  </a:outerShdw>
                </a:effectLst>
                <a:latin typeface="隶书" pitchFamily="49" charset="-122"/>
                <a:ea typeface="隶书" pitchFamily="49" charset="-122"/>
              </a:rPr>
              <a:t>：</a:t>
            </a:r>
            <a:r>
              <a:rPr lang="zh-CN" altLang="zh-CN" b="1" dirty="0">
                <a:effectLst>
                  <a:outerShdw blurRad="38100" dist="38100" dir="2700000" algn="tl">
                    <a:srgbClr val="FFFFFF"/>
                  </a:outerShdw>
                </a:effectLst>
                <a:latin typeface="隶书" pitchFamily="49" charset="-122"/>
                <a:ea typeface="隶书" pitchFamily="49" charset="-122"/>
              </a:rPr>
              <a:t>按行序优先</a:t>
            </a:r>
          </a:p>
          <a:p>
            <a:pPr lvl="3" eaLnBrk="0" hangingPunct="0">
              <a:buClr>
                <a:srgbClr val="C00000"/>
              </a:buClr>
              <a:buFont typeface="Wingdings" pitchFamily="2" charset="2"/>
              <a:buChar char="l"/>
            </a:pPr>
            <a:r>
              <a:rPr lang="zh-CN" altLang="zh-CN" b="1" dirty="0">
                <a:effectLst>
                  <a:outerShdw blurRad="38100" dist="38100" dir="2700000" algn="tl">
                    <a:srgbClr val="FFFFFF"/>
                  </a:outerShdw>
                </a:effectLst>
                <a:latin typeface="隶书" pitchFamily="49" charset="-122"/>
                <a:ea typeface="隶书" pitchFamily="49" charset="-122"/>
              </a:rPr>
              <a:t>多维数组</a:t>
            </a:r>
            <a:r>
              <a:rPr lang="zh-CN" altLang="en-US" b="1" dirty="0">
                <a:effectLst>
                  <a:outerShdw blurRad="38100" dist="38100" dir="2700000" algn="tl">
                    <a:srgbClr val="FFFFFF"/>
                  </a:outerShdw>
                </a:effectLst>
                <a:latin typeface="隶书" pitchFamily="49" charset="-122"/>
                <a:ea typeface="隶书" pitchFamily="49" charset="-122"/>
              </a:rPr>
              <a:t>：</a:t>
            </a:r>
            <a:r>
              <a:rPr lang="zh-CN" altLang="zh-CN" b="1" dirty="0">
                <a:effectLst>
                  <a:outerShdw blurRad="38100" dist="38100" dir="2700000" algn="tl">
                    <a:srgbClr val="FFFFFF"/>
                  </a:outerShdw>
                </a:effectLst>
                <a:latin typeface="隶书" pitchFamily="49" charset="-122"/>
                <a:ea typeface="隶书" pitchFamily="49" charset="-122"/>
              </a:rPr>
              <a:t>最右下标变化最快</a:t>
            </a:r>
            <a:endParaRPr lang="zh-CN" altLang="en-US" b="1" dirty="0">
              <a:effectLst>
                <a:outerShdw blurRad="38100" dist="38100" dir="2700000" algn="tl">
                  <a:srgbClr val="FFFFFF"/>
                </a:outerShdw>
              </a:effectLst>
              <a:latin typeface="隶书" pitchFamily="49" charset="-122"/>
              <a:ea typeface="隶书" pitchFamily="49" charset="-122"/>
            </a:endParaRPr>
          </a:p>
        </p:txBody>
      </p:sp>
      <p:sp>
        <p:nvSpPr>
          <p:cNvPr id="993284" name="Text Box 4"/>
          <p:cNvSpPr txBox="1">
            <a:spLocks noChangeArrowheads="1"/>
          </p:cNvSpPr>
          <p:nvPr/>
        </p:nvSpPr>
        <p:spPr bwMode="auto">
          <a:xfrm>
            <a:off x="1994768" y="3018306"/>
            <a:ext cx="181822" cy="402291"/>
          </a:xfrm>
          <a:prstGeom prst="rect">
            <a:avLst/>
          </a:prstGeom>
          <a:noFill/>
          <a:ln w="38100">
            <a:noFill/>
            <a:miter lim="800000"/>
            <a:headEnd/>
            <a:tailEnd/>
          </a:ln>
          <a:effectLst/>
        </p:spPr>
        <p:txBody>
          <a:bodyPr wrap="none" lIns="90000" tIns="46800" rIns="90000" bIns="46800" anchor="ctr">
            <a:spAutoFit/>
          </a:bodyPr>
          <a:lstStyle/>
          <a:p>
            <a:pPr algn="ctr"/>
            <a:endParaRPr lang="zh-CN" altLang="zh-CN" sz="2000"/>
          </a:p>
        </p:txBody>
      </p:sp>
      <p:sp>
        <p:nvSpPr>
          <p:cNvPr id="993285" name="Text Box 5" descr="信纸"/>
          <p:cNvSpPr txBox="1">
            <a:spLocks noChangeArrowheads="1"/>
          </p:cNvSpPr>
          <p:nvPr/>
        </p:nvSpPr>
        <p:spPr bwMode="auto">
          <a:xfrm>
            <a:off x="5249033" y="2404415"/>
            <a:ext cx="4261576" cy="157184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buClr>
                <a:schemeClr val="accent2"/>
              </a:buClr>
              <a:buFont typeface="Wingdings" pitchFamily="2" charset="2"/>
              <a:buNone/>
            </a:pPr>
            <a:r>
              <a:rPr lang="zh-CN" altLang="en-US" b="1" dirty="0">
                <a:solidFill>
                  <a:srgbClr val="C01920"/>
                </a:solidFill>
                <a:ea typeface="隶书" pitchFamily="49" charset="-122"/>
              </a:rPr>
              <a:t>例 </a:t>
            </a:r>
            <a:r>
              <a:rPr lang="zh-CN" altLang="en-US" b="1" dirty="0">
                <a:ea typeface="隶书" pitchFamily="49" charset="-122"/>
              </a:rPr>
              <a:t> </a:t>
            </a:r>
            <a:r>
              <a:rPr lang="en-US" altLang="zh-CN" b="1" dirty="0">
                <a:ea typeface="隶书" pitchFamily="49" charset="-122"/>
              </a:rPr>
              <a:t>int a[3][4];  </a:t>
            </a:r>
          </a:p>
          <a:p>
            <a:pPr eaLnBrk="0" hangingPunct="0">
              <a:buClr>
                <a:schemeClr val="accent2"/>
              </a:buClr>
              <a:buFont typeface="Wingdings" pitchFamily="2" charset="2"/>
              <a:buNone/>
            </a:pPr>
            <a:r>
              <a:rPr lang="en-US" altLang="zh-CN" b="1" dirty="0">
                <a:ea typeface="隶书" pitchFamily="49" charset="-122"/>
              </a:rPr>
              <a:t>      float b[2][5];</a:t>
            </a:r>
          </a:p>
          <a:p>
            <a:pPr eaLnBrk="0" hangingPunct="0">
              <a:buClr>
                <a:schemeClr val="accent2"/>
              </a:buClr>
              <a:buFont typeface="Wingdings" pitchFamily="2" charset="2"/>
              <a:buNone/>
            </a:pPr>
            <a:r>
              <a:rPr lang="en-US" altLang="zh-CN" b="1" dirty="0">
                <a:ea typeface="隶书" pitchFamily="49" charset="-122"/>
              </a:rPr>
              <a:t>      </a:t>
            </a:r>
            <a:r>
              <a:rPr lang="en-US" altLang="zh-CN" b="1" dirty="0" err="1">
                <a:ea typeface="隶书" pitchFamily="49" charset="-122"/>
              </a:rPr>
              <a:t>int</a:t>
            </a:r>
            <a:r>
              <a:rPr lang="en-US" altLang="zh-CN" b="1" dirty="0">
                <a:ea typeface="隶书" pitchFamily="49" charset="-122"/>
              </a:rPr>
              <a:t> c[2][3][4];</a:t>
            </a:r>
          </a:p>
          <a:p>
            <a:pPr eaLnBrk="0" hangingPunct="0">
              <a:buClr>
                <a:schemeClr val="accent2"/>
              </a:buClr>
              <a:buFont typeface="Wingdings" pitchFamily="2" charset="2"/>
              <a:buNone/>
            </a:pPr>
            <a:r>
              <a:rPr lang="en-US" altLang="zh-CN" dirty="0">
                <a:solidFill>
                  <a:srgbClr val="C01920"/>
                </a:solidFill>
                <a:ea typeface="隶书" pitchFamily="49" charset="-122"/>
              </a:rPr>
              <a:t>      </a:t>
            </a:r>
            <a:r>
              <a:rPr lang="en-US" altLang="zh-CN" b="1" dirty="0">
                <a:solidFill>
                  <a:srgbClr val="C01920"/>
                </a:solidFill>
                <a:ea typeface="隶书" pitchFamily="49" charset="-122"/>
              </a:rPr>
              <a:t>int a[3,4];        </a:t>
            </a:r>
            <a:r>
              <a:rPr lang="en-US" altLang="zh-CN" b="1" dirty="0">
                <a:ea typeface="隶书" pitchFamily="49" charset="-122"/>
              </a:rPr>
              <a:t>(</a:t>
            </a:r>
            <a:r>
              <a:rPr lang="en-US" altLang="zh-CN" b="1" dirty="0">
                <a:solidFill>
                  <a:srgbClr val="C01920"/>
                </a:solidFill>
                <a:ea typeface="隶书" pitchFamily="49" charset="-122"/>
                <a:sym typeface="Symbol" pitchFamily="18" charset="2"/>
              </a:rPr>
              <a:t></a:t>
            </a:r>
            <a:r>
              <a:rPr lang="en-US" altLang="zh-CN" b="1" dirty="0">
                <a:ea typeface="隶书" pitchFamily="49" charset="-122"/>
                <a:sym typeface="Symbol" pitchFamily="18" charset="2"/>
              </a:rPr>
              <a:t>)</a:t>
            </a:r>
          </a:p>
        </p:txBody>
      </p:sp>
      <p:sp>
        <p:nvSpPr>
          <p:cNvPr id="993371" name="Rectangle 91"/>
          <p:cNvSpPr>
            <a:spLocks noChangeArrowheads="1"/>
          </p:cNvSpPr>
          <p:nvPr/>
        </p:nvSpPr>
        <p:spPr bwMode="auto">
          <a:xfrm>
            <a:off x="942678" y="4133850"/>
            <a:ext cx="552450" cy="704850"/>
          </a:xfrm>
          <a:prstGeom prst="rect">
            <a:avLst/>
          </a:prstGeom>
          <a:noFill/>
          <a:ln w="9525">
            <a:noFill/>
            <a:miter lim="800000"/>
            <a:headEnd/>
            <a:tailEnd/>
          </a:ln>
          <a:effectLst/>
        </p:spPr>
        <p:txBody>
          <a:bodyPr wrap="none" anchor="ctr"/>
          <a:lstStyle/>
          <a:p>
            <a:endParaRPr lang="zh-CN" altLang="en-US"/>
          </a:p>
        </p:txBody>
      </p:sp>
      <p:sp>
        <p:nvSpPr>
          <p:cNvPr id="95" name="矩形 94"/>
          <p:cNvSpPr/>
          <p:nvPr/>
        </p:nvSpPr>
        <p:spPr>
          <a:xfrm>
            <a:off x="2004955" y="1924918"/>
            <a:ext cx="7490885" cy="369332"/>
          </a:xfrm>
          <a:prstGeom prst="rect">
            <a:avLst/>
          </a:prstGeom>
          <a:gradFill flip="none" rotWithShape="1">
            <a:gsLst>
              <a:gs pos="0">
                <a:srgbClr val="CFCFD1"/>
              </a:gs>
              <a:gs pos="100000">
                <a:schemeClr val="bg1">
                  <a:lumMod val="95000"/>
                </a:schemeClr>
              </a:gs>
            </a:gsLst>
            <a:lin ang="16200000" scaled="1"/>
            <a:tileRect/>
          </a:gradFill>
          <a:ln w="38100">
            <a:solidFill>
              <a:srgbClr val="C01920"/>
            </a:solidFill>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r>
              <a:rPr lang="zh-CN" altLang="en-US" b="1" dirty="0">
                <a:solidFill>
                  <a:srgbClr val="00B0F0"/>
                </a:solidFill>
                <a:ea typeface="隶书" pitchFamily="49" charset="-122"/>
              </a:rPr>
              <a:t>数据类型　数组名</a:t>
            </a:r>
            <a:r>
              <a:rPr lang="en-US" altLang="zh-CN" b="1" dirty="0">
                <a:solidFill>
                  <a:srgbClr val="00B0F0"/>
                </a:solidFill>
                <a:ea typeface="隶书" pitchFamily="49" charset="-122"/>
              </a:rPr>
              <a:t>[</a:t>
            </a:r>
            <a:r>
              <a:rPr lang="zh-CN" altLang="en-US" b="1" dirty="0">
                <a:solidFill>
                  <a:srgbClr val="00B0F0"/>
                </a:solidFill>
                <a:ea typeface="隶书" pitchFamily="49" charset="-122"/>
              </a:rPr>
              <a:t>常量表达式</a:t>
            </a:r>
            <a:r>
              <a:rPr lang="en-US" altLang="zh-CN" b="1" dirty="0">
                <a:solidFill>
                  <a:srgbClr val="00B0F0"/>
                </a:solidFill>
                <a:ea typeface="隶书" pitchFamily="49" charset="-122"/>
              </a:rPr>
              <a:t>1][</a:t>
            </a:r>
            <a:r>
              <a:rPr lang="zh-CN" altLang="en-US" b="1" dirty="0">
                <a:solidFill>
                  <a:srgbClr val="00B0F0"/>
                </a:solidFill>
                <a:ea typeface="隶书" pitchFamily="49" charset="-122"/>
              </a:rPr>
              <a:t>常量表达式</a:t>
            </a:r>
            <a:r>
              <a:rPr lang="en-US" altLang="zh-CN" b="1" dirty="0">
                <a:solidFill>
                  <a:srgbClr val="00B0F0"/>
                </a:solidFill>
                <a:ea typeface="隶书" pitchFamily="49" charset="-122"/>
              </a:rPr>
              <a:t>2]</a:t>
            </a:r>
            <a:r>
              <a:rPr lang="zh-CN" altLang="en-US" b="1" dirty="0">
                <a:solidFill>
                  <a:srgbClr val="00B0F0"/>
                </a:solidFill>
                <a:ea typeface="隶书" pitchFamily="49" charset="-122"/>
              </a:rPr>
              <a:t>；</a:t>
            </a:r>
            <a:endParaRPr lang="zh-CN" altLang="en-US" dirty="0">
              <a:solidFill>
                <a:srgbClr val="00B0F0"/>
              </a:solidFill>
            </a:endParaRPr>
          </a:p>
        </p:txBody>
      </p:sp>
      <p:grpSp>
        <p:nvGrpSpPr>
          <p:cNvPr id="97" name="组合 96"/>
          <p:cNvGrpSpPr/>
          <p:nvPr/>
        </p:nvGrpSpPr>
        <p:grpSpPr>
          <a:xfrm>
            <a:off x="1538081" y="4305317"/>
            <a:ext cx="5440362" cy="2388154"/>
            <a:chOff x="1763713" y="4005263"/>
            <a:chExt cx="5440362" cy="2388154"/>
          </a:xfrm>
        </p:grpSpPr>
        <p:grpSp>
          <p:nvGrpSpPr>
            <p:cNvPr id="993289" name="Group 9"/>
            <p:cNvGrpSpPr>
              <a:grpSpLocks/>
            </p:cNvGrpSpPr>
            <p:nvPr/>
          </p:nvGrpSpPr>
          <p:grpSpPr bwMode="auto">
            <a:xfrm>
              <a:off x="1763713" y="4005263"/>
              <a:ext cx="5440362" cy="2301875"/>
              <a:chOff x="1187" y="2527"/>
              <a:chExt cx="3427" cy="1450"/>
            </a:xfrm>
          </p:grpSpPr>
          <p:grpSp>
            <p:nvGrpSpPr>
              <p:cNvPr id="993290" name="Group 10"/>
              <p:cNvGrpSpPr>
                <a:grpSpLocks/>
              </p:cNvGrpSpPr>
              <p:nvPr/>
            </p:nvGrpSpPr>
            <p:grpSpPr bwMode="auto">
              <a:xfrm>
                <a:off x="2003" y="2527"/>
                <a:ext cx="2611" cy="1450"/>
                <a:chOff x="251" y="355"/>
                <a:chExt cx="2611" cy="1450"/>
              </a:xfrm>
            </p:grpSpPr>
            <p:sp>
              <p:nvSpPr>
                <p:cNvPr id="993291" name="AutoShape 11"/>
                <p:cNvSpPr>
                  <a:spLocks noChangeArrowheads="1"/>
                </p:cNvSpPr>
                <p:nvPr/>
              </p:nvSpPr>
              <p:spPr bwMode="auto">
                <a:xfrm>
                  <a:off x="251" y="403"/>
                  <a:ext cx="1126" cy="354"/>
                </a:xfrm>
                <a:prstGeom prst="wedgeEllipseCallout">
                  <a:avLst>
                    <a:gd name="adj1" fmla="val 57574"/>
                    <a:gd name="adj2" fmla="val 94347"/>
                  </a:avLst>
                </a:prstGeom>
                <a:gradFill flip="none" rotWithShape="1">
                  <a:gsLst>
                    <a:gs pos="0">
                      <a:srgbClr val="F0E5B7"/>
                    </a:gs>
                    <a:gs pos="51000">
                      <a:srgbClr val="FFFFCD">
                        <a:shade val="67500"/>
                        <a:satMod val="115000"/>
                      </a:srgbClr>
                    </a:gs>
                    <a:gs pos="100000">
                      <a:srgbClr val="FFFFCD">
                        <a:shade val="100000"/>
                        <a:satMod val="115000"/>
                      </a:srgbClr>
                    </a:gs>
                  </a:gsLst>
                  <a:lin ang="13500000" scaled="1"/>
                  <a:tileRect/>
                </a:gradFill>
                <a:ln w="9525">
                  <a:solidFill>
                    <a:schemeClr val="tx1"/>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spAutoFit/>
                </a:bodyPr>
                <a:lstStyle/>
                <a:p>
                  <a:pPr algn="ctr"/>
                  <a:r>
                    <a:rPr lang="en-US" altLang="zh-CN" sz="2000" b="1" dirty="0" err="1">
                      <a:solidFill>
                        <a:srgbClr val="C01920"/>
                      </a:solidFill>
                    </a:rPr>
                    <a:t>int</a:t>
                  </a:r>
                  <a:r>
                    <a:rPr lang="en-US" altLang="zh-CN" sz="2000" b="1" dirty="0">
                      <a:solidFill>
                        <a:srgbClr val="C01920"/>
                      </a:solidFill>
                    </a:rPr>
                    <a:t> a[3][2]</a:t>
                  </a:r>
                </a:p>
              </p:txBody>
            </p:sp>
            <p:sp>
              <p:nvSpPr>
                <p:cNvPr id="993292" name="Rectangle 12"/>
                <p:cNvSpPr>
                  <a:spLocks noChangeArrowheads="1"/>
                </p:cNvSpPr>
                <p:nvPr/>
              </p:nvSpPr>
              <p:spPr bwMode="auto">
                <a:xfrm>
                  <a:off x="1586" y="355"/>
                  <a:ext cx="1267" cy="1440"/>
                </a:xfrm>
                <a:prstGeom prst="rect">
                  <a:avLst/>
                </a:prstGeom>
                <a:solidFill>
                  <a:srgbClr val="FFFFFF"/>
                </a:solidFill>
                <a:ln w="28575">
                  <a:solidFill>
                    <a:srgbClr val="00206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93293" name="Line 13"/>
                <p:cNvSpPr>
                  <a:spLocks noChangeShapeType="1"/>
                </p:cNvSpPr>
                <p:nvPr/>
              </p:nvSpPr>
              <p:spPr bwMode="auto">
                <a:xfrm>
                  <a:off x="1575" y="600"/>
                  <a:ext cx="1256" cy="0"/>
                </a:xfrm>
                <a:prstGeom prst="line">
                  <a:avLst/>
                </a:prstGeom>
                <a:noFill/>
                <a:ln w="9525">
                  <a:solidFill>
                    <a:srgbClr val="669900"/>
                  </a:solidFill>
                  <a:round/>
                  <a:headEnd/>
                  <a:tailEnd/>
                </a:ln>
                <a:effectLst/>
              </p:spPr>
              <p:txBody>
                <a:bodyPr wrap="none" anchor="ctr"/>
                <a:lstStyle/>
                <a:p>
                  <a:endParaRPr lang="zh-CN" altLang="en-US"/>
                </a:p>
              </p:txBody>
            </p:sp>
            <p:sp>
              <p:nvSpPr>
                <p:cNvPr id="993294" name="Line 14"/>
                <p:cNvSpPr>
                  <a:spLocks noChangeShapeType="1"/>
                </p:cNvSpPr>
                <p:nvPr/>
              </p:nvSpPr>
              <p:spPr bwMode="auto">
                <a:xfrm>
                  <a:off x="1604" y="818"/>
                  <a:ext cx="1256" cy="0"/>
                </a:xfrm>
                <a:prstGeom prst="line">
                  <a:avLst/>
                </a:prstGeom>
                <a:noFill/>
                <a:ln w="9525">
                  <a:solidFill>
                    <a:srgbClr val="669900"/>
                  </a:solidFill>
                  <a:round/>
                  <a:headEnd/>
                  <a:tailEnd/>
                </a:ln>
                <a:effectLst/>
              </p:spPr>
              <p:txBody>
                <a:bodyPr wrap="none" anchor="ctr"/>
                <a:lstStyle/>
                <a:p>
                  <a:endParaRPr lang="zh-CN" altLang="en-US"/>
                </a:p>
              </p:txBody>
            </p:sp>
            <p:sp>
              <p:nvSpPr>
                <p:cNvPr id="993295" name="Line 15"/>
                <p:cNvSpPr>
                  <a:spLocks noChangeShapeType="1"/>
                </p:cNvSpPr>
                <p:nvPr/>
              </p:nvSpPr>
              <p:spPr bwMode="auto">
                <a:xfrm>
                  <a:off x="1577" y="1065"/>
                  <a:ext cx="1267" cy="0"/>
                </a:xfrm>
                <a:prstGeom prst="line">
                  <a:avLst/>
                </a:prstGeom>
                <a:noFill/>
                <a:ln w="9525">
                  <a:solidFill>
                    <a:srgbClr val="669900"/>
                  </a:solidFill>
                  <a:round/>
                  <a:headEnd/>
                  <a:tailEnd/>
                </a:ln>
                <a:effectLst/>
              </p:spPr>
              <p:txBody>
                <a:bodyPr wrap="none" anchor="ctr"/>
                <a:lstStyle/>
                <a:p>
                  <a:endParaRPr lang="zh-CN" altLang="en-US"/>
                </a:p>
              </p:txBody>
            </p:sp>
            <p:sp>
              <p:nvSpPr>
                <p:cNvPr id="993296" name="Line 16"/>
                <p:cNvSpPr>
                  <a:spLocks noChangeShapeType="1"/>
                </p:cNvSpPr>
                <p:nvPr/>
              </p:nvSpPr>
              <p:spPr bwMode="auto">
                <a:xfrm>
                  <a:off x="1595" y="1315"/>
                  <a:ext cx="1267" cy="0"/>
                </a:xfrm>
                <a:prstGeom prst="line">
                  <a:avLst/>
                </a:prstGeom>
                <a:noFill/>
                <a:ln w="9525">
                  <a:solidFill>
                    <a:srgbClr val="669900"/>
                  </a:solidFill>
                  <a:round/>
                  <a:headEnd/>
                  <a:tailEnd/>
                </a:ln>
                <a:effectLst/>
              </p:spPr>
              <p:txBody>
                <a:bodyPr wrap="none" anchor="ctr"/>
                <a:lstStyle/>
                <a:p>
                  <a:endParaRPr lang="zh-CN" altLang="en-US"/>
                </a:p>
              </p:txBody>
            </p:sp>
            <p:sp>
              <p:nvSpPr>
                <p:cNvPr id="993297" name="Line 17"/>
                <p:cNvSpPr>
                  <a:spLocks noChangeShapeType="1"/>
                </p:cNvSpPr>
                <p:nvPr/>
              </p:nvSpPr>
              <p:spPr bwMode="auto">
                <a:xfrm>
                  <a:off x="1577" y="1544"/>
                  <a:ext cx="1267" cy="0"/>
                </a:xfrm>
                <a:prstGeom prst="line">
                  <a:avLst/>
                </a:prstGeom>
                <a:noFill/>
                <a:ln w="9525">
                  <a:solidFill>
                    <a:srgbClr val="669900"/>
                  </a:solidFill>
                  <a:round/>
                  <a:headEnd/>
                  <a:tailEnd/>
                </a:ln>
                <a:effectLst/>
              </p:spPr>
              <p:txBody>
                <a:bodyPr wrap="none" anchor="ctr">
                  <a:spAutoFit/>
                </a:bodyPr>
                <a:lstStyle/>
                <a:p>
                  <a:endParaRPr lang="zh-CN" altLang="en-US"/>
                </a:p>
              </p:txBody>
            </p:sp>
            <p:sp>
              <p:nvSpPr>
                <p:cNvPr id="993298" name="Text Box 18"/>
                <p:cNvSpPr txBox="1">
                  <a:spLocks noChangeArrowheads="1"/>
                </p:cNvSpPr>
                <p:nvPr/>
              </p:nvSpPr>
              <p:spPr bwMode="auto">
                <a:xfrm>
                  <a:off x="1924" y="59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0000FF"/>
                      </a:solidFill>
                      <a:effectLst>
                        <a:outerShdw blurRad="38100" dist="38100" dir="2700000" algn="tl">
                          <a:srgbClr val="000000"/>
                        </a:outerShdw>
                      </a:effectLst>
                    </a:rPr>
                    <a:t>0</a:t>
                  </a:r>
                  <a:r>
                    <a:rPr lang="en-US" altLang="zh-CN" sz="2000" b="1">
                      <a:solidFill>
                        <a:schemeClr val="bg2"/>
                      </a:solidFill>
                      <a:effectLst>
                        <a:outerShdw blurRad="38100" dist="38100" dir="2700000" algn="tl">
                          <a:srgbClr val="000000"/>
                        </a:outerShdw>
                      </a:effectLst>
                    </a:rPr>
                    <a:t>][1]</a:t>
                  </a:r>
                </a:p>
              </p:txBody>
            </p:sp>
            <p:sp>
              <p:nvSpPr>
                <p:cNvPr id="993299" name="Text Box 19"/>
                <p:cNvSpPr txBox="1">
                  <a:spLocks noChangeArrowheads="1"/>
                </p:cNvSpPr>
                <p:nvPr/>
              </p:nvSpPr>
              <p:spPr bwMode="auto">
                <a:xfrm>
                  <a:off x="1924" y="83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669900"/>
                      </a:solidFill>
                      <a:effectLst>
                        <a:outerShdw blurRad="38100" dist="38100" dir="2700000" algn="tl">
                          <a:srgbClr val="000000"/>
                        </a:outerShdw>
                      </a:effectLst>
                    </a:rPr>
                    <a:t>1</a:t>
                  </a:r>
                  <a:r>
                    <a:rPr lang="en-US" altLang="zh-CN" sz="2000" b="1">
                      <a:solidFill>
                        <a:schemeClr val="bg2"/>
                      </a:solidFill>
                      <a:effectLst>
                        <a:outerShdw blurRad="38100" dist="38100" dir="2700000" algn="tl">
                          <a:srgbClr val="000000"/>
                        </a:outerShdw>
                      </a:effectLst>
                    </a:rPr>
                    <a:t>][0]</a:t>
                  </a:r>
                </a:p>
              </p:txBody>
            </p:sp>
            <p:sp>
              <p:nvSpPr>
                <p:cNvPr id="993300" name="Text Box 20"/>
                <p:cNvSpPr txBox="1">
                  <a:spLocks noChangeArrowheads="1"/>
                </p:cNvSpPr>
                <p:nvPr/>
              </p:nvSpPr>
              <p:spPr bwMode="auto">
                <a:xfrm>
                  <a:off x="1924" y="107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669900"/>
                      </a:solidFill>
                      <a:effectLst>
                        <a:outerShdw blurRad="38100" dist="38100" dir="2700000" algn="tl">
                          <a:srgbClr val="000000"/>
                        </a:outerShdw>
                      </a:effectLst>
                    </a:rPr>
                    <a:t>1</a:t>
                  </a:r>
                  <a:r>
                    <a:rPr lang="en-US" altLang="zh-CN" sz="2000" b="1">
                      <a:solidFill>
                        <a:schemeClr val="bg2"/>
                      </a:solidFill>
                      <a:effectLst>
                        <a:outerShdw blurRad="38100" dist="38100" dir="2700000" algn="tl">
                          <a:srgbClr val="000000"/>
                        </a:outerShdw>
                      </a:effectLst>
                    </a:rPr>
                    <a:t>][1]</a:t>
                  </a:r>
                </a:p>
              </p:txBody>
            </p:sp>
            <p:sp>
              <p:nvSpPr>
                <p:cNvPr id="993301" name="Text Box 21"/>
                <p:cNvSpPr txBox="1">
                  <a:spLocks noChangeArrowheads="1"/>
                </p:cNvSpPr>
                <p:nvPr/>
              </p:nvSpPr>
              <p:spPr bwMode="auto">
                <a:xfrm>
                  <a:off x="1924" y="131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FF3300"/>
                      </a:solidFill>
                      <a:effectLst>
                        <a:outerShdw blurRad="38100" dist="38100" dir="2700000" algn="tl">
                          <a:srgbClr val="000000"/>
                        </a:outerShdw>
                      </a:effectLst>
                    </a:rPr>
                    <a:t>2</a:t>
                  </a:r>
                  <a:r>
                    <a:rPr lang="en-US" altLang="zh-CN" sz="2000" b="1">
                      <a:solidFill>
                        <a:schemeClr val="bg2"/>
                      </a:solidFill>
                      <a:effectLst>
                        <a:outerShdw blurRad="38100" dist="38100" dir="2700000" algn="tl">
                          <a:srgbClr val="000000"/>
                        </a:outerShdw>
                      </a:effectLst>
                    </a:rPr>
                    <a:t>][0]</a:t>
                  </a:r>
                </a:p>
              </p:txBody>
            </p:sp>
            <p:sp>
              <p:nvSpPr>
                <p:cNvPr id="993302" name="Text Box 22"/>
                <p:cNvSpPr txBox="1">
                  <a:spLocks noChangeArrowheads="1"/>
                </p:cNvSpPr>
                <p:nvPr/>
              </p:nvSpPr>
              <p:spPr bwMode="auto">
                <a:xfrm>
                  <a:off x="1924" y="1555"/>
                  <a:ext cx="568" cy="250"/>
                </a:xfrm>
                <a:prstGeom prst="rect">
                  <a:avLst/>
                </a:prstGeom>
                <a:noFill/>
                <a:ln w="9525">
                  <a:noFill/>
                  <a:miter lim="800000"/>
                  <a:headEnd/>
                  <a:tailEnd/>
                </a:ln>
                <a:effectLst/>
              </p:spPr>
              <p:txBody>
                <a:bodyPr wrap="none">
                  <a:spAutoFit/>
                </a:bodyPr>
                <a:lstStyle/>
                <a:p>
                  <a:r>
                    <a:rPr lang="en-US" altLang="zh-CN" sz="2000" b="1">
                      <a:solidFill>
                        <a:schemeClr val="bg2"/>
                      </a:solidFill>
                      <a:effectLst>
                        <a:outerShdw blurRad="38100" dist="38100" dir="2700000" algn="tl">
                          <a:srgbClr val="000000"/>
                        </a:outerShdw>
                      </a:effectLst>
                    </a:rPr>
                    <a:t>a[</a:t>
                  </a:r>
                  <a:r>
                    <a:rPr lang="en-US" altLang="zh-CN" sz="2000" b="1">
                      <a:solidFill>
                        <a:srgbClr val="FF3300"/>
                      </a:solidFill>
                      <a:effectLst>
                        <a:outerShdw blurRad="38100" dist="38100" dir="2700000" algn="tl">
                          <a:srgbClr val="000000"/>
                        </a:outerShdw>
                      </a:effectLst>
                    </a:rPr>
                    <a:t>2</a:t>
                  </a:r>
                  <a:r>
                    <a:rPr lang="en-US" altLang="zh-CN" sz="2000" b="1">
                      <a:solidFill>
                        <a:schemeClr val="bg2"/>
                      </a:solidFill>
                      <a:effectLst>
                        <a:outerShdw blurRad="38100" dist="38100" dir="2700000" algn="tl">
                          <a:srgbClr val="000000"/>
                        </a:outerShdw>
                      </a:effectLst>
                    </a:rPr>
                    <a:t>][1]</a:t>
                  </a:r>
                </a:p>
              </p:txBody>
            </p:sp>
            <p:grpSp>
              <p:nvGrpSpPr>
                <p:cNvPr id="993303" name="Group 23"/>
                <p:cNvGrpSpPr>
                  <a:grpSpLocks/>
                </p:cNvGrpSpPr>
                <p:nvPr/>
              </p:nvGrpSpPr>
              <p:grpSpPr bwMode="auto">
                <a:xfrm>
                  <a:off x="1400" y="380"/>
                  <a:ext cx="209" cy="1425"/>
                  <a:chOff x="1400" y="380"/>
                  <a:chExt cx="209" cy="1425"/>
                </a:xfrm>
              </p:grpSpPr>
              <p:sp>
                <p:nvSpPr>
                  <p:cNvPr id="993304" name="Text Box 24"/>
                  <p:cNvSpPr txBox="1">
                    <a:spLocks noChangeArrowheads="1"/>
                  </p:cNvSpPr>
                  <p:nvPr/>
                </p:nvSpPr>
                <p:spPr bwMode="auto">
                  <a:xfrm>
                    <a:off x="1413" y="380"/>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0</a:t>
                    </a:r>
                  </a:p>
                </p:txBody>
              </p:sp>
              <p:sp>
                <p:nvSpPr>
                  <p:cNvPr id="993305" name="Text Box 25"/>
                  <p:cNvSpPr txBox="1">
                    <a:spLocks noChangeArrowheads="1"/>
                  </p:cNvSpPr>
                  <p:nvPr/>
                </p:nvSpPr>
                <p:spPr bwMode="auto">
                  <a:xfrm>
                    <a:off x="1413" y="598"/>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000000">
                              <a:alpha val="43137"/>
                            </a:srgbClr>
                          </a:outerShdw>
                        </a:effectLst>
                      </a:rPr>
                      <a:t>1</a:t>
                    </a:r>
                  </a:p>
                </p:txBody>
              </p:sp>
              <p:sp>
                <p:nvSpPr>
                  <p:cNvPr id="993306" name="Text Box 26"/>
                  <p:cNvSpPr txBox="1">
                    <a:spLocks noChangeArrowheads="1"/>
                  </p:cNvSpPr>
                  <p:nvPr/>
                </p:nvSpPr>
                <p:spPr bwMode="auto">
                  <a:xfrm>
                    <a:off x="1400" y="1315"/>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4</a:t>
                    </a:r>
                  </a:p>
                </p:txBody>
              </p:sp>
              <p:sp>
                <p:nvSpPr>
                  <p:cNvPr id="993307" name="Text Box 27"/>
                  <p:cNvSpPr txBox="1">
                    <a:spLocks noChangeArrowheads="1"/>
                  </p:cNvSpPr>
                  <p:nvPr/>
                </p:nvSpPr>
                <p:spPr bwMode="auto">
                  <a:xfrm>
                    <a:off x="1404" y="1555"/>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5</a:t>
                    </a:r>
                  </a:p>
                </p:txBody>
              </p:sp>
              <p:sp>
                <p:nvSpPr>
                  <p:cNvPr id="993308" name="Text Box 28"/>
                  <p:cNvSpPr txBox="1">
                    <a:spLocks noChangeArrowheads="1"/>
                  </p:cNvSpPr>
                  <p:nvPr/>
                </p:nvSpPr>
                <p:spPr bwMode="auto">
                  <a:xfrm>
                    <a:off x="1412" y="809"/>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2</a:t>
                    </a:r>
                  </a:p>
                </p:txBody>
              </p:sp>
              <p:sp>
                <p:nvSpPr>
                  <p:cNvPr id="993309" name="Text Box 29"/>
                  <p:cNvSpPr txBox="1">
                    <a:spLocks noChangeArrowheads="1"/>
                  </p:cNvSpPr>
                  <p:nvPr/>
                </p:nvSpPr>
                <p:spPr bwMode="auto">
                  <a:xfrm>
                    <a:off x="1403" y="1075"/>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000000">
                              <a:alpha val="43137"/>
                            </a:srgbClr>
                          </a:outerShdw>
                        </a:effectLst>
                      </a:rPr>
                      <a:t>3</a:t>
                    </a:r>
                  </a:p>
                </p:txBody>
              </p:sp>
            </p:grpSp>
            <p:sp>
              <p:nvSpPr>
                <p:cNvPr id="993310" name="Text Box 30"/>
                <p:cNvSpPr txBox="1">
                  <a:spLocks noChangeArrowheads="1"/>
                </p:cNvSpPr>
                <p:nvPr/>
              </p:nvSpPr>
              <p:spPr bwMode="auto">
                <a:xfrm>
                  <a:off x="1924" y="355"/>
                  <a:ext cx="568" cy="250"/>
                </a:xfrm>
                <a:prstGeom prst="rect">
                  <a:avLst/>
                </a:prstGeom>
                <a:noFill/>
                <a:ln w="9525">
                  <a:noFill/>
                  <a:miter lim="800000"/>
                  <a:headEnd/>
                  <a:tailEnd/>
                </a:ln>
                <a:effectLst/>
              </p:spPr>
              <p:txBody>
                <a:bodyPr wrap="none">
                  <a:spAutoFit/>
                </a:bodyPr>
                <a:lstStyle/>
                <a:p>
                  <a:r>
                    <a:rPr lang="en-US" altLang="zh-CN" sz="2000" b="1" dirty="0">
                      <a:solidFill>
                        <a:schemeClr val="bg2"/>
                      </a:solidFill>
                      <a:effectLst>
                        <a:outerShdw blurRad="38100" dist="38100" dir="2700000" algn="tl">
                          <a:srgbClr val="000000"/>
                        </a:outerShdw>
                      </a:effectLst>
                    </a:rPr>
                    <a:t>a[</a:t>
                  </a:r>
                  <a:r>
                    <a:rPr lang="en-US" altLang="zh-CN" sz="2000" b="1" dirty="0">
                      <a:solidFill>
                        <a:srgbClr val="0000FF"/>
                      </a:solidFill>
                      <a:effectLst>
                        <a:outerShdw blurRad="38100" dist="38100" dir="2700000" algn="tl">
                          <a:srgbClr val="000000"/>
                        </a:outerShdw>
                      </a:effectLst>
                    </a:rPr>
                    <a:t>0</a:t>
                  </a:r>
                  <a:r>
                    <a:rPr lang="en-US" altLang="zh-CN" sz="2000" b="1" dirty="0">
                      <a:solidFill>
                        <a:schemeClr val="bg2"/>
                      </a:solidFill>
                      <a:effectLst>
                        <a:outerShdw blurRad="38100" dist="38100" dir="2700000" algn="tl">
                          <a:srgbClr val="000000"/>
                        </a:outerShdw>
                      </a:effectLst>
                    </a:rPr>
                    <a:t>][0]</a:t>
                  </a:r>
                </a:p>
              </p:txBody>
            </p:sp>
          </p:grpSp>
          <p:grpSp>
            <p:nvGrpSpPr>
              <p:cNvPr id="993311" name="Group 31"/>
              <p:cNvGrpSpPr>
                <a:grpSpLocks/>
              </p:cNvGrpSpPr>
              <p:nvPr/>
            </p:nvGrpSpPr>
            <p:grpSpPr bwMode="auto">
              <a:xfrm>
                <a:off x="1187" y="3309"/>
                <a:ext cx="1275" cy="634"/>
                <a:chOff x="1187" y="3309"/>
                <a:chExt cx="1275" cy="634"/>
              </a:xfrm>
            </p:grpSpPr>
            <p:sp>
              <p:nvSpPr>
                <p:cNvPr id="993312" name="Text Box 32"/>
                <p:cNvSpPr txBox="1">
                  <a:spLocks noChangeArrowheads="1"/>
                </p:cNvSpPr>
                <p:nvPr/>
              </p:nvSpPr>
              <p:spPr bwMode="auto">
                <a:xfrm>
                  <a:off x="1231" y="3309"/>
                  <a:ext cx="1220" cy="634"/>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a[</a:t>
                  </a:r>
                  <a:r>
                    <a:rPr lang="en-US" altLang="zh-CN" sz="2000" b="1" dirty="0">
                      <a:solidFill>
                        <a:srgbClr val="0000FF"/>
                      </a:solidFill>
                      <a:effectLst>
                        <a:outerShdw blurRad="38100" dist="38100" dir="2700000" algn="tl">
                          <a:srgbClr val="FFFFFF"/>
                        </a:outerShdw>
                      </a:effectLst>
                    </a:rPr>
                    <a:t>0</a:t>
                  </a:r>
                  <a:r>
                    <a:rPr lang="en-US" altLang="zh-CN" sz="2000" b="1" dirty="0">
                      <a:effectLst>
                        <a:outerShdw blurRad="38100" dist="38100" dir="2700000" algn="tl">
                          <a:srgbClr val="FFFFFF"/>
                        </a:outerShdw>
                      </a:effectLst>
                    </a:rPr>
                    <a:t>][0]     a[</a:t>
                  </a:r>
                  <a:r>
                    <a:rPr lang="en-US" altLang="zh-CN" sz="2000" b="1" dirty="0">
                      <a:solidFill>
                        <a:srgbClr val="0000FF"/>
                      </a:solidFill>
                      <a:effectLst>
                        <a:outerShdw blurRad="38100" dist="38100" dir="2700000" algn="tl">
                          <a:srgbClr val="FFFFFF"/>
                        </a:outerShdw>
                      </a:effectLst>
                    </a:rPr>
                    <a:t>0</a:t>
                  </a:r>
                  <a:r>
                    <a:rPr lang="en-US" altLang="zh-CN" sz="2000" b="1" dirty="0">
                      <a:effectLst>
                        <a:outerShdw blurRad="38100" dist="38100" dir="2700000" algn="tl">
                          <a:srgbClr val="FFFFFF"/>
                        </a:outerShdw>
                      </a:effectLst>
                    </a:rPr>
                    <a:t>][1]</a:t>
                  </a:r>
                </a:p>
                <a:p>
                  <a:r>
                    <a:rPr lang="en-US" altLang="zh-CN" sz="2000" b="1" dirty="0">
                      <a:effectLst>
                        <a:outerShdw blurRad="38100" dist="38100" dir="2700000" algn="tl">
                          <a:srgbClr val="FFFFFF"/>
                        </a:outerShdw>
                      </a:effectLst>
                    </a:rPr>
                    <a:t>a[</a:t>
                  </a:r>
                  <a:r>
                    <a:rPr lang="en-US" altLang="zh-CN" sz="2000" b="1" dirty="0">
                      <a:solidFill>
                        <a:schemeClr val="accent1">
                          <a:lumMod val="50000"/>
                        </a:schemeClr>
                      </a:solidFill>
                      <a:effectLst>
                        <a:outerShdw blurRad="38100" dist="38100" dir="2700000" algn="tl">
                          <a:srgbClr val="FFFFFF"/>
                        </a:outerShdw>
                      </a:effectLst>
                    </a:rPr>
                    <a:t>1</a:t>
                  </a:r>
                  <a:r>
                    <a:rPr lang="en-US" altLang="zh-CN" sz="2000" b="1" dirty="0">
                      <a:effectLst>
                        <a:outerShdw blurRad="38100" dist="38100" dir="2700000" algn="tl">
                          <a:srgbClr val="FFFFFF"/>
                        </a:outerShdw>
                      </a:effectLst>
                    </a:rPr>
                    <a:t>][0]     a[</a:t>
                  </a:r>
                  <a:r>
                    <a:rPr lang="en-US" altLang="zh-CN" sz="2000" b="1" dirty="0">
                      <a:solidFill>
                        <a:schemeClr val="accent1">
                          <a:lumMod val="50000"/>
                        </a:schemeClr>
                      </a:solidFill>
                      <a:effectLst>
                        <a:outerShdw blurRad="38100" dist="38100" dir="2700000" algn="tl">
                          <a:srgbClr val="FFFFFF"/>
                        </a:outerShdw>
                      </a:effectLst>
                    </a:rPr>
                    <a:t>1</a:t>
                  </a:r>
                  <a:r>
                    <a:rPr lang="en-US" altLang="zh-CN" sz="2000" b="1" dirty="0">
                      <a:effectLst>
                        <a:outerShdw blurRad="38100" dist="38100" dir="2700000" algn="tl">
                          <a:srgbClr val="FFFFFF"/>
                        </a:outerShdw>
                      </a:effectLst>
                    </a:rPr>
                    <a:t>][1]</a:t>
                  </a:r>
                </a:p>
                <a:p>
                  <a:r>
                    <a:rPr lang="en-US" altLang="zh-CN" sz="2000" b="1" dirty="0">
                      <a:effectLst>
                        <a:outerShdw blurRad="38100" dist="38100" dir="2700000" algn="tl">
                          <a:srgbClr val="FFFFFF"/>
                        </a:outerShdw>
                      </a:effectLst>
                    </a:rPr>
                    <a:t>a[</a:t>
                  </a:r>
                  <a:r>
                    <a:rPr lang="en-US" altLang="zh-CN" sz="2000" b="1" dirty="0">
                      <a:solidFill>
                        <a:srgbClr val="FF0000"/>
                      </a:solidFill>
                      <a:effectLst>
                        <a:outerShdw blurRad="38100" dist="38100" dir="2700000" algn="tl">
                          <a:srgbClr val="FFFFFF"/>
                        </a:outerShdw>
                      </a:effectLst>
                    </a:rPr>
                    <a:t>2</a:t>
                  </a:r>
                  <a:r>
                    <a:rPr lang="en-US" altLang="zh-CN" sz="2000" b="1" dirty="0">
                      <a:effectLst>
                        <a:outerShdw blurRad="38100" dist="38100" dir="2700000" algn="tl">
                          <a:srgbClr val="FFFFFF"/>
                        </a:outerShdw>
                      </a:effectLst>
                    </a:rPr>
                    <a:t>][0]     a[</a:t>
                  </a:r>
                  <a:r>
                    <a:rPr lang="en-US" altLang="zh-CN" sz="2000" b="1" dirty="0">
                      <a:solidFill>
                        <a:srgbClr val="FF0000"/>
                      </a:solidFill>
                      <a:effectLst>
                        <a:outerShdw blurRad="38100" dist="38100" dir="2700000" algn="tl">
                          <a:srgbClr val="FFFFFF"/>
                        </a:outerShdw>
                      </a:effectLst>
                    </a:rPr>
                    <a:t>2</a:t>
                  </a:r>
                  <a:r>
                    <a:rPr lang="en-US" altLang="zh-CN" sz="2000" b="1" dirty="0">
                      <a:effectLst>
                        <a:outerShdw blurRad="38100" dist="38100" dir="2700000" algn="tl">
                          <a:srgbClr val="FFFFFF"/>
                        </a:outerShdw>
                      </a:effectLst>
                    </a:rPr>
                    <a:t>][1]</a:t>
                  </a:r>
                </a:p>
              </p:txBody>
            </p:sp>
            <p:sp>
              <p:nvSpPr>
                <p:cNvPr id="993313" name="AutoShape 33"/>
                <p:cNvSpPr>
                  <a:spLocks/>
                </p:cNvSpPr>
                <p:nvPr/>
              </p:nvSpPr>
              <p:spPr bwMode="auto">
                <a:xfrm>
                  <a:off x="1187" y="3381"/>
                  <a:ext cx="69" cy="489"/>
                </a:xfrm>
                <a:prstGeom prst="leftBracket">
                  <a:avLst>
                    <a:gd name="adj" fmla="val 59058"/>
                  </a:avLst>
                </a:prstGeom>
                <a:noFill/>
                <a:ln w="25400">
                  <a:solidFill>
                    <a:schemeClr val="tx1"/>
                  </a:solidFill>
                  <a:round/>
                  <a:headEnd/>
                  <a:tailEnd/>
                </a:ln>
                <a:effectLst/>
              </p:spPr>
              <p:txBody>
                <a:bodyPr wrap="none" anchor="ctr"/>
                <a:lstStyle/>
                <a:p>
                  <a:endParaRPr lang="zh-CN" altLang="en-US"/>
                </a:p>
              </p:txBody>
            </p:sp>
            <p:sp>
              <p:nvSpPr>
                <p:cNvPr id="993314" name="AutoShape 34"/>
                <p:cNvSpPr>
                  <a:spLocks/>
                </p:cNvSpPr>
                <p:nvPr/>
              </p:nvSpPr>
              <p:spPr bwMode="auto">
                <a:xfrm>
                  <a:off x="2392" y="3394"/>
                  <a:ext cx="70" cy="500"/>
                </a:xfrm>
                <a:prstGeom prst="rightBracket">
                  <a:avLst>
                    <a:gd name="adj" fmla="val 59524"/>
                  </a:avLst>
                </a:prstGeom>
                <a:noFill/>
                <a:ln w="25400">
                  <a:solidFill>
                    <a:schemeClr val="tx1"/>
                  </a:solidFill>
                  <a:round/>
                  <a:headEnd/>
                  <a:tailEnd/>
                </a:ln>
                <a:effectLst/>
              </p:spPr>
              <p:txBody>
                <a:bodyPr wrap="none" anchor="ctr"/>
                <a:lstStyle/>
                <a:p>
                  <a:endParaRPr lang="zh-CN" altLang="en-US"/>
                </a:p>
              </p:txBody>
            </p:sp>
          </p:grpSp>
        </p:grpSp>
        <p:sp>
          <p:nvSpPr>
            <p:cNvPr id="96" name="下弧形箭头 95"/>
            <p:cNvSpPr/>
            <p:nvPr/>
          </p:nvSpPr>
          <p:spPr bwMode="auto">
            <a:xfrm>
              <a:off x="3877689" y="5742724"/>
              <a:ext cx="1625173" cy="650693"/>
            </a:xfrm>
            <a:prstGeom prst="curvedUpArrow">
              <a:avLst>
                <a:gd name="adj1" fmla="val 25000"/>
                <a:gd name="adj2" fmla="val 50000"/>
                <a:gd name="adj3" fmla="val 50833"/>
              </a:avLst>
            </a:prstGeom>
            <a:gradFill flip="none" rotWithShape="1">
              <a:gsLst>
                <a:gs pos="0">
                  <a:srgbClr val="BEDFC4"/>
                </a:gs>
                <a:gs pos="100000">
                  <a:schemeClr val="accent1">
                    <a:tint val="23500"/>
                    <a:satMod val="160000"/>
                  </a:schemeClr>
                </a:gs>
              </a:gsLst>
              <a:lin ang="135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grpSp>
      <p:grpSp>
        <p:nvGrpSpPr>
          <p:cNvPr id="993315" name="Group 35"/>
          <p:cNvGrpSpPr>
            <a:grpSpLocks/>
          </p:cNvGrpSpPr>
          <p:nvPr/>
        </p:nvGrpSpPr>
        <p:grpSpPr bwMode="auto">
          <a:xfrm>
            <a:off x="7432467" y="68556"/>
            <a:ext cx="4591050" cy="6602413"/>
            <a:chOff x="2636" y="161"/>
            <a:chExt cx="2892" cy="4159"/>
          </a:xfrm>
        </p:grpSpPr>
        <p:sp>
          <p:nvSpPr>
            <p:cNvPr id="993317" name="Rectangle 37"/>
            <p:cNvSpPr>
              <a:spLocks noChangeArrowheads="1"/>
            </p:cNvSpPr>
            <p:nvPr/>
          </p:nvSpPr>
          <p:spPr bwMode="auto">
            <a:xfrm>
              <a:off x="4173" y="232"/>
              <a:ext cx="1344" cy="4088"/>
            </a:xfrm>
            <a:prstGeom prst="rect">
              <a:avLst/>
            </a:prstGeom>
            <a:solidFill>
              <a:schemeClr val="bg1">
                <a:lumMod val="95000"/>
              </a:schemeClr>
            </a:solidFill>
            <a:ln w="38100">
              <a:solidFill>
                <a:srgbClr val="008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18" name="Line 38"/>
            <p:cNvSpPr>
              <a:spLocks noChangeShapeType="1"/>
            </p:cNvSpPr>
            <p:nvPr/>
          </p:nvSpPr>
          <p:spPr bwMode="auto">
            <a:xfrm>
              <a:off x="4173" y="421"/>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19" name="Line 39"/>
            <p:cNvSpPr>
              <a:spLocks noChangeShapeType="1"/>
            </p:cNvSpPr>
            <p:nvPr/>
          </p:nvSpPr>
          <p:spPr bwMode="auto">
            <a:xfrm>
              <a:off x="4184" y="589"/>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0" name="Line 40"/>
            <p:cNvSpPr>
              <a:spLocks noChangeShapeType="1"/>
            </p:cNvSpPr>
            <p:nvPr/>
          </p:nvSpPr>
          <p:spPr bwMode="auto">
            <a:xfrm>
              <a:off x="4184" y="758"/>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1" name="Line 41"/>
            <p:cNvSpPr>
              <a:spLocks noChangeShapeType="1"/>
            </p:cNvSpPr>
            <p:nvPr/>
          </p:nvSpPr>
          <p:spPr bwMode="auto">
            <a:xfrm>
              <a:off x="4184" y="927"/>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2" name="Line 42"/>
            <p:cNvSpPr>
              <a:spLocks noChangeShapeType="1"/>
            </p:cNvSpPr>
            <p:nvPr/>
          </p:nvSpPr>
          <p:spPr bwMode="auto">
            <a:xfrm>
              <a:off x="4184" y="1095"/>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3" name="Line 43"/>
            <p:cNvSpPr>
              <a:spLocks noChangeShapeType="1"/>
            </p:cNvSpPr>
            <p:nvPr/>
          </p:nvSpPr>
          <p:spPr bwMode="auto">
            <a:xfrm>
              <a:off x="4184" y="1264"/>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4" name="Line 44"/>
            <p:cNvSpPr>
              <a:spLocks noChangeShapeType="1"/>
            </p:cNvSpPr>
            <p:nvPr/>
          </p:nvSpPr>
          <p:spPr bwMode="auto">
            <a:xfrm>
              <a:off x="4184" y="1433"/>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5" name="Line 45"/>
            <p:cNvSpPr>
              <a:spLocks noChangeShapeType="1"/>
            </p:cNvSpPr>
            <p:nvPr/>
          </p:nvSpPr>
          <p:spPr bwMode="auto">
            <a:xfrm>
              <a:off x="4184" y="1601"/>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6" name="Line 46"/>
            <p:cNvSpPr>
              <a:spLocks noChangeShapeType="1"/>
            </p:cNvSpPr>
            <p:nvPr/>
          </p:nvSpPr>
          <p:spPr bwMode="auto">
            <a:xfrm>
              <a:off x="4184" y="1770"/>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7" name="Line 47"/>
            <p:cNvSpPr>
              <a:spLocks noChangeShapeType="1"/>
            </p:cNvSpPr>
            <p:nvPr/>
          </p:nvSpPr>
          <p:spPr bwMode="auto">
            <a:xfrm>
              <a:off x="4184" y="1939"/>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8" name="Line 48"/>
            <p:cNvSpPr>
              <a:spLocks noChangeShapeType="1"/>
            </p:cNvSpPr>
            <p:nvPr/>
          </p:nvSpPr>
          <p:spPr bwMode="auto">
            <a:xfrm>
              <a:off x="4184" y="2107"/>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29" name="Line 49"/>
            <p:cNvSpPr>
              <a:spLocks noChangeShapeType="1"/>
            </p:cNvSpPr>
            <p:nvPr/>
          </p:nvSpPr>
          <p:spPr bwMode="auto">
            <a:xfrm>
              <a:off x="4184" y="2276"/>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0" name="Line 50"/>
            <p:cNvSpPr>
              <a:spLocks noChangeShapeType="1"/>
            </p:cNvSpPr>
            <p:nvPr/>
          </p:nvSpPr>
          <p:spPr bwMode="auto">
            <a:xfrm>
              <a:off x="4184" y="2445"/>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1" name="Line 51"/>
            <p:cNvSpPr>
              <a:spLocks noChangeShapeType="1"/>
            </p:cNvSpPr>
            <p:nvPr/>
          </p:nvSpPr>
          <p:spPr bwMode="auto">
            <a:xfrm>
              <a:off x="4184" y="2613"/>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2" name="Line 52"/>
            <p:cNvSpPr>
              <a:spLocks noChangeShapeType="1"/>
            </p:cNvSpPr>
            <p:nvPr/>
          </p:nvSpPr>
          <p:spPr bwMode="auto">
            <a:xfrm>
              <a:off x="4184" y="2782"/>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3" name="Line 53"/>
            <p:cNvSpPr>
              <a:spLocks noChangeShapeType="1"/>
            </p:cNvSpPr>
            <p:nvPr/>
          </p:nvSpPr>
          <p:spPr bwMode="auto">
            <a:xfrm>
              <a:off x="4184" y="2951"/>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4" name="Line 54"/>
            <p:cNvSpPr>
              <a:spLocks noChangeShapeType="1"/>
            </p:cNvSpPr>
            <p:nvPr/>
          </p:nvSpPr>
          <p:spPr bwMode="auto">
            <a:xfrm>
              <a:off x="4184" y="3119"/>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5" name="Line 55"/>
            <p:cNvSpPr>
              <a:spLocks noChangeShapeType="1"/>
            </p:cNvSpPr>
            <p:nvPr/>
          </p:nvSpPr>
          <p:spPr bwMode="auto">
            <a:xfrm>
              <a:off x="4184" y="3288"/>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6" name="Line 56"/>
            <p:cNvSpPr>
              <a:spLocks noChangeShapeType="1"/>
            </p:cNvSpPr>
            <p:nvPr/>
          </p:nvSpPr>
          <p:spPr bwMode="auto">
            <a:xfrm>
              <a:off x="4184" y="3457"/>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7" name="Line 57"/>
            <p:cNvSpPr>
              <a:spLocks noChangeShapeType="1"/>
            </p:cNvSpPr>
            <p:nvPr/>
          </p:nvSpPr>
          <p:spPr bwMode="auto">
            <a:xfrm>
              <a:off x="4184" y="3625"/>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8" name="Line 58"/>
            <p:cNvSpPr>
              <a:spLocks noChangeShapeType="1"/>
            </p:cNvSpPr>
            <p:nvPr/>
          </p:nvSpPr>
          <p:spPr bwMode="auto">
            <a:xfrm>
              <a:off x="4184" y="3794"/>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39" name="Line 59"/>
            <p:cNvSpPr>
              <a:spLocks noChangeShapeType="1"/>
            </p:cNvSpPr>
            <p:nvPr/>
          </p:nvSpPr>
          <p:spPr bwMode="auto">
            <a:xfrm>
              <a:off x="4184" y="3963"/>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sp>
          <p:nvSpPr>
            <p:cNvPr id="993340" name="Line 60"/>
            <p:cNvSpPr>
              <a:spLocks noChangeShapeType="1"/>
            </p:cNvSpPr>
            <p:nvPr/>
          </p:nvSpPr>
          <p:spPr bwMode="auto">
            <a:xfrm>
              <a:off x="4184" y="4132"/>
              <a:ext cx="1344" cy="0"/>
            </a:xfrm>
            <a:prstGeom prst="line">
              <a:avLst/>
            </a:prstGeom>
            <a:noFill/>
            <a:ln w="9525">
              <a:solidFill>
                <a:schemeClr val="bg2"/>
              </a:solidFill>
              <a:round/>
              <a:headEnd/>
              <a:tailEnd/>
            </a:ln>
            <a:effectLst/>
          </p:spPr>
          <p:txBody>
            <a:bodyPr wrap="none" anchor="ctr"/>
            <a:lstStyle/>
            <a:p>
              <a:endParaRPr lang="zh-CN" altLang="en-US" b="1">
                <a:effectLst>
                  <a:outerShdw blurRad="38100" dist="38100" dir="2700000" algn="tl">
                    <a:srgbClr val="000000">
                      <a:alpha val="43137"/>
                    </a:srgbClr>
                  </a:outerShdw>
                </a:effectLst>
              </a:endParaRPr>
            </a:p>
          </p:txBody>
        </p:sp>
        <p:grpSp>
          <p:nvGrpSpPr>
            <p:cNvPr id="993341" name="Group 61"/>
            <p:cNvGrpSpPr>
              <a:grpSpLocks/>
            </p:cNvGrpSpPr>
            <p:nvPr/>
          </p:nvGrpSpPr>
          <p:grpSpPr bwMode="auto">
            <a:xfrm>
              <a:off x="3954" y="161"/>
              <a:ext cx="387" cy="4159"/>
              <a:chOff x="3954" y="161"/>
              <a:chExt cx="387" cy="4159"/>
            </a:xfrm>
          </p:grpSpPr>
          <p:sp>
            <p:nvSpPr>
              <p:cNvPr id="993342" name="Text Box 62"/>
              <p:cNvSpPr txBox="1">
                <a:spLocks noChangeArrowheads="1"/>
              </p:cNvSpPr>
              <p:nvPr/>
            </p:nvSpPr>
            <p:spPr bwMode="auto">
              <a:xfrm>
                <a:off x="4025" y="161"/>
                <a:ext cx="196" cy="826"/>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000000">
                          <a:alpha val="43137"/>
                        </a:srgbClr>
                      </a:outerShdw>
                    </a:effectLst>
                  </a:rPr>
                  <a:t>0</a:t>
                </a:r>
              </a:p>
              <a:p>
                <a:r>
                  <a:rPr lang="en-US" altLang="zh-CN" sz="2000" b="1">
                    <a:effectLst>
                      <a:outerShdw blurRad="38100" dist="38100" dir="2700000" algn="tl">
                        <a:srgbClr val="000000">
                          <a:alpha val="43137"/>
                        </a:srgbClr>
                      </a:outerShdw>
                    </a:effectLst>
                  </a:rPr>
                  <a:t>1</a:t>
                </a:r>
              </a:p>
              <a:p>
                <a:r>
                  <a:rPr lang="en-US" altLang="zh-CN" sz="2000" b="1">
                    <a:effectLst>
                      <a:outerShdw blurRad="38100" dist="38100" dir="2700000" algn="tl">
                        <a:srgbClr val="000000">
                          <a:alpha val="43137"/>
                        </a:srgbClr>
                      </a:outerShdw>
                    </a:effectLst>
                  </a:rPr>
                  <a:t>2</a:t>
                </a:r>
              </a:p>
              <a:p>
                <a:r>
                  <a:rPr lang="en-US" altLang="zh-CN" sz="2000" b="1">
                    <a:effectLst>
                      <a:outerShdw blurRad="38100" dist="38100" dir="2700000" algn="tl">
                        <a:srgbClr val="000000">
                          <a:alpha val="43137"/>
                        </a:srgbClr>
                      </a:outerShdw>
                    </a:effectLst>
                  </a:rPr>
                  <a:t>3</a:t>
                </a:r>
              </a:p>
            </p:txBody>
          </p:sp>
          <p:sp>
            <p:nvSpPr>
              <p:cNvPr id="993343" name="Text Box 63"/>
              <p:cNvSpPr txBox="1">
                <a:spLocks noChangeArrowheads="1"/>
              </p:cNvSpPr>
              <p:nvPr/>
            </p:nvSpPr>
            <p:spPr bwMode="auto">
              <a:xfrm>
                <a:off x="4016" y="865"/>
                <a:ext cx="196" cy="826"/>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000000">
                          <a:alpha val="43137"/>
                        </a:srgbClr>
                      </a:outerShdw>
                    </a:effectLst>
                  </a:rPr>
                  <a:t>4</a:t>
                </a:r>
              </a:p>
              <a:p>
                <a:r>
                  <a:rPr lang="en-US" altLang="zh-CN" sz="2000" b="1" dirty="0">
                    <a:effectLst>
                      <a:outerShdw blurRad="38100" dist="38100" dir="2700000" algn="tl">
                        <a:srgbClr val="000000">
                          <a:alpha val="43137"/>
                        </a:srgbClr>
                      </a:outerShdw>
                    </a:effectLst>
                  </a:rPr>
                  <a:t>5</a:t>
                </a:r>
              </a:p>
              <a:p>
                <a:r>
                  <a:rPr lang="en-US" altLang="zh-CN" sz="2000" b="1" dirty="0">
                    <a:effectLst>
                      <a:outerShdw blurRad="38100" dist="38100" dir="2700000" algn="tl">
                        <a:srgbClr val="000000">
                          <a:alpha val="43137"/>
                        </a:srgbClr>
                      </a:outerShdw>
                    </a:effectLst>
                  </a:rPr>
                  <a:t>6</a:t>
                </a:r>
              </a:p>
              <a:p>
                <a:r>
                  <a:rPr lang="en-US" altLang="zh-CN" sz="2000" b="1" dirty="0">
                    <a:effectLst>
                      <a:outerShdw blurRad="38100" dist="38100" dir="2700000" algn="tl">
                        <a:srgbClr val="000000">
                          <a:alpha val="43137"/>
                        </a:srgbClr>
                      </a:outerShdw>
                    </a:effectLst>
                  </a:rPr>
                  <a:t>7</a:t>
                </a:r>
              </a:p>
            </p:txBody>
          </p:sp>
          <p:sp>
            <p:nvSpPr>
              <p:cNvPr id="993344" name="Text Box 64"/>
              <p:cNvSpPr txBox="1">
                <a:spLocks noChangeArrowheads="1"/>
              </p:cNvSpPr>
              <p:nvPr/>
            </p:nvSpPr>
            <p:spPr bwMode="auto">
              <a:xfrm>
                <a:off x="4031" y="1726"/>
                <a:ext cx="310" cy="664"/>
              </a:xfrm>
              <a:prstGeom prst="rect">
                <a:avLst/>
              </a:prstGeom>
              <a:noFill/>
              <a:ln w="9525">
                <a:noFill/>
                <a:miter lim="800000"/>
                <a:headEnd/>
                <a:tailEnd/>
              </a:ln>
              <a:effectLst/>
            </p:spPr>
            <p:txBody>
              <a:bodyPr vert="eaVert" wrap="none">
                <a:spAutoFit/>
              </a:bodyPr>
              <a:lstStyle/>
              <a:p>
                <a:r>
                  <a:rPr lang="en-US" altLang="zh-CN" sz="2000" b="1">
                    <a:effectLst>
                      <a:outerShdw blurRad="38100" dist="38100" dir="2700000" algn="tl">
                        <a:srgbClr val="000000">
                          <a:alpha val="43137"/>
                        </a:srgbClr>
                      </a:outerShdw>
                    </a:effectLst>
                  </a:rPr>
                  <a:t>………...</a:t>
                </a:r>
              </a:p>
            </p:txBody>
          </p:sp>
          <p:sp>
            <p:nvSpPr>
              <p:cNvPr id="993345" name="Text Box 65"/>
              <p:cNvSpPr txBox="1">
                <a:spLocks noChangeArrowheads="1"/>
              </p:cNvSpPr>
              <p:nvPr/>
            </p:nvSpPr>
            <p:spPr bwMode="auto">
              <a:xfrm>
                <a:off x="3954" y="3494"/>
                <a:ext cx="276" cy="826"/>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000000">
                          <a:alpha val="43137"/>
                        </a:srgbClr>
                      </a:outerShdw>
                    </a:effectLst>
                  </a:rPr>
                  <a:t>20</a:t>
                </a:r>
              </a:p>
              <a:p>
                <a:r>
                  <a:rPr lang="en-US" altLang="zh-CN" sz="2000" b="1">
                    <a:effectLst>
                      <a:outerShdw blurRad="38100" dist="38100" dir="2700000" algn="tl">
                        <a:srgbClr val="000000">
                          <a:alpha val="43137"/>
                        </a:srgbClr>
                      </a:outerShdw>
                    </a:effectLst>
                  </a:rPr>
                  <a:t>21</a:t>
                </a:r>
              </a:p>
              <a:p>
                <a:r>
                  <a:rPr lang="en-US" altLang="zh-CN" sz="2000" b="1">
                    <a:effectLst>
                      <a:outerShdw blurRad="38100" dist="38100" dir="2700000" algn="tl">
                        <a:srgbClr val="000000">
                          <a:alpha val="43137"/>
                        </a:srgbClr>
                      </a:outerShdw>
                    </a:effectLst>
                  </a:rPr>
                  <a:t>22</a:t>
                </a:r>
              </a:p>
              <a:p>
                <a:r>
                  <a:rPr lang="en-US" altLang="zh-CN" sz="2000" b="1">
                    <a:effectLst>
                      <a:outerShdw blurRad="38100" dist="38100" dir="2700000" algn="tl">
                        <a:srgbClr val="000000">
                          <a:alpha val="43137"/>
                        </a:srgbClr>
                      </a:outerShdw>
                    </a:effectLst>
                  </a:rPr>
                  <a:t>23</a:t>
                </a:r>
              </a:p>
            </p:txBody>
          </p:sp>
        </p:grpSp>
        <p:grpSp>
          <p:nvGrpSpPr>
            <p:cNvPr id="993346" name="Group 66"/>
            <p:cNvGrpSpPr>
              <a:grpSpLocks/>
            </p:cNvGrpSpPr>
            <p:nvPr/>
          </p:nvGrpSpPr>
          <p:grpSpPr bwMode="auto">
            <a:xfrm>
              <a:off x="4503" y="194"/>
              <a:ext cx="684" cy="4126"/>
              <a:chOff x="3975" y="194"/>
              <a:chExt cx="684" cy="4126"/>
            </a:xfrm>
          </p:grpSpPr>
          <p:sp>
            <p:nvSpPr>
              <p:cNvPr id="993347" name="Text Box 67"/>
              <p:cNvSpPr txBox="1">
                <a:spLocks noChangeArrowheads="1"/>
              </p:cNvSpPr>
              <p:nvPr/>
            </p:nvSpPr>
            <p:spPr bwMode="auto">
              <a:xfrm>
                <a:off x="3975" y="194"/>
                <a:ext cx="684" cy="231"/>
              </a:xfrm>
              <a:prstGeom prst="rect">
                <a:avLst/>
              </a:prstGeom>
              <a:noFill/>
              <a:ln w="9525">
                <a:noFill/>
                <a:miter lim="800000"/>
                <a:headEnd/>
                <a:tailEnd/>
              </a:ln>
              <a:effectLst/>
            </p:spPr>
            <p:txBody>
              <a:bodyPr wrap="none">
                <a:spAutoFit/>
              </a:bodyPr>
              <a:lstStyle/>
              <a:p>
                <a:r>
                  <a:rPr lang="en-US" altLang="zh-CN" sz="1800" b="1" dirty="0">
                    <a:solidFill>
                      <a:srgbClr val="0000FF"/>
                    </a:solidFill>
                    <a:effectLst>
                      <a:outerShdw blurRad="38100" dist="38100" dir="2700000" algn="tl">
                        <a:srgbClr val="000000">
                          <a:alpha val="43137"/>
                        </a:srgbClr>
                      </a:outerShdw>
                    </a:effectLst>
                  </a:rPr>
                  <a:t>c[0][0][0]</a:t>
                </a:r>
                <a:endParaRPr lang="en-US" altLang="zh-CN" sz="1800" b="1" dirty="0">
                  <a:solidFill>
                    <a:schemeClr val="bg2"/>
                  </a:solidFill>
                  <a:effectLst>
                    <a:outerShdw blurRad="38100" dist="38100" dir="2700000" algn="tl">
                      <a:srgbClr val="000000">
                        <a:alpha val="43137"/>
                      </a:srgbClr>
                    </a:outerShdw>
                  </a:effectLst>
                </a:endParaRPr>
              </a:p>
            </p:txBody>
          </p:sp>
          <p:sp>
            <p:nvSpPr>
              <p:cNvPr id="993348" name="Text Box 68"/>
              <p:cNvSpPr txBox="1">
                <a:spLocks noChangeArrowheads="1"/>
              </p:cNvSpPr>
              <p:nvPr/>
            </p:nvSpPr>
            <p:spPr bwMode="auto">
              <a:xfrm>
                <a:off x="3975" y="368"/>
                <a:ext cx="684" cy="231"/>
              </a:xfrm>
              <a:prstGeom prst="rect">
                <a:avLst/>
              </a:prstGeom>
              <a:noFill/>
              <a:ln w="9525">
                <a:noFill/>
                <a:miter lim="800000"/>
                <a:headEnd/>
                <a:tailEnd/>
              </a:ln>
              <a:effectLst/>
            </p:spPr>
            <p:txBody>
              <a:bodyPr wrap="none">
                <a:spAutoFit/>
              </a:bodyPr>
              <a:lstStyle/>
              <a:p>
                <a:r>
                  <a:rPr lang="en-US" altLang="zh-CN" sz="1800" b="1">
                    <a:solidFill>
                      <a:srgbClr val="0000FF"/>
                    </a:solidFill>
                    <a:effectLst>
                      <a:outerShdw blurRad="38100" dist="38100" dir="2700000" algn="tl">
                        <a:srgbClr val="000000">
                          <a:alpha val="43137"/>
                        </a:srgbClr>
                      </a:outerShdw>
                    </a:effectLst>
                  </a:rPr>
                  <a:t>c[0][0][1]</a:t>
                </a:r>
              </a:p>
            </p:txBody>
          </p:sp>
          <p:sp>
            <p:nvSpPr>
              <p:cNvPr id="993349" name="Text Box 69"/>
              <p:cNvSpPr txBox="1">
                <a:spLocks noChangeArrowheads="1"/>
              </p:cNvSpPr>
              <p:nvPr/>
            </p:nvSpPr>
            <p:spPr bwMode="auto">
              <a:xfrm>
                <a:off x="3975" y="537"/>
                <a:ext cx="684" cy="231"/>
              </a:xfrm>
              <a:prstGeom prst="rect">
                <a:avLst/>
              </a:prstGeom>
              <a:noFill/>
              <a:ln w="9525">
                <a:noFill/>
                <a:miter lim="800000"/>
                <a:headEnd/>
                <a:tailEnd/>
              </a:ln>
              <a:effectLst/>
            </p:spPr>
            <p:txBody>
              <a:bodyPr wrap="none">
                <a:spAutoFit/>
              </a:bodyPr>
              <a:lstStyle/>
              <a:p>
                <a:r>
                  <a:rPr lang="en-US" altLang="zh-CN" sz="1800" b="1" dirty="0">
                    <a:solidFill>
                      <a:srgbClr val="0000FF"/>
                    </a:solidFill>
                    <a:effectLst>
                      <a:outerShdw blurRad="38100" dist="38100" dir="2700000" algn="tl">
                        <a:srgbClr val="000000">
                          <a:alpha val="43137"/>
                        </a:srgbClr>
                      </a:outerShdw>
                    </a:effectLst>
                  </a:rPr>
                  <a:t>c[0][0][2]</a:t>
                </a:r>
                <a:endParaRPr lang="en-US" altLang="zh-CN" sz="1800" b="1" dirty="0">
                  <a:solidFill>
                    <a:schemeClr val="bg2"/>
                  </a:solidFill>
                  <a:effectLst>
                    <a:outerShdw blurRad="38100" dist="38100" dir="2700000" algn="tl">
                      <a:srgbClr val="000000">
                        <a:alpha val="43137"/>
                      </a:srgbClr>
                    </a:outerShdw>
                  </a:effectLst>
                </a:endParaRPr>
              </a:p>
            </p:txBody>
          </p:sp>
          <p:sp>
            <p:nvSpPr>
              <p:cNvPr id="993350" name="Text Box 70"/>
              <p:cNvSpPr txBox="1">
                <a:spLocks noChangeArrowheads="1"/>
              </p:cNvSpPr>
              <p:nvPr/>
            </p:nvSpPr>
            <p:spPr bwMode="auto">
              <a:xfrm>
                <a:off x="3975" y="706"/>
                <a:ext cx="684" cy="231"/>
              </a:xfrm>
              <a:prstGeom prst="rect">
                <a:avLst/>
              </a:prstGeom>
              <a:noFill/>
              <a:ln w="9525">
                <a:noFill/>
                <a:miter lim="800000"/>
                <a:headEnd/>
                <a:tailEnd/>
              </a:ln>
              <a:effectLst/>
            </p:spPr>
            <p:txBody>
              <a:bodyPr wrap="none">
                <a:spAutoFit/>
              </a:bodyPr>
              <a:lstStyle/>
              <a:p>
                <a:r>
                  <a:rPr lang="en-US" altLang="zh-CN" sz="1800" b="1">
                    <a:solidFill>
                      <a:srgbClr val="0000FF"/>
                    </a:solidFill>
                    <a:effectLst>
                      <a:outerShdw blurRad="38100" dist="38100" dir="2700000" algn="tl">
                        <a:srgbClr val="000000">
                          <a:alpha val="43137"/>
                        </a:srgbClr>
                      </a:outerShdw>
                    </a:effectLst>
                  </a:rPr>
                  <a:t>c[0][0][3]</a:t>
                </a:r>
                <a:endParaRPr lang="en-US" altLang="zh-CN" sz="1800" b="1">
                  <a:solidFill>
                    <a:schemeClr val="bg2"/>
                  </a:solidFill>
                  <a:effectLst>
                    <a:outerShdw blurRad="38100" dist="38100" dir="2700000" algn="tl">
                      <a:srgbClr val="000000">
                        <a:alpha val="43137"/>
                      </a:srgbClr>
                    </a:outerShdw>
                  </a:effectLst>
                </a:endParaRPr>
              </a:p>
            </p:txBody>
          </p:sp>
          <p:sp>
            <p:nvSpPr>
              <p:cNvPr id="993351" name="Text Box 71"/>
              <p:cNvSpPr txBox="1">
                <a:spLocks noChangeArrowheads="1"/>
              </p:cNvSpPr>
              <p:nvPr/>
            </p:nvSpPr>
            <p:spPr bwMode="auto">
              <a:xfrm>
                <a:off x="3975" y="875"/>
                <a:ext cx="684" cy="231"/>
              </a:xfrm>
              <a:prstGeom prst="rect">
                <a:avLst/>
              </a:prstGeom>
              <a:noFill/>
              <a:ln w="9525">
                <a:noFill/>
                <a:miter lim="800000"/>
                <a:headEnd/>
                <a:tailEnd/>
              </a:ln>
              <a:effectLst/>
            </p:spPr>
            <p:txBody>
              <a:bodyPr>
                <a:spAutoFit/>
              </a:bodyPr>
              <a:lstStyle/>
              <a:p>
                <a:r>
                  <a:rPr lang="en-US" altLang="zh-CN" sz="1800" b="1" dirty="0">
                    <a:solidFill>
                      <a:srgbClr val="669900"/>
                    </a:solidFill>
                    <a:effectLst>
                      <a:outerShdw blurRad="38100" dist="38100" dir="2700000" algn="tl">
                        <a:srgbClr val="000000">
                          <a:alpha val="43137"/>
                        </a:srgbClr>
                      </a:outerShdw>
                    </a:effectLst>
                  </a:rPr>
                  <a:t>c[0][1][0]</a:t>
                </a:r>
                <a:endParaRPr lang="en-US" altLang="zh-CN" sz="1800" b="1" dirty="0">
                  <a:solidFill>
                    <a:schemeClr val="bg2"/>
                  </a:solidFill>
                  <a:effectLst>
                    <a:outerShdw blurRad="38100" dist="38100" dir="2700000" algn="tl">
                      <a:srgbClr val="000000">
                        <a:alpha val="43137"/>
                      </a:srgbClr>
                    </a:outerShdw>
                  </a:effectLst>
                </a:endParaRPr>
              </a:p>
            </p:txBody>
          </p:sp>
          <p:sp>
            <p:nvSpPr>
              <p:cNvPr id="993352" name="Text Box 72"/>
              <p:cNvSpPr txBox="1">
                <a:spLocks noChangeArrowheads="1"/>
              </p:cNvSpPr>
              <p:nvPr/>
            </p:nvSpPr>
            <p:spPr bwMode="auto">
              <a:xfrm>
                <a:off x="3975" y="1044"/>
                <a:ext cx="684" cy="231"/>
              </a:xfrm>
              <a:prstGeom prst="rect">
                <a:avLst/>
              </a:prstGeom>
              <a:noFill/>
              <a:ln w="9525">
                <a:noFill/>
                <a:miter lim="800000"/>
                <a:headEnd/>
                <a:tailEnd/>
              </a:ln>
              <a:effectLst/>
            </p:spPr>
            <p:txBody>
              <a:bodyPr wrap="none">
                <a:spAutoFit/>
              </a:bodyPr>
              <a:lstStyle/>
              <a:p>
                <a:r>
                  <a:rPr lang="en-US" altLang="zh-CN" sz="1800" b="1" dirty="0">
                    <a:solidFill>
                      <a:srgbClr val="669900"/>
                    </a:solidFill>
                    <a:effectLst>
                      <a:outerShdw blurRad="38100" dist="38100" dir="2700000" algn="tl">
                        <a:srgbClr val="000000">
                          <a:alpha val="43137"/>
                        </a:srgbClr>
                      </a:outerShdw>
                    </a:effectLst>
                  </a:rPr>
                  <a:t>c[0][1][1]</a:t>
                </a:r>
              </a:p>
            </p:txBody>
          </p:sp>
          <p:sp>
            <p:nvSpPr>
              <p:cNvPr id="993353" name="Text Box 73"/>
              <p:cNvSpPr txBox="1">
                <a:spLocks noChangeArrowheads="1"/>
              </p:cNvSpPr>
              <p:nvPr/>
            </p:nvSpPr>
            <p:spPr bwMode="auto">
              <a:xfrm>
                <a:off x="3975" y="1214"/>
                <a:ext cx="684" cy="231"/>
              </a:xfrm>
              <a:prstGeom prst="rect">
                <a:avLst/>
              </a:prstGeom>
              <a:noFill/>
              <a:ln w="9525">
                <a:noFill/>
                <a:miter lim="800000"/>
                <a:headEnd/>
                <a:tailEnd/>
              </a:ln>
              <a:effectLst/>
            </p:spPr>
            <p:txBody>
              <a:bodyPr wrap="none">
                <a:spAutoFit/>
              </a:bodyPr>
              <a:lstStyle/>
              <a:p>
                <a:r>
                  <a:rPr lang="en-US" altLang="zh-CN" sz="1800" b="1">
                    <a:solidFill>
                      <a:srgbClr val="669900"/>
                    </a:solidFill>
                    <a:effectLst>
                      <a:outerShdw blurRad="38100" dist="38100" dir="2700000" algn="tl">
                        <a:srgbClr val="000000">
                          <a:alpha val="43137"/>
                        </a:srgbClr>
                      </a:outerShdw>
                    </a:effectLst>
                  </a:rPr>
                  <a:t>c[0][1][2]</a:t>
                </a:r>
                <a:endParaRPr lang="en-US" altLang="zh-CN" sz="1800" b="1">
                  <a:solidFill>
                    <a:schemeClr val="bg2"/>
                  </a:solidFill>
                  <a:effectLst>
                    <a:outerShdw blurRad="38100" dist="38100" dir="2700000" algn="tl">
                      <a:srgbClr val="000000">
                        <a:alpha val="43137"/>
                      </a:srgbClr>
                    </a:outerShdw>
                  </a:effectLst>
                </a:endParaRPr>
              </a:p>
            </p:txBody>
          </p:sp>
          <p:sp>
            <p:nvSpPr>
              <p:cNvPr id="993354" name="Text Box 74"/>
              <p:cNvSpPr txBox="1">
                <a:spLocks noChangeArrowheads="1"/>
              </p:cNvSpPr>
              <p:nvPr/>
            </p:nvSpPr>
            <p:spPr bwMode="auto">
              <a:xfrm>
                <a:off x="3975" y="1383"/>
                <a:ext cx="684" cy="231"/>
              </a:xfrm>
              <a:prstGeom prst="rect">
                <a:avLst/>
              </a:prstGeom>
              <a:noFill/>
              <a:ln w="9525">
                <a:noFill/>
                <a:miter lim="800000"/>
                <a:headEnd/>
                <a:tailEnd/>
              </a:ln>
              <a:effectLst/>
            </p:spPr>
            <p:txBody>
              <a:bodyPr wrap="none">
                <a:spAutoFit/>
              </a:bodyPr>
              <a:lstStyle/>
              <a:p>
                <a:r>
                  <a:rPr lang="en-US" altLang="zh-CN" sz="1800" b="1">
                    <a:solidFill>
                      <a:srgbClr val="669900"/>
                    </a:solidFill>
                    <a:effectLst>
                      <a:outerShdw blurRad="38100" dist="38100" dir="2700000" algn="tl">
                        <a:srgbClr val="000000">
                          <a:alpha val="43137"/>
                        </a:srgbClr>
                      </a:outerShdw>
                    </a:effectLst>
                  </a:rPr>
                  <a:t>c[0][1][3]</a:t>
                </a:r>
              </a:p>
            </p:txBody>
          </p:sp>
          <p:sp>
            <p:nvSpPr>
              <p:cNvPr id="993355" name="Text Box 75"/>
              <p:cNvSpPr txBox="1">
                <a:spLocks noChangeArrowheads="1"/>
              </p:cNvSpPr>
              <p:nvPr/>
            </p:nvSpPr>
            <p:spPr bwMode="auto">
              <a:xfrm>
                <a:off x="3975" y="1552"/>
                <a:ext cx="684" cy="231"/>
              </a:xfrm>
              <a:prstGeom prst="rect">
                <a:avLst/>
              </a:prstGeom>
              <a:noFill/>
              <a:ln w="9525">
                <a:noFill/>
                <a:miter lim="800000"/>
                <a:headEnd/>
                <a:tailEnd/>
              </a:ln>
              <a:effectLst/>
            </p:spPr>
            <p:txBody>
              <a:bodyPr wrap="none">
                <a:spAutoFit/>
              </a:bodyPr>
              <a:lstStyle/>
              <a:p>
                <a:r>
                  <a:rPr lang="en-US" altLang="zh-CN" sz="1800" b="1">
                    <a:solidFill>
                      <a:srgbClr val="FF9900"/>
                    </a:solidFill>
                    <a:effectLst>
                      <a:outerShdw blurRad="38100" dist="38100" dir="2700000" algn="tl">
                        <a:srgbClr val="000000">
                          <a:alpha val="43137"/>
                        </a:srgbClr>
                      </a:outerShdw>
                    </a:effectLst>
                  </a:rPr>
                  <a:t>c[0][2][0]</a:t>
                </a:r>
                <a:endParaRPr lang="en-US" altLang="zh-CN" sz="1800" b="1">
                  <a:solidFill>
                    <a:schemeClr val="bg2"/>
                  </a:solidFill>
                  <a:effectLst>
                    <a:outerShdw blurRad="38100" dist="38100" dir="2700000" algn="tl">
                      <a:srgbClr val="000000">
                        <a:alpha val="43137"/>
                      </a:srgbClr>
                    </a:outerShdw>
                  </a:effectLst>
                </a:endParaRPr>
              </a:p>
            </p:txBody>
          </p:sp>
          <p:sp>
            <p:nvSpPr>
              <p:cNvPr id="993356" name="Text Box 76"/>
              <p:cNvSpPr txBox="1">
                <a:spLocks noChangeArrowheads="1"/>
              </p:cNvSpPr>
              <p:nvPr/>
            </p:nvSpPr>
            <p:spPr bwMode="auto">
              <a:xfrm>
                <a:off x="3975" y="1721"/>
                <a:ext cx="684" cy="231"/>
              </a:xfrm>
              <a:prstGeom prst="rect">
                <a:avLst/>
              </a:prstGeom>
              <a:noFill/>
              <a:ln w="9525">
                <a:noFill/>
                <a:miter lim="800000"/>
                <a:headEnd/>
                <a:tailEnd/>
              </a:ln>
              <a:effectLst/>
            </p:spPr>
            <p:txBody>
              <a:bodyPr wrap="none">
                <a:spAutoFit/>
              </a:bodyPr>
              <a:lstStyle/>
              <a:p>
                <a:r>
                  <a:rPr lang="en-US" altLang="zh-CN" sz="1800" b="1" dirty="0">
                    <a:solidFill>
                      <a:srgbClr val="FF9900"/>
                    </a:solidFill>
                    <a:effectLst>
                      <a:outerShdw blurRad="38100" dist="38100" dir="2700000" algn="tl">
                        <a:srgbClr val="000000">
                          <a:alpha val="43137"/>
                        </a:srgbClr>
                      </a:outerShdw>
                    </a:effectLst>
                  </a:rPr>
                  <a:t>c[0][2][1]</a:t>
                </a:r>
                <a:endParaRPr lang="en-US" altLang="zh-CN" sz="1800" b="1" dirty="0">
                  <a:solidFill>
                    <a:schemeClr val="bg2"/>
                  </a:solidFill>
                  <a:effectLst>
                    <a:outerShdw blurRad="38100" dist="38100" dir="2700000" algn="tl">
                      <a:srgbClr val="000000">
                        <a:alpha val="43137"/>
                      </a:srgbClr>
                    </a:outerShdw>
                  </a:effectLst>
                </a:endParaRPr>
              </a:p>
            </p:txBody>
          </p:sp>
          <p:sp>
            <p:nvSpPr>
              <p:cNvPr id="993357" name="Text Box 77"/>
              <p:cNvSpPr txBox="1">
                <a:spLocks noChangeArrowheads="1"/>
              </p:cNvSpPr>
              <p:nvPr/>
            </p:nvSpPr>
            <p:spPr bwMode="auto">
              <a:xfrm>
                <a:off x="3975" y="1890"/>
                <a:ext cx="684" cy="231"/>
              </a:xfrm>
              <a:prstGeom prst="rect">
                <a:avLst/>
              </a:prstGeom>
              <a:noFill/>
              <a:ln w="9525">
                <a:noFill/>
                <a:miter lim="800000"/>
                <a:headEnd/>
                <a:tailEnd/>
              </a:ln>
              <a:effectLst/>
            </p:spPr>
            <p:txBody>
              <a:bodyPr wrap="none">
                <a:spAutoFit/>
              </a:bodyPr>
              <a:lstStyle/>
              <a:p>
                <a:r>
                  <a:rPr lang="en-US" altLang="zh-CN" sz="1800" b="1">
                    <a:solidFill>
                      <a:srgbClr val="FF9900"/>
                    </a:solidFill>
                    <a:effectLst>
                      <a:outerShdw blurRad="38100" dist="38100" dir="2700000" algn="tl">
                        <a:srgbClr val="000000">
                          <a:alpha val="43137"/>
                        </a:srgbClr>
                      </a:outerShdw>
                    </a:effectLst>
                  </a:rPr>
                  <a:t>c[0][2][2]</a:t>
                </a:r>
              </a:p>
            </p:txBody>
          </p:sp>
          <p:sp>
            <p:nvSpPr>
              <p:cNvPr id="993358" name="Text Box 78"/>
              <p:cNvSpPr txBox="1">
                <a:spLocks noChangeArrowheads="1"/>
              </p:cNvSpPr>
              <p:nvPr/>
            </p:nvSpPr>
            <p:spPr bwMode="auto">
              <a:xfrm>
                <a:off x="3975" y="2059"/>
                <a:ext cx="684" cy="231"/>
              </a:xfrm>
              <a:prstGeom prst="rect">
                <a:avLst/>
              </a:prstGeom>
              <a:noFill/>
              <a:ln w="9525">
                <a:noFill/>
                <a:miter lim="800000"/>
                <a:headEnd/>
                <a:tailEnd/>
              </a:ln>
              <a:effectLst/>
            </p:spPr>
            <p:txBody>
              <a:bodyPr wrap="none">
                <a:spAutoFit/>
              </a:bodyPr>
              <a:lstStyle/>
              <a:p>
                <a:r>
                  <a:rPr lang="en-US" altLang="zh-CN" sz="1800" b="1">
                    <a:solidFill>
                      <a:srgbClr val="FF9900"/>
                    </a:solidFill>
                    <a:effectLst>
                      <a:outerShdw blurRad="38100" dist="38100" dir="2700000" algn="tl">
                        <a:srgbClr val="000000">
                          <a:alpha val="43137"/>
                        </a:srgbClr>
                      </a:outerShdw>
                    </a:effectLst>
                  </a:rPr>
                  <a:t>c[0][2][3]</a:t>
                </a:r>
                <a:endParaRPr lang="en-US" altLang="zh-CN" sz="1800" b="1">
                  <a:solidFill>
                    <a:schemeClr val="bg2"/>
                  </a:solidFill>
                  <a:effectLst>
                    <a:outerShdw blurRad="38100" dist="38100" dir="2700000" algn="tl">
                      <a:srgbClr val="000000">
                        <a:alpha val="43137"/>
                      </a:srgbClr>
                    </a:outerShdw>
                  </a:effectLst>
                </a:endParaRPr>
              </a:p>
            </p:txBody>
          </p:sp>
          <p:sp>
            <p:nvSpPr>
              <p:cNvPr id="993359" name="Text Box 79"/>
              <p:cNvSpPr txBox="1">
                <a:spLocks noChangeArrowheads="1"/>
              </p:cNvSpPr>
              <p:nvPr/>
            </p:nvSpPr>
            <p:spPr bwMode="auto">
              <a:xfrm>
                <a:off x="3975" y="2229"/>
                <a:ext cx="684" cy="231"/>
              </a:xfrm>
              <a:prstGeom prst="rect">
                <a:avLst/>
              </a:prstGeom>
              <a:noFill/>
              <a:ln w="9525">
                <a:noFill/>
                <a:miter lim="800000"/>
                <a:headEnd/>
                <a:tailEnd/>
              </a:ln>
              <a:effectLst/>
            </p:spPr>
            <p:txBody>
              <a:bodyPr wrap="none">
                <a:spAutoFit/>
              </a:bodyPr>
              <a:lstStyle/>
              <a:p>
                <a:r>
                  <a:rPr lang="en-US" altLang="zh-CN" sz="1800" b="1">
                    <a:solidFill>
                      <a:srgbClr val="800000"/>
                    </a:solidFill>
                    <a:effectLst>
                      <a:outerShdw blurRad="38100" dist="38100" dir="2700000" algn="tl">
                        <a:srgbClr val="000000">
                          <a:alpha val="43137"/>
                        </a:srgbClr>
                      </a:outerShdw>
                    </a:effectLst>
                  </a:rPr>
                  <a:t>c[1][0][0]</a:t>
                </a:r>
                <a:endParaRPr lang="en-US" altLang="zh-CN" sz="1800" b="1">
                  <a:solidFill>
                    <a:schemeClr val="bg2"/>
                  </a:solidFill>
                  <a:effectLst>
                    <a:outerShdw blurRad="38100" dist="38100" dir="2700000" algn="tl">
                      <a:srgbClr val="000000">
                        <a:alpha val="43137"/>
                      </a:srgbClr>
                    </a:outerShdw>
                  </a:effectLst>
                </a:endParaRPr>
              </a:p>
            </p:txBody>
          </p:sp>
          <p:sp>
            <p:nvSpPr>
              <p:cNvPr id="993360" name="Text Box 80"/>
              <p:cNvSpPr txBox="1">
                <a:spLocks noChangeArrowheads="1"/>
              </p:cNvSpPr>
              <p:nvPr/>
            </p:nvSpPr>
            <p:spPr bwMode="auto">
              <a:xfrm>
                <a:off x="3975" y="2398"/>
                <a:ext cx="684" cy="231"/>
              </a:xfrm>
              <a:prstGeom prst="rect">
                <a:avLst/>
              </a:prstGeom>
              <a:noFill/>
              <a:ln w="9525">
                <a:noFill/>
                <a:miter lim="800000"/>
                <a:headEnd/>
                <a:tailEnd/>
              </a:ln>
              <a:effectLst/>
            </p:spPr>
            <p:txBody>
              <a:bodyPr wrap="none">
                <a:spAutoFit/>
              </a:bodyPr>
              <a:lstStyle/>
              <a:p>
                <a:r>
                  <a:rPr lang="en-US" altLang="zh-CN" sz="1800" b="1" dirty="0">
                    <a:solidFill>
                      <a:srgbClr val="800000"/>
                    </a:solidFill>
                    <a:effectLst>
                      <a:outerShdw blurRad="38100" dist="38100" dir="2700000" algn="tl">
                        <a:srgbClr val="000000">
                          <a:alpha val="43137"/>
                        </a:srgbClr>
                      </a:outerShdw>
                    </a:effectLst>
                  </a:rPr>
                  <a:t>c[1][0][1]</a:t>
                </a:r>
                <a:endParaRPr lang="en-US" altLang="zh-CN" sz="1800" b="1" dirty="0">
                  <a:solidFill>
                    <a:schemeClr val="bg2"/>
                  </a:solidFill>
                  <a:effectLst>
                    <a:outerShdw blurRad="38100" dist="38100" dir="2700000" algn="tl">
                      <a:srgbClr val="000000">
                        <a:alpha val="43137"/>
                      </a:srgbClr>
                    </a:outerShdw>
                  </a:effectLst>
                </a:endParaRPr>
              </a:p>
            </p:txBody>
          </p:sp>
          <p:sp>
            <p:nvSpPr>
              <p:cNvPr id="993361" name="Text Box 81"/>
              <p:cNvSpPr txBox="1">
                <a:spLocks noChangeArrowheads="1"/>
              </p:cNvSpPr>
              <p:nvPr/>
            </p:nvSpPr>
            <p:spPr bwMode="auto">
              <a:xfrm>
                <a:off x="3975" y="2567"/>
                <a:ext cx="684" cy="231"/>
              </a:xfrm>
              <a:prstGeom prst="rect">
                <a:avLst/>
              </a:prstGeom>
              <a:noFill/>
              <a:ln w="9525">
                <a:noFill/>
                <a:miter lim="800000"/>
                <a:headEnd/>
                <a:tailEnd/>
              </a:ln>
              <a:effectLst/>
            </p:spPr>
            <p:txBody>
              <a:bodyPr wrap="none">
                <a:spAutoFit/>
              </a:bodyPr>
              <a:lstStyle/>
              <a:p>
                <a:r>
                  <a:rPr lang="en-US" altLang="zh-CN" sz="1800" b="1">
                    <a:solidFill>
                      <a:srgbClr val="800000"/>
                    </a:solidFill>
                    <a:effectLst>
                      <a:outerShdw blurRad="38100" dist="38100" dir="2700000" algn="tl">
                        <a:srgbClr val="000000">
                          <a:alpha val="43137"/>
                        </a:srgbClr>
                      </a:outerShdw>
                    </a:effectLst>
                  </a:rPr>
                  <a:t>c[1][0][2]</a:t>
                </a:r>
              </a:p>
            </p:txBody>
          </p:sp>
          <p:sp>
            <p:nvSpPr>
              <p:cNvPr id="993362" name="Text Box 82"/>
              <p:cNvSpPr txBox="1">
                <a:spLocks noChangeArrowheads="1"/>
              </p:cNvSpPr>
              <p:nvPr/>
            </p:nvSpPr>
            <p:spPr bwMode="auto">
              <a:xfrm>
                <a:off x="3975" y="2736"/>
                <a:ext cx="684" cy="231"/>
              </a:xfrm>
              <a:prstGeom prst="rect">
                <a:avLst/>
              </a:prstGeom>
              <a:noFill/>
              <a:ln w="9525">
                <a:noFill/>
                <a:miter lim="800000"/>
                <a:headEnd/>
                <a:tailEnd/>
              </a:ln>
              <a:effectLst/>
            </p:spPr>
            <p:txBody>
              <a:bodyPr wrap="none">
                <a:spAutoFit/>
              </a:bodyPr>
              <a:lstStyle/>
              <a:p>
                <a:r>
                  <a:rPr lang="en-US" altLang="zh-CN" sz="1800" b="1">
                    <a:solidFill>
                      <a:srgbClr val="800000"/>
                    </a:solidFill>
                    <a:effectLst>
                      <a:outerShdw blurRad="38100" dist="38100" dir="2700000" algn="tl">
                        <a:srgbClr val="000000">
                          <a:alpha val="43137"/>
                        </a:srgbClr>
                      </a:outerShdw>
                    </a:effectLst>
                  </a:rPr>
                  <a:t>c[1][0][3]</a:t>
                </a:r>
              </a:p>
            </p:txBody>
          </p:sp>
          <p:sp>
            <p:nvSpPr>
              <p:cNvPr id="993363" name="Text Box 83"/>
              <p:cNvSpPr txBox="1">
                <a:spLocks noChangeArrowheads="1"/>
              </p:cNvSpPr>
              <p:nvPr/>
            </p:nvSpPr>
            <p:spPr bwMode="auto">
              <a:xfrm>
                <a:off x="3975" y="2905"/>
                <a:ext cx="684" cy="231"/>
              </a:xfrm>
              <a:prstGeom prst="rect">
                <a:avLst/>
              </a:prstGeom>
              <a:noFill/>
              <a:ln w="9525">
                <a:noFill/>
                <a:miter lim="800000"/>
                <a:headEnd/>
                <a:tailEnd/>
              </a:ln>
              <a:effectLst/>
            </p:spPr>
            <p:txBody>
              <a:bodyPr wrap="none">
                <a:spAutoFit/>
              </a:bodyPr>
              <a:lstStyle/>
              <a:p>
                <a:r>
                  <a:rPr lang="en-US" altLang="zh-CN" sz="1800" b="1">
                    <a:solidFill>
                      <a:srgbClr val="FF3300"/>
                    </a:solidFill>
                    <a:effectLst>
                      <a:outerShdw blurRad="38100" dist="38100" dir="2700000" algn="tl">
                        <a:srgbClr val="000000">
                          <a:alpha val="43137"/>
                        </a:srgbClr>
                      </a:outerShdw>
                    </a:effectLst>
                  </a:rPr>
                  <a:t>c[1][1][0]</a:t>
                </a:r>
                <a:endParaRPr lang="en-US" altLang="zh-CN" sz="1800" b="1">
                  <a:solidFill>
                    <a:schemeClr val="bg2"/>
                  </a:solidFill>
                  <a:effectLst>
                    <a:outerShdw blurRad="38100" dist="38100" dir="2700000" algn="tl">
                      <a:srgbClr val="000000">
                        <a:alpha val="43137"/>
                      </a:srgbClr>
                    </a:outerShdw>
                  </a:effectLst>
                </a:endParaRPr>
              </a:p>
            </p:txBody>
          </p:sp>
          <p:sp>
            <p:nvSpPr>
              <p:cNvPr id="993364" name="Text Box 84"/>
              <p:cNvSpPr txBox="1">
                <a:spLocks noChangeArrowheads="1"/>
              </p:cNvSpPr>
              <p:nvPr/>
            </p:nvSpPr>
            <p:spPr bwMode="auto">
              <a:xfrm>
                <a:off x="3975" y="3074"/>
                <a:ext cx="684" cy="231"/>
              </a:xfrm>
              <a:prstGeom prst="rect">
                <a:avLst/>
              </a:prstGeom>
              <a:noFill/>
              <a:ln w="9525">
                <a:noFill/>
                <a:miter lim="800000"/>
                <a:headEnd/>
                <a:tailEnd/>
              </a:ln>
              <a:effectLst/>
            </p:spPr>
            <p:txBody>
              <a:bodyPr wrap="none">
                <a:spAutoFit/>
              </a:bodyPr>
              <a:lstStyle/>
              <a:p>
                <a:r>
                  <a:rPr lang="en-US" altLang="zh-CN" sz="1800" b="1">
                    <a:solidFill>
                      <a:srgbClr val="FF3300"/>
                    </a:solidFill>
                    <a:effectLst>
                      <a:outerShdw blurRad="38100" dist="38100" dir="2700000" algn="tl">
                        <a:srgbClr val="000000">
                          <a:alpha val="43137"/>
                        </a:srgbClr>
                      </a:outerShdw>
                    </a:effectLst>
                  </a:rPr>
                  <a:t>c[1][1][1]</a:t>
                </a:r>
              </a:p>
            </p:txBody>
          </p:sp>
          <p:sp>
            <p:nvSpPr>
              <p:cNvPr id="993365" name="Text Box 85"/>
              <p:cNvSpPr txBox="1">
                <a:spLocks noChangeArrowheads="1"/>
              </p:cNvSpPr>
              <p:nvPr/>
            </p:nvSpPr>
            <p:spPr bwMode="auto">
              <a:xfrm>
                <a:off x="3975" y="3244"/>
                <a:ext cx="684" cy="231"/>
              </a:xfrm>
              <a:prstGeom prst="rect">
                <a:avLst/>
              </a:prstGeom>
              <a:noFill/>
              <a:ln w="9525">
                <a:noFill/>
                <a:miter lim="800000"/>
                <a:headEnd/>
                <a:tailEnd/>
              </a:ln>
              <a:effectLst/>
            </p:spPr>
            <p:txBody>
              <a:bodyPr wrap="none">
                <a:spAutoFit/>
              </a:bodyPr>
              <a:lstStyle/>
              <a:p>
                <a:r>
                  <a:rPr lang="en-US" altLang="zh-CN" sz="1800" b="1" dirty="0">
                    <a:solidFill>
                      <a:srgbClr val="FF3300"/>
                    </a:solidFill>
                    <a:effectLst>
                      <a:outerShdw blurRad="38100" dist="38100" dir="2700000" algn="tl">
                        <a:srgbClr val="000000">
                          <a:alpha val="43137"/>
                        </a:srgbClr>
                      </a:outerShdw>
                    </a:effectLst>
                  </a:rPr>
                  <a:t>c[1][1][2]</a:t>
                </a:r>
                <a:endParaRPr lang="en-US" altLang="zh-CN" sz="1800" b="1" dirty="0">
                  <a:solidFill>
                    <a:schemeClr val="bg2"/>
                  </a:solidFill>
                  <a:effectLst>
                    <a:outerShdw blurRad="38100" dist="38100" dir="2700000" algn="tl">
                      <a:srgbClr val="000000">
                        <a:alpha val="43137"/>
                      </a:srgbClr>
                    </a:outerShdw>
                  </a:effectLst>
                </a:endParaRPr>
              </a:p>
            </p:txBody>
          </p:sp>
          <p:sp>
            <p:nvSpPr>
              <p:cNvPr id="993366" name="Text Box 86"/>
              <p:cNvSpPr txBox="1">
                <a:spLocks noChangeArrowheads="1"/>
              </p:cNvSpPr>
              <p:nvPr/>
            </p:nvSpPr>
            <p:spPr bwMode="auto">
              <a:xfrm>
                <a:off x="3975" y="3413"/>
                <a:ext cx="684" cy="231"/>
              </a:xfrm>
              <a:prstGeom prst="rect">
                <a:avLst/>
              </a:prstGeom>
              <a:noFill/>
              <a:ln w="9525">
                <a:noFill/>
                <a:miter lim="800000"/>
                <a:headEnd/>
                <a:tailEnd/>
              </a:ln>
              <a:effectLst/>
            </p:spPr>
            <p:txBody>
              <a:bodyPr wrap="none">
                <a:spAutoFit/>
              </a:bodyPr>
              <a:lstStyle/>
              <a:p>
                <a:r>
                  <a:rPr lang="en-US" altLang="zh-CN" sz="1800" b="1">
                    <a:solidFill>
                      <a:srgbClr val="FF3300"/>
                    </a:solidFill>
                    <a:effectLst>
                      <a:outerShdw blurRad="38100" dist="38100" dir="2700000" algn="tl">
                        <a:srgbClr val="000000">
                          <a:alpha val="43137"/>
                        </a:srgbClr>
                      </a:outerShdw>
                    </a:effectLst>
                  </a:rPr>
                  <a:t>c[1][1][3]</a:t>
                </a:r>
                <a:endParaRPr lang="en-US" altLang="zh-CN" sz="1800" b="1">
                  <a:solidFill>
                    <a:schemeClr val="bg2"/>
                  </a:solidFill>
                  <a:effectLst>
                    <a:outerShdw blurRad="38100" dist="38100" dir="2700000" algn="tl">
                      <a:srgbClr val="000000">
                        <a:alpha val="43137"/>
                      </a:srgbClr>
                    </a:outerShdw>
                  </a:effectLst>
                </a:endParaRPr>
              </a:p>
            </p:txBody>
          </p:sp>
          <p:sp>
            <p:nvSpPr>
              <p:cNvPr id="993367" name="Text Box 87"/>
              <p:cNvSpPr txBox="1">
                <a:spLocks noChangeArrowheads="1"/>
              </p:cNvSpPr>
              <p:nvPr/>
            </p:nvSpPr>
            <p:spPr bwMode="auto">
              <a:xfrm>
                <a:off x="3975" y="3582"/>
                <a:ext cx="684" cy="231"/>
              </a:xfrm>
              <a:prstGeom prst="rect">
                <a:avLst/>
              </a:prstGeom>
              <a:noFill/>
              <a:ln w="9525">
                <a:noFill/>
                <a:miter lim="800000"/>
                <a:headEnd/>
                <a:tailEnd/>
              </a:ln>
              <a:effectLst/>
            </p:spPr>
            <p:txBody>
              <a:bodyPr wrap="none">
                <a:spAutoFit/>
              </a:bodyPr>
              <a:lstStyle/>
              <a:p>
                <a:r>
                  <a:rPr lang="en-US" altLang="zh-CN" sz="1800" b="1">
                    <a:solidFill>
                      <a:schemeClr val="bg2"/>
                    </a:solidFill>
                    <a:effectLst>
                      <a:outerShdw blurRad="38100" dist="38100" dir="2700000" algn="tl">
                        <a:srgbClr val="000000">
                          <a:alpha val="43137"/>
                        </a:srgbClr>
                      </a:outerShdw>
                    </a:effectLst>
                  </a:rPr>
                  <a:t>c[1][2][0]</a:t>
                </a:r>
              </a:p>
            </p:txBody>
          </p:sp>
          <p:sp>
            <p:nvSpPr>
              <p:cNvPr id="993368" name="Text Box 88"/>
              <p:cNvSpPr txBox="1">
                <a:spLocks noChangeArrowheads="1"/>
              </p:cNvSpPr>
              <p:nvPr/>
            </p:nvSpPr>
            <p:spPr bwMode="auto">
              <a:xfrm>
                <a:off x="3975" y="3751"/>
                <a:ext cx="684" cy="231"/>
              </a:xfrm>
              <a:prstGeom prst="rect">
                <a:avLst/>
              </a:prstGeom>
              <a:noFill/>
              <a:ln w="9525">
                <a:noFill/>
                <a:miter lim="800000"/>
                <a:headEnd/>
                <a:tailEnd/>
              </a:ln>
              <a:effectLst/>
            </p:spPr>
            <p:txBody>
              <a:bodyPr wrap="none">
                <a:spAutoFit/>
              </a:bodyPr>
              <a:lstStyle/>
              <a:p>
                <a:r>
                  <a:rPr lang="en-US" altLang="zh-CN" sz="1800" b="1">
                    <a:solidFill>
                      <a:schemeClr val="bg2"/>
                    </a:solidFill>
                    <a:effectLst>
                      <a:outerShdw blurRad="38100" dist="38100" dir="2700000" algn="tl">
                        <a:srgbClr val="000000">
                          <a:alpha val="43137"/>
                        </a:srgbClr>
                      </a:outerShdw>
                    </a:effectLst>
                  </a:rPr>
                  <a:t>c[1][2][1]</a:t>
                </a:r>
              </a:p>
            </p:txBody>
          </p:sp>
          <p:sp>
            <p:nvSpPr>
              <p:cNvPr id="993369" name="Text Box 89"/>
              <p:cNvSpPr txBox="1">
                <a:spLocks noChangeArrowheads="1"/>
              </p:cNvSpPr>
              <p:nvPr/>
            </p:nvSpPr>
            <p:spPr bwMode="auto">
              <a:xfrm>
                <a:off x="3975" y="3920"/>
                <a:ext cx="684" cy="231"/>
              </a:xfrm>
              <a:prstGeom prst="rect">
                <a:avLst/>
              </a:prstGeom>
              <a:noFill/>
              <a:ln w="9525">
                <a:noFill/>
                <a:miter lim="800000"/>
                <a:headEnd/>
                <a:tailEnd/>
              </a:ln>
              <a:effectLst/>
            </p:spPr>
            <p:txBody>
              <a:bodyPr wrap="none">
                <a:spAutoFit/>
              </a:bodyPr>
              <a:lstStyle/>
              <a:p>
                <a:r>
                  <a:rPr lang="en-US" altLang="zh-CN" sz="1800" b="1">
                    <a:solidFill>
                      <a:schemeClr val="bg2"/>
                    </a:solidFill>
                    <a:effectLst>
                      <a:outerShdw blurRad="38100" dist="38100" dir="2700000" algn="tl">
                        <a:srgbClr val="000000">
                          <a:alpha val="43137"/>
                        </a:srgbClr>
                      </a:outerShdw>
                    </a:effectLst>
                  </a:rPr>
                  <a:t>c[1][2][2]</a:t>
                </a:r>
              </a:p>
            </p:txBody>
          </p:sp>
          <p:sp>
            <p:nvSpPr>
              <p:cNvPr id="993370" name="Text Box 90"/>
              <p:cNvSpPr txBox="1">
                <a:spLocks noChangeArrowheads="1"/>
              </p:cNvSpPr>
              <p:nvPr/>
            </p:nvSpPr>
            <p:spPr bwMode="auto">
              <a:xfrm>
                <a:off x="3975" y="4089"/>
                <a:ext cx="684" cy="231"/>
              </a:xfrm>
              <a:prstGeom prst="rect">
                <a:avLst/>
              </a:prstGeom>
              <a:noFill/>
              <a:ln w="9525">
                <a:noFill/>
                <a:miter lim="800000"/>
                <a:headEnd/>
                <a:tailEnd/>
              </a:ln>
              <a:effectLst/>
            </p:spPr>
            <p:txBody>
              <a:bodyPr wrap="none">
                <a:spAutoFit/>
              </a:bodyPr>
              <a:lstStyle/>
              <a:p>
                <a:r>
                  <a:rPr lang="en-US" altLang="zh-CN" sz="1800" b="1">
                    <a:solidFill>
                      <a:schemeClr val="bg2"/>
                    </a:solidFill>
                    <a:effectLst>
                      <a:outerShdw blurRad="38100" dist="38100" dir="2700000" algn="tl">
                        <a:srgbClr val="000000">
                          <a:alpha val="43137"/>
                        </a:srgbClr>
                      </a:outerShdw>
                    </a:effectLst>
                  </a:rPr>
                  <a:t>c[1][2][3]</a:t>
                </a:r>
              </a:p>
            </p:txBody>
          </p:sp>
        </p:grpSp>
        <p:sp>
          <p:nvSpPr>
            <p:cNvPr id="993316" name="AutoShape 36"/>
            <p:cNvSpPr>
              <a:spLocks noChangeArrowheads="1"/>
            </p:cNvSpPr>
            <p:nvPr/>
          </p:nvSpPr>
          <p:spPr bwMode="auto">
            <a:xfrm>
              <a:off x="2636" y="370"/>
              <a:ext cx="1378" cy="354"/>
            </a:xfrm>
            <a:prstGeom prst="wedgeEllipseCallout">
              <a:avLst>
                <a:gd name="adj1" fmla="val 83255"/>
                <a:gd name="adj2" fmla="val 276068"/>
              </a:avLst>
            </a:prstGeom>
            <a:gradFill flip="none" rotWithShape="1">
              <a:gsLst>
                <a:gs pos="99000">
                  <a:srgbClr val="BEDFC4"/>
                </a:gs>
                <a:gs pos="57000">
                  <a:srgbClr val="D5E7D8"/>
                </a:gs>
                <a:gs pos="15000">
                  <a:schemeClr val="bg1">
                    <a:lumMod val="95000"/>
                  </a:schemeClr>
                </a:gs>
              </a:gsLst>
              <a:lin ang="13500000" scaled="1"/>
              <a:tileRect/>
            </a:gradFill>
            <a:ln w="9525">
              <a:solidFill>
                <a:schemeClr val="tx1"/>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spAutoFit/>
            </a:bodyPr>
            <a:lstStyle/>
            <a:p>
              <a:pPr algn="ctr"/>
              <a:r>
                <a:rPr lang="en-US" altLang="zh-CN" sz="2000" b="1">
                  <a:solidFill>
                    <a:srgbClr val="CC3300"/>
                  </a:solidFill>
                  <a:effectLst>
                    <a:outerShdw blurRad="38100" dist="38100" dir="2700000" algn="tl">
                      <a:srgbClr val="000000">
                        <a:alpha val="43137"/>
                      </a:srgbClr>
                    </a:outerShdw>
                  </a:effectLst>
                </a:rPr>
                <a:t>int c[2][3][4]</a:t>
              </a:r>
            </a:p>
          </p:txBody>
        </p:sp>
      </p:grpSp>
      <p:sp>
        <p:nvSpPr>
          <p:cNvPr id="993286" name="AutoShape 6"/>
          <p:cNvSpPr>
            <a:spLocks noChangeArrowheads="1"/>
          </p:cNvSpPr>
          <p:nvPr/>
        </p:nvSpPr>
        <p:spPr bwMode="auto">
          <a:xfrm>
            <a:off x="5706334" y="967110"/>
            <a:ext cx="1071570" cy="565697"/>
          </a:xfrm>
          <a:prstGeom prst="wedgeEllipseCallout">
            <a:avLst>
              <a:gd name="adj1" fmla="val -48910"/>
              <a:gd name="adj2" fmla="val 118074"/>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lIns="90000" tIns="46800" rIns="90000" bIns="46800" anchor="ctr">
            <a:spAutoFit/>
          </a:bodyPr>
          <a:lstStyle/>
          <a:p>
            <a:pPr algn="ctr"/>
            <a:r>
              <a:rPr lang="zh-CN" altLang="en-US" sz="2000" b="1" dirty="0">
                <a:solidFill>
                  <a:srgbClr val="002060"/>
                </a:solidFill>
                <a:latin typeface="楷体" pitchFamily="49" charset="-122"/>
                <a:ea typeface="楷体" pitchFamily="49" charset="-122"/>
              </a:rPr>
              <a:t>行数</a:t>
            </a:r>
          </a:p>
        </p:txBody>
      </p:sp>
      <p:sp>
        <p:nvSpPr>
          <p:cNvPr id="993287" name="AutoShape 7"/>
          <p:cNvSpPr>
            <a:spLocks noChangeArrowheads="1"/>
          </p:cNvSpPr>
          <p:nvPr/>
        </p:nvSpPr>
        <p:spPr bwMode="auto">
          <a:xfrm>
            <a:off x="7753429" y="1050042"/>
            <a:ext cx="981415" cy="565697"/>
          </a:xfrm>
          <a:prstGeom prst="wedgeEllipseCallout">
            <a:avLst>
              <a:gd name="adj1" fmla="val -51673"/>
              <a:gd name="adj2" fmla="val 111968"/>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dirty="0">
                <a:solidFill>
                  <a:srgbClr val="002060"/>
                </a:solidFill>
                <a:latin typeface="楷体" pitchFamily="49" charset="-122"/>
                <a:ea typeface="楷体" pitchFamily="49" charset="-122"/>
              </a:rPr>
              <a:t>列数</a:t>
            </a:r>
          </a:p>
        </p:txBody>
      </p:sp>
      <p:sp>
        <p:nvSpPr>
          <p:cNvPr id="993288" name="AutoShape 8"/>
          <p:cNvSpPr>
            <a:spLocks noChangeArrowheads="1"/>
          </p:cNvSpPr>
          <p:nvPr/>
        </p:nvSpPr>
        <p:spPr bwMode="auto">
          <a:xfrm>
            <a:off x="5219667" y="907166"/>
            <a:ext cx="3524069" cy="565697"/>
          </a:xfrm>
          <a:prstGeom prst="wedgeEllipseCallout">
            <a:avLst>
              <a:gd name="adj1" fmla="val -14698"/>
              <a:gd name="adj2" fmla="val 148786"/>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dirty="0">
                <a:solidFill>
                  <a:srgbClr val="002060"/>
                </a:solidFill>
                <a:latin typeface="楷体" pitchFamily="49" charset="-122"/>
                <a:ea typeface="楷体" pitchFamily="49" charset="-122"/>
              </a:rPr>
              <a:t>元素个数</a:t>
            </a:r>
            <a:r>
              <a:rPr lang="en-US" altLang="zh-CN" sz="2000" b="1" dirty="0">
                <a:solidFill>
                  <a:srgbClr val="002060"/>
                </a:solidFill>
                <a:latin typeface="楷体" pitchFamily="49" charset="-122"/>
                <a:ea typeface="楷体" pitchFamily="49" charset="-122"/>
              </a:rPr>
              <a:t>=</a:t>
            </a:r>
            <a:r>
              <a:rPr lang="zh-CN" altLang="en-US" sz="2000" b="1" dirty="0">
                <a:solidFill>
                  <a:srgbClr val="002060"/>
                </a:solidFill>
                <a:latin typeface="楷体" pitchFamily="49" charset="-122"/>
                <a:ea typeface="楷体" pitchFamily="49" charset="-122"/>
              </a:rPr>
              <a:t>行数*列数</a:t>
            </a:r>
          </a:p>
        </p:txBody>
      </p:sp>
      <p:sp>
        <p:nvSpPr>
          <p:cNvPr id="98" name="Rectangle 5">
            <a:extLst>
              <a:ext uri="{FF2B5EF4-FFF2-40B4-BE49-F238E27FC236}">
                <a16:creationId xmlns:a16="http://schemas.microsoft.com/office/drawing/2014/main" id="{C9043A74-0EC7-4B73-986C-136F256DB2D6}"/>
              </a:ext>
            </a:extLst>
          </p:cNvPr>
          <p:cNvSpPr>
            <a:spLocks noChangeArrowheads="1"/>
          </p:cNvSpPr>
          <p:nvPr/>
        </p:nvSpPr>
        <p:spPr bwMode="auto">
          <a:xfrm>
            <a:off x="856862" y="836712"/>
            <a:ext cx="3339376" cy="523220"/>
          </a:xfrm>
          <a:prstGeom prst="rect">
            <a:avLst/>
          </a:prstGeom>
          <a:noFill/>
          <a:ln w="9525">
            <a:noFill/>
            <a:miter lim="800000"/>
            <a:headEnd/>
            <a:tailEnd/>
          </a:ln>
          <a:effectLst/>
        </p:spPr>
        <p:txBody>
          <a:bodyPr wrap="none">
            <a:spAutoFit/>
          </a:bodyPr>
          <a:lstStyle/>
          <a:p>
            <a:r>
              <a:rPr lang="en-US" altLang="zh-CN" sz="2800" b="1" dirty="0">
                <a:solidFill>
                  <a:srgbClr val="00B0F0"/>
                </a:solidFill>
                <a:latin typeface="+mn-lt"/>
                <a:ea typeface="楷体" pitchFamily="49" charset="-122"/>
              </a:rPr>
              <a:t>1</a:t>
            </a:r>
            <a:r>
              <a:rPr lang="zh-CN" altLang="en-US" sz="2800" b="1" dirty="0">
                <a:solidFill>
                  <a:srgbClr val="00B0F0"/>
                </a:solidFill>
                <a:latin typeface="+mn-lt"/>
                <a:ea typeface="楷体" pitchFamily="49" charset="-122"/>
              </a:rPr>
              <a:t>、 二维数组的定义</a:t>
            </a:r>
          </a:p>
        </p:txBody>
      </p:sp>
      <p:sp>
        <p:nvSpPr>
          <p:cNvPr id="99" name="Rectangle 4">
            <a:extLst>
              <a:ext uri="{FF2B5EF4-FFF2-40B4-BE49-F238E27FC236}">
                <a16:creationId xmlns:a16="http://schemas.microsoft.com/office/drawing/2014/main" id="{917D4A9C-881D-420C-8FCB-028618478C4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extLst>
      <p:ext uri="{BB962C8B-B14F-4D97-AF65-F5344CB8AC3E}">
        <p14:creationId xmlns:p14="http://schemas.microsoft.com/office/powerpoint/2010/main" val="2415401530"/>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3282">
                                            <p:txEl>
                                              <p:pRg st="0" end="0"/>
                                            </p:txEl>
                                          </p:spTgt>
                                        </p:tgtEl>
                                        <p:attrNameLst>
                                          <p:attrName>style.visibility</p:attrName>
                                        </p:attrNameLst>
                                      </p:cBhvr>
                                      <p:to>
                                        <p:strVal val="visible"/>
                                      </p:to>
                                    </p:set>
                                    <p:anim calcmode="lin" valueType="num">
                                      <p:cBhvr additive="base">
                                        <p:cTn id="7" dur="500" fill="hold"/>
                                        <p:tgtEl>
                                          <p:spTgt spid="9932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9328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95"/>
                                        </p:tgtEl>
                                        <p:attrNameLst>
                                          <p:attrName>style.visibility</p:attrName>
                                        </p:attrNameLst>
                                      </p:cBhvr>
                                      <p:to>
                                        <p:strVal val="visible"/>
                                      </p:to>
                                    </p:set>
                                    <p:animEffect transition="in" filter="box(in)">
                                      <p:cBhvr>
                                        <p:cTn id="13" dur="500"/>
                                        <p:tgtEl>
                                          <p:spTgt spid="95"/>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93286"/>
                                        </p:tgtEl>
                                        <p:attrNameLst>
                                          <p:attrName>style.visibility</p:attrName>
                                        </p:attrNameLst>
                                      </p:cBhvr>
                                      <p:to>
                                        <p:strVal val="visible"/>
                                      </p:to>
                                    </p:set>
                                    <p:animEffect transition="in" filter="box(out)">
                                      <p:cBhvr>
                                        <p:cTn id="18" dur="500"/>
                                        <p:tgtEl>
                                          <p:spTgt spid="993286"/>
                                        </p:tgtEl>
                                      </p:cBhvr>
                                    </p:animEffect>
                                  </p:childTnLst>
                                  <p:subTnLst>
                                    <p:set>
                                      <p:cBhvr override="childStyle">
                                        <p:cTn dur="1" fill="hold" display="0" masterRel="nextClick" afterEffect="1"/>
                                        <p:tgtEl>
                                          <p:spTgt spid="993286"/>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993287"/>
                                        </p:tgtEl>
                                        <p:attrNameLst>
                                          <p:attrName>style.visibility</p:attrName>
                                        </p:attrNameLst>
                                      </p:cBhvr>
                                      <p:to>
                                        <p:strVal val="visible"/>
                                      </p:to>
                                    </p:set>
                                    <p:animEffect transition="in" filter="box(out)">
                                      <p:cBhvr>
                                        <p:cTn id="23" dur="500"/>
                                        <p:tgtEl>
                                          <p:spTgt spid="993287"/>
                                        </p:tgtEl>
                                      </p:cBhvr>
                                    </p:animEffect>
                                  </p:childTnLst>
                                  <p:subTnLst>
                                    <p:set>
                                      <p:cBhvr override="childStyle">
                                        <p:cTn dur="1" fill="hold" display="0" masterRel="nextClick" afterEffect="1"/>
                                        <p:tgtEl>
                                          <p:spTgt spid="993287"/>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993288"/>
                                        </p:tgtEl>
                                        <p:attrNameLst>
                                          <p:attrName>style.visibility</p:attrName>
                                        </p:attrNameLst>
                                      </p:cBhvr>
                                      <p:to>
                                        <p:strVal val="visible"/>
                                      </p:to>
                                    </p:set>
                                    <p:animEffect transition="in" filter="box(out)">
                                      <p:cBhvr>
                                        <p:cTn id="28" dur="500"/>
                                        <p:tgtEl>
                                          <p:spTgt spid="993288"/>
                                        </p:tgtEl>
                                      </p:cBhvr>
                                    </p:animEffect>
                                  </p:childTnLst>
                                  <p:subTnLst>
                                    <p:set>
                                      <p:cBhvr override="childStyle">
                                        <p:cTn dur="1" fill="hold" display="0" masterRel="nextClick" afterEffect="1"/>
                                        <p:tgtEl>
                                          <p:spTgt spid="993288"/>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993285"/>
                                        </p:tgtEl>
                                        <p:attrNameLst>
                                          <p:attrName>style.visibility</p:attrName>
                                        </p:attrNameLst>
                                      </p:cBhvr>
                                      <p:to>
                                        <p:strVal val="visible"/>
                                      </p:to>
                                    </p:set>
                                    <p:animEffect transition="in" filter="box(out)">
                                      <p:cBhvr>
                                        <p:cTn id="33" dur="500"/>
                                        <p:tgtEl>
                                          <p:spTgt spid="993285"/>
                                        </p:tgtEl>
                                      </p:cBhvr>
                                    </p:animEffect>
                                  </p:childTnLst>
                                  <p:subTnLst>
                                    <p:set>
                                      <p:cBhvr override="childStyle">
                                        <p:cTn dur="1" fill="hold" display="0" masterRel="nextClick" afterEffect="1"/>
                                        <p:tgtEl>
                                          <p:spTgt spid="993285"/>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993283">
                                            <p:txEl>
                                              <p:pRg st="0" end="0"/>
                                            </p:txEl>
                                          </p:spTgt>
                                        </p:tgtEl>
                                        <p:attrNameLst>
                                          <p:attrName>style.visibility</p:attrName>
                                        </p:attrNameLst>
                                      </p:cBhvr>
                                      <p:to>
                                        <p:strVal val="visible"/>
                                      </p:to>
                                    </p:set>
                                    <p:anim calcmode="lin" valueType="num">
                                      <p:cBhvr additive="base">
                                        <p:cTn id="38" dur="500" fill="hold"/>
                                        <p:tgtEl>
                                          <p:spTgt spid="993283">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99328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3" name="WHOOSH.WAV"/>
                                        </p:tgtEl>
                                      </p:cMediaNode>
                                    </p:audio>
                                  </p:sub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993283">
                                            <p:txEl>
                                              <p:pRg st="1" end="1"/>
                                            </p:txEl>
                                          </p:spTgt>
                                        </p:tgtEl>
                                        <p:attrNameLst>
                                          <p:attrName>style.visibility</p:attrName>
                                        </p:attrNameLst>
                                      </p:cBhvr>
                                      <p:to>
                                        <p:strVal val="visible"/>
                                      </p:to>
                                    </p:set>
                                    <p:anim calcmode="lin" valueType="num">
                                      <p:cBhvr additive="base">
                                        <p:cTn id="44" dur="500" fill="hold"/>
                                        <p:tgtEl>
                                          <p:spTgt spid="993283">
                                            <p:txEl>
                                              <p:pRg st="1" end="1"/>
                                            </p:txEl>
                                          </p:spTgt>
                                        </p:tgtEl>
                                        <p:attrNameLst>
                                          <p:attrName>ppt_x</p:attrName>
                                        </p:attrNameLst>
                                      </p:cBhvr>
                                      <p:tavLst>
                                        <p:tav tm="0">
                                          <p:val>
                                            <p:strVal val="0-#ppt_w/2"/>
                                          </p:val>
                                        </p:tav>
                                        <p:tav tm="100000">
                                          <p:val>
                                            <p:strVal val="#ppt_x"/>
                                          </p:val>
                                        </p:tav>
                                      </p:tavLst>
                                    </p:anim>
                                    <p:anim calcmode="lin" valueType="num">
                                      <p:cBhvr additive="base">
                                        <p:cTn id="45" dur="500" fill="hold"/>
                                        <p:tgtEl>
                                          <p:spTgt spid="99328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2"/>
                                            </p:cond>
                                          </p:stCondLst>
                                          <p:endCondLst>
                                            <p:cond evt="onStopAudio" delay="0">
                                              <p:tgtEl>
                                                <p:sldTgt/>
                                              </p:tgtEl>
                                            </p:cond>
                                          </p:endCondLst>
                                        </p:cTn>
                                        <p:tgtEl>
                                          <p:sndTgt r:embed="rId3" name="WHOOSH.WAV"/>
                                        </p:tgtEl>
                                      </p:cMediaNode>
                                    </p:audio>
                                  </p:sub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993283">
                                            <p:txEl>
                                              <p:pRg st="2" end="2"/>
                                            </p:txEl>
                                          </p:spTgt>
                                        </p:tgtEl>
                                        <p:attrNameLst>
                                          <p:attrName>style.visibility</p:attrName>
                                        </p:attrNameLst>
                                      </p:cBhvr>
                                      <p:to>
                                        <p:strVal val="visible"/>
                                      </p:to>
                                    </p:set>
                                    <p:anim calcmode="lin" valueType="num">
                                      <p:cBhvr additive="base">
                                        <p:cTn id="50" dur="500" fill="hold"/>
                                        <p:tgtEl>
                                          <p:spTgt spid="993283">
                                            <p:txEl>
                                              <p:pRg st="2" end="2"/>
                                            </p:txEl>
                                          </p:spTgt>
                                        </p:tgtEl>
                                        <p:attrNameLst>
                                          <p:attrName>ppt_x</p:attrName>
                                        </p:attrNameLst>
                                      </p:cBhvr>
                                      <p:tavLst>
                                        <p:tav tm="0">
                                          <p:val>
                                            <p:strVal val="0-#ppt_w/2"/>
                                          </p:val>
                                        </p:tav>
                                        <p:tav tm="100000">
                                          <p:val>
                                            <p:strVal val="#ppt_x"/>
                                          </p:val>
                                        </p:tav>
                                      </p:tavLst>
                                    </p:anim>
                                    <p:anim calcmode="lin" valueType="num">
                                      <p:cBhvr additive="base">
                                        <p:cTn id="51" dur="500" fill="hold"/>
                                        <p:tgtEl>
                                          <p:spTgt spid="99328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3" name="WHOOSH.WAV"/>
                                        </p:tgtEl>
                                      </p:cMediaNode>
                                    </p:audio>
                                  </p:sub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993283">
                                            <p:txEl>
                                              <p:pRg st="3" end="3"/>
                                            </p:txEl>
                                          </p:spTgt>
                                        </p:tgtEl>
                                        <p:attrNameLst>
                                          <p:attrName>style.visibility</p:attrName>
                                        </p:attrNameLst>
                                      </p:cBhvr>
                                      <p:to>
                                        <p:strVal val="visible"/>
                                      </p:to>
                                    </p:set>
                                    <p:anim calcmode="lin" valueType="num">
                                      <p:cBhvr additive="base">
                                        <p:cTn id="56" dur="500" fill="hold"/>
                                        <p:tgtEl>
                                          <p:spTgt spid="993283">
                                            <p:txEl>
                                              <p:pRg st="3" end="3"/>
                                            </p:tx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99328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4"/>
                                            </p:cond>
                                          </p:stCondLst>
                                          <p:endCondLst>
                                            <p:cond evt="onStopAudio" delay="0">
                                              <p:tgtEl>
                                                <p:sldTgt/>
                                              </p:tgtEl>
                                            </p:cond>
                                          </p:endCondLst>
                                        </p:cTn>
                                        <p:tgtEl>
                                          <p:sndTgt r:embed="rId3" name="WHOOSH.WAV"/>
                                        </p:tgtEl>
                                      </p:cMediaNode>
                                    </p:audio>
                                  </p:subTnLst>
                                </p:cTn>
                              </p:par>
                            </p:childTnLst>
                          </p:cTn>
                        </p:par>
                      </p:childTnLst>
                    </p:cTn>
                  </p:par>
                  <p:par>
                    <p:cTn id="58" fill="hold">
                      <p:stCondLst>
                        <p:cond delay="indefinite"/>
                      </p:stCondLst>
                      <p:childTnLst>
                        <p:par>
                          <p:cTn id="59" fill="hold">
                            <p:stCondLst>
                              <p:cond delay="0"/>
                            </p:stCondLst>
                            <p:childTnLst>
                              <p:par>
                                <p:cTn id="60" presetID="18" presetClass="entr" presetSubtype="3" fill="hold" nodeType="clickEffect">
                                  <p:stCondLst>
                                    <p:cond delay="0"/>
                                  </p:stCondLst>
                                  <p:childTnLst>
                                    <p:set>
                                      <p:cBhvr>
                                        <p:cTn id="61" dur="1" fill="hold">
                                          <p:stCondLst>
                                            <p:cond delay="0"/>
                                          </p:stCondLst>
                                        </p:cTn>
                                        <p:tgtEl>
                                          <p:spTgt spid="97"/>
                                        </p:tgtEl>
                                        <p:attrNameLst>
                                          <p:attrName>style.visibility</p:attrName>
                                        </p:attrNameLst>
                                      </p:cBhvr>
                                      <p:to>
                                        <p:strVal val="visible"/>
                                      </p:to>
                                    </p:set>
                                    <p:animEffect transition="in" filter="strips(upRight)">
                                      <p:cBhvr>
                                        <p:cTn id="62" dur="500"/>
                                        <p:tgtEl>
                                          <p:spTgt spid="97"/>
                                        </p:tgtEl>
                                      </p:cBhvr>
                                    </p:animEffect>
                                  </p:childTnLst>
                                  <p:subTnLst>
                                    <p:audio>
                                      <p:cMediaNode>
                                        <p:cTn display="0" masterRel="sameClick">
                                          <p:stCondLst>
                                            <p:cond evt="begin" delay="0">
                                              <p:tn val="60"/>
                                            </p:cond>
                                          </p:stCondLst>
                                          <p:endCondLst>
                                            <p:cond evt="onStopAudio" delay="0">
                                              <p:tgtEl>
                                                <p:sldTgt/>
                                              </p:tgtEl>
                                            </p:cond>
                                          </p:endCondLst>
                                        </p:cTn>
                                        <p:tgtEl>
                                          <p:sndTgt r:embed="rId4" name="chimes.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993315"/>
                                        </p:tgtEl>
                                        <p:attrNameLst>
                                          <p:attrName>style.visibility</p:attrName>
                                        </p:attrNameLst>
                                      </p:cBhvr>
                                      <p:to>
                                        <p:strVal val="visible"/>
                                      </p:to>
                                    </p:set>
                                    <p:animEffect transition="in" filter="box(out)">
                                      <p:cBhvr>
                                        <p:cTn id="67" dur="500"/>
                                        <p:tgtEl>
                                          <p:spTgt spid="993315"/>
                                        </p:tgtEl>
                                      </p:cBhvr>
                                    </p:animEffect>
                                  </p:childTnLst>
                                  <p:subTnLst>
                                    <p:set>
                                      <p:cBhvr override="childStyle">
                                        <p:cTn dur="1" fill="hold" display="0" masterRel="nextClick" afterEffect="1"/>
                                        <p:tgtEl>
                                          <p:spTgt spid="993315"/>
                                        </p:tgtEl>
                                        <p:attrNameLst>
                                          <p:attrName>style.visibility</p:attrName>
                                        </p:attrNameLst>
                                      </p:cBhvr>
                                      <p:to>
                                        <p:strVal val="hidden"/>
                                      </p:to>
                                    </p:se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nodePh="1">
                                  <p:stCondLst>
                                    <p:cond delay="0"/>
                                  </p:stCondLst>
                                  <p:endCondLst>
                                    <p:cond evt="begin" delay="0">
                                      <p:tn val="70"/>
                                    </p:cond>
                                  </p:endCondLst>
                                  <p:childTnLst>
                                    <p:set>
                                      <p:cBhvr>
                                        <p:cTn id="71" dur="1" fill="hold">
                                          <p:stCondLst>
                                            <p:cond delay="0"/>
                                          </p:stCondLst>
                                        </p:cTn>
                                        <p:tgtEl>
                                          <p:spTgt spid="993371"/>
                                        </p:tgtEl>
                                        <p:attrNameLst>
                                          <p:attrName>style.visibility</p:attrName>
                                        </p:attrNameLst>
                                      </p:cBhvr>
                                      <p:to>
                                        <p:strVal val="visible"/>
                                      </p:to>
                                    </p:set>
                                    <p:animEffect transition="in" filter="box(out)">
                                      <p:cBhvr>
                                        <p:cTn id="72" dur="500"/>
                                        <p:tgtEl>
                                          <p:spTgt spid="993371"/>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282" grpId="0" build="p" bldLvl="4" autoUpdateAnimBg="0"/>
      <p:bldP spid="993283" grpId="0" build="p" bldLvl="4" autoUpdateAnimBg="0"/>
      <p:bldP spid="993285" grpId="0" animBg="1" autoUpdateAnimBg="0"/>
      <p:bldP spid="993371" grpId="0" animBg="1"/>
      <p:bldP spid="95" grpId="0" animBg="1"/>
      <p:bldP spid="993286" grpId="0" animBg="1" autoUpdateAnimBg="0"/>
      <p:bldP spid="993287" grpId="0" animBg="1" autoUpdateAnimBg="0"/>
      <p:bldP spid="993288"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2">
            <a:extLst>
              <a:ext uri="{FF2B5EF4-FFF2-40B4-BE49-F238E27FC236}">
                <a16:creationId xmlns:a16="http://schemas.microsoft.com/office/drawing/2014/main" id="{428812F2-BDED-4F8E-BFB0-088058787699}"/>
              </a:ext>
            </a:extLst>
          </p:cNvPr>
          <p:cNvSpPr>
            <a:spLocks noChangeArrowheads="1"/>
          </p:cNvSpPr>
          <p:nvPr/>
        </p:nvSpPr>
        <p:spPr bwMode="auto">
          <a:xfrm>
            <a:off x="1218902" y="1404254"/>
            <a:ext cx="2977335" cy="485468"/>
          </a:xfrm>
          <a:prstGeom prst="rect">
            <a:avLst/>
          </a:prstGeom>
          <a:noFill/>
          <a:ln w="9525">
            <a:noFill/>
            <a:miter lim="800000"/>
            <a:headEnd/>
            <a:tailEnd/>
          </a:ln>
        </p:spPr>
        <p:txBody>
          <a:bodyPr/>
          <a:lstStyle/>
          <a:p>
            <a:pPr marL="342900" indent="-342900" eaLnBrk="0" hangingPunct="0">
              <a:buFont typeface="Wingdings" panose="05000000000000000000" pitchFamily="2" charset="2"/>
              <a:buChar char="Ø"/>
            </a:pPr>
            <a:r>
              <a:rPr lang="zh-CN" altLang="en-US" b="1" dirty="0">
                <a:solidFill>
                  <a:srgbClr val="00B0F0"/>
                </a:solidFill>
                <a:latin typeface="楷体" panose="02010609060101010101" pitchFamily="49" charset="-122"/>
                <a:ea typeface="楷体" panose="02010609060101010101" pitchFamily="49" charset="-122"/>
              </a:rPr>
              <a:t> 二维数组理解</a:t>
            </a:r>
          </a:p>
        </p:txBody>
      </p:sp>
      <p:sp>
        <p:nvSpPr>
          <p:cNvPr id="99" name="Rectangle 5">
            <a:extLst>
              <a:ext uri="{FF2B5EF4-FFF2-40B4-BE49-F238E27FC236}">
                <a16:creationId xmlns:a16="http://schemas.microsoft.com/office/drawing/2014/main" id="{6757CA48-B016-4F7A-B43C-C9E299539661}"/>
              </a:ext>
            </a:extLst>
          </p:cNvPr>
          <p:cNvSpPr>
            <a:spLocks noChangeArrowheads="1"/>
          </p:cNvSpPr>
          <p:nvPr/>
        </p:nvSpPr>
        <p:spPr bwMode="auto">
          <a:xfrm>
            <a:off x="856862" y="836712"/>
            <a:ext cx="3339376" cy="523220"/>
          </a:xfrm>
          <a:prstGeom prst="rect">
            <a:avLst/>
          </a:prstGeom>
          <a:noFill/>
          <a:ln w="9525">
            <a:noFill/>
            <a:miter lim="800000"/>
            <a:headEnd/>
            <a:tailEnd/>
          </a:ln>
          <a:effectLst/>
        </p:spPr>
        <p:txBody>
          <a:bodyPr wrap="none">
            <a:spAutoFit/>
          </a:bodyPr>
          <a:lstStyle/>
          <a:p>
            <a:r>
              <a:rPr lang="en-US" altLang="zh-CN" sz="2800" b="1" dirty="0">
                <a:solidFill>
                  <a:srgbClr val="00B0F0"/>
                </a:solidFill>
                <a:latin typeface="+mn-lt"/>
                <a:ea typeface="楷体" pitchFamily="49" charset="-122"/>
              </a:rPr>
              <a:t>1</a:t>
            </a:r>
            <a:r>
              <a:rPr lang="zh-CN" altLang="en-US" sz="2800" b="1" dirty="0">
                <a:solidFill>
                  <a:srgbClr val="00B0F0"/>
                </a:solidFill>
                <a:latin typeface="+mn-lt"/>
                <a:ea typeface="楷体" pitchFamily="49" charset="-122"/>
              </a:rPr>
              <a:t>、 二维数组的定义</a:t>
            </a:r>
          </a:p>
        </p:txBody>
      </p:sp>
      <p:sp>
        <p:nvSpPr>
          <p:cNvPr id="100" name="Rectangle 4">
            <a:extLst>
              <a:ext uri="{FF2B5EF4-FFF2-40B4-BE49-F238E27FC236}">
                <a16:creationId xmlns:a16="http://schemas.microsoft.com/office/drawing/2014/main" id="{2511A988-61E5-4EDD-A753-89B1D2A90CC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grpSp>
        <p:nvGrpSpPr>
          <p:cNvPr id="994399" name="Group 95"/>
          <p:cNvGrpSpPr>
            <a:grpSpLocks/>
          </p:cNvGrpSpPr>
          <p:nvPr/>
        </p:nvGrpSpPr>
        <p:grpSpPr bwMode="auto">
          <a:xfrm>
            <a:off x="1437243" y="3137554"/>
            <a:ext cx="5394325" cy="2876550"/>
            <a:chOff x="295" y="1207"/>
            <a:chExt cx="3398" cy="1812"/>
          </a:xfrm>
        </p:grpSpPr>
        <p:sp>
          <p:nvSpPr>
            <p:cNvPr id="994308" name="Rectangle 4"/>
            <p:cNvSpPr>
              <a:spLocks noChangeArrowheads="1"/>
            </p:cNvSpPr>
            <p:nvPr/>
          </p:nvSpPr>
          <p:spPr bwMode="auto">
            <a:xfrm>
              <a:off x="295" y="1207"/>
              <a:ext cx="3398" cy="1812"/>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lstStyle/>
            <a:p>
              <a:r>
                <a:rPr lang="zh-CN" altLang="en-US" b="1" dirty="0">
                  <a:solidFill>
                    <a:srgbClr val="FF3300"/>
                  </a:solidFill>
                  <a:effectLst>
                    <a:outerShdw blurRad="38100" dist="38100" dir="2700000" algn="tl">
                      <a:srgbClr val="C0C0C0"/>
                    </a:outerShdw>
                  </a:effectLst>
                  <a:ea typeface="隶书" pitchFamily="49" charset="-122"/>
                </a:rPr>
                <a:t>                         </a:t>
              </a:r>
              <a:r>
                <a:rPr lang="zh-CN" altLang="en-US" b="1" dirty="0">
                  <a:solidFill>
                    <a:srgbClr val="C01920"/>
                  </a:solidFill>
                  <a:effectLst>
                    <a:outerShdw blurRad="38100" dist="38100" dir="2700000" algn="tl">
                      <a:srgbClr val="C0C0C0"/>
                    </a:outerShdw>
                  </a:effectLst>
                  <a:ea typeface="隶书" pitchFamily="49" charset="-122"/>
                </a:rPr>
                <a:t>例    </a:t>
              </a:r>
              <a:r>
                <a:rPr lang="en-US" altLang="zh-CN" b="1" dirty="0">
                  <a:solidFill>
                    <a:srgbClr val="C01920"/>
                  </a:solidFill>
                  <a:effectLst>
                    <a:outerShdw blurRad="38100" dist="38100" dir="2700000" algn="tl">
                      <a:srgbClr val="C0C0C0"/>
                    </a:outerShdw>
                  </a:effectLst>
                  <a:ea typeface="隶书" pitchFamily="49" charset="-122"/>
                </a:rPr>
                <a:t>int a[3][4];</a:t>
              </a:r>
            </a:p>
            <a:p>
              <a:endParaRPr lang="en-US" altLang="zh-CN" b="1" dirty="0">
                <a:solidFill>
                  <a:srgbClr val="FF3300"/>
                </a:solidFill>
                <a:effectLst>
                  <a:outerShdw blurRad="38100" dist="38100" dir="2700000" algn="tl">
                    <a:srgbClr val="C0C0C0"/>
                  </a:outerShdw>
                </a:effectLst>
                <a:ea typeface="隶书" pitchFamily="49" charset="-122"/>
              </a:endParaRPr>
            </a:p>
            <a:p>
              <a:endParaRPr lang="en-US" altLang="zh-CN" dirty="0">
                <a:solidFill>
                  <a:schemeClr val="bg2"/>
                </a:solidFill>
                <a:ea typeface="隶书" pitchFamily="49" charset="-122"/>
              </a:endParaRPr>
            </a:p>
            <a:p>
              <a:endParaRPr lang="en-US" altLang="zh-CN" dirty="0">
                <a:solidFill>
                  <a:schemeClr val="bg2"/>
                </a:solidFill>
                <a:ea typeface="隶书" pitchFamily="49" charset="-122"/>
              </a:endParaRPr>
            </a:p>
            <a:p>
              <a:endParaRPr lang="en-US" altLang="zh-CN" dirty="0">
                <a:solidFill>
                  <a:schemeClr val="bg2"/>
                </a:solidFill>
                <a:ea typeface="隶书" pitchFamily="49" charset="-122"/>
              </a:endParaRPr>
            </a:p>
            <a:p>
              <a:endParaRPr lang="en-US" altLang="zh-CN" dirty="0">
                <a:solidFill>
                  <a:schemeClr val="bg2"/>
                </a:solidFill>
                <a:ea typeface="隶书" pitchFamily="49" charset="-122"/>
              </a:endParaRPr>
            </a:p>
            <a:p>
              <a:endParaRPr lang="en-US" altLang="zh-CN" dirty="0">
                <a:solidFill>
                  <a:schemeClr val="bg2"/>
                </a:solidFill>
                <a:ea typeface="隶书" pitchFamily="49" charset="-122"/>
              </a:endParaRPr>
            </a:p>
          </p:txBody>
        </p:sp>
        <p:grpSp>
          <p:nvGrpSpPr>
            <p:cNvPr id="994309" name="Group 5"/>
            <p:cNvGrpSpPr>
              <a:grpSpLocks/>
            </p:cNvGrpSpPr>
            <p:nvPr/>
          </p:nvGrpSpPr>
          <p:grpSpPr bwMode="auto">
            <a:xfrm>
              <a:off x="1130" y="1643"/>
              <a:ext cx="2091" cy="1080"/>
              <a:chOff x="1538" y="2015"/>
              <a:chExt cx="1723" cy="1080"/>
            </a:xfrm>
          </p:grpSpPr>
          <p:sp>
            <p:nvSpPr>
              <p:cNvPr id="994310" name="Rectangle 6"/>
              <p:cNvSpPr>
                <a:spLocks noChangeArrowheads="1"/>
              </p:cNvSpPr>
              <p:nvPr/>
            </p:nvSpPr>
            <p:spPr bwMode="auto">
              <a:xfrm>
                <a:off x="1538" y="2051"/>
                <a:ext cx="1712" cy="1044"/>
              </a:xfrm>
              <a:prstGeom prst="rect">
                <a:avLst/>
              </a:prstGeom>
              <a:solidFill>
                <a:srgbClr val="FFFFFF"/>
              </a:solidFill>
              <a:ln w="9525">
                <a:solidFill>
                  <a:srgbClr val="000000"/>
                </a:solidFill>
                <a:miter lim="800000"/>
                <a:headEnd/>
                <a:tailEnd/>
              </a:ln>
              <a:effectLst/>
            </p:spPr>
            <p:txBody>
              <a:bodyPr wrap="none" anchor="ctr"/>
              <a:lstStyle/>
              <a:p>
                <a:pPr algn="ctr" eaLnBrk="0" hangingPunct="0"/>
                <a:endParaRPr lang="zh-CN" altLang="zh-CN" sz="2000"/>
              </a:p>
            </p:txBody>
          </p:sp>
          <p:sp>
            <p:nvSpPr>
              <p:cNvPr id="994311" name="Line 7"/>
              <p:cNvSpPr>
                <a:spLocks noChangeShapeType="1"/>
              </p:cNvSpPr>
              <p:nvPr/>
            </p:nvSpPr>
            <p:spPr bwMode="auto">
              <a:xfrm>
                <a:off x="1549" y="2429"/>
                <a:ext cx="1712" cy="0"/>
              </a:xfrm>
              <a:prstGeom prst="line">
                <a:avLst/>
              </a:prstGeom>
              <a:noFill/>
              <a:ln w="9525">
                <a:solidFill>
                  <a:srgbClr val="000000"/>
                </a:solidFill>
                <a:round/>
                <a:headEnd/>
                <a:tailEnd/>
              </a:ln>
              <a:effectLst/>
            </p:spPr>
            <p:txBody>
              <a:bodyPr wrap="none" anchor="ctr"/>
              <a:lstStyle/>
              <a:p>
                <a:endParaRPr lang="zh-CN" altLang="en-US"/>
              </a:p>
            </p:txBody>
          </p:sp>
          <p:sp>
            <p:nvSpPr>
              <p:cNvPr id="994312" name="Line 8"/>
              <p:cNvSpPr>
                <a:spLocks noChangeShapeType="1"/>
              </p:cNvSpPr>
              <p:nvPr/>
            </p:nvSpPr>
            <p:spPr bwMode="auto">
              <a:xfrm>
                <a:off x="1538" y="2762"/>
                <a:ext cx="1712" cy="0"/>
              </a:xfrm>
              <a:prstGeom prst="line">
                <a:avLst/>
              </a:prstGeom>
              <a:noFill/>
              <a:ln w="9525">
                <a:solidFill>
                  <a:srgbClr val="000000"/>
                </a:solidFill>
                <a:round/>
                <a:headEnd/>
                <a:tailEnd/>
              </a:ln>
              <a:effectLst/>
            </p:spPr>
            <p:txBody>
              <a:bodyPr wrap="none" anchor="ctr"/>
              <a:lstStyle/>
              <a:p>
                <a:endParaRPr lang="zh-CN" altLang="en-US"/>
              </a:p>
            </p:txBody>
          </p:sp>
          <p:sp>
            <p:nvSpPr>
              <p:cNvPr id="994313" name="Line 9"/>
              <p:cNvSpPr>
                <a:spLocks noChangeShapeType="1"/>
              </p:cNvSpPr>
              <p:nvPr/>
            </p:nvSpPr>
            <p:spPr bwMode="auto">
              <a:xfrm>
                <a:off x="2394" y="2051"/>
                <a:ext cx="0" cy="1044"/>
              </a:xfrm>
              <a:prstGeom prst="line">
                <a:avLst/>
              </a:prstGeom>
              <a:noFill/>
              <a:ln w="9525">
                <a:solidFill>
                  <a:srgbClr val="000000"/>
                </a:solidFill>
                <a:round/>
                <a:headEnd/>
                <a:tailEnd/>
              </a:ln>
              <a:effectLst/>
            </p:spPr>
            <p:txBody>
              <a:bodyPr wrap="none" anchor="ctr"/>
              <a:lstStyle/>
              <a:p>
                <a:endParaRPr lang="zh-CN" altLang="en-US"/>
              </a:p>
            </p:txBody>
          </p:sp>
          <p:sp>
            <p:nvSpPr>
              <p:cNvPr id="994314" name="Line 10"/>
              <p:cNvSpPr>
                <a:spLocks noChangeShapeType="1"/>
              </p:cNvSpPr>
              <p:nvPr/>
            </p:nvSpPr>
            <p:spPr bwMode="auto">
              <a:xfrm>
                <a:off x="1949" y="2051"/>
                <a:ext cx="0" cy="1044"/>
              </a:xfrm>
              <a:prstGeom prst="line">
                <a:avLst/>
              </a:prstGeom>
              <a:noFill/>
              <a:ln w="9525">
                <a:solidFill>
                  <a:srgbClr val="000000"/>
                </a:solidFill>
                <a:round/>
                <a:headEnd/>
                <a:tailEnd/>
              </a:ln>
              <a:effectLst/>
            </p:spPr>
            <p:txBody>
              <a:bodyPr wrap="none" anchor="ctr"/>
              <a:lstStyle/>
              <a:p>
                <a:endParaRPr lang="zh-CN" altLang="en-US"/>
              </a:p>
            </p:txBody>
          </p:sp>
          <p:sp>
            <p:nvSpPr>
              <p:cNvPr id="994315" name="Line 11"/>
              <p:cNvSpPr>
                <a:spLocks noChangeShapeType="1"/>
              </p:cNvSpPr>
              <p:nvPr/>
            </p:nvSpPr>
            <p:spPr bwMode="auto">
              <a:xfrm>
                <a:off x="2827" y="2051"/>
                <a:ext cx="0" cy="1044"/>
              </a:xfrm>
              <a:prstGeom prst="line">
                <a:avLst/>
              </a:prstGeom>
              <a:noFill/>
              <a:ln w="9525">
                <a:solidFill>
                  <a:srgbClr val="000000"/>
                </a:solidFill>
                <a:round/>
                <a:headEnd/>
                <a:tailEnd/>
              </a:ln>
              <a:effectLst/>
            </p:spPr>
            <p:txBody>
              <a:bodyPr wrap="none" anchor="ctr"/>
              <a:lstStyle/>
              <a:p>
                <a:endParaRPr lang="zh-CN" altLang="en-US"/>
              </a:p>
            </p:txBody>
          </p:sp>
          <p:grpSp>
            <p:nvGrpSpPr>
              <p:cNvPr id="994316" name="Group 12"/>
              <p:cNvGrpSpPr>
                <a:grpSpLocks/>
              </p:cNvGrpSpPr>
              <p:nvPr/>
            </p:nvGrpSpPr>
            <p:grpSpPr bwMode="auto">
              <a:xfrm>
                <a:off x="1705" y="2714"/>
                <a:ext cx="1373" cy="250"/>
                <a:chOff x="2137" y="1427"/>
                <a:chExt cx="1373" cy="250"/>
              </a:xfrm>
            </p:grpSpPr>
            <p:sp>
              <p:nvSpPr>
                <p:cNvPr id="994317" name="Text Box 13"/>
                <p:cNvSpPr txBox="1">
                  <a:spLocks noChangeArrowheads="1"/>
                </p:cNvSpPr>
                <p:nvPr/>
              </p:nvSpPr>
              <p:spPr bwMode="auto">
                <a:xfrm>
                  <a:off x="2137"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18" name="Text Box 14"/>
                <p:cNvSpPr txBox="1">
                  <a:spLocks noChangeArrowheads="1"/>
                </p:cNvSpPr>
                <p:nvPr/>
              </p:nvSpPr>
              <p:spPr bwMode="auto">
                <a:xfrm>
                  <a:off x="2546" y="1427"/>
                  <a:ext cx="96"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19" name="Text Box 15"/>
                <p:cNvSpPr txBox="1">
                  <a:spLocks noChangeArrowheads="1"/>
                </p:cNvSpPr>
                <p:nvPr/>
              </p:nvSpPr>
              <p:spPr bwMode="auto">
                <a:xfrm>
                  <a:off x="2984" y="1427"/>
                  <a:ext cx="96"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0" name="Text Box 16"/>
                <p:cNvSpPr txBox="1">
                  <a:spLocks noChangeArrowheads="1"/>
                </p:cNvSpPr>
                <p:nvPr/>
              </p:nvSpPr>
              <p:spPr bwMode="auto">
                <a:xfrm>
                  <a:off x="3415" y="1427"/>
                  <a:ext cx="95" cy="250"/>
                </a:xfrm>
                <a:prstGeom prst="rect">
                  <a:avLst/>
                </a:prstGeom>
                <a:noFill/>
                <a:ln w="9525">
                  <a:noFill/>
                  <a:miter lim="800000"/>
                  <a:headEnd/>
                  <a:tailEnd/>
                </a:ln>
                <a:effectLst/>
              </p:spPr>
              <p:txBody>
                <a:bodyPr wrap="none">
                  <a:spAutoFit/>
                </a:bodyPr>
                <a:lstStyle/>
                <a:p>
                  <a:pPr algn="ctr"/>
                  <a:endParaRPr lang="zh-CN" altLang="zh-CN" sz="2000"/>
                </a:p>
              </p:txBody>
            </p:sp>
          </p:grpSp>
          <p:grpSp>
            <p:nvGrpSpPr>
              <p:cNvPr id="994321" name="Group 17"/>
              <p:cNvGrpSpPr>
                <a:grpSpLocks/>
              </p:cNvGrpSpPr>
              <p:nvPr/>
            </p:nvGrpSpPr>
            <p:grpSpPr bwMode="auto">
              <a:xfrm>
                <a:off x="1713" y="2365"/>
                <a:ext cx="1372" cy="250"/>
                <a:chOff x="2138" y="1427"/>
                <a:chExt cx="1372" cy="250"/>
              </a:xfrm>
            </p:grpSpPr>
            <p:sp>
              <p:nvSpPr>
                <p:cNvPr id="994322" name="Text Box 18"/>
                <p:cNvSpPr txBox="1">
                  <a:spLocks noChangeArrowheads="1"/>
                </p:cNvSpPr>
                <p:nvPr/>
              </p:nvSpPr>
              <p:spPr bwMode="auto">
                <a:xfrm>
                  <a:off x="2138"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3" name="Text Box 19"/>
                <p:cNvSpPr txBox="1">
                  <a:spLocks noChangeArrowheads="1"/>
                </p:cNvSpPr>
                <p:nvPr/>
              </p:nvSpPr>
              <p:spPr bwMode="auto">
                <a:xfrm>
                  <a:off x="2547"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4" name="Text Box 20"/>
                <p:cNvSpPr txBox="1">
                  <a:spLocks noChangeArrowheads="1"/>
                </p:cNvSpPr>
                <p:nvPr/>
              </p:nvSpPr>
              <p:spPr bwMode="auto">
                <a:xfrm>
                  <a:off x="2986"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5" name="Text Box 21"/>
                <p:cNvSpPr txBox="1">
                  <a:spLocks noChangeArrowheads="1"/>
                </p:cNvSpPr>
                <p:nvPr/>
              </p:nvSpPr>
              <p:spPr bwMode="auto">
                <a:xfrm>
                  <a:off x="3415" y="1427"/>
                  <a:ext cx="95" cy="250"/>
                </a:xfrm>
                <a:prstGeom prst="rect">
                  <a:avLst/>
                </a:prstGeom>
                <a:noFill/>
                <a:ln w="9525">
                  <a:noFill/>
                  <a:miter lim="800000"/>
                  <a:headEnd/>
                  <a:tailEnd/>
                </a:ln>
                <a:effectLst/>
              </p:spPr>
              <p:txBody>
                <a:bodyPr wrap="none">
                  <a:spAutoFit/>
                </a:bodyPr>
                <a:lstStyle/>
                <a:p>
                  <a:pPr algn="ctr"/>
                  <a:endParaRPr lang="zh-CN" altLang="zh-CN" sz="2000"/>
                </a:p>
              </p:txBody>
            </p:sp>
          </p:grpSp>
          <p:grpSp>
            <p:nvGrpSpPr>
              <p:cNvPr id="994326" name="Group 22"/>
              <p:cNvGrpSpPr>
                <a:grpSpLocks/>
              </p:cNvGrpSpPr>
              <p:nvPr/>
            </p:nvGrpSpPr>
            <p:grpSpPr bwMode="auto">
              <a:xfrm>
                <a:off x="1705" y="2015"/>
                <a:ext cx="1374" cy="250"/>
                <a:chOff x="2137" y="1427"/>
                <a:chExt cx="1374" cy="250"/>
              </a:xfrm>
            </p:grpSpPr>
            <p:sp>
              <p:nvSpPr>
                <p:cNvPr id="994327" name="Text Box 23"/>
                <p:cNvSpPr txBox="1">
                  <a:spLocks noChangeArrowheads="1"/>
                </p:cNvSpPr>
                <p:nvPr/>
              </p:nvSpPr>
              <p:spPr bwMode="auto">
                <a:xfrm>
                  <a:off x="2137" y="1427"/>
                  <a:ext cx="95"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8" name="Text Box 24"/>
                <p:cNvSpPr txBox="1">
                  <a:spLocks noChangeArrowheads="1"/>
                </p:cNvSpPr>
                <p:nvPr/>
              </p:nvSpPr>
              <p:spPr bwMode="auto">
                <a:xfrm>
                  <a:off x="2545" y="1427"/>
                  <a:ext cx="96"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29" name="Text Box 25"/>
                <p:cNvSpPr txBox="1">
                  <a:spLocks noChangeArrowheads="1"/>
                </p:cNvSpPr>
                <p:nvPr/>
              </p:nvSpPr>
              <p:spPr bwMode="auto">
                <a:xfrm>
                  <a:off x="2985" y="1427"/>
                  <a:ext cx="96" cy="250"/>
                </a:xfrm>
                <a:prstGeom prst="rect">
                  <a:avLst/>
                </a:prstGeom>
                <a:noFill/>
                <a:ln w="9525">
                  <a:noFill/>
                  <a:miter lim="800000"/>
                  <a:headEnd/>
                  <a:tailEnd/>
                </a:ln>
                <a:effectLst/>
              </p:spPr>
              <p:txBody>
                <a:bodyPr wrap="none">
                  <a:spAutoFit/>
                </a:bodyPr>
                <a:lstStyle/>
                <a:p>
                  <a:pPr algn="ctr"/>
                  <a:endParaRPr lang="zh-CN" altLang="zh-CN" sz="2000"/>
                </a:p>
              </p:txBody>
            </p:sp>
            <p:sp>
              <p:nvSpPr>
                <p:cNvPr id="994330" name="Text Box 26"/>
                <p:cNvSpPr txBox="1">
                  <a:spLocks noChangeArrowheads="1"/>
                </p:cNvSpPr>
                <p:nvPr/>
              </p:nvSpPr>
              <p:spPr bwMode="auto">
                <a:xfrm>
                  <a:off x="3416" y="1427"/>
                  <a:ext cx="95" cy="250"/>
                </a:xfrm>
                <a:prstGeom prst="rect">
                  <a:avLst/>
                </a:prstGeom>
                <a:noFill/>
                <a:ln w="9525">
                  <a:noFill/>
                  <a:miter lim="800000"/>
                  <a:headEnd/>
                  <a:tailEnd/>
                </a:ln>
                <a:effectLst/>
              </p:spPr>
              <p:txBody>
                <a:bodyPr wrap="none">
                  <a:spAutoFit/>
                </a:bodyPr>
                <a:lstStyle/>
                <a:p>
                  <a:pPr algn="ctr"/>
                  <a:endParaRPr lang="zh-CN" altLang="zh-CN" sz="2000"/>
                </a:p>
              </p:txBody>
            </p:sp>
          </p:grpSp>
        </p:grpSp>
        <p:grpSp>
          <p:nvGrpSpPr>
            <p:cNvPr id="994331" name="Group 27"/>
            <p:cNvGrpSpPr>
              <a:grpSpLocks/>
            </p:cNvGrpSpPr>
            <p:nvPr/>
          </p:nvGrpSpPr>
          <p:grpSpPr bwMode="auto">
            <a:xfrm>
              <a:off x="1102" y="1725"/>
              <a:ext cx="2155" cy="253"/>
              <a:chOff x="1503" y="2097"/>
              <a:chExt cx="2155" cy="253"/>
            </a:xfrm>
          </p:grpSpPr>
          <p:sp>
            <p:nvSpPr>
              <p:cNvPr id="994332" name="Text Box 28"/>
              <p:cNvSpPr txBox="1">
                <a:spLocks noChangeArrowheads="1"/>
              </p:cNvSpPr>
              <p:nvPr/>
            </p:nvSpPr>
            <p:spPr bwMode="auto">
              <a:xfrm>
                <a:off x="1503"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2060"/>
                    </a:solidFill>
                  </a:rPr>
                  <a:t>a[0][0]</a:t>
                </a:r>
              </a:p>
            </p:txBody>
          </p:sp>
          <p:sp>
            <p:nvSpPr>
              <p:cNvPr id="994333" name="Text Box 29"/>
              <p:cNvSpPr txBox="1">
                <a:spLocks noChangeArrowheads="1"/>
              </p:cNvSpPr>
              <p:nvPr/>
            </p:nvSpPr>
            <p:spPr bwMode="auto">
              <a:xfrm>
                <a:off x="2031"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2060"/>
                    </a:solidFill>
                  </a:rPr>
                  <a:t>a[0][1]</a:t>
                </a:r>
              </a:p>
            </p:txBody>
          </p:sp>
          <p:sp>
            <p:nvSpPr>
              <p:cNvPr id="994334" name="Text Box 30"/>
              <p:cNvSpPr txBox="1">
                <a:spLocks noChangeArrowheads="1"/>
              </p:cNvSpPr>
              <p:nvPr/>
            </p:nvSpPr>
            <p:spPr bwMode="auto">
              <a:xfrm>
                <a:off x="2559"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2060"/>
                    </a:solidFill>
                  </a:rPr>
                  <a:t>a[0][2]</a:t>
                </a:r>
              </a:p>
            </p:txBody>
          </p:sp>
          <p:sp>
            <p:nvSpPr>
              <p:cNvPr id="994335" name="Text Box 31"/>
              <p:cNvSpPr txBox="1">
                <a:spLocks noChangeArrowheads="1"/>
              </p:cNvSpPr>
              <p:nvPr/>
            </p:nvSpPr>
            <p:spPr bwMode="auto">
              <a:xfrm>
                <a:off x="3087"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2060"/>
                    </a:solidFill>
                  </a:rPr>
                  <a:t>a[0][3]</a:t>
                </a:r>
              </a:p>
            </p:txBody>
          </p:sp>
        </p:grpSp>
        <p:grpSp>
          <p:nvGrpSpPr>
            <p:cNvPr id="994336" name="Group 32"/>
            <p:cNvGrpSpPr>
              <a:grpSpLocks/>
            </p:cNvGrpSpPr>
            <p:nvPr/>
          </p:nvGrpSpPr>
          <p:grpSpPr bwMode="auto">
            <a:xfrm>
              <a:off x="1109" y="2086"/>
              <a:ext cx="2155" cy="253"/>
              <a:chOff x="1503" y="2097"/>
              <a:chExt cx="2155" cy="253"/>
            </a:xfrm>
          </p:grpSpPr>
          <p:sp>
            <p:nvSpPr>
              <p:cNvPr id="994337" name="Text Box 33"/>
              <p:cNvSpPr txBox="1">
                <a:spLocks noChangeArrowheads="1"/>
              </p:cNvSpPr>
              <p:nvPr/>
            </p:nvSpPr>
            <p:spPr bwMode="auto">
              <a:xfrm>
                <a:off x="1503"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C01920"/>
                    </a:solidFill>
                  </a:rPr>
                  <a:t>a[1][0]</a:t>
                </a:r>
              </a:p>
            </p:txBody>
          </p:sp>
          <p:sp>
            <p:nvSpPr>
              <p:cNvPr id="994338" name="Text Box 34"/>
              <p:cNvSpPr txBox="1">
                <a:spLocks noChangeArrowheads="1"/>
              </p:cNvSpPr>
              <p:nvPr/>
            </p:nvSpPr>
            <p:spPr bwMode="auto">
              <a:xfrm>
                <a:off x="2031"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C01920"/>
                    </a:solidFill>
                  </a:rPr>
                  <a:t>a[1][1]</a:t>
                </a:r>
              </a:p>
            </p:txBody>
          </p:sp>
          <p:sp>
            <p:nvSpPr>
              <p:cNvPr id="994339" name="Text Box 35"/>
              <p:cNvSpPr txBox="1">
                <a:spLocks noChangeArrowheads="1"/>
              </p:cNvSpPr>
              <p:nvPr/>
            </p:nvSpPr>
            <p:spPr bwMode="auto">
              <a:xfrm>
                <a:off x="2559"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C01920"/>
                    </a:solidFill>
                  </a:rPr>
                  <a:t>a[1][2]</a:t>
                </a:r>
              </a:p>
            </p:txBody>
          </p:sp>
          <p:sp>
            <p:nvSpPr>
              <p:cNvPr id="994340" name="Text Box 36"/>
              <p:cNvSpPr txBox="1">
                <a:spLocks noChangeArrowheads="1"/>
              </p:cNvSpPr>
              <p:nvPr/>
            </p:nvSpPr>
            <p:spPr bwMode="auto">
              <a:xfrm>
                <a:off x="3087"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C01920"/>
                    </a:solidFill>
                  </a:rPr>
                  <a:t>a[1][3]</a:t>
                </a:r>
              </a:p>
            </p:txBody>
          </p:sp>
        </p:grpSp>
        <p:grpSp>
          <p:nvGrpSpPr>
            <p:cNvPr id="994341" name="Group 37"/>
            <p:cNvGrpSpPr>
              <a:grpSpLocks/>
            </p:cNvGrpSpPr>
            <p:nvPr/>
          </p:nvGrpSpPr>
          <p:grpSpPr bwMode="auto">
            <a:xfrm>
              <a:off x="1109" y="2392"/>
              <a:ext cx="2155" cy="253"/>
              <a:chOff x="1503" y="2097"/>
              <a:chExt cx="2155" cy="253"/>
            </a:xfrm>
          </p:grpSpPr>
          <p:sp>
            <p:nvSpPr>
              <p:cNvPr id="994342" name="Text Box 38"/>
              <p:cNvSpPr txBox="1">
                <a:spLocks noChangeArrowheads="1"/>
              </p:cNvSpPr>
              <p:nvPr/>
            </p:nvSpPr>
            <p:spPr bwMode="auto">
              <a:xfrm>
                <a:off x="1503" y="2097"/>
                <a:ext cx="562" cy="253"/>
              </a:xfrm>
              <a:prstGeom prst="rect">
                <a:avLst/>
              </a:prstGeom>
              <a:noFill/>
              <a:ln w="38100">
                <a:noFill/>
                <a:miter lim="800000"/>
                <a:headEnd/>
                <a:tailEnd/>
              </a:ln>
              <a:effectLst/>
            </p:spPr>
            <p:txBody>
              <a:bodyPr wrap="none" lIns="90000" tIns="46800" rIns="90000" bIns="46800">
                <a:spAutoFit/>
              </a:bodyPr>
              <a:lstStyle/>
              <a:p>
                <a:r>
                  <a:rPr lang="en-US" altLang="zh-CN" sz="2000"/>
                  <a:t>a[2][0]</a:t>
                </a:r>
              </a:p>
            </p:txBody>
          </p:sp>
          <p:sp>
            <p:nvSpPr>
              <p:cNvPr id="994343" name="Text Box 39"/>
              <p:cNvSpPr txBox="1">
                <a:spLocks noChangeArrowheads="1"/>
              </p:cNvSpPr>
              <p:nvPr/>
            </p:nvSpPr>
            <p:spPr bwMode="auto">
              <a:xfrm>
                <a:off x="2031"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t>a[2][1]</a:t>
                </a:r>
              </a:p>
            </p:txBody>
          </p:sp>
          <p:sp>
            <p:nvSpPr>
              <p:cNvPr id="994344" name="Text Box 40"/>
              <p:cNvSpPr txBox="1">
                <a:spLocks noChangeArrowheads="1"/>
              </p:cNvSpPr>
              <p:nvPr/>
            </p:nvSpPr>
            <p:spPr bwMode="auto">
              <a:xfrm>
                <a:off x="2559"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dirty="0"/>
                  <a:t>a[2][2]</a:t>
                </a:r>
              </a:p>
            </p:txBody>
          </p:sp>
          <p:sp>
            <p:nvSpPr>
              <p:cNvPr id="994345" name="Text Box 41"/>
              <p:cNvSpPr txBox="1">
                <a:spLocks noChangeArrowheads="1"/>
              </p:cNvSpPr>
              <p:nvPr/>
            </p:nvSpPr>
            <p:spPr bwMode="auto">
              <a:xfrm>
                <a:off x="3087" y="2097"/>
                <a:ext cx="571" cy="253"/>
              </a:xfrm>
              <a:prstGeom prst="rect">
                <a:avLst/>
              </a:prstGeom>
              <a:noFill/>
              <a:ln w="38100">
                <a:noFill/>
                <a:miter lim="800000"/>
                <a:headEnd/>
                <a:tailEnd/>
              </a:ln>
              <a:effectLst/>
            </p:spPr>
            <p:txBody>
              <a:bodyPr wrap="none" lIns="90000" tIns="46800" rIns="90000" bIns="46800">
                <a:spAutoFit/>
              </a:bodyPr>
              <a:lstStyle/>
              <a:p>
                <a:r>
                  <a:rPr lang="en-US" altLang="zh-CN" sz="2000" b="1"/>
                  <a:t>a[2][3]</a:t>
                </a:r>
              </a:p>
            </p:txBody>
          </p:sp>
        </p:grpSp>
        <p:grpSp>
          <p:nvGrpSpPr>
            <p:cNvPr id="994348" name="Group 44"/>
            <p:cNvGrpSpPr>
              <a:grpSpLocks/>
            </p:cNvGrpSpPr>
            <p:nvPr/>
          </p:nvGrpSpPr>
          <p:grpSpPr bwMode="auto">
            <a:xfrm>
              <a:off x="783" y="1726"/>
              <a:ext cx="382" cy="927"/>
              <a:chOff x="1107" y="2101"/>
              <a:chExt cx="382" cy="927"/>
            </a:xfrm>
          </p:grpSpPr>
          <p:sp>
            <p:nvSpPr>
              <p:cNvPr id="994349" name="Text Box 45"/>
              <p:cNvSpPr txBox="1">
                <a:spLocks noChangeArrowheads="1"/>
              </p:cNvSpPr>
              <p:nvPr/>
            </p:nvSpPr>
            <p:spPr bwMode="auto">
              <a:xfrm>
                <a:off x="1107" y="2101"/>
                <a:ext cx="382" cy="250"/>
              </a:xfrm>
              <a:prstGeom prst="rect">
                <a:avLst/>
              </a:prstGeom>
              <a:noFill/>
              <a:ln w="9525">
                <a:noFill/>
                <a:miter lim="800000"/>
                <a:headEnd/>
                <a:tailEnd/>
              </a:ln>
              <a:effectLst/>
            </p:spPr>
            <p:txBody>
              <a:bodyPr wrap="none" anchor="ctr">
                <a:spAutoFit/>
              </a:bodyPr>
              <a:lstStyle/>
              <a:p>
                <a:pPr algn="ctr" eaLnBrk="0" hangingPunct="0"/>
                <a:r>
                  <a:rPr lang="en-US" altLang="zh-CN" sz="2000" b="1" dirty="0">
                    <a:solidFill>
                      <a:srgbClr val="002060"/>
                    </a:solidFill>
                  </a:rPr>
                  <a:t>a[0]</a:t>
                </a:r>
              </a:p>
            </p:txBody>
          </p:sp>
          <p:sp>
            <p:nvSpPr>
              <p:cNvPr id="994350" name="Text Box 46"/>
              <p:cNvSpPr txBox="1">
                <a:spLocks noChangeArrowheads="1"/>
              </p:cNvSpPr>
              <p:nvPr/>
            </p:nvSpPr>
            <p:spPr bwMode="auto">
              <a:xfrm>
                <a:off x="1107" y="2425"/>
                <a:ext cx="382" cy="250"/>
              </a:xfrm>
              <a:prstGeom prst="rect">
                <a:avLst/>
              </a:prstGeom>
              <a:noFill/>
              <a:ln w="9525">
                <a:noFill/>
                <a:miter lim="800000"/>
                <a:headEnd/>
                <a:tailEnd/>
              </a:ln>
              <a:effectLst/>
            </p:spPr>
            <p:txBody>
              <a:bodyPr wrap="none" anchor="ctr">
                <a:spAutoFit/>
              </a:bodyPr>
              <a:lstStyle/>
              <a:p>
                <a:pPr algn="ctr" eaLnBrk="0" hangingPunct="0"/>
                <a:r>
                  <a:rPr lang="en-US" altLang="zh-CN" sz="2000" b="1" dirty="0">
                    <a:solidFill>
                      <a:srgbClr val="C01920"/>
                    </a:solidFill>
                  </a:rPr>
                  <a:t>a[1]</a:t>
                </a:r>
              </a:p>
            </p:txBody>
          </p:sp>
          <p:sp>
            <p:nvSpPr>
              <p:cNvPr id="994351" name="Text Box 47"/>
              <p:cNvSpPr txBox="1">
                <a:spLocks noChangeArrowheads="1"/>
              </p:cNvSpPr>
              <p:nvPr/>
            </p:nvSpPr>
            <p:spPr bwMode="auto">
              <a:xfrm>
                <a:off x="1107" y="2778"/>
                <a:ext cx="382" cy="250"/>
              </a:xfrm>
              <a:prstGeom prst="rect">
                <a:avLst/>
              </a:prstGeom>
              <a:noFill/>
              <a:ln w="9525">
                <a:noFill/>
                <a:miter lim="800000"/>
                <a:headEnd/>
                <a:tailEnd/>
              </a:ln>
              <a:effectLst/>
            </p:spPr>
            <p:txBody>
              <a:bodyPr wrap="none" anchor="ctr">
                <a:spAutoFit/>
              </a:bodyPr>
              <a:lstStyle/>
              <a:p>
                <a:pPr algn="ctr" eaLnBrk="0" hangingPunct="0"/>
                <a:r>
                  <a:rPr lang="en-US" altLang="zh-CN" sz="2000" b="1" dirty="0"/>
                  <a:t>a[2]</a:t>
                </a:r>
              </a:p>
            </p:txBody>
          </p:sp>
        </p:grpSp>
      </p:grpSp>
      <p:grpSp>
        <p:nvGrpSpPr>
          <p:cNvPr id="994352" name="Group 48"/>
          <p:cNvGrpSpPr>
            <a:grpSpLocks/>
          </p:cNvGrpSpPr>
          <p:nvPr/>
        </p:nvGrpSpPr>
        <p:grpSpPr bwMode="auto">
          <a:xfrm>
            <a:off x="1537668" y="4967802"/>
            <a:ext cx="1004887" cy="608013"/>
            <a:chOff x="663" y="3012"/>
            <a:chExt cx="633" cy="383"/>
          </a:xfrm>
        </p:grpSpPr>
        <p:sp>
          <p:nvSpPr>
            <p:cNvPr id="994353" name="Line 49"/>
            <p:cNvSpPr>
              <a:spLocks noChangeShapeType="1"/>
            </p:cNvSpPr>
            <p:nvPr/>
          </p:nvSpPr>
          <p:spPr bwMode="auto">
            <a:xfrm flipV="1">
              <a:off x="996" y="3012"/>
              <a:ext cx="300" cy="204"/>
            </a:xfrm>
            <a:prstGeom prst="line">
              <a:avLst/>
            </a:prstGeom>
            <a:noFill/>
            <a:ln w="38100">
              <a:solidFill>
                <a:srgbClr val="002060"/>
              </a:solidFill>
              <a:round/>
              <a:headEnd/>
              <a:tailEnd type="stealth" w="lg" len="lg"/>
            </a:ln>
            <a:effectLst/>
          </p:spPr>
          <p:txBody>
            <a:bodyPr wrap="none" lIns="90000" tIns="46800" rIns="90000" bIns="46800" anchor="ctr">
              <a:spAutoFit/>
            </a:bodyPr>
            <a:lstStyle/>
            <a:p>
              <a:endParaRPr lang="zh-CN" altLang="en-US">
                <a:solidFill>
                  <a:srgbClr val="002060"/>
                </a:solidFill>
              </a:endParaRPr>
            </a:p>
          </p:txBody>
        </p:sp>
        <p:sp>
          <p:nvSpPr>
            <p:cNvPr id="994354" name="Text Box 50"/>
            <p:cNvSpPr txBox="1">
              <a:spLocks noChangeArrowheads="1"/>
            </p:cNvSpPr>
            <p:nvPr/>
          </p:nvSpPr>
          <p:spPr bwMode="auto">
            <a:xfrm>
              <a:off x="663" y="3142"/>
              <a:ext cx="440" cy="253"/>
            </a:xfrm>
            <a:prstGeom prst="rect">
              <a:avLst/>
            </a:prstGeom>
            <a:noFill/>
            <a:ln w="38100">
              <a:noFill/>
              <a:miter lim="800000"/>
              <a:headEnd/>
              <a:tailEnd/>
            </a:ln>
            <a:effectLst/>
          </p:spPr>
          <p:txBody>
            <a:bodyPr wrap="none" lIns="90000" tIns="46800" rIns="90000" bIns="46800">
              <a:spAutoFit/>
            </a:bodyPr>
            <a:lstStyle/>
            <a:p>
              <a:r>
                <a:rPr lang="zh-CN" altLang="en-US" sz="2000" b="1" dirty="0">
                  <a:solidFill>
                    <a:srgbClr val="002060"/>
                  </a:solidFill>
                  <a:latin typeface="楷体" pitchFamily="49" charset="-122"/>
                  <a:ea typeface="楷体" pitchFamily="49" charset="-122"/>
                </a:rPr>
                <a:t>行名</a:t>
              </a:r>
            </a:p>
          </p:txBody>
        </p:sp>
      </p:grpSp>
      <p:grpSp>
        <p:nvGrpSpPr>
          <p:cNvPr id="994355" name="Group 51"/>
          <p:cNvGrpSpPr>
            <a:grpSpLocks/>
          </p:cNvGrpSpPr>
          <p:nvPr/>
        </p:nvGrpSpPr>
        <p:grpSpPr bwMode="auto">
          <a:xfrm>
            <a:off x="8036679" y="2254745"/>
            <a:ext cx="2827337" cy="4595813"/>
            <a:chOff x="3829" y="602"/>
            <a:chExt cx="1781" cy="2895"/>
          </a:xfrm>
        </p:grpSpPr>
        <p:grpSp>
          <p:nvGrpSpPr>
            <p:cNvPr id="994356" name="Group 52"/>
            <p:cNvGrpSpPr>
              <a:grpSpLocks/>
            </p:cNvGrpSpPr>
            <p:nvPr/>
          </p:nvGrpSpPr>
          <p:grpSpPr bwMode="auto">
            <a:xfrm>
              <a:off x="3829" y="631"/>
              <a:ext cx="1364" cy="2866"/>
              <a:chOff x="3937" y="223"/>
              <a:chExt cx="1364" cy="2866"/>
            </a:xfrm>
          </p:grpSpPr>
          <p:sp>
            <p:nvSpPr>
              <p:cNvPr id="994357" name="Rectangle 53"/>
              <p:cNvSpPr>
                <a:spLocks noChangeArrowheads="1"/>
              </p:cNvSpPr>
              <p:nvPr/>
            </p:nvSpPr>
            <p:spPr bwMode="auto">
              <a:xfrm>
                <a:off x="4189" y="247"/>
                <a:ext cx="1112" cy="2832"/>
              </a:xfrm>
              <a:prstGeom prst="rect">
                <a:avLst/>
              </a:prstGeom>
              <a:solidFill>
                <a:srgbClr val="FFFFFF"/>
              </a:solidFill>
              <a:ln w="38100">
                <a:solidFill>
                  <a:schemeClr val="accent1">
                    <a:lumMod val="50000"/>
                  </a:schemeClr>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b="1"/>
              </a:p>
            </p:txBody>
          </p:sp>
          <p:sp>
            <p:nvSpPr>
              <p:cNvPr id="994358" name="Line 54"/>
              <p:cNvSpPr>
                <a:spLocks noChangeShapeType="1"/>
              </p:cNvSpPr>
              <p:nvPr/>
            </p:nvSpPr>
            <p:spPr bwMode="auto">
              <a:xfrm>
                <a:off x="4181" y="492"/>
                <a:ext cx="1102" cy="0"/>
              </a:xfrm>
              <a:prstGeom prst="line">
                <a:avLst/>
              </a:prstGeom>
              <a:noFill/>
              <a:ln w="9525">
                <a:solidFill>
                  <a:schemeClr val="bg2"/>
                </a:solidFill>
                <a:round/>
                <a:headEnd/>
                <a:tailEnd/>
              </a:ln>
              <a:effectLst/>
            </p:spPr>
            <p:txBody>
              <a:bodyPr wrap="none" anchor="ctr"/>
              <a:lstStyle/>
              <a:p>
                <a:endParaRPr lang="zh-CN" altLang="en-US" b="1"/>
              </a:p>
            </p:txBody>
          </p:sp>
          <p:sp>
            <p:nvSpPr>
              <p:cNvPr id="994359" name="Line 55"/>
              <p:cNvSpPr>
                <a:spLocks noChangeShapeType="1"/>
              </p:cNvSpPr>
              <p:nvPr/>
            </p:nvSpPr>
            <p:spPr bwMode="auto">
              <a:xfrm>
                <a:off x="4181" y="726"/>
                <a:ext cx="1102" cy="0"/>
              </a:xfrm>
              <a:prstGeom prst="line">
                <a:avLst/>
              </a:prstGeom>
              <a:noFill/>
              <a:ln w="9525">
                <a:solidFill>
                  <a:schemeClr val="bg2"/>
                </a:solidFill>
                <a:round/>
                <a:headEnd/>
                <a:tailEnd/>
              </a:ln>
              <a:effectLst/>
            </p:spPr>
            <p:txBody>
              <a:bodyPr wrap="none" anchor="ctr"/>
              <a:lstStyle/>
              <a:p>
                <a:endParaRPr lang="zh-CN" altLang="en-US" b="1"/>
              </a:p>
            </p:txBody>
          </p:sp>
          <p:sp>
            <p:nvSpPr>
              <p:cNvPr id="994360" name="Line 56"/>
              <p:cNvSpPr>
                <a:spLocks noChangeShapeType="1"/>
              </p:cNvSpPr>
              <p:nvPr/>
            </p:nvSpPr>
            <p:spPr bwMode="auto">
              <a:xfrm>
                <a:off x="4181" y="961"/>
                <a:ext cx="1112" cy="0"/>
              </a:xfrm>
              <a:prstGeom prst="line">
                <a:avLst/>
              </a:prstGeom>
              <a:noFill/>
              <a:ln w="9525">
                <a:solidFill>
                  <a:schemeClr val="bg2"/>
                </a:solidFill>
                <a:round/>
                <a:headEnd/>
                <a:tailEnd/>
              </a:ln>
              <a:effectLst/>
            </p:spPr>
            <p:txBody>
              <a:bodyPr wrap="none" anchor="ctr"/>
              <a:lstStyle/>
              <a:p>
                <a:endParaRPr lang="zh-CN" altLang="en-US" b="1"/>
              </a:p>
            </p:txBody>
          </p:sp>
          <p:sp>
            <p:nvSpPr>
              <p:cNvPr id="994361" name="Line 57"/>
              <p:cNvSpPr>
                <a:spLocks noChangeShapeType="1"/>
              </p:cNvSpPr>
              <p:nvPr/>
            </p:nvSpPr>
            <p:spPr bwMode="auto">
              <a:xfrm>
                <a:off x="4181" y="1195"/>
                <a:ext cx="1112" cy="0"/>
              </a:xfrm>
              <a:prstGeom prst="line">
                <a:avLst/>
              </a:prstGeom>
              <a:noFill/>
              <a:ln w="38100">
                <a:solidFill>
                  <a:srgbClr val="0000FF"/>
                </a:solidFill>
                <a:round/>
                <a:headEnd/>
                <a:tailEnd/>
              </a:ln>
              <a:effectLst/>
            </p:spPr>
            <p:txBody>
              <a:bodyPr wrap="none" anchor="ctr"/>
              <a:lstStyle/>
              <a:p>
                <a:endParaRPr lang="zh-CN" altLang="en-US" b="1"/>
              </a:p>
            </p:txBody>
          </p:sp>
          <p:sp>
            <p:nvSpPr>
              <p:cNvPr id="994362" name="Line 58"/>
              <p:cNvSpPr>
                <a:spLocks noChangeShapeType="1"/>
              </p:cNvSpPr>
              <p:nvPr/>
            </p:nvSpPr>
            <p:spPr bwMode="auto">
              <a:xfrm>
                <a:off x="4181" y="1430"/>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3" name="Line 59"/>
              <p:cNvSpPr>
                <a:spLocks noChangeShapeType="1"/>
              </p:cNvSpPr>
              <p:nvPr/>
            </p:nvSpPr>
            <p:spPr bwMode="auto">
              <a:xfrm>
                <a:off x="4181" y="1664"/>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4" name="Line 60"/>
              <p:cNvSpPr>
                <a:spLocks noChangeShapeType="1"/>
              </p:cNvSpPr>
              <p:nvPr/>
            </p:nvSpPr>
            <p:spPr bwMode="auto">
              <a:xfrm>
                <a:off x="4181" y="1899"/>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5" name="Line 61"/>
              <p:cNvSpPr>
                <a:spLocks noChangeShapeType="1"/>
              </p:cNvSpPr>
              <p:nvPr/>
            </p:nvSpPr>
            <p:spPr bwMode="auto">
              <a:xfrm>
                <a:off x="4181" y="2134"/>
                <a:ext cx="1112" cy="0"/>
              </a:xfrm>
              <a:prstGeom prst="line">
                <a:avLst/>
              </a:prstGeom>
              <a:noFill/>
              <a:ln w="38100">
                <a:solidFill>
                  <a:srgbClr val="0000FF"/>
                </a:solidFill>
                <a:round/>
                <a:headEnd/>
                <a:tailEnd/>
              </a:ln>
              <a:effectLst/>
            </p:spPr>
            <p:txBody>
              <a:bodyPr wrap="none" anchor="ctr">
                <a:spAutoFit/>
              </a:bodyPr>
              <a:lstStyle/>
              <a:p>
                <a:endParaRPr lang="zh-CN" altLang="en-US" b="1"/>
              </a:p>
            </p:txBody>
          </p:sp>
          <p:sp>
            <p:nvSpPr>
              <p:cNvPr id="994366" name="Line 62"/>
              <p:cNvSpPr>
                <a:spLocks noChangeShapeType="1"/>
              </p:cNvSpPr>
              <p:nvPr/>
            </p:nvSpPr>
            <p:spPr bwMode="auto">
              <a:xfrm>
                <a:off x="4181" y="2368"/>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7" name="Line 63"/>
              <p:cNvSpPr>
                <a:spLocks noChangeShapeType="1"/>
              </p:cNvSpPr>
              <p:nvPr/>
            </p:nvSpPr>
            <p:spPr bwMode="auto">
              <a:xfrm>
                <a:off x="4181" y="2603"/>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sp>
            <p:nvSpPr>
              <p:cNvPr id="994368" name="Line 64"/>
              <p:cNvSpPr>
                <a:spLocks noChangeShapeType="1"/>
              </p:cNvSpPr>
              <p:nvPr/>
            </p:nvSpPr>
            <p:spPr bwMode="auto">
              <a:xfrm>
                <a:off x="4181" y="2837"/>
                <a:ext cx="1112" cy="0"/>
              </a:xfrm>
              <a:prstGeom prst="line">
                <a:avLst/>
              </a:prstGeom>
              <a:noFill/>
              <a:ln w="9525">
                <a:solidFill>
                  <a:schemeClr val="bg2"/>
                </a:solidFill>
                <a:round/>
                <a:headEnd/>
                <a:tailEnd/>
              </a:ln>
              <a:effectLst/>
            </p:spPr>
            <p:txBody>
              <a:bodyPr wrap="none" anchor="ctr">
                <a:spAutoFit/>
              </a:bodyPr>
              <a:lstStyle/>
              <a:p>
                <a:endParaRPr lang="zh-CN" altLang="en-US" b="1"/>
              </a:p>
            </p:txBody>
          </p:sp>
          <p:grpSp>
            <p:nvGrpSpPr>
              <p:cNvPr id="994369" name="Group 65"/>
              <p:cNvGrpSpPr>
                <a:grpSpLocks/>
              </p:cNvGrpSpPr>
              <p:nvPr/>
            </p:nvGrpSpPr>
            <p:grpSpPr bwMode="auto">
              <a:xfrm>
                <a:off x="3993" y="260"/>
                <a:ext cx="199" cy="1425"/>
                <a:chOff x="1413" y="380"/>
                <a:chExt cx="199" cy="1425"/>
              </a:xfrm>
            </p:grpSpPr>
            <p:sp>
              <p:nvSpPr>
                <p:cNvPr id="994370" name="Text Box 66"/>
                <p:cNvSpPr txBox="1">
                  <a:spLocks noChangeArrowheads="1"/>
                </p:cNvSpPr>
                <p:nvPr/>
              </p:nvSpPr>
              <p:spPr bwMode="auto">
                <a:xfrm>
                  <a:off x="1413" y="380"/>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0</a:t>
                  </a:r>
                </a:p>
              </p:txBody>
            </p:sp>
            <p:sp>
              <p:nvSpPr>
                <p:cNvPr id="994371" name="Text Box 67"/>
                <p:cNvSpPr txBox="1">
                  <a:spLocks noChangeArrowheads="1"/>
                </p:cNvSpPr>
                <p:nvPr/>
              </p:nvSpPr>
              <p:spPr bwMode="auto">
                <a:xfrm>
                  <a:off x="1413" y="598"/>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1</a:t>
                  </a:r>
                </a:p>
              </p:txBody>
            </p:sp>
            <p:sp>
              <p:nvSpPr>
                <p:cNvPr id="994372" name="Text Box 68"/>
                <p:cNvSpPr txBox="1">
                  <a:spLocks noChangeArrowheads="1"/>
                </p:cNvSpPr>
                <p:nvPr/>
              </p:nvSpPr>
              <p:spPr bwMode="auto">
                <a:xfrm>
                  <a:off x="1413" y="1315"/>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4</a:t>
                  </a:r>
                </a:p>
              </p:txBody>
            </p:sp>
            <p:sp>
              <p:nvSpPr>
                <p:cNvPr id="994373" name="Text Box 69"/>
                <p:cNvSpPr txBox="1">
                  <a:spLocks noChangeArrowheads="1"/>
                </p:cNvSpPr>
                <p:nvPr/>
              </p:nvSpPr>
              <p:spPr bwMode="auto">
                <a:xfrm>
                  <a:off x="1413" y="1555"/>
                  <a:ext cx="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5</a:t>
                  </a:r>
                </a:p>
              </p:txBody>
            </p:sp>
            <p:sp>
              <p:nvSpPr>
                <p:cNvPr id="994374" name="Text Box 70"/>
                <p:cNvSpPr txBox="1">
                  <a:spLocks noChangeArrowheads="1"/>
                </p:cNvSpPr>
                <p:nvPr/>
              </p:nvSpPr>
              <p:spPr bwMode="auto">
                <a:xfrm>
                  <a:off x="1416" y="831"/>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2</a:t>
                  </a:r>
                </a:p>
              </p:txBody>
            </p:sp>
            <p:sp>
              <p:nvSpPr>
                <p:cNvPr id="994375" name="Text Box 71"/>
                <p:cNvSpPr txBox="1">
                  <a:spLocks noChangeArrowheads="1"/>
                </p:cNvSpPr>
                <p:nvPr/>
              </p:nvSpPr>
              <p:spPr bwMode="auto">
                <a:xfrm>
                  <a:off x="1416" y="1075"/>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3</a:t>
                  </a:r>
                </a:p>
              </p:txBody>
            </p:sp>
          </p:grpSp>
          <p:sp>
            <p:nvSpPr>
              <p:cNvPr id="994376" name="Text Box 72"/>
              <p:cNvSpPr txBox="1">
                <a:spLocks noChangeArrowheads="1"/>
              </p:cNvSpPr>
              <p:nvPr/>
            </p:nvSpPr>
            <p:spPr bwMode="auto">
              <a:xfrm>
                <a:off x="4439" y="463"/>
                <a:ext cx="568" cy="250"/>
              </a:xfrm>
              <a:prstGeom prst="rect">
                <a:avLst/>
              </a:prstGeom>
              <a:noFill/>
              <a:ln w="9525">
                <a:noFill/>
                <a:miter lim="800000"/>
                <a:headEnd/>
                <a:tailEnd/>
              </a:ln>
              <a:effectLst/>
            </p:spPr>
            <p:txBody>
              <a:bodyPr wrap="none">
                <a:spAutoFit/>
              </a:bodyPr>
              <a:lstStyle/>
              <a:p>
                <a:r>
                  <a:rPr lang="en-US" altLang="zh-CN" sz="2000" b="1">
                    <a:solidFill>
                      <a:srgbClr val="002060"/>
                    </a:solidFill>
                  </a:rPr>
                  <a:t>a[0][1]</a:t>
                </a:r>
              </a:p>
            </p:txBody>
          </p:sp>
          <p:sp>
            <p:nvSpPr>
              <p:cNvPr id="994377" name="Text Box 73"/>
              <p:cNvSpPr txBox="1">
                <a:spLocks noChangeArrowheads="1"/>
              </p:cNvSpPr>
              <p:nvPr/>
            </p:nvSpPr>
            <p:spPr bwMode="auto">
              <a:xfrm>
                <a:off x="4439" y="703"/>
                <a:ext cx="568" cy="250"/>
              </a:xfrm>
              <a:prstGeom prst="rect">
                <a:avLst/>
              </a:prstGeom>
              <a:noFill/>
              <a:ln w="9525">
                <a:noFill/>
                <a:miter lim="800000"/>
                <a:headEnd/>
                <a:tailEnd/>
              </a:ln>
              <a:effectLst/>
            </p:spPr>
            <p:txBody>
              <a:bodyPr wrap="none">
                <a:spAutoFit/>
              </a:bodyPr>
              <a:lstStyle/>
              <a:p>
                <a:r>
                  <a:rPr lang="en-US" altLang="zh-CN" sz="2000" b="1">
                    <a:solidFill>
                      <a:srgbClr val="002060"/>
                    </a:solidFill>
                  </a:rPr>
                  <a:t>a[0][2]</a:t>
                </a:r>
              </a:p>
            </p:txBody>
          </p:sp>
          <p:sp>
            <p:nvSpPr>
              <p:cNvPr id="994378" name="Text Box 74"/>
              <p:cNvSpPr txBox="1">
                <a:spLocks noChangeArrowheads="1"/>
              </p:cNvSpPr>
              <p:nvPr/>
            </p:nvSpPr>
            <p:spPr bwMode="auto">
              <a:xfrm>
                <a:off x="4439" y="943"/>
                <a:ext cx="568" cy="250"/>
              </a:xfrm>
              <a:prstGeom prst="rect">
                <a:avLst/>
              </a:prstGeom>
              <a:noFill/>
              <a:ln w="9525">
                <a:noFill/>
                <a:miter lim="800000"/>
                <a:headEnd/>
                <a:tailEnd/>
              </a:ln>
              <a:effectLst/>
            </p:spPr>
            <p:txBody>
              <a:bodyPr wrap="none">
                <a:spAutoFit/>
              </a:bodyPr>
              <a:lstStyle/>
              <a:p>
                <a:r>
                  <a:rPr lang="en-US" altLang="zh-CN" sz="2000" b="1">
                    <a:solidFill>
                      <a:srgbClr val="002060"/>
                    </a:solidFill>
                  </a:rPr>
                  <a:t>a[0][3]</a:t>
                </a:r>
              </a:p>
            </p:txBody>
          </p:sp>
          <p:sp>
            <p:nvSpPr>
              <p:cNvPr id="994379" name="Text Box 75"/>
              <p:cNvSpPr txBox="1">
                <a:spLocks noChangeArrowheads="1"/>
              </p:cNvSpPr>
              <p:nvPr/>
            </p:nvSpPr>
            <p:spPr bwMode="auto">
              <a:xfrm>
                <a:off x="4439" y="1183"/>
                <a:ext cx="568" cy="250"/>
              </a:xfrm>
              <a:prstGeom prst="rect">
                <a:avLst/>
              </a:prstGeom>
              <a:noFill/>
              <a:ln w="9525">
                <a:noFill/>
                <a:miter lim="800000"/>
                <a:headEnd/>
                <a:tailEnd/>
              </a:ln>
              <a:effectLst/>
            </p:spPr>
            <p:txBody>
              <a:bodyPr wrap="none">
                <a:spAutoFit/>
              </a:bodyPr>
              <a:lstStyle/>
              <a:p>
                <a:r>
                  <a:rPr lang="en-US" altLang="zh-CN" sz="2000" b="1" dirty="0">
                    <a:solidFill>
                      <a:srgbClr val="C01920"/>
                    </a:solidFill>
                  </a:rPr>
                  <a:t>a[1][0]</a:t>
                </a:r>
              </a:p>
            </p:txBody>
          </p:sp>
          <p:sp>
            <p:nvSpPr>
              <p:cNvPr id="994380" name="Text Box 76"/>
              <p:cNvSpPr txBox="1">
                <a:spLocks noChangeArrowheads="1"/>
              </p:cNvSpPr>
              <p:nvPr/>
            </p:nvSpPr>
            <p:spPr bwMode="auto">
              <a:xfrm>
                <a:off x="4439" y="1423"/>
                <a:ext cx="568" cy="250"/>
              </a:xfrm>
              <a:prstGeom prst="rect">
                <a:avLst/>
              </a:prstGeom>
              <a:noFill/>
              <a:ln w="9525">
                <a:noFill/>
                <a:miter lim="800000"/>
                <a:headEnd/>
                <a:tailEnd/>
              </a:ln>
              <a:effectLst/>
            </p:spPr>
            <p:txBody>
              <a:bodyPr wrap="none">
                <a:spAutoFit/>
              </a:bodyPr>
              <a:lstStyle/>
              <a:p>
                <a:r>
                  <a:rPr lang="en-US" altLang="zh-CN" sz="2000" b="1">
                    <a:solidFill>
                      <a:srgbClr val="C01920"/>
                    </a:solidFill>
                  </a:rPr>
                  <a:t>a[1][1]</a:t>
                </a:r>
              </a:p>
            </p:txBody>
          </p:sp>
          <p:sp>
            <p:nvSpPr>
              <p:cNvPr id="994381" name="Text Box 77"/>
              <p:cNvSpPr txBox="1">
                <a:spLocks noChangeArrowheads="1"/>
              </p:cNvSpPr>
              <p:nvPr/>
            </p:nvSpPr>
            <p:spPr bwMode="auto">
              <a:xfrm>
                <a:off x="4439" y="223"/>
                <a:ext cx="568" cy="250"/>
              </a:xfrm>
              <a:prstGeom prst="rect">
                <a:avLst/>
              </a:prstGeom>
              <a:noFill/>
              <a:ln w="9525">
                <a:noFill/>
                <a:miter lim="800000"/>
                <a:headEnd/>
                <a:tailEnd/>
              </a:ln>
              <a:effectLst/>
            </p:spPr>
            <p:txBody>
              <a:bodyPr wrap="none">
                <a:spAutoFit/>
              </a:bodyPr>
              <a:lstStyle/>
              <a:p>
                <a:r>
                  <a:rPr lang="en-US" altLang="zh-CN" sz="2000" b="1" dirty="0">
                    <a:solidFill>
                      <a:srgbClr val="002060"/>
                    </a:solidFill>
                  </a:rPr>
                  <a:t>a[0][0]</a:t>
                </a:r>
              </a:p>
            </p:txBody>
          </p:sp>
          <p:sp>
            <p:nvSpPr>
              <p:cNvPr id="994382" name="Text Box 78"/>
              <p:cNvSpPr txBox="1">
                <a:spLocks noChangeArrowheads="1"/>
              </p:cNvSpPr>
              <p:nvPr/>
            </p:nvSpPr>
            <p:spPr bwMode="auto">
              <a:xfrm>
                <a:off x="4439" y="1879"/>
                <a:ext cx="568" cy="250"/>
              </a:xfrm>
              <a:prstGeom prst="rect">
                <a:avLst/>
              </a:prstGeom>
              <a:noFill/>
              <a:ln w="9525">
                <a:noFill/>
                <a:miter lim="800000"/>
                <a:headEnd/>
                <a:tailEnd/>
              </a:ln>
              <a:effectLst/>
            </p:spPr>
            <p:txBody>
              <a:bodyPr wrap="none">
                <a:spAutoFit/>
              </a:bodyPr>
              <a:lstStyle/>
              <a:p>
                <a:r>
                  <a:rPr lang="en-US" altLang="zh-CN" sz="2000" b="1">
                    <a:solidFill>
                      <a:srgbClr val="C01920"/>
                    </a:solidFill>
                  </a:rPr>
                  <a:t>a[1][3]</a:t>
                </a:r>
              </a:p>
            </p:txBody>
          </p:sp>
          <p:sp>
            <p:nvSpPr>
              <p:cNvPr id="994383" name="Text Box 79"/>
              <p:cNvSpPr txBox="1">
                <a:spLocks noChangeArrowheads="1"/>
              </p:cNvSpPr>
              <p:nvPr/>
            </p:nvSpPr>
            <p:spPr bwMode="auto">
              <a:xfrm>
                <a:off x="4439" y="2119"/>
                <a:ext cx="568" cy="250"/>
              </a:xfrm>
              <a:prstGeom prst="rect">
                <a:avLst/>
              </a:prstGeom>
              <a:noFill/>
              <a:ln w="9525">
                <a:noFill/>
                <a:miter lim="800000"/>
                <a:headEnd/>
                <a:tailEnd/>
              </a:ln>
              <a:effectLst/>
            </p:spPr>
            <p:txBody>
              <a:bodyPr wrap="none">
                <a:spAutoFit/>
              </a:bodyPr>
              <a:lstStyle/>
              <a:p>
                <a:r>
                  <a:rPr lang="en-US" altLang="zh-CN" sz="2000" b="1" dirty="0"/>
                  <a:t>a[2][0]</a:t>
                </a:r>
              </a:p>
            </p:txBody>
          </p:sp>
          <p:sp>
            <p:nvSpPr>
              <p:cNvPr id="994384" name="Text Box 80"/>
              <p:cNvSpPr txBox="1">
                <a:spLocks noChangeArrowheads="1"/>
              </p:cNvSpPr>
              <p:nvPr/>
            </p:nvSpPr>
            <p:spPr bwMode="auto">
              <a:xfrm>
                <a:off x="4439" y="2359"/>
                <a:ext cx="568" cy="250"/>
              </a:xfrm>
              <a:prstGeom prst="rect">
                <a:avLst/>
              </a:prstGeom>
              <a:noFill/>
              <a:ln w="9525">
                <a:noFill/>
                <a:miter lim="800000"/>
                <a:headEnd/>
                <a:tailEnd/>
              </a:ln>
              <a:effectLst/>
            </p:spPr>
            <p:txBody>
              <a:bodyPr wrap="none">
                <a:spAutoFit/>
              </a:bodyPr>
              <a:lstStyle/>
              <a:p>
                <a:r>
                  <a:rPr lang="en-US" altLang="zh-CN" sz="2000" b="1"/>
                  <a:t>a[2][1]</a:t>
                </a:r>
              </a:p>
            </p:txBody>
          </p:sp>
          <p:sp>
            <p:nvSpPr>
              <p:cNvPr id="994385" name="Text Box 81"/>
              <p:cNvSpPr txBox="1">
                <a:spLocks noChangeArrowheads="1"/>
              </p:cNvSpPr>
              <p:nvPr/>
            </p:nvSpPr>
            <p:spPr bwMode="auto">
              <a:xfrm>
                <a:off x="4439" y="2599"/>
                <a:ext cx="568" cy="250"/>
              </a:xfrm>
              <a:prstGeom prst="rect">
                <a:avLst/>
              </a:prstGeom>
              <a:noFill/>
              <a:ln w="9525">
                <a:noFill/>
                <a:miter lim="800000"/>
                <a:headEnd/>
                <a:tailEnd/>
              </a:ln>
              <a:effectLst/>
            </p:spPr>
            <p:txBody>
              <a:bodyPr wrap="none">
                <a:spAutoFit/>
              </a:bodyPr>
              <a:lstStyle/>
              <a:p>
                <a:r>
                  <a:rPr lang="en-US" altLang="zh-CN" sz="2000" b="1"/>
                  <a:t>a[2][2]</a:t>
                </a:r>
              </a:p>
            </p:txBody>
          </p:sp>
          <p:sp>
            <p:nvSpPr>
              <p:cNvPr id="994386" name="Text Box 82"/>
              <p:cNvSpPr txBox="1">
                <a:spLocks noChangeArrowheads="1"/>
              </p:cNvSpPr>
              <p:nvPr/>
            </p:nvSpPr>
            <p:spPr bwMode="auto">
              <a:xfrm>
                <a:off x="4439" y="2839"/>
                <a:ext cx="568" cy="250"/>
              </a:xfrm>
              <a:prstGeom prst="rect">
                <a:avLst/>
              </a:prstGeom>
              <a:noFill/>
              <a:ln w="9525">
                <a:noFill/>
                <a:miter lim="800000"/>
                <a:headEnd/>
                <a:tailEnd/>
              </a:ln>
              <a:effectLst/>
            </p:spPr>
            <p:txBody>
              <a:bodyPr wrap="none">
                <a:spAutoFit/>
              </a:bodyPr>
              <a:lstStyle/>
              <a:p>
                <a:r>
                  <a:rPr lang="en-US" altLang="zh-CN" sz="2000" b="1"/>
                  <a:t>a[2][3]</a:t>
                </a:r>
              </a:p>
            </p:txBody>
          </p:sp>
          <p:sp>
            <p:nvSpPr>
              <p:cNvPr id="994387" name="Text Box 83"/>
              <p:cNvSpPr txBox="1">
                <a:spLocks noChangeArrowheads="1"/>
              </p:cNvSpPr>
              <p:nvPr/>
            </p:nvSpPr>
            <p:spPr bwMode="auto">
              <a:xfrm>
                <a:off x="4439" y="1639"/>
                <a:ext cx="568" cy="250"/>
              </a:xfrm>
              <a:prstGeom prst="rect">
                <a:avLst/>
              </a:prstGeom>
              <a:noFill/>
              <a:ln w="9525">
                <a:noFill/>
                <a:miter lim="800000"/>
                <a:headEnd/>
                <a:tailEnd/>
              </a:ln>
              <a:effectLst/>
            </p:spPr>
            <p:txBody>
              <a:bodyPr wrap="none">
                <a:spAutoFit/>
              </a:bodyPr>
              <a:lstStyle/>
              <a:p>
                <a:r>
                  <a:rPr lang="en-US" altLang="zh-CN" sz="2000" b="1">
                    <a:solidFill>
                      <a:srgbClr val="C01920"/>
                    </a:solidFill>
                  </a:rPr>
                  <a:t>a[1][2]</a:t>
                </a:r>
              </a:p>
            </p:txBody>
          </p:sp>
          <p:grpSp>
            <p:nvGrpSpPr>
              <p:cNvPr id="994388" name="Group 84"/>
              <p:cNvGrpSpPr>
                <a:grpSpLocks/>
              </p:cNvGrpSpPr>
              <p:nvPr/>
            </p:nvGrpSpPr>
            <p:grpSpPr bwMode="auto">
              <a:xfrm>
                <a:off x="3937" y="1651"/>
                <a:ext cx="285" cy="1438"/>
                <a:chOff x="1369" y="367"/>
                <a:chExt cx="285" cy="1438"/>
              </a:xfrm>
            </p:grpSpPr>
            <p:sp>
              <p:nvSpPr>
                <p:cNvPr id="994389" name="Text Box 85"/>
                <p:cNvSpPr txBox="1">
                  <a:spLocks noChangeArrowheads="1"/>
                </p:cNvSpPr>
                <p:nvPr/>
              </p:nvSpPr>
              <p:spPr bwMode="auto">
                <a:xfrm>
                  <a:off x="1426" y="367"/>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6</a:t>
                  </a:r>
                </a:p>
              </p:txBody>
            </p:sp>
            <p:sp>
              <p:nvSpPr>
                <p:cNvPr id="994390" name="Text Box 86"/>
                <p:cNvSpPr txBox="1">
                  <a:spLocks noChangeArrowheads="1"/>
                </p:cNvSpPr>
                <p:nvPr/>
              </p:nvSpPr>
              <p:spPr bwMode="auto">
                <a:xfrm>
                  <a:off x="1426" y="607"/>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7</a:t>
                  </a:r>
                </a:p>
              </p:txBody>
            </p:sp>
            <p:sp>
              <p:nvSpPr>
                <p:cNvPr id="994391" name="Text Box 87"/>
                <p:cNvSpPr txBox="1">
                  <a:spLocks noChangeArrowheads="1"/>
                </p:cNvSpPr>
                <p:nvPr/>
              </p:nvSpPr>
              <p:spPr bwMode="auto">
                <a:xfrm>
                  <a:off x="1369" y="1315"/>
                  <a:ext cx="27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10</a:t>
                  </a:r>
                </a:p>
              </p:txBody>
            </p:sp>
            <p:sp>
              <p:nvSpPr>
                <p:cNvPr id="994392" name="Text Box 88"/>
                <p:cNvSpPr txBox="1">
                  <a:spLocks noChangeArrowheads="1"/>
                </p:cNvSpPr>
                <p:nvPr/>
              </p:nvSpPr>
              <p:spPr bwMode="auto">
                <a:xfrm>
                  <a:off x="1378" y="1555"/>
                  <a:ext cx="27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11</a:t>
                  </a:r>
                </a:p>
              </p:txBody>
            </p:sp>
            <p:sp>
              <p:nvSpPr>
                <p:cNvPr id="994393" name="Text Box 89"/>
                <p:cNvSpPr txBox="1">
                  <a:spLocks noChangeArrowheads="1"/>
                </p:cNvSpPr>
                <p:nvPr/>
              </p:nvSpPr>
              <p:spPr bwMode="auto">
                <a:xfrm>
                  <a:off x="1420" y="848"/>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8</a:t>
                  </a:r>
                </a:p>
              </p:txBody>
            </p:sp>
            <p:sp>
              <p:nvSpPr>
                <p:cNvPr id="994394" name="Text Box 90"/>
                <p:cNvSpPr txBox="1">
                  <a:spLocks noChangeArrowheads="1"/>
                </p:cNvSpPr>
                <p:nvPr/>
              </p:nvSpPr>
              <p:spPr bwMode="auto">
                <a:xfrm>
                  <a:off x="1420" y="1092"/>
                  <a:ext cx="196" cy="250"/>
                </a:xfrm>
                <a:prstGeom prst="rect">
                  <a:avLst/>
                </a:prstGeom>
                <a:noFill/>
                <a:ln w="9525">
                  <a:noFill/>
                  <a:miter lim="800000"/>
                  <a:headEnd/>
                  <a:tailEnd/>
                </a:ln>
                <a:effectLst/>
              </p:spPr>
              <p:txBody>
                <a:bodyPr wrap="none">
                  <a:spAutoFit/>
                </a:bodyPr>
                <a:lstStyle/>
                <a:p>
                  <a:r>
                    <a:rPr lang="en-US" altLang="zh-CN" sz="2000" b="1" dirty="0">
                      <a:effectLst>
                        <a:outerShdw blurRad="38100" dist="38100" dir="2700000" algn="tl">
                          <a:srgbClr val="FFFFFF"/>
                        </a:outerShdw>
                      </a:effectLst>
                    </a:rPr>
                    <a:t>9</a:t>
                  </a:r>
                </a:p>
              </p:txBody>
            </p:sp>
          </p:grpSp>
        </p:grpSp>
        <p:sp>
          <p:nvSpPr>
            <p:cNvPr id="994395" name="Text Box 91"/>
            <p:cNvSpPr txBox="1">
              <a:spLocks noChangeArrowheads="1"/>
            </p:cNvSpPr>
            <p:nvPr/>
          </p:nvSpPr>
          <p:spPr bwMode="auto">
            <a:xfrm>
              <a:off x="5163" y="602"/>
              <a:ext cx="436" cy="288"/>
            </a:xfrm>
            <a:prstGeom prst="rect">
              <a:avLst/>
            </a:prstGeom>
            <a:noFill/>
            <a:ln w="9525">
              <a:noFill/>
              <a:miter lim="800000"/>
              <a:headEnd/>
              <a:tailEnd/>
            </a:ln>
            <a:effectLst/>
          </p:spPr>
          <p:txBody>
            <a:bodyPr wrap="none">
              <a:spAutoFit/>
            </a:bodyPr>
            <a:lstStyle/>
            <a:p>
              <a:r>
                <a:rPr lang="en-US" altLang="zh-CN" b="1" dirty="0">
                  <a:solidFill>
                    <a:schemeClr val="accent1">
                      <a:lumMod val="50000"/>
                    </a:schemeClr>
                  </a:solidFill>
                </a:rPr>
                <a:t>a[0]</a:t>
              </a:r>
            </a:p>
          </p:txBody>
        </p:sp>
        <p:sp>
          <p:nvSpPr>
            <p:cNvPr id="994396" name="Text Box 92"/>
            <p:cNvSpPr txBox="1">
              <a:spLocks noChangeArrowheads="1"/>
            </p:cNvSpPr>
            <p:nvPr/>
          </p:nvSpPr>
          <p:spPr bwMode="auto">
            <a:xfrm>
              <a:off x="5174" y="1574"/>
              <a:ext cx="436" cy="288"/>
            </a:xfrm>
            <a:prstGeom prst="rect">
              <a:avLst/>
            </a:prstGeom>
            <a:noFill/>
            <a:ln w="9525">
              <a:noFill/>
              <a:miter lim="800000"/>
              <a:headEnd/>
              <a:tailEnd/>
            </a:ln>
            <a:effectLst/>
          </p:spPr>
          <p:txBody>
            <a:bodyPr wrap="none">
              <a:spAutoFit/>
            </a:bodyPr>
            <a:lstStyle/>
            <a:p>
              <a:r>
                <a:rPr lang="en-US" altLang="zh-CN" b="1">
                  <a:solidFill>
                    <a:schemeClr val="accent1">
                      <a:lumMod val="50000"/>
                    </a:schemeClr>
                  </a:solidFill>
                </a:rPr>
                <a:t>a[1]</a:t>
              </a:r>
            </a:p>
          </p:txBody>
        </p:sp>
        <p:sp>
          <p:nvSpPr>
            <p:cNvPr id="994397" name="Text Box 93"/>
            <p:cNvSpPr txBox="1">
              <a:spLocks noChangeArrowheads="1"/>
            </p:cNvSpPr>
            <p:nvPr/>
          </p:nvSpPr>
          <p:spPr bwMode="auto">
            <a:xfrm>
              <a:off x="5166" y="2498"/>
              <a:ext cx="436" cy="288"/>
            </a:xfrm>
            <a:prstGeom prst="rect">
              <a:avLst/>
            </a:prstGeom>
            <a:noFill/>
            <a:ln w="9525">
              <a:noFill/>
              <a:miter lim="800000"/>
              <a:headEnd/>
              <a:tailEnd/>
            </a:ln>
            <a:effectLst/>
          </p:spPr>
          <p:txBody>
            <a:bodyPr wrap="none">
              <a:spAutoFit/>
            </a:bodyPr>
            <a:lstStyle/>
            <a:p>
              <a:r>
                <a:rPr lang="en-US" altLang="zh-CN" b="1" dirty="0">
                  <a:solidFill>
                    <a:schemeClr val="accent1">
                      <a:lumMod val="50000"/>
                    </a:schemeClr>
                  </a:solidFill>
                </a:rPr>
                <a:t>a[2]</a:t>
              </a:r>
            </a:p>
          </p:txBody>
        </p:sp>
      </p:grpSp>
      <p:sp>
        <p:nvSpPr>
          <p:cNvPr id="994347" name="AutoShape 43"/>
          <p:cNvSpPr>
            <a:spLocks noChangeArrowheads="1"/>
          </p:cNvSpPr>
          <p:nvPr/>
        </p:nvSpPr>
        <p:spPr bwMode="auto">
          <a:xfrm>
            <a:off x="1750920" y="2414172"/>
            <a:ext cx="4637608" cy="565697"/>
          </a:xfrm>
          <a:prstGeom prst="wedgeEllipseCallout">
            <a:avLst>
              <a:gd name="adj1" fmla="val -32709"/>
              <a:gd name="adj2" fmla="val 224876"/>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dirty="0">
                <a:solidFill>
                  <a:srgbClr val="00B0F0"/>
                </a:solidFill>
                <a:latin typeface="+mn-lt"/>
                <a:ea typeface="楷体" pitchFamily="49" charset="-122"/>
              </a:rPr>
              <a:t>二维数组</a:t>
            </a:r>
            <a:r>
              <a:rPr lang="en-US" altLang="zh-CN" sz="2000" b="1" dirty="0">
                <a:solidFill>
                  <a:srgbClr val="00B0F0"/>
                </a:solidFill>
                <a:latin typeface="+mn-lt"/>
                <a:ea typeface="楷体" pitchFamily="49" charset="-122"/>
              </a:rPr>
              <a:t>a</a:t>
            </a:r>
            <a:r>
              <a:rPr lang="zh-CN" altLang="en-US" sz="2000" b="1" dirty="0">
                <a:solidFill>
                  <a:srgbClr val="00B0F0"/>
                </a:solidFill>
                <a:latin typeface="+mn-lt"/>
                <a:ea typeface="楷体" pitchFamily="49" charset="-122"/>
              </a:rPr>
              <a:t>是由</a:t>
            </a:r>
            <a:r>
              <a:rPr lang="en-US" altLang="zh-CN" sz="2000" b="1" dirty="0">
                <a:solidFill>
                  <a:srgbClr val="00B0F0"/>
                </a:solidFill>
                <a:latin typeface="+mn-lt"/>
                <a:ea typeface="楷体" pitchFamily="49" charset="-122"/>
              </a:rPr>
              <a:t>3</a:t>
            </a:r>
            <a:r>
              <a:rPr lang="zh-CN" altLang="en-US" sz="2000" b="1" dirty="0">
                <a:solidFill>
                  <a:srgbClr val="00B0F0"/>
                </a:solidFill>
                <a:latin typeface="+mn-lt"/>
                <a:ea typeface="楷体" pitchFamily="49" charset="-122"/>
              </a:rPr>
              <a:t>个元素组成</a:t>
            </a:r>
          </a:p>
        </p:txBody>
      </p:sp>
      <p:sp>
        <p:nvSpPr>
          <p:cNvPr id="994346" name="AutoShape 42"/>
          <p:cNvSpPr>
            <a:spLocks noChangeArrowheads="1"/>
          </p:cNvSpPr>
          <p:nvPr/>
        </p:nvSpPr>
        <p:spPr bwMode="auto">
          <a:xfrm>
            <a:off x="2090604" y="6071254"/>
            <a:ext cx="4608304" cy="998489"/>
          </a:xfrm>
          <a:prstGeom prst="wedgeEllipseCallout">
            <a:avLst>
              <a:gd name="adj1" fmla="val -19386"/>
              <a:gd name="adj2" fmla="val -113296"/>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dirty="0">
                <a:solidFill>
                  <a:srgbClr val="00B0F0"/>
                </a:solidFill>
                <a:latin typeface="+mn-lt"/>
                <a:ea typeface="楷体" pitchFamily="49" charset="-122"/>
              </a:rPr>
              <a:t>每个元素</a:t>
            </a:r>
            <a:r>
              <a:rPr lang="en-US" altLang="zh-CN" sz="2000" b="1" dirty="0">
                <a:solidFill>
                  <a:srgbClr val="00B0F0"/>
                </a:solidFill>
                <a:latin typeface="+mn-lt"/>
                <a:ea typeface="楷体" pitchFamily="49" charset="-122"/>
              </a:rPr>
              <a:t>a[</a:t>
            </a:r>
            <a:r>
              <a:rPr lang="en-US" altLang="zh-CN" sz="2000" b="1" dirty="0" err="1">
                <a:solidFill>
                  <a:srgbClr val="00B0F0"/>
                </a:solidFill>
                <a:latin typeface="+mn-lt"/>
                <a:ea typeface="楷体" pitchFamily="49" charset="-122"/>
              </a:rPr>
              <a:t>i</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由包含</a:t>
            </a:r>
            <a:r>
              <a:rPr lang="en-US" altLang="zh-CN" sz="2000" b="1" dirty="0">
                <a:solidFill>
                  <a:srgbClr val="00B0F0"/>
                </a:solidFill>
                <a:latin typeface="+mn-lt"/>
                <a:ea typeface="楷体" pitchFamily="49" charset="-122"/>
              </a:rPr>
              <a:t>4</a:t>
            </a:r>
            <a:r>
              <a:rPr lang="zh-CN" altLang="en-US" sz="2000" b="1" dirty="0">
                <a:solidFill>
                  <a:srgbClr val="00B0F0"/>
                </a:solidFill>
                <a:latin typeface="+mn-lt"/>
                <a:ea typeface="楷体" pitchFamily="49" charset="-122"/>
              </a:rPr>
              <a:t>个元素</a:t>
            </a:r>
          </a:p>
          <a:p>
            <a:pPr algn="ctr"/>
            <a:r>
              <a:rPr lang="zh-CN" altLang="en-US" sz="2000" b="1" dirty="0">
                <a:solidFill>
                  <a:srgbClr val="00B0F0"/>
                </a:solidFill>
                <a:latin typeface="+mn-lt"/>
                <a:ea typeface="楷体" pitchFamily="49" charset="-122"/>
              </a:rPr>
              <a:t>的一维数组组成</a:t>
            </a:r>
          </a:p>
        </p:txBody>
      </p:sp>
      <p:sp>
        <p:nvSpPr>
          <p:cNvPr id="2" name="箭头: 虚尾 1">
            <a:extLst>
              <a:ext uri="{FF2B5EF4-FFF2-40B4-BE49-F238E27FC236}">
                <a16:creationId xmlns:a16="http://schemas.microsoft.com/office/drawing/2014/main" id="{79CE0537-2D8B-4159-A671-A46098C1F25C}"/>
              </a:ext>
            </a:extLst>
          </p:cNvPr>
          <p:cNvSpPr/>
          <p:nvPr/>
        </p:nvSpPr>
        <p:spPr bwMode="auto">
          <a:xfrm>
            <a:off x="6908562" y="4168090"/>
            <a:ext cx="1271786" cy="565696"/>
          </a:xfrm>
          <a:prstGeom prst="stripedRightArrow">
            <a:avLst/>
          </a:prstGeom>
          <a:gradFill flip="none" rotWithShape="1">
            <a:gsLst>
              <a:gs pos="0">
                <a:srgbClr val="BEDFC4"/>
              </a:gs>
              <a:gs pos="95000">
                <a:schemeClr val="accent1">
                  <a:tint val="23500"/>
                  <a:satMod val="160000"/>
                </a:schemeClr>
              </a:gs>
            </a:gsLst>
            <a:lin ang="135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gradFill flip="none" rotWithShape="1">
                <a:gsLst>
                  <a:gs pos="0">
                    <a:srgbClr val="00FFCC">
                      <a:shade val="30000"/>
                      <a:satMod val="115000"/>
                    </a:srgbClr>
                  </a:gs>
                  <a:gs pos="50000">
                    <a:srgbClr val="00FFCC">
                      <a:shade val="67500"/>
                      <a:satMod val="115000"/>
                    </a:srgbClr>
                  </a:gs>
                  <a:gs pos="100000">
                    <a:srgbClr val="00FFCC">
                      <a:shade val="100000"/>
                      <a:satMod val="115000"/>
                    </a:srgbClr>
                  </a:gs>
                </a:gsLst>
                <a:lin ang="0" scaled="1"/>
                <a:tileRect/>
              </a:gradFill>
              <a:effectLst/>
              <a:latin typeface="Times New Roman" pitchFamily="18" charset="0"/>
              <a:ea typeface="宋体" pitchFamily="2" charset="-122"/>
            </a:endParaRPr>
          </a:p>
        </p:txBody>
      </p:sp>
      <p:sp>
        <p:nvSpPr>
          <p:cNvPr id="97" name="Rectangle 13">
            <a:extLst>
              <a:ext uri="{FF2B5EF4-FFF2-40B4-BE49-F238E27FC236}">
                <a16:creationId xmlns:a16="http://schemas.microsoft.com/office/drawing/2014/main" id="{6F90578A-2C62-49A4-8C31-FB460E2B81BB}"/>
              </a:ext>
            </a:extLst>
          </p:cNvPr>
          <p:cNvSpPr>
            <a:spLocks noChangeArrowheads="1"/>
          </p:cNvSpPr>
          <p:nvPr/>
        </p:nvSpPr>
        <p:spPr bwMode="auto">
          <a:xfrm>
            <a:off x="1758156" y="1908480"/>
            <a:ext cx="8675688" cy="369332"/>
          </a:xfrm>
          <a:prstGeom prst="rect">
            <a:avLst/>
          </a:prstGeom>
          <a:noFill/>
          <a:ln w="9525">
            <a:noFill/>
            <a:miter lim="800000"/>
            <a:headEnd/>
            <a:tailEnd/>
          </a:ln>
          <a:effectLst/>
        </p:spPr>
        <p:txBody>
          <a:bodyPr anchor="ctr">
            <a:spAutoFit/>
          </a:bodyPr>
          <a:lstStyle/>
          <a:p>
            <a:r>
              <a:rPr lang="zh-CN" altLang="en-US" b="1" dirty="0">
                <a:solidFill>
                  <a:srgbClr val="00B0F0"/>
                </a:solidFill>
                <a:latin typeface="楷体" panose="02010609060101010101" pitchFamily="49" charset="-122"/>
                <a:ea typeface="楷体" panose="02010609060101010101" pitchFamily="49" charset="-122"/>
              </a:rPr>
              <a:t>提示：数组访问的下标均从</a:t>
            </a:r>
            <a:r>
              <a:rPr lang="en-US" altLang="zh-CN" b="1" dirty="0">
                <a:solidFill>
                  <a:srgbClr val="00B0F0"/>
                </a:solidFill>
                <a:latin typeface="楷体" panose="02010609060101010101" pitchFamily="49" charset="-122"/>
                <a:ea typeface="楷体" panose="02010609060101010101" pitchFamily="49" charset="-122"/>
              </a:rPr>
              <a:t>0</a:t>
            </a:r>
            <a:r>
              <a:rPr lang="zh-CN" altLang="en-US" b="1" dirty="0">
                <a:solidFill>
                  <a:srgbClr val="00B0F0"/>
                </a:solidFill>
                <a:latin typeface="楷体" panose="02010609060101010101" pitchFamily="49" charset="-122"/>
                <a:ea typeface="楷体" panose="02010609060101010101" pitchFamily="49" charset="-122"/>
              </a:rPr>
              <a:t>开始，定义数组时有多少个</a:t>
            </a:r>
            <a:r>
              <a:rPr lang="en-US" altLang="zh-CN" b="1" dirty="0">
                <a:solidFill>
                  <a:srgbClr val="00B0F0"/>
                </a:solidFill>
                <a:latin typeface="楷体" panose="02010609060101010101" pitchFamily="49" charset="-122"/>
                <a:ea typeface="楷体" panose="02010609060101010101" pitchFamily="49" charset="-122"/>
              </a:rPr>
              <a:t>[]</a:t>
            </a:r>
            <a:r>
              <a:rPr lang="zh-CN" altLang="en-US" b="1" dirty="0">
                <a:solidFill>
                  <a:srgbClr val="00B0F0"/>
                </a:solidFill>
                <a:latin typeface="楷体" panose="02010609060101010101" pitchFamily="49" charset="-122"/>
                <a:ea typeface="楷体" panose="02010609060101010101" pitchFamily="49" charset="-122"/>
              </a:rPr>
              <a:t>就代表多少维的数组</a:t>
            </a:r>
          </a:p>
        </p:txBody>
      </p:sp>
    </p:spTree>
    <p:extLst>
      <p:ext uri="{BB962C8B-B14F-4D97-AF65-F5344CB8AC3E}">
        <p14:creationId xmlns:p14="http://schemas.microsoft.com/office/powerpoint/2010/main" val="2439106980"/>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994399"/>
                                        </p:tgtEl>
                                        <p:attrNameLst>
                                          <p:attrName>style.visibility</p:attrName>
                                        </p:attrNameLst>
                                      </p:cBhvr>
                                      <p:to>
                                        <p:strVal val="visible"/>
                                      </p:to>
                                    </p:set>
                                    <p:animEffect transition="in" filter="box(out)">
                                      <p:cBhvr>
                                        <p:cTn id="13" dur="500"/>
                                        <p:tgtEl>
                                          <p:spTgt spid="994399"/>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strips(downRight)">
                                      <p:cBhvr>
                                        <p:cTn id="18" dur="500"/>
                                        <p:tgtEl>
                                          <p:spTgt spid="2"/>
                                        </p:tgtEl>
                                      </p:cBhvr>
                                    </p:animEffect>
                                  </p:childTnLst>
                                  <p:subTnLst>
                                    <p:audio>
                                      <p:cMediaNode>
                                        <p:cTn display="0" masterRel="sameClick">
                                          <p:stCondLst>
                                            <p:cond evt="begin" delay="0">
                                              <p:tn val="16"/>
                                            </p:cond>
                                          </p:stCondLst>
                                          <p:endCondLst>
                                            <p:cond evt="onStopAudio" delay="0">
                                              <p:tgtEl>
                                                <p:sldTgt/>
                                              </p:tgtEl>
                                            </p:cond>
                                          </p:endCondLst>
                                        </p:cTn>
                                        <p:tgtEl>
                                          <p:sndTgt r:embed="rId5" name="camera.wav"/>
                                        </p:tgtEl>
                                      </p:cMediaNode>
                                    </p:audio>
                                  </p:subTnLst>
                                </p:cTn>
                              </p:par>
                            </p:childTnLst>
                          </p:cTn>
                        </p:par>
                        <p:par>
                          <p:cTn id="19" fill="hold">
                            <p:stCondLst>
                              <p:cond delay="500"/>
                            </p:stCondLst>
                            <p:childTnLst>
                              <p:par>
                                <p:cTn id="20" presetID="4" presetClass="entr" presetSubtype="32" fill="hold" nodeType="afterEffect">
                                  <p:stCondLst>
                                    <p:cond delay="0"/>
                                  </p:stCondLst>
                                  <p:childTnLst>
                                    <p:set>
                                      <p:cBhvr>
                                        <p:cTn id="21" dur="1" fill="hold">
                                          <p:stCondLst>
                                            <p:cond delay="0"/>
                                          </p:stCondLst>
                                        </p:cTn>
                                        <p:tgtEl>
                                          <p:spTgt spid="994355"/>
                                        </p:tgtEl>
                                        <p:attrNameLst>
                                          <p:attrName>style.visibility</p:attrName>
                                        </p:attrNameLst>
                                      </p:cBhvr>
                                      <p:to>
                                        <p:strVal val="visible"/>
                                      </p:to>
                                    </p:set>
                                    <p:animEffect transition="in" filter="box(out)">
                                      <p:cBhvr>
                                        <p:cTn id="22" dur="500"/>
                                        <p:tgtEl>
                                          <p:spTgt spid="994355"/>
                                        </p:tgtEl>
                                      </p:cBhvr>
                                    </p:animEffect>
                                  </p:childTnLst>
                                  <p:subTnLst>
                                    <p:audio>
                                      <p:cMediaNode>
                                        <p:cTn display="0" masterRel="sameClick">
                                          <p:stCondLst>
                                            <p:cond evt="begin" delay="0">
                                              <p:tn val="20"/>
                                            </p:cond>
                                          </p:stCondLst>
                                          <p:endCondLst>
                                            <p:cond evt="onStopAudio" delay="0">
                                              <p:tgtEl>
                                                <p:sldTgt/>
                                              </p:tgtEl>
                                            </p:cond>
                                          </p:endCondLst>
                                        </p:cTn>
                                        <p:tgtEl>
                                          <p:sndTgt r:embed="rId5"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994347"/>
                                        </p:tgtEl>
                                        <p:attrNameLst>
                                          <p:attrName>style.visibility</p:attrName>
                                        </p:attrNameLst>
                                      </p:cBhvr>
                                      <p:to>
                                        <p:strVal val="visible"/>
                                      </p:to>
                                    </p:set>
                                    <p:animEffect transition="in" filter="box(out)">
                                      <p:cBhvr>
                                        <p:cTn id="27" dur="500"/>
                                        <p:tgtEl>
                                          <p:spTgt spid="994347"/>
                                        </p:tgtEl>
                                      </p:cBhvr>
                                    </p:animEffect>
                                  </p:childTnLst>
                                  <p:subTnLst>
                                    <p:audio>
                                      <p:cMediaNode>
                                        <p:cTn display="0" masterRel="sameClick">
                                          <p:stCondLst>
                                            <p:cond evt="begin" delay="0">
                                              <p:tn val="25"/>
                                            </p:cond>
                                          </p:stCondLst>
                                          <p:endCondLst>
                                            <p:cond evt="onStopAudio" delay="0">
                                              <p:tgtEl>
                                                <p:sldTgt/>
                                              </p:tgtEl>
                                            </p:cond>
                                          </p:endCondLst>
                                        </p:cTn>
                                        <p:tgtEl>
                                          <p:sndTgt r:embed="rId5"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994352"/>
                                        </p:tgtEl>
                                        <p:attrNameLst>
                                          <p:attrName>style.visibility</p:attrName>
                                        </p:attrNameLst>
                                      </p:cBhvr>
                                      <p:to>
                                        <p:strVal val="visible"/>
                                      </p:to>
                                    </p:set>
                                    <p:animEffect transition="in" filter="box(out)">
                                      <p:cBhvr>
                                        <p:cTn id="32" dur="500"/>
                                        <p:tgtEl>
                                          <p:spTgt spid="994352"/>
                                        </p:tgtEl>
                                      </p:cBhvr>
                                    </p:animEffect>
                                  </p:childTnLst>
                                  <p:subTnLst>
                                    <p:audio>
                                      <p:cMediaNode>
                                        <p:cTn display="0" masterRel="sameClick">
                                          <p:stCondLst>
                                            <p:cond evt="begin" delay="0">
                                              <p:tn val="30"/>
                                            </p:cond>
                                          </p:stCondLst>
                                          <p:endCondLst>
                                            <p:cond evt="onStopAudio" delay="0">
                                              <p:tgtEl>
                                                <p:sldTgt/>
                                              </p:tgtEl>
                                            </p:cond>
                                          </p:endCondLst>
                                        </p:cTn>
                                        <p:tgtEl>
                                          <p:sndTgt r:embed="rId5"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994346"/>
                                        </p:tgtEl>
                                        <p:attrNameLst>
                                          <p:attrName>style.visibility</p:attrName>
                                        </p:attrNameLst>
                                      </p:cBhvr>
                                      <p:to>
                                        <p:strVal val="visible"/>
                                      </p:to>
                                    </p:set>
                                    <p:animEffect transition="in" filter="box(out)">
                                      <p:cBhvr>
                                        <p:cTn id="37" dur="500"/>
                                        <p:tgtEl>
                                          <p:spTgt spid="994346"/>
                                        </p:tgtEl>
                                      </p:cBhvr>
                                    </p:animEffect>
                                  </p:childTnLst>
                                  <p:subTnLst>
                                    <p:audio>
                                      <p:cMediaNode>
                                        <p:cTn display="0" masterRel="sameClick">
                                          <p:stCondLst>
                                            <p:cond evt="begin" delay="0">
                                              <p:tn val="35"/>
                                            </p:cond>
                                          </p:stCondLst>
                                          <p:endCondLst>
                                            <p:cond evt="onStopAudio" delay="0">
                                              <p:tgtEl>
                                                <p:sldTgt/>
                                              </p:tgtEl>
                                            </p:cond>
                                          </p:endCondLst>
                                        </p:cTn>
                                        <p:tgtEl>
                                          <p:sndTgt r:embed="rId5"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97"/>
                                        </p:tgtEl>
                                        <p:attrNameLst>
                                          <p:attrName>style.visibility</p:attrName>
                                        </p:attrNameLst>
                                      </p:cBhvr>
                                      <p:to>
                                        <p:strVal val="visible"/>
                                      </p:to>
                                    </p:set>
                                    <p:animEffect transition="in" filter="box(out)">
                                      <p:cBhvr>
                                        <p:cTn id="42" dur="500"/>
                                        <p:tgtEl>
                                          <p:spTgt spid="97"/>
                                        </p:tgtEl>
                                      </p:cBhvr>
                                    </p:animEffect>
                                  </p:childTnLst>
                                  <p:subTnLst>
                                    <p:audio>
                                      <p:cMediaNode>
                                        <p:cTn display="0" masterRel="sameClick">
                                          <p:stCondLst>
                                            <p:cond evt="begin" delay="0">
                                              <p:tn val="40"/>
                                            </p:cond>
                                          </p:stCondLst>
                                          <p:endCondLst>
                                            <p:cond evt="onStopAudio" delay="0">
                                              <p:tgtEl>
                                                <p:sldTgt/>
                                              </p:tgtEl>
                                            </p:cond>
                                          </p:endCondLst>
                                        </p:cTn>
                                        <p:tgtEl>
                                          <p:sndTgt r:embed="rId5"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build="p" bldLvl="4" autoUpdateAnimBg="0"/>
      <p:bldP spid="994347" grpId="0" animBg="1" autoUpdateAnimBg="0"/>
      <p:bldP spid="994346" grpId="0" animBg="1" autoUpdateAnimBg="0"/>
      <p:bldP spid="2" grpId="0" animBg="1"/>
      <p:bldP spid="9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469" name="Text Box 141"/>
          <p:cNvSpPr txBox="1">
            <a:spLocks noChangeArrowheads="1"/>
          </p:cNvSpPr>
          <p:nvPr/>
        </p:nvSpPr>
        <p:spPr bwMode="auto">
          <a:xfrm>
            <a:off x="1776686" y="2873916"/>
            <a:ext cx="9648552" cy="79057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solidFill>
                  <a:srgbClr val="00B0F0"/>
                </a:solidFill>
                <a:latin typeface="+mn-lt"/>
                <a:ea typeface="楷体" pitchFamily="49" charset="-122"/>
              </a:rPr>
              <a:t>存储类型符  数据类型  数组变量名</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行常量表达式</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列常量表达式</a:t>
            </a:r>
            <a:r>
              <a:rPr lang="en-US" altLang="zh-CN" sz="2000" b="1" dirty="0">
                <a:solidFill>
                  <a:srgbClr val="00B0F0"/>
                </a:solidFill>
                <a:latin typeface="+mn-lt"/>
                <a:ea typeface="楷体" pitchFamily="49" charset="-122"/>
              </a:rPr>
              <a:t>] </a:t>
            </a:r>
            <a:r>
              <a:rPr lang="zh-CN" altLang="en-US" sz="2000" b="1" dirty="0">
                <a:solidFill>
                  <a:srgbClr val="00B0F0"/>
                </a:solidFill>
                <a:latin typeface="+mn-lt"/>
                <a:ea typeface="楷体" pitchFamily="49" charset="-122"/>
              </a:rPr>
              <a:t>＝</a:t>
            </a:r>
          </a:p>
          <a:p>
            <a:r>
              <a:rPr lang="zh-CN" altLang="en-US" sz="2000" b="1" dirty="0">
                <a:solidFill>
                  <a:srgbClr val="00B0F0"/>
                </a:solidFill>
                <a:latin typeface="+mn-lt"/>
                <a:ea typeface="楷体" pitchFamily="49" charset="-122"/>
              </a:rPr>
              <a:t>                                     </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第</a:t>
            </a:r>
            <a:r>
              <a:rPr lang="en-US" altLang="zh-CN" sz="2000" b="1" dirty="0">
                <a:solidFill>
                  <a:srgbClr val="00B0F0"/>
                </a:solidFill>
                <a:latin typeface="+mn-lt"/>
                <a:ea typeface="楷体" pitchFamily="49" charset="-122"/>
              </a:rPr>
              <a:t>0</a:t>
            </a:r>
            <a:r>
              <a:rPr lang="zh-CN" altLang="en-US" sz="2000" b="1" dirty="0">
                <a:solidFill>
                  <a:srgbClr val="00B0F0"/>
                </a:solidFill>
                <a:latin typeface="+mn-lt"/>
                <a:ea typeface="楷体" pitchFamily="49" charset="-122"/>
              </a:rPr>
              <a:t>行初值表</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第</a:t>
            </a:r>
            <a:r>
              <a:rPr lang="en-US" altLang="zh-CN" sz="2000" b="1" dirty="0">
                <a:solidFill>
                  <a:srgbClr val="00B0F0"/>
                </a:solidFill>
                <a:latin typeface="+mn-lt"/>
                <a:ea typeface="楷体" pitchFamily="49" charset="-122"/>
              </a:rPr>
              <a:t>1</a:t>
            </a:r>
            <a:r>
              <a:rPr lang="zh-CN" altLang="en-US" sz="2000" b="1" dirty="0">
                <a:solidFill>
                  <a:srgbClr val="00B0F0"/>
                </a:solidFill>
                <a:latin typeface="+mn-lt"/>
                <a:ea typeface="楷体" pitchFamily="49" charset="-122"/>
              </a:rPr>
              <a:t>行初值表</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最后</a:t>
            </a:r>
            <a:r>
              <a:rPr lang="en-US" altLang="zh-CN" sz="2000" b="1" dirty="0">
                <a:solidFill>
                  <a:srgbClr val="00B0F0"/>
                </a:solidFill>
                <a:latin typeface="+mn-lt"/>
                <a:ea typeface="楷体" pitchFamily="49" charset="-122"/>
              </a:rPr>
              <a:t>1</a:t>
            </a:r>
            <a:r>
              <a:rPr lang="zh-CN" altLang="en-US" sz="2000" b="1" dirty="0">
                <a:solidFill>
                  <a:srgbClr val="00B0F0"/>
                </a:solidFill>
                <a:latin typeface="+mn-lt"/>
                <a:ea typeface="楷体" pitchFamily="49" charset="-122"/>
              </a:rPr>
              <a:t>行初值表</a:t>
            </a:r>
            <a:r>
              <a:rPr lang="en-US" altLang="zh-CN" sz="2000" b="1" dirty="0">
                <a:solidFill>
                  <a:srgbClr val="00B0F0"/>
                </a:solidFill>
                <a:latin typeface="+mn-lt"/>
                <a:ea typeface="楷体" pitchFamily="49" charset="-122"/>
              </a:rPr>
              <a:t>}}</a:t>
            </a:r>
            <a:r>
              <a:rPr lang="zh-CN" altLang="en-US" sz="2000" b="1" dirty="0">
                <a:solidFill>
                  <a:srgbClr val="00B0F0"/>
                </a:solidFill>
                <a:latin typeface="+mn-lt"/>
                <a:ea typeface="楷体" pitchFamily="49" charset="-122"/>
              </a:rPr>
              <a:t>；</a:t>
            </a:r>
          </a:p>
          <a:p>
            <a:endParaRPr lang="en-US" altLang="zh-CN" sz="2000" b="1" dirty="0">
              <a:solidFill>
                <a:srgbClr val="00B0F0"/>
              </a:solidFill>
              <a:latin typeface="+mn-lt"/>
              <a:ea typeface="楷体" pitchFamily="49" charset="-122"/>
            </a:endParaRPr>
          </a:p>
        </p:txBody>
      </p:sp>
      <p:sp>
        <p:nvSpPr>
          <p:cNvPr id="995330" name="Rectangle 2"/>
          <p:cNvSpPr>
            <a:spLocks noChangeArrowheads="1"/>
          </p:cNvSpPr>
          <p:nvPr/>
        </p:nvSpPr>
        <p:spPr bwMode="auto">
          <a:xfrm>
            <a:off x="414662" y="840462"/>
            <a:ext cx="8763000" cy="2006741"/>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2</a:t>
            </a:r>
            <a:r>
              <a:rPr lang="zh-CN" altLang="en-US" sz="2800" b="1" dirty="0">
                <a:solidFill>
                  <a:srgbClr val="00B0F0"/>
                </a:solidFill>
                <a:latin typeface="+mn-lt"/>
                <a:ea typeface="楷体" pitchFamily="49" charset="-122"/>
              </a:rPr>
              <a:t>、二维数组元素的引用</a:t>
            </a:r>
          </a:p>
          <a:p>
            <a:pPr lvl="2" eaLnBrk="0" hangingPunct="0">
              <a:buClr>
                <a:schemeClr val="accent2"/>
              </a:buClr>
              <a:buFont typeface="Wingdings" pitchFamily="2" charset="2"/>
              <a:buNone/>
            </a:pP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形式：  </a:t>
            </a:r>
            <a:r>
              <a:rPr lang="zh-CN" altLang="en-US" b="1" dirty="0">
                <a:latin typeface="楷体" panose="02010609060101010101" pitchFamily="49" charset="-122"/>
                <a:ea typeface="楷体" panose="02010609060101010101" pitchFamily="49" charset="-122"/>
              </a:rPr>
              <a:t>数组名</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下标</a:t>
            </a:r>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下标</a:t>
            </a:r>
            <a:r>
              <a:rPr lang="en-US" altLang="zh-CN" b="1" dirty="0">
                <a:latin typeface="楷体" panose="02010609060101010101" pitchFamily="49" charset="-122"/>
                <a:ea typeface="楷体" panose="02010609060101010101" pitchFamily="49" charset="-122"/>
              </a:rPr>
              <a:t>2]</a:t>
            </a:r>
          </a:p>
          <a:p>
            <a:pPr lvl="2" eaLnBrk="0" hangingPunct="0">
              <a:buClr>
                <a:schemeClr val="accent2"/>
              </a:buClr>
              <a:buFont typeface="Wingdings" pitchFamily="2" charset="2"/>
              <a:buNone/>
            </a:pPr>
            <a:endParaRPr lang="en-US" altLang="zh-CN" b="1" dirty="0">
              <a:ea typeface="隶书" pitchFamily="49" charset="-122"/>
            </a:endParaRPr>
          </a:p>
          <a:p>
            <a:pPr lvl="1" eaLnBrk="0" hangingPunct="0">
              <a:buClr>
                <a:schemeClr val="hlink"/>
              </a:buClr>
            </a:pPr>
            <a:r>
              <a:rPr lang="en-US" altLang="zh-CN" sz="2800" b="1" dirty="0">
                <a:solidFill>
                  <a:srgbClr val="00B0F0"/>
                </a:solidFill>
                <a:latin typeface="+mn-lt"/>
                <a:ea typeface="楷体" pitchFamily="49" charset="-122"/>
              </a:rPr>
              <a:t>3</a:t>
            </a:r>
            <a:r>
              <a:rPr lang="zh-CN" altLang="en-US" sz="2800" b="1" dirty="0">
                <a:solidFill>
                  <a:srgbClr val="00B0F0"/>
                </a:solidFill>
                <a:latin typeface="+mn-lt"/>
                <a:ea typeface="楷体" pitchFamily="49" charset="-122"/>
              </a:rPr>
              <a:t>、二维数组元素的初始化</a:t>
            </a:r>
          </a:p>
          <a:p>
            <a:pPr lvl="2" eaLnBrk="0" hangingPunct="0">
              <a:buClr>
                <a:srgbClr val="002060"/>
              </a:buClr>
              <a:buFont typeface="Wingdings" pitchFamily="2" charset="2"/>
              <a:buChar char="l"/>
            </a:pPr>
            <a:r>
              <a:rPr lang="zh-CN" altLang="en-US" b="1" dirty="0">
                <a:solidFill>
                  <a:srgbClr val="C01920"/>
                </a:solidFill>
                <a:effectLst>
                  <a:outerShdw blurRad="38100" dist="38100" dir="2700000" algn="tl">
                    <a:srgbClr val="FFFFFF"/>
                  </a:outerShdw>
                </a:effectLst>
                <a:ea typeface="隶书" pitchFamily="49" charset="-122"/>
              </a:rPr>
              <a:t> </a:t>
            </a:r>
            <a:r>
              <a:rPr lang="zh-CN" altLang="en-US"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分行初始化：</a:t>
            </a:r>
          </a:p>
        </p:txBody>
      </p:sp>
      <p:sp>
        <p:nvSpPr>
          <p:cNvPr id="995528" name="Rectangle 200"/>
          <p:cNvSpPr>
            <a:spLocks noChangeArrowheads="1"/>
          </p:cNvSpPr>
          <p:nvPr/>
        </p:nvSpPr>
        <p:spPr bwMode="auto">
          <a:xfrm>
            <a:off x="406945" y="3613743"/>
            <a:ext cx="7561263" cy="530225"/>
          </a:xfrm>
          <a:prstGeom prst="rect">
            <a:avLst/>
          </a:prstGeom>
          <a:noFill/>
          <a:ln w="9525">
            <a:noFill/>
            <a:miter lim="800000"/>
            <a:headEnd/>
            <a:tailEnd/>
          </a:ln>
        </p:spPr>
        <p:txBody>
          <a:bodyPr/>
          <a:lstStyle/>
          <a:p>
            <a:pPr lvl="2" eaLnBrk="0" hangingPunct="0">
              <a:buClr>
                <a:srgbClr val="002060"/>
              </a:buClr>
              <a:buFont typeface="Wingdings" pitchFamily="2" charset="2"/>
              <a:buChar char="l"/>
            </a:pPr>
            <a:r>
              <a:rPr lang="en-US" altLang="zh-CN"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 </a:t>
            </a:r>
            <a:r>
              <a:rPr lang="zh-CN" altLang="en-US"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按元素排列顺序初始化</a:t>
            </a:r>
            <a:r>
              <a:rPr lang="zh-CN" altLang="en-US" dirty="0">
                <a:solidFill>
                  <a:srgbClr val="002060"/>
                </a:solidFill>
                <a:latin typeface="楷体" panose="02010609060101010101" pitchFamily="49" charset="-122"/>
                <a:ea typeface="楷体" panose="02010609060101010101" pitchFamily="49" charset="-122"/>
              </a:rPr>
              <a:t>    </a:t>
            </a:r>
          </a:p>
        </p:txBody>
      </p:sp>
      <p:grpSp>
        <p:nvGrpSpPr>
          <p:cNvPr id="995515" name="Group 187"/>
          <p:cNvGrpSpPr>
            <a:grpSpLocks/>
          </p:cNvGrpSpPr>
          <p:nvPr/>
        </p:nvGrpSpPr>
        <p:grpSpPr bwMode="auto">
          <a:xfrm>
            <a:off x="2405905" y="2765271"/>
            <a:ext cx="7956550" cy="2555876"/>
            <a:chOff x="567" y="1162"/>
            <a:chExt cx="5012" cy="1610"/>
          </a:xfrm>
        </p:grpSpPr>
        <p:grpSp>
          <p:nvGrpSpPr>
            <p:cNvPr id="995508" name="Group 180"/>
            <p:cNvGrpSpPr>
              <a:grpSpLocks/>
            </p:cNvGrpSpPr>
            <p:nvPr/>
          </p:nvGrpSpPr>
          <p:grpSpPr bwMode="auto">
            <a:xfrm>
              <a:off x="567" y="1782"/>
              <a:ext cx="4899" cy="990"/>
              <a:chOff x="612" y="1980"/>
              <a:chExt cx="4899" cy="990"/>
            </a:xfrm>
          </p:grpSpPr>
          <p:sp>
            <p:nvSpPr>
              <p:cNvPr id="995470" name="Text Box 142" descr="信纸"/>
              <p:cNvSpPr txBox="1">
                <a:spLocks noChangeArrowheads="1"/>
              </p:cNvSpPr>
              <p:nvPr/>
            </p:nvSpPr>
            <p:spPr bwMode="auto">
              <a:xfrm>
                <a:off x="612" y="1980"/>
                <a:ext cx="4899" cy="99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   </a:t>
                </a:r>
                <a:r>
                  <a:rPr lang="en-US" altLang="zh-CN" b="1" dirty="0"/>
                  <a:t>int  a[2][3] = { { 1, 2, 3 }, { 4, 5, 6 } };</a:t>
                </a:r>
                <a:r>
                  <a:rPr lang="en-US" altLang="zh-CN" dirty="0"/>
                  <a:t> </a:t>
                </a:r>
              </a:p>
              <a:p>
                <a:endParaRPr lang="en-US" altLang="zh-CN" dirty="0"/>
              </a:p>
              <a:p>
                <a:endParaRPr lang="en-US" altLang="zh-CN" dirty="0"/>
              </a:p>
              <a:p>
                <a:endParaRPr lang="en-US" altLang="zh-CN" dirty="0"/>
              </a:p>
            </p:txBody>
          </p:sp>
          <p:sp>
            <p:nvSpPr>
              <p:cNvPr id="995472" name="Text Box 144"/>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a:effectLst>
                      <a:outerShdw blurRad="38100" dist="38100" dir="2700000" algn="tl">
                        <a:srgbClr val="FFFFFF"/>
                      </a:outerShdw>
                    </a:effectLst>
                  </a:rPr>
                  <a:t>a[</a:t>
                </a:r>
                <a:r>
                  <a:rPr lang="en-US" altLang="zh-CN" sz="2000" b="1">
                    <a:effectLst>
                      <a:outerShdw blurRad="38100" dist="38100" dir="2700000" algn="tl">
                        <a:srgbClr val="FFFFFF"/>
                      </a:outerShdw>
                    </a:effectLst>
                  </a:rPr>
                  <a:t>0][0]	a[0][1]	a[0][2]	a[1][0]	a[1][1]	a[1][2]</a:t>
                </a:r>
              </a:p>
            </p:txBody>
          </p:sp>
          <p:sp>
            <p:nvSpPr>
              <p:cNvPr id="995507" name="Text Box 179"/>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dirty="0">
                    <a:solidFill>
                      <a:srgbClr val="002060"/>
                    </a:solidFill>
                  </a:rPr>
                  <a:t>1</a:t>
                </a:r>
                <a:r>
                  <a:rPr lang="en-US" altLang="zh-CN" sz="2000" b="1" dirty="0">
                    <a:solidFill>
                      <a:srgbClr val="002060"/>
                    </a:solidFill>
                  </a:rPr>
                  <a:t>	2	3	4	5	6</a:t>
                </a:r>
              </a:p>
            </p:txBody>
          </p:sp>
        </p:grpSp>
        <p:sp>
          <p:nvSpPr>
            <p:cNvPr id="995514" name="AutoShape 186"/>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lumMod val="95000"/>
                  </a:schemeClr>
                </a:gs>
              </a:gsLst>
              <a:lin ang="10800000" scaled="1"/>
              <a:tileRect/>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a:solidFill>
                    <a:srgbClr val="CC3300"/>
                  </a:solidFill>
                  <a:latin typeface="隶书" pitchFamily="49" charset="-122"/>
                  <a:ea typeface="隶书" pitchFamily="49" charset="-122"/>
                </a:rPr>
                <a:t>对数组元素全部赋值 </a:t>
              </a:r>
            </a:p>
          </p:txBody>
        </p:sp>
      </p:grpSp>
      <p:grpSp>
        <p:nvGrpSpPr>
          <p:cNvPr id="995516" name="Group 188"/>
          <p:cNvGrpSpPr>
            <a:grpSpLocks/>
          </p:cNvGrpSpPr>
          <p:nvPr/>
        </p:nvGrpSpPr>
        <p:grpSpPr bwMode="auto">
          <a:xfrm>
            <a:off x="2387922" y="2708920"/>
            <a:ext cx="7956550" cy="2598738"/>
            <a:chOff x="567" y="1162"/>
            <a:chExt cx="5012" cy="1637"/>
          </a:xfrm>
        </p:grpSpPr>
        <p:grpSp>
          <p:nvGrpSpPr>
            <p:cNvPr id="995517" name="Group 189"/>
            <p:cNvGrpSpPr>
              <a:grpSpLocks/>
            </p:cNvGrpSpPr>
            <p:nvPr/>
          </p:nvGrpSpPr>
          <p:grpSpPr bwMode="auto">
            <a:xfrm>
              <a:off x="567" y="1797"/>
              <a:ext cx="4899" cy="1002"/>
              <a:chOff x="612" y="1995"/>
              <a:chExt cx="4899" cy="1002"/>
            </a:xfrm>
          </p:grpSpPr>
          <p:sp>
            <p:nvSpPr>
              <p:cNvPr id="995518" name="Text Box 190" descr="信纸"/>
              <p:cNvSpPr txBox="1">
                <a:spLocks noChangeArrowheads="1"/>
              </p:cNvSpPr>
              <p:nvPr/>
            </p:nvSpPr>
            <p:spPr bwMode="auto">
              <a:xfrm>
                <a:off x="612" y="1995"/>
                <a:ext cx="4899"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ea typeface="隶书" pitchFamily="49" charset="-122"/>
                  </a:rPr>
                  <a:t>例：   </a:t>
                </a:r>
                <a:r>
                  <a:rPr lang="en-US" altLang="zh-CN" b="1" dirty="0"/>
                  <a:t>int  a[2][3] = { { 1 }, { 3 } };</a:t>
                </a:r>
                <a:r>
                  <a:rPr lang="en-US" altLang="zh-CN" dirty="0"/>
                  <a:t> </a:t>
                </a:r>
              </a:p>
              <a:p>
                <a:endParaRPr lang="en-US" altLang="zh-CN" dirty="0"/>
              </a:p>
              <a:p>
                <a:endParaRPr lang="en-US" altLang="zh-CN" dirty="0"/>
              </a:p>
              <a:p>
                <a:endParaRPr lang="en-US" altLang="zh-CN" dirty="0"/>
              </a:p>
            </p:txBody>
          </p:sp>
          <p:sp>
            <p:nvSpPr>
              <p:cNvPr id="995519" name="Text Box 191"/>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a:effectLst>
                      <a:outerShdw blurRad="38100" dist="38100" dir="2700000" algn="tl">
                        <a:srgbClr val="FFFFFF"/>
                      </a:outerShdw>
                    </a:effectLst>
                  </a:rPr>
                  <a:t>a[</a:t>
                </a:r>
                <a:r>
                  <a:rPr lang="en-US" altLang="zh-CN" sz="2000" b="1">
                    <a:effectLst>
                      <a:outerShdw blurRad="38100" dist="38100" dir="2700000" algn="tl">
                        <a:srgbClr val="FFFFFF"/>
                      </a:outerShdw>
                    </a:effectLst>
                  </a:rPr>
                  <a:t>0][0]	a[0][1]	a[0][2]	a[1][0]	a[1][1]	a[1][2]</a:t>
                </a:r>
              </a:p>
            </p:txBody>
          </p:sp>
          <p:sp>
            <p:nvSpPr>
              <p:cNvPr id="995520" name="Text Box 192"/>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dirty="0">
                    <a:solidFill>
                      <a:srgbClr val="002060"/>
                    </a:solidFill>
                  </a:rPr>
                  <a:t>1</a:t>
                </a:r>
                <a:r>
                  <a:rPr lang="en-US" altLang="zh-CN" sz="2000" b="1" dirty="0">
                    <a:solidFill>
                      <a:srgbClr val="002060"/>
                    </a:solidFill>
                  </a:rPr>
                  <a:t>	0	0	3	0	0</a:t>
                </a:r>
              </a:p>
            </p:txBody>
          </p:sp>
        </p:grpSp>
        <p:sp>
          <p:nvSpPr>
            <p:cNvPr id="995521" name="AutoShape 193"/>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lumMod val="95000"/>
                  </a:schemeClr>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a:solidFill>
                    <a:srgbClr val="C01920"/>
                  </a:solidFill>
                  <a:latin typeface="隶书" pitchFamily="49" charset="-122"/>
                  <a:ea typeface="隶书" pitchFamily="49" charset="-122"/>
                </a:rPr>
                <a:t>对数组元素部分赋值 </a:t>
              </a:r>
            </a:p>
          </p:txBody>
        </p:sp>
      </p:grpSp>
      <p:grpSp>
        <p:nvGrpSpPr>
          <p:cNvPr id="995522" name="Group 194"/>
          <p:cNvGrpSpPr>
            <a:grpSpLocks/>
          </p:cNvGrpSpPr>
          <p:nvPr/>
        </p:nvGrpSpPr>
        <p:grpSpPr bwMode="auto">
          <a:xfrm>
            <a:off x="2423592" y="2702470"/>
            <a:ext cx="7956550" cy="2598738"/>
            <a:chOff x="567" y="1162"/>
            <a:chExt cx="5012" cy="1637"/>
          </a:xfrm>
        </p:grpSpPr>
        <p:grpSp>
          <p:nvGrpSpPr>
            <p:cNvPr id="995523" name="Group 195"/>
            <p:cNvGrpSpPr>
              <a:grpSpLocks/>
            </p:cNvGrpSpPr>
            <p:nvPr/>
          </p:nvGrpSpPr>
          <p:grpSpPr bwMode="auto">
            <a:xfrm>
              <a:off x="567" y="1797"/>
              <a:ext cx="4899" cy="1002"/>
              <a:chOff x="612" y="1995"/>
              <a:chExt cx="4899" cy="1002"/>
            </a:xfrm>
          </p:grpSpPr>
          <p:sp>
            <p:nvSpPr>
              <p:cNvPr id="995524" name="Text Box 196" descr="信纸"/>
              <p:cNvSpPr txBox="1">
                <a:spLocks noChangeArrowheads="1"/>
              </p:cNvSpPr>
              <p:nvPr/>
            </p:nvSpPr>
            <p:spPr bwMode="auto">
              <a:xfrm>
                <a:off x="612" y="1995"/>
                <a:ext cx="4899"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ea typeface="隶书" pitchFamily="49" charset="-122"/>
                  </a:rPr>
                  <a:t>例：   </a:t>
                </a:r>
                <a:r>
                  <a:rPr lang="en-US" altLang="zh-CN" b="1" dirty="0"/>
                  <a:t>int  a[ ][3] = { { 1,2 }, { 4 } };</a:t>
                </a:r>
                <a:r>
                  <a:rPr lang="en-US" altLang="zh-CN" dirty="0"/>
                  <a:t> </a:t>
                </a:r>
              </a:p>
              <a:p>
                <a:endParaRPr lang="en-US" altLang="zh-CN" dirty="0"/>
              </a:p>
              <a:p>
                <a:endParaRPr lang="en-US" altLang="zh-CN" dirty="0"/>
              </a:p>
              <a:p>
                <a:endParaRPr lang="en-US" altLang="zh-CN" dirty="0"/>
              </a:p>
            </p:txBody>
          </p:sp>
          <p:sp>
            <p:nvSpPr>
              <p:cNvPr id="995525" name="Text Box 197"/>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a:effectLst>
                      <a:outerShdw blurRad="38100" dist="38100" dir="2700000" algn="tl">
                        <a:srgbClr val="FFFFFF"/>
                      </a:outerShdw>
                    </a:effectLst>
                  </a:rPr>
                  <a:t>a[</a:t>
                </a:r>
                <a:r>
                  <a:rPr lang="en-US" altLang="zh-CN" sz="2000" b="1">
                    <a:effectLst>
                      <a:outerShdw blurRad="38100" dist="38100" dir="2700000" algn="tl">
                        <a:srgbClr val="FFFFFF"/>
                      </a:outerShdw>
                    </a:effectLst>
                  </a:rPr>
                  <a:t>0][0]	a[0][1]	a[0][2]	a[1][0]	a[1][1]	a[1][2]</a:t>
                </a:r>
              </a:p>
            </p:txBody>
          </p:sp>
          <p:sp>
            <p:nvSpPr>
              <p:cNvPr id="995526" name="Text Box 198"/>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dirty="0">
                    <a:solidFill>
                      <a:srgbClr val="002060"/>
                    </a:solidFill>
                  </a:rPr>
                  <a:t>1</a:t>
                </a:r>
                <a:r>
                  <a:rPr lang="en-US" altLang="zh-CN" sz="2000" b="1" dirty="0">
                    <a:solidFill>
                      <a:srgbClr val="002060"/>
                    </a:solidFill>
                  </a:rPr>
                  <a:t>	2	0	4	0	0</a:t>
                </a:r>
              </a:p>
            </p:txBody>
          </p:sp>
        </p:grpSp>
        <p:sp>
          <p:nvSpPr>
            <p:cNvPr id="995527" name="AutoShape 199"/>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chemeClr val="bg1">
                    <a:lumMod val="95000"/>
                  </a:schemeClr>
                </a:gs>
                <a:gs pos="100000">
                  <a:srgbClr val="BEDFC4"/>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a:solidFill>
                    <a:srgbClr val="C01920"/>
                  </a:solidFill>
                  <a:latin typeface="隶书" pitchFamily="49" charset="-122"/>
                  <a:ea typeface="隶书" pitchFamily="49" charset="-122"/>
                </a:rPr>
                <a:t>省掉第一维的大小 </a:t>
              </a:r>
            </a:p>
          </p:txBody>
        </p:sp>
      </p:grpSp>
      <p:sp>
        <p:nvSpPr>
          <p:cNvPr id="995529" name="Text Box 201"/>
          <p:cNvSpPr txBox="1">
            <a:spLocks noChangeArrowheads="1"/>
          </p:cNvSpPr>
          <p:nvPr/>
        </p:nvSpPr>
        <p:spPr bwMode="auto">
          <a:xfrm>
            <a:off x="1776686" y="4126803"/>
            <a:ext cx="9621044" cy="47629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defPPr>
              <a:defRPr lang="zh-CN"/>
            </a:defPPr>
            <a:lvl1pPr>
              <a:defRPr sz="2000" b="1">
                <a:solidFill>
                  <a:srgbClr val="C01920"/>
                </a:solidFill>
                <a:latin typeface="+mn-lt"/>
                <a:ea typeface="楷体" pitchFamily="49" charset="-122"/>
              </a:defRPr>
            </a:lvl1pPr>
          </a:lstStyle>
          <a:p>
            <a:r>
              <a:rPr lang="zh-CN" altLang="en-US" dirty="0">
                <a:solidFill>
                  <a:srgbClr val="00B0F0"/>
                </a:solidFill>
              </a:rPr>
              <a:t>存储类型符  数据类型  数组变量名</a:t>
            </a:r>
            <a:r>
              <a:rPr lang="en-US" altLang="zh-CN" dirty="0">
                <a:solidFill>
                  <a:srgbClr val="00B0F0"/>
                </a:solidFill>
              </a:rPr>
              <a:t>[</a:t>
            </a:r>
            <a:r>
              <a:rPr lang="zh-CN" altLang="en-US" dirty="0">
                <a:solidFill>
                  <a:srgbClr val="00B0F0"/>
                </a:solidFill>
              </a:rPr>
              <a:t>行常量表达式</a:t>
            </a:r>
            <a:r>
              <a:rPr lang="en-US" altLang="zh-CN" dirty="0">
                <a:solidFill>
                  <a:srgbClr val="00B0F0"/>
                </a:solidFill>
              </a:rPr>
              <a:t>][</a:t>
            </a:r>
            <a:r>
              <a:rPr lang="zh-CN" altLang="en-US" dirty="0">
                <a:solidFill>
                  <a:srgbClr val="00B0F0"/>
                </a:solidFill>
              </a:rPr>
              <a:t>列常量表达式</a:t>
            </a:r>
            <a:r>
              <a:rPr lang="en-US" altLang="zh-CN" dirty="0">
                <a:solidFill>
                  <a:srgbClr val="00B0F0"/>
                </a:solidFill>
              </a:rPr>
              <a:t>] </a:t>
            </a:r>
            <a:r>
              <a:rPr lang="zh-CN" altLang="en-US" dirty="0">
                <a:solidFill>
                  <a:srgbClr val="00B0F0"/>
                </a:solidFill>
              </a:rPr>
              <a:t>＝ </a:t>
            </a:r>
            <a:r>
              <a:rPr lang="en-US" altLang="zh-CN" dirty="0">
                <a:solidFill>
                  <a:srgbClr val="00B0F0"/>
                </a:solidFill>
              </a:rPr>
              <a:t>{ </a:t>
            </a:r>
            <a:r>
              <a:rPr lang="zh-CN" altLang="en-US" dirty="0">
                <a:solidFill>
                  <a:srgbClr val="00B0F0"/>
                </a:solidFill>
              </a:rPr>
              <a:t>初值表 </a:t>
            </a:r>
            <a:r>
              <a:rPr lang="en-US" altLang="zh-CN" dirty="0">
                <a:solidFill>
                  <a:srgbClr val="00B0F0"/>
                </a:solidFill>
              </a:rPr>
              <a:t>}</a:t>
            </a:r>
            <a:r>
              <a:rPr lang="zh-CN" altLang="en-US" dirty="0">
                <a:solidFill>
                  <a:srgbClr val="00B0F0"/>
                </a:solidFill>
              </a:rPr>
              <a:t>；</a:t>
            </a:r>
          </a:p>
        </p:txBody>
      </p:sp>
      <p:grpSp>
        <p:nvGrpSpPr>
          <p:cNvPr id="995530" name="Group 202"/>
          <p:cNvGrpSpPr>
            <a:grpSpLocks/>
          </p:cNvGrpSpPr>
          <p:nvPr/>
        </p:nvGrpSpPr>
        <p:grpSpPr bwMode="auto">
          <a:xfrm>
            <a:off x="2495600" y="3717032"/>
            <a:ext cx="7956550" cy="2598739"/>
            <a:chOff x="567" y="1162"/>
            <a:chExt cx="5012" cy="1637"/>
          </a:xfrm>
        </p:grpSpPr>
        <p:grpSp>
          <p:nvGrpSpPr>
            <p:cNvPr id="995531" name="Group 203"/>
            <p:cNvGrpSpPr>
              <a:grpSpLocks/>
            </p:cNvGrpSpPr>
            <p:nvPr/>
          </p:nvGrpSpPr>
          <p:grpSpPr bwMode="auto">
            <a:xfrm>
              <a:off x="567" y="1797"/>
              <a:ext cx="4899" cy="1002"/>
              <a:chOff x="612" y="1995"/>
              <a:chExt cx="4899" cy="1002"/>
            </a:xfrm>
          </p:grpSpPr>
          <p:sp>
            <p:nvSpPr>
              <p:cNvPr id="995532" name="Text Box 204" descr="信纸"/>
              <p:cNvSpPr txBox="1">
                <a:spLocks noChangeArrowheads="1"/>
              </p:cNvSpPr>
              <p:nvPr/>
            </p:nvSpPr>
            <p:spPr bwMode="auto">
              <a:xfrm>
                <a:off x="612" y="1995"/>
                <a:ext cx="4899"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ea typeface="隶书" pitchFamily="49" charset="-122"/>
                  </a:rPr>
                  <a:t>例：   </a:t>
                </a:r>
                <a:r>
                  <a:rPr lang="en-US" altLang="zh-CN" b="1" dirty="0"/>
                  <a:t>int  a[2][3] = { 1, 2, 3, 4, 5, 6 };</a:t>
                </a:r>
                <a:r>
                  <a:rPr lang="en-US" altLang="zh-CN" dirty="0"/>
                  <a:t> </a:t>
                </a:r>
              </a:p>
              <a:p>
                <a:endParaRPr lang="en-US" altLang="zh-CN" dirty="0"/>
              </a:p>
              <a:p>
                <a:endParaRPr lang="en-US" altLang="zh-CN" dirty="0"/>
              </a:p>
              <a:p>
                <a:endParaRPr lang="en-US" altLang="zh-CN" dirty="0"/>
              </a:p>
            </p:txBody>
          </p:sp>
          <p:sp>
            <p:nvSpPr>
              <p:cNvPr id="995533" name="Text Box 205"/>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a:t>a[</a:t>
                </a:r>
                <a:r>
                  <a:rPr lang="en-US" altLang="zh-CN" sz="2000" b="1"/>
                  <a:t>0][0]	a[0][1]	a[0][2]	a[1][0]	a[1][1]	a[1][2]</a:t>
                </a:r>
              </a:p>
            </p:txBody>
          </p:sp>
          <p:sp>
            <p:nvSpPr>
              <p:cNvPr id="995534" name="Text Box 206"/>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a:solidFill>
                      <a:srgbClr val="002060"/>
                    </a:solidFill>
                  </a:rPr>
                  <a:t>1</a:t>
                </a:r>
                <a:r>
                  <a:rPr lang="en-US" altLang="zh-CN" sz="2000" b="1">
                    <a:solidFill>
                      <a:srgbClr val="002060"/>
                    </a:solidFill>
                  </a:rPr>
                  <a:t>	2	3	4	5	6</a:t>
                </a:r>
              </a:p>
            </p:txBody>
          </p:sp>
        </p:grpSp>
        <p:sp>
          <p:nvSpPr>
            <p:cNvPr id="995535" name="AutoShape 207"/>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dirty="0">
                  <a:solidFill>
                    <a:srgbClr val="CC3300"/>
                  </a:solidFill>
                  <a:latin typeface="隶书" pitchFamily="49" charset="-122"/>
                  <a:ea typeface="隶书" pitchFamily="49" charset="-122"/>
                </a:rPr>
                <a:t>对数组元素全部赋值 </a:t>
              </a:r>
            </a:p>
          </p:txBody>
        </p:sp>
      </p:grpSp>
      <p:grpSp>
        <p:nvGrpSpPr>
          <p:cNvPr id="995536" name="Group 208"/>
          <p:cNvGrpSpPr>
            <a:grpSpLocks/>
          </p:cNvGrpSpPr>
          <p:nvPr/>
        </p:nvGrpSpPr>
        <p:grpSpPr bwMode="auto">
          <a:xfrm>
            <a:off x="2453333" y="3717032"/>
            <a:ext cx="8059741" cy="2576511"/>
            <a:chOff x="502" y="1162"/>
            <a:chExt cx="5077" cy="1623"/>
          </a:xfrm>
        </p:grpSpPr>
        <p:grpSp>
          <p:nvGrpSpPr>
            <p:cNvPr id="995537" name="Group 209"/>
            <p:cNvGrpSpPr>
              <a:grpSpLocks/>
            </p:cNvGrpSpPr>
            <p:nvPr/>
          </p:nvGrpSpPr>
          <p:grpSpPr bwMode="auto">
            <a:xfrm>
              <a:off x="502" y="1783"/>
              <a:ext cx="4897" cy="1002"/>
              <a:chOff x="547" y="1981"/>
              <a:chExt cx="4897" cy="1002"/>
            </a:xfrm>
          </p:grpSpPr>
          <p:sp>
            <p:nvSpPr>
              <p:cNvPr id="995538" name="Text Box 210" descr="信纸"/>
              <p:cNvSpPr txBox="1">
                <a:spLocks noChangeArrowheads="1"/>
              </p:cNvSpPr>
              <p:nvPr/>
            </p:nvSpPr>
            <p:spPr bwMode="auto">
              <a:xfrm>
                <a:off x="547" y="1981"/>
                <a:ext cx="4897"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   </a:t>
                </a:r>
                <a:r>
                  <a:rPr lang="en-US" altLang="zh-CN" b="1" dirty="0"/>
                  <a:t>int  a[2][3] = { 1, 2, 3 };</a:t>
                </a:r>
                <a:r>
                  <a:rPr lang="en-US" altLang="zh-CN" dirty="0"/>
                  <a:t> </a:t>
                </a:r>
              </a:p>
              <a:p>
                <a:endParaRPr lang="en-US" altLang="zh-CN" dirty="0"/>
              </a:p>
              <a:p>
                <a:endParaRPr lang="en-US" altLang="zh-CN" dirty="0"/>
              </a:p>
              <a:p>
                <a:endParaRPr lang="en-US" altLang="zh-CN" dirty="0"/>
              </a:p>
            </p:txBody>
          </p:sp>
          <p:sp>
            <p:nvSpPr>
              <p:cNvPr id="995539" name="Text Box 211"/>
              <p:cNvSpPr txBox="1">
                <a:spLocks noChangeArrowheads="1"/>
              </p:cNvSpPr>
              <p:nvPr/>
            </p:nvSpPr>
            <p:spPr bwMode="auto">
              <a:xfrm>
                <a:off x="1047" y="2361"/>
                <a:ext cx="3584" cy="272"/>
              </a:xfrm>
              <a:prstGeom prst="rect">
                <a:avLst/>
              </a:prstGeom>
              <a:noFill/>
              <a:ln w="9525">
                <a:noFill/>
                <a:miter lim="800000"/>
                <a:headEnd/>
                <a:tailEnd/>
              </a:ln>
            </p:spPr>
            <p:txBody>
              <a:bodyPr/>
              <a:lstStyle/>
              <a:p>
                <a:pPr algn="ctr"/>
                <a:r>
                  <a:rPr kumimoji="0" lang="en-US" altLang="zh-CN" sz="2000" b="1" dirty="0"/>
                  <a:t>a[</a:t>
                </a:r>
                <a:r>
                  <a:rPr lang="en-US" altLang="zh-CN" sz="2000" b="1" dirty="0"/>
                  <a:t>0][0]	a[0][1]	a[0][2]	a[1][0]	a[1][1]	a[1][2]</a:t>
                </a:r>
              </a:p>
            </p:txBody>
          </p:sp>
          <p:sp>
            <p:nvSpPr>
              <p:cNvPr id="995540" name="Text Box 212"/>
              <p:cNvSpPr txBox="1">
                <a:spLocks noChangeArrowheads="1"/>
              </p:cNvSpPr>
              <p:nvPr/>
            </p:nvSpPr>
            <p:spPr bwMode="auto">
              <a:xfrm>
                <a:off x="1030" y="2614"/>
                <a:ext cx="3584" cy="272"/>
              </a:xfrm>
              <a:prstGeom prst="rect">
                <a:avLst/>
              </a:prstGeom>
              <a:noFill/>
              <a:ln w="9525">
                <a:noFill/>
                <a:miter lim="800000"/>
                <a:headEnd/>
                <a:tailEnd/>
              </a:ln>
            </p:spPr>
            <p:txBody>
              <a:bodyPr/>
              <a:lstStyle/>
              <a:p>
                <a:pPr algn="ctr"/>
                <a:r>
                  <a:rPr kumimoji="0" lang="en-US" altLang="zh-CN" sz="2000" b="1">
                    <a:solidFill>
                      <a:srgbClr val="002060"/>
                    </a:solidFill>
                  </a:rPr>
                  <a:t>1</a:t>
                </a:r>
                <a:r>
                  <a:rPr lang="en-US" altLang="zh-CN" sz="2000" b="1">
                    <a:solidFill>
                      <a:srgbClr val="002060"/>
                    </a:solidFill>
                  </a:rPr>
                  <a:t>	2	3	0	0	0</a:t>
                </a:r>
              </a:p>
            </p:txBody>
          </p:sp>
        </p:grpSp>
        <p:sp>
          <p:nvSpPr>
            <p:cNvPr id="995541" name="AutoShape 213"/>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lumMod val="95000"/>
                  </a:schemeClr>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dirty="0">
                  <a:solidFill>
                    <a:srgbClr val="CC3300"/>
                  </a:solidFill>
                  <a:latin typeface="隶书" pitchFamily="49" charset="-122"/>
                  <a:ea typeface="隶书" pitchFamily="49" charset="-122"/>
                </a:rPr>
                <a:t>对数组元素部分赋值 </a:t>
              </a:r>
            </a:p>
          </p:txBody>
        </p:sp>
      </p:grpSp>
      <p:grpSp>
        <p:nvGrpSpPr>
          <p:cNvPr id="995542" name="Group 214"/>
          <p:cNvGrpSpPr>
            <a:grpSpLocks/>
          </p:cNvGrpSpPr>
          <p:nvPr/>
        </p:nvGrpSpPr>
        <p:grpSpPr bwMode="auto">
          <a:xfrm>
            <a:off x="2426365" y="3716125"/>
            <a:ext cx="7956550" cy="2598738"/>
            <a:chOff x="567" y="1162"/>
            <a:chExt cx="5012" cy="1637"/>
          </a:xfrm>
        </p:grpSpPr>
        <p:grpSp>
          <p:nvGrpSpPr>
            <p:cNvPr id="995543" name="Group 215"/>
            <p:cNvGrpSpPr>
              <a:grpSpLocks/>
            </p:cNvGrpSpPr>
            <p:nvPr/>
          </p:nvGrpSpPr>
          <p:grpSpPr bwMode="auto">
            <a:xfrm>
              <a:off x="567" y="1797"/>
              <a:ext cx="4899" cy="1002"/>
              <a:chOff x="612" y="1995"/>
              <a:chExt cx="4899" cy="1002"/>
            </a:xfrm>
          </p:grpSpPr>
          <p:sp>
            <p:nvSpPr>
              <p:cNvPr id="995544" name="Text Box 216" descr="信纸"/>
              <p:cNvSpPr txBox="1">
                <a:spLocks noChangeArrowheads="1"/>
              </p:cNvSpPr>
              <p:nvPr/>
            </p:nvSpPr>
            <p:spPr bwMode="auto">
              <a:xfrm>
                <a:off x="612" y="1995"/>
                <a:ext cx="4899" cy="100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p:spPr>
            <p:txBody>
              <a:bodyPr lIns="90000" tIns="46800" rIns="90000" bIns="46800" anchor="ctr">
                <a:spAutoFit/>
              </a:bodyPr>
              <a:lstStyle/>
              <a:p>
                <a:r>
                  <a:rPr lang="zh-CN" altLang="en-US" b="1" dirty="0">
                    <a:solidFill>
                      <a:srgbClr val="C01920"/>
                    </a:solidFill>
                    <a:ea typeface="隶书" pitchFamily="49" charset="-122"/>
                  </a:rPr>
                  <a:t>例：   </a:t>
                </a:r>
                <a:r>
                  <a:rPr lang="en-US" altLang="zh-CN" b="1" dirty="0"/>
                  <a:t>int  a[ ][3] = { 1, 2, 3, 4 };</a:t>
                </a:r>
                <a:r>
                  <a:rPr lang="en-US" altLang="zh-CN" dirty="0"/>
                  <a:t> </a:t>
                </a:r>
              </a:p>
              <a:p>
                <a:endParaRPr lang="en-US" altLang="zh-CN" dirty="0"/>
              </a:p>
              <a:p>
                <a:endParaRPr lang="en-US" altLang="zh-CN" dirty="0"/>
              </a:p>
              <a:p>
                <a:endParaRPr lang="en-US" altLang="zh-CN" dirty="0"/>
              </a:p>
            </p:txBody>
          </p:sp>
          <p:sp>
            <p:nvSpPr>
              <p:cNvPr id="995545" name="Text Box 217"/>
              <p:cNvSpPr txBox="1">
                <a:spLocks noChangeArrowheads="1"/>
              </p:cNvSpPr>
              <p:nvPr/>
            </p:nvSpPr>
            <p:spPr bwMode="auto">
              <a:xfrm>
                <a:off x="1157" y="2361"/>
                <a:ext cx="3584" cy="272"/>
              </a:xfrm>
              <a:prstGeom prst="rect">
                <a:avLst/>
              </a:prstGeom>
              <a:noFill/>
              <a:ln w="9525">
                <a:noFill/>
                <a:miter lim="800000"/>
                <a:headEnd/>
                <a:tailEnd/>
              </a:ln>
            </p:spPr>
            <p:txBody>
              <a:bodyPr/>
              <a:lstStyle/>
              <a:p>
                <a:pPr algn="ctr"/>
                <a:r>
                  <a:rPr kumimoji="0" lang="en-US" altLang="zh-CN" sz="2000" b="1" dirty="0"/>
                  <a:t>a[</a:t>
                </a:r>
                <a:r>
                  <a:rPr lang="en-US" altLang="zh-CN" sz="2000" b="1" dirty="0"/>
                  <a:t>0][0]	a[0][1]	a[0][2]	a[1][0]	a[1][1]	a[1][2]</a:t>
                </a:r>
              </a:p>
            </p:txBody>
          </p:sp>
          <p:sp>
            <p:nvSpPr>
              <p:cNvPr id="995546" name="Text Box 218"/>
              <p:cNvSpPr txBox="1">
                <a:spLocks noChangeArrowheads="1"/>
              </p:cNvSpPr>
              <p:nvPr/>
            </p:nvSpPr>
            <p:spPr bwMode="auto">
              <a:xfrm>
                <a:off x="1140" y="2614"/>
                <a:ext cx="3584" cy="272"/>
              </a:xfrm>
              <a:prstGeom prst="rect">
                <a:avLst/>
              </a:prstGeom>
              <a:noFill/>
              <a:ln w="9525">
                <a:noFill/>
                <a:miter lim="800000"/>
                <a:headEnd/>
                <a:tailEnd/>
              </a:ln>
            </p:spPr>
            <p:txBody>
              <a:bodyPr/>
              <a:lstStyle/>
              <a:p>
                <a:pPr algn="ctr"/>
                <a:r>
                  <a:rPr kumimoji="0" lang="en-US" altLang="zh-CN" sz="2000" b="1" dirty="0">
                    <a:solidFill>
                      <a:srgbClr val="002060"/>
                    </a:solidFill>
                  </a:rPr>
                  <a:t>1</a:t>
                </a:r>
                <a:r>
                  <a:rPr lang="en-US" altLang="zh-CN" sz="2000" b="1" dirty="0">
                    <a:solidFill>
                      <a:srgbClr val="002060"/>
                    </a:solidFill>
                  </a:rPr>
                  <a:t>	2	3	4	0	0</a:t>
                </a:r>
              </a:p>
            </p:txBody>
          </p:sp>
        </p:grpSp>
        <p:sp>
          <p:nvSpPr>
            <p:cNvPr id="995547" name="AutoShape 219"/>
            <p:cNvSpPr>
              <a:spLocks noChangeArrowheads="1"/>
            </p:cNvSpPr>
            <p:nvPr/>
          </p:nvSpPr>
          <p:spPr bwMode="auto">
            <a:xfrm>
              <a:off x="3606" y="1162"/>
              <a:ext cx="1973" cy="635"/>
            </a:xfrm>
            <a:prstGeom prst="cloudCallout">
              <a:avLst>
                <a:gd name="adj1" fmla="val -22176"/>
                <a:gd name="adj2" fmla="val 80079"/>
              </a:avLst>
            </a:prstGeom>
            <a:gradFill flip="none" rotWithShape="1">
              <a:gsLst>
                <a:gs pos="0">
                  <a:srgbClr val="BEDFC4"/>
                </a:gs>
                <a:gs pos="100000">
                  <a:schemeClr val="bg1"/>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a:solidFill>
                    <a:srgbClr val="CC3300"/>
                  </a:solidFill>
                  <a:latin typeface="隶书" pitchFamily="49" charset="-122"/>
                  <a:ea typeface="隶书" pitchFamily="49" charset="-122"/>
                </a:rPr>
                <a:t>省掉第一维的大小 </a:t>
              </a:r>
            </a:p>
          </p:txBody>
        </p:sp>
      </p:grpSp>
      <p:sp>
        <p:nvSpPr>
          <p:cNvPr id="46" name="Rectangle 4">
            <a:extLst>
              <a:ext uri="{FF2B5EF4-FFF2-40B4-BE49-F238E27FC236}">
                <a16:creationId xmlns:a16="http://schemas.microsoft.com/office/drawing/2014/main" id="{FA0327D3-33A2-4685-93DE-0045E27627F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extLst>
      <p:ext uri="{BB962C8B-B14F-4D97-AF65-F5344CB8AC3E}">
        <p14:creationId xmlns:p14="http://schemas.microsoft.com/office/powerpoint/2010/main" val="3675176214"/>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5330">
                                            <p:txEl>
                                              <p:pRg st="0" end="0"/>
                                            </p:txEl>
                                          </p:spTgt>
                                        </p:tgtEl>
                                        <p:attrNameLst>
                                          <p:attrName>style.visibility</p:attrName>
                                        </p:attrNameLst>
                                      </p:cBhvr>
                                      <p:to>
                                        <p:strVal val="visible"/>
                                      </p:to>
                                    </p:set>
                                    <p:anim calcmode="lin" valueType="num">
                                      <p:cBhvr additive="base">
                                        <p:cTn id="7" dur="500" fill="hold"/>
                                        <p:tgtEl>
                                          <p:spTgt spid="9953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9533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95330">
                                            <p:txEl>
                                              <p:pRg st="1" end="1"/>
                                            </p:txEl>
                                          </p:spTgt>
                                        </p:tgtEl>
                                        <p:attrNameLst>
                                          <p:attrName>style.visibility</p:attrName>
                                        </p:attrNameLst>
                                      </p:cBhvr>
                                      <p:to>
                                        <p:strVal val="visible"/>
                                      </p:to>
                                    </p:set>
                                    <p:anim calcmode="lin" valueType="num">
                                      <p:cBhvr additive="base">
                                        <p:cTn id="13" dur="500" fill="hold"/>
                                        <p:tgtEl>
                                          <p:spTgt spid="99533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9533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95330">
                                            <p:txEl>
                                              <p:pRg st="3" end="3"/>
                                            </p:txEl>
                                          </p:spTgt>
                                        </p:tgtEl>
                                        <p:attrNameLst>
                                          <p:attrName>style.visibility</p:attrName>
                                        </p:attrNameLst>
                                      </p:cBhvr>
                                      <p:to>
                                        <p:strVal val="visible"/>
                                      </p:to>
                                    </p:set>
                                    <p:anim calcmode="lin" valueType="num">
                                      <p:cBhvr additive="base">
                                        <p:cTn id="19" dur="500" fill="hold"/>
                                        <p:tgtEl>
                                          <p:spTgt spid="995330">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95330">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95330">
                                            <p:txEl>
                                              <p:pRg st="4" end="4"/>
                                            </p:txEl>
                                          </p:spTgt>
                                        </p:tgtEl>
                                        <p:attrNameLst>
                                          <p:attrName>style.visibility</p:attrName>
                                        </p:attrNameLst>
                                      </p:cBhvr>
                                      <p:to>
                                        <p:strVal val="visible"/>
                                      </p:to>
                                    </p:set>
                                    <p:anim calcmode="lin" valueType="num">
                                      <p:cBhvr additive="base">
                                        <p:cTn id="25" dur="500" fill="hold"/>
                                        <p:tgtEl>
                                          <p:spTgt spid="995330">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95330">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995469"/>
                                        </p:tgtEl>
                                        <p:attrNameLst>
                                          <p:attrName>style.visibility</p:attrName>
                                        </p:attrNameLst>
                                      </p:cBhvr>
                                      <p:to>
                                        <p:strVal val="visible"/>
                                      </p:to>
                                    </p:set>
                                    <p:animEffect transition="in" filter="box(out)">
                                      <p:cBhvr>
                                        <p:cTn id="31" dur="500"/>
                                        <p:tgtEl>
                                          <p:spTgt spid="995469"/>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995515"/>
                                        </p:tgtEl>
                                        <p:attrNameLst>
                                          <p:attrName>style.visibility</p:attrName>
                                        </p:attrNameLst>
                                      </p:cBhvr>
                                      <p:to>
                                        <p:strVal val="visible"/>
                                      </p:to>
                                    </p:set>
                                    <p:animEffect transition="in" filter="box(out)">
                                      <p:cBhvr>
                                        <p:cTn id="36" dur="500"/>
                                        <p:tgtEl>
                                          <p:spTgt spid="995515"/>
                                        </p:tgtEl>
                                      </p:cBhvr>
                                    </p:animEffect>
                                  </p:childTnLst>
                                  <p:subTnLst>
                                    <p:set>
                                      <p:cBhvr override="childStyle">
                                        <p:cTn dur="1" fill="hold" display="0" masterRel="nextClick" afterEffect="1"/>
                                        <p:tgtEl>
                                          <p:spTgt spid="995515"/>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995516"/>
                                        </p:tgtEl>
                                        <p:attrNameLst>
                                          <p:attrName>style.visibility</p:attrName>
                                        </p:attrNameLst>
                                      </p:cBhvr>
                                      <p:to>
                                        <p:strVal val="visible"/>
                                      </p:to>
                                    </p:set>
                                    <p:animEffect transition="in" filter="box(out)">
                                      <p:cBhvr>
                                        <p:cTn id="41" dur="500"/>
                                        <p:tgtEl>
                                          <p:spTgt spid="995516"/>
                                        </p:tgtEl>
                                      </p:cBhvr>
                                    </p:animEffect>
                                  </p:childTnLst>
                                  <p:subTnLst>
                                    <p:set>
                                      <p:cBhvr override="childStyle">
                                        <p:cTn dur="1" fill="hold" display="0" masterRel="nextClick" afterEffect="1"/>
                                        <p:tgtEl>
                                          <p:spTgt spid="995516"/>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nodeType="clickEffect">
                                  <p:stCondLst>
                                    <p:cond delay="0"/>
                                  </p:stCondLst>
                                  <p:childTnLst>
                                    <p:set>
                                      <p:cBhvr>
                                        <p:cTn id="45" dur="1" fill="hold">
                                          <p:stCondLst>
                                            <p:cond delay="0"/>
                                          </p:stCondLst>
                                        </p:cTn>
                                        <p:tgtEl>
                                          <p:spTgt spid="995522"/>
                                        </p:tgtEl>
                                        <p:attrNameLst>
                                          <p:attrName>style.visibility</p:attrName>
                                        </p:attrNameLst>
                                      </p:cBhvr>
                                      <p:to>
                                        <p:strVal val="visible"/>
                                      </p:to>
                                    </p:set>
                                    <p:animEffect transition="in" filter="box(out)">
                                      <p:cBhvr>
                                        <p:cTn id="46" dur="500"/>
                                        <p:tgtEl>
                                          <p:spTgt spid="995522"/>
                                        </p:tgtEl>
                                      </p:cBhvr>
                                    </p:animEffect>
                                  </p:childTnLst>
                                  <p:subTnLst>
                                    <p:set>
                                      <p:cBhvr override="childStyle">
                                        <p:cTn dur="1" fill="hold" display="0" masterRel="nextClick" afterEffect="1"/>
                                        <p:tgtEl>
                                          <p:spTgt spid="995522"/>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995528">
                                            <p:txEl>
                                              <p:pRg st="0" end="0"/>
                                            </p:txEl>
                                          </p:spTgt>
                                        </p:tgtEl>
                                        <p:attrNameLst>
                                          <p:attrName>style.visibility</p:attrName>
                                        </p:attrNameLst>
                                      </p:cBhvr>
                                      <p:to>
                                        <p:strVal val="visible"/>
                                      </p:to>
                                    </p:set>
                                    <p:animEffect transition="in" filter="box(out)">
                                      <p:cBhvr>
                                        <p:cTn id="51" dur="500"/>
                                        <p:tgtEl>
                                          <p:spTgt spid="995528">
                                            <p:txEl>
                                              <p:pRg st="0" end="0"/>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995529"/>
                                        </p:tgtEl>
                                        <p:attrNameLst>
                                          <p:attrName>style.visibility</p:attrName>
                                        </p:attrNameLst>
                                      </p:cBhvr>
                                      <p:to>
                                        <p:strVal val="visible"/>
                                      </p:to>
                                    </p:set>
                                    <p:animEffect transition="in" filter="box(out)">
                                      <p:cBhvr>
                                        <p:cTn id="56" dur="500"/>
                                        <p:tgtEl>
                                          <p:spTgt spid="995529"/>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995530"/>
                                        </p:tgtEl>
                                        <p:attrNameLst>
                                          <p:attrName>style.visibility</p:attrName>
                                        </p:attrNameLst>
                                      </p:cBhvr>
                                      <p:to>
                                        <p:strVal val="visible"/>
                                      </p:to>
                                    </p:set>
                                    <p:animEffect transition="in" filter="box(out)">
                                      <p:cBhvr>
                                        <p:cTn id="61" dur="500"/>
                                        <p:tgtEl>
                                          <p:spTgt spid="995530"/>
                                        </p:tgtEl>
                                      </p:cBhvr>
                                    </p:animEffect>
                                  </p:childTnLst>
                                  <p:subTnLst>
                                    <p:set>
                                      <p:cBhvr override="childStyle">
                                        <p:cTn dur="1" fill="hold" display="0" masterRel="nextClick" afterEffect="1"/>
                                        <p:tgtEl>
                                          <p:spTgt spid="995530"/>
                                        </p:tgtEl>
                                        <p:attrNameLst>
                                          <p:attrName>style.visibility</p:attrName>
                                        </p:attrNameLst>
                                      </p:cBhvr>
                                      <p:to>
                                        <p:strVal val="hidden"/>
                                      </p:to>
                                    </p:se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32" fill="hold" nodeType="clickEffect">
                                  <p:stCondLst>
                                    <p:cond delay="0"/>
                                  </p:stCondLst>
                                  <p:childTnLst>
                                    <p:set>
                                      <p:cBhvr>
                                        <p:cTn id="65" dur="1" fill="hold">
                                          <p:stCondLst>
                                            <p:cond delay="0"/>
                                          </p:stCondLst>
                                        </p:cTn>
                                        <p:tgtEl>
                                          <p:spTgt spid="995536"/>
                                        </p:tgtEl>
                                        <p:attrNameLst>
                                          <p:attrName>style.visibility</p:attrName>
                                        </p:attrNameLst>
                                      </p:cBhvr>
                                      <p:to>
                                        <p:strVal val="visible"/>
                                      </p:to>
                                    </p:set>
                                    <p:animEffect transition="in" filter="box(out)">
                                      <p:cBhvr>
                                        <p:cTn id="66" dur="500"/>
                                        <p:tgtEl>
                                          <p:spTgt spid="995536"/>
                                        </p:tgtEl>
                                      </p:cBhvr>
                                    </p:animEffect>
                                  </p:childTnLst>
                                  <p:subTnLst>
                                    <p:set>
                                      <p:cBhvr override="childStyle">
                                        <p:cTn dur="1" fill="hold" display="0" masterRel="nextClick" afterEffect="1"/>
                                        <p:tgtEl>
                                          <p:spTgt spid="995536"/>
                                        </p:tgtEl>
                                        <p:attrNameLst>
                                          <p:attrName>style.visibility</p:attrName>
                                        </p:attrNameLst>
                                      </p:cBhvr>
                                      <p:to>
                                        <p:strVal val="hidden"/>
                                      </p:to>
                                    </p:se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nodeType="clickEffect">
                                  <p:stCondLst>
                                    <p:cond delay="0"/>
                                  </p:stCondLst>
                                  <p:childTnLst>
                                    <p:set>
                                      <p:cBhvr>
                                        <p:cTn id="70" dur="1" fill="hold">
                                          <p:stCondLst>
                                            <p:cond delay="0"/>
                                          </p:stCondLst>
                                        </p:cTn>
                                        <p:tgtEl>
                                          <p:spTgt spid="995542"/>
                                        </p:tgtEl>
                                        <p:attrNameLst>
                                          <p:attrName>style.visibility</p:attrName>
                                        </p:attrNameLst>
                                      </p:cBhvr>
                                      <p:to>
                                        <p:strVal val="visible"/>
                                      </p:to>
                                    </p:set>
                                    <p:animEffect transition="in" filter="box(out)">
                                      <p:cBhvr>
                                        <p:cTn id="71" dur="500"/>
                                        <p:tgtEl>
                                          <p:spTgt spid="995542"/>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5469" grpId="0" animBg="1"/>
      <p:bldP spid="995330" grpId="0" uiExpand="1" build="p" bldLvl="4" autoUpdateAnimBg="0"/>
      <p:bldP spid="995528" grpId="0" build="p" bldLvl="4" autoUpdateAnimBg="0"/>
      <p:bldP spid="99552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4" name="Rectangle 2"/>
          <p:cNvSpPr>
            <a:spLocks noChangeArrowheads="1"/>
          </p:cNvSpPr>
          <p:nvPr/>
        </p:nvSpPr>
        <p:spPr bwMode="auto">
          <a:xfrm>
            <a:off x="292658" y="903499"/>
            <a:ext cx="5125963" cy="508000"/>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sz="2800" b="1" dirty="0">
                <a:solidFill>
                  <a:srgbClr val="00B0F0"/>
                </a:solidFill>
                <a:latin typeface="楷体" panose="02010609060101010101" pitchFamily="49" charset="-122"/>
                <a:ea typeface="楷体" panose="02010609060101010101" pitchFamily="49" charset="-122"/>
              </a:rPr>
              <a:t>4</a:t>
            </a:r>
            <a:r>
              <a:rPr lang="zh-CN" altLang="en-US" sz="2800" b="1" dirty="0">
                <a:solidFill>
                  <a:srgbClr val="00B0F0"/>
                </a:solidFill>
                <a:latin typeface="楷体" panose="02010609060101010101" pitchFamily="49" charset="-122"/>
                <a:ea typeface="楷体" panose="02010609060101010101" pitchFamily="49" charset="-122"/>
              </a:rPr>
              <a:t>、二维数组在程序中赋值</a:t>
            </a:r>
          </a:p>
        </p:txBody>
      </p:sp>
      <p:sp>
        <p:nvSpPr>
          <p:cNvPr id="996397" name="Rectangle 45" descr="信纸"/>
          <p:cNvSpPr>
            <a:spLocks noChangeArrowheads="1"/>
          </p:cNvSpPr>
          <p:nvPr/>
        </p:nvSpPr>
        <p:spPr bwMode="auto">
          <a:xfrm>
            <a:off x="1415480" y="1439624"/>
            <a:ext cx="6911975" cy="195580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180975"/>
            <a:r>
              <a:rPr lang="zh-CN" altLang="en-US" b="1" dirty="0">
                <a:solidFill>
                  <a:srgbClr val="CC3300"/>
                </a:solidFill>
                <a:latin typeface="隶书" pitchFamily="49" charset="-122"/>
                <a:ea typeface="隶书" pitchFamily="49" charset="-122"/>
              </a:rPr>
              <a:t>例</a:t>
            </a:r>
            <a:r>
              <a:rPr lang="en-US" altLang="zh-CN" b="1" dirty="0">
                <a:solidFill>
                  <a:srgbClr val="CC3300"/>
                </a:solidFill>
                <a:latin typeface="隶书" pitchFamily="49" charset="-122"/>
                <a:ea typeface="隶书" pitchFamily="49" charset="-122"/>
              </a:rPr>
              <a:t>: </a:t>
            </a:r>
            <a:r>
              <a:rPr lang="zh-CN" altLang="en-US" b="1" dirty="0">
                <a:solidFill>
                  <a:srgbClr val="CC3300"/>
                </a:solidFill>
                <a:latin typeface="隶书" pitchFamily="49" charset="-122"/>
                <a:ea typeface="隶书" pitchFamily="49" charset="-122"/>
              </a:rPr>
              <a:t>通过键盘输入对二维数组</a:t>
            </a:r>
            <a:r>
              <a:rPr lang="en-US" altLang="zh-CN" b="1" dirty="0">
                <a:solidFill>
                  <a:srgbClr val="CC3300"/>
                </a:solidFill>
                <a:latin typeface="隶书" pitchFamily="49" charset="-122"/>
                <a:ea typeface="隶书" pitchFamily="49" charset="-122"/>
              </a:rPr>
              <a:t>a</a:t>
            </a:r>
            <a:r>
              <a:rPr lang="zh-CN" altLang="en-US" b="1" dirty="0">
                <a:solidFill>
                  <a:srgbClr val="CC3300"/>
                </a:solidFill>
                <a:latin typeface="隶书" pitchFamily="49" charset="-122"/>
                <a:ea typeface="隶书" pitchFamily="49" charset="-122"/>
              </a:rPr>
              <a:t>各元素赋值</a:t>
            </a:r>
            <a:r>
              <a:rPr lang="zh-CN" altLang="en-US" dirty="0">
                <a:solidFill>
                  <a:srgbClr val="CC3300"/>
                </a:solidFill>
              </a:rPr>
              <a:t> </a:t>
            </a:r>
            <a:endParaRPr lang="zh-CN" altLang="en-US" b="1" dirty="0">
              <a:solidFill>
                <a:srgbClr val="CC3300"/>
              </a:solidFill>
            </a:endParaRPr>
          </a:p>
          <a:p>
            <a:pPr indent="265113"/>
            <a:r>
              <a:rPr lang="zh-CN" altLang="en-US" b="1" dirty="0"/>
              <a:t>        </a:t>
            </a:r>
            <a:r>
              <a:rPr lang="en-US" altLang="zh-CN" b="1" dirty="0" err="1"/>
              <a:t>int</a:t>
            </a:r>
            <a:r>
              <a:rPr lang="en-US" altLang="zh-CN" b="1" dirty="0"/>
              <a:t>  </a:t>
            </a:r>
            <a:r>
              <a:rPr lang="en-US" altLang="zh-CN" b="1" dirty="0" err="1"/>
              <a:t>i</a:t>
            </a:r>
            <a:r>
              <a:rPr lang="en-US" altLang="zh-CN" b="1" dirty="0"/>
              <a:t>, j, a[2][3];</a:t>
            </a:r>
          </a:p>
          <a:p>
            <a:pPr indent="265113"/>
            <a:r>
              <a:rPr lang="en-US" altLang="zh-CN" b="1" dirty="0"/>
              <a:t>        for (</a:t>
            </a:r>
            <a:r>
              <a:rPr lang="en-US" altLang="zh-CN" b="1" dirty="0" err="1"/>
              <a:t>i</a:t>
            </a:r>
            <a:r>
              <a:rPr lang="en-US" altLang="zh-CN" b="1" dirty="0"/>
              <a:t> = 0; </a:t>
            </a:r>
            <a:r>
              <a:rPr lang="en-US" altLang="zh-CN" b="1" dirty="0" err="1"/>
              <a:t>i</a:t>
            </a:r>
            <a:r>
              <a:rPr lang="en-US" altLang="zh-CN" b="1" dirty="0"/>
              <a:t> &lt; 2; </a:t>
            </a:r>
            <a:r>
              <a:rPr lang="en-US" altLang="zh-CN" b="1" dirty="0" err="1"/>
              <a:t>i</a:t>
            </a:r>
            <a:r>
              <a:rPr lang="en-US" altLang="zh-CN" b="1" dirty="0"/>
              <a:t>++)</a:t>
            </a:r>
          </a:p>
          <a:p>
            <a:pPr indent="265113"/>
            <a:r>
              <a:rPr lang="en-US" altLang="zh-CN" b="1" dirty="0"/>
              <a:t>           for (j = 0; j &lt; 3; j++)</a:t>
            </a:r>
          </a:p>
          <a:p>
            <a:pPr indent="265113"/>
            <a:r>
              <a:rPr lang="en-US" altLang="zh-CN" b="1" dirty="0"/>
              <a:t>               </a:t>
            </a:r>
            <a:r>
              <a:rPr lang="en-US" altLang="zh-CN" b="1" dirty="0" err="1"/>
              <a:t>scanf</a:t>
            </a:r>
            <a:r>
              <a:rPr lang="en-US" altLang="zh-CN" b="1" dirty="0"/>
              <a:t> ("%d", &amp;a[</a:t>
            </a:r>
            <a:r>
              <a:rPr lang="en-US" altLang="zh-CN" b="1" dirty="0" err="1"/>
              <a:t>i</a:t>
            </a:r>
            <a:r>
              <a:rPr lang="en-US" altLang="zh-CN" b="1" dirty="0"/>
              <a:t>][j]); </a:t>
            </a:r>
          </a:p>
        </p:txBody>
      </p:sp>
      <p:sp>
        <p:nvSpPr>
          <p:cNvPr id="996398" name="Rectangle 46" descr="信纸"/>
          <p:cNvSpPr>
            <a:spLocks noChangeArrowheads="1"/>
          </p:cNvSpPr>
          <p:nvPr/>
        </p:nvSpPr>
        <p:spPr bwMode="auto">
          <a:xfrm>
            <a:off x="2459422" y="3569039"/>
            <a:ext cx="7273156"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80975"/>
            <a:r>
              <a:rPr lang="zh-CN" altLang="en-US" b="1" dirty="0">
                <a:solidFill>
                  <a:srgbClr val="CC3300"/>
                </a:solidFill>
                <a:latin typeface="隶书" pitchFamily="49" charset="-122"/>
                <a:ea typeface="隶书" pitchFamily="49" charset="-122"/>
              </a:rPr>
              <a:t>例</a:t>
            </a:r>
            <a:r>
              <a:rPr lang="en-US" altLang="zh-CN" b="1" dirty="0">
                <a:solidFill>
                  <a:srgbClr val="CC3300"/>
                </a:solidFill>
                <a:latin typeface="隶书" pitchFamily="49" charset="-122"/>
                <a:ea typeface="隶书" pitchFamily="49" charset="-122"/>
              </a:rPr>
              <a:t>: </a:t>
            </a:r>
            <a:r>
              <a:rPr lang="zh-CN" altLang="en-US" b="1" dirty="0">
                <a:solidFill>
                  <a:srgbClr val="CC3300"/>
                </a:solidFill>
                <a:ea typeface="隶书" pitchFamily="49" charset="-122"/>
              </a:rPr>
              <a:t>调用</a:t>
            </a:r>
            <a:r>
              <a:rPr lang="en-US" altLang="zh-CN" b="1" dirty="0" err="1">
                <a:solidFill>
                  <a:srgbClr val="CC3300"/>
                </a:solidFill>
                <a:ea typeface="隶书" pitchFamily="49" charset="-122"/>
              </a:rPr>
              <a:t>memset</a:t>
            </a:r>
            <a:r>
              <a:rPr lang="zh-CN" altLang="en-US" b="1" dirty="0">
                <a:solidFill>
                  <a:srgbClr val="CC3300"/>
                </a:solidFill>
                <a:ea typeface="隶书" pitchFamily="49" charset="-122"/>
              </a:rPr>
              <a:t>函数把数组</a:t>
            </a:r>
            <a:r>
              <a:rPr lang="en-US" altLang="zh-CN" b="1" dirty="0">
                <a:solidFill>
                  <a:srgbClr val="CC3300"/>
                </a:solidFill>
                <a:ea typeface="隶书" pitchFamily="49" charset="-122"/>
              </a:rPr>
              <a:t>a</a:t>
            </a:r>
            <a:r>
              <a:rPr lang="zh-CN" altLang="en-US" b="1" dirty="0">
                <a:solidFill>
                  <a:srgbClr val="CC3300"/>
                </a:solidFill>
                <a:ea typeface="隶书" pitchFamily="49" charset="-122"/>
              </a:rPr>
              <a:t>的各元素清</a:t>
            </a:r>
            <a:r>
              <a:rPr lang="en-US" altLang="zh-CN" b="1" dirty="0">
                <a:solidFill>
                  <a:srgbClr val="CC3300"/>
                </a:solidFill>
                <a:ea typeface="隶书" pitchFamily="49" charset="-122"/>
              </a:rPr>
              <a:t>0</a:t>
            </a:r>
            <a:r>
              <a:rPr lang="en-US" altLang="zh-CN" dirty="0">
                <a:solidFill>
                  <a:srgbClr val="CC3300"/>
                </a:solidFill>
              </a:rPr>
              <a:t> </a:t>
            </a:r>
            <a:endParaRPr lang="en-US" altLang="zh-CN" b="1" dirty="0">
              <a:solidFill>
                <a:srgbClr val="CC3300"/>
              </a:solidFill>
            </a:endParaRPr>
          </a:p>
          <a:p>
            <a:pPr indent="533400"/>
            <a:r>
              <a:rPr lang="en-US" altLang="zh-CN" b="1" dirty="0"/>
              <a:t>    </a:t>
            </a:r>
            <a:r>
              <a:rPr lang="en-US" altLang="zh-CN" b="1" dirty="0" err="1"/>
              <a:t>int</a:t>
            </a:r>
            <a:r>
              <a:rPr lang="en-US" altLang="zh-CN" b="1" dirty="0"/>
              <a:t>  a[2][3];</a:t>
            </a:r>
          </a:p>
          <a:p>
            <a:pPr indent="533400" algn="just"/>
            <a:r>
              <a:rPr lang="en-US" altLang="zh-CN" b="1" dirty="0"/>
              <a:t>    </a:t>
            </a:r>
            <a:r>
              <a:rPr lang="en-US" altLang="zh-CN" b="1" dirty="0" err="1"/>
              <a:t>memset</a:t>
            </a:r>
            <a:r>
              <a:rPr lang="en-US" altLang="zh-CN" b="1" dirty="0"/>
              <a:t>(a, 0, 6 * </a:t>
            </a:r>
            <a:r>
              <a:rPr lang="en-US" altLang="zh-CN" b="1" dirty="0" err="1"/>
              <a:t>sizeof</a:t>
            </a:r>
            <a:r>
              <a:rPr lang="en-US" altLang="zh-CN" b="1" dirty="0"/>
              <a:t>(</a:t>
            </a:r>
            <a:r>
              <a:rPr lang="en-US" altLang="zh-CN" b="1" dirty="0" err="1"/>
              <a:t>int</a:t>
            </a:r>
            <a:r>
              <a:rPr lang="en-US" altLang="zh-CN" b="1" dirty="0"/>
              <a:t>));</a:t>
            </a:r>
          </a:p>
        </p:txBody>
      </p:sp>
      <p:sp>
        <p:nvSpPr>
          <p:cNvPr id="996399" name="Rectangle 47" descr="信纸"/>
          <p:cNvSpPr>
            <a:spLocks noChangeArrowheads="1"/>
          </p:cNvSpPr>
          <p:nvPr/>
        </p:nvSpPr>
        <p:spPr bwMode="auto">
          <a:xfrm>
            <a:off x="3433342" y="4968205"/>
            <a:ext cx="7991896"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5113"/>
            <a:r>
              <a:rPr lang="zh-CN" altLang="en-US" b="1" dirty="0">
                <a:solidFill>
                  <a:srgbClr val="CC3300"/>
                </a:solidFill>
                <a:latin typeface="隶书" pitchFamily="49" charset="-122"/>
                <a:ea typeface="隶书" pitchFamily="49" charset="-122"/>
              </a:rPr>
              <a:t>例</a:t>
            </a:r>
            <a:r>
              <a:rPr lang="en-US" altLang="zh-CN" b="1" dirty="0">
                <a:solidFill>
                  <a:srgbClr val="CC3300"/>
                </a:solidFill>
                <a:latin typeface="隶书" pitchFamily="49" charset="-122"/>
                <a:ea typeface="隶书" pitchFamily="49" charset="-122"/>
              </a:rPr>
              <a:t>: </a:t>
            </a:r>
            <a:r>
              <a:rPr lang="zh-CN" altLang="en-US" b="1" dirty="0">
                <a:solidFill>
                  <a:srgbClr val="CC3300"/>
                </a:solidFill>
                <a:ea typeface="隶书" pitchFamily="49" charset="-122"/>
              </a:rPr>
              <a:t>通过</a:t>
            </a:r>
            <a:r>
              <a:rPr lang="en-US" altLang="zh-CN" b="1" dirty="0" err="1">
                <a:solidFill>
                  <a:srgbClr val="CC3300"/>
                </a:solidFill>
                <a:ea typeface="隶书" pitchFamily="49" charset="-122"/>
              </a:rPr>
              <a:t>memcpy</a:t>
            </a:r>
            <a:r>
              <a:rPr lang="zh-CN" altLang="en-US" b="1" dirty="0">
                <a:solidFill>
                  <a:srgbClr val="CC3300"/>
                </a:solidFill>
                <a:ea typeface="隶书" pitchFamily="49" charset="-122"/>
              </a:rPr>
              <a:t>函数将数组</a:t>
            </a:r>
            <a:r>
              <a:rPr lang="en-US" altLang="zh-CN" b="1" dirty="0">
                <a:solidFill>
                  <a:srgbClr val="CC3300"/>
                </a:solidFill>
                <a:ea typeface="隶书" pitchFamily="49" charset="-122"/>
              </a:rPr>
              <a:t>a</a:t>
            </a:r>
            <a:r>
              <a:rPr lang="zh-CN" altLang="en-US" b="1" dirty="0">
                <a:solidFill>
                  <a:srgbClr val="CC3300"/>
                </a:solidFill>
                <a:ea typeface="隶书" pitchFamily="49" charset="-122"/>
              </a:rPr>
              <a:t>各元素的值复制到数组</a:t>
            </a:r>
            <a:r>
              <a:rPr lang="en-US" altLang="zh-CN" b="1" dirty="0">
                <a:solidFill>
                  <a:srgbClr val="CC3300"/>
                </a:solidFill>
                <a:ea typeface="隶书" pitchFamily="49" charset="-122"/>
              </a:rPr>
              <a:t>b</a:t>
            </a:r>
            <a:r>
              <a:rPr lang="zh-CN" altLang="en-US" b="1" dirty="0">
                <a:solidFill>
                  <a:srgbClr val="CC3300"/>
                </a:solidFill>
                <a:ea typeface="隶书" pitchFamily="49" charset="-122"/>
              </a:rPr>
              <a:t>的各元素中</a:t>
            </a:r>
            <a:r>
              <a:rPr lang="zh-CN" altLang="en-US" dirty="0">
                <a:solidFill>
                  <a:srgbClr val="CC3300"/>
                </a:solidFill>
                <a:ea typeface="隶书" pitchFamily="49" charset="-122"/>
              </a:rPr>
              <a:t> </a:t>
            </a:r>
          </a:p>
          <a:p>
            <a:pPr indent="533400"/>
            <a:r>
              <a:rPr lang="zh-CN" altLang="en-US" b="1" dirty="0"/>
              <a:t>    </a:t>
            </a:r>
            <a:r>
              <a:rPr lang="en-US" altLang="zh-CN" b="1" dirty="0" err="1"/>
              <a:t>int</a:t>
            </a:r>
            <a:r>
              <a:rPr lang="en-US" altLang="zh-CN" b="1" dirty="0"/>
              <a:t>  b[2][3];</a:t>
            </a:r>
          </a:p>
          <a:p>
            <a:pPr indent="533400" algn="just"/>
            <a:r>
              <a:rPr lang="en-US" altLang="zh-CN" b="1" dirty="0"/>
              <a:t>    </a:t>
            </a:r>
            <a:r>
              <a:rPr lang="en-US" altLang="zh-CN" b="1" dirty="0" err="1"/>
              <a:t>memcpy</a:t>
            </a:r>
            <a:r>
              <a:rPr lang="en-US" altLang="zh-CN" b="1" dirty="0"/>
              <a:t>(b, a, 6 * </a:t>
            </a:r>
            <a:r>
              <a:rPr lang="en-US" altLang="zh-CN" b="1" dirty="0" err="1"/>
              <a:t>sizeof</a:t>
            </a:r>
            <a:r>
              <a:rPr lang="en-US" altLang="zh-CN" b="1" dirty="0"/>
              <a:t>(</a:t>
            </a:r>
            <a:r>
              <a:rPr lang="en-US" altLang="zh-CN" b="1" dirty="0" err="1"/>
              <a:t>int</a:t>
            </a:r>
            <a:r>
              <a:rPr lang="en-US" altLang="zh-CN" b="1" dirty="0"/>
              <a:t>));</a:t>
            </a:r>
          </a:p>
        </p:txBody>
      </p:sp>
      <p:sp>
        <p:nvSpPr>
          <p:cNvPr id="9" name="Rectangle 4">
            <a:extLst>
              <a:ext uri="{FF2B5EF4-FFF2-40B4-BE49-F238E27FC236}">
                <a16:creationId xmlns:a16="http://schemas.microsoft.com/office/drawing/2014/main" id="{57177520-D809-41E6-98F4-0754BF95A80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
        <p:nvSpPr>
          <p:cNvPr id="7" name="AutoShape 199">
            <a:extLst>
              <a:ext uri="{FF2B5EF4-FFF2-40B4-BE49-F238E27FC236}">
                <a16:creationId xmlns:a16="http://schemas.microsoft.com/office/drawing/2014/main" id="{271F256A-4A93-459D-ABD3-CD576AF6342B}"/>
              </a:ext>
            </a:extLst>
          </p:cNvPr>
          <p:cNvSpPr>
            <a:spLocks noChangeArrowheads="1"/>
          </p:cNvSpPr>
          <p:nvPr/>
        </p:nvSpPr>
        <p:spPr bwMode="auto">
          <a:xfrm>
            <a:off x="7529245" y="2311400"/>
            <a:ext cx="3247275" cy="1482271"/>
          </a:xfrm>
          <a:prstGeom prst="cloudCallout">
            <a:avLst>
              <a:gd name="adj1" fmla="val -22176"/>
              <a:gd name="adj2" fmla="val 80079"/>
            </a:avLst>
          </a:prstGeom>
          <a:gradFill flip="none" rotWithShape="1">
            <a:gsLst>
              <a:gs pos="0">
                <a:schemeClr val="bg1">
                  <a:lumMod val="95000"/>
                </a:schemeClr>
              </a:gs>
              <a:gs pos="100000">
                <a:srgbClr val="BEDFC4"/>
              </a:gs>
            </a:gsLst>
            <a:path path="circle">
              <a:fillToRect l="100000" b="100000"/>
            </a:path>
            <a:tileRect t="-100000" r="-100000"/>
          </a:gradFill>
          <a:ln w="9525">
            <a:solidFill>
              <a:schemeClr val="tx1"/>
            </a:solidFill>
            <a:round/>
            <a:headEnd/>
            <a:tailEnd/>
          </a:ln>
          <a:effectLst>
            <a:outerShdw dist="107763" dir="2700000" algn="ctr" rotWithShape="0">
              <a:schemeClr val="bg2">
                <a:alpha val="50000"/>
              </a:schemeClr>
            </a:outerShdw>
          </a:effectLst>
        </p:spPr>
        <p:txBody>
          <a:bodyPr/>
          <a:lstStyle/>
          <a:p>
            <a:pPr algn="ctr"/>
            <a:r>
              <a:rPr lang="zh-CN" altLang="en-US" b="1" dirty="0">
                <a:solidFill>
                  <a:srgbClr val="00B0F0"/>
                </a:solidFill>
                <a:latin typeface="隶书" pitchFamily="49" charset="-122"/>
                <a:ea typeface="隶书" pitchFamily="49" charset="-122"/>
              </a:rPr>
              <a:t>多维数组的内存存储为连续存储，且数组的大小为</a:t>
            </a:r>
            <a:r>
              <a:rPr lang="en-US" altLang="zh-CN" b="1" dirty="0">
                <a:solidFill>
                  <a:srgbClr val="00B0F0"/>
                </a:solidFill>
                <a:latin typeface="隶书" pitchFamily="49" charset="-122"/>
                <a:ea typeface="隶书" pitchFamily="49" charset="-122"/>
              </a:rPr>
              <a:t>2*3</a:t>
            </a:r>
            <a:endParaRPr lang="zh-CN" altLang="en-US" b="1" dirty="0">
              <a:solidFill>
                <a:srgbClr val="00B0F0"/>
              </a:solidFill>
              <a:latin typeface="隶书" pitchFamily="49" charset="-122"/>
              <a:ea typeface="隶书" pitchFamily="49" charset="-122"/>
            </a:endParaRPr>
          </a:p>
        </p:txBody>
      </p:sp>
    </p:spTree>
    <p:extLst>
      <p:ext uri="{BB962C8B-B14F-4D97-AF65-F5344CB8AC3E}">
        <p14:creationId xmlns:p14="http://schemas.microsoft.com/office/powerpoint/2010/main" val="2435253642"/>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96397"/>
                                        </p:tgtEl>
                                        <p:attrNameLst>
                                          <p:attrName>style.visibility</p:attrName>
                                        </p:attrNameLst>
                                      </p:cBhvr>
                                      <p:to>
                                        <p:strVal val="visible"/>
                                      </p:to>
                                    </p:set>
                                    <p:animEffect transition="in" filter="box(out)">
                                      <p:cBhvr>
                                        <p:cTn id="7" dur="500"/>
                                        <p:tgtEl>
                                          <p:spTgt spid="99639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96398"/>
                                        </p:tgtEl>
                                        <p:attrNameLst>
                                          <p:attrName>style.visibility</p:attrName>
                                        </p:attrNameLst>
                                      </p:cBhvr>
                                      <p:to>
                                        <p:strVal val="visible"/>
                                      </p:to>
                                    </p:set>
                                    <p:animEffect transition="in" filter="box(out)">
                                      <p:cBhvr>
                                        <p:cTn id="12" dur="500"/>
                                        <p:tgtEl>
                                          <p:spTgt spid="996398"/>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96399"/>
                                        </p:tgtEl>
                                        <p:attrNameLst>
                                          <p:attrName>style.visibility</p:attrName>
                                        </p:attrNameLst>
                                      </p:cBhvr>
                                      <p:to>
                                        <p:strVal val="visible"/>
                                      </p:to>
                                    </p:set>
                                    <p:animEffect transition="in" filter="box(out)">
                                      <p:cBhvr>
                                        <p:cTn id="17" dur="500"/>
                                        <p:tgtEl>
                                          <p:spTgt spid="996399"/>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6397" grpId="0" animBg="1"/>
      <p:bldP spid="996398" grpId="0" animBg="1"/>
      <p:bldP spid="99639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2">
            <a:extLst>
              <a:ext uri="{FF2B5EF4-FFF2-40B4-BE49-F238E27FC236}">
                <a16:creationId xmlns:a16="http://schemas.microsoft.com/office/drawing/2014/main" id="{63866ACC-7B46-43FE-93EA-87E0828B49A8}"/>
              </a:ext>
            </a:extLst>
          </p:cNvPr>
          <p:cNvSpPr>
            <a:spLocks noChangeArrowheads="1"/>
          </p:cNvSpPr>
          <p:nvPr/>
        </p:nvSpPr>
        <p:spPr bwMode="auto">
          <a:xfrm>
            <a:off x="292658" y="903499"/>
            <a:ext cx="5125963" cy="508000"/>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sz="2800" b="1" dirty="0">
                <a:solidFill>
                  <a:srgbClr val="00B0F0"/>
                </a:solidFill>
                <a:latin typeface="楷体" panose="02010609060101010101" pitchFamily="49" charset="-122"/>
                <a:ea typeface="楷体" panose="02010609060101010101" pitchFamily="49" charset="-122"/>
              </a:rPr>
              <a:t>5</a:t>
            </a:r>
            <a:r>
              <a:rPr lang="zh-CN" altLang="en-US" sz="2800" b="1" dirty="0">
                <a:solidFill>
                  <a:srgbClr val="00B0F0"/>
                </a:solidFill>
                <a:latin typeface="楷体" panose="02010609060101010101" pitchFamily="49" charset="-122"/>
                <a:ea typeface="楷体" panose="02010609060101010101" pitchFamily="49" charset="-122"/>
              </a:rPr>
              <a:t>、二维数组的应用举例</a:t>
            </a:r>
          </a:p>
        </p:txBody>
      </p:sp>
      <p:sp>
        <p:nvSpPr>
          <p:cNvPr id="997386" name="Rectangle 10"/>
          <p:cNvSpPr>
            <a:spLocks noChangeArrowheads="1"/>
          </p:cNvSpPr>
          <p:nvPr/>
        </p:nvSpPr>
        <p:spPr bwMode="auto">
          <a:xfrm>
            <a:off x="992631" y="2349589"/>
            <a:ext cx="10274334" cy="2185214"/>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u="sng" dirty="0">
                <a:ln w="1905"/>
                <a:solidFill>
                  <a:srgbClr val="00B0F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rPr>
              <a:t>程序设计思想：</a:t>
            </a:r>
            <a:endParaRPr lang="en-US" altLang="zh-CN" b="1" u="sng" dirty="0">
              <a:ln w="1905"/>
              <a:solidFill>
                <a:srgbClr val="00B0F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endParaRPr lang="zh-CN" altLang="en-US" b="1" u="sng" dirty="0">
              <a:ln w="1905"/>
              <a:solidFill>
                <a:srgbClr val="FF0000"/>
              </a:solidFill>
              <a:effectLst>
                <a:innerShdw blurRad="69850" dist="43180" dir="5400000">
                  <a:srgbClr val="000000">
                    <a:alpha val="65000"/>
                  </a:srgbClr>
                </a:innerShdw>
              </a:effectLst>
              <a:latin typeface="隶书" pitchFamily="49" charset="-122"/>
              <a:ea typeface="隶书" pitchFamily="49" charset="-122"/>
            </a:endParaRPr>
          </a:p>
          <a:p>
            <a:r>
              <a:rPr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        </a:t>
            </a:r>
            <a:r>
              <a:rPr lang="zh-CN" altLang="zh-CN" sz="2000" b="1" dirty="0">
                <a:ln w="1905"/>
                <a:solidFill>
                  <a:schemeClr val="tx1"/>
                </a:solidFill>
                <a:effectLst>
                  <a:innerShdw blurRad="69850" dist="43180" dir="5400000">
                    <a:srgbClr val="000000">
                      <a:alpha val="65000"/>
                    </a:srgbClr>
                  </a:innerShdw>
                </a:effectLst>
                <a:ea typeface="楷体" pitchFamily="49" charset="-122"/>
              </a:rPr>
              <a:t>解本题可用</a:t>
            </a:r>
            <a:r>
              <a:rPr lang="en-US" altLang="zh-CN" sz="2000" b="1" dirty="0">
                <a:ln w="1905"/>
                <a:solidFill>
                  <a:schemeClr val="tx1"/>
                </a:solidFill>
                <a:effectLst>
                  <a:innerShdw blurRad="69850" dist="43180" dir="5400000">
                    <a:srgbClr val="000000">
                      <a:alpha val="65000"/>
                    </a:srgbClr>
                  </a:innerShdw>
                </a:effectLst>
                <a:ea typeface="楷体" pitchFamily="49" charset="-122"/>
              </a:rPr>
              <a:t>“</a:t>
            </a:r>
            <a:r>
              <a:rPr lang="zh-CN" altLang="zh-CN" sz="2000" b="1" dirty="0">
                <a:ln w="1905"/>
                <a:solidFill>
                  <a:schemeClr val="tx1"/>
                </a:solidFill>
                <a:effectLst>
                  <a:innerShdw blurRad="69850" dist="43180" dir="5400000">
                    <a:srgbClr val="000000">
                      <a:alpha val="65000"/>
                    </a:srgbClr>
                  </a:innerShdw>
                </a:effectLst>
                <a:ea typeface="楷体" pitchFamily="49" charset="-122"/>
              </a:rPr>
              <a:t>打擂台</a:t>
            </a:r>
            <a:r>
              <a:rPr lang="en-US" altLang="zh-CN" sz="2000" b="1" dirty="0">
                <a:ln w="1905"/>
                <a:solidFill>
                  <a:schemeClr val="tx1"/>
                </a:solidFill>
                <a:effectLst>
                  <a:innerShdw blurRad="69850" dist="43180" dir="5400000">
                    <a:srgbClr val="000000">
                      <a:alpha val="65000"/>
                    </a:srgbClr>
                  </a:innerShdw>
                </a:effectLst>
                <a:ea typeface="楷体" pitchFamily="49" charset="-122"/>
              </a:rPr>
              <a:t>”</a:t>
            </a:r>
            <a:r>
              <a:rPr lang="zh-CN" altLang="zh-CN" sz="2000" b="1" dirty="0">
                <a:ln w="1905"/>
                <a:solidFill>
                  <a:schemeClr val="tx1"/>
                </a:solidFill>
                <a:effectLst>
                  <a:innerShdw blurRad="69850" dist="43180" dir="5400000">
                    <a:srgbClr val="000000">
                      <a:alpha val="65000"/>
                    </a:srgbClr>
                  </a:innerShdw>
                </a:effectLst>
                <a:ea typeface="楷体" pitchFamily="49" charset="-122"/>
              </a:rPr>
              <a:t>的方法。先让</a:t>
            </a:r>
            <a:r>
              <a:rPr lang="en-US" altLang="zh-CN" sz="2000" b="1" dirty="0">
                <a:ln w="1905"/>
                <a:solidFill>
                  <a:schemeClr val="tx1"/>
                </a:solidFill>
                <a:effectLst>
                  <a:innerShdw blurRad="69850" dist="43180" dir="5400000">
                    <a:srgbClr val="000000">
                      <a:alpha val="65000"/>
                    </a:srgbClr>
                  </a:innerShdw>
                </a:effectLst>
                <a:ea typeface="楷体" pitchFamily="49" charset="-122"/>
              </a:rPr>
              <a:t>a[0][0]</a:t>
            </a:r>
            <a:r>
              <a:rPr lang="zh-CN" altLang="zh-CN" sz="2000" b="1" dirty="0">
                <a:ln w="1905"/>
                <a:solidFill>
                  <a:schemeClr val="tx1"/>
                </a:solidFill>
                <a:effectLst>
                  <a:innerShdw blurRad="69850" dist="43180" dir="5400000">
                    <a:srgbClr val="000000">
                      <a:alpha val="65000"/>
                    </a:srgbClr>
                  </a:innerShdw>
                </a:effectLst>
                <a:ea typeface="楷体" pitchFamily="49" charset="-122"/>
              </a:rPr>
              <a:t>作</a:t>
            </a:r>
            <a:r>
              <a:rPr lang="en-US" altLang="zh-CN" sz="2000" b="1" dirty="0">
                <a:ln w="1905"/>
                <a:solidFill>
                  <a:schemeClr val="tx1"/>
                </a:solidFill>
                <a:effectLst>
                  <a:innerShdw blurRad="69850" dist="43180" dir="5400000">
                    <a:srgbClr val="000000">
                      <a:alpha val="65000"/>
                    </a:srgbClr>
                  </a:innerShdw>
                </a:effectLst>
                <a:ea typeface="楷体" pitchFamily="49" charset="-122"/>
              </a:rPr>
              <a:t>“</a:t>
            </a:r>
            <a:r>
              <a:rPr lang="zh-CN" altLang="zh-CN" sz="2000" b="1" dirty="0">
                <a:ln w="1905"/>
                <a:solidFill>
                  <a:schemeClr val="tx1"/>
                </a:solidFill>
                <a:effectLst>
                  <a:innerShdw blurRad="69850" dist="43180" dir="5400000">
                    <a:srgbClr val="000000">
                      <a:alpha val="65000"/>
                    </a:srgbClr>
                  </a:innerShdw>
                </a:effectLst>
                <a:ea typeface="楷体" pitchFamily="49" charset="-122"/>
              </a:rPr>
              <a:t>擂主</a:t>
            </a:r>
            <a:r>
              <a:rPr lang="en-US" altLang="zh-CN" sz="2000" b="1" dirty="0">
                <a:ln w="1905"/>
                <a:solidFill>
                  <a:schemeClr val="tx1"/>
                </a:solidFill>
                <a:effectLst>
                  <a:innerShdw blurRad="69850" dist="43180" dir="5400000">
                    <a:srgbClr val="000000">
                      <a:alpha val="65000"/>
                    </a:srgbClr>
                  </a:innerShdw>
                </a:effectLst>
                <a:ea typeface="楷体" pitchFamily="49" charset="-122"/>
              </a:rPr>
              <a:t>”</a:t>
            </a:r>
            <a:r>
              <a:rPr lang="zh-CN" altLang="zh-CN" sz="2000" b="1" dirty="0">
                <a:ln w="1905"/>
                <a:solidFill>
                  <a:schemeClr val="tx1"/>
                </a:solidFill>
                <a:effectLst>
                  <a:innerShdw blurRad="69850" dist="43180" dir="5400000">
                    <a:srgbClr val="000000">
                      <a:alpha val="65000"/>
                    </a:srgbClr>
                  </a:innerShdw>
                </a:effectLst>
                <a:ea typeface="楷体" pitchFamily="49" charset="-122"/>
              </a:rPr>
              <a:t>，把它的值赋给变量</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用来存放当前求得的最大值，在开始时还未进行比较，把最前面的元素暂时认为是当前值最大的。然后让下一个元素</a:t>
            </a:r>
            <a:r>
              <a:rPr lang="en-US" altLang="zh-CN" sz="2000" b="1" dirty="0">
                <a:ln w="1905"/>
                <a:solidFill>
                  <a:schemeClr val="tx1"/>
                </a:solidFill>
                <a:effectLst>
                  <a:innerShdw blurRad="69850" dist="43180" dir="5400000">
                    <a:srgbClr val="000000">
                      <a:alpha val="65000"/>
                    </a:srgbClr>
                  </a:innerShdw>
                </a:effectLst>
                <a:ea typeface="楷体" pitchFamily="49" charset="-122"/>
              </a:rPr>
              <a:t>a[0][1]</a:t>
            </a:r>
            <a:r>
              <a:rPr lang="zh-CN" altLang="zh-CN" sz="2000" b="1" dirty="0">
                <a:ln w="1905"/>
                <a:solidFill>
                  <a:schemeClr val="tx1"/>
                </a:solidFill>
                <a:effectLst>
                  <a:innerShdw blurRad="69850" dist="43180" dir="5400000">
                    <a:srgbClr val="000000">
                      <a:alpha val="65000"/>
                    </a:srgbClr>
                  </a:innerShdw>
                </a:effectLst>
                <a:ea typeface="楷体" pitchFamily="49" charset="-122"/>
              </a:rPr>
              <a:t>与</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比较，如果</a:t>
            </a:r>
            <a:r>
              <a:rPr lang="en-US" altLang="zh-CN" sz="2000" b="1" dirty="0">
                <a:ln w="1905"/>
                <a:solidFill>
                  <a:schemeClr val="tx1"/>
                </a:solidFill>
                <a:effectLst>
                  <a:innerShdw blurRad="69850" dist="43180" dir="5400000">
                    <a:srgbClr val="000000">
                      <a:alpha val="65000"/>
                    </a:srgbClr>
                  </a:innerShdw>
                </a:effectLst>
                <a:ea typeface="楷体" pitchFamily="49" charset="-122"/>
              </a:rPr>
              <a:t>a[0][1]&gt;max,</a:t>
            </a:r>
            <a:r>
              <a:rPr lang="zh-CN" altLang="zh-CN" sz="2000" b="1" dirty="0">
                <a:ln w="1905"/>
                <a:solidFill>
                  <a:schemeClr val="tx1"/>
                </a:solidFill>
                <a:effectLst>
                  <a:innerShdw blurRad="69850" dist="43180" dir="5400000">
                    <a:srgbClr val="000000">
                      <a:alpha val="65000"/>
                    </a:srgbClr>
                  </a:innerShdw>
                </a:effectLst>
                <a:ea typeface="楷体" pitchFamily="49" charset="-122"/>
              </a:rPr>
              <a:t>则表示</a:t>
            </a:r>
            <a:r>
              <a:rPr lang="en-US" altLang="zh-CN" sz="2000" b="1" dirty="0">
                <a:ln w="1905"/>
                <a:solidFill>
                  <a:schemeClr val="tx1"/>
                </a:solidFill>
                <a:effectLst>
                  <a:innerShdw blurRad="69850" dist="43180" dir="5400000">
                    <a:srgbClr val="000000">
                      <a:alpha val="65000"/>
                    </a:srgbClr>
                  </a:innerShdw>
                </a:effectLst>
                <a:ea typeface="楷体" pitchFamily="49" charset="-122"/>
              </a:rPr>
              <a:t>a[0][1]</a:t>
            </a:r>
            <a:r>
              <a:rPr lang="zh-CN" altLang="zh-CN" sz="2000" b="1" dirty="0">
                <a:ln w="1905"/>
                <a:solidFill>
                  <a:schemeClr val="tx1"/>
                </a:solidFill>
                <a:effectLst>
                  <a:innerShdw blurRad="69850" dist="43180" dir="5400000">
                    <a:srgbClr val="000000">
                      <a:alpha val="65000"/>
                    </a:srgbClr>
                  </a:innerShdw>
                </a:effectLst>
                <a:ea typeface="楷体" pitchFamily="49" charset="-122"/>
              </a:rPr>
              <a:t>是已经比较过的数据中值最大的，则把它的值赋给</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，取代了</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的原值。以后依次处理，值大的赋给</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，直到全部比较完后，</a:t>
            </a:r>
            <a:r>
              <a:rPr lang="en-US" altLang="zh-CN" sz="2000" b="1" dirty="0">
                <a:ln w="1905"/>
                <a:solidFill>
                  <a:schemeClr val="tx1"/>
                </a:solidFill>
                <a:effectLst>
                  <a:innerShdw blurRad="69850" dist="43180" dir="5400000">
                    <a:srgbClr val="000000">
                      <a:alpha val="65000"/>
                    </a:srgbClr>
                  </a:innerShdw>
                </a:effectLst>
                <a:ea typeface="楷体" pitchFamily="49" charset="-122"/>
              </a:rPr>
              <a:t>max</a:t>
            </a:r>
            <a:r>
              <a:rPr lang="zh-CN" altLang="zh-CN" sz="2000" b="1" dirty="0">
                <a:ln w="1905"/>
                <a:solidFill>
                  <a:schemeClr val="tx1"/>
                </a:solidFill>
                <a:effectLst>
                  <a:innerShdw blurRad="69850" dist="43180" dir="5400000">
                    <a:srgbClr val="000000">
                      <a:alpha val="65000"/>
                    </a:srgbClr>
                  </a:innerShdw>
                </a:effectLst>
                <a:ea typeface="楷体" pitchFamily="49" charset="-122"/>
              </a:rPr>
              <a:t>就是最大的值。</a:t>
            </a:r>
            <a:endParaRPr lang="zh-CN" altLang="en-US" sz="2000" b="1" dirty="0">
              <a:ln w="1905"/>
              <a:solidFill>
                <a:schemeClr val="tx1"/>
              </a:solidFill>
              <a:effectLst>
                <a:innerShdw blurRad="69850" dist="43180" dir="5400000">
                  <a:srgbClr val="000000">
                    <a:alpha val="65000"/>
                  </a:srgbClr>
                </a:innerShdw>
              </a:effectLst>
              <a:ea typeface="楷体" pitchFamily="49" charset="-122"/>
            </a:endParaRPr>
          </a:p>
        </p:txBody>
      </p:sp>
      <p:sp>
        <p:nvSpPr>
          <p:cNvPr id="997385" name="Rectangle 9"/>
          <p:cNvSpPr>
            <a:spLocks noChangeArrowheads="1"/>
          </p:cNvSpPr>
          <p:nvPr/>
        </p:nvSpPr>
        <p:spPr bwMode="auto">
          <a:xfrm>
            <a:off x="479376" y="1643608"/>
            <a:ext cx="11233248" cy="369332"/>
          </a:xfrm>
          <a:prstGeom prst="rect">
            <a:avLst/>
          </a:prstGeom>
          <a:noFill/>
          <a:ln w="9525">
            <a:noFill/>
            <a:miter lim="800000"/>
            <a:headEnd/>
            <a:tailEnd/>
          </a:ln>
          <a:effectLst/>
        </p:spPr>
        <p:txBody>
          <a:bodyPr wrap="square" anchor="ctr">
            <a:spAutoFit/>
          </a:bodyPr>
          <a:lstStyle/>
          <a:p>
            <a:r>
              <a:rPr lang="en-US" altLang="zh-CN" b="1" dirty="0">
                <a:solidFill>
                  <a:srgbClr val="00B0F0"/>
                </a:solidFill>
                <a:latin typeface="楷体" panose="02010609060101010101" pitchFamily="49" charset="-122"/>
                <a:ea typeface="楷体" panose="02010609060101010101" pitchFamily="49" charset="-122"/>
              </a:rPr>
              <a:t>   【</a:t>
            </a:r>
            <a:r>
              <a:rPr lang="zh-CN" altLang="en-US" b="1" dirty="0">
                <a:solidFill>
                  <a:srgbClr val="00B0F0"/>
                </a:solidFill>
                <a:latin typeface="楷体" panose="02010609060101010101" pitchFamily="49" charset="-122"/>
                <a:ea typeface="楷体" panose="02010609060101010101" pitchFamily="49" charset="-122"/>
              </a:rPr>
              <a:t>例</a:t>
            </a:r>
            <a:r>
              <a:rPr lang="en-US" altLang="zh-CN" b="1" dirty="0">
                <a:solidFill>
                  <a:srgbClr val="00B0F0"/>
                </a:solidFill>
                <a:latin typeface="楷体" panose="02010609060101010101" pitchFamily="49" charset="-122"/>
                <a:ea typeface="楷体" panose="02010609060101010101" pitchFamily="49" charset="-122"/>
              </a:rPr>
              <a:t>1】</a:t>
            </a:r>
            <a:r>
              <a:rPr lang="zh-CN" altLang="zh-CN" b="1" dirty="0">
                <a:solidFill>
                  <a:srgbClr val="00B0F0"/>
                </a:solidFill>
                <a:latin typeface="楷体" panose="02010609060101010101" pitchFamily="49" charset="-122"/>
                <a:ea typeface="楷体" panose="02010609060101010101" pitchFamily="49" charset="-122"/>
              </a:rPr>
              <a:t>有一个3</a:t>
            </a:r>
            <a:r>
              <a:rPr lang="zh-CN" altLang="zh-CN" b="1" dirty="0">
                <a:solidFill>
                  <a:srgbClr val="00B0F0"/>
                </a:solidFill>
                <a:latin typeface="楷体" panose="02010609060101010101" pitchFamily="49" charset="-122"/>
                <a:ea typeface="楷体" panose="02010609060101010101" pitchFamily="49" charset="-122"/>
                <a:sym typeface="Wingdings 2"/>
              </a:rPr>
              <a:t></a:t>
            </a:r>
            <a:r>
              <a:rPr lang="zh-CN" altLang="zh-CN" b="1" dirty="0">
                <a:solidFill>
                  <a:srgbClr val="00B0F0"/>
                </a:solidFill>
                <a:latin typeface="楷体" panose="02010609060101010101" pitchFamily="49" charset="-122"/>
                <a:ea typeface="楷体" panose="02010609060101010101" pitchFamily="49" charset="-122"/>
              </a:rPr>
              <a:t>4的矩阵，要求编写程序求出其中值最大的那个元素的值以及其所在的行列号</a:t>
            </a:r>
            <a:r>
              <a:rPr lang="zh-CN" altLang="en-US" b="1" dirty="0">
                <a:solidFill>
                  <a:srgbClr val="00B0F0"/>
                </a:solidFill>
                <a:latin typeface="楷体" panose="02010609060101010101" pitchFamily="49" charset="-122"/>
                <a:ea typeface="楷体" panose="02010609060101010101" pitchFamily="49" charset="-122"/>
              </a:rPr>
              <a:t>。</a:t>
            </a:r>
          </a:p>
        </p:txBody>
      </p:sp>
      <p:grpSp>
        <p:nvGrpSpPr>
          <p:cNvPr id="36" name="组合 35"/>
          <p:cNvGrpSpPr/>
          <p:nvPr/>
        </p:nvGrpSpPr>
        <p:grpSpPr>
          <a:xfrm>
            <a:off x="2114581" y="3870226"/>
            <a:ext cx="6955809" cy="2696288"/>
            <a:chOff x="496511" y="3973072"/>
            <a:chExt cx="6955809" cy="2696288"/>
          </a:xfrm>
        </p:grpSpPr>
        <p:grpSp>
          <p:nvGrpSpPr>
            <p:cNvPr id="620" name="组合 620"/>
            <p:cNvGrpSpPr>
              <a:grpSpLocks/>
            </p:cNvGrpSpPr>
            <p:nvPr/>
          </p:nvGrpSpPr>
          <p:grpSpPr bwMode="auto">
            <a:xfrm>
              <a:off x="3523288" y="3973072"/>
              <a:ext cx="3929032" cy="2696288"/>
              <a:chOff x="0" y="245"/>
              <a:chExt cx="20967" cy="16508"/>
            </a:xfrm>
          </p:grpSpPr>
          <p:sp>
            <p:nvSpPr>
              <p:cNvPr id="621" name="Rectangle 545"/>
              <p:cNvSpPr>
                <a:spLocks noChangeArrowheads="1"/>
              </p:cNvSpPr>
              <p:nvPr/>
            </p:nvSpPr>
            <p:spPr bwMode="auto">
              <a:xfrm>
                <a:off x="0" y="245"/>
                <a:ext cx="20937" cy="16508"/>
              </a:xfrm>
              <a:prstGeom prst="rect">
                <a:avLst/>
              </a:prstGeom>
              <a:gradFill flip="none" rotWithShape="1">
                <a:gsLst>
                  <a:gs pos="0">
                    <a:srgbClr val="F0E5B7"/>
                  </a:gs>
                  <a:gs pos="51000">
                    <a:srgbClr val="F1EAD0"/>
                  </a:gs>
                  <a:gs pos="100000">
                    <a:schemeClr val="bg1">
                      <a:lumMod val="95000"/>
                    </a:schemeClr>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622" name="组合 622"/>
              <p:cNvGrpSpPr>
                <a:grpSpLocks/>
              </p:cNvGrpSpPr>
              <p:nvPr/>
            </p:nvGrpSpPr>
            <p:grpSpPr bwMode="auto">
              <a:xfrm>
                <a:off x="0" y="367"/>
                <a:ext cx="20967" cy="15946"/>
                <a:chOff x="0" y="367"/>
                <a:chExt cx="20967" cy="15946"/>
              </a:xfrm>
            </p:grpSpPr>
            <p:sp>
              <p:nvSpPr>
                <p:cNvPr id="623" name="Text Box 619"/>
                <p:cNvSpPr txBox="1">
                  <a:spLocks noChangeArrowheads="1"/>
                </p:cNvSpPr>
                <p:nvPr/>
              </p:nvSpPr>
              <p:spPr bwMode="auto">
                <a:xfrm>
                  <a:off x="92" y="2589"/>
                  <a:ext cx="9731" cy="14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for </a:t>
                  </a:r>
                  <a:r>
                    <a:rPr kumimoji="0" lang="en-US" altLang="zh-CN" sz="1600" b="1" dirty="0" err="1">
                      <a:solidFill>
                        <a:srgbClr val="C01920"/>
                      </a:solidFill>
                      <a:latin typeface="+mn-lt"/>
                      <a:ea typeface="楷体" pitchFamily="49" charset="-122"/>
                      <a:cs typeface="宋体" pitchFamily="2" charset="-122"/>
                    </a:rPr>
                    <a:t>i</a:t>
                  </a:r>
                  <a:r>
                    <a:rPr kumimoji="0" lang="en-US" altLang="zh-CN" sz="1600" b="1" dirty="0">
                      <a:solidFill>
                        <a:srgbClr val="C01920"/>
                      </a:solidFill>
                      <a:latin typeface="+mn-lt"/>
                      <a:ea typeface="楷体" pitchFamily="49" charset="-122"/>
                      <a:cs typeface="宋体" pitchFamily="2" charset="-122"/>
                    </a:rPr>
                    <a:t> = 0 to 2</a:t>
                  </a:r>
                </a:p>
                <a:p>
                  <a:endParaRPr kumimoji="0" lang="zh-CN" altLang="zh-CN" sz="1600" b="1" dirty="0">
                    <a:solidFill>
                      <a:srgbClr val="C01920"/>
                    </a:solidFill>
                    <a:latin typeface="+mn-lt"/>
                    <a:ea typeface="楷体" pitchFamily="49" charset="-122"/>
                    <a:cs typeface="宋体" pitchFamily="2" charset="-122"/>
                  </a:endParaRPr>
                </a:p>
              </p:txBody>
            </p:sp>
            <p:sp>
              <p:nvSpPr>
                <p:cNvPr id="624" name="Text Box 626"/>
                <p:cNvSpPr txBox="1">
                  <a:spLocks noChangeArrowheads="1"/>
                </p:cNvSpPr>
                <p:nvPr/>
              </p:nvSpPr>
              <p:spPr bwMode="auto">
                <a:xfrm>
                  <a:off x="5385" y="6921"/>
                  <a:ext cx="1748" cy="1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25" name="Text Box 612"/>
                <p:cNvSpPr txBox="1">
                  <a:spLocks noChangeArrowheads="1"/>
                </p:cNvSpPr>
                <p:nvPr/>
              </p:nvSpPr>
              <p:spPr bwMode="auto">
                <a:xfrm>
                  <a:off x="6945" y="367"/>
                  <a:ext cx="7617" cy="22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max = a[0][0]</a:t>
                  </a:r>
                </a:p>
                <a:p>
                  <a:endParaRPr kumimoji="0" lang="zh-CN" altLang="zh-CN" sz="1600" b="1" dirty="0">
                    <a:latin typeface="+mn-lt"/>
                    <a:ea typeface="楷体" pitchFamily="49" charset="-122"/>
                    <a:cs typeface="宋体" pitchFamily="2" charset="-122"/>
                  </a:endParaRPr>
                </a:p>
              </p:txBody>
            </p:sp>
            <p:sp>
              <p:nvSpPr>
                <p:cNvPr id="626" name="Text Box 638"/>
                <p:cNvSpPr txBox="1">
                  <a:spLocks noChangeArrowheads="1"/>
                </p:cNvSpPr>
                <p:nvPr/>
              </p:nvSpPr>
              <p:spPr bwMode="auto">
                <a:xfrm>
                  <a:off x="18781" y="7054"/>
                  <a:ext cx="1417" cy="1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27" name="Text Box 648"/>
                <p:cNvSpPr txBox="1">
                  <a:spLocks noChangeArrowheads="1"/>
                </p:cNvSpPr>
                <p:nvPr/>
              </p:nvSpPr>
              <p:spPr bwMode="auto">
                <a:xfrm>
                  <a:off x="9649" y="6499"/>
                  <a:ext cx="7028" cy="15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a[</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][j] &gt; max</a:t>
                  </a:r>
                </a:p>
                <a:p>
                  <a:endParaRPr kumimoji="0" lang="zh-CN" altLang="zh-CN" sz="1600" b="1" dirty="0">
                    <a:latin typeface="+mn-lt"/>
                    <a:ea typeface="楷体" pitchFamily="49" charset="-122"/>
                    <a:cs typeface="宋体" pitchFamily="2" charset="-122"/>
                  </a:endParaRPr>
                </a:p>
              </p:txBody>
            </p:sp>
            <p:sp>
              <p:nvSpPr>
                <p:cNvPr id="628" name="Text Box 619"/>
                <p:cNvSpPr txBox="1">
                  <a:spLocks noChangeArrowheads="1"/>
                </p:cNvSpPr>
                <p:nvPr/>
              </p:nvSpPr>
              <p:spPr bwMode="auto">
                <a:xfrm>
                  <a:off x="2546" y="4707"/>
                  <a:ext cx="9000" cy="13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for j = 0 to 3</a:t>
                  </a:r>
                </a:p>
                <a:p>
                  <a:endParaRPr kumimoji="0" lang="zh-CN" altLang="zh-CN" sz="1600" b="1" dirty="0">
                    <a:solidFill>
                      <a:schemeClr val="accent1">
                        <a:lumMod val="50000"/>
                      </a:schemeClr>
                    </a:solidFill>
                    <a:latin typeface="+mn-lt"/>
                    <a:ea typeface="楷体" pitchFamily="49" charset="-122"/>
                    <a:cs typeface="宋体" pitchFamily="2" charset="-122"/>
                  </a:endParaRPr>
                </a:p>
              </p:txBody>
            </p:sp>
            <p:grpSp>
              <p:nvGrpSpPr>
                <p:cNvPr id="629" name="组合 629"/>
                <p:cNvGrpSpPr>
                  <a:grpSpLocks/>
                </p:cNvGrpSpPr>
                <p:nvPr/>
              </p:nvGrpSpPr>
              <p:grpSpPr bwMode="auto">
                <a:xfrm>
                  <a:off x="0" y="2608"/>
                  <a:ext cx="20967" cy="11537"/>
                  <a:chOff x="0" y="0"/>
                  <a:chExt cx="20967" cy="11537"/>
                </a:xfrm>
              </p:grpSpPr>
              <p:sp>
                <p:nvSpPr>
                  <p:cNvPr id="630" name="Line 615"/>
                  <p:cNvSpPr>
                    <a:spLocks noChangeShapeType="1"/>
                  </p:cNvSpPr>
                  <p:nvPr/>
                </p:nvSpPr>
                <p:spPr bwMode="auto">
                  <a:xfrm>
                    <a:off x="0" y="0"/>
                    <a:ext cx="2096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1" name="Line 617"/>
                  <p:cNvSpPr>
                    <a:spLocks noChangeShapeType="1"/>
                  </p:cNvSpPr>
                  <p:nvPr/>
                </p:nvSpPr>
                <p:spPr bwMode="auto">
                  <a:xfrm>
                    <a:off x="5001" y="4265"/>
                    <a:ext cx="1586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632" name="Line 640"/>
                  <p:cNvSpPr>
                    <a:spLocks noChangeShapeType="1"/>
                  </p:cNvSpPr>
                  <p:nvPr/>
                </p:nvSpPr>
                <p:spPr bwMode="auto">
                  <a:xfrm>
                    <a:off x="5001" y="6228"/>
                    <a:ext cx="15870"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3" name="直接连接符 633"/>
                  <p:cNvSpPr>
                    <a:spLocks noChangeShapeType="1"/>
                  </p:cNvSpPr>
                  <p:nvPr/>
                </p:nvSpPr>
                <p:spPr bwMode="auto">
                  <a:xfrm>
                    <a:off x="5032" y="4326"/>
                    <a:ext cx="7824" cy="1893"/>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4" name="直接连接符 634"/>
                  <p:cNvSpPr>
                    <a:spLocks noChangeShapeType="1"/>
                  </p:cNvSpPr>
                  <p:nvPr/>
                </p:nvSpPr>
                <p:spPr bwMode="auto">
                  <a:xfrm flipH="1">
                    <a:off x="12856" y="4295"/>
                    <a:ext cx="7971" cy="1929"/>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5" name="Line 628"/>
                  <p:cNvSpPr>
                    <a:spLocks noChangeShapeType="1"/>
                  </p:cNvSpPr>
                  <p:nvPr/>
                </p:nvSpPr>
                <p:spPr bwMode="auto">
                  <a:xfrm>
                    <a:off x="0" y="11537"/>
                    <a:ext cx="20963"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6" name="Line 635"/>
                  <p:cNvSpPr>
                    <a:spLocks noChangeShapeType="1"/>
                  </p:cNvSpPr>
                  <p:nvPr/>
                </p:nvSpPr>
                <p:spPr bwMode="auto">
                  <a:xfrm>
                    <a:off x="2546" y="2086"/>
                    <a:ext cx="0" cy="9451"/>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7" name="直接连接符 637"/>
                  <p:cNvSpPr>
                    <a:spLocks noChangeShapeType="1"/>
                  </p:cNvSpPr>
                  <p:nvPr/>
                </p:nvSpPr>
                <p:spPr bwMode="auto">
                  <a:xfrm>
                    <a:off x="12856" y="6290"/>
                    <a:ext cx="0" cy="5247"/>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8" name="Line 635"/>
                  <p:cNvSpPr>
                    <a:spLocks noChangeShapeType="1"/>
                  </p:cNvSpPr>
                  <p:nvPr/>
                </p:nvSpPr>
                <p:spPr bwMode="auto">
                  <a:xfrm>
                    <a:off x="5032" y="4326"/>
                    <a:ext cx="0" cy="7209"/>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39" name="Line 615"/>
                  <p:cNvSpPr>
                    <a:spLocks noChangeShapeType="1"/>
                  </p:cNvSpPr>
                  <p:nvPr/>
                </p:nvSpPr>
                <p:spPr bwMode="auto">
                  <a:xfrm>
                    <a:off x="2546" y="2086"/>
                    <a:ext cx="1839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195" name="组合 195"/>
                <p:cNvGrpSpPr>
                  <a:grpSpLocks/>
                </p:cNvGrpSpPr>
                <p:nvPr/>
              </p:nvGrpSpPr>
              <p:grpSpPr bwMode="auto">
                <a:xfrm>
                  <a:off x="5124" y="8781"/>
                  <a:ext cx="7005" cy="5107"/>
                  <a:chOff x="818" y="589"/>
                  <a:chExt cx="7181" cy="5108"/>
                </a:xfrm>
              </p:grpSpPr>
              <p:sp>
                <p:nvSpPr>
                  <p:cNvPr id="197" name="Text Box 648"/>
                  <p:cNvSpPr txBox="1">
                    <a:spLocks noChangeArrowheads="1"/>
                  </p:cNvSpPr>
                  <p:nvPr/>
                </p:nvSpPr>
                <p:spPr bwMode="auto">
                  <a:xfrm>
                    <a:off x="880" y="589"/>
                    <a:ext cx="7119" cy="19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max = a[</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][j] </a:t>
                    </a:r>
                    <a:endParaRPr kumimoji="0" lang="zh-CN" altLang="zh-CN" sz="1600" b="1" dirty="0">
                      <a:latin typeface="+mn-lt"/>
                      <a:ea typeface="楷体" pitchFamily="49" charset="-122"/>
                      <a:cs typeface="宋体" pitchFamily="2" charset="-122"/>
                    </a:endParaRPr>
                  </a:p>
                </p:txBody>
              </p:sp>
              <p:sp>
                <p:nvSpPr>
                  <p:cNvPr id="199" name="Text Box 648"/>
                  <p:cNvSpPr txBox="1">
                    <a:spLocks noChangeArrowheads="1"/>
                  </p:cNvSpPr>
                  <p:nvPr/>
                </p:nvSpPr>
                <p:spPr bwMode="auto">
                  <a:xfrm>
                    <a:off x="849" y="2252"/>
                    <a:ext cx="4786" cy="190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row = </a:t>
                    </a:r>
                    <a:r>
                      <a:rPr kumimoji="0" lang="en-US" altLang="zh-CN" sz="1600" b="1" dirty="0" err="1">
                        <a:latin typeface="+mn-lt"/>
                        <a:ea typeface="楷体" pitchFamily="49" charset="-122"/>
                        <a:cs typeface="宋体" pitchFamily="2" charset="-122"/>
                      </a:rPr>
                      <a:t>i</a:t>
                    </a:r>
                    <a:endParaRPr kumimoji="0" lang="zh-CN" altLang="zh-CN" sz="1600" b="1" dirty="0">
                      <a:latin typeface="+mn-lt"/>
                      <a:ea typeface="楷体" pitchFamily="49" charset="-122"/>
                      <a:cs typeface="宋体" pitchFamily="2" charset="-122"/>
                    </a:endParaRPr>
                  </a:p>
                </p:txBody>
              </p:sp>
              <p:sp>
                <p:nvSpPr>
                  <p:cNvPr id="200" name="Text Box 648"/>
                  <p:cNvSpPr txBox="1">
                    <a:spLocks noChangeArrowheads="1"/>
                  </p:cNvSpPr>
                  <p:nvPr/>
                </p:nvSpPr>
                <p:spPr bwMode="auto">
                  <a:xfrm>
                    <a:off x="818" y="3749"/>
                    <a:ext cx="4817" cy="19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col</a:t>
                    </a:r>
                    <a:r>
                      <a:rPr kumimoji="0" lang="en-US" altLang="zh-CN" sz="1600" b="1" dirty="0">
                        <a:latin typeface="+mn-lt"/>
                        <a:ea typeface="楷体" pitchFamily="49" charset="-122"/>
                        <a:cs typeface="宋体" pitchFamily="2" charset="-122"/>
                      </a:rPr>
                      <a:t> = j</a:t>
                    </a:r>
                    <a:endParaRPr kumimoji="0" lang="zh-CN" altLang="zh-CN" sz="1600" b="1" dirty="0">
                      <a:latin typeface="+mn-lt"/>
                      <a:ea typeface="楷体" pitchFamily="49" charset="-122"/>
                      <a:cs typeface="宋体" pitchFamily="2" charset="-122"/>
                    </a:endParaRPr>
                  </a:p>
                </p:txBody>
              </p:sp>
            </p:grpSp>
            <p:sp>
              <p:nvSpPr>
                <p:cNvPr id="201" name="Text Box 612"/>
                <p:cNvSpPr txBox="1">
                  <a:spLocks noChangeArrowheads="1"/>
                </p:cNvSpPr>
                <p:nvPr/>
              </p:nvSpPr>
              <p:spPr bwMode="auto">
                <a:xfrm>
                  <a:off x="4128" y="14355"/>
                  <a:ext cx="12229" cy="19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max</a:t>
                  </a:r>
                  <a:r>
                    <a:rPr kumimoji="0" lang="zh-CN" altLang="en-US" sz="1600" b="1" dirty="0">
                      <a:solidFill>
                        <a:srgbClr val="002060"/>
                      </a:solidFill>
                      <a:latin typeface="+mn-lt"/>
                      <a:ea typeface="楷体" pitchFamily="49" charset="-122"/>
                      <a:cs typeface="宋体" pitchFamily="2" charset="-122"/>
                    </a:rPr>
                    <a:t>和</a:t>
                  </a:r>
                  <a:r>
                    <a:rPr kumimoji="0" lang="en-US" altLang="zh-CN" sz="1600" b="1" dirty="0">
                      <a:solidFill>
                        <a:srgbClr val="002060"/>
                      </a:solidFill>
                      <a:latin typeface="+mn-lt"/>
                      <a:ea typeface="楷体" pitchFamily="49" charset="-122"/>
                      <a:cs typeface="宋体" pitchFamily="2" charset="-122"/>
                    </a:rPr>
                    <a:t>row</a:t>
                  </a:r>
                  <a:r>
                    <a:rPr kumimoji="0" lang="zh-CN" altLang="en-US" sz="1600" b="1" dirty="0">
                      <a:solidFill>
                        <a:srgbClr val="002060"/>
                      </a:solidFill>
                      <a:latin typeface="+mn-lt"/>
                      <a:ea typeface="楷体" pitchFamily="49" charset="-122"/>
                      <a:cs typeface="宋体" pitchFamily="2" charset="-122"/>
                    </a:rPr>
                    <a:t>、</a:t>
                  </a:r>
                  <a:r>
                    <a:rPr kumimoji="0" lang="en-US" altLang="zh-CN" sz="1600" b="1" dirty="0" err="1">
                      <a:solidFill>
                        <a:srgbClr val="002060"/>
                      </a:solidFill>
                      <a:latin typeface="+mn-lt"/>
                      <a:ea typeface="楷体" pitchFamily="49" charset="-122"/>
                      <a:cs typeface="宋体" pitchFamily="2" charset="-122"/>
                    </a:rPr>
                    <a:t>col</a:t>
                  </a:r>
                  <a:endParaRPr kumimoji="0" lang="en-US" altLang="zh-CN" sz="1600" b="1" dirty="0">
                    <a:solidFill>
                      <a:srgbClr val="002060"/>
                    </a:solidFill>
                    <a:latin typeface="+mn-lt"/>
                    <a:ea typeface="楷体" pitchFamily="49" charset="-122"/>
                    <a:cs typeface="宋体" pitchFamily="2" charset="-122"/>
                  </a:endParaRPr>
                </a:p>
                <a:p>
                  <a:endParaRPr kumimoji="0" lang="zh-CN" altLang="zh-CN" sz="1600" b="1" dirty="0">
                    <a:solidFill>
                      <a:srgbClr val="002060"/>
                    </a:solidFill>
                    <a:latin typeface="+mn-lt"/>
                    <a:ea typeface="楷体" pitchFamily="49" charset="-122"/>
                    <a:cs typeface="宋体" pitchFamily="2" charset="-122"/>
                  </a:endParaRPr>
                </a:p>
              </p:txBody>
            </p:sp>
          </p:grpSp>
        </p:grpSp>
        <p:sp>
          <p:nvSpPr>
            <p:cNvPr id="35" name="矩形 34"/>
            <p:cNvSpPr/>
            <p:nvPr/>
          </p:nvSpPr>
          <p:spPr>
            <a:xfrm>
              <a:off x="496511" y="4987239"/>
              <a:ext cx="1996059" cy="369332"/>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none">
              <a:spAutoFit/>
            </a:bodyPr>
            <a:lstStyle/>
            <a:p>
              <a:r>
                <a:rPr lang="zh-CN" altLang="zh-CN" b="1" dirty="0">
                  <a:solidFill>
                    <a:srgbClr val="00B0F0"/>
                  </a:solidFill>
                  <a:ea typeface="隶书" pitchFamily="49" charset="-122"/>
                </a:rPr>
                <a:t>算法</a:t>
              </a:r>
              <a:r>
                <a:rPr lang="en-US" altLang="zh-CN" b="1" dirty="0">
                  <a:solidFill>
                    <a:srgbClr val="00B0F0"/>
                  </a:solidFill>
                  <a:ea typeface="隶书" pitchFamily="49" charset="-122"/>
                </a:rPr>
                <a:t>N-S</a:t>
              </a:r>
              <a:r>
                <a:rPr lang="zh-CN" altLang="zh-CN" b="1" dirty="0">
                  <a:solidFill>
                    <a:srgbClr val="00B0F0"/>
                  </a:solidFill>
                  <a:ea typeface="隶书" pitchFamily="49" charset="-122"/>
                </a:rPr>
                <a:t>流程图</a:t>
              </a:r>
              <a:r>
                <a:rPr lang="zh-CN" altLang="en-US" b="1" dirty="0">
                  <a:solidFill>
                    <a:srgbClr val="C01920"/>
                  </a:solidFill>
                  <a:ea typeface="隶书" pitchFamily="49" charset="-122"/>
                </a:rPr>
                <a:t>：</a:t>
              </a:r>
            </a:p>
          </p:txBody>
        </p:sp>
      </p:grpSp>
      <p:sp>
        <p:nvSpPr>
          <p:cNvPr id="38" name="Text Box 31"/>
          <p:cNvSpPr txBox="1">
            <a:spLocks noChangeArrowheads="1"/>
          </p:cNvSpPr>
          <p:nvPr/>
        </p:nvSpPr>
        <p:spPr bwMode="auto">
          <a:xfrm>
            <a:off x="8581012" y="5632707"/>
            <a:ext cx="3446497" cy="710066"/>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01920"/>
                </a:solidFill>
                <a:ea typeface="隶书" pitchFamily="49" charset="-122"/>
              </a:rPr>
              <a:t>运行结果：</a:t>
            </a:r>
            <a:endParaRPr lang="en-US" altLang="zh-CN" sz="2000" b="1" dirty="0">
              <a:solidFill>
                <a:srgbClr val="C01920"/>
              </a:solidFill>
              <a:ea typeface="隶书" pitchFamily="49" charset="-122"/>
            </a:endParaRPr>
          </a:p>
          <a:p>
            <a:r>
              <a:rPr lang="en-US" altLang="zh-CN" sz="2000" b="1" dirty="0">
                <a:solidFill>
                  <a:srgbClr val="002060"/>
                </a:solidFill>
                <a:ea typeface="隶书" pitchFamily="49" charset="-122"/>
              </a:rPr>
              <a:t>max = 10, row = 2, </a:t>
            </a:r>
            <a:r>
              <a:rPr lang="en-US" altLang="zh-CN" sz="2000" b="1" dirty="0" err="1">
                <a:solidFill>
                  <a:srgbClr val="002060"/>
                </a:solidFill>
                <a:ea typeface="隶书" pitchFamily="49" charset="-122"/>
              </a:rPr>
              <a:t>col</a:t>
            </a:r>
            <a:r>
              <a:rPr lang="en-US" altLang="zh-CN" sz="2000" b="1" dirty="0">
                <a:solidFill>
                  <a:srgbClr val="002060"/>
                </a:solidFill>
                <a:ea typeface="隶书" pitchFamily="49" charset="-122"/>
              </a:rPr>
              <a:t> = 1</a:t>
            </a:r>
            <a:endParaRPr lang="zh-CN" altLang="en-US" sz="2000" b="1" dirty="0">
              <a:solidFill>
                <a:srgbClr val="002060"/>
              </a:solidFill>
              <a:ea typeface="隶书" pitchFamily="49" charset="-122"/>
            </a:endParaRPr>
          </a:p>
        </p:txBody>
      </p:sp>
      <p:sp>
        <p:nvSpPr>
          <p:cNvPr id="37" name="Text Box 8" descr="信纸"/>
          <p:cNvSpPr txBox="1">
            <a:spLocks noChangeArrowheads="1"/>
          </p:cNvSpPr>
          <p:nvPr/>
        </p:nvSpPr>
        <p:spPr bwMode="auto">
          <a:xfrm>
            <a:off x="2421731" y="649756"/>
            <a:ext cx="7297237" cy="5880713"/>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effectLst>
                  <a:outerShdw blurRad="38100" dist="38100" dir="2700000" algn="tl">
                    <a:srgbClr val="FFFFFF"/>
                  </a:outerShdw>
                </a:effectLst>
                <a:ea typeface="楷体_GB2312" pitchFamily="49" charset="-122"/>
              </a:rPr>
              <a:t>#include &lt;</a:t>
            </a:r>
            <a:r>
              <a:rPr lang="en-US" altLang="zh-CN" sz="2000" b="1" dirty="0" err="1">
                <a:effectLst>
                  <a:outerShdw blurRad="38100" dist="38100" dir="2700000" algn="tl">
                    <a:srgbClr val="FFFFFF"/>
                  </a:outerShdw>
                </a:effectLst>
                <a:ea typeface="楷体_GB2312" pitchFamily="49" charset="-122"/>
              </a:rPr>
              <a:t>stdio.h</a:t>
            </a:r>
            <a:r>
              <a:rPr lang="en-US" altLang="zh-CN" sz="2000" b="1" dirty="0">
                <a:effectLst>
                  <a:outerShdw blurRad="38100" dist="38100" dir="2700000" algn="tl">
                    <a:srgbClr val="FFFFFF"/>
                  </a:outerShdw>
                </a:effectLst>
                <a:ea typeface="楷体_GB2312" pitchFamily="49" charset="-122"/>
              </a:rPr>
              <a:t>&gt;</a:t>
            </a:r>
          </a:p>
          <a:p>
            <a:pPr marL="457200" indent="-457200"/>
            <a:r>
              <a:rPr lang="en-US" altLang="zh-CN" sz="2000" b="1" dirty="0" err="1">
                <a:solidFill>
                  <a:srgbClr val="C00000"/>
                </a:solidFill>
                <a:effectLst>
                  <a:outerShdw blurRad="38100" dist="38100" dir="2700000" algn="tl">
                    <a:srgbClr val="FFFFFF"/>
                  </a:outerShdw>
                </a:effectLst>
                <a:ea typeface="楷体_GB2312" pitchFamily="49" charset="-122"/>
              </a:rPr>
              <a:t>int</a:t>
            </a:r>
            <a:r>
              <a:rPr lang="en-US" altLang="zh-CN" sz="2000" b="1" dirty="0">
                <a:solidFill>
                  <a:srgbClr val="C00000"/>
                </a:solidFill>
                <a:effectLst>
                  <a:outerShdw blurRad="38100" dist="38100" dir="2700000" algn="tl">
                    <a:srgbClr val="FFFFFF"/>
                  </a:outerShdw>
                </a:effectLst>
                <a:ea typeface="楷体_GB2312" pitchFamily="49" charset="-122"/>
              </a:rPr>
              <a:t> main( )</a:t>
            </a:r>
          </a:p>
          <a:p>
            <a:pPr marL="457200" indent="-457200"/>
            <a:r>
              <a:rPr lang="en-US" altLang="zh-CN" sz="2000" b="1" dirty="0">
                <a:effectLst>
                  <a:outerShdw blurRad="38100" dist="38100" dir="2700000" algn="tl">
                    <a:srgbClr val="FFFFFF"/>
                  </a:outerShdw>
                </a:effectLst>
                <a:ea typeface="楷体_GB2312" pitchFamily="49" charset="-122"/>
              </a:rPr>
              <a:t>{ </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j, row = 0, </a:t>
            </a:r>
            <a:r>
              <a:rPr lang="en-US" altLang="zh-CN" sz="2000" b="1" dirty="0" err="1">
                <a:effectLst>
                  <a:outerShdw blurRad="38100" dist="38100" dir="2700000" algn="tl">
                    <a:srgbClr val="FFFFFF"/>
                  </a:outerShdw>
                </a:effectLst>
                <a:ea typeface="楷体_GB2312" pitchFamily="49" charset="-122"/>
              </a:rPr>
              <a:t>col</a:t>
            </a:r>
            <a:r>
              <a:rPr lang="en-US" altLang="zh-CN" sz="2000" b="1" dirty="0">
                <a:effectLst>
                  <a:outerShdw blurRad="38100" dist="38100" dir="2700000" algn="tl">
                    <a:srgbClr val="FFFFFF"/>
                  </a:outerShdw>
                </a:effectLst>
                <a:ea typeface="楷体_GB2312" pitchFamily="49" charset="-122"/>
              </a:rPr>
              <a:t> = 0, max;</a:t>
            </a:r>
          </a:p>
          <a:p>
            <a:pPr marL="457200" indent="-457200"/>
            <a:r>
              <a:rPr lang="en-US" altLang="zh-CN" sz="1600" b="1" dirty="0">
                <a:solidFill>
                  <a:srgbClr val="0000FF"/>
                </a:solidFill>
                <a:effectLst>
                  <a:outerShdw blurRad="38100" dist="38100" dir="2700000" algn="tl">
                    <a:srgbClr val="FFFFFF"/>
                  </a:outerShdw>
                </a:effectLst>
                <a:ea typeface="楷体" pitchFamily="49" charset="-122"/>
              </a:rPr>
              <a:t>  </a:t>
            </a:r>
            <a:r>
              <a:rPr lang="en-US" altLang="zh-CN" sz="1600" b="1" dirty="0">
                <a:solidFill>
                  <a:srgbClr val="002060"/>
                </a:solidFill>
                <a:effectLst>
                  <a:outerShdw blurRad="38100" dist="38100" dir="2700000" algn="tl">
                    <a:srgbClr val="FFFFFF"/>
                  </a:outerShdw>
                </a:effectLst>
                <a:ea typeface="楷体" pitchFamily="49" charset="-122"/>
              </a:rPr>
              <a:t>//</a:t>
            </a:r>
            <a:r>
              <a:rPr lang="zh-CN" altLang="en-US" sz="1600" b="1" dirty="0">
                <a:solidFill>
                  <a:srgbClr val="002060"/>
                </a:solidFill>
                <a:effectLst>
                  <a:outerShdw blurRad="38100" dist="38100" dir="2700000" algn="tl">
                    <a:srgbClr val="FFFFFF"/>
                  </a:outerShdw>
                </a:effectLst>
                <a:ea typeface="楷体" pitchFamily="49" charset="-122"/>
              </a:rPr>
              <a:t>定义数组并赋初值</a:t>
            </a:r>
            <a:endParaRPr lang="en-US" altLang="zh-CN" sz="1600" b="1" dirty="0">
              <a:solidFill>
                <a:srgbClr val="002060"/>
              </a:solidFill>
              <a:effectLst>
                <a:outerShdw blurRad="38100" dist="38100" dir="2700000" algn="tl">
                  <a:srgbClr val="FFFFFF"/>
                </a:outerShdw>
              </a:effectLst>
              <a:ea typeface="楷体_GB2312" pitchFamily="49" charset="-122"/>
            </a:endParaRP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a[3][4] = {{1, 2, 3, 4}, {9, 8, 7, 6}, {-10, 10, -5, 2}};  </a:t>
            </a:r>
            <a:endParaRPr lang="zh-CN" altLang="en-US" sz="1600" b="1" dirty="0">
              <a:solidFill>
                <a:srgbClr val="0000FF"/>
              </a:solidFill>
              <a:effectLst>
                <a:outerShdw blurRad="38100" dist="38100" dir="2700000" algn="tl">
                  <a:srgbClr val="FFFFFF"/>
                </a:outerShdw>
              </a:effectLst>
              <a:latin typeface="+mn-lt"/>
              <a:ea typeface="楷体" pitchFamily="49" charset="-122"/>
            </a:endParaRPr>
          </a:p>
          <a:p>
            <a:pPr marL="457200" indent="-457200"/>
            <a:endParaRPr lang="zh-CN" altLang="en-US" sz="2000" b="1" dirty="0">
              <a:effectLst>
                <a:outerShdw blurRad="38100" dist="38100" dir="2700000" algn="tl">
                  <a:srgbClr val="FFFFFF"/>
                </a:outerShdw>
              </a:effectLst>
              <a:ea typeface="楷体_GB2312" pitchFamily="49" charset="-122"/>
            </a:endParaRP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max = a[0][0];</a:t>
            </a:r>
          </a:p>
          <a:p>
            <a:pPr marL="457200" indent="-457200"/>
            <a:r>
              <a:rPr lang="en-US" altLang="zh-CN" sz="2000" b="1" dirty="0">
                <a:effectLst>
                  <a:outerShdw blurRad="38100" dist="38100" dir="2700000" algn="tl">
                    <a:srgbClr val="FFFFFF"/>
                  </a:outerShdw>
                </a:effectLst>
                <a:ea typeface="楷体_GB2312" pitchFamily="49" charset="-122"/>
              </a:rPr>
              <a:t>  for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 0;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&lt; 3;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for (j = 0; j &lt; 4; j++)</a:t>
            </a:r>
          </a:p>
          <a:p>
            <a:pPr marL="457200" indent="-457200"/>
            <a:r>
              <a:rPr lang="en-US" altLang="zh-CN" sz="2000" b="1" dirty="0">
                <a:effectLst>
                  <a:outerShdw blurRad="38100" dist="38100" dir="2700000" algn="tl">
                    <a:srgbClr val="FFFFFF"/>
                  </a:outerShdw>
                </a:effectLst>
                <a:ea typeface="楷体_GB2312" pitchFamily="49" charset="-122"/>
              </a:rPr>
              <a:t>	 if (a[</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][j] &gt; max)  </a:t>
            </a:r>
            <a:r>
              <a:rPr lang="en-US" altLang="zh-CN" sz="1600" b="1" dirty="0">
                <a:solidFill>
                  <a:srgbClr val="002060"/>
                </a:solidFill>
                <a:effectLst>
                  <a:outerShdw blurRad="38100" dist="38100" dir="2700000" algn="tl">
                    <a:srgbClr val="FFFFFF"/>
                  </a:outerShdw>
                </a:effectLst>
                <a:ea typeface="楷体" pitchFamily="49" charset="-122"/>
              </a:rPr>
              <a:t>//</a:t>
            </a:r>
            <a:r>
              <a:rPr lang="zh-CN" altLang="en-US" sz="1600" b="1" dirty="0">
                <a:solidFill>
                  <a:srgbClr val="002060"/>
                </a:solidFill>
                <a:effectLst>
                  <a:outerShdw blurRad="38100" dist="38100" dir="2700000" algn="tl">
                    <a:srgbClr val="FFFFFF"/>
                  </a:outerShdw>
                </a:effectLst>
                <a:ea typeface="楷体" pitchFamily="49" charset="-122"/>
              </a:rPr>
              <a:t>如果某元素大于</a:t>
            </a:r>
            <a:r>
              <a:rPr lang="en-US" altLang="zh-CN" sz="1600" b="1" dirty="0">
                <a:solidFill>
                  <a:srgbClr val="002060"/>
                </a:solidFill>
                <a:effectLst>
                  <a:outerShdw blurRad="38100" dist="38100" dir="2700000" algn="tl">
                    <a:srgbClr val="FFFFFF"/>
                  </a:outerShdw>
                </a:effectLst>
                <a:ea typeface="楷体" pitchFamily="49" charset="-122"/>
              </a:rPr>
              <a:t>max</a:t>
            </a:r>
            <a:r>
              <a:rPr lang="zh-CN" altLang="en-US" sz="1600" b="1" dirty="0">
                <a:solidFill>
                  <a:srgbClr val="002060"/>
                </a:solidFill>
                <a:effectLst>
                  <a:outerShdw blurRad="38100" dist="38100" dir="2700000" algn="tl">
                    <a:srgbClr val="FFFFFF"/>
                  </a:outerShdw>
                </a:effectLst>
                <a:ea typeface="楷体" pitchFamily="49" charset="-122"/>
              </a:rPr>
              <a:t>，就取代</a:t>
            </a:r>
            <a:r>
              <a:rPr lang="en-US" altLang="zh-CN" sz="1600" b="1" dirty="0">
                <a:solidFill>
                  <a:srgbClr val="002060"/>
                </a:solidFill>
                <a:effectLst>
                  <a:outerShdw blurRad="38100" dist="38100" dir="2700000" algn="tl">
                    <a:srgbClr val="FFFFFF"/>
                  </a:outerShdw>
                </a:effectLst>
                <a:ea typeface="楷体" pitchFamily="49" charset="-122"/>
              </a:rPr>
              <a:t>max</a:t>
            </a:r>
            <a:r>
              <a:rPr lang="zh-CN" altLang="en-US" sz="1600" b="1" dirty="0">
                <a:solidFill>
                  <a:srgbClr val="002060"/>
                </a:solidFill>
                <a:effectLst>
                  <a:outerShdw blurRad="38100" dist="38100" dir="2700000" algn="tl">
                    <a:srgbClr val="FFFFFF"/>
                  </a:outerShdw>
                </a:effectLst>
                <a:ea typeface="楷体" pitchFamily="49" charset="-122"/>
              </a:rPr>
              <a:t>的原值</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max = a[</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][j];</a:t>
            </a:r>
          </a:p>
          <a:p>
            <a:pPr marL="457200" indent="-457200"/>
            <a:r>
              <a:rPr lang="en-US" altLang="zh-CN" sz="2000" b="1" dirty="0">
                <a:effectLst>
                  <a:outerShdw blurRad="38100" dist="38100" dir="2700000" algn="tl">
                    <a:srgbClr val="FFFFFF"/>
                  </a:outerShdw>
                </a:effectLst>
                <a:ea typeface="楷体_GB2312" pitchFamily="49" charset="-122"/>
              </a:rPr>
              <a:t>	   row = </a:t>
            </a:r>
            <a:r>
              <a:rPr lang="en-US" altLang="zh-CN" sz="2000" b="1" dirty="0" err="1">
                <a:effectLst>
                  <a:outerShdw blurRad="38100" dist="38100" dir="2700000" algn="tl">
                    <a:srgbClr val="FFFFFF"/>
                  </a:outerShdw>
                </a:effectLst>
                <a:ea typeface="楷体_GB2312" pitchFamily="49" charset="-122"/>
              </a:rPr>
              <a:t>i</a:t>
            </a:r>
            <a:r>
              <a:rPr lang="en-US" altLang="zh-CN" sz="2000" b="1" dirty="0">
                <a:effectLst>
                  <a:outerShdw blurRad="38100" dist="38100" dir="2700000" algn="tl">
                    <a:srgbClr val="FFFFFF"/>
                  </a:outerShdw>
                </a:effectLst>
                <a:ea typeface="楷体_GB2312" pitchFamily="49" charset="-122"/>
              </a:rPr>
              <a:t>;             </a:t>
            </a:r>
            <a:r>
              <a:rPr lang="en-US" altLang="zh-CN" sz="1600" b="1" dirty="0">
                <a:solidFill>
                  <a:srgbClr val="002060"/>
                </a:solidFill>
                <a:effectLst>
                  <a:outerShdw blurRad="38100" dist="38100" dir="2700000" algn="tl">
                    <a:srgbClr val="FFFFFF"/>
                  </a:outerShdw>
                </a:effectLst>
                <a:ea typeface="楷体" pitchFamily="49" charset="-122"/>
              </a:rPr>
              <a:t>//</a:t>
            </a:r>
            <a:r>
              <a:rPr lang="zh-CN" altLang="en-US" sz="1600" b="1" dirty="0">
                <a:solidFill>
                  <a:srgbClr val="002060"/>
                </a:solidFill>
                <a:effectLst>
                  <a:outerShdw blurRad="38100" dist="38100" dir="2700000" algn="tl">
                    <a:srgbClr val="FFFFFF"/>
                  </a:outerShdw>
                </a:effectLst>
                <a:ea typeface="楷体" pitchFamily="49" charset="-122"/>
              </a:rPr>
              <a:t>记下此元素的行号</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col</a:t>
            </a:r>
            <a:r>
              <a:rPr lang="en-US" altLang="zh-CN" sz="2000" b="1" dirty="0">
                <a:effectLst>
                  <a:outerShdw blurRad="38100" dist="38100" dir="2700000" algn="tl">
                    <a:srgbClr val="FFFFFF"/>
                  </a:outerShdw>
                </a:effectLst>
                <a:ea typeface="楷体_GB2312" pitchFamily="49" charset="-122"/>
              </a:rPr>
              <a:t> = j;              </a:t>
            </a:r>
            <a:r>
              <a:rPr lang="en-US" altLang="zh-CN" sz="1600" b="1" dirty="0">
                <a:solidFill>
                  <a:srgbClr val="002060"/>
                </a:solidFill>
                <a:effectLst>
                  <a:outerShdw blurRad="38100" dist="38100" dir="2700000" algn="tl">
                    <a:srgbClr val="FFFFFF"/>
                  </a:outerShdw>
                </a:effectLst>
                <a:ea typeface="楷体" pitchFamily="49" charset="-122"/>
              </a:rPr>
              <a:t>//</a:t>
            </a:r>
            <a:r>
              <a:rPr lang="zh-CN" altLang="en-US" sz="1600" b="1" dirty="0">
                <a:solidFill>
                  <a:srgbClr val="002060"/>
                </a:solidFill>
                <a:effectLst>
                  <a:outerShdw blurRad="38100" dist="38100" dir="2700000" algn="tl">
                    <a:srgbClr val="FFFFFF"/>
                  </a:outerShdw>
                </a:effectLst>
                <a:ea typeface="楷体" pitchFamily="49" charset="-122"/>
              </a:rPr>
              <a:t>记下此元素的列号</a:t>
            </a:r>
          </a:p>
          <a:p>
            <a:pPr marL="457200" indent="-457200"/>
            <a:r>
              <a:rPr lang="zh-CN" altLang="en-US" sz="2000" b="1" dirty="0">
                <a:effectLst>
                  <a:outerShdw blurRad="38100" dist="38100" dir="2700000" algn="tl">
                    <a:srgbClr val="FFFFFF"/>
                  </a:outerShdw>
                </a:effectLst>
                <a:ea typeface="楷体_GB2312" pitchFamily="49" charset="-122"/>
              </a:rPr>
              <a:t>	</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("max = %d, row = %d, </a:t>
            </a:r>
            <a:r>
              <a:rPr lang="en-US" altLang="zh-CN" sz="2000" b="1" dirty="0" err="1">
                <a:effectLst>
                  <a:outerShdw blurRad="38100" dist="38100" dir="2700000" algn="tl">
                    <a:srgbClr val="FFFFFF"/>
                  </a:outerShdw>
                </a:effectLst>
                <a:ea typeface="楷体_GB2312" pitchFamily="49" charset="-122"/>
              </a:rPr>
              <a:t>col</a:t>
            </a:r>
            <a:r>
              <a:rPr lang="en-US" altLang="zh-CN" sz="2000" b="1" dirty="0">
                <a:effectLst>
                  <a:outerShdw blurRad="38100" dist="38100" dir="2700000" algn="tl">
                    <a:srgbClr val="FFFFFF"/>
                  </a:outerShdw>
                </a:effectLst>
                <a:ea typeface="楷体_GB2312" pitchFamily="49" charset="-122"/>
              </a:rPr>
              <a:t> = %d\n", max, row, </a:t>
            </a:r>
            <a:r>
              <a:rPr lang="en-US" altLang="zh-CN" sz="2000" b="1" dirty="0" err="1">
                <a:effectLst>
                  <a:outerShdw blurRad="38100" dist="38100" dir="2700000" algn="tl">
                    <a:srgbClr val="FFFFFF"/>
                  </a:outerShdw>
                </a:effectLst>
                <a:ea typeface="楷体_GB2312" pitchFamily="49" charset="-122"/>
              </a:rPr>
              <a:t>col</a:t>
            </a:r>
            <a:r>
              <a:rPr lang="en-US" altLang="zh-CN" sz="2000" b="1" dirty="0">
                <a:effectLst>
                  <a:outerShdw blurRad="38100" dist="38100" dir="2700000" algn="tl">
                    <a:srgbClr val="FFFFFF"/>
                  </a:outerShdw>
                </a:effectLst>
                <a:ea typeface="楷体_GB2312" pitchFamily="49" charset="-122"/>
              </a:rPr>
              <a:t>);</a:t>
            </a:r>
          </a:p>
          <a:p>
            <a:pPr marL="457200" indent="-457200"/>
            <a:r>
              <a:rPr lang="en-US" altLang="zh-CN" sz="2000" b="1" dirty="0">
                <a:effectLst>
                  <a:outerShdw blurRad="38100" dist="38100" dir="2700000" algn="tl">
                    <a:srgbClr val="FFFFFF"/>
                  </a:outerShdw>
                </a:effectLst>
                <a:ea typeface="楷体_GB2312" pitchFamily="49" charset="-122"/>
              </a:rPr>
              <a:t>  return 0;</a:t>
            </a:r>
          </a:p>
          <a:p>
            <a:pPr marL="457200" indent="-457200"/>
            <a:r>
              <a:rPr lang="en-US" altLang="zh-CN" sz="2000" b="1" dirty="0">
                <a:effectLst>
                  <a:outerShdw blurRad="38100" dist="38100" dir="2700000" algn="tl">
                    <a:srgbClr val="FFFFFF"/>
                  </a:outerShdw>
                </a:effectLst>
                <a:ea typeface="楷体_GB2312" pitchFamily="49" charset="-122"/>
              </a:rPr>
              <a:t>}</a:t>
            </a:r>
          </a:p>
        </p:txBody>
      </p:sp>
      <p:sp>
        <p:nvSpPr>
          <p:cNvPr id="40" name="Rectangle 4">
            <a:extLst>
              <a:ext uri="{FF2B5EF4-FFF2-40B4-BE49-F238E27FC236}">
                <a16:creationId xmlns:a16="http://schemas.microsoft.com/office/drawing/2014/main" id="{4C3B7E0F-DE7F-4C73-A466-6F18F74272A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extLst>
      <p:ext uri="{BB962C8B-B14F-4D97-AF65-F5344CB8AC3E}">
        <p14:creationId xmlns:p14="http://schemas.microsoft.com/office/powerpoint/2010/main" val="1073489036"/>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97385"/>
                                        </p:tgtEl>
                                        <p:attrNameLst>
                                          <p:attrName>style.visibility</p:attrName>
                                        </p:attrNameLst>
                                      </p:cBhvr>
                                      <p:to>
                                        <p:strVal val="visible"/>
                                      </p:to>
                                    </p:set>
                                    <p:animEffect transition="in" filter="box(out)">
                                      <p:cBhvr>
                                        <p:cTn id="7" dur="500"/>
                                        <p:tgtEl>
                                          <p:spTgt spid="99738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97386"/>
                                        </p:tgtEl>
                                        <p:attrNameLst>
                                          <p:attrName>style.visibility</p:attrName>
                                        </p:attrNameLst>
                                      </p:cBhvr>
                                      <p:to>
                                        <p:strVal val="visible"/>
                                      </p:to>
                                    </p:set>
                                    <p:animEffect transition="in" filter="box(out)">
                                      <p:cBhvr>
                                        <p:cTn id="12" dur="500"/>
                                        <p:tgtEl>
                                          <p:spTgt spid="99738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strips(downRight)">
                                      <p:cBhvr>
                                        <p:cTn id="17" dur="500"/>
                                        <p:tgtEl>
                                          <p:spTgt spid="36"/>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box(out)">
                                      <p:cBhvr>
                                        <p:cTn id="22" dur="500"/>
                                        <p:tgtEl>
                                          <p:spTgt spid="37"/>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box(out)">
                                      <p:cBhvr>
                                        <p:cTn id="27" dur="500"/>
                                        <p:tgtEl>
                                          <p:spTgt spid="38"/>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86" grpId="0"/>
      <p:bldP spid="997385" grpId="0"/>
      <p:bldP spid="38" grpId="0" animBg="1"/>
      <p:bldP spid="3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9">
            <a:extLst>
              <a:ext uri="{FF2B5EF4-FFF2-40B4-BE49-F238E27FC236}">
                <a16:creationId xmlns:a16="http://schemas.microsoft.com/office/drawing/2014/main" id="{C529FD5E-152F-4107-AD10-FC153D3AEB67}"/>
              </a:ext>
            </a:extLst>
          </p:cNvPr>
          <p:cNvSpPr>
            <a:spLocks noChangeArrowheads="1"/>
          </p:cNvSpPr>
          <p:nvPr/>
        </p:nvSpPr>
        <p:spPr bwMode="auto">
          <a:xfrm>
            <a:off x="479376" y="1067544"/>
            <a:ext cx="11233248" cy="369332"/>
          </a:xfrm>
          <a:prstGeom prst="rect">
            <a:avLst/>
          </a:prstGeom>
          <a:noFill/>
          <a:ln w="9525">
            <a:noFill/>
            <a:miter lim="800000"/>
            <a:headEnd/>
            <a:tailEnd/>
          </a:ln>
          <a:effectLst/>
        </p:spPr>
        <p:txBody>
          <a:bodyPr wrap="square" anchor="ctr">
            <a:spAutoFit/>
          </a:bodyPr>
          <a:lstStyle/>
          <a:p>
            <a:r>
              <a:rPr lang="zh-CN" altLang="en-US" b="1" dirty="0">
                <a:solidFill>
                  <a:srgbClr val="00B0F0"/>
                </a:solidFill>
                <a:latin typeface="楷体" panose="02010609060101010101" pitchFamily="49" charset="-122"/>
                <a:ea typeface="楷体" panose="02010609060101010101" pitchFamily="49" charset="-122"/>
              </a:rPr>
              <a:t> </a:t>
            </a:r>
            <a:r>
              <a:rPr lang="en-US" altLang="zh-CN" b="1" dirty="0">
                <a:solidFill>
                  <a:srgbClr val="00B0F0"/>
                </a:solidFill>
                <a:latin typeface="楷体" panose="02010609060101010101" pitchFamily="49" charset="-122"/>
                <a:ea typeface="楷体" panose="02010609060101010101" pitchFamily="49" charset="-122"/>
              </a:rPr>
              <a:t>【</a:t>
            </a:r>
            <a:r>
              <a:rPr lang="zh-CN" altLang="en-US" b="1" dirty="0">
                <a:solidFill>
                  <a:srgbClr val="00B0F0"/>
                </a:solidFill>
                <a:latin typeface="楷体" panose="02010609060101010101" pitchFamily="49" charset="-122"/>
                <a:ea typeface="楷体" panose="02010609060101010101" pitchFamily="49" charset="-122"/>
              </a:rPr>
              <a:t>例</a:t>
            </a:r>
            <a:r>
              <a:rPr lang="en-US" altLang="zh-CN" b="1" dirty="0">
                <a:solidFill>
                  <a:srgbClr val="00B0F0"/>
                </a:solidFill>
                <a:latin typeface="楷体" panose="02010609060101010101" pitchFamily="49" charset="-122"/>
                <a:ea typeface="楷体" panose="02010609060101010101" pitchFamily="49" charset="-122"/>
              </a:rPr>
              <a:t>2】</a:t>
            </a:r>
            <a:r>
              <a:rPr lang="zh-CN" altLang="en-US" b="1" dirty="0">
                <a:solidFill>
                  <a:srgbClr val="00B0F0"/>
                </a:solidFill>
                <a:latin typeface="楷体" panose="02010609060101010101" pitchFamily="49" charset="-122"/>
                <a:ea typeface="楷体" panose="02010609060101010101" pitchFamily="49" charset="-122"/>
              </a:rPr>
              <a:t>读入下表中值到数组，分别求各行、各列及表中所有数之和</a:t>
            </a:r>
          </a:p>
        </p:txBody>
      </p:sp>
      <p:grpSp>
        <p:nvGrpSpPr>
          <p:cNvPr id="1000453" name="Group 5"/>
          <p:cNvGrpSpPr>
            <a:grpSpLocks/>
          </p:cNvGrpSpPr>
          <p:nvPr/>
        </p:nvGrpSpPr>
        <p:grpSpPr bwMode="auto">
          <a:xfrm>
            <a:off x="1400869" y="2829615"/>
            <a:ext cx="2239963" cy="1711325"/>
            <a:chOff x="2045" y="1144"/>
            <a:chExt cx="1411" cy="1078"/>
          </a:xfrm>
        </p:grpSpPr>
        <p:grpSp>
          <p:nvGrpSpPr>
            <p:cNvPr id="1000454" name="Group 6"/>
            <p:cNvGrpSpPr>
              <a:grpSpLocks/>
            </p:cNvGrpSpPr>
            <p:nvPr/>
          </p:nvGrpSpPr>
          <p:grpSpPr bwMode="auto">
            <a:xfrm>
              <a:off x="2045" y="1144"/>
              <a:ext cx="1411" cy="1078"/>
              <a:chOff x="2045" y="1144"/>
              <a:chExt cx="1411" cy="1078"/>
            </a:xfrm>
          </p:grpSpPr>
          <p:grpSp>
            <p:nvGrpSpPr>
              <p:cNvPr id="1000455" name="Group 7"/>
              <p:cNvGrpSpPr>
                <a:grpSpLocks/>
              </p:cNvGrpSpPr>
              <p:nvPr/>
            </p:nvGrpSpPr>
            <p:grpSpPr bwMode="auto">
              <a:xfrm>
                <a:off x="2045" y="1144"/>
                <a:ext cx="1411" cy="1067"/>
                <a:chOff x="2045" y="1144"/>
                <a:chExt cx="1633" cy="1067"/>
              </a:xfrm>
            </p:grpSpPr>
            <p:sp>
              <p:nvSpPr>
                <p:cNvPr id="1000456" name="Rectangle 8"/>
                <p:cNvSpPr>
                  <a:spLocks noChangeArrowheads="1"/>
                </p:cNvSpPr>
                <p:nvPr/>
              </p:nvSpPr>
              <p:spPr bwMode="auto">
                <a:xfrm>
                  <a:off x="2045" y="1144"/>
                  <a:ext cx="1622" cy="1067"/>
                </a:xfrm>
                <a:prstGeom prst="rect">
                  <a:avLst/>
                </a:prstGeom>
                <a:noFill/>
                <a:ln w="28575">
                  <a:solidFill>
                    <a:srgbClr val="002060"/>
                  </a:solidFill>
                  <a:miter lim="800000"/>
                  <a:headEnd/>
                  <a:tailEnd/>
                </a:ln>
                <a:effectLst/>
              </p:spPr>
              <p:txBody>
                <a:bodyPr wrap="none" anchor="ctr"/>
                <a:lstStyle/>
                <a:p>
                  <a:endParaRPr lang="zh-CN" altLang="en-US"/>
                </a:p>
              </p:txBody>
            </p:sp>
            <p:sp>
              <p:nvSpPr>
                <p:cNvPr id="1000457" name="Line 9"/>
                <p:cNvSpPr>
                  <a:spLocks noChangeShapeType="1"/>
                </p:cNvSpPr>
                <p:nvPr/>
              </p:nvSpPr>
              <p:spPr bwMode="auto">
                <a:xfrm>
                  <a:off x="2045" y="1411"/>
                  <a:ext cx="1622" cy="0"/>
                </a:xfrm>
                <a:prstGeom prst="line">
                  <a:avLst/>
                </a:prstGeom>
                <a:noFill/>
                <a:ln w="9525">
                  <a:solidFill>
                    <a:schemeClr val="tx1"/>
                  </a:solidFill>
                  <a:round/>
                  <a:headEnd/>
                  <a:tailEnd/>
                </a:ln>
                <a:effectLst/>
              </p:spPr>
              <p:txBody>
                <a:bodyPr wrap="none" anchor="ctr"/>
                <a:lstStyle/>
                <a:p>
                  <a:endParaRPr lang="zh-CN" altLang="en-US"/>
                </a:p>
              </p:txBody>
            </p:sp>
            <p:sp>
              <p:nvSpPr>
                <p:cNvPr id="1000458" name="Line 10"/>
                <p:cNvSpPr>
                  <a:spLocks noChangeShapeType="1"/>
                </p:cNvSpPr>
                <p:nvPr/>
              </p:nvSpPr>
              <p:spPr bwMode="auto">
                <a:xfrm>
                  <a:off x="2045" y="1667"/>
                  <a:ext cx="1622" cy="0"/>
                </a:xfrm>
                <a:prstGeom prst="line">
                  <a:avLst/>
                </a:prstGeom>
                <a:noFill/>
                <a:ln w="9525">
                  <a:solidFill>
                    <a:schemeClr val="tx1"/>
                  </a:solidFill>
                  <a:round/>
                  <a:headEnd/>
                  <a:tailEnd/>
                </a:ln>
                <a:effectLst/>
              </p:spPr>
              <p:txBody>
                <a:bodyPr wrap="none" anchor="ctr"/>
                <a:lstStyle/>
                <a:p>
                  <a:endParaRPr lang="zh-CN" altLang="en-US"/>
                </a:p>
              </p:txBody>
            </p:sp>
            <p:sp>
              <p:nvSpPr>
                <p:cNvPr id="1000459" name="Line 11"/>
                <p:cNvSpPr>
                  <a:spLocks noChangeShapeType="1"/>
                </p:cNvSpPr>
                <p:nvPr/>
              </p:nvSpPr>
              <p:spPr bwMode="auto">
                <a:xfrm>
                  <a:off x="2056" y="1944"/>
                  <a:ext cx="1622" cy="0"/>
                </a:xfrm>
                <a:prstGeom prst="line">
                  <a:avLst/>
                </a:prstGeom>
                <a:noFill/>
                <a:ln w="9525">
                  <a:solidFill>
                    <a:schemeClr val="tx1"/>
                  </a:solidFill>
                  <a:round/>
                  <a:headEnd/>
                  <a:tailEnd/>
                </a:ln>
                <a:effectLst/>
              </p:spPr>
              <p:txBody>
                <a:bodyPr wrap="none" anchor="ctr"/>
                <a:lstStyle/>
                <a:p>
                  <a:endParaRPr lang="zh-CN" altLang="en-US"/>
                </a:p>
              </p:txBody>
            </p:sp>
          </p:grpSp>
          <p:sp>
            <p:nvSpPr>
              <p:cNvPr id="1000460" name="Line 12"/>
              <p:cNvSpPr>
                <a:spLocks noChangeShapeType="1"/>
              </p:cNvSpPr>
              <p:nvPr/>
            </p:nvSpPr>
            <p:spPr bwMode="auto">
              <a:xfrm flipH="1">
                <a:off x="2500" y="1167"/>
                <a:ext cx="0" cy="1055"/>
              </a:xfrm>
              <a:prstGeom prst="line">
                <a:avLst/>
              </a:prstGeom>
              <a:noFill/>
              <a:ln w="9525">
                <a:solidFill>
                  <a:schemeClr val="tx1"/>
                </a:solidFill>
                <a:round/>
                <a:headEnd/>
                <a:tailEnd/>
              </a:ln>
              <a:effectLst/>
            </p:spPr>
            <p:txBody>
              <a:bodyPr wrap="none" anchor="ctr"/>
              <a:lstStyle/>
              <a:p>
                <a:endParaRPr lang="zh-CN" altLang="en-US"/>
              </a:p>
            </p:txBody>
          </p:sp>
          <p:sp>
            <p:nvSpPr>
              <p:cNvPr id="1000461" name="Line 13"/>
              <p:cNvSpPr>
                <a:spLocks noChangeShapeType="1"/>
              </p:cNvSpPr>
              <p:nvPr/>
            </p:nvSpPr>
            <p:spPr bwMode="auto">
              <a:xfrm>
                <a:off x="2967" y="1144"/>
                <a:ext cx="0" cy="1067"/>
              </a:xfrm>
              <a:prstGeom prst="line">
                <a:avLst/>
              </a:prstGeom>
              <a:noFill/>
              <a:ln w="9525">
                <a:solidFill>
                  <a:schemeClr val="tx1"/>
                </a:solidFill>
                <a:round/>
                <a:headEnd/>
                <a:tailEnd/>
              </a:ln>
              <a:effectLst/>
            </p:spPr>
            <p:txBody>
              <a:bodyPr wrap="none" anchor="ctr"/>
              <a:lstStyle/>
              <a:p>
                <a:endParaRPr lang="zh-CN" altLang="en-US"/>
              </a:p>
            </p:txBody>
          </p:sp>
        </p:grpSp>
        <p:sp>
          <p:nvSpPr>
            <p:cNvPr id="1000462" name="Text Box 14"/>
            <p:cNvSpPr txBox="1">
              <a:spLocks noChangeArrowheads="1"/>
            </p:cNvSpPr>
            <p:nvPr/>
          </p:nvSpPr>
          <p:spPr bwMode="auto">
            <a:xfrm>
              <a:off x="2108" y="1172"/>
              <a:ext cx="115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12         4         6</a:t>
              </a:r>
            </a:p>
          </p:txBody>
        </p:sp>
        <p:sp>
          <p:nvSpPr>
            <p:cNvPr id="1000463" name="Text Box 15"/>
            <p:cNvSpPr txBox="1">
              <a:spLocks noChangeArrowheads="1"/>
            </p:cNvSpPr>
            <p:nvPr/>
          </p:nvSpPr>
          <p:spPr bwMode="auto">
            <a:xfrm>
              <a:off x="2108" y="1692"/>
              <a:ext cx="115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15         7         9</a:t>
              </a:r>
            </a:p>
          </p:txBody>
        </p:sp>
        <p:sp>
          <p:nvSpPr>
            <p:cNvPr id="1000464" name="Text Box 16"/>
            <p:cNvSpPr txBox="1">
              <a:spLocks noChangeArrowheads="1"/>
            </p:cNvSpPr>
            <p:nvPr/>
          </p:nvSpPr>
          <p:spPr bwMode="auto">
            <a:xfrm>
              <a:off x="2108" y="1432"/>
              <a:ext cx="115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 8         23        3</a:t>
              </a:r>
            </a:p>
          </p:txBody>
        </p:sp>
        <p:sp>
          <p:nvSpPr>
            <p:cNvPr id="1000465" name="Text Box 17"/>
            <p:cNvSpPr txBox="1">
              <a:spLocks noChangeArrowheads="1"/>
            </p:cNvSpPr>
            <p:nvPr/>
          </p:nvSpPr>
          <p:spPr bwMode="auto">
            <a:xfrm>
              <a:off x="2108" y="1953"/>
              <a:ext cx="1196" cy="250"/>
            </a:xfrm>
            <a:prstGeom prst="rect">
              <a:avLst/>
            </a:prstGeom>
            <a:noFill/>
            <a:ln w="9525">
              <a:noFill/>
              <a:miter lim="800000"/>
              <a:headEnd/>
              <a:tailEnd/>
            </a:ln>
            <a:effectLst/>
          </p:spPr>
          <p:txBody>
            <a:bodyPr wrap="none">
              <a:spAutoFit/>
            </a:bodyPr>
            <a:lstStyle/>
            <a:p>
              <a:r>
                <a:rPr lang="en-US" altLang="zh-CN" sz="2000" b="1">
                  <a:effectLst>
                    <a:outerShdw blurRad="38100" dist="38100" dir="2700000" algn="tl">
                      <a:srgbClr val="FFFFFF"/>
                    </a:outerShdw>
                  </a:effectLst>
                </a:rPr>
                <a:t> 2          5        17</a:t>
              </a:r>
            </a:p>
          </p:txBody>
        </p:sp>
      </p:grpSp>
      <p:grpSp>
        <p:nvGrpSpPr>
          <p:cNvPr id="1000466" name="Group 18"/>
          <p:cNvGrpSpPr>
            <a:grpSpLocks/>
          </p:cNvGrpSpPr>
          <p:nvPr/>
        </p:nvGrpSpPr>
        <p:grpSpPr bwMode="auto">
          <a:xfrm>
            <a:off x="1040829" y="2564904"/>
            <a:ext cx="3000375" cy="2187576"/>
            <a:chOff x="2352" y="2203"/>
            <a:chExt cx="1890" cy="1378"/>
          </a:xfrm>
        </p:grpSpPr>
        <p:sp>
          <p:nvSpPr>
            <p:cNvPr id="1000467" name="Line 19"/>
            <p:cNvSpPr>
              <a:spLocks noChangeShapeType="1"/>
            </p:cNvSpPr>
            <p:nvPr/>
          </p:nvSpPr>
          <p:spPr bwMode="auto">
            <a:xfrm>
              <a:off x="2352" y="2474"/>
              <a:ext cx="1875" cy="0"/>
            </a:xfrm>
            <a:prstGeom prst="line">
              <a:avLst/>
            </a:prstGeom>
            <a:noFill/>
            <a:ln w="9525">
              <a:solidFill>
                <a:schemeClr val="tx1"/>
              </a:solidFill>
              <a:round/>
              <a:headEnd/>
              <a:tailEnd/>
            </a:ln>
            <a:effectLst/>
          </p:spPr>
          <p:txBody>
            <a:bodyPr wrap="none" anchor="ctr"/>
            <a:lstStyle/>
            <a:p>
              <a:endParaRPr lang="zh-CN" altLang="en-US"/>
            </a:p>
          </p:txBody>
        </p:sp>
        <p:sp>
          <p:nvSpPr>
            <p:cNvPr id="1000468" name="Line 20"/>
            <p:cNvSpPr>
              <a:spLocks noChangeShapeType="1"/>
            </p:cNvSpPr>
            <p:nvPr/>
          </p:nvSpPr>
          <p:spPr bwMode="auto">
            <a:xfrm>
              <a:off x="2352" y="2730"/>
              <a:ext cx="1890" cy="0"/>
            </a:xfrm>
            <a:prstGeom prst="line">
              <a:avLst/>
            </a:prstGeom>
            <a:noFill/>
            <a:ln w="9525">
              <a:solidFill>
                <a:schemeClr val="tx1"/>
              </a:solidFill>
              <a:round/>
              <a:headEnd/>
              <a:tailEnd/>
            </a:ln>
            <a:effectLst/>
          </p:spPr>
          <p:txBody>
            <a:bodyPr wrap="none" anchor="ctr"/>
            <a:lstStyle/>
            <a:p>
              <a:endParaRPr lang="zh-CN" altLang="en-US"/>
            </a:p>
          </p:txBody>
        </p:sp>
        <p:sp>
          <p:nvSpPr>
            <p:cNvPr id="1000469" name="Line 21"/>
            <p:cNvSpPr>
              <a:spLocks noChangeShapeType="1"/>
            </p:cNvSpPr>
            <p:nvPr/>
          </p:nvSpPr>
          <p:spPr bwMode="auto">
            <a:xfrm>
              <a:off x="2365" y="3007"/>
              <a:ext cx="1876" cy="0"/>
            </a:xfrm>
            <a:prstGeom prst="line">
              <a:avLst/>
            </a:prstGeom>
            <a:noFill/>
            <a:ln w="9525">
              <a:solidFill>
                <a:schemeClr val="tx1"/>
              </a:solidFill>
              <a:round/>
              <a:headEnd/>
              <a:tailEnd/>
            </a:ln>
            <a:effectLst/>
          </p:spPr>
          <p:txBody>
            <a:bodyPr wrap="none" anchor="ctr"/>
            <a:lstStyle/>
            <a:p>
              <a:endParaRPr lang="zh-CN" altLang="en-US"/>
            </a:p>
          </p:txBody>
        </p:sp>
        <p:sp>
          <p:nvSpPr>
            <p:cNvPr id="1000470" name="Text Box 22"/>
            <p:cNvSpPr txBox="1">
              <a:spLocks noChangeArrowheads="1"/>
            </p:cNvSpPr>
            <p:nvPr/>
          </p:nvSpPr>
          <p:spPr bwMode="auto">
            <a:xfrm>
              <a:off x="2415" y="2235"/>
              <a:ext cx="1716" cy="250"/>
            </a:xfrm>
            <a:prstGeom prst="rect">
              <a:avLst/>
            </a:prstGeom>
            <a:noFill/>
            <a:ln w="9525">
              <a:noFill/>
              <a:miter lim="800000"/>
              <a:headEnd/>
              <a:tailEnd/>
            </a:ln>
            <a:effectLst/>
          </p:spPr>
          <p:txBody>
            <a:bodyPr wrap="none">
              <a:spAutoFit/>
            </a:bodyPr>
            <a:lstStyle/>
            <a:p>
              <a:r>
                <a:rPr lang="en-US" altLang="zh-CN" sz="2000" b="1" dirty="0"/>
                <a:t>12         4         6          </a:t>
              </a:r>
              <a:r>
                <a:rPr lang="en-US" altLang="zh-CN" sz="2000" b="1" dirty="0">
                  <a:solidFill>
                    <a:srgbClr val="C01920"/>
                  </a:solidFill>
                </a:rPr>
                <a:t>22</a:t>
              </a:r>
            </a:p>
          </p:txBody>
        </p:sp>
        <p:sp>
          <p:nvSpPr>
            <p:cNvPr id="1000471" name="Text Box 23"/>
            <p:cNvSpPr txBox="1">
              <a:spLocks noChangeArrowheads="1"/>
            </p:cNvSpPr>
            <p:nvPr/>
          </p:nvSpPr>
          <p:spPr bwMode="auto">
            <a:xfrm>
              <a:off x="2415" y="2755"/>
              <a:ext cx="1716" cy="250"/>
            </a:xfrm>
            <a:prstGeom prst="rect">
              <a:avLst/>
            </a:prstGeom>
            <a:noFill/>
            <a:ln w="9525">
              <a:noFill/>
              <a:miter lim="800000"/>
              <a:headEnd/>
              <a:tailEnd/>
            </a:ln>
            <a:effectLst/>
          </p:spPr>
          <p:txBody>
            <a:bodyPr wrap="none">
              <a:spAutoFit/>
            </a:bodyPr>
            <a:lstStyle/>
            <a:p>
              <a:r>
                <a:rPr lang="en-US" altLang="zh-CN" sz="2000" b="1" dirty="0"/>
                <a:t>15         7         9          </a:t>
              </a:r>
              <a:r>
                <a:rPr lang="en-US" altLang="zh-CN" sz="2000" b="1" dirty="0">
                  <a:solidFill>
                    <a:srgbClr val="C01920"/>
                  </a:solidFill>
                </a:rPr>
                <a:t>31</a:t>
              </a:r>
            </a:p>
          </p:txBody>
        </p:sp>
        <p:sp>
          <p:nvSpPr>
            <p:cNvPr id="1000472" name="Text Box 24"/>
            <p:cNvSpPr txBox="1">
              <a:spLocks noChangeArrowheads="1"/>
            </p:cNvSpPr>
            <p:nvPr/>
          </p:nvSpPr>
          <p:spPr bwMode="auto">
            <a:xfrm>
              <a:off x="2415" y="2495"/>
              <a:ext cx="1716" cy="250"/>
            </a:xfrm>
            <a:prstGeom prst="rect">
              <a:avLst/>
            </a:prstGeom>
            <a:noFill/>
            <a:ln w="9525">
              <a:noFill/>
              <a:miter lim="800000"/>
              <a:headEnd/>
              <a:tailEnd/>
            </a:ln>
            <a:effectLst/>
          </p:spPr>
          <p:txBody>
            <a:bodyPr wrap="none">
              <a:spAutoFit/>
            </a:bodyPr>
            <a:lstStyle/>
            <a:p>
              <a:r>
                <a:rPr lang="en-US" altLang="zh-CN" sz="2000" b="1" dirty="0"/>
                <a:t> 8         23        3          </a:t>
              </a:r>
              <a:r>
                <a:rPr lang="en-US" altLang="zh-CN" sz="2000" b="1" dirty="0">
                  <a:solidFill>
                    <a:srgbClr val="C01920"/>
                  </a:solidFill>
                </a:rPr>
                <a:t>34</a:t>
              </a:r>
            </a:p>
          </p:txBody>
        </p:sp>
        <p:sp>
          <p:nvSpPr>
            <p:cNvPr id="1000473" name="Text Box 25"/>
            <p:cNvSpPr txBox="1">
              <a:spLocks noChangeArrowheads="1"/>
            </p:cNvSpPr>
            <p:nvPr/>
          </p:nvSpPr>
          <p:spPr bwMode="auto">
            <a:xfrm>
              <a:off x="2415" y="3016"/>
              <a:ext cx="1716" cy="250"/>
            </a:xfrm>
            <a:prstGeom prst="rect">
              <a:avLst/>
            </a:prstGeom>
            <a:noFill/>
            <a:ln w="9525">
              <a:noFill/>
              <a:miter lim="800000"/>
              <a:headEnd/>
              <a:tailEnd/>
            </a:ln>
            <a:effectLst/>
          </p:spPr>
          <p:txBody>
            <a:bodyPr wrap="none">
              <a:spAutoFit/>
            </a:bodyPr>
            <a:lstStyle/>
            <a:p>
              <a:r>
                <a:rPr lang="en-US" altLang="zh-CN" sz="2000" b="1" dirty="0"/>
                <a:t> 2          5        17         </a:t>
              </a:r>
              <a:r>
                <a:rPr lang="en-US" altLang="zh-CN" sz="2000" b="1" dirty="0">
                  <a:solidFill>
                    <a:srgbClr val="C01920"/>
                  </a:solidFill>
                </a:rPr>
                <a:t>24</a:t>
              </a:r>
            </a:p>
          </p:txBody>
        </p:sp>
        <p:grpSp>
          <p:nvGrpSpPr>
            <p:cNvPr id="1000474" name="Group 26"/>
            <p:cNvGrpSpPr>
              <a:grpSpLocks/>
            </p:cNvGrpSpPr>
            <p:nvPr/>
          </p:nvGrpSpPr>
          <p:grpSpPr bwMode="auto">
            <a:xfrm>
              <a:off x="2352" y="2203"/>
              <a:ext cx="1875" cy="1378"/>
              <a:chOff x="2352" y="2205"/>
              <a:chExt cx="1875" cy="1069"/>
            </a:xfrm>
          </p:grpSpPr>
          <p:sp>
            <p:nvSpPr>
              <p:cNvPr id="1000475" name="Rectangle 27"/>
              <p:cNvSpPr>
                <a:spLocks noChangeArrowheads="1"/>
              </p:cNvSpPr>
              <p:nvPr/>
            </p:nvSpPr>
            <p:spPr bwMode="auto">
              <a:xfrm>
                <a:off x="2352" y="2207"/>
                <a:ext cx="1875" cy="1067"/>
              </a:xfrm>
              <a:prstGeom prst="rect">
                <a:avLst/>
              </a:prstGeom>
              <a:noFill/>
              <a:ln w="28575">
                <a:solidFill>
                  <a:srgbClr val="002060"/>
                </a:solidFill>
                <a:miter lim="800000"/>
                <a:headEnd/>
                <a:tailEnd/>
              </a:ln>
              <a:effectLst/>
            </p:spPr>
            <p:txBody>
              <a:bodyPr wrap="none" anchor="ctr"/>
              <a:lstStyle/>
              <a:p>
                <a:endParaRPr lang="zh-CN" altLang="en-US"/>
              </a:p>
            </p:txBody>
          </p:sp>
          <p:sp>
            <p:nvSpPr>
              <p:cNvPr id="1000476" name="Line 28"/>
              <p:cNvSpPr>
                <a:spLocks noChangeShapeType="1"/>
              </p:cNvSpPr>
              <p:nvPr/>
            </p:nvSpPr>
            <p:spPr bwMode="auto">
              <a:xfrm flipH="1">
                <a:off x="2807" y="2214"/>
                <a:ext cx="0" cy="1056"/>
              </a:xfrm>
              <a:prstGeom prst="line">
                <a:avLst/>
              </a:prstGeom>
              <a:noFill/>
              <a:ln w="9525">
                <a:solidFill>
                  <a:schemeClr val="tx1"/>
                </a:solidFill>
                <a:round/>
                <a:headEnd/>
                <a:tailEnd/>
              </a:ln>
              <a:effectLst/>
            </p:spPr>
            <p:txBody>
              <a:bodyPr wrap="none" anchor="ctr"/>
              <a:lstStyle/>
              <a:p>
                <a:endParaRPr lang="zh-CN" altLang="en-US"/>
              </a:p>
            </p:txBody>
          </p:sp>
          <p:sp>
            <p:nvSpPr>
              <p:cNvPr id="1000477" name="Line 29"/>
              <p:cNvSpPr>
                <a:spLocks noChangeShapeType="1"/>
              </p:cNvSpPr>
              <p:nvPr/>
            </p:nvSpPr>
            <p:spPr bwMode="auto">
              <a:xfrm>
                <a:off x="3274" y="2207"/>
                <a:ext cx="0" cy="1067"/>
              </a:xfrm>
              <a:prstGeom prst="line">
                <a:avLst/>
              </a:prstGeom>
              <a:noFill/>
              <a:ln w="9525">
                <a:solidFill>
                  <a:schemeClr val="tx1"/>
                </a:solidFill>
                <a:round/>
                <a:headEnd/>
                <a:tailEnd/>
              </a:ln>
              <a:effectLst/>
            </p:spPr>
            <p:txBody>
              <a:bodyPr wrap="none" anchor="ctr"/>
              <a:lstStyle/>
              <a:p>
                <a:endParaRPr lang="zh-CN" altLang="en-US" dirty="0"/>
              </a:p>
            </p:txBody>
          </p:sp>
          <p:sp>
            <p:nvSpPr>
              <p:cNvPr id="1000478" name="Line 30"/>
              <p:cNvSpPr>
                <a:spLocks noChangeShapeType="1"/>
              </p:cNvSpPr>
              <p:nvPr/>
            </p:nvSpPr>
            <p:spPr bwMode="auto">
              <a:xfrm>
                <a:off x="3767" y="2205"/>
                <a:ext cx="0" cy="1056"/>
              </a:xfrm>
              <a:prstGeom prst="line">
                <a:avLst/>
              </a:prstGeom>
              <a:noFill/>
              <a:ln w="9525">
                <a:solidFill>
                  <a:schemeClr val="tx1"/>
                </a:solidFill>
                <a:round/>
                <a:headEnd/>
                <a:tailEnd/>
              </a:ln>
              <a:effectLst/>
            </p:spPr>
            <p:txBody>
              <a:bodyPr wrap="none" anchor="ctr"/>
              <a:lstStyle/>
              <a:p>
                <a:endParaRPr lang="zh-CN" altLang="en-US"/>
              </a:p>
            </p:txBody>
          </p:sp>
        </p:grpSp>
        <p:sp>
          <p:nvSpPr>
            <p:cNvPr id="1000479" name="Line 31"/>
            <p:cNvSpPr>
              <a:spLocks noChangeShapeType="1"/>
            </p:cNvSpPr>
            <p:nvPr/>
          </p:nvSpPr>
          <p:spPr bwMode="auto">
            <a:xfrm>
              <a:off x="2367" y="3288"/>
              <a:ext cx="1867" cy="0"/>
            </a:xfrm>
            <a:prstGeom prst="line">
              <a:avLst/>
            </a:prstGeom>
            <a:noFill/>
            <a:ln w="9525">
              <a:solidFill>
                <a:schemeClr val="tx1"/>
              </a:solidFill>
              <a:round/>
              <a:headEnd/>
              <a:tailEnd/>
            </a:ln>
            <a:effectLst/>
          </p:spPr>
          <p:txBody>
            <a:bodyPr wrap="none" anchor="ctr"/>
            <a:lstStyle/>
            <a:p>
              <a:endParaRPr lang="zh-CN" altLang="en-US"/>
            </a:p>
          </p:txBody>
        </p:sp>
        <p:sp>
          <p:nvSpPr>
            <p:cNvPr id="1000480" name="Text Box 32"/>
            <p:cNvSpPr txBox="1">
              <a:spLocks noChangeArrowheads="1"/>
            </p:cNvSpPr>
            <p:nvPr/>
          </p:nvSpPr>
          <p:spPr bwMode="auto">
            <a:xfrm>
              <a:off x="2411" y="3301"/>
              <a:ext cx="1796" cy="250"/>
            </a:xfrm>
            <a:prstGeom prst="rect">
              <a:avLst/>
            </a:prstGeom>
            <a:noFill/>
            <a:ln w="9525">
              <a:noFill/>
              <a:miter lim="800000"/>
              <a:headEnd/>
              <a:tailEnd/>
            </a:ln>
            <a:effectLst/>
          </p:spPr>
          <p:txBody>
            <a:bodyPr wrap="none">
              <a:spAutoFit/>
            </a:bodyPr>
            <a:lstStyle/>
            <a:p>
              <a:r>
                <a:rPr lang="en-US" altLang="zh-CN" sz="2000" b="1" dirty="0">
                  <a:solidFill>
                    <a:srgbClr val="002060"/>
                  </a:solidFill>
                </a:rPr>
                <a:t>37        39        35        </a:t>
              </a:r>
              <a:r>
                <a:rPr lang="en-US" altLang="zh-CN" sz="2000" b="1" dirty="0">
                  <a:solidFill>
                    <a:srgbClr val="660066"/>
                  </a:solidFill>
                </a:rPr>
                <a:t>111</a:t>
              </a:r>
            </a:p>
          </p:txBody>
        </p:sp>
      </p:grpSp>
      <p:sp>
        <p:nvSpPr>
          <p:cNvPr id="1000481" name="Text Box 33" descr="信纸"/>
          <p:cNvSpPr txBox="1">
            <a:spLocks noChangeArrowheads="1"/>
          </p:cNvSpPr>
          <p:nvPr/>
        </p:nvSpPr>
        <p:spPr bwMode="auto">
          <a:xfrm>
            <a:off x="4372546" y="980728"/>
            <a:ext cx="3600400" cy="5634492"/>
          </a:xfrm>
          <a:prstGeom prst="rect">
            <a:avLst/>
          </a:prstGeom>
          <a:gradFill>
            <a:gsLst>
              <a:gs pos="0">
                <a:srgbClr val="CFCFD1"/>
              </a:gs>
              <a:gs pos="100000">
                <a:schemeClr val="bg1">
                  <a:lumMod val="95000"/>
                </a:schemeClr>
              </a:gs>
            </a:gsLst>
            <a:lin ang="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en-US" altLang="zh-CN" sz="2000" b="1" dirty="0"/>
              <a:t>#include &lt;</a:t>
            </a:r>
            <a:r>
              <a:rPr lang="en-US" altLang="zh-CN" sz="2000" b="1" dirty="0" err="1"/>
              <a:t>stdio.h</a:t>
            </a:r>
            <a:r>
              <a:rPr lang="en-US" altLang="zh-CN" sz="2000" b="1" dirty="0"/>
              <a:t>&gt;</a:t>
            </a:r>
          </a:p>
          <a:p>
            <a:pPr eaLnBrk="0" hangingPunct="0"/>
            <a:r>
              <a:rPr kumimoji="0" lang="en-US" altLang="zh-CN" sz="2000" b="1" dirty="0" err="1">
                <a:solidFill>
                  <a:srgbClr val="CC3300"/>
                </a:solidFill>
              </a:rPr>
              <a:t>int</a:t>
            </a:r>
            <a:r>
              <a:rPr kumimoji="0" lang="en-US" altLang="zh-CN" sz="2000" b="1" dirty="0">
                <a:solidFill>
                  <a:srgbClr val="CC3300"/>
                </a:solidFill>
              </a:rPr>
              <a:t> m</a:t>
            </a:r>
            <a:r>
              <a:rPr lang="en-US" altLang="zh-CN" sz="2000" b="1" dirty="0">
                <a:solidFill>
                  <a:srgbClr val="CC3300"/>
                </a:solidFill>
              </a:rPr>
              <a:t>ain ( )</a:t>
            </a:r>
          </a:p>
          <a:p>
            <a:pPr eaLnBrk="0" hangingPunct="0"/>
            <a:r>
              <a:rPr lang="en-US" altLang="zh-CN" sz="2000" b="1" dirty="0"/>
              <a:t>{   </a:t>
            </a:r>
          </a:p>
          <a:p>
            <a:pPr eaLnBrk="0" hangingPunct="0"/>
            <a:r>
              <a:rPr lang="en-US" altLang="zh-CN" sz="2000" b="1" dirty="0"/>
              <a:t>    </a:t>
            </a:r>
            <a:r>
              <a:rPr lang="en-US" altLang="zh-CN" sz="2000" b="1" dirty="0" err="1"/>
              <a:t>int</a:t>
            </a:r>
            <a:r>
              <a:rPr lang="en-US" altLang="zh-CN" sz="2000" b="1" dirty="0"/>
              <a:t> x[5][4], </a:t>
            </a:r>
            <a:r>
              <a:rPr lang="en-US" altLang="zh-CN" sz="2000" b="1" dirty="0" err="1"/>
              <a:t>i</a:t>
            </a:r>
            <a:r>
              <a:rPr lang="en-US" altLang="zh-CN" sz="2000" b="1" dirty="0"/>
              <a:t>, j;</a:t>
            </a:r>
          </a:p>
          <a:p>
            <a:pPr eaLnBrk="0" hangingPunct="0"/>
            <a:r>
              <a:rPr lang="en-US" altLang="zh-CN" sz="2000" b="1" dirty="0"/>
              <a:t>    </a:t>
            </a:r>
            <a:r>
              <a:rPr lang="en-US" altLang="zh-CN" sz="2000" b="1" dirty="0">
                <a:solidFill>
                  <a:schemeClr val="accent1">
                    <a:lumMod val="50000"/>
                  </a:schemeClr>
                </a:solidFill>
              </a:rPr>
              <a:t>for (</a:t>
            </a:r>
            <a:r>
              <a:rPr lang="en-US" altLang="zh-CN" sz="2000" b="1" dirty="0" err="1">
                <a:solidFill>
                  <a:schemeClr val="accent1">
                    <a:lumMod val="50000"/>
                  </a:schemeClr>
                </a:solidFill>
              </a:rPr>
              <a:t>i</a:t>
            </a:r>
            <a:r>
              <a:rPr lang="en-US" altLang="zh-CN" sz="2000" b="1" dirty="0">
                <a:solidFill>
                  <a:schemeClr val="accent1">
                    <a:lumMod val="50000"/>
                  </a:schemeClr>
                </a:solidFill>
              </a:rPr>
              <a:t> = 0; </a:t>
            </a:r>
            <a:r>
              <a:rPr lang="en-US" altLang="zh-CN" sz="2000" b="1" dirty="0" err="1">
                <a:solidFill>
                  <a:schemeClr val="accent1">
                    <a:lumMod val="50000"/>
                  </a:schemeClr>
                </a:solidFill>
              </a:rPr>
              <a:t>i</a:t>
            </a:r>
            <a:r>
              <a:rPr lang="en-US" altLang="zh-CN" sz="2000" b="1" dirty="0">
                <a:solidFill>
                  <a:schemeClr val="accent1">
                    <a:lumMod val="50000"/>
                  </a:schemeClr>
                </a:solidFill>
              </a:rPr>
              <a:t> &lt; 4; </a:t>
            </a:r>
            <a:r>
              <a:rPr lang="en-US" altLang="zh-CN" sz="2000" b="1" dirty="0" err="1">
                <a:solidFill>
                  <a:schemeClr val="accent1">
                    <a:lumMod val="50000"/>
                  </a:schemeClr>
                </a:solidFill>
              </a:rPr>
              <a:t>i</a:t>
            </a:r>
            <a:r>
              <a:rPr lang="en-US" altLang="zh-CN" sz="2000" b="1" dirty="0">
                <a:solidFill>
                  <a:schemeClr val="accent1">
                    <a:lumMod val="50000"/>
                  </a:schemeClr>
                </a:solidFill>
              </a:rPr>
              <a:t>++)</a:t>
            </a:r>
          </a:p>
          <a:p>
            <a:pPr eaLnBrk="0" hangingPunct="0"/>
            <a:r>
              <a:rPr lang="en-US" altLang="zh-CN" sz="2000" b="1" dirty="0">
                <a:solidFill>
                  <a:schemeClr val="accent1">
                    <a:lumMod val="50000"/>
                  </a:schemeClr>
                </a:solidFill>
              </a:rPr>
              <a:t>       for (j = 0; j &lt; 3; j++)</a:t>
            </a:r>
          </a:p>
          <a:p>
            <a:pPr eaLnBrk="0" hangingPunct="0"/>
            <a:r>
              <a:rPr lang="en-US" altLang="zh-CN" sz="2000" b="1" dirty="0">
                <a:solidFill>
                  <a:schemeClr val="accent1">
                    <a:lumMod val="50000"/>
                  </a:schemeClr>
                </a:solidFill>
              </a:rPr>
              <a:t>          </a:t>
            </a:r>
            <a:r>
              <a:rPr lang="en-US" altLang="zh-CN" sz="2000" b="1" dirty="0" err="1">
                <a:solidFill>
                  <a:schemeClr val="accent1">
                    <a:lumMod val="50000"/>
                  </a:schemeClr>
                </a:solidFill>
              </a:rPr>
              <a:t>scanf</a:t>
            </a:r>
            <a:r>
              <a:rPr lang="en-US" altLang="zh-CN" sz="2000" b="1" dirty="0">
                <a:solidFill>
                  <a:schemeClr val="accent1">
                    <a:lumMod val="50000"/>
                  </a:schemeClr>
                </a:solidFill>
              </a:rPr>
              <a:t> ("%d", &amp;x[</a:t>
            </a:r>
            <a:r>
              <a:rPr lang="en-US" altLang="zh-CN" sz="2000" b="1" dirty="0" err="1">
                <a:solidFill>
                  <a:schemeClr val="accent1">
                    <a:lumMod val="50000"/>
                  </a:schemeClr>
                </a:solidFill>
              </a:rPr>
              <a:t>i</a:t>
            </a:r>
            <a:r>
              <a:rPr lang="en-US" altLang="zh-CN" sz="2000" b="1" dirty="0">
                <a:solidFill>
                  <a:schemeClr val="accent1">
                    <a:lumMod val="50000"/>
                  </a:schemeClr>
                </a:solidFill>
              </a:rPr>
              <a:t>][j]);</a:t>
            </a:r>
          </a:p>
          <a:p>
            <a:pPr eaLnBrk="0" hangingPunct="0"/>
            <a:r>
              <a:rPr lang="en-US" altLang="zh-CN" sz="2000" b="1" dirty="0">
                <a:solidFill>
                  <a:srgbClr val="002060"/>
                </a:solidFill>
              </a:rPr>
              <a:t>    for (</a:t>
            </a:r>
            <a:r>
              <a:rPr lang="en-US" altLang="zh-CN" sz="2000" b="1" dirty="0" err="1">
                <a:solidFill>
                  <a:srgbClr val="002060"/>
                </a:solidFill>
              </a:rPr>
              <a:t>i</a:t>
            </a:r>
            <a:r>
              <a:rPr lang="en-US" altLang="zh-CN" sz="2000" b="1" dirty="0">
                <a:solidFill>
                  <a:srgbClr val="002060"/>
                </a:solidFill>
              </a:rPr>
              <a:t> = 0; </a:t>
            </a:r>
            <a:r>
              <a:rPr lang="en-US" altLang="zh-CN" sz="2000" b="1" dirty="0" err="1">
                <a:solidFill>
                  <a:srgbClr val="002060"/>
                </a:solidFill>
              </a:rPr>
              <a:t>i</a:t>
            </a:r>
            <a:r>
              <a:rPr lang="en-US" altLang="zh-CN" sz="2000" b="1" dirty="0">
                <a:solidFill>
                  <a:srgbClr val="002060"/>
                </a:solidFill>
              </a:rPr>
              <a:t> &lt; 3; </a:t>
            </a:r>
            <a:r>
              <a:rPr lang="en-US" altLang="zh-CN" sz="2000" b="1" dirty="0" err="1">
                <a:solidFill>
                  <a:srgbClr val="002060"/>
                </a:solidFill>
              </a:rPr>
              <a:t>i</a:t>
            </a:r>
            <a:r>
              <a:rPr lang="en-US" altLang="zh-CN" sz="2000" b="1" dirty="0">
                <a:solidFill>
                  <a:srgbClr val="002060"/>
                </a:solidFill>
              </a:rPr>
              <a:t>++)</a:t>
            </a:r>
          </a:p>
          <a:p>
            <a:pPr eaLnBrk="0" hangingPunct="0"/>
            <a:r>
              <a:rPr lang="en-US" altLang="zh-CN" sz="2000" b="1" dirty="0">
                <a:solidFill>
                  <a:srgbClr val="002060"/>
                </a:solidFill>
              </a:rPr>
              <a:t>       x[4][</a:t>
            </a:r>
            <a:r>
              <a:rPr lang="en-US" altLang="zh-CN" sz="2000" b="1" dirty="0" err="1">
                <a:solidFill>
                  <a:srgbClr val="002060"/>
                </a:solidFill>
              </a:rPr>
              <a:t>i</a:t>
            </a:r>
            <a:r>
              <a:rPr lang="en-US" altLang="zh-CN" sz="2000" b="1" dirty="0">
                <a:solidFill>
                  <a:srgbClr val="002060"/>
                </a:solidFill>
              </a:rPr>
              <a:t>] = 0;</a:t>
            </a:r>
          </a:p>
          <a:p>
            <a:pPr eaLnBrk="0" hangingPunct="0"/>
            <a:r>
              <a:rPr lang="en-US" altLang="zh-CN" sz="2000" b="1" dirty="0">
                <a:solidFill>
                  <a:srgbClr val="002060"/>
                </a:solidFill>
              </a:rPr>
              <a:t>    for (j = 0; j &lt; 5; j++)</a:t>
            </a:r>
          </a:p>
          <a:p>
            <a:pPr eaLnBrk="0" hangingPunct="0"/>
            <a:r>
              <a:rPr lang="en-US" altLang="zh-CN" sz="2000" b="1" dirty="0">
                <a:solidFill>
                  <a:srgbClr val="002060"/>
                </a:solidFill>
              </a:rPr>
              <a:t>       x[j][3] = 0;</a:t>
            </a:r>
          </a:p>
          <a:p>
            <a:pPr eaLnBrk="0" hangingPunct="0"/>
            <a:r>
              <a:rPr lang="en-US" altLang="zh-CN" sz="2000" b="1" dirty="0">
                <a:solidFill>
                  <a:srgbClr val="C01920"/>
                </a:solidFill>
              </a:rPr>
              <a:t>    for (</a:t>
            </a:r>
            <a:r>
              <a:rPr lang="en-US" altLang="zh-CN" sz="2000" b="1" dirty="0" err="1">
                <a:solidFill>
                  <a:srgbClr val="C01920"/>
                </a:solidFill>
              </a:rPr>
              <a:t>i</a:t>
            </a:r>
            <a:r>
              <a:rPr lang="en-US" altLang="zh-CN" sz="2000" b="1" dirty="0">
                <a:solidFill>
                  <a:srgbClr val="C01920"/>
                </a:solidFill>
              </a:rPr>
              <a:t> = 0; </a:t>
            </a:r>
            <a:r>
              <a:rPr lang="en-US" altLang="zh-CN" sz="2000" b="1" dirty="0" err="1">
                <a:solidFill>
                  <a:srgbClr val="C01920"/>
                </a:solidFill>
              </a:rPr>
              <a:t>i</a:t>
            </a:r>
            <a:r>
              <a:rPr lang="en-US" altLang="zh-CN" sz="2000" b="1" dirty="0">
                <a:solidFill>
                  <a:srgbClr val="C01920"/>
                </a:solidFill>
              </a:rPr>
              <a:t> &lt; 4; </a:t>
            </a:r>
            <a:r>
              <a:rPr lang="en-US" altLang="zh-CN" sz="2000" b="1" dirty="0" err="1">
                <a:solidFill>
                  <a:srgbClr val="C01920"/>
                </a:solidFill>
              </a:rPr>
              <a:t>i</a:t>
            </a:r>
            <a:r>
              <a:rPr lang="en-US" altLang="zh-CN" sz="2000" b="1" dirty="0">
                <a:solidFill>
                  <a:srgbClr val="C01920"/>
                </a:solidFill>
              </a:rPr>
              <a:t>++)</a:t>
            </a:r>
          </a:p>
          <a:p>
            <a:pPr eaLnBrk="0" hangingPunct="0"/>
            <a:r>
              <a:rPr lang="en-US" altLang="zh-CN" sz="2000" b="1" dirty="0">
                <a:solidFill>
                  <a:srgbClr val="C01920"/>
                </a:solidFill>
              </a:rPr>
              <a:t>       for (j = 0; j &lt; 3; j++)</a:t>
            </a:r>
          </a:p>
          <a:p>
            <a:pPr eaLnBrk="0" hangingPunct="0"/>
            <a:r>
              <a:rPr lang="en-US" altLang="zh-CN" sz="2000" b="1" dirty="0">
                <a:solidFill>
                  <a:srgbClr val="C01920"/>
                </a:solidFill>
              </a:rPr>
              <a:t>       {  </a:t>
            </a:r>
          </a:p>
          <a:p>
            <a:pPr eaLnBrk="0" hangingPunct="0"/>
            <a:r>
              <a:rPr lang="en-US" altLang="zh-CN" sz="2000" b="1" dirty="0">
                <a:solidFill>
                  <a:srgbClr val="C01920"/>
                </a:solidFill>
              </a:rPr>
              <a:t>           x[</a:t>
            </a:r>
            <a:r>
              <a:rPr lang="en-US" altLang="zh-CN" sz="2000" b="1" dirty="0" err="1">
                <a:solidFill>
                  <a:srgbClr val="C01920"/>
                </a:solidFill>
              </a:rPr>
              <a:t>i</a:t>
            </a:r>
            <a:r>
              <a:rPr lang="en-US" altLang="zh-CN" sz="2000" b="1" dirty="0">
                <a:solidFill>
                  <a:srgbClr val="C01920"/>
                </a:solidFill>
              </a:rPr>
              <a:t>][3] += x[</a:t>
            </a:r>
            <a:r>
              <a:rPr lang="en-US" altLang="zh-CN" sz="2000" b="1" dirty="0" err="1">
                <a:solidFill>
                  <a:srgbClr val="C01920"/>
                </a:solidFill>
              </a:rPr>
              <a:t>i</a:t>
            </a:r>
            <a:r>
              <a:rPr lang="en-US" altLang="zh-CN" sz="2000" b="1" dirty="0">
                <a:solidFill>
                  <a:srgbClr val="C01920"/>
                </a:solidFill>
              </a:rPr>
              <a:t>][j];</a:t>
            </a:r>
          </a:p>
          <a:p>
            <a:pPr eaLnBrk="0" hangingPunct="0"/>
            <a:r>
              <a:rPr lang="en-US" altLang="zh-CN" sz="2000" b="1" dirty="0">
                <a:solidFill>
                  <a:srgbClr val="C01920"/>
                </a:solidFill>
              </a:rPr>
              <a:t>           x[4][j] += x[</a:t>
            </a:r>
            <a:r>
              <a:rPr lang="en-US" altLang="zh-CN" sz="2000" b="1" dirty="0" err="1">
                <a:solidFill>
                  <a:srgbClr val="C01920"/>
                </a:solidFill>
              </a:rPr>
              <a:t>i</a:t>
            </a:r>
            <a:r>
              <a:rPr lang="en-US" altLang="zh-CN" sz="2000" b="1" dirty="0">
                <a:solidFill>
                  <a:srgbClr val="C01920"/>
                </a:solidFill>
              </a:rPr>
              <a:t>][j];</a:t>
            </a:r>
          </a:p>
          <a:p>
            <a:pPr eaLnBrk="0" hangingPunct="0"/>
            <a:r>
              <a:rPr lang="en-US" altLang="zh-CN" sz="2000" b="1" dirty="0">
                <a:solidFill>
                  <a:srgbClr val="C01920"/>
                </a:solidFill>
              </a:rPr>
              <a:t>           x[4][3] += x[</a:t>
            </a:r>
            <a:r>
              <a:rPr lang="en-US" altLang="zh-CN" sz="2000" b="1" dirty="0" err="1">
                <a:solidFill>
                  <a:srgbClr val="C01920"/>
                </a:solidFill>
              </a:rPr>
              <a:t>i</a:t>
            </a:r>
            <a:r>
              <a:rPr lang="en-US" altLang="zh-CN" sz="2000" b="1" dirty="0">
                <a:solidFill>
                  <a:srgbClr val="C01920"/>
                </a:solidFill>
              </a:rPr>
              <a:t>][j];</a:t>
            </a:r>
          </a:p>
          <a:p>
            <a:pPr eaLnBrk="0" hangingPunct="0"/>
            <a:r>
              <a:rPr lang="en-US" altLang="zh-CN" sz="2000" b="1" dirty="0">
                <a:solidFill>
                  <a:srgbClr val="C01920"/>
                </a:solidFill>
              </a:rPr>
              <a:t>       }</a:t>
            </a:r>
          </a:p>
        </p:txBody>
      </p:sp>
      <p:sp>
        <p:nvSpPr>
          <p:cNvPr id="1000482" name="Text Box 34" descr="信纸"/>
          <p:cNvSpPr txBox="1">
            <a:spLocks noChangeArrowheads="1"/>
          </p:cNvSpPr>
          <p:nvPr/>
        </p:nvSpPr>
        <p:spPr bwMode="auto">
          <a:xfrm>
            <a:off x="8097612" y="4002153"/>
            <a:ext cx="3437457" cy="2556727"/>
          </a:xfrm>
          <a:prstGeom prst="rect">
            <a:avLst/>
          </a:prstGeom>
          <a:gradFill>
            <a:gsLst>
              <a:gs pos="0">
                <a:srgbClr val="CFCFD1"/>
              </a:gs>
              <a:gs pos="100000">
                <a:schemeClr val="bg1">
                  <a:lumMod val="95000"/>
                </a:schemeClr>
              </a:gs>
            </a:gsLst>
            <a:lin ang="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spAutoFit/>
          </a:bodyPr>
          <a:lstStyle/>
          <a:p>
            <a:pPr eaLnBrk="0" hangingPunct="0"/>
            <a:r>
              <a:rPr lang="en-US" altLang="zh-CN" sz="2000" b="1" dirty="0">
                <a:solidFill>
                  <a:srgbClr val="002060"/>
                </a:solidFill>
              </a:rPr>
              <a:t>   for (</a:t>
            </a:r>
            <a:r>
              <a:rPr lang="en-US" altLang="zh-CN" sz="2000" b="1" dirty="0" err="1">
                <a:solidFill>
                  <a:srgbClr val="002060"/>
                </a:solidFill>
              </a:rPr>
              <a:t>i</a:t>
            </a:r>
            <a:r>
              <a:rPr lang="en-US" altLang="zh-CN" sz="2000" b="1" dirty="0">
                <a:solidFill>
                  <a:srgbClr val="002060"/>
                </a:solidFill>
              </a:rPr>
              <a:t> = 0; </a:t>
            </a:r>
            <a:r>
              <a:rPr lang="en-US" altLang="zh-CN" sz="2000" b="1" dirty="0" err="1">
                <a:solidFill>
                  <a:srgbClr val="002060"/>
                </a:solidFill>
              </a:rPr>
              <a:t>i</a:t>
            </a:r>
            <a:r>
              <a:rPr lang="en-US" altLang="zh-CN" sz="2000" b="1" dirty="0">
                <a:solidFill>
                  <a:srgbClr val="002060"/>
                </a:solidFill>
              </a:rPr>
              <a:t> &lt; 5; </a:t>
            </a:r>
            <a:r>
              <a:rPr lang="en-US" altLang="zh-CN" sz="2000" b="1" dirty="0" err="1">
                <a:solidFill>
                  <a:srgbClr val="002060"/>
                </a:solidFill>
              </a:rPr>
              <a:t>i</a:t>
            </a:r>
            <a:r>
              <a:rPr lang="en-US" altLang="zh-CN" sz="2000" b="1" dirty="0">
                <a:solidFill>
                  <a:srgbClr val="002060"/>
                </a:solidFill>
              </a:rPr>
              <a:t>++)</a:t>
            </a:r>
          </a:p>
          <a:p>
            <a:pPr eaLnBrk="0" hangingPunct="0"/>
            <a:r>
              <a:rPr lang="en-US" altLang="zh-CN" sz="2000" b="1" dirty="0">
                <a:solidFill>
                  <a:srgbClr val="002060"/>
                </a:solidFill>
              </a:rPr>
              <a:t>   {   </a:t>
            </a:r>
          </a:p>
          <a:p>
            <a:pPr eaLnBrk="0" hangingPunct="0"/>
            <a:r>
              <a:rPr lang="en-US" altLang="zh-CN" sz="2000" b="1" dirty="0">
                <a:solidFill>
                  <a:srgbClr val="002060"/>
                </a:solidFill>
              </a:rPr>
              <a:t>      for (j = 0; j &lt; 4; j++)</a:t>
            </a:r>
          </a:p>
          <a:p>
            <a:pPr eaLnBrk="0" hangingPunct="0"/>
            <a:r>
              <a:rPr lang="en-US" altLang="zh-CN" sz="2000" b="1" dirty="0">
                <a:solidFill>
                  <a:srgbClr val="002060"/>
                </a:solidFill>
              </a:rPr>
              <a:t>         </a:t>
            </a:r>
            <a:r>
              <a:rPr lang="en-US" altLang="zh-CN" sz="2000" b="1" dirty="0" err="1">
                <a:solidFill>
                  <a:srgbClr val="002060"/>
                </a:solidFill>
              </a:rPr>
              <a:t>printf</a:t>
            </a:r>
            <a:r>
              <a:rPr lang="en-US" altLang="zh-CN" sz="2000" b="1" dirty="0">
                <a:solidFill>
                  <a:srgbClr val="002060"/>
                </a:solidFill>
              </a:rPr>
              <a:t> ("%5d\t", x[</a:t>
            </a:r>
            <a:r>
              <a:rPr lang="en-US" altLang="zh-CN" sz="2000" b="1" dirty="0" err="1">
                <a:solidFill>
                  <a:srgbClr val="002060"/>
                </a:solidFill>
              </a:rPr>
              <a:t>i</a:t>
            </a:r>
            <a:r>
              <a:rPr lang="en-US" altLang="zh-CN" sz="2000" b="1" dirty="0">
                <a:solidFill>
                  <a:srgbClr val="002060"/>
                </a:solidFill>
              </a:rPr>
              <a:t>][j]);</a:t>
            </a:r>
          </a:p>
          <a:p>
            <a:pPr eaLnBrk="0" hangingPunct="0"/>
            <a:r>
              <a:rPr lang="en-US" altLang="zh-CN" sz="2000" b="1" dirty="0">
                <a:solidFill>
                  <a:srgbClr val="002060"/>
                </a:solidFill>
              </a:rPr>
              <a:t>      </a:t>
            </a:r>
            <a:r>
              <a:rPr lang="en-US" altLang="zh-CN" sz="2000" b="1" dirty="0" err="1">
                <a:solidFill>
                  <a:srgbClr val="002060"/>
                </a:solidFill>
              </a:rPr>
              <a:t>printf</a:t>
            </a:r>
            <a:r>
              <a:rPr lang="en-US" altLang="zh-CN" sz="2000" b="1" dirty="0">
                <a:solidFill>
                  <a:srgbClr val="002060"/>
                </a:solidFill>
              </a:rPr>
              <a:t> ("\n");</a:t>
            </a:r>
          </a:p>
          <a:p>
            <a:pPr eaLnBrk="0" hangingPunct="0"/>
            <a:r>
              <a:rPr lang="en-US" altLang="zh-CN" sz="2000" b="1" dirty="0">
                <a:solidFill>
                  <a:srgbClr val="002060"/>
                </a:solidFill>
              </a:rPr>
              <a:t>   }</a:t>
            </a:r>
          </a:p>
          <a:p>
            <a:pPr eaLnBrk="0" hangingPunct="0"/>
            <a:r>
              <a:rPr lang="en-US" altLang="zh-CN" sz="2000" b="1" dirty="0">
                <a:solidFill>
                  <a:srgbClr val="002060"/>
                </a:solidFill>
              </a:rPr>
              <a:t>   return 0;</a:t>
            </a:r>
          </a:p>
          <a:p>
            <a:pPr eaLnBrk="0" hangingPunct="0"/>
            <a:r>
              <a:rPr lang="en-US" altLang="zh-CN" sz="2000" b="1" dirty="0">
                <a:solidFill>
                  <a:srgbClr val="002060"/>
                </a:solidFill>
              </a:rPr>
              <a:t>}</a:t>
            </a:r>
          </a:p>
        </p:txBody>
      </p:sp>
      <p:sp>
        <p:nvSpPr>
          <p:cNvPr id="39" name="Rectangle 4">
            <a:extLst>
              <a:ext uri="{FF2B5EF4-FFF2-40B4-BE49-F238E27FC236}">
                <a16:creationId xmlns:a16="http://schemas.microsoft.com/office/drawing/2014/main" id="{AFC9765B-C896-4130-A3C5-40BB644B60E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extLst>
      <p:ext uri="{BB962C8B-B14F-4D97-AF65-F5344CB8AC3E}">
        <p14:creationId xmlns:p14="http://schemas.microsoft.com/office/powerpoint/2010/main" val="100046479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ox(out)">
                                      <p:cBhvr>
                                        <p:cTn id="7" dur="500"/>
                                        <p:tgtEl>
                                          <p:spTgt spid="3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000453"/>
                                        </p:tgtEl>
                                        <p:attrNameLst>
                                          <p:attrName>style.visibility</p:attrName>
                                        </p:attrNameLst>
                                      </p:cBhvr>
                                      <p:to>
                                        <p:strVal val="visible"/>
                                      </p:to>
                                    </p:set>
                                    <p:animEffect transition="in" filter="box(out)">
                                      <p:cBhvr>
                                        <p:cTn id="12" dur="500"/>
                                        <p:tgtEl>
                                          <p:spTgt spid="1000453"/>
                                        </p:tgtEl>
                                      </p:cBhvr>
                                    </p:animEffect>
                                  </p:childTnLst>
                                  <p:subTnLst>
                                    <p:set>
                                      <p:cBhvr override="childStyle">
                                        <p:cTn dur="1" fill="hold" display="0" masterRel="nextClick" afterEffect="1"/>
                                        <p:tgtEl>
                                          <p:spTgt spid="1000453"/>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000466"/>
                                        </p:tgtEl>
                                        <p:attrNameLst>
                                          <p:attrName>style.visibility</p:attrName>
                                        </p:attrNameLst>
                                      </p:cBhvr>
                                      <p:to>
                                        <p:strVal val="visible"/>
                                      </p:to>
                                    </p:set>
                                    <p:animEffect transition="in" filter="box(out)">
                                      <p:cBhvr>
                                        <p:cTn id="17" dur="500"/>
                                        <p:tgtEl>
                                          <p:spTgt spid="100046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000481"/>
                                        </p:tgtEl>
                                        <p:attrNameLst>
                                          <p:attrName>style.visibility</p:attrName>
                                        </p:attrNameLst>
                                      </p:cBhvr>
                                      <p:to>
                                        <p:strVal val="visible"/>
                                      </p:to>
                                    </p:set>
                                    <p:animEffect transition="in" filter="box(out)">
                                      <p:cBhvr>
                                        <p:cTn id="22" dur="500"/>
                                        <p:tgtEl>
                                          <p:spTgt spid="1000481"/>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00482"/>
                                        </p:tgtEl>
                                        <p:attrNameLst>
                                          <p:attrName>style.visibility</p:attrName>
                                        </p:attrNameLst>
                                      </p:cBhvr>
                                      <p:to>
                                        <p:strVal val="visible"/>
                                      </p:to>
                                    </p:set>
                                    <p:animEffect transition="in" filter="box(out)">
                                      <p:cBhvr>
                                        <p:cTn id="27" dur="500"/>
                                        <p:tgtEl>
                                          <p:spTgt spid="1000482"/>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1000481" grpId="0" animBg="1" autoUpdateAnimBg="0"/>
      <p:bldP spid="1000482"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86" name="Rectangle 10"/>
          <p:cNvSpPr>
            <a:spLocks noChangeArrowheads="1"/>
          </p:cNvSpPr>
          <p:nvPr/>
        </p:nvSpPr>
        <p:spPr bwMode="auto">
          <a:xfrm>
            <a:off x="1199456" y="1761417"/>
            <a:ext cx="10153178" cy="2554545"/>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u="sng" dirty="0">
                <a:ln w="1905"/>
                <a:solidFill>
                  <a:srgbClr val="C01920"/>
                </a:solidFill>
                <a:latin typeface="楷体" panose="02010609060101010101" pitchFamily="49" charset="-122"/>
                <a:ea typeface="楷体" panose="02010609060101010101" pitchFamily="49" charset="-122"/>
              </a:rPr>
              <a:t>程序设计思想：</a:t>
            </a:r>
            <a:endParaRPr lang="en-US" altLang="zh-CN" b="1" u="sng" dirty="0">
              <a:ln w="1905"/>
              <a:solidFill>
                <a:srgbClr val="C01920"/>
              </a:solidFill>
              <a:latin typeface="楷体" panose="02010609060101010101" pitchFamily="49" charset="-122"/>
              <a:ea typeface="楷体" panose="02010609060101010101" pitchFamily="49" charset="-122"/>
            </a:endParaRPr>
          </a:p>
          <a:p>
            <a:endParaRPr lang="zh-CN" altLang="en-US" sz="1400" b="1" u="sng" dirty="0">
              <a:ln w="1905"/>
              <a:solidFill>
                <a:srgbClr val="C01920"/>
              </a:solidFill>
              <a:latin typeface="隶书" pitchFamily="49" charset="-122"/>
              <a:ea typeface="隶书" pitchFamily="49" charset="-122"/>
            </a:endParaRPr>
          </a:p>
          <a:p>
            <a:r>
              <a:rPr lang="zh-CN" alt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a typeface="楷体" pitchFamily="49" charset="-122"/>
              </a:rPr>
              <a:t>        </a:t>
            </a:r>
            <a:r>
              <a:rPr lang="zh-CN" altLang="en-US" sz="2000" b="1" dirty="0">
                <a:ln w="1905"/>
                <a:solidFill>
                  <a:schemeClr val="tx1"/>
                </a:solidFill>
                <a:ea typeface="楷体" pitchFamily="49" charset="-122"/>
              </a:rPr>
              <a:t>要满足上述程序的要求，必须</a:t>
            </a:r>
            <a:r>
              <a:rPr lang="zh-CN" altLang="en-US" sz="2000" b="1" dirty="0">
                <a:ln w="1905"/>
                <a:solidFill>
                  <a:srgbClr val="C01920"/>
                </a:solidFill>
                <a:ea typeface="楷体" pitchFamily="49" charset="-122"/>
              </a:rPr>
              <a:t>定义一个二维数组</a:t>
            </a:r>
            <a:r>
              <a:rPr lang="zh-CN" altLang="en-US" sz="2000" b="1" dirty="0">
                <a:ln w="1905"/>
                <a:solidFill>
                  <a:schemeClr val="tx1"/>
                </a:solidFill>
                <a:ea typeface="楷体" pitchFamily="49" charset="-122"/>
              </a:rPr>
              <a:t>，用来存放学生各门课的成绩。这个数组的每一行表示某个学生的各门课的成绩及其平均成绩，每一列表示某门课的所有学生成绩及该课程的平均成绩。因此，在定义这个学生成绩的二维数组时行数和列数要比学生人数及课程门数多</a:t>
            </a:r>
            <a:r>
              <a:rPr lang="en-US" altLang="zh-CN" sz="2000" b="1" dirty="0">
                <a:ln w="1905"/>
                <a:solidFill>
                  <a:schemeClr val="tx1"/>
                </a:solidFill>
                <a:ea typeface="楷体" pitchFamily="49" charset="-122"/>
              </a:rPr>
              <a:t>1</a:t>
            </a:r>
            <a:r>
              <a:rPr lang="zh-CN" altLang="en-US" sz="2000" b="1" dirty="0">
                <a:ln w="1905"/>
                <a:solidFill>
                  <a:schemeClr val="tx1"/>
                </a:solidFill>
                <a:ea typeface="楷体" pitchFamily="49" charset="-122"/>
              </a:rPr>
              <a:t>。</a:t>
            </a:r>
            <a:r>
              <a:rPr lang="zh-CN" altLang="zh-CN" sz="2000" b="1" dirty="0">
                <a:ln w="1905"/>
                <a:solidFill>
                  <a:srgbClr val="C01920"/>
                </a:solidFill>
                <a:ea typeface="楷体" pitchFamily="49" charset="-122"/>
              </a:rPr>
              <a:t>多出的</a:t>
            </a:r>
            <a:r>
              <a:rPr lang="en-US" altLang="zh-CN" sz="2000" b="1" dirty="0">
                <a:ln w="1905"/>
                <a:solidFill>
                  <a:srgbClr val="C01920"/>
                </a:solidFill>
                <a:ea typeface="楷体" pitchFamily="49" charset="-122"/>
              </a:rPr>
              <a:t>1</a:t>
            </a:r>
            <a:r>
              <a:rPr lang="zh-CN" altLang="zh-CN" sz="2000" b="1" dirty="0">
                <a:ln w="1905"/>
                <a:solidFill>
                  <a:srgbClr val="C01920"/>
                </a:solidFill>
                <a:ea typeface="楷体" pitchFamily="49" charset="-122"/>
              </a:rPr>
              <a:t>列用于存放每个学生的平均成绩，多出的</a:t>
            </a:r>
            <a:r>
              <a:rPr lang="en-US" altLang="zh-CN" sz="2000" b="1" dirty="0">
                <a:ln w="1905"/>
                <a:solidFill>
                  <a:srgbClr val="C01920"/>
                </a:solidFill>
                <a:ea typeface="楷体" pitchFamily="49" charset="-122"/>
              </a:rPr>
              <a:t>1</a:t>
            </a:r>
            <a:r>
              <a:rPr lang="zh-CN" altLang="zh-CN" sz="2000" b="1" dirty="0">
                <a:ln w="1905"/>
                <a:solidFill>
                  <a:srgbClr val="C01920"/>
                </a:solidFill>
                <a:ea typeface="楷体" pitchFamily="49" charset="-122"/>
              </a:rPr>
              <a:t>行用于存储每门课程的平均成绩</a:t>
            </a:r>
            <a:r>
              <a:rPr lang="zh-CN" altLang="en-US" sz="2000" b="1" dirty="0">
                <a:ln w="1905"/>
                <a:solidFill>
                  <a:srgbClr val="C01920"/>
                </a:solidFill>
                <a:ea typeface="楷体" pitchFamily="49" charset="-122"/>
              </a:rPr>
              <a:t>。</a:t>
            </a:r>
            <a:r>
              <a:rPr lang="zh-CN" altLang="en-US" sz="2000" b="1" dirty="0">
                <a:ln w="1905"/>
                <a:solidFill>
                  <a:schemeClr val="tx1"/>
                </a:solidFill>
                <a:ea typeface="楷体" pitchFamily="49" charset="-122"/>
              </a:rPr>
              <a:t>成绩数据的输入输出以及每个学生的平均成绩、各门课程的平均成绩的计算方法比较简单。 </a:t>
            </a:r>
          </a:p>
        </p:txBody>
      </p:sp>
      <p:graphicFrame>
        <p:nvGraphicFramePr>
          <p:cNvPr id="27" name="表格 26"/>
          <p:cNvGraphicFramePr>
            <a:graphicFrameLocks noGrp="1"/>
          </p:cNvGraphicFramePr>
          <p:nvPr/>
        </p:nvGraphicFramePr>
        <p:xfrm>
          <a:off x="5862047" y="4055407"/>
          <a:ext cx="3600399" cy="2160242"/>
        </p:xfrm>
        <a:graphic>
          <a:graphicData uri="http://schemas.openxmlformats.org/drawingml/2006/table">
            <a:tbl>
              <a:tblPr>
                <a:effectLst>
                  <a:outerShdw blurRad="50800" dist="38100" dir="2700000" algn="tl" rotWithShape="0">
                    <a:prstClr val="black">
                      <a:alpha val="40000"/>
                    </a:prstClr>
                  </a:outerShdw>
                </a:effectLst>
              </a:tblPr>
              <a:tblGrid>
                <a:gridCol w="719657">
                  <a:extLst>
                    <a:ext uri="{9D8B030D-6E8A-4147-A177-3AD203B41FA5}">
                      <a16:colId xmlns:a16="http://schemas.microsoft.com/office/drawing/2014/main" val="20000"/>
                    </a:ext>
                  </a:extLst>
                </a:gridCol>
                <a:gridCol w="719657">
                  <a:extLst>
                    <a:ext uri="{9D8B030D-6E8A-4147-A177-3AD203B41FA5}">
                      <a16:colId xmlns:a16="http://schemas.microsoft.com/office/drawing/2014/main" val="20001"/>
                    </a:ext>
                  </a:extLst>
                </a:gridCol>
                <a:gridCol w="720714">
                  <a:extLst>
                    <a:ext uri="{9D8B030D-6E8A-4147-A177-3AD203B41FA5}">
                      <a16:colId xmlns:a16="http://schemas.microsoft.com/office/drawing/2014/main" val="20002"/>
                    </a:ext>
                  </a:extLst>
                </a:gridCol>
                <a:gridCol w="719657">
                  <a:extLst>
                    <a:ext uri="{9D8B030D-6E8A-4147-A177-3AD203B41FA5}">
                      <a16:colId xmlns:a16="http://schemas.microsoft.com/office/drawing/2014/main" val="20003"/>
                    </a:ext>
                  </a:extLst>
                </a:gridCol>
                <a:gridCol w="720714">
                  <a:extLst>
                    <a:ext uri="{9D8B030D-6E8A-4147-A177-3AD203B41FA5}">
                      <a16:colId xmlns:a16="http://schemas.microsoft.com/office/drawing/2014/main" val="20004"/>
                    </a:ext>
                  </a:extLst>
                </a:gridCol>
              </a:tblGrid>
              <a:tr h="308606">
                <a:tc>
                  <a:txBody>
                    <a:bodyPr/>
                    <a:lstStyle/>
                    <a:p>
                      <a:pPr algn="ctr">
                        <a:spcAft>
                          <a:spcPts val="0"/>
                        </a:spcAft>
                      </a:pPr>
                      <a:r>
                        <a:rPr lang="zh-CN" sz="1600" b="1" kern="100" dirty="0">
                          <a:solidFill>
                            <a:srgbClr val="002060"/>
                          </a:solidFill>
                          <a:effectLst>
                            <a:outerShdw blurRad="38100" dist="38100" dir="2700000" algn="tl">
                              <a:srgbClr val="000000">
                                <a:alpha val="43137"/>
                              </a:srgbClr>
                            </a:outerShdw>
                          </a:effectLst>
                          <a:latin typeface="+mn-lt"/>
                          <a:ea typeface="楷体" pitchFamily="49" charset="-122"/>
                        </a:rPr>
                        <a:t>语文</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2060"/>
                          </a:solidFill>
                          <a:effectLst>
                            <a:outerShdw blurRad="38100" dist="38100" dir="2700000" algn="tl">
                              <a:srgbClr val="000000">
                                <a:alpha val="43137"/>
                              </a:srgbClr>
                            </a:outerShdw>
                          </a:effectLst>
                          <a:latin typeface="+mn-lt"/>
                          <a:ea typeface="楷体" pitchFamily="49" charset="-122"/>
                        </a:rPr>
                        <a:t>数学</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2060"/>
                          </a:solidFill>
                          <a:effectLst>
                            <a:outerShdw blurRad="38100" dist="38100" dir="2700000" algn="tl">
                              <a:srgbClr val="000000">
                                <a:alpha val="43137"/>
                              </a:srgbClr>
                            </a:outerShdw>
                          </a:effectLst>
                          <a:latin typeface="+mn-lt"/>
                          <a:ea typeface="楷体" pitchFamily="49" charset="-122"/>
                        </a:rPr>
                        <a:t>英语</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2060"/>
                          </a:solidFill>
                          <a:effectLst>
                            <a:outerShdw blurRad="38100" dist="38100" dir="2700000" algn="tl">
                              <a:srgbClr val="000000">
                                <a:alpha val="43137"/>
                              </a:srgbClr>
                            </a:outerShdw>
                          </a:effectLst>
                          <a:latin typeface="+mn-lt"/>
                          <a:ea typeface="楷体" pitchFamily="49" charset="-122"/>
                        </a:rPr>
                        <a:t>物理</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endParaRPr lang="en-US" sz="1600" b="1" kern="100" dirty="0">
                        <a:solidFill>
                          <a:srgbClr val="002060"/>
                        </a:solidFill>
                        <a:effectLst>
                          <a:outerShdw blurRad="38100" dist="38100" dir="2700000" algn="tl">
                            <a:srgbClr val="000000">
                              <a:alpha val="43137"/>
                            </a:srgbClr>
                          </a:outerShdw>
                        </a:effectLst>
                        <a:latin typeface="+mn-lt"/>
                        <a:ea typeface="楷体" pitchFamily="49" charset="-122"/>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8606">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95</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86</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91</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90.5</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1"/>
                  </a:ext>
                </a:extLst>
              </a:tr>
              <a:tr h="308606">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83</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86</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88.8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2"/>
                  </a:ext>
                </a:extLst>
              </a:tr>
              <a:tr h="308606">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92</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94</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91</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3"/>
                  </a:ext>
                </a:extLst>
              </a:tr>
              <a:tr h="308606">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95</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98</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93</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94</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4"/>
                  </a:ext>
                </a:extLst>
              </a:tr>
              <a:tr h="308606">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89</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92</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a:effectLst>
                            <a:outerShdw blurRad="38100" dist="38100" dir="2700000" algn="tl">
                              <a:srgbClr val="000000">
                                <a:alpha val="43137"/>
                              </a:srgbClr>
                            </a:outerShdw>
                          </a:effectLst>
                          <a:latin typeface="+mn-lt"/>
                          <a:ea typeface="楷体" pitchFamily="49" charset="-122"/>
                        </a:rPr>
                        <a:t>89</a:t>
                      </a:r>
                      <a:endParaRPr lang="zh-CN" sz="1600" b="1" kern="10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92</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E5B7"/>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90.5</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AA1B9"/>
                    </a:solidFill>
                  </a:tcPr>
                </a:tc>
                <a:extLst>
                  <a:ext uri="{0D108BD9-81ED-4DB2-BD59-A6C34878D82A}">
                    <a16:rowId xmlns:a16="http://schemas.microsoft.com/office/drawing/2014/main" val="10005"/>
                  </a:ext>
                </a:extLst>
              </a:tr>
              <a:tr h="308606">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90.8</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DFC4"/>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95.4</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DFC4"/>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88.2</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DFC4"/>
                    </a:solidFill>
                  </a:tcPr>
                </a:tc>
                <a:tc>
                  <a:txBody>
                    <a:bodyPr/>
                    <a:lstStyle/>
                    <a:p>
                      <a:pPr algn="ctr">
                        <a:spcAft>
                          <a:spcPts val="0"/>
                        </a:spcAft>
                      </a:pPr>
                      <a:r>
                        <a:rPr lang="en-US" sz="1600" b="1" kern="100" dirty="0">
                          <a:effectLst>
                            <a:outerShdw blurRad="38100" dist="38100" dir="2700000" algn="tl">
                              <a:srgbClr val="000000">
                                <a:alpha val="43137"/>
                              </a:srgbClr>
                            </a:outerShdw>
                          </a:effectLst>
                          <a:latin typeface="+mn-lt"/>
                          <a:ea typeface="楷体" pitchFamily="49" charset="-122"/>
                        </a:rPr>
                        <a:t>89.4</a:t>
                      </a:r>
                      <a:endParaRPr lang="zh-CN"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DFC4"/>
                    </a:solidFill>
                  </a:tcPr>
                </a:tc>
                <a:tc>
                  <a:txBody>
                    <a:bodyPr/>
                    <a:lstStyle/>
                    <a:p>
                      <a:pPr algn="ctr">
                        <a:spcAft>
                          <a:spcPts val="0"/>
                        </a:spcAft>
                      </a:pPr>
                      <a:endParaRPr lang="en-US" sz="1600" b="1" kern="100" dirty="0">
                        <a:effectLst>
                          <a:outerShdw blurRad="38100" dist="38100" dir="2700000" algn="tl">
                            <a:srgbClr val="000000">
                              <a:alpha val="43137"/>
                            </a:srgbClr>
                          </a:outerShdw>
                        </a:effectLst>
                        <a:latin typeface="+mn-lt"/>
                        <a:ea typeface="楷体" pitchFamily="49"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6"/>
                  </a:ext>
                </a:extLst>
              </a:tr>
            </a:tbl>
          </a:graphicData>
        </a:graphic>
      </p:graphicFrame>
      <p:grpSp>
        <p:nvGrpSpPr>
          <p:cNvPr id="74" name="组合 73"/>
          <p:cNvGrpSpPr/>
          <p:nvPr/>
        </p:nvGrpSpPr>
        <p:grpSpPr>
          <a:xfrm>
            <a:off x="3827006" y="4331408"/>
            <a:ext cx="1944584" cy="1596208"/>
            <a:chOff x="1103584" y="4425080"/>
            <a:chExt cx="1944584" cy="1596208"/>
          </a:xfrm>
        </p:grpSpPr>
        <p:grpSp>
          <p:nvGrpSpPr>
            <p:cNvPr id="33" name="组合 32"/>
            <p:cNvGrpSpPr/>
            <p:nvPr/>
          </p:nvGrpSpPr>
          <p:grpSpPr>
            <a:xfrm>
              <a:off x="1103952" y="4425080"/>
              <a:ext cx="1944216" cy="338554"/>
              <a:chOff x="1103952" y="4425080"/>
              <a:chExt cx="1944216" cy="338554"/>
            </a:xfrm>
          </p:grpSpPr>
          <p:sp>
            <p:nvSpPr>
              <p:cNvPr id="28" name="TextBox 27"/>
              <p:cNvSpPr txBox="1"/>
              <p:nvPr/>
            </p:nvSpPr>
            <p:spPr>
              <a:xfrm>
                <a:off x="1103952" y="4425080"/>
                <a:ext cx="1584176" cy="338554"/>
              </a:xfrm>
              <a:prstGeom prst="rect">
                <a:avLst/>
              </a:prstGeom>
              <a:noFill/>
            </p:spPr>
            <p:txBody>
              <a:bodyPr wrap="square" rtlCol="0">
                <a:spAutoFit/>
              </a:bodyPr>
              <a:lstStyle/>
              <a:p>
                <a:r>
                  <a:rPr lang="zh-CN" altLang="en-US" sz="1600" b="1" dirty="0">
                    <a:latin typeface="+mn-lt"/>
                    <a:ea typeface="楷体" pitchFamily="49" charset="-122"/>
                  </a:rPr>
                  <a:t>第</a:t>
                </a:r>
                <a:r>
                  <a:rPr lang="en-US" altLang="zh-CN" sz="1600" b="1" dirty="0">
                    <a:latin typeface="+mn-lt"/>
                    <a:ea typeface="楷体" pitchFamily="49" charset="-122"/>
                  </a:rPr>
                  <a:t>1</a:t>
                </a:r>
                <a:r>
                  <a:rPr lang="zh-CN" altLang="en-US" sz="1600" b="1" dirty="0">
                    <a:latin typeface="+mn-lt"/>
                    <a:ea typeface="楷体" pitchFamily="49" charset="-122"/>
                  </a:rPr>
                  <a:t>个学生成绩</a:t>
                </a:r>
              </a:p>
            </p:txBody>
          </p:sp>
          <p:cxnSp>
            <p:nvCxnSpPr>
              <p:cNvPr id="32" name="直接箭头连接符 31"/>
              <p:cNvCxnSpPr/>
              <p:nvPr/>
            </p:nvCxnSpPr>
            <p:spPr bwMode="auto">
              <a:xfrm>
                <a:off x="2616120" y="4617040"/>
                <a:ext cx="432048" cy="0"/>
              </a:xfrm>
              <a:prstGeom prst="straightConnector1">
                <a:avLst/>
              </a:prstGeom>
              <a:solidFill>
                <a:schemeClr val="accent1"/>
              </a:solidFill>
              <a:ln w="25400" cap="flat" cmpd="sng" algn="ctr">
                <a:solidFill>
                  <a:schemeClr val="tx1"/>
                </a:solidFill>
                <a:prstDash val="solid"/>
                <a:round/>
                <a:headEnd type="none" w="med" len="med"/>
                <a:tailEnd type="stealth" w="lg" len="lg"/>
              </a:ln>
              <a:effectLst/>
            </p:spPr>
          </p:cxnSp>
        </p:grpSp>
        <p:grpSp>
          <p:nvGrpSpPr>
            <p:cNvPr id="34" name="组合 33"/>
            <p:cNvGrpSpPr/>
            <p:nvPr/>
          </p:nvGrpSpPr>
          <p:grpSpPr>
            <a:xfrm>
              <a:off x="1103584" y="4746630"/>
              <a:ext cx="1944216" cy="338554"/>
              <a:chOff x="1103952" y="4425080"/>
              <a:chExt cx="1944216" cy="338554"/>
            </a:xfrm>
          </p:grpSpPr>
          <p:sp>
            <p:nvSpPr>
              <p:cNvPr id="35" name="TextBox 34"/>
              <p:cNvSpPr txBox="1"/>
              <p:nvPr/>
            </p:nvSpPr>
            <p:spPr>
              <a:xfrm>
                <a:off x="1103952" y="4425080"/>
                <a:ext cx="1584176" cy="338554"/>
              </a:xfrm>
              <a:prstGeom prst="rect">
                <a:avLst/>
              </a:prstGeom>
              <a:noFill/>
            </p:spPr>
            <p:txBody>
              <a:bodyPr wrap="square" rtlCol="0">
                <a:spAutoFit/>
              </a:bodyPr>
              <a:lstStyle/>
              <a:p>
                <a:r>
                  <a:rPr lang="zh-CN" altLang="en-US" sz="1600" b="1" dirty="0">
                    <a:latin typeface="+mn-lt"/>
                    <a:ea typeface="楷体" pitchFamily="49" charset="-122"/>
                  </a:rPr>
                  <a:t>第</a:t>
                </a:r>
                <a:r>
                  <a:rPr lang="en-US" altLang="zh-CN" sz="1600" b="1" dirty="0">
                    <a:latin typeface="+mn-lt"/>
                    <a:ea typeface="楷体" pitchFamily="49" charset="-122"/>
                  </a:rPr>
                  <a:t>2</a:t>
                </a:r>
                <a:r>
                  <a:rPr lang="zh-CN" altLang="en-US" sz="1600" b="1" dirty="0">
                    <a:latin typeface="+mn-lt"/>
                    <a:ea typeface="楷体" pitchFamily="49" charset="-122"/>
                  </a:rPr>
                  <a:t>个学生成绩</a:t>
                </a:r>
              </a:p>
            </p:txBody>
          </p:sp>
          <p:cxnSp>
            <p:nvCxnSpPr>
              <p:cNvPr id="36" name="直接箭头连接符 35"/>
              <p:cNvCxnSpPr/>
              <p:nvPr/>
            </p:nvCxnSpPr>
            <p:spPr bwMode="auto">
              <a:xfrm>
                <a:off x="2616120" y="4617040"/>
                <a:ext cx="432048" cy="0"/>
              </a:xfrm>
              <a:prstGeom prst="straightConnector1">
                <a:avLst/>
              </a:prstGeom>
              <a:solidFill>
                <a:schemeClr val="accent1"/>
              </a:solidFill>
              <a:ln w="25400" cap="flat" cmpd="sng" algn="ctr">
                <a:solidFill>
                  <a:schemeClr val="tx1"/>
                </a:solidFill>
                <a:prstDash val="solid"/>
                <a:round/>
                <a:headEnd type="none" w="med" len="med"/>
                <a:tailEnd type="stealth" w="lg" len="lg"/>
              </a:ln>
              <a:effectLst/>
            </p:spPr>
          </p:cxnSp>
        </p:grpSp>
        <p:grpSp>
          <p:nvGrpSpPr>
            <p:cNvPr id="37" name="组合 36"/>
            <p:cNvGrpSpPr/>
            <p:nvPr/>
          </p:nvGrpSpPr>
          <p:grpSpPr>
            <a:xfrm>
              <a:off x="1103584" y="5682734"/>
              <a:ext cx="1944216" cy="338554"/>
              <a:chOff x="1103952" y="4425080"/>
              <a:chExt cx="1944216" cy="338554"/>
            </a:xfrm>
          </p:grpSpPr>
          <p:sp>
            <p:nvSpPr>
              <p:cNvPr id="38" name="TextBox 37"/>
              <p:cNvSpPr txBox="1"/>
              <p:nvPr/>
            </p:nvSpPr>
            <p:spPr>
              <a:xfrm>
                <a:off x="1103952" y="4425080"/>
                <a:ext cx="1584176" cy="338554"/>
              </a:xfrm>
              <a:prstGeom prst="rect">
                <a:avLst/>
              </a:prstGeom>
              <a:noFill/>
            </p:spPr>
            <p:txBody>
              <a:bodyPr wrap="square" rtlCol="0">
                <a:spAutoFit/>
              </a:bodyPr>
              <a:lstStyle/>
              <a:p>
                <a:r>
                  <a:rPr lang="zh-CN" altLang="en-US" sz="1600" b="1" dirty="0">
                    <a:latin typeface="+mn-lt"/>
                    <a:ea typeface="楷体" pitchFamily="49" charset="-122"/>
                  </a:rPr>
                  <a:t>第</a:t>
                </a:r>
                <a:r>
                  <a:rPr lang="en-US" altLang="zh-CN" sz="1600" b="1" dirty="0">
                    <a:latin typeface="+mn-lt"/>
                    <a:ea typeface="楷体" pitchFamily="49" charset="-122"/>
                  </a:rPr>
                  <a:t>5</a:t>
                </a:r>
                <a:r>
                  <a:rPr lang="zh-CN" altLang="en-US" sz="1600" b="1" dirty="0">
                    <a:latin typeface="+mn-lt"/>
                    <a:ea typeface="楷体" pitchFamily="49" charset="-122"/>
                  </a:rPr>
                  <a:t>个学生成绩</a:t>
                </a:r>
              </a:p>
            </p:txBody>
          </p:sp>
          <p:cxnSp>
            <p:nvCxnSpPr>
              <p:cNvPr id="39" name="直接箭头连接符 38"/>
              <p:cNvCxnSpPr/>
              <p:nvPr/>
            </p:nvCxnSpPr>
            <p:spPr bwMode="auto">
              <a:xfrm>
                <a:off x="2616120" y="4617040"/>
                <a:ext cx="432048" cy="0"/>
              </a:xfrm>
              <a:prstGeom prst="straightConnector1">
                <a:avLst/>
              </a:prstGeom>
              <a:solidFill>
                <a:schemeClr val="accent1"/>
              </a:solidFill>
              <a:ln w="25400" cap="flat" cmpd="sng" algn="ctr">
                <a:solidFill>
                  <a:schemeClr val="tx1"/>
                </a:solidFill>
                <a:prstDash val="solid"/>
                <a:round/>
                <a:headEnd type="none" w="med" len="med"/>
                <a:tailEnd type="stealth" w="lg" len="lg"/>
              </a:ln>
              <a:effectLst/>
            </p:spPr>
          </p:cxnSp>
        </p:grpSp>
        <p:sp>
          <p:nvSpPr>
            <p:cNvPr id="43" name="TextBox 42"/>
            <p:cNvSpPr txBox="1"/>
            <p:nvPr/>
          </p:nvSpPr>
          <p:spPr>
            <a:xfrm>
              <a:off x="1641738" y="5157192"/>
              <a:ext cx="553998" cy="432048"/>
            </a:xfrm>
            <a:prstGeom prst="rect">
              <a:avLst/>
            </a:prstGeom>
            <a:noFill/>
          </p:spPr>
          <p:txBody>
            <a:bodyPr vert="eaVert" wrap="square" rtlCol="0">
              <a:spAutoFit/>
            </a:bodyPr>
            <a:lstStyle/>
            <a:p>
              <a:r>
                <a:rPr lang="en-US" altLang="zh-CN" b="1" dirty="0"/>
                <a:t>︙</a:t>
              </a:r>
              <a:endParaRPr lang="zh-CN" altLang="zh-CN" b="1" dirty="0"/>
            </a:p>
          </p:txBody>
        </p:sp>
      </p:grpSp>
      <p:grpSp>
        <p:nvGrpSpPr>
          <p:cNvPr id="68" name="组合 67"/>
          <p:cNvGrpSpPr/>
          <p:nvPr/>
        </p:nvGrpSpPr>
        <p:grpSpPr>
          <a:xfrm>
            <a:off x="8760296" y="4199424"/>
            <a:ext cx="2412360" cy="1872208"/>
            <a:chOff x="6012160" y="4293096"/>
            <a:chExt cx="2412360" cy="1872208"/>
          </a:xfrm>
        </p:grpSpPr>
        <p:sp>
          <p:nvSpPr>
            <p:cNvPr id="45" name="椭圆 44"/>
            <p:cNvSpPr/>
            <p:nvPr/>
          </p:nvSpPr>
          <p:spPr bwMode="auto">
            <a:xfrm>
              <a:off x="6012160" y="4293096"/>
              <a:ext cx="504056" cy="187220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65" name="线形标注 2 64"/>
            <p:cNvSpPr/>
            <p:nvPr/>
          </p:nvSpPr>
          <p:spPr bwMode="auto">
            <a:xfrm>
              <a:off x="7128376" y="4365104"/>
              <a:ext cx="1296144" cy="576064"/>
            </a:xfrm>
            <a:prstGeom prst="borderCallout2">
              <a:avLst/>
            </a:prstGeom>
            <a:gradFill flip="none" rotWithShape="1">
              <a:gsLst>
                <a:gs pos="0">
                  <a:srgbClr val="CFCFD1"/>
                </a:gs>
                <a:gs pos="100000">
                  <a:schemeClr val="bg1">
                    <a:lumMod val="95000"/>
                  </a:schemeClr>
                </a:gs>
              </a:gsLst>
              <a:lin ang="13500000" scaled="1"/>
              <a:tileRect/>
            </a:gradFill>
            <a:ln w="1905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r>
                <a:rPr lang="zh-CN" altLang="zh-CN" sz="1600" b="1" dirty="0">
                  <a:latin typeface="+mn-lt"/>
                  <a:ea typeface="楷体" pitchFamily="49" charset="-122"/>
                </a:rPr>
                <a:t>每个学生的平均成绩</a:t>
              </a:r>
            </a:p>
            <a:p>
              <a:endParaRPr lang="zh-CN" altLang="en-US" dirty="0"/>
            </a:p>
          </p:txBody>
        </p:sp>
      </p:grpSp>
      <p:grpSp>
        <p:nvGrpSpPr>
          <p:cNvPr id="69" name="组合 68"/>
          <p:cNvGrpSpPr/>
          <p:nvPr/>
        </p:nvGrpSpPr>
        <p:grpSpPr>
          <a:xfrm>
            <a:off x="4199078" y="5855608"/>
            <a:ext cx="4392488" cy="720080"/>
            <a:chOff x="1475656" y="5949280"/>
            <a:chExt cx="4392488" cy="720080"/>
          </a:xfrm>
        </p:grpSpPr>
        <p:sp>
          <p:nvSpPr>
            <p:cNvPr id="44" name="椭圆 43"/>
            <p:cNvSpPr/>
            <p:nvPr/>
          </p:nvSpPr>
          <p:spPr bwMode="auto">
            <a:xfrm>
              <a:off x="3131840" y="5949280"/>
              <a:ext cx="2736304" cy="43204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67" name="线形标注 2 66"/>
            <p:cNvSpPr/>
            <p:nvPr/>
          </p:nvSpPr>
          <p:spPr bwMode="auto">
            <a:xfrm>
              <a:off x="1475656" y="6093296"/>
              <a:ext cx="1296144" cy="576064"/>
            </a:xfrm>
            <a:prstGeom prst="borderCallout2">
              <a:avLst>
                <a:gd name="adj1" fmla="val 54256"/>
                <a:gd name="adj2" fmla="val 103058"/>
                <a:gd name="adj3" fmla="val 100205"/>
                <a:gd name="adj4" fmla="val 141137"/>
                <a:gd name="adj5" fmla="val 47754"/>
                <a:gd name="adj6" fmla="val 195609"/>
              </a:avLst>
            </a:prstGeom>
            <a:gradFill flip="none" rotWithShape="1">
              <a:gsLst>
                <a:gs pos="0">
                  <a:srgbClr val="CFCFD1"/>
                </a:gs>
                <a:gs pos="100000">
                  <a:schemeClr val="bg1">
                    <a:lumMod val="95000"/>
                  </a:schemeClr>
                </a:gs>
              </a:gsLst>
              <a:lin ang="13500000" scaled="1"/>
              <a:tileRect/>
            </a:gradFill>
            <a:ln w="1905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r>
                <a:rPr lang="zh-CN" altLang="zh-CN" sz="1600" b="1" dirty="0">
                  <a:latin typeface="+mn-lt"/>
                  <a:ea typeface="楷体" pitchFamily="49" charset="-122"/>
                </a:rPr>
                <a:t>每门课程的平均成绩</a:t>
              </a:r>
            </a:p>
          </p:txBody>
        </p:sp>
      </p:grpSp>
      <p:sp>
        <p:nvSpPr>
          <p:cNvPr id="75" name="矩形 74"/>
          <p:cNvSpPr/>
          <p:nvPr/>
        </p:nvSpPr>
        <p:spPr>
          <a:xfrm>
            <a:off x="948508" y="5079489"/>
            <a:ext cx="2895344" cy="400110"/>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none">
            <a:spAutoFit/>
          </a:bodyPr>
          <a:lstStyle/>
          <a:p>
            <a:r>
              <a:rPr lang="zh-CN" altLang="zh-CN" sz="2000" b="1" dirty="0">
                <a:solidFill>
                  <a:srgbClr val="C01920"/>
                </a:solidFill>
                <a:latin typeface="隶书" pitchFamily="49" charset="-122"/>
                <a:ea typeface="隶书" pitchFamily="49" charset="-122"/>
              </a:rPr>
              <a:t>课程成绩二维数组结构</a:t>
            </a:r>
            <a:r>
              <a:rPr lang="en-US" altLang="zh-CN" sz="2000" b="1" dirty="0">
                <a:solidFill>
                  <a:srgbClr val="C01920"/>
                </a:solidFill>
                <a:latin typeface="隶书" pitchFamily="49" charset="-122"/>
                <a:ea typeface="隶书" pitchFamily="49" charset="-122"/>
              </a:rPr>
              <a:t>:</a:t>
            </a:r>
            <a:endParaRPr lang="zh-CN" altLang="en-US" sz="2000" b="1" dirty="0">
              <a:solidFill>
                <a:srgbClr val="C01920"/>
              </a:solidFill>
              <a:latin typeface="隶书" pitchFamily="49" charset="-122"/>
              <a:ea typeface="隶书" pitchFamily="49" charset="-122"/>
            </a:endParaRPr>
          </a:p>
        </p:txBody>
      </p:sp>
      <p:sp>
        <p:nvSpPr>
          <p:cNvPr id="29" name="Rectangle 9">
            <a:extLst>
              <a:ext uri="{FF2B5EF4-FFF2-40B4-BE49-F238E27FC236}">
                <a16:creationId xmlns:a16="http://schemas.microsoft.com/office/drawing/2014/main" id="{75A544F0-6330-4369-8B2E-B21050CD2579}"/>
              </a:ext>
            </a:extLst>
          </p:cNvPr>
          <p:cNvSpPr>
            <a:spLocks noChangeArrowheads="1"/>
          </p:cNvSpPr>
          <p:nvPr/>
        </p:nvSpPr>
        <p:spPr bwMode="auto">
          <a:xfrm>
            <a:off x="479376" y="1067544"/>
            <a:ext cx="11233248" cy="369332"/>
          </a:xfrm>
          <a:prstGeom prst="rect">
            <a:avLst/>
          </a:prstGeom>
          <a:noFill/>
          <a:ln w="9525">
            <a:noFill/>
            <a:miter lim="800000"/>
            <a:headEnd/>
            <a:tailEnd/>
          </a:ln>
          <a:effectLst/>
        </p:spPr>
        <p:txBody>
          <a:bodyPr wrap="square" anchor="ctr">
            <a:spAutoFit/>
          </a:bodyPr>
          <a:lstStyle/>
          <a:p>
            <a:r>
              <a:rPr lang="zh-CN" altLang="en-US" b="1" dirty="0">
                <a:solidFill>
                  <a:srgbClr val="00B0F0"/>
                </a:solidFill>
                <a:latin typeface="楷体" panose="02010609060101010101" pitchFamily="49" charset="-122"/>
                <a:ea typeface="楷体" panose="02010609060101010101" pitchFamily="49" charset="-122"/>
              </a:rPr>
              <a:t>   </a:t>
            </a:r>
            <a:r>
              <a:rPr lang="en-US" altLang="zh-CN" b="1" dirty="0">
                <a:solidFill>
                  <a:srgbClr val="00B0F0"/>
                </a:solidFill>
                <a:latin typeface="楷体" panose="02010609060101010101" pitchFamily="49" charset="-122"/>
                <a:ea typeface="楷体" panose="02010609060101010101" pitchFamily="49" charset="-122"/>
              </a:rPr>
              <a:t>【</a:t>
            </a:r>
            <a:r>
              <a:rPr lang="zh-CN" altLang="en-US" b="1" dirty="0">
                <a:solidFill>
                  <a:srgbClr val="00B0F0"/>
                </a:solidFill>
                <a:latin typeface="楷体" panose="02010609060101010101" pitchFamily="49" charset="-122"/>
                <a:ea typeface="楷体" panose="02010609060101010101" pitchFamily="49" charset="-122"/>
              </a:rPr>
              <a:t>例</a:t>
            </a:r>
            <a:r>
              <a:rPr lang="en-US" altLang="zh-CN" b="1" dirty="0">
                <a:solidFill>
                  <a:srgbClr val="00B0F0"/>
                </a:solidFill>
                <a:latin typeface="楷体" panose="02010609060101010101" pitchFamily="49" charset="-122"/>
                <a:ea typeface="楷体" panose="02010609060101010101" pitchFamily="49" charset="-122"/>
              </a:rPr>
              <a:t>3】 </a:t>
            </a:r>
            <a:r>
              <a:rPr lang="zh-CN" altLang="en-US" b="1" dirty="0">
                <a:solidFill>
                  <a:srgbClr val="00B0F0"/>
                </a:solidFill>
                <a:latin typeface="楷体" panose="02010609060101010101" pitchFamily="49" charset="-122"/>
                <a:ea typeface="楷体" panose="02010609060101010101" pitchFamily="49" charset="-122"/>
              </a:rPr>
              <a:t>输入多个学生多门课程的成绩，分别求每个学生的平均成绩和每门课程的平均成绩。</a:t>
            </a:r>
          </a:p>
        </p:txBody>
      </p:sp>
      <p:sp>
        <p:nvSpPr>
          <p:cNvPr id="30" name="Rectangle 4">
            <a:extLst>
              <a:ext uri="{FF2B5EF4-FFF2-40B4-BE49-F238E27FC236}">
                <a16:creationId xmlns:a16="http://schemas.microsoft.com/office/drawing/2014/main" id="{5F1657A6-7CE1-42AC-98CE-E47944D31AF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Tree>
    <p:extLst>
      <p:ext uri="{BB962C8B-B14F-4D97-AF65-F5344CB8AC3E}">
        <p14:creationId xmlns:p14="http://schemas.microsoft.com/office/powerpoint/2010/main" val="1276789195"/>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ox(out)">
                                      <p:cBhvr>
                                        <p:cTn id="7" dur="500"/>
                                        <p:tgtEl>
                                          <p:spTgt spid="2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97386"/>
                                        </p:tgtEl>
                                        <p:attrNameLst>
                                          <p:attrName>style.visibility</p:attrName>
                                        </p:attrNameLst>
                                      </p:cBhvr>
                                      <p:to>
                                        <p:strVal val="visible"/>
                                      </p:to>
                                    </p:set>
                                    <p:animEffect transition="in" filter="box(out)">
                                      <p:cBhvr>
                                        <p:cTn id="12" dur="500"/>
                                        <p:tgtEl>
                                          <p:spTgt spid="99738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strips(downRight)">
                                      <p:cBhvr>
                                        <p:cTn id="17" dur="500"/>
                                        <p:tgtEl>
                                          <p:spTgt spid="75"/>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strips(downRight)">
                                      <p:cBhvr>
                                        <p:cTn id="22" dur="500"/>
                                        <p:tgtEl>
                                          <p:spTgt spid="74"/>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500"/>
                            </p:stCondLst>
                            <p:childTnLst>
                              <p:par>
                                <p:cTn id="24" presetID="18" presetClass="entr" presetSubtype="6" fill="hold"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strips(downRight)">
                                      <p:cBhvr>
                                        <p:cTn id="26" dur="500"/>
                                        <p:tgtEl>
                                          <p:spTgt spid="27"/>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3" fill="hold" nodeType="click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strips(upRight)">
                                      <p:cBhvr>
                                        <p:cTn id="31" dur="500"/>
                                        <p:tgtEl>
                                          <p:spTgt spid="68"/>
                                        </p:tgtEl>
                                      </p:cBhvr>
                                    </p:animEffect>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12" fill="hold" nodeType="clickEffect">
                                  <p:stCondLst>
                                    <p:cond delay="0"/>
                                  </p:stCondLst>
                                  <p:childTnLst>
                                    <p:set>
                                      <p:cBhvr>
                                        <p:cTn id="35" dur="1" fill="hold">
                                          <p:stCondLst>
                                            <p:cond delay="0"/>
                                          </p:stCondLst>
                                        </p:cTn>
                                        <p:tgtEl>
                                          <p:spTgt spid="69"/>
                                        </p:tgtEl>
                                        <p:attrNameLst>
                                          <p:attrName>style.visibility</p:attrName>
                                        </p:attrNameLst>
                                      </p:cBhvr>
                                      <p:to>
                                        <p:strVal val="visible"/>
                                      </p:to>
                                    </p:set>
                                    <p:animEffect transition="in" filter="strips(downLeft)">
                                      <p:cBhvr>
                                        <p:cTn id="36" dur="500"/>
                                        <p:tgtEl>
                                          <p:spTgt spid="69"/>
                                        </p:tgtEl>
                                      </p:cBhvr>
                                    </p:animEffect>
                                  </p:childTnLst>
                                  <p:subTnLst>
                                    <p:audio>
                                      <p:cMediaNode>
                                        <p:cTn display="0" masterRel="sameClick">
                                          <p:stCondLst>
                                            <p:cond evt="begin" delay="0">
                                              <p:tn val="3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86" grpId="0"/>
      <p:bldP spid="75" grpId="0"/>
      <p:bldP spid="2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11B8C123-D647-4D63-8555-9E2A92D70A3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二维数组及多维数组</a:t>
            </a:r>
          </a:p>
        </p:txBody>
      </p:sp>
      <p:sp>
        <p:nvSpPr>
          <p:cNvPr id="998408" name="Text Box 8" descr="信纸"/>
          <p:cNvSpPr txBox="1">
            <a:spLocks noChangeArrowheads="1"/>
          </p:cNvSpPr>
          <p:nvPr/>
        </p:nvSpPr>
        <p:spPr bwMode="auto">
          <a:xfrm>
            <a:off x="548235" y="260648"/>
            <a:ext cx="7345363" cy="4702175"/>
          </a:xfrm>
          <a:prstGeom prst="rect">
            <a:avLst/>
          </a:prstGeom>
          <a:gradFill>
            <a:gsLst>
              <a:gs pos="0">
                <a:srgbClr val="CFCFD1"/>
              </a:gs>
              <a:gs pos="100000">
                <a:schemeClr val="bg1">
                  <a:lumMod val="95000"/>
                </a:schemeClr>
              </a:gs>
            </a:gsLst>
            <a:lin ang="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#define </a:t>
            </a:r>
            <a:r>
              <a:rPr lang="en-US" altLang="zh-CN" sz="2000" b="1" dirty="0" err="1">
                <a:ea typeface="楷体_GB2312" pitchFamily="49" charset="-122"/>
              </a:rPr>
              <a:t>NUM_std</a:t>
            </a:r>
            <a:r>
              <a:rPr lang="en-US" altLang="zh-CN" sz="2000" b="1" dirty="0">
                <a:ea typeface="楷体_GB2312" pitchFamily="49" charset="-122"/>
              </a:rPr>
              <a:t>     5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定义符号常量学生人数为</a:t>
            </a:r>
            <a:r>
              <a:rPr lang="en-US" altLang="zh-CN" sz="1800" b="1" dirty="0">
                <a:solidFill>
                  <a:srgbClr val="002060"/>
                </a:solidFill>
                <a:latin typeface="+mn-lt"/>
                <a:ea typeface="楷体" pitchFamily="49" charset="-122"/>
              </a:rPr>
              <a:t>5</a:t>
            </a:r>
          </a:p>
          <a:p>
            <a:pPr marL="457200" indent="-457200"/>
            <a:r>
              <a:rPr lang="en-US" altLang="zh-CN" sz="2000" b="1" dirty="0">
                <a:ea typeface="楷体_GB2312" pitchFamily="49" charset="-122"/>
              </a:rPr>
              <a:t>#define </a:t>
            </a:r>
            <a:r>
              <a:rPr lang="en-US" altLang="zh-CN" sz="2000" b="1" dirty="0" err="1">
                <a:ea typeface="楷体_GB2312" pitchFamily="49" charset="-122"/>
              </a:rPr>
              <a:t>NUM_course</a:t>
            </a:r>
            <a:r>
              <a:rPr lang="en-US" altLang="zh-CN" sz="2000" b="1" dirty="0">
                <a:ea typeface="楷体_GB2312" pitchFamily="49" charset="-122"/>
              </a:rPr>
              <a:t>  4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定义符号常量课程门数为</a:t>
            </a:r>
            <a:r>
              <a:rPr lang="en-US" altLang="zh-CN" sz="1800" b="1" dirty="0">
                <a:solidFill>
                  <a:srgbClr val="002060"/>
                </a:solidFill>
                <a:latin typeface="+mn-lt"/>
                <a:ea typeface="楷体" pitchFamily="49" charset="-122"/>
              </a:rPr>
              <a:t>4</a:t>
            </a:r>
          </a:p>
          <a:p>
            <a:pPr marL="457200" indent="-457200"/>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j;</a:t>
            </a:r>
          </a:p>
          <a:p>
            <a:pPr marL="457200" indent="-457200"/>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定义成绩数组，各元素初值为</a:t>
            </a:r>
            <a:r>
              <a:rPr lang="en-US" altLang="zh-CN" sz="1800" b="1" dirty="0">
                <a:solidFill>
                  <a:srgbClr val="002060"/>
                </a:solidFill>
                <a:latin typeface="+mn-lt"/>
                <a:ea typeface="楷体" pitchFamily="49" charset="-122"/>
              </a:rPr>
              <a:t>0</a:t>
            </a:r>
          </a:p>
          <a:p>
            <a:pPr marL="457200" indent="-457200"/>
            <a:r>
              <a:rPr lang="en-US" altLang="zh-CN" sz="2000" b="1" dirty="0">
                <a:ea typeface="楷体_GB2312" pitchFamily="49" charset="-122"/>
              </a:rPr>
              <a:t>  float score[NUM_std+1][NUM_course+1] = {0}; </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a:t>
            </a:r>
            <a:r>
              <a:rPr lang="en-US" altLang="zh-CN" sz="2000" b="1" dirty="0" err="1">
                <a:ea typeface="楷体_GB2312" pitchFamily="49" charset="-122"/>
              </a:rPr>
              <a:t>NUM_std</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a:t>
            </a:r>
          </a:p>
          <a:p>
            <a:pPr marL="457200" indent="-457200"/>
            <a:r>
              <a:rPr lang="en-US" altLang="zh-CN" sz="2000" b="1" dirty="0">
                <a:ea typeface="楷体_GB2312" pitchFamily="49" charset="-122"/>
              </a:rPr>
              <a:t>    for (j = 0; j &lt; </a:t>
            </a:r>
            <a:r>
              <a:rPr lang="en-US" altLang="zh-CN" sz="2000" b="1" dirty="0" err="1">
                <a:ea typeface="楷体_GB2312" pitchFamily="49" charset="-122"/>
              </a:rPr>
              <a:t>NUM_course</a:t>
            </a:r>
            <a:r>
              <a:rPr lang="en-US" altLang="zh-CN" sz="2000" b="1" dirty="0">
                <a:ea typeface="楷体_GB2312" pitchFamily="49" charset="-122"/>
              </a:rPr>
              <a:t>; j++)</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mark of %</a:t>
            </a:r>
            <a:r>
              <a:rPr lang="en-US" altLang="zh-CN" sz="2000" b="1" dirty="0" err="1">
                <a:ea typeface="楷体_GB2312" pitchFamily="49" charset="-122"/>
              </a:rPr>
              <a:t>dth</a:t>
            </a:r>
            <a:r>
              <a:rPr lang="en-US" altLang="zh-CN" sz="2000" b="1" dirty="0">
                <a:ea typeface="楷体_GB2312" pitchFamily="49" charset="-122"/>
              </a:rPr>
              <a:t> </a:t>
            </a:r>
            <a:r>
              <a:rPr lang="en-US" altLang="zh-CN" sz="2000" b="1" dirty="0" err="1">
                <a:ea typeface="楷体_GB2312" pitchFamily="49" charset="-122"/>
              </a:rPr>
              <a:t>courseof</a:t>
            </a:r>
            <a:r>
              <a:rPr lang="en-US" altLang="zh-CN" sz="2000" b="1" dirty="0">
                <a:ea typeface="楷体_GB2312" pitchFamily="49" charset="-122"/>
              </a:rPr>
              <a:t> %</a:t>
            </a:r>
            <a:r>
              <a:rPr lang="en-US" altLang="zh-CN" sz="2000" b="1" dirty="0" err="1">
                <a:ea typeface="楷体_GB2312" pitchFamily="49" charset="-122"/>
              </a:rPr>
              <a:t>dth</a:t>
            </a:r>
            <a:r>
              <a:rPr lang="en-US" altLang="zh-CN" sz="2000" b="1" dirty="0">
                <a:ea typeface="楷体_GB2312" pitchFamily="49" charset="-122"/>
              </a:rPr>
              <a:t> student: ",</a:t>
            </a:r>
          </a:p>
          <a:p>
            <a:pPr marL="457200" indent="-457200"/>
            <a:r>
              <a:rPr lang="en-US" altLang="zh-CN" sz="2000" b="1" dirty="0">
                <a:ea typeface="楷体_GB2312" pitchFamily="49" charset="-122"/>
              </a:rPr>
              <a:t>                    j+1, i+1);</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("%f", &amp;score[</a:t>
            </a:r>
            <a:r>
              <a:rPr lang="en-US" altLang="zh-CN" sz="2000" b="1" dirty="0" err="1">
                <a:ea typeface="楷体_GB2312" pitchFamily="49" charset="-122"/>
              </a:rPr>
              <a:t>i</a:t>
            </a:r>
            <a:r>
              <a:rPr lang="en-US" altLang="zh-CN" sz="2000" b="1" dirty="0">
                <a:ea typeface="楷体_GB2312" pitchFamily="49" charset="-122"/>
              </a:rPr>
              <a:t>][j]);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个学生的第</a:t>
            </a:r>
            <a:r>
              <a:rPr lang="en-US" altLang="zh-CN" sz="1800" b="1" dirty="0">
                <a:solidFill>
                  <a:srgbClr val="002060"/>
                </a:solidFill>
                <a:latin typeface="+mn-lt"/>
                <a:ea typeface="楷体" pitchFamily="49" charset="-122"/>
              </a:rPr>
              <a:t>j</a:t>
            </a:r>
            <a:r>
              <a:rPr lang="zh-CN" altLang="en-US" sz="1800" b="1" dirty="0">
                <a:solidFill>
                  <a:srgbClr val="002060"/>
                </a:solidFill>
                <a:latin typeface="+mn-lt"/>
                <a:ea typeface="楷体" pitchFamily="49" charset="-122"/>
              </a:rPr>
              <a:t>门课的成绩</a:t>
            </a:r>
          </a:p>
          <a:p>
            <a:pPr marL="457200" indent="-457200"/>
            <a:r>
              <a:rPr lang="zh-CN" altLang="en-US" sz="2000" b="1" dirty="0">
                <a:ea typeface="楷体_GB2312" pitchFamily="49" charset="-122"/>
              </a:rPr>
              <a:t>    </a:t>
            </a:r>
            <a:r>
              <a:rPr lang="en-US" altLang="zh-CN" sz="2000" b="1" dirty="0">
                <a:ea typeface="楷体_GB2312" pitchFamily="49" charset="-122"/>
              </a:rPr>
              <a:t>}</a:t>
            </a:r>
          </a:p>
        </p:txBody>
      </p:sp>
      <p:sp>
        <p:nvSpPr>
          <p:cNvPr id="998409" name="Text Box 9" descr="信纸"/>
          <p:cNvSpPr txBox="1">
            <a:spLocks noChangeArrowheads="1"/>
          </p:cNvSpPr>
          <p:nvPr/>
        </p:nvSpPr>
        <p:spPr bwMode="auto">
          <a:xfrm>
            <a:off x="4220917" y="831358"/>
            <a:ext cx="7561263" cy="3482975"/>
          </a:xfrm>
          <a:prstGeom prst="rect">
            <a:avLst/>
          </a:prstGeom>
          <a:gradFill>
            <a:gsLst>
              <a:gs pos="0">
                <a:srgbClr val="CFCFD1"/>
              </a:gs>
              <a:gs pos="100000">
                <a:schemeClr val="bg1">
                  <a:lumMod val="95000"/>
                </a:schemeClr>
              </a:gs>
            </a:gsLst>
            <a:lin ang="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a:t>
            </a:r>
            <a:r>
              <a:rPr lang="en-US" altLang="zh-CN" sz="2000" b="1" dirty="0" err="1">
                <a:ea typeface="楷体_GB2312" pitchFamily="49" charset="-122"/>
              </a:rPr>
              <a:t>NUM_std</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for (j = 0; j &lt; </a:t>
            </a:r>
            <a:r>
              <a:rPr lang="en-US" altLang="zh-CN" sz="2000" b="1" dirty="0" err="1">
                <a:ea typeface="楷体_GB2312" pitchFamily="49" charset="-122"/>
              </a:rPr>
              <a:t>NUM_course</a:t>
            </a:r>
            <a:r>
              <a:rPr lang="en-US" altLang="zh-CN" sz="2000" b="1" dirty="0">
                <a:ea typeface="楷体_GB2312" pitchFamily="49" charset="-122"/>
              </a:rPr>
              <a:t>; j++)</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score[</a:t>
            </a:r>
            <a:r>
              <a:rPr lang="en-US" altLang="zh-CN" sz="2000" b="1" dirty="0" err="1">
                <a:ea typeface="楷体_GB2312" pitchFamily="49" charset="-122"/>
              </a:rPr>
              <a:t>i</a:t>
            </a:r>
            <a:r>
              <a:rPr lang="en-US" altLang="zh-CN" sz="2000" b="1" dirty="0">
                <a:ea typeface="楷体_GB2312" pitchFamily="49" charset="-122"/>
              </a:rPr>
              <a:t>][</a:t>
            </a:r>
            <a:r>
              <a:rPr lang="en-US" altLang="zh-CN" sz="2000" b="1" dirty="0" err="1">
                <a:ea typeface="楷体_GB2312" pitchFamily="49" charset="-122"/>
              </a:rPr>
              <a:t>NUM_course</a:t>
            </a:r>
            <a:r>
              <a:rPr lang="en-US" altLang="zh-CN" sz="2000" b="1" dirty="0">
                <a:ea typeface="楷体_GB2312" pitchFamily="49" charset="-122"/>
              </a:rPr>
              <a:t>] += score[</a:t>
            </a:r>
            <a:r>
              <a:rPr lang="en-US" altLang="zh-CN" sz="2000" b="1" dirty="0" err="1">
                <a:ea typeface="楷体_GB2312" pitchFamily="49" charset="-122"/>
              </a:rPr>
              <a:t>i</a:t>
            </a:r>
            <a:r>
              <a:rPr lang="en-US" altLang="zh-CN" sz="2000" b="1" dirty="0">
                <a:ea typeface="楷体_GB2312" pitchFamily="49" charset="-122"/>
              </a:rPr>
              <a:t>][j];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求第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个学生的总成绩</a:t>
            </a:r>
          </a:p>
          <a:p>
            <a:pPr marL="457200" indent="-457200"/>
            <a:r>
              <a:rPr lang="zh-CN" altLang="en-US" sz="2000" b="1" dirty="0">
                <a:ea typeface="楷体_GB2312" pitchFamily="49" charset="-122"/>
              </a:rPr>
              <a:t>      </a:t>
            </a:r>
            <a:r>
              <a:rPr lang="en-US" altLang="zh-CN" sz="2000" b="1" dirty="0">
                <a:ea typeface="楷体_GB2312" pitchFamily="49" charset="-122"/>
              </a:rPr>
              <a:t>score[</a:t>
            </a:r>
            <a:r>
              <a:rPr lang="en-US" altLang="zh-CN" sz="2000" b="1" dirty="0" err="1">
                <a:ea typeface="楷体_GB2312" pitchFamily="49" charset="-122"/>
              </a:rPr>
              <a:t>NUM_std</a:t>
            </a:r>
            <a:r>
              <a:rPr lang="en-US" altLang="zh-CN" sz="2000" b="1" dirty="0">
                <a:ea typeface="楷体_GB2312" pitchFamily="49" charset="-122"/>
              </a:rPr>
              <a:t>][j] += score[</a:t>
            </a:r>
            <a:r>
              <a:rPr lang="en-US" altLang="zh-CN" sz="2000" b="1" dirty="0" err="1">
                <a:ea typeface="楷体_GB2312" pitchFamily="49" charset="-122"/>
              </a:rPr>
              <a:t>i</a:t>
            </a:r>
            <a:r>
              <a:rPr lang="en-US" altLang="zh-CN" sz="2000" b="1" dirty="0">
                <a:ea typeface="楷体_GB2312" pitchFamily="49" charset="-122"/>
              </a:rPr>
              <a:t>][j];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求第</a:t>
            </a:r>
            <a:r>
              <a:rPr lang="en-US" altLang="zh-CN" sz="1800" b="1" dirty="0">
                <a:solidFill>
                  <a:srgbClr val="002060"/>
                </a:solidFill>
                <a:latin typeface="+mn-lt"/>
                <a:ea typeface="楷体" pitchFamily="49" charset="-122"/>
              </a:rPr>
              <a:t>j</a:t>
            </a:r>
            <a:r>
              <a:rPr lang="zh-CN" altLang="en-US" sz="1800" b="1" dirty="0">
                <a:solidFill>
                  <a:srgbClr val="002060"/>
                </a:solidFill>
                <a:latin typeface="+mn-lt"/>
                <a:ea typeface="楷体" pitchFamily="49" charset="-122"/>
              </a:rPr>
              <a:t>门课的总成绩</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score[</a:t>
            </a:r>
            <a:r>
              <a:rPr lang="en-US" altLang="zh-CN" sz="2000" b="1" dirty="0" err="1">
                <a:ea typeface="楷体_GB2312" pitchFamily="49" charset="-122"/>
              </a:rPr>
              <a:t>i</a:t>
            </a:r>
            <a:r>
              <a:rPr lang="en-US" altLang="zh-CN" sz="2000" b="1" dirty="0">
                <a:ea typeface="楷体_GB2312" pitchFamily="49" charset="-122"/>
              </a:rPr>
              <a:t>][</a:t>
            </a:r>
            <a:r>
              <a:rPr lang="en-US" altLang="zh-CN" sz="2000" b="1" dirty="0" err="1">
                <a:ea typeface="楷体_GB2312" pitchFamily="49" charset="-122"/>
              </a:rPr>
              <a:t>NUM_course</a:t>
            </a:r>
            <a:r>
              <a:rPr lang="en-US" altLang="zh-CN" sz="2000" b="1" dirty="0">
                <a:ea typeface="楷体_GB2312" pitchFamily="49" charset="-122"/>
              </a:rPr>
              <a:t>] /= </a:t>
            </a:r>
            <a:r>
              <a:rPr lang="en-US" altLang="zh-CN" sz="2000" b="1" dirty="0" err="1">
                <a:ea typeface="楷体_GB2312" pitchFamily="49" charset="-122"/>
              </a:rPr>
              <a:t>NUM_course</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求第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个人的平均成绩</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for (j = 0; j &lt; </a:t>
            </a:r>
            <a:r>
              <a:rPr lang="en-US" altLang="zh-CN" sz="2000" b="1" dirty="0" err="1">
                <a:ea typeface="楷体_GB2312" pitchFamily="49" charset="-122"/>
              </a:rPr>
              <a:t>NUM_course</a:t>
            </a:r>
            <a:r>
              <a:rPr lang="en-US" altLang="zh-CN" sz="2000" b="1" dirty="0">
                <a:ea typeface="楷体_GB2312" pitchFamily="49" charset="-122"/>
              </a:rPr>
              <a:t>; j++)</a:t>
            </a:r>
          </a:p>
          <a:p>
            <a:pPr marL="457200" indent="-457200"/>
            <a:r>
              <a:rPr lang="en-US" altLang="zh-CN" sz="2000" b="1" dirty="0">
                <a:ea typeface="楷体_GB2312" pitchFamily="49" charset="-122"/>
              </a:rPr>
              <a:t>      score[</a:t>
            </a:r>
            <a:r>
              <a:rPr lang="en-US" altLang="zh-CN" sz="2000" b="1" dirty="0" err="1">
                <a:ea typeface="楷体_GB2312" pitchFamily="49" charset="-122"/>
              </a:rPr>
              <a:t>NUM_std</a:t>
            </a:r>
            <a:r>
              <a:rPr lang="en-US" altLang="zh-CN" sz="2000" b="1" dirty="0">
                <a:ea typeface="楷体_GB2312" pitchFamily="49" charset="-122"/>
              </a:rPr>
              <a:t>][j] /= </a:t>
            </a:r>
            <a:r>
              <a:rPr lang="en-US" altLang="zh-CN" sz="2000" b="1" dirty="0" err="1">
                <a:ea typeface="楷体_GB2312" pitchFamily="49" charset="-122"/>
              </a:rPr>
              <a:t>NUM_std</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求第</a:t>
            </a:r>
            <a:r>
              <a:rPr lang="en-US" altLang="zh-CN" sz="1800" b="1" dirty="0">
                <a:solidFill>
                  <a:srgbClr val="002060"/>
                </a:solidFill>
                <a:latin typeface="+mn-lt"/>
                <a:ea typeface="楷体" pitchFamily="49" charset="-122"/>
              </a:rPr>
              <a:t>j</a:t>
            </a:r>
            <a:r>
              <a:rPr lang="zh-CN" altLang="en-US" sz="1800" b="1" dirty="0">
                <a:solidFill>
                  <a:srgbClr val="002060"/>
                </a:solidFill>
                <a:latin typeface="+mn-lt"/>
                <a:ea typeface="楷体" pitchFamily="49" charset="-122"/>
              </a:rPr>
              <a:t>门课的平均成绩</a:t>
            </a:r>
          </a:p>
        </p:txBody>
      </p:sp>
      <p:sp>
        <p:nvSpPr>
          <p:cNvPr id="998410" name="Text Box 10" descr="信纸"/>
          <p:cNvSpPr txBox="1">
            <a:spLocks noChangeArrowheads="1"/>
          </p:cNvSpPr>
          <p:nvPr/>
        </p:nvSpPr>
        <p:spPr bwMode="auto">
          <a:xfrm>
            <a:off x="3287688" y="1509777"/>
            <a:ext cx="7561262" cy="5018939"/>
          </a:xfrm>
          <a:prstGeom prst="rect">
            <a:avLst/>
          </a:prstGeom>
          <a:gradFill>
            <a:gsLst>
              <a:gs pos="0">
                <a:srgbClr val="CFCFD1"/>
              </a:gs>
              <a:gs pos="100000">
                <a:schemeClr val="bg1">
                  <a:lumMod val="95000"/>
                </a:schemeClr>
              </a:gs>
            </a:gsLst>
            <a:lin ang="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 NO.       C1      C2      C3      C4     AVER\n");</a:t>
            </a:r>
          </a:p>
          <a:p>
            <a:pPr marL="457200" indent="-457200"/>
            <a:r>
              <a:rPr lang="en-US" altLang="zh-CN" sz="2000" b="1" dirty="0">
                <a:solidFill>
                  <a:srgbClr val="002060"/>
                </a:solidFill>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输出每个学生的各科成绩和平均成绩</a:t>
            </a:r>
          </a:p>
          <a:p>
            <a:pPr marL="457200" indent="-457200"/>
            <a:r>
              <a:rPr lang="zh-CN" altLang="en-US" sz="2000" b="1" dirty="0">
                <a:ea typeface="楷体_GB2312" pitchFamily="49" charset="-122"/>
              </a:rPr>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a:t>
            </a:r>
            <a:r>
              <a:rPr lang="en-US" altLang="zh-CN" sz="2000" b="1" dirty="0" err="1">
                <a:ea typeface="楷体_GB2312" pitchFamily="49" charset="-122"/>
              </a:rPr>
              <a:t>NUM_std</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t>
            </a:r>
            <a:r>
              <a:rPr lang="en-US" altLang="zh-CN" sz="2000" b="1" dirty="0" err="1">
                <a:ea typeface="楷体_GB2312" pitchFamily="49" charset="-122"/>
              </a:rPr>
              <a:t>STU%d</a:t>
            </a:r>
            <a:r>
              <a:rPr lang="en-US" altLang="zh-CN" sz="2000" b="1" dirty="0">
                <a:ea typeface="楷体_GB2312" pitchFamily="49" charset="-122"/>
              </a:rPr>
              <a:t>\t", i+1);</a:t>
            </a:r>
          </a:p>
          <a:p>
            <a:pPr marL="457200" indent="-457200"/>
            <a:r>
              <a:rPr lang="en-US" altLang="zh-CN" sz="2000" b="1" dirty="0">
                <a:ea typeface="楷体_GB2312" pitchFamily="49" charset="-122"/>
              </a:rPr>
              <a:t>    for (j = 0; j &lt; NUM_course+1; 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("%6.1f\t", score[</a:t>
            </a:r>
            <a:r>
              <a:rPr lang="en-US" altLang="zh-CN" sz="2000" b="1" dirty="0" err="1">
                <a:ea typeface="楷体_GB2312" pitchFamily="49" charset="-122"/>
              </a:rPr>
              <a:t>i</a:t>
            </a:r>
            <a:r>
              <a:rPr lang="en-US" altLang="zh-CN" sz="2000" b="1" dirty="0">
                <a:ea typeface="楷体_GB2312" pitchFamily="49" charset="-122"/>
              </a:rPr>
              <a:t>][j]);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a:t>
            </a:r>
            <a:r>
              <a:rPr lang="en-US" altLang="zh-CN" sz="1800" b="1" dirty="0">
                <a:solidFill>
                  <a:srgbClr val="002060"/>
                </a:solidFill>
                <a:latin typeface="+mn-lt"/>
                <a:ea typeface="楷体" pitchFamily="49" charset="-122"/>
              </a:rPr>
              <a:t>1</a:t>
            </a:r>
            <a:r>
              <a:rPr lang="zh-CN" altLang="en-US" sz="1800" b="1" dirty="0">
                <a:solidFill>
                  <a:srgbClr val="002060"/>
                </a:solidFill>
                <a:latin typeface="+mn-lt"/>
                <a:ea typeface="楷体" pitchFamily="49" charset="-122"/>
              </a:rPr>
              <a:t>条短划线</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t>
            </a:r>
            <a:r>
              <a:rPr lang="en-US" altLang="zh-CN" sz="2000" b="1" dirty="0" err="1">
                <a:ea typeface="楷体_GB2312" pitchFamily="49" charset="-122"/>
              </a:rPr>
              <a:t>nAVER_C</a:t>
            </a:r>
            <a:r>
              <a:rPr lang="en-US" altLang="zh-CN" sz="2000" b="1" dirty="0">
                <a:ea typeface="楷体_GB2312" pitchFamily="49" charset="-122"/>
              </a:rPr>
              <a:t>  ");</a:t>
            </a:r>
          </a:p>
          <a:p>
            <a:pPr marL="457200" indent="-457200"/>
            <a:r>
              <a:rPr lang="en-US" altLang="zh-CN" sz="2000" b="1" dirty="0">
                <a:ea typeface="楷体_GB2312" pitchFamily="49" charset="-122"/>
              </a:rPr>
              <a:t>  for (j = 0; j &lt; </a:t>
            </a:r>
            <a:r>
              <a:rPr lang="en-US" altLang="zh-CN" sz="2000" b="1" dirty="0" err="1">
                <a:ea typeface="楷体_GB2312" pitchFamily="49" charset="-122"/>
              </a:rPr>
              <a:t>NUM_course</a:t>
            </a:r>
            <a:r>
              <a:rPr lang="en-US" altLang="zh-CN" sz="2000" b="1" dirty="0">
                <a:ea typeface="楷体_GB2312" pitchFamily="49" charset="-122"/>
              </a:rPr>
              <a:t>; 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输出每门课程的平均成绩</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("%6.1f\t", score[</a:t>
            </a:r>
            <a:r>
              <a:rPr lang="en-US" altLang="zh-CN" sz="2000" b="1" dirty="0" err="1">
                <a:ea typeface="楷体_GB2312" pitchFamily="49" charset="-122"/>
              </a:rPr>
              <a:t>NUM_std</a:t>
            </a:r>
            <a:r>
              <a:rPr lang="en-US" altLang="zh-CN" sz="2000" b="1" dirty="0">
                <a:ea typeface="楷体_GB2312" pitchFamily="49" charset="-122"/>
              </a:rPr>
              <a:t>][j]);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Tree>
    <p:extLst>
      <p:ext uri="{BB962C8B-B14F-4D97-AF65-F5344CB8AC3E}">
        <p14:creationId xmlns:p14="http://schemas.microsoft.com/office/powerpoint/2010/main" val="3631533986"/>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98408"/>
                                        </p:tgtEl>
                                        <p:attrNameLst>
                                          <p:attrName>style.visibility</p:attrName>
                                        </p:attrNameLst>
                                      </p:cBhvr>
                                      <p:to>
                                        <p:strVal val="visible"/>
                                      </p:to>
                                    </p:set>
                                    <p:animEffect transition="in" filter="box(out)">
                                      <p:cBhvr>
                                        <p:cTn id="7" dur="500"/>
                                        <p:tgtEl>
                                          <p:spTgt spid="99840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98409"/>
                                        </p:tgtEl>
                                        <p:attrNameLst>
                                          <p:attrName>style.visibility</p:attrName>
                                        </p:attrNameLst>
                                      </p:cBhvr>
                                      <p:to>
                                        <p:strVal val="visible"/>
                                      </p:to>
                                    </p:set>
                                    <p:animEffect transition="in" filter="box(out)">
                                      <p:cBhvr>
                                        <p:cTn id="12" dur="500"/>
                                        <p:tgtEl>
                                          <p:spTgt spid="998409"/>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98410"/>
                                        </p:tgtEl>
                                        <p:attrNameLst>
                                          <p:attrName>style.visibility</p:attrName>
                                        </p:attrNameLst>
                                      </p:cBhvr>
                                      <p:to>
                                        <p:strVal val="visible"/>
                                      </p:to>
                                    </p:set>
                                    <p:animEffect transition="in" filter="box(out)">
                                      <p:cBhvr>
                                        <p:cTn id="17" dur="500"/>
                                        <p:tgtEl>
                                          <p:spTgt spid="998410"/>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8" grpId="0" animBg="1"/>
      <p:bldP spid="998409" grpId="0" animBg="1"/>
      <p:bldP spid="9984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p:cNvSpPr>
            <a:spLocks noChangeArrowheads="1"/>
          </p:cNvSpPr>
          <p:nvPr/>
        </p:nvSpPr>
        <p:spPr bwMode="auto">
          <a:xfrm>
            <a:off x="300077" y="908720"/>
            <a:ext cx="6948051" cy="1139017"/>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1</a:t>
            </a:r>
            <a:r>
              <a:rPr lang="zh-CN" altLang="en-US" sz="2800" b="1" dirty="0">
                <a:solidFill>
                  <a:srgbClr val="00B0F0"/>
                </a:solidFill>
                <a:latin typeface="+mn-lt"/>
                <a:ea typeface="楷体" pitchFamily="49" charset="-122"/>
              </a:rPr>
              <a:t>、字符串的本质</a:t>
            </a:r>
            <a:endParaRPr lang="en-US" altLang="zh-CN" sz="2800" b="1" dirty="0">
              <a:solidFill>
                <a:srgbClr val="00B0F0"/>
              </a:solidFill>
              <a:latin typeface="+mn-lt"/>
              <a:ea typeface="楷体" pitchFamily="49" charset="-122"/>
            </a:endParaRPr>
          </a:p>
          <a:p>
            <a:pPr lvl="1" eaLnBrk="0" hangingPunct="0">
              <a:buClr>
                <a:schemeClr val="hlink"/>
              </a:buClr>
              <a:buFont typeface="Wingdings" pitchFamily="2" charset="2"/>
              <a:buNone/>
            </a:pPr>
            <a:endParaRPr lang="zh-CN" altLang="en-US" sz="1400" b="1" dirty="0">
              <a:solidFill>
                <a:srgbClr val="C01920"/>
              </a:solidFill>
              <a:latin typeface="+mn-lt"/>
              <a:ea typeface="楷体" pitchFamily="49" charset="-122"/>
            </a:endParaRPr>
          </a:p>
          <a:p>
            <a:pPr lvl="2" eaLnBrk="0" hangingPunct="0">
              <a:buClr>
                <a:srgbClr val="339933"/>
              </a:buClr>
              <a:buFont typeface="Wingdings" pitchFamily="2" charset="2"/>
              <a:buNone/>
            </a:pPr>
            <a:r>
              <a:rPr lang="zh-CN" altLang="en-US" b="1" dirty="0">
                <a:effectLst>
                  <a:outerShdw blurRad="38100" dist="38100" dir="2700000" algn="tl">
                    <a:srgbClr val="FFFFFF"/>
                  </a:outerShdw>
                </a:effectLst>
                <a:latin typeface="+mn-lt"/>
                <a:ea typeface="楷体" pitchFamily="49" charset="-122"/>
              </a:rPr>
              <a:t>字符串是一种以</a:t>
            </a:r>
            <a:r>
              <a:rPr lang="en-US" altLang="zh-CN" b="1" dirty="0">
                <a:solidFill>
                  <a:srgbClr val="C01920"/>
                </a:solidFill>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结尾的字符数组。</a:t>
            </a:r>
          </a:p>
          <a:p>
            <a:pPr lvl="2" eaLnBrk="0" hangingPunct="0">
              <a:buClr>
                <a:srgbClr val="339933"/>
              </a:buClr>
              <a:buFont typeface="Wingdings" pitchFamily="2" charset="2"/>
              <a:buNone/>
            </a:pPr>
            <a:r>
              <a:rPr lang="zh-CN" altLang="en-US" b="1" dirty="0">
                <a:solidFill>
                  <a:srgbClr val="002060"/>
                </a:solidFill>
                <a:latin typeface="+mn-lt"/>
                <a:ea typeface="楷体" pitchFamily="49" charset="-122"/>
              </a:rPr>
              <a:t>如：字符串常量</a:t>
            </a:r>
            <a:r>
              <a:rPr lang="en-US" altLang="zh-CN" b="1" dirty="0">
                <a:solidFill>
                  <a:srgbClr val="002060"/>
                </a:solidFill>
                <a:latin typeface="+mn-lt"/>
                <a:ea typeface="楷体" pitchFamily="49" charset="-122"/>
              </a:rPr>
              <a:t>"HELLO"</a:t>
            </a:r>
            <a:r>
              <a:rPr lang="zh-CN" altLang="en-US" b="1" dirty="0">
                <a:solidFill>
                  <a:srgbClr val="002060"/>
                </a:solidFill>
                <a:latin typeface="+mn-lt"/>
                <a:ea typeface="楷体" pitchFamily="49" charset="-122"/>
              </a:rPr>
              <a:t>的内存映像</a:t>
            </a:r>
            <a:r>
              <a:rPr lang="zh-CN" altLang="en-US" dirty="0">
                <a:solidFill>
                  <a:srgbClr val="002060"/>
                </a:solidFill>
                <a:latin typeface="+mn-lt"/>
                <a:ea typeface="楷体" pitchFamily="49" charset="-122"/>
              </a:rPr>
              <a:t>  </a:t>
            </a:r>
          </a:p>
        </p:txBody>
      </p:sp>
      <p:sp>
        <p:nvSpPr>
          <p:cNvPr id="1001476" name="Text Box 4"/>
          <p:cNvSpPr txBox="1">
            <a:spLocks noChangeArrowheads="1"/>
          </p:cNvSpPr>
          <p:nvPr/>
        </p:nvSpPr>
        <p:spPr bwMode="auto">
          <a:xfrm>
            <a:off x="1848181" y="3802044"/>
            <a:ext cx="181822" cy="402291"/>
          </a:xfrm>
          <a:prstGeom prst="rect">
            <a:avLst/>
          </a:prstGeom>
          <a:noFill/>
          <a:ln w="38100">
            <a:noFill/>
            <a:miter lim="800000"/>
            <a:headEnd/>
            <a:tailEnd/>
          </a:ln>
          <a:effectLst/>
        </p:spPr>
        <p:txBody>
          <a:bodyPr wrap="none" lIns="90000" tIns="46800" rIns="90000" bIns="46800" anchor="ctr">
            <a:spAutoFit/>
          </a:bodyPr>
          <a:lstStyle/>
          <a:p>
            <a:pPr algn="ctr"/>
            <a:endParaRPr lang="zh-CN" altLang="zh-CN" sz="2000"/>
          </a:p>
        </p:txBody>
      </p:sp>
      <p:grpSp>
        <p:nvGrpSpPr>
          <p:cNvPr id="1001567" name="Group 95"/>
          <p:cNvGrpSpPr>
            <a:grpSpLocks/>
          </p:cNvGrpSpPr>
          <p:nvPr/>
        </p:nvGrpSpPr>
        <p:grpSpPr bwMode="auto">
          <a:xfrm>
            <a:off x="8687461" y="1612245"/>
            <a:ext cx="3171825" cy="4205288"/>
            <a:chOff x="3822" y="1298"/>
            <a:chExt cx="1998" cy="2649"/>
          </a:xfrm>
        </p:grpSpPr>
        <p:sp>
          <p:nvSpPr>
            <p:cNvPr id="1001568" name="Line 96"/>
            <p:cNvSpPr>
              <a:spLocks noChangeShapeType="1"/>
            </p:cNvSpPr>
            <p:nvPr/>
          </p:nvSpPr>
          <p:spPr bwMode="auto">
            <a:xfrm>
              <a:off x="5193" y="1298"/>
              <a:ext cx="0" cy="1951"/>
            </a:xfrm>
            <a:prstGeom prst="line">
              <a:avLst/>
            </a:prstGeom>
            <a:noFill/>
            <a:ln w="28575">
              <a:solidFill>
                <a:srgbClr val="C0192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1001569" name="Text Box 97"/>
            <p:cNvSpPr txBox="1">
              <a:spLocks noChangeArrowheads="1"/>
            </p:cNvSpPr>
            <p:nvPr/>
          </p:nvSpPr>
          <p:spPr bwMode="auto">
            <a:xfrm>
              <a:off x="5179" y="1326"/>
              <a:ext cx="635" cy="231"/>
            </a:xfrm>
            <a:prstGeom prst="rect">
              <a:avLst/>
            </a:prstGeom>
            <a:noFill/>
            <a:ln w="9525">
              <a:noFill/>
              <a:miter lim="800000"/>
              <a:headEnd/>
              <a:tailEnd/>
            </a:ln>
            <a:effectLst/>
          </p:spPr>
          <p:txBody>
            <a:bodyPr>
              <a:spAutoFit/>
            </a:bodyPr>
            <a:lstStyle/>
            <a:p>
              <a:pPr>
                <a:spcBef>
                  <a:spcPct val="50000"/>
                </a:spcBef>
              </a:pPr>
              <a:r>
                <a:rPr lang="zh-CN" altLang="en-US" sz="1800" b="1" dirty="0">
                  <a:effectLst>
                    <a:outerShdw blurRad="38100" dist="38100" dir="2700000" algn="tl">
                      <a:srgbClr val="FFFFFF"/>
                    </a:outerShdw>
                  </a:effectLst>
                  <a:latin typeface="楷体" pitchFamily="49" charset="-122"/>
                  <a:ea typeface="楷体" pitchFamily="49" charset="-122"/>
                </a:rPr>
                <a:t>低地址</a:t>
              </a:r>
            </a:p>
          </p:txBody>
        </p:sp>
        <p:sp>
          <p:nvSpPr>
            <p:cNvPr id="1001570" name="Text Box 98"/>
            <p:cNvSpPr txBox="1">
              <a:spLocks noChangeArrowheads="1"/>
            </p:cNvSpPr>
            <p:nvPr/>
          </p:nvSpPr>
          <p:spPr bwMode="auto">
            <a:xfrm>
              <a:off x="5185" y="2940"/>
              <a:ext cx="635" cy="231"/>
            </a:xfrm>
            <a:prstGeom prst="rect">
              <a:avLst/>
            </a:prstGeom>
            <a:noFill/>
            <a:ln w="9525">
              <a:noFill/>
              <a:miter lim="800000"/>
              <a:headEnd/>
              <a:tailEnd/>
            </a:ln>
            <a:effectLst/>
          </p:spPr>
          <p:txBody>
            <a:bodyPr>
              <a:spAutoFit/>
            </a:bodyPr>
            <a:lstStyle/>
            <a:p>
              <a:pPr>
                <a:spcBef>
                  <a:spcPct val="50000"/>
                </a:spcBef>
              </a:pPr>
              <a:r>
                <a:rPr lang="zh-CN" altLang="en-US" sz="1800" b="1">
                  <a:effectLst>
                    <a:outerShdw blurRad="38100" dist="38100" dir="2700000" algn="tl">
                      <a:srgbClr val="FFFFFF"/>
                    </a:outerShdw>
                  </a:effectLst>
                  <a:latin typeface="楷体" pitchFamily="49" charset="-122"/>
                  <a:ea typeface="楷体" pitchFamily="49" charset="-122"/>
                </a:rPr>
                <a:t>高地址</a:t>
              </a:r>
            </a:p>
          </p:txBody>
        </p:sp>
        <p:sp>
          <p:nvSpPr>
            <p:cNvPr id="1001571" name="Text Box 99"/>
            <p:cNvSpPr txBox="1">
              <a:spLocks noChangeArrowheads="1"/>
            </p:cNvSpPr>
            <p:nvPr/>
          </p:nvSpPr>
          <p:spPr bwMode="auto">
            <a:xfrm>
              <a:off x="3822" y="1353"/>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H</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2" name="Text Box 100"/>
            <p:cNvSpPr txBox="1">
              <a:spLocks noChangeArrowheads="1"/>
            </p:cNvSpPr>
            <p:nvPr/>
          </p:nvSpPr>
          <p:spPr bwMode="auto">
            <a:xfrm>
              <a:off x="3832" y="1660"/>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E</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3" name="Text Box 101"/>
            <p:cNvSpPr txBox="1">
              <a:spLocks noChangeArrowheads="1"/>
            </p:cNvSpPr>
            <p:nvPr/>
          </p:nvSpPr>
          <p:spPr bwMode="auto">
            <a:xfrm>
              <a:off x="3832" y="2002"/>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L</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4" name="Text Box 102"/>
            <p:cNvSpPr txBox="1">
              <a:spLocks noChangeArrowheads="1"/>
            </p:cNvSpPr>
            <p:nvPr/>
          </p:nvSpPr>
          <p:spPr bwMode="auto">
            <a:xfrm>
              <a:off x="3842" y="2345"/>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L</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5" name="Text Box 103"/>
            <p:cNvSpPr txBox="1">
              <a:spLocks noChangeArrowheads="1"/>
            </p:cNvSpPr>
            <p:nvPr/>
          </p:nvSpPr>
          <p:spPr bwMode="auto">
            <a:xfrm>
              <a:off x="3843" y="2661"/>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O</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6" name="Text Box 104"/>
            <p:cNvSpPr txBox="1">
              <a:spLocks noChangeArrowheads="1"/>
            </p:cNvSpPr>
            <p:nvPr/>
          </p:nvSpPr>
          <p:spPr bwMode="auto">
            <a:xfrm>
              <a:off x="3835" y="2977"/>
              <a:ext cx="363" cy="231"/>
            </a:xfrm>
            <a:prstGeom prst="rect">
              <a:avLst/>
            </a:prstGeom>
            <a:noFill/>
            <a:ln w="9525">
              <a:noFill/>
              <a:miter lim="800000"/>
              <a:headEnd/>
              <a:tailEnd/>
            </a:ln>
            <a:effectLst/>
          </p:spPr>
          <p:txBody>
            <a:bodyPr>
              <a:spAutoFit/>
            </a:bodyPr>
            <a:lstStyle/>
            <a:p>
              <a:pPr>
                <a:spcBef>
                  <a:spcPct val="50000"/>
                </a:spcBef>
              </a:pPr>
              <a:r>
                <a:rPr lang="en-US" altLang="zh-CN" sz="1800" b="1" dirty="0">
                  <a:effectLst>
                    <a:outerShdw blurRad="38100" dist="38100" dir="2700000" algn="tl">
                      <a:srgbClr val="FFFFFF"/>
                    </a:outerShdw>
                  </a:effectLst>
                </a:rPr>
                <a:t>'</a:t>
              </a:r>
              <a:r>
                <a:rPr lang="en-US" altLang="zh-CN" sz="1800" b="1" dirty="0">
                  <a:effectLst>
                    <a:outerShdw blurRad="38100" dist="38100" dir="2700000" algn="tl">
                      <a:srgbClr val="FFFFFF"/>
                    </a:outerShdw>
                  </a:effectLst>
                  <a:ea typeface="楷体_GB2312" pitchFamily="49" charset="-122"/>
                </a:rPr>
                <a:t>\0</a:t>
              </a:r>
              <a:r>
                <a:rPr lang="en-US" altLang="zh-CN" sz="1800" b="1" dirty="0">
                  <a:effectLst>
                    <a:outerShdw blurRad="38100" dist="38100" dir="2700000" algn="tl">
                      <a:srgbClr val="FFFFFF"/>
                    </a:outerShdw>
                  </a:effectLst>
                </a:rPr>
                <a:t>'</a:t>
              </a:r>
              <a:endParaRPr lang="en-US" altLang="zh-CN" sz="1800" b="1" dirty="0">
                <a:effectLst>
                  <a:outerShdw blurRad="38100" dist="38100" dir="2700000" algn="tl">
                    <a:srgbClr val="FFFFFF"/>
                  </a:outerShdw>
                </a:effectLst>
                <a:ea typeface="楷体_GB2312" pitchFamily="49" charset="-122"/>
              </a:endParaRPr>
            </a:p>
          </p:txBody>
        </p:sp>
        <p:sp>
          <p:nvSpPr>
            <p:cNvPr id="1001577" name="Oval 105"/>
            <p:cNvSpPr>
              <a:spLocks noChangeArrowheads="1"/>
            </p:cNvSpPr>
            <p:nvPr/>
          </p:nvSpPr>
          <p:spPr bwMode="auto">
            <a:xfrm>
              <a:off x="4459" y="3021"/>
              <a:ext cx="272" cy="227"/>
            </a:xfrm>
            <a:prstGeom prst="ellipse">
              <a:avLst/>
            </a:prstGeom>
            <a:noFill/>
            <a:ln w="28575">
              <a:solidFill>
                <a:srgbClr val="FF3300"/>
              </a:solidFill>
              <a:round/>
              <a:headEnd/>
              <a:tailEnd/>
            </a:ln>
            <a:effectLst/>
          </p:spPr>
          <p:txBody>
            <a:bodyPr wrap="none" anchor="ctr"/>
            <a:lstStyle/>
            <a:p>
              <a:pPr algn="ctr"/>
              <a:endParaRPr lang="zh-CN" altLang="zh-CN">
                <a:solidFill>
                  <a:srgbClr val="FF0066"/>
                </a:solidFill>
              </a:endParaRPr>
            </a:p>
          </p:txBody>
        </p:sp>
        <p:sp>
          <p:nvSpPr>
            <p:cNvPr id="1001578" name="AutoShape 106"/>
            <p:cNvSpPr>
              <a:spLocks noChangeArrowheads="1"/>
            </p:cNvSpPr>
            <p:nvPr/>
          </p:nvSpPr>
          <p:spPr bwMode="auto">
            <a:xfrm>
              <a:off x="4060" y="3629"/>
              <a:ext cx="1451" cy="318"/>
            </a:xfrm>
            <a:prstGeom prst="wedgeRoundRectCallout">
              <a:avLst>
                <a:gd name="adj1" fmla="val -9379"/>
                <a:gd name="adj2" fmla="val -186162"/>
                <a:gd name="adj3" fmla="val 16667"/>
              </a:avLst>
            </a:prstGeom>
            <a:gradFill flip="none" rotWithShape="1">
              <a:gsLst>
                <a:gs pos="0">
                  <a:srgbClr val="F0E5B7"/>
                </a:gs>
                <a:gs pos="67000">
                  <a:srgbClr val="F1EBD2"/>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latin typeface="楷体" pitchFamily="49" charset="-122"/>
                  <a:ea typeface="楷体" pitchFamily="49" charset="-122"/>
                </a:rPr>
                <a:t>字符串结束标志</a:t>
              </a:r>
            </a:p>
          </p:txBody>
        </p:sp>
      </p:grpSp>
      <p:graphicFrame>
        <p:nvGraphicFramePr>
          <p:cNvPr id="1001579" name="Group 107"/>
          <p:cNvGraphicFramePr>
            <a:graphicFrameLocks noGrp="1"/>
          </p:cNvGraphicFramePr>
          <p:nvPr/>
        </p:nvGraphicFramePr>
        <p:xfrm>
          <a:off x="9208161" y="1642407"/>
          <a:ext cx="1439863" cy="3108960"/>
        </p:xfrm>
        <a:graphic>
          <a:graphicData uri="http://schemas.openxmlformats.org/drawingml/2006/table">
            <a:tbl>
              <a:tblPr/>
              <a:tblGrid>
                <a:gridCol w="1439863">
                  <a:extLst>
                    <a:ext uri="{9D8B030D-6E8A-4147-A177-3AD203B41FA5}">
                      <a16:colId xmlns:a16="http://schemas.microsoft.com/office/drawing/2014/main" val="20000"/>
                    </a:ext>
                  </a:extLst>
                </a:gridCol>
              </a:tblGrid>
              <a:tr h="287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0x48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0x4C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0x4F</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01595" name="Rectangle 123"/>
          <p:cNvSpPr>
            <a:spLocks noChangeArrowheads="1"/>
          </p:cNvSpPr>
          <p:nvPr/>
        </p:nvSpPr>
        <p:spPr bwMode="auto">
          <a:xfrm>
            <a:off x="762614" y="2537598"/>
            <a:ext cx="4337050" cy="800219"/>
          </a:xfrm>
          <a:prstGeom prst="rect">
            <a:avLst/>
          </a:prstGeom>
          <a:noFill/>
          <a:ln w="9525">
            <a:noFill/>
            <a:miter lim="800000"/>
            <a:headEnd/>
            <a:tailEnd/>
          </a:ln>
          <a:effectLst/>
        </p:spPr>
        <p:txBody>
          <a:bodyPr>
            <a:spAutoFit/>
          </a:bodyPr>
          <a:lstStyle/>
          <a:p>
            <a:pPr eaLnBrk="0" hangingPunct="0">
              <a:buClr>
                <a:schemeClr val="hlink"/>
              </a:buClr>
              <a:buFont typeface="Wingdings" pitchFamily="2" charset="2"/>
              <a:buNone/>
            </a:pPr>
            <a:r>
              <a:rPr lang="en-US" altLang="zh-CN" sz="2800" b="1" dirty="0">
                <a:solidFill>
                  <a:srgbClr val="00B0F0"/>
                </a:solidFill>
                <a:latin typeface="+mn-lt"/>
                <a:ea typeface="楷体" pitchFamily="49" charset="-122"/>
              </a:rPr>
              <a:t>2</a:t>
            </a:r>
            <a:r>
              <a:rPr lang="zh-CN" altLang="en-US" sz="2800" b="1" dirty="0">
                <a:solidFill>
                  <a:srgbClr val="00B0F0"/>
                </a:solidFill>
                <a:latin typeface="+mn-lt"/>
                <a:ea typeface="楷体" pitchFamily="49" charset="-122"/>
              </a:rPr>
              <a:t>、字符数组</a:t>
            </a:r>
          </a:p>
          <a:p>
            <a:pPr lvl="1" eaLnBrk="0" hangingPunct="0">
              <a:buClr>
                <a:srgbClr val="C01920"/>
              </a:buClr>
              <a:buFont typeface="Wingdings" pitchFamily="2" charset="2"/>
              <a:buChar char="Ø"/>
            </a:pPr>
            <a:r>
              <a:rPr lang="zh-CN" altLang="en-US" b="1" dirty="0">
                <a:solidFill>
                  <a:srgbClr val="C01920"/>
                </a:solidFill>
                <a:latin typeface="+mn-lt"/>
                <a:ea typeface="楷体" pitchFamily="49" charset="-122"/>
              </a:rPr>
              <a:t> 定义</a:t>
            </a:r>
          </a:p>
        </p:txBody>
      </p:sp>
      <p:sp>
        <p:nvSpPr>
          <p:cNvPr id="1001597" name="Rectangle 125"/>
          <p:cNvSpPr>
            <a:spLocks noChangeArrowheads="1"/>
          </p:cNvSpPr>
          <p:nvPr/>
        </p:nvSpPr>
        <p:spPr bwMode="auto">
          <a:xfrm>
            <a:off x="1222669" y="3615407"/>
            <a:ext cx="3058851" cy="461665"/>
          </a:xfrm>
          <a:prstGeom prst="rect">
            <a:avLst/>
          </a:prstGeom>
          <a:noFill/>
          <a:ln w="9525">
            <a:noFill/>
            <a:miter lim="800000"/>
            <a:headEnd/>
            <a:tailEnd/>
          </a:ln>
          <a:effectLst/>
        </p:spPr>
        <p:txBody>
          <a:bodyPr wrap="none">
            <a:spAutoFit/>
          </a:bodyPr>
          <a:lstStyle/>
          <a:p>
            <a:pPr eaLnBrk="0" hangingPunct="0">
              <a:buClr>
                <a:srgbClr val="C01920"/>
              </a:buClr>
              <a:buFont typeface="Wingdings" pitchFamily="2" charset="2"/>
              <a:buChar char="Ø"/>
            </a:pPr>
            <a:r>
              <a:rPr lang="en-US" altLang="zh-CN" dirty="0">
                <a:solidFill>
                  <a:srgbClr val="C01920"/>
                </a:solidFill>
                <a:latin typeface="+mn-lt"/>
                <a:ea typeface="楷体" pitchFamily="49" charset="-122"/>
              </a:rPr>
              <a:t> </a:t>
            </a:r>
            <a:r>
              <a:rPr lang="zh-CN" altLang="en-US" b="1" dirty="0">
                <a:solidFill>
                  <a:srgbClr val="C01920"/>
                </a:solidFill>
                <a:latin typeface="+mn-lt"/>
                <a:ea typeface="楷体" pitchFamily="49" charset="-122"/>
              </a:rPr>
              <a:t>字符数组的初始化</a:t>
            </a:r>
          </a:p>
        </p:txBody>
      </p:sp>
      <p:sp>
        <p:nvSpPr>
          <p:cNvPr id="1001598" name="Rectangle 126"/>
          <p:cNvSpPr>
            <a:spLocks noChangeArrowheads="1"/>
          </p:cNvSpPr>
          <p:nvPr/>
        </p:nvSpPr>
        <p:spPr bwMode="auto">
          <a:xfrm>
            <a:off x="1370424" y="4035174"/>
            <a:ext cx="2879725" cy="830997"/>
          </a:xfrm>
          <a:prstGeom prst="rect">
            <a:avLst/>
          </a:prstGeom>
          <a:noFill/>
          <a:ln w="9525">
            <a:noFill/>
            <a:miter lim="800000"/>
            <a:headEnd/>
            <a:tailEnd/>
          </a:ln>
          <a:effectLst/>
        </p:spPr>
        <p:txBody>
          <a:bodyPr>
            <a:spAutoFit/>
          </a:bodyPr>
          <a:lstStyle/>
          <a:p>
            <a:pPr marL="0" lvl="1">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逐个字符赋值</a:t>
            </a:r>
          </a:p>
          <a:p>
            <a:pPr marL="0" lvl="1">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用字符串常量</a:t>
            </a:r>
          </a:p>
        </p:txBody>
      </p:sp>
      <p:grpSp>
        <p:nvGrpSpPr>
          <p:cNvPr id="144" name="Group 149"/>
          <p:cNvGrpSpPr>
            <a:grpSpLocks/>
          </p:cNvGrpSpPr>
          <p:nvPr/>
        </p:nvGrpSpPr>
        <p:grpSpPr bwMode="auto">
          <a:xfrm>
            <a:off x="1793570" y="3861198"/>
            <a:ext cx="6719888" cy="2714624"/>
            <a:chOff x="552" y="1966"/>
            <a:chExt cx="4233" cy="1710"/>
          </a:xfrm>
        </p:grpSpPr>
        <p:sp>
          <p:nvSpPr>
            <p:cNvPr id="145" name="Rectangle 147"/>
            <p:cNvSpPr>
              <a:spLocks noChangeArrowheads="1"/>
            </p:cNvSpPr>
            <p:nvPr/>
          </p:nvSpPr>
          <p:spPr bwMode="auto">
            <a:xfrm>
              <a:off x="559" y="2587"/>
              <a:ext cx="3680" cy="1089"/>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46" name="Group 145"/>
            <p:cNvGrpSpPr>
              <a:grpSpLocks/>
            </p:cNvGrpSpPr>
            <p:nvPr/>
          </p:nvGrpSpPr>
          <p:grpSpPr bwMode="auto">
            <a:xfrm>
              <a:off x="905" y="2985"/>
              <a:ext cx="2761" cy="329"/>
              <a:chOff x="1031" y="2967"/>
              <a:chExt cx="2761" cy="329"/>
            </a:xfrm>
          </p:grpSpPr>
          <p:sp>
            <p:nvSpPr>
              <p:cNvPr id="155" name="Rectangle 129"/>
              <p:cNvSpPr>
                <a:spLocks noChangeArrowheads="1"/>
              </p:cNvSpPr>
              <p:nvPr/>
            </p:nvSpPr>
            <p:spPr bwMode="auto">
              <a:xfrm>
                <a:off x="1031" y="2967"/>
                <a:ext cx="2761" cy="327"/>
              </a:xfrm>
              <a:prstGeom prst="rect">
                <a:avLst/>
              </a:prstGeom>
              <a:gradFill rotWithShape="1">
                <a:gsLst>
                  <a:gs pos="0">
                    <a:srgbClr val="BEDFC4"/>
                  </a:gs>
                  <a:gs pos="59000">
                    <a:srgbClr val="DAE9DD"/>
                  </a:gs>
                  <a:gs pos="100000">
                    <a:schemeClr val="bg1">
                      <a:lumMod val="95000"/>
                    </a:scheme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effectLst>
                    <a:outerShdw blurRad="38100" dist="38100" dir="2700000" algn="tl">
                      <a:srgbClr val="000000">
                        <a:alpha val="43137"/>
                      </a:srgbClr>
                    </a:outerShdw>
                  </a:effectLst>
                </a:endParaRPr>
              </a:p>
            </p:txBody>
          </p:sp>
          <p:sp>
            <p:nvSpPr>
              <p:cNvPr id="156" name="Line 130"/>
              <p:cNvSpPr>
                <a:spLocks noChangeShapeType="1"/>
              </p:cNvSpPr>
              <p:nvPr/>
            </p:nvSpPr>
            <p:spPr bwMode="auto">
              <a:xfrm>
                <a:off x="1523" y="2975"/>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57" name="Line 131"/>
              <p:cNvSpPr>
                <a:spLocks noChangeShapeType="1"/>
              </p:cNvSpPr>
              <p:nvPr/>
            </p:nvSpPr>
            <p:spPr bwMode="auto">
              <a:xfrm>
                <a:off x="2117"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58" name="Line 132"/>
              <p:cNvSpPr>
                <a:spLocks noChangeShapeType="1"/>
              </p:cNvSpPr>
              <p:nvPr/>
            </p:nvSpPr>
            <p:spPr bwMode="auto">
              <a:xfrm>
                <a:off x="2711"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59" name="Line 133"/>
              <p:cNvSpPr>
                <a:spLocks noChangeShapeType="1"/>
              </p:cNvSpPr>
              <p:nvPr/>
            </p:nvSpPr>
            <p:spPr bwMode="auto">
              <a:xfrm>
                <a:off x="3305"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60" name="Text Box 135"/>
              <p:cNvSpPr txBox="1">
                <a:spLocks noChangeArrowheads="1"/>
              </p:cNvSpPr>
              <p:nvPr/>
            </p:nvSpPr>
            <p:spPr bwMode="auto">
              <a:xfrm>
                <a:off x="1172"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H</a:t>
                </a:r>
              </a:p>
            </p:txBody>
          </p:sp>
          <p:sp>
            <p:nvSpPr>
              <p:cNvPr id="161" name="Text Box 136"/>
              <p:cNvSpPr txBox="1">
                <a:spLocks noChangeArrowheads="1"/>
              </p:cNvSpPr>
              <p:nvPr/>
            </p:nvSpPr>
            <p:spPr bwMode="auto">
              <a:xfrm>
                <a:off x="1727" y="3012"/>
                <a:ext cx="186"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e</a:t>
                </a:r>
              </a:p>
            </p:txBody>
          </p:sp>
          <p:sp>
            <p:nvSpPr>
              <p:cNvPr id="162" name="Text Box 137"/>
              <p:cNvSpPr txBox="1">
                <a:spLocks noChangeArrowheads="1"/>
              </p:cNvSpPr>
              <p:nvPr/>
            </p:nvSpPr>
            <p:spPr bwMode="auto">
              <a:xfrm>
                <a:off x="2313" y="3012"/>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63" name="Text Box 138"/>
              <p:cNvSpPr txBox="1">
                <a:spLocks noChangeArrowheads="1"/>
              </p:cNvSpPr>
              <p:nvPr/>
            </p:nvSpPr>
            <p:spPr bwMode="auto">
              <a:xfrm>
                <a:off x="2898" y="3012"/>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64" name="Text Box 139"/>
              <p:cNvSpPr txBox="1">
                <a:spLocks noChangeArrowheads="1"/>
              </p:cNvSpPr>
              <p:nvPr/>
            </p:nvSpPr>
            <p:spPr bwMode="auto">
              <a:xfrm>
                <a:off x="3449" y="2990"/>
                <a:ext cx="195"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o</a:t>
                </a:r>
              </a:p>
            </p:txBody>
          </p:sp>
        </p:grpSp>
        <p:sp>
          <p:nvSpPr>
            <p:cNvPr id="147" name="AutoShape 140"/>
            <p:cNvSpPr>
              <a:spLocks noChangeArrowheads="1"/>
            </p:cNvSpPr>
            <p:nvPr/>
          </p:nvSpPr>
          <p:spPr bwMode="auto">
            <a:xfrm>
              <a:off x="2834" y="1966"/>
              <a:ext cx="1951" cy="445"/>
            </a:xfrm>
            <a:prstGeom prst="cloudCallout">
              <a:avLst>
                <a:gd name="adj1" fmla="val -47694"/>
                <a:gd name="adj2" fmla="val 117356"/>
              </a:avLst>
            </a:prstGeom>
            <a:gradFill flip="none" rotWithShape="1">
              <a:gsLst>
                <a:gs pos="0">
                  <a:srgbClr val="CFCFD1"/>
                </a:gs>
                <a:gs pos="85000">
                  <a:schemeClr val="bg1">
                    <a:lumMod val="95000"/>
                  </a:schemeClr>
                </a:gs>
              </a:gsLst>
              <a:path path="circle">
                <a:fillToRect l="100000" b="100000"/>
              </a:path>
              <a:tileRect t="-100000" r="-100000"/>
            </a:gradFill>
            <a:ln w="38100">
              <a:solidFill>
                <a:srgbClr val="C01920"/>
              </a:solidFill>
              <a:round/>
              <a:headEnd/>
              <a:tailEnd/>
            </a:ln>
            <a:effectLst>
              <a:outerShdw dist="107763" dir="2700000" algn="ctr" rotWithShape="0">
                <a:schemeClr val="bg2">
                  <a:alpha val="50000"/>
                </a:schemeClr>
              </a:outerShdw>
            </a:effectLst>
            <a:scene3d>
              <a:camera prst="orthographicFront"/>
              <a:lightRig rig="threePt" dir="t"/>
            </a:scene3d>
            <a:sp3d>
              <a:bevelT/>
            </a:sp3d>
          </p:spPr>
          <p:txBody>
            <a:bodyPr lIns="90000" tIns="46800" rIns="90000" bIns="46800" anchor="ctr">
              <a:spAutoFit/>
            </a:bodyPr>
            <a:lstStyle/>
            <a:p>
              <a:pPr algn="ctr"/>
              <a:r>
                <a:rPr lang="zh-CN" altLang="en-US" b="1" dirty="0">
                  <a:solidFill>
                    <a:srgbClr val="C01920"/>
                  </a:solidFill>
                  <a:ea typeface="隶书" pitchFamily="49" charset="-122"/>
                </a:rPr>
                <a:t>逐个字符赋值</a:t>
              </a:r>
            </a:p>
          </p:txBody>
        </p:sp>
        <p:grpSp>
          <p:nvGrpSpPr>
            <p:cNvPr id="148" name="Group 146"/>
            <p:cNvGrpSpPr>
              <a:grpSpLocks/>
            </p:cNvGrpSpPr>
            <p:nvPr/>
          </p:nvGrpSpPr>
          <p:grpSpPr bwMode="auto">
            <a:xfrm>
              <a:off x="979" y="3282"/>
              <a:ext cx="2844" cy="301"/>
              <a:chOff x="1114" y="3264"/>
              <a:chExt cx="2844" cy="301"/>
            </a:xfrm>
          </p:grpSpPr>
          <p:sp>
            <p:nvSpPr>
              <p:cNvPr id="150" name="Text Box 134"/>
              <p:cNvSpPr txBox="1">
                <a:spLocks noChangeArrowheads="1"/>
              </p:cNvSpPr>
              <p:nvPr/>
            </p:nvSpPr>
            <p:spPr bwMode="auto">
              <a:xfrm>
                <a:off x="1114" y="3264"/>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[0]</a:t>
                </a:r>
              </a:p>
            </p:txBody>
          </p:sp>
          <p:sp>
            <p:nvSpPr>
              <p:cNvPr id="151" name="Text Box 141"/>
              <p:cNvSpPr txBox="1">
                <a:spLocks noChangeArrowheads="1"/>
              </p:cNvSpPr>
              <p:nvPr/>
            </p:nvSpPr>
            <p:spPr bwMode="auto">
              <a:xfrm>
                <a:off x="1708" y="3264"/>
                <a:ext cx="64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52" name="Text Box 142"/>
              <p:cNvSpPr txBox="1">
                <a:spLocks noChangeArrowheads="1"/>
              </p:cNvSpPr>
              <p:nvPr/>
            </p:nvSpPr>
            <p:spPr bwMode="auto">
              <a:xfrm>
                <a:off x="2302" y="3273"/>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ch[2]</a:t>
                </a:r>
              </a:p>
            </p:txBody>
          </p:sp>
          <p:sp>
            <p:nvSpPr>
              <p:cNvPr id="153" name="Text Box 143"/>
              <p:cNvSpPr txBox="1">
                <a:spLocks noChangeArrowheads="1"/>
              </p:cNvSpPr>
              <p:nvPr/>
            </p:nvSpPr>
            <p:spPr bwMode="auto">
              <a:xfrm>
                <a:off x="2878" y="3273"/>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54" name="Text Box 144"/>
              <p:cNvSpPr txBox="1">
                <a:spLocks noChangeArrowheads="1"/>
              </p:cNvSpPr>
              <p:nvPr/>
            </p:nvSpPr>
            <p:spPr bwMode="auto">
              <a:xfrm>
                <a:off x="3481" y="3264"/>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grpSp>
        <p:sp>
          <p:nvSpPr>
            <p:cNvPr id="149" name="Rectangle 148"/>
            <p:cNvSpPr>
              <a:spLocks noChangeArrowheads="1"/>
            </p:cNvSpPr>
            <p:nvPr/>
          </p:nvSpPr>
          <p:spPr bwMode="auto">
            <a:xfrm>
              <a:off x="552" y="2623"/>
              <a:ext cx="3350" cy="288"/>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[5]=</a:t>
              </a:r>
              <a:r>
                <a:rPr lang="en-US" altLang="zh-CN" b="1" dirty="0">
                  <a:solidFill>
                    <a:srgbClr val="C01920"/>
                  </a:solidFill>
                </a:rPr>
                <a:t>{ </a:t>
              </a:r>
              <a:r>
                <a:rPr lang="en-US" altLang="zh-CN" b="1" dirty="0"/>
                <a:t>'H'</a:t>
              </a:r>
              <a:r>
                <a:rPr lang="en-US" altLang="zh-CN" dirty="0"/>
                <a:t> </a:t>
              </a:r>
              <a:r>
                <a:rPr lang="en-US" altLang="zh-CN" b="1" dirty="0"/>
                <a:t>, 'e'</a:t>
              </a:r>
              <a:r>
                <a:rPr lang="en-US" altLang="zh-CN" dirty="0"/>
                <a:t> </a:t>
              </a:r>
              <a:r>
                <a:rPr lang="en-US" altLang="zh-CN" b="1" dirty="0"/>
                <a:t>, 'l'</a:t>
              </a:r>
              <a:r>
                <a:rPr lang="en-US" altLang="zh-CN" dirty="0"/>
                <a:t> </a:t>
              </a:r>
              <a:r>
                <a:rPr lang="en-US" altLang="zh-CN" b="1" dirty="0"/>
                <a:t>, 'l'</a:t>
              </a:r>
              <a:r>
                <a:rPr lang="en-US" altLang="zh-CN" dirty="0"/>
                <a:t> </a:t>
              </a:r>
              <a:r>
                <a:rPr lang="en-US" altLang="zh-CN" b="1" dirty="0"/>
                <a:t>, 'o'</a:t>
              </a:r>
              <a:r>
                <a:rPr lang="en-US" altLang="zh-CN" dirty="0"/>
                <a:t> </a:t>
              </a:r>
              <a:r>
                <a:rPr lang="en-US" altLang="zh-CN" b="1" dirty="0">
                  <a:solidFill>
                    <a:srgbClr val="C01920"/>
                  </a:solidFill>
                </a:rPr>
                <a:t>}</a:t>
              </a:r>
              <a:r>
                <a:rPr lang="en-US" altLang="zh-CN" b="1" dirty="0"/>
                <a:t>;</a:t>
              </a:r>
            </a:p>
          </p:txBody>
        </p:sp>
      </p:grpSp>
      <p:grpSp>
        <p:nvGrpSpPr>
          <p:cNvPr id="165" name="组合 164"/>
          <p:cNvGrpSpPr/>
          <p:nvPr/>
        </p:nvGrpSpPr>
        <p:grpSpPr>
          <a:xfrm>
            <a:off x="1793743" y="3860320"/>
            <a:ext cx="7527666" cy="2909887"/>
            <a:chOff x="765799" y="3284083"/>
            <a:chExt cx="7527666" cy="2909887"/>
          </a:xfrm>
        </p:grpSpPr>
        <p:grpSp>
          <p:nvGrpSpPr>
            <p:cNvPr id="1001621" name="Group 149"/>
            <p:cNvGrpSpPr>
              <a:grpSpLocks/>
            </p:cNvGrpSpPr>
            <p:nvPr/>
          </p:nvGrpSpPr>
          <p:grpSpPr bwMode="auto">
            <a:xfrm>
              <a:off x="765799" y="3284083"/>
              <a:ext cx="6719888" cy="2714624"/>
              <a:chOff x="552" y="1966"/>
              <a:chExt cx="4233" cy="1710"/>
            </a:xfrm>
          </p:grpSpPr>
          <p:sp>
            <p:nvSpPr>
              <p:cNvPr id="1001619" name="Rectangle 147"/>
              <p:cNvSpPr>
                <a:spLocks noChangeArrowheads="1"/>
              </p:cNvSpPr>
              <p:nvPr/>
            </p:nvSpPr>
            <p:spPr bwMode="auto">
              <a:xfrm>
                <a:off x="559" y="2587"/>
                <a:ext cx="3703" cy="1089"/>
              </a:xfrm>
              <a:prstGeom prst="rect">
                <a:avLst/>
              </a:prstGeom>
              <a:gradFill>
                <a:gsLst>
                  <a:gs pos="0">
                    <a:srgbClr val="CFCFD1"/>
                  </a:gs>
                  <a:gs pos="100000">
                    <a:schemeClr val="bg1">
                      <a:lumMod val="95000"/>
                    </a:schemeClr>
                  </a:gs>
                </a:gsLst>
                <a:path path="circle">
                  <a:fillToRect l="100000" b="100000"/>
                </a:path>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001617" name="Group 145"/>
              <p:cNvGrpSpPr>
                <a:grpSpLocks/>
              </p:cNvGrpSpPr>
              <p:nvPr/>
            </p:nvGrpSpPr>
            <p:grpSpPr bwMode="auto">
              <a:xfrm>
                <a:off x="761" y="2985"/>
                <a:ext cx="2988" cy="329"/>
                <a:chOff x="887" y="2967"/>
                <a:chExt cx="2988" cy="329"/>
              </a:xfrm>
            </p:grpSpPr>
            <p:sp>
              <p:nvSpPr>
                <p:cNvPr id="1001601" name="Rectangle 129"/>
                <p:cNvSpPr>
                  <a:spLocks noChangeArrowheads="1"/>
                </p:cNvSpPr>
                <p:nvPr/>
              </p:nvSpPr>
              <p:spPr bwMode="auto">
                <a:xfrm>
                  <a:off x="887" y="2967"/>
                  <a:ext cx="2988" cy="327"/>
                </a:xfrm>
                <a:prstGeom prst="rect">
                  <a:avLst/>
                </a:prstGeom>
                <a:gradFill rotWithShape="1">
                  <a:gsLst>
                    <a:gs pos="0">
                      <a:srgbClr val="CCFFFF"/>
                    </a:gs>
                    <a:gs pos="100000">
                      <a:srgbClr val="CCFFFF">
                        <a:gamma/>
                        <a:shade val="87843"/>
                        <a:invGamma/>
                      </a:srgb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p>
              </p:txBody>
            </p:sp>
            <p:sp>
              <p:nvSpPr>
                <p:cNvPr id="1001602" name="Line 130"/>
                <p:cNvSpPr>
                  <a:spLocks noChangeShapeType="1"/>
                </p:cNvSpPr>
                <p:nvPr/>
              </p:nvSpPr>
              <p:spPr bwMode="auto">
                <a:xfrm>
                  <a:off x="1523" y="2975"/>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001603" name="Line 131"/>
                <p:cNvSpPr>
                  <a:spLocks noChangeShapeType="1"/>
                </p:cNvSpPr>
                <p:nvPr/>
              </p:nvSpPr>
              <p:spPr bwMode="auto">
                <a:xfrm>
                  <a:off x="2117"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04" name="Line 132"/>
                <p:cNvSpPr>
                  <a:spLocks noChangeShapeType="1"/>
                </p:cNvSpPr>
                <p:nvPr/>
              </p:nvSpPr>
              <p:spPr bwMode="auto">
                <a:xfrm>
                  <a:off x="2711"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05" name="Line 133"/>
                <p:cNvSpPr>
                  <a:spLocks noChangeShapeType="1"/>
                </p:cNvSpPr>
                <p:nvPr/>
              </p:nvSpPr>
              <p:spPr bwMode="auto">
                <a:xfrm>
                  <a:off x="3305"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07" name="Text Box 135"/>
                <p:cNvSpPr txBox="1">
                  <a:spLocks noChangeArrowheads="1"/>
                </p:cNvSpPr>
                <p:nvPr/>
              </p:nvSpPr>
              <p:spPr bwMode="auto">
                <a:xfrm>
                  <a:off x="1061"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H</a:t>
                  </a:r>
                </a:p>
              </p:txBody>
            </p:sp>
            <p:sp>
              <p:nvSpPr>
                <p:cNvPr id="1001608" name="Text Box 136"/>
                <p:cNvSpPr txBox="1">
                  <a:spLocks noChangeArrowheads="1"/>
                </p:cNvSpPr>
                <p:nvPr/>
              </p:nvSpPr>
              <p:spPr bwMode="auto">
                <a:xfrm>
                  <a:off x="1727" y="3012"/>
                  <a:ext cx="186"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e</a:t>
                  </a:r>
                </a:p>
              </p:txBody>
            </p:sp>
            <p:sp>
              <p:nvSpPr>
                <p:cNvPr id="1001609" name="Text Box 137"/>
                <p:cNvSpPr txBox="1">
                  <a:spLocks noChangeArrowheads="1"/>
                </p:cNvSpPr>
                <p:nvPr/>
              </p:nvSpPr>
              <p:spPr bwMode="auto">
                <a:xfrm>
                  <a:off x="2313" y="3012"/>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001610" name="Text Box 138"/>
                <p:cNvSpPr txBox="1">
                  <a:spLocks noChangeArrowheads="1"/>
                </p:cNvSpPr>
                <p:nvPr/>
              </p:nvSpPr>
              <p:spPr bwMode="auto">
                <a:xfrm>
                  <a:off x="2898" y="3012"/>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001611" name="Text Box 139"/>
                <p:cNvSpPr txBox="1">
                  <a:spLocks noChangeArrowheads="1"/>
                </p:cNvSpPr>
                <p:nvPr/>
              </p:nvSpPr>
              <p:spPr bwMode="auto">
                <a:xfrm>
                  <a:off x="3484"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o</a:t>
                  </a:r>
                </a:p>
              </p:txBody>
            </p:sp>
          </p:grpSp>
          <p:sp>
            <p:nvSpPr>
              <p:cNvPr id="1001612" name="AutoShape 140"/>
              <p:cNvSpPr>
                <a:spLocks noChangeArrowheads="1"/>
              </p:cNvSpPr>
              <p:nvPr/>
            </p:nvSpPr>
            <p:spPr bwMode="auto">
              <a:xfrm>
                <a:off x="2834" y="1966"/>
                <a:ext cx="1951" cy="445"/>
              </a:xfrm>
              <a:prstGeom prst="cloudCallout">
                <a:avLst>
                  <a:gd name="adj1" fmla="val -47694"/>
                  <a:gd name="adj2" fmla="val 117356"/>
                </a:avLst>
              </a:prstGeom>
              <a:gradFill flip="none" rotWithShape="1">
                <a:gsLst>
                  <a:gs pos="0">
                    <a:srgbClr val="CFCFD1"/>
                  </a:gs>
                  <a:gs pos="100000">
                    <a:schemeClr val="bg1">
                      <a:lumMod val="95000"/>
                    </a:schemeClr>
                  </a:gs>
                </a:gsLst>
                <a:path path="circle">
                  <a:fillToRect l="100000" b="100000"/>
                </a:path>
                <a:tileRect t="-100000" r="-100000"/>
              </a:gradFill>
              <a:ln w="38100">
                <a:solidFill>
                  <a:srgbClr val="C01920"/>
                </a:solidFill>
                <a:round/>
                <a:headEnd/>
                <a:tailEnd/>
              </a:ln>
              <a:effectLst>
                <a:outerShdw dist="107763" dir="2700000" algn="ctr" rotWithShape="0">
                  <a:schemeClr val="bg2">
                    <a:alpha val="50000"/>
                  </a:schemeClr>
                </a:outerShdw>
              </a:effectLst>
              <a:scene3d>
                <a:camera prst="orthographicFront"/>
                <a:lightRig rig="threePt" dir="t"/>
              </a:scene3d>
              <a:sp3d>
                <a:bevelT/>
              </a:sp3d>
            </p:spPr>
            <p:txBody>
              <a:bodyPr lIns="90000" tIns="46800" rIns="90000" bIns="46800" anchor="ctr">
                <a:spAutoFit/>
              </a:bodyPr>
              <a:lstStyle/>
              <a:p>
                <a:pPr algn="ctr"/>
                <a:r>
                  <a:rPr lang="zh-CN" altLang="en-US" b="1" dirty="0">
                    <a:solidFill>
                      <a:srgbClr val="C01920"/>
                    </a:solidFill>
                    <a:ea typeface="隶书" pitchFamily="49" charset="-122"/>
                  </a:rPr>
                  <a:t>逐个字符赋值</a:t>
                </a:r>
              </a:p>
            </p:txBody>
          </p:sp>
          <p:grpSp>
            <p:nvGrpSpPr>
              <p:cNvPr id="1001618" name="Group 146"/>
              <p:cNvGrpSpPr>
                <a:grpSpLocks/>
              </p:cNvGrpSpPr>
              <p:nvPr/>
            </p:nvGrpSpPr>
            <p:grpSpPr bwMode="auto">
              <a:xfrm>
                <a:off x="835" y="3282"/>
                <a:ext cx="2844" cy="301"/>
                <a:chOff x="970" y="3264"/>
                <a:chExt cx="2844" cy="301"/>
              </a:xfrm>
            </p:grpSpPr>
            <p:sp>
              <p:nvSpPr>
                <p:cNvPr id="1001606" name="Text Box 134"/>
                <p:cNvSpPr txBox="1">
                  <a:spLocks noChangeArrowheads="1"/>
                </p:cNvSpPr>
                <p:nvPr/>
              </p:nvSpPr>
              <p:spPr bwMode="auto">
                <a:xfrm>
                  <a:off x="970" y="3264"/>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[0]</a:t>
                  </a:r>
                </a:p>
              </p:txBody>
            </p:sp>
            <p:sp>
              <p:nvSpPr>
                <p:cNvPr id="1001613" name="Text Box 141"/>
                <p:cNvSpPr txBox="1">
                  <a:spLocks noChangeArrowheads="1"/>
                </p:cNvSpPr>
                <p:nvPr/>
              </p:nvSpPr>
              <p:spPr bwMode="auto">
                <a:xfrm>
                  <a:off x="1564" y="3264"/>
                  <a:ext cx="64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001614" name="Text Box 142"/>
                <p:cNvSpPr txBox="1">
                  <a:spLocks noChangeArrowheads="1"/>
                </p:cNvSpPr>
                <p:nvPr/>
              </p:nvSpPr>
              <p:spPr bwMode="auto">
                <a:xfrm>
                  <a:off x="2158" y="3273"/>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[2]</a:t>
                  </a:r>
                </a:p>
              </p:txBody>
            </p:sp>
            <p:sp>
              <p:nvSpPr>
                <p:cNvPr id="1001615" name="Text Box 143"/>
                <p:cNvSpPr txBox="1">
                  <a:spLocks noChangeArrowheads="1"/>
                </p:cNvSpPr>
                <p:nvPr/>
              </p:nvSpPr>
              <p:spPr bwMode="auto">
                <a:xfrm>
                  <a:off x="2734" y="3273"/>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001616" name="Text Box 144"/>
                <p:cNvSpPr txBox="1">
                  <a:spLocks noChangeArrowheads="1"/>
                </p:cNvSpPr>
                <p:nvPr/>
              </p:nvSpPr>
              <p:spPr bwMode="auto">
                <a:xfrm>
                  <a:off x="3337" y="3264"/>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grpSp>
          <p:sp>
            <p:nvSpPr>
              <p:cNvPr id="1001620" name="Rectangle 148"/>
              <p:cNvSpPr>
                <a:spLocks noChangeArrowheads="1"/>
              </p:cNvSpPr>
              <p:nvPr/>
            </p:nvSpPr>
            <p:spPr bwMode="auto">
              <a:xfrm>
                <a:off x="552" y="2623"/>
                <a:ext cx="3350" cy="288"/>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[5]=</a:t>
                </a:r>
                <a:r>
                  <a:rPr lang="en-US" altLang="zh-CN" b="1" dirty="0">
                    <a:solidFill>
                      <a:srgbClr val="C01920"/>
                    </a:solidFill>
                  </a:rPr>
                  <a:t>{ </a:t>
                </a:r>
                <a:r>
                  <a:rPr lang="en-US" altLang="zh-CN" b="1" dirty="0"/>
                  <a:t>'H'</a:t>
                </a:r>
                <a:r>
                  <a:rPr lang="en-US" altLang="zh-CN" dirty="0"/>
                  <a:t> </a:t>
                </a:r>
                <a:r>
                  <a:rPr lang="en-US" altLang="zh-CN" b="1" dirty="0"/>
                  <a:t>, 'e'</a:t>
                </a:r>
                <a:r>
                  <a:rPr lang="en-US" altLang="zh-CN" dirty="0"/>
                  <a:t> </a:t>
                </a:r>
                <a:r>
                  <a:rPr lang="en-US" altLang="zh-CN" b="1" dirty="0"/>
                  <a:t>, 'l'</a:t>
                </a:r>
                <a:r>
                  <a:rPr lang="en-US" altLang="zh-CN" dirty="0"/>
                  <a:t> </a:t>
                </a:r>
                <a:r>
                  <a:rPr lang="en-US" altLang="zh-CN" b="1" dirty="0"/>
                  <a:t>, 'l'</a:t>
                </a:r>
                <a:r>
                  <a:rPr lang="en-US" altLang="zh-CN" dirty="0"/>
                  <a:t> </a:t>
                </a:r>
                <a:r>
                  <a:rPr lang="en-US" altLang="zh-CN" b="1" dirty="0"/>
                  <a:t>, 'o'</a:t>
                </a:r>
                <a:r>
                  <a:rPr lang="en-US" altLang="zh-CN" dirty="0"/>
                  <a:t> </a:t>
                </a:r>
                <a:r>
                  <a:rPr lang="en-US" altLang="zh-CN" b="1" dirty="0">
                    <a:solidFill>
                      <a:srgbClr val="C01920"/>
                    </a:solidFill>
                  </a:rPr>
                  <a:t>}</a:t>
                </a:r>
                <a:r>
                  <a:rPr lang="en-US" altLang="zh-CN" b="1" dirty="0"/>
                  <a:t>;</a:t>
                </a:r>
              </a:p>
            </p:txBody>
          </p:sp>
        </p:grpSp>
        <p:sp>
          <p:nvSpPr>
            <p:cNvPr id="143" name="AutoShape 191"/>
            <p:cNvSpPr>
              <a:spLocks noChangeArrowheads="1"/>
            </p:cNvSpPr>
            <p:nvPr/>
          </p:nvSpPr>
          <p:spPr bwMode="auto">
            <a:xfrm>
              <a:off x="5267690" y="4970007"/>
              <a:ext cx="3025775" cy="1223963"/>
            </a:xfrm>
            <a:prstGeom prst="irregularSeal1">
              <a:avLst/>
            </a:prstGeom>
            <a:gradFill flip="none" rotWithShape="1">
              <a:gsLst>
                <a:gs pos="0">
                  <a:srgbClr val="CFCFD1"/>
                </a:gs>
                <a:gs pos="100000">
                  <a:schemeClr val="bg1">
                    <a:lumMod val="95000"/>
                  </a:schemeClr>
                </a:gs>
              </a:gsLst>
              <a:lin ang="18900000" scaled="1"/>
              <a:tileRect/>
            </a:gradFill>
            <a:ln w="28575">
              <a:solidFill>
                <a:srgbClr val="C01920"/>
              </a:solidFill>
              <a:miter lim="800000"/>
              <a:headEnd/>
              <a:tailEnd/>
            </a:ln>
            <a:effectLst>
              <a:outerShdw blurRad="50800" dist="106680" dir="2700000" algn="tl" rotWithShape="0">
                <a:prstClr val="black">
                  <a:alpha val="43000"/>
                </a:prstClr>
              </a:outerShdw>
            </a:effectLst>
          </p:spPr>
          <p:txBody>
            <a:bodyPr wrap="none" anchor="ctr"/>
            <a:lstStyle/>
            <a:p>
              <a:pPr algn="ctr"/>
              <a:r>
                <a:rPr lang="zh-CN" altLang="en-US" sz="2800" b="1">
                  <a:solidFill>
                    <a:srgbClr val="C01920"/>
                  </a:solidFill>
                  <a:ea typeface="隶书" pitchFamily="49" charset="-122"/>
                </a:rPr>
                <a:t>有问题！</a:t>
              </a:r>
            </a:p>
          </p:txBody>
        </p:sp>
      </p:grpSp>
      <p:grpSp>
        <p:nvGrpSpPr>
          <p:cNvPr id="1001666" name="Group 194"/>
          <p:cNvGrpSpPr>
            <a:grpSpLocks/>
          </p:cNvGrpSpPr>
          <p:nvPr/>
        </p:nvGrpSpPr>
        <p:grpSpPr bwMode="auto">
          <a:xfrm>
            <a:off x="1832163" y="3861048"/>
            <a:ext cx="6719888" cy="2714624"/>
            <a:chOff x="552" y="1966"/>
            <a:chExt cx="4233" cy="1710"/>
          </a:xfrm>
        </p:grpSpPr>
        <p:sp>
          <p:nvSpPr>
            <p:cNvPr id="1001667" name="Rectangle 195"/>
            <p:cNvSpPr>
              <a:spLocks noChangeArrowheads="1"/>
            </p:cNvSpPr>
            <p:nvPr/>
          </p:nvSpPr>
          <p:spPr bwMode="auto">
            <a:xfrm>
              <a:off x="559" y="2587"/>
              <a:ext cx="3703" cy="1089"/>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001668" name="Group 196"/>
            <p:cNvGrpSpPr>
              <a:grpSpLocks/>
            </p:cNvGrpSpPr>
            <p:nvPr/>
          </p:nvGrpSpPr>
          <p:grpSpPr bwMode="auto">
            <a:xfrm>
              <a:off x="761" y="2985"/>
              <a:ext cx="2988" cy="329"/>
              <a:chOff x="887" y="2967"/>
              <a:chExt cx="2988" cy="329"/>
            </a:xfrm>
          </p:grpSpPr>
          <p:sp>
            <p:nvSpPr>
              <p:cNvPr id="1001669" name="Rectangle 197"/>
              <p:cNvSpPr>
                <a:spLocks noChangeArrowheads="1"/>
              </p:cNvSpPr>
              <p:nvPr/>
            </p:nvSpPr>
            <p:spPr bwMode="auto">
              <a:xfrm>
                <a:off x="887" y="2967"/>
                <a:ext cx="2988" cy="327"/>
              </a:xfrm>
              <a:prstGeom prst="rect">
                <a:avLst/>
              </a:prstGeom>
              <a:gradFill rotWithShape="1">
                <a:gsLst>
                  <a:gs pos="0">
                    <a:srgbClr val="CCFFFF"/>
                  </a:gs>
                  <a:gs pos="100000">
                    <a:srgbClr val="CCFFFF">
                      <a:gamma/>
                      <a:shade val="87843"/>
                      <a:invGamma/>
                    </a:srgb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p>
            </p:txBody>
          </p:sp>
          <p:sp>
            <p:nvSpPr>
              <p:cNvPr id="1001670" name="Line 198"/>
              <p:cNvSpPr>
                <a:spLocks noChangeShapeType="1"/>
              </p:cNvSpPr>
              <p:nvPr/>
            </p:nvSpPr>
            <p:spPr bwMode="auto">
              <a:xfrm>
                <a:off x="1523" y="2975"/>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001671" name="Line 199"/>
              <p:cNvSpPr>
                <a:spLocks noChangeShapeType="1"/>
              </p:cNvSpPr>
              <p:nvPr/>
            </p:nvSpPr>
            <p:spPr bwMode="auto">
              <a:xfrm>
                <a:off x="2117"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72" name="Line 200"/>
              <p:cNvSpPr>
                <a:spLocks noChangeShapeType="1"/>
              </p:cNvSpPr>
              <p:nvPr/>
            </p:nvSpPr>
            <p:spPr bwMode="auto">
              <a:xfrm>
                <a:off x="2711"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73" name="Line 201"/>
              <p:cNvSpPr>
                <a:spLocks noChangeShapeType="1"/>
              </p:cNvSpPr>
              <p:nvPr/>
            </p:nvSpPr>
            <p:spPr bwMode="auto">
              <a:xfrm>
                <a:off x="3305"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674" name="Text Box 202"/>
              <p:cNvSpPr txBox="1">
                <a:spLocks noChangeArrowheads="1"/>
              </p:cNvSpPr>
              <p:nvPr/>
            </p:nvSpPr>
            <p:spPr bwMode="auto">
              <a:xfrm>
                <a:off x="1061" y="3012"/>
                <a:ext cx="223"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B</a:t>
                </a:r>
              </a:p>
            </p:txBody>
          </p:sp>
          <p:sp>
            <p:nvSpPr>
              <p:cNvPr id="1001675" name="Text Box 203"/>
              <p:cNvSpPr txBox="1">
                <a:spLocks noChangeArrowheads="1"/>
              </p:cNvSpPr>
              <p:nvPr/>
            </p:nvSpPr>
            <p:spPr bwMode="auto">
              <a:xfrm>
                <a:off x="1727"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o</a:t>
                </a:r>
              </a:p>
            </p:txBody>
          </p:sp>
          <p:sp>
            <p:nvSpPr>
              <p:cNvPr id="1001676" name="Text Box 204"/>
              <p:cNvSpPr txBox="1">
                <a:spLocks noChangeArrowheads="1"/>
              </p:cNvSpPr>
              <p:nvPr/>
            </p:nvSpPr>
            <p:spPr bwMode="auto">
              <a:xfrm>
                <a:off x="2313"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y</a:t>
                </a:r>
              </a:p>
            </p:txBody>
          </p:sp>
          <p:sp>
            <p:nvSpPr>
              <p:cNvPr id="1001677" name="Text Box 205"/>
              <p:cNvSpPr txBox="1">
                <a:spLocks noChangeArrowheads="1"/>
              </p:cNvSpPr>
              <p:nvPr/>
            </p:nvSpPr>
            <p:spPr bwMode="auto">
              <a:xfrm>
                <a:off x="2898"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FF0000"/>
                    </a:solidFill>
                    <a:effectLst>
                      <a:outerShdw blurRad="38100" dist="38100" dir="2700000" algn="tl">
                        <a:srgbClr val="000000"/>
                      </a:outerShdw>
                    </a:effectLst>
                  </a:rPr>
                  <a:t>\0</a:t>
                </a:r>
              </a:p>
            </p:txBody>
          </p:sp>
          <p:sp>
            <p:nvSpPr>
              <p:cNvPr id="1001678" name="Text Box 206"/>
              <p:cNvSpPr txBox="1">
                <a:spLocks noChangeArrowheads="1"/>
              </p:cNvSpPr>
              <p:nvPr/>
            </p:nvSpPr>
            <p:spPr bwMode="auto">
              <a:xfrm>
                <a:off x="3484"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FF0000"/>
                    </a:solidFill>
                    <a:effectLst>
                      <a:outerShdw blurRad="38100" dist="38100" dir="2700000" algn="tl">
                        <a:srgbClr val="000000"/>
                      </a:outerShdw>
                    </a:effectLst>
                  </a:rPr>
                  <a:t>\0</a:t>
                </a:r>
              </a:p>
            </p:txBody>
          </p:sp>
        </p:grpSp>
        <p:sp>
          <p:nvSpPr>
            <p:cNvPr id="1001679" name="AutoShape 207"/>
            <p:cNvSpPr>
              <a:spLocks noChangeArrowheads="1"/>
            </p:cNvSpPr>
            <p:nvPr/>
          </p:nvSpPr>
          <p:spPr bwMode="auto">
            <a:xfrm>
              <a:off x="2834" y="1966"/>
              <a:ext cx="1951" cy="445"/>
            </a:xfrm>
            <a:prstGeom prst="cloudCallout">
              <a:avLst>
                <a:gd name="adj1" fmla="val -47694"/>
                <a:gd name="adj2" fmla="val 117356"/>
              </a:avLst>
            </a:prstGeom>
            <a:gradFill rotWithShape="1">
              <a:gsLst>
                <a:gs pos="0">
                  <a:srgbClr val="CCFFFF"/>
                </a:gs>
                <a:gs pos="100000">
                  <a:srgbClr val="FFFFFF"/>
                </a:gs>
              </a:gsLst>
              <a:lin ang="5400000" scaled="1"/>
            </a:gradFill>
            <a:ln w="38100">
              <a:solidFill>
                <a:srgbClr val="C01920"/>
              </a:solidFill>
              <a:round/>
              <a:headEnd/>
              <a:tailEnd/>
            </a:ln>
            <a:effectLst>
              <a:outerShdw blurRad="50800" dist="106680" dir="2700000" algn="tl" rotWithShape="0">
                <a:prstClr val="black">
                  <a:alpha val="43000"/>
                </a:prstClr>
              </a:outerShdw>
            </a:effectLst>
            <a:scene3d>
              <a:camera prst="orthographicFront"/>
              <a:lightRig rig="threePt" dir="t"/>
            </a:scene3d>
            <a:sp3d>
              <a:bevelT/>
            </a:sp3d>
          </p:spPr>
          <p:txBody>
            <a:bodyPr lIns="90000" tIns="46800" rIns="90000" bIns="46800" anchor="ctr">
              <a:spAutoFit/>
            </a:bodyPr>
            <a:lstStyle/>
            <a:p>
              <a:pPr algn="ctr"/>
              <a:r>
                <a:rPr lang="zh-CN" altLang="en-US" b="1" dirty="0">
                  <a:solidFill>
                    <a:srgbClr val="C01920"/>
                  </a:solidFill>
                  <a:ea typeface="隶书" pitchFamily="49" charset="-122"/>
                </a:rPr>
                <a:t>逐个字符赋值</a:t>
              </a:r>
            </a:p>
          </p:txBody>
        </p:sp>
        <p:grpSp>
          <p:nvGrpSpPr>
            <p:cNvPr id="1001680" name="Group 208"/>
            <p:cNvGrpSpPr>
              <a:grpSpLocks/>
            </p:cNvGrpSpPr>
            <p:nvPr/>
          </p:nvGrpSpPr>
          <p:grpSpPr bwMode="auto">
            <a:xfrm>
              <a:off x="835" y="3282"/>
              <a:ext cx="2844" cy="301"/>
              <a:chOff x="970" y="3264"/>
              <a:chExt cx="2844" cy="301"/>
            </a:xfrm>
          </p:grpSpPr>
          <p:sp>
            <p:nvSpPr>
              <p:cNvPr id="1001681" name="Text Box 209"/>
              <p:cNvSpPr txBox="1">
                <a:spLocks noChangeArrowheads="1"/>
              </p:cNvSpPr>
              <p:nvPr/>
            </p:nvSpPr>
            <p:spPr bwMode="auto">
              <a:xfrm>
                <a:off x="970" y="3264"/>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ch[0]</a:t>
                </a:r>
              </a:p>
            </p:txBody>
          </p:sp>
          <p:sp>
            <p:nvSpPr>
              <p:cNvPr id="1001682" name="Text Box 210"/>
              <p:cNvSpPr txBox="1">
                <a:spLocks noChangeArrowheads="1"/>
              </p:cNvSpPr>
              <p:nvPr/>
            </p:nvSpPr>
            <p:spPr bwMode="auto">
              <a:xfrm>
                <a:off x="1564" y="3264"/>
                <a:ext cx="64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001683" name="Text Box 211"/>
              <p:cNvSpPr txBox="1">
                <a:spLocks noChangeArrowheads="1"/>
              </p:cNvSpPr>
              <p:nvPr/>
            </p:nvSpPr>
            <p:spPr bwMode="auto">
              <a:xfrm>
                <a:off x="2158" y="3273"/>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ch[2]</a:t>
                </a:r>
              </a:p>
            </p:txBody>
          </p:sp>
          <p:sp>
            <p:nvSpPr>
              <p:cNvPr id="1001684" name="Text Box 212"/>
              <p:cNvSpPr txBox="1">
                <a:spLocks noChangeArrowheads="1"/>
              </p:cNvSpPr>
              <p:nvPr/>
            </p:nvSpPr>
            <p:spPr bwMode="auto">
              <a:xfrm>
                <a:off x="2734" y="3273"/>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001685" name="Text Box 213"/>
              <p:cNvSpPr txBox="1">
                <a:spLocks noChangeArrowheads="1"/>
              </p:cNvSpPr>
              <p:nvPr/>
            </p:nvSpPr>
            <p:spPr bwMode="auto">
              <a:xfrm>
                <a:off x="3337" y="3264"/>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grpSp>
        <p:sp>
          <p:nvSpPr>
            <p:cNvPr id="1001686" name="Rectangle 214"/>
            <p:cNvSpPr>
              <a:spLocks noChangeArrowheads="1"/>
            </p:cNvSpPr>
            <p:nvPr/>
          </p:nvSpPr>
          <p:spPr bwMode="auto">
            <a:xfrm>
              <a:off x="552" y="2623"/>
              <a:ext cx="2734" cy="288"/>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[5]=</a:t>
              </a:r>
              <a:r>
                <a:rPr lang="en-US" altLang="zh-CN" b="1" dirty="0">
                  <a:solidFill>
                    <a:srgbClr val="C01920"/>
                  </a:solidFill>
                </a:rPr>
                <a:t>{</a:t>
              </a:r>
              <a:r>
                <a:rPr lang="en-US" altLang="zh-CN" b="1" dirty="0">
                  <a:solidFill>
                    <a:srgbClr val="FF0000"/>
                  </a:solidFill>
                </a:rPr>
                <a:t> </a:t>
              </a:r>
              <a:r>
                <a:rPr lang="en-US" altLang="zh-CN" b="1" dirty="0"/>
                <a:t>'B'</a:t>
              </a:r>
              <a:r>
                <a:rPr lang="en-US" altLang="zh-CN" dirty="0"/>
                <a:t> </a:t>
              </a:r>
              <a:r>
                <a:rPr lang="en-US" altLang="zh-CN" b="1" dirty="0"/>
                <a:t>, 'o'</a:t>
              </a:r>
              <a:r>
                <a:rPr lang="en-US" altLang="zh-CN" dirty="0"/>
                <a:t> </a:t>
              </a:r>
              <a:r>
                <a:rPr lang="en-US" altLang="zh-CN" b="1" dirty="0"/>
                <a:t>, 'y'</a:t>
              </a:r>
              <a:r>
                <a:rPr lang="en-US" altLang="zh-CN" dirty="0"/>
                <a:t> </a:t>
              </a:r>
              <a:r>
                <a:rPr lang="en-US" altLang="zh-CN" b="1" dirty="0">
                  <a:solidFill>
                    <a:srgbClr val="C01920"/>
                  </a:solidFill>
                </a:rPr>
                <a:t>}</a:t>
              </a:r>
              <a:r>
                <a:rPr lang="en-US" altLang="zh-CN" b="1" dirty="0"/>
                <a:t>;</a:t>
              </a:r>
            </a:p>
          </p:txBody>
        </p:sp>
      </p:grpSp>
      <p:grpSp>
        <p:nvGrpSpPr>
          <p:cNvPr id="1001736" name="Group 264"/>
          <p:cNvGrpSpPr>
            <a:grpSpLocks/>
          </p:cNvGrpSpPr>
          <p:nvPr/>
        </p:nvGrpSpPr>
        <p:grpSpPr bwMode="auto">
          <a:xfrm>
            <a:off x="1751520" y="3308132"/>
            <a:ext cx="6719888" cy="3271838"/>
            <a:chOff x="492" y="2140"/>
            <a:chExt cx="4233" cy="2061"/>
          </a:xfrm>
        </p:grpSpPr>
        <p:sp>
          <p:nvSpPr>
            <p:cNvPr id="1001710" name="Rectangle 238"/>
            <p:cNvSpPr>
              <a:spLocks noChangeArrowheads="1"/>
            </p:cNvSpPr>
            <p:nvPr/>
          </p:nvSpPr>
          <p:spPr bwMode="auto">
            <a:xfrm>
              <a:off x="499" y="2761"/>
              <a:ext cx="3703" cy="1440"/>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dirty="0"/>
            </a:p>
          </p:txBody>
        </p:sp>
        <p:sp>
          <p:nvSpPr>
            <p:cNvPr id="1001722" name="AutoShape 250"/>
            <p:cNvSpPr>
              <a:spLocks noChangeArrowheads="1"/>
            </p:cNvSpPr>
            <p:nvPr/>
          </p:nvSpPr>
          <p:spPr bwMode="auto">
            <a:xfrm>
              <a:off x="2774" y="2140"/>
              <a:ext cx="1951" cy="445"/>
            </a:xfrm>
            <a:prstGeom prst="cloudCallout">
              <a:avLst>
                <a:gd name="adj1" fmla="val -47694"/>
                <a:gd name="adj2" fmla="val 117356"/>
              </a:avLst>
            </a:prstGeom>
            <a:gradFill rotWithShape="1">
              <a:gsLst>
                <a:gs pos="0">
                  <a:srgbClr val="CCFFFF"/>
                </a:gs>
                <a:gs pos="100000">
                  <a:srgbClr val="FFFFFF"/>
                </a:gs>
              </a:gsLst>
              <a:lin ang="5400000" scaled="1"/>
            </a:gradFill>
            <a:ln w="38100">
              <a:solidFill>
                <a:srgbClr val="C01920"/>
              </a:solidFill>
              <a:round/>
              <a:headEnd/>
              <a:tailEnd/>
            </a:ln>
            <a:effectLst>
              <a:outerShdw blurRad="50800" dist="106680" dir="2700000" algn="tl" rotWithShape="0">
                <a:prstClr val="black">
                  <a:alpha val="43000"/>
                </a:prstClr>
              </a:outerShdw>
            </a:effectLst>
            <a:scene3d>
              <a:camera prst="orthographicFront"/>
              <a:lightRig rig="threePt" dir="t"/>
            </a:scene3d>
            <a:sp3d>
              <a:bevelT/>
            </a:sp3d>
          </p:spPr>
          <p:txBody>
            <a:bodyPr lIns="90000" tIns="46800" rIns="90000" bIns="46800" anchor="ctr">
              <a:spAutoFit/>
            </a:bodyPr>
            <a:lstStyle/>
            <a:p>
              <a:pPr algn="ctr"/>
              <a:r>
                <a:rPr lang="zh-CN" altLang="en-US" b="1" dirty="0">
                  <a:solidFill>
                    <a:srgbClr val="C01920"/>
                  </a:solidFill>
                  <a:ea typeface="隶书" pitchFamily="49" charset="-122"/>
                </a:rPr>
                <a:t>用字符串常量</a:t>
              </a:r>
            </a:p>
          </p:txBody>
        </p:sp>
        <p:sp>
          <p:nvSpPr>
            <p:cNvPr id="1001729" name="Rectangle 257"/>
            <p:cNvSpPr>
              <a:spLocks noChangeArrowheads="1"/>
            </p:cNvSpPr>
            <p:nvPr/>
          </p:nvSpPr>
          <p:spPr bwMode="auto">
            <a:xfrm>
              <a:off x="492" y="2797"/>
              <a:ext cx="2575" cy="756"/>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a:t>
              </a:r>
              <a:r>
                <a:rPr lang="en-US" altLang="zh-CN" b="1" dirty="0">
                  <a:solidFill>
                    <a:srgbClr val="C01920"/>
                  </a:solidFill>
                </a:rPr>
                <a:t>6</a:t>
              </a:r>
              <a:r>
                <a:rPr lang="en-US" altLang="zh-CN" b="1" dirty="0"/>
                <a:t>] = </a:t>
              </a:r>
              <a:r>
                <a:rPr lang="en-US" altLang="zh-CN" b="1" dirty="0">
                  <a:solidFill>
                    <a:srgbClr val="C01920"/>
                  </a:solidFill>
                </a:rPr>
                <a:t>{</a:t>
              </a:r>
              <a:r>
                <a:rPr lang="en-US" altLang="zh-CN" b="1" dirty="0">
                  <a:solidFill>
                    <a:srgbClr val="FF0000"/>
                  </a:solidFill>
                </a:rPr>
                <a:t> </a:t>
              </a:r>
              <a:r>
                <a:rPr lang="en-US" altLang="zh-CN" b="1" dirty="0"/>
                <a:t>"Hello"</a:t>
              </a:r>
              <a:r>
                <a:rPr lang="en-US" altLang="zh-CN" dirty="0"/>
                <a:t> </a:t>
              </a:r>
              <a:r>
                <a:rPr lang="en-US" altLang="zh-CN" b="1" dirty="0">
                  <a:solidFill>
                    <a:srgbClr val="C01920"/>
                  </a:solidFill>
                </a:rPr>
                <a:t>}</a:t>
              </a:r>
              <a:r>
                <a:rPr lang="en-US" altLang="zh-CN" b="1" dirty="0"/>
                <a:t>;</a:t>
              </a:r>
            </a:p>
            <a:p>
              <a:r>
                <a:rPr lang="en-US" altLang="zh-CN" b="1" dirty="0"/>
                <a:t>         char </a:t>
              </a:r>
              <a:r>
                <a:rPr lang="en-US" altLang="zh-CN" b="1" dirty="0" err="1"/>
                <a:t>ch</a:t>
              </a:r>
              <a:r>
                <a:rPr lang="en-US" altLang="zh-CN" b="1" dirty="0"/>
                <a:t>[</a:t>
              </a:r>
              <a:r>
                <a:rPr lang="en-US" altLang="zh-CN" b="1" dirty="0">
                  <a:solidFill>
                    <a:srgbClr val="C01920"/>
                  </a:solidFill>
                </a:rPr>
                <a:t>6</a:t>
              </a:r>
              <a:r>
                <a:rPr lang="en-US" altLang="zh-CN" b="1" dirty="0"/>
                <a:t>] = "Hello"</a:t>
              </a:r>
              <a:r>
                <a:rPr lang="en-US" altLang="zh-CN" dirty="0"/>
                <a:t> </a:t>
              </a:r>
              <a:r>
                <a:rPr lang="en-US" altLang="zh-CN" b="1" dirty="0"/>
                <a:t>;</a:t>
              </a:r>
            </a:p>
            <a:p>
              <a:r>
                <a:rPr lang="en-US" altLang="zh-CN" b="1" dirty="0"/>
                <a:t>         char </a:t>
              </a:r>
              <a:r>
                <a:rPr lang="en-US" altLang="zh-CN" b="1" dirty="0" err="1"/>
                <a:t>ch</a:t>
              </a:r>
              <a:r>
                <a:rPr lang="en-US" altLang="zh-CN" b="1" dirty="0"/>
                <a:t>[</a:t>
              </a:r>
              <a:r>
                <a:rPr lang="en-US" altLang="zh-CN" b="1" dirty="0">
                  <a:solidFill>
                    <a:srgbClr val="FF0000"/>
                  </a:solidFill>
                </a:rPr>
                <a:t>  </a:t>
              </a:r>
              <a:r>
                <a:rPr lang="en-US" altLang="zh-CN" b="1" dirty="0"/>
                <a:t>] =</a:t>
              </a:r>
              <a:r>
                <a:rPr lang="en-US" altLang="zh-CN" b="1" dirty="0">
                  <a:solidFill>
                    <a:srgbClr val="FF0000"/>
                  </a:solidFill>
                </a:rPr>
                <a:t> </a:t>
              </a:r>
              <a:r>
                <a:rPr lang="en-US" altLang="zh-CN" b="1" dirty="0"/>
                <a:t>"Hello"</a:t>
              </a:r>
              <a:r>
                <a:rPr lang="en-US" altLang="zh-CN" dirty="0"/>
                <a:t> </a:t>
              </a:r>
              <a:r>
                <a:rPr lang="en-US" altLang="zh-CN" b="1" dirty="0"/>
                <a:t>;</a:t>
              </a:r>
            </a:p>
          </p:txBody>
        </p:sp>
        <p:grpSp>
          <p:nvGrpSpPr>
            <p:cNvPr id="1001735" name="Group 263"/>
            <p:cNvGrpSpPr>
              <a:grpSpLocks/>
            </p:cNvGrpSpPr>
            <p:nvPr/>
          </p:nvGrpSpPr>
          <p:grpSpPr bwMode="auto">
            <a:xfrm>
              <a:off x="817" y="3526"/>
              <a:ext cx="3033" cy="600"/>
              <a:chOff x="817" y="3157"/>
              <a:chExt cx="3033" cy="600"/>
            </a:xfrm>
          </p:grpSpPr>
          <p:grpSp>
            <p:nvGrpSpPr>
              <p:cNvPr id="1001734" name="Group 262"/>
              <p:cNvGrpSpPr>
                <a:grpSpLocks/>
              </p:cNvGrpSpPr>
              <p:nvPr/>
            </p:nvGrpSpPr>
            <p:grpSpPr bwMode="auto">
              <a:xfrm>
                <a:off x="862" y="3157"/>
                <a:ext cx="2988" cy="331"/>
                <a:chOff x="862" y="3157"/>
                <a:chExt cx="2988" cy="331"/>
              </a:xfrm>
            </p:grpSpPr>
            <p:sp>
              <p:nvSpPr>
                <p:cNvPr id="1001712" name="Rectangle 240"/>
                <p:cNvSpPr>
                  <a:spLocks noChangeArrowheads="1"/>
                </p:cNvSpPr>
                <p:nvPr/>
              </p:nvSpPr>
              <p:spPr bwMode="auto">
                <a:xfrm>
                  <a:off x="862" y="3159"/>
                  <a:ext cx="2988" cy="327"/>
                </a:xfrm>
                <a:prstGeom prst="rect">
                  <a:avLst/>
                </a:prstGeom>
                <a:gradFill rotWithShape="1">
                  <a:gsLst>
                    <a:gs pos="0">
                      <a:srgbClr val="CCFFFF"/>
                    </a:gs>
                    <a:gs pos="100000">
                      <a:srgbClr val="CCFFFF">
                        <a:gamma/>
                        <a:shade val="87843"/>
                        <a:invGamma/>
                      </a:srgb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p>
              </p:txBody>
            </p:sp>
            <p:sp>
              <p:nvSpPr>
                <p:cNvPr id="1001713" name="Line 241"/>
                <p:cNvSpPr>
                  <a:spLocks noChangeShapeType="1"/>
                </p:cNvSpPr>
                <p:nvPr/>
              </p:nvSpPr>
              <p:spPr bwMode="auto">
                <a:xfrm>
                  <a:off x="1325" y="3160"/>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001714" name="Line 242"/>
                <p:cNvSpPr>
                  <a:spLocks noChangeShapeType="1"/>
                </p:cNvSpPr>
                <p:nvPr/>
              </p:nvSpPr>
              <p:spPr bwMode="auto">
                <a:xfrm>
                  <a:off x="1794" y="3164"/>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15" name="Line 243"/>
                <p:cNvSpPr>
                  <a:spLocks noChangeShapeType="1"/>
                </p:cNvSpPr>
                <p:nvPr/>
              </p:nvSpPr>
              <p:spPr bwMode="auto">
                <a:xfrm>
                  <a:off x="2333" y="3157"/>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16" name="Line 244"/>
                <p:cNvSpPr>
                  <a:spLocks noChangeShapeType="1"/>
                </p:cNvSpPr>
                <p:nvPr/>
              </p:nvSpPr>
              <p:spPr bwMode="auto">
                <a:xfrm>
                  <a:off x="3320" y="3171"/>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17" name="Text Box 245"/>
                <p:cNvSpPr txBox="1">
                  <a:spLocks noChangeArrowheads="1"/>
                </p:cNvSpPr>
                <p:nvPr/>
              </p:nvSpPr>
              <p:spPr bwMode="auto">
                <a:xfrm>
                  <a:off x="979" y="3195"/>
                  <a:ext cx="240"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H</a:t>
                  </a:r>
                </a:p>
              </p:txBody>
            </p:sp>
            <p:sp>
              <p:nvSpPr>
                <p:cNvPr id="1001718" name="Text Box 246"/>
                <p:cNvSpPr txBox="1">
                  <a:spLocks noChangeArrowheads="1"/>
                </p:cNvSpPr>
                <p:nvPr/>
              </p:nvSpPr>
              <p:spPr bwMode="auto">
                <a:xfrm>
                  <a:off x="1480" y="3177"/>
                  <a:ext cx="186"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e</a:t>
                  </a:r>
                </a:p>
              </p:txBody>
            </p:sp>
            <p:sp>
              <p:nvSpPr>
                <p:cNvPr id="1001719" name="Text Box 247"/>
                <p:cNvSpPr txBox="1">
                  <a:spLocks noChangeArrowheads="1"/>
                </p:cNvSpPr>
                <p:nvPr/>
              </p:nvSpPr>
              <p:spPr bwMode="auto">
                <a:xfrm>
                  <a:off x="1968" y="3204"/>
                  <a:ext cx="159"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l</a:t>
                  </a:r>
                </a:p>
              </p:txBody>
            </p:sp>
            <p:sp>
              <p:nvSpPr>
                <p:cNvPr id="1001720" name="Text Box 248"/>
                <p:cNvSpPr txBox="1">
                  <a:spLocks noChangeArrowheads="1"/>
                </p:cNvSpPr>
                <p:nvPr/>
              </p:nvSpPr>
              <p:spPr bwMode="auto">
                <a:xfrm>
                  <a:off x="2491" y="3204"/>
                  <a:ext cx="159"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l</a:t>
                  </a:r>
                </a:p>
              </p:txBody>
            </p:sp>
            <p:sp>
              <p:nvSpPr>
                <p:cNvPr id="1001721" name="Text Box 249"/>
                <p:cNvSpPr txBox="1">
                  <a:spLocks noChangeArrowheads="1"/>
                </p:cNvSpPr>
                <p:nvPr/>
              </p:nvSpPr>
              <p:spPr bwMode="auto">
                <a:xfrm>
                  <a:off x="3467" y="3204"/>
                  <a:ext cx="240"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FF0000"/>
                      </a:solidFill>
                      <a:effectLst>
                        <a:outerShdw blurRad="38100" dist="38100" dir="2700000" algn="tl">
                          <a:srgbClr val="000000"/>
                        </a:outerShdw>
                      </a:effectLst>
                    </a:rPr>
                    <a:t>\0</a:t>
                  </a:r>
                </a:p>
              </p:txBody>
            </p:sp>
            <p:sp>
              <p:nvSpPr>
                <p:cNvPr id="1001730" name="Line 258"/>
                <p:cNvSpPr>
                  <a:spLocks noChangeShapeType="1"/>
                </p:cNvSpPr>
                <p:nvPr/>
              </p:nvSpPr>
              <p:spPr bwMode="auto">
                <a:xfrm>
                  <a:off x="2831" y="3163"/>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31" name="Text Box 259"/>
                <p:cNvSpPr txBox="1">
                  <a:spLocks noChangeArrowheads="1"/>
                </p:cNvSpPr>
                <p:nvPr/>
              </p:nvSpPr>
              <p:spPr bwMode="auto">
                <a:xfrm>
                  <a:off x="2985" y="3176"/>
                  <a:ext cx="195" cy="253"/>
                </a:xfrm>
                <a:prstGeom prst="rect">
                  <a:avLst/>
                </a:prstGeom>
                <a:noFill/>
                <a:ln w="38100">
                  <a:noFill/>
                  <a:miter lim="800000"/>
                  <a:headEnd/>
                  <a:tailEnd/>
                </a:ln>
                <a:effectLst/>
              </p:spPr>
              <p:txBody>
                <a:bodyPr wrap="none" lIns="90000" tIns="46800" rIns="90000" bIns="46800">
                  <a:spAutoFit/>
                </a:bodyPr>
                <a:lstStyle/>
                <a:p>
                  <a:r>
                    <a:rPr lang="en-US" altLang="zh-CN" sz="2000" b="1" dirty="0">
                      <a:solidFill>
                        <a:srgbClr val="0033CC"/>
                      </a:solidFill>
                      <a:effectLst>
                        <a:outerShdw blurRad="38100" dist="38100" dir="2700000" algn="tl">
                          <a:srgbClr val="000000"/>
                        </a:outerShdw>
                      </a:effectLst>
                    </a:rPr>
                    <a:t>o</a:t>
                  </a:r>
                </a:p>
              </p:txBody>
            </p:sp>
          </p:grpSp>
          <p:grpSp>
            <p:nvGrpSpPr>
              <p:cNvPr id="1001733" name="Group 261"/>
              <p:cNvGrpSpPr>
                <a:grpSpLocks/>
              </p:cNvGrpSpPr>
              <p:nvPr/>
            </p:nvGrpSpPr>
            <p:grpSpPr bwMode="auto">
              <a:xfrm>
                <a:off x="817" y="3456"/>
                <a:ext cx="2998" cy="301"/>
                <a:chOff x="817" y="3456"/>
                <a:chExt cx="2998" cy="301"/>
              </a:xfrm>
            </p:grpSpPr>
            <p:sp>
              <p:nvSpPr>
                <p:cNvPr id="1001724" name="Text Box 252"/>
                <p:cNvSpPr txBox="1">
                  <a:spLocks noChangeArrowheads="1"/>
                </p:cNvSpPr>
                <p:nvPr/>
              </p:nvSpPr>
              <p:spPr bwMode="auto">
                <a:xfrm>
                  <a:off x="817" y="3456"/>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ch[0]</a:t>
                  </a:r>
                </a:p>
              </p:txBody>
            </p:sp>
            <p:sp>
              <p:nvSpPr>
                <p:cNvPr id="1001725" name="Text Box 253"/>
                <p:cNvSpPr txBox="1">
                  <a:spLocks noChangeArrowheads="1"/>
                </p:cNvSpPr>
                <p:nvPr/>
              </p:nvSpPr>
              <p:spPr bwMode="auto">
                <a:xfrm>
                  <a:off x="1348" y="3456"/>
                  <a:ext cx="50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001726" name="Text Box 254"/>
                <p:cNvSpPr txBox="1">
                  <a:spLocks noChangeArrowheads="1"/>
                </p:cNvSpPr>
                <p:nvPr/>
              </p:nvSpPr>
              <p:spPr bwMode="auto">
                <a:xfrm>
                  <a:off x="1852" y="3465"/>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ch[2]</a:t>
                  </a:r>
                </a:p>
              </p:txBody>
            </p:sp>
            <p:sp>
              <p:nvSpPr>
                <p:cNvPr id="1001727" name="Text Box 255"/>
                <p:cNvSpPr txBox="1">
                  <a:spLocks noChangeArrowheads="1"/>
                </p:cNvSpPr>
                <p:nvPr/>
              </p:nvSpPr>
              <p:spPr bwMode="auto">
                <a:xfrm>
                  <a:off x="2383" y="3465"/>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001728" name="Text Box 256"/>
                <p:cNvSpPr txBox="1">
                  <a:spLocks noChangeArrowheads="1"/>
                </p:cNvSpPr>
                <p:nvPr/>
              </p:nvSpPr>
              <p:spPr bwMode="auto">
                <a:xfrm>
                  <a:off x="2860" y="3456"/>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sp>
              <p:nvSpPr>
                <p:cNvPr id="1001732" name="Text Box 260"/>
                <p:cNvSpPr txBox="1">
                  <a:spLocks noChangeArrowheads="1"/>
                </p:cNvSpPr>
                <p:nvPr/>
              </p:nvSpPr>
              <p:spPr bwMode="auto">
                <a:xfrm>
                  <a:off x="3338" y="3457"/>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ch[5]</a:t>
                  </a:r>
                </a:p>
              </p:txBody>
            </p:sp>
          </p:grpSp>
        </p:grpSp>
      </p:grpSp>
      <p:sp>
        <p:nvSpPr>
          <p:cNvPr id="1001596" name="Text Box 124"/>
          <p:cNvSpPr txBox="1">
            <a:spLocks noChangeArrowheads="1"/>
          </p:cNvSpPr>
          <p:nvPr/>
        </p:nvSpPr>
        <p:spPr bwMode="auto">
          <a:xfrm>
            <a:off x="2508883" y="3035367"/>
            <a:ext cx="5721185" cy="463846"/>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buClr>
                <a:schemeClr val="accent2"/>
              </a:buClr>
              <a:buFont typeface="Wingdings" pitchFamily="2" charset="2"/>
              <a:buNone/>
            </a:pPr>
            <a:r>
              <a:rPr lang="zh-CN" altLang="en-US" b="1" dirty="0">
                <a:solidFill>
                  <a:srgbClr val="C01920"/>
                </a:solidFill>
                <a:effectLst>
                  <a:outerShdw blurRad="38100" dist="38100" dir="2700000" algn="tl">
                    <a:srgbClr val="C0C0C0"/>
                  </a:outerShdw>
                </a:effectLst>
                <a:ea typeface="隶书" pitchFamily="49" charset="-122"/>
              </a:rPr>
              <a:t>例：      </a:t>
            </a:r>
            <a:r>
              <a:rPr lang="en-US" altLang="zh-CN" b="1" dirty="0">
                <a:effectLst>
                  <a:outerShdw blurRad="38100" dist="38100" dir="2700000" algn="tl">
                    <a:srgbClr val="C0C0C0"/>
                  </a:outerShdw>
                </a:effectLst>
                <a:ea typeface="隶书" pitchFamily="49" charset="-122"/>
              </a:rPr>
              <a:t>char c[10], </a:t>
            </a:r>
            <a:r>
              <a:rPr lang="en-US" altLang="zh-CN" b="1" dirty="0" err="1">
                <a:effectLst>
                  <a:outerShdw blurRad="38100" dist="38100" dir="2700000" algn="tl">
                    <a:srgbClr val="C0C0C0"/>
                  </a:outerShdw>
                </a:effectLst>
                <a:ea typeface="隶书" pitchFamily="49" charset="-122"/>
              </a:rPr>
              <a:t>ch</a:t>
            </a:r>
            <a:r>
              <a:rPr lang="en-US" altLang="zh-CN" b="1" dirty="0">
                <a:effectLst>
                  <a:outerShdw blurRad="38100" dist="38100" dir="2700000" algn="tl">
                    <a:srgbClr val="C0C0C0"/>
                  </a:outerShdw>
                </a:effectLst>
                <a:ea typeface="隶书" pitchFamily="49" charset="-122"/>
              </a:rPr>
              <a:t>[3][4];</a:t>
            </a:r>
          </a:p>
        </p:txBody>
      </p:sp>
      <p:grpSp>
        <p:nvGrpSpPr>
          <p:cNvPr id="1001737" name="Group 265"/>
          <p:cNvGrpSpPr>
            <a:grpSpLocks/>
          </p:cNvGrpSpPr>
          <p:nvPr/>
        </p:nvGrpSpPr>
        <p:grpSpPr bwMode="auto">
          <a:xfrm>
            <a:off x="1742942" y="3746721"/>
            <a:ext cx="6719888" cy="2714624"/>
            <a:chOff x="552" y="1966"/>
            <a:chExt cx="4233" cy="1710"/>
          </a:xfrm>
        </p:grpSpPr>
        <p:sp>
          <p:nvSpPr>
            <p:cNvPr id="1001738" name="Rectangle 266"/>
            <p:cNvSpPr>
              <a:spLocks noChangeArrowheads="1"/>
            </p:cNvSpPr>
            <p:nvPr/>
          </p:nvSpPr>
          <p:spPr bwMode="auto">
            <a:xfrm>
              <a:off x="559" y="2587"/>
              <a:ext cx="3680" cy="1089"/>
            </a:xfrm>
            <a:prstGeom prst="rect">
              <a:avLst/>
            </a:prstGeom>
            <a:gradFill>
              <a:gsLst>
                <a:gs pos="0">
                  <a:srgbClr val="CFCFD1"/>
                </a:gs>
                <a:gs pos="100000">
                  <a:srgbClr val="FFFFFF"/>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1001739" name="Group 267"/>
            <p:cNvGrpSpPr>
              <a:grpSpLocks/>
            </p:cNvGrpSpPr>
            <p:nvPr/>
          </p:nvGrpSpPr>
          <p:grpSpPr bwMode="auto">
            <a:xfrm>
              <a:off x="761" y="2985"/>
              <a:ext cx="2988" cy="329"/>
              <a:chOff x="887" y="2967"/>
              <a:chExt cx="2988" cy="329"/>
            </a:xfrm>
          </p:grpSpPr>
          <p:sp>
            <p:nvSpPr>
              <p:cNvPr id="1001740" name="Rectangle 268"/>
              <p:cNvSpPr>
                <a:spLocks noChangeArrowheads="1"/>
              </p:cNvSpPr>
              <p:nvPr/>
            </p:nvSpPr>
            <p:spPr bwMode="auto">
              <a:xfrm>
                <a:off x="887" y="2967"/>
                <a:ext cx="2988" cy="327"/>
              </a:xfrm>
              <a:prstGeom prst="rect">
                <a:avLst/>
              </a:prstGeom>
              <a:gradFill rotWithShape="1">
                <a:gsLst>
                  <a:gs pos="0">
                    <a:srgbClr val="CCFFFF"/>
                  </a:gs>
                  <a:gs pos="100000">
                    <a:srgbClr val="CCFFFF">
                      <a:gamma/>
                      <a:shade val="87843"/>
                      <a:invGamma/>
                    </a:srgbClr>
                  </a:gs>
                </a:gsLst>
                <a:lin ang="0" scaled="1"/>
              </a:gradFill>
              <a:ln w="19050">
                <a:solidFill>
                  <a:srgbClr val="339966"/>
                </a:solidFill>
                <a:miter lim="800000"/>
                <a:headEnd/>
                <a:tailEnd/>
              </a:ln>
              <a:effectLst/>
            </p:spPr>
            <p:txBody>
              <a:bodyPr wrap="none" lIns="90000" tIns="46800" rIns="90000" bIns="46800" anchor="ctr"/>
              <a:lstStyle/>
              <a:p>
                <a:pPr algn="ctr"/>
                <a:endParaRPr lang="zh-CN" altLang="zh-CN" sz="2000"/>
              </a:p>
            </p:txBody>
          </p:sp>
          <p:sp>
            <p:nvSpPr>
              <p:cNvPr id="1001741" name="Line 269"/>
              <p:cNvSpPr>
                <a:spLocks noChangeShapeType="1"/>
              </p:cNvSpPr>
              <p:nvPr/>
            </p:nvSpPr>
            <p:spPr bwMode="auto">
              <a:xfrm>
                <a:off x="1523" y="2975"/>
                <a:ext cx="0" cy="317"/>
              </a:xfrm>
              <a:prstGeom prst="line">
                <a:avLst/>
              </a:prstGeom>
              <a:noFill/>
              <a:ln w="19050">
                <a:solidFill>
                  <a:srgbClr val="339966"/>
                </a:solidFill>
                <a:round/>
                <a:headEnd/>
                <a:tailEnd/>
              </a:ln>
              <a:effectLst/>
            </p:spPr>
            <p:txBody>
              <a:bodyPr lIns="90000" tIns="46800" rIns="90000" bIns="46800" anchor="ctr">
                <a:spAutoFit/>
              </a:bodyPr>
              <a:lstStyle/>
              <a:p>
                <a:endParaRPr lang="zh-CN" altLang="en-US"/>
              </a:p>
            </p:txBody>
          </p:sp>
          <p:sp>
            <p:nvSpPr>
              <p:cNvPr id="1001742" name="Line 270"/>
              <p:cNvSpPr>
                <a:spLocks noChangeShapeType="1"/>
              </p:cNvSpPr>
              <p:nvPr/>
            </p:nvSpPr>
            <p:spPr bwMode="auto">
              <a:xfrm>
                <a:off x="2117"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43" name="Line 271"/>
              <p:cNvSpPr>
                <a:spLocks noChangeShapeType="1"/>
              </p:cNvSpPr>
              <p:nvPr/>
            </p:nvSpPr>
            <p:spPr bwMode="auto">
              <a:xfrm>
                <a:off x="2711"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44" name="Line 272"/>
              <p:cNvSpPr>
                <a:spLocks noChangeShapeType="1"/>
              </p:cNvSpPr>
              <p:nvPr/>
            </p:nvSpPr>
            <p:spPr bwMode="auto">
              <a:xfrm>
                <a:off x="3305" y="2979"/>
                <a:ext cx="0" cy="317"/>
              </a:xfrm>
              <a:prstGeom prst="line">
                <a:avLst/>
              </a:prstGeom>
              <a:noFill/>
              <a:ln w="19050">
                <a:solidFill>
                  <a:srgbClr val="339966"/>
                </a:solidFill>
                <a:round/>
                <a:headEnd/>
                <a:tailEnd/>
              </a:ln>
              <a:effectLst/>
            </p:spPr>
            <p:txBody>
              <a:bodyPr wrap="none" lIns="90000" tIns="46800" rIns="90000" bIns="46800" anchor="ctr">
                <a:spAutoFit/>
              </a:bodyPr>
              <a:lstStyle/>
              <a:p>
                <a:endParaRPr lang="zh-CN" altLang="en-US"/>
              </a:p>
            </p:txBody>
          </p:sp>
          <p:sp>
            <p:nvSpPr>
              <p:cNvPr id="1001745" name="Text Box 273"/>
              <p:cNvSpPr txBox="1">
                <a:spLocks noChangeArrowheads="1"/>
              </p:cNvSpPr>
              <p:nvPr/>
            </p:nvSpPr>
            <p:spPr bwMode="auto">
              <a:xfrm>
                <a:off x="1061" y="3012"/>
                <a:ext cx="223"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B</a:t>
                </a:r>
              </a:p>
            </p:txBody>
          </p:sp>
          <p:sp>
            <p:nvSpPr>
              <p:cNvPr id="1001746" name="Text Box 274"/>
              <p:cNvSpPr txBox="1">
                <a:spLocks noChangeArrowheads="1"/>
              </p:cNvSpPr>
              <p:nvPr/>
            </p:nvSpPr>
            <p:spPr bwMode="auto">
              <a:xfrm>
                <a:off x="1727"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o</a:t>
                </a:r>
              </a:p>
            </p:txBody>
          </p:sp>
          <p:sp>
            <p:nvSpPr>
              <p:cNvPr id="1001747" name="Text Box 275"/>
              <p:cNvSpPr txBox="1">
                <a:spLocks noChangeArrowheads="1"/>
              </p:cNvSpPr>
              <p:nvPr/>
            </p:nvSpPr>
            <p:spPr bwMode="auto">
              <a:xfrm>
                <a:off x="2313" y="3012"/>
                <a:ext cx="195"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0033CC"/>
                    </a:solidFill>
                    <a:effectLst>
                      <a:outerShdw blurRad="38100" dist="38100" dir="2700000" algn="tl">
                        <a:srgbClr val="000000"/>
                      </a:outerShdw>
                    </a:effectLst>
                  </a:rPr>
                  <a:t>y</a:t>
                </a:r>
              </a:p>
            </p:txBody>
          </p:sp>
          <p:sp>
            <p:nvSpPr>
              <p:cNvPr id="1001748" name="Text Box 276"/>
              <p:cNvSpPr txBox="1">
                <a:spLocks noChangeArrowheads="1"/>
              </p:cNvSpPr>
              <p:nvPr/>
            </p:nvSpPr>
            <p:spPr bwMode="auto">
              <a:xfrm>
                <a:off x="2898"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FF0000"/>
                    </a:solidFill>
                    <a:effectLst>
                      <a:outerShdw blurRad="38100" dist="38100" dir="2700000" algn="tl">
                        <a:srgbClr val="000000"/>
                      </a:outerShdw>
                    </a:effectLst>
                  </a:rPr>
                  <a:t>\0</a:t>
                </a:r>
              </a:p>
            </p:txBody>
          </p:sp>
          <p:sp>
            <p:nvSpPr>
              <p:cNvPr id="1001749" name="Text Box 277"/>
              <p:cNvSpPr txBox="1">
                <a:spLocks noChangeArrowheads="1"/>
              </p:cNvSpPr>
              <p:nvPr/>
            </p:nvSpPr>
            <p:spPr bwMode="auto">
              <a:xfrm>
                <a:off x="3484" y="3012"/>
                <a:ext cx="240" cy="253"/>
              </a:xfrm>
              <a:prstGeom prst="rect">
                <a:avLst/>
              </a:prstGeom>
              <a:noFill/>
              <a:ln w="38100">
                <a:noFill/>
                <a:miter lim="800000"/>
                <a:headEnd/>
                <a:tailEnd/>
              </a:ln>
              <a:effectLst/>
            </p:spPr>
            <p:txBody>
              <a:bodyPr wrap="none" lIns="90000" tIns="46800" rIns="90000" bIns="46800">
                <a:spAutoFit/>
              </a:bodyPr>
              <a:lstStyle/>
              <a:p>
                <a:r>
                  <a:rPr lang="en-US" altLang="zh-CN" sz="2000" b="1">
                    <a:solidFill>
                      <a:srgbClr val="FF0000"/>
                    </a:solidFill>
                    <a:effectLst>
                      <a:outerShdw blurRad="38100" dist="38100" dir="2700000" algn="tl">
                        <a:srgbClr val="000000"/>
                      </a:outerShdw>
                    </a:effectLst>
                  </a:rPr>
                  <a:t>\0</a:t>
                </a:r>
              </a:p>
            </p:txBody>
          </p:sp>
        </p:grpSp>
        <p:sp>
          <p:nvSpPr>
            <p:cNvPr id="1001750" name="AutoShape 278"/>
            <p:cNvSpPr>
              <a:spLocks noChangeArrowheads="1"/>
            </p:cNvSpPr>
            <p:nvPr/>
          </p:nvSpPr>
          <p:spPr bwMode="auto">
            <a:xfrm>
              <a:off x="2834" y="1966"/>
              <a:ext cx="1951" cy="445"/>
            </a:xfrm>
            <a:prstGeom prst="cloudCallout">
              <a:avLst>
                <a:gd name="adj1" fmla="val -47694"/>
                <a:gd name="adj2" fmla="val 117356"/>
              </a:avLst>
            </a:prstGeom>
            <a:gradFill rotWithShape="1">
              <a:gsLst>
                <a:gs pos="0">
                  <a:srgbClr val="CCFFFF"/>
                </a:gs>
                <a:gs pos="100000">
                  <a:srgbClr val="FFFFFF"/>
                </a:gs>
              </a:gsLst>
              <a:lin ang="5400000" scaled="1"/>
            </a:gradFill>
            <a:ln w="38100">
              <a:solidFill>
                <a:srgbClr val="C01920"/>
              </a:solidFill>
              <a:round/>
              <a:headEnd/>
              <a:tailEnd/>
            </a:ln>
            <a:effectLst>
              <a:outerShdw blurRad="50800" dist="106680" dir="2700000" algn="tl" rotWithShape="0">
                <a:prstClr val="black">
                  <a:alpha val="43000"/>
                </a:prstClr>
              </a:outerShdw>
            </a:effectLst>
            <a:scene3d>
              <a:camera prst="orthographicFront"/>
              <a:lightRig rig="threePt" dir="t"/>
            </a:scene3d>
            <a:sp3d>
              <a:bevelT/>
            </a:sp3d>
          </p:spPr>
          <p:txBody>
            <a:bodyPr lIns="90000" tIns="46800" rIns="90000" bIns="46800" anchor="ctr">
              <a:spAutoFit/>
            </a:bodyPr>
            <a:lstStyle/>
            <a:p>
              <a:pPr algn="ctr"/>
              <a:r>
                <a:rPr lang="zh-CN" altLang="en-US" b="1">
                  <a:solidFill>
                    <a:srgbClr val="C01920"/>
                  </a:solidFill>
                  <a:ea typeface="隶书" pitchFamily="49" charset="-122"/>
                </a:rPr>
                <a:t>用字符串常量</a:t>
              </a:r>
            </a:p>
          </p:txBody>
        </p:sp>
        <p:grpSp>
          <p:nvGrpSpPr>
            <p:cNvPr id="1001751" name="Group 279"/>
            <p:cNvGrpSpPr>
              <a:grpSpLocks/>
            </p:cNvGrpSpPr>
            <p:nvPr/>
          </p:nvGrpSpPr>
          <p:grpSpPr bwMode="auto">
            <a:xfrm>
              <a:off x="835" y="3282"/>
              <a:ext cx="2844" cy="301"/>
              <a:chOff x="970" y="3264"/>
              <a:chExt cx="2844" cy="301"/>
            </a:xfrm>
          </p:grpSpPr>
          <p:sp>
            <p:nvSpPr>
              <p:cNvPr id="1001752" name="Text Box 280"/>
              <p:cNvSpPr txBox="1">
                <a:spLocks noChangeArrowheads="1"/>
              </p:cNvSpPr>
              <p:nvPr/>
            </p:nvSpPr>
            <p:spPr bwMode="auto">
              <a:xfrm>
                <a:off x="970" y="3264"/>
                <a:ext cx="504"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ch[0]</a:t>
                </a:r>
              </a:p>
            </p:txBody>
          </p:sp>
          <p:sp>
            <p:nvSpPr>
              <p:cNvPr id="1001753" name="Text Box 281"/>
              <p:cNvSpPr txBox="1">
                <a:spLocks noChangeArrowheads="1"/>
              </p:cNvSpPr>
              <p:nvPr/>
            </p:nvSpPr>
            <p:spPr bwMode="auto">
              <a:xfrm>
                <a:off x="1564" y="3264"/>
                <a:ext cx="64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ch[1]</a:t>
                </a:r>
              </a:p>
            </p:txBody>
          </p:sp>
          <p:sp>
            <p:nvSpPr>
              <p:cNvPr id="1001754" name="Text Box 282"/>
              <p:cNvSpPr txBox="1">
                <a:spLocks noChangeArrowheads="1"/>
              </p:cNvSpPr>
              <p:nvPr/>
            </p:nvSpPr>
            <p:spPr bwMode="auto">
              <a:xfrm>
                <a:off x="2158" y="3273"/>
                <a:ext cx="46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ch[2]</a:t>
                </a:r>
              </a:p>
            </p:txBody>
          </p:sp>
          <p:sp>
            <p:nvSpPr>
              <p:cNvPr id="1001755" name="Text Box 283"/>
              <p:cNvSpPr txBox="1">
                <a:spLocks noChangeArrowheads="1"/>
              </p:cNvSpPr>
              <p:nvPr/>
            </p:nvSpPr>
            <p:spPr bwMode="auto">
              <a:xfrm>
                <a:off x="2734" y="3273"/>
                <a:ext cx="472"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ch[3]</a:t>
                </a:r>
              </a:p>
            </p:txBody>
          </p:sp>
          <p:sp>
            <p:nvSpPr>
              <p:cNvPr id="1001756" name="Text Box 284"/>
              <p:cNvSpPr txBox="1">
                <a:spLocks noChangeArrowheads="1"/>
              </p:cNvSpPr>
              <p:nvPr/>
            </p:nvSpPr>
            <p:spPr bwMode="auto">
              <a:xfrm>
                <a:off x="3337" y="3264"/>
                <a:ext cx="477" cy="292"/>
              </a:xfrm>
              <a:prstGeom prst="rect">
                <a:avLst/>
              </a:prstGeom>
              <a:noFill/>
              <a:ln w="38100">
                <a:noFill/>
                <a:miter lim="800000"/>
                <a:headEnd/>
                <a:tailEnd/>
              </a:ln>
              <a:effectLst/>
            </p:spPr>
            <p:txBody>
              <a:bodyPr lIns="90000" tIns="46800" rIns="90000" bIns="46800">
                <a:spAutoFit/>
              </a:bodyPr>
              <a:lstStyle/>
              <a:p>
                <a:pPr>
                  <a:spcBef>
                    <a:spcPct val="50000"/>
                  </a:spcBef>
                </a:pPr>
                <a:r>
                  <a:rPr lang="en-US" altLang="zh-CN" b="1">
                    <a:effectLst>
                      <a:outerShdw blurRad="38100" dist="38100" dir="2700000" algn="tl">
                        <a:srgbClr val="FFFFFF"/>
                      </a:outerShdw>
                    </a:effectLst>
                  </a:rPr>
                  <a:t>ch[4]</a:t>
                </a:r>
              </a:p>
            </p:txBody>
          </p:sp>
        </p:grpSp>
        <p:sp>
          <p:nvSpPr>
            <p:cNvPr id="1001757" name="Rectangle 285"/>
            <p:cNvSpPr>
              <a:spLocks noChangeArrowheads="1"/>
            </p:cNvSpPr>
            <p:nvPr/>
          </p:nvSpPr>
          <p:spPr bwMode="auto">
            <a:xfrm>
              <a:off x="552" y="2623"/>
              <a:ext cx="2142" cy="288"/>
            </a:xfrm>
            <a:prstGeom prst="rect">
              <a:avLst/>
            </a:prstGeom>
            <a:noFill/>
            <a:ln w="9525">
              <a:noFill/>
              <a:miter lim="800000"/>
              <a:headEnd/>
              <a:tailEnd/>
            </a:ln>
            <a:effectLst/>
          </p:spPr>
          <p:txBody>
            <a:bodyPr wrap="none">
              <a:spAutoFit/>
            </a:bodyPr>
            <a:lstStyle/>
            <a:p>
              <a:r>
                <a:rPr lang="zh-CN" altLang="en-US" b="1" dirty="0">
                  <a:solidFill>
                    <a:srgbClr val="C01920"/>
                  </a:solidFill>
                  <a:ea typeface="隶书" pitchFamily="49" charset="-122"/>
                </a:rPr>
                <a:t>例</a:t>
              </a:r>
              <a:r>
                <a:rPr lang="zh-CN" altLang="en-US" b="1" dirty="0">
                  <a:solidFill>
                    <a:srgbClr val="C01920"/>
                  </a:solidFill>
                </a:rPr>
                <a:t>； </a:t>
              </a:r>
              <a:r>
                <a:rPr lang="en-US" altLang="zh-CN" b="1" dirty="0"/>
                <a:t>char </a:t>
              </a:r>
              <a:r>
                <a:rPr lang="en-US" altLang="zh-CN" b="1" dirty="0" err="1"/>
                <a:t>ch</a:t>
              </a:r>
              <a:r>
                <a:rPr lang="en-US" altLang="zh-CN" b="1" dirty="0"/>
                <a:t>[5]=</a:t>
              </a:r>
              <a:r>
                <a:rPr lang="en-US" altLang="zh-CN" b="1" dirty="0">
                  <a:solidFill>
                    <a:srgbClr val="FF0000"/>
                  </a:solidFill>
                </a:rPr>
                <a:t> </a:t>
              </a:r>
              <a:r>
                <a:rPr lang="en-US" altLang="zh-CN" b="1" dirty="0"/>
                <a:t>"Boy";</a:t>
              </a:r>
            </a:p>
          </p:txBody>
        </p:sp>
      </p:grpSp>
      <p:sp>
        <p:nvSpPr>
          <p:cNvPr id="1001759" name="Rectangle 287"/>
          <p:cNvSpPr>
            <a:spLocks noChangeArrowheads="1"/>
          </p:cNvSpPr>
          <p:nvPr/>
        </p:nvSpPr>
        <p:spPr bwMode="auto">
          <a:xfrm>
            <a:off x="1768740" y="3377719"/>
            <a:ext cx="6700440" cy="3051175"/>
          </a:xfrm>
          <a:prstGeom prst="rect">
            <a:avLst/>
          </a:prstGeom>
          <a:gradFill rotWithShape="1">
            <a:gsLst>
              <a:gs pos="0">
                <a:srgbClr val="FFFFFF"/>
              </a:gs>
              <a:gs pos="100000">
                <a:srgbClr val="FFCCCC"/>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判断下列赋值是否等价</a:t>
            </a:r>
            <a:r>
              <a:rPr lang="en-US" altLang="zh-CN" b="1" dirty="0">
                <a:solidFill>
                  <a:srgbClr val="C01920"/>
                </a:solidFill>
                <a:latin typeface="隶书" pitchFamily="49" charset="-122"/>
                <a:ea typeface="隶书" pitchFamily="49" charset="-122"/>
              </a:rPr>
              <a:t>:</a:t>
            </a:r>
          </a:p>
          <a:p>
            <a:r>
              <a:rPr lang="en-US" altLang="zh-CN" b="1" dirty="0">
                <a:solidFill>
                  <a:srgbClr val="002060"/>
                </a:solidFill>
              </a:rPr>
              <a:t>char  </a:t>
            </a:r>
            <a:r>
              <a:rPr lang="en-US" altLang="zh-CN" b="1" dirty="0" err="1">
                <a:solidFill>
                  <a:srgbClr val="002060"/>
                </a:solidFill>
              </a:rPr>
              <a:t>str</a:t>
            </a:r>
            <a:r>
              <a:rPr lang="en-US" altLang="zh-CN" b="1" dirty="0">
                <a:solidFill>
                  <a:srgbClr val="002060"/>
                </a:solidFill>
              </a:rPr>
              <a:t>[ ] = "china";</a:t>
            </a:r>
            <a:r>
              <a:rPr lang="en-US" altLang="zh-CN" dirty="0">
                <a:solidFill>
                  <a:srgbClr val="002060"/>
                </a:solidFill>
              </a:rPr>
              <a:t> </a:t>
            </a:r>
          </a:p>
          <a:p>
            <a:r>
              <a:rPr lang="en-US" altLang="zh-CN" b="1" dirty="0"/>
              <a:t>① char  </a:t>
            </a:r>
            <a:r>
              <a:rPr lang="en-US" altLang="zh-CN" b="1" dirty="0" err="1"/>
              <a:t>str</a:t>
            </a:r>
            <a:r>
              <a:rPr lang="en-US" altLang="zh-CN" b="1" dirty="0"/>
              <a:t>[ ] = {'c', 'h', '</a:t>
            </a:r>
            <a:r>
              <a:rPr lang="en-US" altLang="zh-CN" b="1" dirty="0" err="1"/>
              <a:t>i</a:t>
            </a:r>
            <a:r>
              <a:rPr lang="en-US" altLang="zh-CN" b="1" dirty="0"/>
              <a:t>', 'n', 'a', '\0'};</a:t>
            </a:r>
            <a:r>
              <a:rPr lang="en-US" altLang="zh-CN" dirty="0"/>
              <a:t> </a:t>
            </a:r>
          </a:p>
          <a:p>
            <a:r>
              <a:rPr lang="en-US" altLang="zh-CN" b="1" dirty="0"/>
              <a:t>② char  </a:t>
            </a:r>
            <a:r>
              <a:rPr lang="en-US" altLang="zh-CN" b="1" dirty="0" err="1"/>
              <a:t>str</a:t>
            </a:r>
            <a:r>
              <a:rPr lang="en-US" altLang="zh-CN" b="1" dirty="0"/>
              <a:t>[ ] = {"china"}; </a:t>
            </a:r>
          </a:p>
          <a:p>
            <a:r>
              <a:rPr lang="en-US" altLang="zh-CN" b="1" dirty="0"/>
              <a:t>③ char  </a:t>
            </a:r>
            <a:r>
              <a:rPr lang="en-US" altLang="zh-CN" b="1" dirty="0" err="1"/>
              <a:t>str</a:t>
            </a:r>
            <a:r>
              <a:rPr lang="en-US" altLang="zh-CN" b="1" dirty="0"/>
              <a:t>[ ] = {'c', 'h', '</a:t>
            </a:r>
            <a:r>
              <a:rPr lang="en-US" altLang="zh-CN" b="1" dirty="0" err="1"/>
              <a:t>i</a:t>
            </a:r>
            <a:r>
              <a:rPr lang="en-US" altLang="zh-CN" b="1" dirty="0"/>
              <a:t>', 'n', 'a'};</a:t>
            </a:r>
            <a:r>
              <a:rPr lang="en-US" altLang="zh-CN" dirty="0"/>
              <a:t> </a:t>
            </a:r>
          </a:p>
          <a:p>
            <a:endParaRPr lang="en-US" altLang="zh-CN" dirty="0">
              <a:solidFill>
                <a:srgbClr val="002060"/>
              </a:solidFill>
            </a:endParaRPr>
          </a:p>
          <a:p>
            <a:r>
              <a:rPr lang="en-US" altLang="zh-CN" b="1" dirty="0">
                <a:solidFill>
                  <a:srgbClr val="002060"/>
                </a:solidFill>
              </a:rPr>
              <a:t>char  </a:t>
            </a:r>
            <a:r>
              <a:rPr lang="en-US" altLang="zh-CN" b="1" dirty="0" err="1">
                <a:solidFill>
                  <a:srgbClr val="002060"/>
                </a:solidFill>
              </a:rPr>
              <a:t>str</a:t>
            </a:r>
            <a:r>
              <a:rPr lang="en-US" altLang="zh-CN" b="1" dirty="0">
                <a:solidFill>
                  <a:srgbClr val="002060"/>
                </a:solidFill>
              </a:rPr>
              <a:t>[10] = "china"; </a:t>
            </a:r>
          </a:p>
          <a:p>
            <a:r>
              <a:rPr lang="en-US" altLang="zh-CN" b="1" dirty="0"/>
              <a:t>① char  </a:t>
            </a:r>
            <a:r>
              <a:rPr lang="en-US" altLang="zh-CN" b="1" dirty="0" err="1"/>
              <a:t>str</a:t>
            </a:r>
            <a:r>
              <a:rPr lang="en-US" altLang="zh-CN" b="1" dirty="0"/>
              <a:t>[10] = {'c', 'h', '</a:t>
            </a:r>
            <a:r>
              <a:rPr lang="en-US" altLang="zh-CN" b="1" dirty="0" err="1"/>
              <a:t>i</a:t>
            </a:r>
            <a:r>
              <a:rPr lang="en-US" altLang="zh-CN" b="1" dirty="0"/>
              <a:t>', 'n', 'a'}; </a:t>
            </a:r>
          </a:p>
        </p:txBody>
      </p:sp>
      <p:sp>
        <p:nvSpPr>
          <p:cNvPr id="1001763" name="Freeform 291"/>
          <p:cNvSpPr>
            <a:spLocks/>
          </p:cNvSpPr>
          <p:nvPr/>
        </p:nvSpPr>
        <p:spPr bwMode="auto">
          <a:xfrm>
            <a:off x="7428036" y="4096857"/>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008000"/>
            </a:solidFill>
            <a:prstDash val="solid"/>
            <a:round/>
            <a:headEnd/>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sp>
        <p:nvSpPr>
          <p:cNvPr id="1001764" name="Freeform 292"/>
          <p:cNvSpPr>
            <a:spLocks/>
          </p:cNvSpPr>
          <p:nvPr/>
        </p:nvSpPr>
        <p:spPr bwMode="auto">
          <a:xfrm>
            <a:off x="7443911" y="4455632"/>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008000"/>
            </a:solidFill>
            <a:prstDash val="solid"/>
            <a:round/>
            <a:headEnd/>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grpSp>
        <p:nvGrpSpPr>
          <p:cNvPr id="1001765" name="Group 293"/>
          <p:cNvGrpSpPr>
            <a:grpSpLocks/>
          </p:cNvGrpSpPr>
          <p:nvPr/>
        </p:nvGrpSpPr>
        <p:grpSpPr bwMode="auto">
          <a:xfrm>
            <a:off x="7485186" y="4933468"/>
            <a:ext cx="381000" cy="381000"/>
            <a:chOff x="4344" y="3540"/>
            <a:chExt cx="240" cy="240"/>
          </a:xfrm>
          <a:effectLst>
            <a:outerShdw blurRad="50800" dist="38100" dir="2700000" algn="tl" rotWithShape="0">
              <a:prstClr val="black">
                <a:alpha val="40000"/>
              </a:prstClr>
            </a:outerShdw>
          </a:effectLst>
        </p:grpSpPr>
        <p:sp>
          <p:nvSpPr>
            <p:cNvPr id="1001766" name="Line 294"/>
            <p:cNvSpPr>
              <a:spLocks noChangeShapeType="1"/>
            </p:cNvSpPr>
            <p:nvPr/>
          </p:nvSpPr>
          <p:spPr bwMode="auto">
            <a:xfrm flipH="1">
              <a:off x="4344" y="3540"/>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1001767" name="Line 295"/>
            <p:cNvSpPr>
              <a:spLocks noChangeShapeType="1"/>
            </p:cNvSpPr>
            <p:nvPr/>
          </p:nvSpPr>
          <p:spPr bwMode="auto">
            <a:xfrm>
              <a:off x="4356" y="3540"/>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sp>
        <p:nvSpPr>
          <p:cNvPr id="1001768" name="Freeform 296"/>
          <p:cNvSpPr>
            <a:spLocks/>
          </p:cNvSpPr>
          <p:nvPr/>
        </p:nvSpPr>
        <p:spPr bwMode="auto">
          <a:xfrm>
            <a:off x="7495844" y="5897999"/>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008000"/>
            </a:solidFill>
            <a:prstDash val="solid"/>
            <a:round/>
            <a:headEnd/>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sp>
        <p:nvSpPr>
          <p:cNvPr id="1001769" name="Text Box 297"/>
          <p:cNvSpPr txBox="1">
            <a:spLocks noChangeArrowheads="1"/>
          </p:cNvSpPr>
          <p:nvPr/>
        </p:nvSpPr>
        <p:spPr bwMode="auto">
          <a:xfrm>
            <a:off x="1429294" y="4130868"/>
            <a:ext cx="8356533" cy="1728398"/>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r>
              <a:rPr lang="zh-CN" altLang="en-US" b="1" dirty="0">
                <a:ln w="1905"/>
                <a:solidFill>
                  <a:srgbClr val="C01920"/>
                </a:solidFill>
                <a:latin typeface="+mn-lt"/>
                <a:ea typeface="隶书" pitchFamily="49" charset="-122"/>
              </a:rPr>
              <a:t>注意：</a:t>
            </a:r>
          </a:p>
          <a:p>
            <a:r>
              <a:rPr lang="zh-CN" altLang="en-US" b="1" dirty="0">
                <a:ln w="1905"/>
                <a:solidFill>
                  <a:srgbClr val="002060"/>
                </a:solidFill>
                <a:latin typeface="+mn-lt"/>
                <a:ea typeface="隶书" pitchFamily="49" charset="-122"/>
              </a:rPr>
              <a:t>        在用字符数组来存放某个字符串常量时，如果要指定字符数组的大小，那么其大小至少要比字符串的长度大</a:t>
            </a:r>
            <a:r>
              <a:rPr lang="en-US" altLang="zh-CN" b="1" dirty="0">
                <a:ln w="1905"/>
                <a:solidFill>
                  <a:srgbClr val="002060"/>
                </a:solidFill>
                <a:latin typeface="+mn-lt"/>
                <a:ea typeface="隶书" pitchFamily="49" charset="-122"/>
              </a:rPr>
              <a:t>1</a:t>
            </a:r>
            <a:r>
              <a:rPr lang="zh-CN" altLang="en-US" b="1" dirty="0">
                <a:ln w="1905"/>
                <a:solidFill>
                  <a:srgbClr val="002060"/>
                </a:solidFill>
                <a:latin typeface="+mn-lt"/>
                <a:ea typeface="隶书" pitchFamily="49" charset="-122"/>
              </a:rPr>
              <a:t>（多定义一个单元用于存放</a:t>
            </a:r>
            <a:r>
              <a:rPr lang="en-US" altLang="zh-CN" b="1" dirty="0">
                <a:ln w="1905"/>
                <a:solidFill>
                  <a:srgbClr val="002060"/>
                </a:solidFill>
                <a:latin typeface="+mn-lt"/>
                <a:ea typeface="隶书" pitchFamily="49" charset="-122"/>
              </a:rPr>
              <a:t>'\0'</a:t>
            </a:r>
            <a:r>
              <a:rPr lang="zh-CN" altLang="en-US" b="1" dirty="0">
                <a:ln w="1905"/>
                <a:solidFill>
                  <a:srgbClr val="002060"/>
                </a:solidFill>
                <a:latin typeface="+mn-lt"/>
                <a:ea typeface="隶书" pitchFamily="49" charset="-122"/>
              </a:rPr>
              <a:t>）。</a:t>
            </a:r>
          </a:p>
        </p:txBody>
      </p:sp>
      <p:sp>
        <p:nvSpPr>
          <p:cNvPr id="167" name="Rectangle 4">
            <a:extLst>
              <a:ext uri="{FF2B5EF4-FFF2-40B4-BE49-F238E27FC236}">
                <a16:creationId xmlns:a16="http://schemas.microsoft.com/office/drawing/2014/main" id="{C94FF95A-087A-47F1-B5F4-6E1A849ADDD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510558137"/>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1474">
                                            <p:txEl>
                                              <p:pRg st="0" end="0"/>
                                            </p:txEl>
                                          </p:spTgt>
                                        </p:tgtEl>
                                        <p:attrNameLst>
                                          <p:attrName>style.visibility</p:attrName>
                                        </p:attrNameLst>
                                      </p:cBhvr>
                                      <p:to>
                                        <p:strVal val="visible"/>
                                      </p:to>
                                    </p:set>
                                    <p:anim calcmode="lin" valueType="num">
                                      <p:cBhvr additive="base">
                                        <p:cTn id="7" dur="500" fill="hold"/>
                                        <p:tgtEl>
                                          <p:spTgt spid="10014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0147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1474">
                                            <p:txEl>
                                              <p:pRg st="2" end="2"/>
                                            </p:txEl>
                                          </p:spTgt>
                                        </p:tgtEl>
                                        <p:attrNameLst>
                                          <p:attrName>style.visibility</p:attrName>
                                        </p:attrNameLst>
                                      </p:cBhvr>
                                      <p:to>
                                        <p:strVal val="visible"/>
                                      </p:to>
                                    </p:set>
                                    <p:anim calcmode="lin" valueType="num">
                                      <p:cBhvr additive="base">
                                        <p:cTn id="13" dur="500" fill="hold"/>
                                        <p:tgtEl>
                                          <p:spTgt spid="1001474">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0147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01474">
                                            <p:txEl>
                                              <p:pRg st="3" end="3"/>
                                            </p:txEl>
                                          </p:spTgt>
                                        </p:tgtEl>
                                        <p:attrNameLst>
                                          <p:attrName>style.visibility</p:attrName>
                                        </p:attrNameLst>
                                      </p:cBhvr>
                                      <p:to>
                                        <p:strVal val="visible"/>
                                      </p:to>
                                    </p:set>
                                    <p:anim calcmode="lin" valueType="num">
                                      <p:cBhvr additive="base">
                                        <p:cTn id="19" dur="500" fill="hold"/>
                                        <p:tgtEl>
                                          <p:spTgt spid="1001474">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0147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001567"/>
                                        </p:tgtEl>
                                        <p:attrNameLst>
                                          <p:attrName>style.visibility</p:attrName>
                                        </p:attrNameLst>
                                      </p:cBhvr>
                                      <p:to>
                                        <p:strVal val="visible"/>
                                      </p:to>
                                    </p:set>
                                    <p:animEffect transition="in" filter="blinds(horizontal)">
                                      <p:cBhvr>
                                        <p:cTn id="24" dur="500"/>
                                        <p:tgtEl>
                                          <p:spTgt spid="1001567"/>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001579"/>
                                        </p:tgtEl>
                                        <p:attrNameLst>
                                          <p:attrName>style.visibility</p:attrName>
                                        </p:attrNameLst>
                                      </p:cBhvr>
                                      <p:to>
                                        <p:strVal val="visible"/>
                                      </p:to>
                                    </p:set>
                                    <p:animEffect transition="in" filter="blinds(horizontal)">
                                      <p:cBhvr>
                                        <p:cTn id="28" dur="500"/>
                                        <p:tgtEl>
                                          <p:spTgt spid="1001579"/>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1001595">
                                            <p:txEl>
                                              <p:pRg st="0" end="0"/>
                                            </p:txEl>
                                          </p:spTgt>
                                        </p:tgtEl>
                                        <p:attrNameLst>
                                          <p:attrName>style.visibility</p:attrName>
                                        </p:attrNameLst>
                                      </p:cBhvr>
                                      <p:to>
                                        <p:strVal val="visible"/>
                                      </p:to>
                                    </p:set>
                                    <p:anim calcmode="lin" valueType="num">
                                      <p:cBhvr additive="base">
                                        <p:cTn id="33" dur="500" fill="hold"/>
                                        <p:tgtEl>
                                          <p:spTgt spid="1001595">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00159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4" name="whoosh.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1001595">
                                            <p:txEl>
                                              <p:pRg st="1" end="1"/>
                                            </p:txEl>
                                          </p:spTgt>
                                        </p:tgtEl>
                                        <p:attrNameLst>
                                          <p:attrName>style.visibility</p:attrName>
                                        </p:attrNameLst>
                                      </p:cBhvr>
                                      <p:to>
                                        <p:strVal val="visible"/>
                                      </p:to>
                                    </p:set>
                                    <p:anim calcmode="lin" valueType="num">
                                      <p:cBhvr additive="base">
                                        <p:cTn id="39" dur="500" fill="hold"/>
                                        <p:tgtEl>
                                          <p:spTgt spid="1001595">
                                            <p:txEl>
                                              <p:pRg st="1" end="1"/>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0159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4" name="whoosh.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01596"/>
                                        </p:tgtEl>
                                        <p:attrNameLst>
                                          <p:attrName>style.visibility</p:attrName>
                                        </p:attrNameLst>
                                      </p:cBhvr>
                                      <p:to>
                                        <p:strVal val="visible"/>
                                      </p:to>
                                    </p:set>
                                    <p:animEffect transition="in" filter="box(out)">
                                      <p:cBhvr>
                                        <p:cTn id="45" dur="500"/>
                                        <p:tgtEl>
                                          <p:spTgt spid="1001596"/>
                                        </p:tgtEl>
                                      </p:cBhvr>
                                    </p:animEffect>
                                  </p:childTnLst>
                                  <p:subTnLst>
                                    <p:set>
                                      <p:cBhvr override="childStyle">
                                        <p:cTn dur="1" fill="hold" display="0" masterRel="nextClick" afterEffect="1"/>
                                        <p:tgtEl>
                                          <p:spTgt spid="1001596"/>
                                        </p:tgtEl>
                                        <p:attrNameLst>
                                          <p:attrName>style.visibility</p:attrName>
                                        </p:attrNameLst>
                                      </p:cBhvr>
                                      <p:to>
                                        <p:strVal val="hidden"/>
                                      </p:to>
                                    </p:se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001597"/>
                                        </p:tgtEl>
                                        <p:attrNameLst>
                                          <p:attrName>style.visibility</p:attrName>
                                        </p:attrNameLst>
                                      </p:cBhvr>
                                      <p:to>
                                        <p:strVal val="visible"/>
                                      </p:to>
                                    </p:set>
                                    <p:anim calcmode="lin" valueType="num">
                                      <p:cBhvr additive="base">
                                        <p:cTn id="50" dur="500" fill="hold"/>
                                        <p:tgtEl>
                                          <p:spTgt spid="1001597"/>
                                        </p:tgtEl>
                                        <p:attrNameLst>
                                          <p:attrName>ppt_x</p:attrName>
                                        </p:attrNameLst>
                                      </p:cBhvr>
                                      <p:tavLst>
                                        <p:tav tm="0">
                                          <p:val>
                                            <p:strVal val="0-#ppt_w/2"/>
                                          </p:val>
                                        </p:tav>
                                        <p:tav tm="100000">
                                          <p:val>
                                            <p:strVal val="#ppt_x"/>
                                          </p:val>
                                        </p:tav>
                                      </p:tavLst>
                                    </p:anim>
                                    <p:anim calcmode="lin" valueType="num">
                                      <p:cBhvr additive="base">
                                        <p:cTn id="51" dur="500" fill="hold"/>
                                        <p:tgtEl>
                                          <p:spTgt spid="10015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4" name="whoosh.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nodeType="clickEffect">
                                  <p:stCondLst>
                                    <p:cond delay="0"/>
                                  </p:stCondLst>
                                  <p:childTnLst>
                                    <p:set>
                                      <p:cBhvr>
                                        <p:cTn id="55" dur="1" fill="hold">
                                          <p:stCondLst>
                                            <p:cond delay="0"/>
                                          </p:stCondLst>
                                        </p:cTn>
                                        <p:tgtEl>
                                          <p:spTgt spid="1001598">
                                            <p:txEl>
                                              <p:pRg st="0" end="0"/>
                                            </p:txEl>
                                          </p:spTgt>
                                        </p:tgtEl>
                                        <p:attrNameLst>
                                          <p:attrName>style.visibility</p:attrName>
                                        </p:attrNameLst>
                                      </p:cBhvr>
                                      <p:to>
                                        <p:strVal val="visible"/>
                                      </p:to>
                                    </p:set>
                                    <p:animEffect transition="in" filter="box(out)">
                                      <p:cBhvr>
                                        <p:cTn id="56" dur="500"/>
                                        <p:tgtEl>
                                          <p:spTgt spid="1001598">
                                            <p:txEl>
                                              <p:pRg st="0" end="0"/>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144"/>
                                        </p:tgtEl>
                                        <p:attrNameLst>
                                          <p:attrName>style.visibility</p:attrName>
                                        </p:attrNameLst>
                                      </p:cBhvr>
                                      <p:to>
                                        <p:strVal val="visible"/>
                                      </p:to>
                                    </p:set>
                                    <p:animEffect transition="in" filter="box(out)">
                                      <p:cBhvr>
                                        <p:cTn id="61" dur="500"/>
                                        <p:tgtEl>
                                          <p:spTgt spid="144"/>
                                        </p:tgtEl>
                                      </p:cBhvr>
                                    </p:animEffect>
                                  </p:childTnLst>
                                  <p:subTnLst>
                                    <p:set>
                                      <p:cBhvr override="childStyle">
                                        <p:cTn dur="1" fill="hold" display="0" masterRel="nextClick" afterEffect="1"/>
                                        <p:tgtEl>
                                          <p:spTgt spid="144"/>
                                        </p:tgtEl>
                                        <p:attrNameLst>
                                          <p:attrName>style.visibility</p:attrName>
                                        </p:attrNameLst>
                                      </p:cBhvr>
                                      <p:to>
                                        <p:strVal val="hidden"/>
                                      </p:to>
                                    </p:se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165"/>
                                        </p:tgtEl>
                                        <p:attrNameLst>
                                          <p:attrName>style.visibility</p:attrName>
                                        </p:attrNameLst>
                                      </p:cBhvr>
                                      <p:to>
                                        <p:strVal val="visible"/>
                                      </p:to>
                                    </p:set>
                                    <p:animEffect transition="in" filter="box(in)">
                                      <p:cBhvr>
                                        <p:cTn id="66" dur="500"/>
                                        <p:tgtEl>
                                          <p:spTgt spid="165"/>
                                        </p:tgtEl>
                                      </p:cBhvr>
                                    </p:animEffect>
                                  </p:childTnLst>
                                  <p:subTnLst>
                                    <p:set>
                                      <p:cBhvr override="childStyle">
                                        <p:cTn dur="1" fill="hold" display="0" masterRel="nextClick" afterEffect="1"/>
                                        <p:tgtEl>
                                          <p:spTgt spid="165"/>
                                        </p:tgtEl>
                                        <p:attrNameLst>
                                          <p:attrName>style.visibility</p:attrName>
                                        </p:attrNameLst>
                                      </p:cBhvr>
                                      <p:to>
                                        <p:strVal val="hidden"/>
                                      </p:to>
                                    </p:set>
                                    <p:audio>
                                      <p:cMediaNode>
                                        <p:cTn display="0" masterRel="sameClick">
                                          <p:stCondLst>
                                            <p:cond evt="begin" delay="0">
                                              <p:tn val="64"/>
                                            </p:cond>
                                          </p:stCondLst>
                                          <p:endCondLst>
                                            <p:cond evt="onStopAudio" delay="0">
                                              <p:tgtEl>
                                                <p:sldTgt/>
                                              </p:tgtEl>
                                            </p:cond>
                                          </p:endCondLst>
                                        </p:cTn>
                                        <p:tgtEl>
                                          <p:sndTgt r:embed="rId5" name="explode.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nodeType="clickEffect">
                                  <p:stCondLst>
                                    <p:cond delay="0"/>
                                  </p:stCondLst>
                                  <p:childTnLst>
                                    <p:set>
                                      <p:cBhvr>
                                        <p:cTn id="70" dur="1" fill="hold">
                                          <p:stCondLst>
                                            <p:cond delay="0"/>
                                          </p:stCondLst>
                                        </p:cTn>
                                        <p:tgtEl>
                                          <p:spTgt spid="1001666"/>
                                        </p:tgtEl>
                                        <p:attrNameLst>
                                          <p:attrName>style.visibility</p:attrName>
                                        </p:attrNameLst>
                                      </p:cBhvr>
                                      <p:to>
                                        <p:strVal val="visible"/>
                                      </p:to>
                                    </p:set>
                                    <p:animEffect transition="in" filter="box(out)">
                                      <p:cBhvr>
                                        <p:cTn id="71" dur="500"/>
                                        <p:tgtEl>
                                          <p:spTgt spid="1001666"/>
                                        </p:tgtEl>
                                      </p:cBhvr>
                                    </p:animEffect>
                                  </p:childTnLst>
                                  <p:subTnLst>
                                    <p:set>
                                      <p:cBhvr override="childStyle">
                                        <p:cTn dur="1" fill="hold" display="0" masterRel="nextClick" afterEffect="1"/>
                                        <p:tgtEl>
                                          <p:spTgt spid="1001666"/>
                                        </p:tgtEl>
                                        <p:attrNameLst>
                                          <p:attrName>style.visibility</p:attrName>
                                        </p:attrNameLst>
                                      </p:cBhvr>
                                      <p:to>
                                        <p:strVal val="hidden"/>
                                      </p:to>
                                    </p:se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par>
                    <p:cTn id="72" fill="hold">
                      <p:stCondLst>
                        <p:cond delay="indefinite"/>
                      </p:stCondLst>
                      <p:childTnLst>
                        <p:par>
                          <p:cTn id="73" fill="hold">
                            <p:stCondLst>
                              <p:cond delay="0"/>
                            </p:stCondLst>
                            <p:childTnLst>
                              <p:par>
                                <p:cTn id="74" presetID="4" presetClass="entr" presetSubtype="32" fill="hold" nodeType="clickEffect">
                                  <p:stCondLst>
                                    <p:cond delay="0"/>
                                  </p:stCondLst>
                                  <p:childTnLst>
                                    <p:set>
                                      <p:cBhvr>
                                        <p:cTn id="75" dur="1" fill="hold">
                                          <p:stCondLst>
                                            <p:cond delay="0"/>
                                          </p:stCondLst>
                                        </p:cTn>
                                        <p:tgtEl>
                                          <p:spTgt spid="1001598">
                                            <p:txEl>
                                              <p:pRg st="1" end="1"/>
                                            </p:txEl>
                                          </p:spTgt>
                                        </p:tgtEl>
                                        <p:attrNameLst>
                                          <p:attrName>style.visibility</p:attrName>
                                        </p:attrNameLst>
                                      </p:cBhvr>
                                      <p:to>
                                        <p:strVal val="visible"/>
                                      </p:to>
                                    </p:set>
                                    <p:animEffect transition="in" filter="box(out)">
                                      <p:cBhvr>
                                        <p:cTn id="76" dur="500"/>
                                        <p:tgtEl>
                                          <p:spTgt spid="1001598">
                                            <p:txEl>
                                              <p:pRg st="1" end="1"/>
                                            </p:txEl>
                                          </p:spTgt>
                                        </p:tgtEl>
                                      </p:cBhvr>
                                    </p:animEffect>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childTnLst>
                    </p:cTn>
                  </p:par>
                  <p:par>
                    <p:cTn id="77" fill="hold">
                      <p:stCondLst>
                        <p:cond delay="indefinite"/>
                      </p:stCondLst>
                      <p:childTnLst>
                        <p:par>
                          <p:cTn id="78" fill="hold">
                            <p:stCondLst>
                              <p:cond delay="0"/>
                            </p:stCondLst>
                            <p:childTnLst>
                              <p:par>
                                <p:cTn id="79" presetID="4" presetClass="entr" presetSubtype="32" fill="hold" nodeType="clickEffect">
                                  <p:stCondLst>
                                    <p:cond delay="0"/>
                                  </p:stCondLst>
                                  <p:childTnLst>
                                    <p:set>
                                      <p:cBhvr>
                                        <p:cTn id="80" dur="1" fill="hold">
                                          <p:stCondLst>
                                            <p:cond delay="0"/>
                                          </p:stCondLst>
                                        </p:cTn>
                                        <p:tgtEl>
                                          <p:spTgt spid="1001736"/>
                                        </p:tgtEl>
                                        <p:attrNameLst>
                                          <p:attrName>style.visibility</p:attrName>
                                        </p:attrNameLst>
                                      </p:cBhvr>
                                      <p:to>
                                        <p:strVal val="visible"/>
                                      </p:to>
                                    </p:set>
                                    <p:animEffect transition="in" filter="box(out)">
                                      <p:cBhvr>
                                        <p:cTn id="81" dur="500"/>
                                        <p:tgtEl>
                                          <p:spTgt spid="1001736"/>
                                        </p:tgtEl>
                                      </p:cBhvr>
                                    </p:animEffect>
                                  </p:childTnLst>
                                  <p:subTnLst>
                                    <p:set>
                                      <p:cBhvr override="childStyle">
                                        <p:cTn dur="1" fill="hold" display="0" masterRel="nextClick" afterEffect="1"/>
                                        <p:tgtEl>
                                          <p:spTgt spid="1001736"/>
                                        </p:tgtEl>
                                        <p:attrNameLst>
                                          <p:attrName>style.visibility</p:attrName>
                                        </p:attrNameLst>
                                      </p:cBhvr>
                                      <p:to>
                                        <p:strVal val="hidden"/>
                                      </p:to>
                                    </p:se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childTnLst>
                    </p:cTn>
                  </p:par>
                  <p:par>
                    <p:cTn id="82" fill="hold">
                      <p:stCondLst>
                        <p:cond delay="indefinite"/>
                      </p:stCondLst>
                      <p:childTnLst>
                        <p:par>
                          <p:cTn id="83" fill="hold">
                            <p:stCondLst>
                              <p:cond delay="0"/>
                            </p:stCondLst>
                            <p:childTnLst>
                              <p:par>
                                <p:cTn id="84" presetID="4" presetClass="entr" presetSubtype="32" fill="hold" nodeType="clickEffect">
                                  <p:stCondLst>
                                    <p:cond delay="0"/>
                                  </p:stCondLst>
                                  <p:childTnLst>
                                    <p:set>
                                      <p:cBhvr>
                                        <p:cTn id="85" dur="1" fill="hold">
                                          <p:stCondLst>
                                            <p:cond delay="0"/>
                                          </p:stCondLst>
                                        </p:cTn>
                                        <p:tgtEl>
                                          <p:spTgt spid="1001737"/>
                                        </p:tgtEl>
                                        <p:attrNameLst>
                                          <p:attrName>style.visibility</p:attrName>
                                        </p:attrNameLst>
                                      </p:cBhvr>
                                      <p:to>
                                        <p:strVal val="visible"/>
                                      </p:to>
                                    </p:set>
                                    <p:animEffect transition="in" filter="box(out)">
                                      <p:cBhvr>
                                        <p:cTn id="86" dur="500"/>
                                        <p:tgtEl>
                                          <p:spTgt spid="1001737"/>
                                        </p:tgtEl>
                                      </p:cBhvr>
                                    </p:animEffect>
                                  </p:childTnLst>
                                  <p:subTnLst>
                                    <p:set>
                                      <p:cBhvr override="childStyle">
                                        <p:cTn dur="1" fill="hold" display="0" masterRel="nextClick" afterEffect="1"/>
                                        <p:tgtEl>
                                          <p:spTgt spid="1001737"/>
                                        </p:tgtEl>
                                        <p:attrNameLst>
                                          <p:attrName>style.visibility</p:attrName>
                                        </p:attrNameLst>
                                      </p:cBhvr>
                                      <p:to>
                                        <p:strVal val="hidden"/>
                                      </p:to>
                                    </p:set>
                                    <p:audio>
                                      <p:cMediaNode>
                                        <p:cTn display="0" masterRel="sameClick">
                                          <p:stCondLst>
                                            <p:cond evt="begin" delay="0">
                                              <p:tn val="84"/>
                                            </p:cond>
                                          </p:stCondLst>
                                          <p:endCondLst>
                                            <p:cond evt="onStopAudio" delay="0">
                                              <p:tgtEl>
                                                <p:sldTgt/>
                                              </p:tgtEl>
                                            </p:cond>
                                          </p:endCondLst>
                                        </p:cTn>
                                        <p:tgtEl>
                                          <p:sndTgt r:embed="rId2" name="camera.wav"/>
                                        </p:tgtEl>
                                      </p:cMediaNode>
                                    </p:audio>
                                  </p:subTnLst>
                                </p:cTn>
                              </p:par>
                            </p:childTnLst>
                          </p:cTn>
                        </p:par>
                      </p:childTnLst>
                    </p:cTn>
                  </p:par>
                  <p:par>
                    <p:cTn id="87" fill="hold">
                      <p:stCondLst>
                        <p:cond delay="indefinite"/>
                      </p:stCondLst>
                      <p:childTnLst>
                        <p:par>
                          <p:cTn id="88" fill="hold">
                            <p:stCondLst>
                              <p:cond delay="0"/>
                            </p:stCondLst>
                            <p:childTnLst>
                              <p:par>
                                <p:cTn id="89" presetID="8" presetClass="entr" presetSubtype="16" fill="hold" grpId="0" nodeType="clickEffect">
                                  <p:stCondLst>
                                    <p:cond delay="0"/>
                                  </p:stCondLst>
                                  <p:childTnLst>
                                    <p:set>
                                      <p:cBhvr>
                                        <p:cTn id="90" dur="1" fill="hold">
                                          <p:stCondLst>
                                            <p:cond delay="0"/>
                                          </p:stCondLst>
                                        </p:cTn>
                                        <p:tgtEl>
                                          <p:spTgt spid="1001759"/>
                                        </p:tgtEl>
                                        <p:attrNameLst>
                                          <p:attrName>style.visibility</p:attrName>
                                        </p:attrNameLst>
                                      </p:cBhvr>
                                      <p:to>
                                        <p:strVal val="visible"/>
                                      </p:to>
                                    </p:set>
                                    <p:animEffect transition="in" filter="diamond(in)">
                                      <p:cBhvr>
                                        <p:cTn id="91" dur="2000"/>
                                        <p:tgtEl>
                                          <p:spTgt spid="1001759"/>
                                        </p:tgtEl>
                                      </p:cBhvr>
                                    </p:animEffect>
                                  </p:childTnLst>
                                  <p:subTnLst>
                                    <p:audio>
                                      <p:cMediaNode>
                                        <p:cTn display="0" masterRel="sameClick">
                                          <p:stCondLst>
                                            <p:cond evt="begin" delay="0">
                                              <p:tn val="89"/>
                                            </p:cond>
                                          </p:stCondLst>
                                          <p:endCondLst>
                                            <p:cond evt="onStopAudio" delay="0">
                                              <p:tgtEl>
                                                <p:sldTgt/>
                                              </p:tgtEl>
                                            </p:cond>
                                          </p:endCondLst>
                                        </p:cTn>
                                        <p:tgtEl>
                                          <p:sndTgt r:embed="rId6" name="chimes.wav"/>
                                        </p:tgtEl>
                                      </p:cMediaNode>
                                    </p:audio>
                                  </p:sub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001763"/>
                                        </p:tgtEl>
                                        <p:attrNameLst>
                                          <p:attrName>style.visibility</p:attrName>
                                        </p:attrNameLst>
                                      </p:cBhvr>
                                      <p:to>
                                        <p:strVal val="visible"/>
                                      </p:to>
                                    </p:set>
                                    <p:animEffect transition="in" filter="blinds(horizontal)">
                                      <p:cBhvr>
                                        <p:cTn id="96" dur="500"/>
                                        <p:tgtEl>
                                          <p:spTgt spid="1001763"/>
                                        </p:tgtEl>
                                      </p:cBhvr>
                                    </p:animEffect>
                                  </p:childTnLst>
                                  <p:subTnLst>
                                    <p:audio>
                                      <p:cMediaNode>
                                        <p:cTn display="0" masterRel="sameClick">
                                          <p:stCondLst>
                                            <p:cond evt="begin" delay="0">
                                              <p:tn val="94"/>
                                            </p:cond>
                                          </p:stCondLst>
                                          <p:endCondLst>
                                            <p:cond evt="onStopAudio" delay="0">
                                              <p:tgtEl>
                                                <p:sldTgt/>
                                              </p:tgtEl>
                                            </p:cond>
                                          </p:endCondLst>
                                        </p:cTn>
                                        <p:tgtEl>
                                          <p:sndTgt r:embed="rId7" name="laser.wav"/>
                                        </p:tgtEl>
                                      </p:cMediaNode>
                                    </p:audio>
                                  </p:sub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1001764"/>
                                        </p:tgtEl>
                                        <p:attrNameLst>
                                          <p:attrName>style.visibility</p:attrName>
                                        </p:attrNameLst>
                                      </p:cBhvr>
                                      <p:to>
                                        <p:strVal val="visible"/>
                                      </p:to>
                                    </p:set>
                                    <p:animEffect transition="in" filter="blinds(horizontal)">
                                      <p:cBhvr>
                                        <p:cTn id="101" dur="500"/>
                                        <p:tgtEl>
                                          <p:spTgt spid="1001764"/>
                                        </p:tgtEl>
                                      </p:cBhvr>
                                    </p:animEffect>
                                  </p:childTnLst>
                                  <p:subTnLst>
                                    <p:audio>
                                      <p:cMediaNode>
                                        <p:cTn display="0" masterRel="sameClick">
                                          <p:stCondLst>
                                            <p:cond evt="begin" delay="0">
                                              <p:tn val="99"/>
                                            </p:cond>
                                          </p:stCondLst>
                                          <p:endCondLst>
                                            <p:cond evt="onStopAudio" delay="0">
                                              <p:tgtEl>
                                                <p:sldTgt/>
                                              </p:tgtEl>
                                            </p:cond>
                                          </p:endCondLst>
                                        </p:cTn>
                                        <p:tgtEl>
                                          <p:sndTgt r:embed="rId7" name="laser.wav"/>
                                        </p:tgtEl>
                                      </p:cMediaNode>
                                    </p:audio>
                                  </p:subTnLst>
                                </p:cTn>
                              </p:par>
                            </p:childTnLst>
                          </p:cTn>
                        </p:par>
                      </p:childTnLst>
                    </p:cTn>
                  </p:par>
                  <p:par>
                    <p:cTn id="102" fill="hold">
                      <p:stCondLst>
                        <p:cond delay="indefinite"/>
                      </p:stCondLst>
                      <p:childTnLst>
                        <p:par>
                          <p:cTn id="103" fill="hold">
                            <p:stCondLst>
                              <p:cond delay="0"/>
                            </p:stCondLst>
                            <p:childTnLst>
                              <p:par>
                                <p:cTn id="104" presetID="4" presetClass="entr" presetSubtype="16" fill="hold" nodeType="clickEffect">
                                  <p:stCondLst>
                                    <p:cond delay="0"/>
                                  </p:stCondLst>
                                  <p:childTnLst>
                                    <p:set>
                                      <p:cBhvr>
                                        <p:cTn id="105" dur="1" fill="hold">
                                          <p:stCondLst>
                                            <p:cond delay="0"/>
                                          </p:stCondLst>
                                        </p:cTn>
                                        <p:tgtEl>
                                          <p:spTgt spid="1001765"/>
                                        </p:tgtEl>
                                        <p:attrNameLst>
                                          <p:attrName>style.visibility</p:attrName>
                                        </p:attrNameLst>
                                      </p:cBhvr>
                                      <p:to>
                                        <p:strVal val="visible"/>
                                      </p:to>
                                    </p:set>
                                    <p:animEffect transition="in" filter="box(in)">
                                      <p:cBhvr>
                                        <p:cTn id="106" dur="500"/>
                                        <p:tgtEl>
                                          <p:spTgt spid="1001765"/>
                                        </p:tgtEl>
                                      </p:cBhvr>
                                    </p:animEffect>
                                  </p:childTnLst>
                                  <p:subTnLst>
                                    <p:audio>
                                      <p:cMediaNode>
                                        <p:cTn display="0" masterRel="sameClick">
                                          <p:stCondLst>
                                            <p:cond evt="begin" delay="0">
                                              <p:tn val="104"/>
                                            </p:cond>
                                          </p:stCondLst>
                                          <p:endCondLst>
                                            <p:cond evt="onStopAudio" delay="0">
                                              <p:tgtEl>
                                                <p:sldTgt/>
                                              </p:tgtEl>
                                            </p:cond>
                                          </p:endCondLst>
                                        </p:cTn>
                                        <p:tgtEl>
                                          <p:sndTgt r:embed="rId7" name="laser.wav"/>
                                        </p:tgtEl>
                                      </p:cMediaNode>
                                    </p:audio>
                                  </p:sub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1001768"/>
                                        </p:tgtEl>
                                        <p:attrNameLst>
                                          <p:attrName>style.visibility</p:attrName>
                                        </p:attrNameLst>
                                      </p:cBhvr>
                                      <p:to>
                                        <p:strVal val="visible"/>
                                      </p:to>
                                    </p:set>
                                    <p:animEffect transition="in" filter="blinds(horizontal)">
                                      <p:cBhvr>
                                        <p:cTn id="111" dur="500"/>
                                        <p:tgtEl>
                                          <p:spTgt spid="1001768"/>
                                        </p:tgtEl>
                                      </p:cBhvr>
                                    </p:animEffect>
                                  </p:childTnLst>
                                  <p:subTnLst>
                                    <p:audio>
                                      <p:cMediaNode>
                                        <p:cTn display="0" masterRel="sameClick">
                                          <p:stCondLst>
                                            <p:cond evt="begin" delay="0">
                                              <p:tn val="109"/>
                                            </p:cond>
                                          </p:stCondLst>
                                          <p:endCondLst>
                                            <p:cond evt="onStopAudio" delay="0">
                                              <p:tgtEl>
                                                <p:sldTgt/>
                                              </p:tgtEl>
                                            </p:cond>
                                          </p:endCondLst>
                                        </p:cTn>
                                        <p:tgtEl>
                                          <p:sndTgt r:embed="rId7" name="laser.wav"/>
                                        </p:tgtEl>
                                      </p:cMediaNode>
                                    </p:audio>
                                  </p:subTnLst>
                                </p:cTn>
                              </p:par>
                            </p:childTnLst>
                          </p:cTn>
                        </p:par>
                      </p:childTnLst>
                    </p:cTn>
                  </p:par>
                  <p:par>
                    <p:cTn id="112" fill="hold">
                      <p:stCondLst>
                        <p:cond delay="indefinite"/>
                      </p:stCondLst>
                      <p:childTnLst>
                        <p:par>
                          <p:cTn id="113" fill="hold">
                            <p:stCondLst>
                              <p:cond delay="0"/>
                            </p:stCondLst>
                            <p:childTnLst>
                              <p:par>
                                <p:cTn id="114" presetID="4" presetClass="entr" presetSubtype="32" fill="hold" grpId="0" nodeType="clickEffect">
                                  <p:stCondLst>
                                    <p:cond delay="0"/>
                                  </p:stCondLst>
                                  <p:childTnLst>
                                    <p:set>
                                      <p:cBhvr>
                                        <p:cTn id="115" dur="1" fill="hold">
                                          <p:stCondLst>
                                            <p:cond delay="0"/>
                                          </p:stCondLst>
                                        </p:cTn>
                                        <p:tgtEl>
                                          <p:spTgt spid="1001769"/>
                                        </p:tgtEl>
                                        <p:attrNameLst>
                                          <p:attrName>style.visibility</p:attrName>
                                        </p:attrNameLst>
                                      </p:cBhvr>
                                      <p:to>
                                        <p:strVal val="visible"/>
                                      </p:to>
                                    </p:set>
                                    <p:animEffect transition="in" filter="box(out)">
                                      <p:cBhvr>
                                        <p:cTn id="116" dur="500"/>
                                        <p:tgtEl>
                                          <p:spTgt spid="1001769"/>
                                        </p:tgtEl>
                                      </p:cBhvr>
                                    </p:animEffect>
                                  </p:childTnLst>
                                  <p:subTnLst>
                                    <p:audio>
                                      <p:cMediaNode>
                                        <p:cTn display="0" masterRel="sameClick">
                                          <p:stCondLst>
                                            <p:cond evt="begin" delay="0">
                                              <p:tn val="114"/>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474" grpId="0" uiExpand="1" build="p" bldLvl="4" autoUpdateAnimBg="0"/>
      <p:bldP spid="1001597" grpId="0"/>
      <p:bldP spid="1001596" grpId="0" animBg="1" autoUpdateAnimBg="0"/>
      <p:bldP spid="1001759" grpId="0" animBg="1"/>
      <p:bldP spid="1001763" grpId="0" animBg="1"/>
      <p:bldP spid="1001764" grpId="0" animBg="1"/>
      <p:bldP spid="1001768" grpId="0" animBg="1"/>
      <p:bldP spid="100176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510" name="Rectangle 14"/>
          <p:cNvSpPr>
            <a:spLocks noChangeArrowheads="1"/>
          </p:cNvSpPr>
          <p:nvPr/>
        </p:nvSpPr>
        <p:spPr bwMode="auto">
          <a:xfrm>
            <a:off x="1117266" y="1987135"/>
            <a:ext cx="1396536"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gets</a:t>
            </a:r>
            <a:r>
              <a:rPr lang="zh-CN" altLang="en-US" b="1" dirty="0">
                <a:solidFill>
                  <a:srgbClr val="00B0F0"/>
                </a:solidFill>
                <a:latin typeface="+mn-lt"/>
                <a:ea typeface="楷体" pitchFamily="49" charset="-122"/>
              </a:rPr>
              <a:t>函数</a:t>
            </a:r>
          </a:p>
        </p:txBody>
      </p:sp>
      <p:sp>
        <p:nvSpPr>
          <p:cNvPr id="1002511" name="Rectangle 15"/>
          <p:cNvSpPr>
            <a:spLocks noChangeArrowheads="1"/>
          </p:cNvSpPr>
          <p:nvPr/>
        </p:nvSpPr>
        <p:spPr bwMode="auto">
          <a:xfrm>
            <a:off x="1115680" y="3801914"/>
            <a:ext cx="1871025"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scanf</a:t>
            </a:r>
            <a:r>
              <a:rPr lang="zh-CN" altLang="en-US" b="1" dirty="0">
                <a:solidFill>
                  <a:srgbClr val="C01920"/>
                </a:solidFill>
                <a:latin typeface="+mn-lt"/>
                <a:ea typeface="楷体" pitchFamily="49" charset="-122"/>
              </a:rPr>
              <a:t>函数</a:t>
            </a:r>
          </a:p>
        </p:txBody>
      </p:sp>
      <p:sp>
        <p:nvSpPr>
          <p:cNvPr id="1002509" name="Rectangle 13" descr="信纸"/>
          <p:cNvSpPr>
            <a:spLocks noChangeArrowheads="1"/>
          </p:cNvSpPr>
          <p:nvPr/>
        </p:nvSpPr>
        <p:spPr bwMode="auto">
          <a:xfrm>
            <a:off x="1569732" y="3843843"/>
            <a:ext cx="9988525"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r>
              <a:rPr lang="en-US" altLang="zh-CN" b="1" dirty="0">
                <a:latin typeface="+mn-lt"/>
                <a:ea typeface="楷体" pitchFamily="49" charset="-122"/>
              </a:rPr>
              <a:t>char  str[80];</a:t>
            </a:r>
          </a:p>
          <a:p>
            <a:r>
              <a:rPr lang="en-US" altLang="zh-CN" b="1" dirty="0">
                <a:latin typeface="+mn-lt"/>
                <a:ea typeface="楷体" pitchFamily="49" charset="-122"/>
              </a:rPr>
              <a:t>        gets (str);</a:t>
            </a:r>
          </a:p>
          <a:p>
            <a:pPr eaLnBrk="0" hangingPunct="0"/>
            <a:r>
              <a:rPr lang="en-US" altLang="zh-CN" b="1" dirty="0">
                <a:latin typeface="+mn-lt"/>
                <a:ea typeface="楷体" pitchFamily="49" charset="-122"/>
              </a:rPr>
              <a:t>    </a:t>
            </a:r>
            <a:r>
              <a:rPr lang="zh-CN" altLang="en-US" b="1" dirty="0">
                <a:latin typeface="+mn-lt"/>
                <a:ea typeface="楷体" pitchFamily="49" charset="-122"/>
              </a:rPr>
              <a:t>当输入：</a:t>
            </a:r>
            <a:r>
              <a:rPr lang="en-US" altLang="zh-CN" b="1" dirty="0" err="1">
                <a:latin typeface="+mn-lt"/>
                <a:ea typeface="楷体" pitchFamily="49" charset="-122"/>
              </a:rPr>
              <a:t>I□love□china</a:t>
            </a:r>
            <a:r>
              <a:rPr lang="en-US" altLang="zh-CN" b="1" dirty="0">
                <a:latin typeface="+mn-lt"/>
                <a:ea typeface="楷体" pitchFamily="49" charset="-122"/>
              </a:rPr>
              <a:t>!</a:t>
            </a:r>
            <a:r>
              <a:rPr lang="en-US" altLang="zh-CN" b="1" dirty="0">
                <a:latin typeface="+mn-ea"/>
              </a:rPr>
              <a:t> ↙</a:t>
            </a:r>
            <a:r>
              <a:rPr lang="zh-CN" altLang="en-US" b="1" dirty="0">
                <a:latin typeface="+mn-lt"/>
                <a:ea typeface="楷体" pitchFamily="49" charset="-122"/>
              </a:rPr>
              <a:t>（□表示空格，</a:t>
            </a:r>
            <a:r>
              <a:rPr lang="en-US" altLang="zh-CN" b="1" dirty="0">
                <a:latin typeface="+mn-ea"/>
                <a:ea typeface="+mn-ea"/>
              </a:rPr>
              <a:t>↙</a:t>
            </a:r>
            <a:r>
              <a:rPr lang="zh-CN" altLang="en-US" b="1" dirty="0">
                <a:latin typeface="+mn-lt"/>
                <a:ea typeface="楷体" pitchFamily="49" charset="-122"/>
              </a:rPr>
              <a:t>表示回车）时，</a:t>
            </a:r>
            <a:r>
              <a:rPr lang="en-US" altLang="zh-CN" b="1" dirty="0">
                <a:latin typeface="+mn-lt"/>
                <a:ea typeface="楷体" pitchFamily="49" charset="-122"/>
              </a:rPr>
              <a:t>str</a:t>
            </a:r>
            <a:r>
              <a:rPr lang="zh-CN" altLang="en-US" b="1" dirty="0">
                <a:latin typeface="+mn-lt"/>
                <a:ea typeface="楷体" pitchFamily="49" charset="-122"/>
              </a:rPr>
              <a:t>中的字符串将是：</a:t>
            </a:r>
            <a:r>
              <a:rPr lang="en-US" altLang="zh-CN" b="1" dirty="0">
                <a:solidFill>
                  <a:srgbClr val="002060"/>
                </a:solidFill>
                <a:latin typeface="+mn-lt"/>
                <a:ea typeface="楷体" pitchFamily="49" charset="-122"/>
              </a:rPr>
              <a:t>"I love china!"</a:t>
            </a:r>
          </a:p>
        </p:txBody>
      </p:sp>
      <p:sp>
        <p:nvSpPr>
          <p:cNvPr id="1002498" name="Rectangle 2"/>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3</a:t>
            </a:r>
            <a:r>
              <a:rPr lang="zh-CN" altLang="en-US" sz="2800" b="1" dirty="0">
                <a:solidFill>
                  <a:srgbClr val="00B0F0"/>
                </a:solidFill>
                <a:latin typeface="+mn-lt"/>
                <a:ea typeface="楷体" pitchFamily="49" charset="-122"/>
              </a:rPr>
              <a:t>、字符及字符串操作的常用函数</a:t>
            </a:r>
            <a:r>
              <a:rPr lang="zh-CN" altLang="en-US" sz="2800" dirty="0">
                <a:solidFill>
                  <a:srgbClr val="00B0F0"/>
                </a:solidFill>
                <a:latin typeface="+mn-lt"/>
                <a:ea typeface="楷体" pitchFamily="49" charset="-122"/>
              </a:rPr>
              <a:t> </a:t>
            </a:r>
          </a:p>
        </p:txBody>
      </p:sp>
      <p:sp>
        <p:nvSpPr>
          <p:cNvPr id="1002504" name="Rectangle 8"/>
          <p:cNvSpPr>
            <a:spLocks noChangeArrowheads="1"/>
          </p:cNvSpPr>
          <p:nvPr/>
        </p:nvSpPr>
        <p:spPr bwMode="auto">
          <a:xfrm>
            <a:off x="801354" y="1585497"/>
            <a:ext cx="1826141"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字符串的输入</a:t>
            </a:r>
          </a:p>
        </p:txBody>
      </p:sp>
      <p:sp>
        <p:nvSpPr>
          <p:cNvPr id="1002505" name="Text Box 9"/>
          <p:cNvSpPr txBox="1">
            <a:spLocks noChangeArrowheads="1"/>
          </p:cNvSpPr>
          <p:nvPr/>
        </p:nvSpPr>
        <p:spPr bwMode="auto">
          <a:xfrm>
            <a:off x="1569733" y="2505770"/>
            <a:ext cx="9988525" cy="1200329"/>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ea typeface="隶书" pitchFamily="49" charset="-122"/>
              </a:rPr>
              <a:t>格式：</a:t>
            </a:r>
            <a:r>
              <a:rPr lang="en-US" altLang="zh-CN" b="1" dirty="0">
                <a:solidFill>
                  <a:srgbClr val="002060"/>
                </a:solidFill>
                <a:ea typeface="隶书" pitchFamily="49" charset="-122"/>
              </a:rPr>
              <a:t>gets</a:t>
            </a:r>
            <a:r>
              <a:rPr lang="en-US" altLang="zh-CN" b="1" dirty="0">
                <a:ea typeface="隶书" pitchFamily="49" charset="-122"/>
              </a:rPr>
              <a:t>(</a:t>
            </a:r>
            <a:r>
              <a:rPr lang="zh-CN" altLang="zh-CN" b="1" dirty="0">
                <a:ea typeface="隶书" pitchFamily="49" charset="-122"/>
              </a:rPr>
              <a:t>字符数组)</a:t>
            </a:r>
            <a:r>
              <a:rPr lang="en-US" altLang="zh-CN" b="1" dirty="0">
                <a:ea typeface="隶书" pitchFamily="49" charset="-122"/>
              </a:rPr>
              <a:t>            </a:t>
            </a:r>
            <a:r>
              <a:rPr lang="en-US" altLang="zh-CN" b="1" dirty="0">
                <a:solidFill>
                  <a:srgbClr val="7030A0"/>
                </a:solidFill>
                <a:ea typeface="隶书" pitchFamily="49" charset="-122"/>
              </a:rPr>
              <a:t>//</a:t>
            </a:r>
            <a:r>
              <a:rPr lang="zh-CN" altLang="en-US" b="1" dirty="0">
                <a:solidFill>
                  <a:srgbClr val="7030A0"/>
                </a:solidFill>
                <a:ea typeface="隶书" pitchFamily="49" charset="-122"/>
              </a:rPr>
              <a:t>应包含的</a:t>
            </a:r>
            <a:r>
              <a:rPr lang="en-US" altLang="zh-CN" b="1" dirty="0">
                <a:solidFill>
                  <a:srgbClr val="7030A0"/>
                </a:solidFill>
                <a:ea typeface="隶书" pitchFamily="49" charset="-122"/>
              </a:rPr>
              <a:t>.h</a:t>
            </a:r>
            <a:r>
              <a:rPr lang="zh-CN" altLang="en-US" b="1" dirty="0">
                <a:solidFill>
                  <a:srgbClr val="7030A0"/>
                </a:solidFill>
                <a:ea typeface="隶书" pitchFamily="49" charset="-122"/>
              </a:rPr>
              <a:t>文件为</a:t>
            </a:r>
            <a:r>
              <a:rPr lang="en-US" altLang="zh-CN" b="1" dirty="0" err="1">
                <a:solidFill>
                  <a:srgbClr val="7030A0"/>
                </a:solidFill>
                <a:ea typeface="隶书" pitchFamily="49" charset="-122"/>
              </a:rPr>
              <a:t>stdio.h</a:t>
            </a:r>
            <a:r>
              <a:rPr lang="en-US" altLang="zh-CN" dirty="0">
                <a:solidFill>
                  <a:srgbClr val="7030A0"/>
                </a:solidFill>
              </a:rPr>
              <a:t> </a:t>
            </a:r>
            <a:endParaRPr lang="zh-CN" altLang="zh-CN" b="1" dirty="0">
              <a:solidFill>
                <a:srgbClr val="7030A0"/>
              </a:solidFill>
              <a:ea typeface="隶书" pitchFamily="49" charset="-122"/>
            </a:endParaRPr>
          </a:p>
          <a:p>
            <a:pPr eaLnBrk="0" hangingPunct="0">
              <a:buClr>
                <a:schemeClr val="accent1"/>
              </a:buClr>
              <a:buFont typeface="Wingdings" pitchFamily="2" charset="2"/>
              <a:buNone/>
            </a:pPr>
            <a:r>
              <a:rPr lang="zh-CN" altLang="zh-CN" b="1" dirty="0">
                <a:ea typeface="隶书" pitchFamily="49" charset="-122"/>
              </a:rPr>
              <a:t>功能：从键盘输入以</a:t>
            </a:r>
            <a:r>
              <a:rPr lang="zh-CN" altLang="zh-CN" b="1" dirty="0">
                <a:solidFill>
                  <a:srgbClr val="C01920"/>
                </a:solidFill>
                <a:ea typeface="隶书" pitchFamily="49" charset="-122"/>
              </a:rPr>
              <a:t>回车结束</a:t>
            </a:r>
            <a:r>
              <a:rPr lang="zh-CN" altLang="zh-CN" b="1" dirty="0">
                <a:ea typeface="隶书" pitchFamily="49" charset="-122"/>
              </a:rPr>
              <a:t>的字符串放入字符数组中，并自动加</a:t>
            </a:r>
            <a:r>
              <a:rPr lang="en-US" altLang="zh-CN" b="1" dirty="0"/>
              <a:t>'</a:t>
            </a:r>
            <a:r>
              <a:rPr lang="zh-CN" altLang="zh-CN" b="1" dirty="0">
                <a:ea typeface="隶书" pitchFamily="49" charset="-122"/>
              </a:rPr>
              <a:t>\0</a:t>
            </a:r>
            <a:r>
              <a:rPr lang="en-US" altLang="zh-CN" b="1" dirty="0"/>
              <a:t>'</a:t>
            </a:r>
            <a:endParaRPr lang="zh-CN" altLang="zh-CN" b="1" dirty="0">
              <a:ea typeface="隶书" pitchFamily="49" charset="-122"/>
            </a:endParaRPr>
          </a:p>
          <a:p>
            <a:pPr eaLnBrk="0" hangingPunct="0">
              <a:buClr>
                <a:schemeClr val="accent1"/>
              </a:buClr>
              <a:buFont typeface="Wingdings" pitchFamily="2" charset="2"/>
              <a:buNone/>
            </a:pPr>
            <a:r>
              <a:rPr lang="zh-CN" altLang="en-US" b="1" dirty="0">
                <a:ea typeface="隶书" pitchFamily="49" charset="-122"/>
              </a:rPr>
              <a:t>说明：输入串长度应小于字符数组维数</a:t>
            </a:r>
          </a:p>
        </p:txBody>
      </p:sp>
      <p:sp>
        <p:nvSpPr>
          <p:cNvPr id="1002512" name="Text Box 16"/>
          <p:cNvSpPr txBox="1">
            <a:spLocks noChangeArrowheads="1"/>
          </p:cNvSpPr>
          <p:nvPr/>
        </p:nvSpPr>
        <p:spPr bwMode="auto">
          <a:xfrm>
            <a:off x="1552572" y="4351318"/>
            <a:ext cx="9988525" cy="1590675"/>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ea typeface="隶书" pitchFamily="49" charset="-122"/>
              </a:rPr>
              <a:t>格式：</a:t>
            </a:r>
            <a:r>
              <a:rPr lang="en-US" altLang="zh-CN" b="1" dirty="0" err="1">
                <a:solidFill>
                  <a:srgbClr val="002060"/>
                </a:solidFill>
                <a:ea typeface="隶书" pitchFamily="49" charset="-122"/>
              </a:rPr>
              <a:t>scanf</a:t>
            </a:r>
            <a:r>
              <a:rPr lang="en-US" altLang="zh-CN" b="1" dirty="0">
                <a:ea typeface="隶书" pitchFamily="49" charset="-122"/>
              </a:rPr>
              <a:t>(</a:t>
            </a:r>
            <a:r>
              <a:rPr lang="en-US" altLang="zh-CN" b="1" dirty="0"/>
              <a:t>"</a:t>
            </a:r>
            <a:r>
              <a:rPr lang="en-US" altLang="zh-CN" b="1" dirty="0">
                <a:ea typeface="隶书" pitchFamily="49" charset="-122"/>
              </a:rPr>
              <a:t>%s</a:t>
            </a:r>
            <a:r>
              <a:rPr lang="en-US" altLang="zh-CN" b="1" dirty="0"/>
              <a:t>"</a:t>
            </a:r>
            <a:r>
              <a:rPr lang="en-US" altLang="zh-CN" b="1" dirty="0">
                <a:ea typeface="隶书" pitchFamily="49" charset="-122"/>
              </a:rPr>
              <a:t>, </a:t>
            </a:r>
            <a:r>
              <a:rPr lang="zh-CN" altLang="zh-CN" b="1" dirty="0">
                <a:ea typeface="隶书" pitchFamily="49" charset="-122"/>
              </a:rPr>
              <a:t>字符数组)</a:t>
            </a:r>
            <a:r>
              <a:rPr lang="en-US" altLang="zh-CN" b="1" dirty="0">
                <a:ea typeface="隶书" pitchFamily="49" charset="-122"/>
              </a:rPr>
              <a:t>    </a:t>
            </a:r>
            <a:r>
              <a:rPr lang="en-US" altLang="zh-CN" b="1" dirty="0">
                <a:solidFill>
                  <a:srgbClr val="7030A0"/>
                </a:solidFill>
                <a:ea typeface="隶书" pitchFamily="49" charset="-122"/>
              </a:rPr>
              <a:t>//</a:t>
            </a:r>
            <a:r>
              <a:rPr lang="zh-CN" altLang="en-US" b="1" dirty="0">
                <a:solidFill>
                  <a:srgbClr val="7030A0"/>
                </a:solidFill>
                <a:ea typeface="隶书" pitchFamily="49" charset="-122"/>
              </a:rPr>
              <a:t>应包含的</a:t>
            </a:r>
            <a:r>
              <a:rPr lang="en-US" altLang="zh-CN" b="1" dirty="0">
                <a:solidFill>
                  <a:srgbClr val="7030A0"/>
                </a:solidFill>
                <a:ea typeface="隶书" pitchFamily="49" charset="-122"/>
              </a:rPr>
              <a:t>.h</a:t>
            </a:r>
            <a:r>
              <a:rPr lang="zh-CN" altLang="en-US" b="1" dirty="0">
                <a:solidFill>
                  <a:srgbClr val="7030A0"/>
                </a:solidFill>
                <a:ea typeface="隶书" pitchFamily="49" charset="-122"/>
              </a:rPr>
              <a:t>文件为</a:t>
            </a:r>
            <a:r>
              <a:rPr lang="en-US" altLang="zh-CN" b="1" dirty="0" err="1">
                <a:solidFill>
                  <a:srgbClr val="7030A0"/>
                </a:solidFill>
                <a:ea typeface="隶书" pitchFamily="49" charset="-122"/>
              </a:rPr>
              <a:t>stdio.h</a:t>
            </a:r>
            <a:r>
              <a:rPr lang="en-US" altLang="zh-CN" dirty="0">
                <a:solidFill>
                  <a:srgbClr val="7030A0"/>
                </a:solidFill>
              </a:rPr>
              <a:t> </a:t>
            </a:r>
            <a:endParaRPr lang="zh-CN" altLang="zh-CN" b="1" dirty="0">
              <a:solidFill>
                <a:srgbClr val="7030A0"/>
              </a:solidFill>
              <a:ea typeface="隶书" pitchFamily="49" charset="-122"/>
            </a:endParaRPr>
          </a:p>
          <a:p>
            <a:pPr eaLnBrk="0" hangingPunct="0">
              <a:buClr>
                <a:schemeClr val="accent1"/>
              </a:buClr>
              <a:buFont typeface="Wingdings" pitchFamily="2" charset="2"/>
              <a:buNone/>
            </a:pPr>
            <a:r>
              <a:rPr lang="zh-CN" altLang="zh-CN" b="1" dirty="0">
                <a:ea typeface="隶书" pitchFamily="49" charset="-122"/>
              </a:rPr>
              <a:t>功能：从键盘输入一以</a:t>
            </a:r>
            <a:r>
              <a:rPr lang="zh-CN" altLang="zh-CN" b="1" dirty="0">
                <a:solidFill>
                  <a:srgbClr val="C01920"/>
                </a:solidFill>
                <a:ea typeface="隶书" pitchFamily="49" charset="-122"/>
              </a:rPr>
              <a:t>空格或回车结束</a:t>
            </a:r>
            <a:r>
              <a:rPr lang="zh-CN" altLang="zh-CN" b="1" dirty="0">
                <a:ea typeface="隶书" pitchFamily="49" charset="-122"/>
              </a:rPr>
              <a:t>的字符串放入字符数组中，并自动</a:t>
            </a:r>
            <a:endParaRPr lang="en-US" altLang="zh-CN" b="1" dirty="0">
              <a:ea typeface="隶书" pitchFamily="49" charset="-122"/>
            </a:endParaRPr>
          </a:p>
          <a:p>
            <a:pPr eaLnBrk="0" hangingPunct="0">
              <a:buClr>
                <a:schemeClr val="accent1"/>
              </a:buClr>
              <a:buFont typeface="Wingdings" pitchFamily="2" charset="2"/>
              <a:buNone/>
            </a:pPr>
            <a:r>
              <a:rPr lang="en-US" altLang="zh-CN" b="1" dirty="0">
                <a:ea typeface="隶书" pitchFamily="49" charset="-122"/>
              </a:rPr>
              <a:t>            </a:t>
            </a:r>
            <a:r>
              <a:rPr lang="zh-CN" altLang="zh-CN" b="1" dirty="0">
                <a:ea typeface="隶书" pitchFamily="49" charset="-122"/>
              </a:rPr>
              <a:t>加</a:t>
            </a:r>
            <a:r>
              <a:rPr lang="en-US" altLang="zh-CN" b="1" dirty="0"/>
              <a:t>'</a:t>
            </a:r>
            <a:r>
              <a:rPr lang="zh-CN" altLang="zh-CN" b="1" dirty="0">
                <a:ea typeface="隶书" pitchFamily="49" charset="-122"/>
              </a:rPr>
              <a:t>\0</a:t>
            </a:r>
            <a:r>
              <a:rPr lang="en-US" altLang="zh-CN" b="1" dirty="0"/>
              <a:t>'</a:t>
            </a:r>
            <a:endParaRPr lang="zh-CN" altLang="zh-CN" b="1" dirty="0">
              <a:ea typeface="隶书" pitchFamily="49" charset="-122"/>
            </a:endParaRPr>
          </a:p>
          <a:p>
            <a:pPr eaLnBrk="0" hangingPunct="0">
              <a:buClr>
                <a:schemeClr val="accent1"/>
              </a:buClr>
              <a:buFont typeface="Wingdings" pitchFamily="2" charset="2"/>
              <a:buNone/>
            </a:pPr>
            <a:r>
              <a:rPr lang="zh-CN" altLang="en-US" b="1" dirty="0">
                <a:ea typeface="隶书" pitchFamily="49" charset="-122"/>
              </a:rPr>
              <a:t>说明：输入串长度应小于字符数组维数</a:t>
            </a:r>
          </a:p>
        </p:txBody>
      </p:sp>
      <p:sp>
        <p:nvSpPr>
          <p:cNvPr id="1002513" name="Rectangle 17" descr="信纸"/>
          <p:cNvSpPr>
            <a:spLocks noChangeArrowheads="1"/>
          </p:cNvSpPr>
          <p:nvPr/>
        </p:nvSpPr>
        <p:spPr bwMode="auto">
          <a:xfrm>
            <a:off x="1569732" y="5507017"/>
            <a:ext cx="9988525"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r>
              <a:rPr lang="en-US" altLang="zh-CN" b="1" dirty="0">
                <a:latin typeface="+mn-lt"/>
                <a:ea typeface="楷体" pitchFamily="49" charset="-122"/>
              </a:rPr>
              <a:t>char  str[80];</a:t>
            </a:r>
          </a:p>
          <a:p>
            <a:r>
              <a:rPr lang="en-US" altLang="zh-CN" b="1" dirty="0">
                <a:latin typeface="+mn-lt"/>
                <a:ea typeface="楷体" pitchFamily="49" charset="-122"/>
              </a:rPr>
              <a:t>        </a:t>
            </a:r>
            <a:r>
              <a:rPr lang="en-US" altLang="zh-CN" b="1" dirty="0" err="1">
                <a:latin typeface="+mn-lt"/>
                <a:ea typeface="楷体" pitchFamily="49" charset="-122"/>
              </a:rPr>
              <a:t>scanf</a:t>
            </a:r>
            <a:r>
              <a:rPr lang="en-US" altLang="zh-CN" b="1" dirty="0">
                <a:latin typeface="+mn-lt"/>
                <a:ea typeface="楷体" pitchFamily="49" charset="-122"/>
              </a:rPr>
              <a:t> ("%s",</a:t>
            </a:r>
            <a:r>
              <a:rPr lang="en-US" altLang="zh-CN" dirty="0">
                <a:latin typeface="+mn-lt"/>
                <a:ea typeface="楷体" pitchFamily="49" charset="-122"/>
              </a:rPr>
              <a:t> </a:t>
            </a:r>
            <a:r>
              <a:rPr lang="en-US" altLang="zh-CN" b="1" dirty="0">
                <a:latin typeface="+mn-lt"/>
                <a:ea typeface="楷体" pitchFamily="49" charset="-122"/>
              </a:rPr>
              <a:t>str);</a:t>
            </a:r>
          </a:p>
          <a:p>
            <a:pPr eaLnBrk="0" hangingPunct="0"/>
            <a:r>
              <a:rPr lang="en-US" altLang="zh-CN" b="1" dirty="0">
                <a:latin typeface="+mn-lt"/>
                <a:ea typeface="楷体" pitchFamily="49" charset="-122"/>
              </a:rPr>
              <a:t>       </a:t>
            </a:r>
            <a:r>
              <a:rPr lang="zh-CN" altLang="en-US" b="1" dirty="0">
                <a:latin typeface="+mn-lt"/>
                <a:ea typeface="楷体" pitchFamily="49" charset="-122"/>
              </a:rPr>
              <a:t>当输入：□□</a:t>
            </a:r>
            <a:r>
              <a:rPr lang="en-US" altLang="zh-CN" b="1" dirty="0" err="1">
                <a:latin typeface="+mn-lt"/>
                <a:ea typeface="楷体" pitchFamily="49" charset="-122"/>
              </a:rPr>
              <a:t>hello□china</a:t>
            </a:r>
            <a:r>
              <a:rPr lang="en-US" altLang="zh-CN" b="1" dirty="0">
                <a:latin typeface="+mn-ea"/>
                <a:ea typeface="+mn-ea"/>
              </a:rPr>
              <a:t>↙</a:t>
            </a:r>
            <a:r>
              <a:rPr lang="zh-CN" altLang="en-US" b="1" dirty="0">
                <a:latin typeface="+mn-lt"/>
                <a:ea typeface="楷体" pitchFamily="49" charset="-122"/>
              </a:rPr>
              <a:t>时</a:t>
            </a:r>
            <a:r>
              <a:rPr lang="zh-CN" altLang="en-US" dirty="0">
                <a:latin typeface="+mn-lt"/>
                <a:ea typeface="楷体" pitchFamily="49" charset="-122"/>
              </a:rPr>
              <a:t>，</a:t>
            </a:r>
            <a:r>
              <a:rPr lang="en-US" altLang="zh-CN" b="1" dirty="0">
                <a:latin typeface="+mn-lt"/>
                <a:ea typeface="楷体" pitchFamily="49" charset="-122"/>
              </a:rPr>
              <a:t>str</a:t>
            </a:r>
            <a:r>
              <a:rPr lang="zh-CN" altLang="en-US" b="1" dirty="0">
                <a:latin typeface="+mn-lt"/>
                <a:ea typeface="楷体" pitchFamily="49" charset="-122"/>
              </a:rPr>
              <a:t>将是：</a:t>
            </a:r>
            <a:r>
              <a:rPr lang="en-US" altLang="zh-CN" b="1" dirty="0">
                <a:latin typeface="+mn-lt"/>
                <a:ea typeface="楷体" pitchFamily="49" charset="-122"/>
              </a:rPr>
              <a:t>"hello"</a:t>
            </a:r>
            <a:r>
              <a:rPr lang="en-US" altLang="zh-CN" dirty="0">
                <a:latin typeface="+mn-lt"/>
                <a:ea typeface="楷体" pitchFamily="49" charset="-122"/>
              </a:rPr>
              <a:t> </a:t>
            </a:r>
          </a:p>
        </p:txBody>
      </p:sp>
      <p:sp>
        <p:nvSpPr>
          <p:cNvPr id="1002514" name="AutoShape 18"/>
          <p:cNvSpPr>
            <a:spLocks noChangeArrowheads="1"/>
          </p:cNvSpPr>
          <p:nvPr/>
        </p:nvSpPr>
        <p:spPr bwMode="auto">
          <a:xfrm>
            <a:off x="7427962" y="4452377"/>
            <a:ext cx="3887787" cy="1440384"/>
          </a:xfrm>
          <a:prstGeom prst="cloudCallout">
            <a:avLst>
              <a:gd name="adj1" fmla="val -43750"/>
              <a:gd name="adj2" fmla="val 70000"/>
            </a:avLst>
          </a:prstGeom>
          <a:gradFill flip="none" rotWithShape="1">
            <a:gsLst>
              <a:gs pos="0">
                <a:srgbClr val="CFCFD1"/>
              </a:gs>
              <a:gs pos="100000">
                <a:schemeClr val="bg1">
                  <a:lumMod val="95000"/>
                </a:schemeClr>
              </a:gs>
            </a:gsLst>
            <a:lin ang="18900000" scaled="1"/>
            <a:tileRect/>
          </a:gradFill>
          <a:ln w="15875">
            <a:solidFill>
              <a:srgbClr val="C01920"/>
            </a:solidFill>
            <a:round/>
            <a:headEnd/>
            <a:tailEnd/>
          </a:ln>
          <a:effectLst>
            <a:outerShdw blurRad="50800" dist="106680" dir="2700000" algn="tl" rotWithShape="0">
              <a:prstClr val="black">
                <a:alpha val="43000"/>
              </a:prstClr>
            </a:outerShdw>
          </a:effectLst>
        </p:spPr>
        <p:txBody>
          <a:bodyPr/>
          <a:lstStyle/>
          <a:p>
            <a:pPr algn="ctr"/>
            <a:r>
              <a:rPr lang="en-US" altLang="zh-CN" sz="2800" b="1" dirty="0" err="1">
                <a:solidFill>
                  <a:srgbClr val="C01920"/>
                </a:solidFill>
                <a:latin typeface="隶书" pitchFamily="49" charset="-122"/>
                <a:ea typeface="隶书" pitchFamily="49" charset="-122"/>
              </a:rPr>
              <a:t>scanf</a:t>
            </a:r>
            <a:r>
              <a:rPr lang="en-US" altLang="zh-CN" sz="2800" b="1" dirty="0">
                <a:solidFill>
                  <a:srgbClr val="C01920"/>
                </a:solidFill>
                <a:latin typeface="隶书" pitchFamily="49" charset="-122"/>
                <a:ea typeface="隶书" pitchFamily="49" charset="-122"/>
              </a:rPr>
              <a:t>()</a:t>
            </a:r>
            <a:r>
              <a:rPr lang="zh-CN" altLang="en-US" sz="2800" b="1" dirty="0">
                <a:solidFill>
                  <a:srgbClr val="C01920"/>
                </a:solidFill>
                <a:latin typeface="隶书" pitchFamily="49" charset="-122"/>
                <a:ea typeface="隶书" pitchFamily="49" charset="-122"/>
              </a:rPr>
              <a:t>过滤前两个空白字符</a:t>
            </a:r>
          </a:p>
        </p:txBody>
      </p:sp>
      <p:sp>
        <p:nvSpPr>
          <p:cNvPr id="14" name="Rectangle 4">
            <a:extLst>
              <a:ext uri="{FF2B5EF4-FFF2-40B4-BE49-F238E27FC236}">
                <a16:creationId xmlns:a16="http://schemas.microsoft.com/office/drawing/2014/main" id="{A843FF19-34D1-4471-BC1D-613C6085A06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1082650258"/>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2504"/>
                                        </p:tgtEl>
                                        <p:attrNameLst>
                                          <p:attrName>style.visibility</p:attrName>
                                        </p:attrNameLst>
                                      </p:cBhvr>
                                      <p:to>
                                        <p:strVal val="visible"/>
                                      </p:to>
                                    </p:set>
                                    <p:anim calcmode="lin" valueType="num">
                                      <p:cBhvr additive="base">
                                        <p:cTn id="7" dur="500" fill="hold"/>
                                        <p:tgtEl>
                                          <p:spTgt spid="1002504"/>
                                        </p:tgtEl>
                                        <p:attrNameLst>
                                          <p:attrName>ppt_x</p:attrName>
                                        </p:attrNameLst>
                                      </p:cBhvr>
                                      <p:tavLst>
                                        <p:tav tm="0">
                                          <p:val>
                                            <p:strVal val="0-#ppt_w/2"/>
                                          </p:val>
                                        </p:tav>
                                        <p:tav tm="100000">
                                          <p:val>
                                            <p:strVal val="#ppt_x"/>
                                          </p:val>
                                        </p:tav>
                                      </p:tavLst>
                                    </p:anim>
                                    <p:anim calcmode="lin" valueType="num">
                                      <p:cBhvr additive="base">
                                        <p:cTn id="8" dur="500" fill="hold"/>
                                        <p:tgtEl>
                                          <p:spTgt spid="100250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2510"/>
                                        </p:tgtEl>
                                        <p:attrNameLst>
                                          <p:attrName>style.visibility</p:attrName>
                                        </p:attrNameLst>
                                      </p:cBhvr>
                                      <p:to>
                                        <p:strVal val="visible"/>
                                      </p:to>
                                    </p:set>
                                    <p:anim calcmode="lin" valueType="num">
                                      <p:cBhvr additive="base">
                                        <p:cTn id="13" dur="500" fill="hold"/>
                                        <p:tgtEl>
                                          <p:spTgt spid="1002510"/>
                                        </p:tgtEl>
                                        <p:attrNameLst>
                                          <p:attrName>ppt_x</p:attrName>
                                        </p:attrNameLst>
                                      </p:cBhvr>
                                      <p:tavLst>
                                        <p:tav tm="0">
                                          <p:val>
                                            <p:strVal val="0-#ppt_w/2"/>
                                          </p:val>
                                        </p:tav>
                                        <p:tav tm="100000">
                                          <p:val>
                                            <p:strVal val="#ppt_x"/>
                                          </p:val>
                                        </p:tav>
                                      </p:tavLst>
                                    </p:anim>
                                    <p:anim calcmode="lin" valueType="num">
                                      <p:cBhvr additive="base">
                                        <p:cTn id="14" dur="500" fill="hold"/>
                                        <p:tgtEl>
                                          <p:spTgt spid="10025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2505"/>
                                        </p:tgtEl>
                                        <p:attrNameLst>
                                          <p:attrName>style.visibility</p:attrName>
                                        </p:attrNameLst>
                                      </p:cBhvr>
                                      <p:to>
                                        <p:strVal val="visible"/>
                                      </p:to>
                                    </p:set>
                                    <p:animEffect transition="in" filter="box(out)">
                                      <p:cBhvr>
                                        <p:cTn id="19" dur="500"/>
                                        <p:tgtEl>
                                          <p:spTgt spid="1002505"/>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2509"/>
                                        </p:tgtEl>
                                        <p:attrNameLst>
                                          <p:attrName>style.visibility</p:attrName>
                                        </p:attrNameLst>
                                      </p:cBhvr>
                                      <p:to>
                                        <p:strVal val="visible"/>
                                      </p:to>
                                    </p:set>
                                    <p:animEffect transition="in" filter="box(out)">
                                      <p:cBhvr>
                                        <p:cTn id="24" dur="500"/>
                                        <p:tgtEl>
                                          <p:spTgt spid="1002509"/>
                                        </p:tgtEl>
                                      </p:cBhvr>
                                    </p:animEffect>
                                  </p:childTnLst>
                                  <p:subTnLst>
                                    <p:set>
                                      <p:cBhvr override="childStyle">
                                        <p:cTn dur="1" fill="hold" display="0" masterRel="nextClick" afterEffect="1"/>
                                        <p:tgtEl>
                                          <p:spTgt spid="1002509"/>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02511"/>
                                        </p:tgtEl>
                                        <p:attrNameLst>
                                          <p:attrName>style.visibility</p:attrName>
                                        </p:attrNameLst>
                                      </p:cBhvr>
                                      <p:to>
                                        <p:strVal val="visible"/>
                                      </p:to>
                                    </p:set>
                                    <p:anim calcmode="lin" valueType="num">
                                      <p:cBhvr additive="base">
                                        <p:cTn id="29" dur="500" fill="hold"/>
                                        <p:tgtEl>
                                          <p:spTgt spid="1002511"/>
                                        </p:tgtEl>
                                        <p:attrNameLst>
                                          <p:attrName>ppt_x</p:attrName>
                                        </p:attrNameLst>
                                      </p:cBhvr>
                                      <p:tavLst>
                                        <p:tav tm="0">
                                          <p:val>
                                            <p:strVal val="0-#ppt_w/2"/>
                                          </p:val>
                                        </p:tav>
                                        <p:tav tm="100000">
                                          <p:val>
                                            <p:strVal val="#ppt_x"/>
                                          </p:val>
                                        </p:tav>
                                      </p:tavLst>
                                    </p:anim>
                                    <p:anim calcmode="lin" valueType="num">
                                      <p:cBhvr additive="base">
                                        <p:cTn id="30" dur="500" fill="hold"/>
                                        <p:tgtEl>
                                          <p:spTgt spid="10025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02512"/>
                                        </p:tgtEl>
                                        <p:attrNameLst>
                                          <p:attrName>style.visibility</p:attrName>
                                        </p:attrNameLst>
                                      </p:cBhvr>
                                      <p:to>
                                        <p:strVal val="visible"/>
                                      </p:to>
                                    </p:set>
                                    <p:animEffect transition="in" filter="box(out)">
                                      <p:cBhvr>
                                        <p:cTn id="35" dur="500"/>
                                        <p:tgtEl>
                                          <p:spTgt spid="1002512"/>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02513"/>
                                        </p:tgtEl>
                                        <p:attrNameLst>
                                          <p:attrName>style.visibility</p:attrName>
                                        </p:attrNameLst>
                                      </p:cBhvr>
                                      <p:to>
                                        <p:strVal val="visible"/>
                                      </p:to>
                                    </p:set>
                                    <p:animEffect transition="in" filter="box(out)">
                                      <p:cBhvr>
                                        <p:cTn id="40" dur="500"/>
                                        <p:tgtEl>
                                          <p:spTgt spid="1002513"/>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1002514"/>
                                        </p:tgtEl>
                                        <p:attrNameLst>
                                          <p:attrName>style.visibility</p:attrName>
                                        </p:attrNameLst>
                                      </p:cBhvr>
                                      <p:to>
                                        <p:strVal val="visible"/>
                                      </p:to>
                                    </p:set>
                                    <p:animEffect transition="in" filter="strips(downRight)">
                                      <p:cBhvr>
                                        <p:cTn id="45" dur="500"/>
                                        <p:tgtEl>
                                          <p:spTgt spid="1002514"/>
                                        </p:tgtEl>
                                      </p:cBhvr>
                                    </p:animEffect>
                                  </p:childTnLst>
                                  <p:subTnLst>
                                    <p:audio>
                                      <p:cMediaNode>
                                        <p:cTn display="0" masterRel="sameClick">
                                          <p:stCondLst>
                                            <p:cond evt="begin" delay="0">
                                              <p:tn val="43"/>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510" grpId="0"/>
      <p:bldP spid="1002511" grpId="0"/>
      <p:bldP spid="1002509" grpId="0" animBg="1"/>
      <p:bldP spid="1002504" grpId="0"/>
      <p:bldP spid="1002505" grpId="0" animBg="1" autoUpdateAnimBg="0"/>
      <p:bldP spid="1002512" grpId="0" animBg="1" autoUpdateAnimBg="0"/>
      <p:bldP spid="1002513" grpId="0" animBg="1"/>
      <p:bldP spid="10025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2" name="Rectangle 12" descr="信纸"/>
          <p:cNvSpPr>
            <a:spLocks noChangeArrowheads="1"/>
          </p:cNvSpPr>
          <p:nvPr/>
        </p:nvSpPr>
        <p:spPr bwMode="auto">
          <a:xfrm>
            <a:off x="728194" y="1584704"/>
            <a:ext cx="10967242" cy="193899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FF0000"/>
                </a:solidFill>
                <a:latin typeface="+mn-lt"/>
                <a:ea typeface="楷体" pitchFamily="49" charset="-122"/>
              </a:rPr>
              <a:t>   </a:t>
            </a: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例：</a:t>
            </a:r>
            <a:r>
              <a:rPr lang="zh-CN" altLang="en-US" b="1" dirty="0">
                <a:latin typeface="+mn-lt"/>
                <a:ea typeface="楷体" pitchFamily="49" charset="-122"/>
              </a:rPr>
              <a:t>利用</a:t>
            </a:r>
            <a:r>
              <a:rPr lang="en-US" altLang="zh-CN" b="1" dirty="0" err="1">
                <a:latin typeface="+mn-lt"/>
                <a:ea typeface="楷体" pitchFamily="49" charset="-122"/>
              </a:rPr>
              <a:t>scanf</a:t>
            </a:r>
            <a:r>
              <a:rPr lang="zh-CN" altLang="en-US" b="1" dirty="0">
                <a:latin typeface="+mn-lt"/>
                <a:ea typeface="楷体" pitchFamily="49" charset="-122"/>
              </a:rPr>
              <a:t>函数可以连续输入多个字符串，输入时，字符串间用空格分隔。</a:t>
            </a:r>
            <a:r>
              <a:rPr lang="zh-CN" altLang="en-US" dirty="0">
                <a:latin typeface="+mn-lt"/>
                <a:ea typeface="楷体" pitchFamily="49" charset="-122"/>
              </a:rPr>
              <a:t> </a:t>
            </a:r>
            <a:endParaRPr lang="zh-CN" altLang="en-US" b="1" dirty="0">
              <a:latin typeface="+mn-lt"/>
              <a:ea typeface="楷体" pitchFamily="49" charset="-122"/>
            </a:endParaRPr>
          </a:p>
          <a:p>
            <a:r>
              <a:rPr lang="zh-CN" altLang="en-US" b="1" dirty="0">
                <a:latin typeface="+mn-lt"/>
                <a:ea typeface="楷体" pitchFamily="49" charset="-122"/>
              </a:rPr>
              <a:t>    </a:t>
            </a:r>
            <a:r>
              <a:rPr lang="en-US" altLang="zh-CN" b="1" dirty="0">
                <a:latin typeface="+mn-lt"/>
                <a:ea typeface="楷体" pitchFamily="49" charset="-122"/>
              </a:rPr>
              <a:t>char  str1[40], str2[40], str3[40];</a:t>
            </a:r>
          </a:p>
          <a:p>
            <a:r>
              <a:rPr lang="en-US" altLang="zh-CN" b="1" dirty="0">
                <a:latin typeface="+mn-lt"/>
                <a:ea typeface="楷体" pitchFamily="49" charset="-122"/>
              </a:rPr>
              <a:t>    </a:t>
            </a:r>
            <a:r>
              <a:rPr lang="en-US" altLang="zh-CN" b="1" dirty="0" err="1">
                <a:latin typeface="+mn-lt"/>
                <a:ea typeface="楷体" pitchFamily="49" charset="-122"/>
              </a:rPr>
              <a:t>scanf</a:t>
            </a:r>
            <a:r>
              <a:rPr lang="en-US" altLang="zh-CN" b="1" dirty="0">
                <a:latin typeface="+mn-lt"/>
                <a:ea typeface="楷体" pitchFamily="49" charset="-122"/>
              </a:rPr>
              <a:t> ("%</a:t>
            </a:r>
            <a:r>
              <a:rPr lang="en-US" altLang="zh-CN" b="1" dirty="0" err="1">
                <a:latin typeface="+mn-lt"/>
                <a:ea typeface="楷体" pitchFamily="49" charset="-122"/>
              </a:rPr>
              <a:t>s%s%s</a:t>
            </a:r>
            <a:r>
              <a:rPr lang="en-US" altLang="zh-CN" b="1" dirty="0">
                <a:latin typeface="+mn-lt"/>
                <a:ea typeface="楷体" pitchFamily="49" charset="-122"/>
              </a:rPr>
              <a:t>", str1, str2, str3);</a:t>
            </a:r>
          </a:p>
          <a:p>
            <a:r>
              <a:rPr lang="en-US" altLang="zh-CN" b="1" dirty="0">
                <a:latin typeface="+mn-lt"/>
                <a:ea typeface="楷体" pitchFamily="49" charset="-122"/>
              </a:rPr>
              <a:t>    </a:t>
            </a:r>
            <a:r>
              <a:rPr lang="zh-CN" altLang="en-US" b="1" dirty="0">
                <a:latin typeface="+mn-lt"/>
                <a:ea typeface="楷体" pitchFamily="49" charset="-122"/>
              </a:rPr>
              <a:t>输入：</a:t>
            </a:r>
            <a:r>
              <a:rPr lang="en-US" altLang="zh-CN" b="1" dirty="0" err="1">
                <a:latin typeface="+mn-lt"/>
                <a:ea typeface="楷体" pitchFamily="49" charset="-122"/>
              </a:rPr>
              <a:t>I□love□china</a:t>
            </a:r>
            <a:r>
              <a:rPr lang="en-US" altLang="zh-CN" b="1" dirty="0">
                <a:latin typeface="+mn-lt"/>
                <a:ea typeface="楷体" pitchFamily="49" charset="-122"/>
              </a:rPr>
              <a:t>!</a:t>
            </a:r>
            <a:r>
              <a:rPr lang="en-US" altLang="zh-CN" b="1" dirty="0">
                <a:latin typeface="+mn-ea"/>
                <a:ea typeface="+mn-ea"/>
              </a:rPr>
              <a:t>↙</a:t>
            </a:r>
          </a:p>
          <a:p>
            <a:r>
              <a:rPr lang="en-US" altLang="zh-CN" b="1" dirty="0">
                <a:solidFill>
                  <a:schemeClr val="accent2"/>
                </a:solidFill>
                <a:latin typeface="+mn-lt"/>
                <a:ea typeface="楷体" pitchFamily="49" charset="-122"/>
              </a:rPr>
              <a:t>    </a:t>
            </a:r>
            <a:r>
              <a:rPr lang="en-US" altLang="zh-CN" b="1" dirty="0">
                <a:solidFill>
                  <a:srgbClr val="CC0066"/>
                </a:solidFill>
                <a:latin typeface="+mn-lt"/>
                <a:ea typeface="楷体" pitchFamily="49" charset="-122"/>
              </a:rPr>
              <a:t>str1</a:t>
            </a:r>
            <a:r>
              <a:rPr lang="zh-CN" altLang="en-US" b="1" dirty="0">
                <a:solidFill>
                  <a:srgbClr val="CC0066"/>
                </a:solidFill>
                <a:latin typeface="+mn-lt"/>
                <a:ea typeface="楷体" pitchFamily="49" charset="-122"/>
              </a:rPr>
              <a:t>：</a:t>
            </a:r>
            <a:r>
              <a:rPr lang="en-US" altLang="zh-CN" b="1" dirty="0">
                <a:solidFill>
                  <a:srgbClr val="002060"/>
                </a:solidFill>
                <a:latin typeface="+mn-lt"/>
                <a:ea typeface="楷体" pitchFamily="49" charset="-122"/>
              </a:rPr>
              <a:t>"I"</a:t>
            </a:r>
            <a:r>
              <a:rPr lang="zh-CN" altLang="en-US" b="1" dirty="0">
                <a:solidFill>
                  <a:srgbClr val="002060"/>
                </a:solidFill>
                <a:latin typeface="+mn-lt"/>
                <a:ea typeface="楷体" pitchFamily="49" charset="-122"/>
              </a:rPr>
              <a:t>，</a:t>
            </a:r>
            <a:r>
              <a:rPr lang="en-US" altLang="zh-CN" b="1" dirty="0">
                <a:solidFill>
                  <a:srgbClr val="CC0066"/>
                </a:solidFill>
                <a:latin typeface="+mn-lt"/>
                <a:ea typeface="楷体" pitchFamily="49" charset="-122"/>
              </a:rPr>
              <a:t>str2</a:t>
            </a:r>
            <a:r>
              <a:rPr lang="zh-CN" altLang="en-US" b="1" dirty="0">
                <a:solidFill>
                  <a:srgbClr val="CC0066"/>
                </a:solidFill>
                <a:latin typeface="+mn-lt"/>
                <a:ea typeface="楷体" pitchFamily="49" charset="-122"/>
              </a:rPr>
              <a:t>：</a:t>
            </a:r>
            <a:r>
              <a:rPr lang="en-US" altLang="zh-CN" b="1" dirty="0">
                <a:solidFill>
                  <a:srgbClr val="002060"/>
                </a:solidFill>
                <a:latin typeface="+mn-lt"/>
                <a:ea typeface="楷体" pitchFamily="49" charset="-122"/>
              </a:rPr>
              <a:t>"love"</a:t>
            </a:r>
            <a:r>
              <a:rPr lang="zh-CN" altLang="en-US" b="1" dirty="0">
                <a:solidFill>
                  <a:srgbClr val="002060"/>
                </a:solidFill>
                <a:latin typeface="+mn-lt"/>
                <a:ea typeface="楷体" pitchFamily="49" charset="-122"/>
              </a:rPr>
              <a:t>，</a:t>
            </a:r>
            <a:r>
              <a:rPr lang="en-US" altLang="zh-CN" b="1" dirty="0">
                <a:solidFill>
                  <a:srgbClr val="CC0066"/>
                </a:solidFill>
                <a:latin typeface="+mn-lt"/>
                <a:ea typeface="楷体" pitchFamily="49" charset="-122"/>
              </a:rPr>
              <a:t>str3</a:t>
            </a:r>
            <a:r>
              <a:rPr lang="zh-CN" altLang="en-US" b="1" dirty="0">
                <a:solidFill>
                  <a:srgbClr val="CC0066"/>
                </a:solidFill>
                <a:latin typeface="+mn-lt"/>
                <a:ea typeface="楷体" pitchFamily="49" charset="-122"/>
              </a:rPr>
              <a:t>：</a:t>
            </a:r>
            <a:r>
              <a:rPr lang="en-US" altLang="zh-CN" b="1" dirty="0">
                <a:solidFill>
                  <a:srgbClr val="002060"/>
                </a:solidFill>
                <a:latin typeface="+mn-lt"/>
                <a:ea typeface="楷体" pitchFamily="49" charset="-122"/>
              </a:rPr>
              <a:t>"china!"</a:t>
            </a:r>
            <a:r>
              <a:rPr lang="zh-CN" altLang="en-US" b="1" dirty="0">
                <a:solidFill>
                  <a:srgbClr val="002060"/>
                </a:solidFill>
                <a:latin typeface="+mn-lt"/>
                <a:ea typeface="楷体" pitchFamily="49" charset="-122"/>
              </a:rPr>
              <a:t>。</a:t>
            </a:r>
          </a:p>
        </p:txBody>
      </p:sp>
      <p:sp>
        <p:nvSpPr>
          <p:cNvPr id="1003534" name="Rectangle 14" descr="信纸"/>
          <p:cNvSpPr>
            <a:spLocks noChangeArrowheads="1"/>
          </p:cNvSpPr>
          <p:nvPr/>
        </p:nvSpPr>
        <p:spPr bwMode="auto">
          <a:xfrm>
            <a:off x="728194" y="3573016"/>
            <a:ext cx="10967242" cy="1200329"/>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例：</a:t>
            </a:r>
            <a:r>
              <a:rPr lang="zh-CN" altLang="en-US" b="1" dirty="0">
                <a:latin typeface="+mn-lt"/>
                <a:ea typeface="楷体" pitchFamily="49" charset="-122"/>
              </a:rPr>
              <a:t>使用</a:t>
            </a:r>
            <a:r>
              <a:rPr lang="en-US" altLang="zh-CN" b="1" dirty="0">
                <a:latin typeface="+mn-lt"/>
                <a:ea typeface="楷体" pitchFamily="49" charset="-122"/>
              </a:rPr>
              <a:t>%ns</a:t>
            </a:r>
            <a:r>
              <a:rPr lang="zh-CN" altLang="en-US" b="1" dirty="0">
                <a:latin typeface="+mn-lt"/>
                <a:ea typeface="楷体" pitchFamily="49" charset="-122"/>
              </a:rPr>
              <a:t>格式控制符 限制输入的字符个数。</a:t>
            </a:r>
            <a:r>
              <a:rPr lang="zh-CN" altLang="en-US" dirty="0">
                <a:latin typeface="+mn-lt"/>
                <a:ea typeface="楷体" pitchFamily="49" charset="-122"/>
              </a:rPr>
              <a:t> </a:t>
            </a:r>
            <a:endParaRPr lang="zh-CN" altLang="en-US" b="1" dirty="0">
              <a:latin typeface="+mn-lt"/>
              <a:ea typeface="楷体" pitchFamily="49" charset="-122"/>
            </a:endParaRPr>
          </a:p>
          <a:p>
            <a:r>
              <a:rPr lang="zh-CN" altLang="en-US" b="1" dirty="0">
                <a:latin typeface="+mn-lt"/>
                <a:ea typeface="楷体" pitchFamily="49" charset="-122"/>
              </a:rPr>
              <a:t>    </a:t>
            </a:r>
            <a:r>
              <a:rPr lang="en-US" altLang="zh-CN" b="1" dirty="0">
                <a:latin typeface="+mn-lt"/>
                <a:ea typeface="楷体" pitchFamily="49" charset="-122"/>
              </a:rPr>
              <a:t>char  str[10];</a:t>
            </a:r>
          </a:p>
          <a:p>
            <a:r>
              <a:rPr lang="en-US" altLang="zh-CN" b="1" dirty="0">
                <a:latin typeface="+mn-lt"/>
                <a:ea typeface="楷体" pitchFamily="49" charset="-122"/>
              </a:rPr>
              <a:t>    </a:t>
            </a:r>
            <a:r>
              <a:rPr lang="en-US" altLang="zh-CN" b="1" dirty="0" err="1">
                <a:latin typeface="+mn-lt"/>
                <a:ea typeface="楷体" pitchFamily="49" charset="-122"/>
              </a:rPr>
              <a:t>scanf</a:t>
            </a:r>
            <a:r>
              <a:rPr lang="en-US" altLang="zh-CN" b="1" dirty="0">
                <a:latin typeface="+mn-lt"/>
                <a:ea typeface="楷体" pitchFamily="49" charset="-122"/>
              </a:rPr>
              <a:t> ("%9s", str);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最多可读入</a:t>
            </a:r>
            <a:r>
              <a:rPr lang="en-US" altLang="zh-CN" sz="2000" b="1" dirty="0">
                <a:solidFill>
                  <a:srgbClr val="002060"/>
                </a:solidFill>
                <a:latin typeface="+mn-lt"/>
                <a:ea typeface="楷体" pitchFamily="49" charset="-122"/>
              </a:rPr>
              <a:t>9</a:t>
            </a:r>
            <a:r>
              <a:rPr lang="zh-CN" altLang="en-US" sz="2000" b="1" dirty="0">
                <a:solidFill>
                  <a:srgbClr val="002060"/>
                </a:solidFill>
                <a:latin typeface="+mn-lt"/>
                <a:ea typeface="楷体" pitchFamily="49" charset="-122"/>
              </a:rPr>
              <a:t>个非空格字符到</a:t>
            </a:r>
            <a:r>
              <a:rPr lang="en-US" altLang="zh-CN" sz="2000" b="1" dirty="0">
                <a:solidFill>
                  <a:srgbClr val="002060"/>
                </a:solidFill>
                <a:latin typeface="+mn-lt"/>
                <a:ea typeface="楷体" pitchFamily="49" charset="-122"/>
              </a:rPr>
              <a:t>str</a:t>
            </a:r>
            <a:r>
              <a:rPr lang="zh-CN" altLang="en-US" sz="2000" b="1" dirty="0">
                <a:solidFill>
                  <a:srgbClr val="002060"/>
                </a:solidFill>
                <a:latin typeface="+mn-lt"/>
                <a:ea typeface="楷体" pitchFamily="49" charset="-122"/>
              </a:rPr>
              <a:t>中</a:t>
            </a:r>
            <a:r>
              <a:rPr lang="zh-CN" altLang="en-US" dirty="0">
                <a:solidFill>
                  <a:srgbClr val="002060"/>
                </a:solidFill>
                <a:latin typeface="+mn-lt"/>
                <a:ea typeface="楷体" pitchFamily="49" charset="-122"/>
              </a:rPr>
              <a:t> </a:t>
            </a:r>
          </a:p>
        </p:txBody>
      </p:sp>
      <p:graphicFrame>
        <p:nvGraphicFramePr>
          <p:cNvPr id="1003603" name="Group 83"/>
          <p:cNvGraphicFramePr>
            <a:graphicFrameLocks noGrp="1"/>
          </p:cNvGraphicFramePr>
          <p:nvPr>
            <p:extLst>
              <p:ext uri="{D42A27DB-BD31-4B8C-83A1-F6EECF244321}">
                <p14:modId xmlns:p14="http://schemas.microsoft.com/office/powerpoint/2010/main" val="721257590"/>
              </p:ext>
            </p:extLst>
          </p:nvPr>
        </p:nvGraphicFramePr>
        <p:xfrm>
          <a:off x="715930" y="4869160"/>
          <a:ext cx="10979506" cy="1859280"/>
        </p:xfrm>
        <a:graphic>
          <a:graphicData uri="http://schemas.openxmlformats.org/drawingml/2006/table">
            <a:tbl>
              <a:tblPr>
                <a:effectLst>
                  <a:outerShdw blurRad="50800" dist="38100" dir="2700000" algn="tl" rotWithShape="0">
                    <a:prstClr val="black">
                      <a:alpha val="40000"/>
                    </a:prstClr>
                  </a:outerShdw>
                </a:effectLst>
              </a:tblPr>
              <a:tblGrid>
                <a:gridCol w="5305732">
                  <a:extLst>
                    <a:ext uri="{9D8B030D-6E8A-4147-A177-3AD203B41FA5}">
                      <a16:colId xmlns:a16="http://schemas.microsoft.com/office/drawing/2014/main" val="20000"/>
                    </a:ext>
                  </a:extLst>
                </a:gridCol>
                <a:gridCol w="5673774">
                  <a:extLst>
                    <a:ext uri="{9D8B030D-6E8A-4147-A177-3AD203B41FA5}">
                      <a16:colId xmlns:a16="http://schemas.microsoft.com/office/drawing/2014/main" val="20001"/>
                    </a:ext>
                  </a:extLst>
                </a:gridCol>
              </a:tblGrid>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bg1">
                              <a:lumMod val="95000"/>
                            </a:schemeClr>
                          </a:solidFill>
                          <a:effectLst/>
                          <a:latin typeface="+mn-lt"/>
                          <a:ea typeface="楷体" pitchFamily="49" charset="-122"/>
                          <a:cs typeface="Times New Roman" pitchFamily="18" charset="0"/>
                        </a:rPr>
                        <a:t>gets</a:t>
                      </a:r>
                      <a:endParaRPr kumimoji="1" lang="en-US" altLang="zh-CN" sz="2000" b="1" i="0" u="none" strike="noStrike" cap="none" normalizeH="0" baseline="0" dirty="0">
                        <a:ln>
                          <a:noFill/>
                        </a:ln>
                        <a:solidFill>
                          <a:schemeClr val="bg1">
                            <a:lumMod val="95000"/>
                          </a:schemeClr>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bg1">
                              <a:lumMod val="95000"/>
                            </a:schemeClr>
                          </a:solidFill>
                          <a:effectLst/>
                          <a:latin typeface="+mn-lt"/>
                          <a:ea typeface="楷体" pitchFamily="49" charset="-122"/>
                          <a:cs typeface="Times New Roman" pitchFamily="18" charset="0"/>
                        </a:rPr>
                        <a:t>scanf</a:t>
                      </a:r>
                      <a:endParaRPr kumimoji="1" lang="en-US" altLang="zh-CN" sz="2000" b="1" i="0" u="none" strike="noStrike" cap="none" normalizeH="0" baseline="0" dirty="0">
                        <a:ln>
                          <a:noFill/>
                        </a:ln>
                        <a:solidFill>
                          <a:schemeClr val="bg1">
                            <a:lumMod val="95000"/>
                          </a:schemeClr>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accent2"/>
                    </a:solidFill>
                  </a:tcPr>
                </a:tc>
                <a:extLst>
                  <a:ext uri="{0D108BD9-81ED-4DB2-BD59-A6C34878D82A}">
                    <a16:rowId xmlns:a16="http://schemas.microsoft.com/office/drawing/2014/main" val="10000"/>
                  </a:ext>
                </a:extLst>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输入的字符串中可包含空格字符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输入的字符串中不可包含空格字符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extLst>
                  <a:ext uri="{0D108BD9-81ED-4DB2-BD59-A6C34878D82A}">
                    <a16:rowId xmlns:a16="http://schemas.microsoft.com/office/drawing/2014/main" val="10001"/>
                  </a:ext>
                </a:extLst>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只能输入一个字符串</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可连续输入多个字符串（使用</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err="1">
                          <a:ln>
                            <a:noFill/>
                          </a:ln>
                          <a:solidFill>
                            <a:schemeClr val="tx1"/>
                          </a:solidFill>
                          <a:effectLst/>
                          <a:latin typeface="+mn-lt"/>
                          <a:ea typeface="楷体" pitchFamily="49" charset="-122"/>
                          <a:cs typeface="Times New Roman" pitchFamily="18" charset="0"/>
                        </a:rPr>
                        <a:t>s%s</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extLst>
                  <a:ext uri="{0D108BD9-81ED-4DB2-BD59-A6C34878D82A}">
                    <a16:rowId xmlns:a16="http://schemas.microsoft.com/office/drawing/2014/main" val="10002"/>
                  </a:ext>
                </a:extLst>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不可限定字符串的长度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可限定字符串的长度（使用</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%ns</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extLst>
                  <a:ext uri="{0D108BD9-81ED-4DB2-BD59-A6C34878D82A}">
                    <a16:rowId xmlns:a16="http://schemas.microsoft.com/office/drawing/2014/main" val="10003"/>
                  </a:ext>
                </a:extLst>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mn-lt"/>
                          <a:ea typeface="楷体" pitchFamily="49" charset="-122"/>
                          <a:cs typeface="Times New Roman" pitchFamily="18" charset="0"/>
                        </a:rPr>
                        <a:t>遇到回车符结束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遇到空格符或回车符结束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cell3D prstMaterial="dkEdge">
                      <a:bevel w="50800" prst="hardEdge"/>
                      <a:lightRig rig="flood" dir="t"/>
                    </a:cell3D>
                    <a:solidFill>
                      <a:schemeClr val="bg1">
                        <a:lumMod val="95000"/>
                      </a:schemeClr>
                    </a:solidFill>
                  </a:tcPr>
                </a:tc>
                <a:extLst>
                  <a:ext uri="{0D108BD9-81ED-4DB2-BD59-A6C34878D82A}">
                    <a16:rowId xmlns:a16="http://schemas.microsoft.com/office/drawing/2014/main" val="10004"/>
                  </a:ext>
                </a:extLst>
              </a:tr>
            </a:tbl>
          </a:graphicData>
        </a:graphic>
      </p:graphicFrame>
      <p:sp>
        <p:nvSpPr>
          <p:cNvPr id="9" name="Rectangle 4">
            <a:extLst>
              <a:ext uri="{FF2B5EF4-FFF2-40B4-BE49-F238E27FC236}">
                <a16:creationId xmlns:a16="http://schemas.microsoft.com/office/drawing/2014/main" id="{12665CC7-A21A-4E56-A903-A7D8C57292F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grpSp>
        <p:nvGrpSpPr>
          <p:cNvPr id="10" name="组合 9">
            <a:extLst>
              <a:ext uri="{FF2B5EF4-FFF2-40B4-BE49-F238E27FC236}">
                <a16:creationId xmlns:a16="http://schemas.microsoft.com/office/drawing/2014/main" id="{93C30BB0-6CFC-44F5-8A5D-C444890D152A}"/>
              </a:ext>
            </a:extLst>
          </p:cNvPr>
          <p:cNvGrpSpPr/>
          <p:nvPr/>
        </p:nvGrpSpPr>
        <p:grpSpPr>
          <a:xfrm>
            <a:off x="695325" y="967906"/>
            <a:ext cx="4104531" cy="630931"/>
            <a:chOff x="695400" y="1059424"/>
            <a:chExt cx="4104531" cy="630931"/>
          </a:xfrm>
        </p:grpSpPr>
        <p:grpSp>
          <p:nvGrpSpPr>
            <p:cNvPr id="11" name="组合 10">
              <a:extLst>
                <a:ext uri="{FF2B5EF4-FFF2-40B4-BE49-F238E27FC236}">
                  <a16:creationId xmlns:a16="http://schemas.microsoft.com/office/drawing/2014/main" id="{8441BE77-6244-4146-B869-747BE114C2A5}"/>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76F45F46-8875-4C22-881A-148585CCB50F}"/>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27F19706-13DC-4D8E-A530-83730462B53A}"/>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Text Box 5">
              <a:extLst>
                <a:ext uri="{FF2B5EF4-FFF2-40B4-BE49-F238E27FC236}">
                  <a16:creationId xmlns:a16="http://schemas.microsoft.com/office/drawing/2014/main" id="{B95FA4DB-C75B-439E-900D-CA4F0A1E7719}"/>
                </a:ext>
              </a:extLst>
            </p:cNvPr>
            <p:cNvSpPr txBox="1">
              <a:spLocks noChangeArrowheads="1"/>
            </p:cNvSpPr>
            <p:nvPr/>
          </p:nvSpPr>
          <p:spPr bwMode="auto">
            <a:xfrm>
              <a:off x="1502725" y="1167135"/>
              <a:ext cx="3297206"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en-US" altLang="zh-CN" sz="2800" b="1" dirty="0" err="1">
                  <a:solidFill>
                    <a:srgbClr val="00B0F0"/>
                  </a:solidFill>
                  <a:latin typeface="思源黑体 CN Heavy" panose="020B0A00000000000000" pitchFamily="34" charset="-122"/>
                  <a:ea typeface="思源黑体 CN Heavy" panose="020B0A00000000000000" pitchFamily="34" charset="-122"/>
                </a:rPr>
                <a:t>scanf</a:t>
              </a:r>
              <a:r>
                <a:rPr kumimoji="0" lang="zh-CN" altLang="en-US" sz="2800" b="1" dirty="0">
                  <a:solidFill>
                    <a:srgbClr val="00B0F0"/>
                  </a:solidFill>
                  <a:latin typeface="思源黑体 CN Heavy" panose="020B0A00000000000000" pitchFamily="34" charset="-122"/>
                  <a:ea typeface="思源黑体 CN Heavy" panose="020B0A00000000000000" pitchFamily="34" charset="-122"/>
                </a:rPr>
                <a:t>函数的使用：</a:t>
              </a:r>
            </a:p>
          </p:txBody>
        </p:sp>
      </p:grpSp>
    </p:spTree>
    <p:extLst>
      <p:ext uri="{BB962C8B-B14F-4D97-AF65-F5344CB8AC3E}">
        <p14:creationId xmlns:p14="http://schemas.microsoft.com/office/powerpoint/2010/main" val="2670115471"/>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03532"/>
                                        </p:tgtEl>
                                        <p:attrNameLst>
                                          <p:attrName>style.visibility</p:attrName>
                                        </p:attrNameLst>
                                      </p:cBhvr>
                                      <p:to>
                                        <p:strVal val="visible"/>
                                      </p:to>
                                    </p:set>
                                    <p:animEffect transition="in" filter="box(out)">
                                      <p:cBhvr>
                                        <p:cTn id="13" dur="500"/>
                                        <p:tgtEl>
                                          <p:spTgt spid="100353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03534"/>
                                        </p:tgtEl>
                                        <p:attrNameLst>
                                          <p:attrName>style.visibility</p:attrName>
                                        </p:attrNameLst>
                                      </p:cBhvr>
                                      <p:to>
                                        <p:strVal val="visible"/>
                                      </p:to>
                                    </p:set>
                                    <p:animEffect transition="in" filter="box(out)">
                                      <p:cBhvr>
                                        <p:cTn id="18" dur="500"/>
                                        <p:tgtEl>
                                          <p:spTgt spid="1003534"/>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003603"/>
                                        </p:tgtEl>
                                        <p:attrNameLst>
                                          <p:attrName>style.visibility</p:attrName>
                                        </p:attrNameLst>
                                      </p:cBhvr>
                                      <p:to>
                                        <p:strVal val="visible"/>
                                      </p:to>
                                    </p:set>
                                    <p:animEffect transition="in" filter="box(out)">
                                      <p:cBhvr>
                                        <p:cTn id="23" dur="500"/>
                                        <p:tgtEl>
                                          <p:spTgt spid="1003603"/>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32" grpId="0" animBg="1"/>
      <p:bldP spid="100353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60" name="Rectangle 16"/>
          <p:cNvSpPr>
            <a:spLocks noChangeArrowheads="1"/>
          </p:cNvSpPr>
          <p:nvPr/>
        </p:nvSpPr>
        <p:spPr bwMode="auto">
          <a:xfrm>
            <a:off x="1437310" y="3619456"/>
            <a:ext cx="1534394"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a:t>
            </a:r>
            <a:r>
              <a:rPr lang="en-US" altLang="zh-CN" b="1" dirty="0" err="1">
                <a:solidFill>
                  <a:srgbClr val="00B0F0"/>
                </a:solidFill>
                <a:latin typeface="+mn-lt"/>
                <a:ea typeface="楷体" pitchFamily="49" charset="-122"/>
              </a:rPr>
              <a:t>printf</a:t>
            </a:r>
            <a:r>
              <a:rPr lang="zh-CN" altLang="en-US" b="1" dirty="0">
                <a:solidFill>
                  <a:srgbClr val="00B0F0"/>
                </a:solidFill>
                <a:latin typeface="+mn-lt"/>
                <a:ea typeface="楷体" pitchFamily="49" charset="-122"/>
              </a:rPr>
              <a:t>函数</a:t>
            </a:r>
          </a:p>
        </p:txBody>
      </p:sp>
      <p:grpSp>
        <p:nvGrpSpPr>
          <p:cNvPr id="1004559" name="Group 15"/>
          <p:cNvGrpSpPr>
            <a:grpSpLocks/>
          </p:cNvGrpSpPr>
          <p:nvPr/>
        </p:nvGrpSpPr>
        <p:grpSpPr bwMode="auto">
          <a:xfrm>
            <a:off x="1923838" y="3938960"/>
            <a:ext cx="9751316" cy="1590675"/>
            <a:chOff x="567" y="2024"/>
            <a:chExt cx="5044" cy="1002"/>
          </a:xfrm>
          <a:solidFill>
            <a:schemeClr val="bg1"/>
          </a:solidFill>
          <a:effectLst>
            <a:outerShdw blurRad="50800" dist="106680" dir="2700000" algn="tl" rotWithShape="0">
              <a:prstClr val="black">
                <a:alpha val="43000"/>
              </a:prstClr>
            </a:outerShdw>
          </a:effectLst>
        </p:grpSpPr>
        <p:sp>
          <p:nvSpPr>
            <p:cNvPr id="1004552" name="Rectangle 8" descr="信纸"/>
            <p:cNvSpPr>
              <a:spLocks noChangeArrowheads="1"/>
            </p:cNvSpPr>
            <p:nvPr/>
          </p:nvSpPr>
          <p:spPr bwMode="auto">
            <a:xfrm>
              <a:off x="567" y="2024"/>
              <a:ext cx="5044" cy="1002"/>
            </a:xfrm>
            <a:prstGeom prst="rect">
              <a:avLst/>
            </a:prstGeom>
            <a:grpFill/>
            <a:ln w="38100">
              <a:solidFill>
                <a:srgbClr val="00206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char  </a:t>
              </a:r>
              <a:r>
                <a:rPr lang="en-US" altLang="zh-CN" b="1" dirty="0" err="1">
                  <a:latin typeface="+mn-lt"/>
                  <a:ea typeface="楷体" pitchFamily="49" charset="-122"/>
                </a:rPr>
                <a:t>str</a:t>
              </a:r>
              <a:r>
                <a:rPr lang="en-US" altLang="zh-CN" b="1" dirty="0">
                  <a:latin typeface="+mn-lt"/>
                  <a:ea typeface="楷体" pitchFamily="49" charset="-122"/>
                </a:rPr>
                <a:t>[ ] = "I love china! ";</a:t>
              </a:r>
            </a:p>
            <a:p>
              <a:r>
                <a:rPr lang="en-US" altLang="zh-CN" b="1" dirty="0">
                  <a:latin typeface="+mn-lt"/>
                  <a:ea typeface="楷体" pitchFamily="49" charset="-122"/>
                </a:rPr>
                <a:t>    puts (</a:t>
              </a:r>
              <a:r>
                <a:rPr lang="en-US" altLang="zh-CN" b="1" dirty="0" err="1">
                  <a:latin typeface="+mn-lt"/>
                  <a:ea typeface="楷体" pitchFamily="49" charset="-122"/>
                </a:rPr>
                <a:t>str</a:t>
              </a:r>
              <a:r>
                <a:rPr lang="en-US" altLang="zh-CN" b="1" dirty="0">
                  <a:latin typeface="+mn-lt"/>
                  <a:ea typeface="楷体" pitchFamily="49" charset="-122"/>
                </a:rPr>
                <a:t>);</a:t>
              </a:r>
            </a:p>
            <a:p>
              <a:r>
                <a:rPr lang="en-US" altLang="zh-CN" b="1" dirty="0">
                  <a:latin typeface="+mn-lt"/>
                  <a:ea typeface="楷体" pitchFamily="49" charset="-122"/>
                </a:rPr>
                <a:t>    puts ("I love </a:t>
              </a:r>
              <a:r>
                <a:rPr lang="en-US" altLang="zh-CN" b="1" dirty="0" err="1">
                  <a:latin typeface="+mn-lt"/>
                  <a:ea typeface="楷体" pitchFamily="49" charset="-122"/>
                </a:rPr>
                <a:t>wuhan</a:t>
              </a:r>
              <a:r>
                <a:rPr lang="en-US" altLang="zh-CN" b="1" dirty="0">
                  <a:latin typeface="+mn-lt"/>
                  <a:ea typeface="楷体" pitchFamily="49" charset="-122"/>
                </a:rPr>
                <a:t>! ");   </a:t>
              </a:r>
            </a:p>
          </p:txBody>
        </p:sp>
        <p:sp>
          <p:nvSpPr>
            <p:cNvPr id="1004558" name="Text Box 14"/>
            <p:cNvSpPr txBox="1">
              <a:spLocks noChangeArrowheads="1"/>
            </p:cNvSpPr>
            <p:nvPr/>
          </p:nvSpPr>
          <p:spPr bwMode="auto">
            <a:xfrm>
              <a:off x="3835" y="2130"/>
              <a:ext cx="1588" cy="772"/>
            </a:xfrm>
            <a:prstGeom prst="rect">
              <a:avLst/>
            </a:prstGeom>
            <a:gradFill>
              <a:gsLst>
                <a:gs pos="0">
                  <a:srgbClr val="CFCFD1"/>
                </a:gs>
                <a:gs pos="100000">
                  <a:schemeClr val="bg1">
                    <a:lumMod val="95000"/>
                  </a:schemeClr>
                </a:gs>
              </a:gsLst>
              <a:lin ang="135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C01920"/>
                  </a:solidFill>
                  <a:latin typeface="隶书" pitchFamily="49" charset="-122"/>
                  <a:ea typeface="隶书" pitchFamily="49" charset="-122"/>
                </a:rPr>
                <a:t>输出结果</a:t>
              </a:r>
              <a:r>
                <a:rPr lang="en-US" altLang="zh-CN" b="1" dirty="0">
                  <a:solidFill>
                    <a:srgbClr val="C01920"/>
                  </a:solidFill>
                  <a:latin typeface="隶书" pitchFamily="49" charset="-122"/>
                  <a:ea typeface="隶书" pitchFamily="49" charset="-122"/>
                </a:rPr>
                <a:t>:</a:t>
              </a:r>
            </a:p>
            <a:p>
              <a:r>
                <a:rPr lang="en-US" altLang="zh-CN" b="1" dirty="0">
                  <a:solidFill>
                    <a:srgbClr val="002060"/>
                  </a:solidFill>
                </a:rPr>
                <a:t>I love </a:t>
              </a:r>
              <a:r>
                <a:rPr lang="en-US" altLang="zh-CN" b="1" dirty="0" err="1">
                  <a:solidFill>
                    <a:srgbClr val="002060"/>
                  </a:solidFill>
                </a:rPr>
                <a:t>china</a:t>
              </a:r>
              <a:r>
                <a:rPr lang="en-US" altLang="zh-CN" b="1" dirty="0">
                  <a:solidFill>
                    <a:srgbClr val="002060"/>
                  </a:solidFill>
                </a:rPr>
                <a:t>!</a:t>
              </a:r>
            </a:p>
            <a:p>
              <a:r>
                <a:rPr lang="en-US" altLang="zh-CN" b="1" dirty="0">
                  <a:solidFill>
                    <a:srgbClr val="002060"/>
                  </a:solidFill>
                </a:rPr>
                <a:t>I love </a:t>
              </a:r>
              <a:r>
                <a:rPr lang="en-US" altLang="zh-CN" b="1" dirty="0" err="1">
                  <a:solidFill>
                    <a:srgbClr val="002060"/>
                  </a:solidFill>
                </a:rPr>
                <a:t>wuhan</a:t>
              </a:r>
              <a:r>
                <a:rPr lang="en-US" altLang="zh-CN" b="1" dirty="0">
                  <a:solidFill>
                    <a:srgbClr val="002060"/>
                  </a:solidFill>
                </a:rPr>
                <a:t>!</a:t>
              </a:r>
            </a:p>
          </p:txBody>
        </p:sp>
      </p:grpSp>
      <p:sp>
        <p:nvSpPr>
          <p:cNvPr id="1004550" name="Rectangle 6"/>
          <p:cNvSpPr>
            <a:spLocks noChangeArrowheads="1"/>
          </p:cNvSpPr>
          <p:nvPr/>
        </p:nvSpPr>
        <p:spPr bwMode="auto">
          <a:xfrm>
            <a:off x="1121397" y="1489031"/>
            <a:ext cx="1826141"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字符串的输出</a:t>
            </a:r>
          </a:p>
        </p:txBody>
      </p:sp>
      <p:sp>
        <p:nvSpPr>
          <p:cNvPr id="1004551" name="Text Box 7"/>
          <p:cNvSpPr txBox="1">
            <a:spLocks noChangeArrowheads="1"/>
          </p:cNvSpPr>
          <p:nvPr/>
        </p:nvSpPr>
        <p:spPr bwMode="auto">
          <a:xfrm>
            <a:off x="1217950" y="2298951"/>
            <a:ext cx="9756100" cy="923330"/>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ea typeface="隶书" pitchFamily="49" charset="-122"/>
              </a:rPr>
              <a:t>格式：</a:t>
            </a:r>
            <a:r>
              <a:rPr lang="en-US" altLang="zh-CN" b="1" dirty="0">
                <a:solidFill>
                  <a:srgbClr val="002060"/>
                </a:solidFill>
                <a:ea typeface="隶书" pitchFamily="49" charset="-122"/>
              </a:rPr>
              <a:t>puts</a:t>
            </a:r>
            <a:r>
              <a:rPr lang="en-US" altLang="zh-CN" b="1" dirty="0">
                <a:ea typeface="隶书" pitchFamily="49" charset="-122"/>
              </a:rPr>
              <a:t>(</a:t>
            </a:r>
            <a:r>
              <a:rPr lang="zh-CN" altLang="zh-CN" b="1" dirty="0">
                <a:ea typeface="隶书" pitchFamily="49" charset="-122"/>
              </a:rPr>
              <a:t>字符串地址)</a:t>
            </a:r>
            <a:r>
              <a:rPr lang="en-US" altLang="zh-CN" b="1" dirty="0">
                <a:ea typeface="隶书" pitchFamily="49" charset="-122"/>
              </a:rPr>
              <a:t>                              </a:t>
            </a:r>
            <a:r>
              <a:rPr lang="en-US" altLang="zh-CN" b="1" dirty="0">
                <a:solidFill>
                  <a:srgbClr val="CC0099"/>
                </a:solidFill>
                <a:ea typeface="隶书" pitchFamily="49" charset="-122"/>
              </a:rPr>
              <a:t>//</a:t>
            </a:r>
            <a:r>
              <a:rPr lang="zh-CN" altLang="en-US" b="1" dirty="0">
                <a:solidFill>
                  <a:srgbClr val="CC0099"/>
                </a:solidFill>
                <a:ea typeface="隶书" pitchFamily="49" charset="-122"/>
              </a:rPr>
              <a:t>应包含的</a:t>
            </a:r>
            <a:r>
              <a:rPr lang="en-US" altLang="zh-CN" b="1" dirty="0">
                <a:solidFill>
                  <a:srgbClr val="CC0099"/>
                </a:solidFill>
                <a:ea typeface="隶书" pitchFamily="49" charset="-122"/>
              </a:rPr>
              <a:t>.h</a:t>
            </a:r>
            <a:r>
              <a:rPr lang="zh-CN" altLang="en-US" b="1" dirty="0">
                <a:solidFill>
                  <a:srgbClr val="CC0099"/>
                </a:solidFill>
                <a:ea typeface="隶书" pitchFamily="49" charset="-122"/>
              </a:rPr>
              <a:t>文件为</a:t>
            </a:r>
            <a:r>
              <a:rPr lang="en-US" altLang="zh-CN" b="1" dirty="0" err="1">
                <a:solidFill>
                  <a:srgbClr val="CC0099"/>
                </a:solidFill>
                <a:ea typeface="隶书" pitchFamily="49" charset="-122"/>
              </a:rPr>
              <a:t>stdio.h</a:t>
            </a:r>
            <a:r>
              <a:rPr lang="en-US" altLang="zh-CN" dirty="0"/>
              <a:t> </a:t>
            </a:r>
            <a:endParaRPr lang="zh-CN" altLang="zh-CN" b="1" dirty="0">
              <a:ea typeface="隶书" pitchFamily="49" charset="-122"/>
            </a:endParaRPr>
          </a:p>
          <a:p>
            <a:r>
              <a:rPr lang="zh-CN" altLang="zh-CN" b="1" dirty="0">
                <a:latin typeface="隶书" pitchFamily="49" charset="-122"/>
                <a:ea typeface="隶书" pitchFamily="49" charset="-122"/>
              </a:rPr>
              <a:t>功能：向显示器输出字符串（</a:t>
            </a:r>
            <a:r>
              <a:rPr lang="zh-CN" altLang="zh-CN" b="1" dirty="0">
                <a:solidFill>
                  <a:srgbClr val="CC0066"/>
                </a:solidFill>
                <a:latin typeface="隶书" pitchFamily="49" charset="-122"/>
                <a:ea typeface="隶书" pitchFamily="49" charset="-122"/>
              </a:rPr>
              <a:t>输出完，换行</a:t>
            </a:r>
            <a:r>
              <a:rPr lang="zh-CN" altLang="zh-CN" b="1" dirty="0">
                <a:latin typeface="隶书" pitchFamily="49" charset="-122"/>
                <a:ea typeface="隶书" pitchFamily="49" charset="-122"/>
              </a:rPr>
              <a:t>）</a:t>
            </a:r>
          </a:p>
          <a:p>
            <a:r>
              <a:rPr lang="zh-CN" altLang="en-US" b="1" dirty="0">
                <a:latin typeface="隶书" pitchFamily="49" charset="-122"/>
                <a:ea typeface="隶书" pitchFamily="49" charset="-122"/>
              </a:rPr>
              <a:t>说明：如果是字符数组，则必须</a:t>
            </a:r>
            <a:r>
              <a:rPr lang="zh-CN" altLang="en-US" b="1" dirty="0">
                <a:solidFill>
                  <a:srgbClr val="CC0066"/>
                </a:solidFill>
                <a:latin typeface="隶书" pitchFamily="49" charset="-122"/>
                <a:ea typeface="隶书" pitchFamily="49" charset="-122"/>
              </a:rPr>
              <a:t>以</a:t>
            </a:r>
            <a:r>
              <a:rPr lang="en-US" altLang="zh-CN" b="1" dirty="0">
                <a:solidFill>
                  <a:srgbClr val="CC0066"/>
                </a:solidFill>
                <a:latin typeface="隶书" pitchFamily="49" charset="-122"/>
                <a:ea typeface="隶书" pitchFamily="49" charset="-122"/>
              </a:rPr>
              <a:t>‘\0’</a:t>
            </a:r>
            <a:r>
              <a:rPr lang="zh-CN" altLang="en-US" b="1" dirty="0">
                <a:solidFill>
                  <a:srgbClr val="CC0066"/>
                </a:solidFill>
                <a:latin typeface="隶书" pitchFamily="49" charset="-122"/>
                <a:ea typeface="隶书" pitchFamily="49" charset="-122"/>
              </a:rPr>
              <a:t>结束</a:t>
            </a:r>
            <a:r>
              <a:rPr lang="en-US" altLang="zh-CN" b="1" dirty="0">
                <a:solidFill>
                  <a:srgbClr val="CC0066"/>
                </a:solidFill>
                <a:latin typeface="隶书" pitchFamily="49" charset="-122"/>
                <a:ea typeface="隶书" pitchFamily="49" charset="-122"/>
              </a:rPr>
              <a:t>(</a:t>
            </a:r>
            <a:r>
              <a:rPr lang="zh-CN" altLang="en-US" b="1" dirty="0">
                <a:solidFill>
                  <a:srgbClr val="CC0066"/>
                </a:solidFill>
                <a:latin typeface="隶书" pitchFamily="49" charset="-122"/>
                <a:ea typeface="隶书" pitchFamily="49" charset="-122"/>
              </a:rPr>
              <a:t>将</a:t>
            </a:r>
            <a:r>
              <a:rPr lang="en-US" altLang="zh-CN" b="1" dirty="0">
                <a:solidFill>
                  <a:srgbClr val="CC0066"/>
                </a:solidFill>
                <a:latin typeface="隶书" pitchFamily="49" charset="-122"/>
                <a:ea typeface="隶书" pitchFamily="49" charset="-122"/>
              </a:rPr>
              <a:t>‘\0’</a:t>
            </a:r>
            <a:r>
              <a:rPr lang="zh-CN" altLang="en-US" b="1" dirty="0">
                <a:solidFill>
                  <a:srgbClr val="CC0066"/>
                </a:solidFill>
                <a:latin typeface="隶书" pitchFamily="49" charset="-122"/>
                <a:ea typeface="隶书" pitchFamily="49" charset="-122"/>
              </a:rPr>
              <a:t>转换为</a:t>
            </a:r>
            <a:r>
              <a:rPr lang="en-US" altLang="zh-CN" b="1" dirty="0">
                <a:solidFill>
                  <a:srgbClr val="CC0066"/>
                </a:solidFill>
                <a:latin typeface="隶书" pitchFamily="49" charset="-122"/>
                <a:ea typeface="隶书" pitchFamily="49" charset="-122"/>
              </a:rPr>
              <a:t>‘\n’)</a:t>
            </a:r>
            <a:endParaRPr lang="zh-CN" altLang="en-US" b="1" dirty="0">
              <a:solidFill>
                <a:srgbClr val="CC0066"/>
              </a:solidFill>
              <a:latin typeface="隶书" pitchFamily="49" charset="-122"/>
              <a:ea typeface="隶书" pitchFamily="49" charset="-122"/>
            </a:endParaRPr>
          </a:p>
        </p:txBody>
      </p:sp>
      <p:sp>
        <p:nvSpPr>
          <p:cNvPr id="1004553" name="Rectangle 9"/>
          <p:cNvSpPr>
            <a:spLocks noChangeArrowheads="1"/>
          </p:cNvSpPr>
          <p:nvPr/>
        </p:nvSpPr>
        <p:spPr bwMode="auto">
          <a:xfrm>
            <a:off x="1437310" y="1890669"/>
            <a:ext cx="1407758"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puts</a:t>
            </a:r>
            <a:r>
              <a:rPr lang="zh-CN" altLang="en-US" b="1" dirty="0">
                <a:solidFill>
                  <a:srgbClr val="00B0F0"/>
                </a:solidFill>
                <a:latin typeface="+mn-lt"/>
                <a:ea typeface="楷体" pitchFamily="49" charset="-122"/>
              </a:rPr>
              <a:t>函数</a:t>
            </a:r>
          </a:p>
        </p:txBody>
      </p:sp>
      <p:sp>
        <p:nvSpPr>
          <p:cNvPr id="1004561" name="Text Box 17"/>
          <p:cNvSpPr txBox="1">
            <a:spLocks noChangeArrowheads="1"/>
          </p:cNvSpPr>
          <p:nvPr/>
        </p:nvSpPr>
        <p:spPr bwMode="auto">
          <a:xfrm>
            <a:off x="1936034" y="4034955"/>
            <a:ext cx="9751316" cy="1225550"/>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ea typeface="隶书" pitchFamily="49" charset="-122"/>
              </a:rPr>
              <a:t>格式：</a:t>
            </a:r>
            <a:r>
              <a:rPr lang="en-US" altLang="zh-CN" b="1" dirty="0" err="1">
                <a:solidFill>
                  <a:srgbClr val="002060"/>
                </a:solidFill>
                <a:ea typeface="隶书" pitchFamily="49" charset="-122"/>
              </a:rPr>
              <a:t>printf</a:t>
            </a:r>
            <a:r>
              <a:rPr lang="en-US" altLang="zh-CN" b="1" dirty="0">
                <a:ea typeface="隶书" pitchFamily="49" charset="-122"/>
              </a:rPr>
              <a:t>(</a:t>
            </a:r>
            <a:r>
              <a:rPr lang="en-US" altLang="zh-CN" b="1" dirty="0"/>
              <a:t>"</a:t>
            </a:r>
            <a:r>
              <a:rPr lang="en-US" altLang="zh-CN" b="1" dirty="0">
                <a:ea typeface="隶书" pitchFamily="49" charset="-122"/>
              </a:rPr>
              <a:t>%s</a:t>
            </a:r>
            <a:r>
              <a:rPr lang="en-US" altLang="zh-CN" b="1" dirty="0"/>
              <a:t>"</a:t>
            </a:r>
            <a:r>
              <a:rPr lang="en-US" altLang="zh-CN" b="1" dirty="0">
                <a:ea typeface="隶书" pitchFamily="49" charset="-122"/>
              </a:rPr>
              <a:t>, </a:t>
            </a:r>
            <a:r>
              <a:rPr lang="zh-CN" altLang="zh-CN" b="1" dirty="0">
                <a:ea typeface="隶书" pitchFamily="49" charset="-122"/>
              </a:rPr>
              <a:t>字符串地址)</a:t>
            </a:r>
            <a:r>
              <a:rPr lang="en-US" altLang="zh-CN" b="1" dirty="0">
                <a:ea typeface="隶书" pitchFamily="49" charset="-122"/>
              </a:rPr>
              <a:t>                </a:t>
            </a:r>
            <a:r>
              <a:rPr lang="en-US" altLang="zh-CN" b="1" dirty="0">
                <a:solidFill>
                  <a:srgbClr val="CC0099"/>
                </a:solidFill>
                <a:ea typeface="隶书" pitchFamily="49" charset="-122"/>
              </a:rPr>
              <a:t>//</a:t>
            </a:r>
            <a:r>
              <a:rPr lang="zh-CN" altLang="en-US" b="1" dirty="0">
                <a:solidFill>
                  <a:srgbClr val="CC0099"/>
                </a:solidFill>
                <a:ea typeface="隶书" pitchFamily="49" charset="-122"/>
              </a:rPr>
              <a:t>应包含的</a:t>
            </a:r>
            <a:r>
              <a:rPr lang="en-US" altLang="zh-CN" b="1" dirty="0">
                <a:solidFill>
                  <a:srgbClr val="CC0099"/>
                </a:solidFill>
                <a:ea typeface="隶书" pitchFamily="49" charset="-122"/>
              </a:rPr>
              <a:t>.h</a:t>
            </a:r>
            <a:r>
              <a:rPr lang="zh-CN" altLang="en-US" b="1" dirty="0">
                <a:solidFill>
                  <a:srgbClr val="CC0099"/>
                </a:solidFill>
                <a:ea typeface="隶书" pitchFamily="49" charset="-122"/>
              </a:rPr>
              <a:t>文件为</a:t>
            </a:r>
            <a:r>
              <a:rPr lang="en-US" altLang="zh-CN" b="1" dirty="0" err="1">
                <a:solidFill>
                  <a:srgbClr val="CC0099"/>
                </a:solidFill>
                <a:ea typeface="隶书" pitchFamily="49" charset="-122"/>
              </a:rPr>
              <a:t>stdio.h</a:t>
            </a:r>
            <a:r>
              <a:rPr lang="en-US" altLang="zh-CN" dirty="0"/>
              <a:t> </a:t>
            </a:r>
            <a:endParaRPr lang="zh-CN" altLang="zh-CN" b="1" dirty="0">
              <a:ea typeface="隶书" pitchFamily="49" charset="-122"/>
            </a:endParaRPr>
          </a:p>
          <a:p>
            <a:pPr eaLnBrk="0" hangingPunct="0">
              <a:buClr>
                <a:schemeClr val="accent1"/>
              </a:buClr>
              <a:buFont typeface="Wingdings" pitchFamily="2" charset="2"/>
              <a:buNone/>
            </a:pPr>
            <a:r>
              <a:rPr lang="zh-CN" altLang="zh-CN" b="1" dirty="0">
                <a:ea typeface="隶书" pitchFamily="49" charset="-122"/>
              </a:rPr>
              <a:t>功能：</a:t>
            </a:r>
            <a:r>
              <a:rPr lang="zh-CN" altLang="en-US" b="1" dirty="0">
                <a:latin typeface="隶书" pitchFamily="49" charset="-122"/>
                <a:ea typeface="隶书" pitchFamily="49" charset="-122"/>
              </a:rPr>
              <a:t>依次输出字符串中的每个字符直到遇到字符</a:t>
            </a:r>
            <a:r>
              <a:rPr lang="en-US" altLang="zh-CN" b="1" dirty="0"/>
              <a:t>'</a:t>
            </a:r>
            <a:r>
              <a:rPr lang="en-US" altLang="zh-CN" b="1" dirty="0">
                <a:latin typeface="隶书" pitchFamily="49" charset="-122"/>
                <a:ea typeface="隶书" pitchFamily="49" charset="-122"/>
              </a:rPr>
              <a:t>\0</a:t>
            </a:r>
            <a:r>
              <a:rPr lang="en-US" altLang="zh-CN" b="1" dirty="0"/>
              <a:t>'</a:t>
            </a:r>
          </a:p>
          <a:p>
            <a:pPr eaLnBrk="0" hangingPunct="0">
              <a:buClr>
                <a:schemeClr val="accent1"/>
              </a:buClr>
              <a:buFont typeface="Wingdings" pitchFamily="2" charset="2"/>
              <a:buNone/>
            </a:pPr>
            <a:r>
              <a:rPr lang="en-US" altLang="zh-CN" b="1" dirty="0">
                <a:latin typeface="隶书" pitchFamily="49" charset="-122"/>
                <a:ea typeface="隶书" pitchFamily="49" charset="-122"/>
              </a:rPr>
              <a:t>     </a:t>
            </a:r>
            <a:r>
              <a:rPr lang="zh-CN" altLang="en-US" b="1" dirty="0">
                <a:latin typeface="隶书" pitchFamily="49" charset="-122"/>
                <a:ea typeface="隶书" pitchFamily="49" charset="-122"/>
              </a:rPr>
              <a:t>（</a:t>
            </a:r>
            <a:r>
              <a:rPr lang="en-US" altLang="zh-CN" b="1" dirty="0">
                <a:solidFill>
                  <a:srgbClr val="CC0066"/>
                </a:solidFill>
              </a:rPr>
              <a:t>'</a:t>
            </a:r>
            <a:r>
              <a:rPr lang="en-US" altLang="zh-CN" b="1" dirty="0">
                <a:solidFill>
                  <a:srgbClr val="CC0066"/>
                </a:solidFill>
                <a:latin typeface="隶书" pitchFamily="49" charset="-122"/>
                <a:ea typeface="隶书" pitchFamily="49" charset="-122"/>
              </a:rPr>
              <a:t>\0</a:t>
            </a:r>
            <a:r>
              <a:rPr lang="en-US" altLang="zh-CN" b="1" dirty="0">
                <a:solidFill>
                  <a:srgbClr val="CC0066"/>
                </a:solidFill>
              </a:rPr>
              <a:t>'</a:t>
            </a:r>
            <a:r>
              <a:rPr lang="zh-CN" altLang="en-US" b="1" dirty="0">
                <a:solidFill>
                  <a:srgbClr val="CC0066"/>
                </a:solidFill>
                <a:latin typeface="隶书" pitchFamily="49" charset="-122"/>
                <a:ea typeface="隶书" pitchFamily="49" charset="-122"/>
              </a:rPr>
              <a:t>不会被输出</a:t>
            </a:r>
            <a:r>
              <a:rPr lang="zh-CN" altLang="en-US" b="1" dirty="0">
                <a:latin typeface="隶书" pitchFamily="49" charset="-122"/>
                <a:ea typeface="隶书" pitchFamily="49" charset="-122"/>
              </a:rPr>
              <a:t>）</a:t>
            </a:r>
          </a:p>
        </p:txBody>
      </p:sp>
      <p:sp>
        <p:nvSpPr>
          <p:cNvPr id="1004563" name="Rectangle 19" descr="信纸"/>
          <p:cNvSpPr>
            <a:spLocks noChangeArrowheads="1"/>
          </p:cNvSpPr>
          <p:nvPr/>
        </p:nvSpPr>
        <p:spPr bwMode="auto">
          <a:xfrm>
            <a:off x="1936034" y="4842631"/>
            <a:ext cx="6019578" cy="195580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楷体" panose="02010609060101010101" pitchFamily="49" charset="-122"/>
                <a:ea typeface="楷体" panose="02010609060101010101" pitchFamily="49" charset="-122"/>
              </a:rPr>
              <a:t>例：</a:t>
            </a:r>
          </a:p>
          <a:p>
            <a:r>
              <a:rPr lang="zh-CN" altLang="en-US" b="1" dirty="0">
                <a:solidFill>
                  <a:srgbClr val="FF0000"/>
                </a:solidFill>
                <a:ea typeface="楷体_GB2312" pitchFamily="49" charset="-122"/>
              </a:rPr>
              <a:t>    </a:t>
            </a:r>
            <a:r>
              <a:rPr lang="en-US" altLang="zh-CN" b="1" dirty="0"/>
              <a:t>char  name[ ] = "John Smith";</a:t>
            </a:r>
          </a:p>
          <a:p>
            <a:r>
              <a:rPr lang="en-US" altLang="zh-CN" b="1" dirty="0"/>
              <a:t>    </a:t>
            </a:r>
            <a:r>
              <a:rPr lang="en-US" altLang="zh-CN" b="1" dirty="0" err="1"/>
              <a:t>printf</a:t>
            </a:r>
            <a:r>
              <a:rPr lang="en-US" altLang="zh-CN" b="1" dirty="0"/>
              <a:t> ("The name is: %s\n", name); </a:t>
            </a:r>
          </a:p>
          <a:p>
            <a:r>
              <a:rPr lang="en-US" altLang="zh-CN" b="1" dirty="0"/>
              <a:t>    </a:t>
            </a:r>
            <a:r>
              <a:rPr lang="en-US" altLang="zh-CN" b="1" dirty="0" err="1"/>
              <a:t>printf</a:t>
            </a:r>
            <a:r>
              <a:rPr lang="en-US" altLang="zh-CN" b="1" dirty="0"/>
              <a:t> ("Last name is: %s\n", &amp;name[5]); </a:t>
            </a:r>
          </a:p>
          <a:p>
            <a:r>
              <a:rPr lang="en-US" altLang="zh-CN" b="1" dirty="0"/>
              <a:t>    </a:t>
            </a:r>
            <a:r>
              <a:rPr lang="en-US" altLang="zh-CN" b="1" dirty="0" err="1"/>
              <a:t>printf</a:t>
            </a:r>
            <a:r>
              <a:rPr lang="en-US" altLang="zh-CN" b="1" dirty="0"/>
              <a:t> ("First name is: %s\n", "John");</a:t>
            </a:r>
          </a:p>
        </p:txBody>
      </p:sp>
      <p:sp>
        <p:nvSpPr>
          <p:cNvPr id="1004564" name="Text Box 20"/>
          <p:cNvSpPr txBox="1">
            <a:spLocks noChangeArrowheads="1"/>
          </p:cNvSpPr>
          <p:nvPr/>
        </p:nvSpPr>
        <p:spPr bwMode="auto">
          <a:xfrm>
            <a:off x="8037357" y="5176865"/>
            <a:ext cx="3522065" cy="15906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输出结果</a:t>
            </a:r>
            <a:r>
              <a:rPr lang="en-US" altLang="zh-CN" b="1" dirty="0">
                <a:solidFill>
                  <a:srgbClr val="C01920"/>
                </a:solidFill>
                <a:latin typeface="隶书" pitchFamily="49" charset="-122"/>
                <a:ea typeface="隶书" pitchFamily="49" charset="-122"/>
              </a:rPr>
              <a:t>:</a:t>
            </a:r>
          </a:p>
          <a:p>
            <a:r>
              <a:rPr lang="en-US" altLang="zh-CN" b="1" dirty="0">
                <a:solidFill>
                  <a:srgbClr val="002060"/>
                </a:solidFill>
              </a:rPr>
              <a:t>The name is: John Smith</a:t>
            </a:r>
          </a:p>
          <a:p>
            <a:r>
              <a:rPr lang="en-US" altLang="zh-CN" b="1" dirty="0">
                <a:solidFill>
                  <a:srgbClr val="002060"/>
                </a:solidFill>
              </a:rPr>
              <a:t>Last name is: Smith</a:t>
            </a:r>
          </a:p>
          <a:p>
            <a:r>
              <a:rPr lang="en-US" altLang="zh-CN" b="1" dirty="0">
                <a:solidFill>
                  <a:srgbClr val="002060"/>
                </a:solidFill>
              </a:rPr>
              <a:t>First name is: John</a:t>
            </a:r>
          </a:p>
        </p:txBody>
      </p:sp>
      <p:sp>
        <p:nvSpPr>
          <p:cNvPr id="16" name="Rectangle 2">
            <a:extLst>
              <a:ext uri="{FF2B5EF4-FFF2-40B4-BE49-F238E27FC236}">
                <a16:creationId xmlns:a16="http://schemas.microsoft.com/office/drawing/2014/main" id="{391E81D2-32CC-47BF-9401-D99237BFC035}"/>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3</a:t>
            </a:r>
            <a:r>
              <a:rPr lang="zh-CN" altLang="en-US" sz="2800" b="1" dirty="0">
                <a:solidFill>
                  <a:srgbClr val="00B0F0"/>
                </a:solidFill>
                <a:latin typeface="+mn-lt"/>
                <a:ea typeface="楷体" pitchFamily="49" charset="-122"/>
              </a:rPr>
              <a:t>、字符及字符串操作的常用函数</a:t>
            </a:r>
            <a:r>
              <a:rPr lang="zh-CN" altLang="en-US" sz="2800" dirty="0">
                <a:solidFill>
                  <a:srgbClr val="00B0F0"/>
                </a:solidFill>
                <a:latin typeface="+mn-lt"/>
                <a:ea typeface="楷体" pitchFamily="49" charset="-122"/>
              </a:rPr>
              <a:t> </a:t>
            </a:r>
          </a:p>
        </p:txBody>
      </p:sp>
      <p:sp>
        <p:nvSpPr>
          <p:cNvPr id="17" name="Rectangle 4">
            <a:extLst>
              <a:ext uri="{FF2B5EF4-FFF2-40B4-BE49-F238E27FC236}">
                <a16:creationId xmlns:a16="http://schemas.microsoft.com/office/drawing/2014/main" id="{FD872178-6B19-44B3-AC1C-63981B34512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2001571259"/>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4550"/>
                                        </p:tgtEl>
                                        <p:attrNameLst>
                                          <p:attrName>style.visibility</p:attrName>
                                        </p:attrNameLst>
                                      </p:cBhvr>
                                      <p:to>
                                        <p:strVal val="visible"/>
                                      </p:to>
                                    </p:set>
                                    <p:anim calcmode="lin" valueType="num">
                                      <p:cBhvr additive="base">
                                        <p:cTn id="7" dur="500" fill="hold"/>
                                        <p:tgtEl>
                                          <p:spTgt spid="1004550"/>
                                        </p:tgtEl>
                                        <p:attrNameLst>
                                          <p:attrName>ppt_x</p:attrName>
                                        </p:attrNameLst>
                                      </p:cBhvr>
                                      <p:tavLst>
                                        <p:tav tm="0">
                                          <p:val>
                                            <p:strVal val="0-#ppt_w/2"/>
                                          </p:val>
                                        </p:tav>
                                        <p:tav tm="100000">
                                          <p:val>
                                            <p:strVal val="#ppt_x"/>
                                          </p:val>
                                        </p:tav>
                                      </p:tavLst>
                                    </p:anim>
                                    <p:anim calcmode="lin" valueType="num">
                                      <p:cBhvr additive="base">
                                        <p:cTn id="8" dur="500" fill="hold"/>
                                        <p:tgtEl>
                                          <p:spTgt spid="100455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4553"/>
                                        </p:tgtEl>
                                        <p:attrNameLst>
                                          <p:attrName>style.visibility</p:attrName>
                                        </p:attrNameLst>
                                      </p:cBhvr>
                                      <p:to>
                                        <p:strVal val="visible"/>
                                      </p:to>
                                    </p:set>
                                    <p:anim calcmode="lin" valueType="num">
                                      <p:cBhvr additive="base">
                                        <p:cTn id="13" dur="500" fill="hold"/>
                                        <p:tgtEl>
                                          <p:spTgt spid="1004553"/>
                                        </p:tgtEl>
                                        <p:attrNameLst>
                                          <p:attrName>ppt_x</p:attrName>
                                        </p:attrNameLst>
                                      </p:cBhvr>
                                      <p:tavLst>
                                        <p:tav tm="0">
                                          <p:val>
                                            <p:strVal val="0-#ppt_w/2"/>
                                          </p:val>
                                        </p:tav>
                                        <p:tav tm="100000">
                                          <p:val>
                                            <p:strVal val="#ppt_x"/>
                                          </p:val>
                                        </p:tav>
                                      </p:tavLst>
                                    </p:anim>
                                    <p:anim calcmode="lin" valueType="num">
                                      <p:cBhvr additive="base">
                                        <p:cTn id="14" dur="500" fill="hold"/>
                                        <p:tgtEl>
                                          <p:spTgt spid="100455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4551"/>
                                        </p:tgtEl>
                                        <p:attrNameLst>
                                          <p:attrName>style.visibility</p:attrName>
                                        </p:attrNameLst>
                                      </p:cBhvr>
                                      <p:to>
                                        <p:strVal val="visible"/>
                                      </p:to>
                                    </p:set>
                                    <p:animEffect transition="in" filter="box(out)">
                                      <p:cBhvr>
                                        <p:cTn id="19" dur="500"/>
                                        <p:tgtEl>
                                          <p:spTgt spid="1004551"/>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1004559"/>
                                        </p:tgtEl>
                                        <p:attrNameLst>
                                          <p:attrName>style.visibility</p:attrName>
                                        </p:attrNameLst>
                                      </p:cBhvr>
                                      <p:to>
                                        <p:strVal val="visible"/>
                                      </p:to>
                                    </p:set>
                                    <p:animEffect transition="in" filter="box(out)">
                                      <p:cBhvr>
                                        <p:cTn id="24" dur="500"/>
                                        <p:tgtEl>
                                          <p:spTgt spid="1004559"/>
                                        </p:tgtEl>
                                      </p:cBhvr>
                                    </p:animEffect>
                                  </p:childTnLst>
                                  <p:subTnLst>
                                    <p:set>
                                      <p:cBhvr override="childStyle">
                                        <p:cTn dur="1" fill="hold" display="0" masterRel="nextClick" afterEffect="1"/>
                                        <p:tgtEl>
                                          <p:spTgt spid="1004559"/>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04560"/>
                                        </p:tgtEl>
                                        <p:attrNameLst>
                                          <p:attrName>style.visibility</p:attrName>
                                        </p:attrNameLst>
                                      </p:cBhvr>
                                      <p:to>
                                        <p:strVal val="visible"/>
                                      </p:to>
                                    </p:set>
                                    <p:anim calcmode="lin" valueType="num">
                                      <p:cBhvr additive="base">
                                        <p:cTn id="29" dur="500" fill="hold"/>
                                        <p:tgtEl>
                                          <p:spTgt spid="1004560"/>
                                        </p:tgtEl>
                                        <p:attrNameLst>
                                          <p:attrName>ppt_x</p:attrName>
                                        </p:attrNameLst>
                                      </p:cBhvr>
                                      <p:tavLst>
                                        <p:tav tm="0">
                                          <p:val>
                                            <p:strVal val="0-#ppt_w/2"/>
                                          </p:val>
                                        </p:tav>
                                        <p:tav tm="100000">
                                          <p:val>
                                            <p:strVal val="#ppt_x"/>
                                          </p:val>
                                        </p:tav>
                                      </p:tavLst>
                                    </p:anim>
                                    <p:anim calcmode="lin" valueType="num">
                                      <p:cBhvr additive="base">
                                        <p:cTn id="30" dur="500" fill="hold"/>
                                        <p:tgtEl>
                                          <p:spTgt spid="10045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04561"/>
                                        </p:tgtEl>
                                        <p:attrNameLst>
                                          <p:attrName>style.visibility</p:attrName>
                                        </p:attrNameLst>
                                      </p:cBhvr>
                                      <p:to>
                                        <p:strVal val="visible"/>
                                      </p:to>
                                    </p:set>
                                    <p:animEffect transition="in" filter="box(out)">
                                      <p:cBhvr>
                                        <p:cTn id="35" dur="500"/>
                                        <p:tgtEl>
                                          <p:spTgt spid="1004561"/>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04563"/>
                                        </p:tgtEl>
                                        <p:attrNameLst>
                                          <p:attrName>style.visibility</p:attrName>
                                        </p:attrNameLst>
                                      </p:cBhvr>
                                      <p:to>
                                        <p:strVal val="visible"/>
                                      </p:to>
                                    </p:set>
                                    <p:animEffect transition="in" filter="box(out)">
                                      <p:cBhvr>
                                        <p:cTn id="40" dur="500"/>
                                        <p:tgtEl>
                                          <p:spTgt spid="1004563"/>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04564"/>
                                        </p:tgtEl>
                                        <p:attrNameLst>
                                          <p:attrName>style.visibility</p:attrName>
                                        </p:attrNameLst>
                                      </p:cBhvr>
                                      <p:to>
                                        <p:strVal val="visible"/>
                                      </p:to>
                                    </p:set>
                                    <p:animEffect transition="in" filter="box(out)">
                                      <p:cBhvr>
                                        <p:cTn id="45" dur="500"/>
                                        <p:tgtEl>
                                          <p:spTgt spid="1004564"/>
                                        </p:tgtEl>
                                      </p:cBhvr>
                                    </p:animEffect>
                                  </p:childTnLst>
                                  <p:subTnLst>
                                    <p:audio>
                                      <p:cMediaNode>
                                        <p:cTn display="0" masterRel="sameClick">
                                          <p:stCondLst>
                                            <p:cond evt="begin" delay="0">
                                              <p:tn val="4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60" grpId="0"/>
      <p:bldP spid="1004550" grpId="0"/>
      <p:bldP spid="1004551" grpId="0" animBg="1" autoUpdateAnimBg="0"/>
      <p:bldP spid="1004553" grpId="0"/>
      <p:bldP spid="1004561" grpId="0" animBg="1" autoUpdateAnimBg="0"/>
      <p:bldP spid="1004563" grpId="0" animBg="1"/>
      <p:bldP spid="100456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5" name="Text Box 7"/>
          <p:cNvSpPr txBox="1">
            <a:spLocks noChangeArrowheads="1"/>
          </p:cNvSpPr>
          <p:nvPr/>
        </p:nvSpPr>
        <p:spPr bwMode="auto">
          <a:xfrm>
            <a:off x="1678132" y="2487379"/>
            <a:ext cx="9534294" cy="923330"/>
          </a:xfrm>
          <a:prstGeom prst="rect">
            <a:avLst/>
          </a:prstGeom>
          <a:gradFill flip="none" rotWithShape="1">
            <a:gsLst>
              <a:gs pos="0">
                <a:srgbClr val="CFCFD1"/>
              </a:gs>
              <a:gs pos="100000">
                <a:schemeClr val="bg1">
                  <a:lumMod val="9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buClr>
                <a:schemeClr val="accent1"/>
              </a:buClr>
              <a:buFont typeface="Wingdings" pitchFamily="2" charset="2"/>
              <a:buNone/>
            </a:pPr>
            <a:r>
              <a:rPr lang="zh-CN" altLang="en-US" b="1" dirty="0">
                <a:latin typeface="隶书" pitchFamily="49" charset="-122"/>
                <a:ea typeface="隶书" pitchFamily="49" charset="-122"/>
              </a:rPr>
              <a:t>格式：</a:t>
            </a:r>
            <a:r>
              <a:rPr lang="en-US" altLang="zh-CN" b="1" dirty="0" err="1">
                <a:solidFill>
                  <a:srgbClr val="002060"/>
                </a:solidFill>
                <a:ea typeface="隶书" pitchFamily="49" charset="-122"/>
              </a:rPr>
              <a:t>strlen</a:t>
            </a:r>
            <a:r>
              <a:rPr lang="en-US" altLang="zh-CN" b="1" dirty="0">
                <a:latin typeface="隶书" pitchFamily="49" charset="-122"/>
                <a:ea typeface="隶书" pitchFamily="49" charset="-122"/>
              </a:rPr>
              <a:t>(</a:t>
            </a:r>
            <a:r>
              <a:rPr lang="zh-CN" altLang="zh-CN" b="1" dirty="0">
                <a:latin typeface="隶书" pitchFamily="49" charset="-122"/>
                <a:ea typeface="隶书" pitchFamily="49" charset="-122"/>
              </a:rPr>
              <a:t>字符串地址) </a:t>
            </a:r>
            <a:r>
              <a:rPr lang="en-US" altLang="zh-CN" b="1" dirty="0">
                <a:latin typeface="隶书" pitchFamily="49" charset="-122"/>
                <a:ea typeface="隶书" pitchFamily="49" charset="-122"/>
              </a:rPr>
              <a:t>      </a:t>
            </a:r>
            <a:r>
              <a:rPr lang="en-US" altLang="zh-CN" b="1" dirty="0">
                <a:solidFill>
                  <a:srgbClr val="CC0099"/>
                </a:solidFill>
                <a:latin typeface="+mn-lt"/>
                <a:ea typeface="隶书" pitchFamily="49" charset="-122"/>
              </a:rPr>
              <a:t>//</a:t>
            </a:r>
            <a:r>
              <a:rPr lang="zh-CN" altLang="en-US" b="1" dirty="0">
                <a:solidFill>
                  <a:srgbClr val="CC0099"/>
                </a:solidFill>
                <a:latin typeface="+mn-lt"/>
                <a:ea typeface="隶书" pitchFamily="49" charset="-122"/>
              </a:rPr>
              <a:t>应包含的</a:t>
            </a:r>
            <a:r>
              <a:rPr lang="en-US" altLang="zh-CN" b="1" dirty="0">
                <a:solidFill>
                  <a:srgbClr val="CC0099"/>
                </a:solidFill>
                <a:latin typeface="+mn-lt"/>
                <a:ea typeface="隶书" pitchFamily="49" charset="-122"/>
              </a:rPr>
              <a:t>.h</a:t>
            </a:r>
            <a:r>
              <a:rPr lang="zh-CN" altLang="en-US" b="1" dirty="0">
                <a:solidFill>
                  <a:srgbClr val="CC0099"/>
                </a:solidFill>
                <a:latin typeface="+mn-lt"/>
                <a:ea typeface="隶书" pitchFamily="49" charset="-122"/>
              </a:rPr>
              <a:t>文件为</a:t>
            </a:r>
            <a:r>
              <a:rPr lang="en-US" altLang="zh-CN" b="1" dirty="0" err="1">
                <a:solidFill>
                  <a:srgbClr val="CC0099"/>
                </a:solidFill>
                <a:latin typeface="+mn-lt"/>
                <a:ea typeface="隶书" pitchFamily="49" charset="-122"/>
              </a:rPr>
              <a:t>string.h</a:t>
            </a:r>
            <a:r>
              <a:rPr lang="en-US" altLang="zh-CN" dirty="0">
                <a:latin typeface="+mn-lt"/>
                <a:ea typeface="隶书" pitchFamily="49" charset="-122"/>
              </a:rPr>
              <a:t> </a:t>
            </a:r>
            <a:endParaRPr lang="zh-CN" altLang="zh-CN" b="1" dirty="0">
              <a:latin typeface="+mn-lt"/>
              <a:ea typeface="隶书" pitchFamily="49" charset="-122"/>
            </a:endParaRPr>
          </a:p>
          <a:p>
            <a:r>
              <a:rPr lang="zh-CN" altLang="zh-CN" b="1" dirty="0">
                <a:latin typeface="隶书" pitchFamily="49" charset="-122"/>
                <a:ea typeface="隶书" pitchFamily="49" charset="-122"/>
              </a:rPr>
              <a:t>功能：计算字符串长度</a:t>
            </a:r>
          </a:p>
          <a:p>
            <a:r>
              <a:rPr lang="zh-CN" altLang="zh-CN" b="1" dirty="0">
                <a:latin typeface="隶书" pitchFamily="49" charset="-122"/>
                <a:ea typeface="隶书" pitchFamily="49" charset="-122"/>
              </a:rPr>
              <a:t>返值：</a:t>
            </a:r>
            <a:r>
              <a:rPr lang="zh-CN" altLang="en-US" b="1" dirty="0">
                <a:solidFill>
                  <a:srgbClr val="FF0000"/>
                </a:solidFill>
                <a:latin typeface="隶书" pitchFamily="49" charset="-122"/>
                <a:ea typeface="隶书" pitchFamily="49" charset="-122"/>
              </a:rPr>
              <a:t>碰到</a:t>
            </a:r>
            <a:r>
              <a:rPr lang="en-US" altLang="zh-CN" b="1" dirty="0">
                <a:solidFill>
                  <a:srgbClr val="FF0000"/>
                </a:solidFill>
                <a:latin typeface="隶书" pitchFamily="49" charset="-122"/>
                <a:ea typeface="隶书" pitchFamily="49" charset="-122"/>
              </a:rPr>
              <a:t>‘</a:t>
            </a:r>
            <a:r>
              <a:rPr lang="zh-CN" altLang="zh-CN" b="1" dirty="0">
                <a:solidFill>
                  <a:srgbClr val="FF0000"/>
                </a:solidFill>
                <a:latin typeface="隶书" pitchFamily="49" charset="-122"/>
                <a:ea typeface="隶书" pitchFamily="49" charset="-122"/>
              </a:rPr>
              <a:t>\0</a:t>
            </a:r>
            <a:r>
              <a:rPr lang="en-US" altLang="zh-CN" b="1" dirty="0">
                <a:solidFill>
                  <a:srgbClr val="FF0000"/>
                </a:solidFill>
                <a:latin typeface="隶书" pitchFamily="49" charset="-122"/>
                <a:ea typeface="隶书" pitchFamily="49" charset="-122"/>
              </a:rPr>
              <a:t>‘</a:t>
            </a:r>
            <a:r>
              <a:rPr lang="zh-CN" altLang="en-US" b="1" dirty="0">
                <a:solidFill>
                  <a:srgbClr val="FF0000"/>
                </a:solidFill>
                <a:latin typeface="隶书" pitchFamily="49" charset="-122"/>
                <a:ea typeface="隶书" pitchFamily="49" charset="-122"/>
              </a:rPr>
              <a:t>结束计数</a:t>
            </a:r>
            <a:r>
              <a:rPr lang="zh-CN" altLang="en-US" b="1" dirty="0">
                <a:latin typeface="隶书" pitchFamily="49" charset="-122"/>
                <a:ea typeface="隶书" pitchFamily="49" charset="-122"/>
              </a:rPr>
              <a:t>，</a:t>
            </a:r>
            <a:r>
              <a:rPr lang="zh-CN" altLang="zh-CN" b="1" dirty="0">
                <a:latin typeface="隶书" pitchFamily="49" charset="-122"/>
                <a:ea typeface="隶书" pitchFamily="49" charset="-122"/>
              </a:rPr>
              <a:t>字符返回串实际长度，不包括</a:t>
            </a:r>
            <a:r>
              <a:rPr lang="en-US" altLang="zh-CN" b="1" dirty="0">
                <a:latin typeface="隶书" pitchFamily="49" charset="-122"/>
                <a:ea typeface="隶书" pitchFamily="49" charset="-122"/>
              </a:rPr>
              <a:t>‘</a:t>
            </a:r>
            <a:r>
              <a:rPr lang="zh-CN" altLang="zh-CN" b="1" dirty="0">
                <a:latin typeface="隶书" pitchFamily="49" charset="-122"/>
                <a:ea typeface="隶书" pitchFamily="49" charset="-122"/>
              </a:rPr>
              <a:t>\0</a:t>
            </a:r>
            <a:r>
              <a:rPr lang="en-US" altLang="zh-CN" b="1" dirty="0">
                <a:latin typeface="隶书" pitchFamily="49" charset="-122"/>
                <a:ea typeface="隶书" pitchFamily="49" charset="-122"/>
              </a:rPr>
              <a:t>‘</a:t>
            </a:r>
            <a:r>
              <a:rPr lang="zh-CN" altLang="zh-CN" b="1" dirty="0">
                <a:latin typeface="隶书" pitchFamily="49" charset="-122"/>
                <a:ea typeface="隶书" pitchFamily="49" charset="-122"/>
              </a:rPr>
              <a:t>在内</a:t>
            </a:r>
          </a:p>
        </p:txBody>
      </p:sp>
      <p:sp>
        <p:nvSpPr>
          <p:cNvPr id="1005576" name="Rectangle 8"/>
          <p:cNvSpPr>
            <a:spLocks noChangeArrowheads="1"/>
          </p:cNvSpPr>
          <p:nvPr/>
        </p:nvSpPr>
        <p:spPr bwMode="auto">
          <a:xfrm>
            <a:off x="1493353" y="1933381"/>
            <a:ext cx="1537600"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a:t>
            </a:r>
            <a:r>
              <a:rPr lang="en-US" altLang="zh-CN" b="1" dirty="0" err="1">
                <a:solidFill>
                  <a:srgbClr val="00B0F0"/>
                </a:solidFill>
                <a:latin typeface="+mn-lt"/>
                <a:ea typeface="楷体" pitchFamily="49" charset="-122"/>
              </a:rPr>
              <a:t>strlen</a:t>
            </a:r>
            <a:r>
              <a:rPr lang="zh-CN" altLang="en-US" b="1" dirty="0">
                <a:solidFill>
                  <a:srgbClr val="00B0F0"/>
                </a:solidFill>
                <a:latin typeface="+mn-lt"/>
                <a:ea typeface="楷体" pitchFamily="49" charset="-122"/>
              </a:rPr>
              <a:t>函数</a:t>
            </a:r>
          </a:p>
        </p:txBody>
      </p:sp>
      <p:sp>
        <p:nvSpPr>
          <p:cNvPr id="1005584" name="Rectangle 16" descr="信纸"/>
          <p:cNvSpPr>
            <a:spLocks noChangeArrowheads="1"/>
          </p:cNvSpPr>
          <p:nvPr/>
        </p:nvSpPr>
        <p:spPr bwMode="auto">
          <a:xfrm>
            <a:off x="1681478" y="3573016"/>
            <a:ext cx="9530948" cy="1569660"/>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char str[ ]= "0123456789";</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("%d", </a:t>
            </a:r>
            <a:r>
              <a:rPr lang="en-US" altLang="zh-CN" b="1" dirty="0" err="1">
                <a:latin typeface="+mn-lt"/>
                <a:ea typeface="楷体" pitchFamily="49" charset="-122"/>
              </a:rPr>
              <a:t>strlen</a:t>
            </a:r>
            <a:r>
              <a:rPr lang="en-US" altLang="zh-CN" b="1" dirty="0">
                <a:latin typeface="+mn-lt"/>
                <a:ea typeface="楷体" pitchFamily="49" charset="-122"/>
              </a:rPr>
              <a:t>(str));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输出结果为</a:t>
            </a:r>
            <a:r>
              <a:rPr lang="en-US" altLang="zh-CN" b="1" dirty="0">
                <a:solidFill>
                  <a:srgbClr val="002060"/>
                </a:solidFill>
                <a:latin typeface="+mn-lt"/>
                <a:ea typeface="楷体" pitchFamily="49" charset="-122"/>
              </a:rPr>
              <a:t>10</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("%d", </a:t>
            </a:r>
            <a:r>
              <a:rPr lang="en-US" altLang="zh-CN" b="1" dirty="0" err="1">
                <a:latin typeface="+mn-lt"/>
                <a:ea typeface="楷体" pitchFamily="49" charset="-122"/>
              </a:rPr>
              <a:t>strlen</a:t>
            </a:r>
            <a:r>
              <a:rPr lang="en-US" altLang="zh-CN" b="1" dirty="0">
                <a:latin typeface="+mn-lt"/>
                <a:ea typeface="楷体" pitchFamily="49" charset="-122"/>
              </a:rPr>
              <a:t>(&amp;str[5]));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输出结果为</a:t>
            </a:r>
            <a:r>
              <a:rPr lang="en-US" altLang="zh-CN" b="1" dirty="0">
                <a:solidFill>
                  <a:srgbClr val="002060"/>
                </a:solidFill>
                <a:latin typeface="+mn-lt"/>
                <a:ea typeface="楷体" pitchFamily="49" charset="-122"/>
              </a:rPr>
              <a:t>5</a:t>
            </a:r>
          </a:p>
        </p:txBody>
      </p:sp>
      <p:sp>
        <p:nvSpPr>
          <p:cNvPr id="1005585" name="Rectangle 17" descr="信纸"/>
          <p:cNvSpPr>
            <a:spLocks noChangeArrowheads="1"/>
          </p:cNvSpPr>
          <p:nvPr/>
        </p:nvSpPr>
        <p:spPr bwMode="auto">
          <a:xfrm>
            <a:off x="1690215" y="5208260"/>
            <a:ext cx="9530947" cy="159067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问：</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char str[ ]= "0123\0456789";</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("%d", </a:t>
            </a:r>
            <a:r>
              <a:rPr lang="en-US" altLang="zh-CN" b="1" dirty="0" err="1">
                <a:latin typeface="+mn-lt"/>
                <a:ea typeface="楷体" pitchFamily="49" charset="-122"/>
              </a:rPr>
              <a:t>strlen</a:t>
            </a:r>
            <a:r>
              <a:rPr lang="en-US" altLang="zh-CN" b="1" dirty="0">
                <a:latin typeface="+mn-lt"/>
                <a:ea typeface="楷体" pitchFamily="49" charset="-122"/>
              </a:rPr>
              <a:t>(str));      </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("%d", </a:t>
            </a:r>
            <a:r>
              <a:rPr lang="en-US" altLang="zh-CN" b="1" dirty="0" err="1">
                <a:latin typeface="+mn-lt"/>
                <a:ea typeface="楷体" pitchFamily="49" charset="-122"/>
              </a:rPr>
              <a:t>strlen</a:t>
            </a:r>
            <a:r>
              <a:rPr lang="en-US" altLang="zh-CN" b="1" dirty="0">
                <a:latin typeface="+mn-lt"/>
                <a:ea typeface="楷体" pitchFamily="49" charset="-122"/>
              </a:rPr>
              <a:t>(&amp;str[5]));  </a:t>
            </a:r>
            <a:endParaRPr lang="en-US" altLang="zh-CN" dirty="0">
              <a:latin typeface="+mn-lt"/>
              <a:ea typeface="楷体" pitchFamily="49" charset="-122"/>
            </a:endParaRPr>
          </a:p>
        </p:txBody>
      </p:sp>
      <p:sp>
        <p:nvSpPr>
          <p:cNvPr id="1005587" name="Rectangle 19"/>
          <p:cNvSpPr>
            <a:spLocks noChangeArrowheads="1"/>
          </p:cNvSpPr>
          <p:nvPr/>
        </p:nvSpPr>
        <p:spPr bwMode="auto">
          <a:xfrm>
            <a:off x="7011617" y="5849487"/>
            <a:ext cx="2132315" cy="461665"/>
          </a:xfrm>
          <a:prstGeom prst="rect">
            <a:avLst/>
          </a:prstGeom>
          <a:noFill/>
          <a:ln w="9525">
            <a:noFill/>
            <a:miter lim="800000"/>
            <a:headEnd/>
            <a:tailEnd/>
          </a:ln>
          <a:effectLst/>
        </p:spPr>
        <p:txBody>
          <a:bodyPr wrap="none" anchor="ctr">
            <a:spAutoFit/>
          </a:bodyPr>
          <a:lstStyle/>
          <a:p>
            <a:r>
              <a:rPr lang="en-US" altLang="zh-CN" b="1" dirty="0">
                <a:solidFill>
                  <a:srgbClr val="C01920"/>
                </a:solidFill>
                <a:latin typeface="+mn-lt"/>
                <a:ea typeface="楷体" pitchFamily="49" charset="-122"/>
              </a:rPr>
              <a:t>//</a:t>
            </a:r>
            <a:r>
              <a:rPr lang="zh-CN" altLang="en-US" b="1" dirty="0">
                <a:solidFill>
                  <a:srgbClr val="C01920"/>
                </a:solidFill>
                <a:latin typeface="+mn-lt"/>
                <a:ea typeface="楷体" pitchFamily="49" charset="-122"/>
              </a:rPr>
              <a:t>输出结果为</a:t>
            </a:r>
            <a:r>
              <a:rPr lang="en-US" altLang="zh-CN" b="1" dirty="0">
                <a:solidFill>
                  <a:srgbClr val="C01920"/>
                </a:solidFill>
                <a:latin typeface="+mn-lt"/>
                <a:ea typeface="楷体" pitchFamily="49" charset="-122"/>
              </a:rPr>
              <a:t>9</a:t>
            </a:r>
            <a:r>
              <a:rPr lang="en-US" altLang="zh-CN" dirty="0">
                <a:solidFill>
                  <a:srgbClr val="C01920"/>
                </a:solidFill>
                <a:latin typeface="+mn-lt"/>
                <a:ea typeface="楷体" pitchFamily="49" charset="-122"/>
              </a:rPr>
              <a:t> </a:t>
            </a:r>
          </a:p>
        </p:txBody>
      </p:sp>
      <p:sp>
        <p:nvSpPr>
          <p:cNvPr id="1005588" name="Rectangle 20"/>
          <p:cNvSpPr>
            <a:spLocks noChangeArrowheads="1"/>
          </p:cNvSpPr>
          <p:nvPr/>
        </p:nvSpPr>
        <p:spPr bwMode="auto">
          <a:xfrm>
            <a:off x="7020726" y="6222549"/>
            <a:ext cx="2132315" cy="461665"/>
          </a:xfrm>
          <a:prstGeom prst="rect">
            <a:avLst/>
          </a:prstGeom>
          <a:noFill/>
          <a:ln w="9525">
            <a:noFill/>
            <a:miter lim="800000"/>
            <a:headEnd/>
            <a:tailEnd/>
          </a:ln>
          <a:effectLst/>
        </p:spPr>
        <p:txBody>
          <a:bodyPr wrap="none" anchor="ctr">
            <a:spAutoFit/>
          </a:bodyPr>
          <a:lstStyle/>
          <a:p>
            <a:r>
              <a:rPr lang="en-US" altLang="zh-CN" b="1" dirty="0">
                <a:solidFill>
                  <a:srgbClr val="C01920"/>
                </a:solidFill>
                <a:latin typeface="+mn-lt"/>
                <a:ea typeface="楷体" pitchFamily="49" charset="-122"/>
              </a:rPr>
              <a:t>//</a:t>
            </a:r>
            <a:r>
              <a:rPr lang="zh-CN" altLang="en-US" b="1" dirty="0">
                <a:solidFill>
                  <a:srgbClr val="C01920"/>
                </a:solidFill>
                <a:latin typeface="+mn-lt"/>
                <a:ea typeface="楷体" pitchFamily="49" charset="-122"/>
              </a:rPr>
              <a:t>输出结果为</a:t>
            </a:r>
            <a:r>
              <a:rPr lang="en-US" altLang="zh-CN" b="1" dirty="0">
                <a:solidFill>
                  <a:srgbClr val="C01920"/>
                </a:solidFill>
                <a:latin typeface="+mn-lt"/>
                <a:ea typeface="楷体" pitchFamily="49" charset="-122"/>
              </a:rPr>
              <a:t>4</a:t>
            </a:r>
            <a:r>
              <a:rPr lang="en-US" altLang="zh-CN" dirty="0">
                <a:solidFill>
                  <a:srgbClr val="C01920"/>
                </a:solidFill>
                <a:latin typeface="+mn-lt"/>
                <a:ea typeface="楷体" pitchFamily="49" charset="-122"/>
              </a:rPr>
              <a:t> </a:t>
            </a:r>
          </a:p>
        </p:txBody>
      </p:sp>
      <p:sp>
        <p:nvSpPr>
          <p:cNvPr id="1005589" name="Oval 21"/>
          <p:cNvSpPr>
            <a:spLocks noChangeArrowheads="1"/>
          </p:cNvSpPr>
          <p:nvPr/>
        </p:nvSpPr>
        <p:spPr bwMode="auto">
          <a:xfrm>
            <a:off x="3967256" y="5124801"/>
            <a:ext cx="564635" cy="360363"/>
          </a:xfrm>
          <a:prstGeom prst="ellipse">
            <a:avLst/>
          </a:prstGeom>
          <a:noFill/>
          <a:ln w="28575">
            <a:solidFill>
              <a:srgbClr val="C01920"/>
            </a:solidFill>
            <a:round/>
            <a:headEnd/>
            <a:tailEnd/>
          </a:ln>
          <a:effectLst/>
        </p:spPr>
        <p:txBody>
          <a:bodyPr wrap="none" anchor="ctr"/>
          <a:lstStyle/>
          <a:p>
            <a:endParaRPr lang="zh-CN" altLang="en-US"/>
          </a:p>
        </p:txBody>
      </p:sp>
      <p:sp>
        <p:nvSpPr>
          <p:cNvPr id="1005590" name="AutoShape 22"/>
          <p:cNvSpPr>
            <a:spLocks noChangeArrowheads="1"/>
          </p:cNvSpPr>
          <p:nvPr/>
        </p:nvSpPr>
        <p:spPr bwMode="auto">
          <a:xfrm>
            <a:off x="4722133" y="4743537"/>
            <a:ext cx="1943100" cy="576263"/>
          </a:xfrm>
          <a:prstGeom prst="wedgeRoundRectCallout">
            <a:avLst>
              <a:gd name="adj1" fmla="val -63972"/>
              <a:gd name="adj2" fmla="val 102616"/>
              <a:gd name="adj3" fmla="val 16667"/>
            </a:avLst>
          </a:prstGeom>
          <a:gradFill rotWithShape="1">
            <a:gsLst>
              <a:gs pos="0">
                <a:srgbClr val="CFCFD1"/>
              </a:gs>
              <a:gs pos="100000">
                <a:schemeClr val="bg1"/>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a:lstStyle/>
          <a:p>
            <a:pPr algn="ctr"/>
            <a:r>
              <a:rPr lang="zh-CN" altLang="en-US" b="1" dirty="0">
                <a:solidFill>
                  <a:srgbClr val="C01920"/>
                </a:solidFill>
                <a:latin typeface="隶书" pitchFamily="49" charset="-122"/>
                <a:ea typeface="隶书" pitchFamily="49" charset="-122"/>
              </a:rPr>
              <a:t>转义字符 </a:t>
            </a:r>
          </a:p>
        </p:txBody>
      </p:sp>
      <p:sp>
        <p:nvSpPr>
          <p:cNvPr id="1005591" name="Text Box 23"/>
          <p:cNvSpPr txBox="1">
            <a:spLocks noChangeArrowheads="1"/>
          </p:cNvSpPr>
          <p:nvPr/>
        </p:nvSpPr>
        <p:spPr bwMode="auto">
          <a:xfrm>
            <a:off x="1596317" y="5132581"/>
            <a:ext cx="9530947" cy="1633397"/>
          </a:xfrm>
          <a:prstGeom prst="rect">
            <a:avLst/>
          </a:prstGeom>
          <a:gradFill flip="none" rotWithShape="1">
            <a:gsLst>
              <a:gs pos="0">
                <a:srgbClr val="CFCFD1"/>
              </a:gs>
              <a:gs pos="100000">
                <a:schemeClr val="bg1">
                  <a:lumMod val="9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问： </a:t>
            </a:r>
            <a:r>
              <a:rPr lang="zh-CN" altLang="en-US" b="1" dirty="0">
                <a:effectLst>
                  <a:outerShdw blurRad="38100" dist="38100" dir="2700000" algn="tl">
                    <a:srgbClr val="C0C0C0"/>
                  </a:outerShdw>
                </a:effectLst>
                <a:latin typeface="+mn-lt"/>
                <a:ea typeface="楷体" pitchFamily="49" charset="-122"/>
              </a:rPr>
              <a:t>对于以下字符串，</a:t>
            </a:r>
            <a:r>
              <a:rPr lang="en-US" altLang="zh-CN" b="1" dirty="0" err="1">
                <a:effectLst>
                  <a:outerShdw blurRad="38100" dist="38100" dir="2700000" algn="tl">
                    <a:srgbClr val="C0C0C0"/>
                  </a:outerShdw>
                </a:effectLst>
                <a:latin typeface="+mn-lt"/>
                <a:ea typeface="楷体" pitchFamily="49" charset="-122"/>
              </a:rPr>
              <a:t>strlen</a:t>
            </a:r>
            <a:r>
              <a:rPr lang="en-US" altLang="zh-CN" b="1" dirty="0">
                <a:effectLst>
                  <a:outerShdw blurRad="38100" dist="38100" dir="2700000" algn="tl">
                    <a:srgbClr val="C0C0C0"/>
                  </a:outerShdw>
                </a:effectLst>
                <a:latin typeface="+mn-lt"/>
                <a:ea typeface="楷体" pitchFamily="49" charset="-122"/>
              </a:rPr>
              <a:t>(s)</a:t>
            </a:r>
            <a:r>
              <a:rPr lang="zh-CN" altLang="zh-CN" b="1" dirty="0">
                <a:effectLst>
                  <a:outerShdw blurRad="38100" dist="38100" dir="2700000" algn="tl">
                    <a:srgbClr val="C0C0C0"/>
                  </a:outerShdw>
                </a:effectLst>
                <a:latin typeface="+mn-lt"/>
                <a:ea typeface="楷体" pitchFamily="49" charset="-122"/>
              </a:rPr>
              <a:t>的值为：</a:t>
            </a:r>
          </a:p>
          <a:p>
            <a:r>
              <a:rPr lang="zh-CN" altLang="zh-CN" b="1" dirty="0">
                <a:effectLst>
                  <a:outerShdw blurRad="38100" dist="38100" dir="2700000" algn="tl">
                    <a:srgbClr val="C0C0C0"/>
                  </a:outerShdw>
                </a:effectLst>
                <a:latin typeface="+mn-lt"/>
                <a:ea typeface="楷体" pitchFamily="49" charset="-122"/>
              </a:rPr>
              <a:t>（1）</a:t>
            </a:r>
            <a:r>
              <a:rPr lang="en-US" altLang="zh-CN" b="1" dirty="0">
                <a:effectLst>
                  <a:outerShdw blurRad="38100" dist="38100" dir="2700000" algn="tl">
                    <a:srgbClr val="C0C0C0"/>
                  </a:outerShdw>
                </a:effectLst>
                <a:latin typeface="+mn-lt"/>
                <a:ea typeface="楷体" pitchFamily="49" charset="-122"/>
              </a:rPr>
              <a:t>char  s[10] = {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A</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\0</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B</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C</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\0</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 </a:t>
            </a:r>
            <a:r>
              <a:rPr lang="en-US" altLang="zh-CN" b="1" dirty="0">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D</a:t>
            </a:r>
            <a:r>
              <a:rPr lang="en-US" altLang="zh-CN" b="1" dirty="0">
                <a:latin typeface="+mn-lt"/>
                <a:ea typeface="楷体" pitchFamily="49" charset="-122"/>
              </a:rPr>
              <a:t>' </a:t>
            </a:r>
            <a:r>
              <a:rPr lang="en-US" altLang="zh-CN" b="1" dirty="0">
                <a:effectLst>
                  <a:outerShdw blurRad="38100" dist="38100" dir="2700000" algn="tl">
                    <a:srgbClr val="C0C0C0"/>
                  </a:outerShdw>
                </a:effectLst>
                <a:latin typeface="+mn-lt"/>
                <a:ea typeface="楷体" pitchFamily="49" charset="-122"/>
              </a:rPr>
              <a:t>};</a:t>
            </a:r>
          </a:p>
          <a:p>
            <a:r>
              <a:rPr lang="zh-CN" altLang="en-US" b="1" dirty="0">
                <a:effectLst>
                  <a:outerShdw blurRad="38100" dist="38100" dir="2700000" algn="tl">
                    <a:srgbClr val="C0C0C0"/>
                  </a:outerShdw>
                </a:effectLst>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2</a:t>
            </a:r>
            <a:r>
              <a:rPr lang="zh-CN" altLang="en-US" b="1" dirty="0">
                <a:effectLst>
                  <a:outerShdw blurRad="38100" dist="38100" dir="2700000" algn="tl">
                    <a:srgbClr val="C0C0C0"/>
                  </a:outerShdw>
                </a:effectLst>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char  s[    ] = "\t\v\\\0will\n";</a:t>
            </a:r>
          </a:p>
          <a:p>
            <a:r>
              <a:rPr lang="zh-CN" altLang="en-US" b="1" dirty="0">
                <a:effectLst>
                  <a:outerShdw blurRad="38100" dist="38100" dir="2700000" algn="tl">
                    <a:srgbClr val="C0C0C0"/>
                  </a:outerShdw>
                </a:effectLst>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3</a:t>
            </a:r>
            <a:r>
              <a:rPr lang="zh-CN" altLang="en-US" b="1" dirty="0">
                <a:effectLst>
                  <a:outerShdw blurRad="38100" dist="38100" dir="2700000" algn="tl">
                    <a:srgbClr val="C0C0C0"/>
                  </a:outerShdw>
                </a:effectLst>
                <a:latin typeface="+mn-lt"/>
                <a:ea typeface="楷体" pitchFamily="49" charset="-122"/>
              </a:rPr>
              <a:t>）</a:t>
            </a:r>
            <a:r>
              <a:rPr lang="en-US" altLang="zh-CN" b="1" dirty="0">
                <a:effectLst>
                  <a:outerShdw blurRad="38100" dist="38100" dir="2700000" algn="tl">
                    <a:srgbClr val="C0C0C0"/>
                  </a:outerShdw>
                </a:effectLst>
                <a:latin typeface="+mn-lt"/>
                <a:ea typeface="楷体" pitchFamily="49" charset="-122"/>
              </a:rPr>
              <a:t>char  s[    ] = "\x69\082\n";</a:t>
            </a:r>
            <a:r>
              <a:rPr lang="en-US" altLang="zh-CN" sz="2800" b="1" dirty="0">
                <a:effectLst>
                  <a:outerShdw blurRad="38100" dist="38100" dir="2700000" algn="tl">
                    <a:srgbClr val="C0C0C0"/>
                  </a:outerShdw>
                </a:effectLst>
                <a:latin typeface="+mn-lt"/>
                <a:ea typeface="楷体" pitchFamily="49" charset="-122"/>
              </a:rPr>
              <a:t> </a:t>
            </a:r>
          </a:p>
        </p:txBody>
      </p:sp>
      <p:sp>
        <p:nvSpPr>
          <p:cNvPr id="1005592" name="Text Box 24"/>
          <p:cNvSpPr txBox="1">
            <a:spLocks noChangeArrowheads="1"/>
          </p:cNvSpPr>
          <p:nvPr/>
        </p:nvSpPr>
        <p:spPr bwMode="auto">
          <a:xfrm>
            <a:off x="8799578" y="5522084"/>
            <a:ext cx="433388"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C01920"/>
                </a:solidFill>
              </a:rPr>
              <a:t>1</a:t>
            </a:r>
          </a:p>
        </p:txBody>
      </p:sp>
      <p:sp>
        <p:nvSpPr>
          <p:cNvPr id="1005593" name="Text Box 25"/>
          <p:cNvSpPr txBox="1">
            <a:spLocks noChangeArrowheads="1"/>
          </p:cNvSpPr>
          <p:nvPr/>
        </p:nvSpPr>
        <p:spPr bwMode="auto">
          <a:xfrm>
            <a:off x="8801167" y="5909434"/>
            <a:ext cx="433387"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rPr>
              <a:t>3</a:t>
            </a:r>
          </a:p>
        </p:txBody>
      </p:sp>
      <p:sp>
        <p:nvSpPr>
          <p:cNvPr id="1005594" name="Text Box 26"/>
          <p:cNvSpPr txBox="1">
            <a:spLocks noChangeArrowheads="1"/>
          </p:cNvSpPr>
          <p:nvPr/>
        </p:nvSpPr>
        <p:spPr bwMode="auto">
          <a:xfrm>
            <a:off x="8817042" y="6268209"/>
            <a:ext cx="433387"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C01920"/>
                </a:solidFill>
              </a:rPr>
              <a:t>1</a:t>
            </a:r>
          </a:p>
        </p:txBody>
      </p:sp>
      <p:sp>
        <p:nvSpPr>
          <p:cNvPr id="22" name="Rectangle 6">
            <a:extLst>
              <a:ext uri="{FF2B5EF4-FFF2-40B4-BE49-F238E27FC236}">
                <a16:creationId xmlns:a16="http://schemas.microsoft.com/office/drawing/2014/main" id="{6C064160-6FFC-44E2-ADA3-F4A170E0A070}"/>
              </a:ext>
            </a:extLst>
          </p:cNvPr>
          <p:cNvSpPr>
            <a:spLocks noChangeArrowheads="1"/>
          </p:cNvSpPr>
          <p:nvPr/>
        </p:nvSpPr>
        <p:spPr bwMode="auto">
          <a:xfrm>
            <a:off x="1121397" y="1489031"/>
            <a:ext cx="1826141"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字符串的长度</a:t>
            </a:r>
          </a:p>
        </p:txBody>
      </p:sp>
      <p:sp>
        <p:nvSpPr>
          <p:cNvPr id="23" name="Rectangle 2">
            <a:extLst>
              <a:ext uri="{FF2B5EF4-FFF2-40B4-BE49-F238E27FC236}">
                <a16:creationId xmlns:a16="http://schemas.microsoft.com/office/drawing/2014/main" id="{E190D996-1BFE-4314-A7B8-918EDA3355D1}"/>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3</a:t>
            </a:r>
            <a:r>
              <a:rPr lang="zh-CN" altLang="en-US" sz="2800" b="1" dirty="0">
                <a:solidFill>
                  <a:srgbClr val="00B0F0"/>
                </a:solidFill>
                <a:latin typeface="+mn-lt"/>
                <a:ea typeface="楷体" pitchFamily="49" charset="-122"/>
              </a:rPr>
              <a:t>、字符及字符串操作的常用函数</a:t>
            </a:r>
            <a:r>
              <a:rPr lang="zh-CN" altLang="en-US" sz="2800" dirty="0">
                <a:solidFill>
                  <a:srgbClr val="00B0F0"/>
                </a:solidFill>
                <a:latin typeface="+mn-lt"/>
                <a:ea typeface="楷体" pitchFamily="49" charset="-122"/>
              </a:rPr>
              <a:t> </a:t>
            </a:r>
          </a:p>
        </p:txBody>
      </p:sp>
      <p:sp>
        <p:nvSpPr>
          <p:cNvPr id="24" name="Rectangle 4">
            <a:extLst>
              <a:ext uri="{FF2B5EF4-FFF2-40B4-BE49-F238E27FC236}">
                <a16:creationId xmlns:a16="http://schemas.microsoft.com/office/drawing/2014/main" id="{035833D3-0AAE-4AEC-90FF-2AC7F876C56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125973558"/>
      </p:ext>
    </p:extLst>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5576"/>
                                        </p:tgtEl>
                                        <p:attrNameLst>
                                          <p:attrName>style.visibility</p:attrName>
                                        </p:attrNameLst>
                                      </p:cBhvr>
                                      <p:to>
                                        <p:strVal val="visible"/>
                                      </p:to>
                                    </p:set>
                                    <p:anim calcmode="lin" valueType="num">
                                      <p:cBhvr additive="base">
                                        <p:cTn id="13" dur="500" fill="hold"/>
                                        <p:tgtEl>
                                          <p:spTgt spid="1005576"/>
                                        </p:tgtEl>
                                        <p:attrNameLst>
                                          <p:attrName>ppt_x</p:attrName>
                                        </p:attrNameLst>
                                      </p:cBhvr>
                                      <p:tavLst>
                                        <p:tav tm="0">
                                          <p:val>
                                            <p:strVal val="0-#ppt_w/2"/>
                                          </p:val>
                                        </p:tav>
                                        <p:tav tm="100000">
                                          <p:val>
                                            <p:strVal val="#ppt_x"/>
                                          </p:val>
                                        </p:tav>
                                      </p:tavLst>
                                    </p:anim>
                                    <p:anim calcmode="lin" valueType="num">
                                      <p:cBhvr additive="base">
                                        <p:cTn id="14" dur="500" fill="hold"/>
                                        <p:tgtEl>
                                          <p:spTgt spid="100557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5575"/>
                                        </p:tgtEl>
                                        <p:attrNameLst>
                                          <p:attrName>style.visibility</p:attrName>
                                        </p:attrNameLst>
                                      </p:cBhvr>
                                      <p:to>
                                        <p:strVal val="visible"/>
                                      </p:to>
                                    </p:set>
                                    <p:animEffect transition="in" filter="box(out)">
                                      <p:cBhvr>
                                        <p:cTn id="19" dur="500"/>
                                        <p:tgtEl>
                                          <p:spTgt spid="1005575"/>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5584"/>
                                        </p:tgtEl>
                                        <p:attrNameLst>
                                          <p:attrName>style.visibility</p:attrName>
                                        </p:attrNameLst>
                                      </p:cBhvr>
                                      <p:to>
                                        <p:strVal val="visible"/>
                                      </p:to>
                                    </p:set>
                                    <p:animEffect transition="in" filter="box(out)">
                                      <p:cBhvr>
                                        <p:cTn id="24" dur="500"/>
                                        <p:tgtEl>
                                          <p:spTgt spid="1005584"/>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05585"/>
                                        </p:tgtEl>
                                        <p:attrNameLst>
                                          <p:attrName>style.visibility</p:attrName>
                                        </p:attrNameLst>
                                      </p:cBhvr>
                                      <p:to>
                                        <p:strVal val="visible"/>
                                      </p:to>
                                    </p:set>
                                    <p:animEffect transition="in" filter="box(out)">
                                      <p:cBhvr>
                                        <p:cTn id="29" dur="500"/>
                                        <p:tgtEl>
                                          <p:spTgt spid="1005585"/>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005587"/>
                                        </p:tgtEl>
                                        <p:attrNameLst>
                                          <p:attrName>style.visibility</p:attrName>
                                        </p:attrNameLst>
                                      </p:cBhvr>
                                      <p:to>
                                        <p:strVal val="visible"/>
                                      </p:to>
                                    </p:set>
                                    <p:animEffect transition="in" filter="box(out)">
                                      <p:cBhvr>
                                        <p:cTn id="34" dur="500"/>
                                        <p:tgtEl>
                                          <p:spTgt spid="1005587"/>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005588"/>
                                        </p:tgtEl>
                                        <p:attrNameLst>
                                          <p:attrName>style.visibility</p:attrName>
                                        </p:attrNameLst>
                                      </p:cBhvr>
                                      <p:to>
                                        <p:strVal val="visible"/>
                                      </p:to>
                                    </p:set>
                                    <p:animEffect transition="in" filter="box(out)">
                                      <p:cBhvr>
                                        <p:cTn id="39" dur="500"/>
                                        <p:tgtEl>
                                          <p:spTgt spid="1005588"/>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1005589"/>
                                        </p:tgtEl>
                                        <p:attrNameLst>
                                          <p:attrName>style.visibility</p:attrName>
                                        </p:attrNameLst>
                                      </p:cBhvr>
                                      <p:to>
                                        <p:strVal val="visible"/>
                                      </p:to>
                                    </p:set>
                                    <p:animEffect transition="in" filter="strips(downRight)">
                                      <p:cBhvr>
                                        <p:cTn id="44" dur="500"/>
                                        <p:tgtEl>
                                          <p:spTgt spid="1005589"/>
                                        </p:tgtEl>
                                      </p:cBhvr>
                                    </p:animEffect>
                                  </p:childTnLst>
                                </p:cTn>
                              </p:par>
                            </p:childTnLst>
                          </p:cTn>
                        </p:par>
                        <p:par>
                          <p:cTn id="45" fill="hold">
                            <p:stCondLst>
                              <p:cond delay="500"/>
                            </p:stCondLst>
                            <p:childTnLst>
                              <p:par>
                                <p:cTn id="46" presetID="18" presetClass="entr" presetSubtype="6" fill="hold" grpId="0" nodeType="afterEffect">
                                  <p:stCondLst>
                                    <p:cond delay="0"/>
                                  </p:stCondLst>
                                  <p:childTnLst>
                                    <p:set>
                                      <p:cBhvr>
                                        <p:cTn id="47" dur="1" fill="hold">
                                          <p:stCondLst>
                                            <p:cond delay="0"/>
                                          </p:stCondLst>
                                        </p:cTn>
                                        <p:tgtEl>
                                          <p:spTgt spid="1005590"/>
                                        </p:tgtEl>
                                        <p:attrNameLst>
                                          <p:attrName>style.visibility</p:attrName>
                                        </p:attrNameLst>
                                      </p:cBhvr>
                                      <p:to>
                                        <p:strVal val="visible"/>
                                      </p:to>
                                    </p:set>
                                    <p:animEffect transition="in" filter="strips(downRight)">
                                      <p:cBhvr>
                                        <p:cTn id="48" dur="500"/>
                                        <p:tgtEl>
                                          <p:spTgt spid="1005590"/>
                                        </p:tgtEl>
                                      </p:cBhvr>
                                    </p:animEffect>
                                  </p:childTnLst>
                                  <p:subTnLst>
                                    <p:audio>
                                      <p:cMediaNode>
                                        <p:cTn display="0" masterRel="sameClick">
                                          <p:stCondLst>
                                            <p:cond evt="begin" delay="0">
                                              <p:tn val="46"/>
                                            </p:cond>
                                          </p:stCondLst>
                                          <p:endCondLst>
                                            <p:cond evt="onStopAudio" delay="0">
                                              <p:tgtEl>
                                                <p:sldTgt/>
                                              </p:tgtEl>
                                            </p:cond>
                                          </p:endCondLst>
                                        </p:cTn>
                                        <p:tgtEl>
                                          <p:sndTgt r:embed="rId5" name="laser.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005591"/>
                                        </p:tgtEl>
                                        <p:attrNameLst>
                                          <p:attrName>style.visibility</p:attrName>
                                        </p:attrNameLst>
                                      </p:cBhvr>
                                      <p:to>
                                        <p:strVal val="visible"/>
                                      </p:to>
                                    </p:set>
                                    <p:animEffect transition="in" filter="box(out)">
                                      <p:cBhvr>
                                        <p:cTn id="53" dur="500"/>
                                        <p:tgtEl>
                                          <p:spTgt spid="1005591"/>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1005592"/>
                                        </p:tgtEl>
                                        <p:attrNameLst>
                                          <p:attrName>style.visibility</p:attrName>
                                        </p:attrNameLst>
                                      </p:cBhvr>
                                      <p:to>
                                        <p:strVal val="visible"/>
                                      </p:to>
                                    </p:set>
                                    <p:animEffect transition="in" filter="box(in)">
                                      <p:cBhvr>
                                        <p:cTn id="58" dur="500"/>
                                        <p:tgtEl>
                                          <p:spTgt spid="1005592"/>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1005593"/>
                                        </p:tgtEl>
                                        <p:attrNameLst>
                                          <p:attrName>style.visibility</p:attrName>
                                        </p:attrNameLst>
                                      </p:cBhvr>
                                      <p:to>
                                        <p:strVal val="visible"/>
                                      </p:to>
                                    </p:set>
                                    <p:animEffect transition="in" filter="box(in)">
                                      <p:cBhvr>
                                        <p:cTn id="63" dur="500"/>
                                        <p:tgtEl>
                                          <p:spTgt spid="1005593"/>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16" fill="hold" grpId="0" nodeType="clickEffect">
                                  <p:stCondLst>
                                    <p:cond delay="0"/>
                                  </p:stCondLst>
                                  <p:childTnLst>
                                    <p:set>
                                      <p:cBhvr>
                                        <p:cTn id="67" dur="1" fill="hold">
                                          <p:stCondLst>
                                            <p:cond delay="0"/>
                                          </p:stCondLst>
                                        </p:cTn>
                                        <p:tgtEl>
                                          <p:spTgt spid="1005594"/>
                                        </p:tgtEl>
                                        <p:attrNameLst>
                                          <p:attrName>style.visibility</p:attrName>
                                        </p:attrNameLst>
                                      </p:cBhvr>
                                      <p:to>
                                        <p:strVal val="visible"/>
                                      </p:to>
                                    </p:set>
                                    <p:animEffect transition="in" filter="box(in)">
                                      <p:cBhvr>
                                        <p:cTn id="68" dur="500"/>
                                        <p:tgtEl>
                                          <p:spTgt spid="1005594"/>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575" grpId="0" animBg="1" autoUpdateAnimBg="0"/>
      <p:bldP spid="1005576" grpId="0"/>
      <p:bldP spid="1005584" grpId="0" animBg="1"/>
      <p:bldP spid="1005585" grpId="0" animBg="1"/>
      <p:bldP spid="1005587" grpId="0"/>
      <p:bldP spid="1005588" grpId="0"/>
      <p:bldP spid="1005589" grpId="0" animBg="1"/>
      <p:bldP spid="1005590" grpId="0" animBg="1"/>
      <p:bldP spid="1005591" grpId="0" animBg="1" autoUpdateAnimBg="0"/>
      <p:bldP spid="1005592" grpId="0"/>
      <p:bldP spid="1005593" grpId="0"/>
      <p:bldP spid="1005594" grpId="0"/>
      <p:bldP spid="2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9" name="Text Box 7"/>
          <p:cNvSpPr txBox="1">
            <a:spLocks noChangeArrowheads="1"/>
          </p:cNvSpPr>
          <p:nvPr/>
        </p:nvSpPr>
        <p:spPr bwMode="auto">
          <a:xfrm>
            <a:off x="1792325" y="2348880"/>
            <a:ext cx="9314574" cy="2308324"/>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strcpy</a:t>
            </a:r>
            <a:r>
              <a:rPr lang="en-US" altLang="zh-CN" b="1" dirty="0">
                <a:solidFill>
                  <a:schemeClr val="accent2"/>
                </a:solidFill>
                <a:ea typeface="隶书" pitchFamily="49" charset="-122"/>
              </a:rPr>
              <a:t> </a:t>
            </a:r>
            <a:r>
              <a:rPr lang="en-US" altLang="zh-CN" b="1" dirty="0">
                <a:ea typeface="隶书" pitchFamily="49" charset="-122"/>
              </a:rPr>
              <a:t>(</a:t>
            </a:r>
            <a:r>
              <a:rPr lang="zh-CN" altLang="zh-CN" b="1" dirty="0">
                <a:ea typeface="隶书" pitchFamily="49" charset="-122"/>
              </a:rPr>
              <a:t>字符数组1,字符串2)</a:t>
            </a:r>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r>
              <a:rPr lang="zh-CN" altLang="zh-CN" b="1" dirty="0">
                <a:ea typeface="隶书" pitchFamily="49" charset="-122"/>
              </a:rPr>
              <a:t>功能：将字符串2拷贝到字符数组1中去</a:t>
            </a:r>
          </a:p>
          <a:p>
            <a:r>
              <a:rPr lang="zh-CN" altLang="zh-CN" b="1" dirty="0">
                <a:ea typeface="隶书" pitchFamily="49" charset="-122"/>
              </a:rPr>
              <a:t>返值：返回字符数组1的首地址</a:t>
            </a:r>
          </a:p>
          <a:p>
            <a:r>
              <a:rPr lang="zh-CN" altLang="zh-CN" b="1" dirty="0">
                <a:ea typeface="隶书" pitchFamily="49" charset="-122"/>
              </a:rPr>
              <a:t>说明：</a:t>
            </a:r>
            <a:r>
              <a:rPr lang="zh-CN" altLang="zh-CN" b="1" dirty="0">
                <a:ea typeface="隶书" pitchFamily="49" charset="-122"/>
                <a:sym typeface="Wingdings" pitchFamily="2" charset="2"/>
              </a:rPr>
              <a:t>字符数组1必须足够大</a:t>
            </a:r>
          </a:p>
          <a:p>
            <a:r>
              <a:rPr lang="zh-CN" altLang="zh-CN" b="1" dirty="0">
                <a:ea typeface="隶书" pitchFamily="49" charset="-122"/>
                <a:sym typeface="Wingdings" pitchFamily="2" charset="2"/>
              </a:rPr>
              <a:t>            </a:t>
            </a:r>
            <a:r>
              <a:rPr lang="en-US" altLang="zh-CN" b="1" dirty="0">
                <a:ea typeface="隶书" pitchFamily="49" charset="-122"/>
                <a:sym typeface="Wingdings" pitchFamily="2" charset="2"/>
              </a:rPr>
              <a:t> </a:t>
            </a:r>
            <a:r>
              <a:rPr lang="zh-CN" altLang="zh-CN" b="1" dirty="0">
                <a:ea typeface="隶书" pitchFamily="49" charset="-122"/>
                <a:sym typeface="Wingdings" pitchFamily="2" charset="2"/>
              </a:rPr>
              <a:t>拷贝时</a:t>
            </a:r>
            <a:r>
              <a:rPr lang="en-US" altLang="zh-CN" b="1" dirty="0"/>
              <a:t>'</a:t>
            </a:r>
            <a:r>
              <a:rPr lang="zh-CN" altLang="zh-CN" b="1" dirty="0">
                <a:ea typeface="隶书" pitchFamily="49" charset="-122"/>
                <a:sym typeface="Wingdings" pitchFamily="2" charset="2"/>
              </a:rPr>
              <a:t>\0</a:t>
            </a:r>
            <a:r>
              <a:rPr lang="en-US" altLang="zh-CN" b="1" dirty="0"/>
              <a:t>'</a:t>
            </a:r>
            <a:r>
              <a:rPr lang="zh-CN" altLang="zh-CN" b="1" dirty="0">
                <a:ea typeface="隶书" pitchFamily="49" charset="-122"/>
                <a:sym typeface="Wingdings" pitchFamily="2" charset="2"/>
              </a:rPr>
              <a:t>一同拷贝</a:t>
            </a:r>
          </a:p>
          <a:p>
            <a:r>
              <a:rPr lang="zh-CN" altLang="zh-CN" b="1" dirty="0">
                <a:ea typeface="隶书" pitchFamily="49" charset="-122"/>
                <a:sym typeface="Wingdings" pitchFamily="2" charset="2"/>
              </a:rPr>
              <a:t>           </a:t>
            </a:r>
            <a:r>
              <a:rPr lang="en-US" altLang="zh-CN" b="1" dirty="0">
                <a:ea typeface="隶书" pitchFamily="49" charset="-122"/>
                <a:sym typeface="Wingdings" pitchFamily="2" charset="2"/>
              </a:rPr>
              <a:t> </a:t>
            </a:r>
            <a:r>
              <a:rPr lang="zh-CN" altLang="zh-CN" b="1" dirty="0">
                <a:ea typeface="隶书" pitchFamily="49" charset="-122"/>
                <a:sym typeface="Wingdings" pitchFamily="2" charset="2"/>
              </a:rPr>
              <a:t> </a:t>
            </a:r>
            <a:r>
              <a:rPr lang="zh-CN" altLang="zh-CN" b="1" dirty="0">
                <a:solidFill>
                  <a:srgbClr val="CC0066"/>
                </a:solidFill>
                <a:ea typeface="隶书" pitchFamily="49" charset="-122"/>
                <a:sym typeface="Wingdings" pitchFamily="2" charset="2"/>
              </a:rPr>
              <a:t>不能使用赋值语句为一个字符数组赋值</a:t>
            </a:r>
            <a:endParaRPr lang="zh-CN" altLang="en-US" b="1" dirty="0">
              <a:solidFill>
                <a:srgbClr val="CC0066"/>
              </a:solidFill>
              <a:ea typeface="隶书" pitchFamily="49" charset="-122"/>
              <a:sym typeface="Wingdings" pitchFamily="2" charset="2"/>
            </a:endParaRPr>
          </a:p>
        </p:txBody>
      </p:sp>
      <p:sp>
        <p:nvSpPr>
          <p:cNvPr id="1006600" name="Rectangle 8"/>
          <p:cNvSpPr>
            <a:spLocks noChangeArrowheads="1"/>
          </p:cNvSpPr>
          <p:nvPr/>
        </p:nvSpPr>
        <p:spPr bwMode="auto">
          <a:xfrm>
            <a:off x="1430002" y="1890990"/>
            <a:ext cx="1584088"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a:t>
            </a:r>
            <a:r>
              <a:rPr lang="en-US" altLang="zh-CN" b="1" dirty="0" err="1">
                <a:solidFill>
                  <a:srgbClr val="00B0F0"/>
                </a:solidFill>
                <a:latin typeface="+mn-lt"/>
                <a:ea typeface="楷体" pitchFamily="49" charset="-122"/>
              </a:rPr>
              <a:t>strcpy</a:t>
            </a:r>
            <a:r>
              <a:rPr lang="zh-CN" altLang="en-US" b="1" dirty="0">
                <a:solidFill>
                  <a:srgbClr val="00B0F0"/>
                </a:solidFill>
                <a:latin typeface="+mn-lt"/>
                <a:ea typeface="楷体" pitchFamily="49" charset="-122"/>
              </a:rPr>
              <a:t>函数</a:t>
            </a:r>
          </a:p>
        </p:txBody>
      </p:sp>
      <p:sp>
        <p:nvSpPr>
          <p:cNvPr id="1006601" name="Rectangle 9" descr="信纸"/>
          <p:cNvSpPr>
            <a:spLocks noChangeArrowheads="1"/>
          </p:cNvSpPr>
          <p:nvPr/>
        </p:nvSpPr>
        <p:spPr bwMode="auto">
          <a:xfrm>
            <a:off x="1795919" y="4941168"/>
            <a:ext cx="4630460" cy="1590675"/>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楷体" pitchFamily="49" charset="-122"/>
                <a:ea typeface="楷体" pitchFamily="49" charset="-122"/>
              </a:rPr>
              <a:t>例：</a:t>
            </a:r>
          </a:p>
          <a:p>
            <a:r>
              <a:rPr lang="zh-CN" altLang="en-US" b="1" dirty="0">
                <a:solidFill>
                  <a:srgbClr val="FF0000"/>
                </a:solidFill>
                <a:ea typeface="楷体_GB2312" pitchFamily="49" charset="-122"/>
              </a:rPr>
              <a:t>    </a:t>
            </a:r>
            <a:r>
              <a:rPr lang="en-US" altLang="zh-CN" b="1" dirty="0"/>
              <a:t>char  str1[20], str2[20];</a:t>
            </a:r>
          </a:p>
          <a:p>
            <a:r>
              <a:rPr lang="en-US" altLang="zh-CN" b="1" dirty="0"/>
              <a:t>    </a:t>
            </a:r>
            <a:r>
              <a:rPr lang="en-US" altLang="zh-CN" b="1" dirty="0" err="1"/>
              <a:t>scanf</a:t>
            </a:r>
            <a:r>
              <a:rPr lang="en-US" altLang="zh-CN" b="1" dirty="0"/>
              <a:t> ("%s", str2);</a:t>
            </a:r>
          </a:p>
          <a:p>
            <a:r>
              <a:rPr lang="en-US" altLang="zh-CN" b="1" dirty="0"/>
              <a:t>    </a:t>
            </a:r>
            <a:r>
              <a:rPr lang="en-US" altLang="zh-CN" b="1" dirty="0" err="1"/>
              <a:t>strcpy</a:t>
            </a:r>
            <a:r>
              <a:rPr lang="en-US" altLang="zh-CN" b="1" dirty="0"/>
              <a:t> (str1, str2);</a:t>
            </a:r>
          </a:p>
        </p:txBody>
      </p:sp>
      <p:sp>
        <p:nvSpPr>
          <p:cNvPr id="1006607" name="Text Box 15"/>
          <p:cNvSpPr txBox="1">
            <a:spLocks noChangeArrowheads="1"/>
          </p:cNvSpPr>
          <p:nvPr/>
        </p:nvSpPr>
        <p:spPr bwMode="auto">
          <a:xfrm>
            <a:off x="6627085" y="4950584"/>
            <a:ext cx="4479814" cy="1571842"/>
          </a:xfrm>
          <a:prstGeom prst="rect">
            <a:avLst/>
          </a:prstGeom>
          <a:gradFill flip="none" rotWithShape="1">
            <a:gsLst>
              <a:gs pos="0">
                <a:srgbClr val="CFCFD1"/>
              </a:gs>
              <a:gs pos="100000">
                <a:schemeClr val="bg1">
                  <a:lumMod val="9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latin typeface="+mn-lt"/>
                <a:ea typeface="楷体" pitchFamily="49" charset="-122"/>
              </a:rPr>
              <a:t>例：  </a:t>
            </a:r>
            <a:endParaRPr lang="en-US" altLang="zh-CN" b="1" dirty="0">
              <a:solidFill>
                <a:srgbClr val="C01920"/>
              </a:solidFill>
              <a:latin typeface="+mn-lt"/>
              <a:ea typeface="楷体" pitchFamily="49" charset="-122"/>
            </a:endParaRPr>
          </a:p>
          <a:p>
            <a:r>
              <a:rPr lang="en-US" altLang="zh-CN" b="1" dirty="0">
                <a:latin typeface="+mn-lt"/>
                <a:ea typeface="楷体" pitchFamily="49" charset="-122"/>
              </a:rPr>
              <a:t>     </a:t>
            </a:r>
            <a:r>
              <a:rPr lang="en-US" altLang="zh-CN" b="1" dirty="0">
                <a:ea typeface="楷体_GB2312" pitchFamily="49" charset="-122"/>
              </a:rPr>
              <a:t>char str1[20], str2[20];</a:t>
            </a:r>
          </a:p>
          <a:p>
            <a:r>
              <a:rPr lang="en-US" altLang="zh-CN" b="1" dirty="0">
                <a:ea typeface="楷体_GB2312" pitchFamily="49" charset="-122"/>
              </a:rPr>
              <a:t>     str1 = {</a:t>
            </a:r>
            <a:r>
              <a:rPr lang="en-US" altLang="zh-CN" b="1" dirty="0"/>
              <a:t>"</a:t>
            </a:r>
            <a:r>
              <a:rPr lang="en-US" altLang="zh-CN" b="1" dirty="0">
                <a:ea typeface="楷体_GB2312" pitchFamily="49" charset="-122"/>
              </a:rPr>
              <a:t>Hello!</a:t>
            </a:r>
            <a:r>
              <a:rPr lang="en-US" altLang="zh-CN" b="1" dirty="0"/>
              <a:t>"</a:t>
            </a:r>
            <a:r>
              <a:rPr lang="en-US" altLang="zh-CN" b="1" dirty="0">
                <a:ea typeface="楷体_GB2312" pitchFamily="49" charset="-122"/>
              </a:rPr>
              <a:t>};         (</a:t>
            </a:r>
            <a:r>
              <a:rPr lang="en-US" altLang="zh-CN" b="1" dirty="0">
                <a:solidFill>
                  <a:srgbClr val="C01920"/>
                </a:solidFill>
                <a:ea typeface="楷体_GB2312" pitchFamily="49" charset="-122"/>
                <a:sym typeface="Symbol" pitchFamily="18" charset="2"/>
              </a:rPr>
              <a:t></a:t>
            </a:r>
            <a:r>
              <a:rPr lang="en-US" altLang="zh-CN" b="1" dirty="0">
                <a:ea typeface="楷体_GB2312" pitchFamily="49" charset="-122"/>
              </a:rPr>
              <a:t>)</a:t>
            </a:r>
          </a:p>
          <a:p>
            <a:r>
              <a:rPr lang="en-US" altLang="zh-CN" b="1" dirty="0">
                <a:ea typeface="楷体_GB2312" pitchFamily="49" charset="-122"/>
              </a:rPr>
              <a:t>     str2 = str1;                    (</a:t>
            </a:r>
            <a:r>
              <a:rPr lang="en-US" altLang="zh-CN" b="1" dirty="0">
                <a:solidFill>
                  <a:srgbClr val="C01920"/>
                </a:solidFill>
                <a:ea typeface="楷体_GB2312" pitchFamily="49" charset="-122"/>
                <a:sym typeface="Symbol" pitchFamily="18" charset="2"/>
              </a:rPr>
              <a:t></a:t>
            </a:r>
            <a:r>
              <a:rPr lang="en-US" altLang="zh-CN" b="1" dirty="0">
                <a:ea typeface="楷体_GB2312" pitchFamily="49" charset="-122"/>
              </a:rPr>
              <a:t>)</a:t>
            </a:r>
          </a:p>
        </p:txBody>
      </p:sp>
      <p:sp>
        <p:nvSpPr>
          <p:cNvPr id="11" name="Rectangle 6">
            <a:extLst>
              <a:ext uri="{FF2B5EF4-FFF2-40B4-BE49-F238E27FC236}">
                <a16:creationId xmlns:a16="http://schemas.microsoft.com/office/drawing/2014/main" id="{C707F05C-CCEC-462D-89DB-FFB531C87CDB}"/>
              </a:ext>
            </a:extLst>
          </p:cNvPr>
          <p:cNvSpPr>
            <a:spLocks noChangeArrowheads="1"/>
          </p:cNvSpPr>
          <p:nvPr/>
        </p:nvSpPr>
        <p:spPr bwMode="auto">
          <a:xfrm>
            <a:off x="1121397" y="1489031"/>
            <a:ext cx="1826141"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字符串的复制</a:t>
            </a:r>
          </a:p>
        </p:txBody>
      </p:sp>
      <p:sp>
        <p:nvSpPr>
          <p:cNvPr id="12" name="Rectangle 2">
            <a:extLst>
              <a:ext uri="{FF2B5EF4-FFF2-40B4-BE49-F238E27FC236}">
                <a16:creationId xmlns:a16="http://schemas.microsoft.com/office/drawing/2014/main" id="{7D6EF9F4-7F73-4BEC-B95E-0A32FDEBF3AD}"/>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3</a:t>
            </a:r>
            <a:r>
              <a:rPr lang="zh-CN" altLang="en-US" sz="2800" b="1" dirty="0">
                <a:solidFill>
                  <a:srgbClr val="00B0F0"/>
                </a:solidFill>
                <a:latin typeface="+mn-lt"/>
                <a:ea typeface="楷体" pitchFamily="49" charset="-122"/>
              </a:rPr>
              <a:t>、字符及字符串操作的常用函数</a:t>
            </a:r>
            <a:r>
              <a:rPr lang="zh-CN" altLang="en-US" sz="2800" dirty="0">
                <a:solidFill>
                  <a:srgbClr val="00B0F0"/>
                </a:solidFill>
                <a:latin typeface="+mn-lt"/>
                <a:ea typeface="楷体" pitchFamily="49" charset="-122"/>
              </a:rPr>
              <a:t> </a:t>
            </a:r>
          </a:p>
        </p:txBody>
      </p:sp>
      <p:sp>
        <p:nvSpPr>
          <p:cNvPr id="13" name="Rectangle 4">
            <a:extLst>
              <a:ext uri="{FF2B5EF4-FFF2-40B4-BE49-F238E27FC236}">
                <a16:creationId xmlns:a16="http://schemas.microsoft.com/office/drawing/2014/main" id="{83B30217-09F5-42EF-8B5C-3CB2EBCC7E6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1462470862"/>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6600"/>
                                        </p:tgtEl>
                                        <p:attrNameLst>
                                          <p:attrName>style.visibility</p:attrName>
                                        </p:attrNameLst>
                                      </p:cBhvr>
                                      <p:to>
                                        <p:strVal val="visible"/>
                                      </p:to>
                                    </p:set>
                                    <p:anim calcmode="lin" valueType="num">
                                      <p:cBhvr additive="base">
                                        <p:cTn id="13" dur="500" fill="hold"/>
                                        <p:tgtEl>
                                          <p:spTgt spid="1006600"/>
                                        </p:tgtEl>
                                        <p:attrNameLst>
                                          <p:attrName>ppt_x</p:attrName>
                                        </p:attrNameLst>
                                      </p:cBhvr>
                                      <p:tavLst>
                                        <p:tav tm="0">
                                          <p:val>
                                            <p:strVal val="0-#ppt_w/2"/>
                                          </p:val>
                                        </p:tav>
                                        <p:tav tm="100000">
                                          <p:val>
                                            <p:strVal val="#ppt_x"/>
                                          </p:val>
                                        </p:tav>
                                      </p:tavLst>
                                    </p:anim>
                                    <p:anim calcmode="lin" valueType="num">
                                      <p:cBhvr additive="base">
                                        <p:cTn id="14" dur="500" fill="hold"/>
                                        <p:tgtEl>
                                          <p:spTgt spid="100660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6599"/>
                                        </p:tgtEl>
                                        <p:attrNameLst>
                                          <p:attrName>style.visibility</p:attrName>
                                        </p:attrNameLst>
                                      </p:cBhvr>
                                      <p:to>
                                        <p:strVal val="visible"/>
                                      </p:to>
                                    </p:set>
                                    <p:animEffect transition="in" filter="box(out)">
                                      <p:cBhvr>
                                        <p:cTn id="19" dur="500"/>
                                        <p:tgtEl>
                                          <p:spTgt spid="1006599"/>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6601"/>
                                        </p:tgtEl>
                                        <p:attrNameLst>
                                          <p:attrName>style.visibility</p:attrName>
                                        </p:attrNameLst>
                                      </p:cBhvr>
                                      <p:to>
                                        <p:strVal val="visible"/>
                                      </p:to>
                                    </p:set>
                                    <p:animEffect transition="in" filter="box(out)">
                                      <p:cBhvr>
                                        <p:cTn id="24" dur="500"/>
                                        <p:tgtEl>
                                          <p:spTgt spid="1006601"/>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06607"/>
                                        </p:tgtEl>
                                        <p:attrNameLst>
                                          <p:attrName>style.visibility</p:attrName>
                                        </p:attrNameLst>
                                      </p:cBhvr>
                                      <p:to>
                                        <p:strVal val="visible"/>
                                      </p:to>
                                    </p:set>
                                    <p:animEffect transition="in" filter="box(out)">
                                      <p:cBhvr>
                                        <p:cTn id="29" dur="500"/>
                                        <p:tgtEl>
                                          <p:spTgt spid="1006607"/>
                                        </p:tgtEl>
                                      </p:cBhvr>
                                    </p:animEffect>
                                  </p:childTnLst>
                                  <p:subTnLst>
                                    <p:set>
                                      <p:cBhvr override="childStyle">
                                        <p:cTn dur="1" fill="hold" display="0" masterRel="nextClick" afterEffect="1"/>
                                        <p:tgtEl>
                                          <p:spTgt spid="1006607"/>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9" grpId="0" animBg="1" autoUpdateAnimBg="0"/>
      <p:bldP spid="1006600" grpId="0"/>
      <p:bldP spid="1006601" grpId="0" animBg="1"/>
      <p:bldP spid="1006607" grpId="0" animBg="1" autoUpdateAnimBg="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23" name="Text Box 7"/>
          <p:cNvSpPr txBox="1">
            <a:spLocks noChangeArrowheads="1"/>
          </p:cNvSpPr>
          <p:nvPr/>
        </p:nvSpPr>
        <p:spPr bwMode="auto">
          <a:xfrm>
            <a:off x="1632150" y="2388625"/>
            <a:ext cx="9937154" cy="1938992"/>
          </a:xfrm>
          <a:prstGeom prst="rect">
            <a:avLst/>
          </a:prstGeom>
          <a:gradFill flip="none" rotWithShape="1">
            <a:gsLst>
              <a:gs pos="0">
                <a:srgbClr val="CFCFD1"/>
              </a:gs>
              <a:gs pos="100000">
                <a:schemeClr val="bg1">
                  <a:lumMod val="9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strncpy</a:t>
            </a:r>
            <a:r>
              <a:rPr lang="en-US" altLang="zh-CN" b="1" dirty="0">
                <a:solidFill>
                  <a:schemeClr val="accent2"/>
                </a:solidFill>
                <a:ea typeface="隶书" pitchFamily="49" charset="-122"/>
              </a:rPr>
              <a:t> </a:t>
            </a:r>
            <a:r>
              <a:rPr lang="en-US" altLang="zh-CN" b="1" dirty="0">
                <a:ea typeface="隶书" pitchFamily="49" charset="-122"/>
              </a:rPr>
              <a:t>(</a:t>
            </a:r>
            <a:r>
              <a:rPr lang="zh-CN" altLang="zh-CN" b="1" dirty="0">
                <a:ea typeface="隶书" pitchFamily="49" charset="-122"/>
              </a:rPr>
              <a:t>字符数组1,</a:t>
            </a:r>
            <a:r>
              <a:rPr lang="en-US" altLang="zh-CN" b="1" dirty="0">
                <a:ea typeface="隶书" pitchFamily="49" charset="-122"/>
              </a:rPr>
              <a:t> </a:t>
            </a:r>
            <a:r>
              <a:rPr lang="zh-CN" altLang="zh-CN" b="1" dirty="0">
                <a:ea typeface="隶书" pitchFamily="49" charset="-122"/>
              </a:rPr>
              <a:t>字符串2</a:t>
            </a:r>
            <a:r>
              <a:rPr lang="en-US" altLang="zh-CN" b="1" dirty="0">
                <a:ea typeface="隶书" pitchFamily="49" charset="-122"/>
              </a:rPr>
              <a:t>, </a:t>
            </a:r>
            <a:r>
              <a:rPr lang="zh-CN" altLang="en-US" b="1" dirty="0">
                <a:ea typeface="隶书" pitchFamily="49" charset="-122"/>
              </a:rPr>
              <a:t>长度</a:t>
            </a:r>
            <a:r>
              <a:rPr lang="en-US" altLang="zh-CN" b="1" dirty="0">
                <a:ea typeface="隶书" pitchFamily="49" charset="-122"/>
              </a:rPr>
              <a:t>n</a:t>
            </a:r>
            <a:r>
              <a:rPr lang="zh-CN" altLang="zh-CN" b="1" dirty="0">
                <a:ea typeface="隶书" pitchFamily="49" charset="-122"/>
              </a:rPr>
              <a:t>)</a:t>
            </a:r>
            <a:r>
              <a:rPr lang="en-US" altLang="zh-CN" b="1" dirty="0">
                <a:ea typeface="隶书" pitchFamily="49" charset="-122"/>
              </a:rPr>
              <a:t> </a:t>
            </a:r>
          </a:p>
          <a:p>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pPr marL="901700" indent="-901700"/>
            <a:r>
              <a:rPr lang="zh-CN" altLang="zh-CN" b="1" dirty="0">
                <a:ea typeface="隶书" pitchFamily="49" charset="-122"/>
              </a:rPr>
              <a:t>功能：</a:t>
            </a:r>
            <a:r>
              <a:rPr lang="zh-CN" altLang="en-US" b="1" dirty="0">
                <a:latin typeface="隶书" pitchFamily="49" charset="-122"/>
                <a:ea typeface="隶书" pitchFamily="49" charset="-122"/>
              </a:rPr>
              <a:t>将字符串</a:t>
            </a:r>
            <a:r>
              <a:rPr lang="en-US" altLang="zh-CN" b="1" dirty="0">
                <a:latin typeface="隶书" pitchFamily="49" charset="-122"/>
                <a:ea typeface="隶书" pitchFamily="49" charset="-122"/>
              </a:rPr>
              <a:t>2</a:t>
            </a:r>
            <a:r>
              <a:rPr lang="zh-CN" altLang="en-US" b="1" dirty="0">
                <a:latin typeface="隶书" pitchFamily="49" charset="-122"/>
                <a:ea typeface="隶书" pitchFamily="49" charset="-122"/>
              </a:rPr>
              <a:t>的前</a:t>
            </a:r>
            <a:r>
              <a:rPr lang="en-US" altLang="zh-CN" b="1" dirty="0">
                <a:latin typeface="隶书" pitchFamily="49" charset="-122"/>
                <a:ea typeface="隶书" pitchFamily="49" charset="-122"/>
              </a:rPr>
              <a:t>n</a:t>
            </a:r>
            <a:r>
              <a:rPr lang="zh-CN" altLang="en-US" b="1" dirty="0">
                <a:latin typeface="隶书" pitchFamily="49" charset="-122"/>
                <a:ea typeface="隶书" pitchFamily="49" charset="-122"/>
              </a:rPr>
              <a:t>个字符复制到字符数组</a:t>
            </a:r>
            <a:r>
              <a:rPr lang="en-US" altLang="zh-CN" b="1" dirty="0">
                <a:latin typeface="隶书" pitchFamily="49" charset="-122"/>
                <a:ea typeface="隶书" pitchFamily="49" charset="-122"/>
              </a:rPr>
              <a:t>1</a:t>
            </a:r>
            <a:r>
              <a:rPr lang="zh-CN" altLang="en-US" b="1" dirty="0">
                <a:latin typeface="隶书" pitchFamily="49" charset="-122"/>
                <a:ea typeface="隶书" pitchFamily="49" charset="-122"/>
              </a:rPr>
              <a:t>中去，但并</a:t>
            </a:r>
            <a:r>
              <a:rPr lang="zh-CN" altLang="en-US" b="1" dirty="0">
                <a:solidFill>
                  <a:srgbClr val="C01920"/>
                </a:solidFill>
                <a:latin typeface="隶书" pitchFamily="49" charset="-122"/>
                <a:ea typeface="隶书" pitchFamily="49" charset="-122"/>
              </a:rPr>
              <a:t>未在末尾加</a:t>
            </a:r>
            <a:r>
              <a:rPr lang="en-US" altLang="zh-CN" b="1" dirty="0">
                <a:solidFill>
                  <a:srgbClr val="C01920"/>
                </a:solidFill>
              </a:rPr>
              <a:t>'</a:t>
            </a:r>
            <a:r>
              <a:rPr lang="zh-CN" altLang="zh-CN" b="1" dirty="0">
                <a:solidFill>
                  <a:srgbClr val="C01920"/>
                </a:solidFill>
                <a:sym typeface="Wingdings" pitchFamily="2" charset="2"/>
              </a:rPr>
              <a:t>\0</a:t>
            </a:r>
            <a:r>
              <a:rPr lang="en-US" altLang="zh-CN" b="1" dirty="0">
                <a:solidFill>
                  <a:srgbClr val="C01920"/>
                </a:solidFill>
              </a:rPr>
              <a:t>'</a:t>
            </a:r>
            <a:endParaRPr lang="en-US" altLang="zh-CN" b="1" dirty="0">
              <a:solidFill>
                <a:srgbClr val="C01920"/>
              </a:solidFill>
              <a:latin typeface="隶书" pitchFamily="49" charset="-122"/>
              <a:ea typeface="隶书" pitchFamily="49" charset="-122"/>
            </a:endParaRPr>
          </a:p>
          <a:p>
            <a:r>
              <a:rPr lang="zh-CN" altLang="zh-CN" b="1" dirty="0">
                <a:ea typeface="隶书" pitchFamily="49" charset="-122"/>
              </a:rPr>
              <a:t>返值：返回字符数组1的首地址</a:t>
            </a:r>
          </a:p>
          <a:p>
            <a:r>
              <a:rPr lang="zh-CN" altLang="zh-CN" b="1" dirty="0">
                <a:ea typeface="隶书" pitchFamily="49" charset="-122"/>
              </a:rPr>
              <a:t>说明：</a:t>
            </a:r>
            <a:r>
              <a:rPr lang="zh-CN" altLang="zh-CN" b="1" dirty="0">
                <a:ea typeface="隶书" pitchFamily="49" charset="-122"/>
                <a:sym typeface="Wingdings" pitchFamily="2" charset="2"/>
              </a:rPr>
              <a:t>字符数组1必须足够大            </a:t>
            </a:r>
            <a:endParaRPr lang="zh-CN" altLang="en-US" b="1" dirty="0">
              <a:solidFill>
                <a:srgbClr val="CC0066"/>
              </a:solidFill>
              <a:ea typeface="隶书" pitchFamily="49" charset="-122"/>
              <a:sym typeface="Wingdings" pitchFamily="2" charset="2"/>
            </a:endParaRPr>
          </a:p>
        </p:txBody>
      </p:sp>
      <p:sp>
        <p:nvSpPr>
          <p:cNvPr id="1007625" name="Rectangle 9" descr="信纸"/>
          <p:cNvSpPr>
            <a:spLocks noChangeArrowheads="1"/>
          </p:cNvSpPr>
          <p:nvPr/>
        </p:nvSpPr>
        <p:spPr bwMode="auto">
          <a:xfrm>
            <a:off x="1633315" y="4409753"/>
            <a:ext cx="9935989" cy="2246769"/>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char </a:t>
            </a:r>
            <a:r>
              <a:rPr lang="en-US" altLang="zh-CN" b="1" dirty="0" err="1">
                <a:latin typeface="+mn-lt"/>
                <a:ea typeface="楷体" pitchFamily="49" charset="-122"/>
              </a:rPr>
              <a:t>str</a:t>
            </a:r>
            <a:r>
              <a:rPr lang="en-US" altLang="zh-CN" b="1" dirty="0">
                <a:latin typeface="+mn-lt"/>
                <a:ea typeface="楷体" pitchFamily="49" charset="-122"/>
              </a:rPr>
              <a:t>[20];</a:t>
            </a:r>
          </a:p>
          <a:p>
            <a:r>
              <a:rPr lang="en-US" altLang="zh-CN" b="1" dirty="0">
                <a:latin typeface="+mn-lt"/>
                <a:ea typeface="楷体" pitchFamily="49" charset="-122"/>
              </a:rPr>
              <a:t>    </a:t>
            </a:r>
            <a:r>
              <a:rPr lang="en-US" altLang="zh-CN" b="1" dirty="0" err="1">
                <a:latin typeface="+mn-lt"/>
                <a:ea typeface="楷体" pitchFamily="49" charset="-122"/>
              </a:rPr>
              <a:t>strncpy</a:t>
            </a:r>
            <a:r>
              <a:rPr lang="en-US" altLang="zh-CN" b="1" dirty="0">
                <a:latin typeface="+mn-lt"/>
                <a:ea typeface="楷体" pitchFamily="49" charset="-122"/>
              </a:rPr>
              <a:t> (str, "0123456789", 5);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a:t>
            </a:r>
            <a:r>
              <a:rPr lang="en-US" altLang="zh-CN" sz="2000" b="1" dirty="0">
                <a:solidFill>
                  <a:srgbClr val="002060"/>
                </a:solidFill>
                <a:latin typeface="+mn-lt"/>
                <a:ea typeface="楷体" pitchFamily="49" charset="-122"/>
              </a:rPr>
              <a:t>0123456789”</a:t>
            </a:r>
            <a:r>
              <a:rPr lang="zh-CN" altLang="en-US" sz="2000" b="1" dirty="0">
                <a:solidFill>
                  <a:srgbClr val="002060"/>
                </a:solidFill>
                <a:latin typeface="+mn-lt"/>
                <a:ea typeface="楷体" pitchFamily="49" charset="-122"/>
              </a:rPr>
              <a:t>的前</a:t>
            </a:r>
            <a:r>
              <a:rPr lang="en-US" altLang="zh-CN" sz="2000" b="1" dirty="0">
                <a:solidFill>
                  <a:srgbClr val="002060"/>
                </a:solidFill>
                <a:latin typeface="+mn-lt"/>
                <a:ea typeface="楷体" pitchFamily="49" charset="-122"/>
              </a:rPr>
              <a:t>5</a:t>
            </a:r>
            <a:r>
              <a:rPr lang="zh-CN" altLang="en-US" sz="2000" b="1" dirty="0">
                <a:solidFill>
                  <a:srgbClr val="002060"/>
                </a:solidFill>
                <a:latin typeface="+mn-lt"/>
                <a:ea typeface="楷体" pitchFamily="49" charset="-122"/>
              </a:rPr>
              <a:t>个</a:t>
            </a:r>
          </a:p>
          <a:p>
            <a:r>
              <a:rPr lang="zh-CN" altLang="en-US" sz="2000" b="1" dirty="0">
                <a:solidFill>
                  <a:schemeClr val="accent2"/>
                </a:solidFill>
                <a:latin typeface="+mn-lt"/>
                <a:ea typeface="楷体" pitchFamily="49" charset="-122"/>
              </a:rPr>
              <a:t>                                                                          </a:t>
            </a:r>
            <a:r>
              <a:rPr lang="zh-CN" altLang="en-US" sz="2000" b="1" dirty="0">
                <a:solidFill>
                  <a:srgbClr val="002060"/>
                </a:solidFill>
                <a:latin typeface="+mn-lt"/>
                <a:ea typeface="楷体" pitchFamily="49" charset="-122"/>
              </a:rPr>
              <a:t>字符复制到</a:t>
            </a:r>
            <a:r>
              <a:rPr lang="en-US" altLang="zh-CN" sz="2000" b="1" dirty="0">
                <a:solidFill>
                  <a:srgbClr val="002060"/>
                </a:solidFill>
                <a:latin typeface="+mn-lt"/>
                <a:ea typeface="楷体" pitchFamily="49" charset="-122"/>
              </a:rPr>
              <a:t>str</a:t>
            </a:r>
            <a:r>
              <a:rPr lang="zh-CN" altLang="en-US" sz="2000" b="1" dirty="0">
                <a:solidFill>
                  <a:srgbClr val="002060"/>
                </a:solidFill>
                <a:latin typeface="+mn-lt"/>
                <a:ea typeface="楷体" pitchFamily="49" charset="-122"/>
              </a:rPr>
              <a:t>中，并未加</a:t>
            </a:r>
            <a:r>
              <a:rPr lang="en-US" altLang="zh-CN" sz="2000" b="1" dirty="0">
                <a:solidFill>
                  <a:srgbClr val="002060"/>
                </a:solidFill>
                <a:latin typeface="+mn-lt"/>
                <a:ea typeface="楷体" pitchFamily="49" charset="-122"/>
              </a:rPr>
              <a:t>'\0'</a:t>
            </a:r>
          </a:p>
          <a:p>
            <a:r>
              <a:rPr lang="en-US" altLang="zh-CN" b="1" dirty="0">
                <a:solidFill>
                  <a:srgbClr val="C01920"/>
                </a:solidFill>
                <a:latin typeface="+mn-lt"/>
                <a:ea typeface="楷体" pitchFamily="49" charset="-122"/>
              </a:rPr>
              <a:t>    str[5] = '</a:t>
            </a:r>
            <a:r>
              <a:rPr lang="zh-CN" altLang="zh-CN" b="1" dirty="0">
                <a:solidFill>
                  <a:srgbClr val="C01920"/>
                </a:solidFill>
                <a:latin typeface="+mn-lt"/>
                <a:ea typeface="楷体" pitchFamily="49" charset="-122"/>
                <a:sym typeface="Wingdings" pitchFamily="2" charset="2"/>
              </a:rPr>
              <a:t>\0</a:t>
            </a:r>
            <a:r>
              <a:rPr lang="en-US" altLang="zh-CN" b="1" dirty="0">
                <a:solidFill>
                  <a:srgbClr val="C01920"/>
                </a:solidFill>
                <a:latin typeface="+mn-lt"/>
                <a:ea typeface="楷体"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在末尾添加</a:t>
            </a:r>
            <a:r>
              <a:rPr lang="en-US" altLang="zh-CN" sz="2000" b="1" dirty="0">
                <a:solidFill>
                  <a:srgbClr val="002060"/>
                </a:solidFill>
                <a:latin typeface="+mn-lt"/>
                <a:ea typeface="楷体" pitchFamily="49" charset="-122"/>
              </a:rPr>
              <a:t> '</a:t>
            </a:r>
            <a:r>
              <a:rPr lang="zh-CN" altLang="zh-CN" sz="2000" b="1" dirty="0">
                <a:solidFill>
                  <a:srgbClr val="002060"/>
                </a:solidFill>
                <a:latin typeface="+mn-lt"/>
                <a:ea typeface="楷体" pitchFamily="49" charset="-122"/>
                <a:sym typeface="Wingdings" pitchFamily="2" charset="2"/>
              </a:rPr>
              <a:t>\0</a:t>
            </a:r>
            <a:r>
              <a:rPr lang="en-US" altLang="zh-CN" sz="2000" b="1" dirty="0">
                <a:solidFill>
                  <a:srgbClr val="002060"/>
                </a:solidFill>
                <a:latin typeface="+mn-lt"/>
                <a:ea typeface="楷体" pitchFamily="49" charset="-122"/>
              </a:rPr>
              <a:t>'</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("%s", str);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将输出</a:t>
            </a:r>
            <a:r>
              <a:rPr lang="en-US" altLang="zh-CN" sz="2000" b="1" dirty="0">
                <a:solidFill>
                  <a:srgbClr val="002060"/>
                </a:solidFill>
                <a:latin typeface="+mn-lt"/>
                <a:ea typeface="楷体" pitchFamily="49" charset="-122"/>
              </a:rPr>
              <a:t>01234</a:t>
            </a:r>
          </a:p>
        </p:txBody>
      </p:sp>
      <p:sp>
        <p:nvSpPr>
          <p:cNvPr id="10" name="Rectangle 8">
            <a:extLst>
              <a:ext uri="{FF2B5EF4-FFF2-40B4-BE49-F238E27FC236}">
                <a16:creationId xmlns:a16="http://schemas.microsoft.com/office/drawing/2014/main" id="{2E8DE44E-DB8D-4A29-A835-4063017563DA}"/>
              </a:ext>
            </a:extLst>
          </p:cNvPr>
          <p:cNvSpPr>
            <a:spLocks noChangeArrowheads="1"/>
          </p:cNvSpPr>
          <p:nvPr/>
        </p:nvSpPr>
        <p:spPr bwMode="auto">
          <a:xfrm>
            <a:off x="1430002" y="1890990"/>
            <a:ext cx="1718740"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a:t>
            </a:r>
            <a:r>
              <a:rPr lang="en-US" altLang="zh-CN" b="1" dirty="0" err="1">
                <a:solidFill>
                  <a:srgbClr val="00B0F0"/>
                </a:solidFill>
                <a:latin typeface="+mn-lt"/>
                <a:ea typeface="楷体" pitchFamily="49" charset="-122"/>
              </a:rPr>
              <a:t>strncpy</a:t>
            </a:r>
            <a:r>
              <a:rPr lang="zh-CN" altLang="en-US" b="1" dirty="0">
                <a:solidFill>
                  <a:srgbClr val="00B0F0"/>
                </a:solidFill>
                <a:latin typeface="+mn-lt"/>
                <a:ea typeface="楷体" pitchFamily="49" charset="-122"/>
              </a:rPr>
              <a:t>函数</a:t>
            </a:r>
          </a:p>
        </p:txBody>
      </p:sp>
      <p:sp>
        <p:nvSpPr>
          <p:cNvPr id="11" name="Rectangle 6">
            <a:extLst>
              <a:ext uri="{FF2B5EF4-FFF2-40B4-BE49-F238E27FC236}">
                <a16:creationId xmlns:a16="http://schemas.microsoft.com/office/drawing/2014/main" id="{A3805DA7-3063-436B-86EE-57E093EC9D95}"/>
              </a:ext>
            </a:extLst>
          </p:cNvPr>
          <p:cNvSpPr>
            <a:spLocks noChangeArrowheads="1"/>
          </p:cNvSpPr>
          <p:nvPr/>
        </p:nvSpPr>
        <p:spPr bwMode="auto">
          <a:xfrm>
            <a:off x="1121397" y="1489031"/>
            <a:ext cx="1826141"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字符串的复制</a:t>
            </a:r>
          </a:p>
        </p:txBody>
      </p:sp>
      <p:sp>
        <p:nvSpPr>
          <p:cNvPr id="12" name="Rectangle 2">
            <a:extLst>
              <a:ext uri="{FF2B5EF4-FFF2-40B4-BE49-F238E27FC236}">
                <a16:creationId xmlns:a16="http://schemas.microsoft.com/office/drawing/2014/main" id="{95A33DB7-9B57-43B4-9AFE-D13D933E25E7}"/>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3</a:t>
            </a:r>
            <a:r>
              <a:rPr lang="zh-CN" altLang="en-US" sz="2800" b="1" dirty="0">
                <a:solidFill>
                  <a:srgbClr val="00B0F0"/>
                </a:solidFill>
                <a:latin typeface="+mn-lt"/>
                <a:ea typeface="楷体" pitchFamily="49" charset="-122"/>
              </a:rPr>
              <a:t>、字符及字符串操作的常用函数</a:t>
            </a:r>
            <a:r>
              <a:rPr lang="zh-CN" altLang="en-US" sz="2800" dirty="0">
                <a:solidFill>
                  <a:srgbClr val="00B0F0"/>
                </a:solidFill>
                <a:latin typeface="+mn-lt"/>
                <a:ea typeface="楷体" pitchFamily="49" charset="-122"/>
              </a:rPr>
              <a:t> </a:t>
            </a:r>
          </a:p>
        </p:txBody>
      </p:sp>
      <p:sp>
        <p:nvSpPr>
          <p:cNvPr id="13" name="Rectangle 4">
            <a:extLst>
              <a:ext uri="{FF2B5EF4-FFF2-40B4-BE49-F238E27FC236}">
                <a16:creationId xmlns:a16="http://schemas.microsoft.com/office/drawing/2014/main" id="{463D9868-F923-440E-A900-B3DC97E2F14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446613392"/>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7623"/>
                                        </p:tgtEl>
                                        <p:attrNameLst>
                                          <p:attrName>style.visibility</p:attrName>
                                        </p:attrNameLst>
                                      </p:cBhvr>
                                      <p:to>
                                        <p:strVal val="visible"/>
                                      </p:to>
                                    </p:set>
                                    <p:animEffect transition="in" filter="box(out)">
                                      <p:cBhvr>
                                        <p:cTn id="19" dur="500"/>
                                        <p:tgtEl>
                                          <p:spTgt spid="1007623"/>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7625"/>
                                        </p:tgtEl>
                                        <p:attrNameLst>
                                          <p:attrName>style.visibility</p:attrName>
                                        </p:attrNameLst>
                                      </p:cBhvr>
                                      <p:to>
                                        <p:strVal val="visible"/>
                                      </p:to>
                                    </p:set>
                                    <p:animEffect transition="in" filter="box(out)">
                                      <p:cBhvr>
                                        <p:cTn id="24" dur="500"/>
                                        <p:tgtEl>
                                          <p:spTgt spid="1007625"/>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7623" grpId="0" animBg="1" autoUpdateAnimBg="0"/>
      <p:bldP spid="1007625" grpId="0" animBg="1"/>
      <p:bldP spid="10" grpId="0"/>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7" name="Text Box 7"/>
          <p:cNvSpPr txBox="1">
            <a:spLocks noChangeArrowheads="1"/>
          </p:cNvSpPr>
          <p:nvPr/>
        </p:nvSpPr>
        <p:spPr bwMode="auto">
          <a:xfrm>
            <a:off x="1590919" y="2384181"/>
            <a:ext cx="9603402" cy="3046988"/>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strcmp</a:t>
            </a:r>
            <a:r>
              <a:rPr lang="en-US" altLang="zh-CN" b="1" dirty="0">
                <a:solidFill>
                  <a:srgbClr val="002060"/>
                </a:solidFill>
                <a:ea typeface="隶书" pitchFamily="49" charset="-122"/>
              </a:rPr>
              <a:t> </a:t>
            </a:r>
            <a:r>
              <a:rPr lang="en-US" altLang="zh-CN" b="1" dirty="0">
                <a:ea typeface="隶书" pitchFamily="49" charset="-122"/>
              </a:rPr>
              <a:t>(</a:t>
            </a:r>
            <a:r>
              <a:rPr lang="zh-CN" altLang="zh-CN" b="1" dirty="0">
                <a:ea typeface="隶书" pitchFamily="49" charset="-122"/>
              </a:rPr>
              <a:t>字符串1,</a:t>
            </a:r>
            <a:r>
              <a:rPr lang="en-US" altLang="zh-CN" b="1" dirty="0">
                <a:ea typeface="隶书" pitchFamily="49" charset="-122"/>
              </a:rPr>
              <a:t> </a:t>
            </a:r>
            <a:r>
              <a:rPr lang="zh-CN" altLang="zh-CN" b="1" dirty="0">
                <a:ea typeface="隶书" pitchFamily="49" charset="-122"/>
              </a:rPr>
              <a:t>字符串2) </a:t>
            </a:r>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r>
              <a:rPr lang="zh-CN" altLang="zh-CN" b="1" dirty="0">
                <a:ea typeface="隶书" pitchFamily="49" charset="-122"/>
              </a:rPr>
              <a:t>功能：比较两个字符串</a:t>
            </a:r>
          </a:p>
          <a:p>
            <a:r>
              <a:rPr lang="zh-CN" altLang="zh-CN" b="1" dirty="0">
                <a:ea typeface="隶书" pitchFamily="49" charset="-122"/>
              </a:rPr>
              <a:t>比较规则：对两串从左向右逐个字符比较（</a:t>
            </a:r>
            <a:r>
              <a:rPr lang="en-US" altLang="zh-CN" b="1" dirty="0">
                <a:ea typeface="隶书" pitchFamily="49" charset="-122"/>
              </a:rPr>
              <a:t>ASCII</a:t>
            </a:r>
            <a:r>
              <a:rPr lang="zh-CN" altLang="zh-CN" b="1" dirty="0">
                <a:ea typeface="隶书" pitchFamily="49" charset="-122"/>
              </a:rPr>
              <a:t>码），</a:t>
            </a:r>
          </a:p>
          <a:p>
            <a:r>
              <a:rPr lang="zh-CN" altLang="zh-CN" b="1" dirty="0">
                <a:ea typeface="隶书" pitchFamily="49" charset="-122"/>
              </a:rPr>
              <a:t>                    直到遇到不同字符或</a:t>
            </a:r>
            <a:r>
              <a:rPr lang="en-US" altLang="zh-CN" b="1" dirty="0"/>
              <a:t>'</a:t>
            </a:r>
            <a:r>
              <a:rPr lang="zh-CN" altLang="zh-CN" b="1" dirty="0">
                <a:sym typeface="Wingdings" pitchFamily="2" charset="2"/>
              </a:rPr>
              <a:t>\0</a:t>
            </a:r>
            <a:r>
              <a:rPr lang="en-US" altLang="zh-CN" b="1" dirty="0"/>
              <a:t>'</a:t>
            </a:r>
            <a:r>
              <a:rPr lang="zh-CN" altLang="zh-CN" b="1" dirty="0">
                <a:ea typeface="隶书" pitchFamily="49" charset="-122"/>
              </a:rPr>
              <a:t>为止</a:t>
            </a:r>
          </a:p>
          <a:p>
            <a:r>
              <a:rPr lang="zh-CN" altLang="zh-CN" b="1" dirty="0">
                <a:ea typeface="隶书" pitchFamily="49" charset="-122"/>
              </a:rPr>
              <a:t>返值：返回</a:t>
            </a:r>
            <a:r>
              <a:rPr lang="en-US" altLang="zh-CN" b="1" dirty="0" err="1">
                <a:ea typeface="隶书" pitchFamily="49" charset="-122"/>
              </a:rPr>
              <a:t>int</a:t>
            </a:r>
            <a:r>
              <a:rPr lang="zh-CN" altLang="zh-CN" b="1" dirty="0">
                <a:ea typeface="隶书" pitchFamily="49" charset="-122"/>
              </a:rPr>
              <a:t>型整数</a:t>
            </a:r>
            <a:r>
              <a:rPr lang="zh-CN" altLang="en-US" b="1" dirty="0">
                <a:ea typeface="隶书" pitchFamily="49" charset="-122"/>
              </a:rPr>
              <a:t>。</a:t>
            </a:r>
            <a:r>
              <a:rPr lang="en-US" altLang="zh-CN" b="1" dirty="0">
                <a:ea typeface="隶书" pitchFamily="49" charset="-122"/>
              </a:rPr>
              <a:t>a. </a:t>
            </a:r>
            <a:r>
              <a:rPr lang="zh-CN" altLang="zh-CN" b="1" dirty="0">
                <a:ea typeface="隶书" pitchFamily="49" charset="-122"/>
              </a:rPr>
              <a:t>若字符串1&lt; 字符串2</a:t>
            </a:r>
            <a:r>
              <a:rPr lang="en-US" altLang="zh-CN" b="1" dirty="0">
                <a:ea typeface="隶书" pitchFamily="49" charset="-122"/>
              </a:rPr>
              <a:t>,   </a:t>
            </a:r>
            <a:r>
              <a:rPr lang="zh-CN" altLang="zh-CN" b="1" dirty="0">
                <a:ea typeface="隶书" pitchFamily="49" charset="-122"/>
              </a:rPr>
              <a:t>返回</a:t>
            </a:r>
            <a:r>
              <a:rPr lang="zh-CN" altLang="zh-CN" b="1" dirty="0">
                <a:solidFill>
                  <a:srgbClr val="002060"/>
                </a:solidFill>
                <a:ea typeface="隶书" pitchFamily="49" charset="-122"/>
              </a:rPr>
              <a:t>负整数</a:t>
            </a:r>
          </a:p>
          <a:p>
            <a:r>
              <a:rPr lang="zh-CN" altLang="zh-CN" b="1" dirty="0">
                <a:ea typeface="隶书" pitchFamily="49" charset="-122"/>
              </a:rPr>
              <a:t>                                        </a:t>
            </a:r>
            <a:r>
              <a:rPr lang="zh-CN" altLang="en-US" b="1" dirty="0">
                <a:ea typeface="隶书" pitchFamily="49" charset="-122"/>
              </a:rPr>
              <a:t> </a:t>
            </a:r>
            <a:r>
              <a:rPr lang="en-US" altLang="zh-CN" b="1" dirty="0">
                <a:ea typeface="隶书" pitchFamily="49" charset="-122"/>
              </a:rPr>
              <a:t>b. </a:t>
            </a:r>
            <a:r>
              <a:rPr lang="zh-CN" altLang="zh-CN" b="1" dirty="0">
                <a:ea typeface="隶书" pitchFamily="49" charset="-122"/>
              </a:rPr>
              <a:t>若字符串1&gt; 字符串2</a:t>
            </a:r>
            <a:r>
              <a:rPr lang="en-US" altLang="zh-CN" b="1" dirty="0">
                <a:ea typeface="隶书" pitchFamily="49" charset="-122"/>
              </a:rPr>
              <a:t>,   </a:t>
            </a:r>
            <a:r>
              <a:rPr lang="zh-CN" altLang="zh-CN" b="1" dirty="0">
                <a:ea typeface="隶书" pitchFamily="49" charset="-122"/>
              </a:rPr>
              <a:t>返回</a:t>
            </a:r>
            <a:r>
              <a:rPr lang="zh-CN" altLang="zh-CN" b="1" dirty="0">
                <a:solidFill>
                  <a:srgbClr val="002060"/>
                </a:solidFill>
                <a:ea typeface="隶书" pitchFamily="49" charset="-122"/>
              </a:rPr>
              <a:t>正整数</a:t>
            </a:r>
          </a:p>
          <a:p>
            <a:r>
              <a:rPr lang="zh-CN" altLang="zh-CN" b="1" dirty="0">
                <a:ea typeface="隶书" pitchFamily="49" charset="-122"/>
              </a:rPr>
              <a:t>                                       </a:t>
            </a:r>
            <a:r>
              <a:rPr lang="zh-CN" altLang="en-US" b="1" dirty="0">
                <a:ea typeface="隶书" pitchFamily="49" charset="-122"/>
              </a:rPr>
              <a:t> </a:t>
            </a:r>
            <a:r>
              <a:rPr lang="zh-CN" altLang="zh-CN" b="1" dirty="0">
                <a:ea typeface="隶书" pitchFamily="49" charset="-122"/>
              </a:rPr>
              <a:t> </a:t>
            </a:r>
            <a:r>
              <a:rPr lang="en-US" altLang="zh-CN" b="1" dirty="0">
                <a:ea typeface="隶书" pitchFamily="49" charset="-122"/>
              </a:rPr>
              <a:t>c. </a:t>
            </a:r>
            <a:r>
              <a:rPr lang="zh-CN" altLang="zh-CN" b="1" dirty="0">
                <a:ea typeface="隶书" pitchFamily="49" charset="-122"/>
              </a:rPr>
              <a:t>若字符串1== 字符串2</a:t>
            </a:r>
            <a:r>
              <a:rPr lang="en-US" altLang="zh-CN" b="1" dirty="0">
                <a:ea typeface="隶书" pitchFamily="49" charset="-122"/>
              </a:rPr>
              <a:t>,  </a:t>
            </a:r>
            <a:r>
              <a:rPr lang="zh-CN" altLang="zh-CN" b="1" dirty="0">
                <a:ea typeface="隶书" pitchFamily="49" charset="-122"/>
              </a:rPr>
              <a:t>返回</a:t>
            </a:r>
            <a:r>
              <a:rPr lang="zh-CN" altLang="zh-CN" b="1" dirty="0">
                <a:solidFill>
                  <a:srgbClr val="002060"/>
                </a:solidFill>
                <a:ea typeface="隶书" pitchFamily="49" charset="-122"/>
              </a:rPr>
              <a:t>零</a:t>
            </a:r>
          </a:p>
          <a:p>
            <a:r>
              <a:rPr lang="zh-CN" altLang="zh-CN" b="1" dirty="0">
                <a:ea typeface="隶书" pitchFamily="49" charset="-122"/>
              </a:rPr>
              <a:t>说明：</a:t>
            </a:r>
            <a:r>
              <a:rPr lang="zh-CN" altLang="zh-CN" b="1" dirty="0">
                <a:solidFill>
                  <a:srgbClr val="C01920"/>
                </a:solidFill>
                <a:ea typeface="隶书" pitchFamily="49" charset="-122"/>
              </a:rPr>
              <a:t>字符串比较不能用“==”</a:t>
            </a:r>
            <a:r>
              <a:rPr lang="zh-CN" altLang="zh-CN" b="1" dirty="0">
                <a:ea typeface="隶书" pitchFamily="49" charset="-122"/>
              </a:rPr>
              <a:t>，必须用</a:t>
            </a:r>
            <a:r>
              <a:rPr lang="en-US" altLang="zh-CN" b="1" dirty="0" err="1">
                <a:ea typeface="隶书" pitchFamily="49" charset="-122"/>
              </a:rPr>
              <a:t>strcmp</a:t>
            </a:r>
            <a:endParaRPr lang="en-US" altLang="zh-CN" b="1" dirty="0">
              <a:ea typeface="隶书" pitchFamily="49" charset="-122"/>
            </a:endParaRPr>
          </a:p>
        </p:txBody>
      </p:sp>
      <p:sp>
        <p:nvSpPr>
          <p:cNvPr id="1008649" name="Rectangle 9" descr="信纸"/>
          <p:cNvSpPr>
            <a:spLocks noChangeArrowheads="1"/>
          </p:cNvSpPr>
          <p:nvPr/>
        </p:nvSpPr>
        <p:spPr bwMode="auto">
          <a:xfrm>
            <a:off x="1590919" y="4828970"/>
            <a:ext cx="9602956" cy="156966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err="1">
                <a:latin typeface="+mn-lt"/>
                <a:ea typeface="楷体" pitchFamily="49" charset="-122"/>
              </a:rPr>
              <a:t>strcmp</a:t>
            </a:r>
            <a:r>
              <a:rPr lang="en-US" altLang="zh-CN" b="1" dirty="0">
                <a:latin typeface="+mn-lt"/>
                <a:ea typeface="楷体" pitchFamily="49" charset="-122"/>
              </a:rPr>
              <a:t> (</a:t>
            </a:r>
            <a:r>
              <a:rPr lang="en-US" altLang="zh-CN" b="1" dirty="0">
                <a:ea typeface="楷体" pitchFamily="49" charset="-122"/>
              </a:rPr>
              <a:t>"</a:t>
            </a:r>
            <a:r>
              <a:rPr lang="en-US" altLang="zh-CN" b="1" dirty="0" err="1">
                <a:latin typeface="+mn-lt"/>
                <a:ea typeface="楷体" pitchFamily="49" charset="-122"/>
              </a:rPr>
              <a:t>abcd</a:t>
            </a:r>
            <a:r>
              <a:rPr lang="en-US" altLang="zh-CN" b="1" dirty="0">
                <a:ea typeface="楷体" pitchFamily="49" charset="-122"/>
              </a:rPr>
              <a:t>"</a:t>
            </a:r>
            <a:r>
              <a:rPr lang="en-US" altLang="zh-CN" b="1" dirty="0">
                <a:latin typeface="+mn-lt"/>
                <a:ea typeface="楷体" pitchFamily="49" charset="-122"/>
              </a:rPr>
              <a:t>, </a:t>
            </a:r>
            <a:r>
              <a:rPr lang="en-US" altLang="zh-CN" b="1" dirty="0">
                <a:ea typeface="楷体" pitchFamily="49" charset="-122"/>
              </a:rPr>
              <a:t>"</a:t>
            </a:r>
            <a:r>
              <a:rPr lang="en-US" altLang="zh-CN" b="1" dirty="0" err="1">
                <a:latin typeface="+mn-lt"/>
                <a:ea typeface="楷体" pitchFamily="49" charset="-122"/>
              </a:rPr>
              <a:t>abCD</a:t>
            </a:r>
            <a:r>
              <a:rPr lang="en-US" altLang="zh-CN" b="1" dirty="0">
                <a:ea typeface="楷体" pitchFamily="49" charset="-122"/>
              </a:rPr>
              <a:t>"</a:t>
            </a:r>
            <a:r>
              <a:rPr lang="en-US" altLang="zh-CN" b="1" dirty="0">
                <a:latin typeface="+mn-lt"/>
                <a:ea typeface="楷体" pitchFamily="49" charset="-122"/>
              </a:rPr>
              <a:t>);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将返回一正整数；</a:t>
            </a:r>
          </a:p>
          <a:p>
            <a:r>
              <a:rPr lang="zh-CN" altLang="en-US" b="1" dirty="0">
                <a:latin typeface="+mn-lt"/>
                <a:ea typeface="楷体" pitchFamily="49" charset="-122"/>
              </a:rPr>
              <a:t>    </a:t>
            </a:r>
            <a:r>
              <a:rPr lang="en-US" altLang="zh-CN" b="1" dirty="0" err="1">
                <a:latin typeface="+mn-lt"/>
                <a:ea typeface="楷体" pitchFamily="49" charset="-122"/>
              </a:rPr>
              <a:t>strcmp</a:t>
            </a:r>
            <a:r>
              <a:rPr lang="en-US" altLang="zh-CN" b="1" dirty="0">
                <a:latin typeface="+mn-lt"/>
                <a:ea typeface="楷体" pitchFamily="49" charset="-122"/>
              </a:rPr>
              <a:t> (</a:t>
            </a:r>
            <a:r>
              <a:rPr lang="en-US" altLang="zh-CN" b="1" dirty="0">
                <a:ea typeface="楷体" pitchFamily="49" charset="-122"/>
              </a:rPr>
              <a:t>"</a:t>
            </a:r>
            <a:r>
              <a:rPr lang="en-US" altLang="zh-CN" b="1" dirty="0">
                <a:latin typeface="+mn-lt"/>
                <a:ea typeface="楷体" pitchFamily="49" charset="-122"/>
              </a:rPr>
              <a:t>1234</a:t>
            </a:r>
            <a:r>
              <a:rPr lang="en-US" altLang="zh-CN" b="1" dirty="0">
                <a:ea typeface="楷体" pitchFamily="49" charset="-122"/>
              </a:rPr>
              <a:t>"</a:t>
            </a:r>
            <a:r>
              <a:rPr lang="en-US" altLang="zh-CN" b="1" dirty="0">
                <a:latin typeface="+mn-lt"/>
                <a:ea typeface="楷体" pitchFamily="49" charset="-122"/>
              </a:rPr>
              <a:t>, </a:t>
            </a:r>
            <a:r>
              <a:rPr lang="en-US" altLang="zh-CN" b="1" dirty="0">
                <a:ea typeface="楷体" pitchFamily="49" charset="-122"/>
              </a:rPr>
              <a:t>"</a:t>
            </a:r>
            <a:r>
              <a:rPr lang="en-US" altLang="zh-CN" b="1" dirty="0">
                <a:latin typeface="+mn-lt"/>
                <a:ea typeface="楷体" pitchFamily="49" charset="-122"/>
              </a:rPr>
              <a:t>12345</a:t>
            </a:r>
            <a:r>
              <a:rPr lang="en-US" altLang="zh-CN" b="1" dirty="0">
                <a:ea typeface="楷体" pitchFamily="49" charset="-122"/>
              </a:rPr>
              <a:t>"</a:t>
            </a:r>
            <a:r>
              <a:rPr lang="en-US" altLang="zh-CN" b="1" dirty="0">
                <a:latin typeface="+mn-lt"/>
                <a:ea typeface="楷体" pitchFamily="49" charset="-122"/>
              </a:rPr>
              <a:t>);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将返回一负整数；</a:t>
            </a:r>
          </a:p>
          <a:p>
            <a:r>
              <a:rPr lang="zh-CN" altLang="en-US" b="1" dirty="0">
                <a:latin typeface="+mn-lt"/>
                <a:ea typeface="楷体" pitchFamily="49" charset="-122"/>
              </a:rPr>
              <a:t>    </a:t>
            </a:r>
            <a:r>
              <a:rPr lang="en-US" altLang="zh-CN" b="1" dirty="0" err="1">
                <a:latin typeface="+mn-lt"/>
                <a:ea typeface="楷体" pitchFamily="49" charset="-122"/>
              </a:rPr>
              <a:t>strcmp</a:t>
            </a:r>
            <a:r>
              <a:rPr lang="en-US" altLang="zh-CN" b="1" dirty="0">
                <a:latin typeface="+mn-lt"/>
                <a:ea typeface="楷体" pitchFamily="49" charset="-122"/>
              </a:rPr>
              <a:t> ("hello", "hello");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将返回</a:t>
            </a:r>
            <a:r>
              <a:rPr lang="en-US" altLang="zh-CN" b="1" dirty="0">
                <a:solidFill>
                  <a:srgbClr val="002060"/>
                </a:solidFill>
                <a:latin typeface="+mn-lt"/>
                <a:ea typeface="楷体" pitchFamily="49" charset="-122"/>
              </a:rPr>
              <a:t>0</a:t>
            </a:r>
            <a:r>
              <a:rPr lang="zh-CN" altLang="en-US" b="1" dirty="0">
                <a:solidFill>
                  <a:srgbClr val="002060"/>
                </a:solidFill>
                <a:latin typeface="+mn-lt"/>
                <a:ea typeface="楷体" pitchFamily="49" charset="-122"/>
              </a:rPr>
              <a:t>。</a:t>
            </a:r>
            <a:r>
              <a:rPr lang="zh-CN" altLang="en-US" dirty="0">
                <a:latin typeface="+mn-lt"/>
                <a:ea typeface="楷体" pitchFamily="49" charset="-122"/>
              </a:rPr>
              <a:t> </a:t>
            </a:r>
          </a:p>
        </p:txBody>
      </p:sp>
      <p:sp>
        <p:nvSpPr>
          <p:cNvPr id="1008651" name="Rectangle 11" descr="信纸"/>
          <p:cNvSpPr>
            <a:spLocks noChangeArrowheads="1"/>
          </p:cNvSpPr>
          <p:nvPr/>
        </p:nvSpPr>
        <p:spPr bwMode="auto">
          <a:xfrm>
            <a:off x="1294299" y="3429000"/>
            <a:ext cx="9603402" cy="30511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FF0000"/>
                </a:solidFill>
                <a:latin typeface="+mn-lt"/>
                <a:ea typeface="楷体" pitchFamily="49" charset="-122"/>
              </a:rPr>
              <a:t>   </a:t>
            </a: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例：</a:t>
            </a:r>
            <a:r>
              <a:rPr lang="zh-CN" altLang="en-US" b="1" dirty="0">
                <a:latin typeface="+mn-lt"/>
                <a:ea typeface="楷体" pitchFamily="49" charset="-122"/>
              </a:rPr>
              <a:t>下面的程序要求用户输入密码，如果输入正确，则进行相应的程序运行，否则返回。</a:t>
            </a:r>
          </a:p>
          <a:p>
            <a:r>
              <a:rPr lang="zh-CN" altLang="en-US" b="1" dirty="0">
                <a:latin typeface="+mn-lt"/>
                <a:ea typeface="楷体" pitchFamily="49" charset="-122"/>
              </a:rPr>
              <a:t>    </a:t>
            </a:r>
            <a:r>
              <a:rPr lang="en-US" altLang="zh-CN" b="1" dirty="0">
                <a:latin typeface="+mn-lt"/>
                <a:ea typeface="楷体" pitchFamily="49" charset="-122"/>
              </a:rPr>
              <a:t>char  password[20];</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("input the password: ");</a:t>
            </a:r>
          </a:p>
          <a:p>
            <a:r>
              <a:rPr lang="en-US" altLang="zh-CN" b="1" dirty="0">
                <a:latin typeface="+mn-lt"/>
                <a:ea typeface="楷体" pitchFamily="49" charset="-122"/>
              </a:rPr>
              <a:t>    </a:t>
            </a:r>
            <a:r>
              <a:rPr lang="en-US" altLang="zh-CN" b="1" dirty="0" err="1">
                <a:latin typeface="+mn-lt"/>
                <a:ea typeface="楷体" pitchFamily="49" charset="-122"/>
              </a:rPr>
              <a:t>scanf</a:t>
            </a:r>
            <a:r>
              <a:rPr lang="en-US" altLang="zh-CN" b="1" dirty="0">
                <a:latin typeface="+mn-lt"/>
                <a:ea typeface="楷体" pitchFamily="49" charset="-122"/>
              </a:rPr>
              <a:t> ("%11s", password);</a:t>
            </a:r>
          </a:p>
          <a:p>
            <a:r>
              <a:rPr lang="en-US" altLang="zh-CN" b="1" dirty="0">
                <a:latin typeface="+mn-lt"/>
                <a:ea typeface="楷体" pitchFamily="49" charset="-122"/>
              </a:rPr>
              <a:t>    if ( </a:t>
            </a:r>
            <a:r>
              <a:rPr lang="en-US" altLang="zh-CN" b="1" dirty="0" err="1">
                <a:latin typeface="+mn-lt"/>
                <a:ea typeface="楷体" pitchFamily="49" charset="-122"/>
              </a:rPr>
              <a:t>strcmp</a:t>
            </a:r>
            <a:r>
              <a:rPr lang="en-US" altLang="zh-CN" b="1" dirty="0">
                <a:latin typeface="+mn-lt"/>
                <a:ea typeface="楷体" pitchFamily="49" charset="-122"/>
              </a:rPr>
              <a:t>(password, "administrator") != 0 ) </a:t>
            </a:r>
          </a:p>
          <a:p>
            <a:r>
              <a:rPr lang="en-US" altLang="zh-CN" b="1" dirty="0">
                <a:latin typeface="+mn-lt"/>
                <a:ea typeface="楷体" pitchFamily="49" charset="-122"/>
              </a:rPr>
              <a:t>        return;   </a:t>
            </a:r>
          </a:p>
          <a:p>
            <a:r>
              <a:rPr lang="en-US" altLang="zh-CN" b="1" dirty="0">
                <a:latin typeface="+mn-lt"/>
                <a:ea typeface="楷体" pitchFamily="49" charset="-122"/>
              </a:rPr>
              <a:t>    {  …   }</a:t>
            </a:r>
          </a:p>
        </p:txBody>
      </p:sp>
      <p:sp>
        <p:nvSpPr>
          <p:cNvPr id="1008652" name="Rectangle 12"/>
          <p:cNvSpPr>
            <a:spLocks noChangeArrowheads="1"/>
          </p:cNvSpPr>
          <p:nvPr/>
        </p:nvSpPr>
        <p:spPr bwMode="auto">
          <a:xfrm>
            <a:off x="1430002" y="5070807"/>
            <a:ext cx="5972175" cy="360362"/>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08653" name="AutoShape 13"/>
          <p:cNvSpPr>
            <a:spLocks noChangeArrowheads="1"/>
          </p:cNvSpPr>
          <p:nvPr/>
        </p:nvSpPr>
        <p:spPr bwMode="auto">
          <a:xfrm>
            <a:off x="4940544" y="3696970"/>
            <a:ext cx="6913563" cy="1223962"/>
          </a:xfrm>
          <a:prstGeom prst="cloudCallout">
            <a:avLst>
              <a:gd name="adj1" fmla="val -46875"/>
              <a:gd name="adj2" fmla="val 112178"/>
            </a:avLst>
          </a:prstGeom>
          <a:gradFill flip="none" rotWithShape="1">
            <a:gsLst>
              <a:gs pos="0">
                <a:srgbClr val="CFCFD1"/>
              </a:gs>
              <a:gs pos="90000">
                <a:schemeClr val="bg1">
                  <a:lumMod val="95000"/>
                </a:schemeClr>
              </a:gs>
            </a:gsLst>
            <a:lin ang="13500000" scaled="1"/>
            <a:tileRect/>
          </a:gradFill>
          <a:ln w="25400">
            <a:solidFill>
              <a:srgbClr val="C01920"/>
            </a:solidFill>
            <a:round/>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lstStyle/>
          <a:p>
            <a:r>
              <a:rPr lang="zh-CN" altLang="en-US" b="1" dirty="0">
                <a:solidFill>
                  <a:srgbClr val="C01920"/>
                </a:solidFill>
                <a:ea typeface="隶书" pitchFamily="49" charset="-122"/>
              </a:rPr>
              <a:t>不能写成</a:t>
            </a:r>
          </a:p>
          <a:p>
            <a:r>
              <a:rPr lang="en-US" altLang="zh-CN" b="1" dirty="0">
                <a:effectLst>
                  <a:outerShdw blurRad="38100" dist="38100" dir="2700000" algn="tl">
                    <a:srgbClr val="FFFFFF"/>
                  </a:outerShdw>
                </a:effectLst>
                <a:ea typeface="隶书" pitchFamily="49" charset="-122"/>
              </a:rPr>
              <a:t>if (password=="administrator")</a:t>
            </a:r>
            <a:r>
              <a:rPr lang="en-US" altLang="zh-CN" dirty="0"/>
              <a:t> </a:t>
            </a:r>
          </a:p>
        </p:txBody>
      </p:sp>
      <p:sp>
        <p:nvSpPr>
          <p:cNvPr id="13" name="Rectangle 8">
            <a:extLst>
              <a:ext uri="{FF2B5EF4-FFF2-40B4-BE49-F238E27FC236}">
                <a16:creationId xmlns:a16="http://schemas.microsoft.com/office/drawing/2014/main" id="{C1D9F3B4-8B6D-4B9C-BF56-F3F507CECC41}"/>
              </a:ext>
            </a:extLst>
          </p:cNvPr>
          <p:cNvSpPr>
            <a:spLocks noChangeArrowheads="1"/>
          </p:cNvSpPr>
          <p:nvPr/>
        </p:nvSpPr>
        <p:spPr bwMode="auto">
          <a:xfrm>
            <a:off x="1430002" y="1890990"/>
            <a:ext cx="1672253"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a:t>
            </a:r>
            <a:r>
              <a:rPr lang="en-US" altLang="zh-CN" b="1" dirty="0" err="1">
                <a:solidFill>
                  <a:srgbClr val="00B0F0"/>
                </a:solidFill>
                <a:latin typeface="+mn-lt"/>
                <a:ea typeface="楷体" pitchFamily="49" charset="-122"/>
              </a:rPr>
              <a:t>strcmp</a:t>
            </a:r>
            <a:r>
              <a:rPr lang="zh-CN" altLang="en-US" b="1" dirty="0">
                <a:solidFill>
                  <a:srgbClr val="00B0F0"/>
                </a:solidFill>
                <a:latin typeface="+mn-lt"/>
                <a:ea typeface="楷体" pitchFamily="49" charset="-122"/>
              </a:rPr>
              <a:t>函数</a:t>
            </a:r>
          </a:p>
        </p:txBody>
      </p:sp>
      <p:sp>
        <p:nvSpPr>
          <p:cNvPr id="14" name="Rectangle 6">
            <a:extLst>
              <a:ext uri="{FF2B5EF4-FFF2-40B4-BE49-F238E27FC236}">
                <a16:creationId xmlns:a16="http://schemas.microsoft.com/office/drawing/2014/main" id="{C34FCED8-2DA2-4454-9E04-757ADCE185A4}"/>
              </a:ext>
            </a:extLst>
          </p:cNvPr>
          <p:cNvSpPr>
            <a:spLocks noChangeArrowheads="1"/>
          </p:cNvSpPr>
          <p:nvPr/>
        </p:nvSpPr>
        <p:spPr bwMode="auto">
          <a:xfrm>
            <a:off x="1121397" y="1489031"/>
            <a:ext cx="1593706"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字符串比较</a:t>
            </a:r>
          </a:p>
        </p:txBody>
      </p:sp>
      <p:sp>
        <p:nvSpPr>
          <p:cNvPr id="15" name="Rectangle 2">
            <a:extLst>
              <a:ext uri="{FF2B5EF4-FFF2-40B4-BE49-F238E27FC236}">
                <a16:creationId xmlns:a16="http://schemas.microsoft.com/office/drawing/2014/main" id="{E2189E76-61CF-42FD-8999-0AE8005C660A}"/>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3</a:t>
            </a:r>
            <a:r>
              <a:rPr lang="zh-CN" altLang="en-US" sz="2800" b="1" dirty="0">
                <a:solidFill>
                  <a:srgbClr val="00B0F0"/>
                </a:solidFill>
                <a:latin typeface="+mn-lt"/>
                <a:ea typeface="楷体" pitchFamily="49" charset="-122"/>
              </a:rPr>
              <a:t>、字符及字符串操作的常用函数</a:t>
            </a:r>
            <a:r>
              <a:rPr lang="zh-CN" altLang="en-US" sz="2800" dirty="0">
                <a:solidFill>
                  <a:srgbClr val="00B0F0"/>
                </a:solidFill>
                <a:latin typeface="+mn-lt"/>
                <a:ea typeface="楷体" pitchFamily="49" charset="-122"/>
              </a:rPr>
              <a:t> </a:t>
            </a:r>
          </a:p>
        </p:txBody>
      </p:sp>
      <p:sp>
        <p:nvSpPr>
          <p:cNvPr id="16" name="Rectangle 4">
            <a:extLst>
              <a:ext uri="{FF2B5EF4-FFF2-40B4-BE49-F238E27FC236}">
                <a16:creationId xmlns:a16="http://schemas.microsoft.com/office/drawing/2014/main" id="{3261D96B-ACAB-4221-BA77-5FC7A20C3BD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3605981378"/>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8647"/>
                                        </p:tgtEl>
                                        <p:attrNameLst>
                                          <p:attrName>style.visibility</p:attrName>
                                        </p:attrNameLst>
                                      </p:cBhvr>
                                      <p:to>
                                        <p:strVal val="visible"/>
                                      </p:to>
                                    </p:set>
                                    <p:animEffect transition="in" filter="box(out)">
                                      <p:cBhvr>
                                        <p:cTn id="19" dur="500"/>
                                        <p:tgtEl>
                                          <p:spTgt spid="1008647"/>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8649"/>
                                        </p:tgtEl>
                                        <p:attrNameLst>
                                          <p:attrName>style.visibility</p:attrName>
                                        </p:attrNameLst>
                                      </p:cBhvr>
                                      <p:to>
                                        <p:strVal val="visible"/>
                                      </p:to>
                                    </p:set>
                                    <p:animEffect transition="in" filter="box(out)">
                                      <p:cBhvr>
                                        <p:cTn id="24" dur="500"/>
                                        <p:tgtEl>
                                          <p:spTgt spid="1008649"/>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08651"/>
                                        </p:tgtEl>
                                        <p:attrNameLst>
                                          <p:attrName>style.visibility</p:attrName>
                                        </p:attrNameLst>
                                      </p:cBhvr>
                                      <p:to>
                                        <p:strVal val="visible"/>
                                      </p:to>
                                    </p:set>
                                    <p:animEffect transition="in" filter="box(out)">
                                      <p:cBhvr>
                                        <p:cTn id="29" dur="500"/>
                                        <p:tgtEl>
                                          <p:spTgt spid="1008651"/>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12" fill="hold" grpId="0" nodeType="clickEffect">
                                  <p:stCondLst>
                                    <p:cond delay="0"/>
                                  </p:stCondLst>
                                  <p:childTnLst>
                                    <p:set>
                                      <p:cBhvr>
                                        <p:cTn id="33" dur="1" fill="hold">
                                          <p:stCondLst>
                                            <p:cond delay="0"/>
                                          </p:stCondLst>
                                        </p:cTn>
                                        <p:tgtEl>
                                          <p:spTgt spid="1008652"/>
                                        </p:tgtEl>
                                        <p:attrNameLst>
                                          <p:attrName>style.visibility</p:attrName>
                                        </p:attrNameLst>
                                      </p:cBhvr>
                                      <p:to>
                                        <p:strVal val="visible"/>
                                      </p:to>
                                    </p:set>
                                    <p:animEffect transition="in" filter="strips(downLeft)">
                                      <p:cBhvr>
                                        <p:cTn id="34" dur="500"/>
                                        <p:tgtEl>
                                          <p:spTgt spid="1008652"/>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par>
                          <p:cTn id="35" fill="hold">
                            <p:stCondLst>
                              <p:cond delay="500"/>
                            </p:stCondLst>
                            <p:childTnLst>
                              <p:par>
                                <p:cTn id="36" presetID="18" presetClass="entr" presetSubtype="6" fill="hold" grpId="0" nodeType="afterEffect">
                                  <p:stCondLst>
                                    <p:cond delay="0"/>
                                  </p:stCondLst>
                                  <p:childTnLst>
                                    <p:set>
                                      <p:cBhvr>
                                        <p:cTn id="37" dur="1" fill="hold">
                                          <p:stCondLst>
                                            <p:cond delay="0"/>
                                          </p:stCondLst>
                                        </p:cTn>
                                        <p:tgtEl>
                                          <p:spTgt spid="1008653"/>
                                        </p:tgtEl>
                                        <p:attrNameLst>
                                          <p:attrName>style.visibility</p:attrName>
                                        </p:attrNameLst>
                                      </p:cBhvr>
                                      <p:to>
                                        <p:strVal val="visible"/>
                                      </p:to>
                                    </p:set>
                                    <p:animEffect transition="in" filter="strips(downRight)">
                                      <p:cBhvr>
                                        <p:cTn id="38" dur="500"/>
                                        <p:tgtEl>
                                          <p:spTgt spid="1008653"/>
                                        </p:tgtEl>
                                      </p:cBhvr>
                                    </p:animEffect>
                                  </p:childTnLst>
                                  <p:subTnLst>
                                    <p:audio>
                                      <p:cMediaNode>
                                        <p:cTn display="0" masterRel="sameClick">
                                          <p:stCondLst>
                                            <p:cond evt="begin" delay="0">
                                              <p:tn val="36"/>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8647" grpId="0" animBg="1" autoUpdateAnimBg="0"/>
      <p:bldP spid="1008649" grpId="0" animBg="1"/>
      <p:bldP spid="1008651" grpId="0" animBg="1"/>
      <p:bldP spid="1008652" grpId="0" animBg="1"/>
      <p:bldP spid="1008653" grpId="0" animBg="1"/>
      <p:bldP spid="13" grpId="0"/>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79" name="Rectangle 15"/>
          <p:cNvSpPr>
            <a:spLocks noChangeArrowheads="1"/>
          </p:cNvSpPr>
          <p:nvPr/>
        </p:nvSpPr>
        <p:spPr bwMode="auto">
          <a:xfrm>
            <a:off x="1441223" y="3723238"/>
            <a:ext cx="1806905"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a:t>
            </a:r>
            <a:r>
              <a:rPr lang="en-US" altLang="zh-CN" b="1" dirty="0" err="1">
                <a:solidFill>
                  <a:srgbClr val="00B0F0"/>
                </a:solidFill>
                <a:latin typeface="+mn-lt"/>
                <a:ea typeface="楷体" pitchFamily="49" charset="-122"/>
              </a:rPr>
              <a:t>strncmp</a:t>
            </a:r>
            <a:r>
              <a:rPr lang="zh-CN" altLang="en-US" b="1" dirty="0">
                <a:solidFill>
                  <a:srgbClr val="00B0F0"/>
                </a:solidFill>
                <a:latin typeface="+mn-lt"/>
                <a:ea typeface="楷体" pitchFamily="49" charset="-122"/>
              </a:rPr>
              <a:t>函数</a:t>
            </a:r>
          </a:p>
        </p:txBody>
      </p:sp>
      <p:sp>
        <p:nvSpPr>
          <p:cNvPr id="1009673" name="Rectangle 9" descr="信纸"/>
          <p:cNvSpPr>
            <a:spLocks noChangeArrowheads="1"/>
          </p:cNvSpPr>
          <p:nvPr/>
        </p:nvSpPr>
        <p:spPr bwMode="auto">
          <a:xfrm>
            <a:off x="1602865" y="3652466"/>
            <a:ext cx="9706349" cy="159067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p>
          <a:p>
            <a:r>
              <a:rPr lang="zh-CN" altLang="en-US" b="1" dirty="0">
                <a:solidFill>
                  <a:srgbClr val="FF0000"/>
                </a:solidFill>
                <a:latin typeface="+mn-lt"/>
                <a:ea typeface="楷体" pitchFamily="49" charset="-122"/>
              </a:rPr>
              <a:t>    </a:t>
            </a:r>
            <a:r>
              <a:rPr lang="en-US" altLang="zh-CN" b="1" dirty="0">
                <a:latin typeface="+mn-lt"/>
                <a:ea typeface="楷体" pitchFamily="49" charset="-122"/>
              </a:rPr>
              <a:t>int </a:t>
            </a:r>
            <a:r>
              <a:rPr lang="en-US" altLang="zh-CN" b="1" dirty="0" err="1">
                <a:latin typeface="+mn-lt"/>
                <a:ea typeface="楷体" pitchFamily="49" charset="-122"/>
              </a:rPr>
              <a:t>i</a:t>
            </a:r>
            <a:r>
              <a:rPr lang="en-US" altLang="zh-CN" b="1" dirty="0">
                <a:latin typeface="+mn-lt"/>
                <a:ea typeface="楷体" pitchFamily="49" charset="-122"/>
              </a:rPr>
              <a:t>;</a:t>
            </a:r>
          </a:p>
          <a:p>
            <a:r>
              <a:rPr lang="en-US" altLang="zh-CN" b="1" dirty="0">
                <a:latin typeface="+mn-lt"/>
                <a:ea typeface="楷体" pitchFamily="49" charset="-122"/>
              </a:rPr>
              <a:t>    </a:t>
            </a:r>
            <a:r>
              <a:rPr lang="en-US" altLang="zh-CN" b="1" dirty="0" err="1">
                <a:latin typeface="+mn-lt"/>
                <a:ea typeface="楷体" pitchFamily="49" charset="-122"/>
              </a:rPr>
              <a:t>i</a:t>
            </a:r>
            <a:r>
              <a:rPr lang="en-US" altLang="zh-CN" b="1" dirty="0">
                <a:latin typeface="+mn-lt"/>
                <a:ea typeface="楷体" pitchFamily="49" charset="-122"/>
              </a:rPr>
              <a:t> = </a:t>
            </a:r>
            <a:r>
              <a:rPr lang="en-US" altLang="zh-CN" b="1" dirty="0" err="1">
                <a:latin typeface="+mn-lt"/>
                <a:ea typeface="楷体" pitchFamily="49" charset="-122"/>
              </a:rPr>
              <a:t>strcmp</a:t>
            </a:r>
            <a:r>
              <a:rPr lang="en-US" altLang="zh-CN" b="1" dirty="0">
                <a:latin typeface="+mn-lt"/>
                <a:ea typeface="楷体" pitchFamily="49" charset="-122"/>
              </a:rPr>
              <a:t> ("</a:t>
            </a:r>
            <a:r>
              <a:rPr lang="en-US" altLang="zh-CN" b="1" dirty="0" err="1">
                <a:latin typeface="+mn-lt"/>
                <a:ea typeface="楷体" pitchFamily="49" charset="-122"/>
              </a:rPr>
              <a:t>abcd</a:t>
            </a:r>
            <a:r>
              <a:rPr lang="en-US" altLang="zh-CN" b="1" dirty="0">
                <a:latin typeface="+mn-lt"/>
                <a:ea typeface="楷体" pitchFamily="49" charset="-122"/>
              </a:rPr>
              <a:t>", "ABCD");         </a:t>
            </a:r>
            <a:r>
              <a:rPr lang="en-US" altLang="zh-CN" b="1" dirty="0">
                <a:solidFill>
                  <a:srgbClr val="002060"/>
                </a:solidFill>
                <a:latin typeface="+mn-lt"/>
                <a:ea typeface="楷体" pitchFamily="49" charset="-122"/>
              </a:rPr>
              <a:t>//</a:t>
            </a:r>
            <a:r>
              <a:rPr lang="en-US" altLang="zh-CN" b="1" dirty="0" err="1">
                <a:solidFill>
                  <a:srgbClr val="002060"/>
                </a:solidFill>
                <a:latin typeface="+mn-lt"/>
                <a:ea typeface="楷体" pitchFamily="49" charset="-122"/>
              </a:rPr>
              <a:t>i</a:t>
            </a:r>
            <a:r>
              <a:rPr lang="zh-CN" altLang="en-US" b="1" dirty="0">
                <a:solidFill>
                  <a:srgbClr val="002060"/>
                </a:solidFill>
                <a:latin typeface="+mn-lt"/>
                <a:ea typeface="楷体" pitchFamily="49" charset="-122"/>
              </a:rPr>
              <a:t>的值为大于</a:t>
            </a:r>
            <a:r>
              <a:rPr lang="en-US" altLang="zh-CN" b="1" dirty="0">
                <a:solidFill>
                  <a:srgbClr val="002060"/>
                </a:solidFill>
                <a:latin typeface="+mn-lt"/>
                <a:ea typeface="楷体" pitchFamily="49" charset="-122"/>
              </a:rPr>
              <a:t>0</a:t>
            </a:r>
          </a:p>
          <a:p>
            <a:r>
              <a:rPr lang="en-US" altLang="zh-CN" b="1" dirty="0">
                <a:latin typeface="+mn-lt"/>
                <a:ea typeface="楷体" pitchFamily="49" charset="-122"/>
              </a:rPr>
              <a:t>    </a:t>
            </a:r>
            <a:r>
              <a:rPr lang="en-US" altLang="zh-CN" b="1" dirty="0" err="1">
                <a:latin typeface="+mn-lt"/>
                <a:ea typeface="楷体" pitchFamily="49" charset="-122"/>
              </a:rPr>
              <a:t>i</a:t>
            </a:r>
            <a:r>
              <a:rPr lang="en-US" altLang="zh-CN" b="1" dirty="0">
                <a:latin typeface="+mn-lt"/>
                <a:ea typeface="楷体" pitchFamily="49" charset="-122"/>
              </a:rPr>
              <a:t> = </a:t>
            </a:r>
            <a:r>
              <a:rPr lang="en-US" altLang="zh-CN" b="1" dirty="0" err="1">
                <a:latin typeface="+mn-lt"/>
                <a:ea typeface="楷体" pitchFamily="49" charset="-122"/>
              </a:rPr>
              <a:t>stricmp</a:t>
            </a:r>
            <a:r>
              <a:rPr lang="en-US" altLang="zh-CN" b="1" dirty="0">
                <a:latin typeface="+mn-lt"/>
                <a:ea typeface="楷体" pitchFamily="49" charset="-122"/>
              </a:rPr>
              <a:t> ("</a:t>
            </a:r>
            <a:r>
              <a:rPr lang="en-US" altLang="zh-CN" b="1" dirty="0" err="1">
                <a:latin typeface="+mn-lt"/>
                <a:ea typeface="楷体" pitchFamily="49" charset="-122"/>
              </a:rPr>
              <a:t>abcd</a:t>
            </a:r>
            <a:r>
              <a:rPr lang="en-US" altLang="zh-CN" b="1" dirty="0">
                <a:latin typeface="+mn-lt"/>
                <a:ea typeface="楷体" pitchFamily="49" charset="-122"/>
              </a:rPr>
              <a:t>", "ABCD");        </a:t>
            </a:r>
            <a:r>
              <a:rPr lang="en-US" altLang="zh-CN" b="1" dirty="0">
                <a:solidFill>
                  <a:srgbClr val="002060"/>
                </a:solidFill>
                <a:latin typeface="+mn-lt"/>
                <a:ea typeface="楷体" pitchFamily="49" charset="-122"/>
              </a:rPr>
              <a:t>//</a:t>
            </a:r>
            <a:r>
              <a:rPr lang="en-US" altLang="zh-CN" b="1" dirty="0" err="1">
                <a:solidFill>
                  <a:srgbClr val="002060"/>
                </a:solidFill>
                <a:latin typeface="+mn-lt"/>
                <a:ea typeface="楷体" pitchFamily="49" charset="-122"/>
              </a:rPr>
              <a:t>i</a:t>
            </a:r>
            <a:r>
              <a:rPr lang="zh-CN" altLang="en-US" b="1" dirty="0">
                <a:solidFill>
                  <a:srgbClr val="002060"/>
                </a:solidFill>
                <a:latin typeface="+mn-lt"/>
                <a:ea typeface="楷体" pitchFamily="49" charset="-122"/>
              </a:rPr>
              <a:t>的值为等于</a:t>
            </a:r>
            <a:r>
              <a:rPr lang="en-US" altLang="zh-CN" b="1" dirty="0">
                <a:solidFill>
                  <a:srgbClr val="002060"/>
                </a:solidFill>
                <a:latin typeface="+mn-lt"/>
                <a:ea typeface="楷体" pitchFamily="49" charset="-122"/>
              </a:rPr>
              <a:t>0</a:t>
            </a:r>
          </a:p>
        </p:txBody>
      </p:sp>
      <p:sp>
        <p:nvSpPr>
          <p:cNvPr id="1009678" name="Text Box 14"/>
          <p:cNvSpPr txBox="1">
            <a:spLocks noChangeArrowheads="1"/>
          </p:cNvSpPr>
          <p:nvPr/>
        </p:nvSpPr>
        <p:spPr bwMode="auto">
          <a:xfrm>
            <a:off x="1862335" y="2372662"/>
            <a:ext cx="9707488" cy="1225550"/>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zh-CN" altLang="en-US" b="1" dirty="0">
                <a:solidFill>
                  <a:srgbClr val="002060"/>
                </a:solidFill>
                <a:ea typeface="隶书" pitchFamily="49" charset="-122"/>
              </a:rPr>
              <a:t>同</a:t>
            </a:r>
            <a:r>
              <a:rPr lang="en-US" altLang="zh-CN" b="1" dirty="0" err="1">
                <a:solidFill>
                  <a:srgbClr val="002060"/>
                </a:solidFill>
                <a:ea typeface="隶书" pitchFamily="49" charset="-122"/>
              </a:rPr>
              <a:t>strcmp</a:t>
            </a:r>
            <a:r>
              <a:rPr lang="en-US" altLang="zh-CN" b="1" dirty="0">
                <a:solidFill>
                  <a:srgbClr val="002060"/>
                </a:solidFill>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r>
              <a:rPr lang="zh-CN" altLang="zh-CN" b="1" dirty="0">
                <a:ea typeface="隶书" pitchFamily="49" charset="-122"/>
              </a:rPr>
              <a:t>差别：</a:t>
            </a:r>
            <a:r>
              <a:rPr lang="en-US" altLang="zh-CN" b="1" dirty="0" err="1">
                <a:ea typeface="隶书" pitchFamily="49" charset="-122"/>
              </a:rPr>
              <a:t>stricmp</a:t>
            </a:r>
            <a:r>
              <a:rPr lang="zh-CN" altLang="en-US" b="1" dirty="0">
                <a:ea typeface="隶书" pitchFamily="49" charset="-122"/>
              </a:rPr>
              <a:t>在比较两个字符串时</a:t>
            </a:r>
            <a:r>
              <a:rPr lang="zh-CN" altLang="en-US" b="1" dirty="0">
                <a:solidFill>
                  <a:srgbClr val="C01920"/>
                </a:solidFill>
                <a:ea typeface="隶书" pitchFamily="49" charset="-122"/>
              </a:rPr>
              <a:t>不区分大小写</a:t>
            </a:r>
            <a:r>
              <a:rPr lang="zh-CN" altLang="en-US" b="1" dirty="0">
                <a:ea typeface="隶书" pitchFamily="49" charset="-122"/>
              </a:rPr>
              <a:t>，而</a:t>
            </a:r>
            <a:r>
              <a:rPr lang="en-US" altLang="zh-CN" b="1" dirty="0" err="1">
                <a:ea typeface="隶书" pitchFamily="49" charset="-122"/>
              </a:rPr>
              <a:t>strcmp</a:t>
            </a:r>
            <a:r>
              <a:rPr lang="zh-CN" altLang="en-US" b="1" dirty="0">
                <a:ea typeface="隶书" pitchFamily="49" charset="-122"/>
              </a:rPr>
              <a:t>则</a:t>
            </a:r>
            <a:r>
              <a:rPr lang="zh-CN" altLang="en-US" b="1" dirty="0">
                <a:solidFill>
                  <a:srgbClr val="002060"/>
                </a:solidFill>
                <a:ea typeface="隶书" pitchFamily="49" charset="-122"/>
              </a:rPr>
              <a:t>区分大</a:t>
            </a:r>
            <a:endParaRPr lang="en-US" altLang="zh-CN" b="1" dirty="0">
              <a:solidFill>
                <a:srgbClr val="002060"/>
              </a:solidFill>
              <a:ea typeface="隶书" pitchFamily="49" charset="-122"/>
            </a:endParaRPr>
          </a:p>
          <a:p>
            <a:r>
              <a:rPr lang="en-US" altLang="zh-CN" b="1" dirty="0">
                <a:solidFill>
                  <a:srgbClr val="002060"/>
                </a:solidFill>
                <a:ea typeface="隶书" pitchFamily="49" charset="-122"/>
              </a:rPr>
              <a:t>            </a:t>
            </a:r>
            <a:r>
              <a:rPr lang="zh-CN" altLang="en-US" b="1" dirty="0">
                <a:solidFill>
                  <a:srgbClr val="002060"/>
                </a:solidFill>
                <a:ea typeface="隶书" pitchFamily="49" charset="-122"/>
              </a:rPr>
              <a:t>小写</a:t>
            </a:r>
            <a:r>
              <a:rPr lang="zh-CN" altLang="en-US" dirty="0">
                <a:solidFill>
                  <a:srgbClr val="002060"/>
                </a:solidFill>
                <a:ea typeface="隶书" pitchFamily="49" charset="-122"/>
              </a:rPr>
              <a:t> </a:t>
            </a:r>
          </a:p>
        </p:txBody>
      </p:sp>
      <p:sp>
        <p:nvSpPr>
          <p:cNvPr id="1009680" name="Text Box 16"/>
          <p:cNvSpPr txBox="1">
            <a:spLocks noChangeArrowheads="1"/>
          </p:cNvSpPr>
          <p:nvPr/>
        </p:nvSpPr>
        <p:spPr bwMode="auto">
          <a:xfrm>
            <a:off x="1602865" y="4017933"/>
            <a:ext cx="9739087" cy="1200329"/>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strncmp</a:t>
            </a:r>
            <a:r>
              <a:rPr lang="en-US" altLang="zh-CN" b="1" dirty="0">
                <a:solidFill>
                  <a:schemeClr val="accent2"/>
                </a:solidFill>
                <a:ea typeface="隶书" pitchFamily="49" charset="-122"/>
              </a:rPr>
              <a:t> </a:t>
            </a:r>
            <a:r>
              <a:rPr lang="en-US" altLang="zh-CN" b="1" dirty="0">
                <a:ea typeface="隶书" pitchFamily="49" charset="-122"/>
              </a:rPr>
              <a:t>(</a:t>
            </a:r>
            <a:r>
              <a:rPr lang="zh-CN" altLang="zh-CN" b="1" dirty="0">
                <a:ea typeface="隶书" pitchFamily="49" charset="-122"/>
              </a:rPr>
              <a:t>字符串1,</a:t>
            </a:r>
            <a:r>
              <a:rPr lang="en-US" altLang="zh-CN" b="1" dirty="0">
                <a:ea typeface="隶书" pitchFamily="49" charset="-122"/>
              </a:rPr>
              <a:t> </a:t>
            </a:r>
            <a:r>
              <a:rPr lang="zh-CN" altLang="zh-CN" b="1" dirty="0">
                <a:ea typeface="隶书" pitchFamily="49" charset="-122"/>
              </a:rPr>
              <a:t>字符串2</a:t>
            </a:r>
            <a:r>
              <a:rPr lang="en-US" altLang="zh-CN" b="1" dirty="0">
                <a:ea typeface="隶书" pitchFamily="49" charset="-122"/>
              </a:rPr>
              <a:t>, </a:t>
            </a:r>
            <a:r>
              <a:rPr lang="zh-CN" altLang="en-US" b="1" dirty="0">
                <a:ea typeface="隶书" pitchFamily="49" charset="-122"/>
              </a:rPr>
              <a:t>长度</a:t>
            </a:r>
            <a:r>
              <a:rPr lang="en-US" altLang="zh-CN" b="1" dirty="0">
                <a:ea typeface="隶书" pitchFamily="49" charset="-122"/>
              </a:rPr>
              <a:t>n</a:t>
            </a:r>
            <a:r>
              <a:rPr lang="zh-CN" altLang="zh-CN" b="1" dirty="0">
                <a:ea typeface="隶书" pitchFamily="49" charset="-122"/>
              </a:rPr>
              <a:t>)</a:t>
            </a:r>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solidFill>
                <a:srgbClr val="CC0099"/>
              </a:solidFill>
              <a:latin typeface="+mn-lt"/>
              <a:ea typeface="隶书" pitchFamily="49" charset="-122"/>
            </a:endParaRPr>
          </a:p>
          <a:p>
            <a:r>
              <a:rPr lang="zh-CN" altLang="zh-CN" b="1" dirty="0">
                <a:ea typeface="隶书" pitchFamily="49" charset="-122"/>
              </a:rPr>
              <a:t>功能：</a:t>
            </a:r>
            <a:r>
              <a:rPr lang="zh-CN" altLang="en-US" b="1" dirty="0">
                <a:latin typeface="隶书" pitchFamily="49" charset="-122"/>
                <a:ea typeface="隶书" pitchFamily="49" charset="-122"/>
              </a:rPr>
              <a:t>将字符串</a:t>
            </a:r>
            <a:r>
              <a:rPr lang="en-US" altLang="zh-CN" b="1" dirty="0">
                <a:latin typeface="隶书" pitchFamily="49" charset="-122"/>
                <a:ea typeface="隶书" pitchFamily="49" charset="-122"/>
              </a:rPr>
              <a:t>1</a:t>
            </a:r>
            <a:r>
              <a:rPr lang="zh-CN" altLang="en-US" b="1" dirty="0">
                <a:latin typeface="隶书" pitchFamily="49" charset="-122"/>
                <a:ea typeface="隶书" pitchFamily="49" charset="-122"/>
              </a:rPr>
              <a:t>前</a:t>
            </a:r>
            <a:r>
              <a:rPr lang="en-US" altLang="zh-CN" b="1" dirty="0">
                <a:latin typeface="隶书" pitchFamily="49" charset="-122"/>
                <a:ea typeface="隶书" pitchFamily="49" charset="-122"/>
              </a:rPr>
              <a:t>n</a:t>
            </a:r>
            <a:r>
              <a:rPr lang="zh-CN" altLang="en-US" b="1" dirty="0">
                <a:latin typeface="隶书" pitchFamily="49" charset="-122"/>
                <a:ea typeface="隶书" pitchFamily="49" charset="-122"/>
              </a:rPr>
              <a:t>个字符的子串与字符串</a:t>
            </a:r>
            <a:r>
              <a:rPr lang="en-US" altLang="zh-CN" b="1" dirty="0">
                <a:latin typeface="隶书" pitchFamily="49" charset="-122"/>
                <a:ea typeface="隶书" pitchFamily="49" charset="-122"/>
              </a:rPr>
              <a:t>2</a:t>
            </a:r>
            <a:r>
              <a:rPr lang="zh-CN" altLang="en-US" b="1" dirty="0">
                <a:solidFill>
                  <a:srgbClr val="C01920"/>
                </a:solidFill>
                <a:latin typeface="隶书" pitchFamily="49" charset="-122"/>
                <a:ea typeface="隶书" pitchFamily="49" charset="-122"/>
              </a:rPr>
              <a:t>前</a:t>
            </a:r>
            <a:r>
              <a:rPr lang="en-US" altLang="zh-CN" b="1" dirty="0">
                <a:solidFill>
                  <a:srgbClr val="C01920"/>
                </a:solidFill>
                <a:latin typeface="隶书" pitchFamily="49" charset="-122"/>
                <a:ea typeface="隶书" pitchFamily="49" charset="-122"/>
              </a:rPr>
              <a:t>n</a:t>
            </a:r>
            <a:r>
              <a:rPr lang="zh-CN" altLang="en-US" b="1" dirty="0">
                <a:solidFill>
                  <a:srgbClr val="C01920"/>
                </a:solidFill>
                <a:latin typeface="隶书" pitchFamily="49" charset="-122"/>
                <a:ea typeface="隶书" pitchFamily="49" charset="-122"/>
              </a:rPr>
              <a:t>个字符</a:t>
            </a:r>
            <a:r>
              <a:rPr lang="zh-CN" altLang="en-US" b="1" dirty="0">
                <a:latin typeface="隶书" pitchFamily="49" charset="-122"/>
                <a:ea typeface="隶书" pitchFamily="49" charset="-122"/>
              </a:rPr>
              <a:t>的子串进行比较</a:t>
            </a:r>
          </a:p>
          <a:p>
            <a:r>
              <a:rPr lang="zh-CN" altLang="zh-CN" b="1" dirty="0">
                <a:ea typeface="隶书" pitchFamily="49" charset="-122"/>
              </a:rPr>
              <a:t>返值：</a:t>
            </a:r>
            <a:r>
              <a:rPr lang="zh-CN" altLang="en-US" b="1" dirty="0">
                <a:solidFill>
                  <a:srgbClr val="002060"/>
                </a:solidFill>
                <a:ea typeface="隶书" pitchFamily="49" charset="-122"/>
              </a:rPr>
              <a:t>同</a:t>
            </a:r>
            <a:r>
              <a:rPr lang="en-US" altLang="zh-CN" b="1" dirty="0" err="1">
                <a:solidFill>
                  <a:srgbClr val="002060"/>
                </a:solidFill>
              </a:rPr>
              <a:t>strcmp</a:t>
            </a:r>
            <a:r>
              <a:rPr lang="en-US" altLang="zh-CN" dirty="0">
                <a:solidFill>
                  <a:srgbClr val="002060"/>
                </a:solidFill>
              </a:rPr>
              <a:t> </a:t>
            </a:r>
            <a:endParaRPr lang="en-US" altLang="zh-CN" b="1" dirty="0">
              <a:solidFill>
                <a:srgbClr val="002060"/>
              </a:solidFill>
              <a:ea typeface="隶书" pitchFamily="49" charset="-122"/>
              <a:sym typeface="Wingdings" pitchFamily="2" charset="2"/>
            </a:endParaRPr>
          </a:p>
        </p:txBody>
      </p:sp>
      <p:sp>
        <p:nvSpPr>
          <p:cNvPr id="1009681" name="Rectangle 17" descr="信纸"/>
          <p:cNvSpPr>
            <a:spLocks noChangeArrowheads="1"/>
          </p:cNvSpPr>
          <p:nvPr/>
        </p:nvSpPr>
        <p:spPr bwMode="auto">
          <a:xfrm>
            <a:off x="1850227" y="5517232"/>
            <a:ext cx="9706349" cy="1200329"/>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r>
              <a:rPr lang="en-US" altLang="zh-CN" b="1" dirty="0">
                <a:latin typeface="+mn-lt"/>
                <a:ea typeface="楷体" pitchFamily="49" charset="-122"/>
              </a:rPr>
              <a:t>int </a:t>
            </a:r>
            <a:r>
              <a:rPr lang="en-US" altLang="zh-CN" b="1" dirty="0" err="1">
                <a:latin typeface="+mn-lt"/>
                <a:ea typeface="楷体" pitchFamily="49" charset="-122"/>
              </a:rPr>
              <a:t>i</a:t>
            </a:r>
            <a:r>
              <a:rPr lang="en-US" altLang="zh-CN" b="1" dirty="0">
                <a:latin typeface="+mn-lt"/>
                <a:ea typeface="楷体" pitchFamily="49" charset="-122"/>
              </a:rPr>
              <a:t>;</a:t>
            </a:r>
          </a:p>
          <a:p>
            <a:r>
              <a:rPr lang="en-US" altLang="zh-CN" b="1" dirty="0">
                <a:latin typeface="+mn-lt"/>
                <a:ea typeface="楷体" pitchFamily="49" charset="-122"/>
              </a:rPr>
              <a:t>        </a:t>
            </a:r>
            <a:r>
              <a:rPr lang="en-US" altLang="zh-CN" b="1" dirty="0" err="1">
                <a:latin typeface="+mn-lt"/>
                <a:ea typeface="楷体" pitchFamily="49" charset="-122"/>
              </a:rPr>
              <a:t>i</a:t>
            </a:r>
            <a:r>
              <a:rPr lang="en-US" altLang="zh-CN" b="1" dirty="0">
                <a:latin typeface="+mn-lt"/>
                <a:ea typeface="楷体" pitchFamily="49" charset="-122"/>
              </a:rPr>
              <a:t> = </a:t>
            </a:r>
            <a:r>
              <a:rPr lang="en-US" altLang="zh-CN" b="1" dirty="0" err="1">
                <a:latin typeface="+mn-lt"/>
                <a:ea typeface="楷体" pitchFamily="49" charset="-122"/>
              </a:rPr>
              <a:t>strncmp</a:t>
            </a:r>
            <a:r>
              <a:rPr lang="en-US" altLang="zh-CN" b="1" dirty="0">
                <a:latin typeface="+mn-lt"/>
                <a:ea typeface="楷体" pitchFamily="49" charset="-122"/>
              </a:rPr>
              <a:t> ("</a:t>
            </a:r>
            <a:r>
              <a:rPr lang="en-US" altLang="zh-CN" b="1" dirty="0" err="1">
                <a:latin typeface="+mn-lt"/>
                <a:ea typeface="楷体" pitchFamily="49" charset="-122"/>
              </a:rPr>
              <a:t>abcd</a:t>
            </a:r>
            <a:r>
              <a:rPr lang="en-US" altLang="zh-CN" b="1" dirty="0">
                <a:latin typeface="+mn-lt"/>
                <a:ea typeface="楷体" pitchFamily="49" charset="-122"/>
              </a:rPr>
              <a:t>", "</a:t>
            </a:r>
            <a:r>
              <a:rPr lang="en-US" altLang="zh-CN" b="1" dirty="0" err="1">
                <a:latin typeface="+mn-lt"/>
                <a:ea typeface="楷体" pitchFamily="49" charset="-122"/>
              </a:rPr>
              <a:t>abcDEF</a:t>
            </a:r>
            <a:r>
              <a:rPr lang="en-US" altLang="zh-CN" b="1" dirty="0">
                <a:latin typeface="+mn-lt"/>
                <a:ea typeface="楷体" pitchFamily="49" charset="-122"/>
              </a:rPr>
              <a:t>", 3);   </a:t>
            </a:r>
            <a:r>
              <a:rPr lang="en-US" altLang="zh-CN" b="1" dirty="0">
                <a:solidFill>
                  <a:srgbClr val="002060"/>
                </a:solidFill>
                <a:latin typeface="+mn-lt"/>
                <a:ea typeface="楷体" pitchFamily="49" charset="-122"/>
              </a:rPr>
              <a:t>//</a:t>
            </a:r>
            <a:r>
              <a:rPr lang="en-US" altLang="zh-CN" b="1" dirty="0" err="1">
                <a:solidFill>
                  <a:srgbClr val="002060"/>
                </a:solidFill>
                <a:latin typeface="+mn-lt"/>
                <a:ea typeface="楷体" pitchFamily="49" charset="-122"/>
              </a:rPr>
              <a:t>i</a:t>
            </a:r>
            <a:r>
              <a:rPr lang="zh-CN" altLang="en-US" b="1" dirty="0">
                <a:solidFill>
                  <a:srgbClr val="002060"/>
                </a:solidFill>
                <a:latin typeface="+mn-lt"/>
                <a:ea typeface="楷体" pitchFamily="49" charset="-122"/>
              </a:rPr>
              <a:t>的值为等于</a:t>
            </a:r>
            <a:r>
              <a:rPr lang="en-US" altLang="zh-CN" b="1" dirty="0">
                <a:solidFill>
                  <a:srgbClr val="002060"/>
                </a:solidFill>
                <a:latin typeface="+mn-lt"/>
                <a:ea typeface="楷体" pitchFamily="49" charset="-122"/>
              </a:rPr>
              <a:t>0</a:t>
            </a:r>
          </a:p>
          <a:p>
            <a:r>
              <a:rPr lang="en-US" altLang="zh-CN" b="1" dirty="0">
                <a:latin typeface="+mn-lt"/>
                <a:ea typeface="楷体" pitchFamily="49" charset="-122"/>
              </a:rPr>
              <a:t>        </a:t>
            </a:r>
            <a:r>
              <a:rPr lang="en-US" altLang="zh-CN" b="1" dirty="0" err="1">
                <a:latin typeface="+mn-lt"/>
                <a:ea typeface="楷体" pitchFamily="49" charset="-122"/>
              </a:rPr>
              <a:t>i</a:t>
            </a:r>
            <a:r>
              <a:rPr lang="en-US" altLang="zh-CN" b="1" dirty="0">
                <a:latin typeface="+mn-lt"/>
                <a:ea typeface="楷体" pitchFamily="49" charset="-122"/>
              </a:rPr>
              <a:t> = </a:t>
            </a:r>
            <a:r>
              <a:rPr lang="en-US" altLang="zh-CN" b="1" dirty="0" err="1">
                <a:latin typeface="+mn-lt"/>
                <a:ea typeface="楷体" pitchFamily="49" charset="-122"/>
              </a:rPr>
              <a:t>strncmp</a:t>
            </a:r>
            <a:r>
              <a:rPr lang="en-US" altLang="zh-CN" b="1" dirty="0">
                <a:latin typeface="+mn-lt"/>
                <a:ea typeface="楷体" pitchFamily="49" charset="-122"/>
              </a:rPr>
              <a:t> ("</a:t>
            </a:r>
            <a:r>
              <a:rPr lang="en-US" altLang="zh-CN" b="1" dirty="0" err="1">
                <a:latin typeface="+mn-lt"/>
                <a:ea typeface="楷体" pitchFamily="49" charset="-122"/>
              </a:rPr>
              <a:t>abcd</a:t>
            </a:r>
            <a:r>
              <a:rPr lang="en-US" altLang="zh-CN" b="1" dirty="0">
                <a:latin typeface="+mn-lt"/>
                <a:ea typeface="楷体" pitchFamily="49" charset="-122"/>
              </a:rPr>
              <a:t>", "</a:t>
            </a:r>
            <a:r>
              <a:rPr lang="en-US" altLang="zh-CN" b="1" dirty="0" err="1">
                <a:latin typeface="+mn-lt"/>
                <a:ea typeface="楷体" pitchFamily="49" charset="-122"/>
              </a:rPr>
              <a:t>abcDEF</a:t>
            </a:r>
            <a:r>
              <a:rPr lang="en-US" altLang="zh-CN" b="1" dirty="0">
                <a:latin typeface="+mn-lt"/>
                <a:ea typeface="楷体" pitchFamily="49" charset="-122"/>
              </a:rPr>
              <a:t>", 5);   </a:t>
            </a:r>
            <a:r>
              <a:rPr lang="en-US" altLang="zh-CN" b="1" dirty="0">
                <a:solidFill>
                  <a:srgbClr val="002060"/>
                </a:solidFill>
                <a:latin typeface="+mn-lt"/>
                <a:ea typeface="楷体" pitchFamily="49" charset="-122"/>
              </a:rPr>
              <a:t>//</a:t>
            </a:r>
            <a:r>
              <a:rPr lang="en-US" altLang="zh-CN" b="1" dirty="0" err="1">
                <a:solidFill>
                  <a:srgbClr val="002060"/>
                </a:solidFill>
                <a:latin typeface="+mn-lt"/>
                <a:ea typeface="楷体" pitchFamily="49" charset="-122"/>
              </a:rPr>
              <a:t>i</a:t>
            </a:r>
            <a:r>
              <a:rPr lang="zh-CN" altLang="en-US" b="1" dirty="0">
                <a:solidFill>
                  <a:srgbClr val="002060"/>
                </a:solidFill>
                <a:latin typeface="+mn-lt"/>
                <a:ea typeface="楷体" pitchFamily="49" charset="-122"/>
              </a:rPr>
              <a:t>的值为大于</a:t>
            </a:r>
            <a:r>
              <a:rPr lang="en-US" altLang="zh-CN" b="1" dirty="0">
                <a:solidFill>
                  <a:srgbClr val="002060"/>
                </a:solidFill>
                <a:latin typeface="+mn-lt"/>
                <a:ea typeface="楷体" pitchFamily="49" charset="-122"/>
              </a:rPr>
              <a:t>0</a:t>
            </a:r>
          </a:p>
        </p:txBody>
      </p:sp>
      <p:sp>
        <p:nvSpPr>
          <p:cNvPr id="13" name="Rectangle 8">
            <a:extLst>
              <a:ext uri="{FF2B5EF4-FFF2-40B4-BE49-F238E27FC236}">
                <a16:creationId xmlns:a16="http://schemas.microsoft.com/office/drawing/2014/main" id="{961759BA-06F2-43B7-BE30-6A274671887E}"/>
              </a:ext>
            </a:extLst>
          </p:cNvPr>
          <p:cNvSpPr>
            <a:spLocks noChangeArrowheads="1"/>
          </p:cNvSpPr>
          <p:nvPr/>
        </p:nvSpPr>
        <p:spPr bwMode="auto">
          <a:xfrm>
            <a:off x="1430002" y="1890990"/>
            <a:ext cx="3212739"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a:t>
            </a:r>
            <a:r>
              <a:rPr lang="en-US" altLang="zh-CN" b="1" dirty="0" err="1">
                <a:solidFill>
                  <a:srgbClr val="00B0F0"/>
                </a:solidFill>
                <a:latin typeface="+mn-lt"/>
                <a:ea typeface="楷体" pitchFamily="49" charset="-122"/>
              </a:rPr>
              <a:t>stricmp</a:t>
            </a:r>
            <a:r>
              <a:rPr lang="zh-CN" altLang="en-US" b="1" dirty="0">
                <a:solidFill>
                  <a:srgbClr val="00B0F0"/>
                </a:solidFill>
                <a:latin typeface="+mn-lt"/>
                <a:ea typeface="楷体" pitchFamily="49" charset="-122"/>
              </a:rPr>
              <a:t>函数（或</a:t>
            </a:r>
            <a:r>
              <a:rPr lang="en-US" altLang="zh-CN" b="1" dirty="0" err="1">
                <a:solidFill>
                  <a:srgbClr val="00B0F0"/>
                </a:solidFill>
                <a:latin typeface="+mn-lt"/>
                <a:ea typeface="楷体" pitchFamily="49" charset="-122"/>
              </a:rPr>
              <a:t>strcmpi</a:t>
            </a:r>
            <a:r>
              <a:rPr lang="zh-CN" altLang="en-US" b="1" dirty="0">
                <a:solidFill>
                  <a:srgbClr val="00B0F0"/>
                </a:solidFill>
                <a:latin typeface="+mn-lt"/>
                <a:ea typeface="楷体" pitchFamily="49" charset="-122"/>
              </a:rPr>
              <a:t>）</a:t>
            </a:r>
          </a:p>
        </p:txBody>
      </p:sp>
      <p:sp>
        <p:nvSpPr>
          <p:cNvPr id="14" name="Rectangle 6">
            <a:extLst>
              <a:ext uri="{FF2B5EF4-FFF2-40B4-BE49-F238E27FC236}">
                <a16:creationId xmlns:a16="http://schemas.microsoft.com/office/drawing/2014/main" id="{4358EA23-ACEE-4F12-9E79-AA7168D1A5A3}"/>
              </a:ext>
            </a:extLst>
          </p:cNvPr>
          <p:cNvSpPr>
            <a:spLocks noChangeArrowheads="1"/>
          </p:cNvSpPr>
          <p:nvPr/>
        </p:nvSpPr>
        <p:spPr bwMode="auto">
          <a:xfrm>
            <a:off x="1121397" y="1489031"/>
            <a:ext cx="1593706"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字符串比较</a:t>
            </a:r>
          </a:p>
        </p:txBody>
      </p:sp>
      <p:sp>
        <p:nvSpPr>
          <p:cNvPr id="15" name="Rectangle 2">
            <a:extLst>
              <a:ext uri="{FF2B5EF4-FFF2-40B4-BE49-F238E27FC236}">
                <a16:creationId xmlns:a16="http://schemas.microsoft.com/office/drawing/2014/main" id="{D3B5C6FA-C844-4298-8CDF-7AF7F67327C3}"/>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3</a:t>
            </a:r>
            <a:r>
              <a:rPr lang="zh-CN" altLang="en-US" sz="2800" b="1" dirty="0">
                <a:solidFill>
                  <a:srgbClr val="00B0F0"/>
                </a:solidFill>
                <a:latin typeface="+mn-lt"/>
                <a:ea typeface="楷体" pitchFamily="49" charset="-122"/>
              </a:rPr>
              <a:t>、字符及字符串操作的常用函数</a:t>
            </a:r>
            <a:r>
              <a:rPr lang="zh-CN" altLang="en-US" sz="2800" dirty="0">
                <a:solidFill>
                  <a:srgbClr val="00B0F0"/>
                </a:solidFill>
                <a:latin typeface="+mn-lt"/>
                <a:ea typeface="楷体" pitchFamily="49" charset="-122"/>
              </a:rPr>
              <a:t> </a:t>
            </a:r>
          </a:p>
        </p:txBody>
      </p:sp>
      <p:sp>
        <p:nvSpPr>
          <p:cNvPr id="16" name="Rectangle 4">
            <a:extLst>
              <a:ext uri="{FF2B5EF4-FFF2-40B4-BE49-F238E27FC236}">
                <a16:creationId xmlns:a16="http://schemas.microsoft.com/office/drawing/2014/main" id="{EAD1CDF2-8721-44A9-A86F-1700AD05D2A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2376829917"/>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09678"/>
                                        </p:tgtEl>
                                        <p:attrNameLst>
                                          <p:attrName>style.visibility</p:attrName>
                                        </p:attrNameLst>
                                      </p:cBhvr>
                                      <p:to>
                                        <p:strVal val="visible"/>
                                      </p:to>
                                    </p:set>
                                    <p:animEffect transition="in" filter="box(out)">
                                      <p:cBhvr>
                                        <p:cTn id="19" dur="500"/>
                                        <p:tgtEl>
                                          <p:spTgt spid="1009678"/>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09673"/>
                                        </p:tgtEl>
                                        <p:attrNameLst>
                                          <p:attrName>style.visibility</p:attrName>
                                        </p:attrNameLst>
                                      </p:cBhvr>
                                      <p:to>
                                        <p:strVal val="visible"/>
                                      </p:to>
                                    </p:set>
                                    <p:animEffect transition="in" filter="box(out)">
                                      <p:cBhvr>
                                        <p:cTn id="24" dur="500"/>
                                        <p:tgtEl>
                                          <p:spTgt spid="1009673"/>
                                        </p:tgtEl>
                                      </p:cBhvr>
                                    </p:animEffect>
                                  </p:childTnLst>
                                  <p:subTnLst>
                                    <p:set>
                                      <p:cBhvr override="childStyle">
                                        <p:cTn dur="1" fill="hold" display="0" masterRel="nextClick" afterEffect="1"/>
                                        <p:tgtEl>
                                          <p:spTgt spid="1009673"/>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09679"/>
                                        </p:tgtEl>
                                        <p:attrNameLst>
                                          <p:attrName>style.visibility</p:attrName>
                                        </p:attrNameLst>
                                      </p:cBhvr>
                                      <p:to>
                                        <p:strVal val="visible"/>
                                      </p:to>
                                    </p:set>
                                    <p:anim calcmode="lin" valueType="num">
                                      <p:cBhvr additive="base">
                                        <p:cTn id="29" dur="500" fill="hold"/>
                                        <p:tgtEl>
                                          <p:spTgt spid="1009679"/>
                                        </p:tgtEl>
                                        <p:attrNameLst>
                                          <p:attrName>ppt_x</p:attrName>
                                        </p:attrNameLst>
                                      </p:cBhvr>
                                      <p:tavLst>
                                        <p:tav tm="0">
                                          <p:val>
                                            <p:strVal val="0-#ppt_w/2"/>
                                          </p:val>
                                        </p:tav>
                                        <p:tav tm="100000">
                                          <p:val>
                                            <p:strVal val="#ppt_x"/>
                                          </p:val>
                                        </p:tav>
                                      </p:tavLst>
                                    </p:anim>
                                    <p:anim calcmode="lin" valueType="num">
                                      <p:cBhvr additive="base">
                                        <p:cTn id="30" dur="500" fill="hold"/>
                                        <p:tgtEl>
                                          <p:spTgt spid="100967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09680"/>
                                        </p:tgtEl>
                                        <p:attrNameLst>
                                          <p:attrName>style.visibility</p:attrName>
                                        </p:attrNameLst>
                                      </p:cBhvr>
                                      <p:to>
                                        <p:strVal val="visible"/>
                                      </p:to>
                                    </p:set>
                                    <p:animEffect transition="in" filter="box(out)">
                                      <p:cBhvr>
                                        <p:cTn id="35" dur="500"/>
                                        <p:tgtEl>
                                          <p:spTgt spid="1009680"/>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09681"/>
                                        </p:tgtEl>
                                        <p:attrNameLst>
                                          <p:attrName>style.visibility</p:attrName>
                                        </p:attrNameLst>
                                      </p:cBhvr>
                                      <p:to>
                                        <p:strVal val="visible"/>
                                      </p:to>
                                    </p:set>
                                    <p:animEffect transition="in" filter="box(out)">
                                      <p:cBhvr>
                                        <p:cTn id="40" dur="500"/>
                                        <p:tgtEl>
                                          <p:spTgt spid="1009681"/>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9679" grpId="0"/>
      <p:bldP spid="1009673" grpId="0" animBg="1"/>
      <p:bldP spid="1009678" grpId="0" animBg="1" autoUpdateAnimBg="0"/>
      <p:bldP spid="1009680" grpId="0" animBg="1" autoUpdateAnimBg="0"/>
      <p:bldP spid="1009681" grpId="0" animBg="1"/>
      <p:bldP spid="13"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7" name="Text Box 9"/>
          <p:cNvSpPr txBox="1">
            <a:spLocks noChangeArrowheads="1"/>
          </p:cNvSpPr>
          <p:nvPr/>
        </p:nvSpPr>
        <p:spPr bwMode="auto">
          <a:xfrm>
            <a:off x="1762376" y="2332634"/>
            <a:ext cx="9387328" cy="1225550"/>
          </a:xfrm>
          <a:prstGeom prst="rect">
            <a:avLst/>
          </a:prstGeom>
          <a:gradFill flip="none" rotWithShape="1">
            <a:gsLst>
              <a:gs pos="0">
                <a:srgbClr val="CFCFD1"/>
              </a:gs>
              <a:gs pos="100000">
                <a:schemeClr val="bg1">
                  <a:lumMod val="9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zh-CN" altLang="en-US" b="1" dirty="0">
                <a:solidFill>
                  <a:srgbClr val="002060"/>
                </a:solidFill>
                <a:ea typeface="隶书" pitchFamily="49" charset="-122"/>
              </a:rPr>
              <a:t>同</a:t>
            </a:r>
            <a:r>
              <a:rPr lang="en-US" altLang="zh-CN" b="1" dirty="0" err="1">
                <a:solidFill>
                  <a:srgbClr val="002060"/>
                </a:solidFill>
                <a:ea typeface="隶书" pitchFamily="49" charset="-122"/>
              </a:rPr>
              <a:t>strncmp</a:t>
            </a:r>
            <a:r>
              <a:rPr lang="en-US" altLang="zh-CN" b="1" dirty="0">
                <a:solidFill>
                  <a:srgbClr val="002060"/>
                </a:solidFill>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latin typeface="+mn-lt"/>
              <a:ea typeface="隶书" pitchFamily="49" charset="-122"/>
            </a:endParaRPr>
          </a:p>
          <a:p>
            <a:r>
              <a:rPr lang="zh-CN" altLang="zh-CN" b="1" dirty="0">
                <a:ea typeface="隶书" pitchFamily="49" charset="-122"/>
              </a:rPr>
              <a:t>差别：</a:t>
            </a:r>
            <a:r>
              <a:rPr lang="en-US" altLang="zh-CN" b="1" dirty="0" err="1">
                <a:ea typeface="隶书" pitchFamily="49" charset="-122"/>
              </a:rPr>
              <a:t>strnicmp</a:t>
            </a:r>
            <a:r>
              <a:rPr lang="zh-CN" altLang="en-US" b="1" dirty="0">
                <a:ea typeface="隶书" pitchFamily="49" charset="-122"/>
              </a:rPr>
              <a:t>在比较两个字符串时</a:t>
            </a:r>
            <a:r>
              <a:rPr lang="zh-CN" altLang="en-US" b="1" dirty="0">
                <a:solidFill>
                  <a:srgbClr val="C01920"/>
                </a:solidFill>
                <a:ea typeface="隶书" pitchFamily="49" charset="-122"/>
              </a:rPr>
              <a:t>不区分大小写</a:t>
            </a:r>
            <a:r>
              <a:rPr lang="zh-CN" altLang="en-US" b="1" dirty="0">
                <a:ea typeface="隶书" pitchFamily="49" charset="-122"/>
              </a:rPr>
              <a:t>，而</a:t>
            </a:r>
            <a:r>
              <a:rPr lang="en-US" altLang="zh-CN" b="1" dirty="0" err="1">
                <a:ea typeface="隶书" pitchFamily="49" charset="-122"/>
              </a:rPr>
              <a:t>strncmp</a:t>
            </a:r>
            <a:r>
              <a:rPr lang="zh-CN" altLang="en-US" b="1" dirty="0">
                <a:ea typeface="隶书" pitchFamily="49" charset="-122"/>
              </a:rPr>
              <a:t>则</a:t>
            </a:r>
            <a:r>
              <a:rPr lang="zh-CN" altLang="en-US" b="1" dirty="0">
                <a:solidFill>
                  <a:srgbClr val="002060"/>
                </a:solidFill>
                <a:ea typeface="隶书" pitchFamily="49" charset="-122"/>
              </a:rPr>
              <a:t>区分大小写</a:t>
            </a:r>
            <a:r>
              <a:rPr lang="zh-CN" altLang="en-US" dirty="0">
                <a:solidFill>
                  <a:srgbClr val="002060"/>
                </a:solidFill>
                <a:ea typeface="隶书" pitchFamily="49" charset="-122"/>
              </a:rPr>
              <a:t> </a:t>
            </a:r>
          </a:p>
        </p:txBody>
      </p:sp>
      <p:sp>
        <p:nvSpPr>
          <p:cNvPr id="1010701" name="Rectangle 13"/>
          <p:cNvSpPr>
            <a:spLocks noChangeArrowheads="1"/>
          </p:cNvSpPr>
          <p:nvPr/>
        </p:nvSpPr>
        <p:spPr bwMode="auto">
          <a:xfrm>
            <a:off x="1163332" y="3776831"/>
            <a:ext cx="1826141"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字符串的连接</a:t>
            </a:r>
          </a:p>
        </p:txBody>
      </p:sp>
      <p:sp>
        <p:nvSpPr>
          <p:cNvPr id="1010702" name="Text Box 14"/>
          <p:cNvSpPr txBox="1">
            <a:spLocks noChangeArrowheads="1"/>
          </p:cNvSpPr>
          <p:nvPr/>
        </p:nvSpPr>
        <p:spPr bwMode="auto">
          <a:xfrm>
            <a:off x="1624926" y="4221088"/>
            <a:ext cx="9770228" cy="2320925"/>
          </a:xfrm>
          <a:prstGeom prst="rect">
            <a:avLst/>
          </a:prstGeom>
          <a:gradFill flip="none" rotWithShape="1">
            <a:gsLst>
              <a:gs pos="0">
                <a:srgbClr val="CFCFD1"/>
              </a:gs>
              <a:gs pos="100000">
                <a:schemeClr val="bg1">
                  <a:lumMod val="9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a typeface="隶书" pitchFamily="49" charset="-122"/>
              </a:rPr>
              <a:t>格式：</a:t>
            </a:r>
            <a:r>
              <a:rPr lang="en-US" altLang="zh-CN" b="1" dirty="0" err="1">
                <a:solidFill>
                  <a:srgbClr val="002060"/>
                </a:solidFill>
                <a:ea typeface="隶书" pitchFamily="49" charset="-122"/>
              </a:rPr>
              <a:t>strcat</a:t>
            </a:r>
            <a:r>
              <a:rPr lang="en-US" altLang="zh-CN" b="1" dirty="0">
                <a:solidFill>
                  <a:srgbClr val="002060"/>
                </a:solidFill>
                <a:ea typeface="隶书" pitchFamily="49" charset="-122"/>
              </a:rPr>
              <a:t> </a:t>
            </a:r>
            <a:r>
              <a:rPr lang="en-US" altLang="zh-CN" b="1" dirty="0">
                <a:ea typeface="隶书" pitchFamily="49" charset="-122"/>
              </a:rPr>
              <a:t>(</a:t>
            </a:r>
            <a:r>
              <a:rPr lang="zh-CN" altLang="zh-CN" b="1" dirty="0">
                <a:ea typeface="隶书" pitchFamily="49" charset="-122"/>
              </a:rPr>
              <a:t>字符数组1,</a:t>
            </a:r>
            <a:r>
              <a:rPr lang="en-US" altLang="zh-CN" b="1" dirty="0">
                <a:ea typeface="隶书" pitchFamily="49" charset="-122"/>
              </a:rPr>
              <a:t> </a:t>
            </a:r>
            <a:r>
              <a:rPr lang="zh-CN" altLang="zh-CN" b="1" dirty="0">
                <a:ea typeface="隶书" pitchFamily="49" charset="-122"/>
              </a:rPr>
              <a:t>字符数组2) </a:t>
            </a:r>
            <a:r>
              <a:rPr lang="en-US" altLang="zh-CN" b="1" dirty="0">
                <a:ea typeface="隶书" pitchFamily="49" charset="-122"/>
              </a:rPr>
              <a:t> </a:t>
            </a:r>
            <a:r>
              <a:rPr lang="en-US" altLang="zh-CN" sz="2000" b="1" dirty="0">
                <a:solidFill>
                  <a:srgbClr val="CC0099"/>
                </a:solidFill>
                <a:latin typeface="+mn-lt"/>
                <a:ea typeface="隶书" pitchFamily="49" charset="-122"/>
              </a:rPr>
              <a:t>//</a:t>
            </a:r>
            <a:r>
              <a:rPr lang="zh-CN" altLang="en-US" sz="2000" b="1" dirty="0">
                <a:solidFill>
                  <a:srgbClr val="CC0099"/>
                </a:solidFill>
                <a:latin typeface="+mn-lt"/>
                <a:ea typeface="隶书" pitchFamily="49" charset="-122"/>
              </a:rPr>
              <a:t>应包含的</a:t>
            </a:r>
            <a:r>
              <a:rPr lang="en-US" altLang="zh-CN" sz="2000" b="1" dirty="0">
                <a:solidFill>
                  <a:srgbClr val="CC0099"/>
                </a:solidFill>
                <a:latin typeface="+mn-lt"/>
                <a:ea typeface="隶书" pitchFamily="49" charset="-122"/>
              </a:rPr>
              <a:t>.h</a:t>
            </a:r>
            <a:r>
              <a:rPr lang="zh-CN" altLang="en-US" sz="2000" b="1" dirty="0">
                <a:solidFill>
                  <a:srgbClr val="CC0099"/>
                </a:solidFill>
                <a:latin typeface="+mn-lt"/>
                <a:ea typeface="隶书" pitchFamily="49" charset="-122"/>
              </a:rPr>
              <a:t>文件为</a:t>
            </a:r>
            <a:r>
              <a:rPr lang="en-US" altLang="zh-CN" sz="2000" b="1" dirty="0" err="1">
                <a:solidFill>
                  <a:srgbClr val="CC0099"/>
                </a:solidFill>
                <a:latin typeface="+mn-lt"/>
                <a:ea typeface="隶书" pitchFamily="49" charset="-122"/>
              </a:rPr>
              <a:t>string.h</a:t>
            </a:r>
            <a:endParaRPr lang="zh-CN" altLang="zh-CN" sz="2000" b="1" dirty="0">
              <a:solidFill>
                <a:srgbClr val="CC0099"/>
              </a:solidFill>
              <a:latin typeface="+mn-lt"/>
              <a:ea typeface="隶书" pitchFamily="49" charset="-122"/>
            </a:endParaRPr>
          </a:p>
          <a:p>
            <a:r>
              <a:rPr lang="zh-CN" altLang="zh-CN" b="1" dirty="0">
                <a:ea typeface="隶书" pitchFamily="49" charset="-122"/>
              </a:rPr>
              <a:t>功能：把字符数组2连到字符数组1后面</a:t>
            </a:r>
          </a:p>
          <a:p>
            <a:r>
              <a:rPr lang="zh-CN" altLang="zh-CN" b="1" dirty="0">
                <a:ea typeface="隶书" pitchFamily="49" charset="-122"/>
              </a:rPr>
              <a:t>返值：返回字符数组1的首地址</a:t>
            </a:r>
          </a:p>
          <a:p>
            <a:r>
              <a:rPr lang="zh-CN" altLang="zh-CN" b="1" dirty="0">
                <a:ea typeface="隶书" pitchFamily="49" charset="-122"/>
              </a:rPr>
              <a:t>说明：</a:t>
            </a:r>
            <a:r>
              <a:rPr lang="zh-CN" altLang="zh-CN" b="1" dirty="0">
                <a:ea typeface="隶书" pitchFamily="49" charset="-122"/>
                <a:sym typeface="Wingdings" pitchFamily="2" charset="2"/>
              </a:rPr>
              <a:t></a:t>
            </a:r>
            <a:r>
              <a:rPr lang="en-US" altLang="zh-CN" b="1" dirty="0">
                <a:ea typeface="隶书" pitchFamily="49" charset="-122"/>
                <a:sym typeface="Wingdings" pitchFamily="2" charset="2"/>
              </a:rPr>
              <a:t> </a:t>
            </a:r>
            <a:r>
              <a:rPr lang="zh-CN" altLang="zh-CN" b="1" dirty="0">
                <a:ea typeface="隶书" pitchFamily="49" charset="-122"/>
                <a:sym typeface="Wingdings" pitchFamily="2" charset="2"/>
              </a:rPr>
              <a:t>字符数组1必须足够大</a:t>
            </a:r>
          </a:p>
          <a:p>
            <a:r>
              <a:rPr lang="zh-CN" altLang="zh-CN" b="1" dirty="0">
                <a:ea typeface="隶书" pitchFamily="49" charset="-122"/>
                <a:sym typeface="Wingdings" pitchFamily="2" charset="2"/>
              </a:rPr>
              <a:t>            </a:t>
            </a:r>
            <a:r>
              <a:rPr lang="en-US" altLang="zh-CN" b="1" dirty="0">
                <a:ea typeface="隶书" pitchFamily="49" charset="-122"/>
                <a:sym typeface="Wingdings" pitchFamily="2" charset="2"/>
              </a:rPr>
              <a:t> </a:t>
            </a:r>
            <a:r>
              <a:rPr lang="zh-CN" altLang="zh-CN" b="1" dirty="0">
                <a:ea typeface="隶书" pitchFamily="49" charset="-122"/>
                <a:sym typeface="Wingdings" pitchFamily="2" charset="2"/>
              </a:rPr>
              <a:t>连接前，两串均以</a:t>
            </a:r>
            <a:r>
              <a:rPr lang="en-US" altLang="zh-CN" b="1" dirty="0"/>
              <a:t>'</a:t>
            </a:r>
            <a:r>
              <a:rPr lang="zh-CN" altLang="zh-CN" b="1" dirty="0">
                <a:ea typeface="隶书" pitchFamily="49" charset="-122"/>
                <a:sym typeface="Wingdings" pitchFamily="2" charset="2"/>
              </a:rPr>
              <a:t>\0</a:t>
            </a:r>
            <a:r>
              <a:rPr lang="en-US" altLang="zh-CN" b="1" dirty="0"/>
              <a:t>'</a:t>
            </a:r>
            <a:r>
              <a:rPr lang="zh-CN" altLang="zh-CN" b="1" dirty="0">
                <a:ea typeface="隶书" pitchFamily="49" charset="-122"/>
                <a:sym typeface="Wingdings" pitchFamily="2" charset="2"/>
              </a:rPr>
              <a:t>结束；连接后，串1的</a:t>
            </a:r>
            <a:r>
              <a:rPr lang="en-US" altLang="zh-CN" b="1" dirty="0"/>
              <a:t>'</a:t>
            </a:r>
            <a:r>
              <a:rPr lang="zh-CN" altLang="zh-CN" b="1" dirty="0">
                <a:ea typeface="隶书" pitchFamily="49" charset="-122"/>
                <a:sym typeface="Wingdings" pitchFamily="2" charset="2"/>
              </a:rPr>
              <a:t>\0</a:t>
            </a:r>
            <a:r>
              <a:rPr lang="en-US" altLang="zh-CN" b="1" dirty="0"/>
              <a:t>'</a:t>
            </a:r>
            <a:r>
              <a:rPr lang="zh-CN" altLang="zh-CN" b="1" dirty="0">
                <a:ea typeface="隶书" pitchFamily="49" charset="-122"/>
                <a:sym typeface="Wingdings" pitchFamily="2" charset="2"/>
              </a:rPr>
              <a:t>取消，新串最后</a:t>
            </a:r>
            <a:endParaRPr lang="en-US" altLang="zh-CN" b="1" dirty="0">
              <a:ea typeface="隶书" pitchFamily="49" charset="-122"/>
              <a:sym typeface="Wingdings" pitchFamily="2" charset="2"/>
            </a:endParaRPr>
          </a:p>
          <a:p>
            <a:r>
              <a:rPr lang="en-US" altLang="zh-CN" b="1" dirty="0">
                <a:ea typeface="隶书" pitchFamily="49" charset="-122"/>
                <a:sym typeface="Wingdings" pitchFamily="2" charset="2"/>
              </a:rPr>
              <a:t>                </a:t>
            </a:r>
            <a:r>
              <a:rPr lang="zh-CN" altLang="zh-CN" b="1" dirty="0">
                <a:ea typeface="隶书" pitchFamily="49" charset="-122"/>
                <a:sym typeface="Wingdings" pitchFamily="2" charset="2"/>
              </a:rPr>
              <a:t>加</a:t>
            </a:r>
            <a:r>
              <a:rPr lang="en-US" altLang="zh-CN" b="1" dirty="0"/>
              <a:t>'</a:t>
            </a:r>
            <a:r>
              <a:rPr lang="zh-CN" altLang="zh-CN" b="1" dirty="0">
                <a:ea typeface="隶书" pitchFamily="49" charset="-122"/>
                <a:sym typeface="Wingdings" pitchFamily="2" charset="2"/>
              </a:rPr>
              <a:t>\0</a:t>
            </a:r>
            <a:r>
              <a:rPr lang="en-US" altLang="zh-CN" b="1" dirty="0"/>
              <a:t>'</a:t>
            </a:r>
          </a:p>
        </p:txBody>
      </p:sp>
      <p:sp>
        <p:nvSpPr>
          <p:cNvPr id="1010703" name="Rectangle 15" descr="信纸"/>
          <p:cNvSpPr>
            <a:spLocks noChangeArrowheads="1"/>
          </p:cNvSpPr>
          <p:nvPr/>
        </p:nvSpPr>
        <p:spPr bwMode="auto">
          <a:xfrm>
            <a:off x="1631504" y="5299794"/>
            <a:ext cx="8568947" cy="122555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a:t>
            </a:r>
            <a:r>
              <a:rPr lang="en-US" altLang="zh-CN" b="1" dirty="0">
                <a:latin typeface="+mn-lt"/>
                <a:ea typeface="楷体" pitchFamily="49" charset="-122"/>
              </a:rPr>
              <a:t>char str1[20] = "12345", str2[ ] = "6789";</a:t>
            </a:r>
          </a:p>
          <a:p>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strcat</a:t>
            </a:r>
            <a:r>
              <a:rPr lang="en-US" altLang="zh-CN" b="1" dirty="0">
                <a:solidFill>
                  <a:srgbClr val="C01920"/>
                </a:solidFill>
                <a:latin typeface="+mn-lt"/>
                <a:ea typeface="楷体" pitchFamily="49" charset="-122"/>
              </a:rPr>
              <a:t> </a:t>
            </a:r>
            <a:r>
              <a:rPr lang="en-US" altLang="zh-CN" b="1" dirty="0">
                <a:latin typeface="+mn-lt"/>
                <a:ea typeface="楷体" pitchFamily="49" charset="-122"/>
              </a:rPr>
              <a:t>(str1, str2);</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 ("%s", str1);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将输出</a:t>
            </a:r>
            <a:r>
              <a:rPr lang="en-US" altLang="zh-CN" b="1" dirty="0">
                <a:solidFill>
                  <a:srgbClr val="002060"/>
                </a:solidFill>
                <a:latin typeface="+mn-lt"/>
                <a:ea typeface="楷体" pitchFamily="49" charset="-122"/>
              </a:rPr>
              <a:t>123456789</a:t>
            </a:r>
          </a:p>
        </p:txBody>
      </p:sp>
      <p:sp>
        <p:nvSpPr>
          <p:cNvPr id="12" name="Rectangle 6">
            <a:extLst>
              <a:ext uri="{FF2B5EF4-FFF2-40B4-BE49-F238E27FC236}">
                <a16:creationId xmlns:a16="http://schemas.microsoft.com/office/drawing/2014/main" id="{53788251-E7B9-4BE0-9D12-FF18013DDA83}"/>
              </a:ext>
            </a:extLst>
          </p:cNvPr>
          <p:cNvSpPr>
            <a:spLocks noChangeArrowheads="1"/>
          </p:cNvSpPr>
          <p:nvPr/>
        </p:nvSpPr>
        <p:spPr bwMode="auto">
          <a:xfrm>
            <a:off x="1121397" y="1489031"/>
            <a:ext cx="1593706"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字符串比较</a:t>
            </a:r>
          </a:p>
        </p:txBody>
      </p:sp>
      <p:sp>
        <p:nvSpPr>
          <p:cNvPr id="13" name="Rectangle 2">
            <a:extLst>
              <a:ext uri="{FF2B5EF4-FFF2-40B4-BE49-F238E27FC236}">
                <a16:creationId xmlns:a16="http://schemas.microsoft.com/office/drawing/2014/main" id="{4F98CEEE-3F1D-4481-8805-DF65E40666AB}"/>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3</a:t>
            </a:r>
            <a:r>
              <a:rPr lang="zh-CN" altLang="en-US" sz="2800" b="1" dirty="0">
                <a:solidFill>
                  <a:srgbClr val="00B0F0"/>
                </a:solidFill>
                <a:latin typeface="+mn-lt"/>
                <a:ea typeface="楷体" pitchFamily="49" charset="-122"/>
              </a:rPr>
              <a:t>、字符及字符串操作的常用函数</a:t>
            </a:r>
            <a:r>
              <a:rPr lang="zh-CN" altLang="en-US" sz="2800" dirty="0">
                <a:solidFill>
                  <a:srgbClr val="00B0F0"/>
                </a:solidFill>
                <a:latin typeface="+mn-lt"/>
                <a:ea typeface="楷体" pitchFamily="49" charset="-122"/>
              </a:rPr>
              <a:t> </a:t>
            </a:r>
          </a:p>
        </p:txBody>
      </p:sp>
      <p:sp>
        <p:nvSpPr>
          <p:cNvPr id="14" name="Rectangle 4">
            <a:extLst>
              <a:ext uri="{FF2B5EF4-FFF2-40B4-BE49-F238E27FC236}">
                <a16:creationId xmlns:a16="http://schemas.microsoft.com/office/drawing/2014/main" id="{505415C0-C732-4BE5-B3EB-D8A344D45A0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
        <p:nvSpPr>
          <p:cNvPr id="15" name="Rectangle 8">
            <a:extLst>
              <a:ext uri="{FF2B5EF4-FFF2-40B4-BE49-F238E27FC236}">
                <a16:creationId xmlns:a16="http://schemas.microsoft.com/office/drawing/2014/main" id="{C4E60A37-1467-4925-89ED-ABE2C6849A05}"/>
              </a:ext>
            </a:extLst>
          </p:cNvPr>
          <p:cNvSpPr>
            <a:spLocks noChangeArrowheads="1"/>
          </p:cNvSpPr>
          <p:nvPr/>
        </p:nvSpPr>
        <p:spPr bwMode="auto">
          <a:xfrm>
            <a:off x="1430002" y="1890990"/>
            <a:ext cx="1867819"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tabLst>
                <a:tab pos="457200" algn="l"/>
              </a:tabLst>
            </a:pPr>
            <a:r>
              <a:rPr lang="en-US" altLang="zh-CN" b="1" dirty="0">
                <a:solidFill>
                  <a:srgbClr val="00B0F0"/>
                </a:solidFill>
                <a:latin typeface="+mn-lt"/>
                <a:ea typeface="楷体" pitchFamily="49" charset="-122"/>
              </a:rPr>
              <a:t>  </a:t>
            </a:r>
            <a:r>
              <a:rPr lang="en-US" altLang="zh-CN" b="1" dirty="0" err="1">
                <a:solidFill>
                  <a:srgbClr val="00B0F0"/>
                </a:solidFill>
                <a:latin typeface="+mn-lt"/>
                <a:ea typeface="楷体" pitchFamily="49" charset="-122"/>
              </a:rPr>
              <a:t>strnicmp</a:t>
            </a:r>
            <a:r>
              <a:rPr lang="zh-CN" altLang="en-US" b="1" dirty="0">
                <a:solidFill>
                  <a:srgbClr val="00B0F0"/>
                </a:solidFill>
                <a:latin typeface="+mn-lt"/>
                <a:ea typeface="楷体" pitchFamily="49" charset="-122"/>
              </a:rPr>
              <a:t>函数</a:t>
            </a:r>
          </a:p>
        </p:txBody>
      </p:sp>
    </p:spTree>
    <p:extLst>
      <p:ext uri="{BB962C8B-B14F-4D97-AF65-F5344CB8AC3E}">
        <p14:creationId xmlns:p14="http://schemas.microsoft.com/office/powerpoint/2010/main" val="4104148019"/>
      </p:ext>
    </p:extLst>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0-#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10697"/>
                                        </p:tgtEl>
                                        <p:attrNameLst>
                                          <p:attrName>style.visibility</p:attrName>
                                        </p:attrNameLst>
                                      </p:cBhvr>
                                      <p:to>
                                        <p:strVal val="visible"/>
                                      </p:to>
                                    </p:set>
                                    <p:animEffect transition="in" filter="box(out)">
                                      <p:cBhvr>
                                        <p:cTn id="19" dur="500"/>
                                        <p:tgtEl>
                                          <p:spTgt spid="1010697"/>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10701"/>
                                        </p:tgtEl>
                                        <p:attrNameLst>
                                          <p:attrName>style.visibility</p:attrName>
                                        </p:attrNameLst>
                                      </p:cBhvr>
                                      <p:to>
                                        <p:strVal val="visible"/>
                                      </p:to>
                                    </p:set>
                                    <p:anim calcmode="lin" valueType="num">
                                      <p:cBhvr additive="base">
                                        <p:cTn id="24" dur="500" fill="hold"/>
                                        <p:tgtEl>
                                          <p:spTgt spid="1010701"/>
                                        </p:tgtEl>
                                        <p:attrNameLst>
                                          <p:attrName>ppt_x</p:attrName>
                                        </p:attrNameLst>
                                      </p:cBhvr>
                                      <p:tavLst>
                                        <p:tav tm="0">
                                          <p:val>
                                            <p:strVal val="0-#ppt_w/2"/>
                                          </p:val>
                                        </p:tav>
                                        <p:tav tm="100000">
                                          <p:val>
                                            <p:strVal val="#ppt_x"/>
                                          </p:val>
                                        </p:tav>
                                      </p:tavLst>
                                    </p:anim>
                                    <p:anim calcmode="lin" valueType="num">
                                      <p:cBhvr additive="base">
                                        <p:cTn id="25" dur="500" fill="hold"/>
                                        <p:tgtEl>
                                          <p:spTgt spid="101070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whoosh.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010702"/>
                                        </p:tgtEl>
                                        <p:attrNameLst>
                                          <p:attrName>style.visibility</p:attrName>
                                        </p:attrNameLst>
                                      </p:cBhvr>
                                      <p:to>
                                        <p:strVal val="visible"/>
                                      </p:to>
                                    </p:set>
                                    <p:animEffect transition="in" filter="box(out)">
                                      <p:cBhvr>
                                        <p:cTn id="30" dur="500"/>
                                        <p:tgtEl>
                                          <p:spTgt spid="1010702"/>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10703"/>
                                        </p:tgtEl>
                                        <p:attrNameLst>
                                          <p:attrName>style.visibility</p:attrName>
                                        </p:attrNameLst>
                                      </p:cBhvr>
                                      <p:to>
                                        <p:strVal val="visible"/>
                                      </p:to>
                                    </p:set>
                                    <p:animEffect transition="in" filter="box(out)">
                                      <p:cBhvr>
                                        <p:cTn id="35" dur="500"/>
                                        <p:tgtEl>
                                          <p:spTgt spid="1010703"/>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0697" grpId="0" animBg="1" autoUpdateAnimBg="0"/>
      <p:bldP spid="1010701" grpId="0"/>
      <p:bldP spid="1010702" grpId="0" animBg="1" autoUpdateAnimBg="0"/>
      <p:bldP spid="1010703" grpId="0" animBg="1"/>
      <p:bldP spid="12" grpId="0"/>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C34B3C08-7D58-46A9-BA76-5B07B3ACCF32}"/>
              </a:ext>
            </a:extLst>
          </p:cNvPr>
          <p:cNvGrpSpPr/>
          <p:nvPr/>
        </p:nvGrpSpPr>
        <p:grpSpPr>
          <a:xfrm>
            <a:off x="695325" y="967906"/>
            <a:ext cx="5711113" cy="630931"/>
            <a:chOff x="695400" y="1059424"/>
            <a:chExt cx="5711113" cy="630931"/>
          </a:xfrm>
        </p:grpSpPr>
        <p:grpSp>
          <p:nvGrpSpPr>
            <p:cNvPr id="8" name="组合 7">
              <a:extLst>
                <a:ext uri="{FF2B5EF4-FFF2-40B4-BE49-F238E27FC236}">
                  <a16:creationId xmlns:a16="http://schemas.microsoft.com/office/drawing/2014/main" id="{1260A279-2F79-4BCE-AA51-92FF7D835E2F}"/>
                </a:ext>
              </a:extLst>
            </p:cNvPr>
            <p:cNvGrpSpPr/>
            <p:nvPr/>
          </p:nvGrpSpPr>
          <p:grpSpPr>
            <a:xfrm>
              <a:off x="695400" y="1059424"/>
              <a:ext cx="833819" cy="557612"/>
              <a:chOff x="695400" y="1059424"/>
              <a:chExt cx="833819" cy="557612"/>
            </a:xfrm>
          </p:grpSpPr>
          <p:sp>
            <p:nvSpPr>
              <p:cNvPr id="10" name="菱形 9">
                <a:extLst>
                  <a:ext uri="{FF2B5EF4-FFF2-40B4-BE49-F238E27FC236}">
                    <a16:creationId xmlns:a16="http://schemas.microsoft.com/office/drawing/2014/main" id="{6E034051-6F71-429A-AF7F-D29A3DB72CAC}"/>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1" name="菱形 10">
                <a:extLst>
                  <a:ext uri="{FF2B5EF4-FFF2-40B4-BE49-F238E27FC236}">
                    <a16:creationId xmlns:a16="http://schemas.microsoft.com/office/drawing/2014/main" id="{9AC11739-AB61-4339-AA6D-E0DBA20653FB}"/>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9" name="Text Box 5">
              <a:extLst>
                <a:ext uri="{FF2B5EF4-FFF2-40B4-BE49-F238E27FC236}">
                  <a16:creationId xmlns:a16="http://schemas.microsoft.com/office/drawing/2014/main" id="{63211DF7-32C3-4C2F-9A26-A88DA83188D7}"/>
                </a:ext>
              </a:extLst>
            </p:cNvPr>
            <p:cNvSpPr txBox="1">
              <a:spLocks noChangeArrowheads="1"/>
            </p:cNvSpPr>
            <p:nvPr/>
          </p:nvSpPr>
          <p:spPr bwMode="auto">
            <a:xfrm>
              <a:off x="1502725" y="1167135"/>
              <a:ext cx="4903788"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常用的字符和字符串处理函数 </a:t>
              </a:r>
            </a:p>
          </p:txBody>
        </p:sp>
      </p:grpSp>
      <p:graphicFrame>
        <p:nvGraphicFramePr>
          <p:cNvPr id="1011924" name="Group 212"/>
          <p:cNvGraphicFramePr>
            <a:graphicFrameLocks noGrp="1"/>
          </p:cNvGraphicFramePr>
          <p:nvPr>
            <p:extLst>
              <p:ext uri="{D42A27DB-BD31-4B8C-83A1-F6EECF244321}">
                <p14:modId xmlns:p14="http://schemas.microsoft.com/office/powerpoint/2010/main" val="227259525"/>
              </p:ext>
            </p:extLst>
          </p:nvPr>
        </p:nvGraphicFramePr>
        <p:xfrm>
          <a:off x="911424" y="925210"/>
          <a:ext cx="10584210" cy="5672142"/>
        </p:xfrm>
        <a:graphic>
          <a:graphicData uri="http://schemas.openxmlformats.org/drawingml/2006/table">
            <a:tbl>
              <a:tblPr>
                <a:effectLst>
                  <a:outerShdw blurRad="50800" dist="38100" dir="2700000" algn="tl" rotWithShape="0">
                    <a:prstClr val="black">
                      <a:alpha val="40000"/>
                    </a:prstClr>
                  </a:outerShdw>
                </a:effectLst>
              </a:tblPr>
              <a:tblGrid>
                <a:gridCol w="2527819">
                  <a:extLst>
                    <a:ext uri="{9D8B030D-6E8A-4147-A177-3AD203B41FA5}">
                      <a16:colId xmlns:a16="http://schemas.microsoft.com/office/drawing/2014/main" val="20000"/>
                    </a:ext>
                  </a:extLst>
                </a:gridCol>
                <a:gridCol w="5752135">
                  <a:extLst>
                    <a:ext uri="{9D8B030D-6E8A-4147-A177-3AD203B41FA5}">
                      <a16:colId xmlns:a16="http://schemas.microsoft.com/office/drawing/2014/main" val="20001"/>
                    </a:ext>
                  </a:extLst>
                </a:gridCol>
                <a:gridCol w="2304256">
                  <a:extLst>
                    <a:ext uri="{9D8B030D-6E8A-4147-A177-3AD203B41FA5}">
                      <a16:colId xmlns:a16="http://schemas.microsoft.com/office/drawing/2014/main" val="20002"/>
                    </a:ext>
                  </a:extLst>
                </a:gridCol>
              </a:tblGrid>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隶书" pitchFamily="49" charset="-122"/>
                          <a:cs typeface="Times New Roman" pitchFamily="18" charset="0"/>
                        </a:rPr>
                        <a:t>函数的用法</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隶书" pitchFamily="49" charset="-122"/>
                          <a:cs typeface="Times New Roman" pitchFamily="18" charset="0"/>
                        </a:rPr>
                        <a:t>函数的功能</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隶书" pitchFamily="49" charset="-122"/>
                          <a:cs typeface="Times New Roman" pitchFamily="18" charset="0"/>
                        </a:rPr>
                        <a:t>应包含的</a:t>
                      </a:r>
                      <a:r>
                        <a:rPr kumimoji="1" lang="en-US" altLang="zh-CN" sz="2000" b="1" i="0" u="none" strike="noStrike" cap="none" normalizeH="0" baseline="0" dirty="0">
                          <a:ln>
                            <a:noFill/>
                          </a:ln>
                          <a:solidFill>
                            <a:schemeClr val="bg1"/>
                          </a:solidFill>
                          <a:effectLst/>
                          <a:latin typeface="+mn-lt"/>
                          <a:ea typeface="隶书" pitchFamily="49" charset="-122"/>
                          <a:cs typeface="Times New Roman" pitchFamily="18" charset="0"/>
                        </a:rPr>
                        <a:t>.h</a:t>
                      </a:r>
                      <a:r>
                        <a:rPr kumimoji="1" lang="zh-CN" altLang="en-US" sz="2000" b="1" i="0" u="none" strike="noStrike" cap="none" normalizeH="0" baseline="0" dirty="0">
                          <a:ln>
                            <a:noFill/>
                          </a:ln>
                          <a:solidFill>
                            <a:schemeClr val="bg1"/>
                          </a:solidFill>
                          <a:effectLst/>
                          <a:latin typeface="+mn-lt"/>
                          <a:ea typeface="隶书" pitchFamily="49" charset="-122"/>
                          <a:cs typeface="Times New Roman" pitchFamily="18" charset="0"/>
                        </a:rPr>
                        <a:t>文件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7858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strset</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字符数组</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 </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将字符数组中的字符串中的所有字符都设为指定字符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string.h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7254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strlwr</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字符数组</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将字符数组中的字符串中的所有字符转换成小写字符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string.h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7254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strupr</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字符数组</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将字符数组中的字符串中的所有字符转换成大写字符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string.h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toupper</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将小写字符转换成大写字符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1920"/>
                          </a:solidFill>
                          <a:effectLst/>
                          <a:latin typeface="+mn-lt"/>
                          <a:ea typeface="楷体" pitchFamily="49" charset="-122"/>
                          <a:cs typeface="Times New Roman" pitchFamily="18" charset="0"/>
                        </a:rPr>
                        <a:t>ctype.h</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tolower</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将大写字符转换成小写字符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ctype.h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atoi</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字符串</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将字符串转换成整型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stdlib.h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atol</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字符串</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将字符串转换成长整型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stdlib.h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4556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atof</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字符串</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将字符串转换成浮点数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stdlib.h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7254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ultoa</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无符号长整数，字符数组，进制</a:t>
                      </a:r>
                      <a:r>
                        <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rPr>
                        <a:t>)</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将无符号长整数转换成指定的进制数并以字符串的形式存放到字符数组中</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stdlib.h</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bl>
          </a:graphicData>
        </a:graphic>
      </p:graphicFrame>
      <p:sp>
        <p:nvSpPr>
          <p:cNvPr id="12" name="Rectangle 4">
            <a:extLst>
              <a:ext uri="{FF2B5EF4-FFF2-40B4-BE49-F238E27FC236}">
                <a16:creationId xmlns:a16="http://schemas.microsoft.com/office/drawing/2014/main" id="{BD3E8F28-B7BF-413C-ADE9-3AC19747756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171013403"/>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011924"/>
                                        </p:tgtEl>
                                        <p:attrNameLst>
                                          <p:attrName>style.visibility</p:attrName>
                                        </p:attrNameLst>
                                      </p:cBhvr>
                                      <p:to>
                                        <p:strVal val="visible"/>
                                      </p:to>
                                    </p:set>
                                    <p:animEffect transition="in" filter="box(out)">
                                      <p:cBhvr>
                                        <p:cTn id="13" dur="500"/>
                                        <p:tgtEl>
                                          <p:spTgt spid="1011924"/>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4">
            <a:extLst>
              <a:ext uri="{FF2B5EF4-FFF2-40B4-BE49-F238E27FC236}">
                <a16:creationId xmlns:a16="http://schemas.microsoft.com/office/drawing/2014/main" id="{2CC0B96C-68B1-45FD-8013-9C361EF46DB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
        <p:nvSpPr>
          <p:cNvPr id="1012788" name="Rectangle 52"/>
          <p:cNvSpPr>
            <a:spLocks noChangeArrowheads="1"/>
          </p:cNvSpPr>
          <p:nvPr/>
        </p:nvSpPr>
        <p:spPr bwMode="auto">
          <a:xfrm>
            <a:off x="1199456" y="1484784"/>
            <a:ext cx="10462614" cy="2746201"/>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3000"/>
              </a:lnSpc>
            </a:pPr>
            <a:r>
              <a:rPr lang="zh-CN" altLang="en-US" b="1" u="sng" dirty="0">
                <a:solidFill>
                  <a:srgbClr val="00B0F0"/>
                </a:solidFill>
                <a:latin typeface="楷体" panose="02010609060101010101" pitchFamily="49" charset="-122"/>
                <a:ea typeface="楷体" panose="02010609060101010101" pitchFamily="49" charset="-122"/>
              </a:rPr>
              <a:t>设计分析：</a:t>
            </a:r>
          </a:p>
          <a:p>
            <a:pPr>
              <a:lnSpc>
                <a:spcPts val="3000"/>
              </a:lnSpc>
            </a:pPr>
            <a:r>
              <a:rPr lang="zh-CN" altLang="en-US" sz="2000" b="1" dirty="0">
                <a:ea typeface="楷体" pitchFamily="49" charset="-122"/>
              </a:rPr>
              <a:t>         按照题意，</a:t>
            </a:r>
            <a:r>
              <a:rPr lang="zh-CN" altLang="en-US" sz="2000" b="1" dirty="0">
                <a:solidFill>
                  <a:srgbClr val="002060"/>
                </a:solidFill>
                <a:ea typeface="楷体" pitchFamily="49" charset="-122"/>
              </a:rPr>
              <a:t>连续的一段不含空格类字符的字符串就是单词</a:t>
            </a:r>
            <a:r>
              <a:rPr lang="zh-CN" altLang="en-US" sz="2000" b="1" dirty="0">
                <a:ea typeface="楷体" pitchFamily="49" charset="-122"/>
              </a:rPr>
              <a:t>。将连续的若干个空格作为出现一次空格，那么单词的个数可以由空格出现的次数（连续的若干个空格看作一次空格，一行开头的空格不统计）来决定。如果当前字符是非空格类字符，而它的前一个字符是空格，则可看作是“新单词”开始，累计单词个数的变量加</a:t>
            </a:r>
            <a:r>
              <a:rPr lang="en-US" altLang="zh-CN" sz="2000" b="1" dirty="0">
                <a:ea typeface="楷体" pitchFamily="49" charset="-122"/>
              </a:rPr>
              <a:t>1</a:t>
            </a:r>
            <a:r>
              <a:rPr lang="zh-CN" altLang="en-US" sz="2000" b="1" dirty="0">
                <a:ea typeface="楷体" pitchFamily="49" charset="-122"/>
              </a:rPr>
              <a:t>；如果当前字符是非空格类字符，而前一个字符也是非空格类字符，则可看作是“旧单词”的继续，累计单词个数的变量取值保持不变。</a:t>
            </a:r>
          </a:p>
        </p:txBody>
      </p:sp>
      <p:sp>
        <p:nvSpPr>
          <p:cNvPr id="1012787" name="Rectangle 51"/>
          <p:cNvSpPr>
            <a:spLocks noChangeArrowheads="1"/>
          </p:cNvSpPr>
          <p:nvPr/>
        </p:nvSpPr>
        <p:spPr bwMode="auto">
          <a:xfrm>
            <a:off x="376348" y="970673"/>
            <a:ext cx="10462615" cy="369332"/>
          </a:xfrm>
          <a:prstGeom prst="rect">
            <a:avLst/>
          </a:prstGeom>
          <a:noFill/>
          <a:ln w="9525">
            <a:noFill/>
            <a:miter lim="800000"/>
            <a:headEnd/>
            <a:tailEnd/>
          </a:ln>
          <a:effectLst/>
        </p:spPr>
        <p:txBody>
          <a:bodyPr wrap="square" anchor="ctr">
            <a:spAutoFit/>
          </a:bodyPr>
          <a:lstStyle/>
          <a:p>
            <a:r>
              <a:rPr lang="en-US" altLang="zh-CN" b="1" dirty="0">
                <a:solidFill>
                  <a:srgbClr val="00B0F0"/>
                </a:solidFill>
                <a:latin typeface="楷体" panose="02010609060101010101" pitchFamily="49" charset="-122"/>
                <a:ea typeface="楷体" panose="02010609060101010101" pitchFamily="49" charset="-122"/>
              </a:rPr>
              <a:t>   【</a:t>
            </a:r>
            <a:r>
              <a:rPr lang="zh-CN" altLang="en-US" b="1" dirty="0">
                <a:solidFill>
                  <a:srgbClr val="00B0F0"/>
                </a:solidFill>
                <a:latin typeface="楷体" panose="02010609060101010101" pitchFamily="49" charset="-122"/>
                <a:ea typeface="楷体" panose="02010609060101010101" pitchFamily="49" charset="-122"/>
              </a:rPr>
              <a:t>例</a:t>
            </a:r>
            <a:r>
              <a:rPr lang="en-US" altLang="zh-CN" b="1" dirty="0">
                <a:solidFill>
                  <a:srgbClr val="00B0F0"/>
                </a:solidFill>
                <a:latin typeface="楷体" panose="02010609060101010101" pitchFamily="49" charset="-122"/>
                <a:ea typeface="楷体" panose="02010609060101010101" pitchFamily="49" charset="-122"/>
              </a:rPr>
              <a:t>】</a:t>
            </a:r>
            <a:r>
              <a:rPr lang="zh-CN" altLang="en-US" b="1" dirty="0">
                <a:solidFill>
                  <a:srgbClr val="00B0F0"/>
                </a:solidFill>
                <a:latin typeface="楷体" panose="02010609060101010101" pitchFamily="49" charset="-122"/>
                <a:ea typeface="楷体" panose="02010609060101010101" pitchFamily="49" charset="-122"/>
              </a:rPr>
              <a:t>输入一行字符，统计其中单词的个数，单词之间用空格间隔。</a:t>
            </a:r>
          </a:p>
        </p:txBody>
      </p:sp>
      <p:grpSp>
        <p:nvGrpSpPr>
          <p:cNvPr id="52" name="组合 51"/>
          <p:cNvGrpSpPr/>
          <p:nvPr/>
        </p:nvGrpSpPr>
        <p:grpSpPr>
          <a:xfrm>
            <a:off x="1991544" y="3754549"/>
            <a:ext cx="6984776" cy="2802457"/>
            <a:chOff x="124291" y="3824993"/>
            <a:chExt cx="6984776" cy="2802457"/>
          </a:xfrm>
        </p:grpSpPr>
        <p:grpSp>
          <p:nvGrpSpPr>
            <p:cNvPr id="481282" name="组合 299"/>
            <p:cNvGrpSpPr>
              <a:grpSpLocks/>
            </p:cNvGrpSpPr>
            <p:nvPr/>
          </p:nvGrpSpPr>
          <p:grpSpPr bwMode="auto">
            <a:xfrm>
              <a:off x="3231964" y="3824993"/>
              <a:ext cx="3877103" cy="2802457"/>
              <a:chOff x="680" y="318"/>
              <a:chExt cx="21200" cy="18572"/>
            </a:xfrm>
          </p:grpSpPr>
          <p:grpSp>
            <p:nvGrpSpPr>
              <p:cNvPr id="297" name="组合 297"/>
              <p:cNvGrpSpPr>
                <a:grpSpLocks/>
              </p:cNvGrpSpPr>
              <p:nvPr/>
            </p:nvGrpSpPr>
            <p:grpSpPr bwMode="auto">
              <a:xfrm>
                <a:off x="680" y="318"/>
                <a:ext cx="21200" cy="18572"/>
                <a:chOff x="680" y="318"/>
                <a:chExt cx="21200" cy="18572"/>
              </a:xfrm>
            </p:grpSpPr>
            <p:grpSp>
              <p:nvGrpSpPr>
                <p:cNvPr id="294" name="组合 294"/>
                <p:cNvGrpSpPr>
                  <a:grpSpLocks/>
                </p:cNvGrpSpPr>
                <p:nvPr/>
              </p:nvGrpSpPr>
              <p:grpSpPr bwMode="auto">
                <a:xfrm>
                  <a:off x="680" y="318"/>
                  <a:ext cx="21200" cy="18572"/>
                  <a:chOff x="680" y="318"/>
                  <a:chExt cx="21200" cy="18572"/>
                </a:xfrm>
              </p:grpSpPr>
              <p:grpSp>
                <p:nvGrpSpPr>
                  <p:cNvPr id="293" name="组合 293"/>
                  <p:cNvGrpSpPr>
                    <a:grpSpLocks/>
                  </p:cNvGrpSpPr>
                  <p:nvPr/>
                </p:nvGrpSpPr>
                <p:grpSpPr bwMode="auto">
                  <a:xfrm>
                    <a:off x="680" y="318"/>
                    <a:ext cx="21200" cy="18572"/>
                    <a:chOff x="680" y="318"/>
                    <a:chExt cx="21200" cy="18572"/>
                  </a:xfrm>
                </p:grpSpPr>
                <p:grpSp>
                  <p:nvGrpSpPr>
                    <p:cNvPr id="292" name="组合 292"/>
                    <p:cNvGrpSpPr>
                      <a:grpSpLocks/>
                    </p:cNvGrpSpPr>
                    <p:nvPr/>
                  </p:nvGrpSpPr>
                  <p:grpSpPr bwMode="auto">
                    <a:xfrm>
                      <a:off x="680" y="318"/>
                      <a:ext cx="21200" cy="18572"/>
                      <a:chOff x="680" y="318"/>
                      <a:chExt cx="21200" cy="18572"/>
                    </a:xfrm>
                  </p:grpSpPr>
                  <p:grpSp>
                    <p:nvGrpSpPr>
                      <p:cNvPr id="291" name="组合 291"/>
                      <p:cNvGrpSpPr>
                        <a:grpSpLocks/>
                      </p:cNvGrpSpPr>
                      <p:nvPr/>
                    </p:nvGrpSpPr>
                    <p:grpSpPr bwMode="auto">
                      <a:xfrm>
                        <a:off x="680" y="318"/>
                        <a:ext cx="21200" cy="18572"/>
                        <a:chOff x="680" y="318"/>
                        <a:chExt cx="21200" cy="18572"/>
                      </a:xfrm>
                    </p:grpSpPr>
                    <p:grpSp>
                      <p:nvGrpSpPr>
                        <p:cNvPr id="290" name="组合 290"/>
                        <p:cNvGrpSpPr>
                          <a:grpSpLocks/>
                        </p:cNvGrpSpPr>
                        <p:nvPr/>
                      </p:nvGrpSpPr>
                      <p:grpSpPr bwMode="auto">
                        <a:xfrm>
                          <a:off x="680" y="318"/>
                          <a:ext cx="21200" cy="18572"/>
                          <a:chOff x="680" y="318"/>
                          <a:chExt cx="21200" cy="18572"/>
                        </a:xfrm>
                      </p:grpSpPr>
                      <p:grpSp>
                        <p:nvGrpSpPr>
                          <p:cNvPr id="1012" name="组合 1012"/>
                          <p:cNvGrpSpPr>
                            <a:grpSpLocks/>
                          </p:cNvGrpSpPr>
                          <p:nvPr/>
                        </p:nvGrpSpPr>
                        <p:grpSpPr bwMode="auto">
                          <a:xfrm>
                            <a:off x="680" y="318"/>
                            <a:ext cx="21200" cy="18572"/>
                            <a:chOff x="-270" y="-1850"/>
                            <a:chExt cx="21237" cy="18603"/>
                          </a:xfrm>
                        </p:grpSpPr>
                        <p:sp>
                          <p:nvSpPr>
                            <p:cNvPr id="1013" name="Rectangle 545"/>
                            <p:cNvSpPr>
                              <a:spLocks noChangeArrowheads="1"/>
                            </p:cNvSpPr>
                            <p:nvPr/>
                          </p:nvSpPr>
                          <p:spPr bwMode="auto">
                            <a:xfrm>
                              <a:off x="-270" y="-1812"/>
                              <a:ext cx="20937" cy="18565"/>
                            </a:xfrm>
                            <a:prstGeom prst="rect">
                              <a:avLst/>
                            </a:prstGeom>
                            <a:gradFill flip="none" rotWithShape="1">
                              <a:gsLst>
                                <a:gs pos="0">
                                  <a:srgbClr val="F0E5B7"/>
                                </a:gs>
                                <a:gs pos="67000">
                                  <a:srgbClr val="F1EBD3"/>
                                </a:gs>
                                <a:gs pos="100000">
                                  <a:schemeClr val="bg1">
                                    <a:lumMod val="95000"/>
                                  </a:schemeClr>
                                </a:gs>
                              </a:gsLst>
                              <a:lin ang="13500000" scaled="1"/>
                              <a:tileRect/>
                            </a:gradFill>
                            <a:ln w="19050">
                              <a:solidFill>
                                <a:srgbClr val="0070C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014" name="组合 1014"/>
                            <p:cNvGrpSpPr>
                              <a:grpSpLocks/>
                            </p:cNvGrpSpPr>
                            <p:nvPr/>
                          </p:nvGrpSpPr>
                          <p:grpSpPr bwMode="auto">
                            <a:xfrm>
                              <a:off x="0" y="-1850"/>
                              <a:ext cx="20967" cy="18483"/>
                              <a:chOff x="0" y="-1850"/>
                              <a:chExt cx="20967" cy="18484"/>
                            </a:xfrm>
                          </p:grpSpPr>
                          <p:sp>
                            <p:nvSpPr>
                              <p:cNvPr id="1018" name="Text Box 619"/>
                              <p:cNvSpPr txBox="1">
                                <a:spLocks noChangeArrowheads="1"/>
                              </p:cNvSpPr>
                              <p:nvPr/>
                            </p:nvSpPr>
                            <p:spPr bwMode="auto">
                              <a:xfrm>
                                <a:off x="8803" y="475"/>
                                <a:ext cx="4010" cy="2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a:t>
                                </a:r>
                                <a:r>
                                  <a:rPr kumimoji="0" lang="en-US" altLang="zh-CN" sz="1600" b="1" dirty="0" err="1">
                                    <a:effectLst>
                                      <a:outerShdw blurRad="38100" dist="38100" dir="2700000" algn="tl">
                                        <a:srgbClr val="000000">
                                          <a:alpha val="43137"/>
                                        </a:srgbClr>
                                      </a:outerShdw>
                                    </a:effectLst>
                                    <a:latin typeface="+mn-lt"/>
                                    <a:ea typeface="楷体" pitchFamily="49" charset="-122"/>
                                    <a:cs typeface="宋体" pitchFamily="2" charset="-122"/>
                                  </a:rPr>
                                  <a:t>i</a:t>
                                </a:r>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 0 </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66" name="Text Box 626"/>
                              <p:cNvSpPr txBox="1">
                                <a:spLocks noChangeArrowheads="1"/>
                              </p:cNvSpPr>
                              <p:nvPr/>
                            </p:nvSpPr>
                            <p:spPr bwMode="auto">
                              <a:xfrm>
                                <a:off x="2515" y="4777"/>
                                <a:ext cx="1683" cy="18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77" name="Text Box 612"/>
                              <p:cNvSpPr txBox="1">
                                <a:spLocks noChangeArrowheads="1"/>
                              </p:cNvSpPr>
                              <p:nvPr/>
                            </p:nvSpPr>
                            <p:spPr bwMode="auto">
                              <a:xfrm>
                                <a:off x="4292" y="-1850"/>
                                <a:ext cx="12200" cy="23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输入一字符串给</a:t>
                                </a:r>
                                <a:r>
                                  <a:rPr kumimoji="0" lang="en-US" altLang="zh-CN" sz="1600" b="1" dirty="0">
                                    <a:solidFill>
                                      <a:srgbClr val="002060"/>
                                    </a:solidFill>
                                    <a:latin typeface="+mn-lt"/>
                                    <a:ea typeface="楷体" pitchFamily="49" charset="-122"/>
                                    <a:cs typeface="宋体" pitchFamily="2" charset="-122"/>
                                  </a:rPr>
                                  <a:t>string</a:t>
                                </a:r>
                              </a:p>
                              <a:p>
                                <a:endParaRPr kumimoji="0" lang="zh-CN" altLang="zh-CN" sz="1600" b="1" dirty="0">
                                  <a:solidFill>
                                    <a:srgbClr val="002060"/>
                                  </a:solidFill>
                                  <a:latin typeface="+mn-lt"/>
                                  <a:ea typeface="楷体" pitchFamily="49" charset="-122"/>
                                  <a:cs typeface="宋体" pitchFamily="2" charset="-122"/>
                                </a:endParaRPr>
                              </a:p>
                            </p:txBody>
                          </p:sp>
                          <p:sp>
                            <p:nvSpPr>
                              <p:cNvPr id="577" name="Text Box 638"/>
                              <p:cNvSpPr txBox="1">
                                <a:spLocks noChangeArrowheads="1"/>
                              </p:cNvSpPr>
                              <p:nvPr/>
                            </p:nvSpPr>
                            <p:spPr bwMode="auto">
                              <a:xfrm>
                                <a:off x="18360" y="4780"/>
                                <a:ext cx="1549" cy="18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582" name="Text Box 648"/>
                              <p:cNvSpPr txBox="1">
                                <a:spLocks noChangeArrowheads="1"/>
                              </p:cNvSpPr>
                              <p:nvPr/>
                            </p:nvSpPr>
                            <p:spPr bwMode="auto">
                              <a:xfrm>
                                <a:off x="6586" y="4310"/>
                                <a:ext cx="7471" cy="18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C0066"/>
                                    </a:solidFill>
                                    <a:latin typeface="+mn-lt"/>
                                    <a:ea typeface="楷体" pitchFamily="49" charset="-122"/>
                                    <a:cs typeface="宋体" pitchFamily="2" charset="-122"/>
                                  </a:rPr>
                                  <a:t>c</a:t>
                                </a:r>
                                <a:r>
                                  <a:rPr kumimoji="0" lang="zh-CN" altLang="en-US" sz="1600" b="1" dirty="0">
                                    <a:solidFill>
                                      <a:srgbClr val="CC0066"/>
                                    </a:solidFill>
                                    <a:latin typeface="+mn-lt"/>
                                    <a:ea typeface="楷体" pitchFamily="49" charset="-122"/>
                                    <a:cs typeface="宋体" pitchFamily="2" charset="-122"/>
                                  </a:rPr>
                                  <a:t>等于空格？</a:t>
                                </a:r>
                              </a:p>
                              <a:p>
                                <a:endParaRPr kumimoji="0" lang="zh-CN" altLang="en-US" sz="1600" b="1" dirty="0">
                                  <a:solidFill>
                                    <a:srgbClr val="CC0066"/>
                                  </a:solidFill>
                                  <a:latin typeface="+mn-lt"/>
                                  <a:ea typeface="楷体" pitchFamily="49" charset="-122"/>
                                  <a:cs typeface="宋体" pitchFamily="2" charset="-122"/>
                                </a:endParaRPr>
                              </a:p>
                            </p:txBody>
                          </p:sp>
                          <p:grpSp>
                            <p:nvGrpSpPr>
                              <p:cNvPr id="595" name="组合 595"/>
                              <p:cNvGrpSpPr>
                                <a:grpSpLocks/>
                              </p:cNvGrpSpPr>
                              <p:nvPr/>
                            </p:nvGrpSpPr>
                            <p:grpSpPr bwMode="auto">
                              <a:xfrm>
                                <a:off x="0" y="2608"/>
                                <a:ext cx="20967" cy="11941"/>
                                <a:chOff x="0" y="0"/>
                                <a:chExt cx="20967" cy="11940"/>
                              </a:xfrm>
                            </p:grpSpPr>
                            <p:sp>
                              <p:nvSpPr>
                                <p:cNvPr id="597" name="Line 615"/>
                                <p:cNvSpPr>
                                  <a:spLocks noChangeShapeType="1"/>
                                </p:cNvSpPr>
                                <p:nvPr/>
                              </p:nvSpPr>
                              <p:spPr bwMode="auto">
                                <a:xfrm>
                                  <a:off x="0" y="0"/>
                                  <a:ext cx="2096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1" name="Line 617"/>
                                <p:cNvSpPr>
                                  <a:spLocks noChangeShapeType="1"/>
                                </p:cNvSpPr>
                                <p:nvPr/>
                              </p:nvSpPr>
                              <p:spPr bwMode="auto">
                                <a:xfrm>
                                  <a:off x="2546" y="4265"/>
                                  <a:ext cx="1832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2" name="Line 640"/>
                                <p:cNvSpPr>
                                  <a:spLocks noChangeShapeType="1"/>
                                </p:cNvSpPr>
                                <p:nvPr/>
                              </p:nvSpPr>
                              <p:spPr bwMode="auto">
                                <a:xfrm>
                                  <a:off x="8938" y="6228"/>
                                  <a:ext cx="11933"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5" name="直接连接符 605"/>
                                <p:cNvSpPr>
                                  <a:spLocks noChangeShapeType="1"/>
                                </p:cNvSpPr>
                                <p:nvPr/>
                              </p:nvSpPr>
                              <p:spPr bwMode="auto">
                                <a:xfrm>
                                  <a:off x="2547" y="2157"/>
                                  <a:ext cx="6391" cy="2100"/>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6" name="直接连接符 606"/>
                                <p:cNvSpPr>
                                  <a:spLocks noChangeShapeType="1"/>
                                </p:cNvSpPr>
                                <p:nvPr/>
                              </p:nvSpPr>
                              <p:spPr bwMode="auto">
                                <a:xfrm flipH="1">
                                  <a:off x="8754" y="2148"/>
                                  <a:ext cx="12114" cy="2109"/>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7" name="Line 628"/>
                                <p:cNvSpPr>
                                  <a:spLocks noChangeShapeType="1"/>
                                </p:cNvSpPr>
                                <p:nvPr/>
                              </p:nvSpPr>
                              <p:spPr bwMode="auto">
                                <a:xfrm>
                                  <a:off x="2547" y="9662"/>
                                  <a:ext cx="1841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8" name="Line 635"/>
                                <p:cNvSpPr>
                                  <a:spLocks noChangeShapeType="1"/>
                                </p:cNvSpPr>
                                <p:nvPr/>
                              </p:nvSpPr>
                              <p:spPr bwMode="auto">
                                <a:xfrm>
                                  <a:off x="2546" y="2086"/>
                                  <a:ext cx="0" cy="9854"/>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09" name="直接连接符 609"/>
                                <p:cNvSpPr>
                                  <a:spLocks noChangeShapeType="1"/>
                                </p:cNvSpPr>
                                <p:nvPr/>
                              </p:nvSpPr>
                              <p:spPr bwMode="auto">
                                <a:xfrm>
                                  <a:off x="16353" y="6203"/>
                                  <a:ext cx="0" cy="3459"/>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10" name="Line 635"/>
                                <p:cNvSpPr>
                                  <a:spLocks noChangeShapeType="1"/>
                                </p:cNvSpPr>
                                <p:nvPr/>
                              </p:nvSpPr>
                              <p:spPr bwMode="auto">
                                <a:xfrm>
                                  <a:off x="8877" y="4295"/>
                                  <a:ext cx="0" cy="5367"/>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611" name="Line 615"/>
                                <p:cNvSpPr>
                                  <a:spLocks noChangeShapeType="1"/>
                                </p:cNvSpPr>
                                <p:nvPr/>
                              </p:nvSpPr>
                              <p:spPr bwMode="auto">
                                <a:xfrm>
                                  <a:off x="2546" y="2086"/>
                                  <a:ext cx="18392"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612" name="组合 612"/>
                              <p:cNvGrpSpPr>
                                <a:grpSpLocks/>
                              </p:cNvGrpSpPr>
                              <p:nvPr/>
                            </p:nvGrpSpPr>
                            <p:grpSpPr bwMode="auto">
                              <a:xfrm>
                                <a:off x="3223" y="8534"/>
                                <a:ext cx="13835" cy="3632"/>
                                <a:chOff x="-1129" y="342"/>
                                <a:chExt cx="14184" cy="3633"/>
                              </a:xfrm>
                            </p:grpSpPr>
                            <p:sp>
                              <p:nvSpPr>
                                <p:cNvPr id="613" name="Text Box 648"/>
                                <p:cNvSpPr txBox="1">
                                  <a:spLocks noChangeArrowheads="1"/>
                                </p:cNvSpPr>
                                <p:nvPr/>
                              </p:nvSpPr>
                              <p:spPr bwMode="auto">
                                <a:xfrm>
                                  <a:off x="-1129" y="342"/>
                                  <a:ext cx="5449" cy="23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word = 0 </a:t>
                                  </a:r>
                                  <a:endParaRPr kumimoji="0" lang="zh-CN" altLang="zh-CN" sz="1600" b="1" dirty="0">
                                    <a:latin typeface="+mn-lt"/>
                                    <a:ea typeface="楷体" pitchFamily="49" charset="-122"/>
                                    <a:cs typeface="宋体" pitchFamily="2" charset="-122"/>
                                  </a:endParaRPr>
                                </a:p>
                              </p:txBody>
                            </p:sp>
                            <p:sp>
                              <p:nvSpPr>
                                <p:cNvPr id="614" name="Text Box 648"/>
                                <p:cNvSpPr txBox="1">
                                  <a:spLocks noChangeArrowheads="1"/>
                                </p:cNvSpPr>
                                <p:nvPr/>
                              </p:nvSpPr>
                              <p:spPr bwMode="auto">
                                <a:xfrm>
                                  <a:off x="4677" y="518"/>
                                  <a:ext cx="5439" cy="20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word = 1</a:t>
                                  </a:r>
                                  <a:endParaRPr kumimoji="0" lang="zh-CN" altLang="zh-CN" sz="1600" b="1" dirty="0">
                                    <a:latin typeface="+mn-lt"/>
                                    <a:ea typeface="楷体" pitchFamily="49" charset="-122"/>
                                    <a:cs typeface="宋体" pitchFamily="2" charset="-122"/>
                                  </a:endParaRPr>
                                </a:p>
                              </p:txBody>
                            </p:sp>
                            <p:sp>
                              <p:nvSpPr>
                                <p:cNvPr id="615" name="Text Box 648"/>
                                <p:cNvSpPr txBox="1">
                                  <a:spLocks noChangeArrowheads="1"/>
                                </p:cNvSpPr>
                                <p:nvPr/>
                              </p:nvSpPr>
                              <p:spPr bwMode="auto">
                                <a:xfrm>
                                  <a:off x="4792" y="1909"/>
                                  <a:ext cx="8263" cy="20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num = num+1</a:t>
                                  </a:r>
                                  <a:endParaRPr kumimoji="0" lang="zh-CN" altLang="zh-CN" sz="1600" b="1" dirty="0">
                                    <a:latin typeface="+mn-lt"/>
                                    <a:ea typeface="楷体" pitchFamily="49" charset="-122"/>
                                    <a:cs typeface="宋体" pitchFamily="2" charset="-122"/>
                                  </a:endParaRPr>
                                </a:p>
                              </p:txBody>
                            </p:sp>
                          </p:grpSp>
                          <p:sp>
                            <p:nvSpPr>
                              <p:cNvPr id="616" name="Text Box 612"/>
                              <p:cNvSpPr txBox="1">
                                <a:spLocks noChangeArrowheads="1"/>
                              </p:cNvSpPr>
                              <p:nvPr/>
                            </p:nvSpPr>
                            <p:spPr bwMode="auto">
                              <a:xfrm>
                                <a:off x="7617" y="14411"/>
                                <a:ext cx="7027" cy="22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num</a:t>
                                </a:r>
                              </a:p>
                              <a:p>
                                <a:endParaRPr kumimoji="0" lang="zh-CN" altLang="zh-CN" sz="1600" b="1" dirty="0">
                                  <a:solidFill>
                                    <a:srgbClr val="002060"/>
                                  </a:solidFill>
                                  <a:latin typeface="+mn-lt"/>
                                  <a:ea typeface="楷体" pitchFamily="49" charset="-122"/>
                                  <a:cs typeface="宋体" pitchFamily="2" charset="-122"/>
                                </a:endParaRPr>
                              </a:p>
                            </p:txBody>
                          </p:sp>
                        </p:grpSp>
                      </p:grpSp>
                      <p:sp>
                        <p:nvSpPr>
                          <p:cNvPr id="617" name="Line 615"/>
                          <p:cNvSpPr>
                            <a:spLocks noChangeShapeType="1"/>
                          </p:cNvSpPr>
                          <p:nvPr/>
                        </p:nvSpPr>
                        <p:spPr bwMode="auto">
                          <a:xfrm>
                            <a:off x="1012" y="2700"/>
                            <a:ext cx="20837"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269" name="Text Box 619"/>
                        <p:cNvSpPr txBox="1">
                          <a:spLocks noChangeArrowheads="1"/>
                        </p:cNvSpPr>
                        <p:nvPr/>
                      </p:nvSpPr>
                      <p:spPr bwMode="auto">
                        <a:xfrm>
                          <a:off x="1253" y="4473"/>
                          <a:ext cx="12091" cy="19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C01920"/>
                              </a:solidFill>
                              <a:latin typeface="+mn-lt"/>
                              <a:ea typeface="楷体" pitchFamily="49" charset="-122"/>
                              <a:cs typeface="宋体" pitchFamily="2" charset="-122"/>
                            </a:rPr>
                            <a:t>当</a:t>
                          </a:r>
                          <a:r>
                            <a:rPr kumimoji="0" lang="en-US" altLang="zh-CN" sz="1600" b="1" dirty="0">
                              <a:solidFill>
                                <a:srgbClr val="C01920"/>
                              </a:solidFill>
                              <a:latin typeface="+mn-lt"/>
                              <a:ea typeface="楷体" pitchFamily="49" charset="-122"/>
                              <a:cs typeface="宋体" pitchFamily="2" charset="-122"/>
                            </a:rPr>
                            <a:t>((c = string[</a:t>
                          </a:r>
                          <a:r>
                            <a:rPr kumimoji="0" lang="en-US" altLang="zh-CN" sz="1600" b="1" dirty="0" err="1">
                              <a:solidFill>
                                <a:srgbClr val="C01920"/>
                              </a:solidFill>
                              <a:latin typeface="+mn-lt"/>
                              <a:ea typeface="楷体" pitchFamily="49" charset="-122"/>
                              <a:cs typeface="宋体" pitchFamily="2" charset="-122"/>
                            </a:rPr>
                            <a:t>i</a:t>
                          </a:r>
                          <a:r>
                            <a:rPr kumimoji="0" lang="en-US" altLang="zh-CN" sz="1600" b="1" dirty="0">
                              <a:solidFill>
                                <a:srgbClr val="C01920"/>
                              </a:solidFill>
                              <a:latin typeface="+mn-lt"/>
                              <a:ea typeface="楷体" pitchFamily="49" charset="-122"/>
                              <a:cs typeface="宋体" pitchFamily="2" charset="-122"/>
                            </a:rPr>
                            <a:t>]) ≠ '\0') </a:t>
                          </a:r>
                        </a:p>
                        <a:p>
                          <a:endParaRPr kumimoji="0" lang="zh-CN" altLang="zh-CN" sz="1600" b="1" dirty="0">
                            <a:solidFill>
                              <a:srgbClr val="C01920"/>
                            </a:solidFill>
                            <a:latin typeface="+mn-lt"/>
                            <a:ea typeface="楷体" pitchFamily="49" charset="-122"/>
                            <a:cs typeface="宋体" pitchFamily="2" charset="-122"/>
                          </a:endParaRPr>
                        </a:p>
                      </p:txBody>
                    </p:sp>
                  </p:grpSp>
                  <p:sp>
                    <p:nvSpPr>
                      <p:cNvPr id="286" name="直接连接符 286"/>
                      <p:cNvSpPr>
                        <a:spLocks noChangeShapeType="1"/>
                      </p:cNvSpPr>
                      <p:nvPr/>
                    </p:nvSpPr>
                    <p:spPr bwMode="auto">
                      <a:xfrm>
                        <a:off x="9696" y="8990"/>
                        <a:ext cx="7579" cy="1924"/>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287" name="直接连接符 287"/>
                      <p:cNvSpPr>
                        <a:spLocks noChangeShapeType="1"/>
                      </p:cNvSpPr>
                      <p:nvPr/>
                    </p:nvSpPr>
                    <p:spPr bwMode="auto">
                      <a:xfrm flipH="1">
                        <a:off x="17275" y="8959"/>
                        <a:ext cx="4558" cy="1949"/>
                      </a:xfrm>
                      <a:prstGeom prst="line">
                        <a:avLst/>
                      </a:prstGeom>
                      <a:noFill/>
                      <a:ln w="19050">
                        <a:solidFill>
                          <a:srgbClr val="0070C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282" name="Text Box 648"/>
                    <p:cNvSpPr txBox="1">
                      <a:spLocks noChangeArrowheads="1"/>
                    </p:cNvSpPr>
                    <p:nvPr/>
                  </p:nvSpPr>
                  <p:spPr bwMode="auto">
                    <a:xfrm>
                      <a:off x="13602" y="8450"/>
                      <a:ext cx="5518" cy="23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C0099"/>
                          </a:solidFill>
                          <a:latin typeface="+mn-lt"/>
                          <a:ea typeface="楷体" pitchFamily="49" charset="-122"/>
                          <a:cs typeface="宋体" pitchFamily="2" charset="-122"/>
                        </a:rPr>
                        <a:t>word</a:t>
                      </a:r>
                      <a:r>
                        <a:rPr kumimoji="0" lang="zh-CN" altLang="en-US" sz="1600" b="1" dirty="0">
                          <a:solidFill>
                            <a:srgbClr val="CC0099"/>
                          </a:solidFill>
                          <a:latin typeface="+mn-lt"/>
                          <a:ea typeface="楷体" pitchFamily="49" charset="-122"/>
                          <a:cs typeface="宋体" pitchFamily="2" charset="-122"/>
                        </a:rPr>
                        <a:t>为</a:t>
                      </a:r>
                      <a:r>
                        <a:rPr kumimoji="0" lang="en-US" altLang="zh-CN" sz="1600" b="1" dirty="0">
                          <a:solidFill>
                            <a:srgbClr val="CC0099"/>
                          </a:solidFill>
                          <a:latin typeface="+mn-lt"/>
                          <a:ea typeface="楷体" pitchFamily="49" charset="-122"/>
                          <a:cs typeface="宋体" pitchFamily="2" charset="-122"/>
                        </a:rPr>
                        <a:t>0?</a:t>
                      </a:r>
                    </a:p>
                    <a:p>
                      <a:endParaRPr kumimoji="0" lang="zh-CN" altLang="zh-CN" sz="1600" b="1" dirty="0">
                        <a:solidFill>
                          <a:srgbClr val="CC0099"/>
                        </a:solidFill>
                        <a:latin typeface="+mn-lt"/>
                        <a:ea typeface="楷体" pitchFamily="49" charset="-122"/>
                        <a:cs typeface="宋体" pitchFamily="2" charset="-122"/>
                      </a:endParaRPr>
                    </a:p>
                  </p:txBody>
                </p:sp>
              </p:grpSp>
              <p:sp>
                <p:nvSpPr>
                  <p:cNvPr id="288" name="Line 628"/>
                  <p:cNvSpPr>
                    <a:spLocks noChangeShapeType="1"/>
                  </p:cNvSpPr>
                  <p:nvPr/>
                </p:nvSpPr>
                <p:spPr bwMode="auto">
                  <a:xfrm>
                    <a:off x="920" y="16631"/>
                    <a:ext cx="20926" cy="0"/>
                  </a:xfrm>
                  <a:prstGeom prst="line">
                    <a:avLst/>
                  </a:prstGeom>
                  <a:noFill/>
                  <a:ln w="19050">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289" name="Text Box 648"/>
                  <p:cNvSpPr txBox="1">
                    <a:spLocks noChangeArrowheads="1"/>
                  </p:cNvSpPr>
                  <p:nvPr/>
                </p:nvSpPr>
                <p:spPr bwMode="auto">
                  <a:xfrm>
                    <a:off x="10688" y="14391"/>
                    <a:ext cx="4696" cy="17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 i+1</a:t>
                    </a:r>
                    <a:endParaRPr kumimoji="0" lang="zh-CN" altLang="zh-CN" sz="1600" b="1" dirty="0">
                      <a:latin typeface="+mn-lt"/>
                      <a:ea typeface="楷体" pitchFamily="49" charset="-122"/>
                      <a:cs typeface="宋体" pitchFamily="2" charset="-122"/>
                    </a:endParaRPr>
                  </a:p>
                </p:txBody>
              </p:sp>
            </p:grpSp>
            <p:sp>
              <p:nvSpPr>
                <p:cNvPr id="296" name="Text Box 626"/>
                <p:cNvSpPr txBox="1">
                  <a:spLocks noChangeArrowheads="1"/>
                </p:cNvSpPr>
                <p:nvPr/>
              </p:nvSpPr>
              <p:spPr bwMode="auto">
                <a:xfrm>
                  <a:off x="10351" y="9067"/>
                  <a:ext cx="1811" cy="13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298" name="Text Box 638"/>
              <p:cNvSpPr txBox="1">
                <a:spLocks noChangeArrowheads="1"/>
              </p:cNvSpPr>
              <p:nvPr/>
            </p:nvSpPr>
            <p:spPr bwMode="auto">
              <a:xfrm>
                <a:off x="20021" y="9044"/>
                <a:ext cx="1657" cy="16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F</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sp>
          <p:nvSpPr>
            <p:cNvPr id="51" name="Text Box 9"/>
            <p:cNvSpPr txBox="1">
              <a:spLocks noChangeArrowheads="1"/>
            </p:cNvSpPr>
            <p:nvPr/>
          </p:nvSpPr>
          <p:spPr bwMode="auto">
            <a:xfrm>
              <a:off x="124291" y="4705803"/>
              <a:ext cx="2265363" cy="432048"/>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sz="2000" b="1" dirty="0">
                  <a:solidFill>
                    <a:srgbClr val="C01920"/>
                  </a:solidFill>
                  <a:latin typeface="隶书" pitchFamily="49" charset="-122"/>
                  <a:ea typeface="隶书" pitchFamily="49" charset="-122"/>
                  <a:cs typeface="宋体" pitchFamily="2" charset="-122"/>
                </a:rPr>
                <a:t>算法</a:t>
              </a:r>
              <a:r>
                <a:rPr kumimoji="0" lang="en-US" altLang="zh-CN" sz="2000" b="1" dirty="0">
                  <a:solidFill>
                    <a:srgbClr val="C01920"/>
                  </a:solidFill>
                  <a:latin typeface="隶书" pitchFamily="49" charset="-122"/>
                  <a:ea typeface="隶书" pitchFamily="49" charset="-122"/>
                  <a:cs typeface="宋体" pitchFamily="2" charset="-122"/>
                </a:rPr>
                <a:t>N-S</a:t>
              </a:r>
              <a:r>
                <a:rPr kumimoji="0" lang="zh-CN" altLang="en-US" sz="2000" b="1" dirty="0">
                  <a:solidFill>
                    <a:srgbClr val="C01920"/>
                  </a:solidFill>
                  <a:latin typeface="隶书" pitchFamily="49" charset="-122"/>
                  <a:ea typeface="隶书" pitchFamily="49" charset="-122"/>
                  <a:cs typeface="宋体" pitchFamily="2" charset="-122"/>
                </a:rPr>
                <a:t>流程图</a:t>
              </a:r>
            </a:p>
          </p:txBody>
        </p:sp>
      </p:grpSp>
      <p:sp>
        <p:nvSpPr>
          <p:cNvPr id="53" name="Text Box 53" descr="信纸"/>
          <p:cNvSpPr txBox="1">
            <a:spLocks noChangeArrowheads="1"/>
          </p:cNvSpPr>
          <p:nvPr/>
        </p:nvSpPr>
        <p:spPr bwMode="auto">
          <a:xfrm>
            <a:off x="2498445" y="401672"/>
            <a:ext cx="7704856" cy="6250045"/>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t>#include &lt;</a:t>
            </a:r>
            <a:r>
              <a:rPr lang="en-US" altLang="zh-CN" sz="2000" b="1" dirty="0" err="1"/>
              <a:t>stdio.h</a:t>
            </a:r>
            <a:r>
              <a:rPr lang="en-US" altLang="zh-CN" sz="2000" b="1" dirty="0"/>
              <a:t>&gt;</a:t>
            </a:r>
          </a:p>
          <a:p>
            <a:pPr marL="457200" indent="-457200"/>
            <a:r>
              <a:rPr lang="en-US" altLang="zh-CN" sz="2000" b="1" dirty="0"/>
              <a:t>#define  IN        1</a:t>
            </a:r>
          </a:p>
          <a:p>
            <a:pPr marL="457200" indent="-457200"/>
            <a:r>
              <a:rPr lang="en-US" altLang="zh-CN" sz="2000" b="1" dirty="0"/>
              <a:t>#define  OUT    0</a:t>
            </a:r>
          </a:p>
          <a:p>
            <a:pPr marL="457200" indent="-457200"/>
            <a:r>
              <a:rPr lang="en-US" altLang="zh-CN" sz="2000" b="1" dirty="0" err="1">
                <a:solidFill>
                  <a:srgbClr val="C01920"/>
                </a:solidFill>
              </a:rPr>
              <a:t>int</a:t>
            </a:r>
            <a:r>
              <a:rPr lang="en-US" altLang="zh-CN" sz="2000" b="1" dirty="0">
                <a:solidFill>
                  <a:srgbClr val="C01920"/>
                </a:solidFill>
              </a:rPr>
              <a:t> main ( )</a:t>
            </a:r>
          </a:p>
          <a:p>
            <a:pPr marL="457200" indent="-457200"/>
            <a:r>
              <a:rPr lang="en-US" altLang="zh-CN" sz="2000" b="1" dirty="0"/>
              <a:t>{  </a:t>
            </a:r>
          </a:p>
          <a:p>
            <a:pPr marL="457200" indent="-457200"/>
            <a:r>
              <a:rPr lang="en-US" altLang="zh-CN" sz="2000" b="1" dirty="0"/>
              <a:t>    char string[80], c;</a:t>
            </a:r>
          </a:p>
          <a:p>
            <a:pPr marL="457200" indent="-457200"/>
            <a:r>
              <a:rPr lang="en-US" altLang="zh-CN" sz="2000" b="1" dirty="0"/>
              <a:t>    </a:t>
            </a:r>
            <a:r>
              <a:rPr lang="en-US" altLang="zh-CN" sz="2000" b="1" dirty="0" err="1"/>
              <a:t>int</a:t>
            </a:r>
            <a:r>
              <a:rPr lang="en-US" altLang="zh-CN" sz="2000" b="1" dirty="0"/>
              <a:t> </a:t>
            </a:r>
            <a:r>
              <a:rPr lang="en-US" altLang="zh-CN" sz="2000" b="1" dirty="0" err="1"/>
              <a:t>i</a:t>
            </a:r>
            <a:r>
              <a:rPr lang="en-US" altLang="zh-CN" sz="2000" b="1" dirty="0"/>
              <a:t>, num=0, word = OUT;</a:t>
            </a:r>
          </a:p>
          <a:p>
            <a:pPr marL="457200" indent="-457200"/>
            <a:r>
              <a:rPr lang="en-US" altLang="zh-CN" sz="2000" b="1" dirty="0"/>
              <a:t>    gets (string);</a:t>
            </a:r>
          </a:p>
          <a:p>
            <a:pPr marL="457200" indent="-457200"/>
            <a:r>
              <a:rPr lang="en-US" altLang="zh-CN" sz="2000" b="1" dirty="0"/>
              <a:t>    for (</a:t>
            </a:r>
            <a:r>
              <a:rPr lang="en-US" altLang="zh-CN" sz="2000" b="1" dirty="0" err="1"/>
              <a:t>i</a:t>
            </a:r>
            <a:r>
              <a:rPr lang="en-US" altLang="zh-CN" sz="2000" b="1" dirty="0"/>
              <a:t> = 0; (c = string[</a:t>
            </a:r>
            <a:r>
              <a:rPr lang="en-US" altLang="zh-CN" sz="2000" b="1" dirty="0" err="1"/>
              <a:t>i</a:t>
            </a:r>
            <a:r>
              <a:rPr lang="en-US" altLang="zh-CN" sz="2000" b="1" dirty="0"/>
              <a:t>]) != '\0'; </a:t>
            </a:r>
            <a:r>
              <a:rPr lang="en-US" altLang="zh-CN" sz="2000" b="1" dirty="0" err="1"/>
              <a:t>i</a:t>
            </a:r>
            <a:r>
              <a:rPr lang="en-US" altLang="zh-CN" sz="2000" b="1" dirty="0"/>
              <a:t>++)</a:t>
            </a:r>
          </a:p>
          <a:p>
            <a:pPr marL="457200" indent="-457200"/>
            <a:r>
              <a:rPr lang="en-US" altLang="zh-CN" sz="2000" b="1" dirty="0"/>
              <a:t>      if (c == '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判断</a:t>
            </a:r>
            <a:r>
              <a:rPr lang="en-US" altLang="zh-CN" sz="2000" b="1" dirty="0">
                <a:solidFill>
                  <a:srgbClr val="002060"/>
                </a:solidFill>
                <a:latin typeface="+mn-lt"/>
                <a:ea typeface="楷体" pitchFamily="49" charset="-122"/>
              </a:rPr>
              <a:t>c</a:t>
            </a:r>
            <a:r>
              <a:rPr lang="zh-CN" altLang="en-US" sz="2000" b="1" dirty="0">
                <a:solidFill>
                  <a:srgbClr val="002060"/>
                </a:solidFill>
                <a:latin typeface="+mn-lt"/>
                <a:ea typeface="楷体" pitchFamily="49" charset="-122"/>
              </a:rPr>
              <a:t>是否为空格</a:t>
            </a:r>
          </a:p>
          <a:p>
            <a:pPr marL="457200" indent="-457200"/>
            <a:r>
              <a:rPr lang="zh-CN" altLang="en-US" sz="2000" b="1" dirty="0"/>
              <a:t>          </a:t>
            </a:r>
            <a:r>
              <a:rPr lang="en-US" altLang="zh-CN" sz="2000" b="1" dirty="0"/>
              <a:t>word = OUT;</a:t>
            </a:r>
          </a:p>
          <a:p>
            <a:pPr marL="457200" indent="-457200"/>
            <a:r>
              <a:rPr lang="en-US" altLang="zh-CN" sz="2000" b="1" dirty="0"/>
              <a:t>      else </a:t>
            </a:r>
          </a:p>
          <a:p>
            <a:pPr marL="457200" indent="-457200"/>
            <a:r>
              <a:rPr lang="en-US" altLang="zh-CN" sz="2000" b="1" dirty="0"/>
              <a:t>          if (word == OUT)</a:t>
            </a:r>
          </a:p>
          <a:p>
            <a:pPr marL="457200" indent="-457200"/>
            <a:r>
              <a:rPr lang="en-US" altLang="zh-CN" sz="2000" b="1" dirty="0"/>
              <a:t>          {   </a:t>
            </a:r>
          </a:p>
          <a:p>
            <a:pPr marL="457200" indent="-457200"/>
            <a:r>
              <a:rPr lang="en-US" altLang="zh-CN" sz="2000" b="1" dirty="0"/>
              <a:t>             word = IN;</a:t>
            </a:r>
          </a:p>
          <a:p>
            <a:pPr marL="457200" indent="-457200"/>
            <a:r>
              <a:rPr lang="en-US" altLang="zh-CN" sz="2000" b="1" dirty="0"/>
              <a:t>             num++;</a:t>
            </a:r>
          </a:p>
          <a:p>
            <a:pPr marL="457200" indent="-457200"/>
            <a:r>
              <a:rPr lang="en-US" altLang="zh-CN" sz="2000" b="1" dirty="0"/>
              <a:t>          }</a:t>
            </a:r>
          </a:p>
          <a:p>
            <a:pPr marL="457200" indent="-457200"/>
            <a:r>
              <a:rPr lang="en-US" altLang="zh-CN" sz="2000" b="1" dirty="0"/>
              <a:t>    </a:t>
            </a:r>
            <a:r>
              <a:rPr lang="en-US" altLang="zh-CN" sz="2000" b="1" dirty="0" err="1"/>
              <a:t>printf</a:t>
            </a:r>
            <a:r>
              <a:rPr lang="en-US" altLang="zh-CN" sz="2000" b="1" dirty="0"/>
              <a:t> ("There are %d words in the line.\n", num);</a:t>
            </a:r>
          </a:p>
          <a:p>
            <a:pPr marL="457200" indent="-457200"/>
            <a:r>
              <a:rPr lang="en-US" altLang="zh-CN" sz="2000" b="1" dirty="0"/>
              <a:t>    return 0;</a:t>
            </a:r>
          </a:p>
          <a:p>
            <a:pPr marL="457200" indent="-457200"/>
            <a:r>
              <a:rPr lang="en-US" altLang="zh-CN" sz="2000" b="1" dirty="0"/>
              <a:t>}</a:t>
            </a:r>
          </a:p>
        </p:txBody>
      </p:sp>
      <p:sp>
        <p:nvSpPr>
          <p:cNvPr id="54" name="Text Box 54"/>
          <p:cNvSpPr txBox="1">
            <a:spLocks noChangeArrowheads="1"/>
          </p:cNvSpPr>
          <p:nvPr/>
        </p:nvSpPr>
        <p:spPr bwMode="auto">
          <a:xfrm>
            <a:off x="7306923" y="4929026"/>
            <a:ext cx="4061016" cy="122555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运行结果：</a:t>
            </a:r>
          </a:p>
          <a:p>
            <a:r>
              <a:rPr lang="en-US" altLang="zh-CN" b="1" dirty="0"/>
              <a:t>I am a student </a:t>
            </a:r>
            <a:r>
              <a:rPr lang="en-US" altLang="zh-CN" b="1" dirty="0">
                <a:latin typeface="+mn-ea"/>
                <a:ea typeface="+mn-ea"/>
              </a:rPr>
              <a:t>↙</a:t>
            </a:r>
          </a:p>
          <a:p>
            <a:r>
              <a:rPr lang="en-US" altLang="zh-CN" b="1" dirty="0">
                <a:solidFill>
                  <a:srgbClr val="002060"/>
                </a:solidFill>
              </a:rPr>
              <a:t>There are </a:t>
            </a:r>
            <a:r>
              <a:rPr lang="en-US" altLang="zh-CN" b="1" dirty="0">
                <a:solidFill>
                  <a:srgbClr val="C01920"/>
                </a:solidFill>
              </a:rPr>
              <a:t>4 </a:t>
            </a:r>
            <a:r>
              <a:rPr lang="en-US" altLang="zh-CN" b="1" dirty="0">
                <a:solidFill>
                  <a:srgbClr val="002060"/>
                </a:solidFill>
              </a:rPr>
              <a:t>words in the line</a:t>
            </a:r>
          </a:p>
        </p:txBody>
      </p:sp>
    </p:spTree>
    <p:extLst>
      <p:ext uri="{BB962C8B-B14F-4D97-AF65-F5344CB8AC3E}">
        <p14:creationId xmlns:p14="http://schemas.microsoft.com/office/powerpoint/2010/main" val="3835030760"/>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12788"/>
                                        </p:tgtEl>
                                        <p:attrNameLst>
                                          <p:attrName>style.visibility</p:attrName>
                                        </p:attrNameLst>
                                      </p:cBhvr>
                                      <p:to>
                                        <p:strVal val="visible"/>
                                      </p:to>
                                    </p:set>
                                    <p:animEffect transition="in" filter="box(in)">
                                      <p:cBhvr>
                                        <p:cTn id="7" dur="500"/>
                                        <p:tgtEl>
                                          <p:spTgt spid="101278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strips(downRight)">
                                      <p:cBhvr>
                                        <p:cTn id="12" dur="500"/>
                                        <p:tgtEl>
                                          <p:spTgt spid="52"/>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box(out)">
                                      <p:cBhvr>
                                        <p:cTn id="17" dur="500"/>
                                        <p:tgtEl>
                                          <p:spTgt spid="5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box(out)">
                                      <p:cBhvr>
                                        <p:cTn id="22" dur="500"/>
                                        <p:tgtEl>
                                          <p:spTgt spid="54"/>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2788" grpId="0"/>
      <p:bldP spid="53" grpId="0" animBg="1"/>
      <p:bldP spid="54"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6" name="Text Box 16"/>
          <p:cNvSpPr txBox="1">
            <a:spLocks noChangeArrowheads="1"/>
          </p:cNvSpPr>
          <p:nvPr/>
        </p:nvSpPr>
        <p:spPr bwMode="auto">
          <a:xfrm>
            <a:off x="1597792" y="4770404"/>
            <a:ext cx="9322744" cy="86360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b="1" dirty="0">
                <a:solidFill>
                  <a:srgbClr val="C01920"/>
                </a:solidFill>
                <a:latin typeface="+mn-lt"/>
                <a:ea typeface="隶书" pitchFamily="49" charset="-122"/>
              </a:rPr>
              <a:t>存储类型符  </a:t>
            </a:r>
            <a:r>
              <a:rPr lang="en-US" altLang="zh-CN" b="1" dirty="0">
                <a:solidFill>
                  <a:srgbClr val="C01920"/>
                </a:solidFill>
                <a:latin typeface="+mn-lt"/>
                <a:ea typeface="隶书" pitchFamily="49" charset="-122"/>
              </a:rPr>
              <a:t>char  </a:t>
            </a:r>
            <a:r>
              <a:rPr lang="zh-CN" altLang="en-US" b="1" dirty="0">
                <a:solidFill>
                  <a:srgbClr val="C01920"/>
                </a:solidFill>
                <a:latin typeface="+mn-lt"/>
                <a:ea typeface="隶书" pitchFamily="49" charset="-122"/>
              </a:rPr>
              <a:t>字符串数组名</a:t>
            </a:r>
            <a:r>
              <a:rPr lang="en-US" altLang="zh-CN" b="1" dirty="0">
                <a:solidFill>
                  <a:srgbClr val="C01920"/>
                </a:solidFill>
                <a:latin typeface="+mn-lt"/>
                <a:ea typeface="隶书" pitchFamily="49" charset="-122"/>
              </a:rPr>
              <a:t>[</a:t>
            </a:r>
            <a:r>
              <a:rPr lang="zh-CN" altLang="en-US" b="1" dirty="0">
                <a:solidFill>
                  <a:srgbClr val="C01920"/>
                </a:solidFill>
                <a:latin typeface="+mn-lt"/>
                <a:ea typeface="隶书" pitchFamily="49" charset="-122"/>
              </a:rPr>
              <a:t>行数</a:t>
            </a:r>
            <a:r>
              <a:rPr lang="en-US" altLang="zh-CN" b="1" dirty="0">
                <a:solidFill>
                  <a:srgbClr val="C01920"/>
                </a:solidFill>
                <a:latin typeface="+mn-lt"/>
                <a:ea typeface="隶书" pitchFamily="49" charset="-122"/>
              </a:rPr>
              <a:t>m][</a:t>
            </a:r>
            <a:r>
              <a:rPr lang="zh-CN" altLang="en-US" b="1" dirty="0">
                <a:solidFill>
                  <a:srgbClr val="C01920"/>
                </a:solidFill>
                <a:latin typeface="+mn-lt"/>
                <a:ea typeface="隶书" pitchFamily="49" charset="-122"/>
              </a:rPr>
              <a:t>列数</a:t>
            </a:r>
            <a:r>
              <a:rPr lang="en-US" altLang="zh-CN" b="1" dirty="0">
                <a:solidFill>
                  <a:srgbClr val="C01920"/>
                </a:solidFill>
                <a:latin typeface="+mn-lt"/>
                <a:ea typeface="隶书" pitchFamily="49" charset="-122"/>
              </a:rPr>
              <a:t>n] </a:t>
            </a:r>
            <a:r>
              <a:rPr lang="zh-CN" altLang="en-US" b="1" dirty="0">
                <a:solidFill>
                  <a:srgbClr val="C01920"/>
                </a:solidFill>
                <a:latin typeface="+mn-lt"/>
                <a:ea typeface="隶书" pitchFamily="49" charset="-122"/>
              </a:rPr>
              <a:t>＝</a:t>
            </a:r>
            <a:endParaRPr lang="en-US" altLang="zh-CN" b="1" dirty="0">
              <a:solidFill>
                <a:srgbClr val="C01920"/>
              </a:solidFill>
              <a:latin typeface="+mn-lt"/>
              <a:ea typeface="隶书" pitchFamily="49" charset="-122"/>
            </a:endParaRPr>
          </a:p>
          <a:p>
            <a:pPr algn="ct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字符串</a:t>
            </a:r>
            <a:r>
              <a:rPr lang="en-US" altLang="zh-CN" b="1" dirty="0">
                <a:solidFill>
                  <a:srgbClr val="C01920"/>
                </a:solidFill>
                <a:latin typeface="+mn-lt"/>
                <a:ea typeface="隶书" pitchFamily="49" charset="-122"/>
              </a:rPr>
              <a:t>1</a:t>
            </a:r>
            <a:r>
              <a:rPr lang="zh-CN" altLang="en-US" b="1" dirty="0">
                <a:solidFill>
                  <a:srgbClr val="C01920"/>
                </a:solidFill>
                <a:latin typeface="+mn-lt"/>
                <a:ea typeface="隶书" pitchFamily="49" charset="-122"/>
              </a:rPr>
              <a:t>，字符串</a:t>
            </a:r>
            <a:r>
              <a:rPr lang="en-US" altLang="zh-CN" b="1" dirty="0">
                <a:solidFill>
                  <a:srgbClr val="C01920"/>
                </a:solidFill>
                <a:latin typeface="+mn-lt"/>
                <a:ea typeface="隶书" pitchFamily="49" charset="-122"/>
              </a:rPr>
              <a:t>2</a:t>
            </a:r>
            <a:r>
              <a:rPr lang="zh-CN" altLang="en-US" b="1" dirty="0">
                <a:solidFill>
                  <a:srgbClr val="C01920"/>
                </a:solidFill>
                <a:latin typeface="+mn-lt"/>
                <a:ea typeface="隶书" pitchFamily="49" charset="-122"/>
              </a:rPr>
              <a:t>，</a:t>
            </a:r>
            <a:r>
              <a:rPr lang="en-US" altLang="zh-CN" b="1" dirty="0">
                <a:solidFill>
                  <a:srgbClr val="C01920"/>
                </a:solidFill>
                <a:latin typeface="+mn-lt"/>
                <a:ea typeface="隶书" pitchFamily="49" charset="-122"/>
              </a:rPr>
              <a:t>……</a:t>
            </a:r>
            <a:r>
              <a:rPr lang="zh-CN" altLang="en-US" b="1" dirty="0">
                <a:solidFill>
                  <a:srgbClr val="C01920"/>
                </a:solidFill>
                <a:latin typeface="+mn-lt"/>
                <a:ea typeface="隶书" pitchFamily="49" charset="-122"/>
              </a:rPr>
              <a:t>，字符串</a:t>
            </a:r>
            <a:r>
              <a:rPr lang="en-US" altLang="zh-CN" b="1" dirty="0">
                <a:solidFill>
                  <a:srgbClr val="C01920"/>
                </a:solidFill>
                <a:latin typeface="+mn-lt"/>
                <a:ea typeface="隶书" pitchFamily="49" charset="-122"/>
              </a:rPr>
              <a:t>m}</a:t>
            </a:r>
            <a:r>
              <a:rPr lang="zh-CN" altLang="en-US" b="1" dirty="0">
                <a:solidFill>
                  <a:srgbClr val="C01920"/>
                </a:solidFill>
                <a:latin typeface="+mn-lt"/>
                <a:ea typeface="隶书" pitchFamily="49" charset="-122"/>
              </a:rPr>
              <a:t>；</a:t>
            </a:r>
          </a:p>
          <a:p>
            <a:pPr eaLnBrk="0" hangingPunct="0"/>
            <a:endParaRPr lang="en-US" altLang="zh-CN" b="1" dirty="0">
              <a:solidFill>
                <a:srgbClr val="C01920"/>
              </a:solidFill>
              <a:latin typeface="+mn-lt"/>
              <a:ea typeface="隶书" pitchFamily="49" charset="-122"/>
            </a:endParaRPr>
          </a:p>
        </p:txBody>
      </p:sp>
      <p:sp>
        <p:nvSpPr>
          <p:cNvPr id="1013779" name="Rectangle 19"/>
          <p:cNvSpPr>
            <a:spLocks noChangeArrowheads="1"/>
          </p:cNvSpPr>
          <p:nvPr/>
        </p:nvSpPr>
        <p:spPr bwMode="auto">
          <a:xfrm>
            <a:off x="801698" y="2682843"/>
            <a:ext cx="10801200"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字符串数组实际上是字符型的二维数组，这个二维数组的每一行都是存放字符串的字符数组。</a:t>
            </a:r>
          </a:p>
        </p:txBody>
      </p:sp>
      <p:sp>
        <p:nvSpPr>
          <p:cNvPr id="1013781" name="Rectangle 21"/>
          <p:cNvSpPr>
            <a:spLocks noChangeArrowheads="1"/>
          </p:cNvSpPr>
          <p:nvPr/>
        </p:nvSpPr>
        <p:spPr bwMode="auto">
          <a:xfrm>
            <a:off x="1389460" y="1746217"/>
            <a:ext cx="3554412" cy="457200"/>
          </a:xfrm>
          <a:prstGeom prst="rect">
            <a:avLst/>
          </a:prstGeom>
          <a:noFill/>
          <a:ln w="9525">
            <a:noFill/>
            <a:miter lim="800000"/>
            <a:headEnd/>
            <a:tailEnd/>
          </a:ln>
          <a:effectLst/>
        </p:spPr>
        <p:txBody>
          <a:bodyPr wrap="none">
            <a:spAutoFit/>
          </a:bodyPr>
          <a:lstStyle/>
          <a:p>
            <a:r>
              <a:rPr lang="zh-CN" altLang="en-US" b="1" dirty="0">
                <a:effectLst>
                  <a:outerShdw blurRad="38100" dist="38100" dir="2700000" algn="tl">
                    <a:srgbClr val="FFFFFF"/>
                  </a:outerShdw>
                </a:effectLst>
                <a:latin typeface="+mn-lt"/>
                <a:ea typeface="楷体" pitchFamily="49" charset="-122"/>
              </a:rPr>
              <a:t>构成数组的数据是字符串</a:t>
            </a:r>
          </a:p>
        </p:txBody>
      </p:sp>
      <p:sp>
        <p:nvSpPr>
          <p:cNvPr id="1013782" name="Text Box 22"/>
          <p:cNvSpPr txBox="1">
            <a:spLocks noChangeArrowheads="1"/>
          </p:cNvSpPr>
          <p:nvPr/>
        </p:nvSpPr>
        <p:spPr bwMode="auto">
          <a:xfrm>
            <a:off x="1094755" y="2423323"/>
            <a:ext cx="896399" cy="369332"/>
          </a:xfrm>
          <a:prstGeom prst="rect">
            <a:avLst/>
          </a:prstGeom>
          <a:noFill/>
          <a:ln w="9525">
            <a:noFill/>
            <a:miter lim="800000"/>
            <a:headEnd/>
            <a:tailEnd/>
          </a:ln>
          <a:effectLst/>
        </p:spPr>
        <p:txBody>
          <a:bodyPr wrap="none" anchor="ctr">
            <a:spAutoFit/>
          </a:bodyPr>
          <a:lstStyle>
            <a:defPPr>
              <a:defRPr lang="zh-CN"/>
            </a:defPPr>
            <a:lvl1pPr>
              <a:buClr>
                <a:srgbClr val="C01920"/>
              </a:buClr>
              <a:buFont typeface="Wingdings" pitchFamily="2" charset="2"/>
              <a:buChar char="Ø"/>
              <a:tabLst>
                <a:tab pos="457200" algn="l"/>
              </a:tabLst>
              <a:defRPr b="1">
                <a:solidFill>
                  <a:srgbClr val="C01920"/>
                </a:solidFill>
                <a:latin typeface="+mn-lt"/>
                <a:ea typeface="楷体" pitchFamily="49" charset="-122"/>
              </a:defRPr>
            </a:lvl1pPr>
          </a:lstStyle>
          <a:p>
            <a:r>
              <a:rPr lang="en-US" altLang="zh-CN" dirty="0">
                <a:solidFill>
                  <a:srgbClr val="00B0F0"/>
                </a:solidFill>
              </a:rPr>
              <a:t> </a:t>
            </a:r>
            <a:r>
              <a:rPr lang="zh-CN" altLang="en-US" dirty="0">
                <a:solidFill>
                  <a:srgbClr val="00B0F0"/>
                </a:solidFill>
              </a:rPr>
              <a:t>说明</a:t>
            </a:r>
          </a:p>
        </p:txBody>
      </p:sp>
      <p:sp>
        <p:nvSpPr>
          <p:cNvPr id="1013783" name="Rectangle 23"/>
          <p:cNvSpPr>
            <a:spLocks noChangeArrowheads="1"/>
          </p:cNvSpPr>
          <p:nvPr/>
        </p:nvSpPr>
        <p:spPr bwMode="auto">
          <a:xfrm>
            <a:off x="746517" y="3906805"/>
            <a:ext cx="10856381"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字符串数组的初始化除了象前面所介绍的二维数组初始化的方式外，还可以按如下方式进行初始化：</a:t>
            </a:r>
          </a:p>
        </p:txBody>
      </p:sp>
      <p:sp>
        <p:nvSpPr>
          <p:cNvPr id="1013784" name="Text Box 24"/>
          <p:cNvSpPr txBox="1">
            <a:spLocks noChangeArrowheads="1"/>
          </p:cNvSpPr>
          <p:nvPr/>
        </p:nvSpPr>
        <p:spPr bwMode="auto">
          <a:xfrm>
            <a:off x="1094755" y="3661573"/>
            <a:ext cx="1128835" cy="369332"/>
          </a:xfrm>
          <a:prstGeom prst="rect">
            <a:avLst/>
          </a:prstGeom>
          <a:noFill/>
          <a:ln w="9525">
            <a:noFill/>
            <a:miter lim="800000"/>
            <a:headEnd/>
            <a:tailEnd/>
          </a:ln>
          <a:effectLst/>
        </p:spPr>
        <p:txBody>
          <a:bodyPr wrap="none" anchor="ctr">
            <a:spAutoFit/>
          </a:bodyPr>
          <a:lstStyle>
            <a:defPPr>
              <a:defRPr lang="zh-CN"/>
            </a:defPPr>
            <a:lvl1pPr>
              <a:buClr>
                <a:srgbClr val="C01920"/>
              </a:buClr>
              <a:buFont typeface="Wingdings" pitchFamily="2" charset="2"/>
              <a:buChar char="Ø"/>
              <a:tabLst>
                <a:tab pos="457200" algn="l"/>
              </a:tabLst>
              <a:defRPr b="1">
                <a:solidFill>
                  <a:srgbClr val="C01920"/>
                </a:solidFill>
                <a:latin typeface="+mn-lt"/>
                <a:ea typeface="楷体" pitchFamily="49" charset="-122"/>
              </a:defRPr>
            </a:lvl1pPr>
          </a:lstStyle>
          <a:p>
            <a:r>
              <a:rPr lang="en-US" altLang="zh-CN" dirty="0">
                <a:solidFill>
                  <a:srgbClr val="00B0F0"/>
                </a:solidFill>
              </a:rPr>
              <a:t> </a:t>
            </a:r>
            <a:r>
              <a:rPr lang="zh-CN" altLang="en-US" dirty="0">
                <a:solidFill>
                  <a:srgbClr val="00B0F0"/>
                </a:solidFill>
              </a:rPr>
              <a:t>初始化</a:t>
            </a:r>
          </a:p>
        </p:txBody>
      </p:sp>
      <p:sp>
        <p:nvSpPr>
          <p:cNvPr id="1013785" name="Rectangle 25"/>
          <p:cNvSpPr>
            <a:spLocks noChangeArrowheads="1"/>
          </p:cNvSpPr>
          <p:nvPr/>
        </p:nvSpPr>
        <p:spPr bwMode="auto">
          <a:xfrm>
            <a:off x="661110" y="5774443"/>
            <a:ext cx="11123522"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其中：</a:t>
            </a:r>
            <a:r>
              <a:rPr lang="zh-CN" altLang="en-US" b="1" dirty="0">
                <a:solidFill>
                  <a:srgbClr val="C01920"/>
                </a:solidFill>
                <a:latin typeface="+mn-lt"/>
                <a:ea typeface="楷体" pitchFamily="49" charset="-122"/>
              </a:rPr>
              <a:t>每个字符串的长度应小于</a:t>
            </a:r>
            <a:r>
              <a:rPr lang="en-US" altLang="zh-CN" b="1" dirty="0">
                <a:solidFill>
                  <a:srgbClr val="C01920"/>
                </a:solidFill>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（因为字符串的结尾符</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占用一个单元）。 </a:t>
            </a:r>
          </a:p>
        </p:txBody>
      </p:sp>
      <p:sp>
        <p:nvSpPr>
          <p:cNvPr id="1013786" name="Text Box 26" descr="信纸"/>
          <p:cNvSpPr txBox="1">
            <a:spLocks noChangeArrowheads="1"/>
          </p:cNvSpPr>
          <p:nvPr/>
        </p:nvSpPr>
        <p:spPr bwMode="auto">
          <a:xfrm>
            <a:off x="1570926" y="6237312"/>
            <a:ext cx="9338180" cy="402291"/>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lgn="just"/>
            <a:r>
              <a:rPr lang="en-US" altLang="zh-CN" sz="2000" b="1" dirty="0">
                <a:effectLst>
                  <a:outerShdw blurRad="38100" dist="38100" dir="2700000" algn="tl">
                    <a:srgbClr val="FFFFFF"/>
                  </a:outerShdw>
                </a:effectLst>
              </a:rPr>
              <a:t>char city[ ][10] = { "</a:t>
            </a:r>
            <a:r>
              <a:rPr lang="en-US" altLang="zh-CN" sz="2000" b="1" dirty="0" err="1">
                <a:effectLst>
                  <a:outerShdw blurRad="38100" dist="38100" dir="2700000" algn="tl">
                    <a:srgbClr val="FFFFFF"/>
                  </a:outerShdw>
                </a:effectLst>
              </a:rPr>
              <a:t>BeiJing</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ShangHai</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TianJin</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GuangZhou</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WuHan</a:t>
            </a:r>
            <a:r>
              <a:rPr lang="en-US" altLang="zh-CN" sz="2000" b="1" dirty="0">
                <a:effectLst>
                  <a:outerShdw blurRad="38100" dist="38100" dir="2700000" algn="tl">
                    <a:srgbClr val="FFFFFF"/>
                  </a:outerShdw>
                </a:effectLst>
              </a:rPr>
              <a:t>" };</a:t>
            </a:r>
          </a:p>
        </p:txBody>
      </p:sp>
      <p:sp>
        <p:nvSpPr>
          <p:cNvPr id="15" name="Rectangle 6">
            <a:extLst>
              <a:ext uri="{FF2B5EF4-FFF2-40B4-BE49-F238E27FC236}">
                <a16:creationId xmlns:a16="http://schemas.microsoft.com/office/drawing/2014/main" id="{11CFB8A7-366A-4D21-AEE0-85490B990D42}"/>
              </a:ext>
            </a:extLst>
          </p:cNvPr>
          <p:cNvSpPr>
            <a:spLocks noChangeArrowheads="1"/>
          </p:cNvSpPr>
          <p:nvPr/>
        </p:nvSpPr>
        <p:spPr bwMode="auto">
          <a:xfrm>
            <a:off x="1121397" y="1489031"/>
            <a:ext cx="896399" cy="369332"/>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tabLst>
                <a:tab pos="457200" algn="l"/>
              </a:tabLst>
            </a:pPr>
            <a:r>
              <a:rPr lang="en-US" altLang="zh-CN" b="1" dirty="0">
                <a:solidFill>
                  <a:srgbClr val="00B0F0"/>
                </a:solidFill>
                <a:latin typeface="+mn-lt"/>
                <a:ea typeface="楷体" pitchFamily="49" charset="-122"/>
              </a:rPr>
              <a:t> </a:t>
            </a:r>
            <a:r>
              <a:rPr lang="zh-CN" altLang="en-US" b="1" dirty="0">
                <a:solidFill>
                  <a:srgbClr val="00B0F0"/>
                </a:solidFill>
                <a:latin typeface="+mn-lt"/>
                <a:ea typeface="楷体" pitchFamily="49" charset="-122"/>
              </a:rPr>
              <a:t>定义</a:t>
            </a:r>
          </a:p>
        </p:txBody>
      </p:sp>
      <p:sp>
        <p:nvSpPr>
          <p:cNvPr id="16" name="Rectangle 2">
            <a:extLst>
              <a:ext uri="{FF2B5EF4-FFF2-40B4-BE49-F238E27FC236}">
                <a16:creationId xmlns:a16="http://schemas.microsoft.com/office/drawing/2014/main" id="{0A233C45-F2AB-481E-A2E2-ECA5CE44FB11}"/>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4</a:t>
            </a:r>
            <a:r>
              <a:rPr lang="zh-CN" altLang="en-US" sz="2800" b="1" dirty="0">
                <a:solidFill>
                  <a:srgbClr val="00B0F0"/>
                </a:solidFill>
                <a:latin typeface="+mn-lt"/>
                <a:ea typeface="楷体" pitchFamily="49" charset="-122"/>
              </a:rPr>
              <a:t>、字符串数组 </a:t>
            </a:r>
          </a:p>
        </p:txBody>
      </p:sp>
      <p:sp>
        <p:nvSpPr>
          <p:cNvPr id="17" name="Rectangle 4">
            <a:extLst>
              <a:ext uri="{FF2B5EF4-FFF2-40B4-BE49-F238E27FC236}">
                <a16:creationId xmlns:a16="http://schemas.microsoft.com/office/drawing/2014/main" id="{AAA1E73B-6346-4755-9480-B1F05BC0050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4182575982"/>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13781"/>
                                        </p:tgtEl>
                                        <p:attrNameLst>
                                          <p:attrName>style.visibility</p:attrName>
                                        </p:attrNameLst>
                                      </p:cBhvr>
                                      <p:to>
                                        <p:strVal val="visible"/>
                                      </p:to>
                                    </p:set>
                                    <p:animEffect transition="in" filter="box(out)">
                                      <p:cBhvr>
                                        <p:cTn id="13" dur="500"/>
                                        <p:tgtEl>
                                          <p:spTgt spid="1013781"/>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13782"/>
                                        </p:tgtEl>
                                        <p:attrNameLst>
                                          <p:attrName>style.visibility</p:attrName>
                                        </p:attrNameLst>
                                      </p:cBhvr>
                                      <p:to>
                                        <p:strVal val="visible"/>
                                      </p:to>
                                    </p:set>
                                    <p:anim calcmode="lin" valueType="num">
                                      <p:cBhvr additive="base">
                                        <p:cTn id="18" dur="500" fill="hold"/>
                                        <p:tgtEl>
                                          <p:spTgt spid="1013782"/>
                                        </p:tgtEl>
                                        <p:attrNameLst>
                                          <p:attrName>ppt_x</p:attrName>
                                        </p:attrNameLst>
                                      </p:cBhvr>
                                      <p:tavLst>
                                        <p:tav tm="0">
                                          <p:val>
                                            <p:strVal val="0-#ppt_w/2"/>
                                          </p:val>
                                        </p:tav>
                                        <p:tav tm="100000">
                                          <p:val>
                                            <p:strVal val="#ppt_x"/>
                                          </p:val>
                                        </p:tav>
                                      </p:tavLst>
                                    </p:anim>
                                    <p:anim calcmode="lin" valueType="num">
                                      <p:cBhvr additive="base">
                                        <p:cTn id="19" dur="500" fill="hold"/>
                                        <p:tgtEl>
                                          <p:spTgt spid="101378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13779"/>
                                        </p:tgtEl>
                                        <p:attrNameLst>
                                          <p:attrName>style.visibility</p:attrName>
                                        </p:attrNameLst>
                                      </p:cBhvr>
                                      <p:to>
                                        <p:strVal val="visible"/>
                                      </p:to>
                                    </p:set>
                                    <p:animEffect transition="in" filter="box(out)">
                                      <p:cBhvr>
                                        <p:cTn id="24" dur="500"/>
                                        <p:tgtEl>
                                          <p:spTgt spid="1013779"/>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13784"/>
                                        </p:tgtEl>
                                        <p:attrNameLst>
                                          <p:attrName>style.visibility</p:attrName>
                                        </p:attrNameLst>
                                      </p:cBhvr>
                                      <p:to>
                                        <p:strVal val="visible"/>
                                      </p:to>
                                    </p:set>
                                    <p:anim calcmode="lin" valueType="num">
                                      <p:cBhvr additive="base">
                                        <p:cTn id="29" dur="500" fill="hold"/>
                                        <p:tgtEl>
                                          <p:spTgt spid="1013784"/>
                                        </p:tgtEl>
                                        <p:attrNameLst>
                                          <p:attrName>ppt_x</p:attrName>
                                        </p:attrNameLst>
                                      </p:cBhvr>
                                      <p:tavLst>
                                        <p:tav tm="0">
                                          <p:val>
                                            <p:strVal val="0-#ppt_w/2"/>
                                          </p:val>
                                        </p:tav>
                                        <p:tav tm="100000">
                                          <p:val>
                                            <p:strVal val="#ppt_x"/>
                                          </p:val>
                                        </p:tav>
                                      </p:tavLst>
                                    </p:anim>
                                    <p:anim calcmode="lin" valueType="num">
                                      <p:cBhvr additive="base">
                                        <p:cTn id="30" dur="500" fill="hold"/>
                                        <p:tgtEl>
                                          <p:spTgt spid="10137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13783"/>
                                        </p:tgtEl>
                                        <p:attrNameLst>
                                          <p:attrName>style.visibility</p:attrName>
                                        </p:attrNameLst>
                                      </p:cBhvr>
                                      <p:to>
                                        <p:strVal val="visible"/>
                                      </p:to>
                                    </p:set>
                                    <p:animEffect transition="in" filter="box(out)">
                                      <p:cBhvr>
                                        <p:cTn id="35" dur="500"/>
                                        <p:tgtEl>
                                          <p:spTgt spid="1013783"/>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13776"/>
                                        </p:tgtEl>
                                        <p:attrNameLst>
                                          <p:attrName>style.visibility</p:attrName>
                                        </p:attrNameLst>
                                      </p:cBhvr>
                                      <p:to>
                                        <p:strVal val="visible"/>
                                      </p:to>
                                    </p:set>
                                    <p:animEffect transition="in" filter="box(out)">
                                      <p:cBhvr>
                                        <p:cTn id="40" dur="500"/>
                                        <p:tgtEl>
                                          <p:spTgt spid="1013776"/>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par>
                          <p:cTn id="41" fill="hold">
                            <p:stCondLst>
                              <p:cond delay="500"/>
                            </p:stCondLst>
                            <p:childTnLst>
                              <p:par>
                                <p:cTn id="42" presetID="4" presetClass="entr" presetSubtype="32" fill="hold" grpId="0" nodeType="afterEffect">
                                  <p:stCondLst>
                                    <p:cond delay="0"/>
                                  </p:stCondLst>
                                  <p:childTnLst>
                                    <p:set>
                                      <p:cBhvr>
                                        <p:cTn id="43" dur="1" fill="hold">
                                          <p:stCondLst>
                                            <p:cond delay="0"/>
                                          </p:stCondLst>
                                        </p:cTn>
                                        <p:tgtEl>
                                          <p:spTgt spid="1013785"/>
                                        </p:tgtEl>
                                        <p:attrNameLst>
                                          <p:attrName>style.visibility</p:attrName>
                                        </p:attrNameLst>
                                      </p:cBhvr>
                                      <p:to>
                                        <p:strVal val="visible"/>
                                      </p:to>
                                    </p:set>
                                    <p:animEffect transition="in" filter="box(out)">
                                      <p:cBhvr>
                                        <p:cTn id="44" dur="500"/>
                                        <p:tgtEl>
                                          <p:spTgt spid="1013785"/>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1013786"/>
                                        </p:tgtEl>
                                        <p:attrNameLst>
                                          <p:attrName>style.visibility</p:attrName>
                                        </p:attrNameLst>
                                      </p:cBhvr>
                                      <p:to>
                                        <p:strVal val="visible"/>
                                      </p:to>
                                    </p:set>
                                    <p:animEffect transition="in" filter="box(out)">
                                      <p:cBhvr>
                                        <p:cTn id="49" dur="500"/>
                                        <p:tgtEl>
                                          <p:spTgt spid="1013786"/>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76" grpId="0" animBg="1"/>
      <p:bldP spid="1013779" grpId="0"/>
      <p:bldP spid="1013781" grpId="0"/>
      <p:bldP spid="1013782" grpId="0"/>
      <p:bldP spid="1013783" grpId="0"/>
      <p:bldP spid="1013784" grpId="0"/>
      <p:bldP spid="1013785" grpId="0"/>
      <p:bldP spid="1013786" grpId="0" animBg="1"/>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98" name="Text Box 14" descr="信纸"/>
          <p:cNvSpPr txBox="1">
            <a:spLocks noChangeArrowheads="1"/>
          </p:cNvSpPr>
          <p:nvPr/>
        </p:nvSpPr>
        <p:spPr bwMode="auto">
          <a:xfrm>
            <a:off x="1271464" y="1607082"/>
            <a:ext cx="9959964" cy="463846"/>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lgn="just"/>
            <a:r>
              <a:rPr lang="zh-CN" altLang="en-US" b="1" dirty="0">
                <a:solidFill>
                  <a:srgbClr val="C01920"/>
                </a:solidFill>
                <a:latin typeface="楷体" panose="02010609060101010101" pitchFamily="49" charset="-122"/>
                <a:ea typeface="楷体" panose="02010609060101010101" pitchFamily="49" charset="-122"/>
              </a:rPr>
              <a:t>例：</a:t>
            </a:r>
            <a:r>
              <a:rPr lang="en-US" altLang="zh-CN" sz="2000" b="1" dirty="0"/>
              <a:t>char city[ ][10] = { "</a:t>
            </a:r>
            <a:r>
              <a:rPr lang="en-US" altLang="zh-CN" sz="2000" b="1" dirty="0" err="1"/>
              <a:t>BeiJing</a:t>
            </a:r>
            <a:r>
              <a:rPr lang="en-US" altLang="zh-CN" sz="2000" b="1" dirty="0"/>
              <a:t>", "</a:t>
            </a:r>
            <a:r>
              <a:rPr lang="en-US" altLang="zh-CN" sz="2000" b="1" dirty="0" err="1"/>
              <a:t>ShangHai</a:t>
            </a:r>
            <a:r>
              <a:rPr lang="en-US" altLang="zh-CN" sz="2000" b="1" dirty="0"/>
              <a:t>", "</a:t>
            </a:r>
            <a:r>
              <a:rPr lang="en-US" altLang="zh-CN" sz="2000" b="1" dirty="0" err="1"/>
              <a:t>TianJin</a:t>
            </a:r>
            <a:r>
              <a:rPr lang="en-US" altLang="zh-CN" sz="2000" b="1" dirty="0"/>
              <a:t>", "</a:t>
            </a:r>
            <a:r>
              <a:rPr lang="en-US" altLang="zh-CN" sz="2000" b="1" dirty="0" err="1"/>
              <a:t>GuangZhou</a:t>
            </a:r>
            <a:r>
              <a:rPr lang="en-US" altLang="zh-CN" sz="2000" b="1" dirty="0"/>
              <a:t>", "</a:t>
            </a:r>
            <a:r>
              <a:rPr lang="en-US" altLang="zh-CN" sz="2000" b="1" dirty="0" err="1"/>
              <a:t>WuHan</a:t>
            </a:r>
            <a:r>
              <a:rPr lang="en-US" altLang="zh-CN" sz="2000" b="1" dirty="0"/>
              <a:t>" };</a:t>
            </a:r>
          </a:p>
        </p:txBody>
      </p:sp>
      <p:graphicFrame>
        <p:nvGraphicFramePr>
          <p:cNvPr id="1014930" name="Group 146"/>
          <p:cNvGraphicFramePr>
            <a:graphicFrameLocks noGrp="1"/>
          </p:cNvGraphicFramePr>
          <p:nvPr/>
        </p:nvGraphicFramePr>
        <p:xfrm>
          <a:off x="4433074" y="3523578"/>
          <a:ext cx="5545138" cy="2398714"/>
        </p:xfrm>
        <a:graphic>
          <a:graphicData uri="http://schemas.openxmlformats.org/drawingml/2006/table">
            <a:tbl>
              <a:tblPr>
                <a:effectLst>
                  <a:outerShdw blurRad="50800" dist="38100" dir="2700000" algn="tl" rotWithShape="0">
                    <a:prstClr val="black">
                      <a:alpha val="40000"/>
                    </a:prstClr>
                  </a:outerShdw>
                </a:effectLst>
              </a:tblPr>
              <a:tblGrid>
                <a:gridCol w="555625">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554038">
                  <a:extLst>
                    <a:ext uri="{9D8B030D-6E8A-4147-A177-3AD203B41FA5}">
                      <a16:colId xmlns:a16="http://schemas.microsoft.com/office/drawing/2014/main" val="20003"/>
                    </a:ext>
                  </a:extLst>
                </a:gridCol>
                <a:gridCol w="555625">
                  <a:extLst>
                    <a:ext uri="{9D8B030D-6E8A-4147-A177-3AD203B41FA5}">
                      <a16:colId xmlns:a16="http://schemas.microsoft.com/office/drawing/2014/main" val="20004"/>
                    </a:ext>
                  </a:extLst>
                </a:gridCol>
                <a:gridCol w="554037">
                  <a:extLst>
                    <a:ext uri="{9D8B030D-6E8A-4147-A177-3AD203B41FA5}">
                      <a16:colId xmlns:a16="http://schemas.microsoft.com/office/drawing/2014/main" val="20005"/>
                    </a:ext>
                  </a:extLst>
                </a:gridCol>
                <a:gridCol w="554038">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2450">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tblGrid>
              <a:tr h="484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B</a:t>
                      </a: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e</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J</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g</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0"/>
                  </a:ext>
                </a:extLst>
              </a:tr>
              <a:tr h="4794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S</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h</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g</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H</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1"/>
                  </a:ext>
                </a:extLst>
              </a:tr>
              <a:tr h="477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T</a:t>
                      </a: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J</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i</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2"/>
                  </a:ext>
                </a:extLst>
              </a:tr>
              <a:tr h="4794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G</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u</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g</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Z</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h</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o</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u</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7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W</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u</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H</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a</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n</a:t>
                      </a:r>
                      <a:r>
                        <a:rPr kumimoji="1" lang="en-US" altLang="zh-CN" sz="1800" b="1"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FF3300"/>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4"/>
                  </a:ext>
                </a:extLst>
              </a:tr>
            </a:tbl>
          </a:graphicData>
        </a:graphic>
      </p:graphicFrame>
      <p:graphicFrame>
        <p:nvGraphicFramePr>
          <p:cNvPr id="1014936" name="Group 152"/>
          <p:cNvGraphicFramePr>
            <a:graphicFrameLocks noGrp="1"/>
          </p:cNvGraphicFramePr>
          <p:nvPr/>
        </p:nvGraphicFramePr>
        <p:xfrm>
          <a:off x="2028013" y="3523579"/>
          <a:ext cx="1366837" cy="2425701"/>
        </p:xfrm>
        <a:graphic>
          <a:graphicData uri="http://schemas.openxmlformats.org/drawingml/2006/table">
            <a:tbl>
              <a:tblPr/>
              <a:tblGrid>
                <a:gridCol w="1366837">
                  <a:extLst>
                    <a:ext uri="{9D8B030D-6E8A-4147-A177-3AD203B41FA5}">
                      <a16:colId xmlns:a16="http://schemas.microsoft.com/office/drawing/2014/main" val="20000"/>
                    </a:ext>
                  </a:extLst>
                </a:gridCol>
              </a:tblGrid>
              <a:tr h="5032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C0066"/>
                          </a:solidFill>
                          <a:effectLst/>
                          <a:latin typeface="Times New Roman" pitchFamily="18" charset="0"/>
                          <a:ea typeface="宋体" pitchFamily="2" charset="-122"/>
                        </a:rPr>
                        <a:t>city[0]</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2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66"/>
                          </a:solidFill>
                          <a:effectLst/>
                          <a:latin typeface="Times New Roman" pitchFamily="18" charset="0"/>
                          <a:ea typeface="宋体" pitchFamily="2" charset="-122"/>
                        </a:rPr>
                        <a:t>city[1]</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66"/>
                          </a:solidFill>
                          <a:effectLst/>
                          <a:latin typeface="Times New Roman" pitchFamily="18" charset="0"/>
                          <a:ea typeface="宋体" pitchFamily="2" charset="-122"/>
                        </a:rPr>
                        <a:t>city[2]</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CC0066"/>
                          </a:solidFill>
                          <a:effectLst/>
                          <a:latin typeface="Times New Roman" pitchFamily="18" charset="0"/>
                          <a:ea typeface="宋体" pitchFamily="2" charset="-122"/>
                        </a:rPr>
                        <a:t>city[3]</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rgbClr val="CC0066"/>
                          </a:solidFill>
                          <a:effectLst/>
                          <a:latin typeface="Times New Roman" pitchFamily="18" charset="0"/>
                          <a:ea typeface="宋体" pitchFamily="2" charset="-122"/>
                        </a:rPr>
                        <a:t>city[4]</a:t>
                      </a:r>
                    </a:p>
                  </a:txBody>
                  <a:tcPr marL="90000" marR="90000" marT="46800" marB="46800" anchor="ctr" anchorCtr="1" horzOverflow="overflow">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1014937" name="Group 153"/>
          <p:cNvGrpSpPr>
            <a:grpSpLocks/>
          </p:cNvGrpSpPr>
          <p:nvPr/>
        </p:nvGrpSpPr>
        <p:grpSpPr bwMode="auto">
          <a:xfrm>
            <a:off x="3251975" y="3810915"/>
            <a:ext cx="1171575" cy="1892300"/>
            <a:chOff x="1274" y="2160"/>
            <a:chExt cx="738" cy="1192"/>
          </a:xfrm>
        </p:grpSpPr>
        <p:sp>
          <p:nvSpPr>
            <p:cNvPr id="1014931" name="Line 147"/>
            <p:cNvSpPr>
              <a:spLocks noChangeShapeType="1"/>
            </p:cNvSpPr>
            <p:nvPr/>
          </p:nvSpPr>
          <p:spPr bwMode="auto">
            <a:xfrm>
              <a:off x="1274" y="2160"/>
              <a:ext cx="726" cy="0"/>
            </a:xfrm>
            <a:prstGeom prst="line">
              <a:avLst/>
            </a:prstGeom>
            <a:noFill/>
            <a:ln w="28575">
              <a:solidFill>
                <a:srgbClr val="002060"/>
              </a:solidFill>
              <a:round/>
              <a:headEnd/>
              <a:tailEnd type="stealth" w="lg" len="lg"/>
            </a:ln>
            <a:effectLst/>
          </p:spPr>
          <p:txBody>
            <a:bodyPr/>
            <a:lstStyle/>
            <a:p>
              <a:endParaRPr lang="zh-CN" altLang="en-US"/>
            </a:p>
          </p:txBody>
        </p:sp>
        <p:sp>
          <p:nvSpPr>
            <p:cNvPr id="1014932" name="Line 148"/>
            <p:cNvSpPr>
              <a:spLocks noChangeShapeType="1"/>
            </p:cNvSpPr>
            <p:nvPr/>
          </p:nvSpPr>
          <p:spPr bwMode="auto">
            <a:xfrm>
              <a:off x="1275" y="2467"/>
              <a:ext cx="726" cy="0"/>
            </a:xfrm>
            <a:prstGeom prst="line">
              <a:avLst/>
            </a:prstGeom>
            <a:noFill/>
            <a:ln w="28575">
              <a:solidFill>
                <a:srgbClr val="002060"/>
              </a:solidFill>
              <a:round/>
              <a:headEnd/>
              <a:tailEnd type="stealth" w="lg" len="lg"/>
            </a:ln>
            <a:effectLst/>
          </p:spPr>
          <p:txBody>
            <a:bodyPr/>
            <a:lstStyle/>
            <a:p>
              <a:endParaRPr lang="zh-CN" altLang="en-US"/>
            </a:p>
          </p:txBody>
        </p:sp>
        <p:sp>
          <p:nvSpPr>
            <p:cNvPr id="1014933" name="Line 149"/>
            <p:cNvSpPr>
              <a:spLocks noChangeShapeType="1"/>
            </p:cNvSpPr>
            <p:nvPr/>
          </p:nvSpPr>
          <p:spPr bwMode="auto">
            <a:xfrm>
              <a:off x="1285" y="2756"/>
              <a:ext cx="726" cy="0"/>
            </a:xfrm>
            <a:prstGeom prst="line">
              <a:avLst/>
            </a:prstGeom>
            <a:noFill/>
            <a:ln w="28575">
              <a:solidFill>
                <a:srgbClr val="002060"/>
              </a:solidFill>
              <a:round/>
              <a:headEnd/>
              <a:tailEnd type="stealth" w="lg" len="lg"/>
            </a:ln>
            <a:effectLst/>
          </p:spPr>
          <p:txBody>
            <a:bodyPr/>
            <a:lstStyle/>
            <a:p>
              <a:endParaRPr lang="zh-CN" altLang="en-US"/>
            </a:p>
          </p:txBody>
        </p:sp>
        <p:sp>
          <p:nvSpPr>
            <p:cNvPr id="1014934" name="Line 150"/>
            <p:cNvSpPr>
              <a:spLocks noChangeShapeType="1"/>
            </p:cNvSpPr>
            <p:nvPr/>
          </p:nvSpPr>
          <p:spPr bwMode="auto">
            <a:xfrm>
              <a:off x="1286" y="3063"/>
              <a:ext cx="726" cy="0"/>
            </a:xfrm>
            <a:prstGeom prst="line">
              <a:avLst/>
            </a:prstGeom>
            <a:noFill/>
            <a:ln w="28575">
              <a:solidFill>
                <a:srgbClr val="002060"/>
              </a:solidFill>
              <a:round/>
              <a:headEnd/>
              <a:tailEnd type="stealth" w="lg" len="lg"/>
            </a:ln>
            <a:effectLst/>
          </p:spPr>
          <p:txBody>
            <a:bodyPr/>
            <a:lstStyle/>
            <a:p>
              <a:endParaRPr lang="zh-CN" altLang="en-US"/>
            </a:p>
          </p:txBody>
        </p:sp>
        <p:sp>
          <p:nvSpPr>
            <p:cNvPr id="1014935" name="Line 151"/>
            <p:cNvSpPr>
              <a:spLocks noChangeShapeType="1"/>
            </p:cNvSpPr>
            <p:nvPr/>
          </p:nvSpPr>
          <p:spPr bwMode="auto">
            <a:xfrm>
              <a:off x="1278" y="3352"/>
              <a:ext cx="726" cy="0"/>
            </a:xfrm>
            <a:prstGeom prst="line">
              <a:avLst/>
            </a:prstGeom>
            <a:noFill/>
            <a:ln w="28575">
              <a:solidFill>
                <a:srgbClr val="002060"/>
              </a:solidFill>
              <a:round/>
              <a:headEnd/>
              <a:tailEnd type="stealth" w="lg" len="lg"/>
            </a:ln>
            <a:effectLst/>
          </p:spPr>
          <p:txBody>
            <a:bodyPr/>
            <a:lstStyle/>
            <a:p>
              <a:endParaRPr lang="zh-CN" altLang="en-US"/>
            </a:p>
          </p:txBody>
        </p:sp>
      </p:grpSp>
      <p:sp>
        <p:nvSpPr>
          <p:cNvPr id="1014938" name="AutoShape 154"/>
          <p:cNvSpPr>
            <a:spLocks noChangeArrowheads="1"/>
          </p:cNvSpPr>
          <p:nvPr/>
        </p:nvSpPr>
        <p:spPr bwMode="auto">
          <a:xfrm>
            <a:off x="5280813" y="2667907"/>
            <a:ext cx="2378074" cy="433386"/>
          </a:xfrm>
          <a:prstGeom prst="wedgeRoundRectCallout">
            <a:avLst>
              <a:gd name="adj1" fmla="val 84343"/>
              <a:gd name="adj2" fmla="val 180921"/>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2060"/>
                </a:solidFill>
                <a:latin typeface="+mn-lt"/>
                <a:ea typeface="楷体" pitchFamily="49" charset="-122"/>
              </a:rPr>
              <a:t>字符串结束标志</a:t>
            </a:r>
          </a:p>
        </p:txBody>
      </p:sp>
      <p:sp>
        <p:nvSpPr>
          <p:cNvPr id="1014939" name="AutoShape 155"/>
          <p:cNvSpPr>
            <a:spLocks noChangeArrowheads="1"/>
          </p:cNvSpPr>
          <p:nvPr/>
        </p:nvSpPr>
        <p:spPr bwMode="auto">
          <a:xfrm>
            <a:off x="8230391" y="2667907"/>
            <a:ext cx="1970065" cy="433386"/>
          </a:xfrm>
          <a:prstGeom prst="wedgeRoundRectCallout">
            <a:avLst>
              <a:gd name="adj1" fmla="val -2115"/>
              <a:gd name="adj2" fmla="val 174551"/>
              <a:gd name="adj3" fmla="val 16667"/>
            </a:avLst>
          </a:prstGeom>
          <a:gradFill rotWithShape="1">
            <a:gsLst>
              <a:gs pos="0">
                <a:srgbClr val="CFCFD1"/>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2060"/>
                </a:solidFill>
                <a:latin typeface="+mn-lt"/>
                <a:ea typeface="楷体" pitchFamily="49" charset="-122"/>
              </a:rPr>
              <a:t>多余空位补</a:t>
            </a:r>
            <a:r>
              <a:rPr lang="en-US" altLang="zh-CN" sz="2000" b="1">
                <a:solidFill>
                  <a:srgbClr val="002060"/>
                </a:solidFill>
                <a:latin typeface="+mn-lt"/>
                <a:ea typeface="楷体" pitchFamily="49" charset="-122"/>
              </a:rPr>
              <a:t>0</a:t>
            </a:r>
          </a:p>
        </p:txBody>
      </p:sp>
      <p:sp>
        <p:nvSpPr>
          <p:cNvPr id="17" name="Rectangle 2">
            <a:extLst>
              <a:ext uri="{FF2B5EF4-FFF2-40B4-BE49-F238E27FC236}">
                <a16:creationId xmlns:a16="http://schemas.microsoft.com/office/drawing/2014/main" id="{71EE39CC-0F8D-40AF-98EA-8265E95C608B}"/>
              </a:ext>
            </a:extLst>
          </p:cNvPr>
          <p:cNvSpPr>
            <a:spLocks noChangeArrowheads="1"/>
          </p:cNvSpPr>
          <p:nvPr/>
        </p:nvSpPr>
        <p:spPr bwMode="auto">
          <a:xfrm>
            <a:off x="754013" y="908720"/>
            <a:ext cx="5702027" cy="508000"/>
          </a:xfrm>
          <a:prstGeom prst="rect">
            <a:avLst/>
          </a:prstGeom>
          <a:noFill/>
          <a:ln w="9525">
            <a:noFill/>
            <a:miter lim="800000"/>
            <a:headEnd/>
            <a:tailEnd/>
          </a:ln>
        </p:spPr>
        <p:txBody>
          <a:bodyPr/>
          <a:lstStyle/>
          <a:p>
            <a:pPr marL="0" lvl="1" eaLnBrk="0" hangingPunct="0">
              <a:buClr>
                <a:schemeClr val="hlink"/>
              </a:buClr>
              <a:buFont typeface="Wingdings" pitchFamily="2" charset="2"/>
              <a:buNone/>
            </a:pPr>
            <a:r>
              <a:rPr lang="en-US" altLang="zh-CN" sz="2800" b="1" dirty="0">
                <a:solidFill>
                  <a:srgbClr val="00B0F0"/>
                </a:solidFill>
                <a:latin typeface="+mn-lt"/>
                <a:ea typeface="楷体" pitchFamily="49" charset="-122"/>
              </a:rPr>
              <a:t>4</a:t>
            </a:r>
            <a:r>
              <a:rPr lang="zh-CN" altLang="en-US" sz="2800" b="1" dirty="0">
                <a:solidFill>
                  <a:srgbClr val="00B0F0"/>
                </a:solidFill>
                <a:latin typeface="+mn-lt"/>
                <a:ea typeface="楷体" pitchFamily="49" charset="-122"/>
              </a:rPr>
              <a:t>、字符串数组 </a:t>
            </a:r>
          </a:p>
        </p:txBody>
      </p:sp>
      <p:sp>
        <p:nvSpPr>
          <p:cNvPr id="18" name="Rectangle 4">
            <a:extLst>
              <a:ext uri="{FF2B5EF4-FFF2-40B4-BE49-F238E27FC236}">
                <a16:creationId xmlns:a16="http://schemas.microsoft.com/office/drawing/2014/main" id="{21B2660D-2AB9-4EDB-8444-5273D843568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Tree>
    <p:extLst>
      <p:ext uri="{BB962C8B-B14F-4D97-AF65-F5344CB8AC3E}">
        <p14:creationId xmlns:p14="http://schemas.microsoft.com/office/powerpoint/2010/main" val="1430764886"/>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4798"/>
                                        </p:tgtEl>
                                        <p:attrNameLst>
                                          <p:attrName>style.visibility</p:attrName>
                                        </p:attrNameLst>
                                      </p:cBhvr>
                                      <p:to>
                                        <p:strVal val="visible"/>
                                      </p:to>
                                    </p:set>
                                    <p:animEffect transition="in" filter="box(out)">
                                      <p:cBhvr>
                                        <p:cTn id="7" dur="500"/>
                                        <p:tgtEl>
                                          <p:spTgt spid="101479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014936"/>
                                        </p:tgtEl>
                                        <p:attrNameLst>
                                          <p:attrName>style.visibility</p:attrName>
                                        </p:attrNameLst>
                                      </p:cBhvr>
                                      <p:to>
                                        <p:strVal val="visible"/>
                                      </p:to>
                                    </p:set>
                                    <p:animEffect transition="in" filter="strips(downRight)">
                                      <p:cBhvr>
                                        <p:cTn id="12" dur="500"/>
                                        <p:tgtEl>
                                          <p:spTgt spid="101493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par>
                          <p:cTn id="13" fill="hold">
                            <p:stCondLst>
                              <p:cond delay="500"/>
                            </p:stCondLst>
                            <p:childTnLst>
                              <p:par>
                                <p:cTn id="14" presetID="18" presetClass="entr" presetSubtype="6" fill="hold" nodeType="afterEffect">
                                  <p:stCondLst>
                                    <p:cond delay="0"/>
                                  </p:stCondLst>
                                  <p:childTnLst>
                                    <p:set>
                                      <p:cBhvr>
                                        <p:cTn id="15" dur="1" fill="hold">
                                          <p:stCondLst>
                                            <p:cond delay="0"/>
                                          </p:stCondLst>
                                        </p:cTn>
                                        <p:tgtEl>
                                          <p:spTgt spid="1014937"/>
                                        </p:tgtEl>
                                        <p:attrNameLst>
                                          <p:attrName>style.visibility</p:attrName>
                                        </p:attrNameLst>
                                      </p:cBhvr>
                                      <p:to>
                                        <p:strVal val="visible"/>
                                      </p:to>
                                    </p:set>
                                    <p:animEffect transition="in" filter="strips(downRight)">
                                      <p:cBhvr>
                                        <p:cTn id="16" dur="500"/>
                                        <p:tgtEl>
                                          <p:spTgt spid="1014937"/>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par>
                          <p:cTn id="17" fill="hold">
                            <p:stCondLst>
                              <p:cond delay="1000"/>
                            </p:stCondLst>
                            <p:childTnLst>
                              <p:par>
                                <p:cTn id="18" presetID="18" presetClass="entr" presetSubtype="6" fill="hold" nodeType="afterEffect">
                                  <p:stCondLst>
                                    <p:cond delay="0"/>
                                  </p:stCondLst>
                                  <p:childTnLst>
                                    <p:set>
                                      <p:cBhvr>
                                        <p:cTn id="19" dur="1" fill="hold">
                                          <p:stCondLst>
                                            <p:cond delay="0"/>
                                          </p:stCondLst>
                                        </p:cTn>
                                        <p:tgtEl>
                                          <p:spTgt spid="1014930"/>
                                        </p:tgtEl>
                                        <p:attrNameLst>
                                          <p:attrName>style.visibility</p:attrName>
                                        </p:attrNameLst>
                                      </p:cBhvr>
                                      <p:to>
                                        <p:strVal val="visible"/>
                                      </p:to>
                                    </p:set>
                                    <p:animEffect transition="in" filter="strips(downRight)">
                                      <p:cBhvr>
                                        <p:cTn id="20" dur="500"/>
                                        <p:tgtEl>
                                          <p:spTgt spid="1014930"/>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8" presetClass="entr" presetSubtype="12" fill="hold" grpId="0" nodeType="clickEffect">
                                  <p:stCondLst>
                                    <p:cond delay="0"/>
                                  </p:stCondLst>
                                  <p:childTnLst>
                                    <p:set>
                                      <p:cBhvr>
                                        <p:cTn id="24" dur="1" fill="hold">
                                          <p:stCondLst>
                                            <p:cond delay="0"/>
                                          </p:stCondLst>
                                        </p:cTn>
                                        <p:tgtEl>
                                          <p:spTgt spid="1014938"/>
                                        </p:tgtEl>
                                        <p:attrNameLst>
                                          <p:attrName>style.visibility</p:attrName>
                                        </p:attrNameLst>
                                      </p:cBhvr>
                                      <p:to>
                                        <p:strVal val="visible"/>
                                      </p:to>
                                    </p:set>
                                    <p:animEffect transition="in" filter="strips(downLeft)">
                                      <p:cBhvr>
                                        <p:cTn id="25" dur="500"/>
                                        <p:tgtEl>
                                          <p:spTgt spid="1014938"/>
                                        </p:tgtEl>
                                      </p:cBhvr>
                                    </p:animEffect>
                                  </p:childTnLst>
                                  <p:subTnLst>
                                    <p:audio>
                                      <p:cMediaNode>
                                        <p:cTn display="0" masterRel="sameClick">
                                          <p:stCondLst>
                                            <p:cond evt="begin" delay="0">
                                              <p:tn val="23"/>
                                            </p:cond>
                                          </p:stCondLst>
                                          <p:endCondLst>
                                            <p:cond evt="onStopAudio" delay="0">
                                              <p:tgtEl>
                                                <p:sldTgt/>
                                              </p:tgtEl>
                                            </p:cond>
                                          </p:endCondLst>
                                        </p:cTn>
                                        <p:tgtEl>
                                          <p:sndTgt r:embed="rId3" name="laser.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1014939"/>
                                        </p:tgtEl>
                                        <p:attrNameLst>
                                          <p:attrName>style.visibility</p:attrName>
                                        </p:attrNameLst>
                                      </p:cBhvr>
                                      <p:to>
                                        <p:strVal val="visible"/>
                                      </p:to>
                                    </p:set>
                                    <p:animEffect transition="in" filter="strips(downRight)">
                                      <p:cBhvr>
                                        <p:cTn id="30" dur="500"/>
                                        <p:tgtEl>
                                          <p:spTgt spid="1014939"/>
                                        </p:tgtEl>
                                      </p:cBhvr>
                                    </p:animEffect>
                                  </p:childTnLst>
                                  <p:subTnLst>
                                    <p:audio>
                                      <p:cMediaNode>
                                        <p:cTn display="0" masterRel="sameClick">
                                          <p:stCondLst>
                                            <p:cond evt="begin" delay="0">
                                              <p:tn val="28"/>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798" grpId="0" animBg="1"/>
      <p:bldP spid="1014938" grpId="0" animBg="1"/>
      <p:bldP spid="101493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4">
            <a:extLst>
              <a:ext uri="{FF2B5EF4-FFF2-40B4-BE49-F238E27FC236}">
                <a16:creationId xmlns:a16="http://schemas.microsoft.com/office/drawing/2014/main" id="{4990C780-F26A-486A-8A13-C0497FB161E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
        <p:nvSpPr>
          <p:cNvPr id="10" name="Rectangle 2">
            <a:extLst>
              <a:ext uri="{FF2B5EF4-FFF2-40B4-BE49-F238E27FC236}">
                <a16:creationId xmlns:a16="http://schemas.microsoft.com/office/drawing/2014/main" id="{D1AA1A5D-D0FD-4B3E-ADA3-916C4724743E}"/>
              </a:ext>
            </a:extLst>
          </p:cNvPr>
          <p:cNvSpPr>
            <a:spLocks noChangeArrowheads="1"/>
          </p:cNvSpPr>
          <p:nvPr/>
        </p:nvSpPr>
        <p:spPr bwMode="auto">
          <a:xfrm>
            <a:off x="429344" y="1116047"/>
            <a:ext cx="8763000" cy="508000"/>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b="1" dirty="0">
                <a:solidFill>
                  <a:srgbClr val="00B0F0"/>
                </a:solidFill>
                <a:latin typeface="楷体" panose="02010609060101010101" pitchFamily="49" charset="-122"/>
                <a:ea typeface="楷体" panose="02010609060101010101" pitchFamily="49" charset="-122"/>
              </a:rPr>
              <a:t>【</a:t>
            </a:r>
            <a:r>
              <a:rPr lang="zh-CN" altLang="en-US" b="1" dirty="0">
                <a:solidFill>
                  <a:srgbClr val="00B0F0"/>
                </a:solidFill>
                <a:latin typeface="楷体" panose="02010609060101010101" pitchFamily="49" charset="-122"/>
                <a:ea typeface="楷体" panose="02010609060101010101" pitchFamily="49" charset="-122"/>
              </a:rPr>
              <a:t>例</a:t>
            </a:r>
            <a:r>
              <a:rPr lang="en-US" altLang="zh-CN" b="1" dirty="0">
                <a:solidFill>
                  <a:srgbClr val="00B0F0"/>
                </a:solidFill>
                <a:latin typeface="楷体" panose="02010609060101010101" pitchFamily="49" charset="-122"/>
                <a:ea typeface="楷体" panose="02010609060101010101" pitchFamily="49" charset="-122"/>
              </a:rPr>
              <a:t>2】</a:t>
            </a:r>
            <a:r>
              <a:rPr lang="zh-CN" altLang="en-US" b="1" dirty="0">
                <a:solidFill>
                  <a:srgbClr val="00B0F0"/>
                </a:solidFill>
                <a:latin typeface="楷体" panose="02010609060101010101" pitchFamily="49" charset="-122"/>
                <a:ea typeface="楷体" panose="02010609060101010101" pitchFamily="49" charset="-122"/>
              </a:rPr>
              <a:t>输入多个城市的名字，按升序排列输出 。</a:t>
            </a:r>
          </a:p>
        </p:txBody>
      </p:sp>
      <p:sp>
        <p:nvSpPr>
          <p:cNvPr id="1016842" name="Text Box 10" descr="信纸"/>
          <p:cNvSpPr txBox="1">
            <a:spLocks noChangeArrowheads="1"/>
          </p:cNvSpPr>
          <p:nvPr/>
        </p:nvSpPr>
        <p:spPr bwMode="auto">
          <a:xfrm>
            <a:off x="528350" y="299120"/>
            <a:ext cx="6624638" cy="6256337"/>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#include &lt;</a:t>
            </a:r>
            <a:r>
              <a:rPr lang="en-US" altLang="zh-CN" sz="2000" b="1" dirty="0" err="1">
                <a:ea typeface="楷体_GB2312" pitchFamily="49" charset="-122"/>
              </a:rPr>
              <a:t>string.h</a:t>
            </a:r>
            <a:r>
              <a:rPr lang="en-US" altLang="zh-CN" sz="2000" b="1" dirty="0">
                <a:ea typeface="楷体_GB2312" pitchFamily="49" charset="-122"/>
              </a:rPr>
              <a:t>&gt;</a:t>
            </a:r>
          </a:p>
          <a:p>
            <a:pPr marL="457200" indent="-457200"/>
            <a:r>
              <a:rPr lang="en-US" altLang="zh-CN" sz="2000" b="1" dirty="0">
                <a:ea typeface="楷体_GB2312" pitchFamily="49" charset="-122"/>
              </a:rPr>
              <a:t> #define CITYNUM  10</a:t>
            </a:r>
          </a:p>
          <a:p>
            <a:pPr marL="457200" indent="-457200"/>
            <a:r>
              <a:rPr lang="en-US" altLang="zh-CN" sz="2000" b="1" dirty="0">
                <a:ea typeface="楷体_GB2312" pitchFamily="49" charset="-122"/>
              </a:rPr>
              <a:t> </a:t>
            </a:r>
            <a:r>
              <a:rPr lang="en-US" altLang="zh-CN" sz="2000" b="1" dirty="0" err="1">
                <a:solidFill>
                  <a:srgbClr val="C01920"/>
                </a:solidFill>
                <a:ea typeface="楷体_GB2312" pitchFamily="49" charset="-122"/>
              </a:rPr>
              <a:t>int</a:t>
            </a:r>
            <a:r>
              <a:rPr lang="en-US" altLang="zh-CN" sz="2000" b="1" dirty="0">
                <a:solidFill>
                  <a:srgbClr val="C01920"/>
                </a:solidFill>
                <a:ea typeface="楷体_GB2312" pitchFamily="49" charset="-122"/>
              </a:rPr>
              <a:t> main ( )</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j, k, num;</a:t>
            </a:r>
          </a:p>
          <a:p>
            <a:pPr marL="457200" indent="-457200"/>
            <a:r>
              <a:rPr lang="en-US" altLang="zh-CN" sz="2000" b="1" dirty="0">
                <a:ea typeface="楷体_GB2312" pitchFamily="49" charset="-122"/>
              </a:rPr>
              <a:t>    char city[CITYNUM][20];</a:t>
            </a:r>
          </a:p>
          <a:p>
            <a:pPr marL="457200" indent="-457200"/>
            <a:r>
              <a:rPr lang="en-US" altLang="zh-CN" sz="2000" b="1" dirty="0">
                <a:ea typeface="楷体_GB2312" pitchFamily="49" charset="-122"/>
              </a:rPr>
              <a:t>    char </a:t>
            </a:r>
            <a:r>
              <a:rPr lang="en-US" altLang="zh-CN" sz="2000" b="1" dirty="0" err="1">
                <a:ea typeface="楷体_GB2312" pitchFamily="49" charset="-122"/>
              </a:rPr>
              <a:t>str</a:t>
            </a:r>
            <a:r>
              <a:rPr lang="en-US" altLang="zh-CN" sz="2000" b="1" dirty="0">
                <a:ea typeface="楷体_GB2312" pitchFamily="49" charset="-122"/>
              </a:rPr>
              <a:t>[80];</a:t>
            </a:r>
          </a:p>
          <a:p>
            <a:pPr marL="457200" indent="-457200"/>
            <a:r>
              <a:rPr lang="en-US" altLang="zh-CN" sz="2000" b="1" dirty="0">
                <a:ea typeface="楷体_GB2312" pitchFamily="49" charset="-122"/>
              </a:rPr>
              <a:t>    num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实际输入的城市数初始化为</a:t>
            </a:r>
            <a:r>
              <a:rPr lang="en-US" altLang="zh-CN" sz="1800" b="1" dirty="0">
                <a:solidFill>
                  <a:srgbClr val="002060"/>
                </a:solidFill>
                <a:latin typeface="+mn-lt"/>
                <a:ea typeface="楷体" pitchFamily="49" charset="-122"/>
              </a:rPr>
              <a:t>0</a:t>
            </a:r>
          </a:p>
          <a:p>
            <a:pPr marL="457200" indent="-457200"/>
            <a:r>
              <a:rPr lang="en-US" altLang="zh-CN" sz="1800" b="1" dirty="0">
                <a:solidFill>
                  <a:srgbClr val="002060"/>
                </a:solidFill>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输入城市名字符串（长度不能超过</a:t>
            </a:r>
            <a:r>
              <a:rPr lang="en-US" altLang="zh-CN" sz="1800" b="1" dirty="0">
                <a:solidFill>
                  <a:srgbClr val="002060"/>
                </a:solidFill>
                <a:latin typeface="+mn-lt"/>
                <a:ea typeface="楷体" pitchFamily="49" charset="-122"/>
              </a:rPr>
              <a:t>19</a:t>
            </a:r>
            <a:r>
              <a:rPr lang="zh-CN" altLang="en-US" sz="1800" b="1" dirty="0">
                <a:solidFill>
                  <a:srgbClr val="002060"/>
                </a:solidFill>
                <a:latin typeface="+mn-lt"/>
                <a:ea typeface="楷体" pitchFamily="49" charset="-122"/>
              </a:rPr>
              <a:t>）</a:t>
            </a:r>
          </a:p>
          <a:p>
            <a:pPr marL="457200" indent="-457200"/>
            <a:r>
              <a:rPr lang="zh-CN" altLang="en-US" sz="2000" b="1" dirty="0">
                <a:ea typeface="楷体_GB2312" pitchFamily="49" charset="-122"/>
              </a:rPr>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CITYNUM; </a:t>
            </a:r>
            <a:r>
              <a:rPr lang="en-US" altLang="zh-CN" sz="2000" b="1" dirty="0" err="1">
                <a:ea typeface="楷体_GB2312" pitchFamily="49" charset="-122"/>
              </a:rPr>
              <a:t>i</a:t>
            </a:r>
            <a:r>
              <a:rPr lang="en-US" altLang="zh-CN" sz="2000" b="1" dirty="0">
                <a:ea typeface="楷体_GB2312" pitchFamily="49" charset="-122"/>
              </a:rPr>
              <a:t>++)</a:t>
            </a:r>
            <a:endParaRPr lang="en-US" altLang="zh-CN" sz="1800" b="1" dirty="0">
              <a:solidFill>
                <a:schemeClr val="accent2"/>
              </a:solidFill>
              <a:ea typeface="楷体_GB2312" pitchFamily="49" charset="-122"/>
            </a:endParaRP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name of the %</a:t>
            </a:r>
            <a:r>
              <a:rPr lang="en-US" altLang="zh-CN" sz="2000" b="1" dirty="0" err="1">
                <a:ea typeface="楷体_GB2312" pitchFamily="49" charset="-122"/>
              </a:rPr>
              <a:t>dth</a:t>
            </a:r>
            <a:r>
              <a:rPr lang="en-US" altLang="zh-CN" sz="2000" b="1" dirty="0">
                <a:ea typeface="楷体_GB2312" pitchFamily="49" charset="-122"/>
              </a:rPr>
              <a:t> city: ", i+1);</a:t>
            </a:r>
          </a:p>
          <a:p>
            <a:pPr marL="457200" indent="-457200"/>
            <a:r>
              <a:rPr lang="en-US" altLang="zh-CN" sz="2000" b="1" dirty="0">
                <a:ea typeface="楷体_GB2312" pitchFamily="49" charset="-122"/>
              </a:rPr>
              <a:t>      gets (</a:t>
            </a:r>
            <a:r>
              <a:rPr lang="en-US" altLang="zh-CN" sz="2000" b="1" dirty="0" err="1">
                <a:ea typeface="楷体_GB2312" pitchFamily="49" charset="-122"/>
              </a:rPr>
              <a:t>str</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输入城市名</a:t>
            </a:r>
          </a:p>
          <a:p>
            <a:pPr marL="457200" indent="-457200"/>
            <a:r>
              <a:rPr lang="zh-CN" altLang="en-US" sz="2000" b="1" dirty="0">
                <a:ea typeface="楷体_GB2312" pitchFamily="49" charset="-122"/>
              </a:rPr>
              <a:t>      </a:t>
            </a:r>
            <a:r>
              <a:rPr lang="en-US" altLang="zh-CN" sz="2000" b="1" dirty="0">
                <a:ea typeface="楷体_GB2312" pitchFamily="49" charset="-122"/>
              </a:rPr>
              <a:t>if (str[0] == 0)    break;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为空串，表示输入结束</a:t>
            </a:r>
          </a:p>
          <a:p>
            <a:pPr marL="457200" indent="-457200"/>
            <a:r>
              <a:rPr lang="zh-CN" altLang="en-US" sz="2000" b="1" dirty="0">
                <a:ea typeface="楷体_GB2312" pitchFamily="49" charset="-122"/>
              </a:rPr>
              <a:t>      </a:t>
            </a:r>
            <a:r>
              <a:rPr lang="en-US" altLang="zh-CN" sz="2000" b="1" dirty="0">
                <a:ea typeface="楷体_GB2312" pitchFamily="49" charset="-122"/>
              </a:rPr>
              <a:t>if (</a:t>
            </a:r>
            <a:r>
              <a:rPr lang="en-US" altLang="zh-CN" sz="2000" b="1" dirty="0" err="1">
                <a:ea typeface="楷体_GB2312" pitchFamily="49" charset="-122"/>
              </a:rPr>
              <a:t>strlen</a:t>
            </a:r>
            <a:r>
              <a:rPr lang="en-US" altLang="zh-CN" sz="2000" b="1" dirty="0">
                <a:ea typeface="楷体_GB2312" pitchFamily="49" charset="-122"/>
              </a:rPr>
              <a:t>(str) &gt; 19)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城市名字符串超过</a:t>
            </a:r>
            <a:r>
              <a:rPr lang="en-US" altLang="zh-CN" sz="1800" b="1" dirty="0">
                <a:solidFill>
                  <a:srgbClr val="002060"/>
                </a:solidFill>
                <a:latin typeface="+mn-lt"/>
                <a:ea typeface="楷体" pitchFamily="49" charset="-122"/>
              </a:rPr>
              <a:t>19</a:t>
            </a:r>
            <a:r>
              <a:rPr lang="zh-CN" altLang="en-US" sz="1800" b="1" dirty="0">
                <a:solidFill>
                  <a:srgbClr val="002060"/>
                </a:solidFill>
                <a:latin typeface="+mn-lt"/>
                <a:ea typeface="楷体" pitchFamily="49" charset="-122"/>
              </a:rPr>
              <a:t>时，重输</a:t>
            </a:r>
          </a:p>
          <a:p>
            <a:pPr marL="457200" indent="-457200"/>
            <a:r>
              <a:rPr lang="zh-CN" altLang="en-US" sz="2000" b="1" dirty="0">
                <a:ea typeface="楷体_GB2312" pitchFamily="49" charset="-122"/>
              </a:rPr>
              <a:t>      </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continue;  }</a:t>
            </a:r>
          </a:p>
          <a:p>
            <a:pPr marL="457200" indent="-457200"/>
            <a:r>
              <a:rPr lang="en-US" altLang="zh-CN" sz="2000" b="1" dirty="0">
                <a:ea typeface="楷体_GB2312" pitchFamily="49" charset="-122"/>
              </a:rPr>
              <a:t>      </a:t>
            </a:r>
            <a:r>
              <a:rPr lang="en-US" altLang="zh-CN" sz="2000" b="1" dirty="0" err="1">
                <a:ea typeface="楷体_GB2312" pitchFamily="49" charset="-122"/>
              </a:rPr>
              <a:t>strcpy</a:t>
            </a:r>
            <a:r>
              <a:rPr lang="en-US" altLang="zh-CN" sz="2000" b="1" dirty="0">
                <a:ea typeface="楷体_GB2312" pitchFamily="49" charset="-122"/>
              </a:rPr>
              <a:t> (city[</a:t>
            </a:r>
            <a:r>
              <a:rPr lang="en-US" altLang="zh-CN" sz="2000" b="1" dirty="0" err="1">
                <a:ea typeface="楷体_GB2312" pitchFamily="49" charset="-122"/>
              </a:rPr>
              <a:t>i</a:t>
            </a:r>
            <a:r>
              <a:rPr lang="en-US" altLang="zh-CN" sz="2000" b="1" dirty="0">
                <a:ea typeface="楷体_GB2312" pitchFamily="49" charset="-122"/>
              </a:rPr>
              <a:t>], </a:t>
            </a:r>
            <a:r>
              <a:rPr lang="en-US" altLang="zh-CN" sz="2000" b="1" dirty="0" err="1">
                <a:ea typeface="楷体_GB2312" pitchFamily="49" charset="-122"/>
              </a:rPr>
              <a:t>str</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将输入的城市名保存到字符串数组中</a:t>
            </a:r>
          </a:p>
          <a:p>
            <a:pPr marL="457200" indent="-457200"/>
            <a:r>
              <a:rPr lang="zh-CN" altLang="en-US" sz="2000" b="1" dirty="0">
                <a:ea typeface="楷体_GB2312" pitchFamily="49" charset="-122"/>
              </a:rPr>
              <a:t>      </a:t>
            </a:r>
            <a:r>
              <a:rPr lang="en-US" altLang="zh-CN" sz="2000" b="1" dirty="0">
                <a:ea typeface="楷体_GB2312" pitchFamily="49" charset="-122"/>
              </a:rPr>
              <a:t>num++;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实际输入的城市数增</a:t>
            </a:r>
            <a:r>
              <a:rPr lang="en-US" altLang="zh-CN" sz="1800" b="1" dirty="0">
                <a:solidFill>
                  <a:srgbClr val="002060"/>
                </a:solidFill>
                <a:latin typeface="+mn-lt"/>
                <a:ea typeface="楷体" pitchFamily="49" charset="-122"/>
              </a:rPr>
              <a:t>1</a:t>
            </a:r>
          </a:p>
          <a:p>
            <a:pPr marL="457200" indent="-457200"/>
            <a:r>
              <a:rPr lang="en-US" altLang="zh-CN" sz="2000" b="1" dirty="0">
                <a:ea typeface="楷体_GB2312" pitchFamily="49" charset="-122"/>
              </a:rPr>
              <a:t>    }</a:t>
            </a:r>
          </a:p>
        </p:txBody>
      </p:sp>
      <p:sp>
        <p:nvSpPr>
          <p:cNvPr id="1016843" name="Text Box 11" descr="信纸"/>
          <p:cNvSpPr txBox="1">
            <a:spLocks noChangeArrowheads="1"/>
          </p:cNvSpPr>
          <p:nvPr/>
        </p:nvSpPr>
        <p:spPr bwMode="auto">
          <a:xfrm>
            <a:off x="5049332" y="125710"/>
            <a:ext cx="7345363" cy="5973046"/>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dirty="0"/>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- 1;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选择排序（升序）</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k =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//k</a:t>
            </a:r>
            <a:r>
              <a:rPr lang="zh-CN" altLang="en-US" sz="1800" b="1" dirty="0">
                <a:solidFill>
                  <a:srgbClr val="002060"/>
                </a:solidFill>
                <a:latin typeface="+mn-lt"/>
                <a:ea typeface="楷体" pitchFamily="49" charset="-122"/>
              </a:rPr>
              <a:t>为当前城市名最小的字符串数组的下标，初始假设为</a:t>
            </a:r>
            <a:r>
              <a:rPr lang="en-US" altLang="zh-CN" sz="1800" b="1" dirty="0" err="1">
                <a:solidFill>
                  <a:srgbClr val="002060"/>
                </a:solidFill>
                <a:latin typeface="+mn-lt"/>
                <a:ea typeface="楷体" pitchFamily="49" charset="-122"/>
              </a:rPr>
              <a:t>i</a:t>
            </a:r>
            <a:endParaRPr lang="en-US" altLang="zh-CN" sz="1800" b="1" dirty="0">
              <a:solidFill>
                <a:srgbClr val="002060"/>
              </a:solidFill>
              <a:latin typeface="+mn-lt"/>
              <a:ea typeface="楷体" pitchFamily="49" charset="-122"/>
            </a:endParaRPr>
          </a:p>
          <a:p>
            <a:pPr marL="457200" indent="-457200"/>
            <a:r>
              <a:rPr lang="en-US" altLang="zh-CN" sz="1800" b="1" dirty="0">
                <a:solidFill>
                  <a:srgbClr val="002060"/>
                </a:solidFill>
                <a:latin typeface="+mn-lt"/>
                <a:ea typeface="楷体" pitchFamily="49" charset="-122"/>
              </a:rPr>
              <a:t>       //</a:t>
            </a:r>
            <a:r>
              <a:rPr lang="zh-CN" altLang="en-US" sz="1800" b="1" dirty="0">
                <a:solidFill>
                  <a:srgbClr val="002060"/>
                </a:solidFill>
                <a:latin typeface="+mn-lt"/>
                <a:ea typeface="楷体" pitchFamily="49" charset="-122"/>
              </a:rPr>
              <a:t>查找比</a:t>
            </a:r>
            <a:r>
              <a:rPr lang="en-US" altLang="zh-CN" sz="1800" b="1" dirty="0">
                <a:solidFill>
                  <a:srgbClr val="002060"/>
                </a:solidFill>
                <a:latin typeface="+mn-lt"/>
                <a:ea typeface="楷体" pitchFamily="49" charset="-122"/>
              </a:rPr>
              <a:t>city[k]</a:t>
            </a:r>
            <a:r>
              <a:rPr lang="zh-CN" altLang="en-US" sz="1800" b="1" dirty="0">
                <a:solidFill>
                  <a:srgbClr val="002060"/>
                </a:solidFill>
                <a:latin typeface="+mn-lt"/>
                <a:ea typeface="楷体" pitchFamily="49" charset="-122"/>
              </a:rPr>
              <a:t>小的字符串的下标放入</a:t>
            </a:r>
            <a:r>
              <a:rPr lang="en-US" altLang="zh-CN" sz="1800" b="1" dirty="0">
                <a:solidFill>
                  <a:srgbClr val="002060"/>
                </a:solidFill>
                <a:latin typeface="+mn-lt"/>
                <a:ea typeface="楷体" pitchFamily="49" charset="-122"/>
              </a:rPr>
              <a:t>k</a:t>
            </a:r>
            <a:r>
              <a:rPr lang="zh-CN" altLang="en-US" sz="1800" b="1" dirty="0">
                <a:solidFill>
                  <a:srgbClr val="002060"/>
                </a:solidFill>
                <a:latin typeface="+mn-lt"/>
                <a:ea typeface="楷体" pitchFamily="49" charset="-122"/>
              </a:rPr>
              <a:t>中</a:t>
            </a:r>
          </a:p>
          <a:p>
            <a:pPr marL="457200" indent="-457200"/>
            <a:r>
              <a:rPr lang="zh-CN" altLang="en-US" sz="2000" b="1" dirty="0">
                <a:ea typeface="楷体_GB2312" pitchFamily="49" charset="-122"/>
              </a:rPr>
              <a:t>      </a:t>
            </a:r>
            <a:r>
              <a:rPr lang="en-US" altLang="zh-CN" sz="2000" b="1" dirty="0">
                <a:ea typeface="楷体_GB2312" pitchFamily="49" charset="-122"/>
              </a:rPr>
              <a:t>for (j = i+1; j &lt; num; j++) </a:t>
            </a:r>
          </a:p>
          <a:p>
            <a:pPr marL="457200" indent="-457200"/>
            <a:r>
              <a:rPr lang="en-US" altLang="zh-CN" sz="2000" b="1" dirty="0">
                <a:ea typeface="楷体_GB2312" pitchFamily="49" charset="-122"/>
              </a:rPr>
              <a:t>         if (</a:t>
            </a:r>
            <a:r>
              <a:rPr lang="en-US" altLang="zh-CN" sz="2000" b="1" dirty="0" err="1">
                <a:ea typeface="楷体_GB2312" pitchFamily="49" charset="-122"/>
              </a:rPr>
              <a:t>stricmp</a:t>
            </a:r>
            <a:r>
              <a:rPr lang="en-US" altLang="zh-CN" sz="2000" b="1" dirty="0">
                <a:ea typeface="楷体_GB2312" pitchFamily="49" charset="-122"/>
              </a:rPr>
              <a:t>(city[k], city[j]) &gt; 0) </a:t>
            </a:r>
          </a:p>
          <a:p>
            <a:pPr marL="457200" indent="-457200"/>
            <a:r>
              <a:rPr lang="en-US" altLang="zh-CN" sz="2000" b="1" dirty="0">
                <a:ea typeface="楷体_GB2312" pitchFamily="49" charset="-122"/>
              </a:rPr>
              <a:t>             k = j;</a:t>
            </a:r>
          </a:p>
          <a:p>
            <a:pPr marL="457200" indent="-457200"/>
            <a:r>
              <a:rPr lang="en-US" altLang="zh-CN" sz="2000" b="1" dirty="0">
                <a:ea typeface="楷体_GB2312" pitchFamily="49" charset="-122"/>
              </a:rPr>
              <a:t>      if (k !=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将最小城市名的字符串</a:t>
            </a:r>
            <a:r>
              <a:rPr lang="en-US" altLang="zh-CN" sz="1800" b="1" dirty="0">
                <a:solidFill>
                  <a:srgbClr val="002060"/>
                </a:solidFill>
                <a:latin typeface="+mn-lt"/>
                <a:ea typeface="楷体" pitchFamily="49" charset="-122"/>
              </a:rPr>
              <a:t>city[k]</a:t>
            </a:r>
            <a:r>
              <a:rPr lang="zh-CN" altLang="en-US" sz="1800" b="1" dirty="0">
                <a:solidFill>
                  <a:srgbClr val="002060"/>
                </a:solidFill>
                <a:latin typeface="+mn-lt"/>
                <a:ea typeface="楷体" pitchFamily="49" charset="-122"/>
              </a:rPr>
              <a:t>与</a:t>
            </a:r>
            <a:r>
              <a:rPr lang="en-US" altLang="zh-CN" sz="1800" b="1" dirty="0">
                <a:solidFill>
                  <a:srgbClr val="002060"/>
                </a:solidFill>
                <a:latin typeface="+mn-lt"/>
                <a:ea typeface="楷体" pitchFamily="49" charset="-122"/>
              </a:rPr>
              <a:t>city[</a:t>
            </a:r>
            <a:r>
              <a:rPr lang="en-US" altLang="zh-CN" sz="1800" b="1" dirty="0" err="1">
                <a:solidFill>
                  <a:srgbClr val="002060"/>
                </a:solidFill>
                <a:latin typeface="+mn-lt"/>
                <a:ea typeface="楷体" pitchFamily="49" charset="-122"/>
              </a:rPr>
              <a:t>i</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交换</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strcpy</a:t>
            </a:r>
            <a:r>
              <a:rPr lang="en-US" altLang="zh-CN" sz="2000" b="1" dirty="0">
                <a:ea typeface="楷体_GB2312" pitchFamily="49" charset="-122"/>
              </a:rPr>
              <a:t> (</a:t>
            </a:r>
            <a:r>
              <a:rPr lang="en-US" altLang="zh-CN" sz="2000" b="1" dirty="0" err="1">
                <a:ea typeface="楷体_GB2312" pitchFamily="49" charset="-122"/>
              </a:rPr>
              <a:t>str</a:t>
            </a:r>
            <a:r>
              <a:rPr lang="en-US" altLang="zh-CN" sz="2000" b="1" dirty="0">
                <a:ea typeface="楷体_GB2312" pitchFamily="49" charset="-122"/>
              </a:rPr>
              <a:t>, city[</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strcpy</a:t>
            </a:r>
            <a:r>
              <a:rPr lang="en-US" altLang="zh-CN" sz="2000" b="1" dirty="0">
                <a:ea typeface="楷体_GB2312" pitchFamily="49" charset="-122"/>
              </a:rPr>
              <a:t> (city[</a:t>
            </a:r>
            <a:r>
              <a:rPr lang="en-US" altLang="zh-CN" sz="2000" b="1" dirty="0" err="1">
                <a:ea typeface="楷体_GB2312" pitchFamily="49" charset="-122"/>
              </a:rPr>
              <a:t>i</a:t>
            </a:r>
            <a:r>
              <a:rPr lang="en-US" altLang="zh-CN" sz="2000" b="1" dirty="0">
                <a:ea typeface="楷体_GB2312" pitchFamily="49" charset="-122"/>
              </a:rPr>
              <a:t>], city[k]);</a:t>
            </a:r>
          </a:p>
          <a:p>
            <a:pPr marL="457200" indent="-457200"/>
            <a:r>
              <a:rPr lang="en-US" altLang="zh-CN" sz="2000" b="1" dirty="0">
                <a:ea typeface="楷体_GB2312" pitchFamily="49" charset="-122"/>
              </a:rPr>
              <a:t>        </a:t>
            </a:r>
            <a:r>
              <a:rPr lang="en-US" altLang="zh-CN" sz="2000" b="1" dirty="0" err="1">
                <a:ea typeface="楷体_GB2312" pitchFamily="49" charset="-122"/>
              </a:rPr>
              <a:t>strcpy</a:t>
            </a:r>
            <a:r>
              <a:rPr lang="en-US" altLang="zh-CN" sz="2000" b="1" dirty="0">
                <a:ea typeface="楷体_GB2312" pitchFamily="49" charset="-122"/>
              </a:rPr>
              <a:t> (city[k], </a:t>
            </a:r>
            <a:r>
              <a:rPr lang="en-US" altLang="zh-CN" sz="2000" b="1" dirty="0" err="1">
                <a:ea typeface="楷体_GB2312" pitchFamily="49" charset="-122"/>
              </a:rPr>
              <a:t>str</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num;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显示排序后的结果</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("%s  ", city[</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
        <p:nvSpPr>
          <p:cNvPr id="1016844" name="Text Box 12"/>
          <p:cNvSpPr txBox="1">
            <a:spLocks noChangeArrowheads="1"/>
          </p:cNvSpPr>
          <p:nvPr/>
        </p:nvSpPr>
        <p:spPr bwMode="auto">
          <a:xfrm>
            <a:off x="4530581" y="5485981"/>
            <a:ext cx="7345363" cy="122555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运行结果：</a:t>
            </a:r>
          </a:p>
          <a:p>
            <a:r>
              <a:rPr lang="zh-CN" altLang="en-US" b="1" dirty="0">
                <a:latin typeface="+mn-lt"/>
                <a:ea typeface="楷体" pitchFamily="49" charset="-122"/>
              </a:rPr>
              <a:t>输入为：</a:t>
            </a:r>
            <a:r>
              <a:rPr lang="en-US" altLang="zh-CN" b="1" dirty="0" err="1"/>
              <a:t>beijing</a:t>
            </a:r>
            <a:r>
              <a:rPr lang="en-US" altLang="zh-CN" b="1" dirty="0"/>
              <a:t>  </a:t>
            </a:r>
            <a:r>
              <a:rPr lang="en-US" altLang="zh-CN" b="1" dirty="0" err="1"/>
              <a:t>wuhan</a:t>
            </a:r>
            <a:r>
              <a:rPr lang="en-US" altLang="zh-CN" b="1" dirty="0"/>
              <a:t>  shanghai  </a:t>
            </a:r>
            <a:r>
              <a:rPr lang="en-US" altLang="zh-CN" b="1" dirty="0" err="1"/>
              <a:t>guangzhou</a:t>
            </a:r>
            <a:r>
              <a:rPr lang="en-US" altLang="zh-CN" b="1" dirty="0"/>
              <a:t>  </a:t>
            </a:r>
            <a:r>
              <a:rPr lang="en-US" altLang="zh-CN" b="1" dirty="0" err="1"/>
              <a:t>tianjin</a:t>
            </a:r>
            <a:r>
              <a:rPr lang="en-US" altLang="zh-CN" dirty="0"/>
              <a:t> </a:t>
            </a:r>
            <a:endParaRPr lang="en-US" altLang="zh-CN" b="1" dirty="0">
              <a:solidFill>
                <a:srgbClr val="FF3300"/>
              </a:solidFill>
              <a:ea typeface="隶书" pitchFamily="49" charset="-122"/>
            </a:endParaRPr>
          </a:p>
          <a:p>
            <a:pPr algn="just"/>
            <a:r>
              <a:rPr lang="en-US" altLang="zh-CN" b="1" dirty="0" err="1">
                <a:solidFill>
                  <a:srgbClr val="002060"/>
                </a:solidFill>
              </a:rPr>
              <a:t>beijing</a:t>
            </a:r>
            <a:r>
              <a:rPr lang="en-US" altLang="zh-CN" b="1" dirty="0">
                <a:solidFill>
                  <a:srgbClr val="002060"/>
                </a:solidFill>
              </a:rPr>
              <a:t>  </a:t>
            </a:r>
            <a:r>
              <a:rPr lang="en-US" altLang="zh-CN" b="1" dirty="0" err="1">
                <a:solidFill>
                  <a:srgbClr val="002060"/>
                </a:solidFill>
              </a:rPr>
              <a:t>guangzhou</a:t>
            </a:r>
            <a:r>
              <a:rPr lang="en-US" altLang="zh-CN" b="1" dirty="0">
                <a:solidFill>
                  <a:srgbClr val="002060"/>
                </a:solidFill>
              </a:rPr>
              <a:t>  shanghai  </a:t>
            </a:r>
            <a:r>
              <a:rPr lang="en-US" altLang="zh-CN" b="1" dirty="0" err="1">
                <a:solidFill>
                  <a:srgbClr val="002060"/>
                </a:solidFill>
              </a:rPr>
              <a:t>tianjin</a:t>
            </a:r>
            <a:r>
              <a:rPr lang="en-US" altLang="zh-CN" b="1" dirty="0">
                <a:solidFill>
                  <a:srgbClr val="002060"/>
                </a:solidFill>
              </a:rPr>
              <a:t>  </a:t>
            </a:r>
            <a:r>
              <a:rPr lang="en-US" altLang="zh-CN" b="1" dirty="0" err="1">
                <a:solidFill>
                  <a:srgbClr val="002060"/>
                </a:solidFill>
              </a:rPr>
              <a:t>wuhan</a:t>
            </a:r>
            <a:endParaRPr lang="en-US" altLang="zh-CN" b="1" dirty="0">
              <a:solidFill>
                <a:srgbClr val="002060"/>
              </a:solidFill>
            </a:endParaRPr>
          </a:p>
        </p:txBody>
      </p:sp>
    </p:spTree>
    <p:extLst>
      <p:ext uri="{BB962C8B-B14F-4D97-AF65-F5344CB8AC3E}">
        <p14:creationId xmlns:p14="http://schemas.microsoft.com/office/powerpoint/2010/main" val="2575663520"/>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6842"/>
                                        </p:tgtEl>
                                        <p:attrNameLst>
                                          <p:attrName>style.visibility</p:attrName>
                                        </p:attrNameLst>
                                      </p:cBhvr>
                                      <p:to>
                                        <p:strVal val="visible"/>
                                      </p:to>
                                    </p:set>
                                    <p:animEffect transition="in" filter="box(out)">
                                      <p:cBhvr>
                                        <p:cTn id="7" dur="500"/>
                                        <p:tgtEl>
                                          <p:spTgt spid="101684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16843"/>
                                        </p:tgtEl>
                                        <p:attrNameLst>
                                          <p:attrName>style.visibility</p:attrName>
                                        </p:attrNameLst>
                                      </p:cBhvr>
                                      <p:to>
                                        <p:strVal val="visible"/>
                                      </p:to>
                                    </p:set>
                                    <p:animEffect transition="in" filter="box(out)">
                                      <p:cBhvr>
                                        <p:cTn id="12" dur="500"/>
                                        <p:tgtEl>
                                          <p:spTgt spid="101684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16844"/>
                                        </p:tgtEl>
                                        <p:attrNameLst>
                                          <p:attrName>style.visibility</p:attrName>
                                        </p:attrNameLst>
                                      </p:cBhvr>
                                      <p:to>
                                        <p:strVal val="visible"/>
                                      </p:to>
                                    </p:set>
                                    <p:animEffect transition="in" filter="box(out)">
                                      <p:cBhvr>
                                        <p:cTn id="17" dur="500"/>
                                        <p:tgtEl>
                                          <p:spTgt spid="1016844"/>
                                        </p:tgtEl>
                                      </p:cBhvr>
                                    </p:animEffect>
                                  </p:childTnLst>
                                  <p:subTnLst>
                                    <p:set>
                                      <p:cBhvr override="childStyle">
                                        <p:cTn dur="1" fill="hold" display="0" masterRel="nextClick" afterEffect="1"/>
                                        <p:tgtEl>
                                          <p:spTgt spid="1016844"/>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6842" grpId="0" animBg="1"/>
      <p:bldP spid="1016843" grpId="0" animBg="1"/>
      <p:bldP spid="1016844"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a:extLst>
              <a:ext uri="{FF2B5EF4-FFF2-40B4-BE49-F238E27FC236}">
                <a16:creationId xmlns:a16="http://schemas.microsoft.com/office/drawing/2014/main" id="{CB871519-D31B-49DB-BDAF-EDC4C67BC03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字符串与数组</a:t>
            </a:r>
          </a:p>
        </p:txBody>
      </p:sp>
      <p:sp>
        <p:nvSpPr>
          <p:cNvPr id="1015810" name="Rectangle 2"/>
          <p:cNvSpPr>
            <a:spLocks noChangeArrowheads="1"/>
          </p:cNvSpPr>
          <p:nvPr/>
        </p:nvSpPr>
        <p:spPr bwMode="auto">
          <a:xfrm>
            <a:off x="429344" y="1116047"/>
            <a:ext cx="8763000" cy="508000"/>
          </a:xfrm>
          <a:prstGeom prst="rect">
            <a:avLst/>
          </a:prstGeom>
          <a:noFill/>
          <a:ln w="9525">
            <a:noFill/>
            <a:miter lim="800000"/>
            <a:headEnd/>
            <a:tailEnd/>
          </a:ln>
        </p:spPr>
        <p:txBody>
          <a:bodyPr/>
          <a:lstStyle/>
          <a:p>
            <a:pPr lvl="1" eaLnBrk="0" hangingPunct="0">
              <a:buClr>
                <a:schemeClr val="hlink"/>
              </a:buClr>
              <a:buFont typeface="Wingdings" pitchFamily="2" charset="2"/>
              <a:buNone/>
            </a:pPr>
            <a:r>
              <a:rPr lang="en-US" altLang="zh-CN" b="1" dirty="0">
                <a:solidFill>
                  <a:srgbClr val="00B0F0"/>
                </a:solidFill>
                <a:latin typeface="楷体" panose="02010609060101010101" pitchFamily="49" charset="-122"/>
                <a:ea typeface="楷体" panose="02010609060101010101" pitchFamily="49" charset="-122"/>
              </a:rPr>
              <a:t>【</a:t>
            </a:r>
            <a:r>
              <a:rPr lang="zh-CN" altLang="en-US" b="1" dirty="0">
                <a:solidFill>
                  <a:srgbClr val="00B0F0"/>
                </a:solidFill>
                <a:latin typeface="楷体" panose="02010609060101010101" pitchFamily="49" charset="-122"/>
                <a:ea typeface="楷体" panose="02010609060101010101" pitchFamily="49" charset="-122"/>
              </a:rPr>
              <a:t>例</a:t>
            </a:r>
            <a:r>
              <a:rPr lang="en-US" altLang="zh-CN" b="1" dirty="0">
                <a:solidFill>
                  <a:srgbClr val="00B0F0"/>
                </a:solidFill>
                <a:latin typeface="楷体" panose="02010609060101010101" pitchFamily="49" charset="-122"/>
                <a:ea typeface="楷体" panose="02010609060101010101" pitchFamily="49" charset="-122"/>
              </a:rPr>
              <a:t>1】 </a:t>
            </a:r>
            <a:r>
              <a:rPr lang="zh-CN" altLang="en-US" b="1" dirty="0">
                <a:solidFill>
                  <a:srgbClr val="00B0F0"/>
                </a:solidFill>
                <a:latin typeface="楷体" panose="02010609060101010101" pitchFamily="49" charset="-122"/>
                <a:ea typeface="楷体" panose="02010609060101010101" pitchFamily="49" charset="-122"/>
              </a:rPr>
              <a:t>用“*”号输出“</a:t>
            </a:r>
            <a:r>
              <a:rPr lang="en-US" altLang="zh-CN" b="1" dirty="0">
                <a:solidFill>
                  <a:srgbClr val="00B0F0"/>
                </a:solidFill>
                <a:latin typeface="楷体" panose="02010609060101010101" pitchFamily="49" charset="-122"/>
                <a:ea typeface="楷体" panose="02010609060101010101" pitchFamily="49" charset="-122"/>
              </a:rPr>
              <a:t>C</a:t>
            </a:r>
            <a:r>
              <a:rPr lang="zh-CN" altLang="en-US" b="1" dirty="0">
                <a:solidFill>
                  <a:srgbClr val="00B0F0"/>
                </a:solidFill>
                <a:latin typeface="楷体" panose="02010609060101010101" pitchFamily="49" charset="-122"/>
                <a:ea typeface="楷体" panose="02010609060101010101" pitchFamily="49" charset="-122"/>
              </a:rPr>
              <a:t>语言”。</a:t>
            </a:r>
          </a:p>
        </p:txBody>
      </p:sp>
      <p:sp>
        <p:nvSpPr>
          <p:cNvPr id="1015906" name="Rectangle 98"/>
          <p:cNvSpPr>
            <a:spLocks noChangeArrowheads="1"/>
          </p:cNvSpPr>
          <p:nvPr/>
        </p:nvSpPr>
        <p:spPr bwMode="auto">
          <a:xfrm>
            <a:off x="1055440" y="2112238"/>
            <a:ext cx="10608086" cy="1477328"/>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u="sng" dirty="0">
                <a:ln w="1905"/>
                <a:solidFill>
                  <a:srgbClr val="00B0F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rPr>
              <a:t>设计分析：</a:t>
            </a:r>
            <a:endParaRPr lang="en-US" altLang="zh-CN" b="1" u="sng" dirty="0">
              <a:ln w="1905"/>
              <a:solidFill>
                <a:srgbClr val="00B0F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endParaRPr lang="zh-CN" altLang="en-US" b="1" u="sng" dirty="0">
              <a:ln w="1905"/>
              <a:solidFill>
                <a:srgbClr val="C0192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r>
              <a:rPr lang="zh-CN" altLang="en-US" b="1" dirty="0">
                <a:ln w="1905"/>
                <a:solidFill>
                  <a:schemeClr val="tx1"/>
                </a:solidFill>
                <a:effectLst>
                  <a:innerShdw blurRad="69850" dist="43180" dir="5400000">
                    <a:srgbClr val="000000">
                      <a:alpha val="65000"/>
                    </a:srgbClr>
                  </a:innerShdw>
                </a:effectLst>
                <a:ea typeface="楷体" pitchFamily="49" charset="-122"/>
              </a:rPr>
              <a:t>        对于规则的图形输出，我们可以通过</a:t>
            </a:r>
            <a:r>
              <a:rPr lang="en-US" altLang="zh-CN" b="1" dirty="0">
                <a:ln w="1905"/>
                <a:solidFill>
                  <a:schemeClr val="tx1"/>
                </a:solidFill>
                <a:effectLst>
                  <a:innerShdw blurRad="69850" dist="43180" dir="5400000">
                    <a:srgbClr val="000000">
                      <a:alpha val="65000"/>
                    </a:srgbClr>
                  </a:innerShdw>
                </a:effectLst>
                <a:ea typeface="楷体" pitchFamily="49" charset="-122"/>
              </a:rPr>
              <a:t>C</a:t>
            </a:r>
            <a:r>
              <a:rPr lang="zh-CN" altLang="en-US" b="1" dirty="0">
                <a:ln w="1905"/>
                <a:solidFill>
                  <a:schemeClr val="tx1"/>
                </a:solidFill>
                <a:effectLst>
                  <a:innerShdw blurRad="69850" dist="43180" dir="5400000">
                    <a:srgbClr val="000000">
                      <a:alpha val="65000"/>
                    </a:srgbClr>
                  </a:innerShdw>
                </a:effectLst>
                <a:ea typeface="楷体" pitchFamily="49" charset="-122"/>
              </a:rPr>
              <a:t>的控制语句按照一定的算法画出来。比如说画一个正弦函数的图形。但对于不规则的图形输出必须利用字符数组。在设计时可以事先在编辑器的屏幕上用*号画出任意复杂的图形，然后将构成复杂图形的字符串作为初值赋值给字符串数组变量</a:t>
            </a:r>
            <a:r>
              <a:rPr lang="en-US" altLang="zh-CN" b="1" dirty="0">
                <a:ln w="1905"/>
                <a:solidFill>
                  <a:schemeClr val="tx1"/>
                </a:solidFill>
                <a:effectLst>
                  <a:innerShdw blurRad="69850" dist="43180" dir="5400000">
                    <a:srgbClr val="000000">
                      <a:alpha val="65000"/>
                    </a:srgbClr>
                  </a:innerShdw>
                </a:effectLst>
                <a:ea typeface="楷体" pitchFamily="49" charset="-122"/>
              </a:rPr>
              <a:t>word</a:t>
            </a:r>
            <a:r>
              <a:rPr lang="zh-CN" altLang="en-US" b="1" dirty="0">
                <a:ln w="1905"/>
                <a:solidFill>
                  <a:schemeClr val="tx1"/>
                </a:solidFill>
                <a:effectLst>
                  <a:innerShdw blurRad="69850" dist="43180" dir="5400000">
                    <a:srgbClr val="000000">
                      <a:alpha val="65000"/>
                    </a:srgbClr>
                  </a:innerShdw>
                </a:effectLst>
                <a:ea typeface="楷体" pitchFamily="49" charset="-122"/>
              </a:rPr>
              <a:t>。 </a:t>
            </a:r>
          </a:p>
        </p:txBody>
      </p:sp>
      <p:sp>
        <p:nvSpPr>
          <p:cNvPr id="1015907" name="Text Box 99" descr="信纸"/>
          <p:cNvSpPr txBox="1">
            <a:spLocks noChangeArrowheads="1"/>
          </p:cNvSpPr>
          <p:nvPr/>
        </p:nvSpPr>
        <p:spPr bwMode="auto">
          <a:xfrm>
            <a:off x="1055440" y="310655"/>
            <a:ext cx="9361040" cy="6557822"/>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#include &lt;</a:t>
            </a:r>
            <a:r>
              <a:rPr lang="en-US" altLang="zh-CN" sz="2000" b="1" dirty="0" err="1">
                <a:ea typeface="楷体_GB2312" pitchFamily="49" charset="-122"/>
              </a:rPr>
              <a:t>string.h</a:t>
            </a:r>
            <a:r>
              <a:rPr lang="en-US" altLang="zh-CN" sz="2000" b="1" dirty="0">
                <a:ea typeface="楷体_GB2312" pitchFamily="49" charset="-122"/>
              </a:rPr>
              <a:t>&gt;</a:t>
            </a:r>
          </a:p>
          <a:p>
            <a:pPr marL="457200" indent="-457200"/>
            <a:r>
              <a:rPr lang="en-US" altLang="zh-CN" sz="2000" b="1" dirty="0" err="1">
                <a:solidFill>
                  <a:srgbClr val="CC0066"/>
                </a:solidFill>
                <a:ea typeface="楷体_GB2312" pitchFamily="49" charset="-122"/>
              </a:rPr>
              <a:t>int</a:t>
            </a:r>
            <a:r>
              <a:rPr lang="en-US" altLang="zh-CN" sz="2000" b="1" dirty="0">
                <a:solidFill>
                  <a:srgbClr val="CC0066"/>
                </a:solidFill>
                <a:ea typeface="楷体_GB2312" pitchFamily="49" charset="-122"/>
              </a:rPr>
              <a:t> main ( )</a:t>
            </a:r>
          </a:p>
          <a:p>
            <a:pPr marL="457200" indent="-457200"/>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char word[ ][80]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       *       *           *                       *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             ****      *   *            *******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       *    *    *      *      *         *           *    ",</a:t>
            </a:r>
          </a:p>
          <a:p>
            <a:pPr marL="457200" indent="-457200"/>
            <a:r>
              <a:rPr lang="en-US" altLang="zh-CN" sz="2000" b="1" dirty="0">
                <a:ea typeface="楷体_GB2312" pitchFamily="49" charset="-122"/>
              </a:rPr>
              <a:t>      "  ****      ****      *****         *******     ",</a:t>
            </a:r>
          </a:p>
          <a:p>
            <a:pPr marL="457200" indent="-457200"/>
            <a:r>
              <a:rPr lang="en-US" altLang="zh-CN" sz="2000" b="1" dirty="0">
                <a:ea typeface="楷体_GB2312" pitchFamily="49" charset="-122"/>
              </a:rPr>
              <a:t>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strlen</a:t>
            </a:r>
            <a:r>
              <a:rPr lang="en-US" altLang="zh-CN" sz="2000" b="1" dirty="0">
                <a:ea typeface="楷体_GB2312" pitchFamily="49" charset="-122"/>
              </a:rPr>
              <a:t>(word[</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显示字符串，直到遇到空串结束</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("%s\n", word[</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//word[</a:t>
            </a:r>
            <a:r>
              <a:rPr lang="en-US" altLang="zh-CN" sz="1800" b="1" dirty="0" err="1">
                <a:solidFill>
                  <a:srgbClr val="002060"/>
                </a:solidFill>
                <a:latin typeface="+mn-lt"/>
                <a:ea typeface="楷体" pitchFamily="49" charset="-122"/>
              </a:rPr>
              <a:t>i</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对应第</a:t>
            </a:r>
            <a:r>
              <a:rPr lang="en-US" altLang="zh-CN" sz="1800" b="1" dirty="0" err="1">
                <a:solidFill>
                  <a:srgbClr val="002060"/>
                </a:solidFill>
                <a:latin typeface="+mn-lt"/>
                <a:ea typeface="楷体" pitchFamily="49" charset="-122"/>
              </a:rPr>
              <a:t>i</a:t>
            </a:r>
            <a:r>
              <a:rPr lang="zh-CN" altLang="en-US" sz="1800" b="1" dirty="0">
                <a:solidFill>
                  <a:srgbClr val="002060"/>
                </a:solidFill>
                <a:latin typeface="+mn-lt"/>
                <a:ea typeface="楷体" pitchFamily="49" charset="-122"/>
              </a:rPr>
              <a:t>行的字符串的首地址</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a:t>
            </a:r>
          </a:p>
        </p:txBody>
      </p:sp>
      <p:sp>
        <p:nvSpPr>
          <p:cNvPr id="1015908" name="Oval 100"/>
          <p:cNvSpPr>
            <a:spLocks noChangeArrowheads="1"/>
          </p:cNvSpPr>
          <p:nvPr/>
        </p:nvSpPr>
        <p:spPr bwMode="auto">
          <a:xfrm>
            <a:off x="1310461" y="4925564"/>
            <a:ext cx="720725" cy="288925"/>
          </a:xfrm>
          <a:prstGeom prst="ellipse">
            <a:avLst/>
          </a:prstGeom>
          <a:noFill/>
          <a:ln w="28575">
            <a:solidFill>
              <a:srgbClr val="C01920"/>
            </a:solidFill>
            <a:round/>
            <a:headEnd/>
            <a:tailEnd/>
          </a:ln>
          <a:effectLst>
            <a:outerShdw blurRad="50800" dist="38100" algn="l" rotWithShape="0">
              <a:prstClr val="black">
                <a:alpha val="40000"/>
              </a:prstClr>
            </a:outerShdw>
          </a:effectLst>
        </p:spPr>
        <p:txBody>
          <a:bodyPr wrap="none" anchor="ctr"/>
          <a:lstStyle/>
          <a:p>
            <a:endParaRPr lang="zh-CN" altLang="en-US"/>
          </a:p>
        </p:txBody>
      </p:sp>
      <p:sp>
        <p:nvSpPr>
          <p:cNvPr id="1015909" name="AutoShape 101"/>
          <p:cNvSpPr>
            <a:spLocks/>
          </p:cNvSpPr>
          <p:nvPr/>
        </p:nvSpPr>
        <p:spPr bwMode="auto">
          <a:xfrm>
            <a:off x="5388028" y="1156377"/>
            <a:ext cx="2752773" cy="1066811"/>
          </a:xfrm>
          <a:prstGeom prst="borderCallout2">
            <a:avLst>
              <a:gd name="adj1" fmla="val 9023"/>
              <a:gd name="adj2" fmla="val -2204"/>
              <a:gd name="adj3" fmla="val 9023"/>
              <a:gd name="adj4" fmla="val -51537"/>
              <a:gd name="adj5" fmla="val 353111"/>
              <a:gd name="adj6" fmla="val -132331"/>
            </a:avLst>
          </a:prstGeom>
          <a:gradFill rotWithShape="1">
            <a:gsLst>
              <a:gs pos="0">
                <a:srgbClr val="CFCFD1"/>
              </a:gs>
              <a:gs pos="100000">
                <a:schemeClr val="bg1"/>
              </a:gs>
            </a:gsLst>
            <a:lin ang="5400000" scaled="1"/>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r>
              <a:rPr lang="en-US" altLang="zh-CN" sz="2000" b="1"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有了这个空串，程序员就不用数上面有多少行字符串了</a:t>
            </a:r>
            <a:r>
              <a:rPr lang="zh-CN" altLang="en-US" sz="2000" dirty="0">
                <a:solidFill>
                  <a:srgbClr val="C01920"/>
                </a:solidFill>
                <a:latin typeface="+mn-lt"/>
                <a:ea typeface="楷体" pitchFamily="49" charset="-122"/>
              </a:rPr>
              <a:t> </a:t>
            </a:r>
          </a:p>
        </p:txBody>
      </p:sp>
    </p:spTree>
    <p:extLst>
      <p:ext uri="{BB962C8B-B14F-4D97-AF65-F5344CB8AC3E}">
        <p14:creationId xmlns:p14="http://schemas.microsoft.com/office/powerpoint/2010/main" val="771235509"/>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5906"/>
                                        </p:tgtEl>
                                        <p:attrNameLst>
                                          <p:attrName>style.visibility</p:attrName>
                                        </p:attrNameLst>
                                      </p:cBhvr>
                                      <p:to>
                                        <p:strVal val="visible"/>
                                      </p:to>
                                    </p:set>
                                    <p:animEffect transition="in" filter="box(out)">
                                      <p:cBhvr>
                                        <p:cTn id="7" dur="500"/>
                                        <p:tgtEl>
                                          <p:spTgt spid="101590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15907"/>
                                        </p:tgtEl>
                                        <p:attrNameLst>
                                          <p:attrName>style.visibility</p:attrName>
                                        </p:attrNameLst>
                                      </p:cBhvr>
                                      <p:to>
                                        <p:strVal val="visible"/>
                                      </p:to>
                                    </p:set>
                                    <p:animEffect transition="in" filter="box(out)">
                                      <p:cBhvr>
                                        <p:cTn id="12" dur="500"/>
                                        <p:tgtEl>
                                          <p:spTgt spid="1015907"/>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15908"/>
                                        </p:tgtEl>
                                        <p:attrNameLst>
                                          <p:attrName>style.visibility</p:attrName>
                                        </p:attrNameLst>
                                      </p:cBhvr>
                                      <p:to>
                                        <p:strVal val="visible"/>
                                      </p:to>
                                    </p:set>
                                    <p:animEffect transition="in" filter="strips(downRight)">
                                      <p:cBhvr>
                                        <p:cTn id="17" dur="500"/>
                                        <p:tgtEl>
                                          <p:spTgt spid="1015908"/>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par>
                          <p:cTn id="18" fill="hold">
                            <p:stCondLst>
                              <p:cond delay="500"/>
                            </p:stCondLst>
                            <p:childTnLst>
                              <p:par>
                                <p:cTn id="19" presetID="18" presetClass="entr" presetSubtype="3" fill="hold" grpId="0" nodeType="afterEffect">
                                  <p:stCondLst>
                                    <p:cond delay="0"/>
                                  </p:stCondLst>
                                  <p:childTnLst>
                                    <p:set>
                                      <p:cBhvr>
                                        <p:cTn id="20" dur="1" fill="hold">
                                          <p:stCondLst>
                                            <p:cond delay="0"/>
                                          </p:stCondLst>
                                        </p:cTn>
                                        <p:tgtEl>
                                          <p:spTgt spid="1015909"/>
                                        </p:tgtEl>
                                        <p:attrNameLst>
                                          <p:attrName>style.visibility</p:attrName>
                                        </p:attrNameLst>
                                      </p:cBhvr>
                                      <p:to>
                                        <p:strVal val="visible"/>
                                      </p:to>
                                    </p:set>
                                    <p:animEffect transition="in" filter="strips(upRight)">
                                      <p:cBhvr>
                                        <p:cTn id="21" dur="500"/>
                                        <p:tgtEl>
                                          <p:spTgt spid="1015909"/>
                                        </p:tgtEl>
                                      </p:cBhvr>
                                    </p:animEffect>
                                  </p:childTnLst>
                                  <p:subTnLst>
                                    <p:audio>
                                      <p:cMediaNode>
                                        <p:cTn display="0" masterRel="sameClick">
                                          <p:stCondLst>
                                            <p:cond evt="begin" delay="0">
                                              <p:tn val="19"/>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5906" grpId="0"/>
      <p:bldP spid="1015907" grpId="0" animBg="1"/>
      <p:bldP spid="1015908" grpId="0" animBg="1"/>
      <p:bldP spid="101590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65" name="Rectangle 9"/>
          <p:cNvSpPr>
            <a:spLocks noChangeArrowheads="1"/>
          </p:cNvSpPr>
          <p:nvPr/>
        </p:nvSpPr>
        <p:spPr bwMode="auto">
          <a:xfrm>
            <a:off x="889399" y="996404"/>
            <a:ext cx="11183265" cy="1877437"/>
          </a:xfrm>
          <a:prstGeom prst="rect">
            <a:avLst/>
          </a:prstGeom>
          <a:noFill/>
          <a:ln w="9525">
            <a:noFill/>
            <a:miter lim="800000"/>
            <a:headEnd/>
            <a:tailEnd/>
          </a:ln>
          <a:effectLst/>
        </p:spPr>
        <p:txBody>
          <a:bodyPr wrap="square" anchor="ctr">
            <a:spAutoFit/>
          </a:bodyPr>
          <a:lstStyle/>
          <a:p>
            <a:r>
              <a:rPr lang="en-US" altLang="zh-CN" b="1" dirty="0">
                <a:solidFill>
                  <a:srgbClr val="00B0F0"/>
                </a:solidFill>
                <a:latin typeface="楷体" panose="02010609060101010101" pitchFamily="49" charset="-122"/>
                <a:ea typeface="楷体" panose="02010609060101010101" pitchFamily="49" charset="-122"/>
              </a:rPr>
              <a:t>【</a:t>
            </a:r>
            <a:r>
              <a:rPr lang="zh-CN" altLang="en-US" b="1" dirty="0">
                <a:solidFill>
                  <a:srgbClr val="00B0F0"/>
                </a:solidFill>
                <a:latin typeface="楷体" panose="02010609060101010101" pitchFamily="49" charset="-122"/>
                <a:ea typeface="楷体" panose="02010609060101010101" pitchFamily="49" charset="-122"/>
              </a:rPr>
              <a:t>例</a:t>
            </a:r>
            <a:r>
              <a:rPr lang="en-US" altLang="zh-CN" b="1" dirty="0">
                <a:solidFill>
                  <a:srgbClr val="00B0F0"/>
                </a:solidFill>
                <a:latin typeface="楷体" panose="02010609060101010101" pitchFamily="49" charset="-122"/>
                <a:ea typeface="楷体" panose="02010609060101010101" pitchFamily="49" charset="-122"/>
              </a:rPr>
              <a:t>1】 </a:t>
            </a:r>
            <a:r>
              <a:rPr lang="zh-CN" altLang="en-US" b="1" dirty="0">
                <a:solidFill>
                  <a:srgbClr val="00B0F0"/>
                </a:solidFill>
                <a:latin typeface="楷体" panose="02010609060101010101" pitchFamily="49" charset="-122"/>
                <a:ea typeface="楷体" panose="02010609060101010101" pitchFamily="49" charset="-122"/>
              </a:rPr>
              <a:t>求解幻方问题。</a:t>
            </a:r>
            <a:endParaRPr lang="en-US" altLang="zh-CN" b="1" dirty="0">
              <a:solidFill>
                <a:srgbClr val="00B0F0"/>
              </a:solidFill>
              <a:latin typeface="楷体" panose="02010609060101010101" pitchFamily="49" charset="-122"/>
              <a:ea typeface="楷体" panose="02010609060101010101" pitchFamily="49" charset="-122"/>
            </a:endParaRPr>
          </a:p>
          <a:p>
            <a:endParaRPr lang="zh-CN" altLang="en-US" b="1" dirty="0">
              <a:solidFill>
                <a:srgbClr val="C01920"/>
              </a:solidFill>
              <a:latin typeface="楷体" panose="02010609060101010101" pitchFamily="49" charset="-122"/>
              <a:ea typeface="楷体" panose="02010609060101010101" pitchFamily="49" charset="-122"/>
            </a:endParaRPr>
          </a:p>
          <a:p>
            <a:r>
              <a:rPr lang="zh-CN" altLang="en-US" b="1" dirty="0">
                <a:solidFill>
                  <a:srgbClr val="C01920"/>
                </a:solidFill>
                <a:latin typeface="楷体" panose="02010609060101010101" pitchFamily="49" charset="-122"/>
                <a:ea typeface="楷体" panose="02010609060101010101" pitchFamily="49" charset="-122"/>
              </a:rPr>
              <a:t>   </a:t>
            </a:r>
            <a:r>
              <a:rPr lang="zh-CN" altLang="en-US" sz="2000" b="1" dirty="0">
                <a:latin typeface="楷体" panose="02010609060101010101" pitchFamily="49" charset="-122"/>
                <a:ea typeface="楷体" panose="02010609060101010101" pitchFamily="49" charset="-122"/>
              </a:rPr>
              <a:t>幻方是一种古老的数字游戏，</a:t>
            </a:r>
            <a:r>
              <a:rPr lang="en-US" altLang="zh-CN" sz="2000" b="1" dirty="0">
                <a:latin typeface="楷体" panose="02010609060101010101" pitchFamily="49" charset="-122"/>
                <a:ea typeface="楷体" panose="02010609060101010101" pitchFamily="49" charset="-122"/>
              </a:rPr>
              <a:t>n</a:t>
            </a:r>
            <a:r>
              <a:rPr lang="zh-CN" altLang="en-US" sz="2000" b="1" dirty="0">
                <a:latin typeface="楷体" panose="02010609060101010101" pitchFamily="49" charset="-122"/>
                <a:ea typeface="楷体" panose="02010609060101010101" pitchFamily="49" charset="-122"/>
              </a:rPr>
              <a:t>阶幻方就是把整数</a:t>
            </a:r>
            <a:r>
              <a:rPr lang="en-US" altLang="zh-CN" sz="2000" b="1" dirty="0">
                <a:latin typeface="楷体" panose="02010609060101010101" pitchFamily="49" charset="-122"/>
                <a:ea typeface="楷体" panose="02010609060101010101" pitchFamily="49" charset="-122"/>
              </a:rPr>
              <a:t>1</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n</a:t>
            </a:r>
            <a:r>
              <a:rPr lang="en-US" altLang="zh-CN" sz="2000" b="1" baseline="30000" dirty="0">
                <a:latin typeface="楷体" panose="02010609060101010101" pitchFamily="49" charset="-122"/>
                <a:ea typeface="楷体" panose="02010609060101010101" pitchFamily="49" charset="-122"/>
              </a:rPr>
              <a:t>2</a:t>
            </a:r>
            <a:r>
              <a:rPr lang="zh-CN" altLang="en-US" sz="2000" b="1" dirty="0">
                <a:latin typeface="楷体" panose="02010609060101010101" pitchFamily="49" charset="-122"/>
                <a:ea typeface="楷体" panose="02010609060101010101" pitchFamily="49" charset="-122"/>
              </a:rPr>
              <a:t>排成</a:t>
            </a:r>
            <a:r>
              <a:rPr lang="en-US" altLang="zh-CN" sz="2000" b="1" dirty="0" err="1">
                <a:latin typeface="楷体" panose="02010609060101010101" pitchFamily="49" charset="-122"/>
                <a:ea typeface="楷体" panose="02010609060101010101" pitchFamily="49" charset="-122"/>
              </a:rPr>
              <a:t>n×n</a:t>
            </a:r>
            <a:r>
              <a:rPr lang="zh-CN" altLang="en-US" sz="2000" b="1" dirty="0">
                <a:latin typeface="楷体" panose="02010609060101010101" pitchFamily="49" charset="-122"/>
                <a:ea typeface="楷体" panose="02010609060101010101" pitchFamily="49" charset="-122"/>
              </a:rPr>
              <a:t>的方阵，使得每行中的各元素之和，每列中各元素之和，以及两条对角线上的元素之和都是同一个数</a:t>
            </a:r>
            <a:r>
              <a:rPr lang="en-US" altLang="zh-CN" sz="2000" b="1" dirty="0">
                <a:latin typeface="楷体" panose="02010609060101010101" pitchFamily="49" charset="-122"/>
                <a:ea typeface="楷体" panose="02010609060101010101" pitchFamily="49" charset="-122"/>
              </a:rPr>
              <a:t>S</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S</a:t>
            </a:r>
            <a:r>
              <a:rPr lang="zh-CN" altLang="en-US" sz="2000" b="1" dirty="0">
                <a:latin typeface="楷体" panose="02010609060101010101" pitchFamily="49" charset="-122"/>
                <a:ea typeface="楷体" panose="02010609060101010101" pitchFamily="49" charset="-122"/>
              </a:rPr>
              <a:t>称为幻方的幻和。在中世纪的欧洲，对幻方有某种神秘的概念，许多人配戴幻方以图避邪，奇数阶幻方的构造方法很简单，我们先来看一个三阶幻方</a:t>
            </a:r>
            <a:r>
              <a:rPr lang="en-US" altLang="zh-CN" sz="2000" b="1" dirty="0">
                <a:latin typeface="楷体" panose="02010609060101010101" pitchFamily="49" charset="-122"/>
                <a:ea typeface="楷体" panose="02010609060101010101" pitchFamily="49" charset="-122"/>
              </a:rPr>
              <a:t>: </a:t>
            </a:r>
          </a:p>
        </p:txBody>
      </p:sp>
      <p:graphicFrame>
        <p:nvGraphicFramePr>
          <p:cNvPr id="1017896" name="Group 40"/>
          <p:cNvGraphicFramePr>
            <a:graphicFrameLocks noGrp="1"/>
          </p:cNvGraphicFramePr>
          <p:nvPr/>
        </p:nvGraphicFramePr>
        <p:xfrm>
          <a:off x="4768576" y="2669402"/>
          <a:ext cx="2952750" cy="1407670"/>
        </p:xfrm>
        <a:graphic>
          <a:graphicData uri="http://schemas.openxmlformats.org/drawingml/2006/table">
            <a:tbl>
              <a:tblPr/>
              <a:tblGrid>
                <a:gridCol w="984250">
                  <a:extLst>
                    <a:ext uri="{9D8B030D-6E8A-4147-A177-3AD203B41FA5}">
                      <a16:colId xmlns:a16="http://schemas.microsoft.com/office/drawing/2014/main" val="20000"/>
                    </a:ext>
                  </a:extLst>
                </a:gridCol>
                <a:gridCol w="984250">
                  <a:extLst>
                    <a:ext uri="{9D8B030D-6E8A-4147-A177-3AD203B41FA5}">
                      <a16:colId xmlns:a16="http://schemas.microsoft.com/office/drawing/2014/main" val="20001"/>
                    </a:ext>
                  </a:extLst>
                </a:gridCol>
                <a:gridCol w="984250">
                  <a:extLst>
                    <a:ext uri="{9D8B030D-6E8A-4147-A177-3AD203B41FA5}">
                      <a16:colId xmlns:a16="http://schemas.microsoft.com/office/drawing/2014/main" val="20002"/>
                    </a:ext>
                  </a:extLst>
                </a:gridCol>
              </a:tblGrid>
              <a:tr h="398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8</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6</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extLst>
                  <a:ext uri="{0D108BD9-81ED-4DB2-BD59-A6C34878D82A}">
                    <a16:rowId xmlns:a16="http://schemas.microsoft.com/office/drawing/2014/main" val="10000"/>
                  </a:ext>
                </a:extLst>
              </a:tr>
              <a:tr h="430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3</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7</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4</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9</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2</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flip="none" rotWithShape="1">
                      <a:gsLst>
                        <a:gs pos="0">
                          <a:srgbClr val="F0E5B7"/>
                        </a:gs>
                        <a:gs pos="60000">
                          <a:srgbClr val="F1EBD2"/>
                        </a:gs>
                        <a:gs pos="100000">
                          <a:schemeClr val="bg1">
                            <a:lumMod val="95000"/>
                          </a:schemeClr>
                        </a:gs>
                      </a:gsLst>
                      <a:lin ang="13500000" scaled="1"/>
                      <a:tileRect/>
                    </a:gradFill>
                  </a:tcPr>
                </a:tc>
                <a:extLst>
                  <a:ext uri="{0D108BD9-81ED-4DB2-BD59-A6C34878D82A}">
                    <a16:rowId xmlns:a16="http://schemas.microsoft.com/office/drawing/2014/main" val="10002"/>
                  </a:ext>
                </a:extLst>
              </a:tr>
            </a:tbl>
          </a:graphicData>
        </a:graphic>
      </p:graphicFrame>
      <p:sp>
        <p:nvSpPr>
          <p:cNvPr id="1017894" name="Rectangle 38"/>
          <p:cNvSpPr>
            <a:spLocks noChangeArrowheads="1"/>
          </p:cNvSpPr>
          <p:nvPr/>
        </p:nvSpPr>
        <p:spPr bwMode="auto">
          <a:xfrm>
            <a:off x="684805" y="4229908"/>
            <a:ext cx="11183265" cy="2185214"/>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540000" indent="-403200"/>
            <a:r>
              <a:rPr lang="zh-CN" altLang="en-US" b="1" u="sng" dirty="0">
                <a:ln w="1905"/>
                <a:solidFill>
                  <a:srgbClr val="00B0F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rPr>
              <a:t>各数在方阵中的位置可以这样确定：</a:t>
            </a:r>
            <a:endParaRPr lang="en-US" altLang="zh-CN" b="1" u="sng" dirty="0">
              <a:ln w="1905"/>
              <a:solidFill>
                <a:srgbClr val="00B0F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pPr marL="540000" indent="-403200"/>
            <a:endParaRPr lang="zh-CN" altLang="en-US" b="1" u="sng" dirty="0">
              <a:ln w="1905"/>
              <a:solidFill>
                <a:srgbClr val="C0000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pPr marL="540000" indent="-403200"/>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(1)</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把</a:t>
            </a:r>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1</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放在最上一行正中间的方格中</a:t>
            </a:r>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a:t>
            </a:r>
          </a:p>
          <a:p>
            <a:pPr marL="540000" indent="-403200"/>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(2)</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把下一个整数放置到右上方，如果到达最上一行，下一个整数放在最后一行，就好象它在第一行的上面，如果到达最右端，则下一个整数放在最左端，就好象它在最右一列的右侧。</a:t>
            </a:r>
            <a:endPar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endParaRPr>
          </a:p>
          <a:p>
            <a:pPr marL="540000" indent="-403200"/>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(3)</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当到达的方格中已填上数值时，下一个整数就放在刚填写上数码的方格的正下方。</a:t>
            </a:r>
            <a:endPar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endParaRPr>
          </a:p>
          <a:p>
            <a:pPr marL="540000" indent="-403200"/>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照着三阶幻方，从</a:t>
            </a:r>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1</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至</a:t>
            </a:r>
            <a:r>
              <a:rPr lang="en-US" altLang="zh-CN"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9</a:t>
            </a:r>
            <a:r>
              <a:rPr lang="zh-CN" altLang="en-US" sz="2000" b="1" dirty="0">
                <a:ln w="1905"/>
                <a:solidFill>
                  <a:schemeClr val="tx1"/>
                </a:solidFill>
                <a:effectLst>
                  <a:innerShdw blurRad="69850" dist="43180" dir="5400000">
                    <a:srgbClr val="000000">
                      <a:alpha val="65000"/>
                    </a:srgbClr>
                  </a:innerShdw>
                </a:effectLst>
                <a:latin typeface="楷体" pitchFamily="49" charset="-122"/>
                <a:ea typeface="楷体" pitchFamily="49" charset="-122"/>
              </a:rPr>
              <a:t>走一下，就可以明白它的构造方法。 </a:t>
            </a:r>
          </a:p>
        </p:txBody>
      </p:sp>
      <p:sp>
        <p:nvSpPr>
          <p:cNvPr id="9" name="Rectangle 4">
            <a:extLst>
              <a:ext uri="{FF2B5EF4-FFF2-40B4-BE49-F238E27FC236}">
                <a16:creationId xmlns:a16="http://schemas.microsoft.com/office/drawing/2014/main" id="{A4C04037-973C-481D-B888-B31A38E4ADF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数组综合应用举例</a:t>
            </a:r>
          </a:p>
        </p:txBody>
      </p:sp>
    </p:spTree>
    <p:extLst>
      <p:ext uri="{BB962C8B-B14F-4D97-AF65-F5344CB8AC3E}">
        <p14:creationId xmlns:p14="http://schemas.microsoft.com/office/powerpoint/2010/main" val="1245474683"/>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7894"/>
                                        </p:tgtEl>
                                        <p:attrNameLst>
                                          <p:attrName>style.visibility</p:attrName>
                                        </p:attrNameLst>
                                      </p:cBhvr>
                                      <p:to>
                                        <p:strVal val="visible"/>
                                      </p:to>
                                    </p:set>
                                    <p:animEffect transition="in" filter="box(out)">
                                      <p:cBhvr>
                                        <p:cTn id="7" dur="500"/>
                                        <p:tgtEl>
                                          <p:spTgt spid="101789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89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19A11995-B3E6-4E03-9462-332051D1B3E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数组综合应用举例</a:t>
            </a:r>
          </a:p>
        </p:txBody>
      </p:sp>
      <p:sp>
        <p:nvSpPr>
          <p:cNvPr id="1018907" name="Text Box 27" descr="信纸"/>
          <p:cNvSpPr txBox="1">
            <a:spLocks noChangeArrowheads="1"/>
          </p:cNvSpPr>
          <p:nvPr/>
        </p:nvSpPr>
        <p:spPr bwMode="auto">
          <a:xfrm>
            <a:off x="767408" y="180024"/>
            <a:ext cx="5904655" cy="5372100"/>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#define  MAX   15</a:t>
            </a:r>
          </a:p>
          <a:p>
            <a:pPr marL="457200" indent="-457200"/>
            <a:r>
              <a:rPr lang="en-US" altLang="zh-CN" sz="2000" b="1" dirty="0">
                <a:solidFill>
                  <a:srgbClr val="CC0066"/>
                </a:solidFill>
                <a:ea typeface="楷体_GB2312" pitchFamily="49" charset="-122"/>
              </a:rPr>
              <a:t> </a:t>
            </a:r>
            <a:r>
              <a:rPr lang="en-US" altLang="zh-CN" sz="2000" b="1" dirty="0" err="1">
                <a:solidFill>
                  <a:srgbClr val="C01920"/>
                </a:solidFill>
                <a:ea typeface="楷体_GB2312" pitchFamily="49" charset="-122"/>
              </a:rPr>
              <a:t>int</a:t>
            </a:r>
            <a:r>
              <a:rPr lang="en-US" altLang="zh-CN" sz="2000" b="1" dirty="0">
                <a:solidFill>
                  <a:srgbClr val="C0192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m, mm, </a:t>
            </a:r>
            <a:r>
              <a:rPr lang="en-US" altLang="zh-CN" sz="2000" b="1" dirty="0" err="1">
                <a:ea typeface="楷体_GB2312" pitchFamily="49" charset="-122"/>
              </a:rPr>
              <a:t>i</a:t>
            </a:r>
            <a:r>
              <a:rPr lang="en-US" altLang="zh-CN" sz="2000" b="1" dirty="0">
                <a:ea typeface="楷体_GB2312" pitchFamily="49" charset="-122"/>
              </a:rPr>
              <a:t>, j, k, </a:t>
            </a:r>
            <a:r>
              <a:rPr lang="en-US" altLang="zh-CN" sz="2000" b="1" dirty="0" err="1">
                <a:ea typeface="楷体_GB2312" pitchFamily="49" charset="-122"/>
              </a:rPr>
              <a:t>ni</a:t>
            </a:r>
            <a:r>
              <a:rPr lang="en-US" altLang="zh-CN" sz="2000" b="1" dirty="0">
                <a:ea typeface="楷体_GB2312" pitchFamily="49" charset="-122"/>
              </a:rPr>
              <a:t>, </a:t>
            </a:r>
            <a:r>
              <a:rPr lang="en-US" altLang="zh-CN" sz="2000" b="1" dirty="0" err="1">
                <a:ea typeface="楷体_GB2312" pitchFamily="49" charset="-122"/>
              </a:rPr>
              <a:t>nj</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magic[MAX][MAX] = {0};</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("Enter the number you wanted: ");</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&amp;m);</a:t>
            </a:r>
          </a:p>
          <a:p>
            <a:pPr marL="457200" indent="-457200"/>
            <a:r>
              <a:rPr lang="en-US" altLang="zh-CN" sz="2000" b="1" dirty="0">
                <a:ea typeface="楷体_GB2312" pitchFamily="49" charset="-122"/>
              </a:rPr>
              <a:t>    if ((m &lt;= 0) || (m % 2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小于</a:t>
            </a:r>
            <a:r>
              <a:rPr lang="en-US" altLang="zh-CN" sz="1800" b="1" dirty="0">
                <a:solidFill>
                  <a:srgbClr val="002060"/>
                </a:solidFill>
                <a:latin typeface="+mn-lt"/>
                <a:ea typeface="楷体" pitchFamily="49" charset="-122"/>
              </a:rPr>
              <a:t>0</a:t>
            </a:r>
            <a:r>
              <a:rPr lang="zh-CN" altLang="en-US" sz="1800" b="1" dirty="0">
                <a:solidFill>
                  <a:srgbClr val="002060"/>
                </a:solidFill>
                <a:latin typeface="+mn-lt"/>
                <a:ea typeface="楷体" pitchFamily="49" charset="-122"/>
              </a:rPr>
              <a:t>或为偶数返回</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("Error in input data.\n");</a:t>
            </a:r>
          </a:p>
          <a:p>
            <a:pPr marL="457200" indent="-457200"/>
            <a:r>
              <a:rPr lang="en-US" altLang="zh-CN" sz="2000" b="1" dirty="0">
                <a:ea typeface="楷体_GB2312" pitchFamily="49" charset="-122"/>
              </a:rPr>
              <a:t>      return -1;</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mm = m * m;</a:t>
            </a:r>
          </a:p>
          <a:p>
            <a:pPr marL="457200" indent="-457200"/>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第一个值的位置</a:t>
            </a:r>
          </a:p>
          <a:p>
            <a:pPr marL="457200" indent="-457200"/>
            <a:r>
              <a:rPr lang="zh-CN" altLang="en-US" sz="2000" b="1" dirty="0">
                <a:ea typeface="楷体_GB2312" pitchFamily="49" charset="-122"/>
              </a:rPr>
              <a:t>    </a:t>
            </a:r>
            <a:r>
              <a:rPr lang="en-US" altLang="zh-CN" sz="2000" b="1" dirty="0">
                <a:ea typeface="楷体_GB2312" pitchFamily="49" charset="-122"/>
              </a:rPr>
              <a:t>j = m / 2;</a:t>
            </a:r>
          </a:p>
          <a:p>
            <a:pPr marL="457200" indent="-457200"/>
            <a:endParaRPr lang="en-US" altLang="zh-CN" sz="2000" b="1" dirty="0">
              <a:ea typeface="楷体_GB2312" pitchFamily="49" charset="-122"/>
            </a:endParaRPr>
          </a:p>
        </p:txBody>
      </p:sp>
      <p:sp>
        <p:nvSpPr>
          <p:cNvPr id="1018908" name="Text Box 28" descr="信纸"/>
          <p:cNvSpPr txBox="1">
            <a:spLocks noChangeArrowheads="1"/>
          </p:cNvSpPr>
          <p:nvPr/>
        </p:nvSpPr>
        <p:spPr bwMode="auto">
          <a:xfrm>
            <a:off x="6816327" y="180024"/>
            <a:ext cx="5040313" cy="65309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pPr marL="457200" indent="-457200"/>
            <a:r>
              <a:rPr lang="en-US" altLang="zh-CN" sz="2000" b="1" dirty="0">
                <a:ea typeface="楷体_GB2312" pitchFamily="49" charset="-122"/>
              </a:rPr>
              <a:t>    for (k = 1; k &lt;= mm; k++)</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magic[</a:t>
            </a:r>
            <a:r>
              <a:rPr lang="en-US" altLang="zh-CN" sz="2000" b="1" dirty="0" err="1">
                <a:ea typeface="楷体_GB2312" pitchFamily="49" charset="-122"/>
              </a:rPr>
              <a:t>i</a:t>
            </a:r>
            <a:r>
              <a:rPr lang="en-US" altLang="zh-CN" sz="2000" b="1" dirty="0">
                <a:ea typeface="楷体_GB2312" pitchFamily="49" charset="-122"/>
              </a:rPr>
              <a:t>][j] = k;</a:t>
            </a:r>
          </a:p>
          <a:p>
            <a:pPr marL="457200" indent="-457200"/>
            <a:r>
              <a:rPr lang="en-US" altLang="zh-CN" sz="2000" b="1" dirty="0">
                <a:solidFill>
                  <a:srgbClr val="C01920"/>
                </a:solidFill>
                <a:ea typeface="楷体_GB2312" pitchFamily="49" charset="-122"/>
              </a:rPr>
              <a:t>      </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求右上方方格的坐标</a:t>
            </a:r>
          </a:p>
          <a:p>
            <a:pPr marL="457200" indent="-457200"/>
            <a:r>
              <a:rPr lang="zh-CN" altLang="en-US" sz="2000" b="1" dirty="0">
                <a:ea typeface="楷体_GB2312" pitchFamily="49" charset="-122"/>
              </a:rPr>
              <a:t>      </a:t>
            </a:r>
            <a:r>
              <a:rPr lang="en-US" altLang="zh-CN" sz="2000" b="1" dirty="0">
                <a:ea typeface="楷体_GB2312" pitchFamily="49" charset="-122"/>
              </a:rPr>
              <a:t>if (</a:t>
            </a:r>
            <a:r>
              <a:rPr lang="en-US" altLang="zh-CN" sz="2000" b="1" dirty="0" err="1">
                <a:ea typeface="楷体_GB2312" pitchFamily="49" charset="-122"/>
              </a:rPr>
              <a:t>i</a:t>
            </a:r>
            <a:r>
              <a:rPr lang="en-US" altLang="zh-CN" sz="2000" b="1" dirty="0">
                <a:ea typeface="楷体_GB2312" pitchFamily="49" charset="-122"/>
              </a:rPr>
              <a:t> =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最上一行</a:t>
            </a:r>
          </a:p>
          <a:p>
            <a:pPr marL="457200" indent="-457200"/>
            <a:r>
              <a:rPr lang="zh-CN" altLang="en-US" sz="2000" b="1" dirty="0">
                <a:ea typeface="楷体_GB2312" pitchFamily="49" charset="-122"/>
              </a:rPr>
              <a:t>          </a:t>
            </a:r>
            <a:r>
              <a:rPr lang="en-US" altLang="zh-CN" sz="2000" b="1" dirty="0" err="1">
                <a:ea typeface="楷体_GB2312" pitchFamily="49" charset="-122"/>
              </a:rPr>
              <a:t>ni</a:t>
            </a:r>
            <a:r>
              <a:rPr lang="en-US" altLang="zh-CN" sz="2000" b="1" dirty="0">
                <a:ea typeface="楷体_GB2312" pitchFamily="49" charset="-122"/>
              </a:rPr>
              <a:t> = m - 1;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下一个位置在最下一行</a:t>
            </a:r>
          </a:p>
          <a:p>
            <a:pPr marL="457200" indent="-457200"/>
            <a:r>
              <a:rPr lang="zh-CN" altLang="en-US" sz="2000" b="1" dirty="0">
                <a:ea typeface="楷体_GB2312" pitchFamily="49" charset="-122"/>
              </a:rPr>
              <a:t>      </a:t>
            </a:r>
            <a:r>
              <a:rPr lang="en-US" altLang="zh-CN" sz="2000" b="1" dirty="0">
                <a:ea typeface="楷体_GB2312" pitchFamily="49" charset="-122"/>
              </a:rPr>
              <a:t>else</a:t>
            </a:r>
          </a:p>
          <a:p>
            <a:pPr marL="457200" indent="-457200"/>
            <a:r>
              <a:rPr lang="en-US" altLang="zh-CN" sz="2000" b="1" dirty="0">
                <a:ea typeface="楷体_GB2312" pitchFamily="49" charset="-122"/>
              </a:rPr>
              <a:t>          </a:t>
            </a:r>
            <a:r>
              <a:rPr lang="en-US" altLang="zh-CN" sz="2000" b="1" dirty="0" err="1">
                <a:ea typeface="楷体_GB2312" pitchFamily="49" charset="-122"/>
              </a:rPr>
              <a:t>ni</a:t>
            </a:r>
            <a:r>
              <a:rPr lang="en-US" altLang="zh-CN" sz="2000" b="1" dirty="0">
                <a:ea typeface="楷体_GB2312" pitchFamily="49" charset="-122"/>
              </a:rPr>
              <a:t> = </a:t>
            </a:r>
            <a:r>
              <a:rPr lang="en-US" altLang="zh-CN" sz="2000" b="1" dirty="0" err="1">
                <a:ea typeface="楷体_GB2312" pitchFamily="49" charset="-122"/>
              </a:rPr>
              <a:t>i</a:t>
            </a:r>
            <a:r>
              <a:rPr lang="en-US" altLang="zh-CN" sz="2000" b="1" dirty="0">
                <a:ea typeface="楷体_GB2312" pitchFamily="49" charset="-122"/>
              </a:rPr>
              <a:t> - 1;</a:t>
            </a:r>
          </a:p>
          <a:p>
            <a:pPr marL="457200" indent="-457200"/>
            <a:r>
              <a:rPr lang="en-US" altLang="zh-CN" sz="2000" b="1" dirty="0">
                <a:ea typeface="楷体_GB2312" pitchFamily="49" charset="-122"/>
              </a:rPr>
              <a:t>      if (j = = m - 1)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最右端</a:t>
            </a:r>
          </a:p>
          <a:p>
            <a:pPr marL="457200" indent="-457200"/>
            <a:r>
              <a:rPr lang="zh-CN" altLang="en-US" sz="2000" b="1" dirty="0">
                <a:ea typeface="楷体_GB2312" pitchFamily="49" charset="-122"/>
              </a:rPr>
              <a:t>          </a:t>
            </a:r>
            <a:r>
              <a:rPr lang="en-US" altLang="zh-CN" sz="2000" b="1" dirty="0" err="1">
                <a:ea typeface="楷体_GB2312" pitchFamily="49" charset="-122"/>
              </a:rPr>
              <a:t>nj</a:t>
            </a:r>
            <a:r>
              <a:rPr lang="en-US" altLang="zh-CN" sz="2000" b="1" dirty="0">
                <a:ea typeface="楷体_GB2312" pitchFamily="49" charset="-122"/>
              </a:rPr>
              <a:t>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下一个位置在最左端</a:t>
            </a:r>
          </a:p>
          <a:p>
            <a:pPr marL="457200" indent="-457200"/>
            <a:r>
              <a:rPr lang="zh-CN" altLang="en-US" sz="2000" b="1" dirty="0">
                <a:ea typeface="楷体_GB2312" pitchFamily="49" charset="-122"/>
              </a:rPr>
              <a:t>      </a:t>
            </a:r>
            <a:r>
              <a:rPr lang="en-US" altLang="zh-CN" sz="2000" b="1" dirty="0">
                <a:ea typeface="楷体_GB2312" pitchFamily="49" charset="-122"/>
              </a:rPr>
              <a:t>else</a:t>
            </a:r>
          </a:p>
          <a:p>
            <a:pPr marL="457200" indent="-457200"/>
            <a:r>
              <a:rPr lang="en-US" altLang="zh-CN" sz="2000" b="1" dirty="0">
                <a:ea typeface="楷体_GB2312" pitchFamily="49" charset="-122"/>
              </a:rPr>
              <a:t>          </a:t>
            </a:r>
            <a:r>
              <a:rPr lang="en-US" altLang="zh-CN" sz="2000" b="1" dirty="0" err="1">
                <a:ea typeface="楷体_GB2312" pitchFamily="49" charset="-122"/>
              </a:rPr>
              <a:t>nj</a:t>
            </a:r>
            <a:r>
              <a:rPr lang="en-US" altLang="zh-CN" sz="2000" b="1" dirty="0">
                <a:ea typeface="楷体_GB2312" pitchFamily="49" charset="-122"/>
              </a:rPr>
              <a:t> = j + 1;</a:t>
            </a:r>
          </a:p>
          <a:p>
            <a:pPr marL="457200" indent="-457200"/>
            <a:r>
              <a:rPr lang="en-US" altLang="zh-CN" sz="2000" b="1" dirty="0">
                <a:solidFill>
                  <a:srgbClr val="CC0099"/>
                </a:solidFill>
                <a:ea typeface="楷体_GB2312" pitchFamily="49" charset="-122"/>
              </a:rPr>
              <a:t>      </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判断右上方方格是否已有数</a:t>
            </a:r>
          </a:p>
          <a:p>
            <a:pPr marL="457200" indent="-457200"/>
            <a:r>
              <a:rPr lang="zh-CN" altLang="en-US" sz="2000" b="1" dirty="0">
                <a:ea typeface="楷体_GB2312" pitchFamily="49" charset="-122"/>
              </a:rPr>
              <a:t>      </a:t>
            </a:r>
            <a:r>
              <a:rPr lang="en-US" altLang="zh-CN" sz="2000" b="1" dirty="0">
                <a:ea typeface="楷体_GB2312" pitchFamily="49" charset="-122"/>
              </a:rPr>
              <a:t>if (magic[</a:t>
            </a:r>
            <a:r>
              <a:rPr lang="en-US" altLang="zh-CN" sz="2000" b="1" dirty="0" err="1">
                <a:ea typeface="楷体_GB2312" pitchFamily="49" charset="-122"/>
              </a:rPr>
              <a:t>ni</a:t>
            </a:r>
            <a:r>
              <a:rPr lang="en-US" altLang="zh-CN" sz="2000" b="1" dirty="0">
                <a:ea typeface="楷体_GB2312" pitchFamily="49" charset="-122"/>
              </a:rPr>
              <a:t>][</a:t>
            </a:r>
            <a:r>
              <a:rPr lang="en-US" altLang="zh-CN" sz="2000" b="1" dirty="0" err="1">
                <a:ea typeface="楷体_GB2312" pitchFamily="49" charset="-122"/>
              </a:rPr>
              <a:t>nj</a:t>
            </a:r>
            <a:r>
              <a:rPr lang="en-US" altLang="zh-CN" sz="2000" b="1" dirty="0">
                <a:ea typeface="楷体_GB2312" pitchFamily="49" charset="-122"/>
              </a:rPr>
              <a:t>]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右上方无值</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 </a:t>
            </a:r>
            <a:r>
              <a:rPr lang="en-US" altLang="zh-CN" sz="2000" b="1" dirty="0" err="1">
                <a:ea typeface="楷体_GB2312" pitchFamily="49" charset="-122"/>
              </a:rPr>
              <a:t>ni</a:t>
            </a:r>
            <a:r>
              <a:rPr lang="en-US" altLang="zh-CN" sz="2000" b="1" dirty="0">
                <a:ea typeface="楷体_GB2312" pitchFamily="49" charset="-122"/>
              </a:rPr>
              <a:t>;</a:t>
            </a:r>
          </a:p>
          <a:p>
            <a:pPr marL="457200" indent="-457200"/>
            <a:r>
              <a:rPr lang="en-US" altLang="zh-CN" sz="2000" b="1" dirty="0">
                <a:ea typeface="楷体_GB2312" pitchFamily="49" charset="-122"/>
              </a:rPr>
              <a:t>          j = </a:t>
            </a:r>
            <a:r>
              <a:rPr lang="en-US" altLang="zh-CN" sz="2000" b="1" dirty="0" err="1">
                <a:ea typeface="楷体_GB2312" pitchFamily="49" charset="-122"/>
              </a:rPr>
              <a:t>nj</a:t>
            </a:r>
            <a:r>
              <a:rPr lang="en-US" altLang="zh-CN" sz="2000" b="1" dirty="0">
                <a:ea typeface="楷体_GB2312" pitchFamily="49" charset="-122"/>
              </a:rPr>
              <a:t>;</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else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右上方方格已填上数</a:t>
            </a:r>
          </a:p>
          <a:p>
            <a:pPr marL="457200" indent="-457200"/>
            <a:r>
              <a:rPr lang="zh-CN" altLang="en-US"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    </a:t>
            </a:r>
          </a:p>
        </p:txBody>
      </p:sp>
      <p:sp>
        <p:nvSpPr>
          <p:cNvPr id="1018909" name="Text Box 29" descr="信纸"/>
          <p:cNvSpPr txBox="1">
            <a:spLocks noChangeArrowheads="1"/>
          </p:cNvSpPr>
          <p:nvPr/>
        </p:nvSpPr>
        <p:spPr bwMode="auto">
          <a:xfrm>
            <a:off x="767408" y="4184641"/>
            <a:ext cx="5904655" cy="2556727"/>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m;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显示填充的结果 </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for (j = 0; j &lt; m; 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("%4d", magic[</a:t>
            </a:r>
            <a:r>
              <a:rPr lang="en-US" altLang="zh-CN" sz="2000" b="1" dirty="0" err="1">
                <a:ea typeface="楷体_GB2312" pitchFamily="49" charset="-122"/>
              </a:rPr>
              <a:t>i</a:t>
            </a:r>
            <a:r>
              <a:rPr lang="en-US" altLang="zh-CN" sz="2000" b="1" dirty="0">
                <a:ea typeface="楷体_GB2312" pitchFamily="49" charset="-122"/>
              </a:rPr>
              <a:t>][j]);</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Tree>
    <p:extLst>
      <p:ext uri="{BB962C8B-B14F-4D97-AF65-F5344CB8AC3E}">
        <p14:creationId xmlns:p14="http://schemas.microsoft.com/office/powerpoint/2010/main" val="3144440699"/>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8907"/>
                                        </p:tgtEl>
                                        <p:attrNameLst>
                                          <p:attrName>style.visibility</p:attrName>
                                        </p:attrNameLst>
                                      </p:cBhvr>
                                      <p:to>
                                        <p:strVal val="visible"/>
                                      </p:to>
                                    </p:set>
                                    <p:animEffect transition="in" filter="box(out)">
                                      <p:cBhvr>
                                        <p:cTn id="7" dur="500"/>
                                        <p:tgtEl>
                                          <p:spTgt spid="101890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18908"/>
                                        </p:tgtEl>
                                        <p:attrNameLst>
                                          <p:attrName>style.visibility</p:attrName>
                                        </p:attrNameLst>
                                      </p:cBhvr>
                                      <p:to>
                                        <p:strVal val="visible"/>
                                      </p:to>
                                    </p:set>
                                    <p:animEffect transition="in" filter="box(out)">
                                      <p:cBhvr>
                                        <p:cTn id="12" dur="500"/>
                                        <p:tgtEl>
                                          <p:spTgt spid="1018908"/>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18909"/>
                                        </p:tgtEl>
                                        <p:attrNameLst>
                                          <p:attrName>style.visibility</p:attrName>
                                        </p:attrNameLst>
                                      </p:cBhvr>
                                      <p:to>
                                        <p:strVal val="visible"/>
                                      </p:to>
                                    </p:set>
                                    <p:animEffect transition="in" filter="box(out)">
                                      <p:cBhvr>
                                        <p:cTn id="17" dur="500"/>
                                        <p:tgtEl>
                                          <p:spTgt spid="1018909"/>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8907" grpId="0" animBg="1"/>
      <p:bldP spid="1018908" grpId="0" animBg="1"/>
      <p:bldP spid="101890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10" name="Rectangle 6"/>
          <p:cNvSpPr>
            <a:spLocks noChangeArrowheads="1"/>
          </p:cNvSpPr>
          <p:nvPr/>
        </p:nvSpPr>
        <p:spPr bwMode="auto">
          <a:xfrm>
            <a:off x="479376" y="1360512"/>
            <a:ext cx="11305256" cy="1261884"/>
          </a:xfrm>
          <a:prstGeom prst="rect">
            <a:avLst/>
          </a:prstGeom>
          <a:noFill/>
          <a:ln w="9525">
            <a:noFill/>
            <a:miter lim="800000"/>
            <a:headEnd/>
            <a:tailEnd/>
          </a:ln>
          <a:effectLst/>
        </p:spPr>
        <p:txBody>
          <a:bodyPr wrap="square" anchor="ctr">
            <a:spAutoFit/>
          </a:bodyPr>
          <a:lstStyle/>
          <a:p>
            <a:r>
              <a:rPr lang="en-US" altLang="zh-CN" b="1" dirty="0">
                <a:solidFill>
                  <a:srgbClr val="C01920"/>
                </a:solidFill>
                <a:latin typeface="楷体" panose="02010609060101010101" pitchFamily="49" charset="-122"/>
                <a:ea typeface="楷体" panose="02010609060101010101" pitchFamily="49" charset="-122"/>
              </a:rPr>
              <a:t>   </a:t>
            </a:r>
            <a:r>
              <a:rPr lang="en-US" altLang="zh-CN" b="1" dirty="0">
                <a:solidFill>
                  <a:srgbClr val="00B0F0"/>
                </a:solidFill>
                <a:latin typeface="楷体" panose="02010609060101010101" pitchFamily="49" charset="-122"/>
                <a:ea typeface="楷体" panose="02010609060101010101" pitchFamily="49" charset="-122"/>
              </a:rPr>
              <a:t>【</a:t>
            </a:r>
            <a:r>
              <a:rPr lang="zh-CN" altLang="en-US" b="1" dirty="0">
                <a:solidFill>
                  <a:srgbClr val="00B0F0"/>
                </a:solidFill>
                <a:latin typeface="楷体" panose="02010609060101010101" pitchFamily="49" charset="-122"/>
                <a:ea typeface="楷体" panose="02010609060101010101" pitchFamily="49" charset="-122"/>
              </a:rPr>
              <a:t>例</a:t>
            </a:r>
            <a:r>
              <a:rPr lang="en-US" altLang="zh-CN" b="1" dirty="0">
                <a:solidFill>
                  <a:srgbClr val="00B0F0"/>
                </a:solidFill>
                <a:latin typeface="楷体" panose="02010609060101010101" pitchFamily="49" charset="-122"/>
                <a:ea typeface="楷体" panose="02010609060101010101" pitchFamily="49" charset="-122"/>
              </a:rPr>
              <a:t>2】</a:t>
            </a:r>
            <a:r>
              <a:rPr lang="zh-CN" altLang="en-US" b="1" dirty="0">
                <a:solidFill>
                  <a:srgbClr val="00B0F0"/>
                </a:solidFill>
                <a:latin typeface="楷体" panose="02010609060101010101" pitchFamily="49" charset="-122"/>
                <a:ea typeface="楷体" panose="02010609060101010101" pitchFamily="49" charset="-122"/>
              </a:rPr>
              <a:t>求任意两个正整数（不超过</a:t>
            </a:r>
            <a:r>
              <a:rPr lang="en-US" altLang="zh-CN" b="1" dirty="0">
                <a:solidFill>
                  <a:srgbClr val="00B0F0"/>
                </a:solidFill>
                <a:latin typeface="楷体" panose="02010609060101010101" pitchFamily="49" charset="-122"/>
                <a:ea typeface="楷体" panose="02010609060101010101" pitchFamily="49" charset="-122"/>
              </a:rPr>
              <a:t>8</a:t>
            </a:r>
            <a:r>
              <a:rPr lang="zh-CN" altLang="en-US" b="1" dirty="0">
                <a:solidFill>
                  <a:srgbClr val="00B0F0"/>
                </a:solidFill>
                <a:latin typeface="楷体" panose="02010609060101010101" pitchFamily="49" charset="-122"/>
                <a:ea typeface="楷体" panose="02010609060101010101" pitchFamily="49" charset="-122"/>
              </a:rPr>
              <a:t>位）之间所有整数所包含的数字</a:t>
            </a:r>
            <a:r>
              <a:rPr lang="en-US" altLang="zh-CN" b="1" dirty="0">
                <a:solidFill>
                  <a:srgbClr val="00B0F0"/>
                </a:solidFill>
                <a:latin typeface="楷体" panose="02010609060101010101" pitchFamily="49" charset="-122"/>
                <a:ea typeface="楷体" panose="02010609060101010101" pitchFamily="49" charset="-122"/>
              </a:rPr>
              <a:t>0</a:t>
            </a:r>
            <a:r>
              <a:rPr lang="zh-CN" altLang="en-US" b="1" dirty="0">
                <a:solidFill>
                  <a:srgbClr val="00B0F0"/>
                </a:solidFill>
                <a:latin typeface="楷体" panose="02010609060101010101" pitchFamily="49" charset="-122"/>
                <a:ea typeface="楷体" panose="02010609060101010101" pitchFamily="49" charset="-122"/>
              </a:rPr>
              <a:t>～</a:t>
            </a:r>
            <a:r>
              <a:rPr lang="en-US" altLang="zh-CN" b="1" dirty="0">
                <a:solidFill>
                  <a:srgbClr val="00B0F0"/>
                </a:solidFill>
                <a:latin typeface="楷体" panose="02010609060101010101" pitchFamily="49" charset="-122"/>
                <a:ea typeface="楷体" panose="02010609060101010101" pitchFamily="49" charset="-122"/>
              </a:rPr>
              <a:t>9</a:t>
            </a:r>
            <a:r>
              <a:rPr lang="zh-CN" altLang="en-US" b="1" dirty="0">
                <a:solidFill>
                  <a:srgbClr val="00B0F0"/>
                </a:solidFill>
                <a:latin typeface="楷体" panose="02010609060101010101" pitchFamily="49" charset="-122"/>
                <a:ea typeface="楷体" panose="02010609060101010101" pitchFamily="49" charset="-122"/>
              </a:rPr>
              <a:t>出现的次数</a:t>
            </a:r>
            <a:r>
              <a:rPr lang="zh-CN" altLang="en-US" b="1" dirty="0">
                <a:solidFill>
                  <a:srgbClr val="C01920"/>
                </a:solidFill>
                <a:latin typeface="楷体" panose="02010609060101010101" pitchFamily="49" charset="-122"/>
                <a:ea typeface="楷体" panose="02010609060101010101" pitchFamily="49" charset="-122"/>
              </a:rPr>
              <a:t>。</a:t>
            </a:r>
            <a:endParaRPr lang="en-US" altLang="zh-CN" b="1" dirty="0">
              <a:solidFill>
                <a:srgbClr val="C01920"/>
              </a:solidFill>
              <a:latin typeface="楷体" panose="02010609060101010101" pitchFamily="49" charset="-122"/>
              <a:ea typeface="楷体" panose="02010609060101010101" pitchFamily="49" charset="-122"/>
            </a:endParaRPr>
          </a:p>
          <a:p>
            <a:endParaRPr lang="zh-CN" altLang="en-US" b="1" dirty="0">
              <a:solidFill>
                <a:srgbClr val="C01920"/>
              </a:solidFill>
              <a:latin typeface="楷体" panose="02010609060101010101" pitchFamily="49" charset="-122"/>
              <a:ea typeface="楷体" panose="02010609060101010101" pitchFamily="49" charset="-122"/>
            </a:endParaRPr>
          </a:p>
          <a:p>
            <a:r>
              <a:rPr lang="zh-CN" altLang="en-US" b="1" dirty="0">
                <a:solidFill>
                  <a:srgbClr val="CC0099"/>
                </a:solidFill>
                <a:effectLst>
                  <a:outerShdw blurRad="38100" dist="38100" dir="2700000" algn="tl">
                    <a:srgbClr val="000000"/>
                  </a:outerShdw>
                </a:effectLst>
                <a:latin typeface="楷体" panose="02010609060101010101" pitchFamily="49" charset="-122"/>
                <a:ea typeface="楷体" panose="02010609060101010101" pitchFamily="49" charset="-122"/>
              </a:rPr>
              <a:t>    </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比如：</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100</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到</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105</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之间有</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100</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101</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102</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103</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104</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105</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六个数，则</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0</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出现的次数为</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7</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次，</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出现的次数为</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7</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次，</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2</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3</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4</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5</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出现的次数各为</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1</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次，其余的出现次数为</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0</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 </a:t>
            </a:r>
            <a:endParaRPr lang="zh-CN" altLang="en-US" dirty="0">
              <a:latin typeface="楷体" panose="02010609060101010101" pitchFamily="49" charset="-122"/>
              <a:ea typeface="楷体" panose="02010609060101010101" pitchFamily="49" charset="-122"/>
            </a:endParaRPr>
          </a:p>
        </p:txBody>
      </p:sp>
      <p:sp>
        <p:nvSpPr>
          <p:cNvPr id="1019929" name="Rectangle 25"/>
          <p:cNvSpPr>
            <a:spLocks noChangeArrowheads="1"/>
          </p:cNvSpPr>
          <p:nvPr/>
        </p:nvSpPr>
        <p:spPr bwMode="auto">
          <a:xfrm>
            <a:off x="1019187" y="3705176"/>
            <a:ext cx="10153625" cy="2185214"/>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sz="2800" b="1" u="sng" dirty="0">
                <a:ln w="1905"/>
                <a:solidFill>
                  <a:srgbClr val="00B0F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rPr>
              <a:t>设计分析：</a:t>
            </a:r>
            <a:endParaRPr lang="en-US" altLang="zh-CN" sz="2800" b="1" u="sng" dirty="0">
              <a:ln w="1905"/>
              <a:solidFill>
                <a:srgbClr val="00B0F0"/>
              </a:solidFill>
              <a:effectLst>
                <a:innerShdw blurRad="69850" dist="43180" dir="5400000">
                  <a:srgbClr val="000000">
                    <a:alpha val="65000"/>
                  </a:srgbClr>
                </a:innerShdw>
              </a:effectLst>
              <a:latin typeface="楷体" panose="02010609060101010101" pitchFamily="49" charset="-122"/>
              <a:ea typeface="楷体" panose="02010609060101010101" pitchFamily="49" charset="-122"/>
            </a:endParaRPr>
          </a:p>
          <a:p>
            <a:endParaRPr lang="zh-CN" altLang="en-US" b="1" u="sng" dirty="0">
              <a:ln w="1905"/>
              <a:solidFill>
                <a:srgbClr val="FF0000"/>
              </a:solidFill>
              <a:effectLst>
                <a:innerShdw blurRad="69850" dist="43180" dir="5400000">
                  <a:srgbClr val="000000">
                    <a:alpha val="65000"/>
                  </a:srgbClr>
                </a:innerShdw>
              </a:effectLst>
              <a:latin typeface="隶书" pitchFamily="49" charset="-122"/>
              <a:ea typeface="隶书" pitchFamily="49" charset="-122"/>
            </a:endParaRPr>
          </a:p>
          <a:p>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楷体" pitchFamily="49" charset="-122"/>
              </a:rPr>
              <a:t>        </a:t>
            </a:r>
            <a:r>
              <a:rPr lang="zh-CN" altLang="en-US" b="1" dirty="0">
                <a:ln w="1905"/>
                <a:solidFill>
                  <a:schemeClr val="tx1"/>
                </a:solidFill>
                <a:effectLst>
                  <a:innerShdw blurRad="69850" dist="43180" dir="5400000">
                    <a:srgbClr val="000000">
                      <a:alpha val="65000"/>
                    </a:srgbClr>
                  </a:innerShdw>
                </a:effectLst>
                <a:ea typeface="楷体" pitchFamily="49" charset="-122"/>
              </a:rPr>
              <a:t>因为输入的两个整数均不超过八位数，所以可以定义两个长整型变量来存储它们。然后通过循环将每次得到的整型数</a:t>
            </a:r>
            <a:r>
              <a:rPr lang="zh-CN" altLang="en-US" b="1" dirty="0">
                <a:ln w="1905"/>
                <a:solidFill>
                  <a:srgbClr val="C01920"/>
                </a:solidFill>
                <a:effectLst>
                  <a:innerShdw blurRad="69850" dist="43180" dir="5400000">
                    <a:srgbClr val="000000">
                      <a:alpha val="65000"/>
                    </a:srgbClr>
                  </a:innerShdw>
                </a:effectLst>
                <a:ea typeface="楷体" pitchFamily="49" charset="-122"/>
              </a:rPr>
              <a:t>使用</a:t>
            </a:r>
            <a:r>
              <a:rPr lang="en-US" altLang="zh-CN" b="1" dirty="0" err="1">
                <a:ln w="1905"/>
                <a:solidFill>
                  <a:srgbClr val="C01920"/>
                </a:solidFill>
                <a:effectLst>
                  <a:innerShdw blurRad="69850" dist="43180" dir="5400000">
                    <a:srgbClr val="000000">
                      <a:alpha val="65000"/>
                    </a:srgbClr>
                  </a:innerShdw>
                </a:effectLst>
                <a:ea typeface="楷体" pitchFamily="49" charset="-122"/>
              </a:rPr>
              <a:t>sprintf</a:t>
            </a:r>
            <a:r>
              <a:rPr lang="zh-CN" altLang="en-US" b="1" dirty="0">
                <a:ln w="1905"/>
                <a:solidFill>
                  <a:srgbClr val="C01920"/>
                </a:solidFill>
                <a:effectLst>
                  <a:innerShdw blurRad="69850" dist="43180" dir="5400000">
                    <a:srgbClr val="000000">
                      <a:alpha val="65000"/>
                    </a:srgbClr>
                  </a:innerShdw>
                </a:effectLst>
                <a:ea typeface="楷体" pitchFamily="49" charset="-122"/>
              </a:rPr>
              <a:t>函数将其转换成</a:t>
            </a:r>
            <a:r>
              <a:rPr lang="en-US" altLang="zh-CN" b="1" dirty="0">
                <a:ln w="1905"/>
                <a:solidFill>
                  <a:srgbClr val="C01920"/>
                </a:solidFill>
                <a:effectLst>
                  <a:innerShdw blurRad="69850" dist="43180" dir="5400000">
                    <a:srgbClr val="000000">
                      <a:alpha val="65000"/>
                    </a:srgbClr>
                  </a:innerShdw>
                </a:effectLst>
                <a:ea typeface="楷体" pitchFamily="49" charset="-122"/>
              </a:rPr>
              <a:t>8</a:t>
            </a:r>
            <a:r>
              <a:rPr lang="zh-CN" altLang="en-US" b="1" dirty="0">
                <a:ln w="1905"/>
                <a:solidFill>
                  <a:srgbClr val="C01920"/>
                </a:solidFill>
                <a:effectLst>
                  <a:innerShdw blurRad="69850" dist="43180" dir="5400000">
                    <a:srgbClr val="000000">
                      <a:alpha val="65000"/>
                    </a:srgbClr>
                  </a:innerShdw>
                </a:effectLst>
                <a:ea typeface="楷体" pitchFamily="49" charset="-122"/>
              </a:rPr>
              <a:t>个字符的字符串存放到字符数组</a:t>
            </a:r>
            <a:r>
              <a:rPr lang="en-US" altLang="zh-CN" b="1" dirty="0" err="1">
                <a:ln w="1905"/>
                <a:solidFill>
                  <a:srgbClr val="C01920"/>
                </a:solidFill>
                <a:effectLst>
                  <a:innerShdw blurRad="69850" dist="43180" dir="5400000">
                    <a:srgbClr val="000000">
                      <a:alpha val="65000"/>
                    </a:srgbClr>
                  </a:innerShdw>
                </a:effectLst>
                <a:ea typeface="楷体" pitchFamily="49" charset="-122"/>
              </a:rPr>
              <a:t>str</a:t>
            </a:r>
            <a:r>
              <a:rPr lang="zh-CN" altLang="en-US" b="1" dirty="0">
                <a:ln w="1905"/>
                <a:solidFill>
                  <a:srgbClr val="C01920"/>
                </a:solidFill>
                <a:effectLst>
                  <a:innerShdw blurRad="69850" dist="43180" dir="5400000">
                    <a:srgbClr val="000000">
                      <a:alpha val="65000"/>
                    </a:srgbClr>
                  </a:innerShdw>
                </a:effectLst>
                <a:ea typeface="楷体" pitchFamily="49" charset="-122"/>
              </a:rPr>
              <a:t>中</a:t>
            </a:r>
            <a:r>
              <a:rPr lang="zh-CN" altLang="en-US" b="1" dirty="0">
                <a:ln w="1905"/>
                <a:solidFill>
                  <a:schemeClr val="tx1"/>
                </a:solidFill>
                <a:effectLst>
                  <a:innerShdw blurRad="69850" dist="43180" dir="5400000">
                    <a:srgbClr val="000000">
                      <a:alpha val="65000"/>
                    </a:srgbClr>
                  </a:innerShdw>
                </a:effectLst>
                <a:ea typeface="楷体" pitchFamily="49" charset="-122"/>
              </a:rPr>
              <a:t>，字符串不足</a:t>
            </a:r>
            <a:r>
              <a:rPr lang="en-US" altLang="zh-CN" b="1" dirty="0">
                <a:ln w="1905"/>
                <a:solidFill>
                  <a:schemeClr val="tx1"/>
                </a:solidFill>
                <a:effectLst>
                  <a:innerShdw blurRad="69850" dist="43180" dir="5400000">
                    <a:srgbClr val="000000">
                      <a:alpha val="65000"/>
                    </a:srgbClr>
                  </a:innerShdw>
                </a:effectLst>
                <a:ea typeface="楷体" pitchFamily="49" charset="-122"/>
              </a:rPr>
              <a:t>8</a:t>
            </a:r>
            <a:r>
              <a:rPr lang="zh-CN" altLang="en-US" b="1" dirty="0">
                <a:ln w="1905"/>
                <a:solidFill>
                  <a:schemeClr val="tx1"/>
                </a:solidFill>
                <a:effectLst>
                  <a:innerShdw blurRad="69850" dist="43180" dir="5400000">
                    <a:srgbClr val="000000">
                      <a:alpha val="65000"/>
                    </a:srgbClr>
                  </a:innerShdw>
                </a:effectLst>
                <a:ea typeface="楷体" pitchFamily="49" charset="-122"/>
              </a:rPr>
              <a:t>位时高位部分补空格字符，再对</a:t>
            </a:r>
            <a:r>
              <a:rPr lang="en-US" altLang="zh-CN" b="1" dirty="0" err="1">
                <a:ln w="1905"/>
                <a:solidFill>
                  <a:schemeClr val="tx1"/>
                </a:solidFill>
                <a:effectLst>
                  <a:innerShdw blurRad="69850" dist="43180" dir="5400000">
                    <a:srgbClr val="000000">
                      <a:alpha val="65000"/>
                    </a:srgbClr>
                  </a:innerShdw>
                </a:effectLst>
                <a:ea typeface="楷体" pitchFamily="49" charset="-122"/>
              </a:rPr>
              <a:t>str</a:t>
            </a:r>
            <a:r>
              <a:rPr lang="zh-CN" altLang="en-US" b="1" dirty="0">
                <a:ln w="1905"/>
                <a:solidFill>
                  <a:schemeClr val="tx1"/>
                </a:solidFill>
                <a:effectLst>
                  <a:innerShdw blurRad="69850" dist="43180" dir="5400000">
                    <a:srgbClr val="000000">
                      <a:alpha val="65000"/>
                    </a:srgbClr>
                  </a:innerShdw>
                </a:effectLst>
                <a:ea typeface="楷体" pitchFamily="49" charset="-122"/>
              </a:rPr>
              <a:t>中每个字符进行统计。数字出现的次数可以定义一个长整型数组</a:t>
            </a:r>
            <a:r>
              <a:rPr lang="en-US" altLang="zh-CN" b="1" dirty="0">
                <a:ln w="1905"/>
                <a:solidFill>
                  <a:schemeClr val="tx1"/>
                </a:solidFill>
                <a:effectLst>
                  <a:innerShdw blurRad="69850" dist="43180" dir="5400000">
                    <a:srgbClr val="000000">
                      <a:alpha val="65000"/>
                    </a:srgbClr>
                  </a:innerShdw>
                </a:effectLst>
                <a:ea typeface="楷体" pitchFamily="49" charset="-122"/>
              </a:rPr>
              <a:t>count</a:t>
            </a:r>
            <a:r>
              <a:rPr lang="zh-CN" altLang="en-US" b="1" dirty="0">
                <a:ln w="1905"/>
                <a:solidFill>
                  <a:schemeClr val="tx1"/>
                </a:solidFill>
                <a:effectLst>
                  <a:innerShdw blurRad="69850" dist="43180" dir="5400000">
                    <a:srgbClr val="000000">
                      <a:alpha val="65000"/>
                    </a:srgbClr>
                  </a:innerShdw>
                </a:effectLst>
                <a:ea typeface="楷体" pitchFamily="49" charset="-122"/>
              </a:rPr>
              <a:t>来表示，其大小为</a:t>
            </a:r>
            <a:r>
              <a:rPr lang="en-US" altLang="zh-CN" b="1" dirty="0">
                <a:ln w="1905"/>
                <a:solidFill>
                  <a:schemeClr val="tx1"/>
                </a:solidFill>
                <a:effectLst>
                  <a:innerShdw blurRad="69850" dist="43180" dir="5400000">
                    <a:srgbClr val="000000">
                      <a:alpha val="65000"/>
                    </a:srgbClr>
                  </a:innerShdw>
                </a:effectLst>
                <a:ea typeface="楷体" pitchFamily="49" charset="-122"/>
              </a:rPr>
              <a:t>10</a:t>
            </a:r>
            <a:r>
              <a:rPr lang="zh-CN" altLang="en-US" b="1" dirty="0">
                <a:ln w="1905"/>
                <a:solidFill>
                  <a:schemeClr val="tx1"/>
                </a:solidFill>
                <a:effectLst>
                  <a:innerShdw blurRad="69850" dist="43180" dir="5400000">
                    <a:srgbClr val="000000">
                      <a:alpha val="65000"/>
                    </a:srgbClr>
                  </a:innerShdw>
                </a:effectLst>
                <a:ea typeface="楷体" pitchFamily="49" charset="-122"/>
              </a:rPr>
              <a:t>，</a:t>
            </a:r>
            <a:r>
              <a:rPr lang="en-US" altLang="zh-CN" b="1" dirty="0">
                <a:ln w="1905"/>
                <a:solidFill>
                  <a:schemeClr val="tx1"/>
                </a:solidFill>
                <a:effectLst>
                  <a:innerShdw blurRad="69850" dist="43180" dir="5400000">
                    <a:srgbClr val="000000">
                      <a:alpha val="65000"/>
                    </a:srgbClr>
                  </a:innerShdw>
                </a:effectLst>
                <a:ea typeface="楷体" pitchFamily="49" charset="-122"/>
              </a:rPr>
              <a:t>count[0]</a:t>
            </a:r>
            <a:r>
              <a:rPr lang="zh-CN" altLang="en-US" b="1" dirty="0">
                <a:ln w="1905"/>
                <a:solidFill>
                  <a:schemeClr val="tx1"/>
                </a:solidFill>
                <a:effectLst>
                  <a:innerShdw blurRad="69850" dist="43180" dir="5400000">
                    <a:srgbClr val="000000">
                      <a:alpha val="65000"/>
                    </a:srgbClr>
                  </a:innerShdw>
                </a:effectLst>
                <a:ea typeface="楷体" pitchFamily="49" charset="-122"/>
              </a:rPr>
              <a:t>存放</a:t>
            </a:r>
            <a:r>
              <a:rPr lang="en-US" altLang="zh-CN" b="1" dirty="0">
                <a:ln w="1905"/>
                <a:solidFill>
                  <a:schemeClr val="tx1"/>
                </a:solidFill>
                <a:effectLst>
                  <a:innerShdw blurRad="69850" dist="43180" dir="5400000">
                    <a:srgbClr val="000000">
                      <a:alpha val="65000"/>
                    </a:srgbClr>
                  </a:innerShdw>
                </a:effectLst>
                <a:ea typeface="楷体" pitchFamily="49" charset="-122"/>
              </a:rPr>
              <a:t>0</a:t>
            </a:r>
            <a:r>
              <a:rPr lang="zh-CN" altLang="en-US" b="1" dirty="0">
                <a:ln w="1905"/>
                <a:solidFill>
                  <a:schemeClr val="tx1"/>
                </a:solidFill>
                <a:effectLst>
                  <a:innerShdw blurRad="69850" dist="43180" dir="5400000">
                    <a:srgbClr val="000000">
                      <a:alpha val="65000"/>
                    </a:srgbClr>
                  </a:innerShdw>
                </a:effectLst>
                <a:ea typeface="楷体" pitchFamily="49" charset="-122"/>
              </a:rPr>
              <a:t>出现的次数，</a:t>
            </a:r>
            <a:r>
              <a:rPr lang="en-US" altLang="zh-CN" b="1" dirty="0">
                <a:ln w="1905"/>
                <a:solidFill>
                  <a:schemeClr val="tx1"/>
                </a:solidFill>
                <a:effectLst>
                  <a:innerShdw blurRad="69850" dist="43180" dir="5400000">
                    <a:srgbClr val="000000">
                      <a:alpha val="65000"/>
                    </a:srgbClr>
                  </a:innerShdw>
                </a:effectLst>
                <a:ea typeface="楷体" pitchFamily="49" charset="-122"/>
              </a:rPr>
              <a:t>count[1]</a:t>
            </a:r>
            <a:r>
              <a:rPr lang="zh-CN" altLang="en-US" b="1" dirty="0">
                <a:ln w="1905"/>
                <a:solidFill>
                  <a:schemeClr val="tx1"/>
                </a:solidFill>
                <a:effectLst>
                  <a:innerShdw blurRad="69850" dist="43180" dir="5400000">
                    <a:srgbClr val="000000">
                      <a:alpha val="65000"/>
                    </a:srgbClr>
                  </a:innerShdw>
                </a:effectLst>
                <a:ea typeface="楷体" pitchFamily="49" charset="-122"/>
              </a:rPr>
              <a:t>存放</a:t>
            </a:r>
            <a:r>
              <a:rPr lang="en-US" altLang="zh-CN" b="1" dirty="0">
                <a:ln w="1905"/>
                <a:solidFill>
                  <a:schemeClr val="tx1"/>
                </a:solidFill>
                <a:effectLst>
                  <a:innerShdw blurRad="69850" dist="43180" dir="5400000">
                    <a:srgbClr val="000000">
                      <a:alpha val="65000"/>
                    </a:srgbClr>
                  </a:innerShdw>
                </a:effectLst>
                <a:ea typeface="楷体" pitchFamily="49" charset="-122"/>
              </a:rPr>
              <a:t>1</a:t>
            </a:r>
            <a:r>
              <a:rPr lang="zh-CN" altLang="en-US" b="1" dirty="0">
                <a:ln w="1905"/>
                <a:solidFill>
                  <a:schemeClr val="tx1"/>
                </a:solidFill>
                <a:effectLst>
                  <a:innerShdw blurRad="69850" dist="43180" dir="5400000">
                    <a:srgbClr val="000000">
                      <a:alpha val="65000"/>
                    </a:srgbClr>
                  </a:innerShdw>
                </a:effectLst>
                <a:ea typeface="楷体" pitchFamily="49" charset="-122"/>
              </a:rPr>
              <a:t>出现的次数，</a:t>
            </a:r>
            <a:r>
              <a:rPr lang="en-US" altLang="zh-CN" b="1" dirty="0">
                <a:ln w="1905"/>
                <a:solidFill>
                  <a:schemeClr val="tx1"/>
                </a:solidFill>
                <a:effectLst>
                  <a:innerShdw blurRad="69850" dist="43180" dir="5400000">
                    <a:srgbClr val="000000">
                      <a:alpha val="65000"/>
                    </a:srgbClr>
                  </a:innerShdw>
                </a:effectLst>
                <a:ea typeface="楷体" pitchFamily="49" charset="-122"/>
              </a:rPr>
              <a:t>…</a:t>
            </a:r>
            <a:r>
              <a:rPr lang="zh-CN" altLang="en-US" b="1" dirty="0">
                <a:ln w="1905"/>
                <a:solidFill>
                  <a:schemeClr val="tx1"/>
                </a:solidFill>
                <a:effectLst>
                  <a:innerShdw blurRad="69850" dist="43180" dir="5400000">
                    <a:srgbClr val="000000">
                      <a:alpha val="65000"/>
                    </a:srgbClr>
                  </a:innerShdw>
                </a:effectLst>
                <a:ea typeface="楷体" pitchFamily="49" charset="-122"/>
              </a:rPr>
              <a:t>，</a:t>
            </a:r>
            <a:r>
              <a:rPr lang="en-US" altLang="zh-CN" b="1" dirty="0">
                <a:ln w="1905"/>
                <a:solidFill>
                  <a:schemeClr val="tx1"/>
                </a:solidFill>
                <a:effectLst>
                  <a:innerShdw blurRad="69850" dist="43180" dir="5400000">
                    <a:srgbClr val="000000">
                      <a:alpha val="65000"/>
                    </a:srgbClr>
                  </a:innerShdw>
                </a:effectLst>
                <a:ea typeface="楷体" pitchFamily="49" charset="-122"/>
              </a:rPr>
              <a:t>count[9]</a:t>
            </a:r>
            <a:r>
              <a:rPr lang="zh-CN" altLang="en-US" b="1" dirty="0">
                <a:ln w="1905"/>
                <a:solidFill>
                  <a:schemeClr val="tx1"/>
                </a:solidFill>
                <a:effectLst>
                  <a:innerShdw blurRad="69850" dist="43180" dir="5400000">
                    <a:srgbClr val="000000">
                      <a:alpha val="65000"/>
                    </a:srgbClr>
                  </a:innerShdw>
                </a:effectLst>
                <a:ea typeface="楷体" pitchFamily="49" charset="-122"/>
              </a:rPr>
              <a:t>存放</a:t>
            </a:r>
            <a:r>
              <a:rPr lang="en-US" altLang="zh-CN" b="1" dirty="0">
                <a:ln w="1905"/>
                <a:solidFill>
                  <a:schemeClr val="tx1"/>
                </a:solidFill>
                <a:effectLst>
                  <a:innerShdw blurRad="69850" dist="43180" dir="5400000">
                    <a:srgbClr val="000000">
                      <a:alpha val="65000"/>
                    </a:srgbClr>
                  </a:innerShdw>
                </a:effectLst>
                <a:ea typeface="楷体" pitchFamily="49" charset="-122"/>
              </a:rPr>
              <a:t>9</a:t>
            </a:r>
            <a:r>
              <a:rPr lang="zh-CN" altLang="en-US" b="1" dirty="0">
                <a:ln w="1905"/>
                <a:solidFill>
                  <a:schemeClr val="tx1"/>
                </a:solidFill>
                <a:effectLst>
                  <a:innerShdw blurRad="69850" dist="43180" dir="5400000">
                    <a:srgbClr val="000000">
                      <a:alpha val="65000"/>
                    </a:srgbClr>
                  </a:innerShdw>
                </a:effectLst>
                <a:ea typeface="楷体" pitchFamily="49" charset="-122"/>
              </a:rPr>
              <a:t>出现的次数。</a:t>
            </a:r>
          </a:p>
        </p:txBody>
      </p:sp>
      <p:sp>
        <p:nvSpPr>
          <p:cNvPr id="8" name="Rectangle 4">
            <a:extLst>
              <a:ext uri="{FF2B5EF4-FFF2-40B4-BE49-F238E27FC236}">
                <a16:creationId xmlns:a16="http://schemas.microsoft.com/office/drawing/2014/main" id="{83B3F737-4F38-4278-94C4-B348835E2FC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数组综合应用举例</a:t>
            </a:r>
          </a:p>
        </p:txBody>
      </p:sp>
    </p:spTree>
    <p:extLst>
      <p:ext uri="{BB962C8B-B14F-4D97-AF65-F5344CB8AC3E}">
        <p14:creationId xmlns:p14="http://schemas.microsoft.com/office/powerpoint/2010/main" val="3626694354"/>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9929"/>
                                        </p:tgtEl>
                                        <p:attrNameLst>
                                          <p:attrName>style.visibility</p:attrName>
                                        </p:attrNameLst>
                                      </p:cBhvr>
                                      <p:to>
                                        <p:strVal val="visible"/>
                                      </p:to>
                                    </p:set>
                                    <p:animEffect transition="in" filter="box(out)">
                                      <p:cBhvr>
                                        <p:cTn id="7" dur="500"/>
                                        <p:tgtEl>
                                          <p:spTgt spid="101992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992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4">
            <a:extLst>
              <a:ext uri="{FF2B5EF4-FFF2-40B4-BE49-F238E27FC236}">
                <a16:creationId xmlns:a16="http://schemas.microsoft.com/office/drawing/2014/main" id="{53314257-7E51-4B10-86C3-C2C0AFC9183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7.4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数组综合应用举例</a:t>
            </a:r>
          </a:p>
        </p:txBody>
      </p:sp>
      <p:sp>
        <p:nvSpPr>
          <p:cNvPr id="1020933" name="Text Box 5" descr="信纸"/>
          <p:cNvSpPr txBox="1">
            <a:spLocks noChangeArrowheads="1"/>
          </p:cNvSpPr>
          <p:nvPr/>
        </p:nvSpPr>
        <p:spPr bwMode="auto">
          <a:xfrm>
            <a:off x="1135189" y="711099"/>
            <a:ext cx="4892245" cy="5372100"/>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dirty="0"/>
              <a:t>  </a:t>
            </a: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ea typeface="楷体_GB2312" pitchFamily="49" charset="-122"/>
              </a:rPr>
              <a:t>  #include &lt;</a:t>
            </a:r>
            <a:r>
              <a:rPr lang="en-US" altLang="zh-CN" sz="2000" b="1" dirty="0" err="1">
                <a:ea typeface="楷体_GB2312" pitchFamily="49" charset="-122"/>
              </a:rPr>
              <a:t>string.h</a:t>
            </a:r>
            <a:r>
              <a:rPr lang="en-US" altLang="zh-CN" sz="2000" b="1" dirty="0">
                <a:ea typeface="楷体_GB2312" pitchFamily="49" charset="-122"/>
              </a:rPr>
              <a:t>&gt;</a:t>
            </a:r>
          </a:p>
          <a:p>
            <a:pPr marL="457200" indent="-457200"/>
            <a:r>
              <a:rPr lang="en-US" altLang="zh-CN" sz="2000" b="1" dirty="0">
                <a:solidFill>
                  <a:srgbClr val="CC0066"/>
                </a:solidFill>
                <a:ea typeface="楷体_GB2312" pitchFamily="49" charset="-122"/>
              </a:rPr>
              <a:t> </a:t>
            </a:r>
            <a:r>
              <a:rPr lang="en-US" altLang="zh-CN" sz="2000" b="1" dirty="0">
                <a:solidFill>
                  <a:srgbClr val="C01920"/>
                </a:solidFill>
                <a:ea typeface="楷体_GB2312" pitchFamily="49" charset="-122"/>
              </a:rPr>
              <a:t> </a:t>
            </a:r>
            <a:r>
              <a:rPr lang="en-US" altLang="zh-CN" sz="2000" b="1" dirty="0" err="1">
                <a:solidFill>
                  <a:srgbClr val="C01920"/>
                </a:solidFill>
                <a:ea typeface="楷体_GB2312" pitchFamily="49" charset="-122"/>
              </a:rPr>
              <a:t>int</a:t>
            </a:r>
            <a:r>
              <a:rPr lang="en-US" altLang="zh-CN" sz="2000" b="1" dirty="0">
                <a:solidFill>
                  <a:srgbClr val="C0192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long k, min, max, count[10] = {0};</a:t>
            </a:r>
          </a:p>
          <a:p>
            <a:pPr marL="457200" indent="-457200"/>
            <a:r>
              <a:rPr lang="en-US" altLang="zh-CN" sz="2000" b="1" dirty="0">
                <a:ea typeface="楷体_GB2312" pitchFamily="49" charset="-122"/>
              </a:rPr>
              <a:t>    char </a:t>
            </a:r>
            <a:r>
              <a:rPr lang="en-US" altLang="zh-CN" sz="2000" b="1" dirty="0" err="1">
                <a:ea typeface="楷体_GB2312" pitchFamily="49" charset="-122"/>
              </a:rPr>
              <a:t>str</a:t>
            </a:r>
            <a:r>
              <a:rPr lang="en-US" altLang="zh-CN" sz="2000" b="1" dirty="0">
                <a:ea typeface="楷体_GB2312" pitchFamily="49" charset="-122"/>
              </a:rPr>
              <a:t>[9];</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solidFill>
                  <a:srgbClr val="C01920"/>
                </a:solidFill>
                <a:ea typeface="楷体_GB2312" pitchFamily="49" charset="-122"/>
              </a:rPr>
              <a:t>   </a:t>
            </a:r>
            <a:r>
              <a:rPr lang="en-US" altLang="zh-CN" sz="1800" b="1" dirty="0">
                <a:solidFill>
                  <a:srgbClr val="C01920"/>
                </a:solidFill>
                <a:latin typeface="+mn-lt"/>
                <a:ea typeface="楷体" pitchFamily="49" charset="-122"/>
              </a:rPr>
              <a:t> </a:t>
            </a:r>
            <a:r>
              <a:rPr lang="en-US" altLang="zh-CN" sz="1600" b="1" dirty="0">
                <a:solidFill>
                  <a:srgbClr val="C01920"/>
                </a:solidFill>
                <a:latin typeface="+mn-lt"/>
                <a:ea typeface="楷体" pitchFamily="49" charset="-122"/>
              </a:rPr>
              <a:t>//</a:t>
            </a:r>
            <a:r>
              <a:rPr lang="zh-CN" altLang="en-US" sz="1600" b="1" dirty="0">
                <a:solidFill>
                  <a:srgbClr val="C01920"/>
                </a:solidFill>
                <a:latin typeface="+mn-lt"/>
                <a:ea typeface="楷体" pitchFamily="49" charset="-122"/>
              </a:rPr>
              <a:t>输入最小、最大数</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first number: ");</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("%ld", &amp;min);</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last number: ");</a:t>
            </a:r>
          </a:p>
          <a:p>
            <a:pPr marL="457200" indent="-457200"/>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("%ld", &amp;max);</a:t>
            </a:r>
          </a:p>
          <a:p>
            <a:pPr marL="457200" indent="-457200"/>
            <a:r>
              <a:rPr lang="en-US" altLang="zh-CN" sz="2000" b="1" dirty="0">
                <a:ea typeface="楷体_GB2312" pitchFamily="49" charset="-122"/>
              </a:rPr>
              <a:t>    if (min &gt; max)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最小数比最大数大，退出</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t>
            </a:r>
            <a:r>
              <a:rPr lang="en-US" altLang="zh-CN" sz="2000" b="1" dirty="0" err="1">
                <a:ea typeface="楷体_GB2312" pitchFamily="49" charset="-122"/>
              </a:rPr>
              <a:t>ninput</a:t>
            </a:r>
            <a:r>
              <a:rPr lang="en-US" altLang="zh-CN" sz="2000" b="1" dirty="0">
                <a:ea typeface="楷体_GB2312" pitchFamily="49" charset="-122"/>
              </a:rPr>
              <a:t> error!");</a:t>
            </a:r>
          </a:p>
          <a:p>
            <a:pPr marL="457200" indent="-457200"/>
            <a:r>
              <a:rPr lang="en-US" altLang="zh-CN" sz="2000" b="1" dirty="0">
                <a:ea typeface="楷体_GB2312" pitchFamily="49" charset="-122"/>
              </a:rPr>
              <a:t>      return -1;</a:t>
            </a:r>
          </a:p>
          <a:p>
            <a:pPr marL="457200" indent="-457200"/>
            <a:r>
              <a:rPr lang="en-US" altLang="zh-CN" sz="2000" b="1" dirty="0">
                <a:ea typeface="楷体_GB2312" pitchFamily="49" charset="-122"/>
              </a:rPr>
              <a:t>    }</a:t>
            </a:r>
          </a:p>
        </p:txBody>
      </p:sp>
      <p:sp>
        <p:nvSpPr>
          <p:cNvPr id="1020936" name="Text Box 8" descr="信纸"/>
          <p:cNvSpPr txBox="1">
            <a:spLocks noChangeArrowheads="1"/>
          </p:cNvSpPr>
          <p:nvPr/>
        </p:nvSpPr>
        <p:spPr bwMode="auto">
          <a:xfrm>
            <a:off x="6709082" y="108630"/>
            <a:ext cx="4643502" cy="5388271"/>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marL="457200" indent="-457200"/>
            <a:r>
              <a:rPr lang="en-US" altLang="zh-CN" dirty="0">
                <a:solidFill>
                  <a:srgbClr val="C01920"/>
                </a:solidFill>
              </a:rPr>
              <a:t>   </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统计各数字出现的次数</a:t>
            </a:r>
          </a:p>
          <a:p>
            <a:pPr marL="457200" indent="-457200"/>
            <a:r>
              <a:rPr lang="zh-CN" altLang="en-US" sz="2000" b="1" dirty="0">
                <a:ea typeface="楷体_GB2312" pitchFamily="49" charset="-122"/>
              </a:rPr>
              <a:t>    </a:t>
            </a:r>
            <a:r>
              <a:rPr lang="en-US" altLang="zh-CN" sz="2000" b="1" dirty="0">
                <a:ea typeface="楷体_GB2312" pitchFamily="49" charset="-122"/>
              </a:rPr>
              <a:t>for (k = min; k &lt;= max; k++)</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1600" b="1" dirty="0">
                <a:solidFill>
                  <a:srgbClr val="002060"/>
                </a:solidFill>
                <a:ea typeface="楷体" pitchFamily="49" charset="-122"/>
              </a:rPr>
              <a:t>//</a:t>
            </a:r>
            <a:r>
              <a:rPr lang="zh-CN" altLang="en-US" sz="1600" b="1" dirty="0">
                <a:solidFill>
                  <a:srgbClr val="002060"/>
                </a:solidFill>
                <a:ea typeface="楷体" pitchFamily="49" charset="-122"/>
              </a:rPr>
              <a:t>将该数字转换为字符串，存入</a:t>
            </a:r>
            <a:r>
              <a:rPr lang="en-US" altLang="zh-CN" sz="1600" b="1" dirty="0" err="1">
                <a:solidFill>
                  <a:srgbClr val="002060"/>
                </a:solidFill>
                <a:ea typeface="楷体" pitchFamily="49" charset="-122"/>
              </a:rPr>
              <a:t>str</a:t>
            </a:r>
            <a:r>
              <a:rPr lang="zh-CN" altLang="en-US" sz="1600" b="1" dirty="0">
                <a:solidFill>
                  <a:srgbClr val="002060"/>
                </a:solidFill>
                <a:ea typeface="楷体" pitchFamily="49" charset="-122"/>
              </a:rPr>
              <a:t>中</a:t>
            </a:r>
            <a:endParaRPr lang="en-US" altLang="zh-CN" sz="1600" b="1" dirty="0">
              <a:solidFill>
                <a:srgbClr val="002060"/>
              </a:solidFill>
              <a:ea typeface="楷体_GB2312" pitchFamily="49" charset="-122"/>
            </a:endParaRPr>
          </a:p>
          <a:p>
            <a:pPr marL="457200" indent="-457200"/>
            <a:r>
              <a:rPr lang="en-US" altLang="zh-CN" sz="2000" b="1" dirty="0">
                <a:ea typeface="楷体_GB2312" pitchFamily="49" charset="-122"/>
              </a:rPr>
              <a:t>      </a:t>
            </a:r>
            <a:r>
              <a:rPr lang="en-US" altLang="zh-CN" sz="2000" b="1" dirty="0" err="1">
                <a:ea typeface="楷体_GB2312" pitchFamily="49" charset="-122"/>
              </a:rPr>
              <a:t>sprintf</a:t>
            </a:r>
            <a:r>
              <a:rPr lang="en-US" altLang="zh-CN" sz="2000" b="1" dirty="0">
                <a:ea typeface="楷体_GB2312" pitchFamily="49" charset="-122"/>
              </a:rPr>
              <a:t> (</a:t>
            </a:r>
            <a:r>
              <a:rPr lang="en-US" altLang="zh-CN" sz="2000" b="1" dirty="0" err="1">
                <a:ea typeface="楷体_GB2312" pitchFamily="49" charset="-122"/>
              </a:rPr>
              <a:t>str</a:t>
            </a:r>
            <a:r>
              <a:rPr lang="en-US" altLang="zh-CN" sz="2000" b="1" dirty="0">
                <a:ea typeface="楷体_GB2312" pitchFamily="49" charset="-122"/>
              </a:rPr>
              <a:t>, "%8d", k);  </a:t>
            </a:r>
            <a:endParaRPr lang="zh-CN" altLang="en-US" sz="1600" b="1" dirty="0">
              <a:solidFill>
                <a:schemeClr val="accent2"/>
              </a:solidFill>
              <a:latin typeface="+mn-lt"/>
              <a:ea typeface="楷体" pitchFamily="49" charset="-122"/>
            </a:endParaRPr>
          </a:p>
          <a:p>
            <a:pPr marL="457200" indent="-457200"/>
            <a:r>
              <a:rPr lang="zh-CN" altLang="en-US" sz="2000" b="1" dirty="0">
                <a:ea typeface="楷体_GB2312" pitchFamily="49" charset="-122"/>
              </a:rPr>
              <a:t>      </a:t>
            </a:r>
            <a:r>
              <a:rPr lang="en-US" altLang="zh-CN" sz="2000" b="1" dirty="0">
                <a:ea typeface="楷体_GB2312" pitchFamily="49" charset="-122"/>
              </a:rPr>
              <a:t>for (</a:t>
            </a:r>
            <a:r>
              <a:rPr lang="en-US" altLang="zh-CN" sz="2000" b="1" dirty="0" err="1">
                <a:ea typeface="楷体_GB2312" pitchFamily="49" charset="-122"/>
              </a:rPr>
              <a:t>i</a:t>
            </a:r>
            <a:r>
              <a:rPr lang="en-US" altLang="zh-CN" sz="2000" b="1" dirty="0">
                <a:ea typeface="楷体_GB2312" pitchFamily="49" charset="-122"/>
              </a:rPr>
              <a:t> = 7; </a:t>
            </a:r>
            <a:r>
              <a:rPr lang="en-US" altLang="zh-CN" sz="2000" b="1" dirty="0" err="1">
                <a:ea typeface="楷体_GB2312" pitchFamily="49" charset="-122"/>
              </a:rPr>
              <a:t>i</a:t>
            </a:r>
            <a:r>
              <a:rPr lang="en-US" altLang="zh-CN" sz="2000" b="1" dirty="0">
                <a:ea typeface="楷体_GB2312" pitchFamily="49" charset="-122"/>
              </a:rPr>
              <a:t> &gt;= 0 &amp;&amp; </a:t>
            </a:r>
            <a:r>
              <a:rPr lang="en-US" altLang="zh-CN" sz="2000" b="1" dirty="0" err="1">
                <a:ea typeface="楷体_GB2312" pitchFamily="49" charset="-122"/>
              </a:rPr>
              <a:t>str</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 != ' '; </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count[</a:t>
            </a:r>
            <a:r>
              <a:rPr lang="en-US" altLang="zh-CN" sz="2000" b="1" dirty="0" err="1">
                <a:ea typeface="楷体_GB2312" pitchFamily="49" charset="-122"/>
              </a:rPr>
              <a:t>str</a:t>
            </a:r>
            <a:r>
              <a:rPr lang="en-US" altLang="zh-CN" sz="2000" b="1" dirty="0">
                <a:ea typeface="楷体_GB2312" pitchFamily="49" charset="-122"/>
              </a:rPr>
              <a:t>[</a:t>
            </a:r>
            <a:r>
              <a:rPr lang="en-US" altLang="zh-CN" sz="2000" b="1" dirty="0" err="1">
                <a:ea typeface="楷体_GB2312" pitchFamily="49" charset="-122"/>
              </a:rPr>
              <a:t>i</a:t>
            </a:r>
            <a:r>
              <a:rPr lang="en-US" altLang="zh-CN" sz="2000" b="1" dirty="0">
                <a:ea typeface="楷体_GB2312" pitchFamily="49" charset="-122"/>
              </a:rPr>
              <a:t>]-'0']++;</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0; </a:t>
            </a:r>
            <a:r>
              <a:rPr lang="en-US" altLang="zh-CN" sz="2000" b="1" dirty="0" err="1">
                <a:ea typeface="楷体_GB2312" pitchFamily="49" charset="-122"/>
              </a:rPr>
              <a:t>i</a:t>
            </a:r>
            <a:r>
              <a:rPr lang="en-US" altLang="zh-CN" sz="2000" b="1" dirty="0">
                <a:ea typeface="楷体_GB2312" pitchFamily="49" charset="-122"/>
              </a:rPr>
              <a:t> &lt; 10; </a:t>
            </a:r>
            <a:r>
              <a:rPr lang="en-US" altLang="zh-CN" sz="2000" b="1" dirty="0" err="1">
                <a:ea typeface="楷体_GB2312" pitchFamily="49" charset="-122"/>
              </a:rPr>
              <a:t>i</a:t>
            </a:r>
            <a:r>
              <a:rPr lang="en-US" altLang="zh-CN" sz="2000" b="1" dirty="0">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显示结果</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("%d--(%ld)  ", </a:t>
            </a:r>
            <a:r>
              <a:rPr lang="en-US" altLang="zh-CN" sz="2000" b="1" dirty="0" err="1">
                <a:ea typeface="楷体_GB2312" pitchFamily="49" charset="-122"/>
              </a:rPr>
              <a:t>i</a:t>
            </a:r>
            <a:r>
              <a:rPr lang="en-US" altLang="zh-CN" sz="2000" b="1" dirty="0">
                <a:ea typeface="楷体_GB2312" pitchFamily="49" charset="-122"/>
              </a:rPr>
              <a:t>, count[</a:t>
            </a:r>
            <a:r>
              <a:rPr lang="en-US" altLang="zh-CN" sz="2000" b="1" dirty="0" err="1">
                <a:ea typeface="楷体_GB2312" pitchFamily="49" charset="-122"/>
              </a:rPr>
              <a:t>i</a:t>
            </a:r>
            <a:r>
              <a:rPr lang="en-US" altLang="zh-CN" sz="2000" b="1" dirty="0">
                <a:ea typeface="楷体_GB2312" pitchFamily="49" charset="-122"/>
              </a:rPr>
              <a:t>]);</a:t>
            </a:r>
          </a:p>
          <a:p>
            <a:pPr marL="457200" indent="-457200"/>
            <a:r>
              <a:rPr lang="en-US" altLang="zh-CN" sz="2000" b="1" dirty="0">
                <a:ea typeface="楷体_GB2312" pitchFamily="49" charset="-122"/>
              </a:rPr>
              <a:t>      if (</a:t>
            </a:r>
            <a:r>
              <a:rPr lang="en-US" altLang="zh-CN" sz="2000" b="1" dirty="0" err="1">
                <a:ea typeface="楷体_GB2312" pitchFamily="49" charset="-122"/>
              </a:rPr>
              <a:t>i</a:t>
            </a:r>
            <a:r>
              <a:rPr lang="en-US" altLang="zh-CN" sz="2000" b="1" dirty="0">
                <a:ea typeface="楷体_GB2312" pitchFamily="49" charset="-122"/>
              </a:rPr>
              <a:t> == 4)</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1020937" name="Text Box 9"/>
          <p:cNvSpPr txBox="1">
            <a:spLocks noChangeArrowheads="1"/>
          </p:cNvSpPr>
          <p:nvPr/>
        </p:nvSpPr>
        <p:spPr bwMode="auto">
          <a:xfrm>
            <a:off x="4379014" y="5639896"/>
            <a:ext cx="6985000" cy="110490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nchor="ctr">
            <a:spAutoFit/>
          </a:bodyPr>
          <a:lstStyle/>
          <a:p>
            <a:r>
              <a:rPr lang="zh-CN" altLang="en-US" b="1" dirty="0">
                <a:solidFill>
                  <a:srgbClr val="C01920"/>
                </a:solidFill>
                <a:latin typeface="+mn-lt"/>
                <a:ea typeface="隶书" pitchFamily="49" charset="-122"/>
              </a:rPr>
              <a:t>运行结果：</a:t>
            </a:r>
            <a:r>
              <a:rPr lang="zh-CN" altLang="en-US" sz="2000" b="1" dirty="0">
                <a:solidFill>
                  <a:srgbClr val="C01920"/>
                </a:solidFill>
                <a:latin typeface="+mn-lt"/>
                <a:ea typeface="隶书" pitchFamily="49" charset="-122"/>
              </a:rPr>
              <a:t>（假设输入的两个整数为：</a:t>
            </a:r>
            <a:r>
              <a:rPr lang="en-US" altLang="zh-CN" sz="2000" b="1" dirty="0">
                <a:solidFill>
                  <a:srgbClr val="C01920"/>
                </a:solidFill>
                <a:latin typeface="+mn-lt"/>
                <a:ea typeface="隶书" pitchFamily="49" charset="-122"/>
              </a:rPr>
              <a:t>1   100000</a:t>
            </a:r>
            <a:r>
              <a:rPr lang="zh-CN" altLang="en-US" sz="2000" b="1" dirty="0">
                <a:solidFill>
                  <a:srgbClr val="C01920"/>
                </a:solidFill>
                <a:latin typeface="+mn-lt"/>
                <a:ea typeface="隶书" pitchFamily="49" charset="-122"/>
              </a:rPr>
              <a:t>）</a:t>
            </a:r>
            <a:r>
              <a:rPr lang="zh-CN" altLang="en-US" sz="2000" dirty="0">
                <a:solidFill>
                  <a:srgbClr val="C01920"/>
                </a:solidFill>
                <a:latin typeface="+mn-lt"/>
                <a:ea typeface="隶书" pitchFamily="49" charset="-122"/>
              </a:rPr>
              <a:t> </a:t>
            </a:r>
            <a:endParaRPr lang="zh-CN" altLang="en-US" sz="2000" b="1" dirty="0">
              <a:solidFill>
                <a:srgbClr val="C01920"/>
              </a:solidFill>
              <a:latin typeface="+mn-lt"/>
              <a:ea typeface="隶书" pitchFamily="49" charset="-122"/>
            </a:endParaRPr>
          </a:p>
          <a:p>
            <a:r>
              <a:rPr lang="en-US" altLang="zh-CN" sz="2000" b="1" dirty="0">
                <a:solidFill>
                  <a:srgbClr val="002060"/>
                </a:solidFill>
              </a:rPr>
              <a:t>0—(38894)   1—(50001)   2—(50000)   3—(50000)   4—(50000)</a:t>
            </a:r>
          </a:p>
          <a:p>
            <a:r>
              <a:rPr lang="en-US" altLang="zh-CN" sz="2000" b="1" dirty="0">
                <a:solidFill>
                  <a:srgbClr val="002060"/>
                </a:solidFill>
              </a:rPr>
              <a:t>5—(50000)   6—(50000)   7—(50000)   8—(50000)   9—(50000)</a:t>
            </a:r>
          </a:p>
        </p:txBody>
      </p:sp>
      <p:grpSp>
        <p:nvGrpSpPr>
          <p:cNvPr id="15" name="组合 14"/>
          <p:cNvGrpSpPr/>
          <p:nvPr/>
        </p:nvGrpSpPr>
        <p:grpSpPr>
          <a:xfrm>
            <a:off x="3830812" y="1486732"/>
            <a:ext cx="5963990" cy="2458768"/>
            <a:chOff x="1407946" y="1878145"/>
            <a:chExt cx="5963990" cy="2458768"/>
          </a:xfrm>
        </p:grpSpPr>
        <p:grpSp>
          <p:nvGrpSpPr>
            <p:cNvPr id="14" name="组合 13"/>
            <p:cNvGrpSpPr/>
            <p:nvPr/>
          </p:nvGrpSpPr>
          <p:grpSpPr>
            <a:xfrm>
              <a:off x="1407946" y="3193905"/>
              <a:ext cx="4892245" cy="1143008"/>
              <a:chOff x="3286115" y="4572008"/>
              <a:chExt cx="4892245" cy="1143008"/>
            </a:xfrm>
          </p:grpSpPr>
          <p:sp>
            <p:nvSpPr>
              <p:cNvPr id="9" name="矩形 8"/>
              <p:cNvSpPr/>
              <p:nvPr/>
            </p:nvSpPr>
            <p:spPr bwMode="auto">
              <a:xfrm>
                <a:off x="3286115" y="4572008"/>
                <a:ext cx="4892245" cy="1143008"/>
              </a:xfrm>
              <a:prstGeom prst="rect">
                <a:avLst/>
              </a:prstGeom>
              <a:gradFill flip="none" rotWithShape="1">
                <a:gsLst>
                  <a:gs pos="0">
                    <a:srgbClr val="CFCFD1"/>
                  </a:gs>
                  <a:gs pos="100000">
                    <a:schemeClr val="bg1">
                      <a:lumMod val="95000"/>
                    </a:schemeClr>
                  </a:gs>
                </a:gsLst>
                <a:lin ang="16200000" scaled="1"/>
                <a:tileRect/>
              </a:gradFill>
              <a:ln w="38100" cap="flat" cmpd="sng" algn="ctr">
                <a:solidFill>
                  <a:srgbClr val="C01920"/>
                </a:solidFill>
                <a:prstDash val="solid"/>
                <a:round/>
                <a:headEnd type="none" w="med" len="med"/>
                <a:tailEnd type="none" w="med" len="med"/>
              </a:ln>
              <a:effectLst>
                <a:outerShdw blurRad="50800" dist="106680" dir="2700000" algn="tl" rotWithShape="0">
                  <a:prstClr val="black">
                    <a:alpha val="43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0" name="TextBox 9"/>
              <p:cNvSpPr txBox="1"/>
              <p:nvPr/>
            </p:nvSpPr>
            <p:spPr>
              <a:xfrm>
                <a:off x="3357554" y="4643446"/>
                <a:ext cx="3857652" cy="400110"/>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000" b="1" dirty="0">
                    <a:solidFill>
                      <a:srgbClr val="C01920"/>
                    </a:solidFill>
                    <a:ea typeface="隶书" pitchFamily="49" charset="-122"/>
                  </a:rPr>
                  <a:t>假设</a:t>
                </a:r>
                <a:r>
                  <a:rPr lang="en-US" altLang="zh-CN" sz="2000" b="1" dirty="0">
                    <a:solidFill>
                      <a:srgbClr val="C01920"/>
                    </a:solidFill>
                    <a:ea typeface="隶书" pitchFamily="49" charset="-122"/>
                  </a:rPr>
                  <a:t>k</a:t>
                </a:r>
                <a:r>
                  <a:rPr lang="zh-CN" altLang="en-US" sz="2000" b="1" dirty="0">
                    <a:solidFill>
                      <a:srgbClr val="C01920"/>
                    </a:solidFill>
                    <a:ea typeface="隶书" pitchFamily="49" charset="-122"/>
                  </a:rPr>
                  <a:t>的值为</a:t>
                </a:r>
                <a:r>
                  <a:rPr lang="en-US" altLang="zh-CN" sz="2000" b="1" dirty="0">
                    <a:solidFill>
                      <a:srgbClr val="C01920"/>
                    </a:solidFill>
                    <a:ea typeface="隶书" pitchFamily="49" charset="-122"/>
                  </a:rPr>
                  <a:t>5000</a:t>
                </a:r>
                <a:r>
                  <a:rPr lang="zh-CN" altLang="en-US" sz="2000" b="1" dirty="0">
                    <a:solidFill>
                      <a:srgbClr val="C01920"/>
                    </a:solidFill>
                    <a:ea typeface="隶书" pitchFamily="49" charset="-122"/>
                  </a:rPr>
                  <a:t>，则</a:t>
                </a:r>
                <a:r>
                  <a:rPr lang="en-US" altLang="zh-CN" sz="2000" b="1" dirty="0" err="1">
                    <a:solidFill>
                      <a:srgbClr val="C01920"/>
                    </a:solidFill>
                    <a:ea typeface="隶书" pitchFamily="49" charset="-122"/>
                  </a:rPr>
                  <a:t>str</a:t>
                </a:r>
                <a:r>
                  <a:rPr lang="zh-CN" altLang="en-US" sz="2000" b="1" dirty="0">
                    <a:solidFill>
                      <a:srgbClr val="C01920"/>
                    </a:solidFill>
                    <a:ea typeface="隶书" pitchFamily="49" charset="-122"/>
                  </a:rPr>
                  <a:t>为：</a:t>
                </a:r>
              </a:p>
            </p:txBody>
          </p:sp>
        </p:grpSp>
        <p:sp>
          <p:nvSpPr>
            <p:cNvPr id="11" name="矩形 10"/>
            <p:cNvSpPr/>
            <p:nvPr/>
          </p:nvSpPr>
          <p:spPr bwMode="auto">
            <a:xfrm>
              <a:off x="4657292" y="1878145"/>
              <a:ext cx="2714644" cy="285752"/>
            </a:xfrm>
            <a:prstGeom prst="rect">
              <a:avLst/>
            </a:prstGeom>
            <a:noFill/>
            <a:ln w="25400" cap="flat" cmpd="sng" algn="ctr">
              <a:solidFill>
                <a:srgbClr val="C01920"/>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2" name="虚尾箭头 11"/>
            <p:cNvSpPr/>
            <p:nvPr/>
          </p:nvSpPr>
          <p:spPr bwMode="auto">
            <a:xfrm rot="7872448">
              <a:off x="4073861" y="2527553"/>
              <a:ext cx="1282029" cy="308040"/>
            </a:xfrm>
            <a:prstGeom prst="stripedRightArrow">
              <a:avLst/>
            </a:prstGeom>
            <a:solidFill>
              <a:srgbClr val="C01920"/>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endParaRPr lang="zh-CN" altLang="en-US"/>
            </a:p>
          </p:txBody>
        </p:sp>
      </p:grpSp>
      <p:graphicFrame>
        <p:nvGraphicFramePr>
          <p:cNvPr id="8" name="表格 7"/>
          <p:cNvGraphicFramePr>
            <a:graphicFrameLocks noGrp="1"/>
          </p:cNvGraphicFramePr>
          <p:nvPr/>
        </p:nvGraphicFramePr>
        <p:xfrm>
          <a:off x="3994595" y="3397149"/>
          <a:ext cx="4590927" cy="6400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510103">
                  <a:extLst>
                    <a:ext uri="{9D8B030D-6E8A-4147-A177-3AD203B41FA5}">
                      <a16:colId xmlns:a16="http://schemas.microsoft.com/office/drawing/2014/main" val="20000"/>
                    </a:ext>
                  </a:extLst>
                </a:gridCol>
                <a:gridCol w="510103">
                  <a:extLst>
                    <a:ext uri="{9D8B030D-6E8A-4147-A177-3AD203B41FA5}">
                      <a16:colId xmlns:a16="http://schemas.microsoft.com/office/drawing/2014/main" val="20001"/>
                    </a:ext>
                  </a:extLst>
                </a:gridCol>
                <a:gridCol w="510103">
                  <a:extLst>
                    <a:ext uri="{9D8B030D-6E8A-4147-A177-3AD203B41FA5}">
                      <a16:colId xmlns:a16="http://schemas.microsoft.com/office/drawing/2014/main" val="20002"/>
                    </a:ext>
                  </a:extLst>
                </a:gridCol>
                <a:gridCol w="510103">
                  <a:extLst>
                    <a:ext uri="{9D8B030D-6E8A-4147-A177-3AD203B41FA5}">
                      <a16:colId xmlns:a16="http://schemas.microsoft.com/office/drawing/2014/main" val="20003"/>
                    </a:ext>
                  </a:extLst>
                </a:gridCol>
                <a:gridCol w="510103">
                  <a:extLst>
                    <a:ext uri="{9D8B030D-6E8A-4147-A177-3AD203B41FA5}">
                      <a16:colId xmlns:a16="http://schemas.microsoft.com/office/drawing/2014/main" val="20004"/>
                    </a:ext>
                  </a:extLst>
                </a:gridCol>
                <a:gridCol w="510103">
                  <a:extLst>
                    <a:ext uri="{9D8B030D-6E8A-4147-A177-3AD203B41FA5}">
                      <a16:colId xmlns:a16="http://schemas.microsoft.com/office/drawing/2014/main" val="20005"/>
                    </a:ext>
                  </a:extLst>
                </a:gridCol>
                <a:gridCol w="510103">
                  <a:extLst>
                    <a:ext uri="{9D8B030D-6E8A-4147-A177-3AD203B41FA5}">
                      <a16:colId xmlns:a16="http://schemas.microsoft.com/office/drawing/2014/main" val="20006"/>
                    </a:ext>
                  </a:extLst>
                </a:gridCol>
                <a:gridCol w="510103">
                  <a:extLst>
                    <a:ext uri="{9D8B030D-6E8A-4147-A177-3AD203B41FA5}">
                      <a16:colId xmlns:a16="http://schemas.microsoft.com/office/drawing/2014/main" val="20007"/>
                    </a:ext>
                  </a:extLst>
                </a:gridCol>
                <a:gridCol w="510103">
                  <a:extLst>
                    <a:ext uri="{9D8B030D-6E8A-4147-A177-3AD203B41FA5}">
                      <a16:colId xmlns:a16="http://schemas.microsoft.com/office/drawing/2014/main" val="20008"/>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FFFFFF"/>
                            </a:outerShdw>
                          </a:effectLst>
                          <a:latin typeface="+mn-lt"/>
                        </a:rPr>
                        <a:t>'</a:t>
                      </a:r>
                      <a:r>
                        <a:rPr lang="en-US" altLang="zh-CN" sz="1800" b="1" baseline="0" dirty="0">
                          <a:solidFill>
                            <a:schemeClr val="tx1"/>
                          </a:solidFill>
                          <a:effectLst>
                            <a:outerShdw blurRad="38100" dist="38100" dir="2700000" algn="tl">
                              <a:srgbClr val="FFFFFF"/>
                            </a:outerShdw>
                          </a:effectLst>
                          <a:latin typeface="+mn-lt"/>
                        </a:rPr>
                        <a:t> </a:t>
                      </a:r>
                      <a:r>
                        <a:rPr lang="en-US" altLang="zh-CN" sz="1800" b="1" dirty="0">
                          <a:solidFill>
                            <a:schemeClr val="tx1"/>
                          </a:solidFill>
                          <a:effectLst>
                            <a:outerShdw blurRad="38100" dist="38100" dir="2700000" algn="tl">
                              <a:srgbClr val="FFFFFF"/>
                            </a:outerShdw>
                          </a:effectLst>
                          <a:latin typeface="+mn-lt"/>
                        </a:rPr>
                        <a:t>'</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solidFill>
                            <a:schemeClr val="tx1"/>
                          </a:solidFill>
                          <a:effectLst>
                            <a:outerShdw blurRad="38100" dist="38100" dir="2700000" algn="tl">
                              <a:srgbClr val="FFFFFF"/>
                            </a:outerShdw>
                          </a:effectLst>
                          <a:latin typeface="+mn-lt"/>
                        </a:rPr>
                        <a:t>'</a:t>
                      </a:r>
                      <a:r>
                        <a:rPr lang="en-US" altLang="zh-CN" sz="1800" b="1" baseline="0" dirty="0">
                          <a:solidFill>
                            <a:schemeClr val="tx1"/>
                          </a:solidFill>
                          <a:effectLst>
                            <a:outerShdw blurRad="38100" dist="38100" dir="2700000" algn="tl">
                              <a:srgbClr val="FFFFFF"/>
                            </a:outerShdw>
                          </a:effectLst>
                          <a:latin typeface="+mn-lt"/>
                        </a:rPr>
                        <a:t> </a:t>
                      </a:r>
                      <a:r>
                        <a:rPr lang="en-US" altLang="zh-CN" sz="1800" b="1" dirty="0">
                          <a:solidFill>
                            <a:schemeClr val="tx1"/>
                          </a:solidFill>
                          <a:effectLst>
                            <a:outerShdw blurRad="38100" dist="38100" dir="2700000" algn="tl">
                              <a:srgbClr val="FFFFFF"/>
                            </a:outerShdw>
                          </a:effectLst>
                          <a:latin typeface="+mn-lt"/>
                        </a:rPr>
                        <a:t>'</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solidFill>
                            <a:schemeClr val="tx1"/>
                          </a:solidFill>
                          <a:effectLst>
                            <a:outerShdw blurRad="38100" dist="38100" dir="2700000" algn="tl">
                              <a:srgbClr val="FFFFFF"/>
                            </a:outerShdw>
                          </a:effectLst>
                          <a:latin typeface="+mn-lt"/>
                        </a:rPr>
                        <a:t>'</a:t>
                      </a:r>
                      <a:r>
                        <a:rPr lang="en-US" altLang="zh-CN" sz="1800" b="1" baseline="0" dirty="0">
                          <a:solidFill>
                            <a:schemeClr val="tx1"/>
                          </a:solidFill>
                          <a:effectLst>
                            <a:outerShdw blurRad="38100" dist="38100" dir="2700000" algn="tl">
                              <a:srgbClr val="FFFFFF"/>
                            </a:outerShdw>
                          </a:effectLst>
                          <a:latin typeface="+mn-lt"/>
                        </a:rPr>
                        <a:t> </a:t>
                      </a:r>
                      <a:r>
                        <a:rPr lang="en-US" altLang="zh-CN" sz="1800" b="1" dirty="0">
                          <a:solidFill>
                            <a:schemeClr val="tx1"/>
                          </a:solidFill>
                          <a:effectLst>
                            <a:outerShdw blurRad="38100" dist="38100" dir="2700000" algn="tl">
                              <a:srgbClr val="FFFFFF"/>
                            </a:outerShdw>
                          </a:effectLst>
                          <a:latin typeface="+mn-lt"/>
                        </a:rPr>
                        <a:t>'</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solidFill>
                            <a:schemeClr val="tx1"/>
                          </a:solidFill>
                          <a:effectLst>
                            <a:outerShdw blurRad="38100" dist="38100" dir="2700000" algn="tl">
                              <a:srgbClr val="FFFFFF"/>
                            </a:outerShdw>
                          </a:effectLst>
                          <a:latin typeface="+mn-lt"/>
                        </a:rPr>
                        <a:t>'</a:t>
                      </a:r>
                      <a:r>
                        <a:rPr lang="en-US" altLang="zh-CN" sz="1800" b="1" baseline="0" dirty="0">
                          <a:solidFill>
                            <a:schemeClr val="tx1"/>
                          </a:solidFill>
                          <a:effectLst>
                            <a:outerShdw blurRad="38100" dist="38100" dir="2700000" algn="tl">
                              <a:srgbClr val="FFFFFF"/>
                            </a:outerShdw>
                          </a:effectLst>
                          <a:latin typeface="+mn-lt"/>
                        </a:rPr>
                        <a:t> </a:t>
                      </a:r>
                      <a:r>
                        <a:rPr lang="en-US" altLang="zh-CN" sz="1800" b="1" dirty="0">
                          <a:solidFill>
                            <a:schemeClr val="tx1"/>
                          </a:solidFill>
                          <a:effectLst>
                            <a:outerShdw blurRad="38100" dist="38100" dir="2700000" algn="tl">
                              <a:srgbClr val="FFFFFF"/>
                            </a:outerShdw>
                          </a:effectLst>
                          <a:latin typeface="+mn-lt"/>
                        </a:rPr>
                        <a:t>'</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800" b="1" dirty="0">
                          <a:solidFill>
                            <a:schemeClr val="tx1"/>
                          </a:solidFill>
                          <a:effectLst>
                            <a:outerShdw blurRad="38100" dist="38100" dir="2700000" algn="tl">
                              <a:srgbClr val="FFFFFF"/>
                            </a:outerShdw>
                          </a:effectLst>
                        </a:rPr>
                        <a:t>'</a:t>
                      </a:r>
                      <a:r>
                        <a:rPr lang="en-US" altLang="zh-CN" sz="1800" b="1" dirty="0">
                          <a:solidFill>
                            <a:schemeClr val="tx1"/>
                          </a:solidFill>
                          <a:effectLst>
                            <a:outerShdw blurRad="38100" dist="38100" dir="2700000" algn="tl">
                              <a:srgbClr val="FFFFFF"/>
                            </a:outerShdw>
                          </a:effectLst>
                          <a:latin typeface="+mn-lt"/>
                        </a:rPr>
                        <a:t>5'</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FFFFFF"/>
                            </a:outerShdw>
                          </a:effectLst>
                        </a:rPr>
                        <a:t>'</a:t>
                      </a:r>
                      <a:r>
                        <a:rPr lang="en-US" altLang="zh-CN" sz="1800" b="1" dirty="0">
                          <a:solidFill>
                            <a:schemeClr val="tx1"/>
                          </a:solidFill>
                          <a:effectLst>
                            <a:outerShdw blurRad="38100" dist="38100" dir="2700000" algn="tl">
                              <a:srgbClr val="FFFFFF"/>
                            </a:outerShdw>
                          </a:effectLst>
                          <a:latin typeface="+mn-lt"/>
                        </a:rPr>
                        <a:t>0'</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FFFFFF"/>
                            </a:outerShdw>
                          </a:effectLst>
                          <a:latin typeface="+mn-lt"/>
                        </a:rPr>
                        <a:t>'0'</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chemeClr val="tx1"/>
                          </a:solidFill>
                          <a:effectLst>
                            <a:outerShdw blurRad="38100" dist="38100" dir="2700000" algn="tl">
                              <a:srgbClr val="FFFFFF"/>
                            </a:outerShdw>
                          </a:effectLst>
                          <a:latin typeface="+mn-lt"/>
                        </a:rPr>
                        <a:t>'0'</a:t>
                      </a:r>
                      <a:endParaRPr lang="zh-CN" altLang="en-US" dirty="0">
                        <a:solidFill>
                          <a:schemeClr val="tx1"/>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C01920"/>
                          </a:solidFill>
                          <a:effectLst>
                            <a:outerShdw blurRad="38100" dist="38100" dir="2700000" algn="tl">
                              <a:srgbClr val="FFFFFF"/>
                            </a:outerShdw>
                          </a:effectLst>
                          <a:latin typeface="+mn-lt"/>
                        </a:rPr>
                        <a:t>'\0'</a:t>
                      </a:r>
                      <a:endParaRPr lang="zh-CN" altLang="en-US" dirty="0">
                        <a:solidFill>
                          <a:srgbClr val="C01920"/>
                        </a:solidFill>
                        <a:latin typeface="+mn-lt"/>
                        <a:ea typeface="楷体"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26030620"/>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0933"/>
                                        </p:tgtEl>
                                        <p:attrNameLst>
                                          <p:attrName>style.visibility</p:attrName>
                                        </p:attrNameLst>
                                      </p:cBhvr>
                                      <p:to>
                                        <p:strVal val="visible"/>
                                      </p:to>
                                    </p:set>
                                    <p:animEffect transition="in" filter="box(out)">
                                      <p:cBhvr>
                                        <p:cTn id="7" dur="500"/>
                                        <p:tgtEl>
                                          <p:spTgt spid="102093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20936"/>
                                        </p:tgtEl>
                                        <p:attrNameLst>
                                          <p:attrName>style.visibility</p:attrName>
                                        </p:attrNameLst>
                                      </p:cBhvr>
                                      <p:to>
                                        <p:strVal val="visible"/>
                                      </p:to>
                                    </p:set>
                                    <p:animEffect transition="in" filter="box(out)">
                                      <p:cBhvr>
                                        <p:cTn id="12" dur="500"/>
                                        <p:tgtEl>
                                          <p:spTgt spid="102093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20937"/>
                                        </p:tgtEl>
                                        <p:attrNameLst>
                                          <p:attrName>style.visibility</p:attrName>
                                        </p:attrNameLst>
                                      </p:cBhvr>
                                      <p:to>
                                        <p:strVal val="visible"/>
                                      </p:to>
                                    </p:set>
                                    <p:animEffect transition="in" filter="box(out)">
                                      <p:cBhvr>
                                        <p:cTn id="17" dur="500"/>
                                        <p:tgtEl>
                                          <p:spTgt spid="1020937"/>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strips(downLeft)">
                                      <p:cBhvr>
                                        <p:cTn id="22" dur="500"/>
                                        <p:tgtEl>
                                          <p:spTgt spid="15"/>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par>
                          <p:cTn id="23" fill="hold">
                            <p:stCondLst>
                              <p:cond delay="500"/>
                            </p:stCondLst>
                            <p:childTnLst>
                              <p:par>
                                <p:cTn id="24" presetID="4" presetClass="entr" presetSubtype="16"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ox(in)">
                                      <p:cBhvr>
                                        <p:cTn id="26" dur="500"/>
                                        <p:tgtEl>
                                          <p:spTgt spid="8"/>
                                        </p:tgtEl>
                                      </p:cBhvr>
                                    </p:animEffect>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0933" grpId="0" animBg="1"/>
      <p:bldP spid="1020936" grpId="0" animBg="1"/>
      <p:bldP spid="1020937"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961" name="Rectangle 9"/>
          <p:cNvSpPr>
            <a:spLocks noChangeArrowheads="1"/>
          </p:cNvSpPr>
          <p:nvPr/>
        </p:nvSpPr>
        <p:spPr bwMode="auto">
          <a:xfrm>
            <a:off x="983432" y="930664"/>
            <a:ext cx="10441806" cy="509062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数组是程序设计中最常用的数据结构。它是一种构造类型，数组中的每一个元素必须属于同一种数据类型。数组中的元素在内存中是连续存放的。数组变量名是数组在内存中的首地址，是一地址常量，不可对其赋值。二维数组变量也是地址常量，二维数组中的每一维也是地址常量。</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数组可以是一维的，二维的或多维的。</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数组类型说明由类型说明符、数组名、数组长度（数组元素个数）三部分组成。数组元素又称为下标变量。数组的类型是指下标变量取值的类型。</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字符数组也是一种常规数组，但由于字符数组可以用来存放字符串，因此，字符数组在定义时可以利用字符串常量为字符数组变量赋初值。这是其它类型数组所不具备的。其它类型数组变量在赋值时必须使用初值列表，而字符数组却可以使用字符串常量。</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zh-CN" altLang="en-US" sz="2000" b="1" dirty="0">
                <a:latin typeface="楷体" panose="02010609060101010101" pitchFamily="49" charset="-122"/>
                <a:ea typeface="楷体" panose="02010609060101010101" pitchFamily="49" charset="-122"/>
              </a:rPr>
              <a:t>字符串是一种以</a:t>
            </a:r>
            <a:r>
              <a:rPr lang="en-US" altLang="zh-CN" sz="2000" b="1" dirty="0">
                <a:latin typeface="楷体" panose="02010609060101010101" pitchFamily="49" charset="-122"/>
                <a:ea typeface="楷体" panose="02010609060101010101" pitchFamily="49" charset="-122"/>
              </a:rPr>
              <a:t>'\0'</a:t>
            </a:r>
            <a:r>
              <a:rPr lang="zh-CN" altLang="en-US" sz="2000" b="1" dirty="0">
                <a:latin typeface="楷体" panose="02010609060101010101" pitchFamily="49" charset="-122"/>
                <a:ea typeface="楷体" panose="02010609060101010101" pitchFamily="49" charset="-122"/>
              </a:rPr>
              <a:t>结尾的字符序列，因此用来存放字符串的字符数组的长度要比字符串的实际长度大</a:t>
            </a:r>
            <a:r>
              <a:rPr lang="en-US" altLang="zh-CN" sz="2000" b="1" dirty="0">
                <a:latin typeface="楷体" panose="02010609060101010101" pitchFamily="49" charset="-122"/>
                <a:ea typeface="楷体" panose="02010609060101010101" pitchFamily="49" charset="-122"/>
              </a:rPr>
              <a:t>1</a:t>
            </a:r>
            <a:r>
              <a:rPr lang="zh-CN" altLang="en-US" sz="2000" b="1" dirty="0">
                <a:latin typeface="楷体" panose="02010609060101010101" pitchFamily="49" charset="-122"/>
                <a:ea typeface="楷体" panose="02010609060101010101" pitchFamily="49" charset="-122"/>
              </a:rPr>
              <a:t>才可以。</a:t>
            </a:r>
            <a:endParaRPr lang="en-US" altLang="zh-CN" sz="2000" b="1" dirty="0">
              <a:latin typeface="楷体" panose="02010609060101010101" pitchFamily="49" charset="-122"/>
              <a:ea typeface="楷体" panose="02010609060101010101" pitchFamily="49" charset="-122"/>
            </a:endParaRPr>
          </a:p>
          <a:p>
            <a:pPr marL="457200" indent="-457200">
              <a:lnSpc>
                <a:spcPts val="2800"/>
              </a:lnSpc>
              <a:buAutoNum type="arabicParenBoth"/>
              <a:tabLst>
                <a:tab pos="533400" algn="l"/>
              </a:tabLst>
            </a:pPr>
            <a:r>
              <a:rPr lang="en-US" altLang="zh-CN" sz="2000" b="1" dirty="0">
                <a:latin typeface="楷体" panose="02010609060101010101" pitchFamily="49" charset="-122"/>
                <a:ea typeface="楷体" panose="02010609060101010101" pitchFamily="49" charset="-122"/>
              </a:rPr>
              <a:t>C</a:t>
            </a:r>
            <a:r>
              <a:rPr lang="zh-CN" altLang="en-US" sz="2000" b="1" dirty="0">
                <a:latin typeface="楷体" panose="02010609060101010101" pitchFamily="49" charset="-122"/>
                <a:ea typeface="楷体" panose="02010609060101010101" pitchFamily="49" charset="-122"/>
              </a:rPr>
              <a:t>语言提供了许多有关字符串处理的函数，这些函数在用</a:t>
            </a:r>
            <a:r>
              <a:rPr lang="en-US" altLang="zh-CN" sz="2000" b="1" dirty="0">
                <a:latin typeface="楷体" panose="02010609060101010101" pitchFamily="49" charset="-122"/>
                <a:ea typeface="楷体" panose="02010609060101010101" pitchFamily="49" charset="-122"/>
              </a:rPr>
              <a:t>C</a:t>
            </a:r>
            <a:r>
              <a:rPr lang="zh-CN" altLang="en-US" sz="2000" b="1" dirty="0">
                <a:latin typeface="楷体" panose="02010609060101010101" pitchFamily="49" charset="-122"/>
                <a:ea typeface="楷体" panose="02010609060101010101" pitchFamily="49" charset="-122"/>
              </a:rPr>
              <a:t>语言编程过程中经常用到，读者务必要熟练掌握。</a:t>
            </a:r>
          </a:p>
        </p:txBody>
      </p:sp>
      <p:sp>
        <p:nvSpPr>
          <p:cNvPr id="8" name="Rectangle 4">
            <a:extLst>
              <a:ext uri="{FF2B5EF4-FFF2-40B4-BE49-F238E27FC236}">
                <a16:creationId xmlns:a16="http://schemas.microsoft.com/office/drawing/2014/main" id="{916F2A3E-41EF-43CE-A92A-295A52C95F9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extLst>
      <p:ext uri="{BB962C8B-B14F-4D97-AF65-F5344CB8AC3E}">
        <p14:creationId xmlns:p14="http://schemas.microsoft.com/office/powerpoint/2010/main" val="1239381690"/>
      </p:ext>
    </p:extLst>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1961"/>
                                        </p:tgtEl>
                                        <p:attrNameLst>
                                          <p:attrName>style.visibility</p:attrName>
                                        </p:attrNameLst>
                                      </p:cBhvr>
                                      <p:to>
                                        <p:strVal val="visible"/>
                                      </p:to>
                                    </p:set>
                                    <p:animEffect transition="in" filter="box(out)">
                                      <p:cBhvr>
                                        <p:cTn id="7" dur="500"/>
                                        <p:tgtEl>
                                          <p:spTgt spid="102196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1961" grpId="0" animBg="1"/>
    </p:bldLst>
  </p:timing>
</p:sld>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16269</Words>
  <Application>Microsoft Office PowerPoint</Application>
  <PresentationFormat>宽屏</PresentationFormat>
  <Paragraphs>1979</Paragraphs>
  <Slides>51</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51</vt:i4>
      </vt:variant>
    </vt:vector>
  </HeadingPairs>
  <TitlesOfParts>
    <vt:vector size="61" baseType="lpstr">
      <vt:lpstr>等线</vt:lpstr>
      <vt:lpstr>等线 Light</vt:lpstr>
      <vt:lpstr>楷体</vt:lpstr>
      <vt:lpstr>楷体_GB2312</vt:lpstr>
      <vt:lpstr>隶书</vt:lpstr>
      <vt:lpstr>思源黑体 CN Heavy</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王锦鸿</dc:creator>
  <cp:lastModifiedBy>王锦鸿</cp:lastModifiedBy>
  <cp:revision>19</cp:revision>
  <dcterms:created xsi:type="dcterms:W3CDTF">2023-11-23T08:54:22Z</dcterms:created>
  <dcterms:modified xsi:type="dcterms:W3CDTF">2023-11-25T14:51:26Z</dcterms:modified>
</cp:coreProperties>
</file>