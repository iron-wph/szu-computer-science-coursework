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67" r:id="rId3"/>
    <p:sldId id="280" r:id="rId4"/>
    <p:sldId id="931" r:id="rId6"/>
    <p:sldId id="932" r:id="rId7"/>
    <p:sldId id="933" r:id="rId8"/>
    <p:sldId id="934" r:id="rId9"/>
    <p:sldId id="971" r:id="rId10"/>
    <p:sldId id="935" r:id="rId11"/>
    <p:sldId id="936" r:id="rId12"/>
    <p:sldId id="937" r:id="rId13"/>
    <p:sldId id="938" r:id="rId14"/>
    <p:sldId id="809" r:id="rId15"/>
    <p:sldId id="257" r:id="rId16"/>
    <p:sldId id="258" r:id="rId17"/>
    <p:sldId id="928" r:id="rId18"/>
    <p:sldId id="929" r:id="rId19"/>
    <p:sldId id="930" r:id="rId20"/>
    <p:sldId id="942" r:id="rId21"/>
    <p:sldId id="943" r:id="rId22"/>
    <p:sldId id="941" r:id="rId23"/>
    <p:sldId id="939" r:id="rId24"/>
    <p:sldId id="945" r:id="rId25"/>
    <p:sldId id="951" r:id="rId26"/>
    <p:sldId id="953" r:id="rId27"/>
    <p:sldId id="955" r:id="rId28"/>
    <p:sldId id="956" r:id="rId29"/>
    <p:sldId id="957" r:id="rId30"/>
    <p:sldId id="959" r:id="rId31"/>
    <p:sldId id="958" r:id="rId32"/>
    <p:sldId id="960" r:id="rId33"/>
    <p:sldId id="961" r:id="rId34"/>
    <p:sldId id="962" r:id="rId35"/>
    <p:sldId id="963" r:id="rId36"/>
    <p:sldId id="967" r:id="rId37"/>
    <p:sldId id="968" r:id="rId38"/>
    <p:sldId id="964" r:id="rId39"/>
    <p:sldId id="279" r:id="rId40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ACE1"/>
    <a:srgbClr val="A5CDF2"/>
    <a:srgbClr val="2F679C"/>
    <a:srgbClr val="E2F4FA"/>
    <a:srgbClr val="694B71"/>
    <a:srgbClr val="FFFFFF"/>
    <a:srgbClr val="6280A4"/>
    <a:srgbClr val="79ACEB"/>
    <a:srgbClr val="ADD1F1"/>
    <a:srgbClr val="85D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2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4" Type="http://schemas.openxmlformats.org/officeDocument/2006/relationships/tags" Target="tags/tag4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1E462-7BEE-4AB8-A1F3-12240C9DDF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15BF7-D087-4A5C-A946-C4F433E79A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49" name="组合 148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50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4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2" name="矩形 11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6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8" name="矩形 7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1" name="组合 80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2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矩形 11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1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4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10" name="矩形 9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3" name="组合 82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4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2" name="组合 8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" name="矩形 8"/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/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solidFill>
            <a:schemeClr val="bg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92" name="组合 91"/>
          <p:cNvGrpSpPr/>
          <p:nvPr userDrawn="1"/>
        </p:nvGrpSpPr>
        <p:grpSpPr>
          <a:xfrm>
            <a:off x="9814110" y="267544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93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DE715-5225-48C5-B115-3D05FF5A6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B14C8-D153-4003-8E00-F73F31A21F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.png"/><Relationship Id="rId3" Type="http://schemas.openxmlformats.org/officeDocument/2006/relationships/tags" Target="../tags/tag2.xml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tags" Target="../tags/tag5.xml"/><Relationship Id="rId4" Type="http://schemas.openxmlformats.org/officeDocument/2006/relationships/image" Target="../media/image6.png"/><Relationship Id="rId3" Type="http://schemas.openxmlformats.org/officeDocument/2006/relationships/tags" Target="../tags/tag4.xml"/><Relationship Id="rId2" Type="http://schemas.openxmlformats.org/officeDocument/2006/relationships/image" Target="../media/image5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9.png"/><Relationship Id="rId3" Type="http://schemas.openxmlformats.org/officeDocument/2006/relationships/tags" Target="../tags/tag7.xml"/><Relationship Id="rId2" Type="http://schemas.openxmlformats.org/officeDocument/2006/relationships/image" Target="../media/image8.png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1.png"/><Relationship Id="rId2" Type="http://schemas.openxmlformats.org/officeDocument/2006/relationships/tags" Target="../tags/tag8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tags" Target="../tags/tag17.xml"/><Relationship Id="rId4" Type="http://schemas.openxmlformats.org/officeDocument/2006/relationships/image" Target="../media/image19.png"/><Relationship Id="rId3" Type="http://schemas.openxmlformats.org/officeDocument/2006/relationships/tags" Target="../tags/tag16.xml"/><Relationship Id="rId2" Type="http://schemas.openxmlformats.org/officeDocument/2006/relationships/image" Target="../media/image18.png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tags" Target="../tags/tag28.xml"/><Relationship Id="rId2" Type="http://schemas.openxmlformats.org/officeDocument/2006/relationships/image" Target="../media/image30.png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tags" Target="../tags/tag30.xml"/><Relationship Id="rId2" Type="http://schemas.openxmlformats.org/officeDocument/2006/relationships/image" Target="../media/image32.png"/><Relationship Id="rId1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tags" Target="../tags/tag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tags" Target="../tags/tag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tags" Target="../tags/tag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tags" Target="../tags/tag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tags" Target="../tags/tag35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tags" Target="../tags/tag37.xml"/><Relationship Id="rId2" Type="http://schemas.openxmlformats.org/officeDocument/2006/relationships/image" Target="../media/image39.png"/><Relationship Id="rId1" Type="http://schemas.openxmlformats.org/officeDocument/2006/relationships/tags" Target="../tags/tag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1" Type="http://schemas.openxmlformats.org/officeDocument/2006/relationships/tags" Target="../tags/tag38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tags" Target="../tags/tag40.xml"/><Relationship Id="rId2" Type="http://schemas.openxmlformats.org/officeDocument/2006/relationships/image" Target="../media/image42.png"/><Relationship Id="rId1" Type="http://schemas.openxmlformats.org/officeDocument/2006/relationships/tags" Target="../tags/tag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1" Type="http://schemas.openxmlformats.org/officeDocument/2006/relationships/tags" Target="../tags/tag4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7" name="文本框 96"/>
          <p:cNvSpPr txBox="1"/>
          <p:nvPr/>
        </p:nvSpPr>
        <p:spPr>
          <a:xfrm>
            <a:off x="4550230" y="4776443"/>
            <a:ext cx="37555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</a:pPr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主讲人：李宇腾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endParaRPr lang="en-US" altLang="zh-CN" sz="2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Tx/>
            </a:pPr>
            <a:r>
              <a:rPr lang="en-US" altLang="zh-CN" sz="2400" dirty="0" err="1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wx</a:t>
            </a:r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4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t2308706060</a:t>
            </a:r>
            <a:endParaRPr lang="en-US" altLang="zh-CN" sz="2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8" name="标题 3073"/>
          <p:cNvSpPr txBox="1"/>
          <p:nvPr/>
        </p:nvSpPr>
        <p:spPr>
          <a:xfrm>
            <a:off x="4152900" y="2646242"/>
            <a:ext cx="4863834" cy="147002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dirty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 2023.12.2</a:t>
            </a:r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8" r="32279" b="41151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52854" y="1812191"/>
            <a:ext cx="91583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b="1" dirty="0">
                <a:solidFill>
                  <a:schemeClr val="bg1"/>
                </a:solidFill>
              </a:rPr>
              <a:t>复习课</a:t>
            </a:r>
            <a:endParaRPr lang="zh-CN" altLang="en-US" sz="8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08660" y="954405"/>
            <a:ext cx="75057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先讲一些良好的代码习惯和</a:t>
            </a:r>
            <a:r>
              <a:rPr lang="en-US" altLang="zh-CN" sz="2800"/>
              <a:t>debug</a:t>
            </a:r>
            <a:r>
              <a:rPr lang="zh-CN" altLang="en-US" sz="2800"/>
              <a:t>使用方法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708660" y="1630045"/>
            <a:ext cx="9594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良好的代码习惯之一，变量命名</a:t>
            </a:r>
            <a:r>
              <a:rPr lang="zh-CN" altLang="en-US"/>
              <a:t>要清晰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9940" y="2661285"/>
            <a:ext cx="5448300" cy="13563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9940" y="2292985"/>
            <a:ext cx="4229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几个不好的</a:t>
            </a:r>
            <a:r>
              <a:rPr lang="zh-CN" altLang="en-US"/>
              <a:t>例子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04280" y="2661285"/>
            <a:ext cx="5654040" cy="1341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06830" y="1085850"/>
            <a:ext cx="9119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最好是能用英文及其缩写进行</a:t>
            </a:r>
            <a:r>
              <a:rPr lang="zh-CN" altLang="en-US"/>
              <a:t>命名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79220" y="1454150"/>
            <a:ext cx="5185410" cy="2621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06830" y="4075430"/>
            <a:ext cx="5143500" cy="1661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24955" y="1593850"/>
            <a:ext cx="5318125" cy="3832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66825" y="1299210"/>
            <a:ext cx="957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良好的代码习惯之二：学会对齐整理好自己的代码框架（按</a:t>
            </a:r>
            <a:r>
              <a:rPr lang="en-US" altLang="zh-CN"/>
              <a:t>tab</a:t>
            </a:r>
            <a:r>
              <a:rPr lang="zh-CN" altLang="en-US"/>
              <a:t>进行</a:t>
            </a:r>
            <a:r>
              <a:rPr lang="zh-CN" altLang="en-US"/>
              <a:t>缩进）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97725" y="2194560"/>
            <a:ext cx="2705100" cy="876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9760" y="2194560"/>
            <a:ext cx="6284595" cy="39382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66825" y="1694815"/>
            <a:ext cx="7272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反面例子（因为自己代码习惯不好导致这道题出错）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22985" y="1217930"/>
            <a:ext cx="8347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改进</a:t>
            </a:r>
            <a:r>
              <a:rPr lang="zh-CN" altLang="en-US"/>
              <a:t>之后：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40" y="1586230"/>
            <a:ext cx="4008120" cy="47701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44135" y="1586230"/>
            <a:ext cx="3557905" cy="1289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" y="1043305"/>
            <a:ext cx="3968750" cy="5501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51815" y="977265"/>
            <a:ext cx="5426710" cy="37661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570" y="1308100"/>
            <a:ext cx="5279390" cy="852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06830" y="1167130"/>
            <a:ext cx="7820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良好代码习惯之三：学会把相同的操作放在函数里，而不要简单复制</a:t>
            </a:r>
            <a:r>
              <a:rPr lang="zh-CN" altLang="en-US"/>
              <a:t>粘贴</a:t>
            </a:r>
            <a:endParaRPr lang="zh-CN" altLang="en-US"/>
          </a:p>
          <a:p>
            <a:r>
              <a:rPr lang="zh-CN" altLang="en-US"/>
              <a:t>（待讲到函数有机会再进行</a:t>
            </a:r>
            <a:r>
              <a:rPr lang="zh-CN" altLang="en-US"/>
              <a:t>补充）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96670" y="1002030"/>
            <a:ext cx="9209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题外话：如何请教师兄师姐或者助教老师帮自己看一下自己的代码？</a:t>
            </a:r>
            <a:endParaRPr lang="zh-CN" altLang="en-US" sz="2400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38910" y="2131060"/>
            <a:ext cx="60452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</a:t>
            </a:r>
            <a:endParaRPr lang="en-US" altLang="zh-CN"/>
          </a:p>
          <a:p>
            <a:r>
              <a:rPr lang="en-US" altLang="zh-CN"/>
              <a:t>txt</a:t>
            </a:r>
            <a:endParaRPr lang="en-US" altLang="zh-CN"/>
          </a:p>
          <a:p>
            <a:r>
              <a:rPr lang="zh-CN" altLang="en-US"/>
              <a:t>说明</a:t>
            </a:r>
            <a:r>
              <a:rPr lang="zh-CN" altLang="en-US"/>
              <a:t>原因</a:t>
            </a:r>
            <a:endParaRPr lang="zh-CN" altLang="en-US"/>
          </a:p>
          <a:p>
            <a:r>
              <a:rPr lang="zh-CN" altLang="en-US"/>
              <a:t>原题</a:t>
            </a:r>
            <a:r>
              <a:rPr lang="zh-CN" altLang="en-US"/>
              <a:t>背景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15795" y="1380490"/>
            <a:ext cx="8053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debug</a:t>
            </a:r>
            <a:r>
              <a:rPr lang="zh-CN" altLang="en-US"/>
              <a:t>方法</a:t>
            </a:r>
            <a:r>
              <a:rPr lang="zh-CN" altLang="en-US"/>
              <a:t>之一：编译器自带的调试</a:t>
            </a:r>
            <a:r>
              <a:rPr lang="zh-CN" altLang="en-US"/>
              <a:t>功能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15795" y="1866900"/>
            <a:ext cx="5801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debug</a:t>
            </a:r>
            <a:r>
              <a:rPr lang="zh-CN" altLang="en-US"/>
              <a:t>方法之二：手动</a:t>
            </a:r>
            <a:r>
              <a:rPr lang="zh-CN" altLang="en-US"/>
              <a:t>调试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15795" y="2790190"/>
            <a:ext cx="7678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以冒泡排序为</a:t>
            </a:r>
            <a:r>
              <a:rPr lang="zh-CN" altLang="en-US"/>
              <a:t>例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4035" y="266513"/>
            <a:ext cx="9076765" cy="692710"/>
          </a:xfrm>
        </p:spPr>
        <p:txBody>
          <a:bodyPr/>
          <a:lstStyle/>
          <a:p>
            <a:pPr algn="l"/>
            <a:r>
              <a:rPr lang="en-US" altLang="zh-CN" sz="3600" b="1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3600" b="1">
                <a:solidFill>
                  <a:srgbClr val="FF0000"/>
                </a:solidFill>
                <a:sym typeface="+mn-ea"/>
              </a:rPr>
              <a:t>九九乘法表</a:t>
            </a:r>
            <a:endParaRPr lang="zh-CN" altLang="en-US" sz="36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28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打印出九九乘法表，</a:t>
            </a:r>
            <a:r>
              <a:rPr lang="zh-CN" altLang="en-US" sz="2400" dirty="0"/>
              <a:t>如下图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45030" y="2510790"/>
            <a:ext cx="7901940" cy="18364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60931" y="311337"/>
            <a:ext cx="4854388" cy="522381"/>
          </a:xfrm>
        </p:spPr>
        <p:txBody>
          <a:bodyPr/>
          <a:lstStyle/>
          <a:p>
            <a:pPr algn="l"/>
            <a:r>
              <a:rPr lang="en-US" altLang="zh-CN" sz="3600" b="1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3600" b="1">
                <a:solidFill>
                  <a:srgbClr val="FF0000"/>
                </a:solidFill>
                <a:sym typeface="+mn-ea"/>
              </a:rPr>
              <a:t>九九乘法表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09595" y="1056640"/>
            <a:ext cx="6175375" cy="32188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3600" b="1">
                <a:solidFill>
                  <a:srgbClr val="FF0000"/>
                </a:solidFill>
                <a:sym typeface="+mn-ea"/>
              </a:rPr>
              <a:t>九九乘法表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内容占位符 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2015" y="2026920"/>
            <a:ext cx="6827520" cy="28041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3250" y="1299210"/>
            <a:ext cx="6805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有格式要求的情况</a:t>
            </a:r>
            <a:r>
              <a:rPr lang="zh-CN" altLang="en-US"/>
              <a:t>下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3600" b="1">
                <a:solidFill>
                  <a:srgbClr val="FF0000"/>
                </a:solidFill>
                <a:sym typeface="+mn-ea"/>
              </a:rPr>
              <a:t>九九乘法表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内容占位符 1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2015" y="2026920"/>
            <a:ext cx="6827520" cy="28041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3250" y="1299210"/>
            <a:ext cx="6805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有格式要求的情况</a:t>
            </a:r>
            <a:r>
              <a:rPr lang="zh-CN" altLang="en-US"/>
              <a:t>下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2.</a:t>
            </a:r>
            <a:r>
              <a:rPr lang="zh-CN" altLang="en-US" sz="3600" b="1" dirty="0">
                <a:solidFill>
                  <a:srgbClr val="FF0000"/>
                </a:solidFill>
              </a:rPr>
              <a:t>百鸡</a:t>
            </a:r>
            <a:r>
              <a:rPr lang="zh-CN" altLang="en-US" sz="3600" b="1" dirty="0">
                <a:solidFill>
                  <a:srgbClr val="FF0000"/>
                </a:solidFill>
              </a:rPr>
              <a:t>问题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000" y="972820"/>
            <a:ext cx="5279390" cy="3335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06390" y="972820"/>
            <a:ext cx="7414260" cy="2377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20055" y="3350260"/>
            <a:ext cx="63855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2.</a:t>
            </a:r>
            <a:r>
              <a:rPr lang="zh-CN" altLang="en-US" sz="3600" b="1" dirty="0">
                <a:solidFill>
                  <a:srgbClr val="FF0000"/>
                </a:solidFill>
              </a:rPr>
              <a:t>百鸡</a:t>
            </a:r>
            <a:r>
              <a:rPr lang="zh-CN" altLang="en-US" sz="3600" b="1" dirty="0">
                <a:solidFill>
                  <a:srgbClr val="FF0000"/>
                </a:solidFill>
              </a:rPr>
              <a:t>问题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3175" y="1566545"/>
            <a:ext cx="9380855" cy="40265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3.</a:t>
            </a:r>
            <a:r>
              <a:rPr lang="zh-CN" altLang="en-US" sz="3600" b="1" dirty="0">
                <a:solidFill>
                  <a:srgbClr val="FF0000"/>
                </a:solidFill>
              </a:rPr>
              <a:t>斐波那契</a:t>
            </a:r>
            <a:r>
              <a:rPr lang="zh-CN" altLang="en-US" sz="3600" b="1" dirty="0">
                <a:solidFill>
                  <a:srgbClr val="FF0000"/>
                </a:solidFill>
              </a:rPr>
              <a:t>数列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05560" y="1123950"/>
            <a:ext cx="8368030" cy="49898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3.</a:t>
            </a:r>
            <a:r>
              <a:rPr lang="zh-CN" altLang="en-US" sz="3600" b="1" dirty="0">
                <a:solidFill>
                  <a:srgbClr val="FF0000"/>
                </a:solidFill>
              </a:rPr>
              <a:t>斐波那契</a:t>
            </a:r>
            <a:r>
              <a:rPr lang="zh-CN" altLang="en-US" sz="3600" b="1" dirty="0">
                <a:solidFill>
                  <a:srgbClr val="FF0000"/>
                </a:solidFill>
              </a:rPr>
              <a:t>数列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62710" y="1357630"/>
            <a:ext cx="7882890" cy="33496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4.</a:t>
            </a:r>
            <a:r>
              <a:rPr lang="zh-CN" altLang="en-US" sz="3600" b="1" dirty="0">
                <a:solidFill>
                  <a:srgbClr val="FF0000"/>
                </a:solidFill>
              </a:rPr>
              <a:t>整数</a:t>
            </a:r>
            <a:r>
              <a:rPr lang="zh-CN" altLang="en-US" sz="3600" b="1" dirty="0">
                <a:solidFill>
                  <a:srgbClr val="FF0000"/>
                </a:solidFill>
              </a:rPr>
              <a:t>去重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1720" y="839470"/>
            <a:ext cx="7647940" cy="4737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1850" y="1036320"/>
            <a:ext cx="7604760" cy="47853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330055" y="1370330"/>
            <a:ext cx="1420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注意：</a:t>
            </a:r>
            <a:r>
              <a:rPr lang="en-US" altLang="zh-CN"/>
              <a:t>i--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5.</a:t>
            </a:r>
            <a:r>
              <a:rPr lang="zh-CN" altLang="en-US" sz="3600" b="1" dirty="0">
                <a:solidFill>
                  <a:srgbClr val="FF0000"/>
                </a:solidFill>
              </a:rPr>
              <a:t>数列</a:t>
            </a:r>
            <a:r>
              <a:rPr lang="zh-CN" altLang="en-US" sz="3600" b="1" dirty="0">
                <a:solidFill>
                  <a:srgbClr val="FF0000"/>
                </a:solidFill>
              </a:rPr>
              <a:t>求和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5320" y="897890"/>
            <a:ext cx="7026275" cy="538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94360" y="1071880"/>
            <a:ext cx="7398385" cy="43491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6.</a:t>
            </a:r>
            <a:r>
              <a:rPr lang="zh-CN" altLang="en-US" sz="3600" b="1" dirty="0">
                <a:solidFill>
                  <a:srgbClr val="FF0000"/>
                </a:solidFill>
              </a:rPr>
              <a:t>约瑟夫</a:t>
            </a:r>
            <a:r>
              <a:rPr lang="zh-CN" altLang="en-US" sz="3600" b="1" dirty="0">
                <a:solidFill>
                  <a:srgbClr val="FF0000"/>
                </a:solidFill>
              </a:rPr>
              <a:t>环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2440" y="991870"/>
            <a:ext cx="11215370" cy="511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6.</a:t>
            </a:r>
            <a:r>
              <a:rPr lang="zh-CN" altLang="en-US" sz="3600" b="1" dirty="0">
                <a:solidFill>
                  <a:srgbClr val="FF0000"/>
                </a:solidFill>
              </a:rPr>
              <a:t>约瑟夫</a:t>
            </a:r>
            <a:r>
              <a:rPr lang="zh-CN" altLang="en-US" sz="3600" b="1" dirty="0">
                <a:solidFill>
                  <a:srgbClr val="FF0000"/>
                </a:solidFill>
              </a:rPr>
              <a:t>环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5485" y="990600"/>
            <a:ext cx="9596120" cy="531241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7.</a:t>
            </a:r>
            <a:r>
              <a:rPr lang="zh-CN" altLang="en-US" sz="3600" b="1" dirty="0">
                <a:solidFill>
                  <a:srgbClr val="FF0000"/>
                </a:solidFill>
              </a:rPr>
              <a:t>合并有序</a:t>
            </a:r>
            <a:r>
              <a:rPr lang="zh-CN" altLang="en-US" sz="3600" b="1" dirty="0">
                <a:solidFill>
                  <a:srgbClr val="FF0000"/>
                </a:solidFill>
              </a:rPr>
              <a:t>数列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3" name="内容占位符 2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3240" y="974725"/>
            <a:ext cx="8871585" cy="3525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9260" y="4641850"/>
            <a:ext cx="9728835" cy="16992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7.</a:t>
            </a:r>
            <a:r>
              <a:rPr lang="zh-CN" altLang="en-US" sz="3600" b="1" dirty="0">
                <a:solidFill>
                  <a:srgbClr val="FF0000"/>
                </a:solidFill>
              </a:rPr>
              <a:t>合并有序</a:t>
            </a:r>
            <a:r>
              <a:rPr lang="zh-CN" altLang="en-US" sz="3600" b="1" dirty="0">
                <a:solidFill>
                  <a:srgbClr val="FF0000"/>
                </a:solidFill>
              </a:rPr>
              <a:t>数列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7975" y="841375"/>
            <a:ext cx="5245100" cy="41103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53075" y="978535"/>
            <a:ext cx="5210175" cy="39731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8.</a:t>
            </a:r>
            <a:r>
              <a:rPr lang="zh-CN" altLang="en-US" sz="3600" b="1" dirty="0">
                <a:solidFill>
                  <a:srgbClr val="FF0000"/>
                </a:solidFill>
                <a:sym typeface="+mn-ea"/>
              </a:rPr>
              <a:t>矩阵加法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0540" y="876300"/>
            <a:ext cx="6850380" cy="56883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8.</a:t>
            </a:r>
            <a:r>
              <a:rPr lang="zh-CN" altLang="en-US" sz="3600" b="1" dirty="0">
                <a:solidFill>
                  <a:srgbClr val="FF0000"/>
                </a:solidFill>
              </a:rPr>
              <a:t>矩阵</a:t>
            </a:r>
            <a:r>
              <a:rPr lang="zh-CN" altLang="en-US" sz="3600" b="1" dirty="0">
                <a:solidFill>
                  <a:srgbClr val="FF0000"/>
                </a:solidFill>
              </a:rPr>
              <a:t>加法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5955" y="829945"/>
            <a:ext cx="5757545" cy="57962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9.</a:t>
            </a:r>
            <a:r>
              <a:rPr lang="zh-CN" altLang="en-US" sz="3600" b="1" dirty="0">
                <a:solidFill>
                  <a:srgbClr val="FF0000"/>
                </a:solidFill>
              </a:rPr>
              <a:t>矩阵</a:t>
            </a:r>
            <a:r>
              <a:rPr lang="zh-CN" altLang="en-US" sz="3600" b="1" dirty="0">
                <a:solidFill>
                  <a:srgbClr val="FF0000"/>
                </a:solidFill>
              </a:rPr>
              <a:t>旋转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6925" y="868680"/>
            <a:ext cx="6732905" cy="5344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9.</a:t>
            </a:r>
            <a:r>
              <a:rPr lang="zh-CN" altLang="en-US" sz="3600" b="1" dirty="0">
                <a:solidFill>
                  <a:srgbClr val="FF0000"/>
                </a:solidFill>
              </a:rPr>
              <a:t>矩阵</a:t>
            </a:r>
            <a:r>
              <a:rPr lang="zh-CN" altLang="en-US" sz="3600" b="1" dirty="0">
                <a:solidFill>
                  <a:srgbClr val="FF0000"/>
                </a:solidFill>
              </a:rPr>
              <a:t>旋转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48385" y="1149350"/>
            <a:ext cx="5814060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10.</a:t>
            </a:r>
            <a:r>
              <a:rPr lang="zh-CN" altLang="en-US" sz="3600" b="1" dirty="0">
                <a:solidFill>
                  <a:srgbClr val="FF0000"/>
                </a:solidFill>
              </a:rPr>
              <a:t>矩阵</a:t>
            </a:r>
            <a:r>
              <a:rPr lang="zh-CN" altLang="en-US" sz="3600" b="1" dirty="0">
                <a:solidFill>
                  <a:srgbClr val="FF0000"/>
                </a:solidFill>
              </a:rPr>
              <a:t>乘法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9475" y="819150"/>
            <a:ext cx="6659880" cy="5684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10.</a:t>
            </a:r>
            <a:r>
              <a:rPr lang="zh-CN" altLang="en-US" sz="3600" b="1" dirty="0">
                <a:solidFill>
                  <a:srgbClr val="FF0000"/>
                </a:solidFill>
              </a:rPr>
              <a:t>矩阵</a:t>
            </a:r>
            <a:r>
              <a:rPr lang="zh-CN" altLang="en-US" sz="3600" b="1" dirty="0">
                <a:solidFill>
                  <a:srgbClr val="FF0000"/>
                </a:solidFill>
              </a:rPr>
              <a:t>乘法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2760" y="1052830"/>
            <a:ext cx="5544820" cy="52044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66460" y="1154430"/>
            <a:ext cx="4678680" cy="28727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11.</a:t>
            </a:r>
            <a:r>
              <a:rPr lang="zh-CN" altLang="en-US" sz="3600" b="1" dirty="0">
                <a:solidFill>
                  <a:srgbClr val="FF0000"/>
                </a:solidFill>
              </a:rPr>
              <a:t>蛇形</a:t>
            </a:r>
            <a:r>
              <a:rPr lang="zh-CN" altLang="en-US" sz="3600" b="1" dirty="0">
                <a:solidFill>
                  <a:srgbClr val="FF0000"/>
                </a:solidFill>
              </a:rPr>
              <a:t>方阵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85495" y="853440"/>
            <a:ext cx="6290310" cy="55784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/>
          <p:nvPr/>
        </p:nvSpPr>
        <p:spPr>
          <a:xfrm>
            <a:off x="1143000" y="270474"/>
            <a:ext cx="7319682" cy="7823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FF0000"/>
                </a:solidFill>
              </a:rPr>
              <a:t>11.</a:t>
            </a:r>
            <a:r>
              <a:rPr lang="zh-CN" altLang="en-US" sz="3600" b="1" dirty="0">
                <a:solidFill>
                  <a:srgbClr val="FF0000"/>
                </a:solidFill>
              </a:rPr>
              <a:t>蛇形</a:t>
            </a:r>
            <a:r>
              <a:rPr lang="zh-CN" altLang="en-US" sz="3600" b="1" dirty="0">
                <a:solidFill>
                  <a:srgbClr val="FF0000"/>
                </a:solidFill>
              </a:rPr>
              <a:t>方阵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1305" y="850265"/>
            <a:ext cx="6149340" cy="34639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30645" y="850265"/>
            <a:ext cx="5334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30605" y="1360170"/>
            <a:ext cx="6622415" cy="36398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511567"/>
            <a:ext cx="12191998" cy="46171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53424" y="403572"/>
            <a:ext cx="7900211" cy="2215991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3800" b="1" cap="none" spc="0" dirty="0">
                <a:ln w="6600">
                  <a:solidFill>
                    <a:srgbClr val="85D1EB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rgbClr val="5CA7BA"/>
                  </a:outerShdw>
                </a:effectLst>
              </a:rPr>
              <a:t>THANKS </a:t>
            </a:r>
            <a:endParaRPr lang="zh-CN" altLang="en-US" sz="13800" b="1" cap="none" spc="0" dirty="0">
              <a:ln w="6600">
                <a:solidFill>
                  <a:srgbClr val="85D1EB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tl" rotWithShape="0">
                  <a:srgbClr val="5CA7BA"/>
                </a:outerShdw>
              </a:effectLst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-3" y="18855"/>
            <a:ext cx="12192000" cy="769434"/>
          </a:xfrm>
          <a:prstGeom prst="rect">
            <a:avLst/>
          </a:prstGeom>
          <a:solidFill>
            <a:srgbClr val="4FA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-2" y="6088566"/>
            <a:ext cx="12192000" cy="769434"/>
          </a:xfrm>
          <a:prstGeom prst="rect">
            <a:avLst/>
          </a:prstGeom>
          <a:solidFill>
            <a:srgbClr val="4FAC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98110" y="403572"/>
            <a:ext cx="8010838" cy="2322777"/>
          </a:xfrm>
          <a:custGeom>
            <a:avLst/>
            <a:gdLst>
              <a:gd name="connsiteX0" fmla="*/ 0 w 8010838"/>
              <a:gd name="connsiteY0" fmla="*/ 0 h 2322777"/>
              <a:gd name="connsiteX1" fmla="*/ 8010838 w 8010838"/>
              <a:gd name="connsiteY1" fmla="*/ 0 h 2322777"/>
              <a:gd name="connsiteX2" fmla="*/ 8010838 w 8010838"/>
              <a:gd name="connsiteY2" fmla="*/ 2322777 h 2322777"/>
              <a:gd name="connsiteX3" fmla="*/ 7955525 w 8010838"/>
              <a:gd name="connsiteY3" fmla="*/ 2322777 h 2322777"/>
              <a:gd name="connsiteX4" fmla="*/ 7955525 w 8010838"/>
              <a:gd name="connsiteY4" fmla="*/ 1067839 h 2322777"/>
              <a:gd name="connsiteX5" fmla="*/ 395768 w 8010838"/>
              <a:gd name="connsiteY5" fmla="*/ 1067839 h 2322777"/>
              <a:gd name="connsiteX6" fmla="*/ 395768 w 8010838"/>
              <a:gd name="connsiteY6" fmla="*/ 2322777 h 2322777"/>
              <a:gd name="connsiteX7" fmla="*/ 0 w 8010838"/>
              <a:gd name="connsiteY7" fmla="*/ 2322777 h 232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10838" h="2322777">
                <a:moveTo>
                  <a:pt x="0" y="0"/>
                </a:moveTo>
                <a:lnTo>
                  <a:pt x="8010838" y="0"/>
                </a:lnTo>
                <a:lnTo>
                  <a:pt x="8010838" y="2322777"/>
                </a:lnTo>
                <a:lnTo>
                  <a:pt x="7955525" y="2322777"/>
                </a:lnTo>
                <a:lnTo>
                  <a:pt x="7955525" y="1067839"/>
                </a:lnTo>
                <a:lnTo>
                  <a:pt x="395768" y="1067839"/>
                </a:lnTo>
                <a:lnTo>
                  <a:pt x="395768" y="2322777"/>
                </a:lnTo>
                <a:lnTo>
                  <a:pt x="0" y="232277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COMMONDATA" val="eyJoZGlkIjoiY2ZlYzA5YzY5MjkxMmI4MDJmM2FkZmE1Y2NhNjdjMzEifQ=="/>
  <p:tag name="KSO_WPP_MARK_KEY" val="11bc5a18-874f-4f12-842d-157bf1cfbfc0"/>
</p:tagLst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演示</Application>
  <PresentationFormat>宽屏</PresentationFormat>
  <Paragraphs>92</Paragraphs>
  <Slides>37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Arial</vt:lpstr>
      <vt:lpstr>宋体</vt:lpstr>
      <vt:lpstr>Wingdings</vt:lpstr>
      <vt:lpstr>思源黑体 CN Heavy</vt:lpstr>
      <vt:lpstr>黑体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1.九九乘法表</vt:lpstr>
      <vt:lpstr>1.九九乘法表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 t</dc:creator>
  <cp:lastModifiedBy>。。</cp:lastModifiedBy>
  <cp:revision>192</cp:revision>
  <dcterms:created xsi:type="dcterms:W3CDTF">2019-02-26T12:52:00Z</dcterms:created>
  <dcterms:modified xsi:type="dcterms:W3CDTF">2023-12-02T15:16:50Z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A25213DC858240A8B56E4F79EB0E2AFD_12</vt:lpwstr>
  </property>
  <property fmtid="{D5CDD505-2E9C-101B-9397-08002B2CF9AE}" pid="3" name="KSOProductBuildVer">
    <vt:lpwstr>2052-11.1.0.15319</vt:lpwstr>
  </property>
</Properties>
</file>