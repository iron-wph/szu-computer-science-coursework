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67" r:id="rId2"/>
    <p:sldId id="807" r:id="rId3"/>
    <p:sldId id="811" r:id="rId4"/>
    <p:sldId id="808" r:id="rId5"/>
    <p:sldId id="812" r:id="rId6"/>
    <p:sldId id="810" r:id="rId7"/>
    <p:sldId id="813" r:id="rId8"/>
    <p:sldId id="814" r:id="rId9"/>
    <p:sldId id="809" r:id="rId10"/>
    <p:sldId id="279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ACE1"/>
    <a:srgbClr val="A5CDF2"/>
    <a:srgbClr val="2F679C"/>
    <a:srgbClr val="E2F4FA"/>
    <a:srgbClr val="694B71"/>
    <a:srgbClr val="FFFFFF"/>
    <a:srgbClr val="6280A4"/>
    <a:srgbClr val="79ACEB"/>
    <a:srgbClr val="ADD1F1"/>
    <a:srgbClr val="85D1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96" autoAdjust="0"/>
    <p:restoredTop sz="94660"/>
  </p:normalViewPr>
  <p:slideViewPr>
    <p:cSldViewPr snapToGrid="0">
      <p:cViewPr varScale="1">
        <p:scale>
          <a:sx n="85" d="100"/>
          <a:sy n="85" d="100"/>
        </p:scale>
        <p:origin x="26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1E462-7BEE-4AB8-A1F3-12240C9DDFAD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15BF7-D087-4A5C-A946-C4F433E79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023EC5A-1B10-4E5E-B4BD-352D007AC670}" type="slidenum">
              <a:rPr lang="en-US" altLang="zh-CN"/>
              <a:t>2</a:t>
            </a:fld>
            <a:endParaRPr lang="en-US" altLang="zh-CN"/>
          </a:p>
        </p:txBody>
      </p:sp>
      <p:sp>
        <p:nvSpPr>
          <p:cNvPr id="953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953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023EC5A-1B10-4E5E-B4BD-352D007AC670}" type="slidenum">
              <a:rPr lang="en-US" altLang="zh-CN"/>
              <a:t>3</a:t>
            </a:fld>
            <a:endParaRPr lang="en-US" altLang="zh-CN"/>
          </a:p>
        </p:txBody>
      </p:sp>
      <p:sp>
        <p:nvSpPr>
          <p:cNvPr id="953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953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9068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DE715-5225-48C5-B115-3D05FF5A6CE0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14C8-D153-4003-8E00-F73F31A21F4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9" name="矩形 8"/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/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2" name="组合 81"/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83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8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DE715-5225-48C5-B115-3D05FF5A6CE0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14C8-D153-4003-8E00-F73F31A21F4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9" name="矩形 8"/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/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149" name="组合 148"/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150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1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2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3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4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5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6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7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8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0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1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2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3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4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5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6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7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8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9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0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1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2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3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4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5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6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7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8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9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0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1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2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3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4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5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6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7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8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9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0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1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2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3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4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5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6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7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8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9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0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1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2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3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4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5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6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7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8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9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0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1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2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3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4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5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DE715-5225-48C5-B115-3D05FF5A6CE0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14C8-D153-4003-8E00-F73F31A21F4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0" name="矩形 9"/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5" name="矩形 14"/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3" name="组合 82"/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84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8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DE715-5225-48C5-B115-3D05FF5A6CE0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14C8-D153-4003-8E00-F73F31A21F4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2" name="矩形 11"/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7" name="矩形 16"/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86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8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0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1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DE715-5225-48C5-B115-3D05FF5A6CE0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14C8-D153-4003-8E00-F73F31A21F4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8" name="矩形 7"/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1" name="组合 80"/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82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3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DE715-5225-48C5-B115-3D05FF5A6CE0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14C8-D153-4003-8E00-F73F31A21F4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7" name="矩形 6"/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2" name="矩形 11"/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81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3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DE715-5225-48C5-B115-3D05FF5A6CE0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14C8-D153-4003-8E00-F73F31A21F4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0" name="矩形 9"/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5" name="矩形 14"/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3" name="组合 82"/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84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8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DE715-5225-48C5-B115-3D05FF5A6CE0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14C8-D153-4003-8E00-F73F31A21F4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0" name="矩形 9"/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5" name="矩形 14"/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3" name="组合 82"/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84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8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DE715-5225-48C5-B115-3D05FF5A6CE0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14C8-D153-4003-8E00-F73F31A21F4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9" name="矩形 8"/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/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2" name="组合 81"/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83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8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DE715-5225-48C5-B115-3D05FF5A6CE0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14C8-D153-4003-8E00-F73F31A21F4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9" name="矩形 8"/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/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2" name="组合 81"/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83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8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9" name="矩形 8"/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/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92" name="组合 91"/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93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8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0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1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2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3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4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5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6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7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8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DE715-5225-48C5-B115-3D05FF5A6CE0}" type="datetimeFigureOut">
              <a:rPr lang="zh-CN" altLang="en-US" smtClean="0"/>
              <a:t>2023/12/30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B14C8-D153-4003-8E00-F73F31A21F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6" t="88" r="64" b="12548"/>
          <a:stretch>
            <a:fillRect/>
          </a:stretch>
        </p:blipFill>
        <p:spPr>
          <a:xfrm>
            <a:off x="482" y="0"/>
            <a:ext cx="12191999" cy="8267612"/>
          </a:xfrm>
          <a:prstGeom prst="rect">
            <a:avLst/>
          </a:prstGeom>
        </p:spPr>
      </p:pic>
      <p:sp>
        <p:nvSpPr>
          <p:cNvPr id="76" name="任意多边形: 形状 75"/>
          <p:cNvSpPr/>
          <p:nvPr/>
        </p:nvSpPr>
        <p:spPr>
          <a:xfrm rot="20940000">
            <a:off x="-230645" y="-1192196"/>
            <a:ext cx="12770482" cy="3627778"/>
          </a:xfrm>
          <a:custGeom>
            <a:avLst/>
            <a:gdLst>
              <a:gd name="connsiteX0" fmla="*/ 12770482 w 12770482"/>
              <a:gd name="connsiteY0" fmla="*/ 3571764 h 3627778"/>
              <a:gd name="connsiteX1" fmla="*/ 12770482 w 12770482"/>
              <a:gd name="connsiteY1" fmla="*/ 3627778 h 3627778"/>
              <a:gd name="connsiteX2" fmla="*/ 12759594 w 12770482"/>
              <a:gd name="connsiteY2" fmla="*/ 3627778 h 3627778"/>
              <a:gd name="connsiteX3" fmla="*/ 456753 w 12770482"/>
              <a:gd name="connsiteY3" fmla="*/ 0 h 3627778"/>
              <a:gd name="connsiteX4" fmla="*/ 12424752 w 12770482"/>
              <a:gd name="connsiteY4" fmla="*/ 2326343 h 3627778"/>
              <a:gd name="connsiteX5" fmla="*/ 12171778 w 12770482"/>
              <a:gd name="connsiteY5" fmla="*/ 3627778 h 3627778"/>
              <a:gd name="connsiteX6" fmla="*/ 1031105 w 12770482"/>
              <a:gd name="connsiteY6" fmla="*/ 3627778 h 3627778"/>
              <a:gd name="connsiteX7" fmla="*/ 0 w 12770482"/>
              <a:gd name="connsiteY7" fmla="*/ 2349789 h 3627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770482" h="3627778">
                <a:moveTo>
                  <a:pt x="12770482" y="3571764"/>
                </a:moveTo>
                <a:lnTo>
                  <a:pt x="12770482" y="3627778"/>
                </a:lnTo>
                <a:lnTo>
                  <a:pt x="12759594" y="3627778"/>
                </a:lnTo>
                <a:close/>
                <a:moveTo>
                  <a:pt x="456753" y="0"/>
                </a:moveTo>
                <a:lnTo>
                  <a:pt x="12424752" y="2326343"/>
                </a:lnTo>
                <a:lnTo>
                  <a:pt x="12171778" y="3627778"/>
                </a:lnTo>
                <a:lnTo>
                  <a:pt x="1031105" y="3627778"/>
                </a:lnTo>
                <a:lnTo>
                  <a:pt x="0" y="2349789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7" name="任意多边形: 形状 36"/>
          <p:cNvSpPr/>
          <p:nvPr/>
        </p:nvSpPr>
        <p:spPr>
          <a:xfrm rot="600000">
            <a:off x="46696" y="2800202"/>
            <a:ext cx="821674" cy="797295"/>
          </a:xfrm>
          <a:custGeom>
            <a:avLst/>
            <a:gdLst>
              <a:gd name="connsiteX0" fmla="*/ 293485 w 821674"/>
              <a:gd name="connsiteY0" fmla="*/ 0 h 797295"/>
              <a:gd name="connsiteX1" fmla="*/ 821674 w 821674"/>
              <a:gd name="connsiteY1" fmla="*/ 797295 h 797295"/>
              <a:gd name="connsiteX2" fmla="*/ 62470 w 821674"/>
              <a:gd name="connsiteY2" fmla="*/ 797295 h 797295"/>
              <a:gd name="connsiteX3" fmla="*/ 0 w 821674"/>
              <a:gd name="connsiteY3" fmla="*/ 443012 h 797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1674" h="797295">
                <a:moveTo>
                  <a:pt x="293485" y="0"/>
                </a:moveTo>
                <a:lnTo>
                  <a:pt x="821674" y="797295"/>
                </a:lnTo>
                <a:lnTo>
                  <a:pt x="62470" y="797295"/>
                </a:lnTo>
                <a:lnTo>
                  <a:pt x="0" y="443012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just"/>
            <a:endParaRPr lang="zh-CN" altLang="en-US" u="sng" dirty="0"/>
          </a:p>
        </p:txBody>
      </p:sp>
      <p:sp>
        <p:nvSpPr>
          <p:cNvPr id="43" name="任意多边形: 形状 42"/>
          <p:cNvSpPr/>
          <p:nvPr/>
        </p:nvSpPr>
        <p:spPr>
          <a:xfrm rot="10141441">
            <a:off x="-107012" y="2843366"/>
            <a:ext cx="12466655" cy="244769"/>
          </a:xfrm>
          <a:custGeom>
            <a:avLst/>
            <a:gdLst>
              <a:gd name="connsiteX0" fmla="*/ 9485248 w 12466655"/>
              <a:gd name="connsiteY0" fmla="*/ 244769 h 244769"/>
              <a:gd name="connsiteX1" fmla="*/ 9424055 w 12466655"/>
              <a:gd name="connsiteY1" fmla="*/ 0 h 244769"/>
              <a:gd name="connsiteX2" fmla="*/ 12466655 w 12466655"/>
              <a:gd name="connsiteY2" fmla="*/ 0 h 244769"/>
              <a:gd name="connsiteX3" fmla="*/ 12419183 w 12466655"/>
              <a:gd name="connsiteY3" fmla="*/ 244769 h 244769"/>
              <a:gd name="connsiteX4" fmla="*/ 0 w 12466655"/>
              <a:gd name="connsiteY4" fmla="*/ 244769 h 244769"/>
              <a:gd name="connsiteX5" fmla="*/ 47472 w 12466655"/>
              <a:gd name="connsiteY5" fmla="*/ 0 h 244769"/>
              <a:gd name="connsiteX6" fmla="*/ 8762326 w 12466655"/>
              <a:gd name="connsiteY6" fmla="*/ 0 h 244769"/>
              <a:gd name="connsiteX7" fmla="*/ 8823518 w 12466655"/>
              <a:gd name="connsiteY7" fmla="*/ 244769 h 244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66655" h="244769">
                <a:moveTo>
                  <a:pt x="9485248" y="244769"/>
                </a:moveTo>
                <a:lnTo>
                  <a:pt x="9424055" y="0"/>
                </a:lnTo>
                <a:lnTo>
                  <a:pt x="12466655" y="0"/>
                </a:lnTo>
                <a:lnTo>
                  <a:pt x="12419183" y="244769"/>
                </a:lnTo>
                <a:close/>
                <a:moveTo>
                  <a:pt x="0" y="244769"/>
                </a:moveTo>
                <a:lnTo>
                  <a:pt x="47472" y="0"/>
                </a:lnTo>
                <a:lnTo>
                  <a:pt x="8762326" y="0"/>
                </a:lnTo>
                <a:lnTo>
                  <a:pt x="8823518" y="244769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51" name="直接连接符 50"/>
          <p:cNvCxnSpPr/>
          <p:nvPr/>
        </p:nvCxnSpPr>
        <p:spPr>
          <a:xfrm flipV="1">
            <a:off x="6096000" y="5919133"/>
            <a:ext cx="6224454" cy="955312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V="1">
            <a:off x="6819900" y="6062052"/>
            <a:ext cx="5380251" cy="825746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81900" y="6162507"/>
            <a:ext cx="4720884" cy="724548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V="1">
            <a:off x="8067675" y="6243073"/>
            <a:ext cx="4295954" cy="659331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V="1">
            <a:off x="9016734" y="6374495"/>
            <a:ext cx="3373781" cy="517798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9686925" y="6473754"/>
            <a:ext cx="2660415" cy="408313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10325100" y="6594881"/>
            <a:ext cx="2007411" cy="308090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11239500" y="6716292"/>
            <a:ext cx="1063284" cy="163189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11677650" y="6804013"/>
            <a:ext cx="756042" cy="116034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9814110" y="169889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18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7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9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0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1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3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97" name="文本框 96"/>
          <p:cNvSpPr txBox="1"/>
          <p:nvPr/>
        </p:nvSpPr>
        <p:spPr>
          <a:xfrm>
            <a:off x="4550230" y="4776443"/>
            <a:ext cx="3755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主讲人：王培鸿</a:t>
            </a:r>
          </a:p>
        </p:txBody>
      </p:sp>
      <p:sp>
        <p:nvSpPr>
          <p:cNvPr id="98" name="标题 3073"/>
          <p:cNvSpPr txBox="1"/>
          <p:nvPr/>
        </p:nvSpPr>
        <p:spPr>
          <a:xfrm>
            <a:off x="2866399" y="2646242"/>
            <a:ext cx="6459203" cy="1470025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dirty="0">
                <a:latin typeface="Arial" panose="020B0604020202020204" pitchFamily="34" charset="0"/>
                <a:ea typeface="宋体" panose="02010600030101010101" pitchFamily="2" charset="-122"/>
              </a:rPr>
              <a:t>备考技巧</a:t>
            </a:r>
            <a:r>
              <a:rPr lang="en-US" altLang="zh-CN" sz="5400" dirty="0"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r>
              <a:rPr lang="zh-CN" altLang="en-US" sz="5400" dirty="0">
                <a:latin typeface="Arial" panose="020B0604020202020204" pitchFamily="34" charset="0"/>
                <a:ea typeface="宋体" panose="02010600030101010101" pitchFamily="2" charset="-122"/>
              </a:rPr>
              <a:t>现场答疑</a:t>
            </a:r>
            <a:endParaRPr lang="en-US" altLang="zh-CN" sz="5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4"/>
          <p:cNvSpPr>
            <a:spLocks noChangeArrowheads="1"/>
          </p:cNvSpPr>
          <p:nvPr/>
        </p:nvSpPr>
        <p:spPr bwMode="auto">
          <a:xfrm>
            <a:off x="1060704" y="280648"/>
            <a:ext cx="8135937" cy="60960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Debug in Dev-C++</a:t>
            </a:r>
            <a:endParaRPr lang="zh-CN" altLang="en-US" sz="3200" b="1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ˎ̥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C960DDB-CBF9-4709-A4F6-F93172C83D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36" y="1711214"/>
            <a:ext cx="4718974" cy="343557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44CB6EB-9971-428A-81D8-E0A3553854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341" y="1711214"/>
            <a:ext cx="4573882" cy="3660736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C051F96B-6122-4D4D-9AC8-3FEA48797B22}"/>
              </a:ext>
            </a:extLst>
          </p:cNvPr>
          <p:cNvSpPr txBox="1"/>
          <p:nvPr/>
        </p:nvSpPr>
        <p:spPr>
          <a:xfrm>
            <a:off x="753036" y="1116065"/>
            <a:ext cx="2089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需要调试的程序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04B00CF3-372D-4CEB-9049-947DA10ED5DD}"/>
              </a:ext>
            </a:extLst>
          </p:cNvPr>
          <p:cNvSpPr txBox="1"/>
          <p:nvPr/>
        </p:nvSpPr>
        <p:spPr>
          <a:xfrm>
            <a:off x="6157341" y="1116065"/>
            <a:ext cx="4859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在需要查看的代码块前双击行号，设置</a:t>
            </a:r>
            <a:r>
              <a:rPr lang="zh-CN" altLang="en-US" b="1" dirty="0"/>
              <a:t>断点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4"/>
          <p:cNvSpPr>
            <a:spLocks noChangeArrowheads="1"/>
          </p:cNvSpPr>
          <p:nvPr/>
        </p:nvSpPr>
        <p:spPr bwMode="auto">
          <a:xfrm>
            <a:off x="1060704" y="280648"/>
            <a:ext cx="8135937" cy="60960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Debug in Dev-C++</a:t>
            </a:r>
            <a:endParaRPr lang="zh-CN" altLang="en-US" sz="3200" b="1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ˎ̥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B9FF284-AAA3-4842-B9BA-F594551334D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91"/>
          <a:stretch/>
        </p:blipFill>
        <p:spPr>
          <a:xfrm>
            <a:off x="6540838" y="1227349"/>
            <a:ext cx="4169826" cy="267213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0FF41401-CF74-422E-A824-9704CE14E8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838" y="4348711"/>
            <a:ext cx="4169826" cy="256387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F7C473A-5D81-45DA-AEC4-E862D5F90E68}"/>
              </a:ext>
            </a:extLst>
          </p:cNvPr>
          <p:cNvSpPr txBox="1"/>
          <p:nvPr/>
        </p:nvSpPr>
        <p:spPr>
          <a:xfrm>
            <a:off x="258115" y="906423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调试步骤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BBFCEDB-E145-4898-9A59-E081CA2B2998}"/>
              </a:ext>
            </a:extLst>
          </p:cNvPr>
          <p:cNvSpPr txBox="1"/>
          <p:nvPr/>
        </p:nvSpPr>
        <p:spPr>
          <a:xfrm>
            <a:off x="6452726" y="886680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查看</a:t>
            </a:r>
            <a:r>
              <a:rPr lang="zh-CN" altLang="en-US" b="1" dirty="0"/>
              <a:t>变量</a:t>
            </a:r>
            <a:r>
              <a:rPr lang="en-US" altLang="zh-CN" b="1" dirty="0" err="1"/>
              <a:t>i</a:t>
            </a:r>
            <a:endParaRPr lang="zh-CN" altLang="en-US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977D57-EF6E-407A-9C65-A02C09830D79}"/>
              </a:ext>
            </a:extLst>
          </p:cNvPr>
          <p:cNvSpPr txBox="1"/>
          <p:nvPr/>
        </p:nvSpPr>
        <p:spPr>
          <a:xfrm>
            <a:off x="6540838" y="3979379"/>
            <a:ext cx="3012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查看</a:t>
            </a:r>
            <a:r>
              <a:rPr lang="zh-CN" altLang="en-US" b="1" dirty="0"/>
              <a:t>数组或数组中的元素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D40851-913A-4F93-B233-83A4D4BC43A5}"/>
              </a:ext>
            </a:extLst>
          </p:cNvPr>
          <p:cNvSpPr txBox="1"/>
          <p:nvPr/>
        </p:nvSpPr>
        <p:spPr>
          <a:xfrm>
            <a:off x="103722" y="5325850"/>
            <a:ext cx="54938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在添加查看的选项中，输入需要查看的变量名即可；</a:t>
            </a:r>
            <a:endParaRPr lang="en-US" altLang="zh-CN" dirty="0"/>
          </a:p>
          <a:p>
            <a:r>
              <a:rPr lang="zh-CN" altLang="en-US" dirty="0"/>
              <a:t>输入</a:t>
            </a:r>
            <a:r>
              <a:rPr lang="zh-CN" altLang="en-US" b="1" dirty="0"/>
              <a:t>数组的首地址</a:t>
            </a:r>
            <a:r>
              <a:rPr lang="zh-CN" altLang="en-US" dirty="0"/>
              <a:t>可以查看整个</a:t>
            </a:r>
            <a:r>
              <a:rPr lang="zh-CN" altLang="en-US" b="1" dirty="0"/>
              <a:t>数组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要查看数组中的</a:t>
            </a:r>
            <a:r>
              <a:rPr lang="zh-CN" altLang="en-US" b="1" dirty="0"/>
              <a:t>某个元素</a:t>
            </a:r>
            <a:r>
              <a:rPr lang="zh-CN" altLang="en-US" dirty="0"/>
              <a:t>，输入“</a:t>
            </a:r>
            <a:r>
              <a:rPr lang="zh-CN" altLang="en-US" b="1" dirty="0"/>
              <a:t>数组名</a:t>
            </a:r>
            <a:r>
              <a:rPr lang="en-US" altLang="zh-CN" b="1" dirty="0"/>
              <a:t>[</a:t>
            </a:r>
            <a:r>
              <a:rPr lang="zh-CN" altLang="en-US" b="1" dirty="0"/>
              <a:t>下标</a:t>
            </a:r>
            <a:r>
              <a:rPr lang="en-US" altLang="zh-CN" b="1" dirty="0"/>
              <a:t>]</a:t>
            </a:r>
            <a:r>
              <a:rPr lang="zh-CN" altLang="en-US" dirty="0"/>
              <a:t>”即可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92DAA0-2F5D-4321-90BD-FA1B6BA2805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32" y="1246107"/>
            <a:ext cx="5644342" cy="397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950319"/>
      </p:ext>
    </p:extLst>
  </p:cSld>
  <p:clrMapOvr>
    <a:masterClrMapping/>
  </p:clrMapOvr>
  <p:transition>
    <p:cover/>
    <p:sndAc>
      <p:stSnd>
        <p:snd r:embed="rId3" name="CAMERA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13D79EC-44E6-4789-A62F-132E94F86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704" y="280648"/>
            <a:ext cx="8135937" cy="60960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输入、输出控制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D960BA-A324-40E1-B5B1-A905D5EE9D30}"/>
              </a:ext>
            </a:extLst>
          </p:cNvPr>
          <p:cNvSpPr txBox="1"/>
          <p:nvPr/>
        </p:nvSpPr>
        <p:spPr>
          <a:xfrm>
            <a:off x="654424" y="1004047"/>
            <a:ext cx="190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 err="1"/>
              <a:t>scanf</a:t>
            </a:r>
            <a:r>
              <a:rPr lang="zh-CN" altLang="en-US" dirty="0"/>
              <a:t>进行输入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E5758ED-EA18-4427-BC9D-C8A8C1463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34225"/>
            <a:ext cx="5779938" cy="301672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88D32EE-64F1-4986-83A4-4B6AD9D271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292" y="1723416"/>
            <a:ext cx="5124374" cy="301672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247BB05-197E-402A-9CDA-B544B2E387BE}"/>
              </a:ext>
            </a:extLst>
          </p:cNvPr>
          <p:cNvSpPr txBox="1"/>
          <p:nvPr/>
        </p:nvSpPr>
        <p:spPr>
          <a:xfrm>
            <a:off x="6096000" y="1631577"/>
            <a:ext cx="50610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输入数组中的元素，用</a:t>
            </a:r>
            <a:r>
              <a:rPr lang="en-US" altLang="zh-CN" b="1" dirty="0" err="1"/>
              <a:t>scanf</a:t>
            </a:r>
            <a:r>
              <a:rPr lang="en-US" altLang="zh-CN" b="1" dirty="0"/>
              <a:t>(“%</a:t>
            </a:r>
            <a:r>
              <a:rPr lang="en-US" altLang="zh-CN" b="1" dirty="0" err="1"/>
              <a:t>d”,&amp;x</a:t>
            </a:r>
            <a:r>
              <a:rPr lang="en-US" altLang="zh-CN" b="1" dirty="0"/>
              <a:t>);</a:t>
            </a:r>
          </a:p>
          <a:p>
            <a:r>
              <a:rPr lang="zh-CN" altLang="en-US" dirty="0"/>
              <a:t>减少使用</a:t>
            </a:r>
            <a:r>
              <a:rPr lang="en-US" altLang="zh-CN" b="1" dirty="0" err="1"/>
              <a:t>scanf</a:t>
            </a:r>
            <a:r>
              <a:rPr lang="en-US" altLang="zh-CN" b="1" dirty="0"/>
              <a:t>(“%d  ”,&amp;x);</a:t>
            </a:r>
            <a:r>
              <a:rPr lang="zh-CN" altLang="en-US" b="1" dirty="0"/>
              <a:t>或者</a:t>
            </a:r>
            <a:r>
              <a:rPr lang="en-US" altLang="zh-CN" b="1" dirty="0" err="1"/>
              <a:t>scanf</a:t>
            </a:r>
            <a:r>
              <a:rPr lang="en-US" altLang="zh-CN" b="1" dirty="0"/>
              <a:t>(“%d\</a:t>
            </a:r>
            <a:r>
              <a:rPr lang="en-US" altLang="zh-CN" b="1" dirty="0" err="1"/>
              <a:t>n”,&amp;x</a:t>
            </a:r>
            <a:r>
              <a:rPr lang="en-US" altLang="zh-CN" b="1" dirty="0"/>
              <a:t>);</a:t>
            </a:r>
            <a:endParaRPr lang="zh-CN" altLang="en-US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6D26FD-FF49-48C3-9900-ECA6542ED02A}"/>
              </a:ext>
            </a:extLst>
          </p:cNvPr>
          <p:cNvSpPr txBox="1"/>
          <p:nvPr/>
        </p:nvSpPr>
        <p:spPr>
          <a:xfrm>
            <a:off x="5959216" y="5298142"/>
            <a:ext cx="64748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如果发现程序输出出现乱码，进行调试检查输入正确与否；</a:t>
            </a:r>
            <a:endParaRPr lang="en-US" altLang="zh-CN" dirty="0"/>
          </a:p>
          <a:p>
            <a:r>
              <a:rPr lang="zh-CN" altLang="en-US" dirty="0"/>
              <a:t>例如，输入行数</a:t>
            </a:r>
            <a:r>
              <a:rPr lang="en-US" altLang="zh-CN" dirty="0"/>
              <a:t>n</a:t>
            </a:r>
            <a:r>
              <a:rPr lang="zh-CN" altLang="en-US" dirty="0"/>
              <a:t>后使用</a:t>
            </a:r>
            <a:r>
              <a:rPr lang="en-US" altLang="zh-CN" dirty="0" err="1"/>
              <a:t>getchar</a:t>
            </a:r>
            <a:r>
              <a:rPr lang="en-US" altLang="zh-CN" dirty="0"/>
              <a:t>()</a:t>
            </a:r>
            <a:r>
              <a:rPr lang="zh-CN" altLang="en-US" dirty="0"/>
              <a:t>；吃掉回车符；</a:t>
            </a:r>
            <a:endParaRPr lang="en-US" altLang="zh-CN" dirty="0"/>
          </a:p>
          <a:p>
            <a:r>
              <a:rPr lang="en-US" altLang="zh-CN" dirty="0"/>
              <a:t>           </a:t>
            </a:r>
            <a:r>
              <a:rPr lang="zh-CN" altLang="en-US" dirty="0"/>
              <a:t>或者写成</a:t>
            </a:r>
            <a:r>
              <a:rPr lang="en-US" altLang="zh-CN" dirty="0" err="1"/>
              <a:t>scanf</a:t>
            </a:r>
            <a:r>
              <a:rPr lang="en-US" altLang="zh-CN" dirty="0"/>
              <a:t>(“%d\</a:t>
            </a:r>
            <a:r>
              <a:rPr lang="en-US" altLang="zh-CN" dirty="0" err="1"/>
              <a:t>n”,&amp;n</a:t>
            </a:r>
            <a:r>
              <a:rPr lang="en-US" altLang="zh-CN" dirty="0"/>
              <a:t>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8732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13D79EC-44E6-4789-A62F-132E94F86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704" y="280648"/>
            <a:ext cx="8135937" cy="60960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输入、输出控制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D960BA-A324-40E1-B5B1-A905D5EE9D30}"/>
              </a:ext>
            </a:extLst>
          </p:cNvPr>
          <p:cNvSpPr txBox="1"/>
          <p:nvPr/>
        </p:nvSpPr>
        <p:spPr>
          <a:xfrm>
            <a:off x="654424" y="1004047"/>
            <a:ext cx="2388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 err="1"/>
              <a:t>printf</a:t>
            </a:r>
            <a:r>
              <a:rPr lang="zh-CN" altLang="en-US" dirty="0"/>
              <a:t>进行格式输出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9C7D261-A8DC-4980-9553-7DD2F7CFEA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9" r="11458" b="6064"/>
          <a:stretch/>
        </p:blipFill>
        <p:spPr>
          <a:xfrm>
            <a:off x="718036" y="2145216"/>
            <a:ext cx="4410636" cy="363789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153D13F-B902-4F91-937C-9D664CA301E3}"/>
              </a:ext>
            </a:extLst>
          </p:cNvPr>
          <p:cNvSpPr txBox="1"/>
          <p:nvPr/>
        </p:nvSpPr>
        <p:spPr>
          <a:xfrm>
            <a:off x="654424" y="1373379"/>
            <a:ext cx="5493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假设输出的格式是除了最后一个元素要输出换行符，</a:t>
            </a:r>
            <a:endParaRPr lang="en-US" altLang="zh-CN" dirty="0"/>
          </a:p>
          <a:p>
            <a:r>
              <a:rPr lang="zh-CN" altLang="en-US" dirty="0"/>
              <a:t>其他元素之间以空格间隔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43DDC73-7605-4E83-A265-802CC60BF3A2}"/>
              </a:ext>
            </a:extLst>
          </p:cNvPr>
          <p:cNvSpPr txBox="1"/>
          <p:nvPr/>
        </p:nvSpPr>
        <p:spPr>
          <a:xfrm>
            <a:off x="6293224" y="1373379"/>
            <a:ext cx="54938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通过循环控制输出，判断输出元素是否为最后一个，</a:t>
            </a:r>
            <a:endParaRPr lang="en-US" altLang="zh-CN" dirty="0"/>
          </a:p>
          <a:p>
            <a:r>
              <a:rPr lang="zh-CN" altLang="en-US" dirty="0"/>
              <a:t>如果不是，则输出元素后输出空格；</a:t>
            </a:r>
            <a:endParaRPr lang="en-US" altLang="zh-CN" dirty="0"/>
          </a:p>
          <a:p>
            <a:r>
              <a:rPr lang="zh-CN" altLang="en-US" dirty="0"/>
              <a:t>反之，输出元素后输出换行符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34F7BE8-D8C0-4A15-9909-D268A449E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864" y="2296709"/>
            <a:ext cx="4570991" cy="426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251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13D79EC-44E6-4789-A62F-132E94F86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704" y="280648"/>
            <a:ext cx="8135937" cy="60960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数组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DC7A83-35FB-4B00-BF8C-8903BBC473BA}"/>
              </a:ext>
            </a:extLst>
          </p:cNvPr>
          <p:cNvSpPr txBox="1"/>
          <p:nvPr/>
        </p:nvSpPr>
        <p:spPr>
          <a:xfrm>
            <a:off x="753035" y="1147482"/>
            <a:ext cx="295465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冒泡排序和选择排序</a:t>
            </a:r>
          </a:p>
          <a:p>
            <a:endParaRPr lang="zh-CN" altLang="en-US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0803D1-5A99-4BFD-BEE7-28B38070FEF0}"/>
              </a:ext>
            </a:extLst>
          </p:cNvPr>
          <p:cNvSpPr txBox="1"/>
          <p:nvPr/>
        </p:nvSpPr>
        <p:spPr>
          <a:xfrm>
            <a:off x="1307033" y="1730715"/>
            <a:ext cx="86823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n w="1905"/>
                <a:ea typeface="楷体" pitchFamily="49" charset="-122"/>
              </a:rPr>
              <a:t>冒泡、选择排序中无论升序还是降序排序，排序第</a:t>
            </a:r>
            <a:r>
              <a:rPr lang="en-US" altLang="zh-CN" sz="1800" dirty="0">
                <a:ln w="1905"/>
                <a:ea typeface="楷体" pitchFamily="49" charset="-122"/>
              </a:rPr>
              <a:t>n</a:t>
            </a:r>
            <a:r>
              <a:rPr lang="zh-CN" altLang="en-US" sz="1800" dirty="0">
                <a:ln w="1905"/>
                <a:ea typeface="楷体" pitchFamily="49" charset="-122"/>
              </a:rPr>
              <a:t>趟，就已经排出第</a:t>
            </a:r>
            <a:r>
              <a:rPr lang="en-US" altLang="zh-CN" sz="1800" dirty="0">
                <a:ln w="1905"/>
                <a:ea typeface="楷体" pitchFamily="49" charset="-122"/>
              </a:rPr>
              <a:t>n</a:t>
            </a:r>
            <a:r>
              <a:rPr lang="zh-CN" altLang="en-US" sz="1800" dirty="0">
                <a:ln w="1905"/>
                <a:ea typeface="楷体" pitchFamily="49" charset="-122"/>
              </a:rPr>
              <a:t>大或小的数据，且位于数组的第</a:t>
            </a:r>
            <a:r>
              <a:rPr lang="en-US" altLang="zh-CN" sz="1800" dirty="0">
                <a:ln w="1905"/>
                <a:ea typeface="楷体" pitchFamily="49" charset="-122"/>
              </a:rPr>
              <a:t>n</a:t>
            </a:r>
            <a:r>
              <a:rPr lang="zh-CN" altLang="en-US" sz="1800" dirty="0">
                <a:ln w="1905"/>
                <a:ea typeface="楷体" pitchFamily="49" charset="-122"/>
              </a:rPr>
              <a:t>个位置。</a:t>
            </a:r>
            <a:endParaRPr lang="en-US" altLang="zh-CN" sz="1800" dirty="0">
              <a:ln w="1905"/>
              <a:ea typeface="楷体" pitchFamily="49" charset="-122"/>
            </a:endParaRP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ED4A11D-EC1A-4372-A188-A70851AA67B9}"/>
              </a:ext>
            </a:extLst>
          </p:cNvPr>
          <p:cNvSpPr txBox="1"/>
          <p:nvPr/>
        </p:nvSpPr>
        <p:spPr>
          <a:xfrm>
            <a:off x="753034" y="246937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记忆：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4112F84-D38D-4590-B656-02CA1A46A361}"/>
              </a:ext>
            </a:extLst>
          </p:cNvPr>
          <p:cNvSpPr txBox="1"/>
          <p:nvPr/>
        </p:nvSpPr>
        <p:spPr>
          <a:xfrm>
            <a:off x="1307033" y="3032847"/>
            <a:ext cx="86823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n w="1905"/>
                <a:ea typeface="楷体" pitchFamily="49" charset="-122"/>
              </a:rPr>
              <a:t>冒泡排序：</a:t>
            </a:r>
            <a:r>
              <a:rPr lang="en-US" altLang="zh-CN" b="1" dirty="0" err="1">
                <a:ln w="1905"/>
                <a:ea typeface="楷体" pitchFamily="49" charset="-122"/>
              </a:rPr>
              <a:t>i</a:t>
            </a:r>
            <a:r>
              <a:rPr lang="en-US" altLang="zh-CN" b="1" dirty="0">
                <a:ln w="1905"/>
                <a:ea typeface="楷体" pitchFamily="49" charset="-122"/>
              </a:rPr>
              <a:t> </a:t>
            </a:r>
            <a:r>
              <a:rPr lang="zh-CN" altLang="en-US" sz="1800" b="1" dirty="0">
                <a:ln w="1905"/>
                <a:ea typeface="楷体" pitchFamily="49" charset="-122"/>
              </a:rPr>
              <a:t>从 </a:t>
            </a:r>
            <a:r>
              <a:rPr lang="en-US" altLang="zh-CN" sz="1800" b="1" dirty="0">
                <a:ln w="1905"/>
                <a:ea typeface="楷体" pitchFamily="49" charset="-122"/>
              </a:rPr>
              <a:t>1 </a:t>
            </a:r>
            <a:r>
              <a:rPr lang="zh-CN" altLang="en-US" sz="1800" b="1" dirty="0">
                <a:ln w="1905"/>
                <a:ea typeface="楷体" pitchFamily="49" charset="-122"/>
              </a:rPr>
              <a:t>到 </a:t>
            </a:r>
            <a:r>
              <a:rPr lang="en-US" altLang="zh-CN" sz="1800" b="1" dirty="0">
                <a:ln w="1905"/>
                <a:ea typeface="楷体" pitchFamily="49" charset="-122"/>
              </a:rPr>
              <a:t>n</a:t>
            </a:r>
            <a:r>
              <a:rPr lang="zh-CN" altLang="en-US" sz="1800" b="1" dirty="0">
                <a:ln w="1905"/>
                <a:ea typeface="楷体" pitchFamily="49" charset="-122"/>
              </a:rPr>
              <a:t>，</a:t>
            </a:r>
            <a:r>
              <a:rPr lang="en-US" altLang="zh-CN" sz="1800" b="1" dirty="0">
                <a:ln w="1905"/>
                <a:ea typeface="楷体" pitchFamily="49" charset="-122"/>
              </a:rPr>
              <a:t>j </a:t>
            </a:r>
            <a:r>
              <a:rPr lang="zh-CN" altLang="en-US" sz="1800" b="1" dirty="0">
                <a:ln w="1905"/>
                <a:ea typeface="楷体" pitchFamily="49" charset="-122"/>
              </a:rPr>
              <a:t>从 </a:t>
            </a:r>
            <a:r>
              <a:rPr lang="en-US" altLang="zh-CN" sz="1800" b="1" dirty="0">
                <a:ln w="1905"/>
                <a:ea typeface="楷体" pitchFamily="49" charset="-122"/>
              </a:rPr>
              <a:t>0 </a:t>
            </a:r>
            <a:r>
              <a:rPr lang="zh-CN" altLang="en-US" sz="1800" b="1" dirty="0">
                <a:ln w="1905"/>
                <a:ea typeface="楷体" pitchFamily="49" charset="-122"/>
              </a:rPr>
              <a:t>到 </a:t>
            </a:r>
            <a:r>
              <a:rPr lang="en-US" altLang="zh-CN" sz="1800" b="1" dirty="0">
                <a:ln w="1905"/>
                <a:ea typeface="楷体" pitchFamily="49" charset="-122"/>
              </a:rPr>
              <a:t>n-</a:t>
            </a:r>
            <a:r>
              <a:rPr lang="en-US" altLang="zh-CN" sz="1800" b="1" dirty="0" err="1">
                <a:ln w="1905"/>
                <a:ea typeface="楷体" pitchFamily="49" charset="-122"/>
              </a:rPr>
              <a:t>i</a:t>
            </a:r>
            <a:endParaRPr lang="en-US" altLang="zh-CN" sz="1800" b="1" dirty="0">
              <a:ln w="1905"/>
              <a:ea typeface="楷体" pitchFamily="49" charset="-122"/>
            </a:endParaRPr>
          </a:p>
          <a:p>
            <a:endParaRPr lang="en-US" altLang="zh-CN" sz="1800" dirty="0">
              <a:ln w="1905"/>
              <a:ea typeface="楷体" pitchFamily="49" charset="-122"/>
            </a:endParaRPr>
          </a:p>
          <a:p>
            <a:r>
              <a:rPr lang="zh-CN" altLang="en-US" dirty="0">
                <a:ln w="1905"/>
                <a:ea typeface="楷体" pitchFamily="49" charset="-122"/>
              </a:rPr>
              <a:t>选择排序：</a:t>
            </a:r>
            <a:r>
              <a:rPr lang="en-US" altLang="zh-CN" b="1" dirty="0" err="1">
                <a:ln w="1905"/>
                <a:ea typeface="楷体" pitchFamily="49" charset="-122"/>
              </a:rPr>
              <a:t>i</a:t>
            </a:r>
            <a:r>
              <a:rPr lang="en-US" altLang="zh-CN" b="1" dirty="0">
                <a:ln w="1905"/>
                <a:ea typeface="楷体" pitchFamily="49" charset="-122"/>
              </a:rPr>
              <a:t> </a:t>
            </a:r>
            <a:r>
              <a:rPr lang="zh-CN" altLang="en-US" b="1" dirty="0">
                <a:ln w="1905"/>
                <a:ea typeface="楷体" pitchFamily="49" charset="-122"/>
              </a:rPr>
              <a:t>从 </a:t>
            </a:r>
            <a:r>
              <a:rPr lang="en-US" altLang="zh-CN" b="1" dirty="0">
                <a:ln w="1905"/>
                <a:ea typeface="楷体" pitchFamily="49" charset="-122"/>
              </a:rPr>
              <a:t>0 </a:t>
            </a:r>
            <a:r>
              <a:rPr lang="zh-CN" altLang="en-US" b="1" dirty="0">
                <a:ln w="1905"/>
                <a:ea typeface="楷体" pitchFamily="49" charset="-122"/>
              </a:rPr>
              <a:t>到 </a:t>
            </a:r>
            <a:r>
              <a:rPr lang="en-US" altLang="zh-CN" b="1" dirty="0">
                <a:ln w="1905"/>
                <a:ea typeface="楷体" pitchFamily="49" charset="-122"/>
              </a:rPr>
              <a:t>n</a:t>
            </a:r>
            <a:r>
              <a:rPr lang="zh-CN" altLang="en-US" b="1" dirty="0">
                <a:ln w="1905"/>
                <a:ea typeface="楷体" pitchFamily="49" charset="-122"/>
              </a:rPr>
              <a:t>，</a:t>
            </a:r>
            <a:r>
              <a:rPr lang="en-US" altLang="zh-CN" b="1" dirty="0">
                <a:ln w="1905"/>
                <a:ea typeface="楷体" pitchFamily="49" charset="-122"/>
              </a:rPr>
              <a:t>j </a:t>
            </a:r>
            <a:r>
              <a:rPr lang="zh-CN" altLang="en-US" b="1" dirty="0">
                <a:ln w="1905"/>
                <a:ea typeface="楷体" pitchFamily="49" charset="-122"/>
              </a:rPr>
              <a:t>从 </a:t>
            </a:r>
            <a:r>
              <a:rPr lang="en-US" altLang="zh-CN" b="1" dirty="0">
                <a:ln w="1905"/>
                <a:ea typeface="楷体" pitchFamily="49" charset="-122"/>
              </a:rPr>
              <a:t>i+1 </a:t>
            </a:r>
            <a:r>
              <a:rPr lang="zh-CN" altLang="en-US" b="1" dirty="0">
                <a:ln w="1905"/>
                <a:ea typeface="楷体" pitchFamily="49" charset="-122"/>
              </a:rPr>
              <a:t>到 </a:t>
            </a:r>
            <a:r>
              <a:rPr lang="en-US" altLang="zh-CN" b="1" dirty="0">
                <a:ln w="1905"/>
                <a:ea typeface="楷体" pitchFamily="49" charset="-122"/>
              </a:rPr>
              <a:t>n</a:t>
            </a:r>
          </a:p>
          <a:p>
            <a:endParaRPr lang="en-US" altLang="zh-CN" b="1" dirty="0">
              <a:ln w="1905"/>
              <a:ea typeface="楷体" pitchFamily="49" charset="-122"/>
            </a:endParaRPr>
          </a:p>
          <a:p>
            <a:r>
              <a:rPr lang="zh-CN" altLang="en-US" b="1" dirty="0">
                <a:ln w="1905"/>
                <a:ea typeface="楷体" pitchFamily="49" charset="-122"/>
              </a:rPr>
              <a:t>（</a:t>
            </a:r>
            <a:r>
              <a:rPr lang="en-US" altLang="zh-CN" b="1" dirty="0" err="1">
                <a:ln w="1905"/>
                <a:ea typeface="楷体" pitchFamily="49" charset="-122"/>
              </a:rPr>
              <a:t>i</a:t>
            </a:r>
            <a:r>
              <a:rPr lang="en-US" altLang="zh-CN" b="1" dirty="0">
                <a:ln w="1905"/>
                <a:ea typeface="楷体" pitchFamily="49" charset="-122"/>
              </a:rPr>
              <a:t> </a:t>
            </a:r>
            <a:r>
              <a:rPr lang="zh-CN" altLang="en-US" b="1" dirty="0">
                <a:ln w="1905"/>
                <a:ea typeface="楷体" pitchFamily="49" charset="-122"/>
              </a:rPr>
              <a:t>、</a:t>
            </a:r>
            <a:r>
              <a:rPr lang="en-US" altLang="zh-CN" b="1" dirty="0">
                <a:ln w="1905"/>
                <a:ea typeface="楷体" pitchFamily="49" charset="-122"/>
              </a:rPr>
              <a:t>j</a:t>
            </a:r>
            <a:r>
              <a:rPr lang="zh-CN" altLang="en-US" b="1" dirty="0">
                <a:ln w="1905"/>
                <a:ea typeface="楷体" pitchFamily="49" charset="-122"/>
              </a:rPr>
              <a:t>、</a:t>
            </a:r>
            <a:r>
              <a:rPr lang="en-US" altLang="zh-CN" b="1" dirty="0">
                <a:ln w="1905"/>
                <a:ea typeface="楷体" pitchFamily="49" charset="-122"/>
              </a:rPr>
              <a:t>n</a:t>
            </a:r>
            <a:r>
              <a:rPr lang="zh-CN" altLang="en-US" b="1" dirty="0">
                <a:ln w="1905"/>
                <a:ea typeface="楷体" pitchFamily="49" charset="-122"/>
              </a:rPr>
              <a:t>分别代表外层循环变量、内层循环变量、数组长度（数组从</a:t>
            </a:r>
            <a:r>
              <a:rPr lang="en-US" altLang="zh-CN" b="1" dirty="0">
                <a:ln w="1905"/>
                <a:ea typeface="楷体" pitchFamily="49" charset="-122"/>
              </a:rPr>
              <a:t>0</a:t>
            </a:r>
            <a:r>
              <a:rPr lang="zh-CN" altLang="en-US" b="1" dirty="0">
                <a:ln w="1905"/>
                <a:ea typeface="楷体" pitchFamily="49" charset="-122"/>
              </a:rPr>
              <a:t>开始存储数据），且右边界均是开区间）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828059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13D79EC-44E6-4789-A62F-132E94F86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704" y="280648"/>
            <a:ext cx="8135937" cy="60960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数组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FAD48C0-976E-48D5-A45D-C23189D80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79" y="1521199"/>
            <a:ext cx="5039845" cy="363216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2A1F2CA-9BBA-41C9-B744-E8F322AB02C4}"/>
              </a:ext>
            </a:extLst>
          </p:cNvPr>
          <p:cNvSpPr txBox="1"/>
          <p:nvPr/>
        </p:nvSpPr>
        <p:spPr>
          <a:xfrm>
            <a:off x="491379" y="1097159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蛇形方阵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6871469-05E4-4CC6-AAAA-44D69401841B}"/>
              </a:ext>
            </a:extLst>
          </p:cNvPr>
          <p:cNvSpPr txBox="1"/>
          <p:nvPr/>
        </p:nvSpPr>
        <p:spPr>
          <a:xfrm>
            <a:off x="7173425" y="1151867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思路点拨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67D115C-97BA-4927-97D8-6D7314666E6D}"/>
              </a:ext>
            </a:extLst>
          </p:cNvPr>
          <p:cNvGrpSpPr/>
          <p:nvPr/>
        </p:nvGrpSpPr>
        <p:grpSpPr>
          <a:xfrm>
            <a:off x="7173425" y="1670139"/>
            <a:ext cx="2930968" cy="2758029"/>
            <a:chOff x="7318460" y="1705998"/>
            <a:chExt cx="2930968" cy="2758029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C1E926F-5F41-4913-8EA5-FB569CE3DC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38" t="78847" r="32745"/>
            <a:stretch/>
          </p:blipFill>
          <p:spPr>
            <a:xfrm>
              <a:off x="7318460" y="1822854"/>
              <a:ext cx="2930968" cy="2641173"/>
            </a:xfrm>
            <a:prstGeom prst="rect">
              <a:avLst/>
            </a:prstGeom>
          </p:spPr>
        </p:pic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943780ED-75AC-4484-A61E-282109E2E61B}"/>
                </a:ext>
              </a:extLst>
            </p:cNvPr>
            <p:cNvCxnSpPr/>
            <p:nvPr/>
          </p:nvCxnSpPr>
          <p:spPr>
            <a:xfrm>
              <a:off x="7664824" y="2160495"/>
              <a:ext cx="2043952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421E64B7-AE60-43A1-A806-38E4246A5E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77119" y="3612777"/>
              <a:ext cx="1985683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8062F5FB-E555-4E3E-B49F-782A452F70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56613" y="1822854"/>
              <a:ext cx="1" cy="1945341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0C237F31-F33A-41ED-B71E-0F63949FAA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5014" y="1990165"/>
              <a:ext cx="0" cy="1778031"/>
            </a:xfrm>
            <a:prstGeom prst="straightConnector1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CB74A95-3EDB-4785-B500-AD8CE03AD3F3}"/>
                </a:ext>
              </a:extLst>
            </p:cNvPr>
            <p:cNvSpPr txBox="1"/>
            <p:nvPr/>
          </p:nvSpPr>
          <p:spPr>
            <a:xfrm>
              <a:off x="8413507" y="170599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C324095-F8F6-4AF7-BDA3-DFDE94EF4754}"/>
                </a:ext>
              </a:extLst>
            </p:cNvPr>
            <p:cNvSpPr txBox="1"/>
            <p:nvPr/>
          </p:nvSpPr>
          <p:spPr>
            <a:xfrm>
              <a:off x="9535798" y="272377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D80C0A1-D871-4C85-B56F-361997B5F1E0}"/>
                </a:ext>
              </a:extLst>
            </p:cNvPr>
            <p:cNvSpPr txBox="1"/>
            <p:nvPr/>
          </p:nvSpPr>
          <p:spPr>
            <a:xfrm>
              <a:off x="8413507" y="368058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4190105C-7AB4-42F5-9BD4-A4D8858D8BCF}"/>
                </a:ext>
              </a:extLst>
            </p:cNvPr>
            <p:cNvSpPr txBox="1"/>
            <p:nvPr/>
          </p:nvSpPr>
          <p:spPr>
            <a:xfrm>
              <a:off x="7420666" y="268017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653BAA45-296C-4E7F-8DA6-88468CA4AA0F}"/>
              </a:ext>
            </a:extLst>
          </p:cNvPr>
          <p:cNvSpPr txBox="1"/>
          <p:nvPr/>
        </p:nvSpPr>
        <p:spPr>
          <a:xfrm>
            <a:off x="7368988" y="4356847"/>
            <a:ext cx="48013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矩阵的每一次生成，可以看成每一次的递推；</a:t>
            </a:r>
            <a:endParaRPr lang="en-US" altLang="zh-CN" dirty="0"/>
          </a:p>
          <a:p>
            <a:r>
              <a:rPr lang="zh-CN" altLang="en-US" dirty="0"/>
              <a:t>递推的次数是（（</a:t>
            </a:r>
            <a:r>
              <a:rPr lang="en-US" altLang="zh-CN" dirty="0"/>
              <a:t>n/2 </a:t>
            </a:r>
            <a:r>
              <a:rPr lang="zh-CN" altLang="en-US" dirty="0"/>
              <a:t>）</a:t>
            </a:r>
            <a:r>
              <a:rPr lang="en-US" altLang="zh-CN" dirty="0"/>
              <a:t>+ 1</a:t>
            </a:r>
            <a:r>
              <a:rPr lang="zh-CN" altLang="en-US" dirty="0"/>
              <a:t>）次；</a:t>
            </a:r>
            <a:endParaRPr lang="en-US" altLang="zh-CN" dirty="0"/>
          </a:p>
          <a:p>
            <a:r>
              <a:rPr lang="zh-CN" altLang="en-US" dirty="0"/>
              <a:t>每次递推又可以分为四个方向上的数值移动。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8545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13D79EC-44E6-4789-A62F-132E94F86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704" y="280648"/>
            <a:ext cx="8135937" cy="60960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数组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A1F2CA-9BBA-41C9-B744-E8F322AB02C4}"/>
              </a:ext>
            </a:extLst>
          </p:cNvPr>
          <p:cNvSpPr txBox="1"/>
          <p:nvPr/>
        </p:nvSpPr>
        <p:spPr>
          <a:xfrm>
            <a:off x="491379" y="1097159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蛇形方阵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29E919C-F1CF-44EA-B496-74C2D35165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5" t="7159" r="10077" b="4389"/>
          <a:stretch/>
        </p:blipFill>
        <p:spPr>
          <a:xfrm>
            <a:off x="3863788" y="1097159"/>
            <a:ext cx="4688541" cy="541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928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682D0E9-0DB1-4774-A83D-C54D336DC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704" y="280648"/>
            <a:ext cx="8135937" cy="60960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函数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4359BB-4076-4645-82EE-FACC5462D379}"/>
              </a:ext>
            </a:extLst>
          </p:cNvPr>
          <p:cNvSpPr txBox="1"/>
          <p:nvPr/>
        </p:nvSpPr>
        <p:spPr>
          <a:xfrm>
            <a:off x="753035" y="1041277"/>
            <a:ext cx="20120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400" dirty="0"/>
              <a:t>声明即定义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9FA0218-EABA-4503-8B03-194374E60339}"/>
              </a:ext>
            </a:extLst>
          </p:cNvPr>
          <p:cNvSpPr txBox="1"/>
          <p:nvPr/>
        </p:nvSpPr>
        <p:spPr>
          <a:xfrm>
            <a:off x="1165412" y="1620334"/>
            <a:ext cx="9304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直接定义函数，尽量不要先声明函数，再实现函数；后者容易出错，忘记统一修改形参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81C2171-239E-4CF9-A7A3-7B76CDE62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372" y="1989666"/>
            <a:ext cx="4296127" cy="338940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5FCE350-EE6A-47F4-92D7-4C4B6F6AEE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89666"/>
            <a:ext cx="3929932" cy="315744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B7234CFE-CB3D-463E-A683-C5A3B75F1076}"/>
              </a:ext>
            </a:extLst>
          </p:cNvPr>
          <p:cNvSpPr txBox="1"/>
          <p:nvPr/>
        </p:nvSpPr>
        <p:spPr>
          <a:xfrm>
            <a:off x="2124634" y="5379073"/>
            <a:ext cx="2266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函数声明与实现分离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A33C3DE-3A40-473B-8A9C-83CE51E5A12C}"/>
              </a:ext>
            </a:extLst>
          </p:cNvPr>
          <p:cNvSpPr txBox="1"/>
          <p:nvPr/>
        </p:nvSpPr>
        <p:spPr>
          <a:xfrm>
            <a:off x="7276136" y="533177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直接实现函数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C2FEE9B-3131-4952-9D1E-A3FD1C39FBD6}"/>
              </a:ext>
            </a:extLst>
          </p:cNvPr>
          <p:cNvSpPr txBox="1"/>
          <p:nvPr/>
        </p:nvSpPr>
        <p:spPr>
          <a:xfrm>
            <a:off x="815789" y="5899434"/>
            <a:ext cx="5602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000" dirty="0"/>
              <a:t>传入数组时，记得多传入一个数组长度的参数</a:t>
            </a:r>
          </a:p>
        </p:txBody>
      </p:sp>
    </p:spTree>
    <p:extLst>
      <p:ext uri="{BB962C8B-B14F-4D97-AF65-F5344CB8AC3E}">
        <p14:creationId xmlns:p14="http://schemas.microsoft.com/office/powerpoint/2010/main" val="2931827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511567"/>
            <a:ext cx="12191998" cy="461715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053424" y="403572"/>
            <a:ext cx="7900211" cy="2215991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3800" b="1" cap="none" spc="0" dirty="0">
                <a:ln w="6600">
                  <a:solidFill>
                    <a:srgbClr val="85D1EB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tl" rotWithShape="0">
                    <a:srgbClr val="5CA7BA"/>
                  </a:outerShdw>
                </a:effectLst>
              </a:rPr>
              <a:t>THANKS </a:t>
            </a:r>
            <a:endParaRPr lang="zh-CN" altLang="en-US" sz="13800" b="1" cap="none" spc="0" dirty="0">
              <a:ln w="6600">
                <a:solidFill>
                  <a:srgbClr val="85D1EB"/>
                </a:solidFill>
                <a:prstDash val="solid"/>
              </a:ln>
              <a:solidFill>
                <a:schemeClr val="bg1"/>
              </a:solidFill>
              <a:effectLst>
                <a:outerShdw dist="38100" dir="2700000" algn="tl" rotWithShape="0">
                  <a:srgbClr val="5CA7BA"/>
                </a:outerShdw>
              </a:effectLst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-3" y="18855"/>
            <a:ext cx="12192000" cy="769434"/>
          </a:xfrm>
          <a:prstGeom prst="rect">
            <a:avLst/>
          </a:prstGeom>
          <a:solidFill>
            <a:srgbClr val="4FAC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-2" y="6088566"/>
            <a:ext cx="12192000" cy="769434"/>
          </a:xfrm>
          <a:prstGeom prst="rect">
            <a:avLst/>
          </a:prstGeom>
          <a:solidFill>
            <a:srgbClr val="4FAC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998110" y="403572"/>
            <a:ext cx="8010838" cy="2322777"/>
          </a:xfrm>
          <a:custGeom>
            <a:avLst/>
            <a:gdLst>
              <a:gd name="connsiteX0" fmla="*/ 0 w 8010838"/>
              <a:gd name="connsiteY0" fmla="*/ 0 h 2322777"/>
              <a:gd name="connsiteX1" fmla="*/ 8010838 w 8010838"/>
              <a:gd name="connsiteY1" fmla="*/ 0 h 2322777"/>
              <a:gd name="connsiteX2" fmla="*/ 8010838 w 8010838"/>
              <a:gd name="connsiteY2" fmla="*/ 2322777 h 2322777"/>
              <a:gd name="connsiteX3" fmla="*/ 7955525 w 8010838"/>
              <a:gd name="connsiteY3" fmla="*/ 2322777 h 2322777"/>
              <a:gd name="connsiteX4" fmla="*/ 7955525 w 8010838"/>
              <a:gd name="connsiteY4" fmla="*/ 1067839 h 2322777"/>
              <a:gd name="connsiteX5" fmla="*/ 395768 w 8010838"/>
              <a:gd name="connsiteY5" fmla="*/ 1067839 h 2322777"/>
              <a:gd name="connsiteX6" fmla="*/ 395768 w 8010838"/>
              <a:gd name="connsiteY6" fmla="*/ 2322777 h 2322777"/>
              <a:gd name="connsiteX7" fmla="*/ 0 w 8010838"/>
              <a:gd name="connsiteY7" fmla="*/ 2322777 h 2322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10838" h="2322777">
                <a:moveTo>
                  <a:pt x="0" y="0"/>
                </a:moveTo>
                <a:lnTo>
                  <a:pt x="8010838" y="0"/>
                </a:lnTo>
                <a:lnTo>
                  <a:pt x="8010838" y="2322777"/>
                </a:lnTo>
                <a:lnTo>
                  <a:pt x="7955525" y="2322777"/>
                </a:lnTo>
                <a:lnTo>
                  <a:pt x="7955525" y="1067839"/>
                </a:lnTo>
                <a:lnTo>
                  <a:pt x="395768" y="1067839"/>
                </a:lnTo>
                <a:lnTo>
                  <a:pt x="395768" y="2322777"/>
                </a:lnTo>
                <a:lnTo>
                  <a:pt x="0" y="232277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aaf6c71-cda4-4f69-b0ff-45dc5b11fcd2"/>
  <p:tag name="COMMONDATA" val="eyJoZGlkIjoiY2ZlYzA5YzY5MjkxMmI4MDJmM2FkZmE1Y2NhNjdjMzEifQ=="/>
</p:tagLst>
</file>

<file path=ppt/theme/theme1.xml><?xml version="1.0" encoding="utf-8"?>
<a:theme xmlns:a="http://schemas.openxmlformats.org/drawingml/2006/main" name="Office 主题​​">
  <a:themeElements>
    <a:clrScheme name="蓝色​​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1128</Words>
  <Application>Microsoft Office PowerPoint</Application>
  <PresentationFormat>宽屏</PresentationFormat>
  <Paragraphs>144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思源黑体 CN Heavy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 t</dc:creator>
  <cp:lastModifiedBy>王锦鸿</cp:lastModifiedBy>
  <cp:revision>197</cp:revision>
  <dcterms:created xsi:type="dcterms:W3CDTF">2019-02-26T12:52:00Z</dcterms:created>
  <dcterms:modified xsi:type="dcterms:W3CDTF">2023-12-30T09:24:52Z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2293C9F6A5EC47A6ADFBCB02FA1D5D4E_12</vt:lpwstr>
  </property>
  <property fmtid="{D5CDD505-2E9C-101B-9397-08002B2CF9AE}" pid="3" name="KSOProductBuildVer">
    <vt:lpwstr>2052-11.1.0.15319</vt:lpwstr>
  </property>
</Properties>
</file>