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818" r:id="rId2"/>
    <p:sldId id="758" r:id="rId3"/>
    <p:sldId id="834" r:id="rId4"/>
    <p:sldId id="835" r:id="rId5"/>
    <p:sldId id="836" r:id="rId6"/>
    <p:sldId id="764" r:id="rId7"/>
    <p:sldId id="766" r:id="rId8"/>
    <p:sldId id="767" r:id="rId9"/>
    <p:sldId id="822" r:id="rId10"/>
    <p:sldId id="837" r:id="rId11"/>
    <p:sldId id="838" r:id="rId12"/>
    <p:sldId id="839" r:id="rId13"/>
    <p:sldId id="826" r:id="rId14"/>
    <p:sldId id="827" r:id="rId15"/>
    <p:sldId id="828" r:id="rId16"/>
    <p:sldId id="829" r:id="rId17"/>
    <p:sldId id="840" r:id="rId18"/>
    <p:sldId id="779" r:id="rId19"/>
    <p:sldId id="830" r:id="rId20"/>
    <p:sldId id="831" r:id="rId21"/>
    <p:sldId id="782" r:id="rId22"/>
    <p:sldId id="783" r:id="rId23"/>
    <p:sldId id="784" r:id="rId24"/>
    <p:sldId id="785" r:id="rId25"/>
    <p:sldId id="786" r:id="rId26"/>
    <p:sldId id="787" r:id="rId27"/>
    <p:sldId id="788" r:id="rId28"/>
    <p:sldId id="789" r:id="rId29"/>
    <p:sldId id="790" r:id="rId30"/>
    <p:sldId id="791" r:id="rId31"/>
    <p:sldId id="792" r:id="rId32"/>
    <p:sldId id="793" r:id="rId33"/>
    <p:sldId id="794" r:id="rId34"/>
    <p:sldId id="795" r:id="rId35"/>
    <p:sldId id="796" r:id="rId36"/>
    <p:sldId id="797" r:id="rId37"/>
    <p:sldId id="832" r:id="rId38"/>
    <p:sldId id="799" r:id="rId39"/>
    <p:sldId id="800" r:id="rId40"/>
    <p:sldId id="801" r:id="rId41"/>
    <p:sldId id="802" r:id="rId42"/>
    <p:sldId id="841" r:id="rId43"/>
    <p:sldId id="804" r:id="rId44"/>
    <p:sldId id="805" r:id="rId45"/>
    <p:sldId id="833" r:id="rId46"/>
    <p:sldId id="809" r:id="rId47"/>
    <p:sldId id="819" r:id="rId48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47" userDrawn="1">
          <p15:clr>
            <a:srgbClr val="A4A3A4"/>
          </p15:clr>
        </p15:guide>
        <p15:guide id="4" pos="982" userDrawn="1">
          <p15:clr>
            <a:srgbClr val="A4A3A4"/>
          </p15:clr>
        </p15:guide>
        <p15:guide id="5" pos="72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6368"/>
    <a:srgbClr val="C01920"/>
    <a:srgbClr val="BAA1B9"/>
    <a:srgbClr val="CFCFD1"/>
    <a:srgbClr val="BEDFC4"/>
    <a:srgbClr val="F0E5B7"/>
    <a:srgbClr val="C2967F"/>
    <a:srgbClr val="0000FF"/>
    <a:srgbClr val="CCCCCC"/>
    <a:srgbClr val="D700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0" autoAdjust="0"/>
    <p:restoredTop sz="94933" autoAdjust="0"/>
  </p:normalViewPr>
  <p:slideViewPr>
    <p:cSldViewPr>
      <p:cViewPr varScale="1">
        <p:scale>
          <a:sx n="97" d="100"/>
          <a:sy n="97" d="100"/>
        </p:scale>
        <p:origin x="417" y="-162"/>
      </p:cViewPr>
      <p:guideLst>
        <p:guide orient="horz" pos="1797"/>
        <p:guide pos="3840"/>
        <p:guide pos="347"/>
        <p:guide pos="982"/>
        <p:guide pos="72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107927402005838"/>
          <c:y val="8.5128669918904137E-2"/>
          <c:w val="0.38559337963570822"/>
          <c:h val="0.6100308786500565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rgbClr val="C01920"/>
            </a:solidFill>
            <a:ln w="41275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C01920"/>
              </a:solidFill>
              <a:ln w="412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DAB-489A-BFAD-2A12CB5DE604}"/>
              </c:ext>
            </c:extLst>
          </c:dPt>
          <c:dPt>
            <c:idx val="1"/>
            <c:bubble3D val="0"/>
            <c:spPr>
              <a:solidFill>
                <a:srgbClr val="CFCFD1"/>
              </a:solidFill>
              <a:ln w="412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DAB-489A-BFAD-2A12CB5DE604}"/>
              </c:ext>
            </c:extLst>
          </c:dPt>
          <c:dLbls>
            <c:dLbl>
              <c:idx val="0"/>
              <c:layout>
                <c:manualLayout>
                  <c:x val="0.11769750050218887"/>
                  <c:y val="-4.1875923485572432E-2"/>
                </c:manualLayout>
              </c:layout>
              <c:tx>
                <c:rich>
                  <a:bodyPr/>
                  <a:lstStyle/>
                  <a:p>
                    <a:fld id="{57F626B2-5511-4227-AA2D-CC9831ABE7CB}" type="CATEGORYNAME">
                      <a:rPr lang="zh-CN" altLang="en-US" smtClean="0"/>
                      <a:pPr/>
                      <a:t>[类别名称]</a:t>
                    </a:fld>
                    <a:endParaRPr lang="zh-CN" altLang="en-US" baseline="0" dirty="0"/>
                  </a:p>
                  <a:p>
                    <a:r>
                      <a:rPr lang="zh-CN" altLang="en-US" baseline="0" dirty="0"/>
                      <a:t> </a:t>
                    </a:r>
                    <a:fld id="{09B9DCCA-CBF9-412F-B345-0E4E78A372E2}" type="VALUE">
                      <a:rPr lang="en-US" altLang="zh-CN" baseline="0" dirty="0">
                        <a:solidFill>
                          <a:srgbClr val="C01920"/>
                        </a:solidFill>
                      </a:rPr>
                      <a:pPr/>
                      <a:t>[值]</a:t>
                    </a:fld>
                    <a:endParaRPr lang="zh-CN" altLang="en-US" baseline="0" dirty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428486246570872"/>
                      <c:h val="0.3778673386959640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DAB-489A-BFAD-2A12CB5DE604}"/>
                </c:ext>
              </c:extLst>
            </c:dLbl>
            <c:dLbl>
              <c:idx val="1"/>
              <c:layout>
                <c:manualLayout>
                  <c:x val="5.3440330423443413E-3"/>
                  <c:y val="9.0845015097560464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ctr" rtl="0">
                      <a:defRPr lang="zh-CN" altLang="en-US" sz="2400" b="0" i="0" u="none" strike="noStrike" kern="1200" baseline="0">
                        <a:solidFill>
                          <a:schemeClr val="tx1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+mn-cs"/>
                      </a:defRPr>
                    </a:pPr>
                    <a:fld id="{A9BAEF6E-4073-4FB3-9DA6-D0495B437A18}" type="CATEGORYNAME">
                      <a:rPr lang="zh-CN" altLang="en-US" sz="2400" b="0" i="0" u="none" strike="noStrike" kern="1200" baseline="0" smtClean="0">
                        <a:solidFill>
                          <a:schemeClr val="tx1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+mn-cs"/>
                      </a:rPr>
                      <a:pPr algn="ctr" rtl="0">
                        <a:defRPr lang="zh-CN" altLang="en-US" sz="2400">
                          <a:solidFill>
                            <a:schemeClr val="tx1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</a:defRPr>
                      </a:pPr>
                      <a:t>[类别名称]</a:t>
                    </a:fld>
                    <a:endParaRPr lang="zh-CN" altLang="en-US" sz="2400" b="0" i="0" u="none" strike="noStrike" kern="1200" baseline="0" dirty="0">
                      <a:solidFill>
                        <a:schemeClr val="tx1"/>
                      </a:solidFill>
                      <a:latin typeface="思源黑体 CN Heavy" panose="020B0A00000000000000" pitchFamily="34" charset="-122"/>
                      <a:ea typeface="思源黑体 CN Heavy" panose="020B0A00000000000000" pitchFamily="34" charset="-122"/>
                      <a:cs typeface="+mn-cs"/>
                    </a:endParaRPr>
                  </a:p>
                  <a:p>
                    <a:pPr algn="ctr" rtl="0">
                      <a:defRPr lang="zh-CN" altLang="en-US" sz="2400">
                        <a:solidFill>
                          <a:schemeClr val="tx1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</a:defRPr>
                    </a:pPr>
                    <a:fld id="{DA709B8A-ACD2-495A-9657-37D2FF55F438}" type="VALUE">
                      <a:rPr lang="en-US" altLang="zh-CN" sz="2400" b="0" i="0" u="none" strike="noStrike" kern="1200" baseline="0" smtClean="0">
                        <a:solidFill>
                          <a:srgbClr val="C01920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+mn-cs"/>
                      </a:rPr>
                      <a:pPr algn="ctr" rtl="0">
                        <a:defRPr lang="zh-CN" altLang="en-US" sz="2400">
                          <a:solidFill>
                            <a:schemeClr val="tx1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zh-CN" altLang="en-US" sz="2400" b="0" i="0" u="none" strike="noStrike" kern="1200" baseline="0">
                      <a:solidFill>
                        <a:schemeClr val="tx1"/>
                      </a:solidFill>
                      <a:latin typeface="思源黑体 CN Heavy" panose="020B0A00000000000000" pitchFamily="34" charset="-122"/>
                      <a:ea typeface="思源黑体 CN Heavy" panose="020B0A00000000000000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883704840876259"/>
                      <c:h val="0.4080354355455816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DAB-489A-BFAD-2A12CB5DE6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思源黑体 CN Heavy" panose="020B0A00000000000000" pitchFamily="34" charset="-122"/>
                    <a:ea typeface="思源黑体 CN Heavy" panose="020B0A00000000000000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平时成绩</c:v>
                </c:pt>
                <c:pt idx="1">
                  <c:v>期末考试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AB-489A-BFAD-2A12CB5DE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53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53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3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76E37FF-4EAF-470E-BD31-3D917444AAA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92483-0A9C-4A36-AEF0-B8241DF4130F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938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92483-0A9C-4A36-AEF0-B8241DF4130F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3035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92483-0A9C-4A36-AEF0-B8241DF4130F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7049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997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1EF2924-3E1E-4CB4-8EF2-15D5D1C0B5A9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gradFill>
            <a:gsLst>
              <a:gs pos="100000">
                <a:srgbClr val="D7000F"/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B418866-4D2D-43B4-A4C7-A19B50828F83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57A01DE-1CE0-473F-BFBC-953845BD515E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6E742AE-2026-40D4-B7D4-325185E7DA57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45C1E27-5297-46D4-8389-5A37CA1DD237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E82ED21-678D-45D4-8A9D-D1F391FA6F5F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1B67A05-980D-4B85-BFA9-BB6839BE7D54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solidFill>
              <a:srgbClr val="D7000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A07852E5-18ED-4342-8617-434AF51E6693}"/>
              </a:ext>
            </a:extLst>
          </p:cNvPr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gradFill>
            <a:gsLst>
              <a:gs pos="100000">
                <a:srgbClr val="D7000F">
                  <a:alpha val="20000"/>
                </a:srgbClr>
              </a:gs>
              <a:gs pos="64000">
                <a:srgbClr val="D7000F">
                  <a:alpha val="50000"/>
                </a:srgbClr>
              </a:gs>
              <a:gs pos="31000">
                <a:srgbClr val="D7000F">
                  <a:alpha val="60000"/>
                </a:srgbClr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pic>
        <p:nvPicPr>
          <p:cNvPr id="16" name="图片 15" descr="文本&#10;&#10;描述已自动生成">
            <a:extLst>
              <a:ext uri="{FF2B5EF4-FFF2-40B4-BE49-F238E27FC236}">
                <a16:creationId xmlns:a16="http://schemas.microsoft.com/office/drawing/2014/main" id="{FE70EF5C-ACA0-4A13-89C1-BD7D5AB87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6144751"/>
            <a:ext cx="2641353" cy="973017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15888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341438"/>
            <a:ext cx="10363200" cy="47545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457B42E-CD40-4C0E-BD55-24F184C2DD2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B09B01F-EC4D-490C-98B0-C0B10CA1FB6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15888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341438"/>
            <a:ext cx="5080000" cy="47545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1438"/>
            <a:ext cx="5080000" cy="475456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4E3F86E-0DA3-471F-BECD-172C93DD055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3CA6B8E-7E13-45A1-9037-62A7BBCC434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15888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4CA0FDB-3C96-4F80-8C31-ADBD4276175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284EC08-A8D8-44C4-8645-6C1DB1686F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32792" y="3021330"/>
            <a:ext cx="371475" cy="3429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3B68388-6482-47AA-B23D-54697538AC9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C0192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6A11B18-8425-4162-9BB0-67E841A41E5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3E6B9FE-FBB9-4B6D-9067-BF370D4178D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15888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1341438"/>
            <a:ext cx="10363200" cy="47545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26F7884-3706-4116-92A7-4D58A6FDFD6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115888"/>
            <a:ext cx="2590800" cy="598011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115888"/>
            <a:ext cx="7569200" cy="59801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8ED130F-3C06-4E9A-BD91-24FCEB94372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456C5A-CA7A-4E59-9391-6614CBC9E5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2212155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56CF960-5613-4363-9E14-14A8BF1EBB1E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gradFill>
            <a:gsLst>
              <a:gs pos="100000">
                <a:srgbClr val="D7000F"/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B1461C2-7D0D-4E3C-8B47-25DCF9B20DC6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68FD0F2-33A1-43B7-94AC-D1A0FC81FA0B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3006E15-5CC6-4E2B-974F-5505320A49A0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4DFBFD1-EA9E-4E6B-BEDE-0C3408961645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F4E1A74-684B-41DA-B988-56C6439CBC73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7248F34-2C9B-45E0-A8F0-6337A327BFF4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solidFill>
              <a:srgbClr val="D7000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968F4294-188D-4257-9B6F-6E7514261A97}"/>
              </a:ext>
            </a:extLst>
          </p:cNvPr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gradFill>
            <a:gsLst>
              <a:gs pos="100000">
                <a:srgbClr val="D7000F">
                  <a:alpha val="20000"/>
                </a:srgbClr>
              </a:gs>
              <a:gs pos="64000">
                <a:srgbClr val="D7000F">
                  <a:alpha val="50000"/>
                </a:srgbClr>
              </a:gs>
              <a:gs pos="31000">
                <a:srgbClr val="D7000F">
                  <a:alpha val="60000"/>
                </a:srgbClr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pic>
        <p:nvPicPr>
          <p:cNvPr id="29" name="图片 28" descr="文本&#10;&#10;描述已自动生成">
            <a:extLst>
              <a:ext uri="{FF2B5EF4-FFF2-40B4-BE49-F238E27FC236}">
                <a16:creationId xmlns:a16="http://schemas.microsoft.com/office/drawing/2014/main" id="{BC7FD4F5-F6C5-40DA-A03E-06C55AE5187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6144751"/>
            <a:ext cx="2641353" cy="9730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txStyles>
    <p:titleStyle>
      <a:lvl1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4.wav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audio" Target="../media/audio1.wav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4" Type="http://schemas.openxmlformats.org/officeDocument/2006/relationships/audio" Target="../media/audio2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audio" Target="../media/audio5.wav"/><Relationship Id="rId4" Type="http://schemas.openxmlformats.org/officeDocument/2006/relationships/audio" Target="../media/audio2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4" Type="http://schemas.openxmlformats.org/officeDocument/2006/relationships/audio" Target="../media/audio3.wav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4" Type="http://schemas.openxmlformats.org/officeDocument/2006/relationships/audio" Target="../media/audio3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audio" Target="../media/audio3.wav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4" Type="http://schemas.openxmlformats.org/officeDocument/2006/relationships/audio" Target="../media/audio2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audio" Target="../media/audio3.wav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990" name="组合 466989">
            <a:extLst>
              <a:ext uri="{FF2B5EF4-FFF2-40B4-BE49-F238E27FC236}">
                <a16:creationId xmlns:a16="http://schemas.microsoft.com/office/drawing/2014/main" id="{90DA2393-20F0-4F22-A673-37EFCBE3CBB7}"/>
              </a:ext>
            </a:extLst>
          </p:cNvPr>
          <p:cNvGrpSpPr/>
          <p:nvPr/>
        </p:nvGrpSpPr>
        <p:grpSpPr>
          <a:xfrm>
            <a:off x="2711624" y="1196752"/>
            <a:ext cx="5668582" cy="6031728"/>
            <a:chOff x="1319586" y="1051455"/>
            <a:chExt cx="5668582" cy="5256585"/>
          </a:xfrm>
          <a:noFill/>
        </p:grpSpPr>
        <p:grpSp>
          <p:nvGrpSpPr>
            <p:cNvPr id="466988" name="组合 466987">
              <a:extLst>
                <a:ext uri="{FF2B5EF4-FFF2-40B4-BE49-F238E27FC236}">
                  <a16:creationId xmlns:a16="http://schemas.microsoft.com/office/drawing/2014/main" id="{47849CA3-A394-49F2-AD5A-D3DDF8E5D932}"/>
                </a:ext>
              </a:extLst>
            </p:cNvPr>
            <p:cNvGrpSpPr/>
            <p:nvPr/>
          </p:nvGrpSpPr>
          <p:grpSpPr>
            <a:xfrm>
              <a:off x="1319586" y="1232940"/>
              <a:ext cx="4837921" cy="4232797"/>
              <a:chOff x="4426431" y="860338"/>
              <a:chExt cx="4837921" cy="4232797"/>
            </a:xfrm>
            <a:grpFill/>
          </p:grpSpPr>
          <p:sp>
            <p:nvSpPr>
              <p:cNvPr id="56" name="矩形: 圆顶角 55">
                <a:extLst>
                  <a:ext uri="{FF2B5EF4-FFF2-40B4-BE49-F238E27FC236}">
                    <a16:creationId xmlns:a16="http://schemas.microsoft.com/office/drawing/2014/main" id="{34E73DA9-BC8D-436A-A664-0989F146C2E5}"/>
                  </a:ext>
                </a:extLst>
              </p:cNvPr>
              <p:cNvSpPr/>
              <p:nvPr/>
            </p:nvSpPr>
            <p:spPr bwMode="auto">
              <a:xfrm rot="16200000">
                <a:off x="6101055" y="1929838"/>
                <a:ext cx="2867104" cy="3459490"/>
              </a:xfrm>
              <a:custGeom>
                <a:avLst/>
                <a:gdLst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  <a:gd name="connsiteX0" fmla="*/ 6578915 w 8968159"/>
                  <a:gd name="connsiteY0" fmla="*/ 1929838 h 5389328"/>
                  <a:gd name="connsiteX1" fmla="*/ 0 w 8968159"/>
                  <a:gd name="connsiteY1" fmla="*/ 0 h 5389328"/>
                  <a:gd name="connsiteX2" fmla="*/ 8490299 w 8968159"/>
                  <a:gd name="connsiteY2" fmla="*/ 1929838 h 5389328"/>
                  <a:gd name="connsiteX3" fmla="*/ 8968159 w 8968159"/>
                  <a:gd name="connsiteY3" fmla="*/ 2407698 h 5389328"/>
                  <a:gd name="connsiteX4" fmla="*/ 8968159 w 8968159"/>
                  <a:gd name="connsiteY4" fmla="*/ 5389328 h 5389328"/>
                  <a:gd name="connsiteX5" fmla="*/ 8968159 w 8968159"/>
                  <a:gd name="connsiteY5" fmla="*/ 5389328 h 5389328"/>
                  <a:gd name="connsiteX6" fmla="*/ 6101055 w 8968159"/>
                  <a:gd name="connsiteY6" fmla="*/ 5389328 h 5389328"/>
                  <a:gd name="connsiteX7" fmla="*/ 6101055 w 8968159"/>
                  <a:gd name="connsiteY7" fmla="*/ 5389328 h 5389328"/>
                  <a:gd name="connsiteX8" fmla="*/ 6101055 w 8968159"/>
                  <a:gd name="connsiteY8" fmla="*/ 2407698 h 5389328"/>
                  <a:gd name="connsiteX9" fmla="*/ 6578915 w 8968159"/>
                  <a:gd name="connsiteY9" fmla="*/ 1929838 h 5389328"/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67104" h="3459490">
                    <a:moveTo>
                      <a:pt x="477860" y="0"/>
                    </a:moveTo>
                    <a:lnTo>
                      <a:pt x="2389244" y="0"/>
                    </a:lnTo>
                    <a:cubicBezTo>
                      <a:pt x="2653159" y="0"/>
                      <a:pt x="2867104" y="213945"/>
                      <a:pt x="2867104" y="477860"/>
                    </a:cubicBezTo>
                    <a:lnTo>
                      <a:pt x="2867104" y="3459490"/>
                    </a:lnTo>
                    <a:lnTo>
                      <a:pt x="2867104" y="3459490"/>
                    </a:lnTo>
                    <a:lnTo>
                      <a:pt x="0" y="3459490"/>
                    </a:lnTo>
                    <a:lnTo>
                      <a:pt x="0" y="3459490"/>
                    </a:lnTo>
                    <a:lnTo>
                      <a:pt x="0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66958" name="任意多边形: 形状 466957">
                <a:extLst>
                  <a:ext uri="{FF2B5EF4-FFF2-40B4-BE49-F238E27FC236}">
                    <a16:creationId xmlns:a16="http://schemas.microsoft.com/office/drawing/2014/main" id="{62D9AFFB-BF60-4B90-91C5-D6F2AB5FA62F}"/>
                  </a:ext>
                </a:extLst>
              </p:cNvPr>
              <p:cNvSpPr/>
              <p:nvPr/>
            </p:nvSpPr>
            <p:spPr bwMode="auto">
              <a:xfrm>
                <a:off x="5760395" y="2181976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59" name="任意多边形: 形状 466958">
                <a:extLst>
                  <a:ext uri="{FF2B5EF4-FFF2-40B4-BE49-F238E27FC236}">
                    <a16:creationId xmlns:a16="http://schemas.microsoft.com/office/drawing/2014/main" id="{494EA9CB-8869-4422-B197-F5480FE45B0A}"/>
                  </a:ext>
                </a:extLst>
              </p:cNvPr>
              <p:cNvSpPr/>
              <p:nvPr/>
            </p:nvSpPr>
            <p:spPr bwMode="auto">
              <a:xfrm>
                <a:off x="5715931" y="2137922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0" name="任意多边形: 形状 466959">
                <a:extLst>
                  <a:ext uri="{FF2B5EF4-FFF2-40B4-BE49-F238E27FC236}">
                    <a16:creationId xmlns:a16="http://schemas.microsoft.com/office/drawing/2014/main" id="{B042FD86-A0B7-4149-8398-29E8B2039CA8}"/>
                  </a:ext>
                </a:extLst>
              </p:cNvPr>
              <p:cNvSpPr/>
              <p:nvPr/>
            </p:nvSpPr>
            <p:spPr bwMode="auto">
              <a:xfrm>
                <a:off x="5671464" y="2093867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1" name="任意多边形: 形状 466960">
                <a:extLst>
                  <a:ext uri="{FF2B5EF4-FFF2-40B4-BE49-F238E27FC236}">
                    <a16:creationId xmlns:a16="http://schemas.microsoft.com/office/drawing/2014/main" id="{33E40499-0A00-469C-B532-5C731717B7DC}"/>
                  </a:ext>
                </a:extLst>
              </p:cNvPr>
              <p:cNvSpPr/>
              <p:nvPr/>
            </p:nvSpPr>
            <p:spPr bwMode="auto">
              <a:xfrm>
                <a:off x="5627000" y="2049811"/>
                <a:ext cx="3459490" cy="2867105"/>
              </a:xfrm>
              <a:custGeom>
                <a:avLst/>
                <a:gdLst>
                  <a:gd name="connsiteX0" fmla="*/ 0 w 3459490"/>
                  <a:gd name="connsiteY0" fmla="*/ 2389245 h 2867105"/>
                  <a:gd name="connsiteX1" fmla="*/ 13 w 3459490"/>
                  <a:gd name="connsiteY1" fmla="*/ 477860 h 2867105"/>
                  <a:gd name="connsiteX2" fmla="*/ 477860 w 3459490"/>
                  <a:gd name="connsiteY2" fmla="*/ 0 h 2867105"/>
                  <a:gd name="connsiteX3" fmla="*/ 3459490 w 3459490"/>
                  <a:gd name="connsiteY3" fmla="*/ 0 h 2867105"/>
                  <a:gd name="connsiteX4" fmla="*/ 3459490 w 3459490"/>
                  <a:gd name="connsiteY4" fmla="*/ 0 h 2867105"/>
                  <a:gd name="connsiteX5" fmla="*/ 3459490 w 3459490"/>
                  <a:gd name="connsiteY5" fmla="*/ 2867105 h 2867105"/>
                  <a:gd name="connsiteX6" fmla="*/ 3459490 w 3459490"/>
                  <a:gd name="connsiteY6" fmla="*/ 2867105 h 2867105"/>
                  <a:gd name="connsiteX7" fmla="*/ 477860 w 3459490"/>
                  <a:gd name="connsiteY7" fmla="*/ 2867105 h 2867105"/>
                  <a:gd name="connsiteX8" fmla="*/ 0 w 3459490"/>
                  <a:gd name="connsiteY8" fmla="*/ 2389245 h 2867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5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6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5"/>
                    </a:lnTo>
                    <a:lnTo>
                      <a:pt x="3459490" y="2867105"/>
                    </a:lnTo>
                    <a:lnTo>
                      <a:pt x="477860" y="2867105"/>
                    </a:lnTo>
                    <a:cubicBezTo>
                      <a:pt x="213945" y="2867105"/>
                      <a:pt x="0" y="2653160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2" name="任意多边形: 形状 466961">
                <a:extLst>
                  <a:ext uri="{FF2B5EF4-FFF2-40B4-BE49-F238E27FC236}">
                    <a16:creationId xmlns:a16="http://schemas.microsoft.com/office/drawing/2014/main" id="{D083F042-0879-45F3-A207-BF0D2EC1AD9C}"/>
                  </a:ext>
                </a:extLst>
              </p:cNvPr>
              <p:cNvSpPr/>
              <p:nvPr/>
            </p:nvSpPr>
            <p:spPr bwMode="auto">
              <a:xfrm>
                <a:off x="5582533" y="2005758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3" name="任意多边形: 形状 466962">
                <a:extLst>
                  <a:ext uri="{FF2B5EF4-FFF2-40B4-BE49-F238E27FC236}">
                    <a16:creationId xmlns:a16="http://schemas.microsoft.com/office/drawing/2014/main" id="{CA88892A-146D-4C2E-B891-97B3AF4A4C42}"/>
                  </a:ext>
                </a:extLst>
              </p:cNvPr>
              <p:cNvSpPr/>
              <p:nvPr/>
            </p:nvSpPr>
            <p:spPr bwMode="auto">
              <a:xfrm>
                <a:off x="5538069" y="196170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4" name="任意多边形: 形状 466963">
                <a:extLst>
                  <a:ext uri="{FF2B5EF4-FFF2-40B4-BE49-F238E27FC236}">
                    <a16:creationId xmlns:a16="http://schemas.microsoft.com/office/drawing/2014/main" id="{FB28D25E-670E-47ED-8799-2BB2C1A45443}"/>
                  </a:ext>
                </a:extLst>
              </p:cNvPr>
              <p:cNvSpPr/>
              <p:nvPr/>
            </p:nvSpPr>
            <p:spPr bwMode="auto">
              <a:xfrm>
                <a:off x="5493602" y="1917649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5" name="任意多边形: 形状 466964">
                <a:extLst>
                  <a:ext uri="{FF2B5EF4-FFF2-40B4-BE49-F238E27FC236}">
                    <a16:creationId xmlns:a16="http://schemas.microsoft.com/office/drawing/2014/main" id="{1FD4C06D-70F0-4FF2-BEAD-6E88DD6FDC13}"/>
                  </a:ext>
                </a:extLst>
              </p:cNvPr>
              <p:cNvSpPr/>
              <p:nvPr/>
            </p:nvSpPr>
            <p:spPr bwMode="auto">
              <a:xfrm>
                <a:off x="5449138" y="1873594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6" name="任意多边形: 形状 466965">
                <a:extLst>
                  <a:ext uri="{FF2B5EF4-FFF2-40B4-BE49-F238E27FC236}">
                    <a16:creationId xmlns:a16="http://schemas.microsoft.com/office/drawing/2014/main" id="{9EE30DBB-6592-4438-82EB-D778B287E33D}"/>
                  </a:ext>
                </a:extLst>
              </p:cNvPr>
              <p:cNvSpPr/>
              <p:nvPr/>
            </p:nvSpPr>
            <p:spPr bwMode="auto">
              <a:xfrm>
                <a:off x="5404671" y="1829539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5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5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6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7" name="任意多边形: 形状 466966">
                <a:extLst>
                  <a:ext uri="{FF2B5EF4-FFF2-40B4-BE49-F238E27FC236}">
                    <a16:creationId xmlns:a16="http://schemas.microsoft.com/office/drawing/2014/main" id="{0EA352E2-0DF8-42FC-9D07-EB8EE1456A5A}"/>
                  </a:ext>
                </a:extLst>
              </p:cNvPr>
              <p:cNvSpPr/>
              <p:nvPr/>
            </p:nvSpPr>
            <p:spPr bwMode="auto">
              <a:xfrm>
                <a:off x="5360207" y="1785485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8" name="任意多边形: 形状 466967">
                <a:extLst>
                  <a:ext uri="{FF2B5EF4-FFF2-40B4-BE49-F238E27FC236}">
                    <a16:creationId xmlns:a16="http://schemas.microsoft.com/office/drawing/2014/main" id="{54588078-9E32-4766-A8B8-140045943AA9}"/>
                  </a:ext>
                </a:extLst>
              </p:cNvPr>
              <p:cNvSpPr/>
              <p:nvPr/>
            </p:nvSpPr>
            <p:spPr bwMode="auto">
              <a:xfrm>
                <a:off x="5315740" y="1741430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9" name="任意多边形: 形状 466968">
                <a:extLst>
                  <a:ext uri="{FF2B5EF4-FFF2-40B4-BE49-F238E27FC236}">
                    <a16:creationId xmlns:a16="http://schemas.microsoft.com/office/drawing/2014/main" id="{FA514FA6-74F9-48BB-980B-7B8312E21653}"/>
                  </a:ext>
                </a:extLst>
              </p:cNvPr>
              <p:cNvSpPr/>
              <p:nvPr/>
            </p:nvSpPr>
            <p:spPr bwMode="auto">
              <a:xfrm>
                <a:off x="5271276" y="169737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0" name="任意多边形: 形状 466969">
                <a:extLst>
                  <a:ext uri="{FF2B5EF4-FFF2-40B4-BE49-F238E27FC236}">
                    <a16:creationId xmlns:a16="http://schemas.microsoft.com/office/drawing/2014/main" id="{88F1D9B7-AF83-4DDD-A889-D50E3162BDDC}"/>
                  </a:ext>
                </a:extLst>
              </p:cNvPr>
              <p:cNvSpPr/>
              <p:nvPr/>
            </p:nvSpPr>
            <p:spPr bwMode="auto">
              <a:xfrm>
                <a:off x="5226809" y="1653321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1" name="任意多边形: 形状 466970">
                <a:extLst>
                  <a:ext uri="{FF2B5EF4-FFF2-40B4-BE49-F238E27FC236}">
                    <a16:creationId xmlns:a16="http://schemas.microsoft.com/office/drawing/2014/main" id="{DF343671-04EE-41F9-A774-7D9F2E1E3811}"/>
                  </a:ext>
                </a:extLst>
              </p:cNvPr>
              <p:cNvSpPr/>
              <p:nvPr/>
            </p:nvSpPr>
            <p:spPr bwMode="auto">
              <a:xfrm>
                <a:off x="5182345" y="160926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5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5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2" name="任意多边形: 形状 466971">
                <a:extLst>
                  <a:ext uri="{FF2B5EF4-FFF2-40B4-BE49-F238E27FC236}">
                    <a16:creationId xmlns:a16="http://schemas.microsoft.com/office/drawing/2014/main" id="{41D25F15-C331-4651-A2D6-E86049B272DB}"/>
                  </a:ext>
                </a:extLst>
              </p:cNvPr>
              <p:cNvSpPr/>
              <p:nvPr/>
            </p:nvSpPr>
            <p:spPr bwMode="auto">
              <a:xfrm>
                <a:off x="5137878" y="1565212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3" name="任意多边形: 形状 466972">
                <a:extLst>
                  <a:ext uri="{FF2B5EF4-FFF2-40B4-BE49-F238E27FC236}">
                    <a16:creationId xmlns:a16="http://schemas.microsoft.com/office/drawing/2014/main" id="{CD9EBE19-3D53-4D07-9B5F-0CF948C1BCB1}"/>
                  </a:ext>
                </a:extLst>
              </p:cNvPr>
              <p:cNvSpPr/>
              <p:nvPr/>
            </p:nvSpPr>
            <p:spPr bwMode="auto">
              <a:xfrm>
                <a:off x="5093414" y="1521157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4" name="任意多边形: 形状 466973">
                <a:extLst>
                  <a:ext uri="{FF2B5EF4-FFF2-40B4-BE49-F238E27FC236}">
                    <a16:creationId xmlns:a16="http://schemas.microsoft.com/office/drawing/2014/main" id="{B7DF68E3-54CC-455F-A067-6F4658E8A900}"/>
                  </a:ext>
                </a:extLst>
              </p:cNvPr>
              <p:cNvSpPr/>
              <p:nvPr/>
            </p:nvSpPr>
            <p:spPr bwMode="auto">
              <a:xfrm>
                <a:off x="5048948" y="147710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5" name="任意多边形: 形状 466974">
                <a:extLst>
                  <a:ext uri="{FF2B5EF4-FFF2-40B4-BE49-F238E27FC236}">
                    <a16:creationId xmlns:a16="http://schemas.microsoft.com/office/drawing/2014/main" id="{54BB5C2B-8F60-4B1F-A5D7-444F44D5EB80}"/>
                  </a:ext>
                </a:extLst>
              </p:cNvPr>
              <p:cNvSpPr/>
              <p:nvPr/>
            </p:nvSpPr>
            <p:spPr bwMode="auto">
              <a:xfrm>
                <a:off x="5004483" y="1433048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59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59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59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59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6" name="任意多边形: 形状 466975">
                <a:extLst>
                  <a:ext uri="{FF2B5EF4-FFF2-40B4-BE49-F238E27FC236}">
                    <a16:creationId xmlns:a16="http://schemas.microsoft.com/office/drawing/2014/main" id="{217B73B5-1C97-4293-8FB1-7F526507A90A}"/>
                  </a:ext>
                </a:extLst>
              </p:cNvPr>
              <p:cNvSpPr/>
              <p:nvPr/>
            </p:nvSpPr>
            <p:spPr bwMode="auto">
              <a:xfrm>
                <a:off x="4960017" y="138899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7" name="任意多边形: 形状 466976">
                <a:extLst>
                  <a:ext uri="{FF2B5EF4-FFF2-40B4-BE49-F238E27FC236}">
                    <a16:creationId xmlns:a16="http://schemas.microsoft.com/office/drawing/2014/main" id="{C984FC97-6EC5-4A31-BB5E-5DC882D064D5}"/>
                  </a:ext>
                </a:extLst>
              </p:cNvPr>
              <p:cNvSpPr/>
              <p:nvPr/>
            </p:nvSpPr>
            <p:spPr bwMode="auto">
              <a:xfrm>
                <a:off x="4915552" y="1344939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59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59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59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59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8" name="任意多边形: 形状 466977">
                <a:extLst>
                  <a:ext uri="{FF2B5EF4-FFF2-40B4-BE49-F238E27FC236}">
                    <a16:creationId xmlns:a16="http://schemas.microsoft.com/office/drawing/2014/main" id="{9D5B62FE-4C38-49BA-96B9-F2F2C6C5195B}"/>
                  </a:ext>
                </a:extLst>
              </p:cNvPr>
              <p:cNvSpPr/>
              <p:nvPr/>
            </p:nvSpPr>
            <p:spPr bwMode="auto">
              <a:xfrm>
                <a:off x="4871086" y="1300884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9" name="任意多边形: 形状 466978">
                <a:extLst>
                  <a:ext uri="{FF2B5EF4-FFF2-40B4-BE49-F238E27FC236}">
                    <a16:creationId xmlns:a16="http://schemas.microsoft.com/office/drawing/2014/main" id="{43FB0229-74A2-4B10-A1C8-9D916F26FC12}"/>
                  </a:ext>
                </a:extLst>
              </p:cNvPr>
              <p:cNvSpPr/>
              <p:nvPr/>
            </p:nvSpPr>
            <p:spPr bwMode="auto">
              <a:xfrm>
                <a:off x="4826621" y="1256828"/>
                <a:ext cx="3459490" cy="2867105"/>
              </a:xfrm>
              <a:custGeom>
                <a:avLst/>
                <a:gdLst>
                  <a:gd name="connsiteX0" fmla="*/ 0 w 3459490"/>
                  <a:gd name="connsiteY0" fmla="*/ 2389245 h 2867105"/>
                  <a:gd name="connsiteX1" fmla="*/ 13 w 3459490"/>
                  <a:gd name="connsiteY1" fmla="*/ 477860 h 2867105"/>
                  <a:gd name="connsiteX2" fmla="*/ 477859 w 3459490"/>
                  <a:gd name="connsiteY2" fmla="*/ 0 h 2867105"/>
                  <a:gd name="connsiteX3" fmla="*/ 3459490 w 3459490"/>
                  <a:gd name="connsiteY3" fmla="*/ 0 h 2867105"/>
                  <a:gd name="connsiteX4" fmla="*/ 3459490 w 3459490"/>
                  <a:gd name="connsiteY4" fmla="*/ 0 h 2867105"/>
                  <a:gd name="connsiteX5" fmla="*/ 3459490 w 3459490"/>
                  <a:gd name="connsiteY5" fmla="*/ 2867105 h 2867105"/>
                  <a:gd name="connsiteX6" fmla="*/ 3459490 w 3459490"/>
                  <a:gd name="connsiteY6" fmla="*/ 2867105 h 2867105"/>
                  <a:gd name="connsiteX7" fmla="*/ 477859 w 3459490"/>
                  <a:gd name="connsiteY7" fmla="*/ 2867105 h 2867105"/>
                  <a:gd name="connsiteX8" fmla="*/ 0 w 3459490"/>
                  <a:gd name="connsiteY8" fmla="*/ 2389245 h 2867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5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6"/>
                      <a:pt x="213945" y="0"/>
                      <a:pt x="477859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5"/>
                    </a:lnTo>
                    <a:lnTo>
                      <a:pt x="3459490" y="2867105"/>
                    </a:lnTo>
                    <a:lnTo>
                      <a:pt x="477859" y="2867105"/>
                    </a:lnTo>
                    <a:cubicBezTo>
                      <a:pt x="213945" y="2867105"/>
                      <a:pt x="0" y="2653160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0" name="任意多边形: 形状 466979">
                <a:extLst>
                  <a:ext uri="{FF2B5EF4-FFF2-40B4-BE49-F238E27FC236}">
                    <a16:creationId xmlns:a16="http://schemas.microsoft.com/office/drawing/2014/main" id="{74B8460D-B7FE-49A3-8239-29C31B3A2EEA}"/>
                  </a:ext>
                </a:extLst>
              </p:cNvPr>
              <p:cNvSpPr/>
              <p:nvPr/>
            </p:nvSpPr>
            <p:spPr bwMode="auto">
              <a:xfrm>
                <a:off x="4782155" y="1212775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1" name="任意多边形: 形状 466980">
                <a:extLst>
                  <a:ext uri="{FF2B5EF4-FFF2-40B4-BE49-F238E27FC236}">
                    <a16:creationId xmlns:a16="http://schemas.microsoft.com/office/drawing/2014/main" id="{D9A89519-E16F-43C0-B72E-D6C34AD80221}"/>
                  </a:ext>
                </a:extLst>
              </p:cNvPr>
              <p:cNvSpPr/>
              <p:nvPr/>
            </p:nvSpPr>
            <p:spPr bwMode="auto">
              <a:xfrm>
                <a:off x="4737689" y="1168720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2" name="任意多边形: 形状 466981">
                <a:extLst>
                  <a:ext uri="{FF2B5EF4-FFF2-40B4-BE49-F238E27FC236}">
                    <a16:creationId xmlns:a16="http://schemas.microsoft.com/office/drawing/2014/main" id="{18A2A0EB-78C6-45EA-93B2-7A2AC5915417}"/>
                  </a:ext>
                </a:extLst>
              </p:cNvPr>
              <p:cNvSpPr/>
              <p:nvPr/>
            </p:nvSpPr>
            <p:spPr bwMode="auto">
              <a:xfrm>
                <a:off x="4693224" y="112466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3" name="任意多边形: 形状 466982">
                <a:extLst>
                  <a:ext uri="{FF2B5EF4-FFF2-40B4-BE49-F238E27FC236}">
                    <a16:creationId xmlns:a16="http://schemas.microsoft.com/office/drawing/2014/main" id="{06E5EC0C-4EE8-4A28-9FCA-6356264408B1}"/>
                  </a:ext>
                </a:extLst>
              </p:cNvPr>
              <p:cNvSpPr/>
              <p:nvPr/>
            </p:nvSpPr>
            <p:spPr bwMode="auto">
              <a:xfrm>
                <a:off x="4648758" y="1080611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4" name="任意多边形: 形状 466983">
                <a:extLst>
                  <a:ext uri="{FF2B5EF4-FFF2-40B4-BE49-F238E27FC236}">
                    <a16:creationId xmlns:a16="http://schemas.microsoft.com/office/drawing/2014/main" id="{AB0FA968-42CB-494C-91E6-B313DCDF189D}"/>
                  </a:ext>
                </a:extLst>
              </p:cNvPr>
              <p:cNvSpPr/>
              <p:nvPr/>
            </p:nvSpPr>
            <p:spPr bwMode="auto">
              <a:xfrm>
                <a:off x="4604293" y="103655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5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5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5" name="任意多边形: 形状 466984">
                <a:extLst>
                  <a:ext uri="{FF2B5EF4-FFF2-40B4-BE49-F238E27FC236}">
                    <a16:creationId xmlns:a16="http://schemas.microsoft.com/office/drawing/2014/main" id="{10BBF3E6-C74F-4CBB-B883-1E7A1C20184B}"/>
                  </a:ext>
                </a:extLst>
              </p:cNvPr>
              <p:cNvSpPr/>
              <p:nvPr/>
            </p:nvSpPr>
            <p:spPr bwMode="auto">
              <a:xfrm>
                <a:off x="4559827" y="992502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6" name="任意多边形: 形状 466985">
                <a:extLst>
                  <a:ext uri="{FF2B5EF4-FFF2-40B4-BE49-F238E27FC236}">
                    <a16:creationId xmlns:a16="http://schemas.microsoft.com/office/drawing/2014/main" id="{E8951B63-EE6B-43B4-B8F3-9211148B64D9}"/>
                  </a:ext>
                </a:extLst>
              </p:cNvPr>
              <p:cNvSpPr/>
              <p:nvPr/>
            </p:nvSpPr>
            <p:spPr bwMode="auto">
              <a:xfrm>
                <a:off x="4515362" y="948447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7" name="任意多边形: 形状 466986">
                <a:extLst>
                  <a:ext uri="{FF2B5EF4-FFF2-40B4-BE49-F238E27FC236}">
                    <a16:creationId xmlns:a16="http://schemas.microsoft.com/office/drawing/2014/main" id="{BA473FBB-4A3A-4D61-966F-B1BD2B2157EB}"/>
                  </a:ext>
                </a:extLst>
              </p:cNvPr>
              <p:cNvSpPr/>
              <p:nvPr/>
            </p:nvSpPr>
            <p:spPr bwMode="auto">
              <a:xfrm>
                <a:off x="4470896" y="90439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矩形: 圆顶角 20">
                <a:extLst>
                  <a:ext uri="{FF2B5EF4-FFF2-40B4-BE49-F238E27FC236}">
                    <a16:creationId xmlns:a16="http://schemas.microsoft.com/office/drawing/2014/main" id="{12987477-6EDB-49EE-B6FF-2369D8E2EDAC}"/>
                  </a:ext>
                </a:extLst>
              </p:cNvPr>
              <p:cNvSpPr/>
              <p:nvPr/>
            </p:nvSpPr>
            <p:spPr bwMode="auto">
              <a:xfrm rot="16200000">
                <a:off x="4722624" y="564145"/>
                <a:ext cx="2867104" cy="3459490"/>
              </a:xfrm>
              <a:custGeom>
                <a:avLst/>
                <a:gdLst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  <a:gd name="connsiteX0" fmla="*/ 5200483 w 7589727"/>
                  <a:gd name="connsiteY0" fmla="*/ 564145 h 4023635"/>
                  <a:gd name="connsiteX1" fmla="*/ 0 w 7589727"/>
                  <a:gd name="connsiteY1" fmla="*/ 0 h 4023635"/>
                  <a:gd name="connsiteX2" fmla="*/ 7111867 w 7589727"/>
                  <a:gd name="connsiteY2" fmla="*/ 564145 h 4023635"/>
                  <a:gd name="connsiteX3" fmla="*/ 7589727 w 7589727"/>
                  <a:gd name="connsiteY3" fmla="*/ 1042005 h 4023635"/>
                  <a:gd name="connsiteX4" fmla="*/ 7589727 w 7589727"/>
                  <a:gd name="connsiteY4" fmla="*/ 4023635 h 4023635"/>
                  <a:gd name="connsiteX5" fmla="*/ 7589727 w 7589727"/>
                  <a:gd name="connsiteY5" fmla="*/ 4023635 h 4023635"/>
                  <a:gd name="connsiteX6" fmla="*/ 4722623 w 7589727"/>
                  <a:gd name="connsiteY6" fmla="*/ 4023635 h 4023635"/>
                  <a:gd name="connsiteX7" fmla="*/ 4722623 w 7589727"/>
                  <a:gd name="connsiteY7" fmla="*/ 4023635 h 4023635"/>
                  <a:gd name="connsiteX8" fmla="*/ 4722623 w 7589727"/>
                  <a:gd name="connsiteY8" fmla="*/ 1042005 h 4023635"/>
                  <a:gd name="connsiteX9" fmla="*/ 5200483 w 7589727"/>
                  <a:gd name="connsiteY9" fmla="*/ 564145 h 4023635"/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67104" h="3459490">
                    <a:moveTo>
                      <a:pt x="477860" y="0"/>
                    </a:moveTo>
                    <a:lnTo>
                      <a:pt x="2389244" y="0"/>
                    </a:lnTo>
                    <a:cubicBezTo>
                      <a:pt x="2653159" y="0"/>
                      <a:pt x="2867104" y="213945"/>
                      <a:pt x="2867104" y="477860"/>
                    </a:cubicBezTo>
                    <a:lnTo>
                      <a:pt x="2867104" y="3459490"/>
                    </a:lnTo>
                    <a:lnTo>
                      <a:pt x="2867104" y="3459490"/>
                    </a:lnTo>
                    <a:lnTo>
                      <a:pt x="0" y="3459490"/>
                    </a:lnTo>
                    <a:lnTo>
                      <a:pt x="0" y="3459490"/>
                    </a:lnTo>
                    <a:lnTo>
                      <a:pt x="0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466989" name="平行四边形 466988">
              <a:extLst>
                <a:ext uri="{FF2B5EF4-FFF2-40B4-BE49-F238E27FC236}">
                  <a16:creationId xmlns:a16="http://schemas.microsoft.com/office/drawing/2014/main" id="{F9B55C15-0562-4D84-BA64-F86954A0BEF2}"/>
                </a:ext>
              </a:extLst>
            </p:cNvPr>
            <p:cNvSpPr/>
            <p:nvPr/>
          </p:nvSpPr>
          <p:spPr bwMode="auto">
            <a:xfrm rot="5400000">
              <a:off x="3245809" y="2565681"/>
              <a:ext cx="5256585" cy="2228133"/>
            </a:xfrm>
            <a:prstGeom prst="parallelogram">
              <a:avLst>
                <a:gd name="adj" fmla="val 96622"/>
              </a:avLst>
            </a:prstGeom>
            <a:solidFill>
              <a:srgbClr val="C0192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466949" name="Rectangle 5"/>
          <p:cNvSpPr>
            <a:spLocks noChangeArrowheads="1"/>
          </p:cNvSpPr>
          <p:nvPr/>
        </p:nvSpPr>
        <p:spPr bwMode="auto">
          <a:xfrm>
            <a:off x="3938093" y="3004278"/>
            <a:ext cx="5758307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程序设计教程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（第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3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版）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B5E1C75A-58F7-488D-A75F-78F2A3EA6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22" y="1412776"/>
            <a:ext cx="2989921" cy="144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</a:t>
            </a:r>
            <a:r>
              <a:rPr lang="zh-CN" altLang="en-US" sz="80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语言</a:t>
            </a:r>
          </a:p>
        </p:txBody>
      </p:sp>
      <p:pic>
        <p:nvPicPr>
          <p:cNvPr id="15" name="图片 14" descr="图片包含 游戏机&#10;&#10;描述已自动生成">
            <a:extLst>
              <a:ext uri="{FF2B5EF4-FFF2-40B4-BE49-F238E27FC236}">
                <a16:creationId xmlns:a16="http://schemas.microsoft.com/office/drawing/2014/main" id="{88B313E9-A6E8-4A29-8FCB-633A40EB2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236" y="2671741"/>
            <a:ext cx="1415626" cy="4200157"/>
          </a:xfrm>
          <a:prstGeom prst="rect">
            <a:avLst/>
          </a:prstGeom>
        </p:spPr>
      </p:pic>
      <p:sp>
        <p:nvSpPr>
          <p:cNvPr id="18" name="Rectangle 5">
            <a:extLst>
              <a:ext uri="{FF2B5EF4-FFF2-40B4-BE49-F238E27FC236}">
                <a16:creationId xmlns:a16="http://schemas.microsoft.com/office/drawing/2014/main" id="{2F7A13F8-9190-4D44-8ACC-DC3AF3AE4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4933" y="4072560"/>
            <a:ext cx="6676695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章 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语言程序设计预备知识</a:t>
            </a: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1E13812E-B2A6-4F2D-AC3F-19B02AAE7E42}"/>
              </a:ext>
            </a:extLst>
          </p:cNvPr>
          <p:cNvSpPr txBox="1"/>
          <p:nvPr/>
        </p:nvSpPr>
        <p:spPr>
          <a:xfrm>
            <a:off x="2351584" y="5229200"/>
            <a:ext cx="83529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制作人：王敬华</a:t>
            </a:r>
            <a:endParaRPr lang="en-US" altLang="zh-CN" sz="2400" b="1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/>
            <a:endParaRPr lang="en-US" altLang="zh-CN" sz="2400" b="1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如果要加作者微信群，请加微信</a:t>
            </a:r>
            <a:r>
              <a:rPr lang="en-US" altLang="zh-CN" sz="16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:</a:t>
            </a:r>
            <a:r>
              <a:rPr lang="en-US" altLang="zh-CN" sz="1600" b="1" dirty="0" err="1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itshuquan8</a:t>
            </a:r>
            <a:r>
              <a:rPr lang="zh-CN" altLang="en-US" sz="16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，备注加入王敬华老师微信群，仅限高校教师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D295D5B8-1292-4AF1-AF36-1C6227270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2104" y="5942946"/>
            <a:ext cx="919896" cy="91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5630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669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9" grpId="0"/>
      <p:bldP spid="24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F17FDB-A84F-4B8A-8906-87DFC84FBDA0}"/>
              </a:ext>
            </a:extLst>
          </p:cNvPr>
          <p:cNvSpPr txBox="1"/>
          <p:nvPr/>
        </p:nvSpPr>
        <p:spPr>
          <a:xfrm>
            <a:off x="695325" y="1052736"/>
            <a:ext cx="9793163" cy="605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C0192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3200" b="1" dirty="0">
                <a:solidFill>
                  <a:srgbClr val="C0192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教材</a:t>
            </a:r>
            <a:endParaRPr lang="en-US" altLang="zh-CN" sz="3200" b="1" dirty="0">
              <a:solidFill>
                <a:srgbClr val="C01920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隶书" pitchFamily="49" charset="-122"/>
              <a:ea typeface="隶书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b="1" dirty="0">
                <a:solidFill>
                  <a:srgbClr val="00206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语言程序设计教程（第</a:t>
            </a:r>
            <a:r>
              <a:rPr lang="en-US" altLang="zh-CN" b="1" dirty="0">
                <a:solidFill>
                  <a:srgbClr val="00206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版） </a:t>
            </a:r>
            <a:r>
              <a:rPr lang="zh-CN" altLang="en-US" sz="2000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王敬华编著 清华大学出版社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C0192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3200" b="1" dirty="0">
                <a:solidFill>
                  <a:srgbClr val="C0192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参考书</a:t>
            </a:r>
            <a:endParaRPr lang="en-US" altLang="zh-CN" sz="3200" b="1" dirty="0">
              <a:solidFill>
                <a:srgbClr val="C01920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隶书" pitchFamily="49" charset="-122"/>
              <a:ea typeface="隶书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CN" sz="2800" b="1" dirty="0">
                <a:solidFill>
                  <a:srgbClr val="00206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b="1" dirty="0">
                <a:solidFill>
                  <a:srgbClr val="00206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语言程序设计教程（第</a:t>
            </a:r>
            <a:r>
              <a:rPr lang="en-US" altLang="zh-CN" b="1" dirty="0">
                <a:solidFill>
                  <a:srgbClr val="00206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版）习题解答与实验指导</a:t>
            </a:r>
          </a:p>
          <a:p>
            <a:pPr marL="1143000" lvl="2" indent="-228600">
              <a:spcBef>
                <a:spcPct val="20000"/>
              </a:spcBef>
            </a:pPr>
            <a:r>
              <a:rPr lang="zh-CN" altLang="en-US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                                           </a:t>
            </a:r>
            <a:r>
              <a:rPr lang="zh-CN" altLang="en-US" sz="2000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王敬华编著 清华大学出版社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C0192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3200" b="1" dirty="0">
                <a:solidFill>
                  <a:srgbClr val="C0192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公共邮箱</a:t>
            </a:r>
            <a:endParaRPr lang="en-US" altLang="zh-CN" sz="3200" b="1" dirty="0">
              <a:solidFill>
                <a:srgbClr val="C01920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隶书" pitchFamily="49" charset="-122"/>
              <a:ea typeface="隶书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CN" sz="2800" b="1" dirty="0">
                <a:solidFill>
                  <a:srgbClr val="FF00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+mj-lt"/>
                <a:ea typeface="楷体" pitchFamily="49" charset="-122"/>
              </a:rPr>
              <a:t>C_languagemsg@126.com</a:t>
            </a:r>
            <a:r>
              <a:rPr lang="en-US" altLang="zh-CN" b="1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  </a:t>
            </a:r>
            <a:endParaRPr lang="zh-CN" altLang="en-US" b="1" dirty="0"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楷体" pitchFamily="49" charset="-122"/>
              <a:ea typeface="楷体" pitchFamily="49" charset="-122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rgbClr val="C0192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隶书" pitchFamily="49" charset="-122"/>
                <a:ea typeface="隶书" pitchFamily="49" charset="-122"/>
              </a:rPr>
              <a:t> 课时安排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课内  ：</a:t>
            </a:r>
            <a:r>
              <a:rPr lang="en-US" altLang="zh-CN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学时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课外   </a:t>
            </a:r>
            <a:r>
              <a:rPr lang="en-US" altLang="zh-CN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: 16</a:t>
            </a: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学时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实验  </a:t>
            </a:r>
            <a:r>
              <a:rPr lang="zh-CN" altLang="zh-CN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学时 </a:t>
            </a:r>
            <a:r>
              <a:rPr lang="en-US" altLang="zh-CN" b="1" dirty="0">
                <a:solidFill>
                  <a:srgbClr val="00206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en-US" altLang="zh-CN" b="1" dirty="0">
                <a:solidFill>
                  <a:srgbClr val="CC000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zh-CN" altLang="en-US" b="1" dirty="0">
                <a:solidFill>
                  <a:srgbClr val="CC000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微软雅黑" pitchFamily="34" charset="-122"/>
                <a:ea typeface="微软雅黑" pitchFamily="34" charset="-122"/>
              </a:rPr>
              <a:t>学时（额外增加）</a:t>
            </a:r>
          </a:p>
          <a:p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AD23D70-2853-4CC3-A84B-2130CA86CFB2}"/>
              </a:ext>
            </a:extLst>
          </p:cNvPr>
          <p:cNvGrpSpPr/>
          <p:nvPr/>
        </p:nvGrpSpPr>
        <p:grpSpPr>
          <a:xfrm>
            <a:off x="1834031" y="1199974"/>
            <a:ext cx="8272164" cy="5029553"/>
            <a:chOff x="1834031" y="1199974"/>
            <a:chExt cx="8272164" cy="502955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6A6A9B0-2AF1-48AC-97AE-B7A58FB9C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869068">
              <a:off x="1834031" y="1199974"/>
              <a:ext cx="3562627" cy="502955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808ED15-F4BA-409F-9C94-E6D8B95CA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03600">
              <a:off x="6673007" y="1243417"/>
              <a:ext cx="3433188" cy="4942668"/>
            </a:xfrm>
            <a:prstGeom prst="rect">
              <a:avLst/>
            </a:prstGeom>
          </p:spPr>
        </p:pic>
      </p:grpSp>
      <p:sp>
        <p:nvSpPr>
          <p:cNvPr id="9" name="Rectangle 4">
            <a:extLst>
              <a:ext uri="{FF2B5EF4-FFF2-40B4-BE49-F238E27FC236}">
                <a16:creationId xmlns:a16="http://schemas.microsoft.com/office/drawing/2014/main" id="{F065EA33-84A4-4E8C-A1B9-3DE9E10A4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教材、参考书与课时安排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CA39FCDC-D42C-4966-9D6B-27A6233CC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学习要求及成绩构成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B2F249E-E94D-4A3D-84A7-222FA2FF406C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C58923C-8EF7-4EA9-B768-3C54FF1CB54A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8" name="菱形 7">
                <a:extLst>
                  <a:ext uri="{FF2B5EF4-FFF2-40B4-BE49-F238E27FC236}">
                    <a16:creationId xmlns:a16="http://schemas.microsoft.com/office/drawing/2014/main" id="{9A556426-EC99-403C-BF6B-0D8B820C75C5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" name="菱形 8">
                <a:extLst>
                  <a:ext uri="{FF2B5EF4-FFF2-40B4-BE49-F238E27FC236}">
                    <a16:creationId xmlns:a16="http://schemas.microsoft.com/office/drawing/2014/main" id="{ECA7D016-9D73-43FA-B6B0-1446932CCF9D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42E457CE-9E29-4411-854F-807D8DA60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学习要求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AE759FB-A51B-47D6-B880-5D8F96F45459}"/>
              </a:ext>
            </a:extLst>
          </p:cNvPr>
          <p:cNvGrpSpPr/>
          <p:nvPr/>
        </p:nvGrpSpPr>
        <p:grpSpPr>
          <a:xfrm>
            <a:off x="6384032" y="967906"/>
            <a:ext cx="3267000" cy="630931"/>
            <a:chOff x="695400" y="1059424"/>
            <a:chExt cx="3267000" cy="630931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B9D1B83-3D9C-4F70-9369-5CC2B930AB5D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3" name="菱形 12">
                <a:extLst>
                  <a:ext uri="{FF2B5EF4-FFF2-40B4-BE49-F238E27FC236}">
                    <a16:creationId xmlns:a16="http://schemas.microsoft.com/office/drawing/2014/main" id="{1F82FCF7-C551-4D2D-AC49-B0BC195B550F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01121C0F-147A-48DC-85E2-1600DED3DD4D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F1A74E0E-44FC-4443-B622-E4D7B85FB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成绩构成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958D3DA-7C19-4971-98E3-CCE25F8D30E3}"/>
              </a:ext>
            </a:extLst>
          </p:cNvPr>
          <p:cNvSpPr txBox="1"/>
          <p:nvPr/>
        </p:nvSpPr>
        <p:spPr>
          <a:xfrm>
            <a:off x="627509" y="2177791"/>
            <a:ext cx="5468492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lvl="2" indent="-342900">
              <a:lnSpc>
                <a:spcPct val="20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课前请做好预习，课后请做好复习</a:t>
            </a:r>
          </a:p>
          <a:p>
            <a:pPr marL="57150" lvl="2" indent="-342900">
              <a:lnSpc>
                <a:spcPct val="20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保持课堂安静，头脑清醒，思维活跃</a:t>
            </a:r>
          </a:p>
          <a:p>
            <a:pPr marL="57150" lvl="2" indent="-342900">
              <a:lnSpc>
                <a:spcPct val="20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认真、独立、按时完成并提交作业</a:t>
            </a:r>
          </a:p>
          <a:p>
            <a:pPr marL="57150" lvl="2" indent="-342900">
              <a:lnSpc>
                <a:spcPct val="20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重视上机实践，有效利用宝贵的上机时间</a:t>
            </a:r>
          </a:p>
          <a:p>
            <a:pPr marL="342900" indent="-342900">
              <a:lnSpc>
                <a:spcPct val="200000"/>
              </a:lnSpc>
              <a:buClr>
                <a:srgbClr val="C01920"/>
              </a:buClr>
              <a:buFont typeface="Wingdings" panose="05000000000000000000" pitchFamily="2" charset="2"/>
              <a:buChar char="l"/>
            </a:pPr>
            <a:endParaRPr lang="zh-CN" altLang="en-US" sz="20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34CF25E-A5F8-4B0F-9C54-3C63533C97DA}"/>
              </a:ext>
            </a:extLst>
          </p:cNvPr>
          <p:cNvGrpSpPr/>
          <p:nvPr/>
        </p:nvGrpSpPr>
        <p:grpSpPr>
          <a:xfrm>
            <a:off x="5360175" y="1782834"/>
            <a:ext cx="7128792" cy="4506026"/>
            <a:chOff x="5360175" y="1782834"/>
            <a:chExt cx="7128792" cy="4506026"/>
          </a:xfrm>
        </p:grpSpPr>
        <p:graphicFrame>
          <p:nvGraphicFramePr>
            <p:cNvPr id="25" name="图表 24">
              <a:extLst>
                <a:ext uri="{FF2B5EF4-FFF2-40B4-BE49-F238E27FC236}">
                  <a16:creationId xmlns:a16="http://schemas.microsoft.com/office/drawing/2014/main" id="{28C9B8D8-CC60-4D78-B987-4C6155A62FA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59360018"/>
                </p:ext>
              </p:extLst>
            </p:nvPr>
          </p:nvGraphicFramePr>
          <p:xfrm>
            <a:off x="5360175" y="1782834"/>
            <a:ext cx="7128792" cy="450602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40C38C4-C65B-49D8-A343-91AF870E46A4}"/>
                </a:ext>
              </a:extLst>
            </p:cNvPr>
            <p:cNvSpPr txBox="1"/>
            <p:nvPr/>
          </p:nvSpPr>
          <p:spPr>
            <a:xfrm>
              <a:off x="9048328" y="4581128"/>
              <a:ext cx="27745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包括考勤、作业、讨论、测验、回答问题等</a:t>
              </a:r>
              <a:endParaRPr lang="zh-CN" altLang="en-US" sz="2000" dirty="0"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786878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005" name="AutoShape 13"/>
          <p:cNvSpPr>
            <a:spLocks noChangeArrowheads="1"/>
          </p:cNvSpPr>
          <p:nvPr/>
        </p:nvSpPr>
        <p:spPr bwMode="auto">
          <a:xfrm>
            <a:off x="276820" y="2299582"/>
            <a:ext cx="11702379" cy="1473963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 w="9525">
            <a:noFill/>
            <a:miter lim="800000"/>
            <a:headEnd/>
            <a:tailEnd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计算机是以逻辑部件为物质基础，能够对信息进行自动处理的机器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。逻辑部件其实就是指计算机的硬件系统，而对信息的自动处理则是由计算机的软件系统来实现的。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469007" name="Rectangle 15"/>
          <p:cNvSpPr>
            <a:spLocks noChangeArrowheads="1"/>
          </p:cNvSpPr>
          <p:nvPr/>
        </p:nvSpPr>
        <p:spPr bwMode="auto">
          <a:xfrm>
            <a:off x="22488" y="4437112"/>
            <a:ext cx="11593288" cy="713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b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  </a:t>
            </a:r>
            <a:r>
              <a:rPr lang="en-US" altLang="zh-CN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“</a:t>
            </a:r>
            <a:r>
              <a:rPr lang="zh-CN" altLang="en-US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信息”包括的范围很广，它可以是</a:t>
            </a:r>
            <a:r>
              <a:rPr lang="zh-CN" altLang="en-US" sz="2800" b="1" spc="150" dirty="0">
                <a:ln w="11430"/>
                <a:solidFill>
                  <a:srgbClr val="C0192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数字、文字、图像、声音</a:t>
            </a:r>
            <a:r>
              <a:rPr lang="zh-CN" altLang="en-US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等。</a:t>
            </a:r>
            <a:r>
              <a:rPr lang="zh-CN" altLang="en-US" sz="3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469009" name="Rectangle 17"/>
          <p:cNvSpPr>
            <a:spLocks noChangeArrowheads="1"/>
          </p:cNvSpPr>
          <p:nvPr/>
        </p:nvSpPr>
        <p:spPr bwMode="auto">
          <a:xfrm>
            <a:off x="251668" y="5622627"/>
            <a:ext cx="11532963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   </a:t>
            </a:r>
            <a:r>
              <a:rPr lang="zh-CN" altLang="en-US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不管哪种类型的信息在计算机中最终都是以</a:t>
            </a:r>
            <a:r>
              <a:rPr lang="zh-CN" altLang="en-US" sz="2800" b="1" spc="150" dirty="0">
                <a:ln w="11430"/>
                <a:solidFill>
                  <a:srgbClr val="C0192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二进制数据</a:t>
            </a:r>
            <a:r>
              <a:rPr lang="zh-CN" altLang="en-US" sz="28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信息来表示和处理。</a:t>
            </a:r>
            <a:r>
              <a:rPr lang="zh-CN" altLang="en-US" sz="32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469010" name="AutoShape 18"/>
          <p:cNvSpPr>
            <a:spLocks noChangeArrowheads="1"/>
          </p:cNvSpPr>
          <p:nvPr/>
        </p:nvSpPr>
        <p:spPr bwMode="auto">
          <a:xfrm>
            <a:off x="6427759" y="4437112"/>
            <a:ext cx="3529013" cy="764427"/>
          </a:xfrm>
          <a:prstGeom prst="wedgeRoundRectCallout">
            <a:avLst>
              <a:gd name="adj1" fmla="val 34024"/>
              <a:gd name="adj2" fmla="val 124573"/>
              <a:gd name="adj3" fmla="val 1666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3492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800" b="1" dirty="0">
                <a:solidFill>
                  <a:srgbClr val="002060"/>
                </a:solidFill>
              </a:rPr>
              <a:t>101010111111…….</a:t>
            </a: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4BD27FF6-40F0-4EAA-8868-BAD38D5C5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207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章：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C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语言程序设计预备知识 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84994C6-3A7C-4732-AE87-F32F34A436CF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68D8A3A-3D89-42C9-A0BB-67C3DC5B5BCD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1" name="菱形 30">
                <a:extLst>
                  <a:ext uri="{FF2B5EF4-FFF2-40B4-BE49-F238E27FC236}">
                    <a16:creationId xmlns:a16="http://schemas.microsoft.com/office/drawing/2014/main" id="{A82F476D-A9DC-4A8F-8A99-DFE50ACA5BAA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2" name="菱形 31">
                <a:extLst>
                  <a:ext uri="{FF2B5EF4-FFF2-40B4-BE49-F238E27FC236}">
                    <a16:creationId xmlns:a16="http://schemas.microsoft.com/office/drawing/2014/main" id="{626603F0-1397-4A52-A50B-F6883639BCD8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0" name="Text Box 5">
              <a:extLst>
                <a:ext uri="{FF2B5EF4-FFF2-40B4-BE49-F238E27FC236}">
                  <a16:creationId xmlns:a16="http://schemas.microsoft.com/office/drawing/2014/main" id="{0A7828D7-A532-4300-B9CD-4D3EB32523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学习的意义</a:t>
              </a: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4D64BD6-6538-443D-8035-2FA2DC36327C}"/>
              </a:ext>
            </a:extLst>
          </p:cNvPr>
          <p:cNvSpPr/>
          <p:nvPr/>
        </p:nvSpPr>
        <p:spPr bwMode="auto">
          <a:xfrm>
            <a:off x="1242677" y="1740623"/>
            <a:ext cx="3243949" cy="601651"/>
          </a:xfrm>
          <a:prstGeom prst="roundRect">
            <a:avLst>
              <a:gd name="adj" fmla="val 50000"/>
            </a:avLst>
          </a:prstGeom>
          <a:solidFill>
            <a:srgbClr val="C0192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什么是计算机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0A2E430-3E8B-4792-88F3-5557B35856BB}"/>
              </a:ext>
            </a:extLst>
          </p:cNvPr>
          <p:cNvSpPr/>
          <p:nvPr/>
        </p:nvSpPr>
        <p:spPr bwMode="auto">
          <a:xfrm>
            <a:off x="1267875" y="3835461"/>
            <a:ext cx="3243949" cy="601651"/>
          </a:xfrm>
          <a:prstGeom prst="roundRect">
            <a:avLst>
              <a:gd name="adj" fmla="val 50000"/>
            </a:avLst>
          </a:prstGeom>
          <a:solidFill>
            <a:srgbClr val="C0192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何为“信息”？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15FFF27-2F25-4179-89A8-BCF7A9A18FAB}"/>
              </a:ext>
            </a:extLst>
          </p:cNvPr>
          <p:cNvSpPr/>
          <p:nvPr/>
        </p:nvSpPr>
        <p:spPr bwMode="auto">
          <a:xfrm>
            <a:off x="1267875" y="5062604"/>
            <a:ext cx="5058620" cy="601651"/>
          </a:xfrm>
          <a:prstGeom prst="roundRect">
            <a:avLst>
              <a:gd name="adj" fmla="val 50000"/>
            </a:avLst>
          </a:prstGeom>
          <a:solidFill>
            <a:srgbClr val="C0192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计算机中如何表示“信息”？</a:t>
            </a:r>
          </a:p>
        </p:txBody>
      </p:sp>
    </p:spTree>
    <p:extLst>
      <p:ext uri="{BB962C8B-B14F-4D97-AF65-F5344CB8AC3E}">
        <p14:creationId xmlns:p14="http://schemas.microsoft.com/office/powerpoint/2010/main" val="61077562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69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469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9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9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9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9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9005" grpId="0"/>
      <p:bldP spid="469007" grpId="0"/>
      <p:bldP spid="469009" grpId="0"/>
      <p:bldP spid="469010" grpId="0" animBg="1"/>
      <p:bldP spid="2" grpId="0" animBg="1"/>
      <p:bldP spid="33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6" name="AutoShape 6"/>
          <p:cNvSpPr>
            <a:spLocks noChangeArrowheads="1"/>
          </p:cNvSpPr>
          <p:nvPr/>
        </p:nvSpPr>
        <p:spPr bwMode="auto">
          <a:xfrm>
            <a:off x="170663" y="3350270"/>
            <a:ext cx="1461287" cy="510778"/>
          </a:xfrm>
          <a:prstGeom prst="roundRect">
            <a:avLst>
              <a:gd name="adj" fmla="val 16667"/>
            </a:avLst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solidFill>
                  <a:srgbClr val="C019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结论：</a:t>
            </a:r>
          </a:p>
        </p:txBody>
      </p:sp>
      <p:sp>
        <p:nvSpPr>
          <p:cNvPr id="675847" name="Rectangle 7"/>
          <p:cNvSpPr>
            <a:spLocks noChangeArrowheads="1"/>
          </p:cNvSpPr>
          <p:nvPr/>
        </p:nvSpPr>
        <p:spPr bwMode="auto">
          <a:xfrm>
            <a:off x="154719" y="2407286"/>
            <a:ext cx="11280551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语言就是编制计算机软件的开发工具。具体就是对这些信息进行处理的软件工具。</a:t>
            </a:r>
          </a:p>
        </p:txBody>
      </p:sp>
      <p:sp>
        <p:nvSpPr>
          <p:cNvPr id="675851" name="Rectangle 11"/>
          <p:cNvSpPr>
            <a:spLocks noChangeArrowheads="1"/>
          </p:cNvSpPr>
          <p:nvPr/>
        </p:nvSpPr>
        <p:spPr bwMode="auto">
          <a:xfrm>
            <a:off x="1476714" y="3717032"/>
            <a:ext cx="9536075" cy="2588146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lvl="1">
              <a:spcBef>
                <a:spcPct val="20000"/>
              </a:spcBef>
            </a:pP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除了： </a:t>
            </a:r>
            <a:endParaRPr lang="en-US" altLang="zh-CN" b="1" dirty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b="1" dirty="0">
                <a:latin typeface="楷体" pitchFamily="49" charset="-122"/>
                <a:ea typeface="楷体_GB2312" pitchFamily="49" charset="-122"/>
              </a:rPr>
              <a:t>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了解计算机硬件系统的组成（因为硬件是软件的物质基础）。</a:t>
            </a:r>
          </a:p>
          <a:p>
            <a:pPr marL="0" lvl="1">
              <a:spcBef>
                <a:spcPct val="20000"/>
              </a:spcBef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  了解计算机软件系统的组成（因为软件是硬件的灵魂）。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pPr marL="0" lvl="1">
              <a:spcBef>
                <a:spcPct val="20000"/>
              </a:spcBef>
            </a:pP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更重要的是：</a:t>
            </a:r>
            <a:endParaRPr lang="en-US" altLang="zh-CN" b="1" dirty="0">
              <a:solidFill>
                <a:srgbClr val="C01920"/>
              </a:solidFill>
              <a:latin typeface="楷体" pitchFamily="49" charset="-122"/>
              <a:ea typeface="楷体" pitchFamily="49" charset="-122"/>
            </a:endParaRPr>
          </a:p>
          <a:p>
            <a:pPr marL="0" lvl="1">
              <a:spcBef>
                <a:spcPct val="20000"/>
              </a:spcBef>
            </a:pPr>
            <a:r>
              <a:rPr lang="en-US" altLang="zh-CN" b="1" dirty="0">
                <a:solidFill>
                  <a:srgbClr val="FF3300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了解二进制数在计算机中的表示形式、表示范围以及二进制数的算术运算和逻辑运算，另外就是数据在计算机中是如何存储的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。</a:t>
            </a:r>
            <a:endParaRPr lang="zh-CN" altLang="en-US" sz="2800" b="1" dirty="0">
              <a:latin typeface="楷体" pitchFamily="49" charset="-122"/>
              <a:ea typeface="楷体" pitchFamily="49" charset="-122"/>
            </a:endParaRPr>
          </a:p>
          <a:p>
            <a:pPr marL="0" lvl="1">
              <a:spcBef>
                <a:spcPct val="20000"/>
              </a:spcBef>
            </a:pP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         </a:t>
            </a:r>
          </a:p>
        </p:txBody>
      </p:sp>
      <p:sp>
        <p:nvSpPr>
          <p:cNvPr id="675854" name="AutoShape 14"/>
          <p:cNvSpPr>
            <a:spLocks noChangeArrowheads="1"/>
          </p:cNvSpPr>
          <p:nvPr/>
        </p:nvSpPr>
        <p:spPr bwMode="auto">
          <a:xfrm>
            <a:off x="6743625" y="2271900"/>
            <a:ext cx="4752975" cy="1527184"/>
          </a:xfrm>
          <a:prstGeom prst="cloudCallout">
            <a:avLst>
              <a:gd name="adj1" fmla="val -47785"/>
              <a:gd name="adj2" fmla="val 145090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round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学好</a:t>
            </a:r>
            <a:r>
              <a:rPr lang="en-US" altLang="zh-CN" sz="28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sz="28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语言必须掌握的基础知识！！！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6FA7449-368F-400B-A749-CD3D971EB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章：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C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语言程序设计预备知识 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556124-5956-4BA5-8803-C4389148DB61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77BE9EE0-A8CB-4B2E-A0D2-E43F94E2AD7A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9" name="菱形 18">
                <a:extLst>
                  <a:ext uri="{FF2B5EF4-FFF2-40B4-BE49-F238E27FC236}">
                    <a16:creationId xmlns:a16="http://schemas.microsoft.com/office/drawing/2014/main" id="{D8B056F5-1372-4EF1-BB6D-7E83DB3AD7F6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0" name="菱形 19">
                <a:extLst>
                  <a:ext uri="{FF2B5EF4-FFF2-40B4-BE49-F238E27FC236}">
                    <a16:creationId xmlns:a16="http://schemas.microsoft.com/office/drawing/2014/main" id="{98B69780-9464-4A96-A17F-6C50A599BDDE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EFE21ACC-8B54-46CF-8F9B-1702D04F5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学习的意义</a:t>
              </a:r>
            </a:p>
          </p:txBody>
        </p:sp>
      </p:grp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151C58C-44C0-49D7-917B-3793011CC0F1}"/>
              </a:ext>
            </a:extLst>
          </p:cNvPr>
          <p:cNvSpPr/>
          <p:nvPr/>
        </p:nvSpPr>
        <p:spPr bwMode="auto">
          <a:xfrm>
            <a:off x="1242677" y="1740623"/>
            <a:ext cx="3243949" cy="666663"/>
          </a:xfrm>
          <a:prstGeom prst="roundRect">
            <a:avLst>
              <a:gd name="adj" fmla="val 50000"/>
            </a:avLst>
          </a:prstGeom>
          <a:solidFill>
            <a:srgbClr val="C0192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什么是</a:t>
            </a:r>
            <a:r>
              <a:rPr lang="en-US" altLang="zh-CN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语言？</a:t>
            </a:r>
            <a:endParaRPr lang="en-US" altLang="zh-CN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277C41-04F9-4AC1-9ACC-177F24383DD6}"/>
              </a:ext>
            </a:extLst>
          </p:cNvPr>
          <p:cNvSpPr/>
          <p:nvPr/>
        </p:nvSpPr>
        <p:spPr bwMode="auto">
          <a:xfrm>
            <a:off x="1529144" y="5498119"/>
            <a:ext cx="9319384" cy="883209"/>
          </a:xfrm>
          <a:prstGeom prst="rect">
            <a:avLst/>
          </a:prstGeom>
          <a:noFill/>
          <a:ln w="44450" cap="flat" cmpd="sng" algn="ctr">
            <a:solidFill>
              <a:srgbClr val="C0192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10820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675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6758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46" grpId="0"/>
      <p:bldP spid="675847" grpId="0"/>
      <p:bldP spid="675851" grpId="0"/>
      <p:bldP spid="675854" grpId="0" animBg="1"/>
      <p:bldP spid="21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0" name="Rectangle 6"/>
          <p:cNvSpPr>
            <a:spLocks noChangeArrowheads="1"/>
          </p:cNvSpPr>
          <p:nvPr/>
        </p:nvSpPr>
        <p:spPr bwMode="auto">
          <a:xfrm>
            <a:off x="684069" y="1798112"/>
            <a:ext cx="5339923" cy="4019253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lIns="18000"/>
          <a:lstStyle/>
          <a:p>
            <a:pPr marL="534988" lvl="1" indent="-357188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了解计算机的系统组成及工作原理；</a:t>
            </a:r>
          </a:p>
          <a:p>
            <a:pPr marL="534988" lvl="1" indent="-357188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掌握二进制数的表示及二进制数与其它进制数的转换方法；</a:t>
            </a:r>
          </a:p>
          <a:p>
            <a:pPr marL="534988" lvl="1" indent="-357188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掌握机器数的表示形式和表示范围，特别是补码表示形式；</a:t>
            </a:r>
          </a:p>
          <a:p>
            <a:pPr marL="534988" lvl="1" indent="-357188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掌握补码的加、减运算方法；</a:t>
            </a:r>
          </a:p>
          <a:p>
            <a:pPr marL="534988" lvl="1" indent="-357188">
              <a:spcBef>
                <a:spcPct val="20000"/>
              </a:spcBef>
              <a:buClr>
                <a:srgbClr val="C01920"/>
              </a:buClr>
              <a:buFont typeface="Wingdings" pitchFamily="2" charset="2"/>
              <a:buChar char="ü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掌握二进制数的位运算方法；          </a:t>
            </a:r>
          </a:p>
        </p:txBody>
      </p:sp>
      <p:sp>
        <p:nvSpPr>
          <p:cNvPr id="676873" name="AutoShape 9"/>
          <p:cNvSpPr>
            <a:spLocks noChangeArrowheads="1"/>
          </p:cNvSpPr>
          <p:nvPr/>
        </p:nvSpPr>
        <p:spPr bwMode="auto">
          <a:xfrm>
            <a:off x="-169042" y="5233183"/>
            <a:ext cx="6769100" cy="1439862"/>
          </a:xfrm>
          <a:prstGeom prst="cloudCallout">
            <a:avLst>
              <a:gd name="adj1" fmla="val 15500"/>
              <a:gd name="adj2" fmla="val -167199"/>
            </a:avLst>
          </a:prstGeom>
          <a:gradFill flip="none" rotWithShape="1">
            <a:gsLst>
              <a:gs pos="0">
                <a:srgbClr val="CFCFD1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  <a:tileRect/>
          </a:gradFill>
          <a:ln w="25400">
            <a:solidFill>
              <a:srgbClr val="C01920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这些是更好地理解和掌握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语言数据类型（第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章）的基础。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240016" y="1772816"/>
            <a:ext cx="5256659" cy="4019253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perspectiveFront"/>
            <a:lightRig rig="threePt" dir="t"/>
          </a:scene3d>
          <a:sp3d>
            <a:bevelT w="114300" prst="hardEdge"/>
          </a:sp3d>
        </p:spPr>
        <p:txBody>
          <a:bodyPr lIns="18000">
            <a:sp3d/>
          </a:bodyPr>
          <a:lstStyle/>
          <a:p>
            <a:pPr marL="609600" indent="-4318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计算机系统组成及工作原理简介 </a:t>
            </a:r>
          </a:p>
          <a:p>
            <a:pPr marL="609600" indent="-4318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进位计数制及其转换（二进制、八进制、十六进制） </a:t>
            </a:r>
          </a:p>
          <a:p>
            <a:pPr marL="609600" indent="-4318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机器数的表示形式及其表示范围（原码、补码、反码） </a:t>
            </a:r>
          </a:p>
          <a:p>
            <a:pPr marL="609600" indent="-4318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二进制数的位运算（与、或、非、异或） </a:t>
            </a:r>
          </a:p>
          <a:p>
            <a:pPr marL="609600" indent="-4318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Ø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本章小结 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FD374B7-DD4D-41BC-B020-B0D49BAEF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00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章：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C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语言程序设计预备知识 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02608C-8745-48A5-B5D7-4CB583E71C19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2B0B60C-F193-489D-8882-EC4070353918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7ED0E1D9-C77E-4BC4-83A7-EFE151CFF997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" name="菱形 14">
                <a:extLst>
                  <a:ext uri="{FF2B5EF4-FFF2-40B4-BE49-F238E27FC236}">
                    <a16:creationId xmlns:a16="http://schemas.microsoft.com/office/drawing/2014/main" id="{A5CA28BE-1F6F-4AE3-A582-06DB8D026BC6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290ABC04-8B9B-4B84-A1FA-762EC8A46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学习目标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FA5B5DC-4069-463B-8E3F-B3950C303764}"/>
              </a:ext>
            </a:extLst>
          </p:cNvPr>
          <p:cNvGrpSpPr/>
          <p:nvPr/>
        </p:nvGrpSpPr>
        <p:grpSpPr>
          <a:xfrm>
            <a:off x="6126512" y="967906"/>
            <a:ext cx="3267000" cy="630931"/>
            <a:chOff x="695400" y="1059424"/>
            <a:chExt cx="3267000" cy="630931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8FC122BB-98F9-475F-A5B9-98B78EAE6668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9" name="菱形 18">
                <a:extLst>
                  <a:ext uri="{FF2B5EF4-FFF2-40B4-BE49-F238E27FC236}">
                    <a16:creationId xmlns:a16="http://schemas.microsoft.com/office/drawing/2014/main" id="{E46CF149-A570-41DD-A64F-13384177092D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0" name="菱形 19">
                <a:extLst>
                  <a:ext uri="{FF2B5EF4-FFF2-40B4-BE49-F238E27FC236}">
                    <a16:creationId xmlns:a16="http://schemas.microsoft.com/office/drawing/2014/main" id="{A334A2EA-46B6-4FD8-8A2F-247D612EE083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4C1B3FE5-5AE7-45E2-9F29-B8861EA96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学习内容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768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870" grpId="0" animBg="1"/>
      <p:bldP spid="676873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5" name="Rectangle 3"/>
          <p:cNvSpPr>
            <a:spLocks noChangeArrowheads="1"/>
          </p:cNvSpPr>
          <p:nvPr/>
        </p:nvSpPr>
        <p:spPr bwMode="auto">
          <a:xfrm>
            <a:off x="2063552" y="3702322"/>
            <a:ext cx="1944688" cy="576263"/>
          </a:xfrm>
          <a:prstGeom prst="rect">
            <a:avLst/>
          </a:prstGeom>
          <a:solidFill>
            <a:srgbClr val="BD6368"/>
          </a:solidFill>
          <a:ln w="2857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D6368"/>
            </a:extrusionClr>
          </a:sp3d>
        </p:spPr>
        <p:txBody>
          <a:bodyPr lIns="18000">
            <a:flatTx/>
          </a:bodyPr>
          <a:lstStyle/>
          <a:p>
            <a:pPr marL="609600" indent="-609600" algn="ctr"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</a:rPr>
              <a:t>计算机系统 </a:t>
            </a:r>
          </a:p>
        </p:txBody>
      </p:sp>
      <p:sp>
        <p:nvSpPr>
          <p:cNvPr id="678916" name="Rectangle 4"/>
          <p:cNvSpPr>
            <a:spLocks noChangeArrowheads="1"/>
          </p:cNvSpPr>
          <p:nvPr/>
        </p:nvSpPr>
        <p:spPr bwMode="auto">
          <a:xfrm>
            <a:off x="4666109" y="2554559"/>
            <a:ext cx="1800225" cy="576262"/>
          </a:xfrm>
          <a:prstGeom prst="rect">
            <a:avLst/>
          </a:prstGeom>
          <a:solidFill>
            <a:srgbClr val="C2967F"/>
          </a:solidFill>
          <a:ln w="2857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2967F"/>
            </a:extrusionClr>
          </a:sp3d>
        </p:spPr>
        <p:txBody>
          <a:bodyPr lIns="18000">
            <a:flatTx/>
          </a:bodyPr>
          <a:lstStyle/>
          <a:p>
            <a:pPr marL="609600" indent="-609600" algn="ctr"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  <a:latin typeface="楷体" pitchFamily="49" charset="-122"/>
                <a:ea typeface="楷体" pitchFamily="49" charset="-122"/>
              </a:rPr>
              <a:t>硬件系统</a:t>
            </a:r>
          </a:p>
        </p:txBody>
      </p:sp>
      <p:sp>
        <p:nvSpPr>
          <p:cNvPr id="678917" name="Rectangle 5"/>
          <p:cNvSpPr>
            <a:spLocks noChangeArrowheads="1"/>
          </p:cNvSpPr>
          <p:nvPr/>
        </p:nvSpPr>
        <p:spPr bwMode="auto">
          <a:xfrm>
            <a:off x="4640709" y="5121547"/>
            <a:ext cx="1944687" cy="576263"/>
          </a:xfrm>
          <a:prstGeom prst="rect">
            <a:avLst/>
          </a:prstGeom>
          <a:solidFill>
            <a:srgbClr val="BAA1B9"/>
          </a:solidFill>
          <a:ln w="2857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AA1B9"/>
            </a:extrusionClr>
          </a:sp3d>
        </p:spPr>
        <p:txBody>
          <a:bodyPr lIns="18000">
            <a:flatTx/>
          </a:bodyPr>
          <a:lstStyle/>
          <a:p>
            <a:pPr marL="609600" indent="-609600" algn="ctr"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  <a:latin typeface="楷体" pitchFamily="49" charset="-122"/>
                <a:ea typeface="楷体" pitchFamily="49" charset="-122"/>
              </a:rPr>
              <a:t>软件系统 </a:t>
            </a:r>
          </a:p>
        </p:txBody>
      </p:sp>
      <p:sp>
        <p:nvSpPr>
          <p:cNvPr id="678918" name="AutoShape 6"/>
          <p:cNvSpPr>
            <a:spLocks/>
          </p:cNvSpPr>
          <p:nvPr/>
        </p:nvSpPr>
        <p:spPr bwMode="auto">
          <a:xfrm>
            <a:off x="4326384" y="2618059"/>
            <a:ext cx="288925" cy="2609850"/>
          </a:xfrm>
          <a:prstGeom prst="leftBrace">
            <a:avLst>
              <a:gd name="adj1" fmla="val 75275"/>
              <a:gd name="adj2" fmla="val 50000"/>
            </a:avLst>
          </a:prstGeom>
          <a:noFill/>
          <a:ln w="41275">
            <a:solidFill>
              <a:srgbClr val="C0192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C01920"/>
              </a:solidFill>
            </a:endParaRPr>
          </a:p>
        </p:txBody>
      </p:sp>
      <p:sp>
        <p:nvSpPr>
          <p:cNvPr id="678921" name="AutoShape 9"/>
          <p:cNvSpPr>
            <a:spLocks/>
          </p:cNvSpPr>
          <p:nvPr/>
        </p:nvSpPr>
        <p:spPr bwMode="auto">
          <a:xfrm>
            <a:off x="6847333" y="1482996"/>
            <a:ext cx="215900" cy="2520950"/>
          </a:xfrm>
          <a:prstGeom prst="leftBrace">
            <a:avLst>
              <a:gd name="adj1" fmla="val 97304"/>
              <a:gd name="adj2" fmla="val 50000"/>
            </a:avLst>
          </a:prstGeom>
          <a:noFill/>
          <a:ln w="41275">
            <a:solidFill>
              <a:srgbClr val="C0192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C01920"/>
              </a:solidFill>
            </a:endParaRPr>
          </a:p>
        </p:txBody>
      </p:sp>
      <p:sp>
        <p:nvSpPr>
          <p:cNvPr id="678923" name="Text Box 11"/>
          <p:cNvSpPr txBox="1">
            <a:spLocks noChangeArrowheads="1"/>
          </p:cNvSpPr>
          <p:nvPr/>
        </p:nvSpPr>
        <p:spPr bwMode="auto">
          <a:xfrm>
            <a:off x="7207696" y="1314721"/>
            <a:ext cx="122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运算器</a:t>
            </a:r>
          </a:p>
        </p:txBody>
      </p:sp>
      <p:sp>
        <p:nvSpPr>
          <p:cNvPr id="678924" name="Text Box 12"/>
          <p:cNvSpPr txBox="1">
            <a:spLocks noChangeArrowheads="1"/>
          </p:cNvSpPr>
          <p:nvPr/>
        </p:nvSpPr>
        <p:spPr bwMode="auto">
          <a:xfrm>
            <a:off x="7207696" y="1898921"/>
            <a:ext cx="122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控制器</a:t>
            </a:r>
          </a:p>
        </p:txBody>
      </p:sp>
      <p:sp>
        <p:nvSpPr>
          <p:cNvPr id="678925" name="Text Box 13"/>
          <p:cNvSpPr txBox="1">
            <a:spLocks noChangeArrowheads="1"/>
          </p:cNvSpPr>
          <p:nvPr/>
        </p:nvSpPr>
        <p:spPr bwMode="auto">
          <a:xfrm>
            <a:off x="7194996" y="2483121"/>
            <a:ext cx="1223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存储器</a:t>
            </a:r>
          </a:p>
        </p:txBody>
      </p:sp>
      <p:sp>
        <p:nvSpPr>
          <p:cNvPr id="678926" name="Text Box 14"/>
          <p:cNvSpPr txBox="1">
            <a:spLocks noChangeArrowheads="1"/>
          </p:cNvSpPr>
          <p:nvPr/>
        </p:nvSpPr>
        <p:spPr bwMode="auto">
          <a:xfrm>
            <a:off x="7207695" y="3194321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输入设备</a:t>
            </a:r>
          </a:p>
        </p:txBody>
      </p:sp>
      <p:sp>
        <p:nvSpPr>
          <p:cNvPr id="678927" name="Text Box 15"/>
          <p:cNvSpPr txBox="1">
            <a:spLocks noChangeArrowheads="1"/>
          </p:cNvSpPr>
          <p:nvPr/>
        </p:nvSpPr>
        <p:spPr bwMode="auto">
          <a:xfrm>
            <a:off x="7220395" y="3715021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输出设备</a:t>
            </a:r>
          </a:p>
        </p:txBody>
      </p:sp>
      <p:sp>
        <p:nvSpPr>
          <p:cNvPr id="678928" name="AutoShape 16"/>
          <p:cNvSpPr>
            <a:spLocks/>
          </p:cNvSpPr>
          <p:nvPr/>
        </p:nvSpPr>
        <p:spPr bwMode="auto">
          <a:xfrm>
            <a:off x="8342759" y="2284685"/>
            <a:ext cx="287337" cy="935037"/>
          </a:xfrm>
          <a:prstGeom prst="leftBrace">
            <a:avLst>
              <a:gd name="adj1" fmla="val 27118"/>
              <a:gd name="adj2" fmla="val 50000"/>
            </a:avLst>
          </a:prstGeom>
          <a:noFill/>
          <a:ln w="41275">
            <a:solidFill>
              <a:srgbClr val="C0192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C01920"/>
              </a:solidFill>
            </a:endParaRPr>
          </a:p>
        </p:txBody>
      </p:sp>
      <p:sp>
        <p:nvSpPr>
          <p:cNvPr id="678929" name="Text Box 17"/>
          <p:cNvSpPr txBox="1">
            <a:spLocks noChangeArrowheads="1"/>
          </p:cNvSpPr>
          <p:nvPr/>
        </p:nvSpPr>
        <p:spPr bwMode="auto">
          <a:xfrm>
            <a:off x="8576120" y="2157684"/>
            <a:ext cx="935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内存</a:t>
            </a:r>
          </a:p>
        </p:txBody>
      </p:sp>
      <p:sp>
        <p:nvSpPr>
          <p:cNvPr id="678930" name="Text Box 18"/>
          <p:cNvSpPr txBox="1">
            <a:spLocks noChangeArrowheads="1"/>
          </p:cNvSpPr>
          <p:nvPr/>
        </p:nvSpPr>
        <p:spPr bwMode="auto">
          <a:xfrm>
            <a:off x="8576120" y="2881584"/>
            <a:ext cx="935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外存</a:t>
            </a:r>
          </a:p>
        </p:txBody>
      </p:sp>
      <p:sp>
        <p:nvSpPr>
          <p:cNvPr id="678931" name="AutoShape 19"/>
          <p:cNvSpPr>
            <a:spLocks/>
          </p:cNvSpPr>
          <p:nvPr/>
        </p:nvSpPr>
        <p:spPr bwMode="auto">
          <a:xfrm rot="10800000">
            <a:off x="8431659" y="1581421"/>
            <a:ext cx="287337" cy="584200"/>
          </a:xfrm>
          <a:prstGeom prst="leftBrace">
            <a:avLst>
              <a:gd name="adj1" fmla="val 16943"/>
              <a:gd name="adj2" fmla="val 50000"/>
            </a:avLst>
          </a:prstGeom>
          <a:noFill/>
          <a:ln w="41275">
            <a:solidFill>
              <a:srgbClr val="C0192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C01920"/>
              </a:solidFill>
            </a:endParaRPr>
          </a:p>
        </p:txBody>
      </p:sp>
      <p:sp>
        <p:nvSpPr>
          <p:cNvPr id="678932" name="Text Box 20"/>
          <p:cNvSpPr txBox="1">
            <a:spLocks noChangeArrowheads="1"/>
          </p:cNvSpPr>
          <p:nvPr/>
        </p:nvSpPr>
        <p:spPr bwMode="auto">
          <a:xfrm>
            <a:off x="8677720" y="1598884"/>
            <a:ext cx="935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CPU</a:t>
            </a:r>
          </a:p>
        </p:txBody>
      </p:sp>
      <p:sp>
        <p:nvSpPr>
          <p:cNvPr id="678933" name="AutoShape 21"/>
          <p:cNvSpPr>
            <a:spLocks/>
          </p:cNvSpPr>
          <p:nvPr/>
        </p:nvSpPr>
        <p:spPr bwMode="auto">
          <a:xfrm rot="10800000">
            <a:off x="9384159" y="1797321"/>
            <a:ext cx="287337" cy="584200"/>
          </a:xfrm>
          <a:prstGeom prst="leftBrace">
            <a:avLst>
              <a:gd name="adj1" fmla="val 16943"/>
              <a:gd name="adj2" fmla="val 50000"/>
            </a:avLst>
          </a:prstGeom>
          <a:noFill/>
          <a:ln w="41275">
            <a:solidFill>
              <a:srgbClr val="C0192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C01920"/>
              </a:solidFill>
            </a:endParaRPr>
          </a:p>
        </p:txBody>
      </p:sp>
      <p:sp>
        <p:nvSpPr>
          <p:cNvPr id="678934" name="Text Box 22"/>
          <p:cNvSpPr txBox="1">
            <a:spLocks noChangeArrowheads="1"/>
          </p:cNvSpPr>
          <p:nvPr/>
        </p:nvSpPr>
        <p:spPr bwMode="auto">
          <a:xfrm>
            <a:off x="9625459" y="1817959"/>
            <a:ext cx="935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主机</a:t>
            </a:r>
          </a:p>
        </p:txBody>
      </p:sp>
      <p:sp>
        <p:nvSpPr>
          <p:cNvPr id="678936" name="AutoShape 24"/>
          <p:cNvSpPr>
            <a:spLocks/>
          </p:cNvSpPr>
          <p:nvPr/>
        </p:nvSpPr>
        <p:spPr bwMode="auto">
          <a:xfrm rot="10800000">
            <a:off x="9295259" y="3165746"/>
            <a:ext cx="287337" cy="935038"/>
          </a:xfrm>
          <a:prstGeom prst="leftBrace">
            <a:avLst>
              <a:gd name="adj1" fmla="val 27118"/>
              <a:gd name="adj2" fmla="val 50000"/>
            </a:avLst>
          </a:prstGeom>
          <a:noFill/>
          <a:ln w="41275">
            <a:solidFill>
              <a:srgbClr val="C0192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C01920"/>
              </a:solidFill>
            </a:endParaRPr>
          </a:p>
        </p:txBody>
      </p:sp>
      <p:sp>
        <p:nvSpPr>
          <p:cNvPr id="678937" name="Text Box 25"/>
          <p:cNvSpPr txBox="1">
            <a:spLocks noChangeArrowheads="1"/>
          </p:cNvSpPr>
          <p:nvPr/>
        </p:nvSpPr>
        <p:spPr bwMode="auto">
          <a:xfrm>
            <a:off x="9558784" y="3173685"/>
            <a:ext cx="93503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外围设备</a:t>
            </a:r>
          </a:p>
        </p:txBody>
      </p:sp>
      <p:sp>
        <p:nvSpPr>
          <p:cNvPr id="678938" name="AutoShape 26"/>
          <p:cNvSpPr>
            <a:spLocks/>
          </p:cNvSpPr>
          <p:nvPr/>
        </p:nvSpPr>
        <p:spPr bwMode="auto">
          <a:xfrm>
            <a:off x="6902895" y="4846910"/>
            <a:ext cx="287338" cy="935037"/>
          </a:xfrm>
          <a:prstGeom prst="leftBrace">
            <a:avLst>
              <a:gd name="adj1" fmla="val 27118"/>
              <a:gd name="adj2" fmla="val 50000"/>
            </a:avLst>
          </a:prstGeom>
          <a:noFill/>
          <a:ln w="41275">
            <a:solidFill>
              <a:srgbClr val="C0192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C01920"/>
              </a:solidFill>
            </a:endParaRPr>
          </a:p>
        </p:txBody>
      </p:sp>
      <p:sp>
        <p:nvSpPr>
          <p:cNvPr id="678939" name="Text Box 27"/>
          <p:cNvSpPr txBox="1">
            <a:spLocks noChangeArrowheads="1"/>
          </p:cNvSpPr>
          <p:nvPr/>
        </p:nvSpPr>
        <p:spPr bwMode="auto">
          <a:xfrm>
            <a:off x="7233095" y="4616721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系统软件</a:t>
            </a:r>
          </a:p>
        </p:txBody>
      </p:sp>
      <p:sp>
        <p:nvSpPr>
          <p:cNvPr id="678940" name="Text Box 28"/>
          <p:cNvSpPr txBox="1">
            <a:spLocks noChangeArrowheads="1"/>
          </p:cNvSpPr>
          <p:nvPr/>
        </p:nvSpPr>
        <p:spPr bwMode="auto">
          <a:xfrm>
            <a:off x="7156895" y="5518421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应用软件</a:t>
            </a:r>
          </a:p>
        </p:txBody>
      </p:sp>
      <p:sp>
        <p:nvSpPr>
          <p:cNvPr id="678941" name="AutoShape 29"/>
          <p:cNvSpPr>
            <a:spLocks noChangeArrowheads="1"/>
          </p:cNvSpPr>
          <p:nvPr/>
        </p:nvSpPr>
        <p:spPr bwMode="auto">
          <a:xfrm>
            <a:off x="2383284" y="931600"/>
            <a:ext cx="3383731" cy="1296988"/>
          </a:xfrm>
          <a:prstGeom prst="wedgeRoundRectCallout">
            <a:avLst>
              <a:gd name="adj1" fmla="val 48604"/>
              <a:gd name="adj2" fmla="val 73222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en-US" altLang="zh-CN" sz="2000" b="1" dirty="0">
                <a:solidFill>
                  <a:schemeClr val="accent2"/>
                </a:solidFill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20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硬件是指构成计算机的物理装置，看得见、摸得着，是一些实实在在的有形实体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678942" name="AutoShape 30"/>
          <p:cNvSpPr>
            <a:spLocks noChangeArrowheads="1"/>
          </p:cNvSpPr>
          <p:nvPr/>
        </p:nvSpPr>
        <p:spPr bwMode="auto">
          <a:xfrm>
            <a:off x="2351534" y="5877197"/>
            <a:ext cx="3271465" cy="792163"/>
          </a:xfrm>
          <a:prstGeom prst="wedgeRoundRectCallout">
            <a:avLst>
              <a:gd name="adj1" fmla="val 54574"/>
              <a:gd name="adj2" fmla="val -89681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en-US" altLang="zh-CN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20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软件是指计算机程序及有关程序的技术文档资料 </a:t>
            </a:r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40F88BD8-B48C-4DB2-B3EC-F1531020F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1.1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计算机系统组成及工作原理简介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B4AC3C40-FE5F-4253-BA73-823FFAD69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0988" y="2202134"/>
            <a:ext cx="2800350" cy="7048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789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89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6789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6789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8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8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8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8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789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78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78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78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78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78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6789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78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678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6789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78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678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678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6789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6789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678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6789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6789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15" grpId="0" animBg="1"/>
      <p:bldP spid="678916" grpId="0" animBg="1"/>
      <p:bldP spid="678917" grpId="0" animBg="1"/>
      <p:bldP spid="678918" grpId="0" animBg="1"/>
      <p:bldP spid="678921" grpId="0" animBg="1"/>
      <p:bldP spid="678923" grpId="0"/>
      <p:bldP spid="678924" grpId="0"/>
      <p:bldP spid="678925" grpId="0"/>
      <p:bldP spid="678926" grpId="0"/>
      <p:bldP spid="678927" grpId="0"/>
      <p:bldP spid="678928" grpId="0" animBg="1"/>
      <p:bldP spid="678929" grpId="0"/>
      <p:bldP spid="678930" grpId="0"/>
      <p:bldP spid="678931" grpId="0" animBg="1"/>
      <p:bldP spid="678932" grpId="0"/>
      <p:bldP spid="678933" grpId="0" animBg="1"/>
      <p:bldP spid="678934" grpId="0"/>
      <p:bldP spid="678936" grpId="0" animBg="1"/>
      <p:bldP spid="678937" grpId="0"/>
      <p:bldP spid="678938" grpId="0" animBg="1"/>
      <p:bldP spid="678939" grpId="0"/>
      <p:bldP spid="678940" grpId="0"/>
      <p:bldP spid="678941" grpId="0" animBg="1"/>
      <p:bldP spid="6789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092" name="Group 156"/>
          <p:cNvGrpSpPr>
            <a:grpSpLocks/>
          </p:cNvGrpSpPr>
          <p:nvPr/>
        </p:nvGrpSpPr>
        <p:grpSpPr bwMode="auto">
          <a:xfrm>
            <a:off x="1236611" y="1776722"/>
            <a:ext cx="9865096" cy="4559776"/>
            <a:chOff x="297" y="890"/>
            <a:chExt cx="5244" cy="3222"/>
          </a:xfrm>
        </p:grpSpPr>
        <p:sp>
          <p:nvSpPr>
            <p:cNvPr id="680042" name="Text Box 106"/>
            <p:cNvSpPr txBox="1">
              <a:spLocks noChangeArrowheads="1"/>
            </p:cNvSpPr>
            <p:nvPr/>
          </p:nvSpPr>
          <p:spPr bwMode="auto">
            <a:xfrm>
              <a:off x="1278" y="1602"/>
              <a:ext cx="756" cy="356"/>
            </a:xfrm>
            <a:prstGeom prst="rect">
              <a:avLst/>
            </a:prstGeom>
            <a:solidFill>
              <a:srgbClr val="C2967F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2967F"/>
              </a:extrusionClr>
            </a:sp3d>
          </p:spPr>
          <p:txBody>
            <a:bodyPr>
              <a:flatTx/>
            </a:bodyPr>
            <a:lstStyle/>
            <a:p>
              <a:pPr algn="just"/>
              <a:r>
                <a:rPr lang="zh-CN" altLang="en-US" b="1" dirty="0">
                  <a:solidFill>
                    <a:schemeClr val="bg1"/>
                  </a:solidFill>
                  <a:latin typeface="楷体" pitchFamily="49" charset="-122"/>
                  <a:ea typeface="楷体" pitchFamily="49" charset="-122"/>
                </a:rPr>
                <a:t>输入设备</a:t>
              </a:r>
            </a:p>
          </p:txBody>
        </p:sp>
        <p:grpSp>
          <p:nvGrpSpPr>
            <p:cNvPr id="680091" name="Group 155"/>
            <p:cNvGrpSpPr>
              <a:grpSpLocks/>
            </p:cNvGrpSpPr>
            <p:nvPr/>
          </p:nvGrpSpPr>
          <p:grpSpPr bwMode="auto">
            <a:xfrm>
              <a:off x="297" y="890"/>
              <a:ext cx="5244" cy="3222"/>
              <a:chOff x="297" y="890"/>
              <a:chExt cx="5244" cy="3222"/>
            </a:xfrm>
          </p:grpSpPr>
          <p:sp>
            <p:nvSpPr>
              <p:cNvPr id="680041" name="Text Box 105"/>
              <p:cNvSpPr txBox="1">
                <a:spLocks noChangeArrowheads="1"/>
              </p:cNvSpPr>
              <p:nvPr/>
            </p:nvSpPr>
            <p:spPr bwMode="auto">
              <a:xfrm>
                <a:off x="2674" y="1613"/>
                <a:ext cx="756" cy="356"/>
              </a:xfrm>
              <a:prstGeom prst="rect">
                <a:avLst/>
              </a:prstGeom>
              <a:solidFill>
                <a:srgbClr val="F0E5B7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0E5B7"/>
                </a:extrusionClr>
              </a:sp3d>
            </p:spPr>
            <p:txBody>
              <a:bodyPr>
                <a:flatTx/>
              </a:bodyPr>
              <a:lstStyle/>
              <a:p>
                <a:pPr algn="just"/>
                <a:r>
                  <a:rPr lang="zh-CN" altLang="en-US" b="1">
                    <a:solidFill>
                      <a:schemeClr val="bg1"/>
                    </a:solidFill>
                    <a:latin typeface="楷体" pitchFamily="49" charset="-122"/>
                    <a:ea typeface="楷体" pitchFamily="49" charset="-122"/>
                  </a:rPr>
                  <a:t>内存储器</a:t>
                </a:r>
              </a:p>
            </p:txBody>
          </p:sp>
          <p:sp>
            <p:nvSpPr>
              <p:cNvPr id="680043" name="Text Box 107"/>
              <p:cNvSpPr txBox="1">
                <a:spLocks noChangeArrowheads="1"/>
              </p:cNvSpPr>
              <p:nvPr/>
            </p:nvSpPr>
            <p:spPr bwMode="auto">
              <a:xfrm>
                <a:off x="2695" y="890"/>
                <a:ext cx="756" cy="356"/>
              </a:xfrm>
              <a:prstGeom prst="rect">
                <a:avLst/>
              </a:prstGeom>
              <a:solidFill>
                <a:srgbClr val="BEDFC4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BEDFC4"/>
                </a:extrusionClr>
              </a:sp3d>
            </p:spPr>
            <p:txBody>
              <a:bodyPr>
                <a:flatTx/>
              </a:bodyPr>
              <a:lstStyle/>
              <a:p>
                <a:pPr algn="just"/>
                <a:r>
                  <a:rPr lang="zh-CN" altLang="en-US" b="1" dirty="0">
                    <a:solidFill>
                      <a:schemeClr val="bg1"/>
                    </a:solidFill>
                    <a:latin typeface="楷体" pitchFamily="49" charset="-122"/>
                    <a:ea typeface="楷体" pitchFamily="49" charset="-122"/>
                  </a:rPr>
                  <a:t>外存储器</a:t>
                </a:r>
              </a:p>
            </p:txBody>
          </p:sp>
          <p:sp>
            <p:nvSpPr>
              <p:cNvPr id="680044" name="Text Box 108"/>
              <p:cNvSpPr txBox="1">
                <a:spLocks noChangeArrowheads="1"/>
              </p:cNvSpPr>
              <p:nvPr/>
            </p:nvSpPr>
            <p:spPr bwMode="auto">
              <a:xfrm>
                <a:off x="4154" y="1602"/>
                <a:ext cx="756" cy="356"/>
              </a:xfrm>
              <a:prstGeom prst="rect">
                <a:avLst/>
              </a:prstGeom>
              <a:solidFill>
                <a:srgbClr val="BAA1B9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BAA1B9"/>
                </a:extrusionClr>
              </a:sp3d>
            </p:spPr>
            <p:txBody>
              <a:bodyPr>
                <a:flatTx/>
              </a:bodyPr>
              <a:lstStyle/>
              <a:p>
                <a:pPr algn="ctr"/>
                <a:r>
                  <a:rPr lang="zh-CN" altLang="en-US" b="1">
                    <a:solidFill>
                      <a:schemeClr val="bg1"/>
                    </a:solidFill>
                    <a:latin typeface="楷体" pitchFamily="49" charset="-122"/>
                    <a:ea typeface="楷体" pitchFamily="49" charset="-122"/>
                  </a:rPr>
                  <a:t>运算器</a:t>
                </a:r>
              </a:p>
            </p:txBody>
          </p:sp>
          <p:sp>
            <p:nvSpPr>
              <p:cNvPr id="680045" name="Text Box 109"/>
              <p:cNvSpPr txBox="1">
                <a:spLocks noChangeArrowheads="1"/>
              </p:cNvSpPr>
              <p:nvPr/>
            </p:nvSpPr>
            <p:spPr bwMode="auto">
              <a:xfrm>
                <a:off x="2674" y="3211"/>
                <a:ext cx="756" cy="356"/>
              </a:xfrm>
              <a:prstGeom prst="rect">
                <a:avLst/>
              </a:prstGeom>
              <a:solidFill>
                <a:srgbClr val="BD6368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BD6368"/>
                </a:extrusionClr>
              </a:sp3d>
            </p:spPr>
            <p:txBody>
              <a:bodyPr>
                <a:flatTx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楷体" pitchFamily="49" charset="-122"/>
                    <a:ea typeface="楷体" pitchFamily="49" charset="-122"/>
                  </a:rPr>
                  <a:t>控制器</a:t>
                </a:r>
              </a:p>
            </p:txBody>
          </p:sp>
          <p:sp>
            <p:nvSpPr>
              <p:cNvPr id="680046" name="Text Box 110"/>
              <p:cNvSpPr txBox="1">
                <a:spLocks noChangeArrowheads="1"/>
              </p:cNvSpPr>
              <p:nvPr/>
            </p:nvSpPr>
            <p:spPr bwMode="auto">
              <a:xfrm>
                <a:off x="1278" y="3211"/>
                <a:ext cx="756" cy="356"/>
              </a:xfrm>
              <a:prstGeom prst="rect">
                <a:avLst/>
              </a:prstGeom>
              <a:solidFill>
                <a:srgbClr val="99CCFF"/>
              </a:solidFill>
              <a:ln w="9525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99CCFF"/>
                </a:extrusionClr>
              </a:sp3d>
            </p:spPr>
            <p:txBody>
              <a:bodyPr>
                <a:flatTx/>
              </a:bodyPr>
              <a:lstStyle/>
              <a:p>
                <a:pPr algn="just"/>
                <a:r>
                  <a:rPr lang="zh-CN" altLang="en-US" b="1" dirty="0">
                    <a:solidFill>
                      <a:schemeClr val="bg1"/>
                    </a:solidFill>
                    <a:latin typeface="楷体" pitchFamily="49" charset="-122"/>
                    <a:ea typeface="楷体" pitchFamily="49" charset="-122"/>
                  </a:rPr>
                  <a:t>输出设备</a:t>
                </a:r>
              </a:p>
            </p:txBody>
          </p:sp>
          <p:sp>
            <p:nvSpPr>
              <p:cNvPr id="680047" name="Line 111"/>
              <p:cNvSpPr>
                <a:spLocks noChangeShapeType="1"/>
              </p:cNvSpPr>
              <p:nvPr/>
            </p:nvSpPr>
            <p:spPr bwMode="auto">
              <a:xfrm>
                <a:off x="648" y="1709"/>
                <a:ext cx="630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48" name="Line 112"/>
              <p:cNvSpPr>
                <a:spLocks noChangeShapeType="1"/>
              </p:cNvSpPr>
              <p:nvPr/>
            </p:nvSpPr>
            <p:spPr bwMode="auto">
              <a:xfrm>
                <a:off x="648" y="1862"/>
                <a:ext cx="630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49" name="Line 113"/>
              <p:cNvSpPr>
                <a:spLocks noChangeShapeType="1"/>
              </p:cNvSpPr>
              <p:nvPr/>
            </p:nvSpPr>
            <p:spPr bwMode="auto">
              <a:xfrm>
                <a:off x="2086" y="1744"/>
                <a:ext cx="574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50" name="Line 114"/>
              <p:cNvSpPr>
                <a:spLocks noChangeShapeType="1"/>
              </p:cNvSpPr>
              <p:nvPr/>
            </p:nvSpPr>
            <p:spPr bwMode="auto">
              <a:xfrm>
                <a:off x="3493" y="1744"/>
                <a:ext cx="630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51" name="Line 115"/>
              <p:cNvSpPr>
                <a:spLocks noChangeShapeType="1"/>
              </p:cNvSpPr>
              <p:nvPr/>
            </p:nvSpPr>
            <p:spPr bwMode="auto">
              <a:xfrm rot="10800000">
                <a:off x="3482" y="1880"/>
                <a:ext cx="629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52" name="Line 116"/>
              <p:cNvSpPr>
                <a:spLocks noChangeShapeType="1"/>
              </p:cNvSpPr>
              <p:nvPr/>
            </p:nvSpPr>
            <p:spPr bwMode="auto">
              <a:xfrm>
                <a:off x="2915" y="1964"/>
                <a:ext cx="0" cy="1186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53" name="Line 117"/>
              <p:cNvSpPr>
                <a:spLocks noChangeShapeType="1"/>
              </p:cNvSpPr>
              <p:nvPr/>
            </p:nvSpPr>
            <p:spPr bwMode="auto">
              <a:xfrm rot="10800000">
                <a:off x="3167" y="1992"/>
                <a:ext cx="0" cy="1187"/>
              </a:xfrm>
              <a:prstGeom prst="line">
                <a:avLst/>
              </a:prstGeom>
              <a:noFill/>
              <a:ln w="34925" cap="rnd">
                <a:solidFill>
                  <a:srgbClr val="008000"/>
                </a:solidFill>
                <a:prstDash val="sysDot"/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80054" name="Group 118"/>
              <p:cNvGrpSpPr>
                <a:grpSpLocks/>
              </p:cNvGrpSpPr>
              <p:nvPr/>
            </p:nvGrpSpPr>
            <p:grpSpPr bwMode="auto">
              <a:xfrm>
                <a:off x="3503" y="1992"/>
                <a:ext cx="1050" cy="1424"/>
                <a:chOff x="6417" y="8973"/>
                <a:chExt cx="1500" cy="1872"/>
              </a:xfrm>
            </p:grpSpPr>
            <p:sp>
              <p:nvSpPr>
                <p:cNvPr id="680055" name="Line 119"/>
                <p:cNvSpPr>
                  <a:spLocks noChangeShapeType="1"/>
                </p:cNvSpPr>
                <p:nvPr/>
              </p:nvSpPr>
              <p:spPr bwMode="auto">
                <a:xfrm>
                  <a:off x="6417" y="10845"/>
                  <a:ext cx="1497" cy="0"/>
                </a:xfrm>
                <a:prstGeom prst="line">
                  <a:avLst/>
                </a:prstGeom>
                <a:noFill/>
                <a:ln w="34925" cap="rnd">
                  <a:solidFill>
                    <a:srgbClr val="008000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0056" name="Line 120"/>
                <p:cNvSpPr>
                  <a:spLocks noChangeShapeType="1"/>
                </p:cNvSpPr>
                <p:nvPr/>
              </p:nvSpPr>
              <p:spPr bwMode="auto">
                <a:xfrm flipV="1">
                  <a:off x="7917" y="8973"/>
                  <a:ext cx="0" cy="1872"/>
                </a:xfrm>
                <a:prstGeom prst="line">
                  <a:avLst/>
                </a:prstGeom>
                <a:noFill/>
                <a:ln w="34925" cap="rnd">
                  <a:solidFill>
                    <a:srgbClr val="008000"/>
                  </a:solidFill>
                  <a:prstDash val="sysDot"/>
                  <a:round/>
                  <a:headEnd/>
                  <a:tailEnd type="stealth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80058" name="Line 122"/>
              <p:cNvSpPr>
                <a:spLocks noChangeShapeType="1"/>
              </p:cNvSpPr>
              <p:nvPr/>
            </p:nvSpPr>
            <p:spPr bwMode="auto">
              <a:xfrm flipH="1">
                <a:off x="2053" y="1842"/>
                <a:ext cx="252" cy="0"/>
              </a:xfrm>
              <a:prstGeom prst="line">
                <a:avLst/>
              </a:prstGeom>
              <a:noFill/>
              <a:ln w="34925" cap="rnd">
                <a:solidFill>
                  <a:srgbClr val="008000"/>
                </a:solidFill>
                <a:prstDash val="sysDot"/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80087" name="Group 151"/>
              <p:cNvGrpSpPr>
                <a:grpSpLocks/>
              </p:cNvGrpSpPr>
              <p:nvPr/>
            </p:nvGrpSpPr>
            <p:grpSpPr bwMode="auto">
              <a:xfrm>
                <a:off x="2307" y="1842"/>
                <a:ext cx="365" cy="1558"/>
                <a:chOff x="2307" y="1842"/>
                <a:chExt cx="365" cy="1558"/>
              </a:xfrm>
            </p:grpSpPr>
            <p:sp>
              <p:nvSpPr>
                <p:cNvPr id="680059" name="Line 123"/>
                <p:cNvSpPr>
                  <a:spLocks noChangeShapeType="1"/>
                </p:cNvSpPr>
                <p:nvPr/>
              </p:nvSpPr>
              <p:spPr bwMode="auto">
                <a:xfrm>
                  <a:off x="2307" y="1842"/>
                  <a:ext cx="0" cy="1548"/>
                </a:xfrm>
                <a:prstGeom prst="line">
                  <a:avLst/>
                </a:prstGeom>
                <a:noFill/>
                <a:ln w="34925" cap="rnd">
                  <a:solidFill>
                    <a:srgbClr val="008000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0060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2307" y="3400"/>
                  <a:ext cx="365" cy="0"/>
                </a:xfrm>
                <a:prstGeom prst="line">
                  <a:avLst/>
                </a:prstGeom>
                <a:noFill/>
                <a:ln w="34925" cap="rnd">
                  <a:solidFill>
                    <a:srgbClr val="008000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80061" name="Line 125"/>
              <p:cNvSpPr>
                <a:spLocks noChangeShapeType="1"/>
              </p:cNvSpPr>
              <p:nvPr/>
            </p:nvSpPr>
            <p:spPr bwMode="auto">
              <a:xfrm flipH="1">
                <a:off x="2042" y="3492"/>
                <a:ext cx="615" cy="0"/>
              </a:xfrm>
              <a:prstGeom prst="line">
                <a:avLst/>
              </a:prstGeom>
              <a:noFill/>
              <a:ln w="34925" cap="rnd">
                <a:solidFill>
                  <a:srgbClr val="008000"/>
                </a:solidFill>
                <a:prstDash val="sysDot"/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80062" name="Group 126"/>
              <p:cNvGrpSpPr>
                <a:grpSpLocks/>
              </p:cNvGrpSpPr>
              <p:nvPr/>
            </p:nvGrpSpPr>
            <p:grpSpPr bwMode="auto">
              <a:xfrm>
                <a:off x="2054" y="1860"/>
                <a:ext cx="605" cy="1424"/>
                <a:chOff x="4321" y="8801"/>
                <a:chExt cx="865" cy="1872"/>
              </a:xfrm>
            </p:grpSpPr>
            <p:sp>
              <p:nvSpPr>
                <p:cNvPr id="680063" name="Line 127"/>
                <p:cNvSpPr>
                  <a:spLocks noChangeShapeType="1"/>
                </p:cNvSpPr>
                <p:nvPr/>
              </p:nvSpPr>
              <p:spPr bwMode="auto">
                <a:xfrm flipH="1">
                  <a:off x="4321" y="10659"/>
                  <a:ext cx="540" cy="0"/>
                </a:xfrm>
                <a:prstGeom prst="line">
                  <a:avLst/>
                </a:prstGeom>
                <a:noFill/>
                <a:ln w="34925">
                  <a:solidFill>
                    <a:srgbClr val="FF3300"/>
                  </a:solidFill>
                  <a:round/>
                  <a:headEnd/>
                  <a:tailEnd type="stealth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0064" name="Line 128"/>
                <p:cNvSpPr>
                  <a:spLocks noChangeShapeType="1"/>
                </p:cNvSpPr>
                <p:nvPr/>
              </p:nvSpPr>
              <p:spPr bwMode="auto">
                <a:xfrm>
                  <a:off x="4857" y="8814"/>
                  <a:ext cx="329" cy="0"/>
                </a:xfrm>
                <a:prstGeom prst="line">
                  <a:avLst/>
                </a:prstGeom>
                <a:noFill/>
                <a:ln w="34925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0065" name="Line 129"/>
                <p:cNvSpPr>
                  <a:spLocks noChangeShapeType="1"/>
                </p:cNvSpPr>
                <p:nvPr/>
              </p:nvSpPr>
              <p:spPr bwMode="auto">
                <a:xfrm>
                  <a:off x="4857" y="8801"/>
                  <a:ext cx="0" cy="1872"/>
                </a:xfrm>
                <a:prstGeom prst="line">
                  <a:avLst/>
                </a:prstGeom>
                <a:noFill/>
                <a:ln w="34925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80066" name="Line 130"/>
              <p:cNvSpPr>
                <a:spLocks noChangeShapeType="1"/>
              </p:cNvSpPr>
              <p:nvPr/>
            </p:nvSpPr>
            <p:spPr bwMode="auto">
              <a:xfrm rot="10800000">
                <a:off x="627" y="3382"/>
                <a:ext cx="630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67" name="Line 131"/>
              <p:cNvSpPr>
                <a:spLocks noChangeShapeType="1"/>
              </p:cNvSpPr>
              <p:nvPr/>
            </p:nvSpPr>
            <p:spPr bwMode="auto">
              <a:xfrm>
                <a:off x="3041" y="1257"/>
                <a:ext cx="0" cy="356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 type="stealth" w="med" len="med"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69" name="Text Box 133"/>
              <p:cNvSpPr txBox="1">
                <a:spLocks noChangeArrowheads="1"/>
              </p:cNvSpPr>
              <p:nvPr/>
            </p:nvSpPr>
            <p:spPr bwMode="auto">
              <a:xfrm>
                <a:off x="637" y="1481"/>
                <a:ext cx="746" cy="2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信 息</a:t>
                </a:r>
              </a:p>
            </p:txBody>
          </p:sp>
          <p:sp>
            <p:nvSpPr>
              <p:cNvPr id="680070" name="Text Box 134"/>
              <p:cNvSpPr txBox="1">
                <a:spLocks noChangeArrowheads="1"/>
              </p:cNvSpPr>
              <p:nvPr/>
            </p:nvSpPr>
            <p:spPr bwMode="auto">
              <a:xfrm>
                <a:off x="297" y="1923"/>
                <a:ext cx="1315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(</a:t>
                </a:r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如程序、原始数据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)</a:t>
                </a:r>
              </a:p>
            </p:txBody>
          </p:sp>
          <p:sp>
            <p:nvSpPr>
              <p:cNvPr id="680071" name="Text Box 135"/>
              <p:cNvSpPr txBox="1">
                <a:spLocks noChangeArrowheads="1"/>
              </p:cNvSpPr>
              <p:nvPr/>
            </p:nvSpPr>
            <p:spPr bwMode="auto">
              <a:xfrm>
                <a:off x="2090" y="1515"/>
                <a:ext cx="571" cy="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(</a:t>
                </a:r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存</a:t>
                </a:r>
                <a:r>
                  <a:rPr lang="en-US" altLang="zh-CN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)</a:t>
                </a:r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数据</a:t>
                </a:r>
              </a:p>
            </p:txBody>
          </p:sp>
          <p:sp>
            <p:nvSpPr>
              <p:cNvPr id="680072" name="Text Box 136"/>
              <p:cNvSpPr txBox="1">
                <a:spLocks noChangeArrowheads="1"/>
              </p:cNvSpPr>
              <p:nvPr/>
            </p:nvSpPr>
            <p:spPr bwMode="auto">
              <a:xfrm>
                <a:off x="3575" y="1524"/>
                <a:ext cx="571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(</a:t>
                </a:r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取</a:t>
                </a:r>
                <a:r>
                  <a:rPr lang="en-US" altLang="zh-CN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)</a:t>
                </a:r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数据</a:t>
                </a:r>
              </a:p>
            </p:txBody>
          </p:sp>
          <p:sp>
            <p:nvSpPr>
              <p:cNvPr id="680073" name="Text Box 137"/>
              <p:cNvSpPr txBox="1">
                <a:spLocks noChangeArrowheads="1"/>
              </p:cNvSpPr>
              <p:nvPr/>
            </p:nvSpPr>
            <p:spPr bwMode="auto">
              <a:xfrm>
                <a:off x="3682" y="3206"/>
                <a:ext cx="745" cy="2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运算命令</a:t>
                </a:r>
              </a:p>
            </p:txBody>
          </p:sp>
          <p:sp>
            <p:nvSpPr>
              <p:cNvPr id="680074" name="Text Box 138"/>
              <p:cNvSpPr txBox="1">
                <a:spLocks noChangeArrowheads="1"/>
              </p:cNvSpPr>
              <p:nvPr/>
            </p:nvSpPr>
            <p:spPr bwMode="auto">
              <a:xfrm>
                <a:off x="2160" y="3496"/>
                <a:ext cx="745" cy="2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输出命令</a:t>
                </a:r>
              </a:p>
            </p:txBody>
          </p:sp>
          <p:sp>
            <p:nvSpPr>
              <p:cNvPr id="680075" name="Text Box 139"/>
              <p:cNvSpPr txBox="1">
                <a:spLocks noChangeArrowheads="1"/>
              </p:cNvSpPr>
              <p:nvPr/>
            </p:nvSpPr>
            <p:spPr bwMode="auto">
              <a:xfrm>
                <a:off x="616" y="3392"/>
                <a:ext cx="74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输出信息</a:t>
                </a:r>
              </a:p>
            </p:txBody>
          </p:sp>
          <p:sp>
            <p:nvSpPr>
              <p:cNvPr id="680076" name="Text Box 140"/>
              <p:cNvSpPr txBox="1">
                <a:spLocks noChangeArrowheads="1"/>
              </p:cNvSpPr>
              <p:nvPr/>
            </p:nvSpPr>
            <p:spPr bwMode="auto">
              <a:xfrm>
                <a:off x="3635" y="1908"/>
                <a:ext cx="746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(</a:t>
                </a:r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存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)</a:t>
                </a:r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数据</a:t>
                </a:r>
              </a:p>
            </p:txBody>
          </p:sp>
          <p:sp>
            <p:nvSpPr>
              <p:cNvPr id="680077" name="Text Box 141"/>
              <p:cNvSpPr txBox="1">
                <a:spLocks noChangeArrowheads="1"/>
              </p:cNvSpPr>
              <p:nvPr/>
            </p:nvSpPr>
            <p:spPr bwMode="auto">
              <a:xfrm>
                <a:off x="3065" y="2115"/>
                <a:ext cx="295" cy="8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/>
              <a:lstStyle/>
              <a:p>
                <a:pPr algn="just"/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存 取 指 令</a:t>
                </a:r>
              </a:p>
            </p:txBody>
          </p:sp>
          <p:sp>
            <p:nvSpPr>
              <p:cNvPr id="680078" name="Text Box 142"/>
              <p:cNvSpPr txBox="1">
                <a:spLocks noChangeArrowheads="1"/>
              </p:cNvSpPr>
              <p:nvPr/>
            </p:nvSpPr>
            <p:spPr bwMode="auto">
              <a:xfrm>
                <a:off x="2768" y="2070"/>
                <a:ext cx="193" cy="8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/>
              <a:lstStyle/>
              <a:p>
                <a:pPr algn="just"/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程 序 指 令</a:t>
                </a:r>
              </a:p>
            </p:txBody>
          </p:sp>
          <p:sp>
            <p:nvSpPr>
              <p:cNvPr id="680079" name="Text Box 143"/>
              <p:cNvSpPr txBox="1">
                <a:spLocks noChangeArrowheads="1"/>
              </p:cNvSpPr>
              <p:nvPr/>
            </p:nvSpPr>
            <p:spPr bwMode="auto">
              <a:xfrm>
                <a:off x="2391" y="2425"/>
                <a:ext cx="275" cy="4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/>
              <a:lstStyle/>
              <a:p>
                <a:pPr algn="just"/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 据</a:t>
                </a:r>
              </a:p>
            </p:txBody>
          </p:sp>
          <p:sp>
            <p:nvSpPr>
              <p:cNvPr id="680080" name="Text Box 144"/>
              <p:cNvSpPr txBox="1">
                <a:spLocks noChangeArrowheads="1"/>
              </p:cNvSpPr>
              <p:nvPr/>
            </p:nvSpPr>
            <p:spPr bwMode="auto">
              <a:xfrm>
                <a:off x="2043" y="2070"/>
                <a:ext cx="281" cy="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/>
              <a:lstStyle/>
              <a:p>
                <a:pPr algn="just"/>
                <a:r>
                  <a:rPr lang="zh-CN" altLang="en-US" sz="16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输 入 指 令</a:t>
                </a:r>
              </a:p>
            </p:txBody>
          </p:sp>
          <p:sp>
            <p:nvSpPr>
              <p:cNvPr id="680083" name="Line 147"/>
              <p:cNvSpPr>
                <a:spLocks noChangeShapeType="1"/>
              </p:cNvSpPr>
              <p:nvPr/>
            </p:nvSpPr>
            <p:spPr bwMode="auto">
              <a:xfrm>
                <a:off x="4738" y="3665"/>
                <a:ext cx="630" cy="0"/>
              </a:xfrm>
              <a:prstGeom prst="line">
                <a:avLst/>
              </a:prstGeom>
              <a:noFill/>
              <a:ln w="34925">
                <a:solidFill>
                  <a:srgbClr val="FF3300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84" name="Line 148"/>
              <p:cNvSpPr>
                <a:spLocks noChangeShapeType="1"/>
              </p:cNvSpPr>
              <p:nvPr/>
            </p:nvSpPr>
            <p:spPr bwMode="auto">
              <a:xfrm>
                <a:off x="4738" y="3857"/>
                <a:ext cx="630" cy="0"/>
              </a:xfrm>
              <a:prstGeom prst="line">
                <a:avLst/>
              </a:prstGeom>
              <a:noFill/>
              <a:ln w="34925" cap="rnd">
                <a:solidFill>
                  <a:srgbClr val="008000"/>
                </a:solidFill>
                <a:prstDash val="sysDot"/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085" name="Text Box 149"/>
              <p:cNvSpPr txBox="1">
                <a:spLocks noChangeArrowheads="1"/>
              </p:cNvSpPr>
              <p:nvPr/>
            </p:nvSpPr>
            <p:spPr bwMode="auto">
              <a:xfrm>
                <a:off x="4763" y="3407"/>
                <a:ext cx="756" cy="1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数据信息</a:t>
                </a:r>
              </a:p>
            </p:txBody>
          </p:sp>
          <p:sp>
            <p:nvSpPr>
              <p:cNvPr id="680086" name="Text Box 150"/>
              <p:cNvSpPr txBox="1">
                <a:spLocks noChangeArrowheads="1"/>
              </p:cNvSpPr>
              <p:nvPr/>
            </p:nvSpPr>
            <p:spPr bwMode="auto">
              <a:xfrm>
                <a:off x="4785" y="3885"/>
                <a:ext cx="756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zh-CN" altLang="en-US" sz="16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控制信息</a:t>
                </a:r>
              </a:p>
            </p:txBody>
          </p:sp>
        </p:grp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D854E05-60EF-4757-8EC2-546DD6FAAA5C}"/>
              </a:ext>
            </a:extLst>
          </p:cNvPr>
          <p:cNvGrpSpPr/>
          <p:nvPr/>
        </p:nvGrpSpPr>
        <p:grpSpPr>
          <a:xfrm>
            <a:off x="695325" y="967906"/>
            <a:ext cx="6092578" cy="630931"/>
            <a:chOff x="695400" y="1059424"/>
            <a:chExt cx="6092578" cy="630931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9FC4333E-0D9C-4159-B709-14B009C0E30E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55" name="菱形 54">
                <a:extLst>
                  <a:ext uri="{FF2B5EF4-FFF2-40B4-BE49-F238E27FC236}">
                    <a16:creationId xmlns:a16="http://schemas.microsoft.com/office/drawing/2014/main" id="{C15366B1-E258-4A16-893D-EFA62F82F4EB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56" name="菱形 55">
                <a:extLst>
                  <a:ext uri="{FF2B5EF4-FFF2-40B4-BE49-F238E27FC236}">
                    <a16:creationId xmlns:a16="http://schemas.microsoft.com/office/drawing/2014/main" id="{F2AD63BD-74E3-4CAC-B548-433186B4E778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54" name="Text Box 5">
              <a:extLst>
                <a:ext uri="{FF2B5EF4-FFF2-40B4-BE49-F238E27FC236}">
                  <a16:creationId xmlns:a16="http://schemas.microsoft.com/office/drawing/2014/main" id="{C4250230-2AEA-41BE-B63B-565965504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5285253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硬件系统的基本组成及工作原理</a:t>
              </a:r>
            </a:p>
          </p:txBody>
        </p:sp>
      </p:grpSp>
      <p:sp>
        <p:nvSpPr>
          <p:cNvPr id="57" name="Rectangle 4">
            <a:extLst>
              <a:ext uri="{FF2B5EF4-FFF2-40B4-BE49-F238E27FC236}">
                <a16:creationId xmlns:a16="http://schemas.microsoft.com/office/drawing/2014/main" id="{B11AC4F3-70C2-48A2-8607-3964D2A43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1.1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计算机系统组成及工作原理简介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800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Rectangle 3"/>
          <p:cNvSpPr>
            <a:spLocks noChangeArrowheads="1"/>
          </p:cNvSpPr>
          <p:nvPr/>
        </p:nvSpPr>
        <p:spPr bwMode="auto">
          <a:xfrm>
            <a:off x="3647728" y="978717"/>
            <a:ext cx="7848947" cy="1586187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</a:gradFill>
          <a:ln w="38100">
            <a:solidFill>
              <a:srgbClr val="C01920"/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运算器又称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算术逻辑部件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，简称</a:t>
            </a:r>
            <a:r>
              <a:rPr lang="en-US" altLang="zh-CN" b="1" dirty="0">
                <a:latin typeface="+mj-lt"/>
                <a:ea typeface="楷体" pitchFamily="49" charset="-122"/>
              </a:rPr>
              <a:t>ALU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，是计算机用来进行数据运算的部件。数据运算包括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算术运算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和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逻辑运算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，后者常被忽视，但恰恰是逻辑运算使计算机能进行因果关系分析。一般运算器都具有逻辑运算能力。 </a:t>
            </a:r>
          </a:p>
        </p:txBody>
      </p:sp>
      <p:sp>
        <p:nvSpPr>
          <p:cNvPr id="680964" name="Text Box 4"/>
          <p:cNvSpPr txBox="1">
            <a:spLocks noChangeArrowheads="1"/>
          </p:cNvSpPr>
          <p:nvPr/>
        </p:nvSpPr>
        <p:spPr bwMode="auto">
          <a:xfrm>
            <a:off x="524173" y="3930935"/>
            <a:ext cx="3003595" cy="101566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marL="514350" indent="-514350">
              <a:spcBef>
                <a:spcPct val="50000"/>
              </a:spcBef>
              <a:buClr>
                <a:srgbClr val="D7000F"/>
              </a:buClr>
              <a:buAutoNum type="arabicParenBoth"/>
              <a:tabLst>
                <a:tab pos="177800" algn="l"/>
              </a:tabLst>
              <a:defRPr kumimoji="0" sz="2000" b="1">
                <a:solidFill>
                  <a:srgbClr val="D7000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marL="0" indent="0">
              <a:buNone/>
            </a:pPr>
            <a:r>
              <a:rPr lang="en-US" altLang="zh-CN" sz="2400" dirty="0">
                <a:solidFill>
                  <a:srgbClr val="C01920"/>
                </a:solidFill>
              </a:rPr>
              <a:t>(2) </a:t>
            </a:r>
            <a:r>
              <a:rPr lang="zh-CN" altLang="en-US" sz="2400" dirty="0">
                <a:solidFill>
                  <a:srgbClr val="C01920"/>
                </a:solidFill>
              </a:rPr>
              <a:t>控制器 </a:t>
            </a:r>
            <a:endParaRPr lang="en-US" altLang="zh-CN" sz="2400" dirty="0">
              <a:solidFill>
                <a:srgbClr val="C01920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2060"/>
                </a:solidFill>
              </a:rPr>
              <a:t>(Controller) </a:t>
            </a:r>
          </a:p>
        </p:txBody>
      </p:sp>
      <p:sp>
        <p:nvSpPr>
          <p:cNvPr id="680965" name="Rectangle 5"/>
          <p:cNvSpPr>
            <a:spLocks noChangeArrowheads="1"/>
          </p:cNvSpPr>
          <p:nvPr/>
        </p:nvSpPr>
        <p:spPr bwMode="auto">
          <a:xfrm>
            <a:off x="3647652" y="2832911"/>
            <a:ext cx="7848947" cy="2252273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</a:gradFill>
          <a:ln w="38100">
            <a:solidFill>
              <a:srgbClr val="C01920"/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控制器是计算机的指挥系统，计算机的工作就是在控制器控制下有条不紊协调工作的。控制器通过地址访问存储器，逐条取出选中单元的指令，分析指令，根据指令产生相应的控制信号作用于其它各个部件，控制其它部件完成指令要求的操作。上述过程周而复始，保证了计算机能自动、连续地工作。 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647653" y="5301208"/>
            <a:ext cx="7837072" cy="1230213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0E5B7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一般把运算器和控制器做在一块集成电路芯片上，称为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中央处理器</a:t>
            </a:r>
            <a:r>
              <a:rPr lang="zh-CN" altLang="en-US" b="1" dirty="0">
                <a:latin typeface="+mn-lt"/>
                <a:ea typeface="楷体" pitchFamily="49" charset="-122"/>
              </a:rPr>
              <a:t>，简称为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CPU</a:t>
            </a:r>
            <a:r>
              <a:rPr lang="zh-CN" altLang="en-US" b="1" dirty="0"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latin typeface="+mn-lt"/>
                <a:ea typeface="楷体" pitchFamily="49" charset="-122"/>
              </a:rPr>
              <a:t>Central Processing Unit</a:t>
            </a:r>
            <a:r>
              <a:rPr lang="zh-CN" altLang="en-US" b="1" dirty="0">
                <a:latin typeface="+mn-lt"/>
                <a:ea typeface="楷体" pitchFamily="49" charset="-122"/>
              </a:rPr>
              <a:t>）。它是计算机核心和关键，计算机的性能主要取决于</a:t>
            </a:r>
            <a:r>
              <a:rPr lang="en-US" altLang="zh-CN" b="1" dirty="0">
                <a:latin typeface="+mn-lt"/>
                <a:ea typeface="楷体" pitchFamily="49" charset="-122"/>
              </a:rPr>
              <a:t>CPU</a:t>
            </a:r>
            <a:r>
              <a:rPr lang="zh-CN" altLang="en-US" b="1" dirty="0">
                <a:latin typeface="+mn-lt"/>
                <a:ea typeface="楷体" pitchFamily="49" charset="-122"/>
              </a:rPr>
              <a:t>。 </a:t>
            </a:r>
          </a:p>
        </p:txBody>
      </p:sp>
      <p:pic>
        <p:nvPicPr>
          <p:cNvPr id="10" name="图片 9" descr="cpu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55934" y="3414488"/>
            <a:ext cx="4136210" cy="3038848"/>
          </a:xfrm>
          <a:prstGeom prst="rect">
            <a:avLst/>
          </a:prstGeom>
          <a:ln w="38100">
            <a:solidFill>
              <a:srgbClr val="C0192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</p:pic>
      <p:pic>
        <p:nvPicPr>
          <p:cNvPr id="11" name="图片 10" descr="cpu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29875" y="3409880"/>
            <a:ext cx="3966800" cy="3038400"/>
          </a:xfrm>
          <a:prstGeom prst="rect">
            <a:avLst/>
          </a:prstGeom>
          <a:ln w="38100">
            <a:solidFill>
              <a:srgbClr val="C0192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</p:pic>
      <p:sp>
        <p:nvSpPr>
          <p:cNvPr id="15" name="Text Box 5">
            <a:extLst>
              <a:ext uri="{FF2B5EF4-FFF2-40B4-BE49-F238E27FC236}">
                <a16:creationId xmlns:a16="http://schemas.microsoft.com/office/drawing/2014/main" id="{F4A6F05A-5802-41B1-A50E-67770F8D0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73" y="1124744"/>
            <a:ext cx="3987651" cy="156966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D7000F"/>
              </a:buClr>
              <a:tabLst>
                <a:tab pos="177800" algn="l"/>
              </a:tabLst>
            </a:pPr>
            <a:r>
              <a:rPr kumimoji="0" lang="en-US" altLang="zh-CN" b="1" dirty="0">
                <a:solidFill>
                  <a:srgbClr val="C019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(1) </a:t>
            </a:r>
            <a:r>
              <a:rPr kumimoji="0" lang="zh-CN" altLang="en-US" b="1" dirty="0">
                <a:solidFill>
                  <a:srgbClr val="C019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运算器</a:t>
            </a:r>
            <a:endParaRPr kumimoji="0" lang="en-US" altLang="zh-CN" b="1" dirty="0">
              <a:solidFill>
                <a:srgbClr val="C0192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>
              <a:spcBef>
                <a:spcPct val="50000"/>
              </a:spcBef>
              <a:buClr>
                <a:srgbClr val="D7000F"/>
              </a:buClr>
              <a:tabLst>
                <a:tab pos="177800" algn="l"/>
              </a:tabLst>
            </a:pPr>
            <a:r>
              <a:rPr kumimoji="0" lang="en-US" altLang="zh-CN" b="1" dirty="0">
                <a:solidFill>
                  <a:srgbClr val="00206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(ALU-</a:t>
            </a:r>
          </a:p>
          <a:p>
            <a:pPr>
              <a:spcBef>
                <a:spcPct val="50000"/>
              </a:spcBef>
              <a:buClr>
                <a:srgbClr val="D7000F"/>
              </a:buClr>
              <a:tabLst>
                <a:tab pos="177800" algn="l"/>
              </a:tabLst>
            </a:pPr>
            <a:r>
              <a:rPr kumimoji="0" lang="en-US" altLang="zh-CN" sz="2000" b="1" dirty="0">
                <a:solidFill>
                  <a:srgbClr val="00206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Arithmetic Logic Unit</a:t>
            </a:r>
            <a:r>
              <a:rPr kumimoji="0" lang="en-US" altLang="zh-CN" b="1" dirty="0">
                <a:solidFill>
                  <a:srgbClr val="00206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) 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DE4F82B-1932-4791-BA8E-8BD9FEFD0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1.1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计算机系统组成及工作原理简介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80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09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680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3" grpId="0" animBg="1"/>
      <p:bldP spid="680964" grpId="0"/>
      <p:bldP spid="680965" grpId="0" animBg="1"/>
      <p:bldP spid="9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5">
            <a:extLst>
              <a:ext uri="{FF2B5EF4-FFF2-40B4-BE49-F238E27FC236}">
                <a16:creationId xmlns:a16="http://schemas.microsoft.com/office/drawing/2014/main" id="{F4A6F05A-5802-41B1-A50E-67770F8D0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73" y="2924944"/>
            <a:ext cx="1971427" cy="101566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spcBef>
                <a:spcPct val="50000"/>
              </a:spcBef>
              <a:buClr>
                <a:srgbClr val="D7000F"/>
              </a:buClr>
              <a:buNone/>
              <a:tabLst>
                <a:tab pos="177800" algn="l"/>
              </a:tabLst>
              <a:defRPr kumimoji="0" b="1">
                <a:solidFill>
                  <a:srgbClr val="C019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dirty="0"/>
              <a:t>(3) </a:t>
            </a:r>
            <a:r>
              <a:rPr lang="zh-CN" altLang="en-US" dirty="0"/>
              <a:t>存储器 </a:t>
            </a:r>
            <a:endParaRPr lang="en-US" altLang="zh-CN" dirty="0"/>
          </a:p>
          <a:p>
            <a:r>
              <a:rPr lang="en-US" altLang="zh-CN" dirty="0">
                <a:solidFill>
                  <a:srgbClr val="002060"/>
                </a:solidFill>
              </a:rPr>
              <a:t>(Memory) 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E6FA754-8C6D-4504-975D-3D70340BB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576" y="836712"/>
            <a:ext cx="9577064" cy="1580836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rgbClr val="CFCFD1"/>
              </a:gs>
            </a:gsLst>
          </a:gradFill>
          <a:ln w="38100">
            <a:solidFill>
              <a:schemeClr val="accent1">
                <a:lumMod val="50000"/>
              </a:schemeClr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/>
              <a:t>    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存储器是计算机中具有记忆能力的部件，用来存放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程序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或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数据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。程序和数据是两种不同的信息，应放在不同的地方，两者不可混淆 。指令总是送到控制器，而数据则总是送到运算器。存储器就是一种能根据地址接收或提供指令或数据的装置。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E4BA828-106D-4B74-BDAC-BB8CA1AC9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576" y="2577037"/>
            <a:ext cx="9577064" cy="3804291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</a:pPr>
            <a:r>
              <a:rPr lang="en-US" altLang="zh-CN" b="1" dirty="0"/>
              <a:t>        </a:t>
            </a:r>
            <a:r>
              <a:rPr lang="zh-CN" altLang="zh-CN" b="1" dirty="0">
                <a:solidFill>
                  <a:srgbClr val="C01920"/>
                </a:solidFill>
                <a:ea typeface="楷体" pitchFamily="49" charset="-122"/>
              </a:rPr>
              <a:t>内存储器</a:t>
            </a:r>
            <a:r>
              <a:rPr lang="zh-CN" altLang="zh-CN" b="1" dirty="0">
                <a:ea typeface="楷体" pitchFamily="49" charset="-122"/>
              </a:rPr>
              <a:t>简称内存，又称主存，是</a:t>
            </a:r>
            <a:r>
              <a:rPr lang="en-US" altLang="zh-CN" b="1" dirty="0">
                <a:ea typeface="楷体" pitchFamily="49" charset="-122"/>
              </a:rPr>
              <a:t>CPU</a:t>
            </a:r>
            <a:r>
              <a:rPr lang="zh-CN" altLang="en-US" b="1" dirty="0">
                <a:ea typeface="楷体" pitchFamily="49" charset="-122"/>
              </a:rPr>
              <a:t>能根据地址线直接寻址的存储空间，是计算机内部存放数据的硬件设备，是程序和数据存储的基本要素，由半导体器件制成。内存中存放数据是以相应的内存单元为单位进行存放的，内存单元的大小可以是一个字节，也可以是多个字节，每个内存单元都有一个编号，它表示该内存单元所对应的</a:t>
            </a:r>
            <a:r>
              <a:rPr lang="zh-CN" altLang="en-US" b="1" dirty="0">
                <a:solidFill>
                  <a:srgbClr val="C01920"/>
                </a:solidFill>
                <a:ea typeface="楷体" pitchFamily="49" charset="-122"/>
              </a:rPr>
              <a:t>内存地址</a:t>
            </a:r>
            <a:r>
              <a:rPr lang="zh-CN" altLang="en-US" b="1" dirty="0">
                <a:ea typeface="楷体" pitchFamily="49" charset="-122"/>
              </a:rPr>
              <a:t>。内存的特点是存取速度快，基本上能与</a:t>
            </a:r>
            <a:r>
              <a:rPr lang="en-US" altLang="zh-CN" b="1" dirty="0">
                <a:ea typeface="楷体" pitchFamily="49" charset="-122"/>
              </a:rPr>
              <a:t>CPU</a:t>
            </a:r>
            <a:r>
              <a:rPr lang="zh-CN" altLang="en-US" b="1" dirty="0">
                <a:ea typeface="楷体" pitchFamily="49" charset="-122"/>
              </a:rPr>
              <a:t>速度相匹配。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ea typeface="楷体" pitchFamily="49" charset="-122"/>
              </a:rPr>
              <a:t>       </a:t>
            </a:r>
            <a:r>
              <a:rPr lang="zh-CN" altLang="en-US" b="1" dirty="0">
                <a:solidFill>
                  <a:srgbClr val="C01920"/>
                </a:solidFill>
                <a:ea typeface="楷体" pitchFamily="49" charset="-122"/>
              </a:rPr>
              <a:t> 外存储器</a:t>
            </a:r>
            <a:r>
              <a:rPr lang="zh-CN" altLang="en-US" b="1" dirty="0">
                <a:ea typeface="楷体" pitchFamily="49" charset="-122"/>
              </a:rPr>
              <a:t>简称外存，它作为一种辅助存储设备，主要用来存放一些暂时不用而又需常期保存的程序或数据。当需要执行外存中的程序或处理外存中的数据时，必须通过</a:t>
            </a:r>
            <a:r>
              <a:rPr lang="en-US" altLang="zh-CN" b="1" dirty="0">
                <a:ea typeface="楷体" pitchFamily="49" charset="-122"/>
              </a:rPr>
              <a:t>CPU</a:t>
            </a:r>
            <a:r>
              <a:rPr lang="zh-CN" altLang="en-US" b="1" dirty="0">
                <a:ea typeface="楷体" pitchFamily="49" charset="-122"/>
              </a:rPr>
              <a:t>输入／输出指令，将其调入内存中才能被</a:t>
            </a:r>
            <a:r>
              <a:rPr lang="en-US" altLang="zh-CN" b="1" dirty="0">
                <a:ea typeface="楷体" pitchFamily="49" charset="-122"/>
              </a:rPr>
              <a:t>CPU</a:t>
            </a:r>
            <a:r>
              <a:rPr lang="zh-CN" altLang="en-US" b="1" dirty="0">
                <a:ea typeface="楷体" pitchFamily="49" charset="-122"/>
              </a:rPr>
              <a:t>执行处理，所以外存实际上属于输入／输出设备。  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5AB8C05D-7D71-4A53-BA42-F70D773ED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59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1.1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计算机系统组成及工作原理简介</a:t>
            </a:r>
          </a:p>
        </p:txBody>
      </p:sp>
    </p:spTree>
    <p:extLst>
      <p:ext uri="{BB962C8B-B14F-4D97-AF65-F5344CB8AC3E}">
        <p14:creationId xmlns:p14="http://schemas.microsoft.com/office/powerpoint/2010/main" val="34370264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id="{6DEF90FE-4116-4ABE-A265-F683D2A63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829" y="1193378"/>
            <a:ext cx="3819971" cy="101566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spcBef>
                <a:spcPct val="50000"/>
              </a:spcBef>
              <a:buClr>
                <a:srgbClr val="D7000F"/>
              </a:buClr>
              <a:buNone/>
              <a:tabLst>
                <a:tab pos="177800" algn="l"/>
              </a:tabLst>
              <a:defRPr kumimoji="0" b="1">
                <a:solidFill>
                  <a:srgbClr val="C019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dirty="0"/>
              <a:t>(4) </a:t>
            </a:r>
            <a:r>
              <a:rPr lang="zh-CN" altLang="en-US" dirty="0"/>
              <a:t>输入设备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en-US" altLang="zh-CN" dirty="0">
                <a:solidFill>
                  <a:srgbClr val="002060"/>
                </a:solidFill>
              </a:rPr>
              <a:t>(Input Device) 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7C890CC2-E522-4DEA-ADF2-573714443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612" y="3068960"/>
            <a:ext cx="2674314" cy="101566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spcBef>
                <a:spcPct val="50000"/>
              </a:spcBef>
              <a:buClr>
                <a:srgbClr val="D7000F"/>
              </a:buClr>
              <a:buNone/>
              <a:tabLst>
                <a:tab pos="177800" algn="l"/>
              </a:tabLst>
              <a:defRPr kumimoji="0" b="1">
                <a:solidFill>
                  <a:srgbClr val="C019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dirty="0"/>
              <a:t>(5) </a:t>
            </a:r>
            <a:r>
              <a:rPr lang="zh-CN" altLang="en-US" dirty="0"/>
              <a:t>输出设备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en-US" altLang="zh-CN" dirty="0">
                <a:solidFill>
                  <a:srgbClr val="002060"/>
                </a:solidFill>
              </a:rPr>
              <a:t>(Output Device) 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6894FB37-8FFB-421E-AE5D-A815DC9CC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612" y="5117981"/>
            <a:ext cx="3819971" cy="46166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spcBef>
                <a:spcPct val="50000"/>
              </a:spcBef>
              <a:buClr>
                <a:srgbClr val="D7000F"/>
              </a:buClr>
              <a:buNone/>
              <a:tabLst>
                <a:tab pos="177800" algn="l"/>
              </a:tabLst>
              <a:defRPr kumimoji="0" b="1">
                <a:solidFill>
                  <a:srgbClr val="C0192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zh-CN" altLang="en-US" dirty="0"/>
              <a:t>计算机的工作原理：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B930396-449B-4BBF-9B3C-DA3DD409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8654" y="1094497"/>
            <a:ext cx="8135938" cy="132639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</a:gradFill>
          <a:ln w="38100">
            <a:solidFill>
              <a:srgbClr val="C01920"/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b="1" dirty="0">
                <a:latin typeface="楷体" pitchFamily="49" charset="-122"/>
                <a:ea typeface="楷体" pitchFamily="49" charset="-122"/>
              </a:rPr>
              <a:t>输入设备是用来输入程序和数据的部件。常见的输入设备有：键盘、鼠标、麦克风、扫描仪、手写板、数码相机、摄像头等。</a:t>
            </a:r>
            <a:endParaRPr lang="zh-CN" altLang="en-US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AFB4D5D-B0A1-4EF9-AFDE-0F3302EC6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4366" y="2835101"/>
            <a:ext cx="8135938" cy="1674019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</a:gradFill>
          <a:ln w="38100">
            <a:solidFill>
              <a:srgbClr val="C01920"/>
            </a:solidFill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输出设备正好与输入设备相反，是用来输出结果的部件。要求输出设备能以人们所能接受的形式输出信息，如以文字、图形的形式在显示器上输出。除显示器外，常用的输出设备还有音箱、打印机、绘图仪等。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2460AEF-3B04-4A64-8F43-E2518C552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4365" y="4847148"/>
            <a:ext cx="8137593" cy="1326391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F0E5B7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</a:t>
            </a:r>
            <a:r>
              <a:rPr lang="zh-CN" altLang="zh-CN" b="1" dirty="0">
                <a:latin typeface="楷体" pitchFamily="49" charset="-122"/>
                <a:ea typeface="楷体" pitchFamily="49" charset="-122"/>
              </a:rPr>
              <a:t>各种各样的信息，通过输入设备，进入计算机的存储器，然后送到运算器，运算完毕把结果送到存储器存储，最后通过输出设备显示出来。整个过程由控制器进行控制。</a:t>
            </a:r>
            <a:endParaRPr lang="zh-CN" altLang="en-US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3963C96-0526-4506-A3BB-684555B1E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1.1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计算机系统组成及工作原理简介</a:t>
            </a:r>
          </a:p>
        </p:txBody>
      </p:sp>
    </p:spTree>
    <p:extLst>
      <p:ext uri="{BB962C8B-B14F-4D97-AF65-F5344CB8AC3E}">
        <p14:creationId xmlns:p14="http://schemas.microsoft.com/office/powerpoint/2010/main" val="40363130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64" name="Rectangle 8"/>
          <p:cNvSpPr>
            <a:spLocks noChangeArrowheads="1"/>
          </p:cNvSpPr>
          <p:nvPr/>
        </p:nvSpPr>
        <p:spPr bwMode="auto">
          <a:xfrm>
            <a:off x="550864" y="1412776"/>
            <a:ext cx="10945812" cy="1224135"/>
          </a:xfrm>
          <a:prstGeom prst="rect">
            <a:avLst/>
          </a:prstGeom>
          <a:noFill/>
          <a:ln w="38100">
            <a:noFill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软件是指计算机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程序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及有关程序的技术</a:t>
            </a:r>
            <a:r>
              <a:rPr lang="zh-CN" altLang="en-US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文档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资料。两者中更为重要的是程序，它是计算机进行数据处理的指令集，也是计算机正常工作最重要的因素。在不太严格情况下，认为程序就是软件。 </a:t>
            </a:r>
          </a:p>
        </p:txBody>
      </p:sp>
      <p:sp>
        <p:nvSpPr>
          <p:cNvPr id="685065" name="Rectangle 9"/>
          <p:cNvSpPr>
            <a:spLocks noChangeArrowheads="1"/>
          </p:cNvSpPr>
          <p:nvPr/>
        </p:nvSpPr>
        <p:spPr bwMode="auto">
          <a:xfrm>
            <a:off x="501055" y="4178752"/>
            <a:ext cx="1503501" cy="936104"/>
          </a:xfrm>
          <a:prstGeom prst="rect">
            <a:avLst/>
          </a:prstGeom>
          <a:noFill/>
          <a:ln w="38100">
            <a:noFill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 anchor="ctr" anchorCtr="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根据软件用途分为</a:t>
            </a:r>
            <a:endParaRPr lang="zh-CN" altLang="en-US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3ABC8DE-F1F9-41D8-B24C-E0BBF810B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695" y="2672501"/>
            <a:ext cx="8136979" cy="2268667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</a:gradFill>
          <a:ln w="38100">
            <a:solidFill>
              <a:srgbClr val="C01920"/>
            </a:solidFill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/>
              <a:t>    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系统软件是指管理、监控、维护计算机正常工作和供用户操作使用计算机的软件。这类软件一般与具体应用无关，是在系统一级上提供的服务。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系统软件主要包括以下两类：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一类是面向计算机本身的软件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，如操作系统、诊断程序等。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另一类是面向用户的软件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，如各种语言处理程序（象</a:t>
            </a:r>
            <a:r>
              <a:rPr lang="en-US" altLang="zh-CN" b="1" dirty="0">
                <a:latin typeface="+mj-lt"/>
                <a:ea typeface="楷体" pitchFamily="49" charset="-122"/>
              </a:rPr>
              <a:t>VC</a:t>
            </a:r>
            <a:r>
              <a:rPr lang="zh-CN" altLang="en-US" b="1" dirty="0">
                <a:latin typeface="+mj-lt"/>
                <a:ea typeface="楷体" pitchFamily="49" charset="-122"/>
              </a:rPr>
              <a:t>、</a:t>
            </a:r>
            <a:r>
              <a:rPr lang="en-US" altLang="zh-CN" b="1" dirty="0">
                <a:latin typeface="+mj-lt"/>
                <a:ea typeface="楷体" pitchFamily="49" charset="-122"/>
              </a:rPr>
              <a:t>CB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等）、实用程序、字处理程序等。 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46E75B9-E032-4985-AEEE-825A2AD22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742" y="5085184"/>
            <a:ext cx="8047533" cy="1621510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</a:gradFill>
          <a:ln w="38100">
            <a:solidFill>
              <a:srgbClr val="C01920"/>
            </a:solidFill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"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/>
              <a:t>    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应用软件是指某特定领域中的某种具体应用，供最终用户使用的软件，它必须在操作系统的基础上运行。如财务报表软件、数据库应用软件等。初学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语言的读者主要任务是学习如何编写应用软件。 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8C0E4C51-409A-4E87-9B7D-C761A0D38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4106" y="3230916"/>
            <a:ext cx="1864557" cy="46166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系统软件  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4F9349B7-DA3A-462C-9A16-3D8521177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5565022"/>
            <a:ext cx="1503502" cy="46166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kumimoji="0"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应用软件 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6948468-537D-4324-8C13-E9B5FF583863}"/>
              </a:ext>
            </a:extLst>
          </p:cNvPr>
          <p:cNvGrpSpPr/>
          <p:nvPr/>
        </p:nvGrpSpPr>
        <p:grpSpPr>
          <a:xfrm>
            <a:off x="695325" y="853853"/>
            <a:ext cx="6092578" cy="630931"/>
            <a:chOff x="695400" y="1059424"/>
            <a:chExt cx="6092578" cy="630931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118CE34D-6266-432F-A2EE-1440F5CC64CE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6" name="菱形 15">
                <a:extLst>
                  <a:ext uri="{FF2B5EF4-FFF2-40B4-BE49-F238E27FC236}">
                    <a16:creationId xmlns:a16="http://schemas.microsoft.com/office/drawing/2014/main" id="{0A21BAF1-310A-45E6-8972-3751D77B546C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" name="菱形 16">
                <a:extLst>
                  <a:ext uri="{FF2B5EF4-FFF2-40B4-BE49-F238E27FC236}">
                    <a16:creationId xmlns:a16="http://schemas.microsoft.com/office/drawing/2014/main" id="{6F8C0A71-114E-4814-BB33-A022E8EF198B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669A5036-B7FC-438D-B846-F9CB0FF7C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5285253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软件系统的组成及分类</a:t>
              </a:r>
            </a:p>
          </p:txBody>
        </p:sp>
      </p:grpSp>
      <p:sp>
        <p:nvSpPr>
          <p:cNvPr id="18" name="Rectangle 4">
            <a:extLst>
              <a:ext uri="{FF2B5EF4-FFF2-40B4-BE49-F238E27FC236}">
                <a16:creationId xmlns:a16="http://schemas.microsoft.com/office/drawing/2014/main" id="{ADEDADA8-9022-4C8A-BA2C-B67E50662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1.1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计算机系统组成及工作原理简介</a:t>
            </a: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id="{05BAB2A7-19A3-4C6C-A94C-714D73AE15D0}"/>
              </a:ext>
            </a:extLst>
          </p:cNvPr>
          <p:cNvSpPr>
            <a:spLocks/>
          </p:cNvSpPr>
          <p:nvPr/>
        </p:nvSpPr>
        <p:spPr bwMode="auto">
          <a:xfrm>
            <a:off x="1775520" y="3333789"/>
            <a:ext cx="179921" cy="2810669"/>
          </a:xfrm>
          <a:prstGeom prst="leftBrace">
            <a:avLst>
              <a:gd name="adj1" fmla="val 97304"/>
              <a:gd name="adj2" fmla="val 50000"/>
            </a:avLst>
          </a:prstGeom>
          <a:noFill/>
          <a:ln w="41275">
            <a:solidFill>
              <a:srgbClr val="C0192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C019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4254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685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6850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64" grpId="0"/>
      <p:bldP spid="685065" grpId="0" animBg="1"/>
      <p:bldP spid="8" grpId="0" animBg="1"/>
      <p:bldP spid="9" grpId="0" animBg="1"/>
      <p:bldP spid="10" grpId="0"/>
      <p:bldP spid="11" grpId="0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0863" y="1558001"/>
            <a:ext cx="10446478" cy="4893647"/>
          </a:xfrm>
          <a:prstGeom prst="rect">
            <a:avLst/>
          </a:prstGeom>
          <a:noFill/>
          <a:ln w="31750">
            <a:noFill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  硬件和软件是一个完整的计算机系统互相依存的两大部分，它们的关系主要体现在以下几个方面：</a:t>
            </a:r>
            <a:endParaRPr lang="en-US" altLang="zh-CN" b="1" dirty="0">
              <a:solidFill>
                <a:srgbClr val="CC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solidFill>
                  <a:srgbClr val="CC0000"/>
                </a:solidFill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）硬件和软件互相依存。</a:t>
            </a:r>
            <a:endParaRPr lang="en-US" altLang="zh-CN" b="1" dirty="0">
              <a:solidFill>
                <a:srgbClr val="C0192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  硬件是软件赖以工作的物质基础，软件的正常工作是硬件发挥作用的惟一途径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,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软件是用户与机器的接口。计算机系统必须要配备完善的软件系统才能正常工作，且充分发挥其硬件的各种功能。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solidFill>
                  <a:srgbClr val="CC0000"/>
                </a:solidFill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）硬件和软件无严格界线</a:t>
            </a:r>
            <a:endParaRPr lang="en-US" altLang="zh-CN" b="1" dirty="0">
              <a:solidFill>
                <a:srgbClr val="C0192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  随着计算机技术的发展，在许多情况下，计算机的某些功能既可以由硬件实现，也可以由软件来实现。因此，硬件与软件在一定意义上说没有绝对严格的界线。</a:t>
            </a:r>
            <a:r>
              <a:rPr lang="zh-CN" altLang="en-US" b="1" dirty="0">
                <a:solidFill>
                  <a:srgbClr val="CC0000"/>
                </a:solidFill>
                <a:latin typeface="楷体" pitchFamily="49" charset="-122"/>
                <a:ea typeface="楷体" pitchFamily="49" charset="-122"/>
              </a:rPr>
              <a:t> </a:t>
            </a:r>
            <a:endParaRPr lang="en-US" altLang="zh-CN" b="1" dirty="0">
              <a:solidFill>
                <a:srgbClr val="CC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   （</a:t>
            </a:r>
            <a:r>
              <a:rPr lang="en-US" altLang="zh-CN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）硬件和软件协同发展。</a:t>
            </a:r>
            <a:endParaRPr lang="en-US" altLang="zh-CN" b="1" dirty="0">
              <a:solidFill>
                <a:srgbClr val="C0192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CC0000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计算机软件随着硬件技术的迅速发展而发展，而软件的不断发展与完善又促进硬件的更新，两者密切地交织发展，缺一不可。 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5E3E9CB-731C-416E-8B77-DBF24EA16B11}"/>
              </a:ext>
            </a:extLst>
          </p:cNvPr>
          <p:cNvGrpSpPr/>
          <p:nvPr/>
        </p:nvGrpSpPr>
        <p:grpSpPr>
          <a:xfrm>
            <a:off x="695325" y="853853"/>
            <a:ext cx="6092578" cy="630931"/>
            <a:chOff x="695400" y="1059424"/>
            <a:chExt cx="6092578" cy="630931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1355E1C-49E3-407D-B57D-56CC29606E71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1" name="菱形 10">
                <a:extLst>
                  <a:ext uri="{FF2B5EF4-FFF2-40B4-BE49-F238E27FC236}">
                    <a16:creationId xmlns:a16="http://schemas.microsoft.com/office/drawing/2014/main" id="{5E012C14-E5B0-47E4-816C-6D08FA180A49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菱形 11">
                <a:extLst>
                  <a:ext uri="{FF2B5EF4-FFF2-40B4-BE49-F238E27FC236}">
                    <a16:creationId xmlns:a16="http://schemas.microsoft.com/office/drawing/2014/main" id="{EE046562-7E87-4368-8E21-F6E12BB1EA28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A945E604-8F56-4A5E-8125-50AB9871E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5285253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软件与硬件的关系 </a:t>
              </a:r>
            </a:p>
          </p:txBody>
        </p:sp>
      </p:grpSp>
      <p:sp>
        <p:nvSpPr>
          <p:cNvPr id="13" name="Rectangle 4">
            <a:extLst>
              <a:ext uri="{FF2B5EF4-FFF2-40B4-BE49-F238E27FC236}">
                <a16:creationId xmlns:a16="http://schemas.microsoft.com/office/drawing/2014/main" id="{6A9B12FF-3A2B-47A7-8324-9ACD10E5B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1.1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计算机系统组成及工作原理简介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2" name="Rectangle 4"/>
          <p:cNvSpPr>
            <a:spLocks noChangeArrowheads="1"/>
          </p:cNvSpPr>
          <p:nvPr/>
        </p:nvSpPr>
        <p:spPr bwMode="auto">
          <a:xfrm>
            <a:off x="5128711" y="1789520"/>
            <a:ext cx="6049788" cy="1725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4988" indent="3683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itchFamily="2" charset="2"/>
              <a:buChar char="l"/>
            </a:pP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数码</a:t>
            </a:r>
            <a:r>
              <a:rPr lang="zh-CN" altLang="en-US" sz="32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表示数的符号</a:t>
            </a:r>
          </a:p>
          <a:p>
            <a:pPr marL="534988" indent="3683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itchFamily="2" charset="2"/>
              <a:buChar char="l"/>
            </a:pPr>
            <a:r>
              <a:rPr lang="zh-CN" altLang="en-US" sz="32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基数：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数码的个数</a:t>
            </a:r>
          </a:p>
          <a:p>
            <a:pPr marL="534988" indent="3683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itchFamily="2" charset="2"/>
              <a:buChar char="l"/>
            </a:pPr>
            <a:r>
              <a:rPr lang="zh-CN" altLang="en-US" sz="32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权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每一位所具有的值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9A080AD-2853-42B2-8487-99DEF3A242FB}"/>
              </a:ext>
            </a:extLst>
          </p:cNvPr>
          <p:cNvGrpSpPr/>
          <p:nvPr/>
        </p:nvGrpSpPr>
        <p:grpSpPr>
          <a:xfrm>
            <a:off x="699164" y="2094671"/>
            <a:ext cx="3380612" cy="630931"/>
            <a:chOff x="695400" y="1059424"/>
            <a:chExt cx="3380612" cy="630931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71A4CE9-1391-4ABE-8DBF-13B2EE265735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1" name="菱形 10">
                <a:extLst>
                  <a:ext uri="{FF2B5EF4-FFF2-40B4-BE49-F238E27FC236}">
                    <a16:creationId xmlns:a16="http://schemas.microsoft.com/office/drawing/2014/main" id="{61DBE020-1154-4874-B249-24AB323070F1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菱形 11">
                <a:extLst>
                  <a:ext uri="{FF2B5EF4-FFF2-40B4-BE49-F238E27FC236}">
                    <a16:creationId xmlns:a16="http://schemas.microsoft.com/office/drawing/2014/main" id="{B2E0B01F-7337-4419-BE88-499AB4A8FEF7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0794DEC8-6814-4A69-BB2D-E9CFE201E9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573287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数码、基与权</a:t>
              </a:r>
            </a:p>
          </p:txBody>
        </p:sp>
      </p:grpSp>
      <p:sp>
        <p:nvSpPr>
          <p:cNvPr id="13" name="Rectangle 4">
            <a:extLst>
              <a:ext uri="{FF2B5EF4-FFF2-40B4-BE49-F238E27FC236}">
                <a16:creationId xmlns:a16="http://schemas.microsoft.com/office/drawing/2014/main" id="{7DACB6DC-2D73-487F-B6B3-C8B37AE84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1.2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进位计数制及其转换 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E96A6C3-98EE-44E2-8980-6E899AE3619B}"/>
              </a:ext>
            </a:extLst>
          </p:cNvPr>
          <p:cNvGrpSpPr/>
          <p:nvPr/>
        </p:nvGrpSpPr>
        <p:grpSpPr>
          <a:xfrm>
            <a:off x="699164" y="4598269"/>
            <a:ext cx="1940452" cy="630931"/>
            <a:chOff x="695400" y="1059424"/>
            <a:chExt cx="1940452" cy="630931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1E2AB18-1D3D-485C-BE44-9C2C266B9200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7" name="菱形 16">
                <a:extLst>
                  <a:ext uri="{FF2B5EF4-FFF2-40B4-BE49-F238E27FC236}">
                    <a16:creationId xmlns:a16="http://schemas.microsoft.com/office/drawing/2014/main" id="{CD5FB1D7-22D7-4582-826E-786A28F2AD81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8" name="菱形 17">
                <a:extLst>
                  <a:ext uri="{FF2B5EF4-FFF2-40B4-BE49-F238E27FC236}">
                    <a16:creationId xmlns:a16="http://schemas.microsoft.com/office/drawing/2014/main" id="{1BBBF5FD-B8DE-4758-B10D-4265462D1932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B927FA79-CB9D-408B-B5B5-7D6C8E8738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1133127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数制</a:t>
              </a:r>
            </a:p>
          </p:txBody>
        </p:sp>
      </p:grpSp>
      <p:grpSp>
        <p:nvGrpSpPr>
          <p:cNvPr id="19" name="组合 2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8FF44705-1402-4136-A6D0-3F889BD634B9}"/>
              </a:ext>
            </a:extLst>
          </p:cNvPr>
          <p:cNvGrpSpPr>
            <a:grpSpLocks noChangeAspect="1"/>
          </p:cNvGrpSpPr>
          <p:nvPr/>
        </p:nvGrpSpPr>
        <p:grpSpPr>
          <a:xfrm rot="2281656">
            <a:off x="5745164" y="2924737"/>
            <a:ext cx="3412002" cy="4029304"/>
            <a:chOff x="9197" y="1358020"/>
            <a:chExt cx="4676985" cy="5523149"/>
          </a:xfrm>
        </p:grpSpPr>
        <p:sp>
          <p:nvSpPr>
            <p:cNvPr id="20" name="ïṩlïḍê">
              <a:extLst>
                <a:ext uri="{FF2B5EF4-FFF2-40B4-BE49-F238E27FC236}">
                  <a16:creationId xmlns:a16="http://schemas.microsoft.com/office/drawing/2014/main" id="{E0434FBB-8FBC-46E2-9AAB-A6C471B45A92}"/>
                </a:ext>
              </a:extLst>
            </p:cNvPr>
            <p:cNvSpPr/>
            <p:nvPr/>
          </p:nvSpPr>
          <p:spPr bwMode="auto">
            <a:xfrm flipH="1">
              <a:off x="60848" y="4420044"/>
              <a:ext cx="3353432" cy="2461125"/>
            </a:xfrm>
            <a:custGeom>
              <a:avLst/>
              <a:gdLst>
                <a:gd name="T0" fmla="*/ 0 w 2597"/>
                <a:gd name="T1" fmla="*/ 658 h 1925"/>
                <a:gd name="T2" fmla="*/ 491 w 2597"/>
                <a:gd name="T3" fmla="*/ 0 h 1925"/>
                <a:gd name="T4" fmla="*/ 2597 w 2597"/>
                <a:gd name="T5" fmla="*/ 1569 h 1925"/>
                <a:gd name="T6" fmla="*/ 2597 w 2597"/>
                <a:gd name="T7" fmla="*/ 1925 h 1925"/>
                <a:gd name="T8" fmla="*/ 1700 w 2597"/>
                <a:gd name="T9" fmla="*/ 1925 h 1925"/>
                <a:gd name="T10" fmla="*/ 0 w 2597"/>
                <a:gd name="T11" fmla="*/ 658 h 1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97" h="1925">
                  <a:moveTo>
                    <a:pt x="0" y="658"/>
                  </a:moveTo>
                  <a:lnTo>
                    <a:pt x="491" y="0"/>
                  </a:lnTo>
                  <a:lnTo>
                    <a:pt x="2597" y="1569"/>
                  </a:lnTo>
                  <a:lnTo>
                    <a:pt x="2597" y="1925"/>
                  </a:lnTo>
                  <a:lnTo>
                    <a:pt x="1700" y="1925"/>
                  </a:lnTo>
                  <a:lnTo>
                    <a:pt x="0" y="658"/>
                  </a:lnTo>
                  <a:close/>
                </a:path>
              </a:pathLst>
            </a:custGeom>
            <a:solidFill>
              <a:srgbClr val="FCC3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ïsḻîďe">
              <a:extLst>
                <a:ext uri="{FF2B5EF4-FFF2-40B4-BE49-F238E27FC236}">
                  <a16:creationId xmlns:a16="http://schemas.microsoft.com/office/drawing/2014/main" id="{2645BD98-FE7C-41FB-93E6-CABC50B0C4E6}"/>
                </a:ext>
              </a:extLst>
            </p:cNvPr>
            <p:cNvSpPr/>
            <p:nvPr/>
          </p:nvSpPr>
          <p:spPr bwMode="auto">
            <a:xfrm flipH="1">
              <a:off x="807203" y="5065690"/>
              <a:ext cx="2607077" cy="1815479"/>
            </a:xfrm>
            <a:custGeom>
              <a:avLst/>
              <a:gdLst>
                <a:gd name="T0" fmla="*/ 0 w 2019"/>
                <a:gd name="T1" fmla="*/ 153 h 1420"/>
                <a:gd name="T2" fmla="*/ 114 w 2019"/>
                <a:gd name="T3" fmla="*/ 0 h 1420"/>
                <a:gd name="T4" fmla="*/ 2019 w 2019"/>
                <a:gd name="T5" fmla="*/ 1420 h 1420"/>
                <a:gd name="T6" fmla="*/ 1700 w 2019"/>
                <a:gd name="T7" fmla="*/ 1420 h 1420"/>
                <a:gd name="T8" fmla="*/ 0 w 2019"/>
                <a:gd name="T9" fmla="*/ 153 h 1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9" h="1420">
                  <a:moveTo>
                    <a:pt x="0" y="153"/>
                  </a:moveTo>
                  <a:lnTo>
                    <a:pt x="114" y="0"/>
                  </a:lnTo>
                  <a:lnTo>
                    <a:pt x="2019" y="1420"/>
                  </a:lnTo>
                  <a:lnTo>
                    <a:pt x="1700" y="1420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F1A1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iṥľîḋê">
              <a:extLst>
                <a:ext uri="{FF2B5EF4-FFF2-40B4-BE49-F238E27FC236}">
                  <a16:creationId xmlns:a16="http://schemas.microsoft.com/office/drawing/2014/main" id="{5D264598-C6F6-44E4-B9F3-48FBB6DC18C3}"/>
                </a:ext>
              </a:extLst>
            </p:cNvPr>
            <p:cNvSpPr/>
            <p:nvPr/>
          </p:nvSpPr>
          <p:spPr bwMode="auto">
            <a:xfrm flipH="1">
              <a:off x="3030772" y="3661889"/>
              <a:ext cx="409333" cy="254423"/>
            </a:xfrm>
            <a:custGeom>
              <a:avLst/>
              <a:gdLst>
                <a:gd name="T0" fmla="*/ 178 w 189"/>
                <a:gd name="T1" fmla="*/ 0 h 119"/>
                <a:gd name="T2" fmla="*/ 0 w 189"/>
                <a:gd name="T3" fmla="*/ 35 h 119"/>
                <a:gd name="T4" fmla="*/ 11 w 189"/>
                <a:gd name="T5" fmla="*/ 104 h 119"/>
                <a:gd name="T6" fmla="*/ 189 w 189"/>
                <a:gd name="T7" fmla="*/ 69 h 119"/>
                <a:gd name="T8" fmla="*/ 178 w 189"/>
                <a:gd name="T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119">
                  <a:moveTo>
                    <a:pt x="178" y="0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11" y="104"/>
                    <a:pt x="11" y="104"/>
                    <a:pt x="11" y="104"/>
                  </a:cubicBezTo>
                  <a:cubicBezTo>
                    <a:pt x="80" y="119"/>
                    <a:pt x="139" y="108"/>
                    <a:pt x="189" y="69"/>
                  </a:cubicBezTo>
                  <a:lnTo>
                    <a:pt x="178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$ļíďê">
              <a:extLst>
                <a:ext uri="{FF2B5EF4-FFF2-40B4-BE49-F238E27FC236}">
                  <a16:creationId xmlns:a16="http://schemas.microsoft.com/office/drawing/2014/main" id="{C037B8A7-C377-462E-B035-580C1AE79DCB}"/>
                </a:ext>
              </a:extLst>
            </p:cNvPr>
            <p:cNvSpPr/>
            <p:nvPr/>
          </p:nvSpPr>
          <p:spPr bwMode="auto">
            <a:xfrm flipH="1">
              <a:off x="1752414" y="3728372"/>
              <a:ext cx="1944655" cy="2744954"/>
            </a:xfrm>
            <a:custGeom>
              <a:avLst/>
              <a:gdLst>
                <a:gd name="T0" fmla="*/ 768 w 899"/>
                <a:gd name="T1" fmla="*/ 917 h 1282"/>
                <a:gd name="T2" fmla="*/ 838 w 899"/>
                <a:gd name="T3" fmla="*/ 523 h 1282"/>
                <a:gd name="T4" fmla="*/ 623 w 899"/>
                <a:gd name="T5" fmla="*/ 230 h 1282"/>
                <a:gd name="T6" fmla="*/ 354 w 899"/>
                <a:gd name="T7" fmla="*/ 32 h 1282"/>
                <a:gd name="T8" fmla="*/ 270 w 899"/>
                <a:gd name="T9" fmla="*/ 102 h 1282"/>
                <a:gd name="T10" fmla="*/ 175 w 899"/>
                <a:gd name="T11" fmla="*/ 123 h 1282"/>
                <a:gd name="T12" fmla="*/ 37 w 899"/>
                <a:gd name="T13" fmla="*/ 226 h 1282"/>
                <a:gd name="T14" fmla="*/ 72 w 899"/>
                <a:gd name="T15" fmla="*/ 338 h 1282"/>
                <a:gd name="T16" fmla="*/ 1 w 899"/>
                <a:gd name="T17" fmla="*/ 411 h 1282"/>
                <a:gd name="T18" fmla="*/ 105 w 899"/>
                <a:gd name="T19" fmla="*/ 536 h 1282"/>
                <a:gd name="T20" fmla="*/ 36 w 899"/>
                <a:gd name="T21" fmla="*/ 630 h 1282"/>
                <a:gd name="T22" fmla="*/ 106 w 899"/>
                <a:gd name="T23" fmla="*/ 720 h 1282"/>
                <a:gd name="T24" fmla="*/ 105 w 899"/>
                <a:gd name="T25" fmla="*/ 832 h 1282"/>
                <a:gd name="T26" fmla="*/ 768 w 899"/>
                <a:gd name="T27" fmla="*/ 917 h 1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99" h="1282">
                  <a:moveTo>
                    <a:pt x="768" y="917"/>
                  </a:moveTo>
                  <a:cubicBezTo>
                    <a:pt x="836" y="788"/>
                    <a:pt x="899" y="715"/>
                    <a:pt x="838" y="523"/>
                  </a:cubicBezTo>
                  <a:cubicBezTo>
                    <a:pt x="777" y="330"/>
                    <a:pt x="772" y="281"/>
                    <a:pt x="623" y="230"/>
                  </a:cubicBezTo>
                  <a:cubicBezTo>
                    <a:pt x="517" y="194"/>
                    <a:pt x="376" y="95"/>
                    <a:pt x="354" y="32"/>
                  </a:cubicBezTo>
                  <a:cubicBezTo>
                    <a:pt x="343" y="0"/>
                    <a:pt x="262" y="39"/>
                    <a:pt x="270" y="102"/>
                  </a:cubicBezTo>
                  <a:cubicBezTo>
                    <a:pt x="280" y="193"/>
                    <a:pt x="219" y="128"/>
                    <a:pt x="175" y="123"/>
                  </a:cubicBezTo>
                  <a:cubicBezTo>
                    <a:pt x="131" y="119"/>
                    <a:pt x="38" y="155"/>
                    <a:pt x="37" y="226"/>
                  </a:cubicBezTo>
                  <a:cubicBezTo>
                    <a:pt x="35" y="297"/>
                    <a:pt x="72" y="338"/>
                    <a:pt x="72" y="338"/>
                  </a:cubicBezTo>
                  <a:cubicBezTo>
                    <a:pt x="72" y="338"/>
                    <a:pt x="0" y="347"/>
                    <a:pt x="1" y="411"/>
                  </a:cubicBezTo>
                  <a:cubicBezTo>
                    <a:pt x="2" y="474"/>
                    <a:pt x="105" y="536"/>
                    <a:pt x="105" y="536"/>
                  </a:cubicBezTo>
                  <a:cubicBezTo>
                    <a:pt x="105" y="536"/>
                    <a:pt x="31" y="562"/>
                    <a:pt x="36" y="630"/>
                  </a:cubicBezTo>
                  <a:cubicBezTo>
                    <a:pt x="40" y="699"/>
                    <a:pt x="106" y="720"/>
                    <a:pt x="106" y="720"/>
                  </a:cubicBezTo>
                  <a:cubicBezTo>
                    <a:pt x="106" y="720"/>
                    <a:pt x="82" y="762"/>
                    <a:pt x="105" y="832"/>
                  </a:cubicBezTo>
                  <a:cubicBezTo>
                    <a:pt x="129" y="902"/>
                    <a:pt x="576" y="1282"/>
                    <a:pt x="768" y="917"/>
                  </a:cubicBezTo>
                  <a:close/>
                </a:path>
              </a:pathLst>
            </a:custGeom>
            <a:solidFill>
              <a:srgbClr val="FCC3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îṣḻíḍe">
              <a:extLst>
                <a:ext uri="{FF2B5EF4-FFF2-40B4-BE49-F238E27FC236}">
                  <a16:creationId xmlns:a16="http://schemas.microsoft.com/office/drawing/2014/main" id="{50AE79B3-EE94-408B-B2B3-8FF149D0359D}"/>
                </a:ext>
              </a:extLst>
            </p:cNvPr>
            <p:cNvSpPr/>
            <p:nvPr/>
          </p:nvSpPr>
          <p:spPr bwMode="auto">
            <a:xfrm flipH="1">
              <a:off x="2883567" y="4310092"/>
              <a:ext cx="335731" cy="373324"/>
            </a:xfrm>
            <a:custGeom>
              <a:avLst/>
              <a:gdLst>
                <a:gd name="T0" fmla="*/ 6 w 155"/>
                <a:gd name="T1" fmla="*/ 0 h 174"/>
                <a:gd name="T2" fmla="*/ 0 w 155"/>
                <a:gd name="T3" fmla="*/ 102 h 174"/>
                <a:gd name="T4" fmla="*/ 138 w 155"/>
                <a:gd name="T5" fmla="*/ 164 h 174"/>
                <a:gd name="T6" fmla="*/ 155 w 155"/>
                <a:gd name="T7" fmla="*/ 174 h 174"/>
                <a:gd name="T8" fmla="*/ 122 w 155"/>
                <a:gd name="T9" fmla="*/ 13 h 174"/>
                <a:gd name="T10" fmla="*/ 6 w 155"/>
                <a:gd name="T11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174">
                  <a:moveTo>
                    <a:pt x="6" y="0"/>
                  </a:moveTo>
                  <a:cubicBezTo>
                    <a:pt x="30" y="42"/>
                    <a:pt x="46" y="44"/>
                    <a:pt x="0" y="102"/>
                  </a:cubicBezTo>
                  <a:cubicBezTo>
                    <a:pt x="28" y="125"/>
                    <a:pt x="79" y="156"/>
                    <a:pt x="138" y="164"/>
                  </a:cubicBezTo>
                  <a:cubicBezTo>
                    <a:pt x="143" y="165"/>
                    <a:pt x="150" y="173"/>
                    <a:pt x="155" y="174"/>
                  </a:cubicBezTo>
                  <a:cubicBezTo>
                    <a:pt x="122" y="13"/>
                    <a:pt x="122" y="13"/>
                    <a:pt x="122" y="13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1A1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ṩľîdé">
              <a:extLst>
                <a:ext uri="{FF2B5EF4-FFF2-40B4-BE49-F238E27FC236}">
                  <a16:creationId xmlns:a16="http://schemas.microsoft.com/office/drawing/2014/main" id="{3AE299DF-22FA-4860-8862-C06525DA38E9}"/>
                </a:ext>
              </a:extLst>
            </p:cNvPr>
            <p:cNvSpPr/>
            <p:nvPr/>
          </p:nvSpPr>
          <p:spPr bwMode="auto">
            <a:xfrm flipH="1">
              <a:off x="2254718" y="1358020"/>
              <a:ext cx="2431464" cy="2408707"/>
            </a:xfrm>
            <a:custGeom>
              <a:avLst/>
              <a:gdLst>
                <a:gd name="T0" fmla="*/ 564 w 1124"/>
                <a:gd name="T1" fmla="*/ 2 h 1125"/>
                <a:gd name="T2" fmla="*/ 1 w 1124"/>
                <a:gd name="T3" fmla="*/ 560 h 1125"/>
                <a:gd name="T4" fmla="*/ 560 w 1124"/>
                <a:gd name="T5" fmla="*/ 1123 h 1125"/>
                <a:gd name="T6" fmla="*/ 1123 w 1124"/>
                <a:gd name="T7" fmla="*/ 565 h 1125"/>
                <a:gd name="T8" fmla="*/ 564 w 1124"/>
                <a:gd name="T9" fmla="*/ 2 h 1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1125">
                  <a:moveTo>
                    <a:pt x="564" y="2"/>
                  </a:moveTo>
                  <a:cubicBezTo>
                    <a:pt x="254" y="0"/>
                    <a:pt x="2" y="251"/>
                    <a:pt x="1" y="560"/>
                  </a:cubicBezTo>
                  <a:cubicBezTo>
                    <a:pt x="0" y="870"/>
                    <a:pt x="250" y="1122"/>
                    <a:pt x="560" y="1123"/>
                  </a:cubicBezTo>
                  <a:cubicBezTo>
                    <a:pt x="869" y="1125"/>
                    <a:pt x="1121" y="874"/>
                    <a:pt x="1123" y="565"/>
                  </a:cubicBezTo>
                  <a:cubicBezTo>
                    <a:pt x="1124" y="255"/>
                    <a:pt x="874" y="3"/>
                    <a:pt x="564" y="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ṥ1ïḋé">
              <a:extLst>
                <a:ext uri="{FF2B5EF4-FFF2-40B4-BE49-F238E27FC236}">
                  <a16:creationId xmlns:a16="http://schemas.microsoft.com/office/drawing/2014/main" id="{CC057D68-7225-4127-913C-3659854B8182}"/>
                </a:ext>
              </a:extLst>
            </p:cNvPr>
            <p:cNvSpPr/>
            <p:nvPr/>
          </p:nvSpPr>
          <p:spPr bwMode="auto">
            <a:xfrm flipH="1">
              <a:off x="2386428" y="1488428"/>
              <a:ext cx="2169336" cy="2147892"/>
            </a:xfrm>
            <a:custGeom>
              <a:avLst/>
              <a:gdLst>
                <a:gd name="T0" fmla="*/ 504 w 1003"/>
                <a:gd name="T1" fmla="*/ 1 h 1003"/>
                <a:gd name="T2" fmla="*/ 1 w 1003"/>
                <a:gd name="T3" fmla="*/ 500 h 1003"/>
                <a:gd name="T4" fmla="*/ 500 w 1003"/>
                <a:gd name="T5" fmla="*/ 1002 h 1003"/>
                <a:gd name="T6" fmla="*/ 1002 w 1003"/>
                <a:gd name="T7" fmla="*/ 504 h 1003"/>
                <a:gd name="T8" fmla="*/ 504 w 1003"/>
                <a:gd name="T9" fmla="*/ 1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3" h="1003">
                  <a:moveTo>
                    <a:pt x="504" y="1"/>
                  </a:moveTo>
                  <a:cubicBezTo>
                    <a:pt x="227" y="0"/>
                    <a:pt x="2" y="223"/>
                    <a:pt x="1" y="500"/>
                  </a:cubicBezTo>
                  <a:cubicBezTo>
                    <a:pt x="0" y="776"/>
                    <a:pt x="223" y="1001"/>
                    <a:pt x="500" y="1002"/>
                  </a:cubicBezTo>
                  <a:cubicBezTo>
                    <a:pt x="776" y="1003"/>
                    <a:pt x="1001" y="780"/>
                    <a:pt x="1002" y="504"/>
                  </a:cubicBezTo>
                  <a:cubicBezTo>
                    <a:pt x="1003" y="227"/>
                    <a:pt x="780" y="2"/>
                    <a:pt x="504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îṡļîḓè">
              <a:extLst>
                <a:ext uri="{FF2B5EF4-FFF2-40B4-BE49-F238E27FC236}">
                  <a16:creationId xmlns:a16="http://schemas.microsoft.com/office/drawing/2014/main" id="{C083C311-DD4C-4ED6-AF05-ED49E4963D3C}"/>
                </a:ext>
              </a:extLst>
            </p:cNvPr>
            <p:cNvSpPr/>
            <p:nvPr/>
          </p:nvSpPr>
          <p:spPr bwMode="auto">
            <a:xfrm flipH="1">
              <a:off x="2444535" y="2058641"/>
              <a:ext cx="1570186" cy="1520145"/>
            </a:xfrm>
            <a:custGeom>
              <a:avLst/>
              <a:gdLst>
                <a:gd name="T0" fmla="*/ 0 w 726"/>
                <a:gd name="T1" fmla="*/ 642 h 710"/>
                <a:gd name="T2" fmla="*/ 244 w 726"/>
                <a:gd name="T3" fmla="*/ 709 h 710"/>
                <a:gd name="T4" fmla="*/ 726 w 726"/>
                <a:gd name="T5" fmla="*/ 231 h 710"/>
                <a:gd name="T6" fmla="*/ 667 w 726"/>
                <a:gd name="T7" fmla="*/ 0 h 710"/>
                <a:gd name="T8" fmla="*/ 696 w 726"/>
                <a:gd name="T9" fmla="*/ 171 h 710"/>
                <a:gd name="T10" fmla="*/ 185 w 726"/>
                <a:gd name="T11" fmla="*/ 677 h 710"/>
                <a:gd name="T12" fmla="*/ 0 w 726"/>
                <a:gd name="T13" fmla="*/ 642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6" h="710">
                  <a:moveTo>
                    <a:pt x="0" y="642"/>
                  </a:moveTo>
                  <a:cubicBezTo>
                    <a:pt x="72" y="684"/>
                    <a:pt x="155" y="709"/>
                    <a:pt x="244" y="709"/>
                  </a:cubicBezTo>
                  <a:cubicBezTo>
                    <a:pt x="509" y="710"/>
                    <a:pt x="725" y="496"/>
                    <a:pt x="726" y="231"/>
                  </a:cubicBezTo>
                  <a:cubicBezTo>
                    <a:pt x="726" y="147"/>
                    <a:pt x="705" y="68"/>
                    <a:pt x="667" y="0"/>
                  </a:cubicBezTo>
                  <a:cubicBezTo>
                    <a:pt x="686" y="53"/>
                    <a:pt x="696" y="111"/>
                    <a:pt x="696" y="171"/>
                  </a:cubicBezTo>
                  <a:cubicBezTo>
                    <a:pt x="695" y="452"/>
                    <a:pt x="466" y="679"/>
                    <a:pt x="185" y="677"/>
                  </a:cubicBezTo>
                  <a:cubicBezTo>
                    <a:pt x="120" y="677"/>
                    <a:pt x="58" y="665"/>
                    <a:pt x="0" y="64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îŝḻiḋê">
              <a:extLst>
                <a:ext uri="{FF2B5EF4-FFF2-40B4-BE49-F238E27FC236}">
                  <a16:creationId xmlns:a16="http://schemas.microsoft.com/office/drawing/2014/main" id="{3C03B942-B524-4374-B13A-5CD047C7DE12}"/>
                </a:ext>
              </a:extLst>
            </p:cNvPr>
            <p:cNvSpPr/>
            <p:nvPr/>
          </p:nvSpPr>
          <p:spPr bwMode="auto">
            <a:xfrm flipH="1">
              <a:off x="2923597" y="3626091"/>
              <a:ext cx="466149" cy="1035590"/>
            </a:xfrm>
            <a:custGeom>
              <a:avLst/>
              <a:gdLst>
                <a:gd name="T0" fmla="*/ 122 w 216"/>
                <a:gd name="T1" fmla="*/ 0 h 484"/>
                <a:gd name="T2" fmla="*/ 0 w 216"/>
                <a:gd name="T3" fmla="*/ 23 h 484"/>
                <a:gd name="T4" fmla="*/ 29 w 216"/>
                <a:gd name="T5" fmla="*/ 172 h 484"/>
                <a:gd name="T6" fmla="*/ 63 w 216"/>
                <a:gd name="T7" fmla="*/ 420 h 484"/>
                <a:gd name="T8" fmla="*/ 216 w 216"/>
                <a:gd name="T9" fmla="*/ 484 h 484"/>
                <a:gd name="T10" fmla="*/ 178 w 216"/>
                <a:gd name="T11" fmla="*/ 290 h 484"/>
                <a:gd name="T12" fmla="*/ 142 w 216"/>
                <a:gd name="T13" fmla="*/ 100 h 484"/>
                <a:gd name="T14" fmla="*/ 122 w 216"/>
                <a:gd name="T15" fmla="*/ 0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" h="484">
                  <a:moveTo>
                    <a:pt x="122" y="0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29" y="172"/>
                    <a:pt x="29" y="172"/>
                    <a:pt x="29" y="172"/>
                  </a:cubicBezTo>
                  <a:cubicBezTo>
                    <a:pt x="27" y="295"/>
                    <a:pt x="141" y="321"/>
                    <a:pt x="63" y="420"/>
                  </a:cubicBezTo>
                  <a:cubicBezTo>
                    <a:pt x="94" y="445"/>
                    <a:pt x="150" y="479"/>
                    <a:pt x="216" y="484"/>
                  </a:cubicBezTo>
                  <a:cubicBezTo>
                    <a:pt x="203" y="419"/>
                    <a:pt x="191" y="355"/>
                    <a:pt x="178" y="290"/>
                  </a:cubicBezTo>
                  <a:cubicBezTo>
                    <a:pt x="141" y="234"/>
                    <a:pt x="124" y="173"/>
                    <a:pt x="142" y="100"/>
                  </a:cubicBezTo>
                  <a:lnTo>
                    <a:pt x="122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íṡļíḋê">
              <a:extLst>
                <a:ext uri="{FF2B5EF4-FFF2-40B4-BE49-F238E27FC236}">
                  <a16:creationId xmlns:a16="http://schemas.microsoft.com/office/drawing/2014/main" id="{26B0143A-6FC5-4059-B46D-DA0AC4992F13}"/>
                </a:ext>
              </a:extLst>
            </p:cNvPr>
            <p:cNvSpPr/>
            <p:nvPr/>
          </p:nvSpPr>
          <p:spPr bwMode="auto">
            <a:xfrm flipH="1">
              <a:off x="2077814" y="4051834"/>
              <a:ext cx="1424272" cy="2273185"/>
            </a:xfrm>
            <a:custGeom>
              <a:avLst/>
              <a:gdLst>
                <a:gd name="T0" fmla="*/ 12 w 659"/>
                <a:gd name="T1" fmla="*/ 382 h 1062"/>
                <a:gd name="T2" fmla="*/ 15 w 659"/>
                <a:gd name="T3" fmla="*/ 385 h 1062"/>
                <a:gd name="T4" fmla="*/ 15 w 659"/>
                <a:gd name="T5" fmla="*/ 385 h 1062"/>
                <a:gd name="T6" fmla="*/ 84 w 659"/>
                <a:gd name="T7" fmla="*/ 422 h 1062"/>
                <a:gd name="T8" fmla="*/ 243 w 659"/>
                <a:gd name="T9" fmla="*/ 454 h 1062"/>
                <a:gd name="T10" fmla="*/ 369 w 659"/>
                <a:gd name="T11" fmla="*/ 439 h 1062"/>
                <a:gd name="T12" fmla="*/ 415 w 659"/>
                <a:gd name="T13" fmla="*/ 492 h 1062"/>
                <a:gd name="T14" fmla="*/ 392 w 659"/>
                <a:gd name="T15" fmla="*/ 560 h 1062"/>
                <a:gd name="T16" fmla="*/ 161 w 659"/>
                <a:gd name="T17" fmla="*/ 583 h 1062"/>
                <a:gd name="T18" fmla="*/ 16 w 659"/>
                <a:gd name="T19" fmla="*/ 568 h 1062"/>
                <a:gd name="T20" fmla="*/ 163 w 659"/>
                <a:gd name="T21" fmla="*/ 590 h 1062"/>
                <a:gd name="T22" fmla="*/ 360 w 659"/>
                <a:gd name="T23" fmla="*/ 586 h 1062"/>
                <a:gd name="T24" fmla="*/ 379 w 659"/>
                <a:gd name="T25" fmla="*/ 636 h 1062"/>
                <a:gd name="T26" fmla="*/ 320 w 659"/>
                <a:gd name="T27" fmla="*/ 700 h 1062"/>
                <a:gd name="T28" fmla="*/ 58 w 659"/>
                <a:gd name="T29" fmla="*/ 726 h 1062"/>
                <a:gd name="T30" fmla="*/ 48 w 659"/>
                <a:gd name="T31" fmla="*/ 725 h 1062"/>
                <a:gd name="T32" fmla="*/ 659 w 659"/>
                <a:gd name="T33" fmla="*/ 798 h 1062"/>
                <a:gd name="T34" fmla="*/ 376 w 659"/>
                <a:gd name="T35" fmla="*/ 878 h 1062"/>
                <a:gd name="T36" fmla="*/ 280 w 659"/>
                <a:gd name="T37" fmla="*/ 770 h 1062"/>
                <a:gd name="T38" fmla="*/ 387 w 659"/>
                <a:gd name="T39" fmla="*/ 635 h 1062"/>
                <a:gd name="T40" fmla="*/ 381 w 659"/>
                <a:gd name="T41" fmla="*/ 578 h 1062"/>
                <a:gd name="T42" fmla="*/ 444 w 659"/>
                <a:gd name="T43" fmla="*/ 705 h 1062"/>
                <a:gd name="T44" fmla="*/ 461 w 659"/>
                <a:gd name="T45" fmla="*/ 695 h 1062"/>
                <a:gd name="T46" fmla="*/ 425 w 659"/>
                <a:gd name="T47" fmla="*/ 495 h 1062"/>
                <a:gd name="T48" fmla="*/ 372 w 659"/>
                <a:gd name="T49" fmla="*/ 412 h 1062"/>
                <a:gd name="T50" fmla="*/ 359 w 659"/>
                <a:gd name="T51" fmla="*/ 329 h 1062"/>
                <a:gd name="T52" fmla="*/ 387 w 659"/>
                <a:gd name="T53" fmla="*/ 264 h 1062"/>
                <a:gd name="T54" fmla="*/ 567 w 659"/>
                <a:gd name="T55" fmla="*/ 295 h 1062"/>
                <a:gd name="T56" fmla="*/ 338 w 659"/>
                <a:gd name="T57" fmla="*/ 110 h 1062"/>
                <a:gd name="T58" fmla="*/ 191 w 659"/>
                <a:gd name="T59" fmla="*/ 0 h 1062"/>
                <a:gd name="T60" fmla="*/ 285 w 659"/>
                <a:gd name="T61" fmla="*/ 193 h 1062"/>
                <a:gd name="T62" fmla="*/ 318 w 659"/>
                <a:gd name="T63" fmla="*/ 276 h 1062"/>
                <a:gd name="T64" fmla="*/ 278 w 659"/>
                <a:gd name="T65" fmla="*/ 288 h 1062"/>
                <a:gd name="T66" fmla="*/ 294 w 659"/>
                <a:gd name="T67" fmla="*/ 307 h 1062"/>
                <a:gd name="T68" fmla="*/ 347 w 659"/>
                <a:gd name="T69" fmla="*/ 332 h 1062"/>
                <a:gd name="T70" fmla="*/ 358 w 659"/>
                <a:gd name="T71" fmla="*/ 412 h 1062"/>
                <a:gd name="T72" fmla="*/ 248 w 659"/>
                <a:gd name="T73" fmla="*/ 442 h 1062"/>
                <a:gd name="T74" fmla="*/ 91 w 659"/>
                <a:gd name="T75" fmla="*/ 412 h 1062"/>
                <a:gd name="T76" fmla="*/ 12 w 659"/>
                <a:gd name="T77" fmla="*/ 382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59" h="1062">
                  <a:moveTo>
                    <a:pt x="12" y="382"/>
                  </a:moveTo>
                  <a:cubicBezTo>
                    <a:pt x="14" y="384"/>
                    <a:pt x="15" y="385"/>
                    <a:pt x="15" y="385"/>
                  </a:cubicBezTo>
                  <a:cubicBezTo>
                    <a:pt x="15" y="385"/>
                    <a:pt x="15" y="385"/>
                    <a:pt x="15" y="385"/>
                  </a:cubicBezTo>
                  <a:cubicBezTo>
                    <a:pt x="25" y="391"/>
                    <a:pt x="39" y="401"/>
                    <a:pt x="84" y="422"/>
                  </a:cubicBezTo>
                  <a:cubicBezTo>
                    <a:pt x="132" y="445"/>
                    <a:pt x="194" y="452"/>
                    <a:pt x="243" y="454"/>
                  </a:cubicBezTo>
                  <a:cubicBezTo>
                    <a:pt x="291" y="456"/>
                    <a:pt x="343" y="432"/>
                    <a:pt x="369" y="439"/>
                  </a:cubicBezTo>
                  <a:cubicBezTo>
                    <a:pt x="394" y="446"/>
                    <a:pt x="408" y="465"/>
                    <a:pt x="415" y="492"/>
                  </a:cubicBezTo>
                  <a:cubicBezTo>
                    <a:pt x="422" y="519"/>
                    <a:pt x="412" y="544"/>
                    <a:pt x="392" y="560"/>
                  </a:cubicBezTo>
                  <a:cubicBezTo>
                    <a:pt x="372" y="576"/>
                    <a:pt x="222" y="585"/>
                    <a:pt x="161" y="583"/>
                  </a:cubicBezTo>
                  <a:cubicBezTo>
                    <a:pt x="101" y="581"/>
                    <a:pt x="0" y="558"/>
                    <a:pt x="16" y="568"/>
                  </a:cubicBezTo>
                  <a:cubicBezTo>
                    <a:pt x="31" y="579"/>
                    <a:pt x="100" y="587"/>
                    <a:pt x="163" y="590"/>
                  </a:cubicBezTo>
                  <a:cubicBezTo>
                    <a:pt x="226" y="593"/>
                    <a:pt x="346" y="577"/>
                    <a:pt x="360" y="586"/>
                  </a:cubicBezTo>
                  <a:cubicBezTo>
                    <a:pt x="374" y="594"/>
                    <a:pt x="380" y="608"/>
                    <a:pt x="379" y="636"/>
                  </a:cubicBezTo>
                  <a:cubicBezTo>
                    <a:pt x="378" y="663"/>
                    <a:pt x="358" y="685"/>
                    <a:pt x="320" y="700"/>
                  </a:cubicBezTo>
                  <a:cubicBezTo>
                    <a:pt x="281" y="715"/>
                    <a:pt x="124" y="732"/>
                    <a:pt x="58" y="726"/>
                  </a:cubicBezTo>
                  <a:cubicBezTo>
                    <a:pt x="55" y="726"/>
                    <a:pt x="52" y="726"/>
                    <a:pt x="48" y="725"/>
                  </a:cubicBezTo>
                  <a:cubicBezTo>
                    <a:pt x="155" y="838"/>
                    <a:pt x="486" y="1062"/>
                    <a:pt x="659" y="798"/>
                  </a:cubicBezTo>
                  <a:cubicBezTo>
                    <a:pt x="583" y="878"/>
                    <a:pt x="470" y="897"/>
                    <a:pt x="376" y="878"/>
                  </a:cubicBezTo>
                  <a:cubicBezTo>
                    <a:pt x="312" y="865"/>
                    <a:pt x="222" y="808"/>
                    <a:pt x="280" y="770"/>
                  </a:cubicBezTo>
                  <a:cubicBezTo>
                    <a:pt x="337" y="732"/>
                    <a:pt x="383" y="683"/>
                    <a:pt x="387" y="635"/>
                  </a:cubicBezTo>
                  <a:cubicBezTo>
                    <a:pt x="391" y="587"/>
                    <a:pt x="358" y="579"/>
                    <a:pt x="381" y="578"/>
                  </a:cubicBezTo>
                  <a:cubicBezTo>
                    <a:pt x="403" y="576"/>
                    <a:pt x="418" y="650"/>
                    <a:pt x="444" y="705"/>
                  </a:cubicBezTo>
                  <a:cubicBezTo>
                    <a:pt x="470" y="761"/>
                    <a:pt x="499" y="759"/>
                    <a:pt x="461" y="695"/>
                  </a:cubicBezTo>
                  <a:cubicBezTo>
                    <a:pt x="424" y="631"/>
                    <a:pt x="432" y="554"/>
                    <a:pt x="425" y="495"/>
                  </a:cubicBezTo>
                  <a:cubicBezTo>
                    <a:pt x="417" y="436"/>
                    <a:pt x="363" y="426"/>
                    <a:pt x="372" y="412"/>
                  </a:cubicBezTo>
                  <a:cubicBezTo>
                    <a:pt x="380" y="398"/>
                    <a:pt x="386" y="359"/>
                    <a:pt x="359" y="329"/>
                  </a:cubicBezTo>
                  <a:cubicBezTo>
                    <a:pt x="333" y="299"/>
                    <a:pt x="349" y="249"/>
                    <a:pt x="387" y="264"/>
                  </a:cubicBezTo>
                  <a:cubicBezTo>
                    <a:pt x="425" y="280"/>
                    <a:pt x="535" y="304"/>
                    <a:pt x="567" y="295"/>
                  </a:cubicBezTo>
                  <a:cubicBezTo>
                    <a:pt x="369" y="262"/>
                    <a:pt x="379" y="117"/>
                    <a:pt x="338" y="110"/>
                  </a:cubicBezTo>
                  <a:cubicBezTo>
                    <a:pt x="296" y="103"/>
                    <a:pt x="215" y="54"/>
                    <a:pt x="191" y="0"/>
                  </a:cubicBezTo>
                  <a:cubicBezTo>
                    <a:pt x="218" y="99"/>
                    <a:pt x="256" y="162"/>
                    <a:pt x="285" y="193"/>
                  </a:cubicBezTo>
                  <a:cubicBezTo>
                    <a:pt x="315" y="224"/>
                    <a:pt x="321" y="241"/>
                    <a:pt x="318" y="276"/>
                  </a:cubicBezTo>
                  <a:cubicBezTo>
                    <a:pt x="314" y="311"/>
                    <a:pt x="301" y="302"/>
                    <a:pt x="278" y="288"/>
                  </a:cubicBezTo>
                  <a:cubicBezTo>
                    <a:pt x="256" y="274"/>
                    <a:pt x="273" y="293"/>
                    <a:pt x="294" y="307"/>
                  </a:cubicBezTo>
                  <a:cubicBezTo>
                    <a:pt x="314" y="321"/>
                    <a:pt x="328" y="311"/>
                    <a:pt x="347" y="332"/>
                  </a:cubicBezTo>
                  <a:cubicBezTo>
                    <a:pt x="366" y="353"/>
                    <a:pt x="370" y="377"/>
                    <a:pt x="358" y="412"/>
                  </a:cubicBezTo>
                  <a:cubicBezTo>
                    <a:pt x="347" y="448"/>
                    <a:pt x="300" y="438"/>
                    <a:pt x="248" y="442"/>
                  </a:cubicBezTo>
                  <a:cubicBezTo>
                    <a:pt x="196" y="446"/>
                    <a:pt x="134" y="431"/>
                    <a:pt x="91" y="412"/>
                  </a:cubicBezTo>
                  <a:cubicBezTo>
                    <a:pt x="49" y="393"/>
                    <a:pt x="6" y="377"/>
                    <a:pt x="12" y="382"/>
                  </a:cubicBezTo>
                  <a:close/>
                </a:path>
              </a:pathLst>
            </a:custGeom>
            <a:solidFill>
              <a:srgbClr val="F1A1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ïṥḷïdé">
              <a:extLst>
                <a:ext uri="{FF2B5EF4-FFF2-40B4-BE49-F238E27FC236}">
                  <a16:creationId xmlns:a16="http://schemas.microsoft.com/office/drawing/2014/main" id="{86A848A0-6AE1-4A83-96E0-52D3148D23C3}"/>
                </a:ext>
              </a:extLst>
            </p:cNvPr>
            <p:cNvSpPr/>
            <p:nvPr/>
          </p:nvSpPr>
          <p:spPr bwMode="auto">
            <a:xfrm flipH="1">
              <a:off x="2862906" y="3782068"/>
              <a:ext cx="87806" cy="130408"/>
            </a:xfrm>
            <a:custGeom>
              <a:avLst/>
              <a:gdLst>
                <a:gd name="T0" fmla="*/ 41 w 41"/>
                <a:gd name="T1" fmla="*/ 54 h 61"/>
                <a:gd name="T2" fmla="*/ 9 w 41"/>
                <a:gd name="T3" fmla="*/ 7 h 61"/>
                <a:gd name="T4" fmla="*/ 5 w 41"/>
                <a:gd name="T5" fmla="*/ 0 h 61"/>
                <a:gd name="T6" fmla="*/ 18 w 41"/>
                <a:gd name="T7" fmla="*/ 53 h 61"/>
                <a:gd name="T8" fmla="*/ 41 w 41"/>
                <a:gd name="T9" fmla="*/ 5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1">
                  <a:moveTo>
                    <a:pt x="41" y="54"/>
                  </a:moveTo>
                  <a:cubicBezTo>
                    <a:pt x="25" y="37"/>
                    <a:pt x="14" y="21"/>
                    <a:pt x="9" y="7"/>
                  </a:cubicBezTo>
                  <a:cubicBezTo>
                    <a:pt x="8" y="4"/>
                    <a:pt x="6" y="2"/>
                    <a:pt x="5" y="0"/>
                  </a:cubicBezTo>
                  <a:cubicBezTo>
                    <a:pt x="0" y="17"/>
                    <a:pt x="7" y="39"/>
                    <a:pt x="18" y="53"/>
                  </a:cubicBezTo>
                  <a:cubicBezTo>
                    <a:pt x="24" y="61"/>
                    <a:pt x="32" y="60"/>
                    <a:pt x="41" y="54"/>
                  </a:cubicBezTo>
                  <a:close/>
                </a:path>
              </a:pathLst>
            </a:custGeom>
            <a:solidFill>
              <a:srgbClr val="FEE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îṩľïḋé">
              <a:extLst>
                <a:ext uri="{FF2B5EF4-FFF2-40B4-BE49-F238E27FC236}">
                  <a16:creationId xmlns:a16="http://schemas.microsoft.com/office/drawing/2014/main" id="{D0B1DE69-7F18-48C6-AAB4-C066C48F9AD3}"/>
                </a:ext>
              </a:extLst>
            </p:cNvPr>
            <p:cNvSpPr/>
            <p:nvPr/>
          </p:nvSpPr>
          <p:spPr bwMode="auto">
            <a:xfrm flipH="1">
              <a:off x="3254162" y="4436665"/>
              <a:ext cx="317653" cy="246752"/>
            </a:xfrm>
            <a:custGeom>
              <a:avLst/>
              <a:gdLst>
                <a:gd name="T0" fmla="*/ 9 w 147"/>
                <a:gd name="T1" fmla="*/ 0 h 115"/>
                <a:gd name="T2" fmla="*/ 14 w 147"/>
                <a:gd name="T3" fmla="*/ 7 h 115"/>
                <a:gd name="T4" fmla="*/ 0 w 147"/>
                <a:gd name="T5" fmla="*/ 10 h 115"/>
                <a:gd name="T6" fmla="*/ 99 w 147"/>
                <a:gd name="T7" fmla="*/ 94 h 115"/>
                <a:gd name="T8" fmla="*/ 147 w 147"/>
                <a:gd name="T9" fmla="*/ 44 h 115"/>
                <a:gd name="T10" fmla="*/ 108 w 147"/>
                <a:gd name="T11" fmla="*/ 51 h 115"/>
                <a:gd name="T12" fmla="*/ 14 w 147"/>
                <a:gd name="T13" fmla="*/ 3 h 115"/>
                <a:gd name="T14" fmla="*/ 9 w 147"/>
                <a:gd name="T1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7" h="115">
                  <a:moveTo>
                    <a:pt x="9" y="0"/>
                  </a:moveTo>
                  <a:cubicBezTo>
                    <a:pt x="12" y="5"/>
                    <a:pt x="14" y="7"/>
                    <a:pt x="14" y="7"/>
                  </a:cubicBezTo>
                  <a:cubicBezTo>
                    <a:pt x="14" y="7"/>
                    <a:pt x="8" y="8"/>
                    <a:pt x="0" y="10"/>
                  </a:cubicBezTo>
                  <a:cubicBezTo>
                    <a:pt x="28" y="34"/>
                    <a:pt x="69" y="74"/>
                    <a:pt x="99" y="94"/>
                  </a:cubicBezTo>
                  <a:cubicBezTo>
                    <a:pt x="131" y="115"/>
                    <a:pt x="147" y="53"/>
                    <a:pt x="147" y="44"/>
                  </a:cubicBezTo>
                  <a:cubicBezTo>
                    <a:pt x="147" y="35"/>
                    <a:pt x="136" y="48"/>
                    <a:pt x="108" y="51"/>
                  </a:cubicBezTo>
                  <a:cubicBezTo>
                    <a:pt x="80" y="54"/>
                    <a:pt x="35" y="20"/>
                    <a:pt x="14" y="3"/>
                  </a:cubicBezTo>
                  <a:cubicBezTo>
                    <a:pt x="12" y="2"/>
                    <a:pt x="11" y="1"/>
                    <a:pt x="9" y="0"/>
                  </a:cubicBezTo>
                  <a:close/>
                </a:path>
              </a:pathLst>
            </a:custGeom>
            <a:solidFill>
              <a:srgbClr val="F1A1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sḻiḓè">
              <a:extLst>
                <a:ext uri="{FF2B5EF4-FFF2-40B4-BE49-F238E27FC236}">
                  <a16:creationId xmlns:a16="http://schemas.microsoft.com/office/drawing/2014/main" id="{89AA4AA6-E644-4E13-ADC2-EBB02795FA7B}"/>
                </a:ext>
              </a:extLst>
            </p:cNvPr>
            <p:cNvSpPr/>
            <p:nvPr/>
          </p:nvSpPr>
          <p:spPr bwMode="auto">
            <a:xfrm flipH="1">
              <a:off x="2689876" y="5302213"/>
              <a:ext cx="180778" cy="190498"/>
            </a:xfrm>
            <a:custGeom>
              <a:avLst/>
              <a:gdLst>
                <a:gd name="T0" fmla="*/ 5 w 84"/>
                <a:gd name="T1" fmla="*/ 20 h 89"/>
                <a:gd name="T2" fmla="*/ 5 w 84"/>
                <a:gd name="T3" fmla="*/ 75 h 89"/>
                <a:gd name="T4" fmla="*/ 68 w 84"/>
                <a:gd name="T5" fmla="*/ 77 h 89"/>
                <a:gd name="T6" fmla="*/ 60 w 84"/>
                <a:gd name="T7" fmla="*/ 6 h 89"/>
                <a:gd name="T8" fmla="*/ 5 w 84"/>
                <a:gd name="T9" fmla="*/ 2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89">
                  <a:moveTo>
                    <a:pt x="5" y="20"/>
                  </a:moveTo>
                  <a:cubicBezTo>
                    <a:pt x="2" y="27"/>
                    <a:pt x="0" y="67"/>
                    <a:pt x="5" y="75"/>
                  </a:cubicBezTo>
                  <a:cubicBezTo>
                    <a:pt x="10" y="84"/>
                    <a:pt x="57" y="89"/>
                    <a:pt x="68" y="77"/>
                  </a:cubicBezTo>
                  <a:cubicBezTo>
                    <a:pt x="79" y="65"/>
                    <a:pt x="84" y="12"/>
                    <a:pt x="60" y="6"/>
                  </a:cubicBezTo>
                  <a:cubicBezTo>
                    <a:pt x="42" y="0"/>
                    <a:pt x="9" y="15"/>
                    <a:pt x="5" y="20"/>
                  </a:cubicBezTo>
                  <a:close/>
                </a:path>
              </a:pathLst>
            </a:custGeom>
            <a:solidFill>
              <a:srgbClr val="FEE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íšḻîḑé">
              <a:extLst>
                <a:ext uri="{FF2B5EF4-FFF2-40B4-BE49-F238E27FC236}">
                  <a16:creationId xmlns:a16="http://schemas.microsoft.com/office/drawing/2014/main" id="{35457313-31D0-433B-8997-C6FB8FB84D11}"/>
                </a:ext>
              </a:extLst>
            </p:cNvPr>
            <p:cNvSpPr/>
            <p:nvPr/>
          </p:nvSpPr>
          <p:spPr bwMode="auto">
            <a:xfrm flipH="1">
              <a:off x="3225754" y="4270458"/>
              <a:ext cx="266002" cy="273600"/>
            </a:xfrm>
            <a:custGeom>
              <a:avLst/>
              <a:gdLst>
                <a:gd name="T0" fmla="*/ 25 w 123"/>
                <a:gd name="T1" fmla="*/ 24 h 128"/>
                <a:gd name="T2" fmla="*/ 49 w 123"/>
                <a:gd name="T3" fmla="*/ 110 h 128"/>
                <a:gd name="T4" fmla="*/ 100 w 123"/>
                <a:gd name="T5" fmla="*/ 39 h 128"/>
                <a:gd name="T6" fmla="*/ 25 w 123"/>
                <a:gd name="T7" fmla="*/ 2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128">
                  <a:moveTo>
                    <a:pt x="25" y="24"/>
                  </a:moveTo>
                  <a:cubicBezTo>
                    <a:pt x="0" y="56"/>
                    <a:pt x="37" y="99"/>
                    <a:pt x="49" y="110"/>
                  </a:cubicBezTo>
                  <a:cubicBezTo>
                    <a:pt x="69" y="128"/>
                    <a:pt x="123" y="58"/>
                    <a:pt x="100" y="39"/>
                  </a:cubicBezTo>
                  <a:cubicBezTo>
                    <a:pt x="82" y="25"/>
                    <a:pt x="43" y="0"/>
                    <a:pt x="25" y="24"/>
                  </a:cubicBezTo>
                  <a:close/>
                </a:path>
              </a:pathLst>
            </a:custGeom>
            <a:solidFill>
              <a:srgbClr val="FEE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iṩ1îḍé">
              <a:extLst>
                <a:ext uri="{FF2B5EF4-FFF2-40B4-BE49-F238E27FC236}">
                  <a16:creationId xmlns:a16="http://schemas.microsoft.com/office/drawing/2014/main" id="{79AADE26-20E8-4748-9DD1-9C7EBCE00AF1}"/>
                </a:ext>
              </a:extLst>
            </p:cNvPr>
            <p:cNvSpPr/>
            <p:nvPr/>
          </p:nvSpPr>
          <p:spPr bwMode="auto">
            <a:xfrm flipH="1">
              <a:off x="2710537" y="4749899"/>
              <a:ext cx="245341" cy="230132"/>
            </a:xfrm>
            <a:custGeom>
              <a:avLst/>
              <a:gdLst>
                <a:gd name="T0" fmla="*/ 16 w 113"/>
                <a:gd name="T1" fmla="*/ 90 h 108"/>
                <a:gd name="T2" fmla="*/ 83 w 113"/>
                <a:gd name="T3" fmla="*/ 103 h 108"/>
                <a:gd name="T4" fmla="*/ 82 w 113"/>
                <a:gd name="T5" fmla="*/ 7 h 108"/>
                <a:gd name="T6" fmla="*/ 16 w 113"/>
                <a:gd name="T7" fmla="*/ 24 h 108"/>
                <a:gd name="T8" fmla="*/ 16 w 113"/>
                <a:gd name="T9" fmla="*/ 9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108">
                  <a:moveTo>
                    <a:pt x="16" y="90"/>
                  </a:moveTo>
                  <a:cubicBezTo>
                    <a:pt x="35" y="103"/>
                    <a:pt x="67" y="108"/>
                    <a:pt x="83" y="103"/>
                  </a:cubicBezTo>
                  <a:cubicBezTo>
                    <a:pt x="106" y="97"/>
                    <a:pt x="113" y="21"/>
                    <a:pt x="82" y="7"/>
                  </a:cubicBezTo>
                  <a:cubicBezTo>
                    <a:pt x="64" y="0"/>
                    <a:pt x="32" y="8"/>
                    <a:pt x="16" y="24"/>
                  </a:cubicBezTo>
                  <a:cubicBezTo>
                    <a:pt x="0" y="39"/>
                    <a:pt x="1" y="79"/>
                    <a:pt x="16" y="90"/>
                  </a:cubicBezTo>
                  <a:close/>
                </a:path>
              </a:pathLst>
            </a:custGeom>
            <a:solidFill>
              <a:srgbClr val="FEE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ïSliďé">
              <a:extLst>
                <a:ext uri="{FF2B5EF4-FFF2-40B4-BE49-F238E27FC236}">
                  <a16:creationId xmlns:a16="http://schemas.microsoft.com/office/drawing/2014/main" id="{E622D32B-023B-4DD7-9179-64B0F9FA9CFD}"/>
                </a:ext>
              </a:extLst>
            </p:cNvPr>
            <p:cNvSpPr/>
            <p:nvPr/>
          </p:nvSpPr>
          <p:spPr bwMode="auto">
            <a:xfrm flipH="1">
              <a:off x="2591740" y="5010714"/>
              <a:ext cx="223390" cy="244194"/>
            </a:xfrm>
            <a:custGeom>
              <a:avLst/>
              <a:gdLst>
                <a:gd name="T0" fmla="*/ 7 w 103"/>
                <a:gd name="T1" fmla="*/ 25 h 114"/>
                <a:gd name="T2" fmla="*/ 65 w 103"/>
                <a:gd name="T3" fmla="*/ 6 h 114"/>
                <a:gd name="T4" fmla="*/ 75 w 103"/>
                <a:gd name="T5" fmla="*/ 94 h 114"/>
                <a:gd name="T6" fmla="*/ 11 w 103"/>
                <a:gd name="T7" fmla="*/ 97 h 114"/>
                <a:gd name="T8" fmla="*/ 7 w 103"/>
                <a:gd name="T9" fmla="*/ 25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14">
                  <a:moveTo>
                    <a:pt x="7" y="25"/>
                  </a:moveTo>
                  <a:cubicBezTo>
                    <a:pt x="14" y="15"/>
                    <a:pt x="47" y="0"/>
                    <a:pt x="65" y="6"/>
                  </a:cubicBezTo>
                  <a:cubicBezTo>
                    <a:pt x="83" y="12"/>
                    <a:pt x="103" y="73"/>
                    <a:pt x="75" y="94"/>
                  </a:cubicBezTo>
                  <a:cubicBezTo>
                    <a:pt x="47" y="114"/>
                    <a:pt x="18" y="111"/>
                    <a:pt x="11" y="97"/>
                  </a:cubicBezTo>
                  <a:cubicBezTo>
                    <a:pt x="4" y="82"/>
                    <a:pt x="0" y="34"/>
                    <a:pt x="7" y="25"/>
                  </a:cubicBezTo>
                  <a:close/>
                </a:path>
              </a:pathLst>
            </a:custGeom>
            <a:solidFill>
              <a:srgbClr val="FEE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ïšľiďè">
              <a:extLst>
                <a:ext uri="{FF2B5EF4-FFF2-40B4-BE49-F238E27FC236}">
                  <a16:creationId xmlns:a16="http://schemas.microsoft.com/office/drawing/2014/main" id="{DEF7950A-48AE-4BFD-8EC0-66EEC702D45A}"/>
                </a:ext>
              </a:extLst>
            </p:cNvPr>
            <p:cNvSpPr/>
            <p:nvPr/>
          </p:nvSpPr>
          <p:spPr bwMode="auto">
            <a:xfrm flipH="1">
              <a:off x="1726588" y="5013270"/>
              <a:ext cx="495849" cy="669938"/>
            </a:xfrm>
            <a:custGeom>
              <a:avLst/>
              <a:gdLst>
                <a:gd name="T0" fmla="*/ 175 w 229"/>
                <a:gd name="T1" fmla="*/ 0 h 313"/>
                <a:gd name="T2" fmla="*/ 0 w 229"/>
                <a:gd name="T3" fmla="*/ 274 h 313"/>
                <a:gd name="T4" fmla="*/ 175 w 229"/>
                <a:gd name="T5" fmla="*/ 0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9" h="313">
                  <a:moveTo>
                    <a:pt x="175" y="0"/>
                  </a:moveTo>
                  <a:cubicBezTo>
                    <a:pt x="229" y="107"/>
                    <a:pt x="93" y="313"/>
                    <a:pt x="0" y="274"/>
                  </a:cubicBezTo>
                  <a:cubicBezTo>
                    <a:pt x="98" y="224"/>
                    <a:pt x="178" y="112"/>
                    <a:pt x="175" y="0"/>
                  </a:cubicBezTo>
                  <a:close/>
                </a:path>
              </a:pathLst>
            </a:custGeom>
            <a:solidFill>
              <a:srgbClr val="F1A1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ïŝľíde">
              <a:extLst>
                <a:ext uri="{FF2B5EF4-FFF2-40B4-BE49-F238E27FC236}">
                  <a16:creationId xmlns:a16="http://schemas.microsoft.com/office/drawing/2014/main" id="{FAC0FF18-14F5-46AB-BC4C-5F6E9442D500}"/>
                </a:ext>
              </a:extLst>
            </p:cNvPr>
            <p:cNvSpPr/>
            <p:nvPr/>
          </p:nvSpPr>
          <p:spPr bwMode="auto">
            <a:xfrm flipH="1">
              <a:off x="9197" y="5254908"/>
              <a:ext cx="2251977" cy="1626261"/>
            </a:xfrm>
            <a:custGeom>
              <a:avLst/>
              <a:gdLst>
                <a:gd name="T0" fmla="*/ 0 w 1744"/>
                <a:gd name="T1" fmla="*/ 780 h 1272"/>
                <a:gd name="T2" fmla="*/ 581 w 1744"/>
                <a:gd name="T3" fmla="*/ 0 h 1272"/>
                <a:gd name="T4" fmla="*/ 1744 w 1744"/>
                <a:gd name="T5" fmla="*/ 869 h 1272"/>
                <a:gd name="T6" fmla="*/ 1744 w 1744"/>
                <a:gd name="T7" fmla="*/ 1272 h 1272"/>
                <a:gd name="T8" fmla="*/ 662 w 1744"/>
                <a:gd name="T9" fmla="*/ 1272 h 1272"/>
                <a:gd name="T10" fmla="*/ 0 w 1744"/>
                <a:gd name="T11" fmla="*/ 780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44" h="1272">
                  <a:moveTo>
                    <a:pt x="0" y="780"/>
                  </a:moveTo>
                  <a:lnTo>
                    <a:pt x="581" y="0"/>
                  </a:lnTo>
                  <a:lnTo>
                    <a:pt x="1744" y="869"/>
                  </a:lnTo>
                  <a:lnTo>
                    <a:pt x="1744" y="1272"/>
                  </a:lnTo>
                  <a:lnTo>
                    <a:pt x="662" y="1272"/>
                  </a:lnTo>
                  <a:lnTo>
                    <a:pt x="0" y="78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8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8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68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32" grpId="0" uiExpand="1" build="p" bldLvl="5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>
            <a:extLst>
              <a:ext uri="{FF2B5EF4-FFF2-40B4-BE49-F238E27FC236}">
                <a16:creationId xmlns:a16="http://schemas.microsoft.com/office/drawing/2014/main" id="{571D2B3F-6343-42D1-AB81-915FED17865F}"/>
              </a:ext>
            </a:extLst>
          </p:cNvPr>
          <p:cNvGrpSpPr>
            <a:grpSpLocks/>
          </p:cNvGrpSpPr>
          <p:nvPr/>
        </p:nvGrpSpPr>
        <p:grpSpPr bwMode="auto">
          <a:xfrm>
            <a:off x="1974083" y="1765690"/>
            <a:ext cx="8258176" cy="4084638"/>
            <a:chOff x="390" y="612"/>
            <a:chExt cx="5202" cy="2573"/>
          </a:xfrm>
        </p:grpSpPr>
        <p:grpSp>
          <p:nvGrpSpPr>
            <p:cNvPr id="54" name="Group 3">
              <a:extLst>
                <a:ext uri="{FF2B5EF4-FFF2-40B4-BE49-F238E27FC236}">
                  <a16:creationId xmlns:a16="http://schemas.microsoft.com/office/drawing/2014/main" id="{77EA03C3-1681-424F-99F8-AACB10395C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" y="612"/>
              <a:ext cx="5202" cy="2573"/>
              <a:chOff x="390" y="612"/>
              <a:chExt cx="5202" cy="2573"/>
            </a:xfrm>
          </p:grpSpPr>
          <p:sp>
            <p:nvSpPr>
              <p:cNvPr id="61" name="Rectangle 4">
                <a:extLst>
                  <a:ext uri="{FF2B5EF4-FFF2-40B4-BE49-F238E27FC236}">
                    <a16:creationId xmlns:a16="http://schemas.microsoft.com/office/drawing/2014/main" id="{5C03C1AA-A084-490D-8E26-6BB0CFE8A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" y="618"/>
                <a:ext cx="5202" cy="2567"/>
              </a:xfrm>
              <a:prstGeom prst="rect">
                <a:avLst/>
              </a:prstGeom>
              <a:noFill/>
              <a:ln w="31750">
                <a:solidFill>
                  <a:srgbClr val="006600"/>
                </a:solidFill>
                <a:miter lim="800000"/>
                <a:headEnd/>
                <a:tailEnd/>
              </a:ln>
              <a:effectLst/>
            </p:spPr>
            <p:txBody>
              <a:bodyPr wrap="squar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2" name="Line 5">
                <a:extLst>
                  <a:ext uri="{FF2B5EF4-FFF2-40B4-BE49-F238E27FC236}">
                    <a16:creationId xmlns:a16="http://schemas.microsoft.com/office/drawing/2014/main" id="{48989208-6AED-4371-A2A1-8674FC8C8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32"/>
                <a:ext cx="5184" cy="0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3" name="Line 6">
                <a:extLst>
                  <a:ext uri="{FF2B5EF4-FFF2-40B4-BE49-F238E27FC236}">
                    <a16:creationId xmlns:a16="http://schemas.microsoft.com/office/drawing/2014/main" id="{15515282-1E13-4006-BEE6-6D5FB7CB28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61"/>
                <a:ext cx="5184" cy="0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Line 7">
                <a:extLst>
                  <a:ext uri="{FF2B5EF4-FFF2-40B4-BE49-F238E27FC236}">
                    <a16:creationId xmlns:a16="http://schemas.microsoft.com/office/drawing/2014/main" id="{DE1B913A-1233-4FB8-AA0B-338B6BC30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91"/>
                <a:ext cx="5184" cy="0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" name="Line 8">
                <a:extLst>
                  <a:ext uri="{FF2B5EF4-FFF2-40B4-BE49-F238E27FC236}">
                    <a16:creationId xmlns:a16="http://schemas.microsoft.com/office/drawing/2014/main" id="{10B7F8F3-1894-4465-B8A8-363907C7F7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20"/>
                <a:ext cx="5184" cy="0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" name="Line 9">
                <a:extLst>
                  <a:ext uri="{FF2B5EF4-FFF2-40B4-BE49-F238E27FC236}">
                    <a16:creationId xmlns:a16="http://schemas.microsoft.com/office/drawing/2014/main" id="{94578941-BFB7-467D-B0B1-F180E26EB5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50"/>
                <a:ext cx="5184" cy="0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" name="Line 10">
                <a:extLst>
                  <a:ext uri="{FF2B5EF4-FFF2-40B4-BE49-F238E27FC236}">
                    <a16:creationId xmlns:a16="http://schemas.microsoft.com/office/drawing/2014/main" id="{267F2957-21E4-4604-88D4-C14C0DAC3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0" y="612"/>
                <a:ext cx="0" cy="2556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Line 11">
                <a:extLst>
                  <a:ext uri="{FF2B5EF4-FFF2-40B4-BE49-F238E27FC236}">
                    <a16:creationId xmlns:a16="http://schemas.microsoft.com/office/drawing/2014/main" id="{84908374-0064-4056-879B-F7E37F5EC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6" y="624"/>
                <a:ext cx="0" cy="2556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" name="Line 12">
                <a:extLst>
                  <a:ext uri="{FF2B5EF4-FFF2-40B4-BE49-F238E27FC236}">
                    <a16:creationId xmlns:a16="http://schemas.microsoft.com/office/drawing/2014/main" id="{A42E4FC1-F964-45EE-8F29-E5B0FE629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0" y="624"/>
                <a:ext cx="0" cy="2556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Line 13">
                <a:extLst>
                  <a:ext uri="{FF2B5EF4-FFF2-40B4-BE49-F238E27FC236}">
                    <a16:creationId xmlns:a16="http://schemas.microsoft.com/office/drawing/2014/main" id="{014DF453-0DFA-4F3F-95B8-4E05BD4C2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624"/>
                <a:ext cx="0" cy="2556"/>
              </a:xfrm>
              <a:prstGeom prst="line">
                <a:avLst/>
              </a:prstGeom>
              <a:noFill/>
              <a:ln w="3175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5" name="Text Box 14">
              <a:extLst>
                <a:ext uri="{FF2B5EF4-FFF2-40B4-BE49-F238E27FC236}">
                  <a16:creationId xmlns:a16="http://schemas.microsoft.com/office/drawing/2014/main" id="{361AC9CE-64A4-44B8-AA0A-AFD34545A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673"/>
              <a:ext cx="50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rgbClr val="C01920"/>
                  </a:solidFill>
                  <a:latin typeface="Arial" pitchFamily="34" charset="0"/>
                  <a:ea typeface="隶书" pitchFamily="49" charset="-122"/>
                </a:rPr>
                <a:t>数制</a:t>
              </a:r>
            </a:p>
          </p:txBody>
        </p:sp>
        <p:sp>
          <p:nvSpPr>
            <p:cNvPr id="56" name="Text Box 15">
              <a:extLst>
                <a:ext uri="{FF2B5EF4-FFF2-40B4-BE49-F238E27FC236}">
                  <a16:creationId xmlns:a16="http://schemas.microsoft.com/office/drawing/2014/main" id="{823AF7F7-11D5-49F4-8714-B447558B8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1527"/>
              <a:ext cx="308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C01920"/>
                  </a:solidFill>
                  <a:latin typeface="Arial" pitchFamily="34" charset="0"/>
                  <a:ea typeface="隶书" pitchFamily="49" charset="-122"/>
                </a:rPr>
                <a:t>基</a:t>
              </a:r>
            </a:p>
          </p:txBody>
        </p:sp>
        <p:sp>
          <p:nvSpPr>
            <p:cNvPr id="57" name="Text Box 16">
              <a:extLst>
                <a:ext uri="{FF2B5EF4-FFF2-40B4-BE49-F238E27FC236}">
                  <a16:creationId xmlns:a16="http://schemas.microsoft.com/office/drawing/2014/main" id="{0EB66F34-CEFE-488E-B034-D0B0F3FDC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1954"/>
              <a:ext cx="308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C01920"/>
                  </a:solidFill>
                  <a:latin typeface="Arial" pitchFamily="34" charset="0"/>
                  <a:ea typeface="隶书" pitchFamily="49" charset="-122"/>
                </a:rPr>
                <a:t>权</a:t>
              </a:r>
            </a:p>
          </p:txBody>
        </p:sp>
        <p:sp>
          <p:nvSpPr>
            <p:cNvPr id="58" name="Text Box 17">
              <a:extLst>
                <a:ext uri="{FF2B5EF4-FFF2-40B4-BE49-F238E27FC236}">
                  <a16:creationId xmlns:a16="http://schemas.microsoft.com/office/drawing/2014/main" id="{E6DF3D29-017B-48A0-B4BD-4D7E99A72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2381"/>
              <a:ext cx="50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C01920"/>
                  </a:solidFill>
                  <a:latin typeface="Arial" pitchFamily="34" charset="0"/>
                  <a:ea typeface="隶书" pitchFamily="49" charset="-122"/>
                </a:rPr>
                <a:t>表示</a:t>
              </a:r>
            </a:p>
          </p:txBody>
        </p:sp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3DB3E829-E948-45C9-8EF8-A91BC48D8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1100"/>
              <a:ext cx="50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C01920"/>
                  </a:solidFill>
                  <a:latin typeface="Arial" pitchFamily="34" charset="0"/>
                  <a:ea typeface="隶书" pitchFamily="49" charset="-122"/>
                </a:rPr>
                <a:t>数码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94551EB6-47C3-4A91-8E99-3CF6E4C29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2809"/>
              <a:ext cx="50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solidFill>
                    <a:srgbClr val="C01920"/>
                  </a:solidFill>
                  <a:latin typeface="Arial" pitchFamily="34" charset="0"/>
                  <a:ea typeface="隶书" pitchFamily="49" charset="-122"/>
                </a:rPr>
                <a:t>特点</a:t>
              </a:r>
            </a:p>
          </p:txBody>
        </p:sp>
      </p:grpSp>
      <p:grpSp>
        <p:nvGrpSpPr>
          <p:cNvPr id="71" name="Group 20">
            <a:extLst>
              <a:ext uri="{FF2B5EF4-FFF2-40B4-BE49-F238E27FC236}">
                <a16:creationId xmlns:a16="http://schemas.microsoft.com/office/drawing/2014/main" id="{1C73A2B6-86FE-4AD8-8B15-0FE647034E74}"/>
              </a:ext>
            </a:extLst>
          </p:cNvPr>
          <p:cNvGrpSpPr>
            <a:grpSpLocks/>
          </p:cNvGrpSpPr>
          <p:nvPr/>
        </p:nvGrpSpPr>
        <p:grpSpPr bwMode="auto">
          <a:xfrm>
            <a:off x="3158357" y="1968891"/>
            <a:ext cx="1814512" cy="3873500"/>
            <a:chOff x="1143" y="673"/>
            <a:chExt cx="1143" cy="2440"/>
          </a:xfrm>
        </p:grpSpPr>
        <p:sp>
          <p:nvSpPr>
            <p:cNvPr id="72" name="Text Box 21">
              <a:extLst>
                <a:ext uri="{FF2B5EF4-FFF2-40B4-BE49-F238E27FC236}">
                  <a16:creationId xmlns:a16="http://schemas.microsoft.com/office/drawing/2014/main" id="{4F06E8CE-5ECA-4DD2-8897-274234D8A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" y="1995"/>
              <a:ext cx="1143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1600" dirty="0">
                  <a:latin typeface="隶书" pitchFamily="49" charset="-122"/>
                  <a:ea typeface="隶书" pitchFamily="49" charset="-122"/>
                </a:rPr>
                <a:t>10</a:t>
              </a:r>
              <a:r>
                <a:rPr lang="en-US" altLang="zh-CN" sz="1600" dirty="0">
                  <a:sym typeface="Symbol" pitchFamily="18" charset="2"/>
                </a:rPr>
                <a:t>º</a:t>
              </a:r>
              <a:r>
                <a:rPr lang="zh-CN" altLang="en-US" sz="1600" dirty="0">
                  <a:sym typeface="Symbol" pitchFamily="18" charset="2"/>
                </a:rPr>
                <a:t>，</a:t>
              </a:r>
              <a:r>
                <a:rPr lang="en-US" altLang="zh-CN" sz="1600" dirty="0">
                  <a:sym typeface="Symbol" pitchFamily="18" charset="2"/>
                </a:rPr>
                <a:t>10¹</a:t>
              </a:r>
              <a:r>
                <a:rPr lang="zh-CN" altLang="en-US" sz="1600" dirty="0">
                  <a:sym typeface="Symbol" pitchFamily="18" charset="2"/>
                </a:rPr>
                <a:t>，</a:t>
              </a:r>
              <a:r>
                <a:rPr lang="en-US" altLang="zh-CN" sz="1600" dirty="0">
                  <a:sym typeface="Symbol" pitchFamily="18" charset="2"/>
                </a:rPr>
                <a:t>10²</a:t>
              </a:r>
              <a:r>
                <a:rPr lang="zh-CN" altLang="en-US" sz="1600" dirty="0">
                  <a:sym typeface="Symbol" pitchFamily="18" charset="2"/>
                </a:rPr>
                <a:t>，</a:t>
              </a:r>
              <a:r>
                <a:rPr lang="en-US" altLang="zh-CN" sz="1600" dirty="0">
                  <a:sym typeface="Symbol" pitchFamily="18" charset="2"/>
                </a:rPr>
                <a:t>…</a:t>
              </a:r>
              <a:endParaRPr lang="en-US" altLang="zh-CN" dirty="0">
                <a:sym typeface="Symbol" pitchFamily="18" charset="2"/>
              </a:endParaRPr>
            </a:p>
          </p:txBody>
        </p:sp>
        <p:grpSp>
          <p:nvGrpSpPr>
            <p:cNvPr id="73" name="Group 22">
              <a:extLst>
                <a:ext uri="{FF2B5EF4-FFF2-40B4-BE49-F238E27FC236}">
                  <a16:creationId xmlns:a16="http://schemas.microsoft.com/office/drawing/2014/main" id="{B984CA2A-6C4B-489F-9BD7-3CFD78C0E6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3" y="673"/>
              <a:ext cx="896" cy="2440"/>
              <a:chOff x="1203" y="673"/>
              <a:chExt cx="896" cy="2440"/>
            </a:xfrm>
          </p:grpSpPr>
          <p:sp>
            <p:nvSpPr>
              <p:cNvPr id="74" name="Text Box 23">
                <a:extLst>
                  <a:ext uri="{FF2B5EF4-FFF2-40B4-BE49-F238E27FC236}">
                    <a16:creationId xmlns:a16="http://schemas.microsoft.com/office/drawing/2014/main" id="{A6E3A4A6-07FA-407A-8806-27391E67E6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9" y="673"/>
                <a:ext cx="890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 eaLnBrk="0" hangingPunct="0"/>
                <a:r>
                  <a:rPr lang="zh-CN" altLang="en-US" dirty="0">
                    <a:solidFill>
                      <a:srgbClr val="002060"/>
                    </a:solidFill>
                    <a:latin typeface="Arial" pitchFamily="34" charset="0"/>
                    <a:ea typeface="隶书" pitchFamily="49" charset="-122"/>
                  </a:rPr>
                  <a:t>十进制数</a:t>
                </a:r>
              </a:p>
            </p:txBody>
          </p:sp>
          <p:sp>
            <p:nvSpPr>
              <p:cNvPr id="75" name="Text Box 24">
                <a:extLst>
                  <a:ext uri="{FF2B5EF4-FFF2-40B4-BE49-F238E27FC236}">
                    <a16:creationId xmlns:a16="http://schemas.microsoft.com/office/drawing/2014/main" id="{4A2DB632-947D-4544-9EE8-8F69E9127F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3" y="1118"/>
                <a:ext cx="413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 eaLnBrk="0" hangingPunct="0"/>
                <a:r>
                  <a:rPr lang="en-US" altLang="zh-CN" dirty="0"/>
                  <a:t>0~9</a:t>
                </a:r>
              </a:p>
            </p:txBody>
          </p:sp>
          <p:sp>
            <p:nvSpPr>
              <p:cNvPr id="76" name="Text Box 25">
                <a:extLst>
                  <a:ext uri="{FF2B5EF4-FFF2-40B4-BE49-F238E27FC236}">
                    <a16:creationId xmlns:a16="http://schemas.microsoft.com/office/drawing/2014/main" id="{91C40BC8-88D9-4B36-8E23-CFB84552A0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7" y="1561"/>
                <a:ext cx="331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 eaLnBrk="0" hangingPunct="0"/>
                <a:r>
                  <a:rPr lang="en-US" altLang="zh-CN" dirty="0">
                    <a:latin typeface="Arial" pitchFamily="34" charset="0"/>
                    <a:ea typeface="隶书" pitchFamily="49" charset="-122"/>
                  </a:rPr>
                  <a:t>10</a:t>
                </a:r>
              </a:p>
            </p:txBody>
          </p:sp>
          <p:sp>
            <p:nvSpPr>
              <p:cNvPr id="77" name="Text Box 26">
                <a:extLst>
                  <a:ext uri="{FF2B5EF4-FFF2-40B4-BE49-F238E27FC236}">
                    <a16:creationId xmlns:a16="http://schemas.microsoft.com/office/drawing/2014/main" id="{B72193FF-4515-4FB1-AD3D-CB12EC772C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3" y="2821"/>
                <a:ext cx="890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 eaLnBrk="0" hangingPunct="0"/>
                <a:r>
                  <a:rPr lang="zh-CN" altLang="en-US" dirty="0">
                    <a:ea typeface="隶书" pitchFamily="49" charset="-122"/>
                    <a:sym typeface="Symbol" pitchFamily="18" charset="2"/>
                  </a:rPr>
                  <a:t>逢十进一</a:t>
                </a:r>
                <a:endParaRPr lang="zh-CN" altLang="en-US" dirty="0">
                  <a:sym typeface="Symbol" pitchFamily="18" charset="2"/>
                </a:endParaRPr>
              </a:p>
            </p:txBody>
          </p:sp>
        </p:grpSp>
      </p:grpSp>
      <p:grpSp>
        <p:nvGrpSpPr>
          <p:cNvPr id="78" name="Group 27">
            <a:extLst>
              <a:ext uri="{FF2B5EF4-FFF2-40B4-BE49-F238E27FC236}">
                <a16:creationId xmlns:a16="http://schemas.microsoft.com/office/drawing/2014/main" id="{DB2D0310-58FF-416E-B53B-F0B01F92182D}"/>
              </a:ext>
            </a:extLst>
          </p:cNvPr>
          <p:cNvGrpSpPr>
            <a:grpSpLocks/>
          </p:cNvGrpSpPr>
          <p:nvPr/>
        </p:nvGrpSpPr>
        <p:grpSpPr bwMode="auto">
          <a:xfrm>
            <a:off x="4917307" y="1968891"/>
            <a:ext cx="1539875" cy="3873500"/>
            <a:chOff x="2251" y="673"/>
            <a:chExt cx="970" cy="2440"/>
          </a:xfrm>
        </p:grpSpPr>
        <p:sp>
          <p:nvSpPr>
            <p:cNvPr id="79" name="Text Box 28">
              <a:extLst>
                <a:ext uri="{FF2B5EF4-FFF2-40B4-BE49-F238E27FC236}">
                  <a16:creationId xmlns:a16="http://schemas.microsoft.com/office/drawing/2014/main" id="{4A2CF9EC-FB17-42A2-8283-34BF47751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1" y="673"/>
              <a:ext cx="890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rgbClr val="002060"/>
                  </a:solidFill>
                  <a:latin typeface="Arial" pitchFamily="34" charset="0"/>
                  <a:ea typeface="隶书" pitchFamily="49" charset="-122"/>
                </a:rPr>
                <a:t>二进制数</a:t>
              </a:r>
            </a:p>
          </p:txBody>
        </p:sp>
        <p:sp>
          <p:nvSpPr>
            <p:cNvPr id="80" name="Text Box 29">
              <a:extLst>
                <a:ext uri="{FF2B5EF4-FFF2-40B4-BE49-F238E27FC236}">
                  <a16:creationId xmlns:a16="http://schemas.microsoft.com/office/drawing/2014/main" id="{E1F5FF8F-8C95-4B43-A884-0CEBE4960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" y="1118"/>
              <a:ext cx="413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/>
                <a:t>0~1</a:t>
              </a:r>
            </a:p>
          </p:txBody>
        </p:sp>
        <p:sp>
          <p:nvSpPr>
            <p:cNvPr id="81" name="Text Box 30">
              <a:extLst>
                <a:ext uri="{FF2B5EF4-FFF2-40B4-BE49-F238E27FC236}">
                  <a16:creationId xmlns:a16="http://schemas.microsoft.com/office/drawing/2014/main" id="{FFB913BF-0D4A-4EDE-B44E-B6EEBE368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5" y="1561"/>
              <a:ext cx="223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>
                  <a:latin typeface="Arial" pitchFamily="34" charset="0"/>
                  <a:ea typeface="隶书" pitchFamily="49" charset="-122"/>
                </a:rPr>
                <a:t>2</a:t>
              </a:r>
            </a:p>
          </p:txBody>
        </p:sp>
        <p:sp>
          <p:nvSpPr>
            <p:cNvPr id="82" name="Text Box 31">
              <a:extLst>
                <a:ext uri="{FF2B5EF4-FFF2-40B4-BE49-F238E27FC236}">
                  <a16:creationId xmlns:a16="http://schemas.microsoft.com/office/drawing/2014/main" id="{F5BD9868-D087-48E6-97F3-9EE869FAE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1" y="1995"/>
              <a:ext cx="949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1600">
                  <a:latin typeface="隶书" pitchFamily="49" charset="-122"/>
                  <a:ea typeface="隶书" pitchFamily="49" charset="-122"/>
                </a:rPr>
                <a:t>2</a:t>
              </a:r>
              <a:r>
                <a:rPr lang="en-US" altLang="zh-CN" sz="1600">
                  <a:sym typeface="Symbol" pitchFamily="18" charset="2"/>
                </a:rPr>
                <a:t>º</a:t>
              </a:r>
              <a:r>
                <a:rPr lang="zh-CN" altLang="en-US" sz="1600">
                  <a:sym typeface="Symbol" pitchFamily="18" charset="2"/>
                </a:rPr>
                <a:t>，</a:t>
              </a:r>
              <a:r>
                <a:rPr lang="en-US" altLang="zh-CN" sz="1600">
                  <a:sym typeface="Symbol" pitchFamily="18" charset="2"/>
                </a:rPr>
                <a:t>2¹</a:t>
              </a:r>
              <a:r>
                <a:rPr lang="zh-CN" altLang="en-US" sz="1600">
                  <a:sym typeface="Symbol" pitchFamily="18" charset="2"/>
                </a:rPr>
                <a:t>，</a:t>
              </a:r>
              <a:r>
                <a:rPr lang="en-US" altLang="zh-CN" sz="1600">
                  <a:sym typeface="Symbol" pitchFamily="18" charset="2"/>
                </a:rPr>
                <a:t>2²</a:t>
              </a:r>
              <a:r>
                <a:rPr lang="zh-CN" altLang="en-US" sz="1600">
                  <a:sym typeface="Symbol" pitchFamily="18" charset="2"/>
                </a:rPr>
                <a:t>，</a:t>
              </a:r>
              <a:r>
                <a:rPr lang="en-US" altLang="zh-CN" sz="1600">
                  <a:sym typeface="Symbol" pitchFamily="18" charset="2"/>
                </a:rPr>
                <a:t>…</a:t>
              </a:r>
              <a:endParaRPr lang="en-US" altLang="zh-CN">
                <a:sym typeface="Symbol" pitchFamily="18" charset="2"/>
              </a:endParaRPr>
            </a:p>
          </p:txBody>
        </p:sp>
        <p:sp>
          <p:nvSpPr>
            <p:cNvPr id="83" name="Text Box 32">
              <a:extLst>
                <a:ext uri="{FF2B5EF4-FFF2-40B4-BE49-F238E27FC236}">
                  <a16:creationId xmlns:a16="http://schemas.microsoft.com/office/drawing/2014/main" id="{B08E2A50-C7A6-4A97-B1BE-C63B6A813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" y="2821"/>
              <a:ext cx="890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ea typeface="隶书" pitchFamily="49" charset="-122"/>
                  <a:sym typeface="Symbol" pitchFamily="18" charset="2"/>
                </a:rPr>
                <a:t>逢二进一</a:t>
              </a:r>
              <a:endParaRPr lang="zh-CN" altLang="en-US">
                <a:sym typeface="Symbol" pitchFamily="18" charset="2"/>
              </a:endParaRPr>
            </a:p>
          </p:txBody>
        </p:sp>
      </p:grpSp>
      <p:grpSp>
        <p:nvGrpSpPr>
          <p:cNvPr id="84" name="Group 33">
            <a:extLst>
              <a:ext uri="{FF2B5EF4-FFF2-40B4-BE49-F238E27FC236}">
                <a16:creationId xmlns:a16="http://schemas.microsoft.com/office/drawing/2014/main" id="{BA17BE95-1290-4050-A6F7-894E49648B31}"/>
              </a:ext>
            </a:extLst>
          </p:cNvPr>
          <p:cNvGrpSpPr>
            <a:grpSpLocks/>
          </p:cNvGrpSpPr>
          <p:nvPr/>
        </p:nvGrpSpPr>
        <p:grpSpPr bwMode="auto">
          <a:xfrm>
            <a:off x="6676257" y="1968891"/>
            <a:ext cx="1562100" cy="3873500"/>
            <a:chOff x="3359" y="673"/>
            <a:chExt cx="984" cy="2440"/>
          </a:xfrm>
        </p:grpSpPr>
        <p:sp>
          <p:nvSpPr>
            <p:cNvPr id="85" name="Text Box 34">
              <a:extLst>
                <a:ext uri="{FF2B5EF4-FFF2-40B4-BE49-F238E27FC236}">
                  <a16:creationId xmlns:a16="http://schemas.microsoft.com/office/drawing/2014/main" id="{B7930298-E4A3-4B43-B645-2534F0672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" y="673"/>
              <a:ext cx="890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rgbClr val="002060"/>
                  </a:solidFill>
                  <a:latin typeface="Arial" pitchFamily="34" charset="0"/>
                  <a:ea typeface="隶书" pitchFamily="49" charset="-122"/>
                </a:rPr>
                <a:t>八进制数</a:t>
              </a:r>
            </a:p>
          </p:txBody>
        </p:sp>
        <p:sp>
          <p:nvSpPr>
            <p:cNvPr id="86" name="Text Box 35">
              <a:extLst>
                <a:ext uri="{FF2B5EF4-FFF2-40B4-BE49-F238E27FC236}">
                  <a16:creationId xmlns:a16="http://schemas.microsoft.com/office/drawing/2014/main" id="{1BC36046-57CC-409B-BD00-8D2B21B0A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7" y="1118"/>
              <a:ext cx="413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/>
                <a:t>0~7</a:t>
              </a:r>
            </a:p>
          </p:txBody>
        </p:sp>
        <p:sp>
          <p:nvSpPr>
            <p:cNvPr id="87" name="Text Box 36">
              <a:extLst>
                <a:ext uri="{FF2B5EF4-FFF2-40B4-BE49-F238E27FC236}">
                  <a16:creationId xmlns:a16="http://schemas.microsoft.com/office/drawing/2014/main" id="{B46DAE7E-C0D4-43F5-8F0A-6FE44308B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3" y="1561"/>
              <a:ext cx="223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>
                  <a:latin typeface="Arial" pitchFamily="34" charset="0"/>
                  <a:ea typeface="隶书" pitchFamily="49" charset="-122"/>
                </a:rPr>
                <a:t>8</a:t>
              </a:r>
            </a:p>
          </p:txBody>
        </p:sp>
        <p:sp>
          <p:nvSpPr>
            <p:cNvPr id="88" name="Text Box 37">
              <a:extLst>
                <a:ext uri="{FF2B5EF4-FFF2-40B4-BE49-F238E27FC236}">
                  <a16:creationId xmlns:a16="http://schemas.microsoft.com/office/drawing/2014/main" id="{647CE7C8-2033-4EE5-A186-9280F6DBA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" y="1995"/>
              <a:ext cx="949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1600">
                  <a:latin typeface="隶书" pitchFamily="49" charset="-122"/>
                  <a:ea typeface="隶书" pitchFamily="49" charset="-122"/>
                </a:rPr>
                <a:t>8</a:t>
              </a:r>
              <a:r>
                <a:rPr lang="en-US" altLang="zh-CN" sz="1600">
                  <a:sym typeface="Symbol" pitchFamily="18" charset="2"/>
                </a:rPr>
                <a:t>º</a:t>
              </a:r>
              <a:r>
                <a:rPr lang="zh-CN" altLang="en-US" sz="1600">
                  <a:sym typeface="Symbol" pitchFamily="18" charset="2"/>
                </a:rPr>
                <a:t>，</a:t>
              </a:r>
              <a:r>
                <a:rPr lang="en-US" altLang="zh-CN" sz="1600">
                  <a:sym typeface="Symbol" pitchFamily="18" charset="2"/>
                </a:rPr>
                <a:t>8¹</a:t>
              </a:r>
              <a:r>
                <a:rPr lang="zh-CN" altLang="en-US" sz="1600">
                  <a:sym typeface="Symbol" pitchFamily="18" charset="2"/>
                </a:rPr>
                <a:t>，</a:t>
              </a:r>
              <a:r>
                <a:rPr lang="en-US" altLang="zh-CN" sz="1600">
                  <a:sym typeface="Symbol" pitchFamily="18" charset="2"/>
                </a:rPr>
                <a:t>8²</a:t>
              </a:r>
              <a:r>
                <a:rPr lang="zh-CN" altLang="en-US" sz="1600">
                  <a:sym typeface="Symbol" pitchFamily="18" charset="2"/>
                </a:rPr>
                <a:t>，</a:t>
              </a:r>
              <a:r>
                <a:rPr lang="en-US" altLang="zh-CN" sz="1600">
                  <a:sym typeface="Symbol" pitchFamily="18" charset="2"/>
                </a:rPr>
                <a:t>…</a:t>
              </a:r>
              <a:endParaRPr lang="en-US" altLang="zh-CN">
                <a:sym typeface="Symbol" pitchFamily="18" charset="2"/>
              </a:endParaRPr>
            </a:p>
          </p:txBody>
        </p:sp>
        <p:sp>
          <p:nvSpPr>
            <p:cNvPr id="89" name="Text Box 38">
              <a:extLst>
                <a:ext uri="{FF2B5EF4-FFF2-40B4-BE49-F238E27FC236}">
                  <a16:creationId xmlns:a16="http://schemas.microsoft.com/office/drawing/2014/main" id="{0C1E4135-F19B-42D9-BE12-7F1A6FE19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1" y="2821"/>
              <a:ext cx="890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ea typeface="隶书" pitchFamily="49" charset="-122"/>
                  <a:sym typeface="Symbol" pitchFamily="18" charset="2"/>
                </a:rPr>
                <a:t>逢八进一</a:t>
              </a:r>
              <a:endParaRPr lang="zh-CN" altLang="en-US">
                <a:sym typeface="Symbol" pitchFamily="18" charset="2"/>
              </a:endParaRPr>
            </a:p>
          </p:txBody>
        </p:sp>
      </p:grpSp>
      <p:grpSp>
        <p:nvGrpSpPr>
          <p:cNvPr id="90" name="Group 39">
            <a:extLst>
              <a:ext uri="{FF2B5EF4-FFF2-40B4-BE49-F238E27FC236}">
                <a16:creationId xmlns:a16="http://schemas.microsoft.com/office/drawing/2014/main" id="{95D67FE8-FBAB-4EAF-A343-FD27C4ED1331}"/>
              </a:ext>
            </a:extLst>
          </p:cNvPr>
          <p:cNvGrpSpPr>
            <a:grpSpLocks/>
          </p:cNvGrpSpPr>
          <p:nvPr/>
        </p:nvGrpSpPr>
        <p:grpSpPr bwMode="auto">
          <a:xfrm>
            <a:off x="8397107" y="1949841"/>
            <a:ext cx="1852612" cy="3892550"/>
            <a:chOff x="4443" y="661"/>
            <a:chExt cx="1167" cy="2452"/>
          </a:xfrm>
        </p:grpSpPr>
        <p:sp>
          <p:nvSpPr>
            <p:cNvPr id="91" name="Text Box 40">
              <a:extLst>
                <a:ext uri="{FF2B5EF4-FFF2-40B4-BE49-F238E27FC236}">
                  <a16:creationId xmlns:a16="http://schemas.microsoft.com/office/drawing/2014/main" id="{02852E9B-B706-4114-8413-2517E80B4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5" y="661"/>
              <a:ext cx="1084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rgbClr val="002060"/>
                  </a:solidFill>
                  <a:latin typeface="Arial" pitchFamily="34" charset="0"/>
                  <a:ea typeface="隶书" pitchFamily="49" charset="-122"/>
                </a:rPr>
                <a:t>十六进制数</a:t>
              </a:r>
            </a:p>
          </p:txBody>
        </p:sp>
        <p:sp>
          <p:nvSpPr>
            <p:cNvPr id="92" name="Text Box 41">
              <a:extLst>
                <a:ext uri="{FF2B5EF4-FFF2-40B4-BE49-F238E27FC236}">
                  <a16:creationId xmlns:a16="http://schemas.microsoft.com/office/drawing/2014/main" id="{B9A3FA18-A2ED-465F-8386-F197D5622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3" y="1130"/>
              <a:ext cx="1104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/>
                <a:t>0~9,A~F,a~f</a:t>
              </a:r>
            </a:p>
          </p:txBody>
        </p:sp>
        <p:sp>
          <p:nvSpPr>
            <p:cNvPr id="93" name="Text Box 42">
              <a:extLst>
                <a:ext uri="{FF2B5EF4-FFF2-40B4-BE49-F238E27FC236}">
                  <a16:creationId xmlns:a16="http://schemas.microsoft.com/office/drawing/2014/main" id="{AC90ED8D-52A5-43BF-BB8D-1494F0866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" y="1561"/>
              <a:ext cx="33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>
                  <a:latin typeface="Arial" pitchFamily="34" charset="0"/>
                  <a:ea typeface="隶书" pitchFamily="49" charset="-122"/>
                </a:rPr>
                <a:t>16</a:t>
              </a:r>
            </a:p>
          </p:txBody>
        </p:sp>
        <p:sp>
          <p:nvSpPr>
            <p:cNvPr id="94" name="Text Box 43">
              <a:extLst>
                <a:ext uri="{FF2B5EF4-FFF2-40B4-BE49-F238E27FC236}">
                  <a16:creationId xmlns:a16="http://schemas.microsoft.com/office/drawing/2014/main" id="{1939BF1A-B4AA-4B4C-ADA5-94613F51A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" y="1995"/>
              <a:ext cx="1143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en-US" altLang="zh-CN" sz="1600">
                  <a:latin typeface="隶书" pitchFamily="49" charset="-122"/>
                  <a:ea typeface="隶书" pitchFamily="49" charset="-122"/>
                </a:rPr>
                <a:t>16</a:t>
              </a:r>
              <a:r>
                <a:rPr lang="en-US" altLang="zh-CN" sz="1600">
                  <a:sym typeface="Symbol" pitchFamily="18" charset="2"/>
                </a:rPr>
                <a:t>º</a:t>
              </a:r>
              <a:r>
                <a:rPr lang="zh-CN" altLang="en-US" sz="1600">
                  <a:sym typeface="Symbol" pitchFamily="18" charset="2"/>
                </a:rPr>
                <a:t>，</a:t>
              </a:r>
              <a:r>
                <a:rPr lang="en-US" altLang="zh-CN" sz="1600">
                  <a:sym typeface="Symbol" pitchFamily="18" charset="2"/>
                </a:rPr>
                <a:t>16¹</a:t>
              </a:r>
              <a:r>
                <a:rPr lang="zh-CN" altLang="en-US" sz="1600">
                  <a:sym typeface="Symbol" pitchFamily="18" charset="2"/>
                </a:rPr>
                <a:t>，</a:t>
              </a:r>
              <a:r>
                <a:rPr lang="en-US" altLang="zh-CN" sz="1600">
                  <a:sym typeface="Symbol" pitchFamily="18" charset="2"/>
                </a:rPr>
                <a:t>16²</a:t>
              </a:r>
              <a:r>
                <a:rPr lang="zh-CN" altLang="en-US" sz="1600">
                  <a:sym typeface="Symbol" pitchFamily="18" charset="2"/>
                </a:rPr>
                <a:t>，</a:t>
              </a:r>
              <a:r>
                <a:rPr lang="en-US" altLang="zh-CN" sz="1600">
                  <a:sym typeface="Symbol" pitchFamily="18" charset="2"/>
                </a:rPr>
                <a:t>…</a:t>
              </a:r>
              <a:endParaRPr lang="en-US" altLang="zh-CN">
                <a:sym typeface="Symbol" pitchFamily="18" charset="2"/>
              </a:endParaRPr>
            </a:p>
          </p:txBody>
        </p:sp>
        <p:sp>
          <p:nvSpPr>
            <p:cNvPr id="95" name="Text Box 44">
              <a:extLst>
                <a:ext uri="{FF2B5EF4-FFF2-40B4-BE49-F238E27FC236}">
                  <a16:creationId xmlns:a16="http://schemas.microsoft.com/office/drawing/2014/main" id="{6EDBBE27-0CA3-42F7-9CAE-CB5F5C8C9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5" y="2821"/>
              <a:ext cx="1084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eaLnBrk="0" hangingPunct="0"/>
              <a:r>
                <a:rPr lang="zh-CN" altLang="en-US">
                  <a:ea typeface="隶书" pitchFamily="49" charset="-122"/>
                  <a:sym typeface="Symbol" pitchFamily="18" charset="2"/>
                </a:rPr>
                <a:t>逢十六进一</a:t>
              </a:r>
              <a:endParaRPr lang="zh-CN" altLang="en-US">
                <a:sym typeface="Symbol" pitchFamily="18" charset="2"/>
              </a:endParaRPr>
            </a:p>
          </p:txBody>
        </p:sp>
      </p:grpSp>
      <p:sp>
        <p:nvSpPr>
          <p:cNvPr id="96" name="Text Box 45">
            <a:extLst>
              <a:ext uri="{FF2B5EF4-FFF2-40B4-BE49-F238E27FC236}">
                <a16:creationId xmlns:a16="http://schemas.microsoft.com/office/drawing/2014/main" id="{8064D32F-52D4-4C18-8DC1-0C51871C5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79" y="4604607"/>
            <a:ext cx="6080125" cy="40229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C01920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/>
          <a:p>
            <a:pPr eaLnBrk="0" hangingPunct="0"/>
            <a:r>
              <a:rPr lang="zh-CN" altLang="en-US" sz="2000" dirty="0">
                <a:latin typeface="Arial" pitchFamily="34" charset="0"/>
                <a:ea typeface="隶书" pitchFamily="49" charset="-122"/>
              </a:rPr>
              <a:t>十进制：</a:t>
            </a:r>
            <a:r>
              <a:rPr lang="en-US" altLang="zh-CN" sz="2000" dirty="0">
                <a:latin typeface="Arial" pitchFamily="34" charset="0"/>
                <a:ea typeface="隶书" pitchFamily="49" charset="-122"/>
              </a:rPr>
              <a:t>(4956)</a:t>
            </a:r>
            <a:r>
              <a:rPr lang="en-US" altLang="zh-CN" sz="2000" baseline="-25000" dirty="0">
                <a:latin typeface="Arial" pitchFamily="34" charset="0"/>
                <a:ea typeface="隶书" pitchFamily="49" charset="-122"/>
              </a:rPr>
              <a:t>10</a:t>
            </a:r>
            <a:r>
              <a:rPr lang="en-US" altLang="zh-CN" sz="2000" dirty="0">
                <a:latin typeface="Arial" pitchFamily="34" charset="0"/>
                <a:ea typeface="隶书" pitchFamily="49" charset="-122"/>
              </a:rPr>
              <a:t>= </a:t>
            </a:r>
            <a:r>
              <a:rPr lang="en-US" altLang="zh-CN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410³+910² +510¹+6</a:t>
            </a:r>
            <a:r>
              <a:rPr lang="en-US" altLang="zh-CN" sz="2000" dirty="0">
                <a:latin typeface="Arial" pitchFamily="34" charset="0"/>
                <a:ea typeface="隶书" pitchFamily="49" charset="-122"/>
              </a:rPr>
              <a:t>10</a:t>
            </a:r>
            <a:r>
              <a:rPr lang="en-US" altLang="zh-CN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º</a:t>
            </a:r>
          </a:p>
        </p:txBody>
      </p:sp>
      <p:sp>
        <p:nvSpPr>
          <p:cNvPr id="97" name="Text Box 46">
            <a:extLst>
              <a:ext uri="{FF2B5EF4-FFF2-40B4-BE49-F238E27FC236}">
                <a16:creationId xmlns:a16="http://schemas.microsoft.com/office/drawing/2014/main" id="{DD479367-36B7-4A7A-8A7D-8325ED7E7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807" y="4593216"/>
            <a:ext cx="6080400" cy="40229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C01920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/>
          <a:p>
            <a:pPr eaLnBrk="0" hangingPunct="0"/>
            <a:r>
              <a:rPr lang="zh-CN" altLang="en-US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二进制：</a:t>
            </a:r>
            <a:r>
              <a:rPr lang="en-US" altLang="zh-CN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(1011)</a:t>
            </a:r>
            <a:r>
              <a:rPr lang="en-US" altLang="zh-CN" sz="2000" baseline="-25000" dirty="0">
                <a:latin typeface="Arial" pitchFamily="34" charset="0"/>
                <a:ea typeface="隶书" pitchFamily="49" charset="-122"/>
                <a:sym typeface="Symbol" pitchFamily="18" charset="2"/>
              </a:rPr>
              <a:t>2</a:t>
            </a:r>
            <a:r>
              <a:rPr lang="en-US" altLang="zh-CN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=12³+02² +12¹+12º</a:t>
            </a:r>
          </a:p>
        </p:txBody>
      </p:sp>
      <p:sp>
        <p:nvSpPr>
          <p:cNvPr id="99" name="Text Box 48">
            <a:extLst>
              <a:ext uri="{FF2B5EF4-FFF2-40B4-BE49-F238E27FC236}">
                <a16:creationId xmlns:a16="http://schemas.microsoft.com/office/drawing/2014/main" id="{C6F9CD3E-7DF9-4739-8E90-13224B31D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807" y="4597184"/>
            <a:ext cx="6080400" cy="40229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C01920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/>
          <a:p>
            <a:pPr eaLnBrk="0" hangingPunct="0"/>
            <a:r>
              <a:rPr lang="zh-CN" altLang="en-US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八进制：</a:t>
            </a:r>
            <a:r>
              <a:rPr lang="en-US" altLang="zh-CN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(4275)</a:t>
            </a:r>
            <a:r>
              <a:rPr lang="en-US" altLang="zh-CN" sz="2000" baseline="-25000" dirty="0">
                <a:latin typeface="Arial" pitchFamily="34" charset="0"/>
                <a:ea typeface="隶书" pitchFamily="49" charset="-122"/>
                <a:sym typeface="Symbol" pitchFamily="18" charset="2"/>
              </a:rPr>
              <a:t>8</a:t>
            </a:r>
            <a:r>
              <a:rPr lang="en-US" altLang="zh-CN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=48³+28² +78¹+58º</a:t>
            </a:r>
            <a:endParaRPr lang="en-US" altLang="zh-CN" sz="2000" dirty="0">
              <a:sym typeface="Symbol" pitchFamily="18" charset="2"/>
            </a:endParaRP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DD0D1952-3ED5-4243-BD7A-E508DD590A0C}"/>
              </a:ext>
            </a:extLst>
          </p:cNvPr>
          <p:cNvSpPr/>
          <p:nvPr/>
        </p:nvSpPr>
        <p:spPr bwMode="auto">
          <a:xfrm>
            <a:off x="5078712" y="3392805"/>
            <a:ext cx="3753590" cy="952647"/>
          </a:xfrm>
          <a:prstGeom prst="wedgeRectCallout">
            <a:avLst>
              <a:gd name="adj1" fmla="val -49831"/>
              <a:gd name="adj2" fmla="val 96157"/>
            </a:avLst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 cap="flat" cmpd="sng" algn="ctr">
            <a:solidFill>
              <a:srgbClr val="F0E5B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i="0" u="none" strike="noStrike" cap="none" normalizeH="0" baseline="0" dirty="0">
                <a:ln>
                  <a:noFill/>
                </a:ln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r>
              <a:rPr kumimoji="1" lang="zh-CN" altLang="en-US" sz="2400" i="0" u="none" strike="noStrike" cap="none" normalizeH="0" baseline="0" dirty="0">
                <a:ln>
                  <a:noFill/>
                </a:ln>
                <a:latin typeface="隶书" panose="02010509060101010101" pitchFamily="49" charset="-122"/>
                <a:ea typeface="隶书" panose="02010509060101010101" pitchFamily="49" charset="-122"/>
              </a:rPr>
              <a:t>语言中表示八进制数是在数的前面加</a:t>
            </a:r>
            <a:r>
              <a:rPr kumimoji="1" lang="en-US" altLang="zh-CN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，即</a:t>
            </a:r>
            <a:r>
              <a:rPr kumimoji="1" lang="en-US" altLang="zh-CN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</a:t>
            </a:r>
            <a:r>
              <a:rPr kumimoji="1" lang="en-US" altLang="zh-CN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4275</a:t>
            </a:r>
            <a:endParaRPr kumimoji="1" lang="zh-CN" altLang="en-US" sz="2400" i="0" u="none" strike="noStrike" cap="none" normalizeH="0" baseline="0" dirty="0">
              <a:ln>
                <a:noFill/>
              </a:ln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8" name="Text Box 47">
            <a:extLst>
              <a:ext uri="{FF2B5EF4-FFF2-40B4-BE49-F238E27FC236}">
                <a16:creationId xmlns:a16="http://schemas.microsoft.com/office/drawing/2014/main" id="{2A143AB6-4A49-4D9B-ADF4-01F14A2FD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541" y="4585278"/>
            <a:ext cx="6080400" cy="40229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</a:gradFill>
          <a:ln>
            <a:solidFill>
              <a:srgbClr val="C01920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/>
          <a:p>
            <a:pPr eaLnBrk="0" hangingPunct="0"/>
            <a:r>
              <a:rPr lang="zh-CN" altLang="en-US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十六进制：</a:t>
            </a:r>
            <a:r>
              <a:rPr lang="en-US" altLang="zh-CN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(81AE)</a:t>
            </a:r>
            <a:r>
              <a:rPr lang="en-US" altLang="zh-CN" sz="2000" baseline="-25000" dirty="0">
                <a:latin typeface="Arial" pitchFamily="34" charset="0"/>
                <a:ea typeface="隶书" pitchFamily="49" charset="-122"/>
                <a:sym typeface="Symbol" pitchFamily="18" charset="2"/>
              </a:rPr>
              <a:t>16</a:t>
            </a:r>
            <a:r>
              <a:rPr lang="en-US" altLang="zh-CN" sz="2000" dirty="0">
                <a:latin typeface="Arial" pitchFamily="34" charset="0"/>
                <a:ea typeface="隶书" pitchFamily="49" charset="-122"/>
                <a:sym typeface="Symbol" pitchFamily="18" charset="2"/>
              </a:rPr>
              <a:t>=816³+116² +1016¹+1416º</a:t>
            </a:r>
            <a:endParaRPr lang="en-US" altLang="zh-CN" sz="2000" dirty="0">
              <a:sym typeface="Symbol" pitchFamily="18" charset="2"/>
            </a:endParaRPr>
          </a:p>
        </p:txBody>
      </p:sp>
      <p:sp>
        <p:nvSpPr>
          <p:cNvPr id="104" name="对话气泡: 矩形 103">
            <a:extLst>
              <a:ext uri="{FF2B5EF4-FFF2-40B4-BE49-F238E27FC236}">
                <a16:creationId xmlns:a16="http://schemas.microsoft.com/office/drawing/2014/main" id="{4AE9E427-6C31-4FFB-BFED-D35279FE3123}"/>
              </a:ext>
            </a:extLst>
          </p:cNvPr>
          <p:cNvSpPr/>
          <p:nvPr/>
        </p:nvSpPr>
        <p:spPr bwMode="auto">
          <a:xfrm>
            <a:off x="5337986" y="3429024"/>
            <a:ext cx="4293119" cy="952647"/>
          </a:xfrm>
          <a:prstGeom prst="wedgeRectCallout">
            <a:avLst>
              <a:gd name="adj1" fmla="val -49831"/>
              <a:gd name="adj2" fmla="val 96157"/>
            </a:avLst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 cap="flat" cmpd="sng" algn="ctr">
            <a:solidFill>
              <a:srgbClr val="F0E5B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i="0" u="none" strike="noStrike" cap="none" normalizeH="0" baseline="0" dirty="0">
                <a:ln>
                  <a:noFill/>
                </a:ln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r>
              <a:rPr kumimoji="1" lang="zh-CN" altLang="en-US" sz="2400" i="0" u="none" strike="noStrike" cap="none" normalizeH="0" baseline="0" dirty="0">
                <a:ln>
                  <a:noFill/>
                </a:ln>
                <a:latin typeface="隶书" panose="02010509060101010101" pitchFamily="49" charset="-122"/>
                <a:ea typeface="隶书" panose="02010509060101010101" pitchFamily="49" charset="-122"/>
              </a:rPr>
              <a:t>语言中表示十六进制数是在数的前面加</a:t>
            </a:r>
            <a:r>
              <a:rPr kumimoji="1" lang="en-US" altLang="zh-CN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0X</a:t>
            </a:r>
            <a:r>
              <a:rPr kumimoji="1" lang="zh-CN" altLang="en-US" sz="2400" i="0" u="none" strike="noStrike" cap="none" normalizeH="0" baseline="0" dirty="0">
                <a:ln>
                  <a:noFill/>
                </a:ln>
                <a:latin typeface="隶书" panose="02010509060101010101" pitchFamily="49" charset="-122"/>
                <a:ea typeface="隶书" panose="02010509060101010101" pitchFamily="49" charset="-122"/>
              </a:rPr>
              <a:t>或</a:t>
            </a:r>
            <a:r>
              <a:rPr kumimoji="1" lang="en-US" altLang="zh-CN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0x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，即</a:t>
            </a:r>
            <a:r>
              <a:rPr kumimoji="1" lang="en-US" altLang="zh-CN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0X</a:t>
            </a:r>
            <a:r>
              <a:rPr kumimoji="1" lang="en-US" altLang="zh-CN" sz="24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81AE</a:t>
            </a:r>
            <a:endParaRPr kumimoji="1" lang="zh-CN" altLang="en-US" sz="2400" i="0" u="none" strike="noStrike" cap="none" normalizeH="0" baseline="0" dirty="0">
              <a:ln>
                <a:noFill/>
              </a:ln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3AA054B9-EA8F-48DE-A56B-D14C8A11E31C}"/>
              </a:ext>
            </a:extLst>
          </p:cNvPr>
          <p:cNvGrpSpPr/>
          <p:nvPr/>
        </p:nvGrpSpPr>
        <p:grpSpPr>
          <a:xfrm>
            <a:off x="550863" y="949425"/>
            <a:ext cx="3380612" cy="630931"/>
            <a:chOff x="695400" y="1059424"/>
            <a:chExt cx="3380612" cy="630931"/>
          </a:xfrm>
        </p:grpSpPr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75885444-D98F-4586-952D-90DB1D3ECF36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09" name="菱形 108">
                <a:extLst>
                  <a:ext uri="{FF2B5EF4-FFF2-40B4-BE49-F238E27FC236}">
                    <a16:creationId xmlns:a16="http://schemas.microsoft.com/office/drawing/2014/main" id="{2074D764-342A-4644-A6D9-0EEE5C227E00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0" name="菱形 109">
                <a:extLst>
                  <a:ext uri="{FF2B5EF4-FFF2-40B4-BE49-F238E27FC236}">
                    <a16:creationId xmlns:a16="http://schemas.microsoft.com/office/drawing/2014/main" id="{C8D65A41-7348-47F8-84A6-EF146E4B9B5C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08" name="Text Box 5">
              <a:extLst>
                <a:ext uri="{FF2B5EF4-FFF2-40B4-BE49-F238E27FC236}">
                  <a16:creationId xmlns:a16="http://schemas.microsoft.com/office/drawing/2014/main" id="{E03BA5FE-A23F-4783-B76D-308E2EB6A4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573287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常用的进制数</a:t>
              </a:r>
            </a:p>
          </p:txBody>
        </p:sp>
      </p:grpSp>
      <p:sp>
        <p:nvSpPr>
          <p:cNvPr id="111" name="Rectangle 4">
            <a:extLst>
              <a:ext uri="{FF2B5EF4-FFF2-40B4-BE49-F238E27FC236}">
                <a16:creationId xmlns:a16="http://schemas.microsoft.com/office/drawing/2014/main" id="{273928D5-520B-40A7-9A9F-4D002BB81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1.2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进位计数制及其转换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04FA3FE-07FA-4A45-A036-A9382FF93ECC}"/>
              </a:ext>
            </a:extLst>
          </p:cNvPr>
          <p:cNvGrpSpPr/>
          <p:nvPr/>
        </p:nvGrpSpPr>
        <p:grpSpPr>
          <a:xfrm>
            <a:off x="10213952" y="4750264"/>
            <a:ext cx="1346289" cy="1585045"/>
            <a:chOff x="12764832" y="107547"/>
            <a:chExt cx="1674813" cy="1696580"/>
          </a:xfrm>
        </p:grpSpPr>
        <p:sp>
          <p:nvSpPr>
            <p:cNvPr id="226" name="íşlïďè">
              <a:extLst>
                <a:ext uri="{FF2B5EF4-FFF2-40B4-BE49-F238E27FC236}">
                  <a16:creationId xmlns:a16="http://schemas.microsoft.com/office/drawing/2014/main" id="{1E7611F8-14F0-477F-9885-DDC9D109CBB4}"/>
                </a:ext>
              </a:extLst>
            </p:cNvPr>
            <p:cNvSpPr/>
            <p:nvPr/>
          </p:nvSpPr>
          <p:spPr bwMode="auto">
            <a:xfrm>
              <a:off x="12783881" y="142014"/>
              <a:ext cx="1636713" cy="1662113"/>
            </a:xfrm>
            <a:custGeom>
              <a:avLst/>
              <a:gdLst>
                <a:gd name="T0" fmla="*/ 64 w 496"/>
                <a:gd name="T1" fmla="*/ 346 h 504"/>
                <a:gd name="T2" fmla="*/ 119 w 496"/>
                <a:gd name="T3" fmla="*/ 324 h 504"/>
                <a:gd name="T4" fmla="*/ 95 w 496"/>
                <a:gd name="T5" fmla="*/ 311 h 504"/>
                <a:gd name="T6" fmla="*/ 76 w 496"/>
                <a:gd name="T7" fmla="*/ 261 h 504"/>
                <a:gd name="T8" fmla="*/ 129 w 496"/>
                <a:gd name="T9" fmla="*/ 242 h 504"/>
                <a:gd name="T10" fmla="*/ 105 w 496"/>
                <a:gd name="T11" fmla="*/ 230 h 504"/>
                <a:gd name="T12" fmla="*/ 87 w 496"/>
                <a:gd name="T13" fmla="*/ 179 h 504"/>
                <a:gd name="T14" fmla="*/ 140 w 496"/>
                <a:gd name="T15" fmla="*/ 160 h 504"/>
                <a:gd name="T16" fmla="*/ 26 w 496"/>
                <a:gd name="T17" fmla="*/ 101 h 504"/>
                <a:gd name="T18" fmla="*/ 6 w 496"/>
                <a:gd name="T19" fmla="*/ 54 h 504"/>
                <a:gd name="T20" fmla="*/ 61 w 496"/>
                <a:gd name="T21" fmla="*/ 32 h 504"/>
                <a:gd name="T22" fmla="*/ 301 w 496"/>
                <a:gd name="T23" fmla="*/ 157 h 504"/>
                <a:gd name="T24" fmla="*/ 276 w 496"/>
                <a:gd name="T25" fmla="*/ 56 h 504"/>
                <a:gd name="T26" fmla="*/ 280 w 496"/>
                <a:gd name="T27" fmla="*/ 27 h 504"/>
                <a:gd name="T28" fmla="*/ 304 w 496"/>
                <a:gd name="T29" fmla="*/ 7 h 504"/>
                <a:gd name="T30" fmla="*/ 355 w 496"/>
                <a:gd name="T31" fmla="*/ 31 h 504"/>
                <a:gd name="T32" fmla="*/ 433 w 496"/>
                <a:gd name="T33" fmla="*/ 236 h 504"/>
                <a:gd name="T34" fmla="*/ 470 w 496"/>
                <a:gd name="T35" fmla="*/ 276 h 504"/>
                <a:gd name="T36" fmla="*/ 483 w 496"/>
                <a:gd name="T37" fmla="*/ 284 h 504"/>
                <a:gd name="T38" fmla="*/ 491 w 496"/>
                <a:gd name="T39" fmla="*/ 308 h 504"/>
                <a:gd name="T40" fmla="*/ 395 w 496"/>
                <a:gd name="T41" fmla="*/ 491 h 504"/>
                <a:gd name="T42" fmla="*/ 371 w 496"/>
                <a:gd name="T43" fmla="*/ 499 h 504"/>
                <a:gd name="T44" fmla="*/ 337 w 496"/>
                <a:gd name="T45" fmla="*/ 481 h 504"/>
                <a:gd name="T46" fmla="*/ 296 w 496"/>
                <a:gd name="T47" fmla="*/ 473 h 504"/>
                <a:gd name="T48" fmla="*/ 196 w 496"/>
                <a:gd name="T49" fmla="*/ 451 h 504"/>
                <a:gd name="T50" fmla="*/ 84 w 496"/>
                <a:gd name="T51" fmla="*/ 393 h 504"/>
                <a:gd name="T52" fmla="*/ 64 w 496"/>
                <a:gd name="T53" fmla="*/ 346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6" h="504">
                  <a:moveTo>
                    <a:pt x="64" y="346"/>
                  </a:moveTo>
                  <a:cubicBezTo>
                    <a:pt x="72" y="323"/>
                    <a:pt x="98" y="313"/>
                    <a:pt x="119" y="324"/>
                  </a:cubicBezTo>
                  <a:cubicBezTo>
                    <a:pt x="95" y="311"/>
                    <a:pt x="95" y="311"/>
                    <a:pt x="95" y="311"/>
                  </a:cubicBezTo>
                  <a:cubicBezTo>
                    <a:pt x="77" y="302"/>
                    <a:pt x="68" y="280"/>
                    <a:pt x="76" y="261"/>
                  </a:cubicBezTo>
                  <a:cubicBezTo>
                    <a:pt x="85" y="240"/>
                    <a:pt x="110" y="232"/>
                    <a:pt x="129" y="242"/>
                  </a:cubicBezTo>
                  <a:cubicBezTo>
                    <a:pt x="105" y="230"/>
                    <a:pt x="105" y="230"/>
                    <a:pt x="105" y="230"/>
                  </a:cubicBezTo>
                  <a:cubicBezTo>
                    <a:pt x="87" y="220"/>
                    <a:pt x="78" y="198"/>
                    <a:pt x="87" y="179"/>
                  </a:cubicBezTo>
                  <a:cubicBezTo>
                    <a:pt x="96" y="158"/>
                    <a:pt x="120" y="150"/>
                    <a:pt x="140" y="160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9" y="92"/>
                    <a:pt x="0" y="72"/>
                    <a:pt x="6" y="54"/>
                  </a:cubicBezTo>
                  <a:cubicBezTo>
                    <a:pt x="14" y="31"/>
                    <a:pt x="40" y="21"/>
                    <a:pt x="61" y="32"/>
                  </a:cubicBezTo>
                  <a:cubicBezTo>
                    <a:pt x="301" y="157"/>
                    <a:pt x="301" y="157"/>
                    <a:pt x="301" y="157"/>
                  </a:cubicBezTo>
                  <a:cubicBezTo>
                    <a:pt x="276" y="56"/>
                    <a:pt x="276" y="56"/>
                    <a:pt x="276" y="56"/>
                  </a:cubicBezTo>
                  <a:cubicBezTo>
                    <a:pt x="274" y="46"/>
                    <a:pt x="275" y="36"/>
                    <a:pt x="280" y="27"/>
                  </a:cubicBezTo>
                  <a:cubicBezTo>
                    <a:pt x="285" y="18"/>
                    <a:pt x="293" y="10"/>
                    <a:pt x="304" y="7"/>
                  </a:cubicBezTo>
                  <a:cubicBezTo>
                    <a:pt x="325" y="0"/>
                    <a:pt x="347" y="11"/>
                    <a:pt x="355" y="31"/>
                  </a:cubicBezTo>
                  <a:cubicBezTo>
                    <a:pt x="433" y="236"/>
                    <a:pt x="433" y="236"/>
                    <a:pt x="433" y="236"/>
                  </a:cubicBezTo>
                  <a:cubicBezTo>
                    <a:pt x="440" y="253"/>
                    <a:pt x="453" y="268"/>
                    <a:pt x="470" y="276"/>
                  </a:cubicBezTo>
                  <a:cubicBezTo>
                    <a:pt x="483" y="284"/>
                    <a:pt x="483" y="284"/>
                    <a:pt x="483" y="284"/>
                  </a:cubicBezTo>
                  <a:cubicBezTo>
                    <a:pt x="492" y="288"/>
                    <a:pt x="496" y="299"/>
                    <a:pt x="491" y="308"/>
                  </a:cubicBezTo>
                  <a:cubicBezTo>
                    <a:pt x="395" y="491"/>
                    <a:pt x="395" y="491"/>
                    <a:pt x="395" y="491"/>
                  </a:cubicBezTo>
                  <a:cubicBezTo>
                    <a:pt x="390" y="500"/>
                    <a:pt x="379" y="504"/>
                    <a:pt x="371" y="499"/>
                  </a:cubicBezTo>
                  <a:cubicBezTo>
                    <a:pt x="337" y="481"/>
                    <a:pt x="337" y="481"/>
                    <a:pt x="337" y="481"/>
                  </a:cubicBezTo>
                  <a:cubicBezTo>
                    <a:pt x="324" y="475"/>
                    <a:pt x="310" y="472"/>
                    <a:pt x="296" y="473"/>
                  </a:cubicBezTo>
                  <a:cubicBezTo>
                    <a:pt x="261" y="475"/>
                    <a:pt x="227" y="467"/>
                    <a:pt x="196" y="451"/>
                  </a:cubicBezTo>
                  <a:cubicBezTo>
                    <a:pt x="84" y="393"/>
                    <a:pt x="84" y="393"/>
                    <a:pt x="84" y="393"/>
                  </a:cubicBezTo>
                  <a:cubicBezTo>
                    <a:pt x="67" y="384"/>
                    <a:pt x="58" y="364"/>
                    <a:pt x="64" y="346"/>
                  </a:cubicBezTo>
                  <a:close/>
                </a:path>
              </a:pathLst>
            </a:custGeom>
            <a:solidFill>
              <a:srgbClr val="C01920">
                <a:alpha val="8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7" name="islîďé">
              <a:extLst>
                <a:ext uri="{FF2B5EF4-FFF2-40B4-BE49-F238E27FC236}">
                  <a16:creationId xmlns:a16="http://schemas.microsoft.com/office/drawing/2014/main" id="{488FC4A8-0454-4E92-A49B-CC2942576ABF}"/>
                </a:ext>
              </a:extLst>
            </p:cNvPr>
            <p:cNvSpPr/>
            <p:nvPr/>
          </p:nvSpPr>
          <p:spPr bwMode="auto">
            <a:xfrm>
              <a:off x="12764832" y="107547"/>
              <a:ext cx="1674813" cy="1690688"/>
            </a:xfrm>
            <a:custGeom>
              <a:avLst/>
              <a:gdLst>
                <a:gd name="T0" fmla="*/ 374 w 508"/>
                <a:gd name="T1" fmla="*/ 510 h 513"/>
                <a:gd name="T2" fmla="*/ 302 w 508"/>
                <a:gd name="T3" fmla="*/ 485 h 513"/>
                <a:gd name="T4" fmla="*/ 87 w 508"/>
                <a:gd name="T5" fmla="*/ 404 h 513"/>
                <a:gd name="T6" fmla="*/ 90 w 508"/>
                <a:gd name="T7" fmla="*/ 323 h 513"/>
                <a:gd name="T8" fmla="*/ 76 w 508"/>
                <a:gd name="T9" fmla="*/ 264 h 513"/>
                <a:gd name="T10" fmla="*/ 106 w 508"/>
                <a:gd name="T11" fmla="*/ 239 h 513"/>
                <a:gd name="T12" fmla="*/ 113 w 508"/>
                <a:gd name="T13" fmla="*/ 159 h 513"/>
                <a:gd name="T14" fmla="*/ 29 w 508"/>
                <a:gd name="T15" fmla="*/ 112 h 513"/>
                <a:gd name="T16" fmla="*/ 32 w 508"/>
                <a:gd name="T17" fmla="*/ 31 h 513"/>
                <a:gd name="T18" fmla="*/ 298 w 508"/>
                <a:gd name="T19" fmla="*/ 152 h 513"/>
                <a:gd name="T20" fmla="*/ 280 w 508"/>
                <a:gd name="T21" fmla="*/ 30 h 513"/>
                <a:gd name="T22" fmla="*/ 366 w 508"/>
                <a:gd name="T23" fmla="*/ 35 h 513"/>
                <a:gd name="T24" fmla="*/ 478 w 508"/>
                <a:gd name="T25" fmla="*/ 277 h 513"/>
                <a:gd name="T26" fmla="*/ 502 w 508"/>
                <a:gd name="T27" fmla="*/ 317 h 513"/>
                <a:gd name="T28" fmla="*/ 385 w 508"/>
                <a:gd name="T29" fmla="*/ 513 h 513"/>
                <a:gd name="T30" fmla="*/ 346 w 508"/>
                <a:gd name="T31" fmla="*/ 482 h 513"/>
                <a:gd name="T32" fmla="*/ 389 w 508"/>
                <a:gd name="T33" fmla="*/ 501 h 513"/>
                <a:gd name="T34" fmla="*/ 492 w 508"/>
                <a:gd name="T35" fmla="*/ 311 h 513"/>
                <a:gd name="T36" fmla="*/ 473 w 508"/>
                <a:gd name="T37" fmla="*/ 288 h 513"/>
                <a:gd name="T38" fmla="*/ 355 w 508"/>
                <a:gd name="T39" fmla="*/ 40 h 513"/>
                <a:gd name="T40" fmla="*/ 291 w 508"/>
                <a:gd name="T41" fmla="*/ 36 h 513"/>
                <a:gd name="T42" fmla="*/ 313 w 508"/>
                <a:gd name="T43" fmla="*/ 162 h 513"/>
                <a:gd name="T44" fmla="*/ 304 w 508"/>
                <a:gd name="T45" fmla="*/ 168 h 513"/>
                <a:gd name="T46" fmla="*/ 37 w 508"/>
                <a:gd name="T47" fmla="*/ 42 h 513"/>
                <a:gd name="T48" fmla="*/ 35 w 508"/>
                <a:gd name="T49" fmla="*/ 101 h 513"/>
                <a:gd name="T50" fmla="*/ 151 w 508"/>
                <a:gd name="T51" fmla="*/ 169 h 513"/>
                <a:gd name="T52" fmla="*/ 117 w 508"/>
                <a:gd name="T53" fmla="*/ 170 h 513"/>
                <a:gd name="T54" fmla="*/ 114 w 508"/>
                <a:gd name="T55" fmla="*/ 230 h 513"/>
                <a:gd name="T56" fmla="*/ 141 w 508"/>
                <a:gd name="T57" fmla="*/ 251 h 513"/>
                <a:gd name="T58" fmla="*/ 133 w 508"/>
                <a:gd name="T59" fmla="*/ 253 h 513"/>
                <a:gd name="T60" fmla="*/ 87 w 508"/>
                <a:gd name="T61" fmla="*/ 269 h 513"/>
                <a:gd name="T62" fmla="*/ 127 w 508"/>
                <a:gd name="T63" fmla="*/ 324 h 513"/>
                <a:gd name="T64" fmla="*/ 130 w 508"/>
                <a:gd name="T65" fmla="*/ 332 h 513"/>
                <a:gd name="T66" fmla="*/ 122 w 508"/>
                <a:gd name="T67" fmla="*/ 335 h 513"/>
                <a:gd name="T68" fmla="*/ 76 w 508"/>
                <a:gd name="T69" fmla="*/ 354 h 513"/>
                <a:gd name="T70" fmla="*/ 205 w 508"/>
                <a:gd name="T71" fmla="*/ 452 h 513"/>
                <a:gd name="T72" fmla="*/ 306 w 508"/>
                <a:gd name="T73" fmla="*/ 473 h 513"/>
                <a:gd name="T74" fmla="*/ 70 w 508"/>
                <a:gd name="T75" fmla="*/ 35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08" h="513">
                  <a:moveTo>
                    <a:pt x="385" y="513"/>
                  </a:moveTo>
                  <a:cubicBezTo>
                    <a:pt x="381" y="513"/>
                    <a:pt x="377" y="512"/>
                    <a:pt x="374" y="510"/>
                  </a:cubicBezTo>
                  <a:cubicBezTo>
                    <a:pt x="340" y="493"/>
                    <a:pt x="340" y="493"/>
                    <a:pt x="340" y="493"/>
                  </a:cubicBezTo>
                  <a:cubicBezTo>
                    <a:pt x="329" y="487"/>
                    <a:pt x="316" y="484"/>
                    <a:pt x="302" y="485"/>
                  </a:cubicBezTo>
                  <a:cubicBezTo>
                    <a:pt x="266" y="487"/>
                    <a:pt x="231" y="479"/>
                    <a:pt x="199" y="463"/>
                  </a:cubicBezTo>
                  <a:cubicBezTo>
                    <a:pt x="87" y="404"/>
                    <a:pt x="87" y="404"/>
                    <a:pt x="87" y="404"/>
                  </a:cubicBezTo>
                  <a:cubicBezTo>
                    <a:pt x="67" y="394"/>
                    <a:pt x="57" y="370"/>
                    <a:pt x="64" y="350"/>
                  </a:cubicBezTo>
                  <a:cubicBezTo>
                    <a:pt x="69" y="337"/>
                    <a:pt x="78" y="327"/>
                    <a:pt x="90" y="323"/>
                  </a:cubicBezTo>
                  <a:cubicBezTo>
                    <a:pt x="92" y="322"/>
                    <a:pt x="93" y="321"/>
                    <a:pt x="95" y="321"/>
                  </a:cubicBezTo>
                  <a:cubicBezTo>
                    <a:pt x="76" y="309"/>
                    <a:pt x="68" y="285"/>
                    <a:pt x="76" y="264"/>
                  </a:cubicBezTo>
                  <a:cubicBezTo>
                    <a:pt x="81" y="253"/>
                    <a:pt x="91" y="244"/>
                    <a:pt x="103" y="240"/>
                  </a:cubicBezTo>
                  <a:cubicBezTo>
                    <a:pt x="104" y="240"/>
                    <a:pt x="105" y="239"/>
                    <a:pt x="106" y="239"/>
                  </a:cubicBezTo>
                  <a:cubicBezTo>
                    <a:pt x="86" y="227"/>
                    <a:pt x="78" y="203"/>
                    <a:pt x="87" y="183"/>
                  </a:cubicBezTo>
                  <a:cubicBezTo>
                    <a:pt x="92" y="171"/>
                    <a:pt x="101" y="163"/>
                    <a:pt x="113" y="159"/>
                  </a:cubicBezTo>
                  <a:cubicBezTo>
                    <a:pt x="114" y="158"/>
                    <a:pt x="115" y="158"/>
                    <a:pt x="116" y="158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9" y="102"/>
                    <a:pt x="0" y="78"/>
                    <a:pt x="7" y="58"/>
                  </a:cubicBezTo>
                  <a:cubicBezTo>
                    <a:pt x="11" y="45"/>
                    <a:pt x="20" y="35"/>
                    <a:pt x="32" y="31"/>
                  </a:cubicBezTo>
                  <a:cubicBezTo>
                    <a:pt x="44" y="26"/>
                    <a:pt x="58" y="26"/>
                    <a:pt x="70" y="32"/>
                  </a:cubicBezTo>
                  <a:cubicBezTo>
                    <a:pt x="298" y="152"/>
                    <a:pt x="298" y="152"/>
                    <a:pt x="298" y="152"/>
                  </a:cubicBezTo>
                  <a:cubicBezTo>
                    <a:pt x="276" y="63"/>
                    <a:pt x="276" y="63"/>
                    <a:pt x="276" y="63"/>
                  </a:cubicBezTo>
                  <a:cubicBezTo>
                    <a:pt x="274" y="52"/>
                    <a:pt x="275" y="41"/>
                    <a:pt x="280" y="30"/>
                  </a:cubicBezTo>
                  <a:cubicBezTo>
                    <a:pt x="286" y="19"/>
                    <a:pt x="296" y="11"/>
                    <a:pt x="308" y="7"/>
                  </a:cubicBezTo>
                  <a:cubicBezTo>
                    <a:pt x="332" y="0"/>
                    <a:pt x="357" y="12"/>
                    <a:pt x="366" y="35"/>
                  </a:cubicBezTo>
                  <a:cubicBezTo>
                    <a:pt x="445" y="240"/>
                    <a:pt x="445" y="240"/>
                    <a:pt x="445" y="240"/>
                  </a:cubicBezTo>
                  <a:cubicBezTo>
                    <a:pt x="451" y="256"/>
                    <a:pt x="463" y="269"/>
                    <a:pt x="478" y="277"/>
                  </a:cubicBezTo>
                  <a:cubicBezTo>
                    <a:pt x="492" y="284"/>
                    <a:pt x="492" y="284"/>
                    <a:pt x="492" y="284"/>
                  </a:cubicBezTo>
                  <a:cubicBezTo>
                    <a:pt x="504" y="290"/>
                    <a:pt x="508" y="305"/>
                    <a:pt x="502" y="317"/>
                  </a:cubicBezTo>
                  <a:cubicBezTo>
                    <a:pt x="406" y="500"/>
                    <a:pt x="406" y="500"/>
                    <a:pt x="406" y="500"/>
                  </a:cubicBezTo>
                  <a:cubicBezTo>
                    <a:pt x="402" y="508"/>
                    <a:pt x="394" y="513"/>
                    <a:pt x="385" y="513"/>
                  </a:cubicBezTo>
                  <a:close/>
                  <a:moveTo>
                    <a:pt x="306" y="473"/>
                  </a:moveTo>
                  <a:cubicBezTo>
                    <a:pt x="320" y="473"/>
                    <a:pt x="334" y="476"/>
                    <a:pt x="346" y="482"/>
                  </a:cubicBezTo>
                  <a:cubicBezTo>
                    <a:pt x="379" y="500"/>
                    <a:pt x="379" y="500"/>
                    <a:pt x="379" y="500"/>
                  </a:cubicBezTo>
                  <a:cubicBezTo>
                    <a:pt x="382" y="501"/>
                    <a:pt x="386" y="502"/>
                    <a:pt x="389" y="501"/>
                  </a:cubicBezTo>
                  <a:cubicBezTo>
                    <a:pt x="392" y="500"/>
                    <a:pt x="394" y="497"/>
                    <a:pt x="396" y="495"/>
                  </a:cubicBezTo>
                  <a:cubicBezTo>
                    <a:pt x="492" y="311"/>
                    <a:pt x="492" y="311"/>
                    <a:pt x="492" y="311"/>
                  </a:cubicBezTo>
                  <a:cubicBezTo>
                    <a:pt x="495" y="305"/>
                    <a:pt x="492" y="298"/>
                    <a:pt x="486" y="295"/>
                  </a:cubicBezTo>
                  <a:cubicBezTo>
                    <a:pt x="473" y="288"/>
                    <a:pt x="473" y="288"/>
                    <a:pt x="473" y="288"/>
                  </a:cubicBezTo>
                  <a:cubicBezTo>
                    <a:pt x="455" y="278"/>
                    <a:pt x="441" y="263"/>
                    <a:pt x="434" y="244"/>
                  </a:cubicBezTo>
                  <a:cubicBezTo>
                    <a:pt x="355" y="40"/>
                    <a:pt x="355" y="40"/>
                    <a:pt x="355" y="40"/>
                  </a:cubicBezTo>
                  <a:cubicBezTo>
                    <a:pt x="348" y="22"/>
                    <a:pt x="329" y="13"/>
                    <a:pt x="312" y="19"/>
                  </a:cubicBezTo>
                  <a:cubicBezTo>
                    <a:pt x="303" y="21"/>
                    <a:pt x="295" y="28"/>
                    <a:pt x="291" y="36"/>
                  </a:cubicBezTo>
                  <a:cubicBezTo>
                    <a:pt x="287" y="43"/>
                    <a:pt x="286" y="52"/>
                    <a:pt x="288" y="61"/>
                  </a:cubicBezTo>
                  <a:cubicBezTo>
                    <a:pt x="313" y="162"/>
                    <a:pt x="313" y="162"/>
                    <a:pt x="313" y="162"/>
                  </a:cubicBezTo>
                  <a:cubicBezTo>
                    <a:pt x="313" y="164"/>
                    <a:pt x="312" y="166"/>
                    <a:pt x="311" y="168"/>
                  </a:cubicBezTo>
                  <a:cubicBezTo>
                    <a:pt x="309" y="169"/>
                    <a:pt x="306" y="170"/>
                    <a:pt x="304" y="168"/>
                  </a:cubicBezTo>
                  <a:cubicBezTo>
                    <a:pt x="64" y="43"/>
                    <a:pt x="64" y="43"/>
                    <a:pt x="64" y="43"/>
                  </a:cubicBezTo>
                  <a:cubicBezTo>
                    <a:pt x="56" y="39"/>
                    <a:pt x="46" y="38"/>
                    <a:pt x="37" y="42"/>
                  </a:cubicBezTo>
                  <a:cubicBezTo>
                    <a:pt x="28" y="45"/>
                    <a:pt x="21" y="52"/>
                    <a:pt x="18" y="62"/>
                  </a:cubicBezTo>
                  <a:cubicBezTo>
                    <a:pt x="13" y="77"/>
                    <a:pt x="20" y="94"/>
                    <a:pt x="35" y="101"/>
                  </a:cubicBezTo>
                  <a:cubicBezTo>
                    <a:pt x="149" y="161"/>
                    <a:pt x="149" y="161"/>
                    <a:pt x="149" y="161"/>
                  </a:cubicBezTo>
                  <a:cubicBezTo>
                    <a:pt x="152" y="163"/>
                    <a:pt x="153" y="166"/>
                    <a:pt x="151" y="169"/>
                  </a:cubicBezTo>
                  <a:cubicBezTo>
                    <a:pt x="150" y="172"/>
                    <a:pt x="146" y="173"/>
                    <a:pt x="143" y="172"/>
                  </a:cubicBezTo>
                  <a:cubicBezTo>
                    <a:pt x="135" y="167"/>
                    <a:pt x="126" y="167"/>
                    <a:pt x="117" y="170"/>
                  </a:cubicBezTo>
                  <a:cubicBezTo>
                    <a:pt x="109" y="173"/>
                    <a:pt x="102" y="179"/>
                    <a:pt x="98" y="188"/>
                  </a:cubicBezTo>
                  <a:cubicBezTo>
                    <a:pt x="91" y="203"/>
                    <a:pt x="98" y="222"/>
                    <a:pt x="114" y="230"/>
                  </a:cubicBezTo>
                  <a:cubicBezTo>
                    <a:pt x="138" y="243"/>
                    <a:pt x="138" y="243"/>
                    <a:pt x="138" y="243"/>
                  </a:cubicBezTo>
                  <a:cubicBezTo>
                    <a:pt x="141" y="244"/>
                    <a:pt x="142" y="248"/>
                    <a:pt x="141" y="251"/>
                  </a:cubicBezTo>
                  <a:cubicBezTo>
                    <a:pt x="139" y="254"/>
                    <a:pt x="135" y="255"/>
                    <a:pt x="133" y="253"/>
                  </a:cubicBezTo>
                  <a:cubicBezTo>
                    <a:pt x="133" y="253"/>
                    <a:pt x="133" y="253"/>
                    <a:pt x="133" y="253"/>
                  </a:cubicBezTo>
                  <a:cubicBezTo>
                    <a:pt x="125" y="249"/>
                    <a:pt x="115" y="248"/>
                    <a:pt x="107" y="251"/>
                  </a:cubicBezTo>
                  <a:cubicBezTo>
                    <a:pt x="98" y="255"/>
                    <a:pt x="91" y="261"/>
                    <a:pt x="87" y="269"/>
                  </a:cubicBezTo>
                  <a:cubicBezTo>
                    <a:pt x="81" y="285"/>
                    <a:pt x="88" y="304"/>
                    <a:pt x="104" y="312"/>
                  </a:cubicBezTo>
                  <a:cubicBezTo>
                    <a:pt x="127" y="324"/>
                    <a:pt x="127" y="324"/>
                    <a:pt x="127" y="324"/>
                  </a:cubicBezTo>
                  <a:cubicBezTo>
                    <a:pt x="127" y="324"/>
                    <a:pt x="127" y="324"/>
                    <a:pt x="127" y="324"/>
                  </a:cubicBezTo>
                  <a:cubicBezTo>
                    <a:pt x="130" y="326"/>
                    <a:pt x="131" y="329"/>
                    <a:pt x="130" y="332"/>
                  </a:cubicBezTo>
                  <a:cubicBezTo>
                    <a:pt x="128" y="335"/>
                    <a:pt x="125" y="336"/>
                    <a:pt x="122" y="335"/>
                  </a:cubicBezTo>
                  <a:cubicBezTo>
                    <a:pt x="122" y="335"/>
                    <a:pt x="122" y="335"/>
                    <a:pt x="122" y="335"/>
                  </a:cubicBezTo>
                  <a:cubicBezTo>
                    <a:pt x="113" y="331"/>
                    <a:pt x="103" y="330"/>
                    <a:pt x="95" y="334"/>
                  </a:cubicBezTo>
                  <a:cubicBezTo>
                    <a:pt x="86" y="337"/>
                    <a:pt x="79" y="344"/>
                    <a:pt x="76" y="354"/>
                  </a:cubicBezTo>
                  <a:cubicBezTo>
                    <a:pt x="71" y="369"/>
                    <a:pt x="78" y="386"/>
                    <a:pt x="93" y="393"/>
                  </a:cubicBezTo>
                  <a:cubicBezTo>
                    <a:pt x="205" y="452"/>
                    <a:pt x="205" y="452"/>
                    <a:pt x="205" y="452"/>
                  </a:cubicBezTo>
                  <a:cubicBezTo>
                    <a:pt x="234" y="468"/>
                    <a:pt x="268" y="475"/>
                    <a:pt x="301" y="473"/>
                  </a:cubicBezTo>
                  <a:cubicBezTo>
                    <a:pt x="303" y="473"/>
                    <a:pt x="305" y="473"/>
                    <a:pt x="306" y="473"/>
                  </a:cubicBezTo>
                  <a:close/>
                  <a:moveTo>
                    <a:pt x="70" y="352"/>
                  </a:moveTo>
                  <a:cubicBezTo>
                    <a:pt x="70" y="352"/>
                    <a:pt x="70" y="352"/>
                    <a:pt x="70" y="352"/>
                  </a:cubicBezTo>
                  <a:close/>
                </a:path>
              </a:pathLst>
            </a:custGeom>
            <a:solidFill>
              <a:srgbClr val="CF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custDataLst>
      <p:tags r:id="rId1"/>
    </p:custData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 autoUpdateAnimBg="0"/>
      <p:bldP spid="97" grpId="0" animBg="1" autoUpdateAnimBg="0"/>
      <p:bldP spid="99" grpId="0" animBg="1" autoUpdateAnimBg="0"/>
      <p:bldP spid="2" grpId="0" animBg="1"/>
      <p:bldP spid="98" grpId="0" animBg="1" autoUpdateAnimBg="0"/>
      <p:bldP spid="10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9" name="Rectangle 3"/>
          <p:cNvSpPr>
            <a:spLocks noChangeArrowheads="1"/>
          </p:cNvSpPr>
          <p:nvPr/>
        </p:nvSpPr>
        <p:spPr bwMode="auto">
          <a:xfrm>
            <a:off x="795087" y="1646792"/>
            <a:ext cx="9449697" cy="1247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1">
              <a:spcBef>
                <a:spcPct val="20000"/>
              </a:spcBef>
              <a:buFont typeface="Wingdings" pitchFamily="2" charset="2"/>
              <a:buChar char="l"/>
            </a:pPr>
            <a:r>
              <a:rPr lang="zh-CN" altLang="en-US" sz="3200" b="1" dirty="0">
                <a:solidFill>
                  <a:srgbClr val="002060"/>
                </a:solidFill>
                <a:ea typeface="隶书" pitchFamily="49" charset="-122"/>
              </a:rPr>
              <a:t>二进制、八进制、十六进制转换成十进制 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sz="2800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方法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en-US" sz="28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按权相加</a:t>
            </a:r>
          </a:p>
        </p:txBody>
      </p:sp>
      <p:graphicFrame>
        <p:nvGraphicFramePr>
          <p:cNvPr id="690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586576"/>
              </p:ext>
            </p:extLst>
          </p:nvPr>
        </p:nvGraphicFramePr>
        <p:xfrm>
          <a:off x="809625" y="2894013"/>
          <a:ext cx="104775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81200" imgH="241200" progId="">
                  <p:embed/>
                </p:oleObj>
              </mc:Choice>
              <mc:Fallback>
                <p:oleObj name="Equation" r:id="rId4" imgW="4381200" imgH="241200" progId="">
                  <p:embed/>
                  <p:pic>
                    <p:nvPicPr>
                      <p:cNvPr id="6901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2894013"/>
                        <a:ext cx="10477500" cy="4159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BEDFC4"/>
                          </a:gs>
                          <a:gs pos="50000">
                            <a:srgbClr val="FFFFFF"/>
                          </a:gs>
                          <a:gs pos="100000">
                            <a:srgbClr val="BEDFC4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99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319834"/>
              </p:ext>
            </p:extLst>
          </p:nvPr>
        </p:nvGraphicFramePr>
        <p:xfrm>
          <a:off x="803275" y="4936232"/>
          <a:ext cx="104775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884800" imgH="5791200" progId="">
                  <p:embed/>
                </p:oleObj>
              </mc:Choice>
              <mc:Fallback>
                <p:oleObj name="Equation" r:id="rId6" imgW="68884800" imgH="5791200" progId="">
                  <p:embed/>
                  <p:pic>
                    <p:nvPicPr>
                      <p:cNvPr id="6901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4936232"/>
                        <a:ext cx="10477500" cy="4159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FCFD1"/>
                          </a:gs>
                          <a:gs pos="50000">
                            <a:srgbClr val="FFFFFF"/>
                          </a:gs>
                          <a:gs pos="100000">
                            <a:srgbClr val="CFCFD1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830033"/>
              </p:ext>
            </p:extLst>
          </p:nvPr>
        </p:nvGraphicFramePr>
        <p:xfrm>
          <a:off x="799562" y="5749379"/>
          <a:ext cx="1047722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8145600" imgH="5791200" progId="">
                  <p:embed/>
                </p:oleObj>
              </mc:Choice>
              <mc:Fallback>
                <p:oleObj name="公式" r:id="rId8" imgW="98145600" imgH="5791200" progId="">
                  <p:embed/>
                  <p:pic>
                    <p:nvPicPr>
                      <p:cNvPr id="6901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562" y="5749379"/>
                        <a:ext cx="10477222" cy="4159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BD6368"/>
                          </a:gs>
                          <a:gs pos="50000">
                            <a:srgbClr val="FFFFFF"/>
                          </a:gs>
                          <a:gs pos="100000">
                            <a:srgbClr val="BD6368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612363"/>
              </p:ext>
            </p:extLst>
          </p:nvPr>
        </p:nvGraphicFramePr>
        <p:xfrm>
          <a:off x="801242" y="3707160"/>
          <a:ext cx="10479334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3632000" imgH="11582400" progId="">
                  <p:embed/>
                </p:oleObj>
              </mc:Choice>
              <mc:Fallback>
                <p:oleObj name="公式" r:id="rId10" imgW="103632000" imgH="11582400" progId="">
                  <p:embed/>
                  <p:pic>
                    <p:nvPicPr>
                      <p:cNvPr id="6901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242" y="3707160"/>
                        <a:ext cx="10479334" cy="8318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0E5B7"/>
                          </a:gs>
                          <a:gs pos="50000">
                            <a:srgbClr val="FFFFFF"/>
                          </a:gs>
                          <a:gs pos="100000">
                            <a:srgbClr val="F0E5B7"/>
                          </a:gs>
                        </a:gsLst>
                        <a:lin ang="5400000" scaled="1"/>
                      </a:gradFill>
                      <a:ln w="2857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EEDD840E-0B7C-4D1F-AB03-173BB8640E88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0AAD4C0-4829-4496-A4BB-60263C82897D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3" name="菱形 12">
                <a:extLst>
                  <a:ext uri="{FF2B5EF4-FFF2-40B4-BE49-F238E27FC236}">
                    <a16:creationId xmlns:a16="http://schemas.microsoft.com/office/drawing/2014/main" id="{983F7EDD-5A07-4F53-BDAF-4C7AA6439FC2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5F67A1D2-069B-4CBD-846A-F9CBD9920C98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B8C58916-8BBD-460D-9324-48E4438D6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进制之间的相互转换</a:t>
              </a:r>
            </a:p>
          </p:txBody>
        </p:sp>
      </p:grpSp>
      <p:sp>
        <p:nvSpPr>
          <p:cNvPr id="15" name="Rectangle 4">
            <a:extLst>
              <a:ext uri="{FF2B5EF4-FFF2-40B4-BE49-F238E27FC236}">
                <a16:creationId xmlns:a16="http://schemas.microsoft.com/office/drawing/2014/main" id="{DDD38A9B-B186-45BE-871E-DFFC3BC20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1.2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进位计数制及其转换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9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9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690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690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6901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690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79" grpId="0" build="p" bldLvl="5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EEDD840E-0B7C-4D1F-AB03-173BB8640E88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0AAD4C0-4829-4496-A4BB-60263C82897D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3" name="菱形 12">
                <a:extLst>
                  <a:ext uri="{FF2B5EF4-FFF2-40B4-BE49-F238E27FC236}">
                    <a16:creationId xmlns:a16="http://schemas.microsoft.com/office/drawing/2014/main" id="{983F7EDD-5A07-4F53-BDAF-4C7AA6439FC2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5F67A1D2-069B-4CBD-846A-F9CBD9920C98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B8C58916-8BBD-460D-9324-48E4438D6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进制之间的相互转换</a:t>
              </a:r>
            </a:p>
          </p:txBody>
        </p:sp>
      </p:grpSp>
      <p:sp>
        <p:nvSpPr>
          <p:cNvPr id="15" name="Rectangle 4">
            <a:extLst>
              <a:ext uri="{FF2B5EF4-FFF2-40B4-BE49-F238E27FC236}">
                <a16:creationId xmlns:a16="http://schemas.microsoft.com/office/drawing/2014/main" id="{DDD38A9B-B186-45BE-871E-DFFC3BC20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1.2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进位计数制及其转换 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91712BF3-B7E4-4DA1-8298-0251F582D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813" y="1657793"/>
            <a:ext cx="820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1" indent="-457200">
              <a:spcBef>
                <a:spcPct val="20000"/>
              </a:spcBef>
              <a:buFont typeface="Wingdings" pitchFamily="2" charset="2"/>
              <a:buChar char="l"/>
            </a:pPr>
            <a:r>
              <a:rPr lang="zh-CN" altLang="en-US" sz="3200" b="1" dirty="0">
                <a:solidFill>
                  <a:srgbClr val="002060"/>
                </a:solidFill>
                <a:ea typeface="隶书" pitchFamily="49" charset="-122"/>
              </a:rPr>
              <a:t>十进制转换成二进制、八进制、十六进制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AD360AE3-C96C-4D2D-B938-801429840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28" y="2446669"/>
            <a:ext cx="803433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步骤：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首先进行整数部分转换，然后进行小数部分转换。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endParaRPr lang="zh-CN" altLang="en-US" b="1" dirty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）整数部分转换</a:t>
            </a:r>
            <a:endParaRPr lang="en-US" altLang="zh-CN" b="1" dirty="0">
              <a:solidFill>
                <a:srgbClr val="C01920"/>
              </a:solidFill>
              <a:latin typeface="楷体" pitchFamily="49" charset="-122"/>
              <a:ea typeface="楷体" pitchFamily="49" charset="-122"/>
            </a:endParaRPr>
          </a:p>
          <a:p>
            <a:endParaRPr lang="zh-CN" altLang="en-US" b="1" dirty="0">
              <a:solidFill>
                <a:srgbClr val="C01920"/>
              </a:solidFill>
              <a:latin typeface="楷体" pitchFamily="49" charset="-122"/>
              <a:ea typeface="楷体" pitchFamily="49" charset="-122"/>
            </a:endParaRPr>
          </a:p>
          <a:p>
            <a:pPr marL="635000" lvl="3">
              <a:buClr>
                <a:srgbClr val="FF0066"/>
              </a:buClr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原理：  </a:t>
            </a:r>
          </a:p>
        </p:txBody>
      </p:sp>
      <p:graphicFrame>
        <p:nvGraphicFramePr>
          <p:cNvPr id="19" name="Object 80">
            <a:extLst>
              <a:ext uri="{FF2B5EF4-FFF2-40B4-BE49-F238E27FC236}">
                <a16:creationId xmlns:a16="http://schemas.microsoft.com/office/drawing/2014/main" id="{65056A22-8D2E-4957-8C13-A2295B37FF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366607"/>
              </p:ext>
            </p:extLst>
          </p:nvPr>
        </p:nvGraphicFramePr>
        <p:xfrm>
          <a:off x="3539331" y="4079432"/>
          <a:ext cx="5113338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60360" imgH="1130040" progId="">
                  <p:embed/>
                </p:oleObj>
              </mc:Choice>
              <mc:Fallback>
                <p:oleObj name="Equation" r:id="rId4" imgW="3060360" imgH="1130040" progId="">
                  <p:embed/>
                  <p:pic>
                    <p:nvPicPr>
                      <p:cNvPr id="692304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9331" y="4079432"/>
                        <a:ext cx="5113338" cy="224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92779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组合 155"/>
          <p:cNvGrpSpPr/>
          <p:nvPr/>
        </p:nvGrpSpPr>
        <p:grpSpPr>
          <a:xfrm>
            <a:off x="455645" y="1650637"/>
            <a:ext cx="5598071" cy="4815597"/>
            <a:chOff x="5099312" y="332656"/>
            <a:chExt cx="6445546" cy="5544616"/>
          </a:xfrm>
        </p:grpSpPr>
        <p:sp>
          <p:nvSpPr>
            <p:cNvPr id="155" name="矩形 154"/>
            <p:cNvSpPr/>
            <p:nvPr/>
          </p:nvSpPr>
          <p:spPr bwMode="auto">
            <a:xfrm>
              <a:off x="5159896" y="332656"/>
              <a:ext cx="6384962" cy="5544616"/>
            </a:xfrm>
            <a:prstGeom prst="rect">
              <a:avLst/>
            </a:prstGeom>
            <a:gradFill flip="none" rotWithShape="1">
              <a:gsLst>
                <a:gs pos="0">
                  <a:srgbClr val="F8F8F8">
                    <a:shade val="30000"/>
                    <a:satMod val="115000"/>
                  </a:srgbClr>
                </a:gs>
                <a:gs pos="50000">
                  <a:srgbClr val="F8F8F8">
                    <a:shade val="67500"/>
                    <a:satMod val="115000"/>
                  </a:srgbClr>
                </a:gs>
                <a:gs pos="100000">
                  <a:srgbClr val="F8F8F8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cap="flat" cmpd="sng" algn="ctr">
              <a:solidFill>
                <a:srgbClr val="C0192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693333" name="Group 85"/>
            <p:cNvGrpSpPr>
              <a:grpSpLocks/>
            </p:cNvGrpSpPr>
            <p:nvPr/>
          </p:nvGrpSpPr>
          <p:grpSpPr bwMode="auto">
            <a:xfrm>
              <a:off x="5099312" y="573188"/>
              <a:ext cx="6192838" cy="5086351"/>
              <a:chOff x="633" y="934"/>
              <a:chExt cx="3901" cy="3204"/>
            </a:xfrm>
          </p:grpSpPr>
          <p:grpSp>
            <p:nvGrpSpPr>
              <p:cNvPr id="693256" name="Group 8"/>
              <p:cNvGrpSpPr>
                <a:grpSpLocks/>
              </p:cNvGrpSpPr>
              <p:nvPr/>
            </p:nvGrpSpPr>
            <p:grpSpPr bwMode="auto">
              <a:xfrm>
                <a:off x="633" y="934"/>
                <a:ext cx="3867" cy="2386"/>
                <a:chOff x="825" y="1224"/>
                <a:chExt cx="3867" cy="2386"/>
              </a:xfrm>
            </p:grpSpPr>
            <p:sp>
              <p:nvSpPr>
                <p:cNvPr id="69325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825" y="1224"/>
                  <a:ext cx="3267" cy="29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C0192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【</a:t>
                  </a:r>
                  <a:r>
                    <a:rPr lang="zh-CN" altLang="en-US" sz="2000" b="1" dirty="0">
                      <a:solidFill>
                        <a:srgbClr val="C0192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例</a:t>
                  </a:r>
                  <a:r>
                    <a:rPr lang="en-US" altLang="zh-CN" sz="2000" b="1" dirty="0">
                      <a:solidFill>
                        <a:srgbClr val="C0192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1】</a:t>
                  </a:r>
                  <a:r>
                    <a:rPr lang="zh-CN" altLang="en-US" sz="2000" b="1" dirty="0">
                      <a:solidFill>
                        <a:srgbClr val="C0192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 把十进制数</a:t>
                  </a:r>
                  <a:r>
                    <a:rPr lang="en-US" altLang="zh-CN" sz="2000" b="1" dirty="0">
                      <a:solidFill>
                        <a:srgbClr val="C0192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59</a:t>
                  </a:r>
                  <a:r>
                    <a:rPr lang="zh-CN" altLang="en-US" sz="2000" b="1" dirty="0">
                      <a:solidFill>
                        <a:srgbClr val="C0192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转换成二进制数</a:t>
                  </a:r>
                </a:p>
              </p:txBody>
            </p:sp>
            <p:grpSp>
              <p:nvGrpSpPr>
                <p:cNvPr id="693258" name="Group 10"/>
                <p:cNvGrpSpPr>
                  <a:grpSpLocks/>
                </p:cNvGrpSpPr>
                <p:nvPr/>
              </p:nvGrpSpPr>
              <p:grpSpPr bwMode="auto">
                <a:xfrm>
                  <a:off x="1574" y="1592"/>
                  <a:ext cx="994" cy="1585"/>
                  <a:chOff x="1054" y="1393"/>
                  <a:chExt cx="994" cy="1585"/>
                </a:xfrm>
              </p:grpSpPr>
              <p:grpSp>
                <p:nvGrpSpPr>
                  <p:cNvPr id="693259" name="Group 11"/>
                  <p:cNvGrpSpPr>
                    <a:grpSpLocks/>
                  </p:cNvGrpSpPr>
                  <p:nvPr/>
                </p:nvGrpSpPr>
                <p:grpSpPr bwMode="auto">
                  <a:xfrm>
                    <a:off x="1054" y="1393"/>
                    <a:ext cx="668" cy="262"/>
                    <a:chOff x="1054" y="1393"/>
                    <a:chExt cx="668" cy="262"/>
                  </a:xfrm>
                </p:grpSpPr>
                <p:grpSp>
                  <p:nvGrpSpPr>
                    <p:cNvPr id="693260" name="Group 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45" y="1444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61" name="Line 13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62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63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393"/>
                      <a:ext cx="278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 dirty="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59</a:t>
                      </a:r>
                    </a:p>
                  </p:txBody>
                </p:sp>
                <p:sp>
                  <p:nvSpPr>
                    <p:cNvPr id="693264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54" y="1393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93265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1128" y="1644"/>
                    <a:ext cx="668" cy="267"/>
                    <a:chOff x="1128" y="1644"/>
                    <a:chExt cx="668" cy="267"/>
                  </a:xfrm>
                </p:grpSpPr>
                <p:sp>
                  <p:nvSpPr>
                    <p:cNvPr id="693266" name="Text Box 1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659"/>
                      <a:ext cx="278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29</a:t>
                      </a:r>
                    </a:p>
                  </p:txBody>
                </p:sp>
                <p:grpSp>
                  <p:nvGrpSpPr>
                    <p:cNvPr id="693267" name="Group 1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9" y="1662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68" name="Line 2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69" name="Line 2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70" name="Text Box 2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28" y="1644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93271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1202" y="1874"/>
                    <a:ext cx="668" cy="267"/>
                    <a:chOff x="1128" y="1644"/>
                    <a:chExt cx="668" cy="267"/>
                  </a:xfrm>
                </p:grpSpPr>
                <p:sp>
                  <p:nvSpPr>
                    <p:cNvPr id="693272" name="Text Box 2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659"/>
                      <a:ext cx="278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14</a:t>
                      </a:r>
                    </a:p>
                  </p:txBody>
                </p:sp>
                <p:grpSp>
                  <p:nvGrpSpPr>
                    <p:cNvPr id="693273" name="Group 2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9" y="1662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74" name="Line 2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75" name="Line 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76" name="Text Box 2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28" y="1644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93277" name="Group 29"/>
                  <p:cNvGrpSpPr>
                    <a:grpSpLocks/>
                  </p:cNvGrpSpPr>
                  <p:nvPr/>
                </p:nvGrpSpPr>
                <p:grpSpPr bwMode="auto">
                  <a:xfrm>
                    <a:off x="1257" y="2085"/>
                    <a:ext cx="668" cy="267"/>
                    <a:chOff x="1128" y="1644"/>
                    <a:chExt cx="668" cy="267"/>
                  </a:xfrm>
                </p:grpSpPr>
                <p:sp>
                  <p:nvSpPr>
                    <p:cNvPr id="693278" name="Text Box 3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659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7</a:t>
                      </a:r>
                    </a:p>
                  </p:txBody>
                </p:sp>
                <p:grpSp>
                  <p:nvGrpSpPr>
                    <p:cNvPr id="693279" name="Group 3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9" y="1662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80" name="Line 3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81" name="Line 3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82" name="Text Box 3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28" y="1644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93283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1313" y="2307"/>
                    <a:ext cx="668" cy="267"/>
                    <a:chOff x="1128" y="1644"/>
                    <a:chExt cx="668" cy="267"/>
                  </a:xfrm>
                </p:grpSpPr>
                <p:sp>
                  <p:nvSpPr>
                    <p:cNvPr id="693284" name="Text Box 3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659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3</a:t>
                      </a:r>
                    </a:p>
                  </p:txBody>
                </p:sp>
                <p:grpSp>
                  <p:nvGrpSpPr>
                    <p:cNvPr id="693285" name="Group 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9" y="1662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86" name="Line 3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87" name="Line 3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88" name="Text Box 4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28" y="1644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93289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1380" y="2518"/>
                    <a:ext cx="668" cy="267"/>
                    <a:chOff x="1128" y="1644"/>
                    <a:chExt cx="668" cy="267"/>
                  </a:xfrm>
                </p:grpSpPr>
                <p:sp>
                  <p:nvSpPr>
                    <p:cNvPr id="693290" name="Text Box 4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43" y="1659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1</a:t>
                      </a:r>
                    </a:p>
                  </p:txBody>
                </p:sp>
                <p:grpSp>
                  <p:nvGrpSpPr>
                    <p:cNvPr id="693291" name="Group 4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19" y="1662"/>
                      <a:ext cx="477" cy="211"/>
                      <a:chOff x="1245" y="1444"/>
                      <a:chExt cx="477" cy="211"/>
                    </a:xfrm>
                  </p:grpSpPr>
                  <p:sp>
                    <p:nvSpPr>
                      <p:cNvPr id="693292" name="Line 44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245" y="1444"/>
                        <a:ext cx="0" cy="211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  <p:sp>
                    <p:nvSpPr>
                      <p:cNvPr id="693293" name="Line 4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5" y="1655"/>
                        <a:ext cx="477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zh-CN" altLang="en-US">
                          <a:latin typeface="+mn-lt"/>
                          <a:ea typeface="楷体" pitchFamily="49" charset="-122"/>
                        </a:endParaRPr>
                      </a:p>
                    </p:txBody>
                  </p:sp>
                </p:grpSp>
                <p:sp>
                  <p:nvSpPr>
                    <p:cNvPr id="693294" name="Text Box 4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128" y="1644"/>
                      <a:ext cx="197" cy="2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000"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+mn-lt"/>
                          <a:ea typeface="楷体" pitchFamily="49" charset="-122"/>
                        </a:rPr>
                        <a:t>2</a:t>
                      </a:r>
                    </a:p>
                  </p:txBody>
                </p:sp>
              </p:grpSp>
              <p:sp>
                <p:nvSpPr>
                  <p:cNvPr id="693295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09" y="2726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0</a:t>
                    </a:r>
                  </a:p>
                </p:txBody>
              </p:sp>
            </p:grpSp>
            <p:sp>
              <p:nvSpPr>
                <p:cNvPr id="693296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576" y="3358"/>
                  <a:ext cx="1171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(59)</a:t>
                  </a:r>
                  <a:r>
                    <a:rPr lang="en-US" altLang="zh-CN" sz="10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10</a:t>
                  </a:r>
                  <a:r>
                    <a:rPr lang="en-US" altLang="zh-CN" sz="20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=(111011)</a:t>
                  </a:r>
                  <a:r>
                    <a:rPr lang="en-US" altLang="zh-CN" sz="10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2</a:t>
                  </a:r>
                  <a:endParaRPr lang="en-US" altLang="zh-CN" sz="2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endParaRPr>
                </a:p>
              </p:txBody>
            </p:sp>
            <p:grpSp>
              <p:nvGrpSpPr>
                <p:cNvPr id="693297" name="Group 49"/>
                <p:cNvGrpSpPr>
                  <a:grpSpLocks/>
                </p:cNvGrpSpPr>
                <p:nvPr/>
              </p:nvGrpSpPr>
              <p:grpSpPr bwMode="auto">
                <a:xfrm>
                  <a:off x="2833" y="1592"/>
                  <a:ext cx="197" cy="1387"/>
                  <a:chOff x="2833" y="1592"/>
                  <a:chExt cx="197" cy="1387"/>
                </a:xfrm>
              </p:grpSpPr>
              <p:sp>
                <p:nvSpPr>
                  <p:cNvPr id="693298" name="Text Box 5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1592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693299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1844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693300" name="Text Box 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2084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0</a:t>
                    </a:r>
                  </a:p>
                </p:txBody>
              </p:sp>
              <p:sp>
                <p:nvSpPr>
                  <p:cNvPr id="693301" name="Text Box 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2291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693302" name="Text Box 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2520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1</a:t>
                    </a:r>
                  </a:p>
                </p:txBody>
              </p:sp>
              <p:sp>
                <p:nvSpPr>
                  <p:cNvPr id="693303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33" y="2727"/>
                    <a:ext cx="197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sz="200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n-lt"/>
                        <a:ea typeface="楷体" pitchFamily="49" charset="-122"/>
                      </a:rPr>
                      <a:t>1</a:t>
                    </a:r>
                  </a:p>
                </p:txBody>
              </p:sp>
            </p:grpSp>
            <p:sp>
              <p:nvSpPr>
                <p:cNvPr id="693304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3240" y="2935"/>
                  <a:ext cx="1452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000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1   1   1   0   1   1</a:t>
                  </a:r>
                </a:p>
              </p:txBody>
            </p:sp>
            <p:sp>
              <p:nvSpPr>
                <p:cNvPr id="693305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3185" y="3246"/>
                  <a:ext cx="1286" cy="0"/>
                </a:xfrm>
                <a:prstGeom prst="line">
                  <a:avLst/>
                </a:prstGeom>
                <a:noFill/>
                <a:ln w="19050">
                  <a:solidFill>
                    <a:srgbClr val="3333FF"/>
                  </a:solidFill>
                  <a:round/>
                  <a:headEnd/>
                  <a:tailEnd type="stealth" w="lg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06" name="Rectangle 58"/>
                <p:cNvSpPr>
                  <a:spLocks noChangeArrowheads="1"/>
                </p:cNvSpPr>
                <p:nvPr/>
              </p:nvSpPr>
              <p:spPr bwMode="auto">
                <a:xfrm>
                  <a:off x="3212" y="2922"/>
                  <a:ext cx="124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07" name="Line 59"/>
                <p:cNvSpPr>
                  <a:spLocks noChangeShapeType="1"/>
                </p:cNvSpPr>
                <p:nvPr/>
              </p:nvSpPr>
              <p:spPr bwMode="auto">
                <a:xfrm>
                  <a:off x="3411" y="29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08" name="Line 60"/>
                <p:cNvSpPr>
                  <a:spLocks noChangeShapeType="1"/>
                </p:cNvSpPr>
                <p:nvPr/>
              </p:nvSpPr>
              <p:spPr bwMode="auto">
                <a:xfrm>
                  <a:off x="3618" y="29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09" name="Line 61"/>
                <p:cNvSpPr>
                  <a:spLocks noChangeShapeType="1"/>
                </p:cNvSpPr>
                <p:nvPr/>
              </p:nvSpPr>
              <p:spPr bwMode="auto">
                <a:xfrm>
                  <a:off x="3825" y="29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0" name="Line 62"/>
                <p:cNvSpPr>
                  <a:spLocks noChangeShapeType="1"/>
                </p:cNvSpPr>
                <p:nvPr/>
              </p:nvSpPr>
              <p:spPr bwMode="auto">
                <a:xfrm>
                  <a:off x="4032" y="29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1" name="Line 63"/>
                <p:cNvSpPr>
                  <a:spLocks noChangeShapeType="1"/>
                </p:cNvSpPr>
                <p:nvPr/>
              </p:nvSpPr>
              <p:spPr bwMode="auto">
                <a:xfrm>
                  <a:off x="4240" y="29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2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2989" y="1726"/>
                  <a:ext cx="136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3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4356" y="1722"/>
                  <a:ext cx="0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4" name="Line 66"/>
                <p:cNvSpPr>
                  <a:spLocks noChangeShapeType="1"/>
                </p:cNvSpPr>
                <p:nvPr/>
              </p:nvSpPr>
              <p:spPr bwMode="auto">
                <a:xfrm>
                  <a:off x="2960" y="1977"/>
                  <a:ext cx="12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5" name="Line 67"/>
                <p:cNvSpPr>
                  <a:spLocks noChangeShapeType="1"/>
                </p:cNvSpPr>
                <p:nvPr/>
              </p:nvSpPr>
              <p:spPr bwMode="auto">
                <a:xfrm>
                  <a:off x="4163" y="1977"/>
                  <a:ext cx="0" cy="94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6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3923" y="2200"/>
                  <a:ext cx="0" cy="7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7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2967" y="2200"/>
                  <a:ext cx="95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8" name="Line 70"/>
                <p:cNvSpPr>
                  <a:spLocks noChangeShapeType="1"/>
                </p:cNvSpPr>
                <p:nvPr/>
              </p:nvSpPr>
              <p:spPr bwMode="auto">
                <a:xfrm>
                  <a:off x="2956" y="2422"/>
                  <a:ext cx="76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19" name="Line 71"/>
                <p:cNvSpPr>
                  <a:spLocks noChangeShapeType="1"/>
                </p:cNvSpPr>
                <p:nvPr/>
              </p:nvSpPr>
              <p:spPr bwMode="auto">
                <a:xfrm>
                  <a:off x="3727" y="2422"/>
                  <a:ext cx="0" cy="5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20" name="Line 72"/>
                <p:cNvSpPr>
                  <a:spLocks noChangeShapeType="1"/>
                </p:cNvSpPr>
                <p:nvPr/>
              </p:nvSpPr>
              <p:spPr bwMode="auto">
                <a:xfrm>
                  <a:off x="2956" y="2644"/>
                  <a:ext cx="5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21" name="Line 73"/>
                <p:cNvSpPr>
                  <a:spLocks noChangeShapeType="1"/>
                </p:cNvSpPr>
                <p:nvPr/>
              </p:nvSpPr>
              <p:spPr bwMode="auto">
                <a:xfrm>
                  <a:off x="3541" y="2644"/>
                  <a:ext cx="0" cy="27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22" name="Line 74"/>
                <p:cNvSpPr>
                  <a:spLocks noChangeShapeType="1"/>
                </p:cNvSpPr>
                <p:nvPr/>
              </p:nvSpPr>
              <p:spPr bwMode="auto">
                <a:xfrm>
                  <a:off x="2945" y="2844"/>
                  <a:ext cx="3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23" name="Line 75"/>
                <p:cNvSpPr>
                  <a:spLocks noChangeShapeType="1"/>
                </p:cNvSpPr>
                <p:nvPr/>
              </p:nvSpPr>
              <p:spPr bwMode="auto">
                <a:xfrm>
                  <a:off x="3323" y="2844"/>
                  <a:ext cx="0" cy="7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  <a:ea typeface="楷体" pitchFamily="49" charset="-122"/>
                  </a:endParaRPr>
                </a:p>
              </p:txBody>
            </p:sp>
            <p:sp>
              <p:nvSpPr>
                <p:cNvPr id="693324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2620" y="1595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  <p:sp>
              <p:nvSpPr>
                <p:cNvPr id="693325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2607" y="1823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  <p:sp>
              <p:nvSpPr>
                <p:cNvPr id="693326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2607" y="2063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  <p:sp>
              <p:nvSpPr>
                <p:cNvPr id="693327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2620" y="2291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  <p:sp>
              <p:nvSpPr>
                <p:cNvPr id="693328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2620" y="2505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  <p:sp>
              <p:nvSpPr>
                <p:cNvPr id="693329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2620" y="2719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  <a:ea typeface="楷体" pitchFamily="49" charset="-122"/>
                    </a:rPr>
                    <a:t>余</a:t>
                  </a:r>
                </a:p>
              </p:txBody>
            </p:sp>
          </p:grpSp>
          <p:sp>
            <p:nvSpPr>
              <p:cNvPr id="693331" name="AutoShape 83"/>
              <p:cNvSpPr>
                <a:spLocks noChangeArrowheads="1"/>
              </p:cNvSpPr>
              <p:nvPr/>
            </p:nvSpPr>
            <p:spPr bwMode="auto">
              <a:xfrm>
                <a:off x="3173" y="3594"/>
                <a:ext cx="1361" cy="544"/>
              </a:xfrm>
              <a:prstGeom prst="wedgeRoundRectCallout">
                <a:avLst>
                  <a:gd name="adj1" fmla="val 19207"/>
                  <a:gd name="adj2" fmla="val -184191"/>
                  <a:gd name="adj3" fmla="val 16667"/>
                </a:avLst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 algn="ctr"/>
                <a:r>
                  <a:rPr lang="zh-CN" altLang="en-US" sz="2000" b="1" dirty="0">
                    <a:solidFill>
                      <a:srgbClr val="002060"/>
                    </a:solidFill>
                    <a:latin typeface="+mn-lt"/>
                    <a:ea typeface="楷体" pitchFamily="49" charset="-122"/>
                  </a:rPr>
                  <a:t>第一次得到的余数是最低位</a:t>
                </a:r>
              </a:p>
              <a:p>
                <a:pPr algn="ctr"/>
                <a:endParaRPr lang="en-US" altLang="zh-CN" sz="20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693332" name="AutoShape 84"/>
              <p:cNvSpPr>
                <a:spLocks noChangeArrowheads="1"/>
              </p:cNvSpPr>
              <p:nvPr/>
            </p:nvSpPr>
            <p:spPr bwMode="auto">
              <a:xfrm>
                <a:off x="1677" y="3593"/>
                <a:ext cx="1361" cy="544"/>
              </a:xfrm>
              <a:prstGeom prst="wedgeRoundRectCallout">
                <a:avLst>
                  <a:gd name="adj1" fmla="val 58286"/>
                  <a:gd name="adj2" fmla="val -178660"/>
                  <a:gd name="adj3" fmla="val 16667"/>
                </a:avLst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rgbClr val="C0192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 algn="ctr"/>
                <a:r>
                  <a:rPr lang="zh-CN" altLang="en-US" sz="2000" b="1" dirty="0">
                    <a:solidFill>
                      <a:srgbClr val="002060"/>
                    </a:solidFill>
                    <a:latin typeface="+mn-lt"/>
                    <a:ea typeface="楷体" pitchFamily="49" charset="-122"/>
                  </a:rPr>
                  <a:t>最后得到的余数是最高位</a:t>
                </a:r>
              </a:p>
              <a:p>
                <a:pPr algn="ctr"/>
                <a:endParaRPr lang="en-US" altLang="zh-CN" sz="20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  <a:ea typeface="楷体" pitchFamily="49" charset="-122"/>
                </a:endParaRPr>
              </a:p>
            </p:txBody>
          </p:sp>
        </p:grpSp>
      </p:grpSp>
      <p:grpSp>
        <p:nvGrpSpPr>
          <p:cNvPr id="195" name="组合 194"/>
          <p:cNvGrpSpPr/>
          <p:nvPr/>
        </p:nvGrpSpPr>
        <p:grpSpPr>
          <a:xfrm>
            <a:off x="6285278" y="908572"/>
            <a:ext cx="4845621" cy="3024336"/>
            <a:chOff x="5786883" y="260648"/>
            <a:chExt cx="4845621" cy="3024336"/>
          </a:xfrm>
        </p:grpSpPr>
        <p:sp>
          <p:nvSpPr>
            <p:cNvPr id="157" name="矩形 156"/>
            <p:cNvSpPr/>
            <p:nvPr/>
          </p:nvSpPr>
          <p:spPr bwMode="auto">
            <a:xfrm>
              <a:off x="5879976" y="260648"/>
              <a:ext cx="4752528" cy="3024336"/>
            </a:xfrm>
            <a:prstGeom prst="rect">
              <a:avLst/>
            </a:prstGeom>
            <a:gradFill flip="none" rotWithShape="1">
              <a:gsLst>
                <a:gs pos="0">
                  <a:srgbClr val="F8F8F8">
                    <a:shade val="30000"/>
                    <a:satMod val="115000"/>
                  </a:srgbClr>
                </a:gs>
                <a:gs pos="50000">
                  <a:srgbClr val="F8F8F8">
                    <a:shade val="67500"/>
                    <a:satMod val="115000"/>
                  </a:srgbClr>
                </a:gs>
                <a:gs pos="100000">
                  <a:srgbClr val="F8F8F8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cap="flat" cmpd="sng" algn="ctr">
              <a:solidFill>
                <a:srgbClr val="C0192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58" name="Group 259"/>
            <p:cNvGrpSpPr>
              <a:grpSpLocks/>
            </p:cNvGrpSpPr>
            <p:nvPr/>
          </p:nvGrpSpPr>
          <p:grpSpPr bwMode="auto">
            <a:xfrm>
              <a:off x="5786883" y="404664"/>
              <a:ext cx="4743451" cy="2608263"/>
              <a:chOff x="736" y="290"/>
              <a:chExt cx="2988" cy="1643"/>
            </a:xfrm>
          </p:grpSpPr>
          <p:sp>
            <p:nvSpPr>
              <p:cNvPr id="159" name="Text Box 260"/>
              <p:cNvSpPr txBox="1">
                <a:spLocks noChangeArrowheads="1"/>
              </p:cNvSpPr>
              <p:nvPr/>
            </p:nvSpPr>
            <p:spPr bwMode="auto">
              <a:xfrm>
                <a:off x="736" y="290"/>
                <a:ext cx="298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【</a:t>
                </a:r>
                <a:r>
                  <a:rPr lang="zh-CN" altLang="en-US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例</a:t>
                </a:r>
                <a:r>
                  <a:rPr lang="en-US" altLang="zh-CN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2】</a:t>
                </a:r>
                <a:r>
                  <a:rPr lang="zh-CN" altLang="en-US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把十进制数</a:t>
                </a:r>
                <a:r>
                  <a:rPr lang="en-US" altLang="zh-CN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159</a:t>
                </a:r>
                <a:r>
                  <a:rPr lang="zh-CN" altLang="en-US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转换成八进制数</a:t>
                </a:r>
              </a:p>
            </p:txBody>
          </p:sp>
          <p:grpSp>
            <p:nvGrpSpPr>
              <p:cNvPr id="160" name="Group 261"/>
              <p:cNvGrpSpPr>
                <a:grpSpLocks/>
              </p:cNvGrpSpPr>
              <p:nvPr/>
            </p:nvGrpSpPr>
            <p:grpSpPr bwMode="auto">
              <a:xfrm>
                <a:off x="1406" y="625"/>
                <a:ext cx="668" cy="262"/>
                <a:chOff x="1054" y="1393"/>
                <a:chExt cx="668" cy="262"/>
              </a:xfrm>
            </p:grpSpPr>
            <p:grpSp>
              <p:nvGrpSpPr>
                <p:cNvPr id="190" name="Group 262"/>
                <p:cNvGrpSpPr>
                  <a:grpSpLocks/>
                </p:cNvGrpSpPr>
                <p:nvPr/>
              </p:nvGrpSpPr>
              <p:grpSpPr bwMode="auto">
                <a:xfrm>
                  <a:off x="1245" y="1444"/>
                  <a:ext cx="477" cy="211"/>
                  <a:chOff x="1245" y="1444"/>
                  <a:chExt cx="477" cy="211"/>
                </a:xfrm>
              </p:grpSpPr>
              <p:sp>
                <p:nvSpPr>
                  <p:cNvPr id="193" name="Line 26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  <p:sp>
                <p:nvSpPr>
                  <p:cNvPr id="194" name="Line 264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191" name="Text Box 265"/>
                <p:cNvSpPr txBox="1">
                  <a:spLocks noChangeArrowheads="1"/>
                </p:cNvSpPr>
                <p:nvPr/>
              </p:nvSpPr>
              <p:spPr bwMode="auto">
                <a:xfrm>
                  <a:off x="1343" y="1393"/>
                  <a:ext cx="359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159</a:t>
                  </a:r>
                </a:p>
              </p:txBody>
            </p:sp>
            <p:sp>
              <p:nvSpPr>
                <p:cNvPr id="192" name="Text Box 266"/>
                <p:cNvSpPr txBox="1">
                  <a:spLocks noChangeArrowheads="1"/>
                </p:cNvSpPr>
                <p:nvPr/>
              </p:nvSpPr>
              <p:spPr bwMode="auto">
                <a:xfrm>
                  <a:off x="1054" y="1393"/>
                  <a:ext cx="19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8</a:t>
                  </a:r>
                </a:p>
              </p:txBody>
            </p:sp>
          </p:grpSp>
          <p:grpSp>
            <p:nvGrpSpPr>
              <p:cNvPr id="161" name="Group 267"/>
              <p:cNvGrpSpPr>
                <a:grpSpLocks/>
              </p:cNvGrpSpPr>
              <p:nvPr/>
            </p:nvGrpSpPr>
            <p:grpSpPr bwMode="auto">
              <a:xfrm>
                <a:off x="1480" y="876"/>
                <a:ext cx="668" cy="267"/>
                <a:chOff x="1128" y="1644"/>
                <a:chExt cx="668" cy="267"/>
              </a:xfrm>
            </p:grpSpPr>
            <p:sp>
              <p:nvSpPr>
                <p:cNvPr id="185" name="Text Box 268"/>
                <p:cNvSpPr txBox="1">
                  <a:spLocks noChangeArrowheads="1"/>
                </p:cNvSpPr>
                <p:nvPr/>
              </p:nvSpPr>
              <p:spPr bwMode="auto">
                <a:xfrm>
                  <a:off x="1343" y="1659"/>
                  <a:ext cx="278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19</a:t>
                  </a:r>
                </a:p>
              </p:txBody>
            </p:sp>
            <p:grpSp>
              <p:nvGrpSpPr>
                <p:cNvPr id="186" name="Group 269"/>
                <p:cNvGrpSpPr>
                  <a:grpSpLocks/>
                </p:cNvGrpSpPr>
                <p:nvPr/>
              </p:nvGrpSpPr>
              <p:grpSpPr bwMode="auto"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188" name="Line 27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  <p:sp>
                <p:nvSpPr>
                  <p:cNvPr id="189" name="Line 271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187" name="Text Box 272"/>
                <p:cNvSpPr txBox="1">
                  <a:spLocks noChangeArrowheads="1"/>
                </p:cNvSpPr>
                <p:nvPr/>
              </p:nvSpPr>
              <p:spPr bwMode="auto">
                <a:xfrm>
                  <a:off x="1128" y="1644"/>
                  <a:ext cx="19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8</a:t>
                  </a:r>
                </a:p>
              </p:txBody>
            </p:sp>
          </p:grpSp>
          <p:grpSp>
            <p:nvGrpSpPr>
              <p:cNvPr id="162" name="Group 273"/>
              <p:cNvGrpSpPr>
                <a:grpSpLocks/>
              </p:cNvGrpSpPr>
              <p:nvPr/>
            </p:nvGrpSpPr>
            <p:grpSpPr bwMode="auto">
              <a:xfrm>
                <a:off x="1554" y="1106"/>
                <a:ext cx="668" cy="267"/>
                <a:chOff x="1128" y="1644"/>
                <a:chExt cx="668" cy="267"/>
              </a:xfrm>
            </p:grpSpPr>
            <p:sp>
              <p:nvSpPr>
                <p:cNvPr id="180" name="Text Box 274"/>
                <p:cNvSpPr txBox="1">
                  <a:spLocks noChangeArrowheads="1"/>
                </p:cNvSpPr>
                <p:nvPr/>
              </p:nvSpPr>
              <p:spPr bwMode="auto">
                <a:xfrm>
                  <a:off x="1343" y="1659"/>
                  <a:ext cx="19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2</a:t>
                  </a:r>
                </a:p>
              </p:txBody>
            </p:sp>
            <p:grpSp>
              <p:nvGrpSpPr>
                <p:cNvPr id="181" name="Group 275"/>
                <p:cNvGrpSpPr>
                  <a:grpSpLocks/>
                </p:cNvGrpSpPr>
                <p:nvPr/>
              </p:nvGrpSpPr>
              <p:grpSpPr bwMode="auto"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183" name="Line 27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  <p:sp>
                <p:nvSpPr>
                  <p:cNvPr id="184" name="Line 277"/>
                  <p:cNvSpPr>
                    <a:spLocks noChangeShapeType="1"/>
                  </p:cNvSpPr>
                  <p:nvPr/>
                </p:nvSpPr>
                <p:spPr bwMode="auto">
                  <a:xfrm>
                    <a:off x="1245" y="1655"/>
                    <a:ext cx="47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182" name="Text Box 278"/>
                <p:cNvSpPr txBox="1">
                  <a:spLocks noChangeArrowheads="1"/>
                </p:cNvSpPr>
                <p:nvPr/>
              </p:nvSpPr>
              <p:spPr bwMode="auto">
                <a:xfrm>
                  <a:off x="1128" y="1644"/>
                  <a:ext cx="19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8</a:t>
                  </a:r>
                </a:p>
              </p:txBody>
            </p:sp>
          </p:grpSp>
          <p:sp>
            <p:nvSpPr>
              <p:cNvPr id="163" name="Text Box 279"/>
              <p:cNvSpPr txBox="1">
                <a:spLocks noChangeArrowheads="1"/>
              </p:cNvSpPr>
              <p:nvPr/>
            </p:nvSpPr>
            <p:spPr bwMode="auto">
              <a:xfrm>
                <a:off x="1760" y="1303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</a:rPr>
                  <a:t>0</a:t>
                </a:r>
              </a:p>
            </p:txBody>
          </p:sp>
          <p:sp>
            <p:nvSpPr>
              <p:cNvPr id="164" name="Text Box 280"/>
              <p:cNvSpPr txBox="1">
                <a:spLocks noChangeArrowheads="1"/>
              </p:cNvSpPr>
              <p:nvPr/>
            </p:nvSpPr>
            <p:spPr bwMode="auto">
              <a:xfrm>
                <a:off x="1839" y="1681"/>
                <a:ext cx="102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</a:rPr>
                  <a:t>(159)</a:t>
                </a:r>
                <a:r>
                  <a:rPr lang="en-US" altLang="zh-CN" sz="1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</a:rPr>
                  <a:t>10</a:t>
                </a:r>
                <a:r>
                  <a:rPr lang="en-US" altLang="zh-CN" sz="2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</a:rPr>
                  <a:t>=(237)</a:t>
                </a:r>
                <a:r>
                  <a:rPr lang="en-US" altLang="zh-CN" sz="10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</a:rPr>
                  <a:t>8</a:t>
                </a:r>
                <a:endParaRPr lang="en-US" altLang="zh-CN" sz="2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+mn-lt"/>
                </a:endParaRPr>
              </a:p>
            </p:txBody>
          </p:sp>
          <p:grpSp>
            <p:nvGrpSpPr>
              <p:cNvPr id="165" name="Group 281"/>
              <p:cNvGrpSpPr>
                <a:grpSpLocks/>
              </p:cNvGrpSpPr>
              <p:nvPr/>
            </p:nvGrpSpPr>
            <p:grpSpPr bwMode="auto">
              <a:xfrm>
                <a:off x="2833" y="1355"/>
                <a:ext cx="669" cy="309"/>
                <a:chOff x="3901" y="2222"/>
                <a:chExt cx="669" cy="309"/>
              </a:xfrm>
            </p:grpSpPr>
            <p:sp>
              <p:nvSpPr>
                <p:cNvPr id="175" name="Text Box 282"/>
                <p:cNvSpPr txBox="1">
                  <a:spLocks noChangeArrowheads="1"/>
                </p:cNvSpPr>
                <p:nvPr/>
              </p:nvSpPr>
              <p:spPr bwMode="auto">
                <a:xfrm>
                  <a:off x="3929" y="2235"/>
                  <a:ext cx="641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dirty="0"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latin typeface="+mn-lt"/>
                    </a:rPr>
                    <a:t>2  3   7  </a:t>
                  </a:r>
                </a:p>
              </p:txBody>
            </p:sp>
            <p:sp>
              <p:nvSpPr>
                <p:cNvPr id="176" name="Line 283"/>
                <p:cNvSpPr>
                  <a:spLocks noChangeShapeType="1"/>
                </p:cNvSpPr>
                <p:nvPr/>
              </p:nvSpPr>
              <p:spPr bwMode="auto">
                <a:xfrm flipH="1">
                  <a:off x="3943" y="2531"/>
                  <a:ext cx="567" cy="0"/>
                </a:xfrm>
                <a:prstGeom prst="line">
                  <a:avLst/>
                </a:prstGeom>
                <a:noFill/>
                <a:ln w="9525">
                  <a:solidFill>
                    <a:srgbClr val="3333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77" name="Rectangle 284"/>
                <p:cNvSpPr>
                  <a:spLocks noChangeArrowheads="1"/>
                </p:cNvSpPr>
                <p:nvPr/>
              </p:nvSpPr>
              <p:spPr bwMode="auto">
                <a:xfrm>
                  <a:off x="3901" y="2222"/>
                  <a:ext cx="655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dirty="0">
                    <a:latin typeface="+mn-lt"/>
                  </a:endParaRPr>
                </a:p>
              </p:txBody>
            </p:sp>
            <p:sp>
              <p:nvSpPr>
                <p:cNvPr id="178" name="Line 285"/>
                <p:cNvSpPr>
                  <a:spLocks noChangeShapeType="1"/>
                </p:cNvSpPr>
                <p:nvPr/>
              </p:nvSpPr>
              <p:spPr bwMode="auto">
                <a:xfrm>
                  <a:off x="4100" y="22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79" name="Line 286"/>
                <p:cNvSpPr>
                  <a:spLocks noChangeShapeType="1"/>
                </p:cNvSpPr>
                <p:nvPr/>
              </p:nvSpPr>
              <p:spPr bwMode="auto">
                <a:xfrm>
                  <a:off x="4307" y="22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166" name="Text Box 287"/>
              <p:cNvSpPr txBox="1">
                <a:spLocks noChangeArrowheads="1"/>
              </p:cNvSpPr>
              <p:nvPr/>
            </p:nvSpPr>
            <p:spPr bwMode="auto">
              <a:xfrm>
                <a:off x="2286" y="626"/>
                <a:ext cx="40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 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7</a:t>
                </a:r>
              </a:p>
            </p:txBody>
          </p:sp>
          <p:sp>
            <p:nvSpPr>
              <p:cNvPr id="167" name="Text Box 288"/>
              <p:cNvSpPr txBox="1">
                <a:spLocks noChangeArrowheads="1"/>
              </p:cNvSpPr>
              <p:nvPr/>
            </p:nvSpPr>
            <p:spPr bwMode="auto">
              <a:xfrm>
                <a:off x="2286" y="872"/>
                <a:ext cx="40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 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3</a:t>
                </a:r>
              </a:p>
            </p:txBody>
          </p:sp>
          <p:sp>
            <p:nvSpPr>
              <p:cNvPr id="168" name="Text Box 289"/>
              <p:cNvSpPr txBox="1">
                <a:spLocks noChangeArrowheads="1"/>
              </p:cNvSpPr>
              <p:nvPr/>
            </p:nvSpPr>
            <p:spPr bwMode="auto">
              <a:xfrm>
                <a:off x="2286" y="1118"/>
                <a:ext cx="40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 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2</a:t>
                </a:r>
              </a:p>
            </p:txBody>
          </p:sp>
          <p:sp>
            <p:nvSpPr>
              <p:cNvPr id="169" name="Line 290"/>
              <p:cNvSpPr>
                <a:spLocks noChangeShapeType="1"/>
              </p:cNvSpPr>
              <p:nvPr/>
            </p:nvSpPr>
            <p:spPr bwMode="auto">
              <a:xfrm>
                <a:off x="2633" y="1255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170" name="Line 291"/>
              <p:cNvSpPr>
                <a:spLocks noChangeShapeType="1"/>
              </p:cNvSpPr>
              <p:nvPr/>
            </p:nvSpPr>
            <p:spPr bwMode="auto">
              <a:xfrm>
                <a:off x="2622" y="733"/>
                <a:ext cx="7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171" name="Line 292"/>
              <p:cNvSpPr>
                <a:spLocks noChangeShapeType="1"/>
              </p:cNvSpPr>
              <p:nvPr/>
            </p:nvSpPr>
            <p:spPr bwMode="auto">
              <a:xfrm>
                <a:off x="3367" y="733"/>
                <a:ext cx="0" cy="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172" name="Line 293"/>
              <p:cNvSpPr>
                <a:spLocks noChangeShapeType="1"/>
              </p:cNvSpPr>
              <p:nvPr/>
            </p:nvSpPr>
            <p:spPr bwMode="auto">
              <a:xfrm>
                <a:off x="2644" y="977"/>
                <a:ext cx="4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173" name="Line 294"/>
              <p:cNvSpPr>
                <a:spLocks noChangeShapeType="1"/>
              </p:cNvSpPr>
              <p:nvPr/>
            </p:nvSpPr>
            <p:spPr bwMode="auto">
              <a:xfrm>
                <a:off x="3122" y="977"/>
                <a:ext cx="0" cy="3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174" name="Line 295"/>
              <p:cNvSpPr>
                <a:spLocks noChangeShapeType="1"/>
              </p:cNvSpPr>
              <p:nvPr/>
            </p:nvSpPr>
            <p:spPr bwMode="auto">
              <a:xfrm flipV="1">
                <a:off x="2944" y="1255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</p:grpSp>
      </p:grpSp>
      <p:grpSp>
        <p:nvGrpSpPr>
          <p:cNvPr id="269" name="组合 268"/>
          <p:cNvGrpSpPr/>
          <p:nvPr/>
        </p:nvGrpSpPr>
        <p:grpSpPr>
          <a:xfrm>
            <a:off x="6304438" y="3370337"/>
            <a:ext cx="4954588" cy="3024336"/>
            <a:chOff x="5137477" y="3573016"/>
            <a:chExt cx="4954588" cy="3024336"/>
          </a:xfrm>
        </p:grpSpPr>
        <p:sp>
          <p:nvSpPr>
            <p:cNvPr id="197" name="矩形 196"/>
            <p:cNvSpPr/>
            <p:nvPr/>
          </p:nvSpPr>
          <p:spPr bwMode="auto">
            <a:xfrm>
              <a:off x="5231904" y="3573016"/>
              <a:ext cx="4752528" cy="3024336"/>
            </a:xfrm>
            <a:prstGeom prst="rect">
              <a:avLst/>
            </a:prstGeom>
            <a:gradFill flip="none" rotWithShape="1">
              <a:gsLst>
                <a:gs pos="0">
                  <a:srgbClr val="F8F8F8">
                    <a:shade val="30000"/>
                    <a:satMod val="115000"/>
                  </a:srgbClr>
                </a:gs>
                <a:gs pos="50000">
                  <a:srgbClr val="F8F8F8">
                    <a:shade val="67500"/>
                    <a:satMod val="115000"/>
                  </a:srgbClr>
                </a:gs>
                <a:gs pos="100000">
                  <a:srgbClr val="F8F8F8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38100" cap="flat" cmpd="sng" algn="ctr">
              <a:solidFill>
                <a:srgbClr val="C0192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06680" dir="2700000" algn="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235" name="Group 296"/>
            <p:cNvGrpSpPr>
              <a:grpSpLocks/>
            </p:cNvGrpSpPr>
            <p:nvPr/>
          </p:nvGrpSpPr>
          <p:grpSpPr bwMode="auto">
            <a:xfrm>
              <a:off x="5137477" y="3722385"/>
              <a:ext cx="4954588" cy="2678113"/>
              <a:chOff x="892" y="1987"/>
              <a:chExt cx="3121" cy="1687"/>
            </a:xfrm>
          </p:grpSpPr>
          <p:sp>
            <p:nvSpPr>
              <p:cNvPr id="236" name="Text Box 297"/>
              <p:cNvSpPr txBox="1">
                <a:spLocks noChangeArrowheads="1"/>
              </p:cNvSpPr>
              <p:nvPr/>
            </p:nvSpPr>
            <p:spPr bwMode="auto">
              <a:xfrm>
                <a:off x="892" y="1987"/>
                <a:ext cx="312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【</a:t>
                </a:r>
                <a:r>
                  <a:rPr lang="zh-CN" altLang="en-US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例</a:t>
                </a:r>
                <a:r>
                  <a:rPr lang="en-US" altLang="zh-CN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3】</a:t>
                </a:r>
                <a:r>
                  <a:rPr lang="zh-CN" altLang="en-US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把十进制数</a:t>
                </a:r>
                <a:r>
                  <a:rPr lang="en-US" altLang="zh-CN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459</a:t>
                </a:r>
                <a:r>
                  <a:rPr lang="zh-CN" altLang="en-US" sz="2000" b="1" dirty="0">
                    <a:solidFill>
                      <a:srgbClr val="C0192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转换成十六进制数</a:t>
                </a:r>
              </a:p>
            </p:txBody>
          </p:sp>
          <p:grpSp>
            <p:nvGrpSpPr>
              <p:cNvPr id="237" name="Group 298"/>
              <p:cNvGrpSpPr>
                <a:grpSpLocks/>
              </p:cNvGrpSpPr>
              <p:nvPr/>
            </p:nvGrpSpPr>
            <p:grpSpPr bwMode="auto">
              <a:xfrm>
                <a:off x="1649" y="2416"/>
                <a:ext cx="477" cy="211"/>
                <a:chOff x="1245" y="1444"/>
                <a:chExt cx="477" cy="211"/>
              </a:xfrm>
            </p:grpSpPr>
            <p:sp>
              <p:nvSpPr>
                <p:cNvPr id="267" name="Line 299"/>
                <p:cNvSpPr>
                  <a:spLocks noChangeShapeType="1"/>
                </p:cNvSpPr>
                <p:nvPr/>
              </p:nvSpPr>
              <p:spPr bwMode="auto">
                <a:xfrm flipH="1">
                  <a:off x="1245" y="1444"/>
                  <a:ext cx="0" cy="2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8" name="Line 300"/>
                <p:cNvSpPr>
                  <a:spLocks noChangeShapeType="1"/>
                </p:cNvSpPr>
                <p:nvPr/>
              </p:nvSpPr>
              <p:spPr bwMode="auto">
                <a:xfrm>
                  <a:off x="1245" y="1655"/>
                  <a:ext cx="4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238" name="Text Box 301"/>
              <p:cNvSpPr txBox="1">
                <a:spLocks noChangeArrowheads="1"/>
              </p:cNvSpPr>
              <p:nvPr/>
            </p:nvSpPr>
            <p:spPr bwMode="auto">
              <a:xfrm>
                <a:off x="1747" y="2365"/>
                <a:ext cx="35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459</a:t>
                </a:r>
              </a:p>
            </p:txBody>
          </p:sp>
          <p:sp>
            <p:nvSpPr>
              <p:cNvPr id="239" name="Text Box 302"/>
              <p:cNvSpPr txBox="1">
                <a:spLocks noChangeArrowheads="1"/>
              </p:cNvSpPr>
              <p:nvPr/>
            </p:nvSpPr>
            <p:spPr bwMode="auto">
              <a:xfrm>
                <a:off x="1380" y="2376"/>
                <a:ext cx="2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16</a:t>
                </a:r>
              </a:p>
            </p:txBody>
          </p:sp>
          <p:sp>
            <p:nvSpPr>
              <p:cNvPr id="240" name="Text Box 303"/>
              <p:cNvSpPr txBox="1">
                <a:spLocks noChangeArrowheads="1"/>
              </p:cNvSpPr>
              <p:nvPr/>
            </p:nvSpPr>
            <p:spPr bwMode="auto">
              <a:xfrm>
                <a:off x="1747" y="2643"/>
                <a:ext cx="2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28</a:t>
                </a:r>
              </a:p>
            </p:txBody>
          </p:sp>
          <p:grpSp>
            <p:nvGrpSpPr>
              <p:cNvPr id="241" name="Group 304"/>
              <p:cNvGrpSpPr>
                <a:grpSpLocks/>
              </p:cNvGrpSpPr>
              <p:nvPr/>
            </p:nvGrpSpPr>
            <p:grpSpPr bwMode="auto">
              <a:xfrm>
                <a:off x="1723" y="2646"/>
                <a:ext cx="477" cy="211"/>
                <a:chOff x="1245" y="1444"/>
                <a:chExt cx="477" cy="211"/>
              </a:xfrm>
            </p:grpSpPr>
            <p:sp>
              <p:nvSpPr>
                <p:cNvPr id="265" name="Line 305"/>
                <p:cNvSpPr>
                  <a:spLocks noChangeShapeType="1"/>
                </p:cNvSpPr>
                <p:nvPr/>
              </p:nvSpPr>
              <p:spPr bwMode="auto">
                <a:xfrm flipH="1">
                  <a:off x="1245" y="1444"/>
                  <a:ext cx="0" cy="2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6" name="Line 306"/>
                <p:cNvSpPr>
                  <a:spLocks noChangeShapeType="1"/>
                </p:cNvSpPr>
                <p:nvPr/>
              </p:nvSpPr>
              <p:spPr bwMode="auto">
                <a:xfrm>
                  <a:off x="1245" y="1655"/>
                  <a:ext cx="4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242" name="Text Box 307"/>
              <p:cNvSpPr txBox="1">
                <a:spLocks noChangeArrowheads="1"/>
              </p:cNvSpPr>
              <p:nvPr/>
            </p:nvSpPr>
            <p:spPr bwMode="auto">
              <a:xfrm>
                <a:off x="1465" y="2639"/>
                <a:ext cx="2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16</a:t>
                </a:r>
              </a:p>
            </p:txBody>
          </p:sp>
          <p:sp>
            <p:nvSpPr>
              <p:cNvPr id="243" name="Text Box 308"/>
              <p:cNvSpPr txBox="1">
                <a:spLocks noChangeArrowheads="1"/>
              </p:cNvSpPr>
              <p:nvPr/>
            </p:nvSpPr>
            <p:spPr bwMode="auto">
              <a:xfrm>
                <a:off x="1821" y="2873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1</a:t>
                </a:r>
              </a:p>
            </p:txBody>
          </p:sp>
          <p:grpSp>
            <p:nvGrpSpPr>
              <p:cNvPr id="244" name="Group 309"/>
              <p:cNvGrpSpPr>
                <a:grpSpLocks/>
              </p:cNvGrpSpPr>
              <p:nvPr/>
            </p:nvGrpSpPr>
            <p:grpSpPr bwMode="auto">
              <a:xfrm>
                <a:off x="1797" y="2876"/>
                <a:ext cx="477" cy="211"/>
                <a:chOff x="1245" y="1444"/>
                <a:chExt cx="477" cy="211"/>
              </a:xfrm>
            </p:grpSpPr>
            <p:sp>
              <p:nvSpPr>
                <p:cNvPr id="263" name="Line 310"/>
                <p:cNvSpPr>
                  <a:spLocks noChangeShapeType="1"/>
                </p:cNvSpPr>
                <p:nvPr/>
              </p:nvSpPr>
              <p:spPr bwMode="auto">
                <a:xfrm flipH="1">
                  <a:off x="1245" y="1444"/>
                  <a:ext cx="0" cy="21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4" name="Line 311"/>
                <p:cNvSpPr>
                  <a:spLocks noChangeShapeType="1"/>
                </p:cNvSpPr>
                <p:nvPr/>
              </p:nvSpPr>
              <p:spPr bwMode="auto">
                <a:xfrm>
                  <a:off x="1245" y="1655"/>
                  <a:ext cx="47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245" name="Text Box 312"/>
              <p:cNvSpPr txBox="1">
                <a:spLocks noChangeArrowheads="1"/>
              </p:cNvSpPr>
              <p:nvPr/>
            </p:nvSpPr>
            <p:spPr bwMode="auto">
              <a:xfrm>
                <a:off x="1539" y="2858"/>
                <a:ext cx="2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latin typeface="+mn-lt"/>
                  </a:rPr>
                  <a:t>16</a:t>
                </a:r>
              </a:p>
            </p:txBody>
          </p:sp>
          <p:sp>
            <p:nvSpPr>
              <p:cNvPr id="246" name="Text Box 313"/>
              <p:cNvSpPr txBox="1">
                <a:spLocks noChangeArrowheads="1"/>
              </p:cNvSpPr>
              <p:nvPr/>
            </p:nvSpPr>
            <p:spPr bwMode="auto">
              <a:xfrm>
                <a:off x="1812" y="3055"/>
                <a:ext cx="19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+mn-lt"/>
                  </a:rPr>
                  <a:t>0</a:t>
                </a:r>
              </a:p>
            </p:txBody>
          </p:sp>
          <p:sp>
            <p:nvSpPr>
              <p:cNvPr id="247" name="Text Box 314"/>
              <p:cNvSpPr txBox="1">
                <a:spLocks noChangeArrowheads="1"/>
              </p:cNvSpPr>
              <p:nvPr/>
            </p:nvSpPr>
            <p:spPr bwMode="auto">
              <a:xfrm>
                <a:off x="1670" y="3422"/>
                <a:ext cx="1122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C00000"/>
                    </a:solidFill>
                    <a:latin typeface="+mn-lt"/>
                  </a:rPr>
                  <a:t>(459)</a:t>
                </a:r>
                <a:r>
                  <a:rPr lang="en-US" altLang="zh-CN" sz="1000" b="1" dirty="0">
                    <a:solidFill>
                      <a:srgbClr val="C00000"/>
                    </a:solidFill>
                    <a:latin typeface="+mn-lt"/>
                  </a:rPr>
                  <a:t>10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+mn-lt"/>
                  </a:rPr>
                  <a:t>=(1CB)</a:t>
                </a:r>
                <a:r>
                  <a:rPr lang="en-US" altLang="zh-CN" sz="1000" b="1" dirty="0">
                    <a:solidFill>
                      <a:srgbClr val="C00000"/>
                    </a:solidFill>
                    <a:latin typeface="+mn-lt"/>
                  </a:rPr>
                  <a:t>16</a:t>
                </a:r>
                <a:endParaRPr lang="en-US" altLang="zh-CN" sz="2000" b="1" dirty="0">
                  <a:solidFill>
                    <a:srgbClr val="C00000"/>
                  </a:solidFill>
                  <a:latin typeface="+mn-lt"/>
                </a:endParaRPr>
              </a:p>
            </p:txBody>
          </p:sp>
          <p:grpSp>
            <p:nvGrpSpPr>
              <p:cNvPr id="248" name="Group 315"/>
              <p:cNvGrpSpPr>
                <a:grpSpLocks/>
              </p:cNvGrpSpPr>
              <p:nvPr/>
            </p:nvGrpSpPr>
            <p:grpSpPr bwMode="auto">
              <a:xfrm>
                <a:off x="2884" y="3117"/>
                <a:ext cx="724" cy="309"/>
                <a:chOff x="3901" y="2222"/>
                <a:chExt cx="724" cy="309"/>
              </a:xfrm>
            </p:grpSpPr>
            <p:sp>
              <p:nvSpPr>
                <p:cNvPr id="258" name="Text Box 316"/>
                <p:cNvSpPr txBox="1">
                  <a:spLocks noChangeArrowheads="1"/>
                </p:cNvSpPr>
                <p:nvPr/>
              </p:nvSpPr>
              <p:spPr bwMode="auto">
                <a:xfrm>
                  <a:off x="3929" y="2235"/>
                  <a:ext cx="696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>
                      <a:latin typeface="+mn-lt"/>
                    </a:rPr>
                    <a:t>1  C   B  </a:t>
                  </a:r>
                </a:p>
              </p:txBody>
            </p:sp>
            <p:sp>
              <p:nvSpPr>
                <p:cNvPr id="259" name="Line 317"/>
                <p:cNvSpPr>
                  <a:spLocks noChangeShapeType="1"/>
                </p:cNvSpPr>
                <p:nvPr/>
              </p:nvSpPr>
              <p:spPr bwMode="auto">
                <a:xfrm flipH="1">
                  <a:off x="3943" y="2531"/>
                  <a:ext cx="567" cy="0"/>
                </a:xfrm>
                <a:prstGeom prst="line">
                  <a:avLst/>
                </a:prstGeom>
                <a:noFill/>
                <a:ln w="9525">
                  <a:solidFill>
                    <a:srgbClr val="3333FF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0" name="Rectangle 318"/>
                <p:cNvSpPr>
                  <a:spLocks noChangeArrowheads="1"/>
                </p:cNvSpPr>
                <p:nvPr/>
              </p:nvSpPr>
              <p:spPr bwMode="auto">
                <a:xfrm>
                  <a:off x="3901" y="2222"/>
                  <a:ext cx="655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1" name="Line 319"/>
                <p:cNvSpPr>
                  <a:spLocks noChangeShapeType="1"/>
                </p:cNvSpPr>
                <p:nvPr/>
              </p:nvSpPr>
              <p:spPr bwMode="auto">
                <a:xfrm>
                  <a:off x="4100" y="22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62" name="Line 320"/>
                <p:cNvSpPr>
                  <a:spLocks noChangeShapeType="1"/>
                </p:cNvSpPr>
                <p:nvPr/>
              </p:nvSpPr>
              <p:spPr bwMode="auto">
                <a:xfrm>
                  <a:off x="4307" y="222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249" name="Text Box 321"/>
              <p:cNvSpPr txBox="1">
                <a:spLocks noChangeArrowheads="1"/>
              </p:cNvSpPr>
              <p:nvPr/>
            </p:nvSpPr>
            <p:spPr bwMode="auto">
              <a:xfrm>
                <a:off x="2315" y="2388"/>
                <a:ext cx="433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11</a:t>
                </a:r>
              </a:p>
            </p:txBody>
          </p:sp>
          <p:sp>
            <p:nvSpPr>
              <p:cNvPr id="250" name="Text Box 322"/>
              <p:cNvSpPr txBox="1">
                <a:spLocks noChangeArrowheads="1"/>
              </p:cNvSpPr>
              <p:nvPr/>
            </p:nvSpPr>
            <p:spPr bwMode="auto">
              <a:xfrm>
                <a:off x="2315" y="2634"/>
                <a:ext cx="4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12</a:t>
                </a:r>
              </a:p>
            </p:txBody>
          </p:sp>
          <p:sp>
            <p:nvSpPr>
              <p:cNvPr id="251" name="Text Box 323"/>
              <p:cNvSpPr txBox="1">
                <a:spLocks noChangeArrowheads="1"/>
              </p:cNvSpPr>
              <p:nvPr/>
            </p:nvSpPr>
            <p:spPr bwMode="auto">
              <a:xfrm>
                <a:off x="2315" y="2880"/>
                <a:ext cx="40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余 </a:t>
                </a:r>
                <a:r>
                  <a:rPr lang="en-US" altLang="zh-CN" sz="2000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+mn-lt"/>
                    <a:ea typeface="楷体" pitchFamily="49" charset="-122"/>
                  </a:rPr>
                  <a:t>1</a:t>
                </a:r>
              </a:p>
            </p:txBody>
          </p:sp>
          <p:sp>
            <p:nvSpPr>
              <p:cNvPr id="252" name="Line 324"/>
              <p:cNvSpPr>
                <a:spLocks noChangeShapeType="1"/>
              </p:cNvSpPr>
              <p:nvPr/>
            </p:nvSpPr>
            <p:spPr bwMode="auto">
              <a:xfrm>
                <a:off x="2662" y="3017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53" name="Line 325"/>
              <p:cNvSpPr>
                <a:spLocks noChangeShapeType="1"/>
              </p:cNvSpPr>
              <p:nvPr/>
            </p:nvSpPr>
            <p:spPr bwMode="auto">
              <a:xfrm>
                <a:off x="2684" y="2495"/>
                <a:ext cx="7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54" name="Line 326"/>
              <p:cNvSpPr>
                <a:spLocks noChangeShapeType="1"/>
              </p:cNvSpPr>
              <p:nvPr/>
            </p:nvSpPr>
            <p:spPr bwMode="auto">
              <a:xfrm>
                <a:off x="3396" y="2495"/>
                <a:ext cx="0" cy="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55" name="Line 327"/>
              <p:cNvSpPr>
                <a:spLocks noChangeShapeType="1"/>
              </p:cNvSpPr>
              <p:nvPr/>
            </p:nvSpPr>
            <p:spPr bwMode="auto">
              <a:xfrm>
                <a:off x="2695" y="2739"/>
                <a:ext cx="4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56" name="Line 328"/>
              <p:cNvSpPr>
                <a:spLocks noChangeShapeType="1"/>
              </p:cNvSpPr>
              <p:nvPr/>
            </p:nvSpPr>
            <p:spPr bwMode="auto">
              <a:xfrm>
                <a:off x="3151" y="2739"/>
                <a:ext cx="0" cy="3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57" name="Line 329"/>
              <p:cNvSpPr>
                <a:spLocks noChangeShapeType="1"/>
              </p:cNvSpPr>
              <p:nvPr/>
            </p:nvSpPr>
            <p:spPr bwMode="auto">
              <a:xfrm flipV="1">
                <a:off x="2973" y="3017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+mn-lt"/>
                </a:endParaRPr>
              </a:p>
            </p:txBody>
          </p:sp>
        </p:grpSp>
      </p:grpSp>
      <p:sp>
        <p:nvSpPr>
          <p:cNvPr id="196" name="Rectangle 4">
            <a:extLst>
              <a:ext uri="{FF2B5EF4-FFF2-40B4-BE49-F238E27FC236}">
                <a16:creationId xmlns:a16="http://schemas.microsoft.com/office/drawing/2014/main" id="{DD2C68FF-14DF-4BDC-9094-0BCC7AB4B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1.2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进位计数制及其转换 </a:t>
            </a:r>
          </a:p>
        </p:txBody>
      </p: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B0671619-9B20-4E9D-A6F1-5B8D1BEFC4BB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0D1C7A00-5373-4A6F-BFF9-7C267BA506E3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201" name="菱形 200">
                <a:extLst>
                  <a:ext uri="{FF2B5EF4-FFF2-40B4-BE49-F238E27FC236}">
                    <a16:creationId xmlns:a16="http://schemas.microsoft.com/office/drawing/2014/main" id="{802BBCE2-E83E-46CC-A6DE-50A3E866DBFC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02" name="菱形 201">
                <a:extLst>
                  <a:ext uri="{FF2B5EF4-FFF2-40B4-BE49-F238E27FC236}">
                    <a16:creationId xmlns:a16="http://schemas.microsoft.com/office/drawing/2014/main" id="{B0108CE8-8F36-4D57-B485-783361608B3B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200" name="Text Box 5">
              <a:extLst>
                <a:ext uri="{FF2B5EF4-FFF2-40B4-BE49-F238E27FC236}">
                  <a16:creationId xmlns:a16="http://schemas.microsoft.com/office/drawing/2014/main" id="{54C5F5BA-6FBE-4223-A009-C5E149C155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整数部分转换举例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Text Box 2"/>
          <p:cNvSpPr txBox="1">
            <a:spLocks noChangeArrowheads="1"/>
          </p:cNvSpPr>
          <p:nvPr/>
        </p:nvSpPr>
        <p:spPr bwMode="auto">
          <a:xfrm>
            <a:off x="861712" y="943516"/>
            <a:ext cx="6786563" cy="45720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tabLst>
                <a:tab pos="177800" algn="l"/>
              </a:tabLst>
            </a:pPr>
            <a:r>
              <a:rPr lang="en-US" altLang="zh-CN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C0192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）小数部分转换</a:t>
            </a:r>
          </a:p>
        </p:txBody>
      </p:sp>
      <p:sp>
        <p:nvSpPr>
          <p:cNvPr id="694426" name="Rectangle 154"/>
          <p:cNvSpPr>
            <a:spLocks noChangeArrowheads="1"/>
          </p:cNvSpPr>
          <p:nvPr/>
        </p:nvSpPr>
        <p:spPr bwMode="auto">
          <a:xfrm>
            <a:off x="1118173" y="1314515"/>
            <a:ext cx="1034670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FF0066"/>
              </a:buClr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隶书" pitchFamily="49" charset="-122"/>
                <a:ea typeface="隶书" pitchFamily="49" charset="-122"/>
              </a:rPr>
              <a:t>原理：</a:t>
            </a:r>
          </a:p>
          <a:p>
            <a:pPr>
              <a:buClr>
                <a:srgbClr val="FF0066"/>
              </a:buClr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隶书" pitchFamily="49" charset="-122"/>
                <a:ea typeface="隶书" pitchFamily="49" charset="-122"/>
              </a:rPr>
              <a:t>方法：连续乘以基，从高到低记录整数部分，直至结果的小数部分为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隶书" pitchFamily="49" charset="-122"/>
                <a:ea typeface="隶书" pitchFamily="49" charset="-122"/>
              </a:rPr>
              <a:t>0</a:t>
            </a:r>
          </a:p>
          <a:p>
            <a:pPr>
              <a:buClr>
                <a:srgbClr val="FF0066"/>
              </a:buClr>
            </a:pPr>
            <a:endParaRPr lang="en-US" altLang="zh-CN" b="1" dirty="0">
              <a:solidFill>
                <a:schemeClr val="accent1">
                  <a:lumMod val="50000"/>
                </a:schemeClr>
              </a:solidFill>
              <a:latin typeface="隶书" pitchFamily="49" charset="-122"/>
              <a:ea typeface="隶书" pitchFamily="49" charset="-122"/>
            </a:endParaRPr>
          </a:p>
          <a:p>
            <a:pPr>
              <a:buClr>
                <a:srgbClr val="FF0066"/>
              </a:buClr>
              <a:buFont typeface="Wingdings" pitchFamily="2" charset="2"/>
              <a:buNone/>
            </a:pPr>
            <a:r>
              <a:rPr lang="en-US" altLang="zh-CN" b="1" dirty="0"/>
              <a:t>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在十进制的小数部分转换中，有时连续乘以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不一定能使小数部分等于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，这说明该十进制小数不能用有限位二进制小数表示。这时，只要取足够多的位数，使其误差达到所要求的精度就可以了。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graphicFrame>
        <p:nvGraphicFramePr>
          <p:cNvPr id="694427" name="Object 1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429492"/>
              </p:ext>
            </p:extLst>
          </p:nvPr>
        </p:nvGraphicFramePr>
        <p:xfrm>
          <a:off x="1222401" y="1673003"/>
          <a:ext cx="4583112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965160" progId="">
                  <p:embed/>
                </p:oleObj>
              </mc:Choice>
              <mc:Fallback>
                <p:oleObj name="Equation" r:id="rId3" imgW="2743200" imgH="965160" progId="">
                  <p:embed/>
                  <p:pic>
                    <p:nvPicPr>
                      <p:cNvPr id="694427" name="Object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401" y="1673003"/>
                        <a:ext cx="4583112" cy="191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4434" name="Group 162"/>
          <p:cNvGrpSpPr>
            <a:grpSpLocks/>
          </p:cNvGrpSpPr>
          <p:nvPr/>
        </p:nvGrpSpPr>
        <p:grpSpPr bwMode="auto">
          <a:xfrm>
            <a:off x="1118173" y="2290688"/>
            <a:ext cx="8424864" cy="4240213"/>
            <a:chOff x="772" y="1262"/>
            <a:chExt cx="5307" cy="2671"/>
          </a:xfrm>
        </p:grpSpPr>
        <p:grpSp>
          <p:nvGrpSpPr>
            <p:cNvPr id="694432" name="Group 160"/>
            <p:cNvGrpSpPr>
              <a:grpSpLocks/>
            </p:cNvGrpSpPr>
            <p:nvPr/>
          </p:nvGrpSpPr>
          <p:grpSpPr bwMode="auto">
            <a:xfrm>
              <a:off x="772" y="1262"/>
              <a:ext cx="5080" cy="1454"/>
              <a:chOff x="385" y="2117"/>
              <a:chExt cx="5080" cy="1454"/>
            </a:xfrm>
          </p:grpSpPr>
          <p:sp>
            <p:nvSpPr>
              <p:cNvPr id="694428" name="Rectangle 156"/>
              <p:cNvSpPr>
                <a:spLocks noChangeArrowheads="1"/>
              </p:cNvSpPr>
              <p:nvPr/>
            </p:nvSpPr>
            <p:spPr bwMode="auto">
              <a:xfrm>
                <a:off x="385" y="2117"/>
                <a:ext cx="5080" cy="14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indent="1466850"/>
                <a:r>
                  <a:rPr lang="zh-CN" altLang="en-US" dirty="0">
                    <a:solidFill>
                      <a:srgbClr val="FF0066"/>
                    </a:solidFill>
                    <a:latin typeface="+mn-lt"/>
                    <a:ea typeface="楷体" pitchFamily="49" charset="-122"/>
                  </a:rPr>
                  <a:t>例： 将十进制数</a:t>
                </a:r>
                <a:r>
                  <a:rPr lang="en-US" altLang="zh-CN" dirty="0">
                    <a:solidFill>
                      <a:srgbClr val="FF0066"/>
                    </a:solidFill>
                    <a:latin typeface="+mn-lt"/>
                    <a:ea typeface="楷体" pitchFamily="49" charset="-122"/>
                  </a:rPr>
                  <a:t>0.8125</a:t>
                </a:r>
                <a:r>
                  <a:rPr lang="zh-CN" altLang="en-US" dirty="0">
                    <a:solidFill>
                      <a:srgbClr val="FF0066"/>
                    </a:solidFill>
                    <a:latin typeface="+mn-lt"/>
                    <a:ea typeface="楷体" pitchFamily="49" charset="-122"/>
                  </a:rPr>
                  <a:t>转换成二进制</a:t>
                </a:r>
              </a:p>
              <a:p>
                <a:pPr indent="1466850"/>
                <a:r>
                  <a:rPr lang="zh-CN" altLang="en-US" dirty="0">
                    <a:latin typeface="+mn-lt"/>
                    <a:ea typeface="楷体" pitchFamily="49" charset="-122"/>
                  </a:rPr>
                  <a:t>     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0.8125 × 2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1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.625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（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b1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1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）  </a:t>
                </a:r>
                <a:r>
                  <a:rPr lang="zh-CN" altLang="en-US" sz="1800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最高小数位</a:t>
                </a:r>
              </a:p>
              <a:p>
                <a:pPr indent="1466850"/>
                <a:r>
                  <a:rPr lang="zh-CN" altLang="en-US" dirty="0">
                    <a:latin typeface="+mn-lt"/>
                    <a:ea typeface="楷体" pitchFamily="49" charset="-122"/>
                  </a:rPr>
                  <a:t>     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0.625 × 2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1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.25  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（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b2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1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）</a:t>
                </a:r>
              </a:p>
              <a:p>
                <a:pPr indent="1466850"/>
                <a:r>
                  <a:rPr lang="zh-CN" altLang="en-US" dirty="0">
                    <a:latin typeface="+mn-lt"/>
                    <a:ea typeface="楷体" pitchFamily="49" charset="-122"/>
                  </a:rPr>
                  <a:t>     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0.25 × 2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0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.5    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（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b3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0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）</a:t>
                </a:r>
              </a:p>
              <a:p>
                <a:pPr indent="1466850"/>
                <a:r>
                  <a:rPr lang="zh-CN" altLang="en-US" dirty="0">
                    <a:latin typeface="+mn-lt"/>
                    <a:ea typeface="楷体" pitchFamily="49" charset="-122"/>
                  </a:rPr>
                  <a:t>     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0.5 × 2  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1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.0        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（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b4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1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）  </a:t>
                </a:r>
                <a:r>
                  <a:rPr lang="zh-CN" altLang="en-US" sz="1800" b="1" dirty="0">
                    <a:solidFill>
                      <a:schemeClr val="accent2"/>
                    </a:solidFill>
                    <a:latin typeface="+mn-lt"/>
                    <a:ea typeface="楷体" pitchFamily="49" charset="-122"/>
                  </a:rPr>
                  <a:t>最低小数位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   </a:t>
                </a:r>
              </a:p>
              <a:p>
                <a:pPr indent="1466850"/>
                <a:r>
                  <a:rPr lang="zh-CN" altLang="en-US" dirty="0">
                    <a:latin typeface="+mn-lt"/>
                    <a:ea typeface="楷体" pitchFamily="49" charset="-122"/>
                  </a:rPr>
                  <a:t>      所以 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(0.8125)</a:t>
                </a:r>
                <a:r>
                  <a:rPr lang="en-US" altLang="zh-CN" baseline="-25000" dirty="0">
                    <a:latin typeface="+mn-lt"/>
                    <a:ea typeface="楷体" pitchFamily="49" charset="-122"/>
                  </a:rPr>
                  <a:t>10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 </a:t>
                </a:r>
                <a:r>
                  <a:rPr lang="zh-CN" altLang="en-US" dirty="0">
                    <a:latin typeface="+mn-lt"/>
                    <a:ea typeface="楷体" pitchFamily="49" charset="-122"/>
                  </a:rPr>
                  <a:t>＝ </a:t>
                </a:r>
                <a:r>
                  <a:rPr lang="en-US" altLang="zh-CN" dirty="0">
                    <a:latin typeface="+mn-lt"/>
                    <a:ea typeface="楷体" pitchFamily="49" charset="-122"/>
                  </a:rPr>
                  <a:t>(0.1101)</a:t>
                </a:r>
                <a:r>
                  <a:rPr lang="en-US" altLang="zh-CN" baseline="-25000" dirty="0">
                    <a:latin typeface="+mn-lt"/>
                    <a:ea typeface="楷体" pitchFamily="49" charset="-122"/>
                  </a:rPr>
                  <a:t>2</a:t>
                </a:r>
              </a:p>
            </p:txBody>
          </p:sp>
          <p:sp>
            <p:nvSpPr>
              <p:cNvPr id="694429" name="Line 157"/>
              <p:cNvSpPr>
                <a:spLocks noChangeShapeType="1"/>
              </p:cNvSpPr>
              <p:nvPr/>
            </p:nvSpPr>
            <p:spPr bwMode="auto">
              <a:xfrm flipV="1">
                <a:off x="3560" y="2387"/>
                <a:ext cx="0" cy="9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4433" name="AutoShape 161"/>
            <p:cNvSpPr>
              <a:spLocks noChangeArrowheads="1"/>
            </p:cNvSpPr>
            <p:nvPr/>
          </p:nvSpPr>
          <p:spPr bwMode="auto">
            <a:xfrm>
              <a:off x="2631" y="2981"/>
              <a:ext cx="3448" cy="952"/>
            </a:xfrm>
            <a:prstGeom prst="wedgeRoundRectCallout">
              <a:avLst>
                <a:gd name="adj1" fmla="val 2782"/>
                <a:gd name="adj2" fmla="val -103046"/>
                <a:gd name="adj3" fmla="val 16667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/>
            <a:lstStyle/>
            <a:p>
              <a:r>
                <a:rPr lang="zh-CN" altLang="en-US" sz="20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" pitchFamily="49" charset="-122"/>
                  <a:ea typeface="楷体" pitchFamily="49" charset="-122"/>
                </a:rPr>
                <a:t>注意：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对于小数部分的转换式中的整数不参加连乘，第一次乘以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2</a:t>
              </a:r>
              <a:r>
                <a:rPr lang="zh-CN" altLang="en-US" sz="2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所得到的整数部分是二进制数小数的最高位，最后所得到的整数部分是二进制数小数的最低位。</a:t>
              </a:r>
            </a:p>
          </p:txBody>
        </p:sp>
      </p:grpSp>
      <p:grpSp>
        <p:nvGrpSpPr>
          <p:cNvPr id="694441" name="Group 169"/>
          <p:cNvGrpSpPr>
            <a:grpSpLocks/>
          </p:cNvGrpSpPr>
          <p:nvPr/>
        </p:nvGrpSpPr>
        <p:grpSpPr bwMode="auto">
          <a:xfrm>
            <a:off x="-312712" y="3809779"/>
            <a:ext cx="8064500" cy="2678113"/>
            <a:chOff x="1151" y="2182"/>
            <a:chExt cx="5080" cy="1687"/>
          </a:xfrm>
        </p:grpSpPr>
        <p:sp>
          <p:nvSpPr>
            <p:cNvPr id="694437" name="Rectangle 165"/>
            <p:cNvSpPr>
              <a:spLocks noChangeArrowheads="1"/>
            </p:cNvSpPr>
            <p:nvPr/>
          </p:nvSpPr>
          <p:spPr bwMode="auto">
            <a:xfrm>
              <a:off x="1151" y="2182"/>
              <a:ext cx="5080" cy="1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indent="1466850"/>
              <a:r>
                <a:rPr lang="zh-CN" altLang="en-US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例  将十进制数</a:t>
              </a:r>
              <a:r>
                <a:rPr lang="en-US" altLang="zh-CN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0.8123</a:t>
              </a:r>
              <a:r>
                <a:rPr lang="zh-CN" altLang="en-US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转换成二进制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0.8123 × 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1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.6246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b1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1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最高小数位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0.6246 × 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1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.2492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1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0.2492 × 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0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.4984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b3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0.4984 × 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0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.9968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b4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最低小数位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   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…………</a:t>
              </a:r>
            </a:p>
            <a:p>
              <a:pPr indent="1466850"/>
              <a:r>
                <a:rPr lang="en-US" altLang="zh-CN" dirty="0">
                  <a:latin typeface="+mn-lt"/>
                  <a:ea typeface="楷体" pitchFamily="49" charset="-122"/>
                </a:rPr>
                <a:t> 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所以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(0.8123)</a:t>
              </a:r>
              <a:r>
                <a:rPr lang="en-US" altLang="zh-CN" baseline="-25000" dirty="0">
                  <a:latin typeface="+mn-lt"/>
                  <a:ea typeface="楷体" pitchFamily="49" charset="-122"/>
                </a:rPr>
                <a:t>10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 </a:t>
              </a:r>
              <a:r>
                <a:rPr lang="zh-CN" altLang="zh-CN" dirty="0">
                  <a:latin typeface="+mn-lt"/>
                  <a:ea typeface="楷体" pitchFamily="49" charset="-122"/>
                </a:rPr>
                <a:t>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 (0.1100)</a:t>
              </a:r>
              <a:r>
                <a:rPr lang="en-US" altLang="zh-CN" baseline="-25000" dirty="0">
                  <a:latin typeface="+mn-lt"/>
                  <a:ea typeface="楷体" pitchFamily="49" charset="-122"/>
                </a:rPr>
                <a:t>2</a:t>
              </a:r>
            </a:p>
          </p:txBody>
        </p:sp>
        <p:sp>
          <p:nvSpPr>
            <p:cNvPr id="694438" name="Line 166"/>
            <p:cNvSpPr>
              <a:spLocks noChangeShapeType="1"/>
            </p:cNvSpPr>
            <p:nvPr/>
          </p:nvSpPr>
          <p:spPr bwMode="auto">
            <a:xfrm flipV="1">
              <a:off x="4461" y="2451"/>
              <a:ext cx="0" cy="9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</p:grpSp>
      <p:grpSp>
        <p:nvGrpSpPr>
          <p:cNvPr id="694442" name="Group 170"/>
          <p:cNvGrpSpPr>
            <a:grpSpLocks/>
          </p:cNvGrpSpPr>
          <p:nvPr/>
        </p:nvGrpSpPr>
        <p:grpSpPr bwMode="auto">
          <a:xfrm>
            <a:off x="402731" y="3831283"/>
            <a:ext cx="8064500" cy="2678113"/>
            <a:chOff x="1151" y="2182"/>
            <a:chExt cx="5080" cy="1687"/>
          </a:xfrm>
        </p:grpSpPr>
        <p:sp>
          <p:nvSpPr>
            <p:cNvPr id="694443" name="Rectangle 171"/>
            <p:cNvSpPr>
              <a:spLocks noChangeArrowheads="1"/>
            </p:cNvSpPr>
            <p:nvPr/>
          </p:nvSpPr>
          <p:spPr bwMode="auto">
            <a:xfrm>
              <a:off x="1151" y="2182"/>
              <a:ext cx="5080" cy="1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indent="1466850"/>
              <a:r>
                <a:rPr lang="zh-CN" altLang="en-US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例  将十进制数</a:t>
              </a:r>
              <a:r>
                <a:rPr lang="en-US" altLang="zh-CN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0.8123</a:t>
              </a:r>
              <a:r>
                <a:rPr lang="zh-CN" altLang="en-US" dirty="0">
                  <a:solidFill>
                    <a:srgbClr val="FF0066"/>
                  </a:solidFill>
                  <a:latin typeface="+mn-lt"/>
                  <a:ea typeface="楷体" pitchFamily="49" charset="-122"/>
                </a:rPr>
                <a:t>转换成八进制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0.8123 × 8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6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.4984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b1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6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最高小数位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0.4984 × 8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3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.9872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b2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3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0.9872 × 8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7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.8976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b3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7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0.8976 × 8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7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.1808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b4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＝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7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）  </a:t>
              </a:r>
              <a:r>
                <a:rPr lang="zh-CN" altLang="en-US" sz="1800" b="1" dirty="0">
                  <a:solidFill>
                    <a:schemeClr val="accent2"/>
                  </a:solidFill>
                  <a:latin typeface="+mn-lt"/>
                  <a:ea typeface="楷体" pitchFamily="49" charset="-122"/>
                </a:rPr>
                <a:t>最低小数位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   </a:t>
              </a:r>
            </a:p>
            <a:p>
              <a:pPr indent="1466850"/>
              <a:r>
                <a:rPr lang="zh-CN" altLang="en-US" dirty="0">
                  <a:latin typeface="+mn-lt"/>
                  <a:ea typeface="楷体" pitchFamily="49" charset="-122"/>
                </a:rPr>
                <a:t>    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…………</a:t>
              </a:r>
            </a:p>
            <a:p>
              <a:pPr indent="1466850"/>
              <a:r>
                <a:rPr lang="en-US" altLang="zh-CN" dirty="0">
                  <a:latin typeface="+mn-lt"/>
                  <a:ea typeface="楷体" pitchFamily="49" charset="-122"/>
                </a:rPr>
                <a:t>      </a:t>
              </a:r>
              <a:r>
                <a:rPr lang="zh-CN" altLang="en-US" dirty="0">
                  <a:latin typeface="+mn-lt"/>
                  <a:ea typeface="楷体" pitchFamily="49" charset="-122"/>
                </a:rPr>
                <a:t>所以  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(0.8123)</a:t>
              </a:r>
              <a:r>
                <a:rPr lang="en-US" altLang="zh-CN" baseline="-25000" dirty="0">
                  <a:latin typeface="+mn-lt"/>
                  <a:ea typeface="楷体" pitchFamily="49" charset="-122"/>
                </a:rPr>
                <a:t>10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 </a:t>
              </a:r>
              <a:r>
                <a:rPr lang="zh-CN" altLang="zh-CN" dirty="0">
                  <a:latin typeface="+mn-lt"/>
                  <a:ea typeface="楷体" pitchFamily="49" charset="-122"/>
                </a:rPr>
                <a:t>≈</a:t>
              </a:r>
              <a:r>
                <a:rPr lang="en-US" altLang="zh-CN" dirty="0">
                  <a:latin typeface="+mn-lt"/>
                  <a:ea typeface="楷体" pitchFamily="49" charset="-122"/>
                </a:rPr>
                <a:t> (0.6377)</a:t>
              </a:r>
              <a:r>
                <a:rPr lang="en-US" altLang="zh-CN" baseline="-25000" dirty="0">
                  <a:latin typeface="+mn-lt"/>
                  <a:ea typeface="楷体" pitchFamily="49" charset="-122"/>
                </a:rPr>
                <a:t>8</a:t>
              </a:r>
            </a:p>
          </p:txBody>
        </p:sp>
        <p:sp>
          <p:nvSpPr>
            <p:cNvPr id="694444" name="Line 172"/>
            <p:cNvSpPr>
              <a:spLocks noChangeShapeType="1"/>
            </p:cNvSpPr>
            <p:nvPr/>
          </p:nvSpPr>
          <p:spPr bwMode="auto">
            <a:xfrm flipV="1">
              <a:off x="4461" y="2451"/>
              <a:ext cx="0" cy="9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Rectangle 4">
            <a:extLst>
              <a:ext uri="{FF2B5EF4-FFF2-40B4-BE49-F238E27FC236}">
                <a16:creationId xmlns:a16="http://schemas.microsoft.com/office/drawing/2014/main" id="{C6764D03-B2F3-49D1-9B79-8B9734735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1.2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进位计数制及其转换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42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4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94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4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44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4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4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44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306" name="Rectangle 10"/>
          <p:cNvSpPr>
            <a:spLocks noChangeArrowheads="1"/>
          </p:cNvSpPr>
          <p:nvPr/>
        </p:nvSpPr>
        <p:spPr bwMode="auto">
          <a:xfrm>
            <a:off x="1014309" y="2226668"/>
            <a:ext cx="10247673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ts val="3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8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二进制 </a:t>
            </a:r>
            <a:r>
              <a:rPr lang="zh-CN" altLang="en-US" sz="28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  <a:sym typeface="Wingdings" pitchFamily="2" charset="2"/>
              </a:rPr>
              <a:t> </a:t>
            </a:r>
            <a:r>
              <a:rPr lang="zh-CN" altLang="en-US" sz="28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八进制</a:t>
            </a:r>
          </a:p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方法：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从小数点开始，分别向左、右按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位分组转换成对应的八进制数字字符，最后不满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位的，则需补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。</a:t>
            </a:r>
            <a:r>
              <a:rPr lang="zh-CN" altLang="en-US" sz="36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695307" name="Rectangle 11"/>
          <p:cNvSpPr>
            <a:spLocks noChangeArrowheads="1"/>
          </p:cNvSpPr>
          <p:nvPr/>
        </p:nvSpPr>
        <p:spPr bwMode="auto">
          <a:xfrm>
            <a:off x="1065996" y="1540354"/>
            <a:ext cx="820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3200" dirty="0">
                <a:solidFill>
                  <a:srgbClr val="002060"/>
                </a:solidFill>
                <a:ea typeface="隶书" pitchFamily="49" charset="-122"/>
              </a:rPr>
              <a:t>二进制、八进制、十六进制之间的转换</a:t>
            </a:r>
          </a:p>
        </p:txBody>
      </p:sp>
      <p:sp>
        <p:nvSpPr>
          <p:cNvPr id="695308" name="Text Box 12"/>
          <p:cNvSpPr txBox="1">
            <a:spLocks noChangeArrowheads="1"/>
          </p:cNvSpPr>
          <p:nvPr/>
        </p:nvSpPr>
        <p:spPr bwMode="auto">
          <a:xfrm>
            <a:off x="8815933" y="3280531"/>
            <a:ext cx="1716081" cy="3046988"/>
          </a:xfrm>
          <a:prstGeom prst="rect">
            <a:avLst/>
          </a:prstGeom>
          <a:gradFill>
            <a:gsLst>
              <a:gs pos="0">
                <a:srgbClr val="BAA1B9"/>
              </a:gs>
              <a:gs pos="35000">
                <a:srgbClr val="BAA1B9"/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000 ~ 0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001 ~ 1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010 ~ 2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011 ~ 3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100 ~ 4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101 ~ 5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110 ~ 6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111 ~ 7</a:t>
            </a:r>
          </a:p>
        </p:txBody>
      </p:sp>
      <p:sp>
        <p:nvSpPr>
          <p:cNvPr id="695309" name="Rectangle 13"/>
          <p:cNvSpPr>
            <a:spLocks noChangeArrowheads="1"/>
          </p:cNvSpPr>
          <p:nvPr/>
        </p:nvSpPr>
        <p:spPr bwMode="auto">
          <a:xfrm>
            <a:off x="930018" y="3827364"/>
            <a:ext cx="68516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例：将二进制数</a:t>
            </a:r>
            <a:r>
              <a:rPr lang="en-US" altLang="zh-CN" b="1" dirty="0">
                <a:solidFill>
                  <a:srgbClr val="C01920"/>
                </a:solidFill>
              </a:rPr>
              <a:t>(1101101.10101)</a:t>
            </a:r>
            <a:r>
              <a:rPr lang="en-US" altLang="zh-CN" b="1" baseline="-30000" dirty="0">
                <a:solidFill>
                  <a:srgbClr val="C01920"/>
                </a:solidFill>
              </a:rPr>
              <a:t>2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转换成八进制数</a:t>
            </a:r>
          </a:p>
        </p:txBody>
      </p:sp>
      <p:sp>
        <p:nvSpPr>
          <p:cNvPr id="695360" name="Rectangle 64"/>
          <p:cNvSpPr>
            <a:spLocks noChangeArrowheads="1"/>
          </p:cNvSpPr>
          <p:nvPr/>
        </p:nvSpPr>
        <p:spPr bwMode="auto">
          <a:xfrm>
            <a:off x="1542798" y="6140152"/>
            <a:ext cx="6192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所以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(1101101.10101)</a:t>
            </a:r>
            <a:r>
              <a:rPr lang="en-US" altLang="zh-CN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(155.52)</a:t>
            </a:r>
            <a:r>
              <a:rPr lang="en-US" altLang="zh-CN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8</a:t>
            </a:r>
            <a:endParaRPr lang="en-US" altLang="zh-CN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95401" name="Rectangle 105"/>
          <p:cNvSpPr>
            <a:spLocks noChangeArrowheads="1"/>
          </p:cNvSpPr>
          <p:nvPr/>
        </p:nvSpPr>
        <p:spPr bwMode="auto">
          <a:xfrm>
            <a:off x="1542797" y="4414738"/>
            <a:ext cx="5086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二进制数：</a:t>
            </a:r>
            <a:r>
              <a:rPr lang="zh-CN" altLang="en-US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b="1" u="sng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00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.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01</a:t>
            </a:r>
            <a:r>
              <a:rPr lang="en-US" altLang="zh-CN" b="1" u="sng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695404" name="Line 108"/>
          <p:cNvSpPr>
            <a:spLocks noChangeShapeType="1"/>
          </p:cNvSpPr>
          <p:nvPr/>
        </p:nvSpPr>
        <p:spPr bwMode="auto">
          <a:xfrm flipH="1">
            <a:off x="3271585" y="4263926"/>
            <a:ext cx="10080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95405" name="Line 109"/>
          <p:cNvSpPr>
            <a:spLocks noChangeShapeType="1"/>
          </p:cNvSpPr>
          <p:nvPr/>
        </p:nvSpPr>
        <p:spPr bwMode="auto">
          <a:xfrm>
            <a:off x="4422523" y="4263926"/>
            <a:ext cx="7207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695409" name="Group 113"/>
          <p:cNvGrpSpPr>
            <a:grpSpLocks/>
          </p:cNvGrpSpPr>
          <p:nvPr/>
        </p:nvGrpSpPr>
        <p:grpSpPr bwMode="auto">
          <a:xfrm>
            <a:off x="3308098" y="4840188"/>
            <a:ext cx="358775" cy="1174750"/>
            <a:chOff x="2087" y="2432"/>
            <a:chExt cx="226" cy="740"/>
          </a:xfrm>
        </p:grpSpPr>
        <p:sp>
          <p:nvSpPr>
            <p:cNvPr id="695406" name="Line 110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07" name="Rectangle 111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</a:t>
              </a:r>
            </a:p>
          </p:txBody>
        </p:sp>
      </p:grpSp>
      <p:sp>
        <p:nvSpPr>
          <p:cNvPr id="695408" name="Rectangle 112"/>
          <p:cNvSpPr>
            <a:spLocks noChangeArrowheads="1"/>
          </p:cNvSpPr>
          <p:nvPr/>
        </p:nvSpPr>
        <p:spPr bwMode="auto">
          <a:xfrm>
            <a:off x="1541209" y="5546626"/>
            <a:ext cx="1716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八进制数：</a:t>
            </a:r>
          </a:p>
        </p:txBody>
      </p:sp>
      <p:grpSp>
        <p:nvGrpSpPr>
          <p:cNvPr id="695410" name="Group 114"/>
          <p:cNvGrpSpPr>
            <a:grpSpLocks/>
          </p:cNvGrpSpPr>
          <p:nvPr/>
        </p:nvGrpSpPr>
        <p:grpSpPr bwMode="auto">
          <a:xfrm>
            <a:off x="3881185" y="4841776"/>
            <a:ext cx="358775" cy="1174750"/>
            <a:chOff x="2087" y="2432"/>
            <a:chExt cx="226" cy="740"/>
          </a:xfrm>
        </p:grpSpPr>
        <p:sp>
          <p:nvSpPr>
            <p:cNvPr id="695411" name="Line 115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12" name="Rectangle 116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5</a:t>
              </a:r>
            </a:p>
          </p:txBody>
        </p:sp>
      </p:grpSp>
      <p:grpSp>
        <p:nvGrpSpPr>
          <p:cNvPr id="695413" name="Group 117"/>
          <p:cNvGrpSpPr>
            <a:grpSpLocks/>
          </p:cNvGrpSpPr>
          <p:nvPr/>
        </p:nvGrpSpPr>
        <p:grpSpPr bwMode="auto">
          <a:xfrm>
            <a:off x="4511423" y="4843363"/>
            <a:ext cx="358775" cy="1174750"/>
            <a:chOff x="2087" y="2432"/>
            <a:chExt cx="226" cy="740"/>
          </a:xfrm>
        </p:grpSpPr>
        <p:sp>
          <p:nvSpPr>
            <p:cNvPr id="695414" name="Line 118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15" name="Rectangle 119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5</a:t>
              </a:r>
            </a:p>
          </p:txBody>
        </p:sp>
      </p:grpSp>
      <p:grpSp>
        <p:nvGrpSpPr>
          <p:cNvPr id="695416" name="Group 120"/>
          <p:cNvGrpSpPr>
            <a:grpSpLocks/>
          </p:cNvGrpSpPr>
          <p:nvPr/>
        </p:nvGrpSpPr>
        <p:grpSpPr bwMode="auto">
          <a:xfrm>
            <a:off x="4927348" y="4830663"/>
            <a:ext cx="358775" cy="1174750"/>
            <a:chOff x="2087" y="2432"/>
            <a:chExt cx="226" cy="740"/>
          </a:xfrm>
        </p:grpSpPr>
        <p:sp>
          <p:nvSpPr>
            <p:cNvPr id="695417" name="Line 121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18" name="Rectangle 122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 .</a:t>
              </a:r>
            </a:p>
          </p:txBody>
        </p:sp>
      </p:grpSp>
      <p:grpSp>
        <p:nvGrpSpPr>
          <p:cNvPr id="695419" name="Group 123"/>
          <p:cNvGrpSpPr>
            <a:grpSpLocks/>
          </p:cNvGrpSpPr>
          <p:nvPr/>
        </p:nvGrpSpPr>
        <p:grpSpPr bwMode="auto">
          <a:xfrm>
            <a:off x="5398835" y="4844951"/>
            <a:ext cx="358775" cy="1174750"/>
            <a:chOff x="2087" y="2432"/>
            <a:chExt cx="226" cy="740"/>
          </a:xfrm>
        </p:grpSpPr>
        <p:sp>
          <p:nvSpPr>
            <p:cNvPr id="695420" name="Line 124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21" name="Rectangle 125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5</a:t>
              </a:r>
            </a:p>
          </p:txBody>
        </p:sp>
      </p:grpSp>
      <p:grpSp>
        <p:nvGrpSpPr>
          <p:cNvPr id="695422" name="Group 126"/>
          <p:cNvGrpSpPr>
            <a:grpSpLocks/>
          </p:cNvGrpSpPr>
          <p:nvPr/>
        </p:nvGrpSpPr>
        <p:grpSpPr bwMode="auto">
          <a:xfrm>
            <a:off x="5971923" y="4846538"/>
            <a:ext cx="358775" cy="1174750"/>
            <a:chOff x="2087" y="2432"/>
            <a:chExt cx="226" cy="740"/>
          </a:xfrm>
        </p:grpSpPr>
        <p:sp>
          <p:nvSpPr>
            <p:cNvPr id="695423" name="Line 127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424" name="Rectangle 128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2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FFA904C-1D23-4E7E-BC4C-6E3C1CABF7E1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AC5D9DEE-4593-4ACC-A89D-C58EF609FB28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5" name="菱形 34">
                <a:extLst>
                  <a:ext uri="{FF2B5EF4-FFF2-40B4-BE49-F238E27FC236}">
                    <a16:creationId xmlns:a16="http://schemas.microsoft.com/office/drawing/2014/main" id="{12104021-17D5-42DB-81BB-C77D0E6D3822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2891D5C3-3E49-4826-B5B6-E675DE75ED07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4" name="Text Box 5">
              <a:extLst>
                <a:ext uri="{FF2B5EF4-FFF2-40B4-BE49-F238E27FC236}">
                  <a16:creationId xmlns:a16="http://schemas.microsoft.com/office/drawing/2014/main" id="{F926C19D-0669-4F41-8E55-947356ACD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进制之间的相互转换</a:t>
              </a:r>
            </a:p>
          </p:txBody>
        </p:sp>
      </p:grpSp>
      <p:sp>
        <p:nvSpPr>
          <p:cNvPr id="37" name="Rectangle 4">
            <a:extLst>
              <a:ext uri="{FF2B5EF4-FFF2-40B4-BE49-F238E27FC236}">
                <a16:creationId xmlns:a16="http://schemas.microsoft.com/office/drawing/2014/main" id="{9F6A26C1-CF33-4E7B-AF8F-CBFCE31F9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1.2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进位计数制及其转换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953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95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695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695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95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6954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6954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954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954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2000"/>
                                        <p:tgtEl>
                                          <p:spTgt spid="6954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2000"/>
                                        <p:tgtEl>
                                          <p:spTgt spid="6954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2000"/>
                                        <p:tgtEl>
                                          <p:spTgt spid="6954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2000"/>
                                        <p:tgtEl>
                                          <p:spTgt spid="6954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8" dur="2000"/>
                                        <p:tgtEl>
                                          <p:spTgt spid="6954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2000"/>
                                        <p:tgtEl>
                                          <p:spTgt spid="695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6953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5306" grpId="0" uiExpand="1" build="p" bldLvl="5" autoUpdateAnimBg="0"/>
      <p:bldP spid="695307" grpId="0"/>
      <p:bldP spid="695308" grpId="0" animBg="1" autoUpdateAnimBg="0"/>
      <p:bldP spid="695309" grpId="0"/>
      <p:bldP spid="695360" grpId="0"/>
      <p:bldP spid="695401" grpId="0"/>
      <p:bldP spid="695404" grpId="0" animBg="1"/>
      <p:bldP spid="695405" grpId="0" animBg="1"/>
      <p:bldP spid="69540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9" name="Rectangle 5"/>
          <p:cNvSpPr>
            <a:spLocks noChangeArrowheads="1"/>
          </p:cNvSpPr>
          <p:nvPr/>
        </p:nvSpPr>
        <p:spPr bwMode="auto">
          <a:xfrm>
            <a:off x="837153" y="2276475"/>
            <a:ext cx="770413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ts val="3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8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八进制 </a:t>
            </a:r>
            <a:r>
              <a:rPr lang="zh-CN" altLang="en-US" sz="28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  <a:sym typeface="Wingdings" pitchFamily="2" charset="2"/>
              </a:rPr>
              <a:t> </a:t>
            </a:r>
            <a:r>
              <a:rPr lang="zh-CN" altLang="en-US" sz="28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二进制</a:t>
            </a:r>
          </a:p>
          <a:p>
            <a:pPr>
              <a:lnSpc>
                <a:spcPts val="30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方法：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将每位八进制数用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位二进制表示即可。</a:t>
            </a:r>
            <a:r>
              <a:rPr lang="zh-CN" altLang="en-US" sz="36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</a:t>
            </a:r>
          </a:p>
        </p:txBody>
      </p:sp>
      <p:sp>
        <p:nvSpPr>
          <p:cNvPr id="697351" name="Text Box 7"/>
          <p:cNvSpPr txBox="1">
            <a:spLocks noChangeArrowheads="1"/>
          </p:cNvSpPr>
          <p:nvPr/>
        </p:nvSpPr>
        <p:spPr bwMode="auto">
          <a:xfrm>
            <a:off x="8745460" y="2943889"/>
            <a:ext cx="1637949" cy="3046988"/>
          </a:xfrm>
          <a:prstGeom prst="rect">
            <a:avLst/>
          </a:prstGeom>
          <a:gradFill flip="none" rotWithShape="1">
            <a:gsLst>
              <a:gs pos="0">
                <a:srgbClr val="BEDFC4"/>
              </a:gs>
              <a:gs pos="50000">
                <a:srgbClr val="BEDFC4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000 ~ 0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001 ~ 1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010 ~ 2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011 ~ 3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100 ~ 4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101 ~ 5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110 ~ 6</a:t>
            </a:r>
          </a:p>
          <a:p>
            <a:pPr algn="ctr" eaLnBrk="0" hangingPunct="0"/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111 ~ 7</a:t>
            </a:r>
          </a:p>
        </p:txBody>
      </p:sp>
      <p:sp>
        <p:nvSpPr>
          <p:cNvPr id="697352" name="Rectangle 8"/>
          <p:cNvSpPr>
            <a:spLocks noChangeArrowheads="1"/>
          </p:cNvSpPr>
          <p:nvPr/>
        </p:nvSpPr>
        <p:spPr bwMode="auto">
          <a:xfrm>
            <a:off x="1079248" y="3428131"/>
            <a:ext cx="6624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例：将八进制数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(345.64)</a:t>
            </a:r>
            <a:r>
              <a:rPr lang="en-US" altLang="zh-CN" b="1" baseline="-30000" dirty="0">
                <a:solidFill>
                  <a:srgbClr val="C01920"/>
                </a:solidFill>
                <a:latin typeface="+mn-lt"/>
                <a:ea typeface="楷体" pitchFamily="49" charset="-122"/>
              </a:rPr>
              <a:t>8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转换成二进制数</a:t>
            </a:r>
          </a:p>
        </p:txBody>
      </p:sp>
      <p:sp>
        <p:nvSpPr>
          <p:cNvPr id="697353" name="Rectangle 9"/>
          <p:cNvSpPr>
            <a:spLocks noChangeArrowheads="1"/>
          </p:cNvSpPr>
          <p:nvPr/>
        </p:nvSpPr>
        <p:spPr bwMode="auto">
          <a:xfrm>
            <a:off x="1542798" y="6068144"/>
            <a:ext cx="6192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所以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(345.64)</a:t>
            </a:r>
            <a:r>
              <a:rPr lang="en-US" altLang="zh-CN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8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(11100101.1101)</a:t>
            </a:r>
            <a:r>
              <a:rPr lang="en-US" altLang="zh-CN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endParaRPr lang="en-US" altLang="zh-CN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97354" name="Rectangle 10"/>
          <p:cNvSpPr>
            <a:spLocks noChangeArrowheads="1"/>
          </p:cNvSpPr>
          <p:nvPr/>
        </p:nvSpPr>
        <p:spPr bwMode="auto">
          <a:xfrm>
            <a:off x="1542797" y="4015506"/>
            <a:ext cx="5086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八进制数：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3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4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5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.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6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4</a:t>
            </a:r>
          </a:p>
        </p:txBody>
      </p:sp>
      <p:grpSp>
        <p:nvGrpSpPr>
          <p:cNvPr id="697376" name="Group 32"/>
          <p:cNvGrpSpPr>
            <a:grpSpLocks/>
          </p:cNvGrpSpPr>
          <p:nvPr/>
        </p:nvGrpSpPr>
        <p:grpSpPr bwMode="auto">
          <a:xfrm>
            <a:off x="3212847" y="4440956"/>
            <a:ext cx="647700" cy="1174750"/>
            <a:chOff x="2027" y="2432"/>
            <a:chExt cx="408" cy="740"/>
          </a:xfrm>
        </p:grpSpPr>
        <p:sp>
          <p:nvSpPr>
            <p:cNvPr id="697358" name="Line 14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59" name="Rectangle 15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011</a:t>
              </a:r>
            </a:p>
          </p:txBody>
        </p:sp>
      </p:grpSp>
      <p:sp>
        <p:nvSpPr>
          <p:cNvPr id="697360" name="Rectangle 16"/>
          <p:cNvSpPr>
            <a:spLocks noChangeArrowheads="1"/>
          </p:cNvSpPr>
          <p:nvPr/>
        </p:nvSpPr>
        <p:spPr bwMode="auto">
          <a:xfrm>
            <a:off x="1541209" y="5147394"/>
            <a:ext cx="1716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二进制数：</a:t>
            </a:r>
          </a:p>
        </p:txBody>
      </p:sp>
      <p:grpSp>
        <p:nvGrpSpPr>
          <p:cNvPr id="697377" name="Group 33"/>
          <p:cNvGrpSpPr>
            <a:grpSpLocks/>
          </p:cNvGrpSpPr>
          <p:nvPr/>
        </p:nvGrpSpPr>
        <p:grpSpPr bwMode="auto">
          <a:xfrm>
            <a:off x="3757359" y="4442544"/>
            <a:ext cx="647700" cy="1174750"/>
            <a:chOff x="2027" y="2432"/>
            <a:chExt cx="408" cy="740"/>
          </a:xfrm>
        </p:grpSpPr>
        <p:sp>
          <p:nvSpPr>
            <p:cNvPr id="697378" name="Line 34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79" name="Rectangle 35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100</a:t>
              </a:r>
            </a:p>
          </p:txBody>
        </p:sp>
      </p:grpSp>
      <p:grpSp>
        <p:nvGrpSpPr>
          <p:cNvPr id="697380" name="Group 36"/>
          <p:cNvGrpSpPr>
            <a:grpSpLocks/>
          </p:cNvGrpSpPr>
          <p:nvPr/>
        </p:nvGrpSpPr>
        <p:grpSpPr bwMode="auto">
          <a:xfrm>
            <a:off x="4273297" y="4444131"/>
            <a:ext cx="647700" cy="1174750"/>
            <a:chOff x="2027" y="2432"/>
            <a:chExt cx="408" cy="740"/>
          </a:xfrm>
        </p:grpSpPr>
        <p:sp>
          <p:nvSpPr>
            <p:cNvPr id="697381" name="Line 37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82" name="Rectangle 38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101</a:t>
              </a:r>
            </a:p>
          </p:txBody>
        </p:sp>
      </p:grpSp>
      <p:grpSp>
        <p:nvGrpSpPr>
          <p:cNvPr id="697383" name="Group 39"/>
          <p:cNvGrpSpPr>
            <a:grpSpLocks/>
          </p:cNvGrpSpPr>
          <p:nvPr/>
        </p:nvGrpSpPr>
        <p:grpSpPr bwMode="auto">
          <a:xfrm>
            <a:off x="4689222" y="4445719"/>
            <a:ext cx="647700" cy="1174750"/>
            <a:chOff x="2027" y="2432"/>
            <a:chExt cx="408" cy="740"/>
          </a:xfrm>
        </p:grpSpPr>
        <p:sp>
          <p:nvSpPr>
            <p:cNvPr id="697384" name="Line 40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85" name="Rectangle 41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  .</a:t>
              </a:r>
            </a:p>
          </p:txBody>
        </p:sp>
      </p:grpSp>
      <p:grpSp>
        <p:nvGrpSpPr>
          <p:cNvPr id="697386" name="Group 42"/>
          <p:cNvGrpSpPr>
            <a:grpSpLocks/>
          </p:cNvGrpSpPr>
          <p:nvPr/>
        </p:nvGrpSpPr>
        <p:grpSpPr bwMode="auto">
          <a:xfrm>
            <a:off x="5117847" y="4431431"/>
            <a:ext cx="647700" cy="1174750"/>
            <a:chOff x="2027" y="2432"/>
            <a:chExt cx="408" cy="740"/>
          </a:xfrm>
        </p:grpSpPr>
        <p:sp>
          <p:nvSpPr>
            <p:cNvPr id="697387" name="Line 43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88" name="Rectangle 44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110</a:t>
              </a:r>
            </a:p>
          </p:txBody>
        </p:sp>
      </p:grpSp>
      <p:grpSp>
        <p:nvGrpSpPr>
          <p:cNvPr id="697389" name="Group 45"/>
          <p:cNvGrpSpPr>
            <a:grpSpLocks/>
          </p:cNvGrpSpPr>
          <p:nvPr/>
        </p:nvGrpSpPr>
        <p:grpSpPr bwMode="auto">
          <a:xfrm>
            <a:off x="5662359" y="4433019"/>
            <a:ext cx="647700" cy="1174750"/>
            <a:chOff x="2027" y="2432"/>
            <a:chExt cx="408" cy="740"/>
          </a:xfrm>
        </p:grpSpPr>
        <p:sp>
          <p:nvSpPr>
            <p:cNvPr id="697390" name="Line 46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91" name="Rectangle 47"/>
            <p:cNvSpPr>
              <a:spLocks noChangeArrowheads="1"/>
            </p:cNvSpPr>
            <p:nvPr/>
          </p:nvSpPr>
          <p:spPr bwMode="auto">
            <a:xfrm>
              <a:off x="2027" y="292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100</a:t>
              </a:r>
            </a:p>
          </p:txBody>
        </p:sp>
      </p:grpSp>
      <p:sp>
        <p:nvSpPr>
          <p:cNvPr id="31" name="Rectangle 11">
            <a:extLst>
              <a:ext uri="{FF2B5EF4-FFF2-40B4-BE49-F238E27FC236}">
                <a16:creationId xmlns:a16="http://schemas.microsoft.com/office/drawing/2014/main" id="{E4A0726B-1649-48B8-82FE-6034F0907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373" y="1540354"/>
            <a:ext cx="820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3200" dirty="0">
                <a:solidFill>
                  <a:srgbClr val="002060"/>
                </a:solidFill>
                <a:ea typeface="隶书" pitchFamily="49" charset="-122"/>
              </a:rPr>
              <a:t>二进制、八进制、十六进制之间的转换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1AE28E2-7E0E-45B4-809D-D683AF04770A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3BF83E58-D57F-4346-A294-344577C74A3F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5" name="菱形 34">
                <a:extLst>
                  <a:ext uri="{FF2B5EF4-FFF2-40B4-BE49-F238E27FC236}">
                    <a16:creationId xmlns:a16="http://schemas.microsoft.com/office/drawing/2014/main" id="{723FAB4F-7C57-4D7D-AF07-0A1C68C7FF84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BF3EEB0C-291A-484D-9C27-4D209C66E8C5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4" name="Text Box 5">
              <a:extLst>
                <a:ext uri="{FF2B5EF4-FFF2-40B4-BE49-F238E27FC236}">
                  <a16:creationId xmlns:a16="http://schemas.microsoft.com/office/drawing/2014/main" id="{E2F27822-B551-4C4F-B395-EA59286F6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进制之间的相互转换</a:t>
              </a:r>
            </a:p>
          </p:txBody>
        </p:sp>
      </p:grpSp>
      <p:sp>
        <p:nvSpPr>
          <p:cNvPr id="37" name="Rectangle 4">
            <a:extLst>
              <a:ext uri="{FF2B5EF4-FFF2-40B4-BE49-F238E27FC236}">
                <a16:creationId xmlns:a16="http://schemas.microsoft.com/office/drawing/2014/main" id="{5FE8B6A3-E5E4-40CC-ACFF-0366A1A66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1.2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进位计数制及其转换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9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697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697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973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973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973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2000"/>
                                        <p:tgtEl>
                                          <p:spTgt spid="697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2000"/>
                                        <p:tgtEl>
                                          <p:spTgt spid="697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2000"/>
                                        <p:tgtEl>
                                          <p:spTgt spid="697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2000"/>
                                        <p:tgtEl>
                                          <p:spTgt spid="6973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2000"/>
                                        <p:tgtEl>
                                          <p:spTgt spid="6973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2000"/>
                                        <p:tgtEl>
                                          <p:spTgt spid="6973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973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9" grpId="0" build="p" bldLvl="5" autoUpdateAnimBg="0"/>
      <p:bldP spid="697351" grpId="0" animBg="1" autoUpdateAnimBg="0"/>
      <p:bldP spid="697352" grpId="0"/>
      <p:bldP spid="697353" grpId="0"/>
      <p:bldP spid="697354" grpId="0"/>
      <p:bldP spid="697360" grpId="0"/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6" name="Rectangle 8"/>
          <p:cNvSpPr>
            <a:spLocks noChangeArrowheads="1"/>
          </p:cNvSpPr>
          <p:nvPr/>
        </p:nvSpPr>
        <p:spPr bwMode="auto">
          <a:xfrm>
            <a:off x="1415480" y="3811663"/>
            <a:ext cx="6809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例：将二进制数</a:t>
            </a:r>
            <a:r>
              <a:rPr lang="en-US" altLang="zh-CN" b="1" dirty="0">
                <a:solidFill>
                  <a:srgbClr val="C00000"/>
                </a:solidFill>
              </a:rPr>
              <a:t>(1101101.10101)</a:t>
            </a:r>
            <a:r>
              <a:rPr lang="en-US" altLang="zh-CN" b="1" baseline="-30000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转换成</a:t>
            </a:r>
            <a:r>
              <a:rPr lang="en-US" altLang="zh-CN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16</a:t>
            </a:r>
            <a:r>
              <a:rPr lang="zh-CN" altLang="en-US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进制数</a:t>
            </a:r>
          </a:p>
        </p:txBody>
      </p:sp>
      <p:sp>
        <p:nvSpPr>
          <p:cNvPr id="698377" name="Rectangle 9"/>
          <p:cNvSpPr>
            <a:spLocks noChangeArrowheads="1"/>
          </p:cNvSpPr>
          <p:nvPr/>
        </p:nvSpPr>
        <p:spPr bwMode="auto">
          <a:xfrm>
            <a:off x="2063701" y="6068144"/>
            <a:ext cx="6192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所以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(1101101.10101)</a:t>
            </a:r>
            <a:r>
              <a:rPr lang="en-US" altLang="zh-CN" b="1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(6D.A8)</a:t>
            </a:r>
            <a:r>
              <a:rPr lang="en-US" altLang="zh-CN" b="1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16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98378" name="Rectangle 10"/>
          <p:cNvSpPr>
            <a:spLocks noChangeArrowheads="1"/>
          </p:cNvSpPr>
          <p:nvPr/>
        </p:nvSpPr>
        <p:spPr bwMode="auto">
          <a:xfrm>
            <a:off x="2063700" y="4329831"/>
            <a:ext cx="5688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二进制数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：</a:t>
            </a:r>
            <a:r>
              <a:rPr lang="zh-CN" altLang="en-US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0110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1101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.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1010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1000</a:t>
            </a:r>
          </a:p>
        </p:txBody>
      </p:sp>
      <p:sp>
        <p:nvSpPr>
          <p:cNvPr id="698379" name="Line 11"/>
          <p:cNvSpPr>
            <a:spLocks noChangeShapeType="1"/>
          </p:cNvSpPr>
          <p:nvPr/>
        </p:nvSpPr>
        <p:spPr bwMode="auto">
          <a:xfrm flipH="1">
            <a:off x="3792488" y="4250456"/>
            <a:ext cx="10080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98380" name="Line 12"/>
          <p:cNvSpPr>
            <a:spLocks noChangeShapeType="1"/>
          </p:cNvSpPr>
          <p:nvPr/>
        </p:nvSpPr>
        <p:spPr bwMode="auto">
          <a:xfrm>
            <a:off x="4943426" y="4250456"/>
            <a:ext cx="7207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698381" name="Group 13"/>
          <p:cNvGrpSpPr>
            <a:grpSpLocks/>
          </p:cNvGrpSpPr>
          <p:nvPr/>
        </p:nvGrpSpPr>
        <p:grpSpPr bwMode="auto">
          <a:xfrm>
            <a:off x="3914726" y="4755281"/>
            <a:ext cx="358775" cy="1174750"/>
            <a:chOff x="2087" y="2432"/>
            <a:chExt cx="226" cy="740"/>
          </a:xfrm>
        </p:grpSpPr>
        <p:sp>
          <p:nvSpPr>
            <p:cNvPr id="698382" name="Line 14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383" name="Rectangle 15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6</a:t>
              </a:r>
            </a:p>
          </p:txBody>
        </p:sp>
      </p:grpSp>
      <p:sp>
        <p:nvSpPr>
          <p:cNvPr id="698384" name="Rectangle 16"/>
          <p:cNvSpPr>
            <a:spLocks noChangeArrowheads="1"/>
          </p:cNvSpPr>
          <p:nvPr/>
        </p:nvSpPr>
        <p:spPr bwMode="auto">
          <a:xfrm>
            <a:off x="1733501" y="5461719"/>
            <a:ext cx="2022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十六进制数：</a:t>
            </a:r>
          </a:p>
        </p:txBody>
      </p:sp>
      <p:grpSp>
        <p:nvGrpSpPr>
          <p:cNvPr id="698385" name="Group 17"/>
          <p:cNvGrpSpPr>
            <a:grpSpLocks/>
          </p:cNvGrpSpPr>
          <p:nvPr/>
        </p:nvGrpSpPr>
        <p:grpSpPr bwMode="auto">
          <a:xfrm>
            <a:off x="4716413" y="4756869"/>
            <a:ext cx="358775" cy="1174750"/>
            <a:chOff x="2087" y="2432"/>
            <a:chExt cx="226" cy="740"/>
          </a:xfrm>
        </p:grpSpPr>
        <p:sp>
          <p:nvSpPr>
            <p:cNvPr id="698386" name="Line 18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387" name="Rectangle 19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D</a:t>
              </a:r>
            </a:p>
          </p:txBody>
        </p:sp>
      </p:grpSp>
      <p:grpSp>
        <p:nvGrpSpPr>
          <p:cNvPr id="698391" name="Group 23"/>
          <p:cNvGrpSpPr>
            <a:grpSpLocks/>
          </p:cNvGrpSpPr>
          <p:nvPr/>
        </p:nvGrpSpPr>
        <p:grpSpPr bwMode="auto">
          <a:xfrm>
            <a:off x="5305376" y="4745756"/>
            <a:ext cx="358775" cy="1174750"/>
            <a:chOff x="2087" y="2432"/>
            <a:chExt cx="226" cy="740"/>
          </a:xfrm>
        </p:grpSpPr>
        <p:sp>
          <p:nvSpPr>
            <p:cNvPr id="698392" name="Line 24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393" name="Rectangle 25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 .</a:t>
              </a:r>
            </a:p>
          </p:txBody>
        </p:sp>
      </p:grpSp>
      <p:grpSp>
        <p:nvGrpSpPr>
          <p:cNvPr id="698394" name="Group 26"/>
          <p:cNvGrpSpPr>
            <a:grpSpLocks/>
          </p:cNvGrpSpPr>
          <p:nvPr/>
        </p:nvGrpSpPr>
        <p:grpSpPr bwMode="auto">
          <a:xfrm>
            <a:off x="5791151" y="4760044"/>
            <a:ext cx="358775" cy="1174750"/>
            <a:chOff x="2087" y="2432"/>
            <a:chExt cx="226" cy="740"/>
          </a:xfrm>
        </p:grpSpPr>
        <p:sp>
          <p:nvSpPr>
            <p:cNvPr id="698395" name="Line 27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396" name="Rectangle 28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A</a:t>
              </a:r>
            </a:p>
          </p:txBody>
        </p:sp>
      </p:grpSp>
      <p:grpSp>
        <p:nvGrpSpPr>
          <p:cNvPr id="698397" name="Group 29"/>
          <p:cNvGrpSpPr>
            <a:grpSpLocks/>
          </p:cNvGrpSpPr>
          <p:nvPr/>
        </p:nvGrpSpPr>
        <p:grpSpPr bwMode="auto">
          <a:xfrm>
            <a:off x="6635701" y="4761631"/>
            <a:ext cx="358775" cy="1174750"/>
            <a:chOff x="2087" y="2432"/>
            <a:chExt cx="226" cy="740"/>
          </a:xfrm>
        </p:grpSpPr>
        <p:sp>
          <p:nvSpPr>
            <p:cNvPr id="698398" name="Line 30"/>
            <p:cNvSpPr>
              <a:spLocks noChangeShapeType="1"/>
            </p:cNvSpPr>
            <p:nvPr/>
          </p:nvSpPr>
          <p:spPr bwMode="auto">
            <a:xfrm>
              <a:off x="2196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399" name="Rectangle 31"/>
            <p:cNvSpPr>
              <a:spLocks noChangeArrowheads="1"/>
            </p:cNvSpPr>
            <p:nvPr/>
          </p:nvSpPr>
          <p:spPr bwMode="auto">
            <a:xfrm>
              <a:off x="2087" y="2922"/>
              <a:ext cx="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8</a:t>
              </a:r>
            </a:p>
          </p:txBody>
        </p:sp>
      </p:grpSp>
      <p:sp>
        <p:nvSpPr>
          <p:cNvPr id="698400" name="Text Box 32"/>
          <p:cNvSpPr txBox="1">
            <a:spLocks noChangeArrowheads="1"/>
          </p:cNvSpPr>
          <p:nvPr/>
        </p:nvSpPr>
        <p:spPr bwMode="auto">
          <a:xfrm>
            <a:off x="10056440" y="739725"/>
            <a:ext cx="1482803" cy="6001643"/>
          </a:xfrm>
          <a:prstGeom prst="rect">
            <a:avLst/>
          </a:prstGeom>
          <a:gradFill>
            <a:gsLst>
              <a:gs pos="0">
                <a:srgbClr val="BEDFC4"/>
              </a:gs>
              <a:gs pos="50000">
                <a:srgbClr val="BEDFC4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0000 ~ 0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0001 ~ 1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0010 ~ 2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0011 ~ 3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0100 ~ 4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0101 ~ 5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0110 ~ 6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0111 ~ 7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1000 ~ 8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1001 ~ 9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1010 ~ A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1011 ~ B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1100 ~ C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1101 ~ D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1110 ~ E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1111 ~ 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560" y="2314082"/>
            <a:ext cx="9089856" cy="13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buFont typeface="Wingdings" pitchFamily="2" charset="2"/>
              <a:buChar char="ü"/>
            </a:pPr>
            <a:r>
              <a:rPr lang="zh-CN" altLang="en-US" sz="28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二进制 </a:t>
            </a:r>
            <a:r>
              <a:rPr lang="zh-CN" altLang="en-US" sz="28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  <a:sym typeface="Wingdings" pitchFamily="2" charset="2"/>
              </a:rPr>
              <a:t> </a:t>
            </a:r>
            <a:r>
              <a:rPr lang="zh-CN" altLang="en-US" sz="28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十六进制</a:t>
            </a:r>
            <a:endParaRPr lang="en-US" altLang="zh-CN" sz="2800" b="1" dirty="0">
              <a:solidFill>
                <a:srgbClr val="C00000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3500"/>
              </a:lnSpc>
            </a:pPr>
            <a:r>
              <a:rPr lang="zh-CN" altLang="en-US" b="1" dirty="0">
                <a:solidFill>
                  <a:srgbClr val="0000FF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solidFill>
                  <a:srgbClr val="00206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方法：</a:t>
            </a:r>
            <a:r>
              <a:rPr lang="zh-CN" altLang="en-US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从小数点开始，分别向左、右按</a:t>
            </a:r>
            <a:r>
              <a:rPr lang="en-US" altLang="zh-CN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位分组转换成对应的十六进制数字字符，最后不满</a:t>
            </a:r>
            <a:r>
              <a:rPr lang="en-US" altLang="zh-CN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位的，则需补</a:t>
            </a:r>
            <a:r>
              <a:rPr lang="en-US" altLang="zh-CN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楷体" pitchFamily="49" charset="-122"/>
                <a:ea typeface="楷体" pitchFamily="49" charset="-122"/>
              </a:rPr>
              <a:t>。</a:t>
            </a:r>
            <a:endParaRPr lang="zh-CN" altLang="en-US" dirty="0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D3398B7F-57DE-4565-9487-C0B5C7641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65" y="1625427"/>
            <a:ext cx="820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3200" dirty="0">
                <a:solidFill>
                  <a:srgbClr val="002060"/>
                </a:solidFill>
                <a:ea typeface="隶书" pitchFamily="49" charset="-122"/>
              </a:rPr>
              <a:t>二进制、八进制、十六进制之间的转换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E6C4471-AF0A-47E7-B4DB-FB81BD7646C0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F2833266-3985-4445-91B9-1A71E5E69D3F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4" name="菱形 33">
                <a:extLst>
                  <a:ext uri="{FF2B5EF4-FFF2-40B4-BE49-F238E27FC236}">
                    <a16:creationId xmlns:a16="http://schemas.microsoft.com/office/drawing/2014/main" id="{972AD317-07FE-4498-9CF6-CBCE4B774836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5" name="菱形 34">
                <a:extLst>
                  <a:ext uri="{FF2B5EF4-FFF2-40B4-BE49-F238E27FC236}">
                    <a16:creationId xmlns:a16="http://schemas.microsoft.com/office/drawing/2014/main" id="{F734F48D-DE84-4E35-A576-13C27C2CD356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3" name="Text Box 5">
              <a:extLst>
                <a:ext uri="{FF2B5EF4-FFF2-40B4-BE49-F238E27FC236}">
                  <a16:creationId xmlns:a16="http://schemas.microsoft.com/office/drawing/2014/main" id="{22E1B1E4-EA5C-4ABE-873A-35A87965D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进制之间的相互转换</a:t>
              </a:r>
            </a:p>
          </p:txBody>
        </p:sp>
      </p:grpSp>
      <p:sp>
        <p:nvSpPr>
          <p:cNvPr id="36" name="Rectangle 4">
            <a:extLst>
              <a:ext uri="{FF2B5EF4-FFF2-40B4-BE49-F238E27FC236}">
                <a16:creationId xmlns:a16="http://schemas.microsoft.com/office/drawing/2014/main" id="{ACE62DC9-9CDA-40A5-8BB1-EC9E5739B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1.2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进位计数制及其转换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6984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98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6983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698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983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983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2000"/>
                                        <p:tgtEl>
                                          <p:spTgt spid="6983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2000"/>
                                        <p:tgtEl>
                                          <p:spTgt spid="6983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2000"/>
                                        <p:tgtEl>
                                          <p:spTgt spid="6983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2000"/>
                                        <p:tgtEl>
                                          <p:spTgt spid="6983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8" dur="2000"/>
                                        <p:tgtEl>
                                          <p:spTgt spid="698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98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76" grpId="0"/>
      <p:bldP spid="698377" grpId="0"/>
      <p:bldP spid="698378" grpId="0"/>
      <p:bldP spid="698379" grpId="0" animBg="1"/>
      <p:bldP spid="698380" grpId="0" animBg="1"/>
      <p:bldP spid="698384" grpId="0"/>
      <p:bldP spid="698400" grpId="0" animBg="1" autoUpdateAnimBg="0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7" name="Rectangle 5"/>
          <p:cNvSpPr>
            <a:spLocks noChangeArrowheads="1"/>
          </p:cNvSpPr>
          <p:nvPr/>
        </p:nvSpPr>
        <p:spPr bwMode="auto">
          <a:xfrm>
            <a:off x="822073" y="2348483"/>
            <a:ext cx="770413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ts val="35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8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十六进制 </a:t>
            </a:r>
            <a:r>
              <a:rPr lang="zh-CN" altLang="en-US" sz="28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  <a:sym typeface="Wingdings" pitchFamily="2" charset="2"/>
              </a:rPr>
              <a:t> </a:t>
            </a:r>
            <a:r>
              <a:rPr lang="zh-CN" altLang="en-US" sz="28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二进制</a:t>
            </a:r>
          </a:p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方法：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将每位十六进制数用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位二进制表示即可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36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  <p:sp>
        <p:nvSpPr>
          <p:cNvPr id="699400" name="Rectangle 8"/>
          <p:cNvSpPr>
            <a:spLocks noChangeArrowheads="1"/>
          </p:cNvSpPr>
          <p:nvPr/>
        </p:nvSpPr>
        <p:spPr bwMode="auto">
          <a:xfrm>
            <a:off x="1079248" y="3741067"/>
            <a:ext cx="6624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例：将十六进制数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(A9D.6C)</a:t>
            </a:r>
            <a:r>
              <a:rPr lang="en-US" altLang="zh-CN" b="1" baseline="-30000" dirty="0">
                <a:solidFill>
                  <a:srgbClr val="C01920"/>
                </a:solidFill>
                <a:latin typeface="+mn-lt"/>
                <a:ea typeface="楷体" pitchFamily="49" charset="-122"/>
              </a:rPr>
              <a:t>16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转换成二进制数</a:t>
            </a:r>
          </a:p>
        </p:txBody>
      </p:sp>
      <p:sp>
        <p:nvSpPr>
          <p:cNvPr id="699401" name="Rectangle 9"/>
          <p:cNvSpPr>
            <a:spLocks noChangeArrowheads="1"/>
          </p:cNvSpPr>
          <p:nvPr/>
        </p:nvSpPr>
        <p:spPr bwMode="auto">
          <a:xfrm>
            <a:off x="1542798" y="6140152"/>
            <a:ext cx="6192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所以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(A9D.6C)</a:t>
            </a:r>
            <a:r>
              <a:rPr lang="en-US" altLang="zh-CN" b="1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16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＝ 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(101010011101.011011)</a:t>
            </a:r>
            <a:r>
              <a:rPr lang="en-US" altLang="zh-CN" b="1" baseline="-30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99402" name="Rectangle 10"/>
          <p:cNvSpPr>
            <a:spLocks noChangeArrowheads="1"/>
          </p:cNvSpPr>
          <p:nvPr/>
        </p:nvSpPr>
        <p:spPr bwMode="auto">
          <a:xfrm>
            <a:off x="1542798" y="4328442"/>
            <a:ext cx="5761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十六进制数：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A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9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D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.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6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en-US" altLang="zh-CN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C</a:t>
            </a:r>
          </a:p>
        </p:txBody>
      </p:sp>
      <p:grpSp>
        <p:nvGrpSpPr>
          <p:cNvPr id="699423" name="Group 31"/>
          <p:cNvGrpSpPr>
            <a:grpSpLocks/>
          </p:cNvGrpSpPr>
          <p:nvPr/>
        </p:nvGrpSpPr>
        <p:grpSpPr bwMode="auto">
          <a:xfrm>
            <a:off x="3484310" y="4753892"/>
            <a:ext cx="777875" cy="1174750"/>
            <a:chOff x="2198" y="2432"/>
            <a:chExt cx="490" cy="740"/>
          </a:xfrm>
        </p:grpSpPr>
        <p:sp>
          <p:nvSpPr>
            <p:cNvPr id="699404" name="Line 12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05" name="Rectangle 13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1010</a:t>
              </a:r>
            </a:p>
          </p:txBody>
        </p:sp>
      </p:grpSp>
      <p:sp>
        <p:nvSpPr>
          <p:cNvPr id="699406" name="Rectangle 14"/>
          <p:cNvSpPr>
            <a:spLocks noChangeArrowheads="1"/>
          </p:cNvSpPr>
          <p:nvPr/>
        </p:nvSpPr>
        <p:spPr bwMode="auto">
          <a:xfrm>
            <a:off x="1541209" y="5460330"/>
            <a:ext cx="1716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二进制数：</a:t>
            </a:r>
          </a:p>
        </p:txBody>
      </p:sp>
      <p:sp>
        <p:nvSpPr>
          <p:cNvPr id="699422" name="Text Box 30"/>
          <p:cNvSpPr txBox="1">
            <a:spLocks noChangeArrowheads="1"/>
          </p:cNvSpPr>
          <p:nvPr/>
        </p:nvSpPr>
        <p:spPr bwMode="auto">
          <a:xfrm>
            <a:off x="9570785" y="663128"/>
            <a:ext cx="1727795" cy="6001643"/>
          </a:xfrm>
          <a:prstGeom prst="rect">
            <a:avLst/>
          </a:prstGeom>
          <a:gradFill>
            <a:gsLst>
              <a:gs pos="0">
                <a:srgbClr val="BEDFC4"/>
              </a:gs>
              <a:gs pos="50000">
                <a:srgbClr val="BEDFC4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0000 ~ 0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0001 ~ 1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0010 ~ 2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0011 ~ 3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0100 ~ 4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0101 ~ 5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0110 ~ 6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0111 ~ 7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1000 ~ 8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1001 ~ 9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1010 ~ A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1011 ~ B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1100 ~ C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1101 ~ D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1110 ~ E</a:t>
            </a:r>
          </a:p>
          <a:p>
            <a:pPr algn="ctr" eaLnBrk="0" hangingPunct="0"/>
            <a:r>
              <a:rPr lang="en-US" altLang="zh-CN" dirty="0">
                <a:solidFill>
                  <a:srgbClr val="C00000"/>
                </a:solidFill>
              </a:rPr>
              <a:t>1111 ~ F</a:t>
            </a:r>
          </a:p>
        </p:txBody>
      </p:sp>
      <p:grpSp>
        <p:nvGrpSpPr>
          <p:cNvPr id="699427" name="Group 35"/>
          <p:cNvGrpSpPr>
            <a:grpSpLocks/>
          </p:cNvGrpSpPr>
          <p:nvPr/>
        </p:nvGrpSpPr>
        <p:grpSpPr bwMode="auto">
          <a:xfrm>
            <a:off x="4128835" y="4755480"/>
            <a:ext cx="777875" cy="1174750"/>
            <a:chOff x="2198" y="2432"/>
            <a:chExt cx="490" cy="740"/>
          </a:xfrm>
        </p:grpSpPr>
        <p:sp>
          <p:nvSpPr>
            <p:cNvPr id="699428" name="Line 36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29" name="Rectangle 37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1001</a:t>
              </a:r>
            </a:p>
          </p:txBody>
        </p:sp>
      </p:grpSp>
      <p:grpSp>
        <p:nvGrpSpPr>
          <p:cNvPr id="699430" name="Group 38"/>
          <p:cNvGrpSpPr>
            <a:grpSpLocks/>
          </p:cNvGrpSpPr>
          <p:nvPr/>
        </p:nvGrpSpPr>
        <p:grpSpPr bwMode="auto">
          <a:xfrm>
            <a:off x="4759073" y="4757067"/>
            <a:ext cx="777875" cy="1174750"/>
            <a:chOff x="2198" y="2432"/>
            <a:chExt cx="490" cy="740"/>
          </a:xfrm>
        </p:grpSpPr>
        <p:sp>
          <p:nvSpPr>
            <p:cNvPr id="699431" name="Line 39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32" name="Rectangle 40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1101</a:t>
              </a:r>
            </a:p>
          </p:txBody>
        </p:sp>
      </p:grpSp>
      <p:grpSp>
        <p:nvGrpSpPr>
          <p:cNvPr id="699433" name="Group 41"/>
          <p:cNvGrpSpPr>
            <a:grpSpLocks/>
          </p:cNvGrpSpPr>
          <p:nvPr/>
        </p:nvGrpSpPr>
        <p:grpSpPr bwMode="auto">
          <a:xfrm>
            <a:off x="5303585" y="4758655"/>
            <a:ext cx="777875" cy="1174750"/>
            <a:chOff x="2198" y="2432"/>
            <a:chExt cx="490" cy="740"/>
          </a:xfrm>
        </p:grpSpPr>
        <p:sp>
          <p:nvSpPr>
            <p:cNvPr id="699434" name="Line 42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35" name="Rectangle 43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   .</a:t>
              </a:r>
            </a:p>
          </p:txBody>
        </p:sp>
      </p:grpSp>
      <p:grpSp>
        <p:nvGrpSpPr>
          <p:cNvPr id="699436" name="Group 44"/>
          <p:cNvGrpSpPr>
            <a:grpSpLocks/>
          </p:cNvGrpSpPr>
          <p:nvPr/>
        </p:nvGrpSpPr>
        <p:grpSpPr bwMode="auto">
          <a:xfrm>
            <a:off x="5789360" y="4772942"/>
            <a:ext cx="777875" cy="1174750"/>
            <a:chOff x="2198" y="2432"/>
            <a:chExt cx="490" cy="740"/>
          </a:xfrm>
        </p:grpSpPr>
        <p:sp>
          <p:nvSpPr>
            <p:cNvPr id="699437" name="Line 45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38" name="Rectangle 46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0110</a:t>
              </a:r>
            </a:p>
          </p:txBody>
        </p:sp>
      </p:grpSp>
      <p:grpSp>
        <p:nvGrpSpPr>
          <p:cNvPr id="699439" name="Group 47"/>
          <p:cNvGrpSpPr>
            <a:grpSpLocks/>
          </p:cNvGrpSpPr>
          <p:nvPr/>
        </p:nvGrpSpPr>
        <p:grpSpPr bwMode="auto">
          <a:xfrm>
            <a:off x="6448173" y="4774530"/>
            <a:ext cx="777875" cy="1174750"/>
            <a:chOff x="2198" y="2432"/>
            <a:chExt cx="490" cy="740"/>
          </a:xfrm>
        </p:grpSpPr>
        <p:sp>
          <p:nvSpPr>
            <p:cNvPr id="699440" name="Line 48"/>
            <p:cNvSpPr>
              <a:spLocks noChangeShapeType="1"/>
            </p:cNvSpPr>
            <p:nvPr/>
          </p:nvSpPr>
          <p:spPr bwMode="auto">
            <a:xfrm>
              <a:off x="2403" y="2432"/>
              <a:ext cx="0" cy="45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441" name="Rectangle 49"/>
            <p:cNvSpPr>
              <a:spLocks noChangeArrowheads="1"/>
            </p:cNvSpPr>
            <p:nvPr/>
          </p:nvSpPr>
          <p:spPr bwMode="auto">
            <a:xfrm>
              <a:off x="2198" y="2922"/>
              <a:ext cx="4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zh-CN" sz="2000" b="1">
                  <a:solidFill>
                    <a:schemeClr val="accent2"/>
                  </a:solidFill>
                </a:rPr>
                <a:t>1100</a:t>
              </a:r>
            </a:p>
          </p:txBody>
        </p:sp>
      </p:grpSp>
      <p:sp>
        <p:nvSpPr>
          <p:cNvPr id="699442" name="AutoShape 50"/>
          <p:cNvSpPr>
            <a:spLocks noChangeArrowheads="1"/>
          </p:cNvSpPr>
          <p:nvPr/>
        </p:nvSpPr>
        <p:spPr bwMode="auto">
          <a:xfrm>
            <a:off x="1820725" y="3212040"/>
            <a:ext cx="7488832" cy="2490356"/>
          </a:xfrm>
          <a:prstGeom prst="cloudCallout">
            <a:avLst>
              <a:gd name="adj1" fmla="val -12819"/>
              <a:gd name="adj2" fmla="val 70000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5400">
            <a:solidFill>
              <a:srgbClr val="C01920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r>
              <a:rPr lang="zh-CN" altLang="en-US" sz="3200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请问</a:t>
            </a:r>
            <a:r>
              <a:rPr lang="en-US" altLang="zh-CN" sz="3200" b="1" dirty="0">
                <a:solidFill>
                  <a:srgbClr val="C01920"/>
                </a:solidFill>
              </a:rPr>
              <a:t>……….????</a:t>
            </a:r>
          </a:p>
          <a:p>
            <a:r>
              <a:rPr lang="en-US" altLang="zh-CN" sz="2800" b="1" dirty="0">
                <a:solidFill>
                  <a:srgbClr val="002060"/>
                </a:solidFill>
              </a:rPr>
              <a:t>(9FDA.4B)</a:t>
            </a:r>
            <a:r>
              <a:rPr lang="en-US" altLang="zh-CN" sz="2800" b="1" baseline="-25000" dirty="0">
                <a:solidFill>
                  <a:srgbClr val="002060"/>
                </a:solidFill>
              </a:rPr>
              <a:t>16</a:t>
            </a:r>
            <a:r>
              <a:rPr lang="en-US" altLang="zh-CN" sz="2800" b="1" dirty="0">
                <a:solidFill>
                  <a:srgbClr val="002060"/>
                </a:solidFill>
              </a:rPr>
              <a:t> = (__________)</a:t>
            </a:r>
            <a:r>
              <a:rPr lang="en-US" altLang="zh-CN" sz="2800" b="1" baseline="-25000" dirty="0">
                <a:solidFill>
                  <a:srgbClr val="002060"/>
                </a:solidFill>
              </a:rPr>
              <a:t>8</a:t>
            </a:r>
          </a:p>
          <a:p>
            <a:r>
              <a:rPr lang="en-US" altLang="zh-CN" sz="2800" b="1" dirty="0">
                <a:solidFill>
                  <a:srgbClr val="002060"/>
                </a:solidFill>
              </a:rPr>
              <a:t>(256)</a:t>
            </a:r>
            <a:r>
              <a:rPr lang="en-US" altLang="zh-CN" sz="2800" b="1" baseline="-25000" dirty="0">
                <a:solidFill>
                  <a:srgbClr val="002060"/>
                </a:solidFill>
              </a:rPr>
              <a:t>7</a:t>
            </a:r>
            <a:r>
              <a:rPr lang="en-US" altLang="zh-CN" sz="2800" b="1" dirty="0">
                <a:solidFill>
                  <a:srgbClr val="002060"/>
                </a:solidFill>
              </a:rPr>
              <a:t> = (___________)</a:t>
            </a:r>
            <a:r>
              <a:rPr lang="en-US" altLang="zh-CN" sz="2800" b="1" baseline="-25000" dirty="0">
                <a:solidFill>
                  <a:srgbClr val="002060"/>
                </a:solidFill>
              </a:rPr>
              <a:t>6</a:t>
            </a:r>
          </a:p>
        </p:txBody>
      </p:sp>
      <p:sp>
        <p:nvSpPr>
          <p:cNvPr id="31" name="Rectangle 11">
            <a:extLst>
              <a:ext uri="{FF2B5EF4-FFF2-40B4-BE49-F238E27FC236}">
                <a16:creationId xmlns:a16="http://schemas.microsoft.com/office/drawing/2014/main" id="{1D078284-3780-48D3-9768-4850E751B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65" y="1625427"/>
            <a:ext cx="820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rgbClr val="002060"/>
              </a:buClr>
              <a:buFont typeface="Wingdings" pitchFamily="2" charset="2"/>
              <a:buChar char="l"/>
            </a:pPr>
            <a:r>
              <a:rPr lang="zh-CN" altLang="en-US" sz="3200" dirty="0">
                <a:solidFill>
                  <a:srgbClr val="002060"/>
                </a:solidFill>
                <a:ea typeface="隶书" pitchFamily="49" charset="-122"/>
              </a:rPr>
              <a:t>二进制、八进制、十六进制之间的转换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CE11657-799A-4AFD-A834-E494816E58AF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F0516593-9A8D-447A-97F4-2685E443D9AF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5" name="菱形 34">
                <a:extLst>
                  <a:ext uri="{FF2B5EF4-FFF2-40B4-BE49-F238E27FC236}">
                    <a16:creationId xmlns:a16="http://schemas.microsoft.com/office/drawing/2014/main" id="{C5C6EB5A-DBF6-410E-82FD-6ABC913C0374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9EA4FBC6-FA49-4FF6-958A-1C9B806BAFB1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4" name="Text Box 5">
              <a:extLst>
                <a:ext uri="{FF2B5EF4-FFF2-40B4-BE49-F238E27FC236}">
                  <a16:creationId xmlns:a16="http://schemas.microsoft.com/office/drawing/2014/main" id="{EE5BB9FF-0C77-4DA0-B3A9-624353CF0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进制之间的相互转换</a:t>
              </a:r>
            </a:p>
          </p:txBody>
        </p:sp>
      </p:grpSp>
      <p:sp>
        <p:nvSpPr>
          <p:cNvPr id="37" name="Rectangle 4">
            <a:extLst>
              <a:ext uri="{FF2B5EF4-FFF2-40B4-BE49-F238E27FC236}">
                <a16:creationId xmlns:a16="http://schemas.microsoft.com/office/drawing/2014/main" id="{6ECA6619-CD40-405B-A178-69F97A115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1.2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进位计数制及其转换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99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699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699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994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99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994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2000"/>
                                        <p:tgtEl>
                                          <p:spTgt spid="699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2000"/>
                                        <p:tgtEl>
                                          <p:spTgt spid="699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2000"/>
                                        <p:tgtEl>
                                          <p:spTgt spid="6994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2000"/>
                                        <p:tgtEl>
                                          <p:spTgt spid="6994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2000"/>
                                        <p:tgtEl>
                                          <p:spTgt spid="6994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2000"/>
                                        <p:tgtEl>
                                          <p:spTgt spid="699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994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9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9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397" grpId="0" build="p" bldLvl="5" autoUpdateAnimBg="0"/>
      <p:bldP spid="699400" grpId="0"/>
      <p:bldP spid="699401" grpId="0"/>
      <p:bldP spid="699402" grpId="0"/>
      <p:bldP spid="699406" grpId="0"/>
      <p:bldP spid="699422" grpId="0" animBg="1" autoUpdateAnimBg="0"/>
      <p:bldP spid="699442" grpId="0" animBg="1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9" name="Rectangle 3"/>
          <p:cNvSpPr>
            <a:spLocks noChangeArrowheads="1"/>
          </p:cNvSpPr>
          <p:nvPr/>
        </p:nvSpPr>
        <p:spPr bwMode="auto">
          <a:xfrm>
            <a:off x="525008" y="1000127"/>
            <a:ext cx="11187609" cy="322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 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真值：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一个带符号数由两部分组成：一部分表示数的符号，另一部分表示数的数值。一般，直接用正号“＋”和负号“－”来表示符号的二进制数，叫做符号数的真值。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机器数：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计算机中的数是用二进制来表示的，数的符号也是用二进制来表示的。把一个数连同其符号在内在机器中的表示加以数值化，这样的数称为机器数。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b="1" dirty="0">
                <a:solidFill>
                  <a:srgbClr val="C019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一般用最高有效位来表示数的符号，正数用</a:t>
            </a:r>
            <a:r>
              <a:rPr lang="en-US" altLang="zh-CN" b="1" dirty="0">
                <a:solidFill>
                  <a:srgbClr val="C019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rgbClr val="C019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表示，负数用</a:t>
            </a:r>
            <a:r>
              <a:rPr lang="en-US" altLang="zh-CN" b="1" dirty="0">
                <a:solidFill>
                  <a:srgbClr val="C019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C019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表示。  </a:t>
            </a:r>
          </a:p>
        </p:txBody>
      </p:sp>
      <p:grpSp>
        <p:nvGrpSpPr>
          <p:cNvPr id="700438" name="Group 22"/>
          <p:cNvGrpSpPr>
            <a:grpSpLocks/>
          </p:cNvGrpSpPr>
          <p:nvPr/>
        </p:nvGrpSpPr>
        <p:grpSpPr bwMode="auto">
          <a:xfrm>
            <a:off x="1992238" y="4725148"/>
            <a:ext cx="4895850" cy="1743077"/>
            <a:chOff x="657" y="3113"/>
            <a:chExt cx="3084" cy="1098"/>
          </a:xfrm>
        </p:grpSpPr>
        <p:sp>
          <p:nvSpPr>
            <p:cNvPr id="700424" name="Text Box 8"/>
            <p:cNvSpPr txBox="1">
              <a:spLocks noChangeArrowheads="1"/>
            </p:cNvSpPr>
            <p:nvPr/>
          </p:nvSpPr>
          <p:spPr bwMode="auto">
            <a:xfrm>
              <a:off x="657" y="3113"/>
              <a:ext cx="3084" cy="64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177800" indent="-177800">
                <a:spcBef>
                  <a:spcPct val="50000"/>
                </a:spcBef>
                <a:tabLst>
                  <a:tab pos="177800" algn="l"/>
                </a:tabLst>
              </a:pPr>
              <a:r>
                <a:rPr kumimoji="0"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真值：   </a:t>
              </a:r>
              <a:r>
                <a:rPr kumimoji="0"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+ 1 0 1 1               - 1 0 1 1</a:t>
              </a:r>
            </a:p>
            <a:p>
              <a:pPr marL="177800" indent="-177800">
                <a:spcBef>
                  <a:spcPct val="50000"/>
                </a:spcBef>
                <a:tabLst>
                  <a:tab pos="177800" algn="l"/>
                </a:tabLst>
              </a:pPr>
              <a:r>
                <a:rPr kumimoji="0"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" pitchFamily="49" charset="-122"/>
                  <a:ea typeface="楷体" pitchFamily="49" charset="-122"/>
                </a:rPr>
                <a:t>机器数： </a:t>
              </a:r>
              <a:r>
                <a:rPr kumimoji="0"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  <a:r>
                <a:rPr kumimoji="0"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</a:t>
              </a:r>
              <a:r>
                <a:rPr kumimoji="0" lang="en-US" altLang="zh-CN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1 0 1 1               </a:t>
              </a:r>
              <a:r>
                <a:rPr kumimoji="0"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r>
                <a:rPr kumimoji="0"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</a:t>
              </a:r>
              <a:r>
                <a:rPr kumimoji="0" lang="en-US" altLang="zh-CN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1 0 1 1</a:t>
              </a:r>
            </a:p>
          </p:txBody>
        </p:sp>
        <p:grpSp>
          <p:nvGrpSpPr>
            <p:cNvPr id="700430" name="Group 14"/>
            <p:cNvGrpSpPr>
              <a:grpSpLocks/>
            </p:cNvGrpSpPr>
            <p:nvPr/>
          </p:nvGrpSpPr>
          <p:grpSpPr bwMode="auto">
            <a:xfrm>
              <a:off x="1421" y="3687"/>
              <a:ext cx="902" cy="524"/>
              <a:chOff x="1358" y="3714"/>
              <a:chExt cx="902" cy="524"/>
            </a:xfrm>
          </p:grpSpPr>
          <p:sp>
            <p:nvSpPr>
              <p:cNvPr id="700425" name="AutoShape 9"/>
              <p:cNvSpPr>
                <a:spLocks/>
              </p:cNvSpPr>
              <p:nvPr/>
            </p:nvSpPr>
            <p:spPr bwMode="auto">
              <a:xfrm rot="5400000">
                <a:off x="1856" y="3552"/>
                <a:ext cx="107" cy="432"/>
              </a:xfrm>
              <a:prstGeom prst="rightBrace">
                <a:avLst>
                  <a:gd name="adj1" fmla="val 33242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0426" name="Text Box 10"/>
              <p:cNvSpPr txBox="1">
                <a:spLocks noChangeArrowheads="1"/>
              </p:cNvSpPr>
              <p:nvPr/>
            </p:nvSpPr>
            <p:spPr bwMode="auto">
              <a:xfrm>
                <a:off x="1716" y="3790"/>
                <a:ext cx="544" cy="23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177800" indent="-177800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sz="18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数值</a:t>
                </a:r>
              </a:p>
            </p:txBody>
          </p:sp>
          <p:sp>
            <p:nvSpPr>
              <p:cNvPr id="700427" name="Line 11"/>
              <p:cNvSpPr>
                <a:spLocks noChangeShapeType="1"/>
              </p:cNvSpPr>
              <p:nvPr/>
            </p:nvSpPr>
            <p:spPr bwMode="auto">
              <a:xfrm flipV="1">
                <a:off x="1564" y="3735"/>
                <a:ext cx="0" cy="31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0428" name="Text Box 12"/>
              <p:cNvSpPr txBox="1">
                <a:spLocks noChangeArrowheads="1"/>
              </p:cNvSpPr>
              <p:nvPr/>
            </p:nvSpPr>
            <p:spPr bwMode="auto">
              <a:xfrm>
                <a:off x="1358" y="4005"/>
                <a:ext cx="478" cy="23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177800" indent="-177800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sz="1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符号</a:t>
                </a:r>
              </a:p>
            </p:txBody>
          </p:sp>
        </p:grpSp>
        <p:grpSp>
          <p:nvGrpSpPr>
            <p:cNvPr id="700431" name="Group 15"/>
            <p:cNvGrpSpPr>
              <a:grpSpLocks/>
            </p:cNvGrpSpPr>
            <p:nvPr/>
          </p:nvGrpSpPr>
          <p:grpSpPr bwMode="auto">
            <a:xfrm>
              <a:off x="2834" y="3683"/>
              <a:ext cx="887" cy="525"/>
              <a:chOff x="1604" y="3709"/>
              <a:chExt cx="887" cy="525"/>
            </a:xfrm>
          </p:grpSpPr>
          <p:sp>
            <p:nvSpPr>
              <p:cNvPr id="700432" name="AutoShape 16"/>
              <p:cNvSpPr>
                <a:spLocks/>
              </p:cNvSpPr>
              <p:nvPr/>
            </p:nvSpPr>
            <p:spPr bwMode="auto">
              <a:xfrm rot="5400000">
                <a:off x="2098" y="3534"/>
                <a:ext cx="97" cy="447"/>
              </a:xfrm>
              <a:prstGeom prst="rightBrace">
                <a:avLst>
                  <a:gd name="adj1" fmla="val 33242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0433" name="Text Box 17"/>
              <p:cNvSpPr txBox="1">
                <a:spLocks noChangeArrowheads="1"/>
              </p:cNvSpPr>
              <p:nvPr/>
            </p:nvSpPr>
            <p:spPr bwMode="auto">
              <a:xfrm>
                <a:off x="1947" y="3779"/>
                <a:ext cx="544" cy="23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177800" indent="-177800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sz="18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数值</a:t>
                </a:r>
              </a:p>
            </p:txBody>
          </p:sp>
          <p:sp>
            <p:nvSpPr>
              <p:cNvPr id="700434" name="Line 18"/>
              <p:cNvSpPr>
                <a:spLocks noChangeShapeType="1"/>
              </p:cNvSpPr>
              <p:nvPr/>
            </p:nvSpPr>
            <p:spPr bwMode="auto">
              <a:xfrm flipV="1">
                <a:off x="1797" y="3726"/>
                <a:ext cx="0" cy="31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0435" name="Text Box 19"/>
              <p:cNvSpPr txBox="1">
                <a:spLocks noChangeArrowheads="1"/>
              </p:cNvSpPr>
              <p:nvPr/>
            </p:nvSpPr>
            <p:spPr bwMode="auto">
              <a:xfrm>
                <a:off x="1604" y="4001"/>
                <a:ext cx="544" cy="23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177800" indent="-177800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sz="18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符号</a:t>
                </a:r>
              </a:p>
            </p:txBody>
          </p:sp>
        </p:grpSp>
      </p:grpSp>
      <p:grpSp>
        <p:nvGrpSpPr>
          <p:cNvPr id="700443" name="Group 27"/>
          <p:cNvGrpSpPr>
            <a:grpSpLocks/>
          </p:cNvGrpSpPr>
          <p:nvPr/>
        </p:nvGrpSpPr>
        <p:grpSpPr bwMode="auto">
          <a:xfrm>
            <a:off x="7285758" y="4228263"/>
            <a:ext cx="4021655" cy="1944687"/>
            <a:chOff x="3693" y="2931"/>
            <a:chExt cx="1863" cy="1225"/>
          </a:xfrm>
        </p:grpSpPr>
        <p:sp>
          <p:nvSpPr>
            <p:cNvPr id="700442" name="Rectangle 26"/>
            <p:cNvSpPr>
              <a:spLocks noChangeArrowheads="1"/>
            </p:cNvSpPr>
            <p:nvPr/>
          </p:nvSpPr>
          <p:spPr bwMode="auto">
            <a:xfrm>
              <a:off x="3787" y="2931"/>
              <a:ext cx="1769" cy="1225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0441" name="Group 25"/>
            <p:cNvGrpSpPr>
              <a:grpSpLocks/>
            </p:cNvGrpSpPr>
            <p:nvPr/>
          </p:nvGrpSpPr>
          <p:grpSpPr bwMode="auto">
            <a:xfrm>
              <a:off x="3693" y="2985"/>
              <a:ext cx="1517" cy="989"/>
              <a:chOff x="3693" y="2985"/>
              <a:chExt cx="1517" cy="989"/>
            </a:xfrm>
          </p:grpSpPr>
          <p:sp>
            <p:nvSpPr>
              <p:cNvPr id="700437" name="Text Box 21"/>
              <p:cNvSpPr txBox="1">
                <a:spLocks noChangeArrowheads="1"/>
              </p:cNvSpPr>
              <p:nvPr/>
            </p:nvSpPr>
            <p:spPr bwMode="auto">
              <a:xfrm>
                <a:off x="3693" y="3186"/>
                <a:ext cx="862" cy="601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177800" indent="-177800" algn="ctr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en-US" altLang="zh-CN" sz="3200" b="1" dirty="0">
                    <a:solidFill>
                      <a:srgbClr val="C01920"/>
                    </a:solidFill>
                    <a:latin typeface="楷体" pitchFamily="49" charset="-122"/>
                    <a:ea typeface="楷体" pitchFamily="49" charset="-122"/>
                  </a:rPr>
                  <a:t> </a:t>
                </a:r>
                <a:r>
                  <a:rPr kumimoji="0" lang="zh-CN" altLang="en-US" b="1" dirty="0">
                    <a:solidFill>
                      <a:srgbClr val="C01920"/>
                    </a:solidFill>
                    <a:latin typeface="楷体" pitchFamily="49" charset="-122"/>
                    <a:ea typeface="楷体" pitchFamily="49" charset="-122"/>
                  </a:rPr>
                  <a:t>机器数的表示形式</a:t>
                </a:r>
              </a:p>
            </p:txBody>
          </p:sp>
          <p:sp>
            <p:nvSpPr>
              <p:cNvPr id="700439" name="Text Box 23"/>
              <p:cNvSpPr txBox="1">
                <a:spLocks noChangeArrowheads="1"/>
              </p:cNvSpPr>
              <p:nvPr/>
            </p:nvSpPr>
            <p:spPr bwMode="auto">
              <a:xfrm>
                <a:off x="4621" y="2985"/>
                <a:ext cx="589" cy="989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177800" indent="-177800" algn="ctr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b="1" dirty="0">
                    <a:latin typeface="楷体" pitchFamily="49" charset="-122"/>
                    <a:ea typeface="楷体" pitchFamily="49" charset="-122"/>
                  </a:rPr>
                  <a:t>原码</a:t>
                </a:r>
              </a:p>
              <a:p>
                <a:pPr marL="177800" indent="-177800" algn="ctr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b="1" dirty="0">
                    <a:latin typeface="楷体" pitchFamily="49" charset="-122"/>
                    <a:ea typeface="楷体" pitchFamily="49" charset="-122"/>
                  </a:rPr>
                  <a:t>补码</a:t>
                </a:r>
              </a:p>
              <a:p>
                <a:pPr marL="177800" indent="-177800" algn="ctr">
                  <a:spcBef>
                    <a:spcPct val="50000"/>
                  </a:spcBef>
                  <a:tabLst>
                    <a:tab pos="177800" algn="l"/>
                  </a:tabLst>
                </a:pPr>
                <a:r>
                  <a:rPr kumimoji="0" lang="zh-CN" altLang="en-US" b="1" dirty="0">
                    <a:latin typeface="楷体" pitchFamily="49" charset="-122"/>
                    <a:ea typeface="楷体" pitchFamily="49" charset="-122"/>
                  </a:rPr>
                  <a:t>反码</a:t>
                </a:r>
              </a:p>
            </p:txBody>
          </p:sp>
          <p:sp>
            <p:nvSpPr>
              <p:cNvPr id="700440" name="AutoShape 24"/>
              <p:cNvSpPr>
                <a:spLocks/>
              </p:cNvSpPr>
              <p:nvPr/>
            </p:nvSpPr>
            <p:spPr bwMode="auto">
              <a:xfrm>
                <a:off x="4555" y="3113"/>
                <a:ext cx="135" cy="771"/>
              </a:xfrm>
              <a:prstGeom prst="leftBrace">
                <a:avLst>
                  <a:gd name="adj1" fmla="val 70604"/>
                  <a:gd name="adj2" fmla="val 50000"/>
                </a:avLst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5F1D6D3-1CF4-48DF-94AA-FB94E7F1CEFE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E4AA02AF-8B0B-4244-A060-07C632DB75EA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28" name="菱形 27">
                <a:extLst>
                  <a:ext uri="{FF2B5EF4-FFF2-40B4-BE49-F238E27FC236}">
                    <a16:creationId xmlns:a16="http://schemas.microsoft.com/office/drawing/2014/main" id="{70A8639B-973C-422F-9C95-487AFDF64CBD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9" name="菱形 28">
                <a:extLst>
                  <a:ext uri="{FF2B5EF4-FFF2-40B4-BE49-F238E27FC236}">
                    <a16:creationId xmlns:a16="http://schemas.microsoft.com/office/drawing/2014/main" id="{8A9078BB-3919-4434-98F6-FB057DC742FF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27" name="Text Box 5">
              <a:extLst>
                <a:ext uri="{FF2B5EF4-FFF2-40B4-BE49-F238E27FC236}">
                  <a16:creationId xmlns:a16="http://schemas.microsoft.com/office/drawing/2014/main" id="{86378022-5486-40F3-8EB4-FFA0B6E59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真值与机器数</a:t>
              </a:r>
            </a:p>
          </p:txBody>
        </p:sp>
      </p:grpSp>
      <p:sp>
        <p:nvSpPr>
          <p:cNvPr id="30" name="Rectangle 4">
            <a:extLst>
              <a:ext uri="{FF2B5EF4-FFF2-40B4-BE49-F238E27FC236}">
                <a16:creationId xmlns:a16="http://schemas.microsoft.com/office/drawing/2014/main" id="{6EBB6A6E-C724-4479-816A-C72F7ED22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0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00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004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19" grpId="0" uiExpand="1" build="p" bldLvl="5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3" name="Rectangle 3"/>
          <p:cNvSpPr>
            <a:spLocks noChangeArrowheads="1"/>
          </p:cNvSpPr>
          <p:nvPr/>
        </p:nvSpPr>
        <p:spPr bwMode="auto">
          <a:xfrm>
            <a:off x="695400" y="908720"/>
            <a:ext cx="10945216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endParaRPr lang="zh-CN" altLang="en-US" sz="32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itchFamily="49" charset="-122"/>
            </a:endParaRPr>
          </a:p>
          <a:p>
            <a:pPr algn="just">
              <a:spcBef>
                <a:spcPct val="20000"/>
              </a:spcBef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原码又称为“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符号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-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数值表示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”。在以原码形式表示的正数和负数中，第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位表示符号位，对于正数，符号位记为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，对于负数，符号位记为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，其余各位表示数值部分。</a:t>
            </a:r>
          </a:p>
        </p:txBody>
      </p:sp>
      <p:sp>
        <p:nvSpPr>
          <p:cNvPr id="701465" name="Rectangle 25"/>
          <p:cNvSpPr>
            <a:spLocks noChangeArrowheads="1"/>
          </p:cNvSpPr>
          <p:nvPr/>
        </p:nvSpPr>
        <p:spPr bwMode="auto">
          <a:xfrm>
            <a:off x="1344438" y="2741613"/>
            <a:ext cx="8135938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例：</a:t>
            </a:r>
            <a:r>
              <a:rPr lang="en-US" altLang="zh-CN" b="1" dirty="0"/>
              <a:t>N1     </a:t>
            </a:r>
            <a:r>
              <a:rPr lang="zh-CN" altLang="en-US" b="1" dirty="0"/>
              <a:t>＝ </a:t>
            </a:r>
            <a:r>
              <a:rPr lang="en-US" altLang="zh-CN" b="1" dirty="0"/>
              <a:t>+10011             N2 </a:t>
            </a:r>
            <a:r>
              <a:rPr lang="zh-CN" altLang="en-US" b="1" dirty="0"/>
              <a:t>＝    </a:t>
            </a:r>
            <a:r>
              <a:rPr lang="en-US" altLang="zh-CN" b="1" dirty="0"/>
              <a:t>-01010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/>
              <a:t>       [N1]</a:t>
            </a:r>
            <a:r>
              <a:rPr lang="zh-CN" altLang="en-US" b="1" baseline="-25000" dirty="0"/>
              <a:t>原</a:t>
            </a:r>
            <a:r>
              <a:rPr lang="zh-CN" altLang="en-US" b="1" dirty="0"/>
              <a:t> ＝ </a:t>
            </a:r>
            <a:r>
              <a:rPr lang="en-US" altLang="zh-CN" b="1" dirty="0">
                <a:solidFill>
                  <a:srgbClr val="C01920"/>
                </a:solidFill>
              </a:rPr>
              <a:t>0</a:t>
            </a:r>
            <a:r>
              <a:rPr lang="en-US" altLang="zh-CN" b="1" dirty="0"/>
              <a:t>10011           [N2]</a:t>
            </a:r>
            <a:r>
              <a:rPr lang="zh-CN" altLang="en-US" b="1" baseline="-25000" dirty="0"/>
              <a:t>原</a:t>
            </a:r>
            <a:r>
              <a:rPr lang="zh-CN" altLang="en-US" b="1" dirty="0"/>
              <a:t>＝ </a:t>
            </a:r>
            <a:r>
              <a:rPr lang="en-US" altLang="zh-CN" b="1" dirty="0">
                <a:solidFill>
                  <a:srgbClr val="C01920"/>
                </a:solidFill>
              </a:rPr>
              <a:t>1</a:t>
            </a:r>
            <a:r>
              <a:rPr lang="en-US" altLang="zh-CN" b="1" dirty="0"/>
              <a:t>01010</a:t>
            </a:r>
          </a:p>
        </p:txBody>
      </p:sp>
      <p:sp>
        <p:nvSpPr>
          <p:cNvPr id="701466" name="Rectangle 26"/>
          <p:cNvSpPr>
            <a:spLocks noChangeArrowheads="1"/>
          </p:cNvSpPr>
          <p:nvPr/>
        </p:nvSpPr>
        <p:spPr bwMode="auto">
          <a:xfrm>
            <a:off x="707774" y="3714750"/>
            <a:ext cx="1080120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b="1" dirty="0">
                <a:latin typeface="楷体" pitchFamily="49" charset="-122"/>
                <a:ea typeface="楷体" pitchFamily="49" charset="-122"/>
              </a:rPr>
              <a:t>根据上述原码形成规则，一个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位的整数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（包含一位符号位）的原码一般表示为：</a:t>
            </a:r>
          </a:p>
        </p:txBody>
      </p:sp>
      <p:grpSp>
        <p:nvGrpSpPr>
          <p:cNvPr id="701472" name="Group 32"/>
          <p:cNvGrpSpPr>
            <a:grpSpLocks/>
          </p:cNvGrpSpPr>
          <p:nvPr/>
        </p:nvGrpSpPr>
        <p:grpSpPr bwMode="auto">
          <a:xfrm>
            <a:off x="2063552" y="4725144"/>
            <a:ext cx="8496944" cy="1295400"/>
            <a:chOff x="841" y="2805"/>
            <a:chExt cx="4173" cy="816"/>
          </a:xfrm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grpSpPr>
        <p:sp>
          <p:nvSpPr>
            <p:cNvPr id="701471" name="Rectangle 31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01920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1470" name="Group 30"/>
            <p:cNvGrpSpPr>
              <a:grpSpLocks/>
            </p:cNvGrpSpPr>
            <p:nvPr/>
          </p:nvGrpSpPr>
          <p:grpSpPr bwMode="auto">
            <a:xfrm>
              <a:off x="1071" y="2817"/>
              <a:ext cx="2734" cy="756"/>
              <a:chOff x="729" y="2907"/>
              <a:chExt cx="2734" cy="756"/>
            </a:xfrm>
          </p:grpSpPr>
          <p:sp>
            <p:nvSpPr>
              <p:cNvPr id="701468" name="Rectangle 28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2734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/>
                  <a:t>                       N                0 ≤ N </a:t>
                </a:r>
                <a:r>
                  <a:rPr lang="zh-CN" altLang="en-US" b="1" dirty="0"/>
                  <a:t>＜ </a:t>
                </a:r>
                <a:r>
                  <a:rPr lang="en-US" altLang="zh-CN" b="1" dirty="0"/>
                  <a:t>2</a:t>
                </a:r>
                <a:r>
                  <a:rPr lang="en-US" altLang="zh-CN" b="1" baseline="30000" dirty="0"/>
                  <a:t>n-1</a:t>
                </a:r>
              </a:p>
              <a:p>
                <a:pPr indent="266700"/>
                <a:r>
                  <a:rPr lang="en-US" altLang="zh-CN" b="1" dirty="0"/>
                  <a:t>[N]</a:t>
                </a:r>
                <a:r>
                  <a:rPr lang="zh-CN" altLang="en-US" b="1" baseline="-25000" dirty="0">
                    <a:latin typeface="楷体" pitchFamily="49" charset="-122"/>
                    <a:ea typeface="楷体" pitchFamily="49" charset="-122"/>
                  </a:rPr>
                  <a:t>原</a:t>
                </a:r>
                <a:r>
                  <a:rPr lang="zh-CN" altLang="en-US" b="1" dirty="0"/>
                  <a:t> ＝ </a:t>
                </a:r>
              </a:p>
              <a:p>
                <a:pPr indent="266700"/>
                <a:r>
                  <a:rPr lang="zh-CN" altLang="en-US" b="1" dirty="0"/>
                  <a:t>                      </a:t>
                </a:r>
                <a:r>
                  <a:rPr lang="en-US" altLang="zh-CN" b="1" dirty="0"/>
                  <a:t>2</a:t>
                </a:r>
                <a:r>
                  <a:rPr lang="en-US" altLang="zh-CN" b="1" baseline="30000" dirty="0"/>
                  <a:t>n-1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－ </a:t>
                </a:r>
                <a:r>
                  <a:rPr lang="en-US" altLang="zh-CN" b="1" dirty="0"/>
                  <a:t>N     </a:t>
                </a:r>
                <a:r>
                  <a:rPr lang="zh-CN" altLang="en-US" b="1" dirty="0"/>
                  <a:t>－</a:t>
                </a:r>
                <a:r>
                  <a:rPr lang="en-US" altLang="zh-CN" b="1" dirty="0"/>
                  <a:t>2</a:t>
                </a:r>
                <a:r>
                  <a:rPr lang="en-US" altLang="zh-CN" b="1" baseline="30000" dirty="0"/>
                  <a:t>n-1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＜ </a:t>
                </a:r>
                <a:r>
                  <a:rPr lang="en-US" altLang="zh-CN" b="1" dirty="0"/>
                  <a:t>N ≤ 0</a:t>
                </a:r>
              </a:p>
            </p:txBody>
          </p:sp>
          <p:sp>
            <p:nvSpPr>
              <p:cNvPr id="701469" name="AutoShape 29"/>
              <p:cNvSpPr>
                <a:spLocks/>
              </p:cNvSpPr>
              <p:nvPr/>
            </p:nvSpPr>
            <p:spPr bwMode="auto">
              <a:xfrm>
                <a:off x="1560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0233137-461C-456D-A11A-985C4174A8F0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0D211AEB-44CA-47F6-A290-972B86696333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7" name="菱形 16">
                <a:extLst>
                  <a:ext uri="{FF2B5EF4-FFF2-40B4-BE49-F238E27FC236}">
                    <a16:creationId xmlns:a16="http://schemas.microsoft.com/office/drawing/2014/main" id="{9BF3520D-C107-40DE-811C-5DA8AEBCBAA4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8" name="菱形 17">
                <a:extLst>
                  <a:ext uri="{FF2B5EF4-FFF2-40B4-BE49-F238E27FC236}">
                    <a16:creationId xmlns:a16="http://schemas.microsoft.com/office/drawing/2014/main" id="{D9E4195A-CF82-4037-8B76-52C01D218D0F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67A53624-DBCF-4509-88C9-C162B80F3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原码</a:t>
              </a:r>
            </a:p>
          </p:txBody>
        </p:sp>
      </p:grpSp>
      <p:sp>
        <p:nvSpPr>
          <p:cNvPr id="19" name="Rectangle 4">
            <a:extLst>
              <a:ext uri="{FF2B5EF4-FFF2-40B4-BE49-F238E27FC236}">
                <a16:creationId xmlns:a16="http://schemas.microsoft.com/office/drawing/2014/main" id="{D78C57C3-5D6A-4BBF-8987-F679BEF9E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01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1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70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014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443" grpId="0" build="p" bldLvl="5" autoUpdateAnimBg="0"/>
      <p:bldP spid="701465" grpId="0" build="p" bldLvl="5" autoUpdateAnimBg="0"/>
      <p:bldP spid="701466" grpId="0" build="p" bldLvl="5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72" name="Rectangle 8"/>
          <p:cNvSpPr>
            <a:spLocks noChangeArrowheads="1"/>
          </p:cNvSpPr>
          <p:nvPr/>
        </p:nvSpPr>
        <p:spPr bwMode="auto">
          <a:xfrm>
            <a:off x="741481" y="1498103"/>
            <a:ext cx="10251063" cy="49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对于这样的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位整数其原码表示的数的范围为：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(2</a:t>
            </a:r>
            <a:r>
              <a:rPr lang="en-US" altLang="zh-CN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n-1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1)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～ 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(2</a:t>
            </a:r>
            <a:r>
              <a:rPr lang="en-US" altLang="zh-CN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n-1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。</a:t>
            </a:r>
          </a:p>
        </p:txBody>
      </p:sp>
      <p:grpSp>
        <p:nvGrpSpPr>
          <p:cNvPr id="702473" name="Group 9"/>
          <p:cNvGrpSpPr>
            <a:grpSpLocks/>
          </p:cNvGrpSpPr>
          <p:nvPr/>
        </p:nvGrpSpPr>
        <p:grpSpPr bwMode="auto">
          <a:xfrm>
            <a:off x="1752396" y="3789040"/>
            <a:ext cx="8664084" cy="1295400"/>
            <a:chOff x="841" y="2805"/>
            <a:chExt cx="4173" cy="816"/>
          </a:xfrm>
        </p:grpSpPr>
        <p:sp>
          <p:nvSpPr>
            <p:cNvPr id="702474" name="Rectangle 10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702475" name="Group 11"/>
            <p:cNvGrpSpPr>
              <a:grpSpLocks/>
            </p:cNvGrpSpPr>
            <p:nvPr/>
          </p:nvGrpSpPr>
          <p:grpSpPr bwMode="auto">
            <a:xfrm>
              <a:off x="1071" y="2817"/>
              <a:ext cx="2407" cy="756"/>
              <a:chOff x="729" y="2907"/>
              <a:chExt cx="2407" cy="756"/>
            </a:xfrm>
          </p:grpSpPr>
          <p:sp>
            <p:nvSpPr>
              <p:cNvPr id="702476" name="Rectangle 12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2407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/>
                  <a:t>                       N                0 ≤ N </a:t>
                </a:r>
                <a:r>
                  <a:rPr lang="zh-CN" altLang="en-US" b="1" dirty="0"/>
                  <a:t>＜ </a:t>
                </a:r>
                <a:r>
                  <a:rPr lang="en-US" altLang="zh-CN" b="1" dirty="0"/>
                  <a:t>1</a:t>
                </a:r>
                <a:endParaRPr lang="en-US" altLang="zh-CN" b="1" baseline="30000" dirty="0"/>
              </a:p>
              <a:p>
                <a:pPr indent="266700"/>
                <a:r>
                  <a:rPr lang="en-US" altLang="zh-CN" b="1" dirty="0"/>
                  <a:t>[N]</a:t>
                </a:r>
                <a:r>
                  <a:rPr lang="zh-CN" altLang="en-US" b="1" baseline="-25000" dirty="0">
                    <a:latin typeface="楷体" pitchFamily="49" charset="-122"/>
                    <a:ea typeface="楷体" pitchFamily="49" charset="-122"/>
                  </a:rPr>
                  <a:t>原</a:t>
                </a:r>
                <a:r>
                  <a:rPr lang="zh-CN" altLang="en-US" b="1" dirty="0"/>
                  <a:t> ＝ </a:t>
                </a:r>
              </a:p>
              <a:p>
                <a:pPr indent="266700"/>
                <a:r>
                  <a:rPr lang="zh-CN" altLang="en-US" b="1" dirty="0"/>
                  <a:t>                      </a:t>
                </a:r>
                <a:r>
                  <a:rPr lang="en-US" altLang="zh-CN" b="1" dirty="0"/>
                  <a:t>1 </a:t>
                </a:r>
                <a:r>
                  <a:rPr lang="zh-CN" altLang="en-US" b="1" dirty="0"/>
                  <a:t>－ </a:t>
                </a:r>
                <a:r>
                  <a:rPr lang="en-US" altLang="zh-CN" b="1" dirty="0"/>
                  <a:t>N     </a:t>
                </a:r>
                <a:r>
                  <a:rPr lang="zh-CN" altLang="en-US" b="1" dirty="0"/>
                  <a:t>－</a:t>
                </a:r>
                <a:r>
                  <a:rPr lang="en-US" altLang="zh-CN" b="1" dirty="0"/>
                  <a:t>1 </a:t>
                </a:r>
                <a:r>
                  <a:rPr lang="zh-CN" altLang="en-US" b="1" dirty="0"/>
                  <a:t>＜ </a:t>
                </a:r>
                <a:r>
                  <a:rPr lang="en-US" altLang="zh-CN" b="1" dirty="0"/>
                  <a:t>N ≤ 0</a:t>
                </a:r>
              </a:p>
            </p:txBody>
          </p:sp>
          <p:sp>
            <p:nvSpPr>
              <p:cNvPr id="702477" name="AutoShape 13"/>
              <p:cNvSpPr>
                <a:spLocks/>
              </p:cNvSpPr>
              <p:nvPr/>
            </p:nvSpPr>
            <p:spPr bwMode="auto">
              <a:xfrm>
                <a:off x="1551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02493" name="Group 29"/>
          <p:cNvGrpSpPr>
            <a:grpSpLocks/>
          </p:cNvGrpSpPr>
          <p:nvPr/>
        </p:nvGrpSpPr>
        <p:grpSpPr bwMode="auto">
          <a:xfrm>
            <a:off x="3941663" y="1895103"/>
            <a:ext cx="4746625" cy="885825"/>
            <a:chOff x="1332" y="1689"/>
            <a:chExt cx="2990" cy="558"/>
          </a:xfrm>
        </p:grpSpPr>
        <p:grpSp>
          <p:nvGrpSpPr>
            <p:cNvPr id="702488" name="Group 24"/>
            <p:cNvGrpSpPr>
              <a:grpSpLocks/>
            </p:cNvGrpSpPr>
            <p:nvPr/>
          </p:nvGrpSpPr>
          <p:grpSpPr bwMode="auto">
            <a:xfrm>
              <a:off x="1332" y="1706"/>
              <a:ext cx="1315" cy="541"/>
              <a:chOff x="1332" y="1706"/>
              <a:chExt cx="1315" cy="541"/>
            </a:xfrm>
          </p:grpSpPr>
          <p:sp>
            <p:nvSpPr>
              <p:cNvPr id="702480" name="AutoShape 16"/>
              <p:cNvSpPr>
                <a:spLocks/>
              </p:cNvSpPr>
              <p:nvPr/>
            </p:nvSpPr>
            <p:spPr bwMode="auto">
              <a:xfrm rot="5400000">
                <a:off x="1845" y="1616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2481" name="Text Box 17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 dirty="0">
                    <a:solidFill>
                      <a:srgbClr val="C01920"/>
                    </a:solidFill>
                  </a:rPr>
                  <a:t>1</a:t>
                </a:r>
                <a:r>
                  <a:rPr lang="en-US" altLang="zh-CN" b="1" dirty="0"/>
                  <a:t>11………1</a:t>
                </a:r>
              </a:p>
            </p:txBody>
          </p:sp>
          <p:sp>
            <p:nvSpPr>
              <p:cNvPr id="702482" name="Text Box 18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1</a:t>
                </a:r>
              </a:p>
            </p:txBody>
          </p:sp>
        </p:grpSp>
        <p:sp>
          <p:nvSpPr>
            <p:cNvPr id="702487" name="Line 23"/>
            <p:cNvSpPr>
              <a:spLocks noChangeShapeType="1"/>
            </p:cNvSpPr>
            <p:nvPr/>
          </p:nvSpPr>
          <p:spPr bwMode="auto">
            <a:xfrm>
              <a:off x="2494" y="1862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2489" name="Group 25"/>
            <p:cNvGrpSpPr>
              <a:grpSpLocks/>
            </p:cNvGrpSpPr>
            <p:nvPr/>
          </p:nvGrpSpPr>
          <p:grpSpPr bwMode="auto">
            <a:xfrm>
              <a:off x="3007" y="1689"/>
              <a:ext cx="1315" cy="541"/>
              <a:chOff x="1332" y="1706"/>
              <a:chExt cx="1315" cy="541"/>
            </a:xfrm>
          </p:grpSpPr>
          <p:sp>
            <p:nvSpPr>
              <p:cNvPr id="702490" name="AutoShape 26"/>
              <p:cNvSpPr>
                <a:spLocks/>
              </p:cNvSpPr>
              <p:nvPr/>
            </p:nvSpPr>
            <p:spPr bwMode="auto">
              <a:xfrm rot="5400000">
                <a:off x="1845" y="1616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2491" name="Text Box 27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 dirty="0">
                    <a:solidFill>
                      <a:srgbClr val="C01920"/>
                    </a:solidFill>
                  </a:rPr>
                  <a:t>0</a:t>
                </a:r>
                <a:r>
                  <a:rPr lang="en-US" altLang="zh-CN" b="1" dirty="0"/>
                  <a:t>11………1</a:t>
                </a:r>
              </a:p>
            </p:txBody>
          </p:sp>
          <p:sp>
            <p:nvSpPr>
              <p:cNvPr id="702492" name="Text Box 28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1</a:t>
                </a:r>
              </a:p>
            </p:txBody>
          </p:sp>
        </p:grpSp>
      </p:grpSp>
      <p:sp>
        <p:nvSpPr>
          <p:cNvPr id="702494" name="Rectangle 30"/>
          <p:cNvSpPr>
            <a:spLocks noChangeArrowheads="1"/>
          </p:cNvSpPr>
          <p:nvPr/>
        </p:nvSpPr>
        <p:spPr bwMode="auto">
          <a:xfrm>
            <a:off x="479376" y="2852936"/>
            <a:ext cx="10926124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对于定点小数，通常小数点定在最高位的左边，这时数值小于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。定点小数原码一般表示为： </a:t>
            </a:r>
          </a:p>
        </p:txBody>
      </p:sp>
      <p:sp>
        <p:nvSpPr>
          <p:cNvPr id="702495" name="Rectangle 31"/>
          <p:cNvSpPr>
            <a:spLocks noChangeArrowheads="1"/>
          </p:cNvSpPr>
          <p:nvPr/>
        </p:nvSpPr>
        <p:spPr bwMode="auto">
          <a:xfrm>
            <a:off x="740908" y="5229200"/>
            <a:ext cx="11451091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    对于这样的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m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位小数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(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含一符号位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其原码表示数的范围为：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楷体" pitchFamily="49" charset="-122"/>
            </a:endParaRPr>
          </a:p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楷体" pitchFamily="49" charset="-122"/>
              </a:rPr>
              <a:t>                  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(1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 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-(m-1)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)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～ 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(1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-(m-1)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。</a:t>
            </a:r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2EBD997-1A14-4A2B-A86F-7B3E5D137408}"/>
              </a:ext>
            </a:extLst>
          </p:cNvPr>
          <p:cNvGrpSpPr>
            <a:grpSpLocks/>
          </p:cNvGrpSpPr>
          <p:nvPr/>
        </p:nvGrpSpPr>
        <p:grpSpPr bwMode="auto">
          <a:xfrm>
            <a:off x="6911083" y="5517232"/>
            <a:ext cx="4746625" cy="885825"/>
            <a:chOff x="1332" y="1050"/>
            <a:chExt cx="2990" cy="558"/>
          </a:xfrm>
        </p:grpSpPr>
        <p:sp>
          <p:nvSpPr>
            <p:cNvPr id="26" name="AutoShape 15">
              <a:extLst>
                <a:ext uri="{FF2B5EF4-FFF2-40B4-BE49-F238E27FC236}">
                  <a16:creationId xmlns:a16="http://schemas.microsoft.com/office/drawing/2014/main" id="{E8F66106-E8D3-4C1B-9FEB-AEAD0236F5D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899" y="989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16">
              <a:extLst>
                <a:ext uri="{FF2B5EF4-FFF2-40B4-BE49-F238E27FC236}">
                  <a16:creationId xmlns:a16="http://schemas.microsoft.com/office/drawing/2014/main" id="{430325D2-9DD9-4BC8-90CF-634DA7F3F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" y="1067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 dirty="0">
                  <a:solidFill>
                    <a:srgbClr val="C01920"/>
                  </a:solidFill>
                </a:rPr>
                <a:t>1</a:t>
              </a:r>
              <a:r>
                <a:rPr lang="en-US" altLang="zh-CN" b="1" dirty="0"/>
                <a:t>.11………1</a:t>
              </a:r>
            </a:p>
          </p:txBody>
        </p:sp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5308EE05-C9F4-4CC1-95BB-B9F5EB834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2" y="1421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 dirty="0"/>
                <a:t>m-1</a:t>
              </a:r>
              <a:r>
                <a:rPr lang="zh-CN" altLang="en-US" sz="1800" b="1" dirty="0"/>
                <a:t>个</a:t>
              </a:r>
              <a:r>
                <a:rPr lang="en-US" altLang="zh-CN" sz="1800" b="1" dirty="0"/>
                <a:t>1</a:t>
              </a:r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FC5F71A7-ED0E-49AB-8FC5-140CA450E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1223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AutoShape 20">
              <a:extLst>
                <a:ext uri="{FF2B5EF4-FFF2-40B4-BE49-F238E27FC236}">
                  <a16:creationId xmlns:a16="http://schemas.microsoft.com/office/drawing/2014/main" id="{CBC7D131-0271-4777-A295-7C912C048B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574" y="960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21">
              <a:extLst>
                <a:ext uri="{FF2B5EF4-FFF2-40B4-BE49-F238E27FC236}">
                  <a16:creationId xmlns:a16="http://schemas.microsoft.com/office/drawing/2014/main" id="{2C67A3D2-4E8B-454B-BD20-47F118B94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" y="1050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 dirty="0">
                  <a:solidFill>
                    <a:srgbClr val="C01920"/>
                  </a:solidFill>
                </a:rPr>
                <a:t>0</a:t>
              </a:r>
              <a:r>
                <a:rPr lang="en-US" altLang="zh-CN" b="1" dirty="0"/>
                <a:t>.11………1</a:t>
              </a:r>
            </a:p>
          </p:txBody>
        </p:sp>
        <p:sp>
          <p:nvSpPr>
            <p:cNvPr id="32" name="Text Box 22">
              <a:extLst>
                <a:ext uri="{FF2B5EF4-FFF2-40B4-BE49-F238E27FC236}">
                  <a16:creationId xmlns:a16="http://schemas.microsoft.com/office/drawing/2014/main" id="{BCC83F75-B2FE-4DD6-A97A-26415EF65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1404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1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AE2A6C9-F74B-4F6F-8478-C306F98D7535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2C1B8E2-722E-4C61-BDA3-85CD26B8A3C9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8DCA587D-84C3-41B5-98D5-6611BA039807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" name="菱形 36">
                <a:extLst>
                  <a:ext uri="{FF2B5EF4-FFF2-40B4-BE49-F238E27FC236}">
                    <a16:creationId xmlns:a16="http://schemas.microsoft.com/office/drawing/2014/main" id="{59574341-D68E-4513-A4B2-901D8EBD9A22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5" name="Text Box 5">
              <a:extLst>
                <a:ext uri="{FF2B5EF4-FFF2-40B4-BE49-F238E27FC236}">
                  <a16:creationId xmlns:a16="http://schemas.microsoft.com/office/drawing/2014/main" id="{B885B48D-53E6-463F-A65B-5797BD5A5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原码</a:t>
              </a:r>
            </a:p>
          </p:txBody>
        </p:sp>
      </p:grpSp>
      <p:sp>
        <p:nvSpPr>
          <p:cNvPr id="38" name="Rectangle 4">
            <a:extLst>
              <a:ext uri="{FF2B5EF4-FFF2-40B4-BE49-F238E27FC236}">
                <a16:creationId xmlns:a16="http://schemas.microsoft.com/office/drawing/2014/main" id="{332C33AC-424D-4850-AB73-E44F417B8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2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02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2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702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02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702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2472" grpId="0" build="p" bldLvl="5" autoUpdateAnimBg="0"/>
      <p:bldP spid="702494" grpId="0" build="p" bldLvl="5" autoUpdateAnimBg="0"/>
      <p:bldP spid="702495" grpId="0" build="p" bldLvl="5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511" name="Rectangle 23"/>
          <p:cNvSpPr>
            <a:spLocks noChangeArrowheads="1"/>
          </p:cNvSpPr>
          <p:nvPr/>
        </p:nvSpPr>
        <p:spPr bwMode="auto">
          <a:xfrm>
            <a:off x="947428" y="1688449"/>
            <a:ext cx="10297144" cy="4220126"/>
          </a:xfrm>
          <a:prstGeom prst="rect">
            <a:avLst/>
          </a:prstGeom>
          <a:noFill/>
          <a:ln w="38100">
            <a:noFill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总结：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ea typeface="楷体" pitchFamily="49" charset="-122"/>
              </a:rPr>
              <a:t>当</a:t>
            </a:r>
            <a:r>
              <a:rPr lang="en-US" altLang="zh-CN" sz="2800" b="1" dirty="0">
                <a:ea typeface="楷体" pitchFamily="49" charset="-122"/>
              </a:rPr>
              <a:t>N</a:t>
            </a:r>
            <a:r>
              <a:rPr lang="zh-CN" altLang="en-US" sz="2800" b="1" dirty="0">
                <a:ea typeface="楷体" pitchFamily="49" charset="-122"/>
              </a:rPr>
              <a:t>为正数时，</a:t>
            </a:r>
            <a:r>
              <a:rPr lang="en-US" altLang="zh-CN" sz="2800" b="1" dirty="0">
                <a:ea typeface="楷体" pitchFamily="49" charset="-122"/>
              </a:rPr>
              <a:t>[N]</a:t>
            </a:r>
            <a:r>
              <a:rPr lang="zh-CN" altLang="en-US" sz="2800" b="1" baseline="-25000" dirty="0">
                <a:ea typeface="楷体" pitchFamily="49" charset="-122"/>
              </a:rPr>
              <a:t>原</a:t>
            </a:r>
            <a:r>
              <a:rPr lang="zh-CN" altLang="en-US" sz="2800" b="1" dirty="0">
                <a:ea typeface="楷体" pitchFamily="49" charset="-122"/>
              </a:rPr>
              <a:t>和</a:t>
            </a:r>
            <a:r>
              <a:rPr lang="en-US" altLang="zh-CN" sz="2800" b="1" dirty="0">
                <a:ea typeface="楷体" pitchFamily="49" charset="-122"/>
              </a:rPr>
              <a:t>N</a:t>
            </a:r>
            <a:r>
              <a:rPr lang="zh-CN" altLang="en-US" sz="2800" b="1" dirty="0">
                <a:ea typeface="楷体" pitchFamily="49" charset="-122"/>
              </a:rPr>
              <a:t>的区别只是增加一位用</a:t>
            </a:r>
            <a:r>
              <a:rPr lang="en-US" altLang="zh-CN" sz="2800" b="1" dirty="0">
                <a:ea typeface="楷体" pitchFamily="49" charset="-122"/>
              </a:rPr>
              <a:t>0</a:t>
            </a:r>
            <a:r>
              <a:rPr lang="zh-CN" altLang="en-US" sz="2800" b="1" dirty="0">
                <a:ea typeface="楷体" pitchFamily="49" charset="-122"/>
              </a:rPr>
              <a:t>表示的符号位。由于在数的左边增加一位</a:t>
            </a:r>
            <a:r>
              <a:rPr lang="en-US" altLang="zh-CN" sz="2800" b="1" dirty="0">
                <a:ea typeface="楷体" pitchFamily="49" charset="-122"/>
              </a:rPr>
              <a:t>0</a:t>
            </a:r>
            <a:r>
              <a:rPr lang="zh-CN" altLang="en-US" sz="2800" b="1" dirty="0">
                <a:ea typeface="楷体" pitchFamily="49" charset="-122"/>
              </a:rPr>
              <a:t>对该数的数值并无影响，所以</a:t>
            </a:r>
            <a:r>
              <a:rPr lang="en-US" altLang="zh-CN" sz="2800" b="1" dirty="0">
                <a:ea typeface="楷体" pitchFamily="49" charset="-122"/>
              </a:rPr>
              <a:t>[N]</a:t>
            </a:r>
            <a:r>
              <a:rPr lang="zh-CN" altLang="en-US" sz="2800" b="1" baseline="-25000" dirty="0">
                <a:ea typeface="楷体" pitchFamily="49" charset="-122"/>
              </a:rPr>
              <a:t>原</a:t>
            </a:r>
            <a:r>
              <a:rPr lang="zh-CN" altLang="en-US" sz="2800" b="1" dirty="0">
                <a:ea typeface="楷体" pitchFamily="49" charset="-122"/>
              </a:rPr>
              <a:t>就是</a:t>
            </a:r>
            <a:r>
              <a:rPr lang="en-US" altLang="zh-CN" sz="2800" b="1" dirty="0">
                <a:ea typeface="楷体" pitchFamily="49" charset="-122"/>
              </a:rPr>
              <a:t>N</a:t>
            </a:r>
            <a:r>
              <a:rPr lang="zh-CN" altLang="en-US" sz="2800" b="1" dirty="0">
                <a:ea typeface="楷体" pitchFamily="49" charset="-122"/>
              </a:rPr>
              <a:t>本身。 </a:t>
            </a:r>
            <a:endParaRPr lang="zh-CN" altLang="en-US" sz="2800" b="1" dirty="0">
              <a:latin typeface="+mj-lt"/>
              <a:ea typeface="楷体" pitchFamily="49" charset="-122"/>
            </a:endParaRP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+mj-lt"/>
                <a:ea typeface="楷体" pitchFamily="49" charset="-122"/>
              </a:rPr>
              <a:t>当</a:t>
            </a:r>
            <a:r>
              <a:rPr lang="en-US" altLang="zh-CN" sz="2800" b="1" dirty="0">
                <a:ea typeface="楷体" pitchFamily="49" charset="-122"/>
              </a:rPr>
              <a:t>N</a:t>
            </a:r>
            <a:r>
              <a:rPr lang="zh-CN" altLang="en-US" sz="2800" b="1" dirty="0">
                <a:ea typeface="楷体" pitchFamily="49" charset="-122"/>
              </a:rPr>
              <a:t>为负数时，</a:t>
            </a:r>
            <a:r>
              <a:rPr lang="en-US" altLang="zh-CN" sz="2800" b="1" dirty="0">
                <a:ea typeface="楷体" pitchFamily="49" charset="-122"/>
              </a:rPr>
              <a:t>[N]</a:t>
            </a:r>
            <a:r>
              <a:rPr lang="zh-CN" altLang="en-US" sz="2800" b="1" baseline="-25000" dirty="0">
                <a:ea typeface="楷体" pitchFamily="49" charset="-122"/>
              </a:rPr>
              <a:t>原</a:t>
            </a:r>
            <a:r>
              <a:rPr lang="zh-CN" altLang="en-US" sz="2800" b="1" dirty="0">
                <a:ea typeface="楷体" pitchFamily="49" charset="-122"/>
              </a:rPr>
              <a:t>和</a:t>
            </a:r>
            <a:r>
              <a:rPr lang="en-US" altLang="zh-CN" sz="2800" b="1" dirty="0">
                <a:ea typeface="楷体" pitchFamily="49" charset="-122"/>
              </a:rPr>
              <a:t>N</a:t>
            </a:r>
            <a:r>
              <a:rPr lang="zh-CN" altLang="en-US" sz="2800" b="1" dirty="0">
                <a:ea typeface="楷体" pitchFamily="49" charset="-122"/>
              </a:rPr>
              <a:t>的区别是增加一位用</a:t>
            </a:r>
            <a:r>
              <a:rPr lang="en-US" altLang="zh-CN" sz="2800" b="1" dirty="0">
                <a:ea typeface="楷体" pitchFamily="49" charset="-122"/>
              </a:rPr>
              <a:t>1</a:t>
            </a:r>
            <a:r>
              <a:rPr lang="zh-CN" altLang="en-US" sz="2800" b="1" dirty="0">
                <a:ea typeface="楷体" pitchFamily="49" charset="-122"/>
              </a:rPr>
              <a:t>表示的符号位。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+mj-lt"/>
                <a:ea typeface="楷体" pitchFamily="49" charset="-122"/>
              </a:rPr>
              <a:t>在原码表示中，有两种不同形式的</a:t>
            </a:r>
            <a:r>
              <a:rPr lang="en-US" altLang="zh-CN" sz="2800" b="1" dirty="0">
                <a:latin typeface="+mj-lt"/>
                <a:ea typeface="楷体" pitchFamily="49" charset="-122"/>
              </a:rPr>
              <a:t>0</a:t>
            </a:r>
            <a:r>
              <a:rPr lang="zh-CN" altLang="en-US" sz="2800" b="1" dirty="0">
                <a:latin typeface="+mj-lt"/>
                <a:ea typeface="楷体" pitchFamily="49" charset="-122"/>
              </a:rPr>
              <a:t>，即：</a:t>
            </a:r>
          </a:p>
          <a:p>
            <a:pPr>
              <a:lnSpc>
                <a:spcPts val="35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                                </a:t>
            </a:r>
            <a:r>
              <a:rPr lang="en-US" altLang="zh-CN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[</a:t>
            </a:r>
            <a:r>
              <a:rPr lang="zh-CN" altLang="en-US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＋</a:t>
            </a:r>
            <a:r>
              <a:rPr lang="en-US" altLang="zh-CN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0]</a:t>
            </a:r>
            <a:r>
              <a:rPr lang="zh-CN" altLang="en-US" sz="2800" b="1" baseline="-25000" dirty="0">
                <a:solidFill>
                  <a:srgbClr val="C01920"/>
                </a:solidFill>
                <a:latin typeface="+mj-lt"/>
                <a:ea typeface="楷体" pitchFamily="49" charset="-122"/>
              </a:rPr>
              <a:t>原</a:t>
            </a:r>
            <a:r>
              <a:rPr lang="zh-CN" altLang="en-US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 ＝ </a:t>
            </a:r>
            <a:r>
              <a:rPr lang="en-US" altLang="zh-CN" sz="2800" b="1" dirty="0">
                <a:solidFill>
                  <a:srgbClr val="002060"/>
                </a:solidFill>
                <a:latin typeface="+mj-lt"/>
                <a:ea typeface="楷体" pitchFamily="49" charset="-122"/>
              </a:rPr>
              <a:t>0</a:t>
            </a:r>
            <a:r>
              <a:rPr lang="en-US" altLang="zh-CN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00…0  </a:t>
            </a:r>
            <a:r>
              <a:rPr lang="zh-CN" altLang="en-US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或  </a:t>
            </a:r>
            <a:r>
              <a:rPr lang="en-US" altLang="zh-CN" sz="2800" b="1" dirty="0">
                <a:solidFill>
                  <a:srgbClr val="002060"/>
                </a:solidFill>
                <a:latin typeface="+mj-lt"/>
                <a:ea typeface="楷体" pitchFamily="49" charset="-122"/>
              </a:rPr>
              <a:t>0</a:t>
            </a:r>
            <a:r>
              <a:rPr lang="en-US" altLang="zh-CN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.00…0</a:t>
            </a:r>
          </a:p>
          <a:p>
            <a:pPr>
              <a:lnSpc>
                <a:spcPts val="35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                                [</a:t>
            </a:r>
            <a:r>
              <a:rPr lang="zh-CN" altLang="en-US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－</a:t>
            </a:r>
            <a:r>
              <a:rPr lang="en-US" altLang="zh-CN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0]</a:t>
            </a:r>
            <a:r>
              <a:rPr lang="zh-CN" altLang="en-US" sz="2800" b="1" baseline="-25000" dirty="0">
                <a:solidFill>
                  <a:srgbClr val="C01920"/>
                </a:solidFill>
                <a:latin typeface="+mj-lt"/>
                <a:ea typeface="楷体" pitchFamily="49" charset="-122"/>
              </a:rPr>
              <a:t>原</a:t>
            </a:r>
            <a:r>
              <a:rPr lang="zh-CN" altLang="en-US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 ＝ </a:t>
            </a:r>
            <a:r>
              <a:rPr lang="en-US" altLang="zh-CN" sz="2800" b="1" dirty="0">
                <a:solidFill>
                  <a:srgbClr val="002060"/>
                </a:solidFill>
                <a:latin typeface="+mj-lt"/>
                <a:ea typeface="楷体" pitchFamily="49" charset="-122"/>
              </a:rPr>
              <a:t>1</a:t>
            </a:r>
            <a:r>
              <a:rPr lang="en-US" altLang="zh-CN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00…0  </a:t>
            </a:r>
            <a:r>
              <a:rPr lang="zh-CN" altLang="en-US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或  </a:t>
            </a:r>
            <a:r>
              <a:rPr lang="en-US" altLang="zh-CN" sz="2800" b="1" dirty="0">
                <a:solidFill>
                  <a:srgbClr val="002060"/>
                </a:solidFill>
                <a:latin typeface="+mj-lt"/>
                <a:ea typeface="楷体" pitchFamily="49" charset="-122"/>
              </a:rPr>
              <a:t>1</a:t>
            </a:r>
            <a:r>
              <a:rPr lang="en-US" altLang="zh-CN" sz="2800" b="1" dirty="0">
                <a:solidFill>
                  <a:srgbClr val="C01920"/>
                </a:solidFill>
                <a:latin typeface="+mj-lt"/>
                <a:ea typeface="楷体" pitchFamily="49" charset="-122"/>
              </a:rPr>
              <a:t>.00…0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8B9D667-F13E-42A1-B043-7521EF383C2D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E8E571A-F509-492C-9A43-18C9569F15C5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7" name="菱形 16">
                <a:extLst>
                  <a:ext uri="{FF2B5EF4-FFF2-40B4-BE49-F238E27FC236}">
                    <a16:creationId xmlns:a16="http://schemas.microsoft.com/office/drawing/2014/main" id="{E1004025-09C3-4AA9-8C90-63C8A1709E73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8" name="菱形 17">
                <a:extLst>
                  <a:ext uri="{FF2B5EF4-FFF2-40B4-BE49-F238E27FC236}">
                    <a16:creationId xmlns:a16="http://schemas.microsoft.com/office/drawing/2014/main" id="{2EFB1507-7389-4787-B000-5962D9D4B775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1D4EAC5B-8AE8-40D6-B5B6-DEB68E6E6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原码</a:t>
              </a:r>
            </a:p>
          </p:txBody>
        </p:sp>
      </p:grpSp>
      <p:sp>
        <p:nvSpPr>
          <p:cNvPr id="19" name="Rectangle 4">
            <a:extLst>
              <a:ext uri="{FF2B5EF4-FFF2-40B4-BE49-F238E27FC236}">
                <a16:creationId xmlns:a16="http://schemas.microsoft.com/office/drawing/2014/main" id="{3337154B-104F-4548-99AA-445FF260B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3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03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3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703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03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7035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511" grpId="0" build="p" bldLvl="5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5" name="Rectangle 3"/>
          <p:cNvSpPr>
            <a:spLocks noChangeArrowheads="1"/>
          </p:cNvSpPr>
          <p:nvPr/>
        </p:nvSpPr>
        <p:spPr bwMode="auto">
          <a:xfrm>
            <a:off x="587751" y="1628800"/>
            <a:ext cx="11052865" cy="1232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  反码又称为“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对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的补数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”。用反码表示时，左边第一位也是符号位，符号位为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代表正数，符号位为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代表负数，对于负数，反码的数值是将原码数值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按位求反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，而对于正数，反码和原码相同。所以，反码数值的形成与它的符号位有关。 </a:t>
            </a:r>
          </a:p>
        </p:txBody>
      </p:sp>
      <p:sp>
        <p:nvSpPr>
          <p:cNvPr id="704519" name="Rectangle 7"/>
          <p:cNvSpPr>
            <a:spLocks noChangeArrowheads="1"/>
          </p:cNvSpPr>
          <p:nvPr/>
        </p:nvSpPr>
        <p:spPr bwMode="auto">
          <a:xfrm>
            <a:off x="1200249" y="2886050"/>
            <a:ext cx="691197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例</a:t>
            </a:r>
            <a:r>
              <a:rPr lang="zh-CN" altLang="en-US" b="1" dirty="0">
                <a:solidFill>
                  <a:srgbClr val="C01920"/>
                </a:solidFill>
                <a:latin typeface="楷体_GB2312" pitchFamily="49" charset="-122"/>
                <a:ea typeface="楷体_GB2312" pitchFamily="49" charset="-122"/>
              </a:rPr>
              <a:t>：  </a:t>
            </a:r>
            <a:r>
              <a:rPr lang="en-US" altLang="zh-CN" b="1" dirty="0"/>
              <a:t>N1     </a:t>
            </a:r>
            <a:r>
              <a:rPr lang="zh-CN" altLang="en-US" b="1" dirty="0"/>
              <a:t>＝ </a:t>
            </a:r>
            <a:r>
              <a:rPr lang="en-US" altLang="zh-CN" b="1" dirty="0"/>
              <a:t>+10011             N2   </a:t>
            </a:r>
            <a:r>
              <a:rPr lang="zh-CN" altLang="en-US" b="1" dirty="0"/>
              <a:t>＝ </a:t>
            </a:r>
            <a:r>
              <a:rPr lang="en-US" altLang="zh-CN" b="1" dirty="0"/>
              <a:t>- 01010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/>
              <a:t>         [N1]</a:t>
            </a:r>
            <a:r>
              <a:rPr lang="zh-CN" altLang="en-US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反</a:t>
            </a:r>
            <a:r>
              <a:rPr lang="zh-CN" altLang="en-US" b="1" dirty="0"/>
              <a:t> ＝ </a:t>
            </a:r>
            <a:r>
              <a:rPr lang="en-US" altLang="zh-CN" b="1" dirty="0">
                <a:solidFill>
                  <a:srgbClr val="C01920"/>
                </a:solidFill>
              </a:rPr>
              <a:t>0</a:t>
            </a:r>
            <a:r>
              <a:rPr lang="en-US" altLang="zh-CN" b="1" dirty="0"/>
              <a:t>10011           [N2]</a:t>
            </a:r>
            <a:r>
              <a:rPr lang="zh-CN" altLang="en-US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反</a:t>
            </a:r>
            <a:r>
              <a:rPr lang="zh-CN" altLang="en-US" b="1" dirty="0"/>
              <a:t>＝ </a:t>
            </a:r>
            <a:r>
              <a:rPr lang="en-US" altLang="zh-CN" b="1" dirty="0">
                <a:solidFill>
                  <a:srgbClr val="C01920"/>
                </a:solidFill>
              </a:rPr>
              <a:t>1</a:t>
            </a:r>
            <a:r>
              <a:rPr lang="en-US" altLang="zh-CN" b="1" dirty="0"/>
              <a:t>10101</a:t>
            </a:r>
          </a:p>
        </p:txBody>
      </p:sp>
      <p:sp>
        <p:nvSpPr>
          <p:cNvPr id="704520" name="Rectangle 8"/>
          <p:cNvSpPr>
            <a:spLocks noChangeArrowheads="1"/>
          </p:cNvSpPr>
          <p:nvPr/>
        </p:nvSpPr>
        <p:spPr bwMode="auto">
          <a:xfrm>
            <a:off x="623392" y="3952850"/>
            <a:ext cx="10873208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b="1" dirty="0">
                <a:latin typeface="楷体" pitchFamily="49" charset="-122"/>
                <a:ea typeface="楷体" pitchFamily="49" charset="-122"/>
              </a:rPr>
              <a:t>根据上述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反</a:t>
            </a:r>
            <a:r>
              <a:rPr lang="zh-CN" altLang="zh-CN" b="1" dirty="0">
                <a:latin typeface="楷体" pitchFamily="49" charset="-122"/>
                <a:ea typeface="楷体" pitchFamily="49" charset="-122"/>
              </a:rPr>
              <a:t>码形成规则，一个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位的整数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（包含一位符号位）的反码一般表示为：</a:t>
            </a:r>
          </a:p>
        </p:txBody>
      </p:sp>
      <p:grpSp>
        <p:nvGrpSpPr>
          <p:cNvPr id="704521" name="Group 9"/>
          <p:cNvGrpSpPr>
            <a:grpSpLocks/>
          </p:cNvGrpSpPr>
          <p:nvPr/>
        </p:nvGrpSpPr>
        <p:grpSpPr bwMode="auto">
          <a:xfrm>
            <a:off x="1847528" y="4869904"/>
            <a:ext cx="8496944" cy="1295400"/>
            <a:chOff x="841" y="2805"/>
            <a:chExt cx="4173" cy="816"/>
          </a:xfrm>
        </p:grpSpPr>
        <p:sp>
          <p:nvSpPr>
            <p:cNvPr id="704522" name="Rectangle 10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4523" name="Group 11"/>
            <p:cNvGrpSpPr>
              <a:grpSpLocks/>
            </p:cNvGrpSpPr>
            <p:nvPr/>
          </p:nvGrpSpPr>
          <p:grpSpPr bwMode="auto">
            <a:xfrm>
              <a:off x="1071" y="2817"/>
              <a:ext cx="2978" cy="756"/>
              <a:chOff x="729" y="2907"/>
              <a:chExt cx="2978" cy="756"/>
            </a:xfrm>
          </p:grpSpPr>
          <p:sp>
            <p:nvSpPr>
              <p:cNvPr id="704524" name="Rectangle 12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2978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/>
                  <a:t>                       N                      0 ≤ N </a:t>
                </a:r>
                <a:r>
                  <a:rPr lang="zh-CN" altLang="en-US" b="1" dirty="0"/>
                  <a:t>＜ </a:t>
                </a:r>
                <a:r>
                  <a:rPr lang="en-US" altLang="zh-CN" b="1" dirty="0"/>
                  <a:t>2</a:t>
                </a:r>
                <a:r>
                  <a:rPr lang="en-US" altLang="zh-CN" b="1" baseline="30000" dirty="0"/>
                  <a:t>n-1</a:t>
                </a:r>
              </a:p>
              <a:p>
                <a:pPr indent="266700"/>
                <a:r>
                  <a:rPr lang="en-US" altLang="zh-CN" b="1" dirty="0"/>
                  <a:t>[N]</a:t>
                </a:r>
                <a:r>
                  <a:rPr lang="zh-CN" altLang="en-US" b="1" baseline="-25000" dirty="0">
                    <a:latin typeface="楷体" pitchFamily="49" charset="-122"/>
                    <a:ea typeface="楷体" pitchFamily="49" charset="-122"/>
                  </a:rPr>
                  <a:t>反</a:t>
                </a:r>
                <a:r>
                  <a:rPr lang="zh-CN" altLang="en-US" b="1" dirty="0"/>
                  <a:t> ＝ </a:t>
                </a:r>
              </a:p>
              <a:p>
                <a:pPr indent="266700"/>
                <a:r>
                  <a:rPr lang="zh-CN" altLang="en-US" b="1" dirty="0"/>
                  <a:t>                      </a:t>
                </a:r>
                <a:r>
                  <a:rPr lang="en-US" altLang="zh-CN" b="1" dirty="0"/>
                  <a:t>(2</a:t>
                </a:r>
                <a:r>
                  <a:rPr lang="en-US" altLang="zh-CN" b="1" baseline="30000" dirty="0"/>
                  <a:t>n</a:t>
                </a:r>
                <a:r>
                  <a:rPr lang="zh-CN" altLang="en-US" b="1" dirty="0"/>
                  <a:t>－</a:t>
                </a:r>
                <a:r>
                  <a:rPr lang="en-US" altLang="zh-CN" b="1" dirty="0"/>
                  <a:t>1) </a:t>
                </a:r>
                <a:r>
                  <a:rPr lang="zh-CN" altLang="zh-CN" b="1" dirty="0"/>
                  <a:t>＋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N     </a:t>
                </a:r>
                <a:r>
                  <a:rPr lang="zh-CN" altLang="en-US" b="1" dirty="0"/>
                  <a:t>－</a:t>
                </a:r>
                <a:r>
                  <a:rPr lang="en-US" altLang="zh-CN" b="1" dirty="0"/>
                  <a:t>2</a:t>
                </a:r>
                <a:r>
                  <a:rPr lang="en-US" altLang="zh-CN" b="1" baseline="30000" dirty="0"/>
                  <a:t>n-1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＜ </a:t>
                </a:r>
                <a:r>
                  <a:rPr lang="en-US" altLang="zh-CN" b="1" dirty="0"/>
                  <a:t>N ≤ 0</a:t>
                </a:r>
              </a:p>
            </p:txBody>
          </p:sp>
          <p:sp>
            <p:nvSpPr>
              <p:cNvPr id="704525" name="AutoShape 13"/>
              <p:cNvSpPr>
                <a:spLocks/>
              </p:cNvSpPr>
              <p:nvPr/>
            </p:nvSpPr>
            <p:spPr bwMode="auto">
              <a:xfrm>
                <a:off x="1545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4E42E0A-1F92-44B9-960A-5AE6CD6427ED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5B59A41F-5D57-478D-985B-7F04E1C5EB6F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7" name="菱形 16">
                <a:extLst>
                  <a:ext uri="{FF2B5EF4-FFF2-40B4-BE49-F238E27FC236}">
                    <a16:creationId xmlns:a16="http://schemas.microsoft.com/office/drawing/2014/main" id="{169C978D-6D7E-4700-B772-9321B809FDEA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8" name="菱形 17">
                <a:extLst>
                  <a:ext uri="{FF2B5EF4-FFF2-40B4-BE49-F238E27FC236}">
                    <a16:creationId xmlns:a16="http://schemas.microsoft.com/office/drawing/2014/main" id="{2B91A69B-0804-453A-BC1B-67CB3E11778E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D6160015-B2BD-4D74-A610-DAFFCCF27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反码</a:t>
              </a:r>
            </a:p>
          </p:txBody>
        </p:sp>
      </p:grpSp>
      <p:sp>
        <p:nvSpPr>
          <p:cNvPr id="19" name="Rectangle 4">
            <a:extLst>
              <a:ext uri="{FF2B5EF4-FFF2-40B4-BE49-F238E27FC236}">
                <a16:creationId xmlns:a16="http://schemas.microsoft.com/office/drawing/2014/main" id="{5DF5A535-8663-4E48-A7BB-472D00965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04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45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704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045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515" grpId="0" build="p" bldLvl="5" autoUpdateAnimBg="0"/>
      <p:bldP spid="704519" grpId="0" build="p" bldLvl="5" autoUpdateAnimBg="0"/>
      <p:bldP spid="704520" grpId="0" build="p" bldLvl="5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43" name="Rectangle 7"/>
          <p:cNvSpPr>
            <a:spLocks noChangeArrowheads="1"/>
          </p:cNvSpPr>
          <p:nvPr/>
        </p:nvSpPr>
        <p:spPr bwMode="auto">
          <a:xfrm>
            <a:off x="808619" y="1579042"/>
            <a:ext cx="10107047" cy="481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/>
              <a:t>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对于这样的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位整数其反码表示的数的范围为：</a:t>
            </a:r>
            <a:r>
              <a:rPr lang="zh-CN" altLang="en-US" b="1" dirty="0">
                <a:solidFill>
                  <a:srgbClr val="002060"/>
                </a:solidFill>
              </a:rPr>
              <a:t>－</a:t>
            </a:r>
            <a:r>
              <a:rPr lang="en-US" altLang="zh-CN" b="1" dirty="0">
                <a:solidFill>
                  <a:srgbClr val="002060"/>
                </a:solidFill>
              </a:rPr>
              <a:t>(2</a:t>
            </a:r>
            <a:r>
              <a:rPr lang="en-US" altLang="zh-CN" b="1" baseline="30000" dirty="0">
                <a:solidFill>
                  <a:srgbClr val="002060"/>
                </a:solidFill>
              </a:rPr>
              <a:t>n-1</a:t>
            </a:r>
            <a:r>
              <a:rPr lang="zh-CN" altLang="en-US" b="1" dirty="0">
                <a:solidFill>
                  <a:srgbClr val="002060"/>
                </a:solidFill>
              </a:rPr>
              <a:t>－</a:t>
            </a:r>
            <a:r>
              <a:rPr lang="en-US" altLang="zh-CN" b="1" dirty="0">
                <a:solidFill>
                  <a:srgbClr val="002060"/>
                </a:solidFill>
              </a:rPr>
              <a:t>1) </a:t>
            </a:r>
            <a:r>
              <a:rPr lang="zh-CN" altLang="en-US" b="1" dirty="0">
                <a:solidFill>
                  <a:srgbClr val="002060"/>
                </a:solidFill>
              </a:rPr>
              <a:t>～ </a:t>
            </a:r>
            <a:r>
              <a:rPr lang="en-US" altLang="zh-CN" b="1" dirty="0">
                <a:solidFill>
                  <a:srgbClr val="002060"/>
                </a:solidFill>
              </a:rPr>
              <a:t>(2</a:t>
            </a:r>
            <a:r>
              <a:rPr lang="en-US" altLang="zh-CN" b="1" baseline="30000" dirty="0">
                <a:solidFill>
                  <a:srgbClr val="002060"/>
                </a:solidFill>
              </a:rPr>
              <a:t>n-1</a:t>
            </a:r>
            <a:r>
              <a:rPr lang="en-US" altLang="zh-CN" b="1" dirty="0">
                <a:solidFill>
                  <a:srgbClr val="002060"/>
                </a:solidFill>
              </a:rPr>
              <a:t> </a:t>
            </a:r>
            <a:r>
              <a:rPr lang="zh-CN" altLang="en-US" b="1" dirty="0">
                <a:solidFill>
                  <a:srgbClr val="002060"/>
                </a:solidFill>
              </a:rPr>
              <a:t>－</a:t>
            </a:r>
            <a:r>
              <a:rPr lang="en-US" altLang="zh-CN" b="1" dirty="0">
                <a:solidFill>
                  <a:srgbClr val="002060"/>
                </a:solidFill>
              </a:rPr>
              <a:t>1)</a:t>
            </a:r>
            <a:r>
              <a:rPr lang="zh-CN" altLang="en-US" b="1" dirty="0"/>
              <a:t>。</a:t>
            </a:r>
          </a:p>
        </p:txBody>
      </p:sp>
      <p:grpSp>
        <p:nvGrpSpPr>
          <p:cNvPr id="705544" name="Group 8"/>
          <p:cNvGrpSpPr>
            <a:grpSpLocks/>
          </p:cNvGrpSpPr>
          <p:nvPr/>
        </p:nvGrpSpPr>
        <p:grpSpPr bwMode="auto">
          <a:xfrm>
            <a:off x="1703512" y="3717032"/>
            <a:ext cx="8712869" cy="1295400"/>
            <a:chOff x="841" y="2805"/>
            <a:chExt cx="4173" cy="816"/>
          </a:xfrm>
        </p:grpSpPr>
        <p:sp>
          <p:nvSpPr>
            <p:cNvPr id="705545" name="Rectangle 9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5546" name="Group 10"/>
            <p:cNvGrpSpPr>
              <a:grpSpLocks/>
            </p:cNvGrpSpPr>
            <p:nvPr/>
          </p:nvGrpSpPr>
          <p:grpSpPr bwMode="auto">
            <a:xfrm>
              <a:off x="1071" y="2817"/>
              <a:ext cx="2829" cy="756"/>
              <a:chOff x="729" y="2907"/>
              <a:chExt cx="2829" cy="756"/>
            </a:xfrm>
          </p:grpSpPr>
          <p:sp>
            <p:nvSpPr>
              <p:cNvPr id="705547" name="Rectangle 11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2829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/>
                  <a:t>                       N                         0 ≤ N </a:t>
                </a:r>
                <a:r>
                  <a:rPr lang="zh-CN" altLang="en-US" b="1" dirty="0"/>
                  <a:t>＜ </a:t>
                </a:r>
                <a:r>
                  <a:rPr lang="en-US" altLang="zh-CN" b="1" dirty="0"/>
                  <a:t>1</a:t>
                </a:r>
                <a:endParaRPr lang="en-US" altLang="zh-CN" b="1" baseline="30000" dirty="0"/>
              </a:p>
              <a:p>
                <a:pPr indent="266700"/>
                <a:r>
                  <a:rPr lang="en-US" altLang="zh-CN" b="1" dirty="0"/>
                  <a:t>[N]</a:t>
                </a:r>
                <a:r>
                  <a:rPr lang="zh-CN" altLang="en-US" b="1" baseline="-25000" dirty="0">
                    <a:latin typeface="楷体" pitchFamily="49" charset="-122"/>
                    <a:ea typeface="楷体" pitchFamily="49" charset="-122"/>
                  </a:rPr>
                  <a:t>反</a:t>
                </a:r>
                <a:r>
                  <a:rPr lang="zh-CN" altLang="en-US" b="1" dirty="0"/>
                  <a:t> ＝ </a:t>
                </a:r>
              </a:p>
              <a:p>
                <a:pPr indent="266700"/>
                <a:r>
                  <a:rPr lang="zh-CN" altLang="en-US" b="1" dirty="0"/>
                  <a:t>                      </a:t>
                </a:r>
                <a:r>
                  <a:rPr lang="en-US" altLang="zh-CN" b="1" dirty="0"/>
                  <a:t>(2 </a:t>
                </a:r>
                <a:r>
                  <a:rPr lang="zh-CN" altLang="en-US" b="1" dirty="0"/>
                  <a:t>－</a:t>
                </a:r>
                <a:r>
                  <a:rPr lang="en-US" altLang="zh-CN" b="1" dirty="0"/>
                  <a:t>2</a:t>
                </a:r>
                <a:r>
                  <a:rPr lang="en-US" altLang="zh-CN" b="1" baseline="30000" dirty="0"/>
                  <a:t>-m</a:t>
                </a:r>
                <a:r>
                  <a:rPr lang="en-US" altLang="zh-CN" b="1" dirty="0"/>
                  <a:t>)</a:t>
                </a:r>
                <a:r>
                  <a:rPr lang="zh-CN" altLang="zh-CN" b="1" dirty="0"/>
                  <a:t>＋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N     </a:t>
                </a:r>
                <a:r>
                  <a:rPr lang="zh-CN" altLang="en-US" b="1" dirty="0"/>
                  <a:t>－</a:t>
                </a:r>
                <a:r>
                  <a:rPr lang="en-US" altLang="zh-CN" b="1" dirty="0"/>
                  <a:t>1 </a:t>
                </a:r>
                <a:r>
                  <a:rPr lang="zh-CN" altLang="en-US" b="1" dirty="0"/>
                  <a:t>＜ </a:t>
                </a:r>
                <a:r>
                  <a:rPr lang="en-US" altLang="zh-CN" b="1" dirty="0"/>
                  <a:t>N ≤ 0</a:t>
                </a:r>
              </a:p>
            </p:txBody>
          </p:sp>
          <p:sp>
            <p:nvSpPr>
              <p:cNvPr id="705548" name="AutoShape 12"/>
              <p:cNvSpPr>
                <a:spLocks/>
              </p:cNvSpPr>
              <p:nvPr/>
            </p:nvSpPr>
            <p:spPr bwMode="auto">
              <a:xfrm>
                <a:off x="1519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grpSp>
        <p:nvGrpSpPr>
          <p:cNvPr id="705549" name="Group 13"/>
          <p:cNvGrpSpPr>
            <a:grpSpLocks/>
          </p:cNvGrpSpPr>
          <p:nvPr/>
        </p:nvGrpSpPr>
        <p:grpSpPr bwMode="auto">
          <a:xfrm>
            <a:off x="3437607" y="2060848"/>
            <a:ext cx="4746625" cy="885825"/>
            <a:chOff x="1332" y="1689"/>
            <a:chExt cx="2990" cy="558"/>
          </a:xfrm>
        </p:grpSpPr>
        <p:grpSp>
          <p:nvGrpSpPr>
            <p:cNvPr id="705550" name="Group 14"/>
            <p:cNvGrpSpPr>
              <a:grpSpLocks/>
            </p:cNvGrpSpPr>
            <p:nvPr/>
          </p:nvGrpSpPr>
          <p:grpSpPr bwMode="auto">
            <a:xfrm>
              <a:off x="1332" y="1706"/>
              <a:ext cx="1315" cy="541"/>
              <a:chOff x="1332" y="1706"/>
              <a:chExt cx="1315" cy="541"/>
            </a:xfrm>
          </p:grpSpPr>
          <p:sp>
            <p:nvSpPr>
              <p:cNvPr id="705551" name="AutoShape 15"/>
              <p:cNvSpPr>
                <a:spLocks/>
              </p:cNvSpPr>
              <p:nvPr/>
            </p:nvSpPr>
            <p:spPr bwMode="auto">
              <a:xfrm rot="5400000">
                <a:off x="1845" y="1628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5552" name="Text Box 16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 dirty="0">
                    <a:solidFill>
                      <a:srgbClr val="C01920"/>
                    </a:solidFill>
                  </a:rPr>
                  <a:t>1</a:t>
                </a:r>
                <a:r>
                  <a:rPr lang="en-US" altLang="zh-CN" b="1" dirty="0"/>
                  <a:t>00………0</a:t>
                </a:r>
              </a:p>
            </p:txBody>
          </p:sp>
          <p:sp>
            <p:nvSpPr>
              <p:cNvPr id="705553" name="Text Box 17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0</a:t>
                </a:r>
              </a:p>
            </p:txBody>
          </p:sp>
        </p:grpSp>
        <p:sp>
          <p:nvSpPr>
            <p:cNvPr id="705554" name="Line 18"/>
            <p:cNvSpPr>
              <a:spLocks noChangeShapeType="1"/>
            </p:cNvSpPr>
            <p:nvPr/>
          </p:nvSpPr>
          <p:spPr bwMode="auto">
            <a:xfrm>
              <a:off x="2494" y="1862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5555" name="Group 19"/>
            <p:cNvGrpSpPr>
              <a:grpSpLocks/>
            </p:cNvGrpSpPr>
            <p:nvPr/>
          </p:nvGrpSpPr>
          <p:grpSpPr bwMode="auto">
            <a:xfrm>
              <a:off x="3007" y="1689"/>
              <a:ext cx="1315" cy="541"/>
              <a:chOff x="1332" y="1706"/>
              <a:chExt cx="1315" cy="541"/>
            </a:xfrm>
          </p:grpSpPr>
          <p:sp>
            <p:nvSpPr>
              <p:cNvPr id="705556" name="AutoShape 20"/>
              <p:cNvSpPr>
                <a:spLocks/>
              </p:cNvSpPr>
              <p:nvPr/>
            </p:nvSpPr>
            <p:spPr bwMode="auto">
              <a:xfrm rot="5400000">
                <a:off x="1845" y="1616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5557" name="Text Box 21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 dirty="0">
                    <a:solidFill>
                      <a:srgbClr val="C01920"/>
                    </a:solidFill>
                  </a:rPr>
                  <a:t>0</a:t>
                </a:r>
                <a:r>
                  <a:rPr lang="en-US" altLang="zh-CN" b="1" dirty="0"/>
                  <a:t>11………1</a:t>
                </a:r>
              </a:p>
            </p:txBody>
          </p:sp>
          <p:sp>
            <p:nvSpPr>
              <p:cNvPr id="705558" name="Text Box 22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1</a:t>
                </a:r>
              </a:p>
            </p:txBody>
          </p:sp>
        </p:grpSp>
      </p:grpSp>
      <p:sp>
        <p:nvSpPr>
          <p:cNvPr id="705559" name="Rectangle 23"/>
          <p:cNvSpPr>
            <a:spLocks noChangeArrowheads="1"/>
          </p:cNvSpPr>
          <p:nvPr/>
        </p:nvSpPr>
        <p:spPr bwMode="auto">
          <a:xfrm>
            <a:off x="828691" y="3068960"/>
            <a:ext cx="10235861" cy="51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latin typeface="+mn-lt"/>
                <a:ea typeface="楷体" pitchFamily="49" charset="-122"/>
              </a:rPr>
              <a:t>  </a:t>
            </a:r>
            <a:r>
              <a:rPr lang="zh-CN" altLang="en-US" b="1" dirty="0">
                <a:latin typeface="+mn-lt"/>
                <a:ea typeface="楷体" pitchFamily="49" charset="-122"/>
              </a:rPr>
              <a:t>对于定点小数，若小数部分的位数为</a:t>
            </a:r>
            <a:r>
              <a:rPr lang="en-US" altLang="zh-CN" b="1" dirty="0">
                <a:latin typeface="+mn-lt"/>
                <a:ea typeface="楷体" pitchFamily="49" charset="-122"/>
              </a:rPr>
              <a:t>m</a:t>
            </a:r>
            <a:r>
              <a:rPr lang="zh-CN" altLang="en-US" b="1" dirty="0">
                <a:latin typeface="+mn-lt"/>
                <a:ea typeface="楷体" pitchFamily="49" charset="-122"/>
              </a:rPr>
              <a:t>位，则定点小数反码一般表示为： </a:t>
            </a:r>
          </a:p>
        </p:txBody>
      </p:sp>
      <p:sp>
        <p:nvSpPr>
          <p:cNvPr id="705560" name="Rectangle 24"/>
          <p:cNvSpPr>
            <a:spLocks noChangeArrowheads="1"/>
          </p:cNvSpPr>
          <p:nvPr/>
        </p:nvSpPr>
        <p:spPr bwMode="auto">
          <a:xfrm>
            <a:off x="1029957" y="5229200"/>
            <a:ext cx="7730339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latin typeface="+mn-lt"/>
                <a:ea typeface="楷体" pitchFamily="49" charset="-122"/>
              </a:rPr>
              <a:t>对于这样的</a:t>
            </a:r>
            <a:r>
              <a:rPr lang="en-US" altLang="zh-CN" b="1" dirty="0">
                <a:latin typeface="+mn-lt"/>
                <a:ea typeface="楷体" pitchFamily="49" charset="-122"/>
              </a:rPr>
              <a:t>m</a:t>
            </a:r>
            <a:r>
              <a:rPr lang="zh-CN" altLang="en-US" b="1" dirty="0">
                <a:latin typeface="+mn-lt"/>
                <a:ea typeface="楷体" pitchFamily="49" charset="-122"/>
              </a:rPr>
              <a:t>位小数</a:t>
            </a:r>
            <a:r>
              <a:rPr lang="en-US" altLang="zh-CN" b="1" dirty="0">
                <a:latin typeface="+mn-lt"/>
                <a:ea typeface="楷体" pitchFamily="49" charset="-122"/>
              </a:rPr>
              <a:t>(</a:t>
            </a:r>
            <a:r>
              <a:rPr lang="zh-CN" altLang="en-US" b="1" dirty="0">
                <a:latin typeface="+mn-lt"/>
                <a:ea typeface="楷体" pitchFamily="49" charset="-122"/>
              </a:rPr>
              <a:t>含一符号位</a:t>
            </a:r>
            <a:r>
              <a:rPr lang="en-US" altLang="zh-CN" b="1" dirty="0">
                <a:latin typeface="+mn-lt"/>
                <a:ea typeface="楷体" pitchFamily="49" charset="-122"/>
              </a:rPr>
              <a:t>)</a:t>
            </a:r>
            <a:r>
              <a:rPr lang="zh-CN" altLang="en-US" b="1" dirty="0">
                <a:latin typeface="+mn-lt"/>
                <a:ea typeface="楷体" pitchFamily="49" charset="-122"/>
              </a:rPr>
              <a:t>其反码表示数的范围为：</a:t>
            </a:r>
          </a:p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002060"/>
                </a:solidFill>
              </a:rPr>
              <a:t>          －</a:t>
            </a:r>
            <a:r>
              <a:rPr lang="en-US" altLang="zh-CN" b="1" dirty="0">
                <a:solidFill>
                  <a:srgbClr val="002060"/>
                </a:solidFill>
              </a:rPr>
              <a:t>(1 </a:t>
            </a:r>
            <a:r>
              <a:rPr lang="zh-CN" altLang="en-US" b="1" dirty="0">
                <a:solidFill>
                  <a:srgbClr val="002060"/>
                </a:solidFill>
              </a:rPr>
              <a:t>－ </a:t>
            </a:r>
            <a:r>
              <a:rPr lang="en-US" altLang="zh-CN" b="1" dirty="0">
                <a:solidFill>
                  <a:srgbClr val="002060"/>
                </a:solidFill>
              </a:rPr>
              <a:t>2</a:t>
            </a:r>
            <a:r>
              <a:rPr lang="en-US" altLang="zh-CN" b="1" baseline="30000" dirty="0">
                <a:solidFill>
                  <a:srgbClr val="002060"/>
                </a:solidFill>
              </a:rPr>
              <a:t>-(m-1)</a:t>
            </a:r>
            <a:r>
              <a:rPr lang="en-US" altLang="zh-CN" b="1" dirty="0">
                <a:solidFill>
                  <a:srgbClr val="002060"/>
                </a:solidFill>
              </a:rPr>
              <a:t>) </a:t>
            </a:r>
            <a:r>
              <a:rPr lang="zh-CN" altLang="en-US" b="1" dirty="0">
                <a:solidFill>
                  <a:srgbClr val="002060"/>
                </a:solidFill>
              </a:rPr>
              <a:t>～ </a:t>
            </a:r>
            <a:r>
              <a:rPr lang="en-US" altLang="zh-CN" b="1" dirty="0">
                <a:solidFill>
                  <a:srgbClr val="002060"/>
                </a:solidFill>
              </a:rPr>
              <a:t>(1 </a:t>
            </a:r>
            <a:r>
              <a:rPr lang="zh-CN" altLang="en-US" b="1" dirty="0">
                <a:solidFill>
                  <a:srgbClr val="002060"/>
                </a:solidFill>
              </a:rPr>
              <a:t>－</a:t>
            </a:r>
            <a:r>
              <a:rPr lang="en-US" altLang="zh-CN" b="1" dirty="0">
                <a:solidFill>
                  <a:srgbClr val="002060"/>
                </a:solidFill>
              </a:rPr>
              <a:t>2</a:t>
            </a:r>
            <a:r>
              <a:rPr lang="en-US" altLang="zh-CN" b="1" baseline="30000" dirty="0">
                <a:solidFill>
                  <a:srgbClr val="002060"/>
                </a:solidFill>
              </a:rPr>
              <a:t>-(m-1)</a:t>
            </a:r>
            <a:r>
              <a:rPr lang="en-US" altLang="zh-CN" b="1" dirty="0">
                <a:solidFill>
                  <a:srgbClr val="002060"/>
                </a:solidFill>
              </a:rPr>
              <a:t>)</a:t>
            </a:r>
            <a:r>
              <a:rPr lang="zh-CN" altLang="en-US" b="1" dirty="0"/>
              <a:t>。</a:t>
            </a:r>
          </a:p>
        </p:txBody>
      </p:sp>
      <p:grpSp>
        <p:nvGrpSpPr>
          <p:cNvPr id="25" name="Group 7">
            <a:extLst>
              <a:ext uri="{FF2B5EF4-FFF2-40B4-BE49-F238E27FC236}">
                <a16:creationId xmlns:a16="http://schemas.microsoft.com/office/drawing/2014/main" id="{862DF00E-8D30-4FD6-8D2A-C4CE45AF3DBD}"/>
              </a:ext>
            </a:extLst>
          </p:cNvPr>
          <p:cNvGrpSpPr>
            <a:grpSpLocks/>
          </p:cNvGrpSpPr>
          <p:nvPr/>
        </p:nvGrpSpPr>
        <p:grpSpPr bwMode="auto">
          <a:xfrm>
            <a:off x="6317927" y="5517232"/>
            <a:ext cx="4746625" cy="885825"/>
            <a:chOff x="1332" y="1050"/>
            <a:chExt cx="2990" cy="558"/>
          </a:xfrm>
        </p:grpSpPr>
        <p:sp>
          <p:nvSpPr>
            <p:cNvPr id="26" name="AutoShape 8">
              <a:extLst>
                <a:ext uri="{FF2B5EF4-FFF2-40B4-BE49-F238E27FC236}">
                  <a16:creationId xmlns:a16="http://schemas.microsoft.com/office/drawing/2014/main" id="{A1F08E18-EC44-48CA-A264-002621801D8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899" y="989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EF7C6F82-FC33-4BB2-8DA4-3E91B624C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" y="1067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 dirty="0">
                  <a:solidFill>
                    <a:srgbClr val="C01920"/>
                  </a:solidFill>
                </a:rPr>
                <a:t>1</a:t>
              </a:r>
              <a:r>
                <a:rPr lang="en-US" altLang="zh-CN" b="1" dirty="0"/>
                <a:t>.00………0</a:t>
              </a:r>
            </a:p>
          </p:txBody>
        </p:sp>
        <p:sp>
          <p:nvSpPr>
            <p:cNvPr id="28" name="Text Box 10">
              <a:extLst>
                <a:ext uri="{FF2B5EF4-FFF2-40B4-BE49-F238E27FC236}">
                  <a16:creationId xmlns:a16="http://schemas.microsoft.com/office/drawing/2014/main" id="{75AF2D1F-E17A-4D12-B807-0E3D338F7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2" y="1421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0</a:t>
              </a:r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6A3DEF63-A7D1-470E-9056-B2706DAF9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1223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AutoShape 12">
              <a:extLst>
                <a:ext uri="{FF2B5EF4-FFF2-40B4-BE49-F238E27FC236}">
                  <a16:creationId xmlns:a16="http://schemas.microsoft.com/office/drawing/2014/main" id="{785B1BDC-D3D8-4D33-8173-1B12A67C3B3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574" y="960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13">
              <a:extLst>
                <a:ext uri="{FF2B5EF4-FFF2-40B4-BE49-F238E27FC236}">
                  <a16:creationId xmlns:a16="http://schemas.microsoft.com/office/drawing/2014/main" id="{9E989A79-8B98-41FA-A9EF-DB5115090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" y="1050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 dirty="0">
                  <a:solidFill>
                    <a:srgbClr val="C01920"/>
                  </a:solidFill>
                </a:rPr>
                <a:t>0</a:t>
              </a:r>
              <a:r>
                <a:rPr lang="en-US" altLang="zh-CN" b="1" dirty="0"/>
                <a:t>.11………1</a:t>
              </a:r>
            </a:p>
          </p:txBody>
        </p:sp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id="{9A754554-E90E-4092-9547-5D9AB6714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1404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1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1C53FC9-8396-4BFC-8492-1C79EC9E6B7E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8DA9244-296D-47D9-9D9D-194F87F00ABA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4C843FDF-0565-4CE5-AF8F-3FECBBC6923C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" name="菱形 36">
                <a:extLst>
                  <a:ext uri="{FF2B5EF4-FFF2-40B4-BE49-F238E27FC236}">
                    <a16:creationId xmlns:a16="http://schemas.microsoft.com/office/drawing/2014/main" id="{DDDCA231-97D1-4C8F-B6FB-DDEF49DAEC41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5" name="Text Box 5">
              <a:extLst>
                <a:ext uri="{FF2B5EF4-FFF2-40B4-BE49-F238E27FC236}">
                  <a16:creationId xmlns:a16="http://schemas.microsoft.com/office/drawing/2014/main" id="{81D1E177-501D-4D43-96A4-29030243F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反码</a:t>
              </a:r>
            </a:p>
          </p:txBody>
        </p:sp>
      </p:grpSp>
      <p:sp>
        <p:nvSpPr>
          <p:cNvPr id="38" name="Rectangle 4">
            <a:extLst>
              <a:ext uri="{FF2B5EF4-FFF2-40B4-BE49-F238E27FC236}">
                <a16:creationId xmlns:a16="http://schemas.microsoft.com/office/drawing/2014/main" id="{A37E927C-7976-4D9B-83F2-A2802DAD3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5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055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5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705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05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705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43" grpId="0" build="p" bldLvl="5" autoUpdateAnimBg="0"/>
      <p:bldP spid="705559" grpId="0" build="p" bldLvl="5" autoUpdateAnimBg="0"/>
      <p:bldP spid="705560" grpId="0" build="p" bldLvl="5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5" name="Rectangle 15"/>
          <p:cNvSpPr>
            <a:spLocks noChangeArrowheads="1"/>
          </p:cNvSpPr>
          <p:nvPr/>
        </p:nvSpPr>
        <p:spPr bwMode="auto">
          <a:xfrm>
            <a:off x="983432" y="1885587"/>
            <a:ext cx="10297144" cy="3991685"/>
          </a:xfrm>
          <a:prstGeom prst="rect">
            <a:avLst/>
          </a:prstGeom>
          <a:noFill/>
          <a:ln w="38100">
            <a:noFill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rgbClr val="C01920"/>
                </a:solidFill>
                <a:ea typeface="楷体" pitchFamily="49" charset="-122"/>
              </a:rPr>
              <a:t>总结：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ea typeface="楷体" pitchFamily="49" charset="-122"/>
              </a:rPr>
              <a:t>正数</a:t>
            </a:r>
            <a:r>
              <a:rPr lang="en-US" altLang="zh-CN" sz="2800" b="1" dirty="0">
                <a:ea typeface="楷体" pitchFamily="49" charset="-122"/>
              </a:rPr>
              <a:t>N</a:t>
            </a:r>
            <a:r>
              <a:rPr lang="zh-CN" altLang="en-US" sz="2800" b="1" dirty="0">
                <a:ea typeface="楷体" pitchFamily="49" charset="-122"/>
              </a:rPr>
              <a:t>的反码</a:t>
            </a:r>
            <a:r>
              <a:rPr lang="en-US" altLang="zh-CN" sz="2800" b="1" dirty="0">
                <a:ea typeface="楷体" pitchFamily="49" charset="-122"/>
              </a:rPr>
              <a:t>[N]</a:t>
            </a:r>
            <a:r>
              <a:rPr lang="zh-CN" altLang="en-US" sz="2800" b="1" baseline="-25000" dirty="0">
                <a:ea typeface="楷体" pitchFamily="49" charset="-122"/>
              </a:rPr>
              <a:t>反</a:t>
            </a:r>
            <a:r>
              <a:rPr lang="zh-CN" altLang="en-US" sz="2800" b="1" dirty="0">
                <a:ea typeface="楷体" pitchFamily="49" charset="-122"/>
              </a:rPr>
              <a:t>与原码</a:t>
            </a:r>
            <a:r>
              <a:rPr lang="en-US" altLang="zh-CN" sz="2800" b="1" dirty="0">
                <a:ea typeface="楷体" pitchFamily="49" charset="-122"/>
              </a:rPr>
              <a:t>[N]</a:t>
            </a:r>
            <a:r>
              <a:rPr lang="zh-CN" altLang="en-US" sz="2800" b="1" baseline="-25000" dirty="0">
                <a:ea typeface="楷体" pitchFamily="49" charset="-122"/>
              </a:rPr>
              <a:t>原</a:t>
            </a:r>
            <a:r>
              <a:rPr lang="zh-CN" altLang="en-US" sz="2800" b="1" dirty="0">
                <a:ea typeface="楷体" pitchFamily="49" charset="-122"/>
              </a:rPr>
              <a:t>相同。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ea typeface="楷体" pitchFamily="49" charset="-122"/>
              </a:rPr>
              <a:t>对于负数</a:t>
            </a:r>
            <a:r>
              <a:rPr lang="en-US" altLang="zh-CN" sz="2800" b="1" dirty="0">
                <a:ea typeface="楷体" pitchFamily="49" charset="-122"/>
              </a:rPr>
              <a:t>N</a:t>
            </a:r>
            <a:r>
              <a:rPr lang="zh-CN" altLang="en-US" sz="2800" b="1" dirty="0">
                <a:ea typeface="楷体" pitchFamily="49" charset="-122"/>
              </a:rPr>
              <a:t>，其反码</a:t>
            </a:r>
            <a:r>
              <a:rPr lang="en-US" altLang="zh-CN" sz="2800" b="1" dirty="0">
                <a:ea typeface="楷体" pitchFamily="49" charset="-122"/>
              </a:rPr>
              <a:t>[N]</a:t>
            </a:r>
            <a:r>
              <a:rPr lang="zh-CN" altLang="en-US" sz="2800" b="1" baseline="-25000" dirty="0">
                <a:ea typeface="楷体" pitchFamily="49" charset="-122"/>
              </a:rPr>
              <a:t>反</a:t>
            </a:r>
            <a:r>
              <a:rPr lang="zh-CN" altLang="en-US" sz="2800" b="1" dirty="0">
                <a:ea typeface="楷体" pitchFamily="49" charset="-122"/>
              </a:rPr>
              <a:t>的符号为</a:t>
            </a:r>
            <a:r>
              <a:rPr lang="en-US" altLang="zh-CN" sz="2800" b="1" dirty="0">
                <a:ea typeface="楷体" pitchFamily="49" charset="-122"/>
              </a:rPr>
              <a:t>1</a:t>
            </a:r>
            <a:r>
              <a:rPr lang="zh-CN" altLang="en-US" sz="2800" b="1" dirty="0">
                <a:ea typeface="楷体" pitchFamily="49" charset="-122"/>
              </a:rPr>
              <a:t>，数值部分是将原码数值按位求反。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ea typeface="楷体" pitchFamily="49" charset="-122"/>
              </a:rPr>
              <a:t>在反码表示中，有两种不同形式的</a:t>
            </a:r>
            <a:r>
              <a:rPr lang="en-US" altLang="zh-CN" sz="2800" b="1" dirty="0">
                <a:ea typeface="楷体" pitchFamily="49" charset="-122"/>
              </a:rPr>
              <a:t>0</a:t>
            </a:r>
            <a:r>
              <a:rPr lang="zh-CN" altLang="en-US" sz="2800" b="1" dirty="0">
                <a:ea typeface="楷体" pitchFamily="49" charset="-122"/>
              </a:rPr>
              <a:t>，即：</a:t>
            </a:r>
          </a:p>
          <a:p>
            <a:pPr lvl="1">
              <a:lnSpc>
                <a:spcPts val="35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                          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[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＋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0]</a:t>
            </a:r>
            <a:r>
              <a:rPr lang="zh-CN" altLang="en-US" sz="2800" b="1" baseline="-25000" dirty="0">
                <a:solidFill>
                  <a:srgbClr val="002060"/>
                </a:solidFill>
                <a:ea typeface="楷体" pitchFamily="49" charset="-122"/>
              </a:rPr>
              <a:t>反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 ＝ </a:t>
            </a:r>
            <a:r>
              <a:rPr lang="en-US" altLang="zh-CN" sz="2800" b="1" dirty="0">
                <a:solidFill>
                  <a:srgbClr val="C01920"/>
                </a:solidFill>
                <a:ea typeface="楷体" pitchFamily="49" charset="-122"/>
              </a:rPr>
              <a:t>0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00…0  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或  </a:t>
            </a:r>
            <a:r>
              <a:rPr lang="en-US" altLang="zh-CN" sz="2800" b="1" dirty="0">
                <a:solidFill>
                  <a:srgbClr val="C01920"/>
                </a:solidFill>
                <a:ea typeface="楷体" pitchFamily="49" charset="-122"/>
              </a:rPr>
              <a:t>0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.00…0</a:t>
            </a:r>
          </a:p>
          <a:p>
            <a:pPr lvl="1">
              <a:lnSpc>
                <a:spcPts val="35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                          [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－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0]</a:t>
            </a:r>
            <a:r>
              <a:rPr lang="zh-CN" altLang="en-US" sz="2800" b="1" baseline="-25000" dirty="0">
                <a:solidFill>
                  <a:srgbClr val="002060"/>
                </a:solidFill>
                <a:ea typeface="楷体" pitchFamily="49" charset="-122"/>
              </a:rPr>
              <a:t>反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 ＝ </a:t>
            </a:r>
            <a:r>
              <a:rPr lang="en-US" altLang="zh-CN" sz="2800" b="1" dirty="0">
                <a:solidFill>
                  <a:srgbClr val="C01920"/>
                </a:solidFill>
                <a:ea typeface="楷体" pitchFamily="49" charset="-122"/>
              </a:rPr>
              <a:t>1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11…1  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或  </a:t>
            </a:r>
            <a:r>
              <a:rPr lang="en-US" altLang="zh-CN" sz="2800" b="1" dirty="0">
                <a:solidFill>
                  <a:srgbClr val="C01920"/>
                </a:solidFill>
                <a:ea typeface="楷体" pitchFamily="49" charset="-122"/>
              </a:rPr>
              <a:t>1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.11…1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9323996-C24D-4E8C-B73B-CDC273D03426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82D5C7A-C166-48FD-ADE5-259CD74450BE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1" name="菱形 10">
                <a:extLst>
                  <a:ext uri="{FF2B5EF4-FFF2-40B4-BE49-F238E27FC236}">
                    <a16:creationId xmlns:a16="http://schemas.microsoft.com/office/drawing/2014/main" id="{26392B50-51C5-444B-B7E9-0D39D418F8CF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菱形 11">
                <a:extLst>
                  <a:ext uri="{FF2B5EF4-FFF2-40B4-BE49-F238E27FC236}">
                    <a16:creationId xmlns:a16="http://schemas.microsoft.com/office/drawing/2014/main" id="{44D94FED-FD85-47C1-80D3-D6E9C434A65C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526E2257-9DDD-4056-9A5B-18A8B8A7F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反码</a:t>
              </a:r>
            </a:p>
          </p:txBody>
        </p:sp>
      </p:grpSp>
      <p:sp>
        <p:nvSpPr>
          <p:cNvPr id="13" name="Rectangle 4">
            <a:extLst>
              <a:ext uri="{FF2B5EF4-FFF2-40B4-BE49-F238E27FC236}">
                <a16:creationId xmlns:a16="http://schemas.microsoft.com/office/drawing/2014/main" id="{A8D6C585-CFFC-47C0-93CA-DB922A820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6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06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65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7065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065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7065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75" grpId="0" build="p" bldLvl="5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7593" name="Group 9"/>
          <p:cNvGrpSpPr>
            <a:grpSpLocks/>
          </p:cNvGrpSpPr>
          <p:nvPr/>
        </p:nvGrpSpPr>
        <p:grpSpPr bwMode="auto">
          <a:xfrm>
            <a:off x="1559496" y="5065179"/>
            <a:ext cx="9145016" cy="1295400"/>
            <a:chOff x="841" y="2805"/>
            <a:chExt cx="4173" cy="816"/>
          </a:xfrm>
        </p:grpSpPr>
        <p:sp>
          <p:nvSpPr>
            <p:cNvPr id="707594" name="Rectangle 10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 b="1" dirty="0"/>
            </a:p>
          </p:txBody>
        </p:sp>
        <p:grpSp>
          <p:nvGrpSpPr>
            <p:cNvPr id="707595" name="Group 11"/>
            <p:cNvGrpSpPr>
              <a:grpSpLocks/>
            </p:cNvGrpSpPr>
            <p:nvPr/>
          </p:nvGrpSpPr>
          <p:grpSpPr bwMode="auto">
            <a:xfrm>
              <a:off x="1071" y="2817"/>
              <a:ext cx="2673" cy="756"/>
              <a:chOff x="729" y="2907"/>
              <a:chExt cx="2673" cy="756"/>
            </a:xfrm>
          </p:grpSpPr>
          <p:sp>
            <p:nvSpPr>
              <p:cNvPr id="707596" name="Rectangle 12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2673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/>
                  <a:t>                       N                      0 ≤ N </a:t>
                </a:r>
                <a:r>
                  <a:rPr lang="zh-CN" altLang="en-US" b="1" dirty="0"/>
                  <a:t>＜ </a:t>
                </a:r>
                <a:r>
                  <a:rPr lang="en-US" altLang="zh-CN" b="1" dirty="0"/>
                  <a:t>2</a:t>
                </a:r>
                <a:r>
                  <a:rPr lang="en-US" altLang="zh-CN" b="1" baseline="30000" dirty="0"/>
                  <a:t>n-1</a:t>
                </a:r>
              </a:p>
              <a:p>
                <a:pPr indent="266700"/>
                <a:r>
                  <a:rPr lang="en-US" altLang="zh-CN" b="1" dirty="0"/>
                  <a:t>[N]</a:t>
                </a:r>
                <a:r>
                  <a:rPr lang="zh-CN" altLang="en-US" b="1" baseline="-25000" dirty="0">
                    <a:latin typeface="楷体" pitchFamily="49" charset="-122"/>
                    <a:ea typeface="楷体" pitchFamily="49" charset="-122"/>
                  </a:rPr>
                  <a:t>补</a:t>
                </a:r>
                <a:r>
                  <a:rPr lang="zh-CN" altLang="en-US" b="1" dirty="0"/>
                  <a:t> ＝ </a:t>
                </a:r>
              </a:p>
              <a:p>
                <a:pPr indent="266700"/>
                <a:r>
                  <a:rPr lang="zh-CN" altLang="en-US" b="1" dirty="0"/>
                  <a:t>                      </a:t>
                </a:r>
                <a:r>
                  <a:rPr lang="en-US" altLang="zh-CN" b="1" dirty="0"/>
                  <a:t>2</a:t>
                </a:r>
                <a:r>
                  <a:rPr lang="en-US" altLang="zh-CN" b="1" baseline="30000" dirty="0"/>
                  <a:t>n</a:t>
                </a:r>
                <a:r>
                  <a:rPr lang="en-US" altLang="zh-CN" b="1" dirty="0"/>
                  <a:t> </a:t>
                </a:r>
                <a:r>
                  <a:rPr lang="zh-CN" altLang="zh-CN" b="1" dirty="0"/>
                  <a:t>＋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N           </a:t>
                </a:r>
                <a:r>
                  <a:rPr lang="zh-CN" altLang="en-US" b="1" dirty="0"/>
                  <a:t>－</a:t>
                </a:r>
                <a:r>
                  <a:rPr lang="en-US" altLang="zh-CN" b="1" dirty="0"/>
                  <a:t>2</a:t>
                </a:r>
                <a:r>
                  <a:rPr lang="en-US" altLang="zh-CN" b="1" baseline="30000" dirty="0"/>
                  <a:t>n-1</a:t>
                </a:r>
                <a:r>
                  <a:rPr lang="en-US" altLang="zh-CN" b="1" dirty="0"/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≤</a:t>
                </a:r>
                <a:r>
                  <a:rPr lang="en-US" altLang="zh-CN" b="1" dirty="0"/>
                  <a:t> N 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＜</a:t>
                </a:r>
                <a:r>
                  <a:rPr lang="zh-CN" altLang="en-US" b="1" dirty="0"/>
                  <a:t> </a:t>
                </a:r>
                <a:r>
                  <a:rPr lang="en-US" altLang="zh-CN" b="1" dirty="0"/>
                  <a:t>0</a:t>
                </a:r>
              </a:p>
            </p:txBody>
          </p:sp>
          <p:sp>
            <p:nvSpPr>
              <p:cNvPr id="707597" name="AutoShape 13"/>
              <p:cNvSpPr>
                <a:spLocks/>
              </p:cNvSpPr>
              <p:nvPr/>
            </p:nvSpPr>
            <p:spPr bwMode="auto">
              <a:xfrm>
                <a:off x="1485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707587" name="Rectangle 3"/>
          <p:cNvSpPr>
            <a:spLocks noChangeArrowheads="1"/>
          </p:cNvSpPr>
          <p:nvPr/>
        </p:nvSpPr>
        <p:spPr bwMode="auto">
          <a:xfrm>
            <a:off x="567873" y="1628800"/>
            <a:ext cx="11000735" cy="1232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  补码又称为“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对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的补数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”。在补码表示法中，正数的补码表示同原码和反码的表示是相同的，而负数的补码表示却不同。对于负数的补码，其符号位为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，而数值位是将原码“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按位求反，末位加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”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。</a:t>
            </a:r>
          </a:p>
        </p:txBody>
      </p:sp>
      <p:sp>
        <p:nvSpPr>
          <p:cNvPr id="707591" name="Rectangle 7"/>
          <p:cNvSpPr>
            <a:spLocks noChangeArrowheads="1"/>
          </p:cNvSpPr>
          <p:nvPr/>
        </p:nvSpPr>
        <p:spPr bwMode="auto">
          <a:xfrm>
            <a:off x="1098098" y="2996952"/>
            <a:ext cx="691197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例： </a:t>
            </a:r>
            <a:r>
              <a:rPr lang="en-US" altLang="zh-CN" b="1" dirty="0"/>
              <a:t>N1 </a:t>
            </a:r>
            <a:r>
              <a:rPr lang="zh-CN" altLang="en-US" b="1" dirty="0"/>
              <a:t>＝ ＋</a:t>
            </a:r>
            <a:r>
              <a:rPr lang="en-US" altLang="zh-CN" b="1" dirty="0"/>
              <a:t>10011             N2 </a:t>
            </a:r>
            <a:r>
              <a:rPr lang="zh-CN" altLang="en-US" b="1" dirty="0"/>
              <a:t>＝ －</a:t>
            </a:r>
            <a:r>
              <a:rPr lang="en-US" altLang="zh-CN" b="1" dirty="0"/>
              <a:t>01010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/>
              <a:t>       [N1]</a:t>
            </a:r>
            <a:r>
              <a:rPr lang="zh-CN" altLang="en-US" b="1" baseline="-25000" dirty="0"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/>
              <a:t> ＝ </a:t>
            </a:r>
            <a:r>
              <a:rPr lang="en-US" altLang="zh-CN" b="1" dirty="0">
                <a:solidFill>
                  <a:srgbClr val="C00000"/>
                </a:solidFill>
              </a:rPr>
              <a:t>0</a:t>
            </a:r>
            <a:r>
              <a:rPr lang="en-US" altLang="zh-CN" b="1" dirty="0"/>
              <a:t>10011           [N2]</a:t>
            </a:r>
            <a:r>
              <a:rPr lang="zh-CN" altLang="en-US" b="1" baseline="-25000" dirty="0"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/>
              <a:t>＝ 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en-US" altLang="zh-CN" b="1" dirty="0"/>
              <a:t>10110</a:t>
            </a:r>
          </a:p>
        </p:txBody>
      </p:sp>
      <p:sp>
        <p:nvSpPr>
          <p:cNvPr id="707592" name="Rectangle 8"/>
          <p:cNvSpPr>
            <a:spLocks noChangeArrowheads="1"/>
          </p:cNvSpPr>
          <p:nvPr/>
        </p:nvSpPr>
        <p:spPr bwMode="auto">
          <a:xfrm>
            <a:off x="642484" y="4052888"/>
            <a:ext cx="10926124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b="1" dirty="0">
                <a:latin typeface="楷体" pitchFamily="49" charset="-122"/>
                <a:ea typeface="楷体" pitchFamily="49" charset="-122"/>
              </a:rPr>
              <a:t>根据上述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zh-CN" b="1" dirty="0">
                <a:latin typeface="楷体" pitchFamily="49" charset="-122"/>
                <a:ea typeface="楷体" pitchFamily="49" charset="-122"/>
              </a:rPr>
              <a:t>码形成规则，一个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位的整数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（包含一位符号位）的补码一般表示为：</a:t>
            </a:r>
          </a:p>
        </p:txBody>
      </p:sp>
      <p:sp>
        <p:nvSpPr>
          <p:cNvPr id="707599" name="AutoShape 15"/>
          <p:cNvSpPr>
            <a:spLocks noChangeArrowheads="1"/>
          </p:cNvSpPr>
          <p:nvPr/>
        </p:nvSpPr>
        <p:spPr bwMode="auto">
          <a:xfrm>
            <a:off x="7464152" y="3756670"/>
            <a:ext cx="3240137" cy="905665"/>
          </a:xfrm>
          <a:prstGeom prst="wedgeRoundRectCallout">
            <a:avLst>
              <a:gd name="adj1" fmla="val -30514"/>
              <a:gd name="adj2" fmla="val 114034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注意：同原码、反码的区分！！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!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A308F86-E020-4158-B34C-BFEFE5136BD6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6A4A0AAC-E60B-49B3-A4B4-C3B88697BB11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8" name="菱形 17">
                <a:extLst>
                  <a:ext uri="{FF2B5EF4-FFF2-40B4-BE49-F238E27FC236}">
                    <a16:creationId xmlns:a16="http://schemas.microsoft.com/office/drawing/2014/main" id="{ADC7C54F-5FBD-4502-A795-F1FB0451950A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9" name="菱形 18">
                <a:extLst>
                  <a:ext uri="{FF2B5EF4-FFF2-40B4-BE49-F238E27FC236}">
                    <a16:creationId xmlns:a16="http://schemas.microsoft.com/office/drawing/2014/main" id="{466CE7BC-88DD-45E1-BD14-A38EE395AC00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CF9FB1DD-B092-41E8-96BA-2BF1A0F5E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补码</a:t>
              </a:r>
            </a:p>
          </p:txBody>
        </p:sp>
      </p:grpSp>
      <p:sp>
        <p:nvSpPr>
          <p:cNvPr id="20" name="Rectangle 4">
            <a:extLst>
              <a:ext uri="{FF2B5EF4-FFF2-40B4-BE49-F238E27FC236}">
                <a16:creationId xmlns:a16="http://schemas.microsoft.com/office/drawing/2014/main" id="{05FEDC95-7A3D-4C6F-952D-535E935E2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0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7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70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07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7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07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87" grpId="0" build="p" bldLvl="5" autoUpdateAnimBg="0"/>
      <p:bldP spid="707591" grpId="0" build="p" bldLvl="5" autoUpdateAnimBg="0"/>
      <p:bldP spid="707592" grpId="0" build="p" bldLvl="5" autoUpdateAnimBg="0"/>
      <p:bldP spid="70759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5" name="Rectangle 7"/>
          <p:cNvSpPr>
            <a:spLocks noChangeArrowheads="1"/>
          </p:cNvSpPr>
          <p:nvPr/>
        </p:nvSpPr>
        <p:spPr bwMode="auto">
          <a:xfrm>
            <a:off x="797053" y="1515717"/>
            <a:ext cx="10997518" cy="51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对于这样的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位整数其补码表示的数的范围为：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n-1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～ 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(2</a:t>
            </a:r>
            <a:r>
              <a:rPr lang="en-US" altLang="zh-CN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n-1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。</a:t>
            </a:r>
          </a:p>
        </p:txBody>
      </p:sp>
      <p:grpSp>
        <p:nvGrpSpPr>
          <p:cNvPr id="708616" name="Group 8"/>
          <p:cNvGrpSpPr>
            <a:grpSpLocks/>
          </p:cNvGrpSpPr>
          <p:nvPr/>
        </p:nvGrpSpPr>
        <p:grpSpPr bwMode="auto">
          <a:xfrm>
            <a:off x="1271464" y="3645024"/>
            <a:ext cx="9684544" cy="1295400"/>
            <a:chOff x="841" y="2805"/>
            <a:chExt cx="4173" cy="816"/>
          </a:xfrm>
        </p:grpSpPr>
        <p:sp>
          <p:nvSpPr>
            <p:cNvPr id="708617" name="Rectangle 9"/>
            <p:cNvSpPr>
              <a:spLocks noChangeArrowheads="1"/>
            </p:cNvSpPr>
            <p:nvPr/>
          </p:nvSpPr>
          <p:spPr bwMode="auto">
            <a:xfrm>
              <a:off x="841" y="2805"/>
              <a:ext cx="4173" cy="81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38100">
              <a:solidFill>
                <a:srgbClr val="C0192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8618" name="Group 10"/>
            <p:cNvGrpSpPr>
              <a:grpSpLocks/>
            </p:cNvGrpSpPr>
            <p:nvPr/>
          </p:nvGrpSpPr>
          <p:grpSpPr bwMode="auto">
            <a:xfrm>
              <a:off x="1071" y="2817"/>
              <a:ext cx="3681" cy="756"/>
              <a:chOff x="729" y="2907"/>
              <a:chExt cx="3681" cy="756"/>
            </a:xfrm>
          </p:grpSpPr>
          <p:sp>
            <p:nvSpPr>
              <p:cNvPr id="708619" name="Rectangle 11"/>
              <p:cNvSpPr>
                <a:spLocks noChangeArrowheads="1"/>
              </p:cNvSpPr>
              <p:nvPr/>
            </p:nvSpPr>
            <p:spPr bwMode="auto">
              <a:xfrm>
                <a:off x="729" y="2907"/>
                <a:ext cx="3681" cy="7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 N                         0 ≤ N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en-US" altLang="zh-CN" b="1" baseline="30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indent="266700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[N]</a:t>
                </a:r>
                <a:r>
                  <a:rPr lang="zh-CN" altLang="en-US" b="1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楷体" pitchFamily="49" charset="-122"/>
                    <a:ea typeface="楷体" pitchFamily="49" charset="-122"/>
                  </a:rPr>
                  <a:t>补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＝ </a:t>
                </a:r>
              </a:p>
              <a:p>
                <a:pPr indent="266700"/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                   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 </a:t>
                </a:r>
                <a:r>
                  <a:rPr lang="zh-CN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＋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                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－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 </a:t>
                </a:r>
                <a:r>
                  <a:rPr lang="en-US" altLang="zh-CN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≤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N </a:t>
                </a:r>
                <a:r>
                  <a:rPr lang="zh-CN" altLang="en-US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＜</a:t>
                </a:r>
                <a:r>
                  <a:rPr lang="zh-CN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708620" name="AutoShape 12"/>
              <p:cNvSpPr>
                <a:spLocks/>
              </p:cNvSpPr>
              <p:nvPr/>
            </p:nvSpPr>
            <p:spPr bwMode="auto">
              <a:xfrm>
                <a:off x="1433" y="3022"/>
                <a:ext cx="136" cy="54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08621" name="Group 13"/>
          <p:cNvGrpSpPr>
            <a:grpSpLocks/>
          </p:cNvGrpSpPr>
          <p:nvPr/>
        </p:nvGrpSpPr>
        <p:grpSpPr bwMode="auto">
          <a:xfrm>
            <a:off x="3437607" y="1988840"/>
            <a:ext cx="4746625" cy="885825"/>
            <a:chOff x="1332" y="1689"/>
            <a:chExt cx="2990" cy="558"/>
          </a:xfrm>
        </p:grpSpPr>
        <p:grpSp>
          <p:nvGrpSpPr>
            <p:cNvPr id="708622" name="Group 14"/>
            <p:cNvGrpSpPr>
              <a:grpSpLocks/>
            </p:cNvGrpSpPr>
            <p:nvPr/>
          </p:nvGrpSpPr>
          <p:grpSpPr bwMode="auto">
            <a:xfrm>
              <a:off x="1332" y="1706"/>
              <a:ext cx="1315" cy="541"/>
              <a:chOff x="1332" y="1706"/>
              <a:chExt cx="1315" cy="541"/>
            </a:xfrm>
          </p:grpSpPr>
          <p:sp>
            <p:nvSpPr>
              <p:cNvPr id="708623" name="AutoShape 15"/>
              <p:cNvSpPr>
                <a:spLocks/>
              </p:cNvSpPr>
              <p:nvPr/>
            </p:nvSpPr>
            <p:spPr bwMode="auto">
              <a:xfrm rot="5400000">
                <a:off x="1845" y="1622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8624" name="Text Box 16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 dirty="0">
                    <a:solidFill>
                      <a:srgbClr val="C01920"/>
                    </a:solidFill>
                  </a:rPr>
                  <a:t>1</a:t>
                </a:r>
                <a:r>
                  <a:rPr lang="en-US" altLang="zh-CN" b="1" dirty="0"/>
                  <a:t>00………0</a:t>
                </a:r>
              </a:p>
            </p:txBody>
          </p:sp>
          <p:sp>
            <p:nvSpPr>
              <p:cNvPr id="708625" name="Text Box 17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0</a:t>
                </a:r>
              </a:p>
            </p:txBody>
          </p:sp>
        </p:grpSp>
        <p:sp>
          <p:nvSpPr>
            <p:cNvPr id="708626" name="Line 18"/>
            <p:cNvSpPr>
              <a:spLocks noChangeShapeType="1"/>
            </p:cNvSpPr>
            <p:nvPr/>
          </p:nvSpPr>
          <p:spPr bwMode="auto">
            <a:xfrm>
              <a:off x="2494" y="1862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8627" name="Group 19"/>
            <p:cNvGrpSpPr>
              <a:grpSpLocks/>
            </p:cNvGrpSpPr>
            <p:nvPr/>
          </p:nvGrpSpPr>
          <p:grpSpPr bwMode="auto">
            <a:xfrm>
              <a:off x="3007" y="1689"/>
              <a:ext cx="1315" cy="541"/>
              <a:chOff x="1332" y="1706"/>
              <a:chExt cx="1315" cy="541"/>
            </a:xfrm>
          </p:grpSpPr>
          <p:sp>
            <p:nvSpPr>
              <p:cNvPr id="708628" name="AutoShape 20"/>
              <p:cNvSpPr>
                <a:spLocks/>
              </p:cNvSpPr>
              <p:nvPr/>
            </p:nvSpPr>
            <p:spPr bwMode="auto">
              <a:xfrm rot="5400000">
                <a:off x="1845" y="1628"/>
                <a:ext cx="127" cy="762"/>
              </a:xfrm>
              <a:prstGeom prst="rightBrace">
                <a:avLst>
                  <a:gd name="adj1" fmla="val 50000"/>
                  <a:gd name="adj2" fmla="val 50000"/>
                </a:avLst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8629" name="Text Box 21"/>
              <p:cNvSpPr txBox="1">
                <a:spLocks noChangeArrowheads="1"/>
              </p:cNvSpPr>
              <p:nvPr/>
            </p:nvSpPr>
            <p:spPr bwMode="auto">
              <a:xfrm>
                <a:off x="1332" y="1706"/>
                <a:ext cx="131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b="1" dirty="0">
                    <a:solidFill>
                      <a:srgbClr val="C01920"/>
                    </a:solidFill>
                  </a:rPr>
                  <a:t>0</a:t>
                </a:r>
                <a:r>
                  <a:rPr lang="en-US" altLang="zh-CN" b="1" dirty="0"/>
                  <a:t>11………1</a:t>
                </a:r>
              </a:p>
            </p:txBody>
          </p:sp>
          <p:sp>
            <p:nvSpPr>
              <p:cNvPr id="708630" name="Text Box 22"/>
              <p:cNvSpPr txBox="1">
                <a:spLocks noChangeArrowheads="1"/>
              </p:cNvSpPr>
              <p:nvPr/>
            </p:nvSpPr>
            <p:spPr bwMode="auto">
              <a:xfrm>
                <a:off x="1651" y="2060"/>
                <a:ext cx="671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r>
                  <a:rPr lang="en-US" altLang="zh-CN" sz="1800" b="1"/>
                  <a:t>n-1</a:t>
                </a:r>
                <a:r>
                  <a:rPr lang="zh-CN" altLang="en-US" sz="1800" b="1"/>
                  <a:t>个</a:t>
                </a:r>
                <a:r>
                  <a:rPr lang="en-US" altLang="zh-CN" sz="1800" b="1"/>
                  <a:t>1</a:t>
                </a:r>
              </a:p>
            </p:txBody>
          </p:sp>
        </p:grpSp>
      </p:grpSp>
      <p:sp>
        <p:nvSpPr>
          <p:cNvPr id="708631" name="Rectangle 23"/>
          <p:cNvSpPr>
            <a:spLocks noChangeArrowheads="1"/>
          </p:cNvSpPr>
          <p:nvPr/>
        </p:nvSpPr>
        <p:spPr bwMode="auto">
          <a:xfrm>
            <a:off x="696366" y="2970783"/>
            <a:ext cx="8135938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对于定点小数，补码一般表示为： </a:t>
            </a:r>
          </a:p>
        </p:txBody>
      </p:sp>
      <p:sp>
        <p:nvSpPr>
          <p:cNvPr id="708632" name="Rectangle 24"/>
          <p:cNvSpPr>
            <a:spLocks noChangeArrowheads="1"/>
          </p:cNvSpPr>
          <p:nvPr/>
        </p:nvSpPr>
        <p:spPr bwMode="auto">
          <a:xfrm>
            <a:off x="1010079" y="5157093"/>
            <a:ext cx="83883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对于这样的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m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位小数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(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含一符号位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其补码表示数的范围为：</a:t>
            </a:r>
          </a:p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           －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 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～ 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(1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－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-(m-1)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)</a:t>
            </a:r>
          </a:p>
        </p:txBody>
      </p:sp>
      <p:grpSp>
        <p:nvGrpSpPr>
          <p:cNvPr id="25" name="Group 7">
            <a:extLst>
              <a:ext uri="{FF2B5EF4-FFF2-40B4-BE49-F238E27FC236}">
                <a16:creationId xmlns:a16="http://schemas.microsoft.com/office/drawing/2014/main" id="{6352D282-C92A-496A-996B-1B40E55744CC}"/>
              </a:ext>
            </a:extLst>
          </p:cNvPr>
          <p:cNvGrpSpPr>
            <a:grpSpLocks/>
          </p:cNvGrpSpPr>
          <p:nvPr/>
        </p:nvGrpSpPr>
        <p:grpSpPr bwMode="auto">
          <a:xfrm>
            <a:off x="6108441" y="5517232"/>
            <a:ext cx="4746625" cy="885825"/>
            <a:chOff x="1332" y="1050"/>
            <a:chExt cx="2990" cy="558"/>
          </a:xfrm>
        </p:grpSpPr>
        <p:sp>
          <p:nvSpPr>
            <p:cNvPr id="26" name="AutoShape 8">
              <a:extLst>
                <a:ext uri="{FF2B5EF4-FFF2-40B4-BE49-F238E27FC236}">
                  <a16:creationId xmlns:a16="http://schemas.microsoft.com/office/drawing/2014/main" id="{B70AF1D2-FE75-462F-AE9B-0476C4EE098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899" y="977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D4D189A2-CF8D-47BB-A741-0F2CC1392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" y="1067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 dirty="0">
                  <a:solidFill>
                    <a:srgbClr val="C01920"/>
                  </a:solidFill>
                </a:rPr>
                <a:t>1</a:t>
              </a:r>
              <a:r>
                <a:rPr lang="en-US" altLang="zh-CN" b="1" dirty="0"/>
                <a:t>.00………0</a:t>
              </a:r>
            </a:p>
          </p:txBody>
        </p:sp>
        <p:sp>
          <p:nvSpPr>
            <p:cNvPr id="28" name="Text Box 10">
              <a:extLst>
                <a:ext uri="{FF2B5EF4-FFF2-40B4-BE49-F238E27FC236}">
                  <a16:creationId xmlns:a16="http://schemas.microsoft.com/office/drawing/2014/main" id="{945246D9-FD73-49EF-92C5-CD474CBBF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2" y="1421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0</a:t>
              </a:r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69860519-8930-4FAD-AD76-79F72887C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" y="1223"/>
              <a:ext cx="473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AutoShape 12">
              <a:extLst>
                <a:ext uri="{FF2B5EF4-FFF2-40B4-BE49-F238E27FC236}">
                  <a16:creationId xmlns:a16="http://schemas.microsoft.com/office/drawing/2014/main" id="{759E460D-5C48-4E71-88B5-49C2AF0A92E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574" y="972"/>
              <a:ext cx="127" cy="762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13">
              <a:extLst>
                <a:ext uri="{FF2B5EF4-FFF2-40B4-BE49-F238E27FC236}">
                  <a16:creationId xmlns:a16="http://schemas.microsoft.com/office/drawing/2014/main" id="{F939961E-42E9-4E60-A3A2-A94334355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" y="1050"/>
              <a:ext cx="1315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b="1" dirty="0">
                  <a:solidFill>
                    <a:srgbClr val="C01920"/>
                  </a:solidFill>
                </a:rPr>
                <a:t>0</a:t>
              </a:r>
              <a:r>
                <a:rPr lang="en-US" altLang="zh-CN" b="1" dirty="0"/>
                <a:t>.11………1</a:t>
              </a:r>
            </a:p>
          </p:txBody>
        </p:sp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id="{354D2B8C-968D-4BBF-BF42-922A896E1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1404"/>
              <a:ext cx="67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800" b="1"/>
                <a:t>m-1</a:t>
              </a:r>
              <a:r>
                <a:rPr lang="zh-CN" altLang="en-US" sz="1800" b="1"/>
                <a:t>个</a:t>
              </a:r>
              <a:r>
                <a:rPr lang="en-US" altLang="zh-CN" sz="1800" b="1"/>
                <a:t>1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5B5DBC7-594F-4676-9BB1-8FDEF9F33908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043A977-6B8C-47F3-8DDA-3C08FD12326E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9206A4F0-B53F-4C50-8D5C-9B548A563987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" name="菱形 36">
                <a:extLst>
                  <a:ext uri="{FF2B5EF4-FFF2-40B4-BE49-F238E27FC236}">
                    <a16:creationId xmlns:a16="http://schemas.microsoft.com/office/drawing/2014/main" id="{78C80319-35DA-4F8C-AD86-AEE26AACAA6C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5" name="Text Box 5">
              <a:extLst>
                <a:ext uri="{FF2B5EF4-FFF2-40B4-BE49-F238E27FC236}">
                  <a16:creationId xmlns:a16="http://schemas.microsoft.com/office/drawing/2014/main" id="{397DE73D-D851-42DC-8567-55ACD3F8B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补码</a:t>
              </a:r>
            </a:p>
          </p:txBody>
        </p:sp>
      </p:grpSp>
      <p:sp>
        <p:nvSpPr>
          <p:cNvPr id="38" name="Rectangle 4">
            <a:extLst>
              <a:ext uri="{FF2B5EF4-FFF2-40B4-BE49-F238E27FC236}">
                <a16:creationId xmlns:a16="http://schemas.microsoft.com/office/drawing/2014/main" id="{9F7B04AB-8CB0-482B-9134-F82E36484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086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8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7086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08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708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15" grpId="0" build="p" bldLvl="5" autoUpdateAnimBg="0"/>
      <p:bldP spid="708631" grpId="0" build="p" bldLvl="5" autoUpdateAnimBg="0"/>
      <p:bldP spid="708632" grpId="0" build="p" bldLvl="5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47" name="Rectangle 15"/>
          <p:cNvSpPr>
            <a:spLocks noChangeArrowheads="1"/>
          </p:cNvSpPr>
          <p:nvPr/>
        </p:nvSpPr>
        <p:spPr bwMode="auto">
          <a:xfrm>
            <a:off x="983432" y="1704620"/>
            <a:ext cx="10297144" cy="3236548"/>
          </a:xfrm>
          <a:prstGeom prst="rect">
            <a:avLst/>
          </a:prstGeom>
          <a:noFill/>
          <a:ln w="38100">
            <a:noFill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rgbClr val="C01920"/>
                </a:solidFill>
                <a:ea typeface="楷体" pitchFamily="49" charset="-122"/>
              </a:rPr>
              <a:t>总结：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ea typeface="楷体" pitchFamily="49" charset="-122"/>
              </a:rPr>
              <a:t>正数</a:t>
            </a:r>
            <a:r>
              <a:rPr lang="en-US" altLang="zh-CN" sz="2800" b="1" dirty="0">
                <a:ea typeface="楷体" pitchFamily="49" charset="-122"/>
              </a:rPr>
              <a:t>N</a:t>
            </a:r>
            <a:r>
              <a:rPr lang="zh-CN" altLang="en-US" sz="2800" b="1" dirty="0">
                <a:ea typeface="楷体" pitchFamily="49" charset="-122"/>
              </a:rPr>
              <a:t>的补码</a:t>
            </a:r>
            <a:r>
              <a:rPr lang="en-US" altLang="zh-CN" sz="2800" b="1" dirty="0">
                <a:ea typeface="楷体" pitchFamily="49" charset="-122"/>
              </a:rPr>
              <a:t>[N]</a:t>
            </a:r>
            <a:r>
              <a:rPr lang="zh-CN" altLang="en-US" sz="2800" b="1" baseline="-25000" dirty="0">
                <a:ea typeface="楷体" pitchFamily="49" charset="-122"/>
              </a:rPr>
              <a:t>补</a:t>
            </a:r>
            <a:r>
              <a:rPr lang="zh-CN" altLang="en-US" sz="2800" b="1" dirty="0">
                <a:ea typeface="楷体" pitchFamily="49" charset="-122"/>
              </a:rPr>
              <a:t>与原码</a:t>
            </a:r>
            <a:r>
              <a:rPr lang="en-US" altLang="zh-CN" sz="2800" b="1" dirty="0">
                <a:ea typeface="楷体" pitchFamily="49" charset="-122"/>
              </a:rPr>
              <a:t>[N]</a:t>
            </a:r>
            <a:r>
              <a:rPr lang="zh-CN" altLang="en-US" sz="2800" b="1" baseline="-25000" dirty="0">
                <a:ea typeface="楷体" pitchFamily="49" charset="-122"/>
              </a:rPr>
              <a:t>原</a:t>
            </a:r>
            <a:r>
              <a:rPr lang="zh-CN" altLang="en-US" sz="2800" b="1" dirty="0">
                <a:ea typeface="楷体" pitchFamily="49" charset="-122"/>
              </a:rPr>
              <a:t>和反码</a:t>
            </a:r>
            <a:r>
              <a:rPr lang="en-US" altLang="zh-CN" sz="2800" b="1" dirty="0">
                <a:ea typeface="楷体" pitchFamily="49" charset="-122"/>
              </a:rPr>
              <a:t>[N]</a:t>
            </a:r>
            <a:r>
              <a:rPr lang="zh-CN" altLang="en-US" sz="2800" b="1" baseline="-25000" dirty="0">
                <a:ea typeface="楷体" pitchFamily="49" charset="-122"/>
              </a:rPr>
              <a:t>反</a:t>
            </a:r>
            <a:r>
              <a:rPr lang="zh-CN" altLang="en-US" sz="2800" b="1" dirty="0">
                <a:ea typeface="楷体" pitchFamily="49" charset="-122"/>
              </a:rPr>
              <a:t>相同。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ea typeface="楷体" pitchFamily="49" charset="-122"/>
              </a:rPr>
              <a:t>对于负数</a:t>
            </a:r>
            <a:r>
              <a:rPr lang="en-US" altLang="zh-CN" sz="2800" b="1" dirty="0">
                <a:ea typeface="楷体" pitchFamily="49" charset="-122"/>
              </a:rPr>
              <a:t>N</a:t>
            </a:r>
            <a:r>
              <a:rPr lang="zh-CN" altLang="en-US" sz="2800" b="1" dirty="0">
                <a:ea typeface="楷体" pitchFamily="49" charset="-122"/>
              </a:rPr>
              <a:t>，其补码</a:t>
            </a:r>
            <a:r>
              <a:rPr lang="en-US" altLang="zh-CN" sz="2800" b="1" dirty="0">
                <a:ea typeface="楷体" pitchFamily="49" charset="-122"/>
              </a:rPr>
              <a:t>[N]</a:t>
            </a:r>
            <a:r>
              <a:rPr lang="zh-CN" altLang="en-US" sz="2800" b="1" baseline="-25000" dirty="0">
                <a:ea typeface="楷体" pitchFamily="49" charset="-122"/>
              </a:rPr>
              <a:t>补</a:t>
            </a:r>
            <a:r>
              <a:rPr lang="zh-CN" altLang="en-US" sz="2800" b="1" dirty="0">
                <a:ea typeface="楷体" pitchFamily="49" charset="-122"/>
              </a:rPr>
              <a:t>的符号为</a:t>
            </a:r>
            <a:r>
              <a:rPr lang="en-US" altLang="zh-CN" sz="2800" b="1" dirty="0">
                <a:ea typeface="楷体" pitchFamily="49" charset="-122"/>
              </a:rPr>
              <a:t>1</a:t>
            </a:r>
            <a:r>
              <a:rPr lang="zh-CN" altLang="en-US" sz="2800" b="1" dirty="0">
                <a:ea typeface="楷体" pitchFamily="49" charset="-122"/>
              </a:rPr>
              <a:t>，数值部分为反码数值加</a:t>
            </a:r>
            <a:r>
              <a:rPr lang="en-US" altLang="zh-CN" sz="2800" b="1" dirty="0">
                <a:ea typeface="楷体" pitchFamily="49" charset="-122"/>
              </a:rPr>
              <a:t>1</a:t>
            </a:r>
            <a:r>
              <a:rPr lang="zh-CN" altLang="en-US" sz="2800" b="1" dirty="0">
                <a:ea typeface="楷体" pitchFamily="49" charset="-122"/>
              </a:rPr>
              <a:t>。</a:t>
            </a:r>
          </a:p>
          <a:p>
            <a:pPr marL="342900" indent="-342900">
              <a:lnSpc>
                <a:spcPts val="3500"/>
              </a:lnSpc>
              <a:spcBef>
                <a:spcPct val="20000"/>
              </a:spcBef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ea typeface="楷体" pitchFamily="49" charset="-122"/>
              </a:rPr>
              <a:t>在补码表示法中，</a:t>
            </a:r>
            <a:r>
              <a:rPr lang="en-US" altLang="zh-CN" sz="2800" b="1" dirty="0">
                <a:ea typeface="楷体" pitchFamily="49" charset="-122"/>
              </a:rPr>
              <a:t>0</a:t>
            </a:r>
            <a:r>
              <a:rPr lang="zh-CN" altLang="en-US" sz="2800" b="1" dirty="0">
                <a:ea typeface="楷体" pitchFamily="49" charset="-122"/>
              </a:rPr>
              <a:t>的表示形式是唯一的，即：</a:t>
            </a:r>
          </a:p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                                     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[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＋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0]</a:t>
            </a:r>
            <a:r>
              <a:rPr lang="zh-CN" altLang="en-US" sz="2800" b="1" baseline="-25000" dirty="0">
                <a:solidFill>
                  <a:srgbClr val="002060"/>
                </a:solidFill>
                <a:ea typeface="楷体" pitchFamily="49" charset="-122"/>
              </a:rPr>
              <a:t>补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 ＝ </a:t>
            </a:r>
            <a:r>
              <a:rPr lang="en-US" altLang="zh-CN" sz="2800" b="1" dirty="0">
                <a:solidFill>
                  <a:srgbClr val="C01920"/>
                </a:solidFill>
                <a:ea typeface="楷体" pitchFamily="49" charset="-122"/>
              </a:rPr>
              <a:t>0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00…0  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或  </a:t>
            </a:r>
            <a:r>
              <a:rPr lang="en-US" altLang="zh-CN" sz="2800" b="1" dirty="0">
                <a:solidFill>
                  <a:srgbClr val="C01920"/>
                </a:solidFill>
                <a:ea typeface="楷体" pitchFamily="49" charset="-122"/>
              </a:rPr>
              <a:t>0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.00…0</a:t>
            </a:r>
          </a:p>
          <a:p>
            <a:pPr>
              <a:lnSpc>
                <a:spcPts val="35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                                     [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－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0]</a:t>
            </a:r>
            <a:r>
              <a:rPr lang="zh-CN" altLang="en-US" sz="2800" b="1" baseline="-25000" dirty="0">
                <a:solidFill>
                  <a:srgbClr val="002060"/>
                </a:solidFill>
                <a:ea typeface="楷体" pitchFamily="49" charset="-122"/>
              </a:rPr>
              <a:t>补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 ＝ </a:t>
            </a:r>
            <a:r>
              <a:rPr lang="en-US" altLang="zh-CN" sz="2800" b="1" dirty="0">
                <a:solidFill>
                  <a:srgbClr val="C01920"/>
                </a:solidFill>
                <a:ea typeface="楷体" pitchFamily="49" charset="-122"/>
              </a:rPr>
              <a:t>0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00…0  </a:t>
            </a:r>
            <a:r>
              <a:rPr lang="zh-CN" altLang="en-US" sz="2800" b="1" dirty="0">
                <a:solidFill>
                  <a:srgbClr val="002060"/>
                </a:solidFill>
                <a:ea typeface="楷体" pitchFamily="49" charset="-122"/>
              </a:rPr>
              <a:t>或  </a:t>
            </a:r>
            <a:r>
              <a:rPr lang="en-US" altLang="zh-CN" sz="2800" b="1" dirty="0">
                <a:solidFill>
                  <a:srgbClr val="C01920"/>
                </a:solidFill>
                <a:ea typeface="楷体" pitchFamily="49" charset="-122"/>
              </a:rPr>
              <a:t>0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.00…0</a:t>
            </a:r>
          </a:p>
        </p:txBody>
      </p:sp>
      <p:sp>
        <p:nvSpPr>
          <p:cNvPr id="709648" name="Text Box 16"/>
          <p:cNvSpPr txBox="1">
            <a:spLocks noChangeArrowheads="1"/>
          </p:cNvSpPr>
          <p:nvPr/>
        </p:nvSpPr>
        <p:spPr bwMode="auto">
          <a:xfrm>
            <a:off x="-529233" y="5229200"/>
            <a:ext cx="9145513" cy="835025"/>
          </a:xfrm>
          <a:prstGeom prst="rect">
            <a:avLst/>
          </a:prstGeom>
          <a:solidFill>
            <a:srgbClr val="BD6368"/>
          </a:solidFill>
          <a:ln w="28575">
            <a:noFill/>
            <a:miter lim="800000"/>
            <a:headEnd/>
            <a:tailEnd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prstMaterial="plastic">
            <a:bevelT w="82550" h="63500" prst="coolSlant"/>
          </a:sp3d>
        </p:spPr>
        <p:txBody>
          <a:bodyPr lIns="90000" tIns="46800" rIns="90000" bIns="46800"/>
          <a:lstStyle/>
          <a:p>
            <a:pPr algn="just"/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注意：绝大多数机器数的表示采用补码表示法。象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语言中整数在计算机中就是以其补码的形式存储的。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1279A28-4833-434F-A665-877AB687BE7A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6C080D8-4CC3-4FD5-B2C0-4923F1213786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2" name="菱形 11">
                <a:extLst>
                  <a:ext uri="{FF2B5EF4-FFF2-40B4-BE49-F238E27FC236}">
                    <a16:creationId xmlns:a16="http://schemas.microsoft.com/office/drawing/2014/main" id="{289D9622-E78A-4243-9F1A-EE3B8D8248C1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菱形 12">
                <a:extLst>
                  <a:ext uri="{FF2B5EF4-FFF2-40B4-BE49-F238E27FC236}">
                    <a16:creationId xmlns:a16="http://schemas.microsoft.com/office/drawing/2014/main" id="{B113F685-520B-4A4D-97CC-D3CB2835ADB9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67EBE0A6-140C-4F9A-843E-7C6E0584B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补码</a:t>
              </a:r>
            </a:p>
          </p:txBody>
        </p:sp>
      </p:grpSp>
      <p:sp>
        <p:nvSpPr>
          <p:cNvPr id="14" name="Rectangle 4">
            <a:extLst>
              <a:ext uri="{FF2B5EF4-FFF2-40B4-BE49-F238E27FC236}">
                <a16:creationId xmlns:a16="http://schemas.microsoft.com/office/drawing/2014/main" id="{CF584815-5A71-4882-897A-CE6D5FCA4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09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09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09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709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09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709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7096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47" grpId="0" build="p" bldLvl="5" autoUpdateAnimBg="0"/>
      <p:bldP spid="70964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0658" name="Group 2"/>
          <p:cNvGrpSpPr>
            <a:grpSpLocks/>
          </p:cNvGrpSpPr>
          <p:nvPr/>
        </p:nvGrpSpPr>
        <p:grpSpPr bwMode="auto">
          <a:xfrm>
            <a:off x="888293" y="1739760"/>
            <a:ext cx="10415414" cy="3143251"/>
            <a:chOff x="599" y="543"/>
            <a:chExt cx="4445" cy="1980"/>
          </a:xfrm>
        </p:grpSpPr>
        <p:sp>
          <p:nvSpPr>
            <p:cNvPr id="710659" name="Rectangle 3"/>
            <p:cNvSpPr>
              <a:spLocks noChangeArrowheads="1"/>
            </p:cNvSpPr>
            <p:nvPr/>
          </p:nvSpPr>
          <p:spPr bwMode="auto">
            <a:xfrm>
              <a:off x="599" y="556"/>
              <a:ext cx="4445" cy="1967"/>
            </a:xfrm>
            <a:prstGeom prst="rect">
              <a:avLst/>
            </a:prstGeom>
            <a:gradFill flip="none" rotWithShape="1">
              <a:gsLst>
                <a:gs pos="0">
                  <a:srgbClr val="CFCFD1"/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 w="381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710660" name="Text Box 4"/>
            <p:cNvSpPr txBox="1">
              <a:spLocks noChangeArrowheads="1"/>
            </p:cNvSpPr>
            <p:nvPr/>
          </p:nvSpPr>
          <p:spPr bwMode="auto">
            <a:xfrm>
              <a:off x="1663" y="543"/>
              <a:ext cx="3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原码</a:t>
              </a:r>
            </a:p>
          </p:txBody>
        </p:sp>
        <p:sp>
          <p:nvSpPr>
            <p:cNvPr id="710661" name="Text Box 5"/>
            <p:cNvSpPr txBox="1">
              <a:spLocks noChangeArrowheads="1"/>
            </p:cNvSpPr>
            <p:nvPr/>
          </p:nvSpPr>
          <p:spPr bwMode="auto">
            <a:xfrm>
              <a:off x="2986" y="543"/>
              <a:ext cx="3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反码</a:t>
              </a:r>
            </a:p>
          </p:txBody>
        </p:sp>
        <p:sp>
          <p:nvSpPr>
            <p:cNvPr id="710662" name="Text Box 6"/>
            <p:cNvSpPr txBox="1">
              <a:spLocks noChangeArrowheads="1"/>
            </p:cNvSpPr>
            <p:nvPr/>
          </p:nvSpPr>
          <p:spPr bwMode="auto">
            <a:xfrm>
              <a:off x="4198" y="543"/>
              <a:ext cx="3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补码</a:t>
              </a:r>
            </a:p>
          </p:txBody>
        </p:sp>
        <p:sp>
          <p:nvSpPr>
            <p:cNvPr id="710663" name="Line 7"/>
            <p:cNvSpPr>
              <a:spLocks noChangeShapeType="1"/>
            </p:cNvSpPr>
            <p:nvPr/>
          </p:nvSpPr>
          <p:spPr bwMode="auto">
            <a:xfrm>
              <a:off x="599" y="823"/>
              <a:ext cx="444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64" name="Text Box 8"/>
            <p:cNvSpPr txBox="1">
              <a:spLocks noChangeArrowheads="1"/>
            </p:cNvSpPr>
            <p:nvPr/>
          </p:nvSpPr>
          <p:spPr bwMode="auto">
            <a:xfrm>
              <a:off x="811" y="823"/>
              <a:ext cx="2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+7</a:t>
              </a:r>
            </a:p>
          </p:txBody>
        </p:sp>
        <p:sp>
          <p:nvSpPr>
            <p:cNvPr id="710665" name="Text Box 9"/>
            <p:cNvSpPr txBox="1">
              <a:spLocks noChangeArrowheads="1"/>
            </p:cNvSpPr>
            <p:nvPr/>
          </p:nvSpPr>
          <p:spPr bwMode="auto">
            <a:xfrm>
              <a:off x="1554" y="82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00000111</a:t>
              </a:r>
            </a:p>
          </p:txBody>
        </p:sp>
        <p:sp>
          <p:nvSpPr>
            <p:cNvPr id="710666" name="Text Box 10"/>
            <p:cNvSpPr txBox="1">
              <a:spLocks noChangeArrowheads="1"/>
            </p:cNvSpPr>
            <p:nvPr/>
          </p:nvSpPr>
          <p:spPr bwMode="auto">
            <a:xfrm>
              <a:off x="2795" y="82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00000111</a:t>
              </a:r>
            </a:p>
          </p:txBody>
        </p:sp>
        <p:sp>
          <p:nvSpPr>
            <p:cNvPr id="710667" name="Text Box 11"/>
            <p:cNvSpPr txBox="1">
              <a:spLocks noChangeArrowheads="1"/>
            </p:cNvSpPr>
            <p:nvPr/>
          </p:nvSpPr>
          <p:spPr bwMode="auto">
            <a:xfrm>
              <a:off x="4018" y="82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00000111</a:t>
              </a:r>
            </a:p>
          </p:txBody>
        </p:sp>
        <p:sp>
          <p:nvSpPr>
            <p:cNvPr id="710668" name="Line 12"/>
            <p:cNvSpPr>
              <a:spLocks noChangeShapeType="1"/>
            </p:cNvSpPr>
            <p:nvPr/>
          </p:nvSpPr>
          <p:spPr bwMode="auto">
            <a:xfrm flipH="1">
              <a:off x="1282" y="556"/>
              <a:ext cx="17" cy="1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69" name="Line 13"/>
            <p:cNvSpPr>
              <a:spLocks noChangeShapeType="1"/>
            </p:cNvSpPr>
            <p:nvPr/>
          </p:nvSpPr>
          <p:spPr bwMode="auto">
            <a:xfrm flipH="1">
              <a:off x="2544" y="556"/>
              <a:ext cx="0" cy="1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70" name="Line 14"/>
            <p:cNvSpPr>
              <a:spLocks noChangeShapeType="1"/>
            </p:cNvSpPr>
            <p:nvPr/>
          </p:nvSpPr>
          <p:spPr bwMode="auto">
            <a:xfrm>
              <a:off x="3755" y="556"/>
              <a:ext cx="0" cy="19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71" name="Line 15"/>
            <p:cNvSpPr>
              <a:spLocks noChangeShapeType="1"/>
            </p:cNvSpPr>
            <p:nvPr/>
          </p:nvSpPr>
          <p:spPr bwMode="auto">
            <a:xfrm>
              <a:off x="599" y="1089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72" name="Text Box 16"/>
            <p:cNvSpPr txBox="1">
              <a:spLocks noChangeArrowheads="1"/>
            </p:cNvSpPr>
            <p:nvPr/>
          </p:nvSpPr>
          <p:spPr bwMode="auto">
            <a:xfrm>
              <a:off x="807" y="1130"/>
              <a:ext cx="2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-7</a:t>
              </a:r>
            </a:p>
          </p:txBody>
        </p:sp>
        <p:sp>
          <p:nvSpPr>
            <p:cNvPr id="710673" name="Text Box 17"/>
            <p:cNvSpPr txBox="1">
              <a:spLocks noChangeArrowheads="1"/>
            </p:cNvSpPr>
            <p:nvPr/>
          </p:nvSpPr>
          <p:spPr bwMode="auto">
            <a:xfrm>
              <a:off x="1543" y="109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C01920"/>
                  </a:solidFill>
                  <a:latin typeface="+mn-ea"/>
                  <a:ea typeface="+mn-ea"/>
                </a:rPr>
                <a:t>1</a:t>
              </a:r>
              <a:r>
                <a:rPr lang="en-US" altLang="zh-CN" b="1" dirty="0">
                  <a:latin typeface="+mn-ea"/>
                  <a:ea typeface="+mn-ea"/>
                </a:rPr>
                <a:t>0000111</a:t>
              </a:r>
            </a:p>
          </p:txBody>
        </p:sp>
        <p:sp>
          <p:nvSpPr>
            <p:cNvPr id="710674" name="Text Box 18"/>
            <p:cNvSpPr txBox="1">
              <a:spLocks noChangeArrowheads="1"/>
            </p:cNvSpPr>
            <p:nvPr/>
          </p:nvSpPr>
          <p:spPr bwMode="auto">
            <a:xfrm>
              <a:off x="2784" y="109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C01920"/>
                  </a:solidFill>
                  <a:latin typeface="+mn-ea"/>
                  <a:ea typeface="+mn-ea"/>
                </a:rPr>
                <a:t>1</a:t>
              </a:r>
              <a:r>
                <a:rPr lang="en-US" altLang="zh-CN" b="1" dirty="0">
                  <a:latin typeface="+mn-ea"/>
                  <a:ea typeface="+mn-ea"/>
                </a:rPr>
                <a:t>1111000</a:t>
              </a:r>
            </a:p>
          </p:txBody>
        </p:sp>
        <p:sp>
          <p:nvSpPr>
            <p:cNvPr id="710675" name="Text Box 19"/>
            <p:cNvSpPr txBox="1">
              <a:spLocks noChangeArrowheads="1"/>
            </p:cNvSpPr>
            <p:nvPr/>
          </p:nvSpPr>
          <p:spPr bwMode="auto">
            <a:xfrm>
              <a:off x="4021" y="109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C01920"/>
                  </a:solidFill>
                  <a:latin typeface="+mn-ea"/>
                  <a:ea typeface="+mn-ea"/>
                </a:rPr>
                <a:t>1</a:t>
              </a:r>
              <a:r>
                <a:rPr lang="en-US" altLang="zh-CN" b="1" dirty="0">
                  <a:latin typeface="+mn-ea"/>
                  <a:ea typeface="+mn-ea"/>
                </a:rPr>
                <a:t>1111001</a:t>
              </a:r>
            </a:p>
          </p:txBody>
        </p:sp>
        <p:sp>
          <p:nvSpPr>
            <p:cNvPr id="710676" name="Line 20"/>
            <p:cNvSpPr>
              <a:spLocks noChangeShapeType="1"/>
            </p:cNvSpPr>
            <p:nvPr/>
          </p:nvSpPr>
          <p:spPr bwMode="auto">
            <a:xfrm>
              <a:off x="599" y="1356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77" name="Text Box 21"/>
            <p:cNvSpPr txBox="1">
              <a:spLocks noChangeArrowheads="1"/>
            </p:cNvSpPr>
            <p:nvPr/>
          </p:nvSpPr>
          <p:spPr bwMode="auto">
            <a:xfrm>
              <a:off x="813" y="1375"/>
              <a:ext cx="2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+0</a:t>
              </a:r>
            </a:p>
          </p:txBody>
        </p:sp>
        <p:sp>
          <p:nvSpPr>
            <p:cNvPr id="710678" name="Text Box 22"/>
            <p:cNvSpPr txBox="1">
              <a:spLocks noChangeArrowheads="1"/>
            </p:cNvSpPr>
            <p:nvPr/>
          </p:nvSpPr>
          <p:spPr bwMode="auto">
            <a:xfrm>
              <a:off x="1555" y="1375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00000000</a:t>
              </a:r>
            </a:p>
          </p:txBody>
        </p:sp>
        <p:sp>
          <p:nvSpPr>
            <p:cNvPr id="710679" name="Text Box 23"/>
            <p:cNvSpPr txBox="1">
              <a:spLocks noChangeArrowheads="1"/>
            </p:cNvSpPr>
            <p:nvPr/>
          </p:nvSpPr>
          <p:spPr bwMode="auto">
            <a:xfrm>
              <a:off x="2787" y="1356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00000000</a:t>
              </a:r>
            </a:p>
          </p:txBody>
        </p:sp>
        <p:sp>
          <p:nvSpPr>
            <p:cNvPr id="710680" name="Text Box 24"/>
            <p:cNvSpPr txBox="1">
              <a:spLocks noChangeArrowheads="1"/>
            </p:cNvSpPr>
            <p:nvPr/>
          </p:nvSpPr>
          <p:spPr bwMode="auto">
            <a:xfrm>
              <a:off x="4018" y="1353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00000000</a:t>
              </a:r>
            </a:p>
          </p:txBody>
        </p:sp>
        <p:sp>
          <p:nvSpPr>
            <p:cNvPr id="710681" name="Line 25"/>
            <p:cNvSpPr>
              <a:spLocks noChangeShapeType="1"/>
            </p:cNvSpPr>
            <p:nvPr/>
          </p:nvSpPr>
          <p:spPr bwMode="auto">
            <a:xfrm>
              <a:off x="599" y="1623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710682" name="Text Box 26"/>
            <p:cNvSpPr txBox="1">
              <a:spLocks noChangeArrowheads="1"/>
            </p:cNvSpPr>
            <p:nvPr/>
          </p:nvSpPr>
          <p:spPr bwMode="auto">
            <a:xfrm>
              <a:off x="802" y="1663"/>
              <a:ext cx="2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-0</a:t>
              </a:r>
            </a:p>
          </p:txBody>
        </p:sp>
        <p:sp>
          <p:nvSpPr>
            <p:cNvPr id="710683" name="Text Box 27"/>
            <p:cNvSpPr txBox="1">
              <a:spLocks noChangeArrowheads="1"/>
            </p:cNvSpPr>
            <p:nvPr/>
          </p:nvSpPr>
          <p:spPr bwMode="auto">
            <a:xfrm>
              <a:off x="1544" y="1626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10000000</a:t>
              </a:r>
            </a:p>
          </p:txBody>
        </p:sp>
        <p:sp>
          <p:nvSpPr>
            <p:cNvPr id="710684" name="Text Box 28"/>
            <p:cNvSpPr txBox="1">
              <a:spLocks noChangeArrowheads="1"/>
            </p:cNvSpPr>
            <p:nvPr/>
          </p:nvSpPr>
          <p:spPr bwMode="auto">
            <a:xfrm>
              <a:off x="2785" y="1616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11111111</a:t>
              </a:r>
            </a:p>
          </p:txBody>
        </p:sp>
        <p:sp>
          <p:nvSpPr>
            <p:cNvPr id="710685" name="Text Box 29"/>
            <p:cNvSpPr txBox="1">
              <a:spLocks noChangeArrowheads="1"/>
            </p:cNvSpPr>
            <p:nvPr/>
          </p:nvSpPr>
          <p:spPr bwMode="auto">
            <a:xfrm>
              <a:off x="4022" y="1616"/>
              <a:ext cx="6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00000000</a:t>
              </a:r>
            </a:p>
          </p:txBody>
        </p:sp>
        <p:sp>
          <p:nvSpPr>
            <p:cNvPr id="710686" name="Line 30"/>
            <p:cNvSpPr>
              <a:spLocks noChangeShapeType="1"/>
            </p:cNvSpPr>
            <p:nvPr/>
          </p:nvSpPr>
          <p:spPr bwMode="auto">
            <a:xfrm>
              <a:off x="599" y="1901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002060"/>
                </a:solidFill>
                <a:latin typeface="+mn-ea"/>
                <a:ea typeface="+mn-ea"/>
              </a:endParaRPr>
            </a:p>
          </p:txBody>
        </p:sp>
        <p:sp>
          <p:nvSpPr>
            <p:cNvPr id="710687" name="Text Box 31"/>
            <p:cNvSpPr txBox="1">
              <a:spLocks noChangeArrowheads="1"/>
            </p:cNvSpPr>
            <p:nvPr/>
          </p:nvSpPr>
          <p:spPr bwMode="auto">
            <a:xfrm>
              <a:off x="645" y="2050"/>
              <a:ext cx="60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itchFamily="49" charset="-122"/>
                  <a:ea typeface="楷体" pitchFamily="49" charset="-122"/>
                </a:rPr>
                <a:t>数的范围</a:t>
              </a:r>
            </a:p>
          </p:txBody>
        </p:sp>
        <p:sp>
          <p:nvSpPr>
            <p:cNvPr id="710688" name="Text Box 32"/>
            <p:cNvSpPr txBox="1">
              <a:spLocks noChangeArrowheads="1"/>
            </p:cNvSpPr>
            <p:nvPr/>
          </p:nvSpPr>
          <p:spPr bwMode="auto">
            <a:xfrm>
              <a:off x="1323" y="1961"/>
              <a:ext cx="1281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11111111</a:t>
              </a:r>
              <a:r>
                <a:rPr lang="en-US" altLang="zh-CN" b="1" dirty="0">
                  <a:latin typeface="+mn-lt"/>
                  <a:ea typeface="+mn-ea"/>
                </a:rPr>
                <a:t>~</a:t>
              </a:r>
              <a:r>
                <a:rPr lang="en-US" altLang="zh-CN" b="1" dirty="0">
                  <a:latin typeface="+mn-ea"/>
                  <a:ea typeface="+mn-ea"/>
                </a:rPr>
                <a:t>01111111</a:t>
              </a:r>
            </a:p>
            <a:p>
              <a:r>
                <a:rPr lang="en-US" altLang="zh-CN" b="1" dirty="0">
                  <a:solidFill>
                    <a:srgbClr val="C00000"/>
                  </a:solidFill>
                  <a:latin typeface="+mn-ea"/>
                  <a:ea typeface="+mn-ea"/>
                </a:rPr>
                <a:t>   (-127</a:t>
              </a:r>
              <a:r>
                <a:rPr lang="en-US" altLang="zh-CN" b="1" dirty="0">
                  <a:solidFill>
                    <a:srgbClr val="C00000"/>
                  </a:solidFill>
                  <a:latin typeface="+mn-lt"/>
                  <a:ea typeface="+mn-ea"/>
                </a:rPr>
                <a:t>~</a:t>
              </a:r>
              <a:r>
                <a:rPr lang="en-US" altLang="zh-CN" b="1" dirty="0">
                  <a:solidFill>
                    <a:srgbClr val="C00000"/>
                  </a:solidFill>
                  <a:latin typeface="+mn-ea"/>
                  <a:ea typeface="+mn-ea"/>
                </a:rPr>
                <a:t>+127)</a:t>
              </a:r>
            </a:p>
          </p:txBody>
        </p:sp>
        <p:sp>
          <p:nvSpPr>
            <p:cNvPr id="710689" name="Text Box 33"/>
            <p:cNvSpPr txBox="1">
              <a:spLocks noChangeArrowheads="1"/>
            </p:cNvSpPr>
            <p:nvPr/>
          </p:nvSpPr>
          <p:spPr bwMode="auto">
            <a:xfrm>
              <a:off x="2544" y="1963"/>
              <a:ext cx="1211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10000000</a:t>
              </a:r>
              <a:r>
                <a:rPr lang="en-US" altLang="zh-CN" b="1" dirty="0">
                  <a:latin typeface="+mn-lt"/>
                  <a:ea typeface="+mn-ea"/>
                </a:rPr>
                <a:t>~</a:t>
              </a:r>
              <a:r>
                <a:rPr lang="en-US" altLang="zh-CN" b="1" dirty="0">
                  <a:latin typeface="+mn-ea"/>
                  <a:ea typeface="+mn-ea"/>
                </a:rPr>
                <a:t>01111111</a:t>
              </a:r>
            </a:p>
            <a:p>
              <a:r>
                <a:rPr lang="en-US" altLang="zh-CN" b="1" dirty="0">
                  <a:solidFill>
                    <a:srgbClr val="C00000"/>
                  </a:solidFill>
                  <a:latin typeface="+mn-ea"/>
                  <a:ea typeface="+mn-ea"/>
                </a:rPr>
                <a:t>   (-127</a:t>
              </a:r>
              <a:r>
                <a:rPr lang="en-US" altLang="zh-CN" b="1" dirty="0">
                  <a:solidFill>
                    <a:srgbClr val="C00000"/>
                  </a:solidFill>
                  <a:latin typeface="+mn-lt"/>
                  <a:ea typeface="+mn-ea"/>
                </a:rPr>
                <a:t>~</a:t>
              </a:r>
              <a:r>
                <a:rPr lang="en-US" altLang="zh-CN" b="1" dirty="0">
                  <a:solidFill>
                    <a:srgbClr val="C00000"/>
                  </a:solidFill>
                  <a:latin typeface="+mn-ea"/>
                  <a:ea typeface="+mn-ea"/>
                </a:rPr>
                <a:t>+127)</a:t>
              </a:r>
            </a:p>
          </p:txBody>
        </p:sp>
        <p:sp>
          <p:nvSpPr>
            <p:cNvPr id="710690" name="Text Box 34"/>
            <p:cNvSpPr txBox="1">
              <a:spLocks noChangeArrowheads="1"/>
            </p:cNvSpPr>
            <p:nvPr/>
          </p:nvSpPr>
          <p:spPr bwMode="auto">
            <a:xfrm>
              <a:off x="3784" y="1964"/>
              <a:ext cx="1230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+mn-ea"/>
                  <a:ea typeface="+mn-ea"/>
                </a:rPr>
                <a:t>10000000</a:t>
              </a:r>
              <a:r>
                <a:rPr lang="en-US" altLang="zh-CN" b="1" dirty="0">
                  <a:latin typeface="+mn-lt"/>
                  <a:ea typeface="+mn-ea"/>
                </a:rPr>
                <a:t>~</a:t>
              </a:r>
              <a:r>
                <a:rPr lang="en-US" altLang="zh-CN" b="1" dirty="0">
                  <a:latin typeface="+mn-ea"/>
                  <a:ea typeface="+mn-ea"/>
                </a:rPr>
                <a:t>01111111</a:t>
              </a:r>
            </a:p>
            <a:p>
              <a:r>
                <a:rPr lang="en-US" altLang="zh-CN" b="1" dirty="0">
                  <a:solidFill>
                    <a:srgbClr val="FF0000"/>
                  </a:solidFill>
                  <a:latin typeface="+mn-ea"/>
                  <a:ea typeface="+mn-ea"/>
                </a:rPr>
                <a:t>    </a:t>
              </a:r>
              <a:r>
                <a:rPr lang="en-US" altLang="zh-CN" b="1" dirty="0">
                  <a:solidFill>
                    <a:srgbClr val="C01920"/>
                  </a:solidFill>
                  <a:latin typeface="+mn-ea"/>
                  <a:ea typeface="+mn-ea"/>
                </a:rPr>
                <a:t>(-128</a:t>
              </a:r>
              <a:r>
                <a:rPr lang="en-US" altLang="zh-CN" b="1" dirty="0">
                  <a:solidFill>
                    <a:srgbClr val="C01920"/>
                  </a:solidFill>
                  <a:latin typeface="+mn-lt"/>
                  <a:ea typeface="+mn-ea"/>
                </a:rPr>
                <a:t>~</a:t>
              </a:r>
              <a:r>
                <a:rPr lang="en-US" altLang="zh-CN" b="1" dirty="0">
                  <a:solidFill>
                    <a:srgbClr val="C01920"/>
                  </a:solidFill>
                  <a:latin typeface="+mn-ea"/>
                  <a:ea typeface="+mn-ea"/>
                </a:rPr>
                <a:t>+127)</a:t>
              </a:r>
            </a:p>
          </p:txBody>
        </p:sp>
      </p:grpSp>
      <p:sp>
        <p:nvSpPr>
          <p:cNvPr id="710692" name="Rectangle 36"/>
          <p:cNvSpPr>
            <a:spLocks noChangeArrowheads="1"/>
          </p:cNvSpPr>
          <p:nvPr/>
        </p:nvSpPr>
        <p:spPr bwMode="auto">
          <a:xfrm>
            <a:off x="-14741" y="4967381"/>
            <a:ext cx="91440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0" lvl="2" indent="-228600">
              <a:spcBef>
                <a:spcPct val="20000"/>
              </a:spcBef>
            </a:pP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负数补码转换成十进制数：最高位不动，其余位取反加</a:t>
            </a:r>
            <a:r>
              <a:rPr lang="en-US" altLang="zh-CN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1</a:t>
            </a:r>
          </a:p>
        </p:txBody>
      </p:sp>
      <p:sp>
        <p:nvSpPr>
          <p:cNvPr id="710693" name="Text Box 37"/>
          <p:cNvSpPr txBox="1">
            <a:spLocks noChangeArrowheads="1"/>
          </p:cNvSpPr>
          <p:nvPr/>
        </p:nvSpPr>
        <p:spPr bwMode="auto">
          <a:xfrm>
            <a:off x="1198110" y="5469031"/>
            <a:ext cx="344677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例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补码</a:t>
            </a:r>
            <a:r>
              <a:rPr lang="zh-CN" altLang="en-US" b="1" dirty="0">
                <a:latin typeface="+mn-ea"/>
                <a:ea typeface="+mn-ea"/>
              </a:rPr>
              <a:t>：</a:t>
            </a:r>
            <a:r>
              <a:rPr lang="en-US" altLang="zh-CN" b="1" dirty="0">
                <a:solidFill>
                  <a:srgbClr val="C01920"/>
                </a:solidFill>
                <a:latin typeface="+mn-ea"/>
                <a:ea typeface="+mn-ea"/>
              </a:rPr>
              <a:t>1</a:t>
            </a:r>
            <a:r>
              <a:rPr lang="en-US" altLang="zh-CN" b="1" dirty="0">
                <a:latin typeface="+mn-ea"/>
                <a:ea typeface="+mn-ea"/>
              </a:rPr>
              <a:t>1111001</a:t>
            </a:r>
          </a:p>
          <a:p>
            <a:r>
              <a:rPr lang="en-US" altLang="zh-CN" b="1" dirty="0">
                <a:latin typeface="+mn-ea"/>
                <a:ea typeface="+mn-ea"/>
              </a:rPr>
              <a:t>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取反</a:t>
            </a:r>
            <a:r>
              <a:rPr lang="zh-CN" altLang="en-US" b="1" dirty="0">
                <a:latin typeface="+mn-ea"/>
                <a:ea typeface="+mn-ea"/>
              </a:rPr>
              <a:t>：</a:t>
            </a:r>
            <a:r>
              <a:rPr lang="en-US" altLang="zh-CN" b="1" dirty="0">
                <a:solidFill>
                  <a:srgbClr val="C01920"/>
                </a:solidFill>
                <a:latin typeface="+mn-ea"/>
                <a:ea typeface="+mn-ea"/>
              </a:rPr>
              <a:t>1</a:t>
            </a:r>
            <a:r>
              <a:rPr lang="en-US" altLang="zh-CN" b="1" dirty="0">
                <a:latin typeface="+mn-ea"/>
                <a:ea typeface="+mn-ea"/>
              </a:rPr>
              <a:t>0000110</a:t>
            </a:r>
          </a:p>
          <a:p>
            <a:r>
              <a:rPr lang="en-US" altLang="zh-CN" b="1" dirty="0">
                <a:latin typeface="+mn-ea"/>
                <a:ea typeface="+mn-ea"/>
              </a:rPr>
              <a:t> 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加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latin typeface="+mn-ea"/>
                <a:ea typeface="+mn-ea"/>
              </a:rPr>
              <a:t>：</a:t>
            </a:r>
            <a:r>
              <a:rPr lang="en-US" altLang="zh-CN" b="1" dirty="0">
                <a:solidFill>
                  <a:srgbClr val="C01920"/>
                </a:solidFill>
                <a:latin typeface="+mn-ea"/>
                <a:ea typeface="+mn-ea"/>
              </a:rPr>
              <a:t>1</a:t>
            </a:r>
            <a:r>
              <a:rPr lang="en-US" altLang="zh-CN" b="1" dirty="0">
                <a:latin typeface="+mn-ea"/>
                <a:ea typeface="+mn-ea"/>
              </a:rPr>
              <a:t>0000111=-7</a:t>
            </a:r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B8308321-26C8-4279-8A6F-3F460E89A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88132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B553025-CB23-4D3A-BEBD-4FE42A65069F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0878A5D-8A81-450F-A719-C3677619B025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46" name="菱形 45">
                <a:extLst>
                  <a:ext uri="{FF2B5EF4-FFF2-40B4-BE49-F238E27FC236}">
                    <a16:creationId xmlns:a16="http://schemas.microsoft.com/office/drawing/2014/main" id="{A8DB74DE-11E0-441F-B324-6562EA493967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7" name="菱形 46">
                <a:extLst>
                  <a:ext uri="{FF2B5EF4-FFF2-40B4-BE49-F238E27FC236}">
                    <a16:creationId xmlns:a16="http://schemas.microsoft.com/office/drawing/2014/main" id="{4A9FF44F-C8C7-46D4-93DD-67212BDD1E68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45" name="Text Box 5">
              <a:extLst>
                <a:ext uri="{FF2B5EF4-FFF2-40B4-BE49-F238E27FC236}">
                  <a16:creationId xmlns:a16="http://schemas.microsoft.com/office/drawing/2014/main" id="{138FA225-4BC2-45C0-BFF8-895A5D053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（用一字节表示数）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106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1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10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710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10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92" grpId="0" build="p" autoUpdateAnimBg="0"/>
      <p:bldP spid="710693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7" name="Rectangle 7"/>
          <p:cNvSpPr>
            <a:spLocks noChangeArrowheads="1"/>
          </p:cNvSpPr>
          <p:nvPr/>
        </p:nvSpPr>
        <p:spPr bwMode="auto">
          <a:xfrm>
            <a:off x="1055440" y="1700808"/>
            <a:ext cx="8135937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itchFamily="49" charset="-122"/>
                <a:ea typeface="楷体" pitchFamily="49" charset="-122"/>
              </a:rPr>
              <a:t>由补码的定义可以证明如下补码加、减运算规则：</a:t>
            </a:r>
          </a:p>
        </p:txBody>
      </p:sp>
      <p:sp>
        <p:nvSpPr>
          <p:cNvPr id="711704" name="Rectangle 24"/>
          <p:cNvSpPr>
            <a:spLocks noChangeArrowheads="1"/>
          </p:cNvSpPr>
          <p:nvPr/>
        </p:nvSpPr>
        <p:spPr bwMode="auto">
          <a:xfrm>
            <a:off x="1923522" y="2348880"/>
            <a:ext cx="8276934" cy="144011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                           [N1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＋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N2]</a:t>
            </a:r>
            <a:r>
              <a:rPr lang="zh-CN" altLang="en-US" b="1" baseline="-25000" dirty="0">
                <a:solidFill>
                  <a:schemeClr val="accent1">
                    <a:lumMod val="50000"/>
                  </a:schemeClr>
                </a:solidFill>
              </a:rPr>
              <a:t>补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 ＝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[N1]</a:t>
            </a:r>
            <a:r>
              <a:rPr lang="zh-CN" altLang="en-US" b="1" baseline="-25000" dirty="0">
                <a:solidFill>
                  <a:schemeClr val="accent1">
                    <a:lumMod val="50000"/>
                  </a:schemeClr>
                </a:solidFill>
              </a:rPr>
              <a:t>补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 ＋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[N2]</a:t>
            </a:r>
            <a:r>
              <a:rPr lang="zh-CN" altLang="en-US" b="1" baseline="-25000" dirty="0">
                <a:solidFill>
                  <a:schemeClr val="accent1">
                    <a:lumMod val="50000"/>
                  </a:schemeClr>
                </a:solidFill>
              </a:rPr>
              <a:t>补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                          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[N1 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－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N2]</a:t>
            </a:r>
            <a:r>
              <a:rPr lang="zh-CN" altLang="en-US" b="1" baseline="-25000" dirty="0">
                <a:solidFill>
                  <a:schemeClr val="accent1">
                    <a:lumMod val="50000"/>
                  </a:schemeClr>
                </a:solidFill>
              </a:rPr>
              <a:t>补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 ＝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[N1]</a:t>
            </a:r>
            <a:r>
              <a:rPr lang="zh-CN" altLang="en-US" b="1" baseline="-25000" dirty="0">
                <a:solidFill>
                  <a:schemeClr val="accent1">
                    <a:lumMod val="50000"/>
                  </a:schemeClr>
                </a:solidFill>
              </a:rPr>
              <a:t>补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 ＋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[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－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N2]</a:t>
            </a:r>
            <a:r>
              <a:rPr lang="zh-CN" altLang="en-US" b="1" baseline="-25000" dirty="0">
                <a:solidFill>
                  <a:schemeClr val="accent1">
                    <a:lumMod val="50000"/>
                  </a:schemeClr>
                </a:solidFill>
              </a:rPr>
              <a:t>补</a:t>
            </a:r>
          </a:p>
        </p:txBody>
      </p:sp>
      <p:sp>
        <p:nvSpPr>
          <p:cNvPr id="711706" name="Rectangle 26"/>
          <p:cNvSpPr>
            <a:spLocks noChangeArrowheads="1"/>
          </p:cNvSpPr>
          <p:nvPr/>
        </p:nvSpPr>
        <p:spPr bwMode="auto">
          <a:xfrm>
            <a:off x="1111451" y="3788990"/>
            <a:ext cx="10971143" cy="222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192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符号位和数据位一起参加运算；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C0192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如果符号位产生进位，则需要将此进位“</a:t>
            </a:r>
            <a:r>
              <a:rPr lang="zh-CN" altLang="en-US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丢掉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”；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C0192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运算结果的符号位为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时，说明是正数的补码；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pPr marL="342900" indent="-342900">
              <a:lnSpc>
                <a:spcPct val="150000"/>
              </a:lnSpc>
              <a:buClr>
                <a:srgbClr val="C0192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运算结果的符号为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时，说明是负数的补码。 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56516B9-C8DF-4717-B0E3-7663354C2A6E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5417BFC-E71B-4921-BCDE-56E0632DBC88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3" name="菱形 12">
                <a:extLst>
                  <a:ext uri="{FF2B5EF4-FFF2-40B4-BE49-F238E27FC236}">
                    <a16:creationId xmlns:a16="http://schemas.microsoft.com/office/drawing/2014/main" id="{9E66A5EE-86B8-412C-AD1B-12B54F24C884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E1F4966F-FBBE-4219-AA4D-CD0F25A47524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9B190FFE-A6D3-49F5-AADA-A3FF7680A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补码的加、减运算</a:t>
              </a:r>
            </a:p>
          </p:txBody>
        </p:sp>
      </p:grpSp>
      <p:sp>
        <p:nvSpPr>
          <p:cNvPr id="15" name="Rectangle 4">
            <a:extLst>
              <a:ext uri="{FF2B5EF4-FFF2-40B4-BE49-F238E27FC236}">
                <a16:creationId xmlns:a16="http://schemas.microsoft.com/office/drawing/2014/main" id="{B0B9910B-A0E9-4F0D-B1FF-B227859A8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1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11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1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7" grpId="0" build="p" bldLvl="5" autoUpdateAnimBg="0"/>
      <p:bldP spid="711704" grpId="0" animBg="1"/>
      <p:bldP spid="71170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11" name="Rectangle 7"/>
          <p:cNvSpPr>
            <a:spLocks noChangeArrowheads="1"/>
          </p:cNvSpPr>
          <p:nvPr/>
        </p:nvSpPr>
        <p:spPr bwMode="auto">
          <a:xfrm>
            <a:off x="695400" y="1701130"/>
            <a:ext cx="11089232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【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1】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已知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N1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＝＋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10011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N2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＝－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01010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，求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[N1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＋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N2]</a:t>
            </a:r>
            <a:r>
              <a:rPr lang="zh-CN" altLang="en-US" b="1" baseline="-25000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[N1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－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N2]</a:t>
            </a:r>
            <a:r>
              <a:rPr lang="zh-CN" altLang="en-US" b="1" baseline="-25000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en-US" altLang="zh-CN" b="1" dirty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  <a:p>
            <a:pPr>
              <a:spcBef>
                <a:spcPct val="20000"/>
              </a:spcBef>
            </a:pPr>
            <a:endParaRPr lang="zh-CN" altLang="en-US" b="1" dirty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解： 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[N1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＋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N2]</a:t>
            </a:r>
            <a:r>
              <a:rPr lang="zh-CN" altLang="en-US" b="1" baseline="-25000" dirty="0"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＝ 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[N1]</a:t>
            </a:r>
            <a:r>
              <a:rPr lang="zh-CN" altLang="en-US" b="1" baseline="-25000" dirty="0"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＋ 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[N2]</a:t>
            </a:r>
            <a:r>
              <a:rPr lang="zh-CN" altLang="en-US" b="1" baseline="-25000" dirty="0"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  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                ＝ 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010011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＋ 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110110</a:t>
            </a:r>
          </a:p>
          <a:p>
            <a:pPr>
              <a:spcBef>
                <a:spcPct val="20000"/>
              </a:spcBef>
            </a:pP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            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＝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b="1" dirty="0">
                <a:solidFill>
                  <a:srgbClr val="C01920"/>
                </a:solidFill>
                <a:latin typeface="楷体" pitchFamily="49" charset="-122"/>
                <a:ea typeface="楷体" pitchFamily="49" charset="-122"/>
              </a:rPr>
              <a:t>0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01001</a:t>
            </a:r>
          </a:p>
          <a:p>
            <a:pPr>
              <a:spcBef>
                <a:spcPct val="20000"/>
              </a:spcBef>
            </a:pP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              </a:t>
            </a:r>
          </a:p>
          <a:p>
            <a:pPr>
              <a:spcBef>
                <a:spcPct val="20000"/>
              </a:spcBef>
            </a:pP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                 0  1  0  0  1  1</a:t>
            </a:r>
            <a:endParaRPr lang="en-US" altLang="zh-CN" b="1" u="sng" dirty="0">
              <a:latin typeface="楷体" pitchFamily="49" charset="-122"/>
              <a:ea typeface="楷体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           </a:t>
            </a:r>
            <a:r>
              <a:rPr lang="zh-CN" altLang="en-US" b="1" u="sng" dirty="0">
                <a:latin typeface="楷体" pitchFamily="49" charset="-122"/>
                <a:ea typeface="楷体" pitchFamily="49" charset="-122"/>
              </a:rPr>
              <a:t>＋）  </a:t>
            </a:r>
            <a:r>
              <a:rPr lang="en-US" altLang="zh-CN" b="1" u="sng" dirty="0">
                <a:latin typeface="楷体" pitchFamily="49" charset="-122"/>
                <a:ea typeface="楷体" pitchFamily="49" charset="-122"/>
              </a:rPr>
              <a:t>1  1  0  1  1  0   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   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丢掉←</a:t>
            </a:r>
            <a:r>
              <a:rPr lang="en-US" altLang="zh-CN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  0  0  1  0  0  1</a:t>
            </a:r>
          </a:p>
        </p:txBody>
      </p:sp>
      <p:sp>
        <p:nvSpPr>
          <p:cNvPr id="712715" name="Freeform 11"/>
          <p:cNvSpPr>
            <a:spLocks/>
          </p:cNvSpPr>
          <p:nvPr/>
        </p:nvSpPr>
        <p:spPr bwMode="auto">
          <a:xfrm>
            <a:off x="3444079" y="4750371"/>
            <a:ext cx="2647950" cy="527050"/>
          </a:xfrm>
          <a:custGeom>
            <a:avLst/>
            <a:gdLst/>
            <a:ahLst/>
            <a:cxnLst>
              <a:cxn ang="0">
                <a:pos x="77" y="40"/>
              </a:cxn>
              <a:cxn ang="0">
                <a:pos x="51" y="57"/>
              </a:cxn>
              <a:cxn ang="0">
                <a:pos x="34" y="109"/>
              </a:cxn>
              <a:cxn ang="0">
                <a:pos x="8" y="160"/>
              </a:cxn>
              <a:cxn ang="0">
                <a:pos x="43" y="263"/>
              </a:cxn>
              <a:cxn ang="0">
                <a:pos x="455" y="332"/>
              </a:cxn>
              <a:cxn ang="0">
                <a:pos x="1599" y="298"/>
              </a:cxn>
              <a:cxn ang="0">
                <a:pos x="1650" y="272"/>
              </a:cxn>
              <a:cxn ang="0">
                <a:pos x="1668" y="220"/>
              </a:cxn>
              <a:cxn ang="0">
                <a:pos x="1633" y="109"/>
              </a:cxn>
              <a:cxn ang="0">
                <a:pos x="1556" y="74"/>
              </a:cxn>
              <a:cxn ang="0">
                <a:pos x="1100" y="23"/>
              </a:cxn>
              <a:cxn ang="0">
                <a:pos x="86" y="31"/>
              </a:cxn>
              <a:cxn ang="0">
                <a:pos x="43" y="66"/>
              </a:cxn>
              <a:cxn ang="0">
                <a:pos x="77" y="40"/>
              </a:cxn>
            </a:cxnLst>
            <a:rect l="0" t="0" r="r" b="b"/>
            <a:pathLst>
              <a:path w="1668" h="332">
                <a:moveTo>
                  <a:pt x="77" y="40"/>
                </a:moveTo>
                <a:cubicBezTo>
                  <a:pt x="68" y="46"/>
                  <a:pt x="57" y="49"/>
                  <a:pt x="51" y="57"/>
                </a:cubicBezTo>
                <a:cubicBezTo>
                  <a:pt x="40" y="71"/>
                  <a:pt x="42" y="93"/>
                  <a:pt x="34" y="109"/>
                </a:cubicBezTo>
                <a:cubicBezTo>
                  <a:pt x="0" y="175"/>
                  <a:pt x="31" y="94"/>
                  <a:pt x="8" y="160"/>
                </a:cubicBezTo>
                <a:cubicBezTo>
                  <a:pt x="12" y="184"/>
                  <a:pt x="16" y="246"/>
                  <a:pt x="43" y="263"/>
                </a:cubicBezTo>
                <a:cubicBezTo>
                  <a:pt x="143" y="326"/>
                  <a:pt x="356" y="328"/>
                  <a:pt x="455" y="332"/>
                </a:cubicBezTo>
                <a:cubicBezTo>
                  <a:pt x="839" y="327"/>
                  <a:pt x="1216" y="309"/>
                  <a:pt x="1599" y="298"/>
                </a:cubicBezTo>
                <a:cubicBezTo>
                  <a:pt x="1613" y="293"/>
                  <a:pt x="1641" y="286"/>
                  <a:pt x="1650" y="272"/>
                </a:cubicBezTo>
                <a:cubicBezTo>
                  <a:pt x="1660" y="256"/>
                  <a:pt x="1668" y="220"/>
                  <a:pt x="1668" y="220"/>
                </a:cubicBezTo>
                <a:cubicBezTo>
                  <a:pt x="1664" y="190"/>
                  <a:pt x="1662" y="132"/>
                  <a:pt x="1633" y="109"/>
                </a:cubicBezTo>
                <a:cubicBezTo>
                  <a:pt x="1614" y="94"/>
                  <a:pt x="1578" y="85"/>
                  <a:pt x="1556" y="74"/>
                </a:cubicBezTo>
                <a:cubicBezTo>
                  <a:pt x="1409" y="0"/>
                  <a:pt x="1282" y="27"/>
                  <a:pt x="1100" y="23"/>
                </a:cubicBezTo>
                <a:cubicBezTo>
                  <a:pt x="762" y="26"/>
                  <a:pt x="424" y="23"/>
                  <a:pt x="86" y="31"/>
                </a:cubicBezTo>
                <a:cubicBezTo>
                  <a:pt x="68" y="31"/>
                  <a:pt x="26" y="74"/>
                  <a:pt x="43" y="66"/>
                </a:cubicBezTo>
                <a:cubicBezTo>
                  <a:pt x="56" y="60"/>
                  <a:pt x="66" y="49"/>
                  <a:pt x="77" y="40"/>
                </a:cubicBezTo>
                <a:close/>
              </a:path>
            </a:pathLst>
          </a:custGeom>
          <a:noFill/>
          <a:ln w="34925">
            <a:solidFill>
              <a:srgbClr val="C0192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712719" name="Group 15"/>
          <p:cNvGrpSpPr>
            <a:grpSpLocks/>
          </p:cNvGrpSpPr>
          <p:nvPr/>
        </p:nvGrpSpPr>
        <p:grpSpPr bwMode="auto">
          <a:xfrm>
            <a:off x="5087269" y="3284984"/>
            <a:ext cx="1440779" cy="1800101"/>
            <a:chOff x="3528" y="2251"/>
            <a:chExt cx="945" cy="1179"/>
          </a:xfrm>
        </p:grpSpPr>
        <p:sp>
          <p:nvSpPr>
            <p:cNvPr id="712716" name="Line 12"/>
            <p:cNvSpPr>
              <a:spLocks noChangeShapeType="1"/>
            </p:cNvSpPr>
            <p:nvPr/>
          </p:nvSpPr>
          <p:spPr bwMode="auto">
            <a:xfrm>
              <a:off x="4187" y="3430"/>
              <a:ext cx="281" cy="0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2717" name="Line 13"/>
            <p:cNvSpPr>
              <a:spLocks noChangeShapeType="1"/>
            </p:cNvSpPr>
            <p:nvPr/>
          </p:nvSpPr>
          <p:spPr bwMode="auto">
            <a:xfrm flipV="1">
              <a:off x="4468" y="2251"/>
              <a:ext cx="0" cy="1179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2718" name="Line 14"/>
            <p:cNvSpPr>
              <a:spLocks noChangeShapeType="1"/>
            </p:cNvSpPr>
            <p:nvPr/>
          </p:nvSpPr>
          <p:spPr bwMode="auto">
            <a:xfrm flipH="1" flipV="1">
              <a:off x="3528" y="2251"/>
              <a:ext cx="945" cy="0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59BBB84-D334-4DFF-A15B-198BCBF38EE0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8550A2F9-DCFE-4E9D-A190-B7C88D0620C3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6" name="菱形 15">
                <a:extLst>
                  <a:ext uri="{FF2B5EF4-FFF2-40B4-BE49-F238E27FC236}">
                    <a16:creationId xmlns:a16="http://schemas.microsoft.com/office/drawing/2014/main" id="{2A431127-1B9E-47CA-917A-469BEE9654DA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" name="菱形 16">
                <a:extLst>
                  <a:ext uri="{FF2B5EF4-FFF2-40B4-BE49-F238E27FC236}">
                    <a16:creationId xmlns:a16="http://schemas.microsoft.com/office/drawing/2014/main" id="{E5F6AE8E-D035-4334-836D-1977F5E95F6F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F53B567B-164F-4482-AF3C-6A08B3E89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补码的加、减运算</a:t>
              </a:r>
            </a:p>
          </p:txBody>
        </p:sp>
      </p:grpSp>
      <p:sp>
        <p:nvSpPr>
          <p:cNvPr id="18" name="Rectangle 4">
            <a:extLst>
              <a:ext uri="{FF2B5EF4-FFF2-40B4-BE49-F238E27FC236}">
                <a16:creationId xmlns:a16="http://schemas.microsoft.com/office/drawing/2014/main" id="{73C12A2D-C00C-4F53-AEA1-231B9AEA3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127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27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27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127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127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12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2000"/>
                                        <p:tgtEl>
                                          <p:spTgt spid="7127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127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B142376D-2DFA-4463-BDA0-5C3E0A77B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428" y="1988666"/>
            <a:ext cx="10297143" cy="338455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【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2】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已知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N1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＝＋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10011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N2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＝－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01010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，求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[N1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＋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N2]</a:t>
            </a:r>
            <a:r>
              <a:rPr lang="zh-CN" altLang="en-US" b="1" baseline="-25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[N1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－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N2]</a:t>
            </a:r>
            <a:r>
              <a:rPr lang="zh-CN" altLang="en-US" b="1" baseline="-25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</a:t>
            </a:r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。 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 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解： 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[N1-N2]</a:t>
            </a:r>
            <a:r>
              <a:rPr lang="zh-CN" altLang="en-US" b="1" baseline="-25000" dirty="0"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＝ 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[N1]</a:t>
            </a:r>
            <a:r>
              <a:rPr lang="zh-CN" altLang="en-US" b="1" baseline="-25000" dirty="0"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＋ 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[-N2]</a:t>
            </a:r>
            <a:r>
              <a:rPr lang="zh-CN" altLang="en-US" b="1" baseline="-25000" dirty="0">
                <a:latin typeface="楷体" pitchFamily="49" charset="-122"/>
                <a:ea typeface="楷体" pitchFamily="49" charset="-122"/>
              </a:rPr>
              <a:t>补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＝ 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010011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＋ 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001010</a:t>
            </a:r>
          </a:p>
          <a:p>
            <a:pPr>
              <a:spcBef>
                <a:spcPct val="200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11101</a:t>
            </a:r>
          </a:p>
          <a:p>
            <a:pPr>
              <a:spcBef>
                <a:spcPct val="20000"/>
              </a:spcBef>
            </a:pP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0  1  0  0  1  1</a:t>
            </a:r>
            <a:endParaRPr lang="en-US" altLang="zh-CN" b="1" u="sng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</a:t>
            </a:r>
            <a:r>
              <a:rPr lang="zh-CN" altLang="en-US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＋）  </a:t>
            </a:r>
            <a:r>
              <a:rPr lang="en-US" altLang="zh-CN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0  0  1  0  1  0  </a:t>
            </a:r>
          </a:p>
          <a:p>
            <a:pPr>
              <a:spcBef>
                <a:spcPct val="200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0  1  1  1  0  1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B2532CCC-5D3C-48CF-ADF9-D3D1D6DC315E}"/>
              </a:ext>
            </a:extLst>
          </p:cNvPr>
          <p:cNvSpPr>
            <a:spLocks/>
          </p:cNvSpPr>
          <p:nvPr/>
        </p:nvSpPr>
        <p:spPr bwMode="auto">
          <a:xfrm>
            <a:off x="3790702" y="4652481"/>
            <a:ext cx="2647950" cy="527050"/>
          </a:xfrm>
          <a:custGeom>
            <a:avLst/>
            <a:gdLst/>
            <a:ahLst/>
            <a:cxnLst>
              <a:cxn ang="0">
                <a:pos x="77" y="40"/>
              </a:cxn>
              <a:cxn ang="0">
                <a:pos x="51" y="57"/>
              </a:cxn>
              <a:cxn ang="0">
                <a:pos x="34" y="109"/>
              </a:cxn>
              <a:cxn ang="0">
                <a:pos x="8" y="160"/>
              </a:cxn>
              <a:cxn ang="0">
                <a:pos x="43" y="263"/>
              </a:cxn>
              <a:cxn ang="0">
                <a:pos x="455" y="332"/>
              </a:cxn>
              <a:cxn ang="0">
                <a:pos x="1599" y="298"/>
              </a:cxn>
              <a:cxn ang="0">
                <a:pos x="1650" y="272"/>
              </a:cxn>
              <a:cxn ang="0">
                <a:pos x="1668" y="220"/>
              </a:cxn>
              <a:cxn ang="0">
                <a:pos x="1633" y="109"/>
              </a:cxn>
              <a:cxn ang="0">
                <a:pos x="1556" y="74"/>
              </a:cxn>
              <a:cxn ang="0">
                <a:pos x="1100" y="23"/>
              </a:cxn>
              <a:cxn ang="0">
                <a:pos x="86" y="31"/>
              </a:cxn>
              <a:cxn ang="0">
                <a:pos x="43" y="66"/>
              </a:cxn>
              <a:cxn ang="0">
                <a:pos x="77" y="40"/>
              </a:cxn>
            </a:cxnLst>
            <a:rect l="0" t="0" r="r" b="b"/>
            <a:pathLst>
              <a:path w="1668" h="332">
                <a:moveTo>
                  <a:pt x="77" y="40"/>
                </a:moveTo>
                <a:cubicBezTo>
                  <a:pt x="68" y="46"/>
                  <a:pt x="57" y="49"/>
                  <a:pt x="51" y="57"/>
                </a:cubicBezTo>
                <a:cubicBezTo>
                  <a:pt x="40" y="71"/>
                  <a:pt x="42" y="93"/>
                  <a:pt x="34" y="109"/>
                </a:cubicBezTo>
                <a:cubicBezTo>
                  <a:pt x="0" y="175"/>
                  <a:pt x="31" y="94"/>
                  <a:pt x="8" y="160"/>
                </a:cubicBezTo>
                <a:cubicBezTo>
                  <a:pt x="12" y="184"/>
                  <a:pt x="16" y="246"/>
                  <a:pt x="43" y="263"/>
                </a:cubicBezTo>
                <a:cubicBezTo>
                  <a:pt x="143" y="326"/>
                  <a:pt x="356" y="328"/>
                  <a:pt x="455" y="332"/>
                </a:cubicBezTo>
                <a:cubicBezTo>
                  <a:pt x="839" y="327"/>
                  <a:pt x="1216" y="309"/>
                  <a:pt x="1599" y="298"/>
                </a:cubicBezTo>
                <a:cubicBezTo>
                  <a:pt x="1613" y="293"/>
                  <a:pt x="1641" y="286"/>
                  <a:pt x="1650" y="272"/>
                </a:cubicBezTo>
                <a:cubicBezTo>
                  <a:pt x="1660" y="256"/>
                  <a:pt x="1668" y="220"/>
                  <a:pt x="1668" y="220"/>
                </a:cubicBezTo>
                <a:cubicBezTo>
                  <a:pt x="1664" y="190"/>
                  <a:pt x="1662" y="132"/>
                  <a:pt x="1633" y="109"/>
                </a:cubicBezTo>
                <a:cubicBezTo>
                  <a:pt x="1614" y="94"/>
                  <a:pt x="1578" y="85"/>
                  <a:pt x="1556" y="74"/>
                </a:cubicBezTo>
                <a:cubicBezTo>
                  <a:pt x="1409" y="0"/>
                  <a:pt x="1282" y="27"/>
                  <a:pt x="1100" y="23"/>
                </a:cubicBezTo>
                <a:cubicBezTo>
                  <a:pt x="762" y="26"/>
                  <a:pt x="424" y="23"/>
                  <a:pt x="86" y="31"/>
                </a:cubicBezTo>
                <a:cubicBezTo>
                  <a:pt x="68" y="31"/>
                  <a:pt x="26" y="74"/>
                  <a:pt x="43" y="66"/>
                </a:cubicBezTo>
                <a:cubicBezTo>
                  <a:pt x="56" y="60"/>
                  <a:pt x="66" y="49"/>
                  <a:pt x="77" y="40"/>
                </a:cubicBezTo>
                <a:close/>
              </a:path>
            </a:pathLst>
          </a:custGeom>
          <a:noFill/>
          <a:ln w="34925">
            <a:solidFill>
              <a:srgbClr val="C0192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321E15BE-A788-419D-9B53-75A3B9DA91F9}"/>
              </a:ext>
            </a:extLst>
          </p:cNvPr>
          <p:cNvGrpSpPr>
            <a:grpSpLocks/>
          </p:cNvGrpSpPr>
          <p:nvPr/>
        </p:nvGrpSpPr>
        <p:grpSpPr bwMode="auto">
          <a:xfrm>
            <a:off x="5230862" y="3163281"/>
            <a:ext cx="1873250" cy="1800101"/>
            <a:chOff x="3288" y="2251"/>
            <a:chExt cx="1180" cy="1179"/>
          </a:xfrm>
        </p:grpSpPr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87C17EFE-157F-43D5-BF5B-88A45DCFE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3430"/>
              <a:ext cx="409" cy="0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D03BE677-0EA4-44D9-A145-50F1334E8E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8" y="2251"/>
              <a:ext cx="0" cy="1179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24E38886-647C-4C4C-8117-025B62FDEB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8" y="2251"/>
              <a:ext cx="1180" cy="0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17F7E58-CF6D-4C2E-9585-48279601C7A1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BC3248FA-C2B5-41C8-83E4-17EE0A75D69B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22" name="菱形 21">
                <a:extLst>
                  <a:ext uri="{FF2B5EF4-FFF2-40B4-BE49-F238E27FC236}">
                    <a16:creationId xmlns:a16="http://schemas.microsoft.com/office/drawing/2014/main" id="{85405260-9B32-4812-A7EA-B1DB53B7E616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3" name="菱形 22">
                <a:extLst>
                  <a:ext uri="{FF2B5EF4-FFF2-40B4-BE49-F238E27FC236}">
                    <a16:creationId xmlns:a16="http://schemas.microsoft.com/office/drawing/2014/main" id="{3EDD6B8E-2D6E-46DE-9FA8-C5EB2286B624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21" name="Text Box 5">
              <a:extLst>
                <a:ext uri="{FF2B5EF4-FFF2-40B4-BE49-F238E27FC236}">
                  <a16:creationId xmlns:a16="http://schemas.microsoft.com/office/drawing/2014/main" id="{E7C85157-E99C-4344-B056-458D117F6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补码的加、减运算</a:t>
              </a:r>
            </a:p>
          </p:txBody>
        </p:sp>
      </p:grpSp>
      <p:sp>
        <p:nvSpPr>
          <p:cNvPr id="24" name="Rectangle 4">
            <a:extLst>
              <a:ext uri="{FF2B5EF4-FFF2-40B4-BE49-F238E27FC236}">
                <a16:creationId xmlns:a16="http://schemas.microsoft.com/office/drawing/2014/main" id="{68E892C2-E0C2-418E-A4B5-F29938632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</p:spTree>
    <p:extLst>
      <p:ext uri="{BB962C8B-B14F-4D97-AF65-F5344CB8AC3E}">
        <p14:creationId xmlns:p14="http://schemas.microsoft.com/office/powerpoint/2010/main" val="37295973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4759" name="Rectangle 7"/>
          <p:cNvSpPr>
            <a:spLocks noChangeArrowheads="1"/>
          </p:cNvSpPr>
          <p:nvPr/>
        </p:nvSpPr>
        <p:spPr bwMode="auto">
          <a:xfrm>
            <a:off x="555173" y="1781884"/>
            <a:ext cx="11013435" cy="186314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b="1" dirty="0">
                <a:latin typeface="+mn-lt"/>
                <a:ea typeface="楷体" pitchFamily="49" charset="-122"/>
              </a:rPr>
              <a:t>        </a:t>
            </a:r>
            <a:r>
              <a:rPr lang="zh-CN" altLang="en-US" b="1" dirty="0">
                <a:latin typeface="+mn-lt"/>
                <a:ea typeface="楷体" pitchFamily="49" charset="-122"/>
              </a:rPr>
              <a:t>在某些情况下，要处理的数全是正数，此时再保留符号位就没有意义了。我们可以把最高有效位也作为数值处理，这样的数称为</a:t>
            </a: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无符号数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latin typeface="+mn-lt"/>
                <a:ea typeface="楷体" pitchFamily="49" charset="-122"/>
              </a:rPr>
              <a:t>    </a:t>
            </a:r>
            <a:r>
              <a:rPr lang="en-US" altLang="zh-CN" b="1" dirty="0">
                <a:latin typeface="+mn-lt"/>
                <a:ea typeface="楷体" pitchFamily="49" charset="-122"/>
              </a:rPr>
              <a:t>16</a:t>
            </a:r>
            <a:r>
              <a:rPr lang="zh-CN" altLang="en-US" b="1" dirty="0">
                <a:latin typeface="+mn-lt"/>
                <a:ea typeface="楷体" pitchFamily="49" charset="-122"/>
              </a:rPr>
              <a:t>位无符号数的表示范围是：</a:t>
            </a:r>
            <a:r>
              <a:rPr lang="en-US" altLang="zh-CN" b="1" dirty="0">
                <a:solidFill>
                  <a:srgbClr val="002060"/>
                </a:solidFill>
                <a:latin typeface="+mn-ea"/>
                <a:ea typeface="+mn-ea"/>
              </a:rPr>
              <a:t>0 ≤ N ≤ 65535</a:t>
            </a:r>
            <a:r>
              <a:rPr lang="zh-CN" altLang="en-US" b="1" dirty="0">
                <a:latin typeface="+mn-lt"/>
                <a:ea typeface="楷体" pitchFamily="49" charset="-122"/>
              </a:rPr>
              <a:t>，</a:t>
            </a:r>
          </a:p>
          <a:p>
            <a:pPr>
              <a:spcBef>
                <a:spcPct val="20000"/>
              </a:spcBef>
            </a:pPr>
            <a:r>
              <a:rPr lang="zh-CN" altLang="en-US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>
                <a:latin typeface="+mn-lt"/>
                <a:ea typeface="楷体" pitchFamily="49" charset="-122"/>
              </a:rPr>
              <a:t>8</a:t>
            </a:r>
            <a:r>
              <a:rPr lang="zh-CN" altLang="en-US" b="1" dirty="0">
                <a:latin typeface="+mn-lt"/>
                <a:ea typeface="楷体" pitchFamily="49" charset="-122"/>
              </a:rPr>
              <a:t>位无符号数的表示范围是</a:t>
            </a:r>
            <a:r>
              <a:rPr lang="zh-CN" altLang="en-US" b="1" dirty="0">
                <a:latin typeface="+mn-ea"/>
                <a:ea typeface="+mn-ea"/>
              </a:rPr>
              <a:t>： </a:t>
            </a:r>
            <a:r>
              <a:rPr lang="en-US" altLang="zh-CN" b="1" dirty="0">
                <a:solidFill>
                  <a:srgbClr val="002060"/>
                </a:solidFill>
                <a:latin typeface="+mn-ea"/>
                <a:ea typeface="+mn-ea"/>
              </a:rPr>
              <a:t>0 ≤ N ≤ 255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</p:txBody>
      </p:sp>
      <p:sp>
        <p:nvSpPr>
          <p:cNvPr id="714766" name="Rectangle 14"/>
          <p:cNvSpPr>
            <a:spLocks noChangeArrowheads="1"/>
          </p:cNvSpPr>
          <p:nvPr/>
        </p:nvSpPr>
        <p:spPr bwMode="auto">
          <a:xfrm>
            <a:off x="587649" y="4460919"/>
            <a:ext cx="1111503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计算机中处理的信息并不全是数，有时需要处理字符或字符串，例如从键盘输入的信息或打印输出的信息都是字符方式输入输出的，因此，计算机必须能表示字符（例如，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语言中可通过定义字符型变量来存储字符）。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401C48D-96F6-490A-9EA7-5DB9054DD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1102BA2-B6FD-4804-B8FC-C3A80D74B1FF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FCC19BC-35DE-42D6-B42F-7ED28A4FDC95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9" name="菱形 18">
                <a:extLst>
                  <a:ext uri="{FF2B5EF4-FFF2-40B4-BE49-F238E27FC236}">
                    <a16:creationId xmlns:a16="http://schemas.microsoft.com/office/drawing/2014/main" id="{1C26C2C8-1FA3-4AE2-AD5A-06023E4620AF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0" name="菱形 19">
                <a:extLst>
                  <a:ext uri="{FF2B5EF4-FFF2-40B4-BE49-F238E27FC236}">
                    <a16:creationId xmlns:a16="http://schemas.microsoft.com/office/drawing/2014/main" id="{0DB9E734-0D9F-49F2-B047-FAC6C89042A2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47F2D4E1-DFCC-45F5-9AA6-0FD34ABF4B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无符号整数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AEBAB05-4F14-47EC-BD6D-044B1ACBF3E0}"/>
              </a:ext>
            </a:extLst>
          </p:cNvPr>
          <p:cNvGrpSpPr/>
          <p:nvPr/>
        </p:nvGrpSpPr>
        <p:grpSpPr>
          <a:xfrm>
            <a:off x="550863" y="3697611"/>
            <a:ext cx="4969073" cy="630931"/>
            <a:chOff x="695400" y="1059424"/>
            <a:chExt cx="4969073" cy="630931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6E45803-C540-43BA-AE33-D7AD899EDA60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24" name="菱形 23">
                <a:extLst>
                  <a:ext uri="{FF2B5EF4-FFF2-40B4-BE49-F238E27FC236}">
                    <a16:creationId xmlns:a16="http://schemas.microsoft.com/office/drawing/2014/main" id="{8335F29C-CE8D-4D8B-AC40-488E38395742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5" name="菱形 24">
                <a:extLst>
                  <a:ext uri="{FF2B5EF4-FFF2-40B4-BE49-F238E27FC236}">
                    <a16:creationId xmlns:a16="http://schemas.microsoft.com/office/drawing/2014/main" id="{6A6FB84B-B10D-4230-80F0-5A9F62AFB39D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23" name="Text Box 5">
              <a:extLst>
                <a:ext uri="{FF2B5EF4-FFF2-40B4-BE49-F238E27FC236}">
                  <a16:creationId xmlns:a16="http://schemas.microsoft.com/office/drawing/2014/main" id="{A64DF19C-7421-41E9-BF06-A30DE22A6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字符表示法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4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147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9" grpId="0" animBg="1"/>
      <p:bldP spid="71476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85" name="Rectangle 9"/>
          <p:cNvSpPr>
            <a:spLocks noChangeArrowheads="1"/>
          </p:cNvSpPr>
          <p:nvPr/>
        </p:nvSpPr>
        <p:spPr bwMode="auto">
          <a:xfrm>
            <a:off x="983432" y="1628800"/>
            <a:ext cx="10801200" cy="453694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800100" lvl="1" indent="-342900">
              <a:lnSpc>
                <a:spcPts val="3500"/>
              </a:lnSpc>
              <a:buClr>
                <a:srgbClr val="C0192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字母：</a:t>
            </a:r>
            <a:r>
              <a:rPr lang="en-US" altLang="zh-CN" b="1" dirty="0"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…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Z</a:t>
            </a:r>
            <a:r>
              <a:rPr lang="zh-CN" altLang="en-US" b="1" dirty="0">
                <a:latin typeface="+mn-lt"/>
                <a:ea typeface="楷体" pitchFamily="49" charset="-122"/>
              </a:rPr>
              <a:t>，</a:t>
            </a:r>
            <a:r>
              <a:rPr lang="en-US" altLang="zh-CN" b="1" dirty="0"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…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z</a:t>
            </a:r>
            <a:r>
              <a:rPr lang="zh-CN" altLang="en-US" b="1" dirty="0">
                <a:latin typeface="+mn-lt"/>
                <a:ea typeface="楷体" pitchFamily="49" charset="-122"/>
              </a:rPr>
              <a:t>；</a:t>
            </a:r>
          </a:p>
          <a:p>
            <a:pPr marL="800100" lvl="1" indent="-342900">
              <a:lnSpc>
                <a:spcPts val="3500"/>
              </a:lnSpc>
              <a:buClr>
                <a:srgbClr val="C0192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数字：</a:t>
            </a:r>
            <a:r>
              <a:rPr lang="en-US" altLang="zh-CN" b="1" dirty="0"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…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9</a:t>
            </a:r>
            <a:r>
              <a:rPr lang="zh-CN" altLang="en-US" b="1" dirty="0">
                <a:latin typeface="+mn-lt"/>
                <a:ea typeface="楷体" pitchFamily="49" charset="-122"/>
              </a:rPr>
              <a:t>；、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800100" lvl="1" indent="-342900">
              <a:lnSpc>
                <a:spcPts val="3500"/>
              </a:lnSpc>
              <a:buClr>
                <a:srgbClr val="C0192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专用字符：</a:t>
            </a:r>
            <a:r>
              <a:rPr lang="zh-CN" altLang="en-US" b="1" dirty="0">
                <a:latin typeface="+mn-lt"/>
                <a:ea typeface="楷体" pitchFamily="49" charset="-122"/>
              </a:rPr>
              <a:t>＋、－、</a:t>
            </a:r>
            <a:r>
              <a:rPr lang="en-US" altLang="zh-CN" b="1" dirty="0">
                <a:latin typeface="+mn-lt"/>
                <a:ea typeface="楷体" pitchFamily="49" charset="-122"/>
              </a:rPr>
              <a:t>﹡</a:t>
            </a:r>
            <a:r>
              <a:rPr lang="zh-CN" altLang="en-US" b="1" dirty="0">
                <a:latin typeface="+mn-lt"/>
                <a:ea typeface="楷体" pitchFamily="49" charset="-122"/>
              </a:rPr>
              <a:t>、∕、↑、</a:t>
            </a:r>
            <a:r>
              <a:rPr lang="en-US" altLang="zh-CN" b="1" dirty="0">
                <a:latin typeface="+mn-lt"/>
                <a:ea typeface="楷体" pitchFamily="49" charset="-122"/>
              </a:rPr>
              <a:t>SP</a:t>
            </a:r>
            <a:r>
              <a:rPr lang="zh-CN" altLang="en-US" b="1" dirty="0"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latin typeface="+mn-lt"/>
                <a:ea typeface="楷体" pitchFamily="49" charset="-122"/>
              </a:rPr>
              <a:t>space</a:t>
            </a:r>
            <a:r>
              <a:rPr lang="zh-CN" altLang="en-US" b="1" dirty="0">
                <a:latin typeface="+mn-lt"/>
                <a:ea typeface="楷体" pitchFamily="49" charset="-122"/>
              </a:rPr>
              <a:t>空格）、</a:t>
            </a:r>
            <a:r>
              <a:rPr lang="en-US" altLang="zh-CN" b="1" dirty="0">
                <a:latin typeface="+mn-lt"/>
                <a:ea typeface="楷体" pitchFamily="49" charset="-122"/>
              </a:rPr>
              <a:t>…</a:t>
            </a:r>
          </a:p>
          <a:p>
            <a:pPr marL="800100" lvl="1" indent="-342900">
              <a:lnSpc>
                <a:spcPts val="3500"/>
              </a:lnSpc>
              <a:buClr>
                <a:srgbClr val="C0192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非打印字符：</a:t>
            </a:r>
            <a:r>
              <a:rPr lang="en-US" altLang="zh-CN" b="1" dirty="0">
                <a:latin typeface="+mn-lt"/>
                <a:ea typeface="楷体" pitchFamily="49" charset="-122"/>
              </a:rPr>
              <a:t>BEL</a:t>
            </a:r>
            <a:r>
              <a:rPr lang="zh-CN" altLang="en-US" b="1" dirty="0">
                <a:latin typeface="+mn-lt"/>
                <a:ea typeface="楷体" pitchFamily="49" charset="-122"/>
              </a:rPr>
              <a:t>（响铃）、</a:t>
            </a:r>
            <a:r>
              <a:rPr lang="en-US" altLang="zh-CN" b="1" dirty="0">
                <a:latin typeface="+mn-lt"/>
                <a:ea typeface="楷体" pitchFamily="49" charset="-122"/>
              </a:rPr>
              <a:t>LF</a:t>
            </a:r>
            <a:r>
              <a:rPr lang="zh-CN" altLang="en-US" b="1" dirty="0">
                <a:latin typeface="+mn-lt"/>
                <a:ea typeface="楷体" pitchFamily="49" charset="-122"/>
              </a:rPr>
              <a:t>（换行）、    </a:t>
            </a:r>
            <a:r>
              <a:rPr lang="en-US" altLang="zh-CN" b="1" dirty="0">
                <a:latin typeface="+mn-lt"/>
                <a:ea typeface="楷体" pitchFamily="49" charset="-122"/>
              </a:rPr>
              <a:t>CR</a:t>
            </a:r>
            <a:r>
              <a:rPr lang="zh-CN" altLang="en-US" b="1" dirty="0">
                <a:latin typeface="+mn-lt"/>
                <a:ea typeface="楷体" pitchFamily="49" charset="-122"/>
              </a:rPr>
              <a:t>（回车）、</a:t>
            </a:r>
            <a:r>
              <a:rPr lang="en-US" altLang="zh-CN" b="1" dirty="0">
                <a:latin typeface="+mn-lt"/>
                <a:ea typeface="楷体" pitchFamily="49" charset="-122"/>
              </a:rPr>
              <a:t>…</a:t>
            </a:r>
          </a:p>
          <a:p>
            <a:pPr marL="914400" lvl="1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b="1" dirty="0">
                <a:latin typeface="+mn-lt"/>
                <a:ea typeface="楷体" pitchFamily="49" charset="-122"/>
              </a:rPr>
              <a:t>这些字符在机器里必须用二进制数来表示。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914400" lvl="1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b="1" dirty="0">
                <a:latin typeface="+mn-lt"/>
                <a:ea typeface="楷体" pitchFamily="49" charset="-122"/>
              </a:rPr>
              <a:t>采用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美国信息交换标准代码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ASCII</a:t>
            </a:r>
            <a:r>
              <a:rPr lang="zh-CN" altLang="en-US" b="1" dirty="0">
                <a:latin typeface="+mn-lt"/>
                <a:ea typeface="楷体" pitchFamily="49" charset="-122"/>
              </a:rPr>
              <a:t>（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A</a:t>
            </a:r>
            <a:r>
              <a:rPr lang="en-US" altLang="zh-CN" b="1" dirty="0">
                <a:latin typeface="+mn-lt"/>
                <a:ea typeface="楷体" pitchFamily="49" charset="-122"/>
              </a:rPr>
              <a:t>merican 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S</a:t>
            </a:r>
            <a:r>
              <a:rPr lang="en-US" altLang="zh-CN" b="1" dirty="0">
                <a:latin typeface="+mn-lt"/>
                <a:ea typeface="楷体" pitchFamily="49" charset="-122"/>
              </a:rPr>
              <a:t>tandard 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C</a:t>
            </a:r>
            <a:r>
              <a:rPr lang="en-US" altLang="zh-CN" b="1" dirty="0">
                <a:latin typeface="+mn-lt"/>
                <a:ea typeface="楷体" pitchFamily="49" charset="-122"/>
              </a:rPr>
              <a:t>ode for 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I</a:t>
            </a:r>
            <a:r>
              <a:rPr lang="en-US" altLang="zh-CN" b="1" dirty="0">
                <a:latin typeface="+mn-lt"/>
                <a:ea typeface="楷体" pitchFamily="49" charset="-122"/>
              </a:rPr>
              <a:t>nformation </a:t>
            </a:r>
            <a:r>
              <a:rPr lang="en-US" altLang="zh-CN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I</a:t>
            </a:r>
            <a:r>
              <a:rPr lang="en-US" altLang="zh-CN" b="1" dirty="0">
                <a:latin typeface="+mn-lt"/>
                <a:ea typeface="楷体" pitchFamily="49" charset="-122"/>
              </a:rPr>
              <a:t>nterchange</a:t>
            </a:r>
            <a:r>
              <a:rPr lang="zh-CN" altLang="en-US" b="1" dirty="0">
                <a:latin typeface="+mn-lt"/>
                <a:ea typeface="楷体" pitchFamily="49" charset="-122"/>
              </a:rPr>
              <a:t>）来表示。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914400" lvl="1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b="1" dirty="0">
                <a:latin typeface="+mn-lt"/>
                <a:ea typeface="楷体" pitchFamily="49" charset="-122"/>
              </a:rPr>
              <a:t>用一个字节（</a:t>
            </a:r>
            <a:r>
              <a:rPr lang="en-US" altLang="zh-CN" b="1" dirty="0">
                <a:latin typeface="+mn-lt"/>
                <a:ea typeface="楷体" pitchFamily="49" charset="-122"/>
              </a:rPr>
              <a:t>8</a:t>
            </a:r>
            <a:r>
              <a:rPr lang="zh-CN" altLang="en-US" b="1" dirty="0">
                <a:latin typeface="+mn-lt"/>
                <a:ea typeface="楷体" pitchFamily="49" charset="-122"/>
              </a:rPr>
              <a:t>位二进制码）来表示一个字符，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914400" lvl="1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b="1" dirty="0">
                <a:latin typeface="+mn-lt"/>
                <a:ea typeface="楷体" pitchFamily="49" charset="-122"/>
              </a:rPr>
              <a:t>低</a:t>
            </a:r>
            <a:r>
              <a:rPr lang="en-US" altLang="zh-CN" b="1" dirty="0">
                <a:latin typeface="+mn-lt"/>
                <a:ea typeface="楷体" pitchFamily="49" charset="-122"/>
              </a:rPr>
              <a:t>7</a:t>
            </a:r>
            <a:r>
              <a:rPr lang="zh-CN" altLang="en-US" b="1" dirty="0">
                <a:latin typeface="+mn-lt"/>
                <a:ea typeface="楷体" pitchFamily="49" charset="-122"/>
              </a:rPr>
              <a:t>位为字符的</a:t>
            </a:r>
            <a:r>
              <a:rPr lang="en-US" altLang="zh-CN" b="1" dirty="0">
                <a:latin typeface="+mn-lt"/>
                <a:ea typeface="楷体" pitchFamily="49" charset="-122"/>
              </a:rPr>
              <a:t>ASCII</a:t>
            </a:r>
            <a:r>
              <a:rPr lang="zh-CN" altLang="en-US" b="1" dirty="0">
                <a:latin typeface="+mn-lt"/>
                <a:ea typeface="楷体" pitchFamily="49" charset="-122"/>
              </a:rPr>
              <a:t>值，最高位一般用作校验位。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914400" lvl="1" indent="-457200">
              <a:lnSpc>
                <a:spcPts val="3500"/>
              </a:lnSpc>
              <a:buFont typeface="+mj-ea"/>
              <a:buAutoNum type="circleNumDbPlain"/>
            </a:pPr>
            <a:r>
              <a:rPr lang="zh-CN" altLang="en-US" b="1" dirty="0">
                <a:latin typeface="+mn-lt"/>
                <a:ea typeface="楷体" pitchFamily="49" charset="-122"/>
              </a:rPr>
              <a:t>教材在附录</a:t>
            </a:r>
            <a:r>
              <a:rPr lang="en-US" altLang="zh-CN" b="1" dirty="0">
                <a:latin typeface="+mn-lt"/>
                <a:ea typeface="楷体" pitchFamily="49" charset="-122"/>
              </a:rPr>
              <a:t>E</a:t>
            </a:r>
            <a:r>
              <a:rPr lang="zh-CN" altLang="en-US" b="1" dirty="0">
                <a:latin typeface="+mn-lt"/>
                <a:ea typeface="楷体" pitchFamily="49" charset="-122"/>
              </a:rPr>
              <a:t>中给出了常用字符的</a:t>
            </a:r>
            <a:r>
              <a:rPr lang="en-US" altLang="zh-CN" b="1" dirty="0">
                <a:latin typeface="+mn-lt"/>
                <a:ea typeface="楷体" pitchFamily="49" charset="-122"/>
              </a:rPr>
              <a:t>ASCII</a:t>
            </a:r>
            <a:r>
              <a:rPr lang="zh-CN" altLang="en-US" b="1" dirty="0">
                <a:latin typeface="+mn-lt"/>
                <a:ea typeface="楷体" pitchFamily="49" charset="-122"/>
              </a:rPr>
              <a:t>值。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EE04F5C-8DE9-4851-8509-3D41C072E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1.3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机器数的表示形式及其表示范围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48E82B6-7E36-4D2D-A8A3-2141461C1ADC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4E831C6-1F00-4C8F-B28B-89F712910FAE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2" name="菱形 11">
                <a:extLst>
                  <a:ext uri="{FF2B5EF4-FFF2-40B4-BE49-F238E27FC236}">
                    <a16:creationId xmlns:a16="http://schemas.microsoft.com/office/drawing/2014/main" id="{DFD6C5C1-06D4-4856-A478-854D01B0D8EF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菱形 12">
                <a:extLst>
                  <a:ext uri="{FF2B5EF4-FFF2-40B4-BE49-F238E27FC236}">
                    <a16:creationId xmlns:a16="http://schemas.microsoft.com/office/drawing/2014/main" id="{72577B1A-1FBC-4844-996C-7A1F74056363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62D7ED24-44E8-4C07-9231-BABAF3352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字符表示法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157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6" name="Rectangle 6"/>
          <p:cNvSpPr>
            <a:spLocks noChangeArrowheads="1"/>
          </p:cNvSpPr>
          <p:nvPr/>
        </p:nvSpPr>
        <p:spPr bwMode="auto">
          <a:xfrm>
            <a:off x="550863" y="1415383"/>
            <a:ext cx="11245334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逻辑变量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FF0066"/>
                </a:solidFill>
                <a:ea typeface="隶书" pitchFamily="49" charset="-122"/>
              </a:rPr>
              <a:t>   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其值只能有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或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两种取值的变量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endParaRPr lang="zh-CN" altLang="en-US" b="1" dirty="0">
              <a:latin typeface="楷体" pitchFamily="49" charset="-122"/>
              <a:ea typeface="楷体" pitchFamily="49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“与”运算</a:t>
            </a:r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(AND)</a:t>
            </a: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b="1" dirty="0">
                <a:latin typeface="+mn-lt"/>
                <a:ea typeface="楷体" pitchFamily="49" charset="-122"/>
              </a:rPr>
              <a:t>“</a:t>
            </a:r>
            <a:r>
              <a:rPr lang="zh-CN" altLang="en-US" b="1" dirty="0">
                <a:latin typeface="+mn-lt"/>
                <a:ea typeface="楷体" pitchFamily="49" charset="-122"/>
              </a:rPr>
              <a:t>与”运算又称为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逻辑乘</a:t>
            </a:r>
            <a:r>
              <a:rPr lang="zh-CN" altLang="en-US" b="1" dirty="0">
                <a:latin typeface="+mn-lt"/>
                <a:ea typeface="楷体" pitchFamily="49" charset="-122"/>
              </a:rPr>
              <a:t>，可用符号“</a:t>
            </a:r>
            <a:r>
              <a:rPr lang="en-US" altLang="zh-CN" b="1" dirty="0">
                <a:latin typeface="+mn-lt"/>
                <a:ea typeface="楷体" pitchFamily="49" charset="-122"/>
              </a:rPr>
              <a:t>·”</a:t>
            </a:r>
            <a:r>
              <a:rPr lang="zh-CN" altLang="en-US" b="1" dirty="0">
                <a:latin typeface="+mn-lt"/>
                <a:ea typeface="楷体" pitchFamily="49" charset="-122"/>
              </a:rPr>
              <a:t>或“∧”来表示，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语言中用“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&amp;”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来表示</a:t>
            </a:r>
            <a:r>
              <a:rPr lang="zh-CN" altLang="en-US" b="1" dirty="0">
                <a:latin typeface="+mn-lt"/>
                <a:ea typeface="楷体" pitchFamily="49" charset="-122"/>
              </a:rPr>
              <a:t>。如有</a:t>
            </a:r>
            <a:r>
              <a:rPr lang="en-US" altLang="zh-CN" b="1" dirty="0"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latin typeface="+mn-lt"/>
                <a:ea typeface="楷体" pitchFamily="49" charset="-122"/>
              </a:rPr>
              <a:t>两个逻辑变量，可能有的取值情况只有</a:t>
            </a:r>
            <a:r>
              <a:rPr lang="en-US" altLang="zh-CN" b="1" dirty="0"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latin typeface="+mn-lt"/>
                <a:ea typeface="楷体" pitchFamily="49" charset="-122"/>
              </a:rPr>
              <a:t>种。</a:t>
            </a:r>
          </a:p>
          <a:p>
            <a:pPr algn="just">
              <a:spcBef>
                <a:spcPct val="20000"/>
              </a:spcBef>
            </a:pP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6807" name="Rectangle 7"/>
          <p:cNvSpPr>
            <a:spLocks noChangeArrowheads="1"/>
          </p:cNvSpPr>
          <p:nvPr/>
        </p:nvSpPr>
        <p:spPr bwMode="auto">
          <a:xfrm>
            <a:off x="16570" y="908720"/>
            <a:ext cx="87487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b="1" dirty="0">
                <a:latin typeface="+mn-lt"/>
                <a:ea typeface="楷体" pitchFamily="49" charset="-122"/>
              </a:rPr>
              <a:t>      </a:t>
            </a:r>
            <a:r>
              <a:rPr lang="zh-CN" altLang="en-US" b="1" dirty="0">
                <a:latin typeface="+mn-lt"/>
                <a:ea typeface="楷体" pitchFamily="49" charset="-122"/>
              </a:rPr>
              <a:t>位运算主要包括：与</a:t>
            </a:r>
            <a:r>
              <a:rPr lang="en-US" altLang="zh-CN" b="1" dirty="0">
                <a:latin typeface="+mn-lt"/>
                <a:ea typeface="楷体" pitchFamily="49" charset="-122"/>
              </a:rPr>
              <a:t>(AND)</a:t>
            </a:r>
            <a:r>
              <a:rPr lang="zh-CN" altLang="en-US" b="1" dirty="0">
                <a:latin typeface="+mn-lt"/>
                <a:ea typeface="楷体" pitchFamily="49" charset="-122"/>
              </a:rPr>
              <a:t>、或</a:t>
            </a:r>
            <a:r>
              <a:rPr lang="en-US" altLang="zh-CN" b="1" dirty="0">
                <a:latin typeface="+mn-lt"/>
                <a:ea typeface="楷体" pitchFamily="49" charset="-122"/>
              </a:rPr>
              <a:t>(OR)</a:t>
            </a:r>
            <a:r>
              <a:rPr lang="zh-CN" altLang="en-US" b="1" dirty="0">
                <a:latin typeface="+mn-lt"/>
                <a:ea typeface="楷体" pitchFamily="49" charset="-122"/>
              </a:rPr>
              <a:t>、非</a:t>
            </a:r>
            <a:r>
              <a:rPr lang="en-US" altLang="zh-CN" b="1" dirty="0">
                <a:latin typeface="+mn-lt"/>
                <a:ea typeface="楷体" pitchFamily="49" charset="-122"/>
              </a:rPr>
              <a:t>(NOT)</a:t>
            </a:r>
            <a:r>
              <a:rPr lang="zh-CN" altLang="en-US" b="1" dirty="0">
                <a:latin typeface="+mn-lt"/>
                <a:ea typeface="楷体" pitchFamily="49" charset="-122"/>
              </a:rPr>
              <a:t>、异或</a:t>
            </a:r>
            <a:r>
              <a:rPr lang="en-US" altLang="zh-CN" b="1" dirty="0">
                <a:latin typeface="+mn-lt"/>
                <a:ea typeface="楷体" pitchFamily="49" charset="-122"/>
              </a:rPr>
              <a:t>(XOR)</a:t>
            </a:r>
          </a:p>
        </p:txBody>
      </p:sp>
      <p:graphicFrame>
        <p:nvGraphicFramePr>
          <p:cNvPr id="716849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565598"/>
              </p:ext>
            </p:extLst>
          </p:nvPr>
        </p:nvGraphicFramePr>
        <p:xfrm>
          <a:off x="983432" y="4299617"/>
          <a:ext cx="4825107" cy="228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60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7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1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A&amp;B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1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1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1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1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6850" name="Rectangle 50"/>
          <p:cNvSpPr>
            <a:spLocks noChangeArrowheads="1"/>
          </p:cNvSpPr>
          <p:nvPr/>
        </p:nvSpPr>
        <p:spPr bwMode="auto">
          <a:xfrm>
            <a:off x="6744072" y="4820959"/>
            <a:ext cx="4032448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结论</a:t>
            </a:r>
            <a:r>
              <a:rPr lang="zh-CN" altLang="en-US" b="1" dirty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：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即只有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两个变量取值均为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，则它们“与”运算的结果才为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，其它均为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。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32A7A34-6366-4B09-A555-DE8732C07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1.4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二进制数的位运算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6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6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6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6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6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7" grpId="0"/>
      <p:bldP spid="71685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30" name="Rectangle 6"/>
          <p:cNvSpPr>
            <a:spLocks noChangeArrowheads="1"/>
          </p:cNvSpPr>
          <p:nvPr/>
        </p:nvSpPr>
        <p:spPr bwMode="auto">
          <a:xfrm>
            <a:off x="611306" y="1150119"/>
            <a:ext cx="11317342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或”运算</a:t>
            </a:r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(OR)</a:t>
            </a:r>
          </a:p>
          <a:p>
            <a:pPr>
              <a:spcBef>
                <a:spcPct val="20000"/>
              </a:spcBef>
              <a:buFont typeface="Wingdings" pitchFamily="2" charset="2"/>
              <a:buChar char="Ø"/>
            </a:pPr>
            <a:endParaRPr lang="en-US" altLang="zh-CN" sz="2800" b="1" dirty="0">
              <a:solidFill>
                <a:srgbClr val="C0192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b="1" dirty="0">
                <a:latin typeface="+mn-lt"/>
                <a:ea typeface="楷体" pitchFamily="49" charset="-122"/>
              </a:rPr>
              <a:t>“</a:t>
            </a:r>
            <a:r>
              <a:rPr lang="zh-CN" altLang="en-US" b="1" dirty="0">
                <a:latin typeface="+mn-lt"/>
                <a:ea typeface="楷体" pitchFamily="49" charset="-122"/>
              </a:rPr>
              <a:t>或”运算又称为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逻辑加</a:t>
            </a:r>
            <a:r>
              <a:rPr lang="zh-CN" altLang="en-US" b="1" dirty="0">
                <a:latin typeface="+mn-lt"/>
                <a:ea typeface="楷体" pitchFamily="49" charset="-122"/>
              </a:rPr>
              <a:t>，可用符号“</a:t>
            </a:r>
            <a:r>
              <a:rPr lang="en-US" altLang="zh-CN" b="1" dirty="0">
                <a:latin typeface="+mn-lt"/>
                <a:ea typeface="楷体" pitchFamily="49" charset="-122"/>
              </a:rPr>
              <a:t>+”</a:t>
            </a:r>
            <a:r>
              <a:rPr lang="zh-CN" altLang="en-US" b="1" dirty="0">
                <a:latin typeface="+mn-lt"/>
                <a:ea typeface="楷体" pitchFamily="49" charset="-122"/>
              </a:rPr>
              <a:t>或“∨”来表示，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语言中用“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|”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来表示</a:t>
            </a:r>
            <a:r>
              <a:rPr lang="zh-CN" altLang="en-US" b="1" dirty="0">
                <a:latin typeface="+mn-lt"/>
                <a:ea typeface="楷体" pitchFamily="49" charset="-122"/>
              </a:rPr>
              <a:t>。如有</a:t>
            </a:r>
            <a:r>
              <a:rPr lang="en-US" altLang="zh-CN" b="1" dirty="0"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latin typeface="+mn-lt"/>
                <a:ea typeface="楷体" pitchFamily="49" charset="-122"/>
              </a:rPr>
              <a:t>两个逻辑变量，可能有的取值情况只有</a:t>
            </a:r>
            <a:r>
              <a:rPr lang="en-US" altLang="zh-CN" b="1" dirty="0"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latin typeface="+mn-lt"/>
                <a:ea typeface="楷体" pitchFamily="49" charset="-122"/>
              </a:rPr>
              <a:t>种。</a:t>
            </a: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17832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74581"/>
              </p:ext>
            </p:extLst>
          </p:nvPr>
        </p:nvGraphicFramePr>
        <p:xfrm>
          <a:off x="1019845" y="3358480"/>
          <a:ext cx="5111750" cy="2590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03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A|B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7858" name="Rectangle 34"/>
          <p:cNvSpPr>
            <a:spLocks noChangeArrowheads="1"/>
          </p:cNvSpPr>
          <p:nvPr/>
        </p:nvSpPr>
        <p:spPr bwMode="auto">
          <a:xfrm>
            <a:off x="6672064" y="4041570"/>
            <a:ext cx="3816424" cy="1200329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结论：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即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变量中只要一个变量取值为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，则它们“或”运算的结果就是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。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AABD921-ACE8-4EFE-A7ED-89E60C1BF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1.4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二进制数的位运算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5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30" name="Rectangle 6"/>
          <p:cNvSpPr>
            <a:spLocks noChangeArrowheads="1"/>
          </p:cNvSpPr>
          <p:nvPr/>
        </p:nvSpPr>
        <p:spPr bwMode="auto">
          <a:xfrm>
            <a:off x="611306" y="1150119"/>
            <a:ext cx="11317342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“非”运算</a:t>
            </a:r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(NOT)</a:t>
            </a:r>
          </a:p>
          <a:p>
            <a:pPr>
              <a:spcBef>
                <a:spcPct val="20000"/>
              </a:spcBef>
            </a:pPr>
            <a:endParaRPr lang="en-US" altLang="zh-CN" sz="2800" b="1" dirty="0">
              <a:solidFill>
                <a:srgbClr val="C0192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b="1" dirty="0">
                <a:ea typeface="楷体" pitchFamily="49" charset="-122"/>
              </a:rPr>
              <a:t>“</a:t>
            </a:r>
            <a:r>
              <a:rPr lang="zh-CN" altLang="en-US" b="1" dirty="0">
                <a:ea typeface="楷体" pitchFamily="49" charset="-122"/>
              </a:rPr>
              <a:t>非”运算又称为</a:t>
            </a:r>
            <a:r>
              <a:rPr lang="zh-CN" altLang="en-US" b="1" dirty="0">
                <a:solidFill>
                  <a:srgbClr val="002060"/>
                </a:solidFill>
                <a:ea typeface="楷体" pitchFamily="49" charset="-122"/>
              </a:rPr>
              <a:t>逻辑反，</a:t>
            </a:r>
            <a:r>
              <a:rPr lang="en-US" altLang="zh-CN" b="1" dirty="0">
                <a:solidFill>
                  <a:srgbClr val="002060"/>
                </a:solidFill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002060"/>
                </a:solidFill>
                <a:ea typeface="楷体" pitchFamily="49" charset="-122"/>
              </a:rPr>
              <a:t>语言中用“</a:t>
            </a:r>
            <a:r>
              <a:rPr lang="en-US" altLang="zh-CN" sz="2800" b="1" dirty="0">
                <a:solidFill>
                  <a:srgbClr val="002060"/>
                </a:solidFill>
                <a:ea typeface="楷体" pitchFamily="49" charset="-122"/>
              </a:rPr>
              <a:t>~</a:t>
            </a:r>
            <a:r>
              <a:rPr lang="en-US" altLang="zh-CN" b="1" dirty="0">
                <a:solidFill>
                  <a:srgbClr val="002060"/>
                </a:solidFill>
                <a:ea typeface="楷体" pitchFamily="49" charset="-122"/>
              </a:rPr>
              <a:t>”</a:t>
            </a:r>
            <a:r>
              <a:rPr lang="zh-CN" altLang="en-US" b="1" dirty="0">
                <a:solidFill>
                  <a:srgbClr val="002060"/>
                </a:solidFill>
                <a:ea typeface="楷体" pitchFamily="49" charset="-122"/>
              </a:rPr>
              <a:t>来表示</a:t>
            </a:r>
            <a:r>
              <a:rPr lang="zh-CN" altLang="en-US" b="1" dirty="0">
                <a:ea typeface="楷体" pitchFamily="49" charset="-122"/>
              </a:rPr>
              <a:t>。</a:t>
            </a:r>
          </a:p>
        </p:txBody>
      </p:sp>
      <p:sp>
        <p:nvSpPr>
          <p:cNvPr id="717858" name="Rectangle 34"/>
          <p:cNvSpPr>
            <a:spLocks noChangeArrowheads="1"/>
          </p:cNvSpPr>
          <p:nvPr/>
        </p:nvSpPr>
        <p:spPr bwMode="auto">
          <a:xfrm>
            <a:off x="6600056" y="3483181"/>
            <a:ext cx="3816424" cy="119880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结论：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即将</a:t>
            </a:r>
            <a:r>
              <a:rPr lang="en-US" altLang="zh-CN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的值求反。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AABD921-ACE8-4EFE-A7ED-89E60C1BF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1.4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二进制数的位运算</a:t>
            </a:r>
          </a:p>
        </p:txBody>
      </p:sp>
      <p:graphicFrame>
        <p:nvGraphicFramePr>
          <p:cNvPr id="7" name="Group 35">
            <a:extLst>
              <a:ext uri="{FF2B5EF4-FFF2-40B4-BE49-F238E27FC236}">
                <a16:creationId xmlns:a16="http://schemas.microsoft.com/office/drawing/2014/main" id="{B8B4A0A7-6EA2-4EA2-B37F-AF7269369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658337"/>
              </p:ext>
            </p:extLst>
          </p:nvPr>
        </p:nvGraphicFramePr>
        <p:xfrm>
          <a:off x="1127448" y="3400440"/>
          <a:ext cx="3406775" cy="15544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03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~A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2508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5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8" name="Rectangle 6"/>
          <p:cNvSpPr>
            <a:spLocks noChangeArrowheads="1"/>
          </p:cNvSpPr>
          <p:nvPr/>
        </p:nvSpPr>
        <p:spPr bwMode="auto">
          <a:xfrm>
            <a:off x="375999" y="1078111"/>
            <a:ext cx="11150334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C01920"/>
                </a:solidFill>
                <a:latin typeface="Times New Roman"/>
                <a:ea typeface="隶书" pitchFamily="49" charset="-122"/>
              </a:rPr>
              <a:t>“</a:t>
            </a:r>
            <a:r>
              <a:rPr lang="zh-CN" altLang="en-US" sz="32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异或</a:t>
            </a:r>
            <a:r>
              <a:rPr lang="zh-CN" altLang="en-US" sz="3200" b="1" dirty="0">
                <a:solidFill>
                  <a:srgbClr val="C01920"/>
                </a:solidFill>
                <a:latin typeface="Times New Roman"/>
                <a:ea typeface="隶书" pitchFamily="49" charset="-122"/>
              </a:rPr>
              <a:t>”</a:t>
            </a:r>
            <a:r>
              <a:rPr lang="zh-CN" altLang="en-US" sz="32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运算</a:t>
            </a:r>
            <a:r>
              <a:rPr lang="en-US" altLang="zh-CN" sz="3200" b="1" dirty="0">
                <a:solidFill>
                  <a:srgbClr val="C01920"/>
                </a:solidFill>
                <a:latin typeface="隶书" pitchFamily="49" charset="-122"/>
                <a:ea typeface="隶书" pitchFamily="49" charset="-122"/>
              </a:rPr>
              <a:t>(XOR)</a:t>
            </a:r>
            <a:endParaRPr lang="en-US" altLang="zh-CN" b="1" dirty="0">
              <a:solidFill>
                <a:srgbClr val="C01920"/>
              </a:solidFill>
              <a:latin typeface="隶书" pitchFamily="49" charset="-122"/>
              <a:ea typeface="隶书" pitchFamily="49" charset="-122"/>
            </a:endParaRPr>
          </a:p>
          <a:p>
            <a:pPr>
              <a:spcBef>
                <a:spcPct val="20000"/>
              </a:spcBef>
            </a:pPr>
            <a:endParaRPr lang="en-US" altLang="zh-CN" sz="1800" b="1" dirty="0">
              <a:solidFill>
                <a:srgbClr val="C01920"/>
              </a:solidFill>
              <a:latin typeface="隶书" pitchFamily="49" charset="-122"/>
              <a:ea typeface="隶书" pitchFamily="49" charset="-122"/>
            </a:endParaRPr>
          </a:p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000" b="1" dirty="0">
                <a:latin typeface="+mn-lt"/>
                <a:ea typeface="楷体" pitchFamily="49" charset="-122"/>
              </a:rPr>
              <a:t>          </a:t>
            </a:r>
            <a:r>
              <a:rPr lang="en-US" altLang="zh-CN" b="1" dirty="0">
                <a:latin typeface="+mn-lt"/>
                <a:ea typeface="楷体" pitchFamily="49" charset="-122"/>
              </a:rPr>
              <a:t>“</a:t>
            </a:r>
            <a:r>
              <a:rPr lang="zh-CN" altLang="en-US" b="1" dirty="0">
                <a:latin typeface="+mn-lt"/>
                <a:ea typeface="楷体" pitchFamily="49" charset="-122"/>
              </a:rPr>
              <a:t>异或”运算可用符号“</a:t>
            </a:r>
            <a:r>
              <a:rPr lang="zh-CN" altLang="en-US" sz="2800" b="1" dirty="0">
                <a:latin typeface="+mn-lt"/>
                <a:ea typeface="楷体" pitchFamily="49" charset="-122"/>
              </a:rPr>
              <a:t>⊕</a:t>
            </a:r>
            <a:r>
              <a:rPr lang="zh-CN" altLang="en-US" sz="3200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” 来表示，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语言中用“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^”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来表示</a:t>
            </a:r>
            <a:r>
              <a:rPr lang="zh-CN" altLang="en-US" b="1" dirty="0">
                <a:latin typeface="+mn-lt"/>
                <a:ea typeface="楷体" pitchFamily="49" charset="-122"/>
              </a:rPr>
              <a:t>。如有</a:t>
            </a:r>
            <a:r>
              <a:rPr lang="en-US" altLang="zh-CN" b="1" dirty="0">
                <a:latin typeface="+mn-lt"/>
                <a:ea typeface="楷体" pitchFamily="49" charset="-122"/>
              </a:rPr>
              <a:t>A</a:t>
            </a:r>
            <a:r>
              <a:rPr lang="zh-CN" altLang="en-US" b="1" dirty="0">
                <a:latin typeface="+mn-lt"/>
                <a:ea typeface="楷体" pitchFamily="49" charset="-122"/>
              </a:rPr>
              <a:t>、</a:t>
            </a:r>
            <a:r>
              <a:rPr lang="en-US" altLang="zh-CN" b="1" dirty="0">
                <a:latin typeface="+mn-lt"/>
                <a:ea typeface="楷体" pitchFamily="49" charset="-122"/>
              </a:rPr>
              <a:t>B</a:t>
            </a:r>
            <a:r>
              <a:rPr lang="zh-CN" altLang="en-US" b="1" dirty="0">
                <a:latin typeface="+mn-lt"/>
                <a:ea typeface="楷体" pitchFamily="49" charset="-122"/>
              </a:rPr>
              <a:t>两个逻辑变量，可能有的取值情况只有</a:t>
            </a:r>
            <a:r>
              <a:rPr lang="en-US" altLang="zh-CN" b="1" dirty="0">
                <a:latin typeface="+mn-lt"/>
                <a:ea typeface="楷体" pitchFamily="49" charset="-122"/>
              </a:rPr>
              <a:t>4</a:t>
            </a:r>
            <a:r>
              <a:rPr lang="zh-CN" altLang="en-US" b="1" dirty="0">
                <a:latin typeface="+mn-lt"/>
                <a:ea typeface="楷体" pitchFamily="49" charset="-122"/>
              </a:rPr>
              <a:t>种。</a:t>
            </a:r>
          </a:p>
          <a:p>
            <a:pPr algn="just">
              <a:spcBef>
                <a:spcPct val="20000"/>
              </a:spcBef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19879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941014"/>
              </p:ext>
            </p:extLst>
          </p:nvPr>
        </p:nvGraphicFramePr>
        <p:xfrm>
          <a:off x="839416" y="3286472"/>
          <a:ext cx="5111750" cy="2590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03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A^B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63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9905" name="Rectangle 33"/>
          <p:cNvSpPr>
            <a:spLocks noChangeArrowheads="1"/>
          </p:cNvSpPr>
          <p:nvPr/>
        </p:nvSpPr>
        <p:spPr bwMode="auto">
          <a:xfrm>
            <a:off x="6816080" y="3659540"/>
            <a:ext cx="3767452" cy="156966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28575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结论：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即当两个变量的取值相异时，则它们“异或”运算的结果就是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，相同则结果为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00DD06C-1EB3-463B-A6DA-265D08FFA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1.4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二进制数的位运算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9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9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90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902" name="Rectangle 6"/>
          <p:cNvSpPr>
            <a:spLocks noChangeArrowheads="1"/>
          </p:cNvSpPr>
          <p:nvPr/>
        </p:nvSpPr>
        <p:spPr bwMode="auto">
          <a:xfrm>
            <a:off x="479376" y="1700808"/>
            <a:ext cx="11173327" cy="112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       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【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例</a:t>
            </a:r>
            <a:r>
              <a:rPr lang="en-US" altLang="zh-CN" sz="2800" b="1" dirty="0">
                <a:solidFill>
                  <a:srgbClr val="C01920"/>
                </a:solidFill>
                <a:ea typeface="楷体" pitchFamily="49" charset="-122"/>
              </a:rPr>
              <a:t>】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:  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如果两个变量的其值为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X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＝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0X00FF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Y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＝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0X5555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，求 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X&amp;Y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X|Y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 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~X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、</a:t>
            </a:r>
            <a:r>
              <a:rPr lang="en-US" altLang="zh-CN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X^Y</a:t>
            </a:r>
            <a:r>
              <a:rPr lang="zh-CN" altLang="en-US" sz="2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的值 </a:t>
            </a:r>
          </a:p>
        </p:txBody>
      </p:sp>
      <p:sp>
        <p:nvSpPr>
          <p:cNvPr id="721223" name="Rectangle 327"/>
          <p:cNvSpPr>
            <a:spLocks noChangeArrowheads="1"/>
          </p:cNvSpPr>
          <p:nvPr/>
        </p:nvSpPr>
        <p:spPr bwMode="auto">
          <a:xfrm>
            <a:off x="2693325" y="3989946"/>
            <a:ext cx="66020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 &amp; Y =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0 0 0 0 0 0 0 0 0 1 0 1 0 1 0 1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</a:t>
            </a:r>
            <a:r>
              <a:rPr lang="en-US" altLang="zh-CN" sz="2800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  <p:grpSp>
        <p:nvGrpSpPr>
          <p:cNvPr id="721228" name="Group 332"/>
          <p:cNvGrpSpPr>
            <a:grpSpLocks/>
          </p:cNvGrpSpPr>
          <p:nvPr/>
        </p:nvGrpSpPr>
        <p:grpSpPr bwMode="auto">
          <a:xfrm>
            <a:off x="2872920" y="2768764"/>
            <a:ext cx="6769103" cy="1127126"/>
            <a:chOff x="901" y="1215"/>
            <a:chExt cx="4264" cy="710"/>
          </a:xfrm>
        </p:grpSpPr>
        <p:sp>
          <p:nvSpPr>
            <p:cNvPr id="721221" name="Rectangle 325"/>
            <p:cNvSpPr>
              <a:spLocks noChangeArrowheads="1"/>
            </p:cNvSpPr>
            <p:nvPr/>
          </p:nvSpPr>
          <p:spPr bwMode="auto">
            <a:xfrm>
              <a:off x="1190" y="1215"/>
              <a:ext cx="376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X  =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（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0 0 0 0 0 0 0 0 1 1 1 1 1 1 1 1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）</a:t>
              </a:r>
              <a:r>
                <a:rPr lang="en-US" altLang="zh-CN" sz="2800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2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</a:t>
              </a:r>
            </a:p>
          </p:txBody>
        </p:sp>
        <p:sp>
          <p:nvSpPr>
            <p:cNvPr id="721222" name="Rectangle 326"/>
            <p:cNvSpPr>
              <a:spLocks noChangeArrowheads="1"/>
            </p:cNvSpPr>
            <p:nvPr/>
          </p:nvSpPr>
          <p:spPr bwMode="auto">
            <a:xfrm>
              <a:off x="1191" y="1560"/>
              <a:ext cx="375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Y  =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（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0 1 0 1 0 1 0 1 0 1 0 1 0 1 0 1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）</a:t>
              </a:r>
              <a:r>
                <a:rPr lang="en-US" altLang="zh-CN" sz="2800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2</a:t>
              </a:r>
              <a:r>
                <a:rPr lang="en-US" altLang="zh-CN" sz="2800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</a:t>
              </a:r>
            </a:p>
          </p:txBody>
        </p:sp>
        <p:sp>
          <p:nvSpPr>
            <p:cNvPr id="721224" name="Line 328"/>
            <p:cNvSpPr>
              <a:spLocks noChangeShapeType="1"/>
            </p:cNvSpPr>
            <p:nvPr/>
          </p:nvSpPr>
          <p:spPr bwMode="auto">
            <a:xfrm>
              <a:off x="901" y="1925"/>
              <a:ext cx="4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800"/>
            </a:p>
          </p:txBody>
        </p:sp>
      </p:grpSp>
      <p:sp>
        <p:nvSpPr>
          <p:cNvPr id="721229" name="Rectangle 333"/>
          <p:cNvSpPr>
            <a:spLocks noChangeArrowheads="1"/>
          </p:cNvSpPr>
          <p:nvPr/>
        </p:nvSpPr>
        <p:spPr bwMode="auto">
          <a:xfrm>
            <a:off x="2651704" y="4545468"/>
            <a:ext cx="66196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X  |  Y =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0 1 0 1 0 1 0 1 1 1 1 1 1 1 1 1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 </a:t>
            </a:r>
          </a:p>
        </p:txBody>
      </p:sp>
      <p:sp>
        <p:nvSpPr>
          <p:cNvPr id="721230" name="Rectangle 334"/>
          <p:cNvSpPr>
            <a:spLocks noChangeArrowheads="1"/>
          </p:cNvSpPr>
          <p:nvPr/>
        </p:nvSpPr>
        <p:spPr bwMode="auto">
          <a:xfrm>
            <a:off x="3108904" y="5103922"/>
            <a:ext cx="61350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~X  =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1 1 1 1 1 1 1 1 0 0 0 0 0 0 0 0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</a:t>
            </a:r>
            <a:r>
              <a:rPr lang="en-US" altLang="zh-CN" sz="2800" b="1" baseline="-250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 </a:t>
            </a:r>
          </a:p>
        </p:txBody>
      </p:sp>
      <p:sp>
        <p:nvSpPr>
          <p:cNvPr id="721231" name="Rectangle 335"/>
          <p:cNvSpPr>
            <a:spLocks noChangeArrowheads="1"/>
          </p:cNvSpPr>
          <p:nvPr/>
        </p:nvSpPr>
        <p:spPr bwMode="auto">
          <a:xfrm>
            <a:off x="2764818" y="5642084"/>
            <a:ext cx="65106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BD636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X ^ Y =</a:t>
            </a:r>
            <a:r>
              <a:rPr lang="zh-CN" altLang="en-US" sz="2800" b="1" dirty="0">
                <a:solidFill>
                  <a:srgbClr val="BD636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BD636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0 1 0 1 0 1 0 1 1 0 1 0 1 0 1 0</a:t>
            </a:r>
            <a:r>
              <a:rPr lang="zh-CN" altLang="en-US" sz="2800" b="1" dirty="0">
                <a:solidFill>
                  <a:srgbClr val="BD636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</a:t>
            </a:r>
            <a:r>
              <a:rPr lang="en-US" altLang="zh-CN" sz="2800" b="1" baseline="-25000" dirty="0">
                <a:solidFill>
                  <a:srgbClr val="BD636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lang="en-US" altLang="zh-CN" sz="2800" b="1" dirty="0">
                <a:solidFill>
                  <a:srgbClr val="BD636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D1B28E2-FF1A-4241-9AD0-9A82A5C6D1D0}"/>
              </a:ext>
            </a:extLst>
          </p:cNvPr>
          <p:cNvGrpSpPr/>
          <p:nvPr/>
        </p:nvGrpSpPr>
        <p:grpSpPr>
          <a:xfrm>
            <a:off x="550863" y="949425"/>
            <a:ext cx="4969073" cy="630931"/>
            <a:chOff x="695400" y="1059424"/>
            <a:chExt cx="4969073" cy="630931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2ADA7E5-CAFA-46BD-9939-FA4B0A76F3F9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9" name="菱形 18">
                <a:extLst>
                  <a:ext uri="{FF2B5EF4-FFF2-40B4-BE49-F238E27FC236}">
                    <a16:creationId xmlns:a16="http://schemas.microsoft.com/office/drawing/2014/main" id="{5CFA266A-E7EA-45F3-AF76-E9CC7716C240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0" name="菱形 19">
                <a:extLst>
                  <a:ext uri="{FF2B5EF4-FFF2-40B4-BE49-F238E27FC236}">
                    <a16:creationId xmlns:a16="http://schemas.microsoft.com/office/drawing/2014/main" id="{24E27704-CA18-44EF-A473-671EEDB89C75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843B7483-317B-4AF7-890F-840A1CDA9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4161748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按位运算举例</a:t>
              </a:r>
            </a:p>
          </p:txBody>
        </p:sp>
      </p:grpSp>
      <p:sp>
        <p:nvSpPr>
          <p:cNvPr id="21" name="Rectangle 4">
            <a:extLst>
              <a:ext uri="{FF2B5EF4-FFF2-40B4-BE49-F238E27FC236}">
                <a16:creationId xmlns:a16="http://schemas.microsoft.com/office/drawing/2014/main" id="{9D89A2E4-43B9-4007-BB88-A8D9455F2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1.4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二进制数的位运算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20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21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1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21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21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21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21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1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1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02" grpId="0"/>
      <p:bldP spid="721223" grpId="0"/>
      <p:bldP spid="721229" grpId="0"/>
      <p:bldP spid="721230" grpId="0"/>
      <p:bldP spid="72123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38" name="Rectangle 18"/>
          <p:cNvSpPr>
            <a:spLocks noChangeArrowheads="1"/>
          </p:cNvSpPr>
          <p:nvPr/>
        </p:nvSpPr>
        <p:spPr bwMode="auto">
          <a:xfrm>
            <a:off x="551384" y="1174707"/>
            <a:ext cx="11043152" cy="4990597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342900" indent="-342900">
              <a:lnSpc>
                <a:spcPts val="3500"/>
              </a:lnSpc>
              <a:buClr>
                <a:srgbClr val="C01920"/>
              </a:buCl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计算机是由硬件系统和软件系统组成的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。硬件系统又是由控制器、运算器、存储器及输入输出设备五大部件构成的，其中控制器和运算器集成在一起成为中央处理器（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），控制器发出控制命令指挥其它逻辑部件进行工作，运算器可执行算术和逻辑运算操作，存储器分为内存和外存，所有的数据和程序必须在内存中运行和执行，内存中存放数据是以存储单元为单位进行存放的，每个存储单元都有一个存储地址，计算机就是通过存储地址来访问存储单元的数据的。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3500"/>
              </a:lnSpc>
              <a:buClr>
                <a:srgbClr val="C0192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软件是指计算机程序及有关程序的技术文档资料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两者中更为重要的是程序，它是计算机进行数据处理的指令集，也是计算机正常工作最重要的因素。计算机离开了软件系统是无法工作的，软件分为系统软件和应用软件，系统软件中最为典型的就是操作系统，我们平时编制的软件通常是应用软件。 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C72AC06-DC5D-4BCF-8451-C2A0EE560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59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本章小结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21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3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38" name="Rectangle 18"/>
          <p:cNvSpPr>
            <a:spLocks noChangeArrowheads="1"/>
          </p:cNvSpPr>
          <p:nvPr/>
        </p:nvSpPr>
        <p:spPr bwMode="auto">
          <a:xfrm>
            <a:off x="551384" y="1157573"/>
            <a:ext cx="11043152" cy="4071627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342900" indent="-342900">
              <a:lnSpc>
                <a:spcPts val="3500"/>
              </a:lnSpc>
              <a:buClr>
                <a:srgbClr val="C0192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计算机中使用的进制数是二进制数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而不是十进制数，因为二进制只有两个数码，运算简单便于硬件实现，同时二进制便于逻辑运算。将十进制转换成二进制整数部分可采用基数除法来实现，小数部分可采用基数乘法来实现。八进制和十六进制也是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语言中经常表示数据的进制，因为它门与二进制之间的转换非常方便，但要注意它们不是计算机中使用的进制。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3500"/>
              </a:lnSpc>
              <a:buClr>
                <a:srgbClr val="C0192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机器数的表示形式有原码、反码和补码几种形式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，计算机中通常是使用补码的形式来表示一个数，因为补码运算可以连同符号位一起参与运算，这便于运算器的设计和实现。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3500"/>
              </a:lnSpc>
              <a:buClr>
                <a:srgbClr val="C0192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二进制的位运算有“与” 、“或”、“非”和“异或”</a:t>
            </a: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2C5FC48-B9FA-4E6C-AF8C-08B95271A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744" y="5700427"/>
            <a:ext cx="11029792" cy="523220"/>
          </a:xfrm>
          <a:prstGeom prst="rect">
            <a:avLst/>
          </a:prstGeom>
          <a:solidFill>
            <a:srgbClr val="C01920"/>
          </a:solidFill>
          <a:ln w="2857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习题</a:t>
            </a:r>
            <a:r>
              <a:rPr lang="en-US" altLang="zh-CN" sz="2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：</a:t>
            </a:r>
            <a:r>
              <a:rPr lang="en-US" altLang="zh-CN" sz="2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 1</a:t>
            </a:r>
            <a:r>
              <a:rPr lang="zh-CN" altLang="en-US" sz="2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sz="2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3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CDDED4E-2CAF-441A-A9D9-58FFD9AA9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59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本章小结</a:t>
            </a:r>
          </a:p>
        </p:txBody>
      </p:sp>
    </p:spTree>
    <p:extLst>
      <p:ext uri="{BB962C8B-B14F-4D97-AF65-F5344CB8AC3E}">
        <p14:creationId xmlns:p14="http://schemas.microsoft.com/office/powerpoint/2010/main" val="38371725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21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38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图示&#10;&#10;描述已自动生成">
            <a:extLst>
              <a:ext uri="{FF2B5EF4-FFF2-40B4-BE49-F238E27FC236}">
                <a16:creationId xmlns:a16="http://schemas.microsoft.com/office/drawing/2014/main" id="{6786D2E8-A965-4475-ABFD-4583DDBBFE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1241757"/>
            <a:ext cx="7776864" cy="43744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6D1ECF0-97FF-4328-931A-88315164A5A3}"/>
              </a:ext>
            </a:extLst>
          </p:cNvPr>
          <p:cNvSpPr txBox="1"/>
          <p:nvPr/>
        </p:nvSpPr>
        <p:spPr>
          <a:xfrm>
            <a:off x="1883532" y="5877272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本课件版权归清华大学出版社所有，仅提供教师教学使用，其他用途一律视为侵权</a:t>
            </a:r>
          </a:p>
        </p:txBody>
      </p:sp>
    </p:spTree>
    <p:extLst>
      <p:ext uri="{BB962C8B-B14F-4D97-AF65-F5344CB8AC3E}">
        <p14:creationId xmlns:p14="http://schemas.microsoft.com/office/powerpoint/2010/main" val="25181796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425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308566;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10245</TotalTime>
  <Words>5897</Words>
  <Application>Microsoft Office PowerPoint</Application>
  <PresentationFormat>宽屏</PresentationFormat>
  <Paragraphs>691</Paragraphs>
  <Slides>47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59" baseType="lpstr">
      <vt:lpstr>楷体</vt:lpstr>
      <vt:lpstr>楷体_GB2312</vt:lpstr>
      <vt:lpstr>隶书</vt:lpstr>
      <vt:lpstr>思源黑体 CN Heavy</vt:lpstr>
      <vt:lpstr>宋体</vt:lpstr>
      <vt:lpstr>微软雅黑</vt:lpstr>
      <vt:lpstr>Arial</vt:lpstr>
      <vt:lpstr>Times New Roman</vt:lpstr>
      <vt:lpstr>Wingdings</vt:lpstr>
      <vt:lpstr>默认设计模板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yanweimin</dc:creator>
  <cp:lastModifiedBy>wei jj</cp:lastModifiedBy>
  <cp:revision>643</cp:revision>
  <dcterms:created xsi:type="dcterms:W3CDTF">1999-05-31T10:27:02Z</dcterms:created>
  <dcterms:modified xsi:type="dcterms:W3CDTF">2022-07-01T13:47:33Z</dcterms:modified>
</cp:coreProperties>
</file>